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87"/>
  </p:normalViewPr>
  <p:slideViewPr>
    <p:cSldViewPr>
      <p:cViewPr varScale="1">
        <p:scale>
          <a:sx n="112" d="100"/>
          <a:sy n="112" d="100"/>
        </p:scale>
        <p:origin x="576" y="20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1/15/25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BIZ UDGothic"/>
                <a:cs typeface="BIZ UDGothic"/>
              </a:defRPr>
            </a:lvl1pPr>
          </a:lstStyle>
          <a:p>
            <a:pPr marL="114935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1/15/25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BIZ UDGothic"/>
                <a:cs typeface="BIZ UDGothic"/>
              </a:defRPr>
            </a:lvl1pPr>
          </a:lstStyle>
          <a:p>
            <a:pPr marL="114935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776715" y="1974960"/>
            <a:ext cx="4707255" cy="37617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1/15/25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BIZ UDGothic"/>
                <a:cs typeface="BIZ UDGothic"/>
              </a:defRPr>
            </a:lvl1pPr>
          </a:lstStyle>
          <a:p>
            <a:pPr marL="114935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1/15/25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BIZ UDGothic"/>
                <a:cs typeface="BIZ UDGothic"/>
              </a:defRPr>
            </a:lvl1pPr>
          </a:lstStyle>
          <a:p>
            <a:pPr marL="114935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1/15/25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BIZ UDGothic"/>
                <a:cs typeface="BIZ UDGothic"/>
              </a:defRPr>
            </a:lvl1pPr>
          </a:lstStyle>
          <a:p>
            <a:pPr marL="114935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772159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>
                <a:moveTo>
                  <a:pt x="0" y="0"/>
                </a:moveTo>
                <a:lnTo>
                  <a:pt x="12191999" y="0"/>
                </a:lnTo>
              </a:path>
            </a:pathLst>
          </a:custGeom>
          <a:ln w="28574">
            <a:solidFill>
              <a:srgbClr val="3F3F3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42265" y="99869"/>
            <a:ext cx="9952990" cy="5130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82315" y="1333543"/>
            <a:ext cx="5503545" cy="21285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1/15/25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304191" y="6466767"/>
            <a:ext cx="243611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BIZ UDGothic"/>
                <a:cs typeface="BIZ UDGothic"/>
              </a:defRPr>
            </a:lvl1pPr>
          </a:lstStyle>
          <a:p>
            <a:pPr marL="114935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jpg"/><Relationship Id="rId4" Type="http://schemas.openxmlformats.org/officeDocument/2006/relationships/image" Target="../media/image13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://security.ubuntu.com/ubuntu" TargetMode="External"/><Relationship Id="rId2" Type="http://schemas.openxmlformats.org/officeDocument/2006/relationships/hyperlink" Target="http://archive.ubuntu.com/ubuntu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33.png"/><Relationship Id="rId3" Type="http://schemas.openxmlformats.org/officeDocument/2006/relationships/image" Target="../media/image20.png"/><Relationship Id="rId7" Type="http://schemas.openxmlformats.org/officeDocument/2006/relationships/image" Target="../media/image28.png"/><Relationship Id="rId12" Type="http://schemas.openxmlformats.org/officeDocument/2006/relationships/image" Target="../media/image3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11" Type="http://schemas.openxmlformats.org/officeDocument/2006/relationships/image" Target="../media/image31.png"/><Relationship Id="rId5" Type="http://schemas.openxmlformats.org/officeDocument/2006/relationships/image" Target="../media/image21.png"/><Relationship Id="rId15" Type="http://schemas.openxmlformats.org/officeDocument/2006/relationships/image" Target="../media/image35.png"/><Relationship Id="rId10" Type="http://schemas.openxmlformats.org/officeDocument/2006/relationships/image" Target="../media/image30.png"/><Relationship Id="rId4" Type="http://schemas.openxmlformats.org/officeDocument/2006/relationships/image" Target="../media/image27.png"/><Relationship Id="rId9" Type="http://schemas.openxmlformats.org/officeDocument/2006/relationships/image" Target="../media/image29.png"/><Relationship Id="rId14" Type="http://schemas.openxmlformats.org/officeDocument/2006/relationships/image" Target="../media/image3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Environments</a:t>
            </a:r>
            <a:r>
              <a:rPr spc="-40" dirty="0"/>
              <a:t> </a:t>
            </a:r>
            <a:r>
              <a:rPr dirty="0"/>
              <a:t>vs</a:t>
            </a:r>
            <a:r>
              <a:rPr spc="-40" dirty="0"/>
              <a:t> </a:t>
            </a:r>
            <a:r>
              <a:rPr dirty="0"/>
              <a:t>Virtualization</a:t>
            </a:r>
            <a:r>
              <a:rPr spc="-40" dirty="0"/>
              <a:t> </a:t>
            </a:r>
            <a:r>
              <a:rPr dirty="0"/>
              <a:t>vs</a:t>
            </a:r>
            <a:r>
              <a:rPr spc="-40" dirty="0"/>
              <a:t> </a:t>
            </a:r>
            <a:r>
              <a:rPr spc="-10" dirty="0"/>
              <a:t>Containerization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528250" y="1431522"/>
            <a:ext cx="1019810" cy="2012314"/>
            <a:chOff x="5528250" y="1431522"/>
            <a:chExt cx="1019810" cy="2012314"/>
          </a:xfrm>
        </p:grpSpPr>
        <p:sp>
          <p:nvSpPr>
            <p:cNvPr id="4" name="object 4"/>
            <p:cNvSpPr/>
            <p:nvPr/>
          </p:nvSpPr>
          <p:spPr>
            <a:xfrm>
              <a:off x="5542536" y="2441453"/>
              <a:ext cx="991235" cy="988060"/>
            </a:xfrm>
            <a:custGeom>
              <a:avLst/>
              <a:gdLst/>
              <a:ahLst/>
              <a:cxnLst/>
              <a:rect l="l" t="t" r="r" b="b"/>
              <a:pathLst>
                <a:path w="991234" h="988060">
                  <a:moveTo>
                    <a:pt x="990899" y="0"/>
                  </a:moveTo>
                  <a:lnTo>
                    <a:pt x="0" y="0"/>
                  </a:lnTo>
                  <a:lnTo>
                    <a:pt x="0" y="987599"/>
                  </a:lnTo>
                  <a:lnTo>
                    <a:pt x="990899" y="987599"/>
                  </a:lnTo>
                  <a:lnTo>
                    <a:pt x="990899" y="0"/>
                  </a:lnTo>
                  <a:close/>
                </a:path>
              </a:pathLst>
            </a:custGeom>
            <a:solidFill>
              <a:srgbClr val="4DB84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542537" y="2441452"/>
              <a:ext cx="991235" cy="988060"/>
            </a:xfrm>
            <a:custGeom>
              <a:avLst/>
              <a:gdLst/>
              <a:ahLst/>
              <a:cxnLst/>
              <a:rect l="l" t="t" r="r" b="b"/>
              <a:pathLst>
                <a:path w="991234" h="988060">
                  <a:moveTo>
                    <a:pt x="0" y="0"/>
                  </a:moveTo>
                  <a:lnTo>
                    <a:pt x="990899" y="0"/>
                  </a:lnTo>
                  <a:lnTo>
                    <a:pt x="990899" y="987599"/>
                  </a:lnTo>
                  <a:lnTo>
                    <a:pt x="0" y="9875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542536" y="1953452"/>
              <a:ext cx="991235" cy="457834"/>
            </a:xfrm>
            <a:custGeom>
              <a:avLst/>
              <a:gdLst/>
              <a:ahLst/>
              <a:cxnLst/>
              <a:rect l="l" t="t" r="r" b="b"/>
              <a:pathLst>
                <a:path w="991234" h="457835">
                  <a:moveTo>
                    <a:pt x="990899" y="0"/>
                  </a:moveTo>
                  <a:lnTo>
                    <a:pt x="0" y="0"/>
                  </a:lnTo>
                  <a:lnTo>
                    <a:pt x="0" y="457800"/>
                  </a:lnTo>
                  <a:lnTo>
                    <a:pt x="990899" y="457800"/>
                  </a:lnTo>
                  <a:lnTo>
                    <a:pt x="990899" y="0"/>
                  </a:lnTo>
                  <a:close/>
                </a:path>
              </a:pathLst>
            </a:custGeom>
            <a:solidFill>
              <a:srgbClr val="4DB84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542537" y="1953452"/>
              <a:ext cx="991235" cy="457834"/>
            </a:xfrm>
            <a:custGeom>
              <a:avLst/>
              <a:gdLst/>
              <a:ahLst/>
              <a:cxnLst/>
              <a:rect l="l" t="t" r="r" b="b"/>
              <a:pathLst>
                <a:path w="991234" h="457835">
                  <a:moveTo>
                    <a:pt x="0" y="0"/>
                  </a:moveTo>
                  <a:lnTo>
                    <a:pt x="990899" y="0"/>
                  </a:lnTo>
                  <a:lnTo>
                    <a:pt x="990899" y="457799"/>
                  </a:lnTo>
                  <a:lnTo>
                    <a:pt x="0" y="4577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542536" y="1445810"/>
              <a:ext cx="991235" cy="457834"/>
            </a:xfrm>
            <a:custGeom>
              <a:avLst/>
              <a:gdLst/>
              <a:ahLst/>
              <a:cxnLst/>
              <a:rect l="l" t="t" r="r" b="b"/>
              <a:pathLst>
                <a:path w="991234" h="457835">
                  <a:moveTo>
                    <a:pt x="990899" y="0"/>
                  </a:moveTo>
                  <a:lnTo>
                    <a:pt x="0" y="0"/>
                  </a:lnTo>
                  <a:lnTo>
                    <a:pt x="0" y="457800"/>
                  </a:lnTo>
                  <a:lnTo>
                    <a:pt x="990899" y="457800"/>
                  </a:lnTo>
                  <a:lnTo>
                    <a:pt x="990899" y="0"/>
                  </a:lnTo>
                  <a:close/>
                </a:path>
              </a:pathLst>
            </a:custGeom>
            <a:solidFill>
              <a:srgbClr val="4DB84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542537" y="1445809"/>
              <a:ext cx="991235" cy="457834"/>
            </a:xfrm>
            <a:custGeom>
              <a:avLst/>
              <a:gdLst/>
              <a:ahLst/>
              <a:cxnLst/>
              <a:rect l="l" t="t" r="r" b="b"/>
              <a:pathLst>
                <a:path w="991234" h="457835">
                  <a:moveTo>
                    <a:pt x="0" y="0"/>
                  </a:moveTo>
                  <a:lnTo>
                    <a:pt x="990899" y="0"/>
                  </a:lnTo>
                  <a:lnTo>
                    <a:pt x="990899" y="457800"/>
                  </a:lnTo>
                  <a:lnTo>
                    <a:pt x="0" y="457800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498600" y="1368674"/>
            <a:ext cx="1097915" cy="2428875"/>
          </a:xfrm>
          <a:prstGeom prst="rect">
            <a:avLst/>
          </a:prstGeom>
          <a:ln w="19049">
            <a:solidFill>
              <a:srgbClr val="6AA84F"/>
            </a:solidFill>
          </a:ln>
        </p:spPr>
        <p:txBody>
          <a:bodyPr vert="horz" wrap="square" lIns="0" tIns="159385" rIns="0" bIns="0" rtlCol="0">
            <a:spAutoFit/>
          </a:bodyPr>
          <a:lstStyle/>
          <a:p>
            <a:pPr marR="10795" algn="ctr">
              <a:lnSpc>
                <a:spcPct val="100000"/>
              </a:lnSpc>
              <a:spcBef>
                <a:spcPts val="1255"/>
              </a:spcBef>
            </a:pP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App2</a:t>
            </a:r>
            <a:endParaRPr sz="1800">
              <a:latin typeface="Arial"/>
              <a:cs typeface="Arial"/>
            </a:endParaRPr>
          </a:p>
          <a:p>
            <a:pPr marR="10795" algn="ctr">
              <a:lnSpc>
                <a:spcPct val="100000"/>
              </a:lnSpc>
              <a:spcBef>
                <a:spcPts val="1840"/>
              </a:spcBef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Bins/lib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95"/>
              </a:spcBef>
            </a:pPr>
            <a:endParaRPr sz="1800">
              <a:latin typeface="Arial"/>
              <a:cs typeface="Arial"/>
            </a:endParaRPr>
          </a:p>
          <a:p>
            <a:pPr marR="11430" algn="ctr">
              <a:lnSpc>
                <a:spcPct val="100000"/>
              </a:lnSpc>
            </a:pP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OS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00"/>
              </a:spcBef>
            </a:pPr>
            <a:endParaRPr sz="1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1400" b="1" spc="-25" dirty="0">
                <a:solidFill>
                  <a:srgbClr val="38761D"/>
                </a:solidFill>
                <a:latin typeface="Arial"/>
                <a:cs typeface="Arial"/>
              </a:rPr>
              <a:t>VM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265112" y="4886337"/>
            <a:ext cx="3610610" cy="874394"/>
            <a:chOff x="4265112" y="4886337"/>
            <a:chExt cx="3610610" cy="874394"/>
          </a:xfrm>
        </p:grpSpPr>
        <p:sp>
          <p:nvSpPr>
            <p:cNvPr id="12" name="object 12"/>
            <p:cNvSpPr/>
            <p:nvPr/>
          </p:nvSpPr>
          <p:spPr>
            <a:xfrm>
              <a:off x="4279399" y="4900625"/>
              <a:ext cx="3582035" cy="845819"/>
            </a:xfrm>
            <a:custGeom>
              <a:avLst/>
              <a:gdLst/>
              <a:ahLst/>
              <a:cxnLst/>
              <a:rect l="l" t="t" r="r" b="b"/>
              <a:pathLst>
                <a:path w="3582034" h="845820">
                  <a:moveTo>
                    <a:pt x="3581699" y="0"/>
                  </a:moveTo>
                  <a:lnTo>
                    <a:pt x="0" y="0"/>
                  </a:lnTo>
                  <a:lnTo>
                    <a:pt x="0" y="845699"/>
                  </a:lnTo>
                  <a:lnTo>
                    <a:pt x="3581699" y="845699"/>
                  </a:lnTo>
                  <a:lnTo>
                    <a:pt x="3581699" y="0"/>
                  </a:lnTo>
                  <a:close/>
                </a:path>
              </a:pathLst>
            </a:custGeom>
            <a:solidFill>
              <a:srgbClr val="43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279400" y="4900624"/>
              <a:ext cx="3582035" cy="845819"/>
            </a:xfrm>
            <a:custGeom>
              <a:avLst/>
              <a:gdLst/>
              <a:ahLst/>
              <a:cxnLst/>
              <a:rect l="l" t="t" r="r" b="b"/>
              <a:pathLst>
                <a:path w="3582034" h="845820">
                  <a:moveTo>
                    <a:pt x="0" y="0"/>
                  </a:moveTo>
                  <a:lnTo>
                    <a:pt x="3581699" y="0"/>
                  </a:lnTo>
                  <a:lnTo>
                    <a:pt x="3581699" y="845699"/>
                  </a:lnTo>
                  <a:lnTo>
                    <a:pt x="0" y="8456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4279399" y="5164471"/>
            <a:ext cx="3582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47115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Infrastructure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265112" y="3837662"/>
            <a:ext cx="3610610" cy="507365"/>
            <a:chOff x="4265112" y="3837662"/>
            <a:chExt cx="3610610" cy="507365"/>
          </a:xfrm>
        </p:grpSpPr>
        <p:sp>
          <p:nvSpPr>
            <p:cNvPr id="16" name="object 16"/>
            <p:cNvSpPr/>
            <p:nvPr/>
          </p:nvSpPr>
          <p:spPr>
            <a:xfrm>
              <a:off x="4279399" y="3851949"/>
              <a:ext cx="3582035" cy="478790"/>
            </a:xfrm>
            <a:custGeom>
              <a:avLst/>
              <a:gdLst/>
              <a:ahLst/>
              <a:cxnLst/>
              <a:rect l="l" t="t" r="r" b="b"/>
              <a:pathLst>
                <a:path w="3582034" h="478789">
                  <a:moveTo>
                    <a:pt x="3581699" y="0"/>
                  </a:moveTo>
                  <a:lnTo>
                    <a:pt x="0" y="0"/>
                  </a:lnTo>
                  <a:lnTo>
                    <a:pt x="0" y="478500"/>
                  </a:lnTo>
                  <a:lnTo>
                    <a:pt x="3581699" y="478500"/>
                  </a:lnTo>
                  <a:lnTo>
                    <a:pt x="3581699" y="0"/>
                  </a:lnTo>
                  <a:close/>
                </a:path>
              </a:pathLst>
            </a:custGeom>
            <a:solidFill>
              <a:srgbClr val="A5A5A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279400" y="3851950"/>
              <a:ext cx="3582035" cy="478790"/>
            </a:xfrm>
            <a:custGeom>
              <a:avLst/>
              <a:gdLst/>
              <a:ahLst/>
              <a:cxnLst/>
              <a:rect l="l" t="t" r="r" b="b"/>
              <a:pathLst>
                <a:path w="3582034" h="478789">
                  <a:moveTo>
                    <a:pt x="0" y="0"/>
                  </a:moveTo>
                  <a:lnTo>
                    <a:pt x="3581699" y="0"/>
                  </a:lnTo>
                  <a:lnTo>
                    <a:pt x="3581699" y="478499"/>
                  </a:lnTo>
                  <a:lnTo>
                    <a:pt x="0" y="4784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4279399" y="3932196"/>
            <a:ext cx="3582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93165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Hypervisor</a:t>
            </a:r>
            <a:endParaRPr sz="18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325375" y="5756099"/>
            <a:ext cx="3536315" cy="457834"/>
          </a:xfrm>
          <a:custGeom>
            <a:avLst/>
            <a:gdLst/>
            <a:ahLst/>
            <a:cxnLst/>
            <a:rect l="l" t="t" r="r" b="b"/>
            <a:pathLst>
              <a:path w="3536315" h="457835">
                <a:moveTo>
                  <a:pt x="0" y="0"/>
                </a:moveTo>
                <a:lnTo>
                  <a:pt x="3535799" y="0"/>
                </a:lnTo>
                <a:lnTo>
                  <a:pt x="3535799" y="457799"/>
                </a:lnTo>
                <a:lnTo>
                  <a:pt x="0" y="457799"/>
                </a:lnTo>
                <a:lnTo>
                  <a:pt x="0" y="0"/>
                </a:lnTo>
                <a:close/>
              </a:path>
            </a:pathLst>
          </a:custGeom>
          <a:ln w="2857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5365027" y="5825995"/>
            <a:ext cx="14554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Arial"/>
                <a:cs typeface="Arial"/>
              </a:rPr>
              <a:t>Virtualization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4313132" y="1431510"/>
            <a:ext cx="1019810" cy="2012314"/>
            <a:chOff x="4313132" y="1431510"/>
            <a:chExt cx="1019810" cy="2012314"/>
          </a:xfrm>
        </p:grpSpPr>
        <p:sp>
          <p:nvSpPr>
            <p:cNvPr id="22" name="object 22"/>
            <p:cNvSpPr/>
            <p:nvPr/>
          </p:nvSpPr>
          <p:spPr>
            <a:xfrm>
              <a:off x="4327420" y="2441440"/>
              <a:ext cx="991235" cy="988060"/>
            </a:xfrm>
            <a:custGeom>
              <a:avLst/>
              <a:gdLst/>
              <a:ahLst/>
              <a:cxnLst/>
              <a:rect l="l" t="t" r="r" b="b"/>
              <a:pathLst>
                <a:path w="991235" h="988060">
                  <a:moveTo>
                    <a:pt x="990899" y="0"/>
                  </a:moveTo>
                  <a:lnTo>
                    <a:pt x="0" y="0"/>
                  </a:lnTo>
                  <a:lnTo>
                    <a:pt x="0" y="987599"/>
                  </a:lnTo>
                  <a:lnTo>
                    <a:pt x="990899" y="987599"/>
                  </a:lnTo>
                  <a:lnTo>
                    <a:pt x="990899" y="0"/>
                  </a:lnTo>
                  <a:close/>
                </a:path>
              </a:pathLst>
            </a:custGeom>
            <a:solidFill>
              <a:srgbClr val="4E88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327419" y="2441440"/>
              <a:ext cx="991235" cy="988060"/>
            </a:xfrm>
            <a:custGeom>
              <a:avLst/>
              <a:gdLst/>
              <a:ahLst/>
              <a:cxnLst/>
              <a:rect l="l" t="t" r="r" b="b"/>
              <a:pathLst>
                <a:path w="991235" h="988060">
                  <a:moveTo>
                    <a:pt x="0" y="0"/>
                  </a:moveTo>
                  <a:lnTo>
                    <a:pt x="990899" y="0"/>
                  </a:lnTo>
                  <a:lnTo>
                    <a:pt x="990899" y="987599"/>
                  </a:lnTo>
                  <a:lnTo>
                    <a:pt x="0" y="9875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327420" y="1953439"/>
              <a:ext cx="991235" cy="457834"/>
            </a:xfrm>
            <a:custGeom>
              <a:avLst/>
              <a:gdLst/>
              <a:ahLst/>
              <a:cxnLst/>
              <a:rect l="l" t="t" r="r" b="b"/>
              <a:pathLst>
                <a:path w="991235" h="457835">
                  <a:moveTo>
                    <a:pt x="990899" y="0"/>
                  </a:moveTo>
                  <a:lnTo>
                    <a:pt x="0" y="0"/>
                  </a:lnTo>
                  <a:lnTo>
                    <a:pt x="0" y="457800"/>
                  </a:lnTo>
                  <a:lnTo>
                    <a:pt x="990899" y="457800"/>
                  </a:lnTo>
                  <a:lnTo>
                    <a:pt x="990899" y="0"/>
                  </a:lnTo>
                  <a:close/>
                </a:path>
              </a:pathLst>
            </a:custGeom>
            <a:solidFill>
              <a:srgbClr val="4E88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327419" y="1953439"/>
              <a:ext cx="991235" cy="457834"/>
            </a:xfrm>
            <a:custGeom>
              <a:avLst/>
              <a:gdLst/>
              <a:ahLst/>
              <a:cxnLst/>
              <a:rect l="l" t="t" r="r" b="b"/>
              <a:pathLst>
                <a:path w="991235" h="457835">
                  <a:moveTo>
                    <a:pt x="0" y="0"/>
                  </a:moveTo>
                  <a:lnTo>
                    <a:pt x="990899" y="0"/>
                  </a:lnTo>
                  <a:lnTo>
                    <a:pt x="990899" y="457799"/>
                  </a:lnTo>
                  <a:lnTo>
                    <a:pt x="0" y="4577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327420" y="1445797"/>
              <a:ext cx="991235" cy="457834"/>
            </a:xfrm>
            <a:custGeom>
              <a:avLst/>
              <a:gdLst/>
              <a:ahLst/>
              <a:cxnLst/>
              <a:rect l="l" t="t" r="r" b="b"/>
              <a:pathLst>
                <a:path w="991235" h="457835">
                  <a:moveTo>
                    <a:pt x="990899" y="0"/>
                  </a:moveTo>
                  <a:lnTo>
                    <a:pt x="0" y="0"/>
                  </a:lnTo>
                  <a:lnTo>
                    <a:pt x="0" y="457800"/>
                  </a:lnTo>
                  <a:lnTo>
                    <a:pt x="990899" y="457800"/>
                  </a:lnTo>
                  <a:lnTo>
                    <a:pt x="990899" y="0"/>
                  </a:lnTo>
                  <a:close/>
                </a:path>
              </a:pathLst>
            </a:custGeom>
            <a:solidFill>
              <a:srgbClr val="4E88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327419" y="1445797"/>
              <a:ext cx="991235" cy="457834"/>
            </a:xfrm>
            <a:custGeom>
              <a:avLst/>
              <a:gdLst/>
              <a:ahLst/>
              <a:cxnLst/>
              <a:rect l="l" t="t" r="r" b="b"/>
              <a:pathLst>
                <a:path w="991235" h="457835">
                  <a:moveTo>
                    <a:pt x="0" y="0"/>
                  </a:moveTo>
                  <a:lnTo>
                    <a:pt x="990899" y="0"/>
                  </a:lnTo>
                  <a:lnTo>
                    <a:pt x="990899" y="457799"/>
                  </a:lnTo>
                  <a:lnTo>
                    <a:pt x="0" y="4577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4279400" y="1368674"/>
            <a:ext cx="1097915" cy="2428875"/>
          </a:xfrm>
          <a:prstGeom prst="rect">
            <a:avLst/>
          </a:prstGeom>
          <a:ln w="19049">
            <a:solidFill>
              <a:srgbClr val="4A86E8"/>
            </a:solidFill>
          </a:ln>
        </p:spPr>
        <p:txBody>
          <a:bodyPr vert="horz" wrap="square" lIns="0" tIns="159385" rIns="0" bIns="0" rtlCol="0">
            <a:spAutoFit/>
          </a:bodyPr>
          <a:lstStyle/>
          <a:p>
            <a:pPr marR="3810" algn="ctr">
              <a:lnSpc>
                <a:spcPct val="100000"/>
              </a:lnSpc>
              <a:spcBef>
                <a:spcPts val="1255"/>
              </a:spcBef>
            </a:pP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App1</a:t>
            </a:r>
            <a:endParaRPr sz="1800">
              <a:latin typeface="Arial"/>
              <a:cs typeface="Arial"/>
            </a:endParaRPr>
          </a:p>
          <a:p>
            <a:pPr marR="3175" algn="ctr">
              <a:lnSpc>
                <a:spcPct val="100000"/>
              </a:lnSpc>
              <a:spcBef>
                <a:spcPts val="1840"/>
              </a:spcBef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Bins/lib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95"/>
              </a:spcBef>
            </a:pPr>
            <a:endParaRPr sz="1800">
              <a:latin typeface="Arial"/>
              <a:cs typeface="Arial"/>
            </a:endParaRPr>
          </a:p>
          <a:p>
            <a:pPr marR="3175" algn="ctr">
              <a:lnSpc>
                <a:spcPct val="100000"/>
              </a:lnSpc>
            </a:pP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OS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00"/>
              </a:spcBef>
            </a:pPr>
            <a:endParaRPr sz="1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1400" b="1" spc="-25" dirty="0">
                <a:solidFill>
                  <a:srgbClr val="3C78D8"/>
                </a:solidFill>
                <a:latin typeface="Arial"/>
                <a:cs typeface="Arial"/>
              </a:rPr>
              <a:t>VM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6744247" y="1431510"/>
            <a:ext cx="1019810" cy="2012314"/>
            <a:chOff x="6744247" y="1431510"/>
            <a:chExt cx="1019810" cy="2012314"/>
          </a:xfrm>
        </p:grpSpPr>
        <p:sp>
          <p:nvSpPr>
            <p:cNvPr id="30" name="object 30"/>
            <p:cNvSpPr/>
            <p:nvPr/>
          </p:nvSpPr>
          <p:spPr>
            <a:xfrm>
              <a:off x="6758534" y="2441440"/>
              <a:ext cx="991235" cy="988060"/>
            </a:xfrm>
            <a:custGeom>
              <a:avLst/>
              <a:gdLst/>
              <a:ahLst/>
              <a:cxnLst/>
              <a:rect l="l" t="t" r="r" b="b"/>
              <a:pathLst>
                <a:path w="991234" h="988060">
                  <a:moveTo>
                    <a:pt x="990899" y="0"/>
                  </a:moveTo>
                  <a:lnTo>
                    <a:pt x="0" y="0"/>
                  </a:lnTo>
                  <a:lnTo>
                    <a:pt x="0" y="987599"/>
                  </a:lnTo>
                  <a:lnTo>
                    <a:pt x="990899" y="987599"/>
                  </a:lnTo>
                  <a:lnTo>
                    <a:pt x="990899" y="0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758534" y="2441440"/>
              <a:ext cx="991235" cy="988060"/>
            </a:xfrm>
            <a:custGeom>
              <a:avLst/>
              <a:gdLst/>
              <a:ahLst/>
              <a:cxnLst/>
              <a:rect l="l" t="t" r="r" b="b"/>
              <a:pathLst>
                <a:path w="991234" h="988060">
                  <a:moveTo>
                    <a:pt x="0" y="0"/>
                  </a:moveTo>
                  <a:lnTo>
                    <a:pt x="990899" y="0"/>
                  </a:lnTo>
                  <a:lnTo>
                    <a:pt x="990899" y="987599"/>
                  </a:lnTo>
                  <a:lnTo>
                    <a:pt x="0" y="9875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758534" y="1953439"/>
              <a:ext cx="991235" cy="457834"/>
            </a:xfrm>
            <a:custGeom>
              <a:avLst/>
              <a:gdLst/>
              <a:ahLst/>
              <a:cxnLst/>
              <a:rect l="l" t="t" r="r" b="b"/>
              <a:pathLst>
                <a:path w="991234" h="457835">
                  <a:moveTo>
                    <a:pt x="990899" y="0"/>
                  </a:moveTo>
                  <a:lnTo>
                    <a:pt x="0" y="0"/>
                  </a:lnTo>
                  <a:lnTo>
                    <a:pt x="0" y="457800"/>
                  </a:lnTo>
                  <a:lnTo>
                    <a:pt x="990899" y="457800"/>
                  </a:lnTo>
                  <a:lnTo>
                    <a:pt x="990899" y="0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758534" y="1953439"/>
              <a:ext cx="991235" cy="457834"/>
            </a:xfrm>
            <a:custGeom>
              <a:avLst/>
              <a:gdLst/>
              <a:ahLst/>
              <a:cxnLst/>
              <a:rect l="l" t="t" r="r" b="b"/>
              <a:pathLst>
                <a:path w="991234" h="457835">
                  <a:moveTo>
                    <a:pt x="0" y="0"/>
                  </a:moveTo>
                  <a:lnTo>
                    <a:pt x="990899" y="0"/>
                  </a:lnTo>
                  <a:lnTo>
                    <a:pt x="990899" y="457799"/>
                  </a:lnTo>
                  <a:lnTo>
                    <a:pt x="0" y="4577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758534" y="1445797"/>
              <a:ext cx="991235" cy="457834"/>
            </a:xfrm>
            <a:custGeom>
              <a:avLst/>
              <a:gdLst/>
              <a:ahLst/>
              <a:cxnLst/>
              <a:rect l="l" t="t" r="r" b="b"/>
              <a:pathLst>
                <a:path w="991234" h="457835">
                  <a:moveTo>
                    <a:pt x="990899" y="0"/>
                  </a:moveTo>
                  <a:lnTo>
                    <a:pt x="0" y="0"/>
                  </a:lnTo>
                  <a:lnTo>
                    <a:pt x="0" y="457800"/>
                  </a:lnTo>
                  <a:lnTo>
                    <a:pt x="990899" y="457800"/>
                  </a:lnTo>
                  <a:lnTo>
                    <a:pt x="990899" y="0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758534" y="1445797"/>
              <a:ext cx="991235" cy="457834"/>
            </a:xfrm>
            <a:custGeom>
              <a:avLst/>
              <a:gdLst/>
              <a:ahLst/>
              <a:cxnLst/>
              <a:rect l="l" t="t" r="r" b="b"/>
              <a:pathLst>
                <a:path w="991234" h="457835">
                  <a:moveTo>
                    <a:pt x="0" y="0"/>
                  </a:moveTo>
                  <a:lnTo>
                    <a:pt x="990899" y="0"/>
                  </a:lnTo>
                  <a:lnTo>
                    <a:pt x="990899" y="457799"/>
                  </a:lnTo>
                  <a:lnTo>
                    <a:pt x="0" y="4577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6717800" y="1355073"/>
            <a:ext cx="1097915" cy="2428875"/>
          </a:xfrm>
          <a:prstGeom prst="rect">
            <a:avLst/>
          </a:prstGeom>
          <a:ln w="19049">
            <a:solidFill>
              <a:srgbClr val="CC0000"/>
            </a:solidFill>
          </a:ln>
        </p:spPr>
        <p:txBody>
          <a:bodyPr vert="horz" wrap="square" lIns="0" tIns="173355" rIns="0" bIns="0" rtlCol="0">
            <a:spAutoFit/>
          </a:bodyPr>
          <a:lstStyle/>
          <a:p>
            <a:pPr marR="17145" algn="ctr">
              <a:lnSpc>
                <a:spcPct val="100000"/>
              </a:lnSpc>
              <a:spcBef>
                <a:spcPts val="1365"/>
              </a:spcBef>
            </a:pP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App3</a:t>
            </a:r>
            <a:endParaRPr sz="1800">
              <a:latin typeface="Arial"/>
              <a:cs typeface="Arial"/>
            </a:endParaRPr>
          </a:p>
          <a:p>
            <a:pPr marR="17780" algn="ctr">
              <a:lnSpc>
                <a:spcPct val="100000"/>
              </a:lnSpc>
              <a:spcBef>
                <a:spcPts val="1835"/>
              </a:spcBef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Bins/lib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00"/>
              </a:spcBef>
            </a:pPr>
            <a:endParaRPr sz="1800">
              <a:latin typeface="Arial"/>
              <a:cs typeface="Arial"/>
            </a:endParaRPr>
          </a:p>
          <a:p>
            <a:pPr marR="17780" algn="ctr">
              <a:lnSpc>
                <a:spcPct val="100000"/>
              </a:lnSpc>
            </a:pP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OS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195"/>
              </a:spcBef>
            </a:pPr>
            <a:endParaRPr sz="1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1400" b="1" spc="-25" dirty="0">
                <a:solidFill>
                  <a:srgbClr val="CC0000"/>
                </a:solidFill>
                <a:latin typeface="Arial"/>
                <a:cs typeface="Arial"/>
              </a:rPr>
              <a:t>VM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4265112" y="4371062"/>
            <a:ext cx="3610610" cy="507365"/>
            <a:chOff x="4265112" y="4371062"/>
            <a:chExt cx="3610610" cy="507365"/>
          </a:xfrm>
        </p:grpSpPr>
        <p:sp>
          <p:nvSpPr>
            <p:cNvPr id="38" name="object 38"/>
            <p:cNvSpPr/>
            <p:nvPr/>
          </p:nvSpPr>
          <p:spPr>
            <a:xfrm>
              <a:off x="4279399" y="4385349"/>
              <a:ext cx="3582035" cy="478790"/>
            </a:xfrm>
            <a:custGeom>
              <a:avLst/>
              <a:gdLst/>
              <a:ahLst/>
              <a:cxnLst/>
              <a:rect l="l" t="t" r="r" b="b"/>
              <a:pathLst>
                <a:path w="3582034" h="478789">
                  <a:moveTo>
                    <a:pt x="3581699" y="0"/>
                  </a:moveTo>
                  <a:lnTo>
                    <a:pt x="0" y="0"/>
                  </a:lnTo>
                  <a:lnTo>
                    <a:pt x="0" y="478500"/>
                  </a:lnTo>
                  <a:lnTo>
                    <a:pt x="3581699" y="478500"/>
                  </a:lnTo>
                  <a:lnTo>
                    <a:pt x="3581699" y="0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279400" y="4385350"/>
              <a:ext cx="3582035" cy="478790"/>
            </a:xfrm>
            <a:custGeom>
              <a:avLst/>
              <a:gdLst/>
              <a:ahLst/>
              <a:cxnLst/>
              <a:rect l="l" t="t" r="r" b="b"/>
              <a:pathLst>
                <a:path w="3582034" h="478789">
                  <a:moveTo>
                    <a:pt x="0" y="0"/>
                  </a:moveTo>
                  <a:lnTo>
                    <a:pt x="3581699" y="0"/>
                  </a:lnTo>
                  <a:lnTo>
                    <a:pt x="3581699" y="478499"/>
                  </a:lnTo>
                  <a:lnTo>
                    <a:pt x="0" y="4784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4279399" y="4465596"/>
            <a:ext cx="3582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12165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Operating</a:t>
            </a:r>
            <a:r>
              <a:rPr sz="18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System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8303712" y="4886337"/>
            <a:ext cx="3610610" cy="874394"/>
            <a:chOff x="8303712" y="4886337"/>
            <a:chExt cx="3610610" cy="874394"/>
          </a:xfrm>
        </p:grpSpPr>
        <p:sp>
          <p:nvSpPr>
            <p:cNvPr id="42" name="object 42"/>
            <p:cNvSpPr/>
            <p:nvPr/>
          </p:nvSpPr>
          <p:spPr>
            <a:xfrm>
              <a:off x="8318000" y="4900625"/>
              <a:ext cx="3582035" cy="845819"/>
            </a:xfrm>
            <a:custGeom>
              <a:avLst/>
              <a:gdLst/>
              <a:ahLst/>
              <a:cxnLst/>
              <a:rect l="l" t="t" r="r" b="b"/>
              <a:pathLst>
                <a:path w="3582034" h="845820">
                  <a:moveTo>
                    <a:pt x="3581699" y="0"/>
                  </a:moveTo>
                  <a:lnTo>
                    <a:pt x="0" y="0"/>
                  </a:lnTo>
                  <a:lnTo>
                    <a:pt x="0" y="845699"/>
                  </a:lnTo>
                  <a:lnTo>
                    <a:pt x="3581699" y="845699"/>
                  </a:lnTo>
                  <a:lnTo>
                    <a:pt x="3581699" y="0"/>
                  </a:lnTo>
                  <a:close/>
                </a:path>
              </a:pathLst>
            </a:custGeom>
            <a:solidFill>
              <a:srgbClr val="43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8318000" y="4900624"/>
              <a:ext cx="3582035" cy="845819"/>
            </a:xfrm>
            <a:custGeom>
              <a:avLst/>
              <a:gdLst/>
              <a:ahLst/>
              <a:cxnLst/>
              <a:rect l="l" t="t" r="r" b="b"/>
              <a:pathLst>
                <a:path w="3582034" h="845820">
                  <a:moveTo>
                    <a:pt x="0" y="0"/>
                  </a:moveTo>
                  <a:lnTo>
                    <a:pt x="3581699" y="0"/>
                  </a:lnTo>
                  <a:lnTo>
                    <a:pt x="3581699" y="845699"/>
                  </a:lnTo>
                  <a:lnTo>
                    <a:pt x="0" y="8456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8318000" y="5164471"/>
            <a:ext cx="3582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47115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Infrastructure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8303712" y="3837662"/>
            <a:ext cx="3610610" cy="507365"/>
            <a:chOff x="8303712" y="3837662"/>
            <a:chExt cx="3610610" cy="507365"/>
          </a:xfrm>
        </p:grpSpPr>
        <p:sp>
          <p:nvSpPr>
            <p:cNvPr id="46" name="object 46"/>
            <p:cNvSpPr/>
            <p:nvPr/>
          </p:nvSpPr>
          <p:spPr>
            <a:xfrm>
              <a:off x="8318000" y="3851949"/>
              <a:ext cx="3582035" cy="478790"/>
            </a:xfrm>
            <a:custGeom>
              <a:avLst/>
              <a:gdLst/>
              <a:ahLst/>
              <a:cxnLst/>
              <a:rect l="l" t="t" r="r" b="b"/>
              <a:pathLst>
                <a:path w="3582034" h="478789">
                  <a:moveTo>
                    <a:pt x="3581699" y="0"/>
                  </a:moveTo>
                  <a:lnTo>
                    <a:pt x="0" y="0"/>
                  </a:lnTo>
                  <a:lnTo>
                    <a:pt x="0" y="478500"/>
                  </a:lnTo>
                  <a:lnTo>
                    <a:pt x="3581699" y="478500"/>
                  </a:lnTo>
                  <a:lnTo>
                    <a:pt x="3581699" y="0"/>
                  </a:lnTo>
                  <a:close/>
                </a:path>
              </a:pathLst>
            </a:custGeom>
            <a:solidFill>
              <a:srgbClr val="3C7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8318000" y="3851950"/>
              <a:ext cx="3582035" cy="478790"/>
            </a:xfrm>
            <a:custGeom>
              <a:avLst/>
              <a:gdLst/>
              <a:ahLst/>
              <a:cxnLst/>
              <a:rect l="l" t="t" r="r" b="b"/>
              <a:pathLst>
                <a:path w="3582034" h="478789">
                  <a:moveTo>
                    <a:pt x="0" y="0"/>
                  </a:moveTo>
                  <a:lnTo>
                    <a:pt x="3581699" y="0"/>
                  </a:lnTo>
                  <a:lnTo>
                    <a:pt x="3581699" y="478499"/>
                  </a:lnTo>
                  <a:lnTo>
                    <a:pt x="0" y="4784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8318000" y="3932196"/>
            <a:ext cx="3582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Docker</a:t>
            </a:r>
            <a:endParaRPr sz="1800">
              <a:latin typeface="Arial"/>
              <a:cs typeface="Arial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8363974" y="5756099"/>
            <a:ext cx="3536315" cy="457834"/>
          </a:xfrm>
          <a:custGeom>
            <a:avLst/>
            <a:gdLst/>
            <a:ahLst/>
            <a:cxnLst/>
            <a:rect l="l" t="t" r="r" b="b"/>
            <a:pathLst>
              <a:path w="3536315" h="457835">
                <a:moveTo>
                  <a:pt x="0" y="0"/>
                </a:moveTo>
                <a:lnTo>
                  <a:pt x="3535799" y="0"/>
                </a:lnTo>
                <a:lnTo>
                  <a:pt x="3535799" y="457799"/>
                </a:lnTo>
                <a:lnTo>
                  <a:pt x="0" y="457799"/>
                </a:lnTo>
                <a:lnTo>
                  <a:pt x="0" y="0"/>
                </a:lnTo>
                <a:close/>
              </a:path>
            </a:pathLst>
          </a:custGeom>
          <a:ln w="2857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 txBox="1"/>
          <p:nvPr/>
        </p:nvSpPr>
        <p:spPr>
          <a:xfrm>
            <a:off x="9223805" y="5825995"/>
            <a:ext cx="181546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Arial"/>
                <a:cs typeface="Arial"/>
              </a:rPr>
              <a:t>Containerization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8303712" y="4371062"/>
            <a:ext cx="3610610" cy="507365"/>
            <a:chOff x="8303712" y="4371062"/>
            <a:chExt cx="3610610" cy="507365"/>
          </a:xfrm>
        </p:grpSpPr>
        <p:sp>
          <p:nvSpPr>
            <p:cNvPr id="52" name="object 52"/>
            <p:cNvSpPr/>
            <p:nvPr/>
          </p:nvSpPr>
          <p:spPr>
            <a:xfrm>
              <a:off x="8318000" y="4385349"/>
              <a:ext cx="3582035" cy="478790"/>
            </a:xfrm>
            <a:custGeom>
              <a:avLst/>
              <a:gdLst/>
              <a:ahLst/>
              <a:cxnLst/>
              <a:rect l="l" t="t" r="r" b="b"/>
              <a:pathLst>
                <a:path w="3582034" h="478789">
                  <a:moveTo>
                    <a:pt x="3581699" y="0"/>
                  </a:moveTo>
                  <a:lnTo>
                    <a:pt x="0" y="0"/>
                  </a:lnTo>
                  <a:lnTo>
                    <a:pt x="0" y="478500"/>
                  </a:lnTo>
                  <a:lnTo>
                    <a:pt x="3581699" y="478500"/>
                  </a:lnTo>
                  <a:lnTo>
                    <a:pt x="3581699" y="0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8318000" y="4385350"/>
              <a:ext cx="3582035" cy="478790"/>
            </a:xfrm>
            <a:custGeom>
              <a:avLst/>
              <a:gdLst/>
              <a:ahLst/>
              <a:cxnLst/>
              <a:rect l="l" t="t" r="r" b="b"/>
              <a:pathLst>
                <a:path w="3582034" h="478789">
                  <a:moveTo>
                    <a:pt x="0" y="0"/>
                  </a:moveTo>
                  <a:lnTo>
                    <a:pt x="3581699" y="0"/>
                  </a:lnTo>
                  <a:lnTo>
                    <a:pt x="3581699" y="478499"/>
                  </a:lnTo>
                  <a:lnTo>
                    <a:pt x="0" y="4784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8318000" y="4465596"/>
            <a:ext cx="3582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12165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Operating</a:t>
            </a:r>
            <a:r>
              <a:rPr sz="18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System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55" name="object 5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35925" y="3911999"/>
            <a:ext cx="380362" cy="380362"/>
          </a:xfrm>
          <a:prstGeom prst="rect">
            <a:avLst/>
          </a:prstGeom>
        </p:spPr>
      </p:pic>
      <p:grpSp>
        <p:nvGrpSpPr>
          <p:cNvPr id="56" name="object 56"/>
          <p:cNvGrpSpPr/>
          <p:nvPr/>
        </p:nvGrpSpPr>
        <p:grpSpPr>
          <a:xfrm>
            <a:off x="8351737" y="2743412"/>
            <a:ext cx="1019810" cy="825500"/>
            <a:chOff x="8351737" y="2743412"/>
            <a:chExt cx="1019810" cy="825500"/>
          </a:xfrm>
        </p:grpSpPr>
        <p:sp>
          <p:nvSpPr>
            <p:cNvPr id="57" name="object 57"/>
            <p:cNvSpPr/>
            <p:nvPr/>
          </p:nvSpPr>
          <p:spPr>
            <a:xfrm>
              <a:off x="8366024" y="3189147"/>
              <a:ext cx="991235" cy="365125"/>
            </a:xfrm>
            <a:custGeom>
              <a:avLst/>
              <a:gdLst/>
              <a:ahLst/>
              <a:cxnLst/>
              <a:rect l="l" t="t" r="r" b="b"/>
              <a:pathLst>
                <a:path w="991234" h="365125">
                  <a:moveTo>
                    <a:pt x="990899" y="0"/>
                  </a:moveTo>
                  <a:lnTo>
                    <a:pt x="0" y="0"/>
                  </a:lnTo>
                  <a:lnTo>
                    <a:pt x="0" y="365099"/>
                  </a:lnTo>
                  <a:lnTo>
                    <a:pt x="990899" y="365099"/>
                  </a:lnTo>
                  <a:lnTo>
                    <a:pt x="990899" y="0"/>
                  </a:lnTo>
                  <a:close/>
                </a:path>
              </a:pathLst>
            </a:custGeom>
            <a:solidFill>
              <a:srgbClr val="BF9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8366025" y="3189147"/>
              <a:ext cx="991235" cy="365125"/>
            </a:xfrm>
            <a:custGeom>
              <a:avLst/>
              <a:gdLst/>
              <a:ahLst/>
              <a:cxnLst/>
              <a:rect l="l" t="t" r="r" b="b"/>
              <a:pathLst>
                <a:path w="991234" h="365125">
                  <a:moveTo>
                    <a:pt x="0" y="0"/>
                  </a:moveTo>
                  <a:lnTo>
                    <a:pt x="990899" y="0"/>
                  </a:lnTo>
                  <a:lnTo>
                    <a:pt x="990899" y="365099"/>
                  </a:lnTo>
                  <a:lnTo>
                    <a:pt x="0" y="3650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8366024" y="2757699"/>
              <a:ext cx="991235" cy="365125"/>
            </a:xfrm>
            <a:custGeom>
              <a:avLst/>
              <a:gdLst/>
              <a:ahLst/>
              <a:cxnLst/>
              <a:rect l="l" t="t" r="r" b="b"/>
              <a:pathLst>
                <a:path w="991234" h="365125">
                  <a:moveTo>
                    <a:pt x="990899" y="0"/>
                  </a:moveTo>
                  <a:lnTo>
                    <a:pt x="0" y="0"/>
                  </a:lnTo>
                  <a:lnTo>
                    <a:pt x="0" y="365099"/>
                  </a:lnTo>
                  <a:lnTo>
                    <a:pt x="990899" y="365099"/>
                  </a:lnTo>
                  <a:lnTo>
                    <a:pt x="990899" y="0"/>
                  </a:lnTo>
                  <a:close/>
                </a:path>
              </a:pathLst>
            </a:custGeom>
            <a:solidFill>
              <a:srgbClr val="BF9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8366025" y="2757700"/>
              <a:ext cx="991235" cy="365125"/>
            </a:xfrm>
            <a:custGeom>
              <a:avLst/>
              <a:gdLst/>
              <a:ahLst/>
              <a:cxnLst/>
              <a:rect l="l" t="t" r="r" b="b"/>
              <a:pathLst>
                <a:path w="991234" h="365125">
                  <a:moveTo>
                    <a:pt x="0" y="0"/>
                  </a:moveTo>
                  <a:lnTo>
                    <a:pt x="990899" y="0"/>
                  </a:lnTo>
                  <a:lnTo>
                    <a:pt x="990899" y="365099"/>
                  </a:lnTo>
                  <a:lnTo>
                    <a:pt x="0" y="3650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1" name="object 61"/>
          <p:cNvSpPr txBox="1"/>
          <p:nvPr/>
        </p:nvSpPr>
        <p:spPr>
          <a:xfrm>
            <a:off x="8318000" y="2697950"/>
            <a:ext cx="1097915" cy="1099820"/>
          </a:xfrm>
          <a:prstGeom prst="rect">
            <a:avLst/>
          </a:prstGeom>
          <a:ln w="19049">
            <a:solidFill>
              <a:srgbClr val="7F6000"/>
            </a:solidFill>
          </a:ln>
        </p:spPr>
        <p:txBody>
          <a:bodyPr vert="horz" wrap="square" lIns="0" tIns="144780" rIns="0" bIns="0" rtlCol="0">
            <a:spAutoFit/>
          </a:bodyPr>
          <a:lstStyle/>
          <a:p>
            <a:pPr marR="2540" algn="ctr">
              <a:lnSpc>
                <a:spcPct val="100000"/>
              </a:lnSpc>
              <a:spcBef>
                <a:spcPts val="1140"/>
              </a:spcBef>
            </a:pPr>
            <a:r>
              <a:rPr sz="1200" spc="-20" dirty="0">
                <a:solidFill>
                  <a:srgbClr val="FFFFFF"/>
                </a:solidFill>
                <a:latin typeface="Arial"/>
                <a:cs typeface="Arial"/>
              </a:rPr>
              <a:t>App3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75"/>
              </a:spcBef>
            </a:pPr>
            <a:endParaRPr sz="1200">
              <a:latin typeface="Arial"/>
              <a:cs typeface="Arial"/>
            </a:endParaRPr>
          </a:p>
          <a:p>
            <a:pPr marR="2540" algn="ctr">
              <a:lnSpc>
                <a:spcPct val="100000"/>
              </a:lnSpc>
            </a:pP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Bins/lib</a:t>
            </a:r>
            <a:endParaRPr sz="1200">
              <a:latin typeface="Arial"/>
              <a:cs typeface="Arial"/>
            </a:endParaRPr>
          </a:p>
          <a:p>
            <a:pPr marR="2540" algn="ctr">
              <a:lnSpc>
                <a:spcPct val="100000"/>
              </a:lnSpc>
              <a:spcBef>
                <a:spcPts val="785"/>
              </a:spcBef>
            </a:pPr>
            <a:r>
              <a:rPr sz="1000" b="1" spc="-10" dirty="0">
                <a:solidFill>
                  <a:srgbClr val="7F6000"/>
                </a:solidFill>
                <a:latin typeface="Arial"/>
                <a:cs typeface="Arial"/>
              </a:rPr>
              <a:t>Container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62" name="object 62"/>
          <p:cNvGrpSpPr/>
          <p:nvPr/>
        </p:nvGrpSpPr>
        <p:grpSpPr>
          <a:xfrm>
            <a:off x="8351737" y="1448012"/>
            <a:ext cx="1019810" cy="825500"/>
            <a:chOff x="8351737" y="1448012"/>
            <a:chExt cx="1019810" cy="825500"/>
          </a:xfrm>
        </p:grpSpPr>
        <p:sp>
          <p:nvSpPr>
            <p:cNvPr id="63" name="object 63"/>
            <p:cNvSpPr/>
            <p:nvPr/>
          </p:nvSpPr>
          <p:spPr>
            <a:xfrm>
              <a:off x="8366024" y="1893747"/>
              <a:ext cx="991235" cy="365125"/>
            </a:xfrm>
            <a:custGeom>
              <a:avLst/>
              <a:gdLst/>
              <a:ahLst/>
              <a:cxnLst/>
              <a:rect l="l" t="t" r="r" b="b"/>
              <a:pathLst>
                <a:path w="991234" h="365125">
                  <a:moveTo>
                    <a:pt x="990899" y="0"/>
                  </a:moveTo>
                  <a:lnTo>
                    <a:pt x="0" y="0"/>
                  </a:lnTo>
                  <a:lnTo>
                    <a:pt x="0" y="365099"/>
                  </a:lnTo>
                  <a:lnTo>
                    <a:pt x="990899" y="365099"/>
                  </a:lnTo>
                  <a:lnTo>
                    <a:pt x="990899" y="0"/>
                  </a:lnTo>
                  <a:close/>
                </a:path>
              </a:pathLst>
            </a:custGeom>
            <a:solidFill>
              <a:srgbClr val="4E88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8366025" y="1893747"/>
              <a:ext cx="991235" cy="365125"/>
            </a:xfrm>
            <a:custGeom>
              <a:avLst/>
              <a:gdLst/>
              <a:ahLst/>
              <a:cxnLst/>
              <a:rect l="l" t="t" r="r" b="b"/>
              <a:pathLst>
                <a:path w="991234" h="365125">
                  <a:moveTo>
                    <a:pt x="0" y="0"/>
                  </a:moveTo>
                  <a:lnTo>
                    <a:pt x="990899" y="0"/>
                  </a:lnTo>
                  <a:lnTo>
                    <a:pt x="990899" y="365099"/>
                  </a:lnTo>
                  <a:lnTo>
                    <a:pt x="0" y="3650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8366024" y="1462299"/>
              <a:ext cx="991235" cy="365125"/>
            </a:xfrm>
            <a:custGeom>
              <a:avLst/>
              <a:gdLst/>
              <a:ahLst/>
              <a:cxnLst/>
              <a:rect l="l" t="t" r="r" b="b"/>
              <a:pathLst>
                <a:path w="991234" h="365125">
                  <a:moveTo>
                    <a:pt x="990899" y="0"/>
                  </a:moveTo>
                  <a:lnTo>
                    <a:pt x="0" y="0"/>
                  </a:lnTo>
                  <a:lnTo>
                    <a:pt x="0" y="365100"/>
                  </a:lnTo>
                  <a:lnTo>
                    <a:pt x="990899" y="365100"/>
                  </a:lnTo>
                  <a:lnTo>
                    <a:pt x="990899" y="0"/>
                  </a:lnTo>
                  <a:close/>
                </a:path>
              </a:pathLst>
            </a:custGeom>
            <a:solidFill>
              <a:srgbClr val="4E88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8366025" y="1462299"/>
              <a:ext cx="991235" cy="365125"/>
            </a:xfrm>
            <a:custGeom>
              <a:avLst/>
              <a:gdLst/>
              <a:ahLst/>
              <a:cxnLst/>
              <a:rect l="l" t="t" r="r" b="b"/>
              <a:pathLst>
                <a:path w="991234" h="365125">
                  <a:moveTo>
                    <a:pt x="0" y="0"/>
                  </a:moveTo>
                  <a:lnTo>
                    <a:pt x="990899" y="0"/>
                  </a:lnTo>
                  <a:lnTo>
                    <a:pt x="990899" y="365099"/>
                  </a:lnTo>
                  <a:lnTo>
                    <a:pt x="0" y="3650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7" name="object 67"/>
          <p:cNvSpPr txBox="1"/>
          <p:nvPr/>
        </p:nvSpPr>
        <p:spPr>
          <a:xfrm>
            <a:off x="8318000" y="1402549"/>
            <a:ext cx="1097915" cy="1099820"/>
          </a:xfrm>
          <a:prstGeom prst="rect">
            <a:avLst/>
          </a:prstGeom>
          <a:ln w="19049">
            <a:solidFill>
              <a:srgbClr val="4A86E8"/>
            </a:solidFill>
          </a:ln>
        </p:spPr>
        <p:txBody>
          <a:bodyPr vert="horz" wrap="square" lIns="0" tIns="144780" rIns="0" bIns="0" rtlCol="0">
            <a:spAutoFit/>
          </a:bodyPr>
          <a:lstStyle/>
          <a:p>
            <a:pPr marR="2540" algn="ctr">
              <a:lnSpc>
                <a:spcPct val="100000"/>
              </a:lnSpc>
              <a:spcBef>
                <a:spcPts val="1140"/>
              </a:spcBef>
            </a:pPr>
            <a:r>
              <a:rPr sz="1200" spc="-20" dirty="0">
                <a:solidFill>
                  <a:srgbClr val="FFFFFF"/>
                </a:solidFill>
                <a:latin typeface="Arial"/>
                <a:cs typeface="Arial"/>
              </a:rPr>
              <a:t>App1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75"/>
              </a:spcBef>
            </a:pPr>
            <a:endParaRPr sz="1200">
              <a:latin typeface="Arial"/>
              <a:cs typeface="Arial"/>
            </a:endParaRPr>
          </a:p>
          <a:p>
            <a:pPr marR="2540" algn="ctr">
              <a:lnSpc>
                <a:spcPct val="100000"/>
              </a:lnSpc>
            </a:pP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Bins/lib</a:t>
            </a:r>
            <a:endParaRPr sz="1200">
              <a:latin typeface="Arial"/>
              <a:cs typeface="Arial"/>
            </a:endParaRPr>
          </a:p>
          <a:p>
            <a:pPr marR="2540" algn="ctr">
              <a:lnSpc>
                <a:spcPct val="100000"/>
              </a:lnSpc>
              <a:spcBef>
                <a:spcPts val="785"/>
              </a:spcBef>
            </a:pPr>
            <a:r>
              <a:rPr sz="1000" b="1" spc="-10" dirty="0">
                <a:solidFill>
                  <a:srgbClr val="1155CC"/>
                </a:solidFill>
                <a:latin typeface="Arial"/>
                <a:cs typeface="Arial"/>
              </a:rPr>
              <a:t>Container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68" name="object 68"/>
          <p:cNvGrpSpPr/>
          <p:nvPr/>
        </p:nvGrpSpPr>
        <p:grpSpPr>
          <a:xfrm>
            <a:off x="9570937" y="1448012"/>
            <a:ext cx="1019810" cy="825500"/>
            <a:chOff x="9570937" y="1448012"/>
            <a:chExt cx="1019810" cy="825500"/>
          </a:xfrm>
        </p:grpSpPr>
        <p:sp>
          <p:nvSpPr>
            <p:cNvPr id="69" name="object 69"/>
            <p:cNvSpPr/>
            <p:nvPr/>
          </p:nvSpPr>
          <p:spPr>
            <a:xfrm>
              <a:off x="9585225" y="1893747"/>
              <a:ext cx="991235" cy="365125"/>
            </a:xfrm>
            <a:custGeom>
              <a:avLst/>
              <a:gdLst/>
              <a:ahLst/>
              <a:cxnLst/>
              <a:rect l="l" t="t" r="r" b="b"/>
              <a:pathLst>
                <a:path w="991234" h="365125">
                  <a:moveTo>
                    <a:pt x="990899" y="0"/>
                  </a:moveTo>
                  <a:lnTo>
                    <a:pt x="0" y="0"/>
                  </a:lnTo>
                  <a:lnTo>
                    <a:pt x="0" y="365099"/>
                  </a:lnTo>
                  <a:lnTo>
                    <a:pt x="990899" y="365099"/>
                  </a:lnTo>
                  <a:lnTo>
                    <a:pt x="990899" y="0"/>
                  </a:lnTo>
                  <a:close/>
                </a:path>
              </a:pathLst>
            </a:custGeom>
            <a:solidFill>
              <a:srgbClr val="6AA8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9585225" y="1893747"/>
              <a:ext cx="991235" cy="365125"/>
            </a:xfrm>
            <a:custGeom>
              <a:avLst/>
              <a:gdLst/>
              <a:ahLst/>
              <a:cxnLst/>
              <a:rect l="l" t="t" r="r" b="b"/>
              <a:pathLst>
                <a:path w="991234" h="365125">
                  <a:moveTo>
                    <a:pt x="0" y="0"/>
                  </a:moveTo>
                  <a:lnTo>
                    <a:pt x="990899" y="0"/>
                  </a:lnTo>
                  <a:lnTo>
                    <a:pt x="990899" y="365099"/>
                  </a:lnTo>
                  <a:lnTo>
                    <a:pt x="0" y="3650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9585225" y="1462299"/>
              <a:ext cx="991235" cy="365125"/>
            </a:xfrm>
            <a:custGeom>
              <a:avLst/>
              <a:gdLst/>
              <a:ahLst/>
              <a:cxnLst/>
              <a:rect l="l" t="t" r="r" b="b"/>
              <a:pathLst>
                <a:path w="991234" h="365125">
                  <a:moveTo>
                    <a:pt x="990899" y="0"/>
                  </a:moveTo>
                  <a:lnTo>
                    <a:pt x="0" y="0"/>
                  </a:lnTo>
                  <a:lnTo>
                    <a:pt x="0" y="365100"/>
                  </a:lnTo>
                  <a:lnTo>
                    <a:pt x="990899" y="365100"/>
                  </a:lnTo>
                  <a:lnTo>
                    <a:pt x="990899" y="0"/>
                  </a:lnTo>
                  <a:close/>
                </a:path>
              </a:pathLst>
            </a:custGeom>
            <a:solidFill>
              <a:srgbClr val="6AA8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9585225" y="1462299"/>
              <a:ext cx="991235" cy="365125"/>
            </a:xfrm>
            <a:custGeom>
              <a:avLst/>
              <a:gdLst/>
              <a:ahLst/>
              <a:cxnLst/>
              <a:rect l="l" t="t" r="r" b="b"/>
              <a:pathLst>
                <a:path w="991234" h="365125">
                  <a:moveTo>
                    <a:pt x="0" y="0"/>
                  </a:moveTo>
                  <a:lnTo>
                    <a:pt x="990899" y="0"/>
                  </a:lnTo>
                  <a:lnTo>
                    <a:pt x="990899" y="365099"/>
                  </a:lnTo>
                  <a:lnTo>
                    <a:pt x="0" y="3650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3" name="object 73"/>
          <p:cNvSpPr txBox="1"/>
          <p:nvPr/>
        </p:nvSpPr>
        <p:spPr>
          <a:xfrm>
            <a:off x="9537200" y="1402549"/>
            <a:ext cx="1097915" cy="1099820"/>
          </a:xfrm>
          <a:prstGeom prst="rect">
            <a:avLst/>
          </a:prstGeom>
          <a:ln w="19049">
            <a:solidFill>
              <a:srgbClr val="6AA84F"/>
            </a:solidFill>
          </a:ln>
        </p:spPr>
        <p:txBody>
          <a:bodyPr vert="horz" wrap="square" lIns="0" tIns="144780" rIns="0" bIns="0" rtlCol="0">
            <a:spAutoFit/>
          </a:bodyPr>
          <a:lstStyle/>
          <a:p>
            <a:pPr marR="2540" algn="ctr">
              <a:lnSpc>
                <a:spcPct val="100000"/>
              </a:lnSpc>
              <a:spcBef>
                <a:spcPts val="1140"/>
              </a:spcBef>
            </a:pPr>
            <a:r>
              <a:rPr sz="1200" spc="-20" dirty="0">
                <a:solidFill>
                  <a:srgbClr val="FFFFFF"/>
                </a:solidFill>
                <a:latin typeface="Arial"/>
                <a:cs typeface="Arial"/>
              </a:rPr>
              <a:t>App2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75"/>
              </a:spcBef>
            </a:pPr>
            <a:endParaRPr sz="1200">
              <a:latin typeface="Arial"/>
              <a:cs typeface="Arial"/>
            </a:endParaRPr>
          </a:p>
          <a:p>
            <a:pPr marR="2540" algn="ctr">
              <a:lnSpc>
                <a:spcPct val="100000"/>
              </a:lnSpc>
            </a:pP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Bins/lib</a:t>
            </a:r>
            <a:endParaRPr sz="1200">
              <a:latin typeface="Arial"/>
              <a:cs typeface="Arial"/>
            </a:endParaRPr>
          </a:p>
          <a:p>
            <a:pPr marR="2540" algn="ctr">
              <a:lnSpc>
                <a:spcPct val="100000"/>
              </a:lnSpc>
              <a:spcBef>
                <a:spcPts val="785"/>
              </a:spcBef>
            </a:pPr>
            <a:r>
              <a:rPr sz="1000" b="1" spc="-10" dirty="0">
                <a:solidFill>
                  <a:srgbClr val="38761D"/>
                </a:solidFill>
                <a:latin typeface="Arial"/>
                <a:cs typeface="Arial"/>
              </a:rPr>
              <a:t>Container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74" name="object 74"/>
          <p:cNvGrpSpPr/>
          <p:nvPr/>
        </p:nvGrpSpPr>
        <p:grpSpPr>
          <a:xfrm>
            <a:off x="10790137" y="1448012"/>
            <a:ext cx="1019810" cy="825500"/>
            <a:chOff x="10790137" y="1448012"/>
            <a:chExt cx="1019810" cy="825500"/>
          </a:xfrm>
        </p:grpSpPr>
        <p:sp>
          <p:nvSpPr>
            <p:cNvPr id="75" name="object 75"/>
            <p:cNvSpPr/>
            <p:nvPr/>
          </p:nvSpPr>
          <p:spPr>
            <a:xfrm>
              <a:off x="10804425" y="1893747"/>
              <a:ext cx="991235" cy="365125"/>
            </a:xfrm>
            <a:custGeom>
              <a:avLst/>
              <a:gdLst/>
              <a:ahLst/>
              <a:cxnLst/>
              <a:rect l="l" t="t" r="r" b="b"/>
              <a:pathLst>
                <a:path w="991234" h="365125">
                  <a:moveTo>
                    <a:pt x="990899" y="0"/>
                  </a:moveTo>
                  <a:lnTo>
                    <a:pt x="0" y="0"/>
                  </a:lnTo>
                  <a:lnTo>
                    <a:pt x="0" y="365099"/>
                  </a:lnTo>
                  <a:lnTo>
                    <a:pt x="990899" y="365099"/>
                  </a:lnTo>
                  <a:lnTo>
                    <a:pt x="990899" y="0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10804425" y="1893747"/>
              <a:ext cx="991235" cy="365125"/>
            </a:xfrm>
            <a:custGeom>
              <a:avLst/>
              <a:gdLst/>
              <a:ahLst/>
              <a:cxnLst/>
              <a:rect l="l" t="t" r="r" b="b"/>
              <a:pathLst>
                <a:path w="991234" h="365125">
                  <a:moveTo>
                    <a:pt x="0" y="0"/>
                  </a:moveTo>
                  <a:lnTo>
                    <a:pt x="990899" y="0"/>
                  </a:lnTo>
                  <a:lnTo>
                    <a:pt x="990899" y="365099"/>
                  </a:lnTo>
                  <a:lnTo>
                    <a:pt x="0" y="3650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10804425" y="1462299"/>
              <a:ext cx="991235" cy="365125"/>
            </a:xfrm>
            <a:custGeom>
              <a:avLst/>
              <a:gdLst/>
              <a:ahLst/>
              <a:cxnLst/>
              <a:rect l="l" t="t" r="r" b="b"/>
              <a:pathLst>
                <a:path w="991234" h="365125">
                  <a:moveTo>
                    <a:pt x="990899" y="0"/>
                  </a:moveTo>
                  <a:lnTo>
                    <a:pt x="0" y="0"/>
                  </a:lnTo>
                  <a:lnTo>
                    <a:pt x="0" y="365100"/>
                  </a:lnTo>
                  <a:lnTo>
                    <a:pt x="990899" y="365100"/>
                  </a:lnTo>
                  <a:lnTo>
                    <a:pt x="990899" y="0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10804425" y="1462299"/>
              <a:ext cx="991235" cy="365125"/>
            </a:xfrm>
            <a:custGeom>
              <a:avLst/>
              <a:gdLst/>
              <a:ahLst/>
              <a:cxnLst/>
              <a:rect l="l" t="t" r="r" b="b"/>
              <a:pathLst>
                <a:path w="991234" h="365125">
                  <a:moveTo>
                    <a:pt x="0" y="0"/>
                  </a:moveTo>
                  <a:lnTo>
                    <a:pt x="990899" y="0"/>
                  </a:lnTo>
                  <a:lnTo>
                    <a:pt x="990899" y="365099"/>
                  </a:lnTo>
                  <a:lnTo>
                    <a:pt x="0" y="3650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9" name="object 79"/>
          <p:cNvSpPr txBox="1"/>
          <p:nvPr/>
        </p:nvSpPr>
        <p:spPr>
          <a:xfrm>
            <a:off x="10756400" y="1402549"/>
            <a:ext cx="1097915" cy="1099820"/>
          </a:xfrm>
          <a:prstGeom prst="rect">
            <a:avLst/>
          </a:prstGeom>
          <a:ln w="19049">
            <a:solidFill>
              <a:srgbClr val="CC0000"/>
            </a:solidFill>
          </a:ln>
        </p:spPr>
        <p:txBody>
          <a:bodyPr vert="horz" wrap="square" lIns="0" tIns="144780" rIns="0" bIns="0" rtlCol="0">
            <a:spAutoFit/>
          </a:bodyPr>
          <a:lstStyle/>
          <a:p>
            <a:pPr marR="2540" algn="ctr">
              <a:lnSpc>
                <a:spcPct val="100000"/>
              </a:lnSpc>
              <a:spcBef>
                <a:spcPts val="1140"/>
              </a:spcBef>
            </a:pPr>
            <a:r>
              <a:rPr sz="1200" spc="-20" dirty="0">
                <a:solidFill>
                  <a:srgbClr val="FFFFFF"/>
                </a:solidFill>
                <a:latin typeface="Arial"/>
                <a:cs typeface="Arial"/>
              </a:rPr>
              <a:t>App3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75"/>
              </a:spcBef>
            </a:pPr>
            <a:endParaRPr sz="1200">
              <a:latin typeface="Arial"/>
              <a:cs typeface="Arial"/>
            </a:endParaRPr>
          </a:p>
          <a:p>
            <a:pPr marR="2540" algn="ctr">
              <a:lnSpc>
                <a:spcPct val="100000"/>
              </a:lnSpc>
            </a:pP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Bins/lib</a:t>
            </a:r>
            <a:endParaRPr sz="1200">
              <a:latin typeface="Arial"/>
              <a:cs typeface="Arial"/>
            </a:endParaRPr>
          </a:p>
          <a:p>
            <a:pPr marR="2540" algn="ctr">
              <a:lnSpc>
                <a:spcPct val="100000"/>
              </a:lnSpc>
              <a:spcBef>
                <a:spcPts val="785"/>
              </a:spcBef>
            </a:pPr>
            <a:r>
              <a:rPr sz="1000" b="1" spc="-10" dirty="0">
                <a:solidFill>
                  <a:srgbClr val="990000"/>
                </a:solidFill>
                <a:latin typeface="Arial"/>
                <a:cs typeface="Arial"/>
              </a:rPr>
              <a:t>Container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80" name="object 80"/>
          <p:cNvGrpSpPr/>
          <p:nvPr/>
        </p:nvGrpSpPr>
        <p:grpSpPr>
          <a:xfrm>
            <a:off x="9570937" y="2743412"/>
            <a:ext cx="1019810" cy="825500"/>
            <a:chOff x="9570937" y="2743412"/>
            <a:chExt cx="1019810" cy="825500"/>
          </a:xfrm>
        </p:grpSpPr>
        <p:sp>
          <p:nvSpPr>
            <p:cNvPr id="81" name="object 81"/>
            <p:cNvSpPr/>
            <p:nvPr/>
          </p:nvSpPr>
          <p:spPr>
            <a:xfrm>
              <a:off x="9585225" y="3189147"/>
              <a:ext cx="991235" cy="365125"/>
            </a:xfrm>
            <a:custGeom>
              <a:avLst/>
              <a:gdLst/>
              <a:ahLst/>
              <a:cxnLst/>
              <a:rect l="l" t="t" r="r" b="b"/>
              <a:pathLst>
                <a:path w="991234" h="365125">
                  <a:moveTo>
                    <a:pt x="990899" y="0"/>
                  </a:moveTo>
                  <a:lnTo>
                    <a:pt x="0" y="0"/>
                  </a:lnTo>
                  <a:lnTo>
                    <a:pt x="0" y="365099"/>
                  </a:lnTo>
                  <a:lnTo>
                    <a:pt x="990899" y="365099"/>
                  </a:lnTo>
                  <a:lnTo>
                    <a:pt x="990899" y="0"/>
                  </a:lnTo>
                  <a:close/>
                </a:path>
              </a:pathLst>
            </a:custGeom>
            <a:solidFill>
              <a:srgbClr val="674E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9585225" y="3189147"/>
              <a:ext cx="991235" cy="365125"/>
            </a:xfrm>
            <a:custGeom>
              <a:avLst/>
              <a:gdLst/>
              <a:ahLst/>
              <a:cxnLst/>
              <a:rect l="l" t="t" r="r" b="b"/>
              <a:pathLst>
                <a:path w="991234" h="365125">
                  <a:moveTo>
                    <a:pt x="0" y="0"/>
                  </a:moveTo>
                  <a:lnTo>
                    <a:pt x="990899" y="0"/>
                  </a:lnTo>
                  <a:lnTo>
                    <a:pt x="990899" y="365099"/>
                  </a:lnTo>
                  <a:lnTo>
                    <a:pt x="0" y="3650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9585225" y="2757699"/>
              <a:ext cx="991235" cy="365125"/>
            </a:xfrm>
            <a:custGeom>
              <a:avLst/>
              <a:gdLst/>
              <a:ahLst/>
              <a:cxnLst/>
              <a:rect l="l" t="t" r="r" b="b"/>
              <a:pathLst>
                <a:path w="991234" h="365125">
                  <a:moveTo>
                    <a:pt x="990899" y="0"/>
                  </a:moveTo>
                  <a:lnTo>
                    <a:pt x="0" y="0"/>
                  </a:lnTo>
                  <a:lnTo>
                    <a:pt x="0" y="365099"/>
                  </a:lnTo>
                  <a:lnTo>
                    <a:pt x="990899" y="365099"/>
                  </a:lnTo>
                  <a:lnTo>
                    <a:pt x="990899" y="0"/>
                  </a:lnTo>
                  <a:close/>
                </a:path>
              </a:pathLst>
            </a:custGeom>
            <a:solidFill>
              <a:srgbClr val="674E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9585225" y="2757700"/>
              <a:ext cx="991235" cy="365125"/>
            </a:xfrm>
            <a:custGeom>
              <a:avLst/>
              <a:gdLst/>
              <a:ahLst/>
              <a:cxnLst/>
              <a:rect l="l" t="t" r="r" b="b"/>
              <a:pathLst>
                <a:path w="991234" h="365125">
                  <a:moveTo>
                    <a:pt x="0" y="0"/>
                  </a:moveTo>
                  <a:lnTo>
                    <a:pt x="990899" y="0"/>
                  </a:lnTo>
                  <a:lnTo>
                    <a:pt x="990899" y="365099"/>
                  </a:lnTo>
                  <a:lnTo>
                    <a:pt x="0" y="3650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5" name="object 85"/>
          <p:cNvSpPr txBox="1"/>
          <p:nvPr/>
        </p:nvSpPr>
        <p:spPr>
          <a:xfrm>
            <a:off x="9537200" y="2697950"/>
            <a:ext cx="1097915" cy="1099820"/>
          </a:xfrm>
          <a:prstGeom prst="rect">
            <a:avLst/>
          </a:prstGeom>
          <a:ln w="19049">
            <a:solidFill>
              <a:srgbClr val="674EA7"/>
            </a:solidFill>
          </a:ln>
        </p:spPr>
        <p:txBody>
          <a:bodyPr vert="horz" wrap="square" lIns="0" tIns="144780" rIns="0" bIns="0" rtlCol="0">
            <a:spAutoFit/>
          </a:bodyPr>
          <a:lstStyle/>
          <a:p>
            <a:pPr marR="2540" algn="ctr">
              <a:lnSpc>
                <a:spcPct val="100000"/>
              </a:lnSpc>
              <a:spcBef>
                <a:spcPts val="1140"/>
              </a:spcBef>
            </a:pPr>
            <a:r>
              <a:rPr sz="1200" spc="-20" dirty="0">
                <a:solidFill>
                  <a:srgbClr val="FFFFFF"/>
                </a:solidFill>
                <a:latin typeface="Arial"/>
                <a:cs typeface="Arial"/>
              </a:rPr>
              <a:t>App2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75"/>
              </a:spcBef>
            </a:pPr>
            <a:endParaRPr sz="1200">
              <a:latin typeface="Arial"/>
              <a:cs typeface="Arial"/>
            </a:endParaRPr>
          </a:p>
          <a:p>
            <a:pPr marR="2540" algn="ctr">
              <a:lnSpc>
                <a:spcPct val="100000"/>
              </a:lnSpc>
            </a:pP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Bins/lib</a:t>
            </a:r>
            <a:endParaRPr sz="1200">
              <a:latin typeface="Arial"/>
              <a:cs typeface="Arial"/>
            </a:endParaRPr>
          </a:p>
          <a:p>
            <a:pPr marR="2540" algn="ctr">
              <a:lnSpc>
                <a:spcPct val="100000"/>
              </a:lnSpc>
              <a:spcBef>
                <a:spcPts val="785"/>
              </a:spcBef>
            </a:pPr>
            <a:r>
              <a:rPr sz="1000" b="1" spc="-10" dirty="0">
                <a:solidFill>
                  <a:srgbClr val="351C75"/>
                </a:solidFill>
                <a:latin typeface="Arial"/>
                <a:cs typeface="Arial"/>
              </a:rPr>
              <a:t>Container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86" name="object 86"/>
          <p:cNvGrpSpPr/>
          <p:nvPr/>
        </p:nvGrpSpPr>
        <p:grpSpPr>
          <a:xfrm>
            <a:off x="10790137" y="2743412"/>
            <a:ext cx="1019810" cy="825500"/>
            <a:chOff x="10790137" y="2743412"/>
            <a:chExt cx="1019810" cy="825500"/>
          </a:xfrm>
        </p:grpSpPr>
        <p:sp>
          <p:nvSpPr>
            <p:cNvPr id="87" name="object 87"/>
            <p:cNvSpPr/>
            <p:nvPr/>
          </p:nvSpPr>
          <p:spPr>
            <a:xfrm>
              <a:off x="10804425" y="3189147"/>
              <a:ext cx="991235" cy="365125"/>
            </a:xfrm>
            <a:custGeom>
              <a:avLst/>
              <a:gdLst/>
              <a:ahLst/>
              <a:cxnLst/>
              <a:rect l="l" t="t" r="r" b="b"/>
              <a:pathLst>
                <a:path w="991234" h="365125">
                  <a:moveTo>
                    <a:pt x="990899" y="0"/>
                  </a:moveTo>
                  <a:lnTo>
                    <a:pt x="0" y="0"/>
                  </a:lnTo>
                  <a:lnTo>
                    <a:pt x="0" y="365099"/>
                  </a:lnTo>
                  <a:lnTo>
                    <a:pt x="990899" y="365099"/>
                  </a:lnTo>
                  <a:lnTo>
                    <a:pt x="990899" y="0"/>
                  </a:lnTo>
                  <a:close/>
                </a:path>
              </a:pathLst>
            </a:custGeom>
            <a:solidFill>
              <a:srgbClr val="A64D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10804425" y="3189147"/>
              <a:ext cx="991235" cy="365125"/>
            </a:xfrm>
            <a:custGeom>
              <a:avLst/>
              <a:gdLst/>
              <a:ahLst/>
              <a:cxnLst/>
              <a:rect l="l" t="t" r="r" b="b"/>
              <a:pathLst>
                <a:path w="991234" h="365125">
                  <a:moveTo>
                    <a:pt x="0" y="0"/>
                  </a:moveTo>
                  <a:lnTo>
                    <a:pt x="990899" y="0"/>
                  </a:lnTo>
                  <a:lnTo>
                    <a:pt x="990899" y="365099"/>
                  </a:lnTo>
                  <a:lnTo>
                    <a:pt x="0" y="3650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10804425" y="2757699"/>
              <a:ext cx="991235" cy="365125"/>
            </a:xfrm>
            <a:custGeom>
              <a:avLst/>
              <a:gdLst/>
              <a:ahLst/>
              <a:cxnLst/>
              <a:rect l="l" t="t" r="r" b="b"/>
              <a:pathLst>
                <a:path w="991234" h="365125">
                  <a:moveTo>
                    <a:pt x="990899" y="0"/>
                  </a:moveTo>
                  <a:lnTo>
                    <a:pt x="0" y="0"/>
                  </a:lnTo>
                  <a:lnTo>
                    <a:pt x="0" y="365099"/>
                  </a:lnTo>
                  <a:lnTo>
                    <a:pt x="990899" y="365099"/>
                  </a:lnTo>
                  <a:lnTo>
                    <a:pt x="990899" y="0"/>
                  </a:lnTo>
                  <a:close/>
                </a:path>
              </a:pathLst>
            </a:custGeom>
            <a:solidFill>
              <a:srgbClr val="A64D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10804425" y="2757700"/>
              <a:ext cx="991235" cy="365125"/>
            </a:xfrm>
            <a:custGeom>
              <a:avLst/>
              <a:gdLst/>
              <a:ahLst/>
              <a:cxnLst/>
              <a:rect l="l" t="t" r="r" b="b"/>
              <a:pathLst>
                <a:path w="991234" h="365125">
                  <a:moveTo>
                    <a:pt x="0" y="0"/>
                  </a:moveTo>
                  <a:lnTo>
                    <a:pt x="990899" y="0"/>
                  </a:lnTo>
                  <a:lnTo>
                    <a:pt x="990899" y="365099"/>
                  </a:lnTo>
                  <a:lnTo>
                    <a:pt x="0" y="3650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1" name="object 91"/>
          <p:cNvSpPr txBox="1"/>
          <p:nvPr/>
        </p:nvSpPr>
        <p:spPr>
          <a:xfrm>
            <a:off x="10756400" y="2697950"/>
            <a:ext cx="1097915" cy="1099820"/>
          </a:xfrm>
          <a:prstGeom prst="rect">
            <a:avLst/>
          </a:prstGeom>
          <a:ln w="19049">
            <a:solidFill>
              <a:srgbClr val="A64D79"/>
            </a:solidFill>
          </a:ln>
        </p:spPr>
        <p:txBody>
          <a:bodyPr vert="horz" wrap="square" lIns="0" tIns="144780" rIns="0" bIns="0" rtlCol="0">
            <a:spAutoFit/>
          </a:bodyPr>
          <a:lstStyle/>
          <a:p>
            <a:pPr marR="2540" algn="ctr">
              <a:lnSpc>
                <a:spcPct val="100000"/>
              </a:lnSpc>
              <a:spcBef>
                <a:spcPts val="1140"/>
              </a:spcBef>
            </a:pPr>
            <a:r>
              <a:rPr sz="1200" spc="-20" dirty="0">
                <a:solidFill>
                  <a:srgbClr val="FFFFFF"/>
                </a:solidFill>
                <a:latin typeface="Arial"/>
                <a:cs typeface="Arial"/>
              </a:rPr>
              <a:t>App3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75"/>
              </a:spcBef>
            </a:pPr>
            <a:endParaRPr sz="1200">
              <a:latin typeface="Arial"/>
              <a:cs typeface="Arial"/>
            </a:endParaRPr>
          </a:p>
          <a:p>
            <a:pPr marR="2540" algn="ctr">
              <a:lnSpc>
                <a:spcPct val="100000"/>
              </a:lnSpc>
            </a:pP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Bins/lib</a:t>
            </a:r>
            <a:endParaRPr sz="1200">
              <a:latin typeface="Arial"/>
              <a:cs typeface="Arial"/>
            </a:endParaRPr>
          </a:p>
          <a:p>
            <a:pPr marR="2540" algn="ctr">
              <a:lnSpc>
                <a:spcPct val="100000"/>
              </a:lnSpc>
              <a:spcBef>
                <a:spcPts val="785"/>
              </a:spcBef>
            </a:pPr>
            <a:r>
              <a:rPr sz="1000" b="1" spc="-10" dirty="0">
                <a:solidFill>
                  <a:srgbClr val="741B47"/>
                </a:solidFill>
                <a:latin typeface="Arial"/>
                <a:cs typeface="Arial"/>
              </a:rPr>
              <a:t>Container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92" name="object 92"/>
          <p:cNvGrpSpPr/>
          <p:nvPr/>
        </p:nvGrpSpPr>
        <p:grpSpPr>
          <a:xfrm>
            <a:off x="302712" y="4886337"/>
            <a:ext cx="3610610" cy="874394"/>
            <a:chOff x="302712" y="4886337"/>
            <a:chExt cx="3610610" cy="874394"/>
          </a:xfrm>
        </p:grpSpPr>
        <p:sp>
          <p:nvSpPr>
            <p:cNvPr id="93" name="object 93"/>
            <p:cNvSpPr/>
            <p:nvPr/>
          </p:nvSpPr>
          <p:spPr>
            <a:xfrm>
              <a:off x="317000" y="4900625"/>
              <a:ext cx="3582035" cy="845819"/>
            </a:xfrm>
            <a:custGeom>
              <a:avLst/>
              <a:gdLst/>
              <a:ahLst/>
              <a:cxnLst/>
              <a:rect l="l" t="t" r="r" b="b"/>
              <a:pathLst>
                <a:path w="3582035" h="845820">
                  <a:moveTo>
                    <a:pt x="3581699" y="0"/>
                  </a:moveTo>
                  <a:lnTo>
                    <a:pt x="0" y="0"/>
                  </a:lnTo>
                  <a:lnTo>
                    <a:pt x="0" y="845699"/>
                  </a:lnTo>
                  <a:lnTo>
                    <a:pt x="3581699" y="845699"/>
                  </a:lnTo>
                  <a:lnTo>
                    <a:pt x="3581699" y="0"/>
                  </a:lnTo>
                  <a:close/>
                </a:path>
              </a:pathLst>
            </a:custGeom>
            <a:solidFill>
              <a:srgbClr val="43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317000" y="4900624"/>
              <a:ext cx="3582035" cy="845819"/>
            </a:xfrm>
            <a:custGeom>
              <a:avLst/>
              <a:gdLst/>
              <a:ahLst/>
              <a:cxnLst/>
              <a:rect l="l" t="t" r="r" b="b"/>
              <a:pathLst>
                <a:path w="3582035" h="845820">
                  <a:moveTo>
                    <a:pt x="0" y="0"/>
                  </a:moveTo>
                  <a:lnTo>
                    <a:pt x="3581699" y="0"/>
                  </a:lnTo>
                  <a:lnTo>
                    <a:pt x="3581699" y="845699"/>
                  </a:lnTo>
                  <a:lnTo>
                    <a:pt x="0" y="8456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5" name="object 95"/>
          <p:cNvSpPr txBox="1"/>
          <p:nvPr/>
        </p:nvSpPr>
        <p:spPr>
          <a:xfrm>
            <a:off x="317000" y="5164471"/>
            <a:ext cx="3582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47115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Infrastructure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96" name="object 96"/>
          <p:cNvGrpSpPr/>
          <p:nvPr/>
        </p:nvGrpSpPr>
        <p:grpSpPr>
          <a:xfrm>
            <a:off x="302712" y="3837662"/>
            <a:ext cx="3610610" cy="507365"/>
            <a:chOff x="302712" y="3837662"/>
            <a:chExt cx="3610610" cy="507365"/>
          </a:xfrm>
        </p:grpSpPr>
        <p:sp>
          <p:nvSpPr>
            <p:cNvPr id="97" name="object 97"/>
            <p:cNvSpPr/>
            <p:nvPr/>
          </p:nvSpPr>
          <p:spPr>
            <a:xfrm>
              <a:off x="317000" y="3851949"/>
              <a:ext cx="3582035" cy="478790"/>
            </a:xfrm>
            <a:custGeom>
              <a:avLst/>
              <a:gdLst/>
              <a:ahLst/>
              <a:cxnLst/>
              <a:rect l="l" t="t" r="r" b="b"/>
              <a:pathLst>
                <a:path w="3582035" h="478789">
                  <a:moveTo>
                    <a:pt x="3581699" y="0"/>
                  </a:moveTo>
                  <a:lnTo>
                    <a:pt x="0" y="0"/>
                  </a:lnTo>
                  <a:lnTo>
                    <a:pt x="0" y="478500"/>
                  </a:lnTo>
                  <a:lnTo>
                    <a:pt x="3581699" y="478500"/>
                  </a:lnTo>
                  <a:lnTo>
                    <a:pt x="3581699" y="0"/>
                  </a:lnTo>
                  <a:close/>
                </a:path>
              </a:pathLst>
            </a:custGeom>
            <a:solidFill>
              <a:srgbClr val="0B539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317000" y="3851950"/>
              <a:ext cx="3582035" cy="478790"/>
            </a:xfrm>
            <a:custGeom>
              <a:avLst/>
              <a:gdLst/>
              <a:ahLst/>
              <a:cxnLst/>
              <a:rect l="l" t="t" r="r" b="b"/>
              <a:pathLst>
                <a:path w="3582035" h="478789">
                  <a:moveTo>
                    <a:pt x="0" y="0"/>
                  </a:moveTo>
                  <a:lnTo>
                    <a:pt x="3581699" y="0"/>
                  </a:lnTo>
                  <a:lnTo>
                    <a:pt x="3581699" y="478499"/>
                  </a:lnTo>
                  <a:lnTo>
                    <a:pt x="0" y="4784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9" name="object 99"/>
          <p:cNvSpPr txBox="1"/>
          <p:nvPr/>
        </p:nvSpPr>
        <p:spPr>
          <a:xfrm>
            <a:off x="317000" y="3932196"/>
            <a:ext cx="3582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D966"/>
                </a:solidFill>
                <a:latin typeface="Arial"/>
                <a:cs typeface="Arial"/>
              </a:rPr>
              <a:t>Python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0" name="object 100"/>
          <p:cNvSpPr/>
          <p:nvPr/>
        </p:nvSpPr>
        <p:spPr>
          <a:xfrm>
            <a:off x="362975" y="5756099"/>
            <a:ext cx="3536315" cy="457834"/>
          </a:xfrm>
          <a:custGeom>
            <a:avLst/>
            <a:gdLst/>
            <a:ahLst/>
            <a:cxnLst/>
            <a:rect l="l" t="t" r="r" b="b"/>
            <a:pathLst>
              <a:path w="3536315" h="457835">
                <a:moveTo>
                  <a:pt x="0" y="0"/>
                </a:moveTo>
                <a:lnTo>
                  <a:pt x="3535799" y="0"/>
                </a:lnTo>
                <a:lnTo>
                  <a:pt x="3535799" y="457799"/>
                </a:lnTo>
                <a:lnTo>
                  <a:pt x="0" y="457799"/>
                </a:lnTo>
                <a:lnTo>
                  <a:pt x="0" y="0"/>
                </a:lnTo>
                <a:close/>
              </a:path>
            </a:pathLst>
          </a:custGeom>
          <a:ln w="2857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 txBox="1"/>
          <p:nvPr/>
        </p:nvSpPr>
        <p:spPr>
          <a:xfrm>
            <a:off x="970654" y="5825995"/>
            <a:ext cx="23190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Virtual</a:t>
            </a:r>
            <a:r>
              <a:rPr sz="1800" b="1" spc="-7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Environments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02" name="object 102"/>
          <p:cNvGrpSpPr/>
          <p:nvPr/>
        </p:nvGrpSpPr>
        <p:grpSpPr>
          <a:xfrm>
            <a:off x="302712" y="4371062"/>
            <a:ext cx="3610610" cy="507365"/>
            <a:chOff x="302712" y="4371062"/>
            <a:chExt cx="3610610" cy="507365"/>
          </a:xfrm>
        </p:grpSpPr>
        <p:sp>
          <p:nvSpPr>
            <p:cNvPr id="103" name="object 103"/>
            <p:cNvSpPr/>
            <p:nvPr/>
          </p:nvSpPr>
          <p:spPr>
            <a:xfrm>
              <a:off x="317000" y="4385349"/>
              <a:ext cx="3582035" cy="478790"/>
            </a:xfrm>
            <a:custGeom>
              <a:avLst/>
              <a:gdLst/>
              <a:ahLst/>
              <a:cxnLst/>
              <a:rect l="l" t="t" r="r" b="b"/>
              <a:pathLst>
                <a:path w="3582035" h="478789">
                  <a:moveTo>
                    <a:pt x="3581699" y="0"/>
                  </a:moveTo>
                  <a:lnTo>
                    <a:pt x="0" y="0"/>
                  </a:lnTo>
                  <a:lnTo>
                    <a:pt x="0" y="478500"/>
                  </a:lnTo>
                  <a:lnTo>
                    <a:pt x="3581699" y="478500"/>
                  </a:lnTo>
                  <a:lnTo>
                    <a:pt x="3581699" y="0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317000" y="4385350"/>
              <a:ext cx="3582035" cy="478790"/>
            </a:xfrm>
            <a:custGeom>
              <a:avLst/>
              <a:gdLst/>
              <a:ahLst/>
              <a:cxnLst/>
              <a:rect l="l" t="t" r="r" b="b"/>
              <a:pathLst>
                <a:path w="3582035" h="478789">
                  <a:moveTo>
                    <a:pt x="0" y="0"/>
                  </a:moveTo>
                  <a:lnTo>
                    <a:pt x="3581699" y="0"/>
                  </a:lnTo>
                  <a:lnTo>
                    <a:pt x="3581699" y="478499"/>
                  </a:lnTo>
                  <a:lnTo>
                    <a:pt x="0" y="4784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5" name="object 105"/>
          <p:cNvSpPr txBox="1"/>
          <p:nvPr/>
        </p:nvSpPr>
        <p:spPr>
          <a:xfrm>
            <a:off x="317000" y="4465596"/>
            <a:ext cx="3582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12165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Operating</a:t>
            </a:r>
            <a:r>
              <a:rPr sz="18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System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06" name="object 106"/>
          <p:cNvGrpSpPr/>
          <p:nvPr/>
        </p:nvGrpSpPr>
        <p:grpSpPr>
          <a:xfrm>
            <a:off x="350737" y="2667212"/>
            <a:ext cx="1019810" cy="825500"/>
            <a:chOff x="350737" y="2667212"/>
            <a:chExt cx="1019810" cy="825500"/>
          </a:xfrm>
        </p:grpSpPr>
        <p:sp>
          <p:nvSpPr>
            <p:cNvPr id="107" name="object 107"/>
            <p:cNvSpPr/>
            <p:nvPr/>
          </p:nvSpPr>
          <p:spPr>
            <a:xfrm>
              <a:off x="365025" y="3112947"/>
              <a:ext cx="991235" cy="365125"/>
            </a:xfrm>
            <a:custGeom>
              <a:avLst/>
              <a:gdLst/>
              <a:ahLst/>
              <a:cxnLst/>
              <a:rect l="l" t="t" r="r" b="b"/>
              <a:pathLst>
                <a:path w="991235" h="365125">
                  <a:moveTo>
                    <a:pt x="990899" y="0"/>
                  </a:moveTo>
                  <a:lnTo>
                    <a:pt x="0" y="0"/>
                  </a:lnTo>
                  <a:lnTo>
                    <a:pt x="0" y="365099"/>
                  </a:lnTo>
                  <a:lnTo>
                    <a:pt x="990899" y="365099"/>
                  </a:lnTo>
                  <a:lnTo>
                    <a:pt x="990899" y="0"/>
                  </a:lnTo>
                  <a:close/>
                </a:path>
              </a:pathLst>
            </a:custGeom>
            <a:solidFill>
              <a:srgbClr val="4E88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365025" y="3112947"/>
              <a:ext cx="991235" cy="365125"/>
            </a:xfrm>
            <a:custGeom>
              <a:avLst/>
              <a:gdLst/>
              <a:ahLst/>
              <a:cxnLst/>
              <a:rect l="l" t="t" r="r" b="b"/>
              <a:pathLst>
                <a:path w="991235" h="365125">
                  <a:moveTo>
                    <a:pt x="0" y="0"/>
                  </a:moveTo>
                  <a:lnTo>
                    <a:pt x="990899" y="0"/>
                  </a:lnTo>
                  <a:lnTo>
                    <a:pt x="990899" y="365099"/>
                  </a:lnTo>
                  <a:lnTo>
                    <a:pt x="0" y="3650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365025" y="2681499"/>
              <a:ext cx="991235" cy="365125"/>
            </a:xfrm>
            <a:custGeom>
              <a:avLst/>
              <a:gdLst/>
              <a:ahLst/>
              <a:cxnLst/>
              <a:rect l="l" t="t" r="r" b="b"/>
              <a:pathLst>
                <a:path w="991235" h="365125">
                  <a:moveTo>
                    <a:pt x="990899" y="0"/>
                  </a:moveTo>
                  <a:lnTo>
                    <a:pt x="0" y="0"/>
                  </a:lnTo>
                  <a:lnTo>
                    <a:pt x="0" y="365099"/>
                  </a:lnTo>
                  <a:lnTo>
                    <a:pt x="990899" y="365099"/>
                  </a:lnTo>
                  <a:lnTo>
                    <a:pt x="990899" y="0"/>
                  </a:lnTo>
                  <a:close/>
                </a:path>
              </a:pathLst>
            </a:custGeom>
            <a:solidFill>
              <a:srgbClr val="4E88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365025" y="2681500"/>
              <a:ext cx="991235" cy="365125"/>
            </a:xfrm>
            <a:custGeom>
              <a:avLst/>
              <a:gdLst/>
              <a:ahLst/>
              <a:cxnLst/>
              <a:rect l="l" t="t" r="r" b="b"/>
              <a:pathLst>
                <a:path w="991235" h="365125">
                  <a:moveTo>
                    <a:pt x="0" y="0"/>
                  </a:moveTo>
                  <a:lnTo>
                    <a:pt x="990899" y="0"/>
                  </a:lnTo>
                  <a:lnTo>
                    <a:pt x="990899" y="365099"/>
                  </a:lnTo>
                  <a:lnTo>
                    <a:pt x="0" y="3650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1" name="object 111"/>
          <p:cNvSpPr txBox="1"/>
          <p:nvPr/>
        </p:nvSpPr>
        <p:spPr>
          <a:xfrm>
            <a:off x="317000" y="2621750"/>
            <a:ext cx="1097915" cy="1099820"/>
          </a:xfrm>
          <a:prstGeom prst="rect">
            <a:avLst/>
          </a:prstGeom>
          <a:ln w="19049">
            <a:solidFill>
              <a:srgbClr val="4A86E8"/>
            </a:solidFill>
          </a:ln>
        </p:spPr>
        <p:txBody>
          <a:bodyPr vert="horz" wrap="square" lIns="0" tIns="144780" rIns="0" bIns="0" rtlCol="0">
            <a:spAutoFit/>
          </a:bodyPr>
          <a:lstStyle/>
          <a:p>
            <a:pPr marR="2540" algn="ctr">
              <a:lnSpc>
                <a:spcPct val="100000"/>
              </a:lnSpc>
              <a:spcBef>
                <a:spcPts val="1140"/>
              </a:spcBef>
            </a:pPr>
            <a:r>
              <a:rPr sz="1200" spc="-20" dirty="0">
                <a:solidFill>
                  <a:srgbClr val="FFFFFF"/>
                </a:solidFill>
                <a:latin typeface="Arial"/>
                <a:cs typeface="Arial"/>
              </a:rPr>
              <a:t>App1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75"/>
              </a:spcBef>
            </a:pPr>
            <a:endParaRPr sz="1200">
              <a:latin typeface="Arial"/>
              <a:cs typeface="Arial"/>
            </a:endParaRPr>
          </a:p>
          <a:p>
            <a:pPr marR="2540" algn="ctr">
              <a:lnSpc>
                <a:spcPct val="100000"/>
              </a:lnSpc>
            </a:pPr>
            <a:r>
              <a:rPr sz="1200" spc="-20" dirty="0">
                <a:solidFill>
                  <a:srgbClr val="FFFFFF"/>
                </a:solidFill>
                <a:latin typeface="Arial"/>
                <a:cs typeface="Arial"/>
              </a:rPr>
              <a:t>Libs</a:t>
            </a:r>
            <a:endParaRPr sz="1200">
              <a:latin typeface="Arial"/>
              <a:cs typeface="Arial"/>
            </a:endParaRPr>
          </a:p>
          <a:p>
            <a:pPr marR="2540" algn="ctr">
              <a:lnSpc>
                <a:spcPct val="100000"/>
              </a:lnSpc>
              <a:spcBef>
                <a:spcPts val="785"/>
              </a:spcBef>
            </a:pPr>
            <a:r>
              <a:rPr sz="1000" b="1" spc="-20" dirty="0">
                <a:solidFill>
                  <a:srgbClr val="1155CC"/>
                </a:solidFill>
                <a:latin typeface="Arial"/>
                <a:cs typeface="Arial"/>
              </a:rPr>
              <a:t>Venv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112" name="object 112"/>
          <p:cNvGrpSpPr/>
          <p:nvPr/>
        </p:nvGrpSpPr>
        <p:grpSpPr>
          <a:xfrm>
            <a:off x="1569937" y="2667212"/>
            <a:ext cx="1019810" cy="825500"/>
            <a:chOff x="1569937" y="2667212"/>
            <a:chExt cx="1019810" cy="825500"/>
          </a:xfrm>
        </p:grpSpPr>
        <p:sp>
          <p:nvSpPr>
            <p:cNvPr id="113" name="object 113"/>
            <p:cNvSpPr/>
            <p:nvPr/>
          </p:nvSpPr>
          <p:spPr>
            <a:xfrm>
              <a:off x="1584224" y="3112947"/>
              <a:ext cx="991235" cy="365125"/>
            </a:xfrm>
            <a:custGeom>
              <a:avLst/>
              <a:gdLst/>
              <a:ahLst/>
              <a:cxnLst/>
              <a:rect l="l" t="t" r="r" b="b"/>
              <a:pathLst>
                <a:path w="991235" h="365125">
                  <a:moveTo>
                    <a:pt x="990899" y="0"/>
                  </a:moveTo>
                  <a:lnTo>
                    <a:pt x="0" y="0"/>
                  </a:lnTo>
                  <a:lnTo>
                    <a:pt x="0" y="365099"/>
                  </a:lnTo>
                  <a:lnTo>
                    <a:pt x="990899" y="365099"/>
                  </a:lnTo>
                  <a:lnTo>
                    <a:pt x="990899" y="0"/>
                  </a:lnTo>
                  <a:close/>
                </a:path>
              </a:pathLst>
            </a:custGeom>
            <a:solidFill>
              <a:srgbClr val="6AA8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1584225" y="3112947"/>
              <a:ext cx="991235" cy="365125"/>
            </a:xfrm>
            <a:custGeom>
              <a:avLst/>
              <a:gdLst/>
              <a:ahLst/>
              <a:cxnLst/>
              <a:rect l="l" t="t" r="r" b="b"/>
              <a:pathLst>
                <a:path w="991235" h="365125">
                  <a:moveTo>
                    <a:pt x="0" y="0"/>
                  </a:moveTo>
                  <a:lnTo>
                    <a:pt x="990899" y="0"/>
                  </a:lnTo>
                  <a:lnTo>
                    <a:pt x="990899" y="365099"/>
                  </a:lnTo>
                  <a:lnTo>
                    <a:pt x="0" y="3650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1584224" y="2681499"/>
              <a:ext cx="991235" cy="365125"/>
            </a:xfrm>
            <a:custGeom>
              <a:avLst/>
              <a:gdLst/>
              <a:ahLst/>
              <a:cxnLst/>
              <a:rect l="l" t="t" r="r" b="b"/>
              <a:pathLst>
                <a:path w="991235" h="365125">
                  <a:moveTo>
                    <a:pt x="990899" y="0"/>
                  </a:moveTo>
                  <a:lnTo>
                    <a:pt x="0" y="0"/>
                  </a:lnTo>
                  <a:lnTo>
                    <a:pt x="0" y="365099"/>
                  </a:lnTo>
                  <a:lnTo>
                    <a:pt x="990899" y="365099"/>
                  </a:lnTo>
                  <a:lnTo>
                    <a:pt x="990899" y="0"/>
                  </a:lnTo>
                  <a:close/>
                </a:path>
              </a:pathLst>
            </a:custGeom>
            <a:solidFill>
              <a:srgbClr val="6AA8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1584225" y="2681500"/>
              <a:ext cx="991235" cy="365125"/>
            </a:xfrm>
            <a:custGeom>
              <a:avLst/>
              <a:gdLst/>
              <a:ahLst/>
              <a:cxnLst/>
              <a:rect l="l" t="t" r="r" b="b"/>
              <a:pathLst>
                <a:path w="991235" h="365125">
                  <a:moveTo>
                    <a:pt x="0" y="0"/>
                  </a:moveTo>
                  <a:lnTo>
                    <a:pt x="990899" y="0"/>
                  </a:lnTo>
                  <a:lnTo>
                    <a:pt x="990899" y="365099"/>
                  </a:lnTo>
                  <a:lnTo>
                    <a:pt x="0" y="3650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7" name="object 117"/>
          <p:cNvSpPr txBox="1"/>
          <p:nvPr/>
        </p:nvSpPr>
        <p:spPr>
          <a:xfrm>
            <a:off x="1536200" y="2621750"/>
            <a:ext cx="1097915" cy="1099820"/>
          </a:xfrm>
          <a:prstGeom prst="rect">
            <a:avLst/>
          </a:prstGeom>
          <a:ln w="19049">
            <a:solidFill>
              <a:srgbClr val="6AA84F"/>
            </a:solidFill>
          </a:ln>
        </p:spPr>
        <p:txBody>
          <a:bodyPr vert="horz" wrap="square" lIns="0" tIns="144780" rIns="0" bIns="0" rtlCol="0">
            <a:spAutoFit/>
          </a:bodyPr>
          <a:lstStyle/>
          <a:p>
            <a:pPr marR="2540" algn="ctr">
              <a:lnSpc>
                <a:spcPct val="100000"/>
              </a:lnSpc>
              <a:spcBef>
                <a:spcPts val="1140"/>
              </a:spcBef>
            </a:pPr>
            <a:r>
              <a:rPr sz="1200" spc="-20" dirty="0">
                <a:solidFill>
                  <a:srgbClr val="FFFFFF"/>
                </a:solidFill>
                <a:latin typeface="Arial"/>
                <a:cs typeface="Arial"/>
              </a:rPr>
              <a:t>App2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75"/>
              </a:spcBef>
            </a:pPr>
            <a:endParaRPr sz="1200">
              <a:latin typeface="Arial"/>
              <a:cs typeface="Arial"/>
            </a:endParaRPr>
          </a:p>
          <a:p>
            <a:pPr marR="2540" algn="ctr">
              <a:lnSpc>
                <a:spcPct val="100000"/>
              </a:lnSpc>
            </a:pPr>
            <a:r>
              <a:rPr sz="1200" spc="-20" dirty="0">
                <a:solidFill>
                  <a:srgbClr val="FFFFFF"/>
                </a:solidFill>
                <a:latin typeface="Arial"/>
                <a:cs typeface="Arial"/>
              </a:rPr>
              <a:t>Libs</a:t>
            </a:r>
            <a:endParaRPr sz="1200">
              <a:latin typeface="Arial"/>
              <a:cs typeface="Arial"/>
            </a:endParaRPr>
          </a:p>
          <a:p>
            <a:pPr marR="2540" algn="ctr">
              <a:lnSpc>
                <a:spcPct val="100000"/>
              </a:lnSpc>
              <a:spcBef>
                <a:spcPts val="785"/>
              </a:spcBef>
            </a:pPr>
            <a:r>
              <a:rPr sz="1000" b="1" spc="-20" dirty="0">
                <a:solidFill>
                  <a:srgbClr val="38761D"/>
                </a:solidFill>
                <a:latin typeface="Arial"/>
                <a:cs typeface="Arial"/>
              </a:rPr>
              <a:t>Venv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118" name="object 118"/>
          <p:cNvGrpSpPr/>
          <p:nvPr/>
        </p:nvGrpSpPr>
        <p:grpSpPr>
          <a:xfrm>
            <a:off x="2789137" y="2667212"/>
            <a:ext cx="1019810" cy="825500"/>
            <a:chOff x="2789137" y="2667212"/>
            <a:chExt cx="1019810" cy="825500"/>
          </a:xfrm>
        </p:grpSpPr>
        <p:sp>
          <p:nvSpPr>
            <p:cNvPr id="119" name="object 119"/>
            <p:cNvSpPr/>
            <p:nvPr/>
          </p:nvSpPr>
          <p:spPr>
            <a:xfrm>
              <a:off x="2803424" y="3112947"/>
              <a:ext cx="991235" cy="365125"/>
            </a:xfrm>
            <a:custGeom>
              <a:avLst/>
              <a:gdLst/>
              <a:ahLst/>
              <a:cxnLst/>
              <a:rect l="l" t="t" r="r" b="b"/>
              <a:pathLst>
                <a:path w="991235" h="365125">
                  <a:moveTo>
                    <a:pt x="990899" y="0"/>
                  </a:moveTo>
                  <a:lnTo>
                    <a:pt x="0" y="0"/>
                  </a:lnTo>
                  <a:lnTo>
                    <a:pt x="0" y="365099"/>
                  </a:lnTo>
                  <a:lnTo>
                    <a:pt x="990899" y="365099"/>
                  </a:lnTo>
                  <a:lnTo>
                    <a:pt x="990899" y="0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2803425" y="3112947"/>
              <a:ext cx="991235" cy="365125"/>
            </a:xfrm>
            <a:custGeom>
              <a:avLst/>
              <a:gdLst/>
              <a:ahLst/>
              <a:cxnLst/>
              <a:rect l="l" t="t" r="r" b="b"/>
              <a:pathLst>
                <a:path w="991235" h="365125">
                  <a:moveTo>
                    <a:pt x="0" y="0"/>
                  </a:moveTo>
                  <a:lnTo>
                    <a:pt x="990899" y="0"/>
                  </a:lnTo>
                  <a:lnTo>
                    <a:pt x="990899" y="365099"/>
                  </a:lnTo>
                  <a:lnTo>
                    <a:pt x="0" y="3650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2803424" y="2681499"/>
              <a:ext cx="991235" cy="365125"/>
            </a:xfrm>
            <a:custGeom>
              <a:avLst/>
              <a:gdLst/>
              <a:ahLst/>
              <a:cxnLst/>
              <a:rect l="l" t="t" r="r" b="b"/>
              <a:pathLst>
                <a:path w="991235" h="365125">
                  <a:moveTo>
                    <a:pt x="990899" y="0"/>
                  </a:moveTo>
                  <a:lnTo>
                    <a:pt x="0" y="0"/>
                  </a:lnTo>
                  <a:lnTo>
                    <a:pt x="0" y="365099"/>
                  </a:lnTo>
                  <a:lnTo>
                    <a:pt x="990899" y="365099"/>
                  </a:lnTo>
                  <a:lnTo>
                    <a:pt x="990899" y="0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2803425" y="2681500"/>
              <a:ext cx="991235" cy="365125"/>
            </a:xfrm>
            <a:custGeom>
              <a:avLst/>
              <a:gdLst/>
              <a:ahLst/>
              <a:cxnLst/>
              <a:rect l="l" t="t" r="r" b="b"/>
              <a:pathLst>
                <a:path w="991235" h="365125">
                  <a:moveTo>
                    <a:pt x="0" y="0"/>
                  </a:moveTo>
                  <a:lnTo>
                    <a:pt x="990899" y="0"/>
                  </a:lnTo>
                  <a:lnTo>
                    <a:pt x="990899" y="365099"/>
                  </a:lnTo>
                  <a:lnTo>
                    <a:pt x="0" y="3650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3" name="object 123"/>
          <p:cNvSpPr txBox="1"/>
          <p:nvPr/>
        </p:nvSpPr>
        <p:spPr>
          <a:xfrm>
            <a:off x="2755400" y="2621750"/>
            <a:ext cx="1097915" cy="1099820"/>
          </a:xfrm>
          <a:prstGeom prst="rect">
            <a:avLst/>
          </a:prstGeom>
          <a:ln w="19049">
            <a:solidFill>
              <a:srgbClr val="CC0000"/>
            </a:solidFill>
          </a:ln>
        </p:spPr>
        <p:txBody>
          <a:bodyPr vert="horz" wrap="square" lIns="0" tIns="144780" rIns="0" bIns="0" rtlCol="0">
            <a:spAutoFit/>
          </a:bodyPr>
          <a:lstStyle/>
          <a:p>
            <a:pPr marR="2540" algn="ctr">
              <a:lnSpc>
                <a:spcPct val="100000"/>
              </a:lnSpc>
              <a:spcBef>
                <a:spcPts val="1140"/>
              </a:spcBef>
            </a:pPr>
            <a:r>
              <a:rPr sz="1200" spc="-20" dirty="0">
                <a:solidFill>
                  <a:srgbClr val="FFFFFF"/>
                </a:solidFill>
                <a:latin typeface="Arial"/>
                <a:cs typeface="Arial"/>
              </a:rPr>
              <a:t>App3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75"/>
              </a:spcBef>
            </a:pPr>
            <a:endParaRPr sz="1200">
              <a:latin typeface="Arial"/>
              <a:cs typeface="Arial"/>
            </a:endParaRPr>
          </a:p>
          <a:p>
            <a:pPr marR="2540" algn="ctr">
              <a:lnSpc>
                <a:spcPct val="100000"/>
              </a:lnSpc>
            </a:pPr>
            <a:r>
              <a:rPr sz="1200" spc="-20" dirty="0">
                <a:solidFill>
                  <a:srgbClr val="FFFFFF"/>
                </a:solidFill>
                <a:latin typeface="Arial"/>
                <a:cs typeface="Arial"/>
              </a:rPr>
              <a:t>Libs</a:t>
            </a:r>
            <a:endParaRPr sz="1200">
              <a:latin typeface="Arial"/>
              <a:cs typeface="Arial"/>
            </a:endParaRPr>
          </a:p>
          <a:p>
            <a:pPr marR="2540" algn="ctr">
              <a:lnSpc>
                <a:spcPct val="100000"/>
              </a:lnSpc>
              <a:spcBef>
                <a:spcPts val="785"/>
              </a:spcBef>
            </a:pPr>
            <a:r>
              <a:rPr sz="1000" b="1" spc="-20" dirty="0">
                <a:solidFill>
                  <a:srgbClr val="990000"/>
                </a:solidFill>
                <a:latin typeface="Arial"/>
                <a:cs typeface="Arial"/>
              </a:rPr>
              <a:t>Venv</a:t>
            </a:r>
            <a:endParaRPr sz="1000">
              <a:latin typeface="Arial"/>
              <a:cs typeface="Arial"/>
            </a:endParaRPr>
          </a:p>
        </p:txBody>
      </p:sp>
      <p:sp>
        <p:nvSpPr>
          <p:cNvPr id="124" name="object 124"/>
          <p:cNvSpPr txBox="1"/>
          <p:nvPr/>
        </p:nvSpPr>
        <p:spPr>
          <a:xfrm>
            <a:off x="11406833" y="6466767"/>
            <a:ext cx="10287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50" dirty="0">
                <a:solidFill>
                  <a:srgbClr val="888888"/>
                </a:solidFill>
                <a:latin typeface="BIZ UDGothic"/>
                <a:cs typeface="BIZ UDGothic"/>
              </a:rPr>
              <a:t>7</a:t>
            </a:r>
            <a:endParaRPr sz="1200">
              <a:latin typeface="BIZ UDGothic"/>
              <a:cs typeface="BIZ UD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Virtual</a:t>
            </a:r>
            <a:r>
              <a:rPr spc="-110" dirty="0"/>
              <a:t> </a:t>
            </a:r>
            <a:r>
              <a:rPr spc="-10" dirty="0"/>
              <a:t>Environments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126834" y="1488656"/>
            <a:ext cx="247015" cy="4455160"/>
            <a:chOff x="6126834" y="1488656"/>
            <a:chExt cx="247015" cy="4455160"/>
          </a:xfrm>
        </p:grpSpPr>
        <p:sp>
          <p:nvSpPr>
            <p:cNvPr id="4" name="object 4"/>
            <p:cNvSpPr/>
            <p:nvPr/>
          </p:nvSpPr>
          <p:spPr>
            <a:xfrm>
              <a:off x="6141122" y="1673978"/>
              <a:ext cx="133350" cy="3794760"/>
            </a:xfrm>
            <a:custGeom>
              <a:avLst/>
              <a:gdLst/>
              <a:ahLst/>
              <a:cxnLst/>
              <a:rect l="l" t="t" r="r" b="b"/>
              <a:pathLst>
                <a:path w="133350" h="3794760">
                  <a:moveTo>
                    <a:pt x="1100" y="3773468"/>
                  </a:moveTo>
                  <a:lnTo>
                    <a:pt x="20008" y="3756495"/>
                  </a:lnTo>
                  <a:lnTo>
                    <a:pt x="34971" y="3745541"/>
                  </a:lnTo>
                  <a:lnTo>
                    <a:pt x="48991" y="3748551"/>
                  </a:lnTo>
                  <a:lnTo>
                    <a:pt x="65073" y="3773468"/>
                  </a:lnTo>
                  <a:lnTo>
                    <a:pt x="83419" y="3794764"/>
                  </a:lnTo>
                  <a:lnTo>
                    <a:pt x="101431" y="3791738"/>
                  </a:lnTo>
                  <a:lnTo>
                    <a:pt x="117910" y="3779578"/>
                  </a:lnTo>
                  <a:lnTo>
                    <a:pt x="131655" y="3773468"/>
                  </a:lnTo>
                  <a:lnTo>
                    <a:pt x="131462" y="3702185"/>
                  </a:lnTo>
                  <a:lnTo>
                    <a:pt x="131392" y="3661838"/>
                  </a:lnTo>
                  <a:lnTo>
                    <a:pt x="131339" y="3618694"/>
                  </a:lnTo>
                  <a:lnTo>
                    <a:pt x="131300" y="3573009"/>
                  </a:lnTo>
                  <a:lnTo>
                    <a:pt x="131275" y="3525037"/>
                  </a:lnTo>
                  <a:lnTo>
                    <a:pt x="131263" y="3475033"/>
                  </a:lnTo>
                  <a:lnTo>
                    <a:pt x="131261" y="3423253"/>
                  </a:lnTo>
                  <a:lnTo>
                    <a:pt x="131269" y="3369951"/>
                  </a:lnTo>
                  <a:lnTo>
                    <a:pt x="131286" y="3315383"/>
                  </a:lnTo>
                  <a:lnTo>
                    <a:pt x="131309" y="3259802"/>
                  </a:lnTo>
                  <a:lnTo>
                    <a:pt x="131339" y="3203466"/>
                  </a:lnTo>
                  <a:lnTo>
                    <a:pt x="131372" y="3146627"/>
                  </a:lnTo>
                  <a:lnTo>
                    <a:pt x="131409" y="3089542"/>
                  </a:lnTo>
                  <a:lnTo>
                    <a:pt x="131448" y="3032466"/>
                  </a:lnTo>
                  <a:lnTo>
                    <a:pt x="131488" y="2975653"/>
                  </a:lnTo>
                  <a:lnTo>
                    <a:pt x="131527" y="2919358"/>
                  </a:lnTo>
                  <a:lnTo>
                    <a:pt x="131563" y="2863837"/>
                  </a:lnTo>
                  <a:lnTo>
                    <a:pt x="131597" y="2809344"/>
                  </a:lnTo>
                  <a:lnTo>
                    <a:pt x="131626" y="2756135"/>
                  </a:lnTo>
                  <a:lnTo>
                    <a:pt x="131649" y="2704465"/>
                  </a:lnTo>
                  <a:lnTo>
                    <a:pt x="131664" y="2654588"/>
                  </a:lnTo>
                  <a:lnTo>
                    <a:pt x="131671" y="2606759"/>
                  </a:lnTo>
                  <a:lnTo>
                    <a:pt x="131669" y="2561235"/>
                  </a:lnTo>
                  <a:lnTo>
                    <a:pt x="131655" y="2518268"/>
                  </a:lnTo>
                  <a:lnTo>
                    <a:pt x="131628" y="2475323"/>
                  </a:lnTo>
                  <a:lnTo>
                    <a:pt x="131586" y="2429857"/>
                  </a:lnTo>
                  <a:lnTo>
                    <a:pt x="131533" y="2382121"/>
                  </a:lnTo>
                  <a:lnTo>
                    <a:pt x="131470" y="2332363"/>
                  </a:lnTo>
                  <a:lnTo>
                    <a:pt x="131398" y="2280835"/>
                  </a:lnTo>
                  <a:lnTo>
                    <a:pt x="131322" y="2227785"/>
                  </a:lnTo>
                  <a:lnTo>
                    <a:pt x="131242" y="2173464"/>
                  </a:lnTo>
                  <a:lnTo>
                    <a:pt x="131160" y="2118122"/>
                  </a:lnTo>
                  <a:lnTo>
                    <a:pt x="131080" y="2062008"/>
                  </a:lnTo>
                  <a:lnTo>
                    <a:pt x="131002" y="2005371"/>
                  </a:lnTo>
                  <a:lnTo>
                    <a:pt x="130930" y="1948463"/>
                  </a:lnTo>
                  <a:lnTo>
                    <a:pt x="130865" y="1891532"/>
                  </a:lnTo>
                  <a:lnTo>
                    <a:pt x="130809" y="1834829"/>
                  </a:lnTo>
                  <a:lnTo>
                    <a:pt x="130765" y="1778603"/>
                  </a:lnTo>
                  <a:lnTo>
                    <a:pt x="130734" y="1723104"/>
                  </a:lnTo>
                  <a:lnTo>
                    <a:pt x="130720" y="1668582"/>
                  </a:lnTo>
                  <a:lnTo>
                    <a:pt x="130723" y="1615287"/>
                  </a:lnTo>
                  <a:lnTo>
                    <a:pt x="130747" y="1563469"/>
                  </a:lnTo>
                  <a:lnTo>
                    <a:pt x="130793" y="1513376"/>
                  </a:lnTo>
                  <a:lnTo>
                    <a:pt x="130863" y="1465260"/>
                  </a:lnTo>
                  <a:lnTo>
                    <a:pt x="130960" y="1419370"/>
                  </a:lnTo>
                  <a:lnTo>
                    <a:pt x="131085" y="1375956"/>
                  </a:lnTo>
                  <a:lnTo>
                    <a:pt x="131241" y="1335267"/>
                  </a:lnTo>
                  <a:lnTo>
                    <a:pt x="131655" y="1263066"/>
                  </a:lnTo>
                  <a:lnTo>
                    <a:pt x="131890" y="1229233"/>
                  </a:lnTo>
                  <a:lnTo>
                    <a:pt x="132108" y="1193375"/>
                  </a:lnTo>
                  <a:lnTo>
                    <a:pt x="132493" y="1115929"/>
                  </a:lnTo>
                  <a:lnTo>
                    <a:pt x="132660" y="1074514"/>
                  </a:lnTo>
                  <a:lnTo>
                    <a:pt x="132808" y="1031419"/>
                  </a:lnTo>
                  <a:lnTo>
                    <a:pt x="132938" y="986729"/>
                  </a:lnTo>
                  <a:lnTo>
                    <a:pt x="133049" y="940531"/>
                  </a:lnTo>
                  <a:lnTo>
                    <a:pt x="133141" y="892912"/>
                  </a:lnTo>
                  <a:lnTo>
                    <a:pt x="133213" y="843957"/>
                  </a:lnTo>
                  <a:lnTo>
                    <a:pt x="133265" y="793751"/>
                  </a:lnTo>
                  <a:lnTo>
                    <a:pt x="133296" y="742383"/>
                  </a:lnTo>
                  <a:lnTo>
                    <a:pt x="133307" y="689936"/>
                  </a:lnTo>
                  <a:lnTo>
                    <a:pt x="133296" y="636498"/>
                  </a:lnTo>
                  <a:lnTo>
                    <a:pt x="133263" y="582155"/>
                  </a:lnTo>
                  <a:lnTo>
                    <a:pt x="133209" y="526992"/>
                  </a:lnTo>
                  <a:lnTo>
                    <a:pt x="133132" y="471096"/>
                  </a:lnTo>
                  <a:lnTo>
                    <a:pt x="133032" y="414553"/>
                  </a:lnTo>
                  <a:lnTo>
                    <a:pt x="132908" y="357449"/>
                  </a:lnTo>
                  <a:lnTo>
                    <a:pt x="132761" y="299870"/>
                  </a:lnTo>
                  <a:lnTo>
                    <a:pt x="132590" y="241903"/>
                  </a:lnTo>
                  <a:lnTo>
                    <a:pt x="132394" y="183632"/>
                  </a:lnTo>
                  <a:lnTo>
                    <a:pt x="132173" y="125145"/>
                  </a:lnTo>
                  <a:lnTo>
                    <a:pt x="131927" y="66527"/>
                  </a:lnTo>
                  <a:lnTo>
                    <a:pt x="131655" y="7864"/>
                  </a:lnTo>
                  <a:lnTo>
                    <a:pt x="112088" y="15268"/>
                  </a:lnTo>
                  <a:lnTo>
                    <a:pt x="94792" y="7557"/>
                  </a:lnTo>
                  <a:lnTo>
                    <a:pt x="79608" y="0"/>
                  </a:lnTo>
                  <a:lnTo>
                    <a:pt x="66378" y="7864"/>
                  </a:lnTo>
                  <a:lnTo>
                    <a:pt x="52988" y="25867"/>
                  </a:lnTo>
                  <a:lnTo>
                    <a:pt x="37539" y="35207"/>
                  </a:lnTo>
                  <a:lnTo>
                    <a:pt x="20191" y="30875"/>
                  </a:lnTo>
                  <a:lnTo>
                    <a:pt x="1100" y="7864"/>
                  </a:lnTo>
                  <a:lnTo>
                    <a:pt x="1336" y="72629"/>
                  </a:lnTo>
                  <a:lnTo>
                    <a:pt x="1513" y="135280"/>
                  </a:lnTo>
                  <a:lnTo>
                    <a:pt x="1636" y="195945"/>
                  </a:lnTo>
                  <a:lnTo>
                    <a:pt x="1710" y="254751"/>
                  </a:lnTo>
                  <a:lnTo>
                    <a:pt x="1742" y="311825"/>
                  </a:lnTo>
                  <a:lnTo>
                    <a:pt x="1735" y="367294"/>
                  </a:lnTo>
                  <a:lnTo>
                    <a:pt x="1697" y="421285"/>
                  </a:lnTo>
                  <a:lnTo>
                    <a:pt x="1632" y="473924"/>
                  </a:lnTo>
                  <a:lnTo>
                    <a:pt x="1545" y="525340"/>
                  </a:lnTo>
                  <a:lnTo>
                    <a:pt x="1442" y="575658"/>
                  </a:lnTo>
                  <a:lnTo>
                    <a:pt x="1329" y="625007"/>
                  </a:lnTo>
                  <a:lnTo>
                    <a:pt x="1210" y="673512"/>
                  </a:lnTo>
                  <a:lnTo>
                    <a:pt x="1091" y="721301"/>
                  </a:lnTo>
                  <a:lnTo>
                    <a:pt x="978" y="768502"/>
                  </a:lnTo>
                  <a:lnTo>
                    <a:pt x="876" y="815240"/>
                  </a:lnTo>
                  <a:lnTo>
                    <a:pt x="790" y="861643"/>
                  </a:lnTo>
                  <a:lnTo>
                    <a:pt x="726" y="907838"/>
                  </a:lnTo>
                  <a:lnTo>
                    <a:pt x="689" y="953952"/>
                  </a:lnTo>
                  <a:lnTo>
                    <a:pt x="685" y="1000113"/>
                  </a:lnTo>
                  <a:lnTo>
                    <a:pt x="718" y="1046446"/>
                  </a:lnTo>
                  <a:lnTo>
                    <a:pt x="795" y="1093079"/>
                  </a:lnTo>
                  <a:lnTo>
                    <a:pt x="920" y="1140139"/>
                  </a:lnTo>
                  <a:lnTo>
                    <a:pt x="1100" y="1187753"/>
                  </a:lnTo>
                  <a:lnTo>
                    <a:pt x="1275" y="1234340"/>
                  </a:lnTo>
                  <a:lnTo>
                    <a:pt x="1401" y="1282147"/>
                  </a:lnTo>
                  <a:lnTo>
                    <a:pt x="1485" y="1331058"/>
                  </a:lnTo>
                  <a:lnTo>
                    <a:pt x="1529" y="1380955"/>
                  </a:lnTo>
                  <a:lnTo>
                    <a:pt x="1539" y="1431722"/>
                  </a:lnTo>
                  <a:lnTo>
                    <a:pt x="1518" y="1483240"/>
                  </a:lnTo>
                  <a:lnTo>
                    <a:pt x="1473" y="1535392"/>
                  </a:lnTo>
                  <a:lnTo>
                    <a:pt x="1406" y="1588061"/>
                  </a:lnTo>
                  <a:lnTo>
                    <a:pt x="1322" y="1641130"/>
                  </a:lnTo>
                  <a:lnTo>
                    <a:pt x="1226" y="1694481"/>
                  </a:lnTo>
                  <a:lnTo>
                    <a:pt x="1123" y="1747996"/>
                  </a:lnTo>
                  <a:lnTo>
                    <a:pt x="1016" y="1801559"/>
                  </a:lnTo>
                  <a:lnTo>
                    <a:pt x="910" y="1855053"/>
                  </a:lnTo>
                  <a:lnTo>
                    <a:pt x="810" y="1908359"/>
                  </a:lnTo>
                  <a:lnTo>
                    <a:pt x="720" y="1961360"/>
                  </a:lnTo>
                  <a:lnTo>
                    <a:pt x="644" y="2013939"/>
                  </a:lnTo>
                  <a:lnTo>
                    <a:pt x="588" y="2065979"/>
                  </a:lnTo>
                  <a:lnTo>
                    <a:pt x="555" y="2117362"/>
                  </a:lnTo>
                  <a:lnTo>
                    <a:pt x="550" y="2167972"/>
                  </a:lnTo>
                  <a:lnTo>
                    <a:pt x="577" y="2217689"/>
                  </a:lnTo>
                  <a:lnTo>
                    <a:pt x="642" y="2266398"/>
                  </a:lnTo>
                  <a:lnTo>
                    <a:pt x="747" y="2313981"/>
                  </a:lnTo>
                  <a:lnTo>
                    <a:pt x="898" y="2360320"/>
                  </a:lnTo>
                  <a:lnTo>
                    <a:pt x="1100" y="2405298"/>
                  </a:lnTo>
                  <a:lnTo>
                    <a:pt x="1275" y="2445464"/>
                  </a:lnTo>
                  <a:lnTo>
                    <a:pt x="1399" y="2487217"/>
                  </a:lnTo>
                  <a:lnTo>
                    <a:pt x="1475" y="2530464"/>
                  </a:lnTo>
                  <a:lnTo>
                    <a:pt x="1508" y="2575111"/>
                  </a:lnTo>
                  <a:lnTo>
                    <a:pt x="1503" y="2621065"/>
                  </a:lnTo>
                  <a:lnTo>
                    <a:pt x="1465" y="2668232"/>
                  </a:lnTo>
                  <a:lnTo>
                    <a:pt x="1398" y="2716519"/>
                  </a:lnTo>
                  <a:lnTo>
                    <a:pt x="1307" y="2765832"/>
                  </a:lnTo>
                  <a:lnTo>
                    <a:pt x="1196" y="2816079"/>
                  </a:lnTo>
                  <a:lnTo>
                    <a:pt x="1070" y="2867164"/>
                  </a:lnTo>
                  <a:lnTo>
                    <a:pt x="934" y="2918996"/>
                  </a:lnTo>
                  <a:lnTo>
                    <a:pt x="792" y="2971480"/>
                  </a:lnTo>
                  <a:lnTo>
                    <a:pt x="648" y="3024523"/>
                  </a:lnTo>
                  <a:lnTo>
                    <a:pt x="509" y="3078031"/>
                  </a:lnTo>
                  <a:lnTo>
                    <a:pt x="377" y="3131911"/>
                  </a:lnTo>
                  <a:lnTo>
                    <a:pt x="258" y="3186070"/>
                  </a:lnTo>
                  <a:lnTo>
                    <a:pt x="156" y="3240414"/>
                  </a:lnTo>
                  <a:lnTo>
                    <a:pt x="76" y="3294850"/>
                  </a:lnTo>
                  <a:lnTo>
                    <a:pt x="22" y="3349284"/>
                  </a:lnTo>
                  <a:lnTo>
                    <a:pt x="0" y="3403622"/>
                  </a:lnTo>
                  <a:lnTo>
                    <a:pt x="13" y="3457772"/>
                  </a:lnTo>
                  <a:lnTo>
                    <a:pt x="66" y="3511639"/>
                  </a:lnTo>
                  <a:lnTo>
                    <a:pt x="165" y="3565130"/>
                  </a:lnTo>
                  <a:lnTo>
                    <a:pt x="313" y="3618152"/>
                  </a:lnTo>
                  <a:lnTo>
                    <a:pt x="515" y="3670612"/>
                  </a:lnTo>
                  <a:lnTo>
                    <a:pt x="776" y="3722415"/>
                  </a:lnTo>
                  <a:lnTo>
                    <a:pt x="1100" y="3773468"/>
                  </a:lnTo>
                  <a:close/>
                </a:path>
              </a:pathLst>
            </a:custGeom>
            <a:ln w="28574">
              <a:solidFill>
                <a:srgbClr val="4E88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145490" y="1488656"/>
              <a:ext cx="228600" cy="4455160"/>
            </a:xfrm>
            <a:custGeom>
              <a:avLst/>
              <a:gdLst/>
              <a:ahLst/>
              <a:cxnLst/>
              <a:rect l="l" t="t" r="r" b="b"/>
              <a:pathLst>
                <a:path w="228600" h="4455160">
                  <a:moveTo>
                    <a:pt x="228329" y="0"/>
                  </a:moveTo>
                  <a:lnTo>
                    <a:pt x="0" y="0"/>
                  </a:lnTo>
                  <a:lnTo>
                    <a:pt x="0" y="4455064"/>
                  </a:lnTo>
                  <a:lnTo>
                    <a:pt x="228329" y="4455064"/>
                  </a:lnTo>
                  <a:lnTo>
                    <a:pt x="22832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6421490" y="1654839"/>
            <a:ext cx="5448935" cy="2449195"/>
          </a:xfrm>
          <a:prstGeom prst="rect">
            <a:avLst/>
          </a:prstGeom>
        </p:spPr>
        <p:txBody>
          <a:bodyPr vert="horz" wrap="square" lIns="0" tIns="163195" rIns="0" bIns="0" rtlCol="0">
            <a:spAutoFit/>
          </a:bodyPr>
          <a:lstStyle/>
          <a:p>
            <a:pPr marL="2334895">
              <a:lnSpc>
                <a:spcPct val="100000"/>
              </a:lnSpc>
              <a:spcBef>
                <a:spcPts val="1285"/>
              </a:spcBef>
            </a:pPr>
            <a:r>
              <a:rPr sz="2800" b="1" spc="-20" dirty="0">
                <a:latin typeface="Arial"/>
                <a:cs typeface="Arial"/>
              </a:rPr>
              <a:t>Cons</a:t>
            </a:r>
            <a:endParaRPr sz="2800">
              <a:latin typeface="Arial"/>
              <a:cs typeface="Arial"/>
            </a:endParaRPr>
          </a:p>
          <a:p>
            <a:pPr marL="309245" indent="-296545">
              <a:lnSpc>
                <a:spcPct val="100000"/>
              </a:lnSpc>
              <a:spcBef>
                <a:spcPts val="1015"/>
              </a:spcBef>
              <a:buChar char="•"/>
              <a:tabLst>
                <a:tab pos="309245" algn="l"/>
              </a:tabLst>
            </a:pPr>
            <a:r>
              <a:rPr sz="2400" dirty="0">
                <a:latin typeface="Arial"/>
                <a:cs typeface="Arial"/>
              </a:rPr>
              <a:t>Difficulty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setting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up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your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environment</a:t>
            </a:r>
            <a:endParaRPr sz="2400">
              <a:latin typeface="Arial"/>
              <a:cs typeface="Arial"/>
            </a:endParaRPr>
          </a:p>
          <a:p>
            <a:pPr marL="309245" indent="-296545">
              <a:lnSpc>
                <a:spcPct val="100000"/>
              </a:lnSpc>
              <a:spcBef>
                <a:spcPts val="1000"/>
              </a:spcBef>
              <a:buChar char="•"/>
              <a:tabLst>
                <a:tab pos="309245" algn="l"/>
              </a:tabLst>
            </a:pPr>
            <a:r>
              <a:rPr sz="2400" dirty="0">
                <a:latin typeface="Arial"/>
                <a:cs typeface="Arial"/>
              </a:rPr>
              <a:t>Not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isolation</a:t>
            </a:r>
            <a:endParaRPr sz="2400">
              <a:latin typeface="Arial"/>
              <a:cs typeface="Arial"/>
            </a:endParaRPr>
          </a:p>
          <a:p>
            <a:pPr marL="309880" marR="5080" indent="-297815">
              <a:lnSpc>
                <a:spcPct val="100000"/>
              </a:lnSpc>
              <a:spcBef>
                <a:spcPts val="1000"/>
              </a:spcBef>
              <a:buChar char="•"/>
              <a:tabLst>
                <a:tab pos="309880" algn="l"/>
              </a:tabLst>
            </a:pPr>
            <a:r>
              <a:rPr sz="2400" dirty="0">
                <a:latin typeface="Arial"/>
                <a:cs typeface="Arial"/>
              </a:rPr>
              <a:t>Does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not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always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work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across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different </a:t>
            </a:r>
            <a:r>
              <a:rPr sz="2400" spc="-25" dirty="0">
                <a:latin typeface="Arial"/>
                <a:cs typeface="Arial"/>
              </a:rPr>
              <a:t>OS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4935">
              <a:lnSpc>
                <a:spcPts val="1240"/>
              </a:lnSpc>
            </a:pPr>
            <a:r>
              <a:rPr spc="-50" dirty="0"/>
              <a:t>3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75041" y="1654840"/>
            <a:ext cx="5082540" cy="2083435"/>
          </a:xfrm>
          <a:prstGeom prst="rect">
            <a:avLst/>
          </a:prstGeom>
        </p:spPr>
        <p:txBody>
          <a:bodyPr vert="horz" wrap="square" lIns="0" tIns="163195" rIns="0" bIns="0" rtlCol="0">
            <a:spAutoFit/>
          </a:bodyPr>
          <a:lstStyle/>
          <a:p>
            <a:pPr marL="2255520">
              <a:lnSpc>
                <a:spcPct val="100000"/>
              </a:lnSpc>
              <a:spcBef>
                <a:spcPts val="1285"/>
              </a:spcBef>
            </a:pPr>
            <a:r>
              <a:rPr sz="2800" b="1" spc="-20" dirty="0">
                <a:latin typeface="Arial"/>
                <a:cs typeface="Arial"/>
              </a:rPr>
              <a:t>Pros</a:t>
            </a:r>
            <a:endParaRPr sz="2800">
              <a:latin typeface="Arial"/>
              <a:cs typeface="Arial"/>
            </a:endParaRPr>
          </a:p>
          <a:p>
            <a:pPr marL="309245" indent="-296545">
              <a:lnSpc>
                <a:spcPct val="100000"/>
              </a:lnSpc>
              <a:spcBef>
                <a:spcPts val="1015"/>
              </a:spcBef>
              <a:buChar char="•"/>
              <a:tabLst>
                <a:tab pos="309245" algn="l"/>
              </a:tabLst>
            </a:pPr>
            <a:r>
              <a:rPr sz="2400" spc="-10" dirty="0">
                <a:latin typeface="Arial"/>
                <a:cs typeface="Arial"/>
              </a:rPr>
              <a:t>Reproducible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research</a:t>
            </a:r>
            <a:endParaRPr sz="2400">
              <a:latin typeface="Arial"/>
              <a:cs typeface="Arial"/>
            </a:endParaRPr>
          </a:p>
          <a:p>
            <a:pPr marL="309245" indent="-296545">
              <a:lnSpc>
                <a:spcPct val="100000"/>
              </a:lnSpc>
              <a:spcBef>
                <a:spcPts val="1000"/>
              </a:spcBef>
              <a:buChar char="•"/>
              <a:tabLst>
                <a:tab pos="309245" algn="l"/>
              </a:tabLst>
            </a:pPr>
            <a:r>
              <a:rPr sz="2400" dirty="0">
                <a:latin typeface="Arial"/>
                <a:cs typeface="Arial"/>
              </a:rPr>
              <a:t>Explicit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dependencies</a:t>
            </a:r>
            <a:endParaRPr sz="2400">
              <a:latin typeface="Arial"/>
              <a:cs typeface="Arial"/>
            </a:endParaRPr>
          </a:p>
          <a:p>
            <a:pPr marL="309245" indent="-296545">
              <a:lnSpc>
                <a:spcPct val="100000"/>
              </a:lnSpc>
              <a:spcBef>
                <a:spcPts val="1000"/>
              </a:spcBef>
              <a:buChar char="•"/>
              <a:tabLst>
                <a:tab pos="309245" algn="l"/>
              </a:tabLst>
            </a:pPr>
            <a:r>
              <a:rPr sz="2400" dirty="0">
                <a:latin typeface="Arial"/>
                <a:cs typeface="Arial"/>
              </a:rPr>
              <a:t>Improved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engineering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collaboration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Virtual</a:t>
            </a:r>
            <a:r>
              <a:rPr spc="-110" dirty="0"/>
              <a:t> </a:t>
            </a:r>
            <a:r>
              <a:rPr spc="-10" dirty="0"/>
              <a:t>Machines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126834" y="1488656"/>
            <a:ext cx="247015" cy="4455160"/>
            <a:chOff x="6126834" y="1488656"/>
            <a:chExt cx="247015" cy="4455160"/>
          </a:xfrm>
        </p:grpSpPr>
        <p:sp>
          <p:nvSpPr>
            <p:cNvPr id="4" name="object 4"/>
            <p:cNvSpPr/>
            <p:nvPr/>
          </p:nvSpPr>
          <p:spPr>
            <a:xfrm>
              <a:off x="6141122" y="1673978"/>
              <a:ext cx="133350" cy="3794760"/>
            </a:xfrm>
            <a:custGeom>
              <a:avLst/>
              <a:gdLst/>
              <a:ahLst/>
              <a:cxnLst/>
              <a:rect l="l" t="t" r="r" b="b"/>
              <a:pathLst>
                <a:path w="133350" h="3794760">
                  <a:moveTo>
                    <a:pt x="1100" y="3773468"/>
                  </a:moveTo>
                  <a:lnTo>
                    <a:pt x="20008" y="3756495"/>
                  </a:lnTo>
                  <a:lnTo>
                    <a:pt x="34971" y="3745541"/>
                  </a:lnTo>
                  <a:lnTo>
                    <a:pt x="48991" y="3748551"/>
                  </a:lnTo>
                  <a:lnTo>
                    <a:pt x="65073" y="3773468"/>
                  </a:lnTo>
                  <a:lnTo>
                    <a:pt x="83419" y="3794764"/>
                  </a:lnTo>
                  <a:lnTo>
                    <a:pt x="101431" y="3791738"/>
                  </a:lnTo>
                  <a:lnTo>
                    <a:pt x="117910" y="3779578"/>
                  </a:lnTo>
                  <a:lnTo>
                    <a:pt x="131655" y="3773468"/>
                  </a:lnTo>
                  <a:lnTo>
                    <a:pt x="131462" y="3702185"/>
                  </a:lnTo>
                  <a:lnTo>
                    <a:pt x="131392" y="3661838"/>
                  </a:lnTo>
                  <a:lnTo>
                    <a:pt x="131339" y="3618694"/>
                  </a:lnTo>
                  <a:lnTo>
                    <a:pt x="131300" y="3573009"/>
                  </a:lnTo>
                  <a:lnTo>
                    <a:pt x="131275" y="3525037"/>
                  </a:lnTo>
                  <a:lnTo>
                    <a:pt x="131263" y="3475033"/>
                  </a:lnTo>
                  <a:lnTo>
                    <a:pt x="131261" y="3423253"/>
                  </a:lnTo>
                  <a:lnTo>
                    <a:pt x="131269" y="3369951"/>
                  </a:lnTo>
                  <a:lnTo>
                    <a:pt x="131286" y="3315383"/>
                  </a:lnTo>
                  <a:lnTo>
                    <a:pt x="131309" y="3259802"/>
                  </a:lnTo>
                  <a:lnTo>
                    <a:pt x="131339" y="3203466"/>
                  </a:lnTo>
                  <a:lnTo>
                    <a:pt x="131372" y="3146627"/>
                  </a:lnTo>
                  <a:lnTo>
                    <a:pt x="131409" y="3089542"/>
                  </a:lnTo>
                  <a:lnTo>
                    <a:pt x="131448" y="3032466"/>
                  </a:lnTo>
                  <a:lnTo>
                    <a:pt x="131488" y="2975653"/>
                  </a:lnTo>
                  <a:lnTo>
                    <a:pt x="131527" y="2919358"/>
                  </a:lnTo>
                  <a:lnTo>
                    <a:pt x="131563" y="2863837"/>
                  </a:lnTo>
                  <a:lnTo>
                    <a:pt x="131597" y="2809344"/>
                  </a:lnTo>
                  <a:lnTo>
                    <a:pt x="131626" y="2756135"/>
                  </a:lnTo>
                  <a:lnTo>
                    <a:pt x="131649" y="2704465"/>
                  </a:lnTo>
                  <a:lnTo>
                    <a:pt x="131664" y="2654588"/>
                  </a:lnTo>
                  <a:lnTo>
                    <a:pt x="131671" y="2606759"/>
                  </a:lnTo>
                  <a:lnTo>
                    <a:pt x="131669" y="2561235"/>
                  </a:lnTo>
                  <a:lnTo>
                    <a:pt x="131655" y="2518268"/>
                  </a:lnTo>
                  <a:lnTo>
                    <a:pt x="131628" y="2475323"/>
                  </a:lnTo>
                  <a:lnTo>
                    <a:pt x="131586" y="2429857"/>
                  </a:lnTo>
                  <a:lnTo>
                    <a:pt x="131533" y="2382121"/>
                  </a:lnTo>
                  <a:lnTo>
                    <a:pt x="131470" y="2332363"/>
                  </a:lnTo>
                  <a:lnTo>
                    <a:pt x="131398" y="2280835"/>
                  </a:lnTo>
                  <a:lnTo>
                    <a:pt x="131322" y="2227785"/>
                  </a:lnTo>
                  <a:lnTo>
                    <a:pt x="131242" y="2173464"/>
                  </a:lnTo>
                  <a:lnTo>
                    <a:pt x="131160" y="2118122"/>
                  </a:lnTo>
                  <a:lnTo>
                    <a:pt x="131080" y="2062008"/>
                  </a:lnTo>
                  <a:lnTo>
                    <a:pt x="131002" y="2005371"/>
                  </a:lnTo>
                  <a:lnTo>
                    <a:pt x="130930" y="1948463"/>
                  </a:lnTo>
                  <a:lnTo>
                    <a:pt x="130865" y="1891532"/>
                  </a:lnTo>
                  <a:lnTo>
                    <a:pt x="130809" y="1834829"/>
                  </a:lnTo>
                  <a:lnTo>
                    <a:pt x="130765" y="1778603"/>
                  </a:lnTo>
                  <a:lnTo>
                    <a:pt x="130734" y="1723104"/>
                  </a:lnTo>
                  <a:lnTo>
                    <a:pt x="130720" y="1668582"/>
                  </a:lnTo>
                  <a:lnTo>
                    <a:pt x="130723" y="1615287"/>
                  </a:lnTo>
                  <a:lnTo>
                    <a:pt x="130747" y="1563469"/>
                  </a:lnTo>
                  <a:lnTo>
                    <a:pt x="130793" y="1513376"/>
                  </a:lnTo>
                  <a:lnTo>
                    <a:pt x="130863" y="1465260"/>
                  </a:lnTo>
                  <a:lnTo>
                    <a:pt x="130960" y="1419370"/>
                  </a:lnTo>
                  <a:lnTo>
                    <a:pt x="131085" y="1375956"/>
                  </a:lnTo>
                  <a:lnTo>
                    <a:pt x="131241" y="1335267"/>
                  </a:lnTo>
                  <a:lnTo>
                    <a:pt x="131655" y="1263066"/>
                  </a:lnTo>
                  <a:lnTo>
                    <a:pt x="131890" y="1229233"/>
                  </a:lnTo>
                  <a:lnTo>
                    <a:pt x="132108" y="1193375"/>
                  </a:lnTo>
                  <a:lnTo>
                    <a:pt x="132493" y="1115929"/>
                  </a:lnTo>
                  <a:lnTo>
                    <a:pt x="132660" y="1074514"/>
                  </a:lnTo>
                  <a:lnTo>
                    <a:pt x="132808" y="1031419"/>
                  </a:lnTo>
                  <a:lnTo>
                    <a:pt x="132938" y="986729"/>
                  </a:lnTo>
                  <a:lnTo>
                    <a:pt x="133049" y="940531"/>
                  </a:lnTo>
                  <a:lnTo>
                    <a:pt x="133141" y="892912"/>
                  </a:lnTo>
                  <a:lnTo>
                    <a:pt x="133213" y="843957"/>
                  </a:lnTo>
                  <a:lnTo>
                    <a:pt x="133265" y="793751"/>
                  </a:lnTo>
                  <a:lnTo>
                    <a:pt x="133296" y="742383"/>
                  </a:lnTo>
                  <a:lnTo>
                    <a:pt x="133307" y="689936"/>
                  </a:lnTo>
                  <a:lnTo>
                    <a:pt x="133296" y="636498"/>
                  </a:lnTo>
                  <a:lnTo>
                    <a:pt x="133263" y="582155"/>
                  </a:lnTo>
                  <a:lnTo>
                    <a:pt x="133209" y="526992"/>
                  </a:lnTo>
                  <a:lnTo>
                    <a:pt x="133132" y="471096"/>
                  </a:lnTo>
                  <a:lnTo>
                    <a:pt x="133032" y="414553"/>
                  </a:lnTo>
                  <a:lnTo>
                    <a:pt x="132908" y="357449"/>
                  </a:lnTo>
                  <a:lnTo>
                    <a:pt x="132761" y="299870"/>
                  </a:lnTo>
                  <a:lnTo>
                    <a:pt x="132590" y="241903"/>
                  </a:lnTo>
                  <a:lnTo>
                    <a:pt x="132394" y="183632"/>
                  </a:lnTo>
                  <a:lnTo>
                    <a:pt x="132173" y="125145"/>
                  </a:lnTo>
                  <a:lnTo>
                    <a:pt x="131927" y="66527"/>
                  </a:lnTo>
                  <a:lnTo>
                    <a:pt x="131655" y="7864"/>
                  </a:lnTo>
                  <a:lnTo>
                    <a:pt x="112088" y="15268"/>
                  </a:lnTo>
                  <a:lnTo>
                    <a:pt x="94792" y="7557"/>
                  </a:lnTo>
                  <a:lnTo>
                    <a:pt x="79608" y="0"/>
                  </a:lnTo>
                  <a:lnTo>
                    <a:pt x="66378" y="7864"/>
                  </a:lnTo>
                  <a:lnTo>
                    <a:pt x="52988" y="25867"/>
                  </a:lnTo>
                  <a:lnTo>
                    <a:pt x="37539" y="35207"/>
                  </a:lnTo>
                  <a:lnTo>
                    <a:pt x="20191" y="30875"/>
                  </a:lnTo>
                  <a:lnTo>
                    <a:pt x="1100" y="7864"/>
                  </a:lnTo>
                  <a:lnTo>
                    <a:pt x="1336" y="72629"/>
                  </a:lnTo>
                  <a:lnTo>
                    <a:pt x="1513" y="135280"/>
                  </a:lnTo>
                  <a:lnTo>
                    <a:pt x="1636" y="195945"/>
                  </a:lnTo>
                  <a:lnTo>
                    <a:pt x="1710" y="254751"/>
                  </a:lnTo>
                  <a:lnTo>
                    <a:pt x="1742" y="311825"/>
                  </a:lnTo>
                  <a:lnTo>
                    <a:pt x="1735" y="367294"/>
                  </a:lnTo>
                  <a:lnTo>
                    <a:pt x="1697" y="421285"/>
                  </a:lnTo>
                  <a:lnTo>
                    <a:pt x="1632" y="473924"/>
                  </a:lnTo>
                  <a:lnTo>
                    <a:pt x="1545" y="525340"/>
                  </a:lnTo>
                  <a:lnTo>
                    <a:pt x="1442" y="575658"/>
                  </a:lnTo>
                  <a:lnTo>
                    <a:pt x="1329" y="625007"/>
                  </a:lnTo>
                  <a:lnTo>
                    <a:pt x="1210" y="673512"/>
                  </a:lnTo>
                  <a:lnTo>
                    <a:pt x="1091" y="721301"/>
                  </a:lnTo>
                  <a:lnTo>
                    <a:pt x="978" y="768502"/>
                  </a:lnTo>
                  <a:lnTo>
                    <a:pt x="876" y="815240"/>
                  </a:lnTo>
                  <a:lnTo>
                    <a:pt x="790" y="861643"/>
                  </a:lnTo>
                  <a:lnTo>
                    <a:pt x="726" y="907838"/>
                  </a:lnTo>
                  <a:lnTo>
                    <a:pt x="689" y="953952"/>
                  </a:lnTo>
                  <a:lnTo>
                    <a:pt x="685" y="1000113"/>
                  </a:lnTo>
                  <a:lnTo>
                    <a:pt x="718" y="1046446"/>
                  </a:lnTo>
                  <a:lnTo>
                    <a:pt x="795" y="1093079"/>
                  </a:lnTo>
                  <a:lnTo>
                    <a:pt x="920" y="1140139"/>
                  </a:lnTo>
                  <a:lnTo>
                    <a:pt x="1100" y="1187753"/>
                  </a:lnTo>
                  <a:lnTo>
                    <a:pt x="1275" y="1234340"/>
                  </a:lnTo>
                  <a:lnTo>
                    <a:pt x="1401" y="1282147"/>
                  </a:lnTo>
                  <a:lnTo>
                    <a:pt x="1485" y="1331058"/>
                  </a:lnTo>
                  <a:lnTo>
                    <a:pt x="1529" y="1380955"/>
                  </a:lnTo>
                  <a:lnTo>
                    <a:pt x="1539" y="1431722"/>
                  </a:lnTo>
                  <a:lnTo>
                    <a:pt x="1518" y="1483240"/>
                  </a:lnTo>
                  <a:lnTo>
                    <a:pt x="1473" y="1535392"/>
                  </a:lnTo>
                  <a:lnTo>
                    <a:pt x="1406" y="1588061"/>
                  </a:lnTo>
                  <a:lnTo>
                    <a:pt x="1322" y="1641130"/>
                  </a:lnTo>
                  <a:lnTo>
                    <a:pt x="1226" y="1694481"/>
                  </a:lnTo>
                  <a:lnTo>
                    <a:pt x="1123" y="1747996"/>
                  </a:lnTo>
                  <a:lnTo>
                    <a:pt x="1016" y="1801559"/>
                  </a:lnTo>
                  <a:lnTo>
                    <a:pt x="910" y="1855053"/>
                  </a:lnTo>
                  <a:lnTo>
                    <a:pt x="810" y="1908359"/>
                  </a:lnTo>
                  <a:lnTo>
                    <a:pt x="720" y="1961360"/>
                  </a:lnTo>
                  <a:lnTo>
                    <a:pt x="644" y="2013939"/>
                  </a:lnTo>
                  <a:lnTo>
                    <a:pt x="588" y="2065979"/>
                  </a:lnTo>
                  <a:lnTo>
                    <a:pt x="555" y="2117362"/>
                  </a:lnTo>
                  <a:lnTo>
                    <a:pt x="550" y="2167972"/>
                  </a:lnTo>
                  <a:lnTo>
                    <a:pt x="577" y="2217689"/>
                  </a:lnTo>
                  <a:lnTo>
                    <a:pt x="642" y="2266398"/>
                  </a:lnTo>
                  <a:lnTo>
                    <a:pt x="747" y="2313981"/>
                  </a:lnTo>
                  <a:lnTo>
                    <a:pt x="898" y="2360320"/>
                  </a:lnTo>
                  <a:lnTo>
                    <a:pt x="1100" y="2405298"/>
                  </a:lnTo>
                  <a:lnTo>
                    <a:pt x="1275" y="2445464"/>
                  </a:lnTo>
                  <a:lnTo>
                    <a:pt x="1399" y="2487217"/>
                  </a:lnTo>
                  <a:lnTo>
                    <a:pt x="1475" y="2530464"/>
                  </a:lnTo>
                  <a:lnTo>
                    <a:pt x="1508" y="2575111"/>
                  </a:lnTo>
                  <a:lnTo>
                    <a:pt x="1503" y="2621065"/>
                  </a:lnTo>
                  <a:lnTo>
                    <a:pt x="1465" y="2668232"/>
                  </a:lnTo>
                  <a:lnTo>
                    <a:pt x="1398" y="2716519"/>
                  </a:lnTo>
                  <a:lnTo>
                    <a:pt x="1307" y="2765832"/>
                  </a:lnTo>
                  <a:lnTo>
                    <a:pt x="1196" y="2816079"/>
                  </a:lnTo>
                  <a:lnTo>
                    <a:pt x="1070" y="2867164"/>
                  </a:lnTo>
                  <a:lnTo>
                    <a:pt x="934" y="2918996"/>
                  </a:lnTo>
                  <a:lnTo>
                    <a:pt x="792" y="2971480"/>
                  </a:lnTo>
                  <a:lnTo>
                    <a:pt x="648" y="3024523"/>
                  </a:lnTo>
                  <a:lnTo>
                    <a:pt x="509" y="3078031"/>
                  </a:lnTo>
                  <a:lnTo>
                    <a:pt x="377" y="3131911"/>
                  </a:lnTo>
                  <a:lnTo>
                    <a:pt x="258" y="3186070"/>
                  </a:lnTo>
                  <a:lnTo>
                    <a:pt x="156" y="3240414"/>
                  </a:lnTo>
                  <a:lnTo>
                    <a:pt x="76" y="3294850"/>
                  </a:lnTo>
                  <a:lnTo>
                    <a:pt x="22" y="3349284"/>
                  </a:lnTo>
                  <a:lnTo>
                    <a:pt x="0" y="3403622"/>
                  </a:lnTo>
                  <a:lnTo>
                    <a:pt x="13" y="3457772"/>
                  </a:lnTo>
                  <a:lnTo>
                    <a:pt x="66" y="3511639"/>
                  </a:lnTo>
                  <a:lnTo>
                    <a:pt x="165" y="3565130"/>
                  </a:lnTo>
                  <a:lnTo>
                    <a:pt x="313" y="3618152"/>
                  </a:lnTo>
                  <a:lnTo>
                    <a:pt x="515" y="3670612"/>
                  </a:lnTo>
                  <a:lnTo>
                    <a:pt x="776" y="3722415"/>
                  </a:lnTo>
                  <a:lnTo>
                    <a:pt x="1100" y="3773468"/>
                  </a:lnTo>
                  <a:close/>
                </a:path>
              </a:pathLst>
            </a:custGeom>
            <a:ln w="28574">
              <a:solidFill>
                <a:srgbClr val="4E88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145490" y="1488656"/>
              <a:ext cx="228600" cy="4455160"/>
            </a:xfrm>
            <a:custGeom>
              <a:avLst/>
              <a:gdLst/>
              <a:ahLst/>
              <a:cxnLst/>
              <a:rect l="l" t="t" r="r" b="b"/>
              <a:pathLst>
                <a:path w="228600" h="4455160">
                  <a:moveTo>
                    <a:pt x="228329" y="0"/>
                  </a:moveTo>
                  <a:lnTo>
                    <a:pt x="0" y="0"/>
                  </a:lnTo>
                  <a:lnTo>
                    <a:pt x="0" y="4455064"/>
                  </a:lnTo>
                  <a:lnTo>
                    <a:pt x="228329" y="4455064"/>
                  </a:lnTo>
                  <a:lnTo>
                    <a:pt x="22832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6834590" y="1704588"/>
            <a:ext cx="4781550" cy="2814955"/>
          </a:xfrm>
          <a:prstGeom prst="rect">
            <a:avLst/>
          </a:prstGeom>
        </p:spPr>
        <p:txBody>
          <a:bodyPr vert="horz" wrap="square" lIns="0" tIns="163195" rIns="0" bIns="0" rtlCol="0">
            <a:spAutoFit/>
          </a:bodyPr>
          <a:lstStyle/>
          <a:p>
            <a:pPr marL="1986280">
              <a:lnSpc>
                <a:spcPct val="100000"/>
              </a:lnSpc>
              <a:spcBef>
                <a:spcPts val="1285"/>
              </a:spcBef>
            </a:pPr>
            <a:r>
              <a:rPr sz="2800" b="1" spc="-20" dirty="0">
                <a:latin typeface="Arial"/>
                <a:cs typeface="Arial"/>
              </a:rPr>
              <a:t>Cons</a:t>
            </a:r>
            <a:endParaRPr sz="2800">
              <a:latin typeface="Arial"/>
              <a:cs typeface="Arial"/>
            </a:endParaRPr>
          </a:p>
          <a:p>
            <a:pPr marL="347345" indent="-334645">
              <a:lnSpc>
                <a:spcPct val="100000"/>
              </a:lnSpc>
              <a:spcBef>
                <a:spcPts val="1015"/>
              </a:spcBef>
              <a:buChar char="•"/>
              <a:tabLst>
                <a:tab pos="347345" algn="l"/>
              </a:tabLst>
            </a:pPr>
            <a:r>
              <a:rPr sz="2400" dirty="0">
                <a:latin typeface="Arial"/>
                <a:cs typeface="Arial"/>
              </a:rPr>
              <a:t>Uses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hardware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local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machine</a:t>
            </a:r>
            <a:endParaRPr sz="2400">
              <a:latin typeface="Arial"/>
              <a:cs typeface="Arial"/>
            </a:endParaRPr>
          </a:p>
          <a:p>
            <a:pPr marL="347980" marR="344170" indent="-335915">
              <a:lnSpc>
                <a:spcPct val="100000"/>
              </a:lnSpc>
              <a:spcBef>
                <a:spcPts val="1000"/>
              </a:spcBef>
              <a:buChar char="•"/>
              <a:tabLst>
                <a:tab pos="347980" algn="l"/>
              </a:tabLst>
            </a:pPr>
            <a:r>
              <a:rPr sz="2400" dirty="0">
                <a:latin typeface="Arial"/>
                <a:cs typeface="Arial"/>
              </a:rPr>
              <a:t>Not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very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portable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since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size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of </a:t>
            </a:r>
            <a:r>
              <a:rPr sz="2400" dirty="0">
                <a:latin typeface="Arial"/>
                <a:cs typeface="Arial"/>
              </a:rPr>
              <a:t>VMs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are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large</a:t>
            </a:r>
            <a:endParaRPr sz="2400">
              <a:latin typeface="Arial"/>
              <a:cs typeface="Arial"/>
            </a:endParaRPr>
          </a:p>
          <a:p>
            <a:pPr marL="347980" marR="5080" indent="-335915">
              <a:lnSpc>
                <a:spcPct val="100000"/>
              </a:lnSpc>
              <a:spcBef>
                <a:spcPts val="1000"/>
              </a:spcBef>
              <a:buChar char="•"/>
              <a:tabLst>
                <a:tab pos="347980" algn="l"/>
              </a:tabLst>
            </a:pPr>
            <a:r>
              <a:rPr sz="2400" dirty="0">
                <a:latin typeface="Arial"/>
                <a:cs typeface="Arial"/>
              </a:rPr>
              <a:t>There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overhead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associated </a:t>
            </a:r>
            <a:r>
              <a:rPr sz="2400" dirty="0">
                <a:latin typeface="Arial"/>
                <a:cs typeface="Arial"/>
              </a:rPr>
              <a:t>with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virtual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machines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4935">
              <a:lnSpc>
                <a:spcPts val="1240"/>
              </a:lnSpc>
            </a:pPr>
            <a:r>
              <a:rPr spc="-50" dirty="0"/>
              <a:t>4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51240" y="1712113"/>
            <a:ext cx="4949825" cy="2941955"/>
          </a:xfrm>
          <a:prstGeom prst="rect">
            <a:avLst/>
          </a:prstGeom>
        </p:spPr>
        <p:txBody>
          <a:bodyPr vert="horz" wrap="square" lIns="0" tIns="163195" rIns="0" bIns="0" rtlCol="0">
            <a:spAutoFit/>
          </a:bodyPr>
          <a:lstStyle/>
          <a:p>
            <a:pPr marL="2179320">
              <a:lnSpc>
                <a:spcPct val="100000"/>
              </a:lnSpc>
              <a:spcBef>
                <a:spcPts val="1285"/>
              </a:spcBef>
            </a:pPr>
            <a:r>
              <a:rPr sz="2800" b="1" spc="-20" dirty="0">
                <a:latin typeface="Arial"/>
                <a:cs typeface="Arial"/>
              </a:rPr>
              <a:t>Pros</a:t>
            </a:r>
            <a:endParaRPr sz="2800">
              <a:latin typeface="Arial"/>
              <a:cs typeface="Arial"/>
            </a:endParaRPr>
          </a:p>
          <a:p>
            <a:pPr marL="347345" indent="-334645">
              <a:lnSpc>
                <a:spcPct val="100000"/>
              </a:lnSpc>
              <a:spcBef>
                <a:spcPts val="1015"/>
              </a:spcBef>
              <a:buChar char="•"/>
              <a:tabLst>
                <a:tab pos="347345" algn="l"/>
              </a:tabLst>
            </a:pPr>
            <a:r>
              <a:rPr sz="2400" dirty="0">
                <a:latin typeface="Arial"/>
                <a:cs typeface="Arial"/>
              </a:rPr>
              <a:t>Full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autonomy</a:t>
            </a:r>
            <a:endParaRPr sz="2400">
              <a:latin typeface="Arial"/>
              <a:cs typeface="Arial"/>
            </a:endParaRPr>
          </a:p>
          <a:p>
            <a:pPr marL="347345" indent="-334645">
              <a:lnSpc>
                <a:spcPct val="100000"/>
              </a:lnSpc>
              <a:spcBef>
                <a:spcPts val="1000"/>
              </a:spcBef>
              <a:buFont typeface="Arial"/>
              <a:buChar char="•"/>
              <a:tabLst>
                <a:tab pos="347345" algn="l"/>
              </a:tabLst>
            </a:pPr>
            <a:r>
              <a:rPr sz="2400" b="1" spc="-10" dirty="0">
                <a:latin typeface="Arial"/>
                <a:cs typeface="Arial"/>
              </a:rPr>
              <a:t>Very</a:t>
            </a:r>
            <a:r>
              <a:rPr sz="2400" b="1" spc="-150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secure</a:t>
            </a:r>
            <a:endParaRPr sz="2400">
              <a:latin typeface="Arial"/>
              <a:cs typeface="Arial"/>
            </a:endParaRPr>
          </a:p>
          <a:p>
            <a:pPr marL="347345" indent="-334645">
              <a:lnSpc>
                <a:spcPct val="100000"/>
              </a:lnSpc>
              <a:spcBef>
                <a:spcPts val="1000"/>
              </a:spcBef>
              <a:buChar char="•"/>
              <a:tabLst>
                <a:tab pos="347345" algn="l"/>
              </a:tabLst>
            </a:pPr>
            <a:r>
              <a:rPr sz="2400" dirty="0">
                <a:latin typeface="Arial"/>
                <a:cs typeface="Arial"/>
              </a:rPr>
              <a:t>Lower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costs</a:t>
            </a:r>
            <a:endParaRPr sz="2400">
              <a:latin typeface="Arial"/>
              <a:cs typeface="Arial"/>
            </a:endParaRPr>
          </a:p>
          <a:p>
            <a:pPr marL="347980" marR="5080" indent="-335915">
              <a:lnSpc>
                <a:spcPct val="100000"/>
              </a:lnSpc>
              <a:spcBef>
                <a:spcPts val="1000"/>
              </a:spcBef>
              <a:buChar char="•"/>
              <a:tabLst>
                <a:tab pos="347980" algn="l"/>
              </a:tabLst>
            </a:pPr>
            <a:r>
              <a:rPr sz="2400" dirty="0">
                <a:latin typeface="Arial"/>
                <a:cs typeface="Arial"/>
              </a:rPr>
              <a:t>Used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by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all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Cloud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providers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for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on </a:t>
            </a:r>
            <a:r>
              <a:rPr sz="2400" dirty="0">
                <a:latin typeface="Arial"/>
                <a:cs typeface="Arial"/>
              </a:rPr>
              <a:t>demand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server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instances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Wish</a:t>
            </a:r>
            <a:r>
              <a:rPr spc="-55" dirty="0"/>
              <a:t> </a:t>
            </a:r>
            <a:r>
              <a:rPr spc="-20" dirty="0"/>
              <a:t>List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4935">
              <a:lnSpc>
                <a:spcPts val="1240"/>
              </a:lnSpc>
            </a:pPr>
            <a:r>
              <a:rPr spc="-50" dirty="0"/>
              <a:t>5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36799" y="2277158"/>
            <a:ext cx="6651625" cy="2235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24815" marR="5080" indent="-412750">
              <a:lnSpc>
                <a:spcPct val="100000"/>
              </a:lnSpc>
              <a:spcBef>
                <a:spcPts val="100"/>
              </a:spcBef>
              <a:buChar char="●"/>
              <a:tabLst>
                <a:tab pos="424815" algn="l"/>
              </a:tabLst>
            </a:pPr>
            <a:r>
              <a:rPr sz="2400" dirty="0">
                <a:latin typeface="Arial"/>
                <a:cs typeface="Arial"/>
              </a:rPr>
              <a:t>Automatically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set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up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(installs)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all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OS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extra </a:t>
            </a:r>
            <a:r>
              <a:rPr sz="2400" dirty="0">
                <a:latin typeface="Arial"/>
                <a:cs typeface="Arial"/>
              </a:rPr>
              <a:t>libraries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set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up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python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environment</a:t>
            </a:r>
            <a:endParaRPr sz="2400">
              <a:latin typeface="Arial"/>
              <a:cs typeface="Arial"/>
            </a:endParaRPr>
          </a:p>
          <a:p>
            <a:pPr marL="424815" indent="-412115">
              <a:lnSpc>
                <a:spcPct val="100000"/>
              </a:lnSpc>
              <a:spcBef>
                <a:spcPts val="1000"/>
              </a:spcBef>
              <a:buChar char="●"/>
              <a:tabLst>
                <a:tab pos="424815" algn="l"/>
              </a:tabLst>
            </a:pPr>
            <a:r>
              <a:rPr sz="2400" dirty="0">
                <a:latin typeface="Arial"/>
                <a:cs typeface="Arial"/>
              </a:rPr>
              <a:t>It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isolated</a:t>
            </a:r>
            <a:endParaRPr sz="2400">
              <a:latin typeface="Arial"/>
              <a:cs typeface="Arial"/>
            </a:endParaRPr>
          </a:p>
          <a:p>
            <a:pPr marL="424815" indent="-412115">
              <a:lnSpc>
                <a:spcPct val="100000"/>
              </a:lnSpc>
              <a:spcBef>
                <a:spcPts val="1000"/>
              </a:spcBef>
              <a:buChar char="●"/>
              <a:tabLst>
                <a:tab pos="424815" algn="l"/>
              </a:tabLst>
            </a:pPr>
            <a:r>
              <a:rPr sz="2400" dirty="0">
                <a:latin typeface="Arial"/>
                <a:cs typeface="Arial"/>
              </a:rPr>
              <a:t>Uses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less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resources</a:t>
            </a:r>
            <a:endParaRPr sz="2400">
              <a:latin typeface="Arial"/>
              <a:cs typeface="Arial"/>
            </a:endParaRPr>
          </a:p>
          <a:p>
            <a:pPr marL="424815" indent="-412115">
              <a:lnSpc>
                <a:spcPct val="100000"/>
              </a:lnSpc>
              <a:spcBef>
                <a:spcPts val="1000"/>
              </a:spcBef>
              <a:buChar char="●"/>
              <a:tabLst>
                <a:tab pos="424815" algn="l"/>
              </a:tabLst>
            </a:pPr>
            <a:r>
              <a:rPr sz="2400" dirty="0">
                <a:latin typeface="Arial"/>
                <a:cs typeface="Arial"/>
              </a:rPr>
              <a:t>Startups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quickly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204225" y="3423917"/>
            <a:ext cx="174942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spc="-10" dirty="0">
                <a:solidFill>
                  <a:srgbClr val="CC0000"/>
                </a:solidFill>
                <a:latin typeface="Arial"/>
                <a:cs typeface="Arial"/>
              </a:rPr>
              <a:t>Containers</a:t>
            </a:r>
            <a:endParaRPr sz="26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6474" y="1289041"/>
            <a:ext cx="3054350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dirty="0">
                <a:latin typeface="Arial"/>
                <a:cs typeface="Arial"/>
              </a:rPr>
              <a:t>We</a:t>
            </a:r>
            <a:r>
              <a:rPr sz="2300" spc="-25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want</a:t>
            </a:r>
            <a:r>
              <a:rPr sz="2300" spc="-25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a</a:t>
            </a:r>
            <a:r>
              <a:rPr sz="2300" spc="-20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system</a:t>
            </a:r>
            <a:r>
              <a:rPr sz="2300" spc="-25" dirty="0">
                <a:latin typeface="Arial"/>
                <a:cs typeface="Arial"/>
              </a:rPr>
              <a:t> </a:t>
            </a:r>
            <a:r>
              <a:rPr sz="2300" spc="-20" dirty="0">
                <a:latin typeface="Arial"/>
                <a:cs typeface="Arial"/>
              </a:rPr>
              <a:t>that:</a:t>
            </a:r>
            <a:endParaRPr sz="2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Comparison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1744" y="1174750"/>
            <a:ext cx="5892800" cy="46609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164783" y="2521930"/>
            <a:ext cx="3735912" cy="201164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329591" y="6466767"/>
            <a:ext cx="17970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25" dirty="0">
                <a:solidFill>
                  <a:srgbClr val="888888"/>
                </a:solidFill>
                <a:latin typeface="BIZ UDGothic"/>
                <a:cs typeface="BIZ UDGothic"/>
              </a:rPr>
              <a:t>49</a:t>
            </a:r>
            <a:endParaRPr sz="1200">
              <a:latin typeface="BIZ UDGothic"/>
              <a:cs typeface="BIZ UD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What</a:t>
            </a:r>
            <a:r>
              <a:rPr spc="-30" dirty="0"/>
              <a:t> </a:t>
            </a:r>
            <a:r>
              <a:rPr dirty="0"/>
              <a:t>is</a:t>
            </a:r>
            <a:r>
              <a:rPr spc="-25" dirty="0"/>
              <a:t> </a:t>
            </a:r>
            <a:r>
              <a:rPr dirty="0"/>
              <a:t>a</a:t>
            </a:r>
            <a:r>
              <a:rPr spc="-25" dirty="0"/>
              <a:t> </a:t>
            </a:r>
            <a:r>
              <a:rPr spc="-10" dirty="0"/>
              <a:t>Container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7980" marR="201930" indent="-335915">
              <a:lnSpc>
                <a:spcPct val="114999"/>
              </a:lnSpc>
              <a:spcBef>
                <a:spcPts val="100"/>
              </a:spcBef>
              <a:buClr>
                <a:srgbClr val="000000"/>
              </a:buClr>
              <a:buChar char="•"/>
              <a:tabLst>
                <a:tab pos="347980" algn="l"/>
              </a:tabLst>
            </a:pPr>
            <a:r>
              <a:rPr spc="-10" dirty="0">
                <a:solidFill>
                  <a:srgbClr val="558ED5"/>
                </a:solidFill>
              </a:rPr>
              <a:t>Standardized</a:t>
            </a:r>
            <a:r>
              <a:rPr spc="-75" dirty="0">
                <a:solidFill>
                  <a:srgbClr val="558ED5"/>
                </a:solidFill>
              </a:rPr>
              <a:t> </a:t>
            </a:r>
            <a:r>
              <a:rPr dirty="0"/>
              <a:t>packaging</a:t>
            </a:r>
            <a:r>
              <a:rPr spc="-80" dirty="0"/>
              <a:t> </a:t>
            </a:r>
            <a:r>
              <a:rPr dirty="0"/>
              <a:t>for</a:t>
            </a:r>
            <a:r>
              <a:rPr spc="-80" dirty="0"/>
              <a:t> </a:t>
            </a:r>
            <a:r>
              <a:rPr spc="-10" dirty="0"/>
              <a:t>software dependencies</a:t>
            </a:r>
          </a:p>
          <a:p>
            <a:pPr marL="347345" indent="-334645">
              <a:lnSpc>
                <a:spcPct val="100000"/>
              </a:lnSpc>
              <a:spcBef>
                <a:spcPts val="430"/>
              </a:spcBef>
              <a:buClr>
                <a:srgbClr val="000000"/>
              </a:buClr>
              <a:buChar char="•"/>
              <a:tabLst>
                <a:tab pos="347345" algn="l"/>
              </a:tabLst>
            </a:pPr>
            <a:r>
              <a:rPr dirty="0">
                <a:solidFill>
                  <a:srgbClr val="558ED5"/>
                </a:solidFill>
              </a:rPr>
              <a:t>Isolate</a:t>
            </a:r>
            <a:r>
              <a:rPr spc="-65" dirty="0">
                <a:solidFill>
                  <a:srgbClr val="558ED5"/>
                </a:solidFill>
              </a:rPr>
              <a:t> </a:t>
            </a:r>
            <a:r>
              <a:rPr dirty="0"/>
              <a:t>apps</a:t>
            </a:r>
            <a:r>
              <a:rPr spc="-65" dirty="0"/>
              <a:t> </a:t>
            </a:r>
            <a:r>
              <a:rPr dirty="0"/>
              <a:t>from</a:t>
            </a:r>
            <a:r>
              <a:rPr spc="-60" dirty="0"/>
              <a:t> </a:t>
            </a:r>
            <a:r>
              <a:rPr dirty="0"/>
              <a:t>each</a:t>
            </a:r>
            <a:r>
              <a:rPr spc="-65" dirty="0"/>
              <a:t> </a:t>
            </a:r>
            <a:r>
              <a:rPr spc="-10" dirty="0"/>
              <a:t>other</a:t>
            </a:r>
          </a:p>
          <a:p>
            <a:pPr marL="347980" marR="5080" indent="-335915">
              <a:lnSpc>
                <a:spcPct val="114999"/>
              </a:lnSpc>
              <a:buClr>
                <a:srgbClr val="000000"/>
              </a:buClr>
              <a:buChar char="•"/>
              <a:tabLst>
                <a:tab pos="347980" algn="l"/>
              </a:tabLst>
            </a:pPr>
            <a:r>
              <a:rPr dirty="0">
                <a:solidFill>
                  <a:srgbClr val="558ED5"/>
                </a:solidFill>
              </a:rPr>
              <a:t>Works</a:t>
            </a:r>
            <a:r>
              <a:rPr spc="-60" dirty="0">
                <a:solidFill>
                  <a:srgbClr val="558ED5"/>
                </a:solidFill>
              </a:rPr>
              <a:t> </a:t>
            </a:r>
            <a:r>
              <a:rPr dirty="0"/>
              <a:t>for</a:t>
            </a:r>
            <a:r>
              <a:rPr spc="-60" dirty="0"/>
              <a:t> </a:t>
            </a:r>
            <a:r>
              <a:rPr dirty="0"/>
              <a:t>all</a:t>
            </a:r>
            <a:r>
              <a:rPr spc="-60" dirty="0"/>
              <a:t> </a:t>
            </a:r>
            <a:r>
              <a:rPr dirty="0"/>
              <a:t>major</a:t>
            </a:r>
            <a:r>
              <a:rPr spc="-60" dirty="0"/>
              <a:t> </a:t>
            </a:r>
            <a:r>
              <a:rPr dirty="0"/>
              <a:t>Linux</a:t>
            </a:r>
            <a:r>
              <a:rPr spc="-60" dirty="0"/>
              <a:t> </a:t>
            </a:r>
            <a:r>
              <a:rPr spc="-10" dirty="0"/>
              <a:t>distributions, </a:t>
            </a:r>
            <a:r>
              <a:rPr dirty="0"/>
              <a:t>MacOS,</a:t>
            </a:r>
            <a:r>
              <a:rPr spc="-15" dirty="0"/>
              <a:t> </a:t>
            </a:r>
            <a:r>
              <a:rPr spc="-10" dirty="0"/>
              <a:t>Windows</a:t>
            </a:r>
          </a:p>
        </p:txBody>
      </p:sp>
      <p:sp>
        <p:nvSpPr>
          <p:cNvPr id="4" name="object 4"/>
          <p:cNvSpPr/>
          <p:nvPr/>
        </p:nvSpPr>
        <p:spPr>
          <a:xfrm>
            <a:off x="923544" y="3242349"/>
            <a:ext cx="3948429" cy="478790"/>
          </a:xfrm>
          <a:custGeom>
            <a:avLst/>
            <a:gdLst/>
            <a:ahLst/>
            <a:cxnLst/>
            <a:rect l="l" t="t" r="r" b="b"/>
            <a:pathLst>
              <a:path w="3948429" h="478789">
                <a:moveTo>
                  <a:pt x="3948300" y="0"/>
                </a:moveTo>
                <a:lnTo>
                  <a:pt x="0" y="0"/>
                </a:lnTo>
                <a:lnTo>
                  <a:pt x="0" y="478500"/>
                </a:lnTo>
                <a:lnTo>
                  <a:pt x="3948300" y="478500"/>
                </a:lnTo>
                <a:lnTo>
                  <a:pt x="3948300" y="0"/>
                </a:lnTo>
                <a:close/>
              </a:path>
            </a:pathLst>
          </a:custGeom>
          <a:solidFill>
            <a:srgbClr val="3C78D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23544" y="3242349"/>
            <a:ext cx="3948429" cy="478790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30"/>
              </a:spcBef>
            </a:pP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Docker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41469" y="3302399"/>
            <a:ext cx="380362" cy="380362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926600" y="3796800"/>
            <a:ext cx="3948429" cy="478790"/>
          </a:xfrm>
          <a:prstGeom prst="rect">
            <a:avLst/>
          </a:prstGeom>
          <a:solidFill>
            <a:srgbClr val="666666"/>
          </a:solidFill>
        </p:spPr>
        <p:txBody>
          <a:bodyPr vert="horz" wrap="square" lIns="0" tIns="927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30"/>
              </a:spcBef>
            </a:pP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Kernel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703537" y="1955662"/>
            <a:ext cx="1130935" cy="393700"/>
            <a:chOff x="3703537" y="1955662"/>
            <a:chExt cx="1130935" cy="393700"/>
          </a:xfrm>
        </p:grpSpPr>
        <p:sp>
          <p:nvSpPr>
            <p:cNvPr id="9" name="object 9"/>
            <p:cNvSpPr/>
            <p:nvPr/>
          </p:nvSpPr>
          <p:spPr>
            <a:xfrm>
              <a:off x="3717824" y="1969949"/>
              <a:ext cx="1102360" cy="365125"/>
            </a:xfrm>
            <a:custGeom>
              <a:avLst/>
              <a:gdLst/>
              <a:ahLst/>
              <a:cxnLst/>
              <a:rect l="l" t="t" r="r" b="b"/>
              <a:pathLst>
                <a:path w="1102360" h="365125">
                  <a:moveTo>
                    <a:pt x="1102199" y="0"/>
                  </a:moveTo>
                  <a:lnTo>
                    <a:pt x="0" y="0"/>
                  </a:lnTo>
                  <a:lnTo>
                    <a:pt x="0" y="365099"/>
                  </a:lnTo>
                  <a:lnTo>
                    <a:pt x="1102199" y="365099"/>
                  </a:lnTo>
                  <a:lnTo>
                    <a:pt x="1102199" y="0"/>
                  </a:lnTo>
                  <a:close/>
                </a:path>
              </a:pathLst>
            </a:custGeom>
            <a:solidFill>
              <a:srgbClr val="4E88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717825" y="1969949"/>
              <a:ext cx="1102360" cy="365125"/>
            </a:xfrm>
            <a:custGeom>
              <a:avLst/>
              <a:gdLst/>
              <a:ahLst/>
              <a:cxnLst/>
              <a:rect l="l" t="t" r="r" b="b"/>
              <a:pathLst>
                <a:path w="1102360" h="365125">
                  <a:moveTo>
                    <a:pt x="0" y="0"/>
                  </a:moveTo>
                  <a:lnTo>
                    <a:pt x="1102199" y="0"/>
                  </a:lnTo>
                  <a:lnTo>
                    <a:pt x="1102199" y="365099"/>
                  </a:lnTo>
                  <a:lnTo>
                    <a:pt x="0" y="3650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717824" y="1969949"/>
            <a:ext cx="1102360" cy="365125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123189">
              <a:lnSpc>
                <a:spcPct val="100000"/>
              </a:lnSpc>
              <a:spcBef>
                <a:spcPts val="670"/>
              </a:spcBef>
            </a:pP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Static</a:t>
            </a:r>
            <a:r>
              <a:rPr sz="12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Binary</a:t>
            </a:r>
            <a:endParaRPr sz="12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669800" y="1409749"/>
            <a:ext cx="1205230" cy="1739900"/>
          </a:xfrm>
          <a:prstGeom prst="rect">
            <a:avLst/>
          </a:prstGeom>
          <a:ln w="19049">
            <a:solidFill>
              <a:srgbClr val="4A86E8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0">
              <a:latin typeface="Times New Roman"/>
              <a:cs typeface="Times New Roman"/>
            </a:endParaRPr>
          </a:p>
          <a:p>
            <a:pPr marL="247015">
              <a:lnSpc>
                <a:spcPct val="100000"/>
              </a:lnSpc>
              <a:spcBef>
                <a:spcPts val="5"/>
              </a:spcBef>
            </a:pPr>
            <a:r>
              <a:rPr sz="1000" b="1" spc="-10" dirty="0">
                <a:solidFill>
                  <a:srgbClr val="1155CC"/>
                </a:solidFill>
                <a:latin typeface="Arial"/>
                <a:cs typeface="Arial"/>
              </a:rPr>
              <a:t>Container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703537" y="2412862"/>
            <a:ext cx="1130935" cy="393700"/>
            <a:chOff x="3703537" y="2412862"/>
            <a:chExt cx="1130935" cy="393700"/>
          </a:xfrm>
        </p:grpSpPr>
        <p:sp>
          <p:nvSpPr>
            <p:cNvPr id="14" name="object 14"/>
            <p:cNvSpPr/>
            <p:nvPr/>
          </p:nvSpPr>
          <p:spPr>
            <a:xfrm>
              <a:off x="3717824" y="2427149"/>
              <a:ext cx="1102360" cy="365125"/>
            </a:xfrm>
            <a:custGeom>
              <a:avLst/>
              <a:gdLst/>
              <a:ahLst/>
              <a:cxnLst/>
              <a:rect l="l" t="t" r="r" b="b"/>
              <a:pathLst>
                <a:path w="1102360" h="365125">
                  <a:moveTo>
                    <a:pt x="1102199" y="0"/>
                  </a:moveTo>
                  <a:lnTo>
                    <a:pt x="0" y="0"/>
                  </a:lnTo>
                  <a:lnTo>
                    <a:pt x="0" y="365099"/>
                  </a:lnTo>
                  <a:lnTo>
                    <a:pt x="1102199" y="365099"/>
                  </a:lnTo>
                  <a:lnTo>
                    <a:pt x="1102199" y="0"/>
                  </a:lnTo>
                  <a:close/>
                </a:path>
              </a:pathLst>
            </a:custGeom>
            <a:solidFill>
              <a:srgbClr val="4E88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717825" y="2427149"/>
              <a:ext cx="1102360" cy="365125"/>
            </a:xfrm>
            <a:custGeom>
              <a:avLst/>
              <a:gdLst/>
              <a:ahLst/>
              <a:cxnLst/>
              <a:rect l="l" t="t" r="r" b="b"/>
              <a:pathLst>
                <a:path w="1102360" h="365125">
                  <a:moveTo>
                    <a:pt x="0" y="0"/>
                  </a:moveTo>
                  <a:lnTo>
                    <a:pt x="1102199" y="0"/>
                  </a:lnTo>
                  <a:lnTo>
                    <a:pt x="1102199" y="365099"/>
                  </a:lnTo>
                  <a:lnTo>
                    <a:pt x="0" y="3650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3717824" y="2427149"/>
            <a:ext cx="1102360" cy="365125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339090">
              <a:lnSpc>
                <a:spcPct val="100000"/>
              </a:lnSpc>
              <a:spcBef>
                <a:spcPts val="670"/>
              </a:spcBef>
            </a:pP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Alpine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2331937" y="1955662"/>
            <a:ext cx="1130935" cy="393700"/>
            <a:chOff x="2331937" y="1955662"/>
            <a:chExt cx="1130935" cy="393700"/>
          </a:xfrm>
        </p:grpSpPr>
        <p:sp>
          <p:nvSpPr>
            <p:cNvPr id="18" name="object 18"/>
            <p:cNvSpPr/>
            <p:nvPr/>
          </p:nvSpPr>
          <p:spPr>
            <a:xfrm>
              <a:off x="2346224" y="1969949"/>
              <a:ext cx="1102360" cy="365125"/>
            </a:xfrm>
            <a:custGeom>
              <a:avLst/>
              <a:gdLst/>
              <a:ahLst/>
              <a:cxnLst/>
              <a:rect l="l" t="t" r="r" b="b"/>
              <a:pathLst>
                <a:path w="1102360" h="365125">
                  <a:moveTo>
                    <a:pt x="1102199" y="0"/>
                  </a:moveTo>
                  <a:lnTo>
                    <a:pt x="0" y="0"/>
                  </a:lnTo>
                  <a:lnTo>
                    <a:pt x="0" y="365099"/>
                  </a:lnTo>
                  <a:lnTo>
                    <a:pt x="1102199" y="365099"/>
                  </a:lnTo>
                  <a:lnTo>
                    <a:pt x="1102199" y="0"/>
                  </a:lnTo>
                  <a:close/>
                </a:path>
              </a:pathLst>
            </a:custGeom>
            <a:solidFill>
              <a:srgbClr val="4E88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346225" y="1969949"/>
              <a:ext cx="1102360" cy="365125"/>
            </a:xfrm>
            <a:custGeom>
              <a:avLst/>
              <a:gdLst/>
              <a:ahLst/>
              <a:cxnLst/>
              <a:rect l="l" t="t" r="r" b="b"/>
              <a:pathLst>
                <a:path w="1102360" h="365125">
                  <a:moveTo>
                    <a:pt x="0" y="0"/>
                  </a:moveTo>
                  <a:lnTo>
                    <a:pt x="1102199" y="0"/>
                  </a:lnTo>
                  <a:lnTo>
                    <a:pt x="1102199" y="365099"/>
                  </a:lnTo>
                  <a:lnTo>
                    <a:pt x="0" y="3650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2346224" y="1969949"/>
            <a:ext cx="1102360" cy="365125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70"/>
              </a:spcBef>
            </a:pPr>
            <a:r>
              <a:rPr sz="1200" spc="-20" dirty="0">
                <a:solidFill>
                  <a:srgbClr val="FFFFFF"/>
                </a:solidFill>
                <a:latin typeface="Arial"/>
                <a:cs typeface="Arial"/>
              </a:rPr>
              <a:t>.Net</a:t>
            </a:r>
            <a:endParaRPr sz="12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298200" y="1409749"/>
            <a:ext cx="1205230" cy="1739900"/>
          </a:xfrm>
          <a:prstGeom prst="rect">
            <a:avLst/>
          </a:prstGeom>
          <a:ln w="19049">
            <a:solidFill>
              <a:srgbClr val="4A86E8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0">
              <a:latin typeface="Times New Roman"/>
              <a:cs typeface="Times New Roman"/>
            </a:endParaRPr>
          </a:p>
          <a:p>
            <a:pPr marL="247015">
              <a:lnSpc>
                <a:spcPct val="100000"/>
              </a:lnSpc>
              <a:spcBef>
                <a:spcPts val="5"/>
              </a:spcBef>
            </a:pPr>
            <a:r>
              <a:rPr sz="1000" b="1" spc="-10" dirty="0">
                <a:solidFill>
                  <a:srgbClr val="1155CC"/>
                </a:solidFill>
                <a:latin typeface="Arial"/>
                <a:cs typeface="Arial"/>
              </a:rPr>
              <a:t>Container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2331937" y="2412862"/>
            <a:ext cx="1130935" cy="393700"/>
            <a:chOff x="2331937" y="2412862"/>
            <a:chExt cx="1130935" cy="393700"/>
          </a:xfrm>
        </p:grpSpPr>
        <p:sp>
          <p:nvSpPr>
            <p:cNvPr id="23" name="object 23"/>
            <p:cNvSpPr/>
            <p:nvPr/>
          </p:nvSpPr>
          <p:spPr>
            <a:xfrm>
              <a:off x="2346224" y="2427149"/>
              <a:ext cx="1102360" cy="365125"/>
            </a:xfrm>
            <a:custGeom>
              <a:avLst/>
              <a:gdLst/>
              <a:ahLst/>
              <a:cxnLst/>
              <a:rect l="l" t="t" r="r" b="b"/>
              <a:pathLst>
                <a:path w="1102360" h="365125">
                  <a:moveTo>
                    <a:pt x="1102199" y="0"/>
                  </a:moveTo>
                  <a:lnTo>
                    <a:pt x="0" y="0"/>
                  </a:lnTo>
                  <a:lnTo>
                    <a:pt x="0" y="365099"/>
                  </a:lnTo>
                  <a:lnTo>
                    <a:pt x="1102199" y="365099"/>
                  </a:lnTo>
                  <a:lnTo>
                    <a:pt x="1102199" y="0"/>
                  </a:lnTo>
                  <a:close/>
                </a:path>
              </a:pathLst>
            </a:custGeom>
            <a:solidFill>
              <a:srgbClr val="4E88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346225" y="2427149"/>
              <a:ext cx="1102360" cy="365125"/>
            </a:xfrm>
            <a:custGeom>
              <a:avLst/>
              <a:gdLst/>
              <a:ahLst/>
              <a:cxnLst/>
              <a:rect l="l" t="t" r="r" b="b"/>
              <a:pathLst>
                <a:path w="1102360" h="365125">
                  <a:moveTo>
                    <a:pt x="0" y="0"/>
                  </a:moveTo>
                  <a:lnTo>
                    <a:pt x="1102199" y="0"/>
                  </a:lnTo>
                  <a:lnTo>
                    <a:pt x="1102199" y="365099"/>
                  </a:lnTo>
                  <a:lnTo>
                    <a:pt x="0" y="3650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2346224" y="2427149"/>
            <a:ext cx="1102360" cy="365125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304800">
              <a:lnSpc>
                <a:spcPct val="100000"/>
              </a:lnSpc>
              <a:spcBef>
                <a:spcPts val="670"/>
              </a:spcBef>
            </a:pP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Ubuntu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2331937" y="1498462"/>
            <a:ext cx="1130935" cy="393700"/>
            <a:chOff x="2331937" y="1498462"/>
            <a:chExt cx="1130935" cy="393700"/>
          </a:xfrm>
        </p:grpSpPr>
        <p:sp>
          <p:nvSpPr>
            <p:cNvPr id="27" name="object 27"/>
            <p:cNvSpPr/>
            <p:nvPr/>
          </p:nvSpPr>
          <p:spPr>
            <a:xfrm>
              <a:off x="2346224" y="1512749"/>
              <a:ext cx="1102360" cy="365125"/>
            </a:xfrm>
            <a:custGeom>
              <a:avLst/>
              <a:gdLst/>
              <a:ahLst/>
              <a:cxnLst/>
              <a:rect l="l" t="t" r="r" b="b"/>
              <a:pathLst>
                <a:path w="1102360" h="365125">
                  <a:moveTo>
                    <a:pt x="1102199" y="0"/>
                  </a:moveTo>
                  <a:lnTo>
                    <a:pt x="0" y="0"/>
                  </a:lnTo>
                  <a:lnTo>
                    <a:pt x="0" y="365099"/>
                  </a:lnTo>
                  <a:lnTo>
                    <a:pt x="1102199" y="365099"/>
                  </a:lnTo>
                  <a:lnTo>
                    <a:pt x="1102199" y="0"/>
                  </a:lnTo>
                  <a:close/>
                </a:path>
              </a:pathLst>
            </a:custGeom>
            <a:solidFill>
              <a:srgbClr val="4E88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346225" y="1512750"/>
              <a:ext cx="1102360" cy="365125"/>
            </a:xfrm>
            <a:custGeom>
              <a:avLst/>
              <a:gdLst/>
              <a:ahLst/>
              <a:cxnLst/>
              <a:rect l="l" t="t" r="r" b="b"/>
              <a:pathLst>
                <a:path w="1102360" h="365125">
                  <a:moveTo>
                    <a:pt x="0" y="0"/>
                  </a:moveTo>
                  <a:lnTo>
                    <a:pt x="1102199" y="0"/>
                  </a:lnTo>
                  <a:lnTo>
                    <a:pt x="1102199" y="365099"/>
                  </a:lnTo>
                  <a:lnTo>
                    <a:pt x="0" y="3650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2346224" y="1512749"/>
            <a:ext cx="1102360" cy="365125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155575">
              <a:lnSpc>
                <a:spcPct val="100000"/>
              </a:lnSpc>
              <a:spcBef>
                <a:spcPts val="670"/>
              </a:spcBef>
            </a:pP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SQL</a:t>
            </a:r>
            <a:r>
              <a:rPr sz="12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Server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960337" y="1955662"/>
            <a:ext cx="1130935" cy="393700"/>
            <a:chOff x="960337" y="1955662"/>
            <a:chExt cx="1130935" cy="393700"/>
          </a:xfrm>
        </p:grpSpPr>
        <p:sp>
          <p:nvSpPr>
            <p:cNvPr id="31" name="object 31"/>
            <p:cNvSpPr/>
            <p:nvPr/>
          </p:nvSpPr>
          <p:spPr>
            <a:xfrm>
              <a:off x="974625" y="1969949"/>
              <a:ext cx="1102360" cy="365125"/>
            </a:xfrm>
            <a:custGeom>
              <a:avLst/>
              <a:gdLst/>
              <a:ahLst/>
              <a:cxnLst/>
              <a:rect l="l" t="t" r="r" b="b"/>
              <a:pathLst>
                <a:path w="1102360" h="365125">
                  <a:moveTo>
                    <a:pt x="1102199" y="0"/>
                  </a:moveTo>
                  <a:lnTo>
                    <a:pt x="0" y="0"/>
                  </a:lnTo>
                  <a:lnTo>
                    <a:pt x="0" y="365099"/>
                  </a:lnTo>
                  <a:lnTo>
                    <a:pt x="1102199" y="365099"/>
                  </a:lnTo>
                  <a:lnTo>
                    <a:pt x="1102199" y="0"/>
                  </a:lnTo>
                  <a:close/>
                </a:path>
              </a:pathLst>
            </a:custGeom>
            <a:solidFill>
              <a:srgbClr val="4E88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974625" y="1969949"/>
              <a:ext cx="1102360" cy="365125"/>
            </a:xfrm>
            <a:custGeom>
              <a:avLst/>
              <a:gdLst/>
              <a:ahLst/>
              <a:cxnLst/>
              <a:rect l="l" t="t" r="r" b="b"/>
              <a:pathLst>
                <a:path w="1102360" h="365125">
                  <a:moveTo>
                    <a:pt x="0" y="0"/>
                  </a:moveTo>
                  <a:lnTo>
                    <a:pt x="1102199" y="0"/>
                  </a:lnTo>
                  <a:lnTo>
                    <a:pt x="1102199" y="365099"/>
                  </a:lnTo>
                  <a:lnTo>
                    <a:pt x="0" y="3650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974625" y="1969949"/>
            <a:ext cx="1102360" cy="365125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70"/>
              </a:spcBef>
            </a:pPr>
            <a:r>
              <a:rPr sz="1200" spc="-20" dirty="0">
                <a:solidFill>
                  <a:srgbClr val="FFFFFF"/>
                </a:solidFill>
                <a:latin typeface="Arial"/>
                <a:cs typeface="Arial"/>
              </a:rPr>
              <a:t>Java</a:t>
            </a:r>
            <a:endParaRPr sz="12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926600" y="1409749"/>
            <a:ext cx="1205230" cy="1739900"/>
          </a:xfrm>
          <a:prstGeom prst="rect">
            <a:avLst/>
          </a:prstGeom>
          <a:ln w="19049">
            <a:solidFill>
              <a:srgbClr val="4A86E8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0">
              <a:latin typeface="Times New Roman"/>
              <a:cs typeface="Times New Roman"/>
            </a:endParaRPr>
          </a:p>
          <a:p>
            <a:pPr marL="247015">
              <a:lnSpc>
                <a:spcPct val="100000"/>
              </a:lnSpc>
              <a:spcBef>
                <a:spcPts val="5"/>
              </a:spcBef>
            </a:pPr>
            <a:r>
              <a:rPr sz="1000" b="1" spc="-10" dirty="0">
                <a:solidFill>
                  <a:srgbClr val="1155CC"/>
                </a:solidFill>
                <a:latin typeface="Arial"/>
                <a:cs typeface="Arial"/>
              </a:rPr>
              <a:t>Container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960337" y="2412862"/>
            <a:ext cx="1130935" cy="393700"/>
            <a:chOff x="960337" y="2412862"/>
            <a:chExt cx="1130935" cy="393700"/>
          </a:xfrm>
        </p:grpSpPr>
        <p:sp>
          <p:nvSpPr>
            <p:cNvPr id="36" name="object 36"/>
            <p:cNvSpPr/>
            <p:nvPr/>
          </p:nvSpPr>
          <p:spPr>
            <a:xfrm>
              <a:off x="974625" y="2427149"/>
              <a:ext cx="1102360" cy="365125"/>
            </a:xfrm>
            <a:custGeom>
              <a:avLst/>
              <a:gdLst/>
              <a:ahLst/>
              <a:cxnLst/>
              <a:rect l="l" t="t" r="r" b="b"/>
              <a:pathLst>
                <a:path w="1102360" h="365125">
                  <a:moveTo>
                    <a:pt x="1102199" y="0"/>
                  </a:moveTo>
                  <a:lnTo>
                    <a:pt x="0" y="0"/>
                  </a:lnTo>
                  <a:lnTo>
                    <a:pt x="0" y="365099"/>
                  </a:lnTo>
                  <a:lnTo>
                    <a:pt x="1102199" y="365099"/>
                  </a:lnTo>
                  <a:lnTo>
                    <a:pt x="1102199" y="0"/>
                  </a:lnTo>
                  <a:close/>
                </a:path>
              </a:pathLst>
            </a:custGeom>
            <a:solidFill>
              <a:srgbClr val="4E88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974625" y="2427149"/>
              <a:ext cx="1102360" cy="365125"/>
            </a:xfrm>
            <a:custGeom>
              <a:avLst/>
              <a:gdLst/>
              <a:ahLst/>
              <a:cxnLst/>
              <a:rect l="l" t="t" r="r" b="b"/>
              <a:pathLst>
                <a:path w="1102360" h="365125">
                  <a:moveTo>
                    <a:pt x="0" y="0"/>
                  </a:moveTo>
                  <a:lnTo>
                    <a:pt x="1102199" y="0"/>
                  </a:lnTo>
                  <a:lnTo>
                    <a:pt x="1102199" y="365099"/>
                  </a:lnTo>
                  <a:lnTo>
                    <a:pt x="0" y="3650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974625" y="2427149"/>
            <a:ext cx="1102360" cy="365125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309245">
              <a:lnSpc>
                <a:spcPct val="100000"/>
              </a:lnSpc>
              <a:spcBef>
                <a:spcPts val="670"/>
              </a:spcBef>
            </a:pP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Debian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960337" y="1498462"/>
            <a:ext cx="1130935" cy="393700"/>
            <a:chOff x="960337" y="1498462"/>
            <a:chExt cx="1130935" cy="393700"/>
          </a:xfrm>
        </p:grpSpPr>
        <p:sp>
          <p:nvSpPr>
            <p:cNvPr id="40" name="object 40"/>
            <p:cNvSpPr/>
            <p:nvPr/>
          </p:nvSpPr>
          <p:spPr>
            <a:xfrm>
              <a:off x="974625" y="1512749"/>
              <a:ext cx="1102360" cy="365125"/>
            </a:xfrm>
            <a:custGeom>
              <a:avLst/>
              <a:gdLst/>
              <a:ahLst/>
              <a:cxnLst/>
              <a:rect l="l" t="t" r="r" b="b"/>
              <a:pathLst>
                <a:path w="1102360" h="365125">
                  <a:moveTo>
                    <a:pt x="1102199" y="0"/>
                  </a:moveTo>
                  <a:lnTo>
                    <a:pt x="0" y="0"/>
                  </a:lnTo>
                  <a:lnTo>
                    <a:pt x="0" y="365099"/>
                  </a:lnTo>
                  <a:lnTo>
                    <a:pt x="1102199" y="365099"/>
                  </a:lnTo>
                  <a:lnTo>
                    <a:pt x="1102199" y="0"/>
                  </a:lnTo>
                  <a:close/>
                </a:path>
              </a:pathLst>
            </a:custGeom>
            <a:solidFill>
              <a:srgbClr val="4E88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974625" y="1512750"/>
              <a:ext cx="1102360" cy="365125"/>
            </a:xfrm>
            <a:custGeom>
              <a:avLst/>
              <a:gdLst/>
              <a:ahLst/>
              <a:cxnLst/>
              <a:rect l="l" t="t" r="r" b="b"/>
              <a:pathLst>
                <a:path w="1102360" h="365125">
                  <a:moveTo>
                    <a:pt x="0" y="0"/>
                  </a:moveTo>
                  <a:lnTo>
                    <a:pt x="1102199" y="0"/>
                  </a:lnTo>
                  <a:lnTo>
                    <a:pt x="1102199" y="365099"/>
                  </a:lnTo>
                  <a:lnTo>
                    <a:pt x="0" y="3650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974625" y="1512749"/>
            <a:ext cx="1102360" cy="365125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305435">
              <a:lnSpc>
                <a:spcPct val="100000"/>
              </a:lnSpc>
              <a:spcBef>
                <a:spcPts val="670"/>
              </a:spcBef>
            </a:pP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Tomcat</a:t>
            </a:r>
            <a:endParaRPr sz="1200">
              <a:latin typeface="Arial"/>
              <a:cs typeface="Arial"/>
            </a:endParaRPr>
          </a:p>
        </p:txBody>
      </p:sp>
      <p:sp>
        <p:nvSpPr>
          <p:cNvPr id="43" name="object 4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spc="-25" dirty="0"/>
              <a:t>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What</a:t>
            </a:r>
            <a:r>
              <a:rPr spc="-25" dirty="0"/>
              <a:t> </a:t>
            </a:r>
            <a:r>
              <a:rPr dirty="0"/>
              <a:t>Makes</a:t>
            </a:r>
            <a:r>
              <a:rPr spc="-15" dirty="0"/>
              <a:t> </a:t>
            </a:r>
            <a:r>
              <a:rPr dirty="0"/>
              <a:t>Containers</a:t>
            </a:r>
            <a:r>
              <a:rPr spc="-15" dirty="0"/>
              <a:t> </a:t>
            </a:r>
            <a:r>
              <a:rPr dirty="0"/>
              <a:t>so</a:t>
            </a:r>
            <a:r>
              <a:rPr spc="-20" dirty="0"/>
              <a:t> </a:t>
            </a:r>
            <a:r>
              <a:rPr spc="-10" dirty="0"/>
              <a:t>Small?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04249" y="1011683"/>
            <a:ext cx="10099675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Arial"/>
                <a:cs typeface="Arial"/>
              </a:rPr>
              <a:t>Container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=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User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Space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of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b="1" spc="-25" dirty="0">
                <a:latin typeface="Arial"/>
                <a:cs typeface="Arial"/>
              </a:rPr>
              <a:t>OS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2400">
              <a:latin typeface="Arial"/>
              <a:cs typeface="Arial"/>
            </a:endParaRPr>
          </a:p>
          <a:p>
            <a:pPr marL="927100" marR="5080" indent="-412115">
              <a:lnSpc>
                <a:spcPct val="100000"/>
              </a:lnSpc>
              <a:buChar char="•"/>
              <a:tabLst>
                <a:tab pos="927100" algn="l"/>
              </a:tabLst>
            </a:pPr>
            <a:r>
              <a:rPr sz="2400" dirty="0">
                <a:latin typeface="Arial"/>
                <a:cs typeface="Arial"/>
              </a:rPr>
              <a:t>User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space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refers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all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code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operating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system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that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lives </a:t>
            </a:r>
            <a:r>
              <a:rPr sz="2400" dirty="0">
                <a:latin typeface="Arial"/>
                <a:cs typeface="Arial"/>
              </a:rPr>
              <a:t>outside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kernel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974386" y="2650816"/>
            <a:ext cx="8102600" cy="3644900"/>
            <a:chOff x="1974386" y="2650816"/>
            <a:chExt cx="8102600" cy="36449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74386" y="2650816"/>
              <a:ext cx="8102600" cy="364480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8941" y="3051422"/>
              <a:ext cx="7142877" cy="2843597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spc="-25" dirty="0"/>
              <a:t>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How</a:t>
            </a:r>
            <a:r>
              <a:rPr spc="-20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run</a:t>
            </a:r>
            <a:r>
              <a:rPr spc="-10" dirty="0"/>
              <a:t> </a:t>
            </a:r>
            <a:r>
              <a:rPr dirty="0"/>
              <a:t>a</a:t>
            </a:r>
            <a:r>
              <a:rPr spc="-10" dirty="0"/>
              <a:t> </a:t>
            </a:r>
            <a:r>
              <a:rPr dirty="0"/>
              <a:t>docker</a:t>
            </a:r>
            <a:r>
              <a:rPr spc="-10" dirty="0"/>
              <a:t> container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10562" y="1188934"/>
            <a:ext cx="9638030" cy="143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5125" indent="-352425">
              <a:lnSpc>
                <a:spcPct val="100000"/>
              </a:lnSpc>
              <a:spcBef>
                <a:spcPts val="100"/>
              </a:spcBef>
              <a:buChar char="•"/>
              <a:tabLst>
                <a:tab pos="365125" algn="l"/>
                <a:tab pos="7252970" algn="l"/>
              </a:tabLst>
            </a:pPr>
            <a:r>
              <a:rPr sz="2800" dirty="0">
                <a:latin typeface="Arial"/>
                <a:cs typeface="Arial"/>
              </a:rPr>
              <a:t>We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use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simple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text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file,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the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u="heavy" spc="22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Dockerfile</a:t>
            </a:r>
            <a:r>
              <a:rPr sz="2800" u="none" spc="220" dirty="0">
                <a:latin typeface="Arial"/>
                <a:cs typeface="Arial"/>
              </a:rPr>
              <a:t>,</a:t>
            </a:r>
            <a:r>
              <a:rPr sz="2800" u="none" dirty="0">
                <a:latin typeface="Arial"/>
                <a:cs typeface="Arial"/>
              </a:rPr>
              <a:t>	to</a:t>
            </a:r>
            <a:r>
              <a:rPr sz="2800" u="none" spc="-50" dirty="0">
                <a:latin typeface="Arial"/>
                <a:cs typeface="Arial"/>
              </a:rPr>
              <a:t> </a:t>
            </a:r>
            <a:r>
              <a:rPr sz="2800" u="none" dirty="0">
                <a:solidFill>
                  <a:srgbClr val="4F81BD"/>
                </a:solidFill>
                <a:latin typeface="Arial"/>
                <a:cs typeface="Arial"/>
              </a:rPr>
              <a:t>build</a:t>
            </a:r>
            <a:r>
              <a:rPr sz="2800" u="none" spc="-50" dirty="0">
                <a:solidFill>
                  <a:srgbClr val="4F81BD"/>
                </a:solidFill>
                <a:latin typeface="Arial"/>
                <a:cs typeface="Arial"/>
              </a:rPr>
              <a:t> </a:t>
            </a:r>
            <a:r>
              <a:rPr sz="2800" u="none" spc="-25" dirty="0">
                <a:latin typeface="Arial"/>
                <a:cs typeface="Arial"/>
              </a:rPr>
              <a:t>the</a:t>
            </a:r>
            <a:endParaRPr sz="2800">
              <a:latin typeface="Arial"/>
              <a:cs typeface="Arial"/>
            </a:endParaRPr>
          </a:p>
          <a:p>
            <a:pPr marL="365760">
              <a:lnSpc>
                <a:spcPct val="100000"/>
              </a:lnSpc>
              <a:tabLst>
                <a:tab pos="1732280" algn="l"/>
              </a:tabLst>
            </a:pPr>
            <a:r>
              <a:rPr sz="2800" u="heavy" spc="8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Docker</a:t>
            </a:r>
            <a:r>
              <a:rPr sz="2800" u="heavy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	Image</a:t>
            </a:r>
            <a:r>
              <a:rPr sz="2800" u="none" dirty="0">
                <a:latin typeface="Arial"/>
                <a:cs typeface="Arial"/>
              </a:rPr>
              <a:t>,</a:t>
            </a:r>
            <a:r>
              <a:rPr sz="2800" u="none" spc="-40" dirty="0">
                <a:latin typeface="Arial"/>
                <a:cs typeface="Arial"/>
              </a:rPr>
              <a:t> </a:t>
            </a:r>
            <a:r>
              <a:rPr sz="2800" u="none" dirty="0">
                <a:latin typeface="Arial"/>
                <a:cs typeface="Arial"/>
              </a:rPr>
              <a:t>which</a:t>
            </a:r>
            <a:r>
              <a:rPr sz="2800" u="none" spc="-40" dirty="0">
                <a:latin typeface="Arial"/>
                <a:cs typeface="Arial"/>
              </a:rPr>
              <a:t> </a:t>
            </a:r>
            <a:r>
              <a:rPr sz="2800" u="none" dirty="0">
                <a:latin typeface="Arial"/>
                <a:cs typeface="Arial"/>
              </a:rPr>
              <a:t>consists</a:t>
            </a:r>
            <a:r>
              <a:rPr sz="2800" u="none" spc="-40" dirty="0">
                <a:latin typeface="Arial"/>
                <a:cs typeface="Arial"/>
              </a:rPr>
              <a:t> </a:t>
            </a:r>
            <a:r>
              <a:rPr sz="2800" u="none" dirty="0">
                <a:latin typeface="Arial"/>
                <a:cs typeface="Arial"/>
              </a:rPr>
              <a:t>of</a:t>
            </a:r>
            <a:r>
              <a:rPr sz="2800" u="none" spc="-40" dirty="0">
                <a:latin typeface="Arial"/>
                <a:cs typeface="Arial"/>
              </a:rPr>
              <a:t> </a:t>
            </a:r>
            <a:r>
              <a:rPr sz="2800" u="none" dirty="0">
                <a:latin typeface="Arial"/>
                <a:cs typeface="Arial"/>
              </a:rPr>
              <a:t>an</a:t>
            </a:r>
            <a:r>
              <a:rPr sz="2800" u="none" spc="-40" dirty="0">
                <a:latin typeface="Arial"/>
                <a:cs typeface="Arial"/>
              </a:rPr>
              <a:t> </a:t>
            </a:r>
            <a:r>
              <a:rPr sz="2800" u="none" dirty="0">
                <a:latin typeface="Arial"/>
                <a:cs typeface="Arial"/>
              </a:rPr>
              <a:t>iso</a:t>
            </a:r>
            <a:r>
              <a:rPr sz="2800" u="none" spc="-40" dirty="0">
                <a:latin typeface="Arial"/>
                <a:cs typeface="Arial"/>
              </a:rPr>
              <a:t> </a:t>
            </a:r>
            <a:r>
              <a:rPr sz="2800" u="none" dirty="0">
                <a:latin typeface="Arial"/>
                <a:cs typeface="Arial"/>
              </a:rPr>
              <a:t>file</a:t>
            </a:r>
            <a:r>
              <a:rPr sz="2800" u="none" spc="-35" dirty="0">
                <a:latin typeface="Arial"/>
                <a:cs typeface="Arial"/>
              </a:rPr>
              <a:t> </a:t>
            </a:r>
            <a:r>
              <a:rPr sz="2800" u="none" dirty="0">
                <a:latin typeface="Arial"/>
                <a:cs typeface="Arial"/>
              </a:rPr>
              <a:t>and</a:t>
            </a:r>
            <a:r>
              <a:rPr sz="2800" u="none" spc="-40" dirty="0">
                <a:latin typeface="Arial"/>
                <a:cs typeface="Arial"/>
              </a:rPr>
              <a:t> </a:t>
            </a:r>
            <a:r>
              <a:rPr sz="2800" u="none" dirty="0">
                <a:latin typeface="Arial"/>
                <a:cs typeface="Arial"/>
              </a:rPr>
              <a:t>other</a:t>
            </a:r>
            <a:r>
              <a:rPr sz="2800" u="none" spc="-40" dirty="0">
                <a:latin typeface="Arial"/>
                <a:cs typeface="Arial"/>
              </a:rPr>
              <a:t> </a:t>
            </a:r>
            <a:r>
              <a:rPr sz="2800" u="none" spc="-10" dirty="0">
                <a:latin typeface="Arial"/>
                <a:cs typeface="Arial"/>
              </a:rPr>
              <a:t>files.</a:t>
            </a:r>
            <a:endParaRPr sz="2800">
              <a:latin typeface="Arial"/>
              <a:cs typeface="Arial"/>
            </a:endParaRPr>
          </a:p>
          <a:p>
            <a:pPr marL="365125" indent="-352425">
              <a:lnSpc>
                <a:spcPct val="100000"/>
              </a:lnSpc>
              <a:spcBef>
                <a:spcPts val="1000"/>
              </a:spcBef>
              <a:buChar char="•"/>
              <a:tabLst>
                <a:tab pos="365125" algn="l"/>
                <a:tab pos="3563620" algn="l"/>
                <a:tab pos="6996430" algn="l"/>
              </a:tabLst>
            </a:pPr>
            <a:r>
              <a:rPr sz="2800" dirty="0">
                <a:latin typeface="Arial"/>
                <a:cs typeface="Arial"/>
              </a:rPr>
              <a:t>We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4F81BD"/>
                </a:solidFill>
                <a:latin typeface="Arial"/>
                <a:cs typeface="Arial"/>
              </a:rPr>
              <a:t>run</a:t>
            </a:r>
            <a:r>
              <a:rPr sz="2800" spc="-60" dirty="0">
                <a:solidFill>
                  <a:srgbClr val="4F81BD"/>
                </a:solidFill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the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spc="85" dirty="0">
                <a:latin typeface="Trebuchet MS"/>
                <a:cs typeface="Trebuchet MS"/>
              </a:rPr>
              <a:t>Docker</a:t>
            </a:r>
            <a:r>
              <a:rPr sz="2800" dirty="0">
                <a:latin typeface="Trebuchet MS"/>
                <a:cs typeface="Trebuchet MS"/>
              </a:rPr>
              <a:t>	Image</a:t>
            </a:r>
            <a:r>
              <a:rPr sz="2800" spc="-30" dirty="0">
                <a:latin typeface="Trebuchet MS"/>
                <a:cs typeface="Trebuchet MS"/>
              </a:rPr>
              <a:t> </a:t>
            </a:r>
            <a:r>
              <a:rPr sz="2800" dirty="0">
                <a:latin typeface="Arial"/>
                <a:cs typeface="Arial"/>
              </a:rPr>
              <a:t>to</a:t>
            </a:r>
            <a:r>
              <a:rPr sz="2800" spc="2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get</a:t>
            </a:r>
            <a:r>
              <a:rPr sz="2800" spc="30" dirty="0">
                <a:latin typeface="Arial"/>
                <a:cs typeface="Arial"/>
              </a:rPr>
              <a:t> </a:t>
            </a:r>
            <a:r>
              <a:rPr sz="2800" u="heavy" spc="8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Docker</a:t>
            </a:r>
            <a:r>
              <a:rPr sz="2800" u="heavy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	</a:t>
            </a:r>
            <a:r>
              <a:rPr sz="2800" u="heavy" spc="14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Container</a:t>
            </a:r>
            <a:r>
              <a:rPr sz="2800" u="none" spc="145" dirty="0">
                <a:latin typeface="Arial"/>
                <a:cs typeface="Arial"/>
              </a:rPr>
              <a:t>.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4782" y="3036447"/>
            <a:ext cx="10662434" cy="324841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spc="-25" dirty="0"/>
              <a:t>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What</a:t>
            </a:r>
            <a:r>
              <a:rPr spc="-40" dirty="0"/>
              <a:t> </a:t>
            </a:r>
            <a:r>
              <a:rPr dirty="0"/>
              <a:t>is</a:t>
            </a:r>
            <a:r>
              <a:rPr spc="-30" dirty="0"/>
              <a:t> </a:t>
            </a:r>
            <a:r>
              <a:rPr dirty="0"/>
              <a:t>the</a:t>
            </a:r>
            <a:r>
              <a:rPr spc="-35" dirty="0"/>
              <a:t> </a:t>
            </a:r>
            <a:r>
              <a:rPr dirty="0"/>
              <a:t>difference</a:t>
            </a:r>
            <a:r>
              <a:rPr spc="-30" dirty="0"/>
              <a:t> </a:t>
            </a:r>
            <a:r>
              <a:rPr dirty="0"/>
              <a:t>between</a:t>
            </a:r>
            <a:r>
              <a:rPr spc="-35" dirty="0"/>
              <a:t> </a:t>
            </a:r>
            <a:r>
              <a:rPr dirty="0"/>
              <a:t>an</a:t>
            </a:r>
            <a:r>
              <a:rPr spc="-30" dirty="0"/>
              <a:t> </a:t>
            </a:r>
            <a:r>
              <a:rPr dirty="0"/>
              <a:t>image</a:t>
            </a:r>
            <a:r>
              <a:rPr spc="-3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spc="-10" dirty="0"/>
              <a:t>container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spc="-25" dirty="0"/>
              <a:t>12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53120" y="1294022"/>
            <a:ext cx="10148570" cy="3723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1378585" algn="l"/>
              </a:tabLst>
            </a:pPr>
            <a:r>
              <a:rPr sz="2800" spc="85" dirty="0">
                <a:latin typeface="Trebuchet MS"/>
                <a:cs typeface="Trebuchet MS"/>
              </a:rPr>
              <a:t>Docker</a:t>
            </a:r>
            <a:r>
              <a:rPr sz="2800" dirty="0">
                <a:latin typeface="Trebuchet MS"/>
                <a:cs typeface="Trebuchet MS"/>
              </a:rPr>
              <a:t>	Image</a:t>
            </a:r>
            <a:r>
              <a:rPr sz="2800" spc="-85" dirty="0">
                <a:latin typeface="Trebuchet MS"/>
                <a:cs typeface="Trebuchet MS"/>
              </a:rPr>
              <a:t> </a:t>
            </a:r>
            <a:r>
              <a:rPr sz="2800" dirty="0">
                <a:latin typeface="Arial"/>
                <a:cs typeface="Arial"/>
              </a:rPr>
              <a:t>is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template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aka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blueprint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to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create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running </a:t>
            </a:r>
            <a:r>
              <a:rPr sz="2800" spc="95" dirty="0">
                <a:latin typeface="Trebuchet MS"/>
                <a:cs typeface="Trebuchet MS"/>
              </a:rPr>
              <a:t>Docker</a:t>
            </a:r>
            <a:r>
              <a:rPr sz="2800" spc="-125" dirty="0">
                <a:latin typeface="Trebuchet MS"/>
                <a:cs typeface="Trebuchet MS"/>
              </a:rPr>
              <a:t> </a:t>
            </a:r>
            <a:r>
              <a:rPr sz="2800" spc="185" dirty="0">
                <a:latin typeface="Trebuchet MS"/>
                <a:cs typeface="Trebuchet MS"/>
              </a:rPr>
              <a:t>container</a:t>
            </a:r>
            <a:r>
              <a:rPr sz="2800" spc="185" dirty="0">
                <a:latin typeface="Arial"/>
                <a:cs typeface="Arial"/>
              </a:rPr>
              <a:t>.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Docker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uses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the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information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available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in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the </a:t>
            </a:r>
            <a:r>
              <a:rPr sz="2800" dirty="0">
                <a:latin typeface="Arial"/>
                <a:cs typeface="Arial"/>
              </a:rPr>
              <a:t>Image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to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create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(run)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container.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60"/>
              </a:spcBef>
            </a:pPr>
            <a:endParaRPr sz="2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800" dirty="0">
                <a:latin typeface="Arial"/>
                <a:cs typeface="Arial"/>
              </a:rPr>
              <a:t>Image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is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like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recipe,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container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is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like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dish.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60"/>
              </a:spcBef>
            </a:pPr>
            <a:endParaRPr sz="2800">
              <a:latin typeface="Arial"/>
              <a:cs typeface="Arial"/>
            </a:endParaRPr>
          </a:p>
          <a:p>
            <a:pPr marL="12700" marR="1304290">
              <a:lnSpc>
                <a:spcPct val="100000"/>
              </a:lnSpc>
            </a:pPr>
            <a:r>
              <a:rPr sz="2800" spc="-20" dirty="0">
                <a:latin typeface="Arial"/>
                <a:cs typeface="Arial"/>
              </a:rPr>
              <a:t>Alternatively,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you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can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think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of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an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image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as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class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and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spc="-50" dirty="0">
                <a:latin typeface="Arial"/>
                <a:cs typeface="Arial"/>
              </a:rPr>
              <a:t>a </a:t>
            </a:r>
            <a:r>
              <a:rPr sz="2800" dirty="0">
                <a:latin typeface="Arial"/>
                <a:cs typeface="Arial"/>
              </a:rPr>
              <a:t>container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is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an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instance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of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that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class.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75243" y="4420573"/>
            <a:ext cx="3619500" cy="204470"/>
          </a:xfrm>
          <a:custGeom>
            <a:avLst/>
            <a:gdLst/>
            <a:ahLst/>
            <a:cxnLst/>
            <a:rect l="l" t="t" r="r" b="b"/>
            <a:pathLst>
              <a:path w="3619500" h="204470">
                <a:moveTo>
                  <a:pt x="3568125" y="0"/>
                </a:moveTo>
                <a:lnTo>
                  <a:pt x="51069" y="0"/>
                </a:lnTo>
                <a:lnTo>
                  <a:pt x="32317" y="8777"/>
                </a:lnTo>
                <a:lnTo>
                  <a:pt x="15959" y="31918"/>
                </a:lnTo>
                <a:lnTo>
                  <a:pt x="4388" y="64634"/>
                </a:lnTo>
                <a:lnTo>
                  <a:pt x="0" y="102138"/>
                </a:lnTo>
                <a:lnTo>
                  <a:pt x="4388" y="139642"/>
                </a:lnTo>
                <a:lnTo>
                  <a:pt x="15959" y="172358"/>
                </a:lnTo>
                <a:lnTo>
                  <a:pt x="32317" y="195499"/>
                </a:lnTo>
                <a:lnTo>
                  <a:pt x="51069" y="204276"/>
                </a:lnTo>
                <a:lnTo>
                  <a:pt x="3568125" y="204276"/>
                </a:lnTo>
                <a:lnTo>
                  <a:pt x="3586877" y="195499"/>
                </a:lnTo>
                <a:lnTo>
                  <a:pt x="3603236" y="172358"/>
                </a:lnTo>
                <a:lnTo>
                  <a:pt x="3614806" y="139642"/>
                </a:lnTo>
                <a:lnTo>
                  <a:pt x="3619195" y="102138"/>
                </a:lnTo>
                <a:lnTo>
                  <a:pt x="3614806" y="64634"/>
                </a:lnTo>
                <a:lnTo>
                  <a:pt x="3603236" y="31918"/>
                </a:lnTo>
                <a:lnTo>
                  <a:pt x="3586877" y="8777"/>
                </a:lnTo>
                <a:lnTo>
                  <a:pt x="3568125" y="0"/>
                </a:lnTo>
                <a:close/>
              </a:path>
            </a:pathLst>
          </a:custGeom>
          <a:solidFill>
            <a:srgbClr val="FACD5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843575" y="3048972"/>
            <a:ext cx="1118235" cy="204470"/>
          </a:xfrm>
          <a:custGeom>
            <a:avLst/>
            <a:gdLst/>
            <a:ahLst/>
            <a:cxnLst/>
            <a:rect l="l" t="t" r="r" b="b"/>
            <a:pathLst>
              <a:path w="1118235" h="204470">
                <a:moveTo>
                  <a:pt x="1066784" y="0"/>
                </a:moveTo>
                <a:lnTo>
                  <a:pt x="51069" y="0"/>
                </a:lnTo>
                <a:lnTo>
                  <a:pt x="32317" y="8777"/>
                </a:lnTo>
                <a:lnTo>
                  <a:pt x="15959" y="31918"/>
                </a:lnTo>
                <a:lnTo>
                  <a:pt x="4388" y="64634"/>
                </a:lnTo>
                <a:lnTo>
                  <a:pt x="0" y="102138"/>
                </a:lnTo>
                <a:lnTo>
                  <a:pt x="4388" y="139642"/>
                </a:lnTo>
                <a:lnTo>
                  <a:pt x="15959" y="172358"/>
                </a:lnTo>
                <a:lnTo>
                  <a:pt x="32317" y="195499"/>
                </a:lnTo>
                <a:lnTo>
                  <a:pt x="51069" y="204276"/>
                </a:lnTo>
                <a:lnTo>
                  <a:pt x="1066784" y="204276"/>
                </a:lnTo>
                <a:lnTo>
                  <a:pt x="1085536" y="195499"/>
                </a:lnTo>
                <a:lnTo>
                  <a:pt x="1101894" y="172358"/>
                </a:lnTo>
                <a:lnTo>
                  <a:pt x="1113464" y="139642"/>
                </a:lnTo>
                <a:lnTo>
                  <a:pt x="1117853" y="102138"/>
                </a:lnTo>
                <a:lnTo>
                  <a:pt x="1113464" y="64634"/>
                </a:lnTo>
                <a:lnTo>
                  <a:pt x="1101894" y="31918"/>
                </a:lnTo>
                <a:lnTo>
                  <a:pt x="1085536" y="8777"/>
                </a:lnTo>
                <a:lnTo>
                  <a:pt x="1066784" y="0"/>
                </a:lnTo>
                <a:close/>
              </a:path>
            </a:pathLst>
          </a:custGeom>
          <a:solidFill>
            <a:srgbClr val="FACD5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248251" y="2774652"/>
            <a:ext cx="1321435" cy="204470"/>
          </a:xfrm>
          <a:custGeom>
            <a:avLst/>
            <a:gdLst/>
            <a:ahLst/>
            <a:cxnLst/>
            <a:rect l="l" t="t" r="r" b="b"/>
            <a:pathLst>
              <a:path w="1321434" h="204469">
                <a:moveTo>
                  <a:pt x="1269781" y="0"/>
                </a:moveTo>
                <a:lnTo>
                  <a:pt x="51069" y="0"/>
                </a:lnTo>
                <a:lnTo>
                  <a:pt x="32317" y="8777"/>
                </a:lnTo>
                <a:lnTo>
                  <a:pt x="15959" y="31918"/>
                </a:lnTo>
                <a:lnTo>
                  <a:pt x="4388" y="64634"/>
                </a:lnTo>
                <a:lnTo>
                  <a:pt x="0" y="102138"/>
                </a:lnTo>
                <a:lnTo>
                  <a:pt x="4388" y="139642"/>
                </a:lnTo>
                <a:lnTo>
                  <a:pt x="15959" y="172358"/>
                </a:lnTo>
                <a:lnTo>
                  <a:pt x="32317" y="195499"/>
                </a:lnTo>
                <a:lnTo>
                  <a:pt x="51069" y="204276"/>
                </a:lnTo>
                <a:lnTo>
                  <a:pt x="1269781" y="204276"/>
                </a:lnTo>
                <a:lnTo>
                  <a:pt x="1288533" y="195499"/>
                </a:lnTo>
                <a:lnTo>
                  <a:pt x="1304891" y="172358"/>
                </a:lnTo>
                <a:lnTo>
                  <a:pt x="1316461" y="139642"/>
                </a:lnTo>
                <a:lnTo>
                  <a:pt x="1320850" y="102138"/>
                </a:lnTo>
                <a:lnTo>
                  <a:pt x="1316461" y="64634"/>
                </a:lnTo>
                <a:lnTo>
                  <a:pt x="1304891" y="31918"/>
                </a:lnTo>
                <a:lnTo>
                  <a:pt x="1288533" y="8777"/>
                </a:lnTo>
                <a:lnTo>
                  <a:pt x="1269781" y="0"/>
                </a:lnTo>
                <a:close/>
              </a:path>
            </a:pathLst>
          </a:custGeom>
          <a:solidFill>
            <a:srgbClr val="FACD5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989257" y="1677373"/>
            <a:ext cx="610235" cy="204470"/>
          </a:xfrm>
          <a:custGeom>
            <a:avLst/>
            <a:gdLst/>
            <a:ahLst/>
            <a:cxnLst/>
            <a:rect l="l" t="t" r="r" b="b"/>
            <a:pathLst>
              <a:path w="610234" h="204469">
                <a:moveTo>
                  <a:pt x="558835" y="0"/>
                </a:moveTo>
                <a:lnTo>
                  <a:pt x="51069" y="0"/>
                </a:lnTo>
                <a:lnTo>
                  <a:pt x="32317" y="8777"/>
                </a:lnTo>
                <a:lnTo>
                  <a:pt x="15959" y="31918"/>
                </a:lnTo>
                <a:lnTo>
                  <a:pt x="4388" y="64634"/>
                </a:lnTo>
                <a:lnTo>
                  <a:pt x="0" y="102138"/>
                </a:lnTo>
                <a:lnTo>
                  <a:pt x="4388" y="139642"/>
                </a:lnTo>
                <a:lnTo>
                  <a:pt x="15959" y="172358"/>
                </a:lnTo>
                <a:lnTo>
                  <a:pt x="32317" y="195499"/>
                </a:lnTo>
                <a:lnTo>
                  <a:pt x="51069" y="204276"/>
                </a:lnTo>
                <a:lnTo>
                  <a:pt x="558835" y="204276"/>
                </a:lnTo>
                <a:lnTo>
                  <a:pt x="577587" y="195499"/>
                </a:lnTo>
                <a:lnTo>
                  <a:pt x="593945" y="172358"/>
                </a:lnTo>
                <a:lnTo>
                  <a:pt x="605515" y="139642"/>
                </a:lnTo>
                <a:lnTo>
                  <a:pt x="609904" y="102138"/>
                </a:lnTo>
                <a:lnTo>
                  <a:pt x="605515" y="64634"/>
                </a:lnTo>
                <a:lnTo>
                  <a:pt x="593945" y="31918"/>
                </a:lnTo>
                <a:lnTo>
                  <a:pt x="577587" y="8777"/>
                </a:lnTo>
                <a:lnTo>
                  <a:pt x="558835" y="0"/>
                </a:lnTo>
                <a:close/>
              </a:path>
            </a:pathLst>
          </a:custGeom>
          <a:solidFill>
            <a:srgbClr val="FACD5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843575" y="1403052"/>
            <a:ext cx="1867535" cy="204470"/>
          </a:xfrm>
          <a:custGeom>
            <a:avLst/>
            <a:gdLst/>
            <a:ahLst/>
            <a:cxnLst/>
            <a:rect l="l" t="t" r="r" b="b"/>
            <a:pathLst>
              <a:path w="1867534" h="204469">
                <a:moveTo>
                  <a:pt x="1815906" y="0"/>
                </a:moveTo>
                <a:lnTo>
                  <a:pt x="51069" y="0"/>
                </a:lnTo>
                <a:lnTo>
                  <a:pt x="32317" y="8777"/>
                </a:lnTo>
                <a:lnTo>
                  <a:pt x="15959" y="31918"/>
                </a:lnTo>
                <a:lnTo>
                  <a:pt x="4388" y="64634"/>
                </a:lnTo>
                <a:lnTo>
                  <a:pt x="0" y="102138"/>
                </a:lnTo>
                <a:lnTo>
                  <a:pt x="4388" y="139642"/>
                </a:lnTo>
                <a:lnTo>
                  <a:pt x="15959" y="172358"/>
                </a:lnTo>
                <a:lnTo>
                  <a:pt x="32317" y="195499"/>
                </a:lnTo>
                <a:lnTo>
                  <a:pt x="51069" y="204276"/>
                </a:lnTo>
                <a:lnTo>
                  <a:pt x="1815906" y="204276"/>
                </a:lnTo>
                <a:lnTo>
                  <a:pt x="1834658" y="195499"/>
                </a:lnTo>
                <a:lnTo>
                  <a:pt x="1851017" y="172358"/>
                </a:lnTo>
                <a:lnTo>
                  <a:pt x="1862587" y="139642"/>
                </a:lnTo>
                <a:lnTo>
                  <a:pt x="1866976" y="102138"/>
                </a:lnTo>
                <a:lnTo>
                  <a:pt x="1862587" y="64634"/>
                </a:lnTo>
                <a:lnTo>
                  <a:pt x="1851017" y="31918"/>
                </a:lnTo>
                <a:lnTo>
                  <a:pt x="1834658" y="8777"/>
                </a:lnTo>
                <a:lnTo>
                  <a:pt x="1815906" y="0"/>
                </a:lnTo>
                <a:close/>
              </a:path>
            </a:pathLst>
          </a:custGeom>
          <a:solidFill>
            <a:srgbClr val="FACD5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742793" y="1128732"/>
            <a:ext cx="584835" cy="204470"/>
          </a:xfrm>
          <a:custGeom>
            <a:avLst/>
            <a:gdLst/>
            <a:ahLst/>
            <a:cxnLst/>
            <a:rect l="l" t="t" r="r" b="b"/>
            <a:pathLst>
              <a:path w="584834" h="204469">
                <a:moveTo>
                  <a:pt x="533232" y="0"/>
                </a:moveTo>
                <a:lnTo>
                  <a:pt x="51069" y="0"/>
                </a:lnTo>
                <a:lnTo>
                  <a:pt x="32317" y="8777"/>
                </a:lnTo>
                <a:lnTo>
                  <a:pt x="15959" y="31918"/>
                </a:lnTo>
                <a:lnTo>
                  <a:pt x="4388" y="64634"/>
                </a:lnTo>
                <a:lnTo>
                  <a:pt x="0" y="102138"/>
                </a:lnTo>
                <a:lnTo>
                  <a:pt x="4388" y="139642"/>
                </a:lnTo>
                <a:lnTo>
                  <a:pt x="15959" y="172358"/>
                </a:lnTo>
                <a:lnTo>
                  <a:pt x="32317" y="195499"/>
                </a:lnTo>
                <a:lnTo>
                  <a:pt x="51069" y="204276"/>
                </a:lnTo>
                <a:lnTo>
                  <a:pt x="533232" y="204276"/>
                </a:lnTo>
                <a:lnTo>
                  <a:pt x="551984" y="195499"/>
                </a:lnTo>
                <a:lnTo>
                  <a:pt x="568342" y="172358"/>
                </a:lnTo>
                <a:lnTo>
                  <a:pt x="579912" y="139642"/>
                </a:lnTo>
                <a:lnTo>
                  <a:pt x="584301" y="102138"/>
                </a:lnTo>
                <a:lnTo>
                  <a:pt x="579912" y="64634"/>
                </a:lnTo>
                <a:lnTo>
                  <a:pt x="568342" y="31918"/>
                </a:lnTo>
                <a:lnTo>
                  <a:pt x="551984" y="8777"/>
                </a:lnTo>
                <a:lnTo>
                  <a:pt x="533232" y="0"/>
                </a:lnTo>
                <a:close/>
              </a:path>
            </a:pathLst>
          </a:custGeom>
          <a:solidFill>
            <a:srgbClr val="FACD5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0" y="772159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>
                <a:moveTo>
                  <a:pt x="0" y="0"/>
                </a:moveTo>
                <a:lnTo>
                  <a:pt x="12191999" y="0"/>
                </a:lnTo>
              </a:path>
            </a:pathLst>
          </a:custGeom>
          <a:ln w="28574">
            <a:solidFill>
              <a:srgbClr val="3F3F3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Inside</a:t>
            </a:r>
            <a:r>
              <a:rPr spc="-25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spc="-10" dirty="0"/>
              <a:t>Dockerfile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1329591" y="6428667"/>
            <a:ext cx="1797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88888"/>
                </a:solidFill>
                <a:latin typeface="BIZ UDGothic"/>
                <a:cs typeface="BIZ UDGothic"/>
              </a:rPr>
              <a:t>13</a:t>
            </a:r>
            <a:endParaRPr sz="1200">
              <a:latin typeface="BIZ UDGothic"/>
              <a:cs typeface="BIZ UDGothic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830875" y="1068781"/>
            <a:ext cx="6923405" cy="5237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46685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3F3F3F"/>
                </a:solidFill>
                <a:latin typeface="Arial"/>
                <a:cs typeface="Arial"/>
              </a:rPr>
              <a:t>FROM</a:t>
            </a:r>
            <a:r>
              <a:rPr sz="1800" dirty="0">
                <a:solidFill>
                  <a:srgbClr val="3F3F3F"/>
                </a:solidFill>
                <a:latin typeface="Arial"/>
                <a:cs typeface="Arial"/>
              </a:rPr>
              <a:t>:</a:t>
            </a:r>
            <a:r>
              <a:rPr sz="1800" spc="-5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F3F3F"/>
                </a:solidFill>
                <a:latin typeface="Arial"/>
                <a:cs typeface="Arial"/>
              </a:rPr>
              <a:t>This</a:t>
            </a:r>
            <a:r>
              <a:rPr sz="1800" spc="-20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F3F3F"/>
                </a:solidFill>
                <a:latin typeface="Arial"/>
                <a:cs typeface="Arial"/>
              </a:rPr>
              <a:t>instruction</a:t>
            </a:r>
            <a:r>
              <a:rPr sz="1800" spc="-1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F3F3F"/>
                </a:solidFill>
                <a:latin typeface="Arial"/>
                <a:cs typeface="Arial"/>
              </a:rPr>
              <a:t>in</a:t>
            </a:r>
            <a:r>
              <a:rPr sz="1800" spc="-20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F3F3F"/>
                </a:solidFill>
                <a:latin typeface="Arial"/>
                <a:cs typeface="Arial"/>
              </a:rPr>
              <a:t>the</a:t>
            </a:r>
            <a:r>
              <a:rPr sz="1800" spc="-1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F3F3F"/>
                </a:solidFill>
                <a:latin typeface="Arial"/>
                <a:cs typeface="Arial"/>
              </a:rPr>
              <a:t>Dockerfile</a:t>
            </a:r>
            <a:r>
              <a:rPr sz="1800" spc="-20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F3F3F"/>
                </a:solidFill>
                <a:latin typeface="Arial"/>
                <a:cs typeface="Arial"/>
              </a:rPr>
              <a:t>tells</a:t>
            </a:r>
            <a:r>
              <a:rPr sz="1800" spc="-20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F3F3F"/>
                </a:solidFill>
                <a:latin typeface="Arial"/>
                <a:cs typeface="Arial"/>
              </a:rPr>
              <a:t>the</a:t>
            </a:r>
            <a:r>
              <a:rPr sz="1800" spc="-1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F3F3F"/>
                </a:solidFill>
                <a:latin typeface="Arial"/>
                <a:cs typeface="Arial"/>
              </a:rPr>
              <a:t>daemon,</a:t>
            </a:r>
            <a:r>
              <a:rPr sz="1800" spc="-20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Arial"/>
                <a:cs typeface="Arial"/>
              </a:rPr>
              <a:t>which </a:t>
            </a:r>
            <a:r>
              <a:rPr sz="1800" dirty="0">
                <a:solidFill>
                  <a:srgbClr val="3F3F3F"/>
                </a:solidFill>
                <a:latin typeface="Arial"/>
                <a:cs typeface="Arial"/>
              </a:rPr>
              <a:t>base</a:t>
            </a:r>
            <a:r>
              <a:rPr sz="1800" spc="-2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F3F3F"/>
                </a:solidFill>
                <a:latin typeface="Arial"/>
                <a:cs typeface="Arial"/>
              </a:rPr>
              <a:t>image</a:t>
            </a:r>
            <a:r>
              <a:rPr sz="1800" spc="-1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F3F3F"/>
                </a:solidFill>
                <a:latin typeface="Arial"/>
                <a:cs typeface="Arial"/>
              </a:rPr>
              <a:t>to</a:t>
            </a:r>
            <a:r>
              <a:rPr sz="1800" spc="-1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F3F3F"/>
                </a:solidFill>
                <a:latin typeface="Arial"/>
                <a:cs typeface="Arial"/>
              </a:rPr>
              <a:t>use</a:t>
            </a:r>
            <a:r>
              <a:rPr sz="1800" spc="-1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F3F3F"/>
                </a:solidFill>
                <a:latin typeface="Arial"/>
                <a:cs typeface="Arial"/>
              </a:rPr>
              <a:t>while</a:t>
            </a:r>
            <a:r>
              <a:rPr sz="1800" spc="-1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F3F3F"/>
                </a:solidFill>
                <a:latin typeface="Arial"/>
                <a:cs typeface="Arial"/>
              </a:rPr>
              <a:t>creating</a:t>
            </a:r>
            <a:r>
              <a:rPr sz="1800" spc="-10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F3F3F"/>
                </a:solidFill>
                <a:latin typeface="Arial"/>
                <a:cs typeface="Arial"/>
              </a:rPr>
              <a:t>our</a:t>
            </a:r>
            <a:r>
              <a:rPr sz="1800" spc="-1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F3F3F"/>
                </a:solidFill>
                <a:latin typeface="Arial"/>
                <a:cs typeface="Arial"/>
              </a:rPr>
              <a:t>new</a:t>
            </a:r>
            <a:r>
              <a:rPr sz="1800" spc="-1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F3F3F"/>
                </a:solidFill>
                <a:latin typeface="Arial"/>
                <a:cs typeface="Arial"/>
              </a:rPr>
              <a:t>Docker</a:t>
            </a:r>
            <a:r>
              <a:rPr sz="1800" spc="-1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F3F3F"/>
                </a:solidFill>
                <a:latin typeface="Arial"/>
                <a:cs typeface="Arial"/>
              </a:rPr>
              <a:t>image.</a:t>
            </a:r>
            <a:r>
              <a:rPr sz="1800" spc="-1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F3F3F"/>
                </a:solidFill>
                <a:latin typeface="Arial"/>
                <a:cs typeface="Arial"/>
              </a:rPr>
              <a:t>In</a:t>
            </a:r>
            <a:r>
              <a:rPr sz="1800" spc="-10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3F3F3F"/>
                </a:solidFill>
                <a:latin typeface="Arial"/>
                <a:cs typeface="Arial"/>
              </a:rPr>
              <a:t>the </a:t>
            </a:r>
            <a:r>
              <a:rPr sz="1800" dirty="0">
                <a:solidFill>
                  <a:srgbClr val="3F3F3F"/>
                </a:solidFill>
                <a:latin typeface="Arial"/>
                <a:cs typeface="Arial"/>
              </a:rPr>
              <a:t>example</a:t>
            </a:r>
            <a:r>
              <a:rPr sz="1800" spc="-30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F3F3F"/>
                </a:solidFill>
                <a:latin typeface="Arial"/>
                <a:cs typeface="Arial"/>
              </a:rPr>
              <a:t>here,</a:t>
            </a:r>
            <a:r>
              <a:rPr sz="1800" spc="-20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F3F3F"/>
                </a:solidFill>
                <a:latin typeface="Arial"/>
                <a:cs typeface="Arial"/>
              </a:rPr>
              <a:t>we</a:t>
            </a:r>
            <a:r>
              <a:rPr sz="1800" spc="-1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F3F3F"/>
                </a:solidFill>
                <a:latin typeface="Arial"/>
                <a:cs typeface="Arial"/>
              </a:rPr>
              <a:t>are</a:t>
            </a:r>
            <a:r>
              <a:rPr sz="1800" spc="-20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F3F3F"/>
                </a:solidFill>
                <a:latin typeface="Arial"/>
                <a:cs typeface="Arial"/>
              </a:rPr>
              <a:t>using</a:t>
            </a:r>
            <a:r>
              <a:rPr sz="1800" spc="-20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F3F3F"/>
                </a:solidFill>
                <a:latin typeface="Arial"/>
                <a:cs typeface="Arial"/>
              </a:rPr>
              <a:t>a</a:t>
            </a:r>
            <a:r>
              <a:rPr sz="1800" spc="-1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F3F3F"/>
                </a:solidFill>
                <a:latin typeface="Arial"/>
                <a:cs typeface="Arial"/>
              </a:rPr>
              <a:t>very</a:t>
            </a:r>
            <a:r>
              <a:rPr sz="1800" spc="-20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F3F3F"/>
                </a:solidFill>
                <a:latin typeface="Arial"/>
                <a:cs typeface="Arial"/>
              </a:rPr>
              <a:t>minimal</a:t>
            </a:r>
            <a:r>
              <a:rPr sz="1800" spc="-20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F3F3F"/>
                </a:solidFill>
                <a:latin typeface="Arial"/>
                <a:cs typeface="Arial"/>
              </a:rPr>
              <a:t>OS</a:t>
            </a:r>
            <a:r>
              <a:rPr sz="1800" spc="-1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F3F3F"/>
                </a:solidFill>
                <a:latin typeface="Arial"/>
                <a:cs typeface="Arial"/>
              </a:rPr>
              <a:t>image</a:t>
            </a:r>
            <a:r>
              <a:rPr sz="1800" spc="-20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F3F3F"/>
                </a:solidFill>
                <a:latin typeface="Arial"/>
                <a:cs typeface="Arial"/>
              </a:rPr>
              <a:t>called</a:t>
            </a:r>
            <a:r>
              <a:rPr sz="1800" spc="-1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Arial"/>
                <a:cs typeface="Arial"/>
              </a:rPr>
              <a:t>alpine </a:t>
            </a:r>
            <a:r>
              <a:rPr sz="1800" dirty="0">
                <a:solidFill>
                  <a:srgbClr val="3F3F3F"/>
                </a:solidFill>
                <a:latin typeface="Arial"/>
                <a:cs typeface="Arial"/>
              </a:rPr>
              <a:t>(just</a:t>
            </a:r>
            <a:r>
              <a:rPr sz="1800" spc="-30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F3F3F"/>
                </a:solidFill>
                <a:latin typeface="Arial"/>
                <a:cs typeface="Arial"/>
              </a:rPr>
              <a:t>5</a:t>
            </a:r>
            <a:r>
              <a:rPr sz="1800" spc="-1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F3F3F"/>
                </a:solidFill>
                <a:latin typeface="Arial"/>
                <a:cs typeface="Arial"/>
              </a:rPr>
              <a:t>MB</a:t>
            </a:r>
            <a:r>
              <a:rPr sz="1800" spc="-1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F3F3F"/>
                </a:solidFill>
                <a:latin typeface="Arial"/>
                <a:cs typeface="Arial"/>
              </a:rPr>
              <a:t>of</a:t>
            </a:r>
            <a:r>
              <a:rPr sz="1800" spc="-20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F3F3F"/>
                </a:solidFill>
                <a:latin typeface="Arial"/>
                <a:cs typeface="Arial"/>
              </a:rPr>
              <a:t>size).</a:t>
            </a:r>
            <a:r>
              <a:rPr sz="1800" spc="-50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800" spc="-35" dirty="0">
                <a:solidFill>
                  <a:srgbClr val="3F3F3F"/>
                </a:solidFill>
                <a:latin typeface="Arial"/>
                <a:cs typeface="Arial"/>
              </a:rPr>
              <a:t>You</a:t>
            </a:r>
            <a:r>
              <a:rPr sz="1800" spc="-1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F3F3F"/>
                </a:solidFill>
                <a:latin typeface="Arial"/>
                <a:cs typeface="Arial"/>
              </a:rPr>
              <a:t>can</a:t>
            </a:r>
            <a:r>
              <a:rPr sz="1800" spc="-1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F3F3F"/>
                </a:solidFill>
                <a:latin typeface="Arial"/>
                <a:cs typeface="Arial"/>
              </a:rPr>
              <a:t>also</a:t>
            </a:r>
            <a:r>
              <a:rPr sz="1800" spc="-1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F3F3F"/>
                </a:solidFill>
                <a:latin typeface="Arial"/>
                <a:cs typeface="Arial"/>
              </a:rPr>
              <a:t>replace</a:t>
            </a:r>
            <a:r>
              <a:rPr sz="1800" spc="-20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F3F3F"/>
                </a:solidFill>
                <a:latin typeface="Arial"/>
                <a:cs typeface="Arial"/>
              </a:rPr>
              <a:t>it</a:t>
            </a:r>
            <a:r>
              <a:rPr sz="1800" spc="-1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F3F3F"/>
                </a:solidFill>
                <a:latin typeface="Arial"/>
                <a:cs typeface="Arial"/>
              </a:rPr>
              <a:t>with</a:t>
            </a:r>
            <a:r>
              <a:rPr sz="1800" spc="-1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F3F3F"/>
                </a:solidFill>
                <a:latin typeface="Arial"/>
                <a:cs typeface="Arial"/>
              </a:rPr>
              <a:t>Ubuntu,</a:t>
            </a:r>
            <a:r>
              <a:rPr sz="1800" spc="-1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Arial"/>
                <a:cs typeface="Arial"/>
              </a:rPr>
              <a:t>Fedora, </a:t>
            </a:r>
            <a:r>
              <a:rPr sz="1800" dirty="0">
                <a:solidFill>
                  <a:srgbClr val="3F3F3F"/>
                </a:solidFill>
                <a:latin typeface="Arial"/>
                <a:cs typeface="Arial"/>
              </a:rPr>
              <a:t>Debian</a:t>
            </a:r>
            <a:r>
              <a:rPr sz="1800" spc="-2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F3F3F"/>
                </a:solidFill>
                <a:latin typeface="Arial"/>
                <a:cs typeface="Arial"/>
              </a:rPr>
              <a:t>or</a:t>
            </a:r>
            <a:r>
              <a:rPr sz="1800" spc="-10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F3F3F"/>
                </a:solidFill>
                <a:latin typeface="Arial"/>
                <a:cs typeface="Arial"/>
              </a:rPr>
              <a:t>any</a:t>
            </a:r>
            <a:r>
              <a:rPr sz="1800" spc="-1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F3F3F"/>
                </a:solidFill>
                <a:latin typeface="Arial"/>
                <a:cs typeface="Arial"/>
              </a:rPr>
              <a:t>other</a:t>
            </a:r>
            <a:r>
              <a:rPr sz="1800" spc="-10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F3F3F"/>
                </a:solidFill>
                <a:latin typeface="Arial"/>
                <a:cs typeface="Arial"/>
              </a:rPr>
              <a:t>OS</a:t>
            </a:r>
            <a:r>
              <a:rPr sz="1800" spc="-10" dirty="0">
                <a:solidFill>
                  <a:srgbClr val="3F3F3F"/>
                </a:solidFill>
                <a:latin typeface="Arial"/>
                <a:cs typeface="Arial"/>
              </a:rPr>
              <a:t> image.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>
              <a:latin typeface="Arial"/>
              <a:cs typeface="Arial"/>
            </a:endParaRPr>
          </a:p>
          <a:p>
            <a:pPr marL="12700" marR="176530">
              <a:lnSpc>
                <a:spcPct val="100000"/>
              </a:lnSpc>
            </a:pPr>
            <a:r>
              <a:rPr sz="1800" b="1" dirty="0">
                <a:solidFill>
                  <a:srgbClr val="3F3F3F"/>
                </a:solidFill>
                <a:latin typeface="Arial"/>
                <a:cs typeface="Arial"/>
              </a:rPr>
              <a:t>RUN</a:t>
            </a:r>
            <a:r>
              <a:rPr sz="1800" dirty="0">
                <a:solidFill>
                  <a:srgbClr val="3F3F3F"/>
                </a:solidFill>
                <a:latin typeface="Arial"/>
                <a:cs typeface="Arial"/>
              </a:rPr>
              <a:t>:</a:t>
            </a:r>
            <a:r>
              <a:rPr sz="1800" spc="-70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F3F3F"/>
                </a:solidFill>
                <a:latin typeface="Arial"/>
                <a:cs typeface="Arial"/>
              </a:rPr>
              <a:t>This</a:t>
            </a:r>
            <a:r>
              <a:rPr sz="1800" spc="-20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F3F3F"/>
                </a:solidFill>
                <a:latin typeface="Arial"/>
                <a:cs typeface="Arial"/>
              </a:rPr>
              <a:t>command</a:t>
            </a:r>
            <a:r>
              <a:rPr sz="1800" spc="-20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F3F3F"/>
                </a:solidFill>
                <a:latin typeface="Arial"/>
                <a:cs typeface="Arial"/>
              </a:rPr>
              <a:t>instructs</a:t>
            </a:r>
            <a:r>
              <a:rPr sz="1800" spc="-2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F3F3F"/>
                </a:solidFill>
                <a:latin typeface="Arial"/>
                <a:cs typeface="Arial"/>
              </a:rPr>
              <a:t>the</a:t>
            </a:r>
            <a:r>
              <a:rPr sz="1800" spc="-20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F3F3F"/>
                </a:solidFill>
                <a:latin typeface="Arial"/>
                <a:cs typeface="Arial"/>
              </a:rPr>
              <a:t>Docker</a:t>
            </a:r>
            <a:r>
              <a:rPr sz="1800" spc="-20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F3F3F"/>
                </a:solidFill>
                <a:latin typeface="Arial"/>
                <a:cs typeface="Arial"/>
              </a:rPr>
              <a:t>daemon</a:t>
            </a:r>
            <a:r>
              <a:rPr sz="1800" spc="-2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F3F3F"/>
                </a:solidFill>
                <a:latin typeface="Arial"/>
                <a:cs typeface="Arial"/>
              </a:rPr>
              <a:t>to</a:t>
            </a:r>
            <a:r>
              <a:rPr sz="1800" spc="-20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F3F3F"/>
                </a:solidFill>
                <a:latin typeface="Arial"/>
                <a:cs typeface="Arial"/>
              </a:rPr>
              <a:t>run</a:t>
            </a:r>
            <a:r>
              <a:rPr sz="1800" spc="-20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F3F3F"/>
                </a:solidFill>
                <a:latin typeface="Arial"/>
                <a:cs typeface="Arial"/>
              </a:rPr>
              <a:t>the</a:t>
            </a:r>
            <a:r>
              <a:rPr sz="1800" spc="-20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Arial"/>
                <a:cs typeface="Arial"/>
              </a:rPr>
              <a:t>given </a:t>
            </a:r>
            <a:r>
              <a:rPr sz="1800" dirty="0">
                <a:solidFill>
                  <a:srgbClr val="3F3F3F"/>
                </a:solidFill>
                <a:latin typeface="Arial"/>
                <a:cs typeface="Arial"/>
              </a:rPr>
              <a:t>commands</a:t>
            </a:r>
            <a:r>
              <a:rPr sz="1800" spc="-2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F3F3F"/>
                </a:solidFill>
                <a:latin typeface="Arial"/>
                <a:cs typeface="Arial"/>
              </a:rPr>
              <a:t>as</a:t>
            </a:r>
            <a:r>
              <a:rPr sz="1800" spc="-10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F3F3F"/>
                </a:solidFill>
                <a:latin typeface="Arial"/>
                <a:cs typeface="Arial"/>
              </a:rPr>
              <a:t>it</a:t>
            </a:r>
            <a:r>
              <a:rPr sz="1800" spc="-10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F3F3F"/>
                </a:solidFill>
                <a:latin typeface="Arial"/>
                <a:cs typeface="Arial"/>
              </a:rPr>
              <a:t>is</a:t>
            </a:r>
            <a:r>
              <a:rPr sz="1800" spc="-1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F3F3F"/>
                </a:solidFill>
                <a:latin typeface="Arial"/>
                <a:cs typeface="Arial"/>
              </a:rPr>
              <a:t>while</a:t>
            </a:r>
            <a:r>
              <a:rPr sz="1800" spc="-10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F3F3F"/>
                </a:solidFill>
                <a:latin typeface="Arial"/>
                <a:cs typeface="Arial"/>
              </a:rPr>
              <a:t>creating</a:t>
            </a:r>
            <a:r>
              <a:rPr sz="1800" spc="-10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F3F3F"/>
                </a:solidFill>
                <a:latin typeface="Arial"/>
                <a:cs typeface="Arial"/>
              </a:rPr>
              <a:t>the</a:t>
            </a:r>
            <a:r>
              <a:rPr sz="1800" spc="-1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F3F3F"/>
                </a:solidFill>
                <a:latin typeface="Arial"/>
                <a:cs typeface="Arial"/>
              </a:rPr>
              <a:t>image.</a:t>
            </a:r>
            <a:r>
              <a:rPr sz="1800" spc="-110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F3F3F"/>
                </a:solidFill>
                <a:latin typeface="Arial"/>
                <a:cs typeface="Arial"/>
              </a:rPr>
              <a:t>A</a:t>
            </a:r>
            <a:r>
              <a:rPr sz="1800" spc="-110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F3F3F"/>
                </a:solidFill>
                <a:latin typeface="Arial"/>
                <a:cs typeface="Arial"/>
              </a:rPr>
              <a:t>Dockerfile</a:t>
            </a:r>
            <a:r>
              <a:rPr sz="1800" spc="-10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F3F3F"/>
                </a:solidFill>
                <a:latin typeface="Arial"/>
                <a:cs typeface="Arial"/>
              </a:rPr>
              <a:t>can</a:t>
            </a:r>
            <a:r>
              <a:rPr sz="1800" spc="-10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3F3F3F"/>
                </a:solidFill>
                <a:latin typeface="Arial"/>
                <a:cs typeface="Arial"/>
              </a:rPr>
              <a:t>have </a:t>
            </a:r>
            <a:r>
              <a:rPr sz="1800" dirty="0">
                <a:solidFill>
                  <a:srgbClr val="3F3F3F"/>
                </a:solidFill>
                <a:latin typeface="Arial"/>
                <a:cs typeface="Arial"/>
              </a:rPr>
              <a:t>multiple</a:t>
            </a:r>
            <a:r>
              <a:rPr sz="1800" spc="-1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F3F3F"/>
                </a:solidFill>
                <a:latin typeface="Arial"/>
                <a:cs typeface="Arial"/>
              </a:rPr>
              <a:t>RUN</a:t>
            </a:r>
            <a:r>
              <a:rPr sz="1800" spc="-1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F3F3F"/>
                </a:solidFill>
                <a:latin typeface="Arial"/>
                <a:cs typeface="Arial"/>
              </a:rPr>
              <a:t>commands,</a:t>
            </a:r>
            <a:r>
              <a:rPr sz="1800" spc="-1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F3F3F"/>
                </a:solidFill>
                <a:latin typeface="Arial"/>
                <a:cs typeface="Arial"/>
              </a:rPr>
              <a:t>each</a:t>
            </a:r>
            <a:r>
              <a:rPr sz="1800" spc="-1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F3F3F"/>
                </a:solidFill>
                <a:latin typeface="Arial"/>
                <a:cs typeface="Arial"/>
              </a:rPr>
              <a:t>of</a:t>
            </a:r>
            <a:r>
              <a:rPr sz="1800" spc="-10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F3F3F"/>
                </a:solidFill>
                <a:latin typeface="Arial"/>
                <a:cs typeface="Arial"/>
              </a:rPr>
              <a:t>these</a:t>
            </a:r>
            <a:r>
              <a:rPr sz="1800" spc="-1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F3F3F"/>
                </a:solidFill>
                <a:latin typeface="Arial"/>
                <a:cs typeface="Arial"/>
              </a:rPr>
              <a:t>RUN</a:t>
            </a:r>
            <a:r>
              <a:rPr sz="1800" spc="-1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F3F3F"/>
                </a:solidFill>
                <a:latin typeface="Arial"/>
                <a:cs typeface="Arial"/>
              </a:rPr>
              <a:t>commands</a:t>
            </a:r>
            <a:r>
              <a:rPr sz="1800" spc="-1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F3F3F"/>
                </a:solidFill>
                <a:latin typeface="Arial"/>
                <a:cs typeface="Arial"/>
              </a:rPr>
              <a:t>create</a:t>
            </a:r>
            <a:r>
              <a:rPr sz="1800" spc="-10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800" spc="-50" dirty="0">
                <a:solidFill>
                  <a:srgbClr val="3F3F3F"/>
                </a:solidFill>
                <a:latin typeface="Arial"/>
                <a:cs typeface="Arial"/>
              </a:rPr>
              <a:t>a </a:t>
            </a:r>
            <a:r>
              <a:rPr sz="1800" dirty="0">
                <a:solidFill>
                  <a:srgbClr val="3F3F3F"/>
                </a:solidFill>
                <a:latin typeface="Arial"/>
                <a:cs typeface="Arial"/>
              </a:rPr>
              <a:t>new</a:t>
            </a:r>
            <a:r>
              <a:rPr sz="1800" spc="-1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538CD5"/>
                </a:solidFill>
                <a:latin typeface="Arial"/>
                <a:cs typeface="Arial"/>
              </a:rPr>
              <a:t>layer</a:t>
            </a:r>
            <a:r>
              <a:rPr sz="1800" b="1" spc="-10" dirty="0">
                <a:solidFill>
                  <a:srgbClr val="538C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F3F3F"/>
                </a:solidFill>
                <a:latin typeface="Arial"/>
                <a:cs typeface="Arial"/>
              </a:rPr>
              <a:t>in</a:t>
            </a:r>
            <a:r>
              <a:rPr sz="1800" spc="-1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F3F3F"/>
                </a:solidFill>
                <a:latin typeface="Arial"/>
                <a:cs typeface="Arial"/>
              </a:rPr>
              <a:t>the</a:t>
            </a:r>
            <a:r>
              <a:rPr sz="1800" spc="-1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Arial"/>
                <a:cs typeface="Arial"/>
              </a:rPr>
              <a:t>image.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>
              <a:latin typeface="Arial"/>
              <a:cs typeface="Arial"/>
            </a:endParaRPr>
          </a:p>
          <a:p>
            <a:pPr marL="12700" marR="386715">
              <a:lnSpc>
                <a:spcPct val="100000"/>
              </a:lnSpc>
            </a:pPr>
            <a:r>
              <a:rPr sz="1800" b="1" spc="-10" dirty="0">
                <a:solidFill>
                  <a:srgbClr val="3F3F3F"/>
                </a:solidFill>
                <a:latin typeface="Arial"/>
                <a:cs typeface="Arial"/>
              </a:rPr>
              <a:t>ENTRYPOINT</a:t>
            </a:r>
            <a:r>
              <a:rPr sz="1800" spc="-10" dirty="0">
                <a:solidFill>
                  <a:srgbClr val="3F3F3F"/>
                </a:solidFill>
                <a:latin typeface="Arial"/>
                <a:cs typeface="Arial"/>
              </a:rPr>
              <a:t>:</a:t>
            </a:r>
            <a:r>
              <a:rPr sz="1800" spc="-60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F3F3F"/>
                </a:solidFill>
                <a:latin typeface="Arial"/>
                <a:cs typeface="Arial"/>
              </a:rPr>
              <a:t>The</a:t>
            </a:r>
            <a:r>
              <a:rPr sz="1800" spc="-30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Arial"/>
                <a:cs typeface="Arial"/>
              </a:rPr>
              <a:t>ENTRYPOINT</a:t>
            </a:r>
            <a:r>
              <a:rPr sz="1800" spc="-5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F3F3F"/>
                </a:solidFill>
                <a:latin typeface="Arial"/>
                <a:cs typeface="Arial"/>
              </a:rPr>
              <a:t>instruction</a:t>
            </a:r>
            <a:r>
              <a:rPr sz="1800" spc="-30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F3F3F"/>
                </a:solidFill>
                <a:latin typeface="Arial"/>
                <a:cs typeface="Arial"/>
              </a:rPr>
              <a:t>is</a:t>
            </a:r>
            <a:r>
              <a:rPr sz="1800" spc="-2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F3F3F"/>
                </a:solidFill>
                <a:latin typeface="Arial"/>
                <a:cs typeface="Arial"/>
              </a:rPr>
              <a:t>used</a:t>
            </a:r>
            <a:r>
              <a:rPr sz="1800" spc="-2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F3F3F"/>
                </a:solidFill>
                <a:latin typeface="Arial"/>
                <a:cs typeface="Arial"/>
              </a:rPr>
              <a:t>when</a:t>
            </a:r>
            <a:r>
              <a:rPr sz="1800" spc="-25" dirty="0">
                <a:solidFill>
                  <a:srgbClr val="3F3F3F"/>
                </a:solidFill>
                <a:latin typeface="Arial"/>
                <a:cs typeface="Arial"/>
              </a:rPr>
              <a:t> you </a:t>
            </a:r>
            <a:r>
              <a:rPr sz="1800" dirty="0">
                <a:solidFill>
                  <a:srgbClr val="3F3F3F"/>
                </a:solidFill>
                <a:latin typeface="Arial"/>
                <a:cs typeface="Arial"/>
              </a:rPr>
              <a:t>would</a:t>
            </a:r>
            <a:r>
              <a:rPr sz="1800" spc="-2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F3F3F"/>
                </a:solidFill>
                <a:latin typeface="Arial"/>
                <a:cs typeface="Arial"/>
              </a:rPr>
              <a:t>like</a:t>
            </a:r>
            <a:r>
              <a:rPr sz="1800" spc="-1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F3F3F"/>
                </a:solidFill>
                <a:latin typeface="Arial"/>
                <a:cs typeface="Arial"/>
              </a:rPr>
              <a:t>your</a:t>
            </a:r>
            <a:r>
              <a:rPr sz="1800" spc="-1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F3F3F"/>
                </a:solidFill>
                <a:latin typeface="Arial"/>
                <a:cs typeface="Arial"/>
              </a:rPr>
              <a:t>container</a:t>
            </a:r>
            <a:r>
              <a:rPr sz="1800" spc="-1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F3F3F"/>
                </a:solidFill>
                <a:latin typeface="Arial"/>
                <a:cs typeface="Arial"/>
              </a:rPr>
              <a:t>to</a:t>
            </a:r>
            <a:r>
              <a:rPr sz="1800" spc="-1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F3F3F"/>
                </a:solidFill>
                <a:latin typeface="Arial"/>
                <a:cs typeface="Arial"/>
              </a:rPr>
              <a:t>run</a:t>
            </a:r>
            <a:r>
              <a:rPr sz="1800" spc="-1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F3F3F"/>
                </a:solidFill>
                <a:latin typeface="Arial"/>
                <a:cs typeface="Arial"/>
              </a:rPr>
              <a:t>the</a:t>
            </a:r>
            <a:r>
              <a:rPr sz="1800" spc="-1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F3F3F"/>
                </a:solidFill>
                <a:latin typeface="Arial"/>
                <a:cs typeface="Arial"/>
              </a:rPr>
              <a:t>same</a:t>
            </a:r>
            <a:r>
              <a:rPr sz="1800" spc="-1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F3F3F"/>
                </a:solidFill>
                <a:latin typeface="Arial"/>
                <a:cs typeface="Arial"/>
              </a:rPr>
              <a:t>executable</a:t>
            </a:r>
            <a:r>
              <a:rPr sz="1800" spc="-1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F3F3F"/>
                </a:solidFill>
                <a:latin typeface="Arial"/>
                <a:cs typeface="Arial"/>
              </a:rPr>
              <a:t>every</a:t>
            </a:r>
            <a:r>
              <a:rPr sz="1800" spc="-1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3F3F3F"/>
                </a:solidFill>
                <a:latin typeface="Arial"/>
                <a:cs typeface="Arial"/>
              </a:rPr>
              <a:t>time. </a:t>
            </a:r>
            <a:r>
              <a:rPr sz="1800" spc="-10" dirty="0">
                <a:solidFill>
                  <a:srgbClr val="3F3F3F"/>
                </a:solidFill>
                <a:latin typeface="Arial"/>
                <a:cs typeface="Arial"/>
              </a:rPr>
              <a:t>Usually,</a:t>
            </a:r>
            <a:r>
              <a:rPr sz="1800" spc="-20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Arial"/>
                <a:cs typeface="Arial"/>
              </a:rPr>
              <a:t>ENTRYPOINT</a:t>
            </a:r>
            <a:r>
              <a:rPr sz="1800" spc="-5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F3F3F"/>
                </a:solidFill>
                <a:latin typeface="Arial"/>
                <a:cs typeface="Arial"/>
              </a:rPr>
              <a:t>is</a:t>
            </a:r>
            <a:r>
              <a:rPr sz="1800" spc="-20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F3F3F"/>
                </a:solidFill>
                <a:latin typeface="Arial"/>
                <a:cs typeface="Arial"/>
              </a:rPr>
              <a:t>used</a:t>
            </a:r>
            <a:r>
              <a:rPr sz="1800" spc="-20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F3F3F"/>
                </a:solidFill>
                <a:latin typeface="Arial"/>
                <a:cs typeface="Arial"/>
              </a:rPr>
              <a:t>in</a:t>
            </a:r>
            <a:r>
              <a:rPr sz="1800" spc="-20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F3F3F"/>
                </a:solidFill>
                <a:latin typeface="Arial"/>
                <a:cs typeface="Arial"/>
              </a:rPr>
              <a:t>scenarios</a:t>
            </a:r>
            <a:r>
              <a:rPr sz="1800" spc="-20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F3F3F"/>
                </a:solidFill>
                <a:latin typeface="Arial"/>
                <a:cs typeface="Arial"/>
              </a:rPr>
              <a:t>where</a:t>
            </a:r>
            <a:r>
              <a:rPr sz="1800" spc="-20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F3F3F"/>
                </a:solidFill>
                <a:latin typeface="Arial"/>
                <a:cs typeface="Arial"/>
              </a:rPr>
              <a:t>you</a:t>
            </a:r>
            <a:r>
              <a:rPr sz="1800" spc="-20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F3F3F"/>
                </a:solidFill>
                <a:latin typeface="Arial"/>
                <a:cs typeface="Arial"/>
              </a:rPr>
              <a:t>want</a:t>
            </a:r>
            <a:r>
              <a:rPr sz="1800" spc="-20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3F3F3F"/>
                </a:solidFill>
                <a:latin typeface="Arial"/>
                <a:cs typeface="Arial"/>
              </a:rPr>
              <a:t>the </a:t>
            </a:r>
            <a:r>
              <a:rPr sz="1800" dirty="0">
                <a:solidFill>
                  <a:srgbClr val="3F3F3F"/>
                </a:solidFill>
                <a:latin typeface="Arial"/>
                <a:cs typeface="Arial"/>
              </a:rPr>
              <a:t>container</a:t>
            </a:r>
            <a:r>
              <a:rPr sz="1800" spc="-1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F3F3F"/>
                </a:solidFill>
                <a:latin typeface="Arial"/>
                <a:cs typeface="Arial"/>
              </a:rPr>
              <a:t>to</a:t>
            </a:r>
            <a:r>
              <a:rPr sz="1800" spc="-1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F3F3F"/>
                </a:solidFill>
                <a:latin typeface="Arial"/>
                <a:cs typeface="Arial"/>
              </a:rPr>
              <a:t>behave</a:t>
            </a:r>
            <a:r>
              <a:rPr sz="1800" spc="-10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F3F3F"/>
                </a:solidFill>
                <a:latin typeface="Arial"/>
                <a:cs typeface="Arial"/>
              </a:rPr>
              <a:t>exclusively</a:t>
            </a:r>
            <a:r>
              <a:rPr sz="1800" spc="-1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F3F3F"/>
                </a:solidFill>
                <a:latin typeface="Arial"/>
                <a:cs typeface="Arial"/>
              </a:rPr>
              <a:t>as</a:t>
            </a:r>
            <a:r>
              <a:rPr sz="1800" spc="-10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F3F3F"/>
                </a:solidFill>
                <a:latin typeface="Arial"/>
                <a:cs typeface="Arial"/>
              </a:rPr>
              <a:t>if</a:t>
            </a:r>
            <a:r>
              <a:rPr sz="1800" spc="-1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F3F3F"/>
                </a:solidFill>
                <a:latin typeface="Arial"/>
                <a:cs typeface="Arial"/>
              </a:rPr>
              <a:t>it</a:t>
            </a:r>
            <a:r>
              <a:rPr sz="1800" spc="-1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F3F3F"/>
                </a:solidFill>
                <a:latin typeface="Arial"/>
                <a:cs typeface="Arial"/>
              </a:rPr>
              <a:t>were</a:t>
            </a:r>
            <a:r>
              <a:rPr sz="1800" spc="-10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F3F3F"/>
                </a:solidFill>
                <a:latin typeface="Arial"/>
                <a:cs typeface="Arial"/>
              </a:rPr>
              <a:t>the</a:t>
            </a:r>
            <a:r>
              <a:rPr sz="1800" spc="-1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F3F3F"/>
                </a:solidFill>
                <a:latin typeface="Arial"/>
                <a:cs typeface="Arial"/>
              </a:rPr>
              <a:t>executable</a:t>
            </a:r>
            <a:r>
              <a:rPr sz="1800" spc="-10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3F3F3F"/>
                </a:solidFill>
                <a:latin typeface="Arial"/>
                <a:cs typeface="Arial"/>
              </a:rPr>
              <a:t>it's </a:t>
            </a:r>
            <a:r>
              <a:rPr sz="1800" spc="-10" dirty="0">
                <a:solidFill>
                  <a:srgbClr val="3F3F3F"/>
                </a:solidFill>
                <a:latin typeface="Arial"/>
                <a:cs typeface="Arial"/>
              </a:rPr>
              <a:t>wrapping.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sz="1800" b="1" dirty="0">
                <a:solidFill>
                  <a:srgbClr val="3F3F3F"/>
                </a:solidFill>
                <a:latin typeface="Arial"/>
                <a:cs typeface="Arial"/>
              </a:rPr>
              <a:t>CMD</a:t>
            </a:r>
            <a:r>
              <a:rPr sz="1800" dirty="0">
                <a:solidFill>
                  <a:srgbClr val="3F3F3F"/>
                </a:solidFill>
                <a:latin typeface="Arial"/>
                <a:cs typeface="Arial"/>
              </a:rPr>
              <a:t>:</a:t>
            </a:r>
            <a:r>
              <a:rPr sz="1800" spc="-60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F3F3F"/>
                </a:solidFill>
                <a:latin typeface="Arial"/>
                <a:cs typeface="Arial"/>
              </a:rPr>
              <a:t>The</a:t>
            </a:r>
            <a:r>
              <a:rPr sz="1800" spc="-20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F3F3F"/>
                </a:solidFill>
                <a:latin typeface="Arial"/>
                <a:cs typeface="Arial"/>
              </a:rPr>
              <a:t>CMD</a:t>
            </a:r>
            <a:r>
              <a:rPr sz="1800" spc="-2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F3F3F"/>
                </a:solidFill>
                <a:latin typeface="Arial"/>
                <a:cs typeface="Arial"/>
              </a:rPr>
              <a:t>sets</a:t>
            </a:r>
            <a:r>
              <a:rPr sz="1800" spc="-20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F3F3F"/>
                </a:solidFill>
                <a:latin typeface="Arial"/>
                <a:cs typeface="Arial"/>
              </a:rPr>
              <a:t>default</a:t>
            </a:r>
            <a:r>
              <a:rPr sz="1800" spc="-2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F3F3F"/>
                </a:solidFill>
                <a:latin typeface="Arial"/>
                <a:cs typeface="Arial"/>
              </a:rPr>
              <a:t>commands</a:t>
            </a:r>
            <a:r>
              <a:rPr sz="1800" spc="-20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F3F3F"/>
                </a:solidFill>
                <a:latin typeface="Arial"/>
                <a:cs typeface="Arial"/>
              </a:rPr>
              <a:t>and/or</a:t>
            </a:r>
            <a:r>
              <a:rPr sz="1800" spc="-2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F3F3F"/>
                </a:solidFill>
                <a:latin typeface="Arial"/>
                <a:cs typeface="Arial"/>
              </a:rPr>
              <a:t>parameters</a:t>
            </a:r>
            <a:r>
              <a:rPr sz="1800" spc="-2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F3F3F"/>
                </a:solidFill>
                <a:latin typeface="Arial"/>
                <a:cs typeface="Arial"/>
              </a:rPr>
              <a:t>when</a:t>
            </a:r>
            <a:r>
              <a:rPr sz="1800" spc="-20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800" spc="-50" dirty="0">
                <a:solidFill>
                  <a:srgbClr val="3F3F3F"/>
                </a:solidFill>
                <a:latin typeface="Arial"/>
                <a:cs typeface="Arial"/>
              </a:rPr>
              <a:t>a </a:t>
            </a:r>
            <a:r>
              <a:rPr sz="1800" dirty="0">
                <a:solidFill>
                  <a:srgbClr val="3F3F3F"/>
                </a:solidFill>
                <a:latin typeface="Arial"/>
                <a:cs typeface="Arial"/>
              </a:rPr>
              <a:t>docker</a:t>
            </a:r>
            <a:r>
              <a:rPr sz="1800" spc="-2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F3F3F"/>
                </a:solidFill>
                <a:latin typeface="Arial"/>
                <a:cs typeface="Arial"/>
              </a:rPr>
              <a:t>container</a:t>
            </a:r>
            <a:r>
              <a:rPr sz="1800" spc="-2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F3F3F"/>
                </a:solidFill>
                <a:latin typeface="Arial"/>
                <a:cs typeface="Arial"/>
              </a:rPr>
              <a:t>runs.</a:t>
            </a:r>
            <a:r>
              <a:rPr sz="1800" spc="-20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538CD5"/>
                </a:solidFill>
                <a:latin typeface="Arial"/>
                <a:cs typeface="Arial"/>
              </a:rPr>
              <a:t>CMD</a:t>
            </a:r>
            <a:r>
              <a:rPr sz="1800" b="1" spc="-25" dirty="0">
                <a:solidFill>
                  <a:srgbClr val="538CD5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538CD5"/>
                </a:solidFill>
                <a:latin typeface="Arial"/>
                <a:cs typeface="Arial"/>
              </a:rPr>
              <a:t>can</a:t>
            </a:r>
            <a:r>
              <a:rPr sz="1800" b="1" spc="-25" dirty="0">
                <a:solidFill>
                  <a:srgbClr val="538CD5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538CD5"/>
                </a:solidFill>
                <a:latin typeface="Arial"/>
                <a:cs typeface="Arial"/>
              </a:rPr>
              <a:t>be</a:t>
            </a:r>
            <a:r>
              <a:rPr sz="1800" b="1" spc="-25" dirty="0">
                <a:solidFill>
                  <a:srgbClr val="538CD5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538CD5"/>
                </a:solidFill>
                <a:latin typeface="Arial"/>
                <a:cs typeface="Arial"/>
              </a:rPr>
              <a:t>overwritten</a:t>
            </a:r>
            <a:r>
              <a:rPr sz="1800" b="1" spc="-10" dirty="0">
                <a:solidFill>
                  <a:srgbClr val="538C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F3F3F"/>
                </a:solidFill>
                <a:latin typeface="Arial"/>
                <a:cs typeface="Arial"/>
              </a:rPr>
              <a:t>from</a:t>
            </a:r>
            <a:r>
              <a:rPr sz="1800" spc="-30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F3F3F"/>
                </a:solidFill>
                <a:latin typeface="Arial"/>
                <a:cs typeface="Arial"/>
              </a:rPr>
              <a:t>the</a:t>
            </a:r>
            <a:r>
              <a:rPr sz="1800" spc="-2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Arial"/>
                <a:cs typeface="Arial"/>
              </a:rPr>
              <a:t>command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830875" y="6280861"/>
            <a:ext cx="3391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3F3F3F"/>
                </a:solidFill>
                <a:latin typeface="Arial"/>
                <a:cs typeface="Arial"/>
              </a:rPr>
              <a:t>line</a:t>
            </a:r>
            <a:r>
              <a:rPr sz="1800" spc="-1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F3F3F"/>
                </a:solidFill>
                <a:latin typeface="Arial"/>
                <a:cs typeface="Arial"/>
              </a:rPr>
              <a:t>via</a:t>
            </a:r>
            <a:r>
              <a:rPr sz="1800" spc="-1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F3F3F"/>
                </a:solidFill>
                <a:latin typeface="Arial"/>
                <a:cs typeface="Arial"/>
              </a:rPr>
              <a:t>the</a:t>
            </a:r>
            <a:r>
              <a:rPr sz="1800" spc="-1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F3F3F"/>
                </a:solidFill>
                <a:latin typeface="Arial"/>
                <a:cs typeface="Arial"/>
              </a:rPr>
              <a:t>docker</a:t>
            </a:r>
            <a:r>
              <a:rPr sz="1800" spc="-1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F3F3F"/>
                </a:solidFill>
                <a:latin typeface="Arial"/>
                <a:cs typeface="Arial"/>
              </a:rPr>
              <a:t>run</a:t>
            </a:r>
            <a:r>
              <a:rPr sz="1800" spc="-10" dirty="0">
                <a:solidFill>
                  <a:srgbClr val="3F3F3F"/>
                </a:solidFill>
                <a:latin typeface="Arial"/>
                <a:cs typeface="Arial"/>
              </a:rPr>
              <a:t> command.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1024" y="1489509"/>
            <a:ext cx="4107520" cy="452726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Multiple</a:t>
            </a:r>
            <a:r>
              <a:rPr spc="-30" dirty="0"/>
              <a:t> </a:t>
            </a:r>
            <a:r>
              <a:rPr dirty="0"/>
              <a:t>containers</a:t>
            </a:r>
            <a:r>
              <a:rPr spc="-15" dirty="0"/>
              <a:t> </a:t>
            </a:r>
            <a:r>
              <a:rPr dirty="0"/>
              <a:t>from</a:t>
            </a:r>
            <a:r>
              <a:rPr spc="-15" dirty="0"/>
              <a:t> </a:t>
            </a:r>
            <a:r>
              <a:rPr dirty="0"/>
              <a:t>same</a:t>
            </a:r>
            <a:r>
              <a:rPr spc="-15" dirty="0"/>
              <a:t> </a:t>
            </a:r>
            <a:r>
              <a:rPr spc="-10" dirty="0"/>
              <a:t>image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0725" y="1068537"/>
            <a:ext cx="10919460" cy="2539798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2500" dirty="0">
                <a:solidFill>
                  <a:srgbClr val="538CD5"/>
                </a:solidFill>
                <a:latin typeface="Arial"/>
                <a:cs typeface="Arial"/>
              </a:rPr>
              <a:t>How</a:t>
            </a:r>
            <a:r>
              <a:rPr sz="2500" spc="-30" dirty="0">
                <a:solidFill>
                  <a:srgbClr val="538CD5"/>
                </a:solidFill>
                <a:latin typeface="Arial"/>
                <a:cs typeface="Arial"/>
              </a:rPr>
              <a:t> </a:t>
            </a:r>
            <a:r>
              <a:rPr sz="2500" dirty="0">
                <a:solidFill>
                  <a:srgbClr val="538CD5"/>
                </a:solidFill>
                <a:latin typeface="Arial"/>
                <a:cs typeface="Arial"/>
              </a:rPr>
              <a:t>can</a:t>
            </a:r>
            <a:r>
              <a:rPr sz="2500" spc="-25" dirty="0">
                <a:solidFill>
                  <a:srgbClr val="538CD5"/>
                </a:solidFill>
                <a:latin typeface="Arial"/>
                <a:cs typeface="Arial"/>
              </a:rPr>
              <a:t> </a:t>
            </a:r>
            <a:r>
              <a:rPr sz="2500" dirty="0">
                <a:solidFill>
                  <a:srgbClr val="538CD5"/>
                </a:solidFill>
                <a:latin typeface="Arial"/>
                <a:cs typeface="Arial"/>
              </a:rPr>
              <a:t>you</a:t>
            </a:r>
            <a:r>
              <a:rPr sz="2500" spc="-30" dirty="0">
                <a:solidFill>
                  <a:srgbClr val="538CD5"/>
                </a:solidFill>
                <a:latin typeface="Arial"/>
                <a:cs typeface="Arial"/>
              </a:rPr>
              <a:t> </a:t>
            </a:r>
            <a:r>
              <a:rPr sz="2500" dirty="0">
                <a:solidFill>
                  <a:srgbClr val="538CD5"/>
                </a:solidFill>
                <a:latin typeface="Arial"/>
                <a:cs typeface="Arial"/>
              </a:rPr>
              <a:t>run</a:t>
            </a:r>
            <a:r>
              <a:rPr sz="2500" spc="-25" dirty="0">
                <a:solidFill>
                  <a:srgbClr val="538CD5"/>
                </a:solidFill>
                <a:latin typeface="Arial"/>
                <a:cs typeface="Arial"/>
              </a:rPr>
              <a:t> </a:t>
            </a:r>
            <a:r>
              <a:rPr sz="2500" dirty="0">
                <a:solidFill>
                  <a:srgbClr val="538CD5"/>
                </a:solidFill>
                <a:latin typeface="Arial"/>
                <a:cs typeface="Arial"/>
              </a:rPr>
              <a:t>multiple</a:t>
            </a:r>
            <a:r>
              <a:rPr sz="2500" spc="-30" dirty="0">
                <a:solidFill>
                  <a:srgbClr val="538CD5"/>
                </a:solidFill>
                <a:latin typeface="Arial"/>
                <a:cs typeface="Arial"/>
              </a:rPr>
              <a:t> </a:t>
            </a:r>
            <a:r>
              <a:rPr sz="2500" dirty="0">
                <a:solidFill>
                  <a:srgbClr val="538CD5"/>
                </a:solidFill>
                <a:latin typeface="Arial"/>
                <a:cs typeface="Arial"/>
              </a:rPr>
              <a:t>containers</a:t>
            </a:r>
            <a:r>
              <a:rPr sz="2500" spc="-25" dirty="0">
                <a:solidFill>
                  <a:srgbClr val="538CD5"/>
                </a:solidFill>
                <a:latin typeface="Arial"/>
                <a:cs typeface="Arial"/>
              </a:rPr>
              <a:t> </a:t>
            </a:r>
            <a:r>
              <a:rPr sz="2500" dirty="0">
                <a:solidFill>
                  <a:srgbClr val="538CD5"/>
                </a:solidFill>
                <a:latin typeface="Arial"/>
                <a:cs typeface="Arial"/>
              </a:rPr>
              <a:t>from</a:t>
            </a:r>
            <a:r>
              <a:rPr sz="2500" spc="-30" dirty="0">
                <a:solidFill>
                  <a:srgbClr val="538CD5"/>
                </a:solidFill>
                <a:latin typeface="Arial"/>
                <a:cs typeface="Arial"/>
              </a:rPr>
              <a:t> </a:t>
            </a:r>
            <a:r>
              <a:rPr sz="2500" dirty="0">
                <a:solidFill>
                  <a:srgbClr val="538CD5"/>
                </a:solidFill>
                <a:latin typeface="Arial"/>
                <a:cs typeface="Arial"/>
              </a:rPr>
              <a:t>the</a:t>
            </a:r>
            <a:r>
              <a:rPr sz="2500" spc="-25" dirty="0">
                <a:solidFill>
                  <a:srgbClr val="538CD5"/>
                </a:solidFill>
                <a:latin typeface="Arial"/>
                <a:cs typeface="Arial"/>
              </a:rPr>
              <a:t> </a:t>
            </a:r>
            <a:r>
              <a:rPr sz="2500" dirty="0">
                <a:solidFill>
                  <a:srgbClr val="538CD5"/>
                </a:solidFill>
                <a:latin typeface="Arial"/>
                <a:cs typeface="Arial"/>
              </a:rPr>
              <a:t>same</a:t>
            </a:r>
            <a:r>
              <a:rPr sz="2500" spc="-25" dirty="0">
                <a:solidFill>
                  <a:srgbClr val="538CD5"/>
                </a:solidFill>
                <a:latin typeface="Arial"/>
                <a:cs typeface="Arial"/>
              </a:rPr>
              <a:t> </a:t>
            </a:r>
            <a:r>
              <a:rPr sz="2500" spc="-10" dirty="0">
                <a:solidFill>
                  <a:srgbClr val="538CD5"/>
                </a:solidFill>
                <a:latin typeface="Arial"/>
                <a:cs typeface="Arial"/>
              </a:rPr>
              <a:t>image?</a:t>
            </a:r>
            <a:endParaRPr sz="25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sz="2400" spc="-25" dirty="0">
                <a:latin typeface="Arial"/>
                <a:cs typeface="Arial"/>
              </a:rPr>
              <a:t>Yes,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you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could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think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image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as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instating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class.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34"/>
              </a:spcBef>
            </a:pPr>
            <a:endParaRPr sz="2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500" dirty="0">
                <a:solidFill>
                  <a:srgbClr val="538CD5"/>
                </a:solidFill>
                <a:latin typeface="Arial"/>
                <a:cs typeface="Arial"/>
              </a:rPr>
              <a:t>Wouldn’t</a:t>
            </a:r>
            <a:r>
              <a:rPr sz="2500" spc="-35" dirty="0">
                <a:solidFill>
                  <a:srgbClr val="538CD5"/>
                </a:solidFill>
                <a:latin typeface="Arial"/>
                <a:cs typeface="Arial"/>
              </a:rPr>
              <a:t> </a:t>
            </a:r>
            <a:r>
              <a:rPr sz="2500" dirty="0">
                <a:solidFill>
                  <a:srgbClr val="538CD5"/>
                </a:solidFill>
                <a:latin typeface="Arial"/>
                <a:cs typeface="Arial"/>
              </a:rPr>
              <a:t>they</a:t>
            </a:r>
            <a:r>
              <a:rPr sz="2500" spc="-30" dirty="0">
                <a:solidFill>
                  <a:srgbClr val="538CD5"/>
                </a:solidFill>
                <a:latin typeface="Arial"/>
                <a:cs typeface="Arial"/>
              </a:rPr>
              <a:t> </a:t>
            </a:r>
            <a:r>
              <a:rPr sz="2500" dirty="0">
                <a:solidFill>
                  <a:srgbClr val="538CD5"/>
                </a:solidFill>
                <a:latin typeface="Arial"/>
                <a:cs typeface="Arial"/>
              </a:rPr>
              <a:t>all</a:t>
            </a:r>
            <a:r>
              <a:rPr sz="2500" spc="-30" dirty="0">
                <a:solidFill>
                  <a:srgbClr val="538CD5"/>
                </a:solidFill>
                <a:latin typeface="Arial"/>
                <a:cs typeface="Arial"/>
              </a:rPr>
              <a:t> </a:t>
            </a:r>
            <a:r>
              <a:rPr sz="2500" dirty="0">
                <a:solidFill>
                  <a:srgbClr val="538CD5"/>
                </a:solidFill>
                <a:latin typeface="Arial"/>
                <a:cs typeface="Arial"/>
              </a:rPr>
              <a:t>be</a:t>
            </a:r>
            <a:r>
              <a:rPr sz="2500" spc="-30" dirty="0">
                <a:solidFill>
                  <a:srgbClr val="538CD5"/>
                </a:solidFill>
                <a:latin typeface="Arial"/>
                <a:cs typeface="Arial"/>
              </a:rPr>
              <a:t> </a:t>
            </a:r>
            <a:r>
              <a:rPr sz="2500" spc="-10" dirty="0">
                <a:solidFill>
                  <a:srgbClr val="538CD5"/>
                </a:solidFill>
                <a:latin typeface="Arial"/>
                <a:cs typeface="Arial"/>
              </a:rPr>
              <a:t>identical?</a:t>
            </a:r>
            <a:endParaRPr sz="2500" dirty="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565"/>
              </a:spcBef>
            </a:pPr>
            <a:r>
              <a:rPr sz="2400" dirty="0">
                <a:latin typeface="Arial"/>
                <a:cs typeface="Arial"/>
              </a:rPr>
              <a:t>Not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necessarily.</a:t>
            </a:r>
            <a:r>
              <a:rPr sz="2400" spc="-114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You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could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insta</a:t>
            </a:r>
            <a:r>
              <a:rPr lang="en-US" sz="2400" dirty="0">
                <a:latin typeface="Arial"/>
                <a:cs typeface="Arial"/>
              </a:rPr>
              <a:t>ntia</a:t>
            </a:r>
            <a:r>
              <a:rPr sz="2400" dirty="0">
                <a:latin typeface="Arial"/>
                <a:cs typeface="Arial"/>
              </a:rPr>
              <a:t>te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it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with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different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parameters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using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CMD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and </a:t>
            </a:r>
            <a:r>
              <a:rPr sz="2400" dirty="0">
                <a:latin typeface="Arial"/>
                <a:cs typeface="Arial"/>
              </a:rPr>
              <a:t>therefore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different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containers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will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be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different.</a:t>
            </a:r>
            <a:endParaRPr sz="2400" dirty="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5867" y="4019842"/>
            <a:ext cx="4845530" cy="204320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26841" y="4365076"/>
            <a:ext cx="3973195" cy="1244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68021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Arial"/>
                <a:cs typeface="Arial"/>
              </a:rPr>
              <a:t>FROM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ubuntu:latest </a:t>
            </a:r>
            <a:r>
              <a:rPr sz="2000" dirty="0">
                <a:latin typeface="Arial"/>
                <a:cs typeface="Arial"/>
              </a:rPr>
              <a:t>RUN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apt-</a:t>
            </a:r>
            <a:r>
              <a:rPr sz="2000" dirty="0">
                <a:latin typeface="Arial"/>
                <a:cs typeface="Arial"/>
              </a:rPr>
              <a:t>get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update</a:t>
            </a:r>
            <a:endParaRPr sz="20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sz="2000" spc="-10" dirty="0">
                <a:latin typeface="Arial"/>
                <a:cs typeface="Arial"/>
              </a:rPr>
              <a:t>ENTRYPOINT</a:t>
            </a:r>
            <a:r>
              <a:rPr sz="2000" spc="-1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["/bin/echo",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"Hello"] </a:t>
            </a:r>
            <a:r>
              <a:rPr sz="2000" dirty="0">
                <a:latin typeface="Arial"/>
                <a:cs typeface="Arial"/>
              </a:rPr>
              <a:t>CMD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["world"]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862313" y="4032198"/>
            <a:ext cx="6028690" cy="2124075"/>
          </a:xfrm>
          <a:prstGeom prst="rect">
            <a:avLst/>
          </a:prstGeom>
          <a:solidFill>
            <a:srgbClr val="3F3F3F"/>
          </a:solidFill>
        </p:spPr>
        <p:txBody>
          <a:bodyPr vert="horz" wrap="square" lIns="0" tIns="29845" rIns="0" bIns="0" rtlCol="0">
            <a:spAutoFit/>
          </a:bodyPr>
          <a:lstStyle/>
          <a:p>
            <a:pPr marL="260350" indent="-174625">
              <a:lnSpc>
                <a:spcPct val="100000"/>
              </a:lnSpc>
              <a:spcBef>
                <a:spcPts val="235"/>
              </a:spcBef>
              <a:buChar char="&gt;"/>
              <a:tabLst>
                <a:tab pos="260350" algn="l"/>
              </a:tabLst>
            </a:pPr>
            <a:r>
              <a:rPr sz="1600" dirty="0">
                <a:solidFill>
                  <a:srgbClr val="D8D8D8"/>
                </a:solidFill>
                <a:latin typeface="Arial"/>
                <a:cs typeface="Arial"/>
              </a:rPr>
              <a:t>docker</a:t>
            </a:r>
            <a:r>
              <a:rPr sz="1600" spc="-2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D8D8D8"/>
                </a:solidFill>
                <a:latin typeface="Arial"/>
                <a:cs typeface="Arial"/>
              </a:rPr>
              <a:t>build</a:t>
            </a:r>
            <a:r>
              <a:rPr sz="1600" spc="-20" dirty="0">
                <a:solidFill>
                  <a:srgbClr val="D8D8D8"/>
                </a:solidFill>
                <a:latin typeface="Arial"/>
                <a:cs typeface="Arial"/>
              </a:rPr>
              <a:t> -</a:t>
            </a:r>
            <a:r>
              <a:rPr sz="1600" dirty="0">
                <a:solidFill>
                  <a:srgbClr val="D8D8D8"/>
                </a:solidFill>
                <a:latin typeface="Arial"/>
                <a:cs typeface="Arial"/>
              </a:rPr>
              <a:t>t</a:t>
            </a:r>
            <a:r>
              <a:rPr sz="1600" spc="-2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D8D8D8"/>
                </a:solidFill>
                <a:latin typeface="Arial"/>
                <a:cs typeface="Arial"/>
              </a:rPr>
              <a:t>hello_world_cmd:first</a:t>
            </a:r>
            <a:r>
              <a:rPr sz="1600" spc="-20" dirty="0">
                <a:solidFill>
                  <a:srgbClr val="D8D8D8"/>
                </a:solidFill>
                <a:latin typeface="Arial"/>
                <a:cs typeface="Arial"/>
              </a:rPr>
              <a:t> -</a:t>
            </a:r>
            <a:r>
              <a:rPr sz="1600" dirty="0">
                <a:solidFill>
                  <a:srgbClr val="D8D8D8"/>
                </a:solidFill>
                <a:latin typeface="Arial"/>
                <a:cs typeface="Arial"/>
              </a:rPr>
              <a:t>f</a:t>
            </a:r>
            <a:r>
              <a:rPr sz="1600" spc="-2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D8D8D8"/>
                </a:solidFill>
                <a:latin typeface="Arial"/>
                <a:cs typeface="Arial"/>
              </a:rPr>
              <a:t>Dockerfile_cmd</a:t>
            </a:r>
            <a:r>
              <a:rPr sz="1600" spc="-2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600" spc="-50" dirty="0">
                <a:solidFill>
                  <a:srgbClr val="D8D8D8"/>
                </a:solidFill>
                <a:latin typeface="Arial"/>
                <a:cs typeface="Arial"/>
              </a:rPr>
              <a:t>.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  <a:buClr>
                <a:srgbClr val="D8D8D8"/>
              </a:buClr>
              <a:buFont typeface="Arial"/>
              <a:buChar char="&gt;"/>
            </a:pPr>
            <a:endParaRPr sz="1600">
              <a:latin typeface="Arial"/>
              <a:cs typeface="Arial"/>
            </a:endParaRPr>
          </a:p>
          <a:p>
            <a:pPr marL="260350" indent="-174625">
              <a:lnSpc>
                <a:spcPct val="100000"/>
              </a:lnSpc>
              <a:buChar char="&gt;"/>
              <a:tabLst>
                <a:tab pos="260350" algn="l"/>
              </a:tabLst>
            </a:pPr>
            <a:r>
              <a:rPr sz="1600" dirty="0">
                <a:solidFill>
                  <a:srgbClr val="D8D8D8"/>
                </a:solidFill>
                <a:latin typeface="Arial"/>
                <a:cs typeface="Arial"/>
              </a:rPr>
              <a:t>docker</a:t>
            </a:r>
            <a:r>
              <a:rPr sz="1600" spc="-1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D8D8D8"/>
                </a:solidFill>
                <a:latin typeface="Arial"/>
                <a:cs typeface="Arial"/>
              </a:rPr>
              <a:t>run</a:t>
            </a:r>
            <a:r>
              <a:rPr sz="1600" spc="-10" dirty="0">
                <a:solidFill>
                  <a:srgbClr val="D8D8D8"/>
                </a:solidFill>
                <a:latin typeface="Arial"/>
                <a:cs typeface="Arial"/>
              </a:rPr>
              <a:t> -</a:t>
            </a:r>
            <a:r>
              <a:rPr sz="1600" dirty="0">
                <a:solidFill>
                  <a:srgbClr val="D8D8D8"/>
                </a:solidFill>
                <a:latin typeface="Arial"/>
                <a:cs typeface="Arial"/>
              </a:rPr>
              <a:t>it</a:t>
            </a:r>
            <a:r>
              <a:rPr sz="1600" spc="-10" dirty="0">
                <a:solidFill>
                  <a:srgbClr val="D8D8D8"/>
                </a:solidFill>
                <a:latin typeface="Arial"/>
                <a:cs typeface="Arial"/>
              </a:rPr>
              <a:t> hello_world_cmd:first</a:t>
            </a:r>
            <a:endParaRPr sz="1600">
              <a:latin typeface="Arial"/>
              <a:cs typeface="Arial"/>
            </a:endParaRPr>
          </a:p>
          <a:p>
            <a:pPr marL="260350" indent="-174625">
              <a:lnSpc>
                <a:spcPct val="100000"/>
              </a:lnSpc>
              <a:buChar char="&gt;"/>
              <a:tabLst>
                <a:tab pos="260350" algn="l"/>
              </a:tabLst>
            </a:pPr>
            <a:r>
              <a:rPr sz="1600" dirty="0">
                <a:solidFill>
                  <a:srgbClr val="D8D8D8"/>
                </a:solidFill>
                <a:latin typeface="Arial"/>
                <a:cs typeface="Arial"/>
              </a:rPr>
              <a:t>Hello</a:t>
            </a:r>
            <a:r>
              <a:rPr sz="1600" spc="-2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D8D8D8"/>
                </a:solidFill>
                <a:latin typeface="Arial"/>
                <a:cs typeface="Arial"/>
              </a:rPr>
              <a:t>world</a:t>
            </a:r>
            <a:endParaRPr sz="1600">
              <a:latin typeface="Arial"/>
              <a:cs typeface="Arial"/>
            </a:endParaRPr>
          </a:p>
          <a:p>
            <a:pPr marL="260350" indent="-174625">
              <a:lnSpc>
                <a:spcPct val="100000"/>
              </a:lnSpc>
              <a:buChar char="&gt;"/>
              <a:tabLst>
                <a:tab pos="260350" algn="l"/>
              </a:tabLst>
            </a:pPr>
            <a:r>
              <a:rPr sz="1600" dirty="0">
                <a:solidFill>
                  <a:srgbClr val="D8D8D8"/>
                </a:solidFill>
                <a:latin typeface="Arial"/>
                <a:cs typeface="Arial"/>
              </a:rPr>
              <a:t>docker</a:t>
            </a:r>
            <a:r>
              <a:rPr sz="1600" spc="-2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D8D8D8"/>
                </a:solidFill>
                <a:latin typeface="Arial"/>
                <a:cs typeface="Arial"/>
              </a:rPr>
              <a:t>run</a:t>
            </a:r>
            <a:r>
              <a:rPr sz="1600" spc="-2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D8D8D8"/>
                </a:solidFill>
                <a:latin typeface="Arial"/>
                <a:cs typeface="Arial"/>
              </a:rPr>
              <a:t>-</a:t>
            </a:r>
            <a:r>
              <a:rPr sz="1600" dirty="0">
                <a:solidFill>
                  <a:srgbClr val="D8D8D8"/>
                </a:solidFill>
                <a:latin typeface="Arial"/>
                <a:cs typeface="Arial"/>
              </a:rPr>
              <a:t>it</a:t>
            </a:r>
            <a:r>
              <a:rPr sz="1600" spc="-2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D8D8D8"/>
                </a:solidFill>
                <a:latin typeface="Arial"/>
                <a:cs typeface="Arial"/>
              </a:rPr>
              <a:t>hello_world_cmd:first</a:t>
            </a:r>
            <a:r>
              <a:rPr sz="1600" spc="-1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D8D8D8"/>
                </a:solidFill>
                <a:latin typeface="Arial"/>
                <a:cs typeface="Arial"/>
              </a:rPr>
              <a:t>Pavlos</a:t>
            </a:r>
            <a:endParaRPr sz="1600">
              <a:latin typeface="Arial"/>
              <a:cs typeface="Arial"/>
            </a:endParaRPr>
          </a:p>
          <a:p>
            <a:pPr marL="260350" indent="-174625">
              <a:lnSpc>
                <a:spcPct val="100000"/>
              </a:lnSpc>
              <a:buChar char="&gt;"/>
              <a:tabLst>
                <a:tab pos="260350" algn="l"/>
              </a:tabLst>
            </a:pPr>
            <a:r>
              <a:rPr sz="1600" dirty="0">
                <a:solidFill>
                  <a:srgbClr val="D8D8D8"/>
                </a:solidFill>
                <a:latin typeface="Arial"/>
                <a:cs typeface="Arial"/>
              </a:rPr>
              <a:t>Hello</a:t>
            </a:r>
            <a:r>
              <a:rPr sz="1600" spc="-2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D8D8D8"/>
                </a:solidFill>
                <a:latin typeface="Arial"/>
                <a:cs typeface="Arial"/>
              </a:rPr>
              <a:t>Pavlos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0805" y="3685967"/>
            <a:ext cx="1397000" cy="419100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spc="-25" dirty="0"/>
              <a:t>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Docker</a:t>
            </a:r>
            <a:r>
              <a:rPr spc="-15" dirty="0"/>
              <a:t> </a:t>
            </a:r>
            <a:r>
              <a:rPr dirty="0"/>
              <a:t>Image</a:t>
            </a:r>
            <a:r>
              <a:rPr spc="-10" dirty="0"/>
              <a:t> </a:t>
            </a:r>
            <a:r>
              <a:rPr dirty="0"/>
              <a:t>as</a:t>
            </a:r>
            <a:r>
              <a:rPr spc="-10" dirty="0"/>
              <a:t> Layers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744361" y="2189051"/>
            <a:ext cx="8427085" cy="3905250"/>
            <a:chOff x="1744361" y="2189051"/>
            <a:chExt cx="8427085" cy="39052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44361" y="2189051"/>
              <a:ext cx="7484073" cy="390473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57522" y="2325468"/>
              <a:ext cx="1397000" cy="4191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405728" y="2325467"/>
              <a:ext cx="1765300" cy="419100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903950" y="1192283"/>
            <a:ext cx="1000125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When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we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execute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build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command,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daemon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reads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190" dirty="0">
                <a:latin typeface="Trebuchet MS"/>
                <a:cs typeface="Trebuchet MS"/>
              </a:rPr>
              <a:t>Dockerfile</a:t>
            </a:r>
            <a:endParaRPr sz="2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and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creates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layer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for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every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command.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spc="-25" dirty="0"/>
              <a:t>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21128" y="4546039"/>
            <a:ext cx="751205" cy="159385"/>
          </a:xfrm>
          <a:custGeom>
            <a:avLst/>
            <a:gdLst/>
            <a:ahLst/>
            <a:cxnLst/>
            <a:rect l="l" t="t" r="r" b="b"/>
            <a:pathLst>
              <a:path w="751204" h="159385">
                <a:moveTo>
                  <a:pt x="711306" y="0"/>
                </a:moveTo>
                <a:lnTo>
                  <a:pt x="39720" y="0"/>
                </a:lnTo>
                <a:lnTo>
                  <a:pt x="25135" y="6826"/>
                </a:lnTo>
                <a:lnTo>
                  <a:pt x="12412" y="24825"/>
                </a:lnTo>
                <a:lnTo>
                  <a:pt x="3413" y="50271"/>
                </a:lnTo>
                <a:lnTo>
                  <a:pt x="0" y="79441"/>
                </a:lnTo>
                <a:lnTo>
                  <a:pt x="3413" y="108610"/>
                </a:lnTo>
                <a:lnTo>
                  <a:pt x="12412" y="134056"/>
                </a:lnTo>
                <a:lnTo>
                  <a:pt x="25135" y="152055"/>
                </a:lnTo>
                <a:lnTo>
                  <a:pt x="39720" y="158882"/>
                </a:lnTo>
                <a:lnTo>
                  <a:pt x="711306" y="158882"/>
                </a:lnTo>
                <a:lnTo>
                  <a:pt x="725891" y="152055"/>
                </a:lnTo>
                <a:lnTo>
                  <a:pt x="738614" y="134056"/>
                </a:lnTo>
                <a:lnTo>
                  <a:pt x="747613" y="108610"/>
                </a:lnTo>
                <a:lnTo>
                  <a:pt x="751027" y="79441"/>
                </a:lnTo>
                <a:lnTo>
                  <a:pt x="747613" y="50271"/>
                </a:lnTo>
                <a:lnTo>
                  <a:pt x="738614" y="24825"/>
                </a:lnTo>
                <a:lnTo>
                  <a:pt x="725891" y="6826"/>
                </a:lnTo>
                <a:lnTo>
                  <a:pt x="711306" y="0"/>
                </a:lnTo>
                <a:close/>
              </a:path>
            </a:pathLst>
          </a:custGeom>
          <a:solidFill>
            <a:srgbClr val="FACD5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089917" y="2638901"/>
            <a:ext cx="612775" cy="159385"/>
          </a:xfrm>
          <a:custGeom>
            <a:avLst/>
            <a:gdLst/>
            <a:ahLst/>
            <a:cxnLst/>
            <a:rect l="l" t="t" r="r" b="b"/>
            <a:pathLst>
              <a:path w="612775" h="159385">
                <a:moveTo>
                  <a:pt x="572622" y="0"/>
                </a:moveTo>
                <a:lnTo>
                  <a:pt x="39720" y="0"/>
                </a:lnTo>
                <a:lnTo>
                  <a:pt x="25135" y="6826"/>
                </a:lnTo>
                <a:lnTo>
                  <a:pt x="12412" y="24825"/>
                </a:lnTo>
                <a:lnTo>
                  <a:pt x="3413" y="50271"/>
                </a:lnTo>
                <a:lnTo>
                  <a:pt x="0" y="79441"/>
                </a:lnTo>
                <a:lnTo>
                  <a:pt x="3413" y="108610"/>
                </a:lnTo>
                <a:lnTo>
                  <a:pt x="12412" y="134056"/>
                </a:lnTo>
                <a:lnTo>
                  <a:pt x="25135" y="152055"/>
                </a:lnTo>
                <a:lnTo>
                  <a:pt x="39720" y="158882"/>
                </a:lnTo>
                <a:lnTo>
                  <a:pt x="572622" y="158882"/>
                </a:lnTo>
                <a:lnTo>
                  <a:pt x="587207" y="152055"/>
                </a:lnTo>
                <a:lnTo>
                  <a:pt x="599930" y="134056"/>
                </a:lnTo>
                <a:lnTo>
                  <a:pt x="608929" y="108610"/>
                </a:lnTo>
                <a:lnTo>
                  <a:pt x="612343" y="79441"/>
                </a:lnTo>
                <a:lnTo>
                  <a:pt x="608929" y="50271"/>
                </a:lnTo>
                <a:lnTo>
                  <a:pt x="599930" y="24825"/>
                </a:lnTo>
                <a:lnTo>
                  <a:pt x="587207" y="6826"/>
                </a:lnTo>
                <a:lnTo>
                  <a:pt x="572622" y="0"/>
                </a:lnTo>
                <a:close/>
              </a:path>
            </a:pathLst>
          </a:custGeom>
          <a:solidFill>
            <a:srgbClr val="FACD5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949848" y="3666239"/>
            <a:ext cx="741680" cy="159385"/>
          </a:xfrm>
          <a:custGeom>
            <a:avLst/>
            <a:gdLst/>
            <a:ahLst/>
            <a:cxnLst/>
            <a:rect l="l" t="t" r="r" b="b"/>
            <a:pathLst>
              <a:path w="741679" h="159385">
                <a:moveTo>
                  <a:pt x="701349" y="0"/>
                </a:moveTo>
                <a:lnTo>
                  <a:pt x="39720" y="0"/>
                </a:lnTo>
                <a:lnTo>
                  <a:pt x="25135" y="6826"/>
                </a:lnTo>
                <a:lnTo>
                  <a:pt x="12412" y="24825"/>
                </a:lnTo>
                <a:lnTo>
                  <a:pt x="3413" y="50271"/>
                </a:lnTo>
                <a:lnTo>
                  <a:pt x="0" y="79441"/>
                </a:lnTo>
                <a:lnTo>
                  <a:pt x="3413" y="108610"/>
                </a:lnTo>
                <a:lnTo>
                  <a:pt x="12412" y="134056"/>
                </a:lnTo>
                <a:lnTo>
                  <a:pt x="25135" y="152055"/>
                </a:lnTo>
                <a:lnTo>
                  <a:pt x="39720" y="158882"/>
                </a:lnTo>
                <a:lnTo>
                  <a:pt x="701349" y="158882"/>
                </a:lnTo>
                <a:lnTo>
                  <a:pt x="715934" y="152055"/>
                </a:lnTo>
                <a:lnTo>
                  <a:pt x="728657" y="134056"/>
                </a:lnTo>
                <a:lnTo>
                  <a:pt x="737656" y="108610"/>
                </a:lnTo>
                <a:lnTo>
                  <a:pt x="741070" y="79441"/>
                </a:lnTo>
                <a:lnTo>
                  <a:pt x="737656" y="50271"/>
                </a:lnTo>
                <a:lnTo>
                  <a:pt x="728657" y="24825"/>
                </a:lnTo>
                <a:lnTo>
                  <a:pt x="715934" y="6826"/>
                </a:lnTo>
                <a:lnTo>
                  <a:pt x="701349" y="0"/>
                </a:lnTo>
                <a:close/>
              </a:path>
            </a:pathLst>
          </a:custGeom>
          <a:solidFill>
            <a:srgbClr val="FACD5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772159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>
                <a:moveTo>
                  <a:pt x="0" y="0"/>
                </a:moveTo>
                <a:lnTo>
                  <a:pt x="12191999" y="0"/>
                </a:lnTo>
              </a:path>
            </a:pathLst>
          </a:custGeom>
          <a:ln w="28574">
            <a:solidFill>
              <a:srgbClr val="3F3F3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Image</a:t>
            </a:r>
            <a:r>
              <a:rPr spc="-25" dirty="0"/>
              <a:t> </a:t>
            </a:r>
            <a:r>
              <a:rPr spc="-10" dirty="0"/>
              <a:t>Layering</a:t>
            </a:r>
          </a:p>
        </p:txBody>
      </p:sp>
      <p:sp>
        <p:nvSpPr>
          <p:cNvPr id="7" name="object 7"/>
          <p:cNvSpPr/>
          <p:nvPr/>
        </p:nvSpPr>
        <p:spPr>
          <a:xfrm>
            <a:off x="876150" y="2262200"/>
            <a:ext cx="4132579" cy="3077845"/>
          </a:xfrm>
          <a:custGeom>
            <a:avLst/>
            <a:gdLst/>
            <a:ahLst/>
            <a:cxnLst/>
            <a:rect l="l" t="t" r="r" b="b"/>
            <a:pathLst>
              <a:path w="4132579" h="3077845">
                <a:moveTo>
                  <a:pt x="4132200" y="0"/>
                </a:moveTo>
                <a:lnTo>
                  <a:pt x="0" y="0"/>
                </a:lnTo>
                <a:lnTo>
                  <a:pt x="0" y="3077400"/>
                </a:lnTo>
                <a:lnTo>
                  <a:pt x="4132200" y="3077400"/>
                </a:lnTo>
                <a:lnTo>
                  <a:pt x="4132200" y="0"/>
                </a:lnTo>
                <a:close/>
              </a:path>
            </a:pathLst>
          </a:custGeom>
          <a:solidFill>
            <a:srgbClr val="EFE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038424" y="2430700"/>
            <a:ext cx="3732529" cy="681355"/>
          </a:xfrm>
          <a:prstGeom prst="rect">
            <a:avLst/>
          </a:prstGeom>
          <a:solidFill>
            <a:srgbClr val="434343"/>
          </a:solidFill>
        </p:spPr>
        <p:txBody>
          <a:bodyPr vert="horz" wrap="square" lIns="0" tIns="123825" rIns="0" bIns="0" rtlCol="0">
            <a:spAutoFit/>
          </a:bodyPr>
          <a:lstStyle/>
          <a:p>
            <a:pPr algn="ctr">
              <a:lnSpc>
                <a:spcPts val="1664"/>
              </a:lnSpc>
              <a:spcBef>
                <a:spcPts val="975"/>
              </a:spcBef>
            </a:pP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Container</a:t>
            </a:r>
            <a:endParaRPr sz="1400">
              <a:latin typeface="Arial"/>
              <a:cs typeface="Arial"/>
            </a:endParaRPr>
          </a:p>
          <a:p>
            <a:pPr marL="635" algn="ctr">
              <a:lnSpc>
                <a:spcPts val="1664"/>
              </a:lnSpc>
            </a:pP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(Writable,</a:t>
            </a:r>
            <a:r>
              <a:rPr sz="14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running</a:t>
            </a:r>
            <a:r>
              <a:rPr sz="14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application)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38424" y="3223000"/>
            <a:ext cx="3732529" cy="422909"/>
          </a:xfrm>
          <a:prstGeom prst="rect">
            <a:avLst/>
          </a:prstGeom>
          <a:solidFill>
            <a:srgbClr val="666666"/>
          </a:solidFill>
        </p:spPr>
        <p:txBody>
          <a:bodyPr vert="horz" wrap="square" lIns="0" tIns="99060" rIns="0" bIns="0" rtlCol="0">
            <a:spAutoFit/>
          </a:bodyPr>
          <a:lstStyle/>
          <a:p>
            <a:pPr marL="1169035">
              <a:lnSpc>
                <a:spcPct val="100000"/>
              </a:lnSpc>
              <a:spcBef>
                <a:spcPts val="780"/>
              </a:spcBef>
            </a:pP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Layered</a:t>
            </a:r>
            <a:r>
              <a:rPr sz="14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Image</a:t>
            </a: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5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4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38424" y="3832649"/>
            <a:ext cx="3732529" cy="422909"/>
          </a:xfrm>
          <a:prstGeom prst="rect">
            <a:avLst/>
          </a:prstGeom>
          <a:solidFill>
            <a:srgbClr val="999999"/>
          </a:solidFill>
        </p:spPr>
        <p:txBody>
          <a:bodyPr vert="horz" wrap="square" lIns="0" tIns="99060" rIns="0" bIns="0" rtlCol="0">
            <a:spAutoFit/>
          </a:bodyPr>
          <a:lstStyle/>
          <a:p>
            <a:pPr marL="1169035">
              <a:lnSpc>
                <a:spcPct val="100000"/>
              </a:lnSpc>
              <a:spcBef>
                <a:spcPts val="780"/>
              </a:spcBef>
            </a:pP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Layered</a:t>
            </a:r>
            <a:r>
              <a:rPr sz="14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Image</a:t>
            </a: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5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4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38424" y="4411900"/>
            <a:ext cx="3732529" cy="681355"/>
          </a:xfrm>
          <a:prstGeom prst="rect">
            <a:avLst/>
          </a:prstGeom>
          <a:solidFill>
            <a:srgbClr val="1155CC"/>
          </a:solidFill>
        </p:spPr>
        <p:txBody>
          <a:bodyPr vert="horz" wrap="square" lIns="0" tIns="123825" rIns="0" bIns="0" rtlCol="0">
            <a:spAutoFit/>
          </a:bodyPr>
          <a:lstStyle/>
          <a:p>
            <a:pPr algn="ctr">
              <a:lnSpc>
                <a:spcPts val="1664"/>
              </a:lnSpc>
              <a:spcBef>
                <a:spcPts val="975"/>
              </a:spcBef>
            </a:pP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Platform</a:t>
            </a:r>
            <a:r>
              <a:rPr sz="14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20" dirty="0">
                <a:solidFill>
                  <a:srgbClr val="FFFFFF"/>
                </a:solidFill>
                <a:latin typeface="Arial"/>
                <a:cs typeface="Arial"/>
              </a:rPr>
              <a:t>Image</a:t>
            </a:r>
            <a:endParaRPr sz="1400">
              <a:latin typeface="Arial"/>
              <a:cs typeface="Arial"/>
            </a:endParaRPr>
          </a:p>
          <a:p>
            <a:pPr marL="635" algn="ctr">
              <a:lnSpc>
                <a:spcPts val="1664"/>
              </a:lnSpc>
            </a:pP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(Runtime</a:t>
            </a:r>
            <a:r>
              <a:rPr sz="14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Environment)</a:t>
            </a:r>
            <a:endParaRPr sz="14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107600" y="4454075"/>
            <a:ext cx="5226685" cy="753745"/>
          </a:xfrm>
          <a:custGeom>
            <a:avLst/>
            <a:gdLst/>
            <a:ahLst/>
            <a:cxnLst/>
            <a:rect l="l" t="t" r="r" b="b"/>
            <a:pathLst>
              <a:path w="5226684" h="753745">
                <a:moveTo>
                  <a:pt x="5101047" y="0"/>
                </a:moveTo>
                <a:lnTo>
                  <a:pt x="125552" y="0"/>
                </a:lnTo>
                <a:lnTo>
                  <a:pt x="76681" y="9866"/>
                </a:lnTo>
                <a:lnTo>
                  <a:pt x="36773" y="36773"/>
                </a:lnTo>
                <a:lnTo>
                  <a:pt x="9866" y="76681"/>
                </a:lnTo>
                <a:lnTo>
                  <a:pt x="0" y="125552"/>
                </a:lnTo>
                <a:lnTo>
                  <a:pt x="0" y="627747"/>
                </a:lnTo>
                <a:lnTo>
                  <a:pt x="9866" y="676617"/>
                </a:lnTo>
                <a:lnTo>
                  <a:pt x="36773" y="716525"/>
                </a:lnTo>
                <a:lnTo>
                  <a:pt x="76681" y="743432"/>
                </a:lnTo>
                <a:lnTo>
                  <a:pt x="125552" y="753299"/>
                </a:lnTo>
                <a:lnTo>
                  <a:pt x="5101047" y="753299"/>
                </a:lnTo>
                <a:lnTo>
                  <a:pt x="5149918" y="743432"/>
                </a:lnTo>
                <a:lnTo>
                  <a:pt x="5189826" y="716525"/>
                </a:lnTo>
                <a:lnTo>
                  <a:pt x="5216733" y="676617"/>
                </a:lnTo>
                <a:lnTo>
                  <a:pt x="5226599" y="627747"/>
                </a:lnTo>
                <a:lnTo>
                  <a:pt x="5226599" y="125552"/>
                </a:lnTo>
                <a:lnTo>
                  <a:pt x="5217042" y="77505"/>
                </a:lnTo>
                <a:lnTo>
                  <a:pt x="5189827" y="36772"/>
                </a:lnTo>
                <a:lnTo>
                  <a:pt x="5149094" y="9556"/>
                </a:lnTo>
                <a:lnTo>
                  <a:pt x="5101047" y="0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6217398" y="4496587"/>
            <a:ext cx="226822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An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Image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that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has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no</a:t>
            </a:r>
            <a:r>
              <a:rPr sz="1400" spc="-10" dirty="0">
                <a:latin typeface="Arial"/>
                <a:cs typeface="Arial"/>
              </a:rPr>
              <a:t> parent</a:t>
            </a:r>
            <a:endParaRPr sz="14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272522" y="4706137"/>
            <a:ext cx="4899660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243204" marR="5080" indent="-231140">
              <a:lnSpc>
                <a:spcPts val="1650"/>
              </a:lnSpc>
              <a:spcBef>
                <a:spcPts val="180"/>
              </a:spcBef>
              <a:tabLst>
                <a:tab pos="243204" algn="l"/>
              </a:tabLst>
            </a:pPr>
            <a:r>
              <a:rPr sz="1400" spc="-50" dirty="0">
                <a:latin typeface="Arial"/>
                <a:cs typeface="Arial"/>
              </a:rPr>
              <a:t>-</a:t>
            </a:r>
            <a:r>
              <a:rPr sz="1400" dirty="0">
                <a:latin typeface="Arial"/>
                <a:cs typeface="Arial"/>
              </a:rPr>
              <a:t>	Platform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images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define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runtime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environment,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packages </a:t>
            </a:r>
            <a:r>
              <a:rPr sz="1400" dirty="0">
                <a:latin typeface="Arial"/>
                <a:cs typeface="Arial"/>
              </a:rPr>
              <a:t>and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utilities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necessary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for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containerized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application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to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run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233537" y="2573337"/>
            <a:ext cx="531495" cy="432434"/>
            <a:chOff x="5233537" y="2573337"/>
            <a:chExt cx="531495" cy="432434"/>
          </a:xfrm>
        </p:grpSpPr>
        <p:sp>
          <p:nvSpPr>
            <p:cNvPr id="16" name="object 16"/>
            <p:cNvSpPr/>
            <p:nvPr/>
          </p:nvSpPr>
          <p:spPr>
            <a:xfrm>
              <a:off x="5238300" y="2578100"/>
              <a:ext cx="521970" cy="422909"/>
            </a:xfrm>
            <a:custGeom>
              <a:avLst/>
              <a:gdLst/>
              <a:ahLst/>
              <a:cxnLst/>
              <a:rect l="l" t="t" r="r" b="b"/>
              <a:pathLst>
                <a:path w="521970" h="422910">
                  <a:moveTo>
                    <a:pt x="310200" y="0"/>
                  </a:moveTo>
                  <a:lnTo>
                    <a:pt x="0" y="0"/>
                  </a:lnTo>
                  <a:lnTo>
                    <a:pt x="211199" y="211199"/>
                  </a:lnTo>
                  <a:lnTo>
                    <a:pt x="0" y="422400"/>
                  </a:lnTo>
                  <a:lnTo>
                    <a:pt x="310200" y="422400"/>
                  </a:lnTo>
                  <a:lnTo>
                    <a:pt x="521399" y="211199"/>
                  </a:lnTo>
                  <a:lnTo>
                    <a:pt x="310200" y="0"/>
                  </a:lnTo>
                  <a:close/>
                </a:path>
              </a:pathLst>
            </a:custGeom>
            <a:solidFill>
              <a:srgbClr val="E0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238300" y="2578100"/>
              <a:ext cx="521970" cy="422909"/>
            </a:xfrm>
            <a:custGeom>
              <a:avLst/>
              <a:gdLst/>
              <a:ahLst/>
              <a:cxnLst/>
              <a:rect l="l" t="t" r="r" b="b"/>
              <a:pathLst>
                <a:path w="521970" h="422910">
                  <a:moveTo>
                    <a:pt x="0" y="0"/>
                  </a:moveTo>
                  <a:lnTo>
                    <a:pt x="310199" y="0"/>
                  </a:lnTo>
                  <a:lnTo>
                    <a:pt x="521399" y="211199"/>
                  </a:lnTo>
                  <a:lnTo>
                    <a:pt x="310199" y="422399"/>
                  </a:lnTo>
                  <a:lnTo>
                    <a:pt x="0" y="422399"/>
                  </a:lnTo>
                  <a:lnTo>
                    <a:pt x="211199" y="211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1F49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5233537" y="3525412"/>
            <a:ext cx="531495" cy="432434"/>
            <a:chOff x="5233537" y="3525412"/>
            <a:chExt cx="531495" cy="432434"/>
          </a:xfrm>
        </p:grpSpPr>
        <p:sp>
          <p:nvSpPr>
            <p:cNvPr id="19" name="object 19"/>
            <p:cNvSpPr/>
            <p:nvPr/>
          </p:nvSpPr>
          <p:spPr>
            <a:xfrm>
              <a:off x="5238300" y="3530174"/>
              <a:ext cx="521970" cy="422909"/>
            </a:xfrm>
            <a:custGeom>
              <a:avLst/>
              <a:gdLst/>
              <a:ahLst/>
              <a:cxnLst/>
              <a:rect l="l" t="t" r="r" b="b"/>
              <a:pathLst>
                <a:path w="521970" h="422910">
                  <a:moveTo>
                    <a:pt x="310200" y="0"/>
                  </a:moveTo>
                  <a:lnTo>
                    <a:pt x="0" y="0"/>
                  </a:lnTo>
                  <a:lnTo>
                    <a:pt x="211199" y="211200"/>
                  </a:lnTo>
                  <a:lnTo>
                    <a:pt x="0" y="422400"/>
                  </a:lnTo>
                  <a:lnTo>
                    <a:pt x="310200" y="422400"/>
                  </a:lnTo>
                  <a:lnTo>
                    <a:pt x="521399" y="211200"/>
                  </a:lnTo>
                  <a:lnTo>
                    <a:pt x="310200" y="0"/>
                  </a:lnTo>
                  <a:close/>
                </a:path>
              </a:pathLst>
            </a:custGeom>
            <a:solidFill>
              <a:srgbClr val="E0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238300" y="3530174"/>
              <a:ext cx="521970" cy="422909"/>
            </a:xfrm>
            <a:custGeom>
              <a:avLst/>
              <a:gdLst/>
              <a:ahLst/>
              <a:cxnLst/>
              <a:rect l="l" t="t" r="r" b="b"/>
              <a:pathLst>
                <a:path w="521970" h="422910">
                  <a:moveTo>
                    <a:pt x="0" y="0"/>
                  </a:moveTo>
                  <a:lnTo>
                    <a:pt x="310199" y="0"/>
                  </a:lnTo>
                  <a:lnTo>
                    <a:pt x="521399" y="211199"/>
                  </a:lnTo>
                  <a:lnTo>
                    <a:pt x="310199" y="422399"/>
                  </a:lnTo>
                  <a:lnTo>
                    <a:pt x="0" y="422399"/>
                  </a:lnTo>
                  <a:lnTo>
                    <a:pt x="211199" y="211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1F49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1" name="object 21"/>
          <p:cNvGrpSpPr/>
          <p:nvPr/>
        </p:nvGrpSpPr>
        <p:grpSpPr>
          <a:xfrm>
            <a:off x="5233537" y="4535412"/>
            <a:ext cx="531495" cy="432434"/>
            <a:chOff x="5233537" y="4535412"/>
            <a:chExt cx="531495" cy="432434"/>
          </a:xfrm>
        </p:grpSpPr>
        <p:sp>
          <p:nvSpPr>
            <p:cNvPr id="22" name="object 22"/>
            <p:cNvSpPr/>
            <p:nvPr/>
          </p:nvSpPr>
          <p:spPr>
            <a:xfrm>
              <a:off x="5238300" y="4540174"/>
              <a:ext cx="521970" cy="422909"/>
            </a:xfrm>
            <a:custGeom>
              <a:avLst/>
              <a:gdLst/>
              <a:ahLst/>
              <a:cxnLst/>
              <a:rect l="l" t="t" r="r" b="b"/>
              <a:pathLst>
                <a:path w="521970" h="422910">
                  <a:moveTo>
                    <a:pt x="310200" y="0"/>
                  </a:moveTo>
                  <a:lnTo>
                    <a:pt x="0" y="0"/>
                  </a:lnTo>
                  <a:lnTo>
                    <a:pt x="211199" y="211199"/>
                  </a:lnTo>
                  <a:lnTo>
                    <a:pt x="0" y="422399"/>
                  </a:lnTo>
                  <a:lnTo>
                    <a:pt x="310200" y="422399"/>
                  </a:lnTo>
                  <a:lnTo>
                    <a:pt x="521399" y="211199"/>
                  </a:lnTo>
                  <a:lnTo>
                    <a:pt x="310200" y="0"/>
                  </a:lnTo>
                  <a:close/>
                </a:path>
              </a:pathLst>
            </a:custGeom>
            <a:solidFill>
              <a:srgbClr val="E0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238300" y="4540174"/>
              <a:ext cx="521970" cy="422909"/>
            </a:xfrm>
            <a:custGeom>
              <a:avLst/>
              <a:gdLst/>
              <a:ahLst/>
              <a:cxnLst/>
              <a:rect l="l" t="t" r="r" b="b"/>
              <a:pathLst>
                <a:path w="521970" h="422910">
                  <a:moveTo>
                    <a:pt x="0" y="0"/>
                  </a:moveTo>
                  <a:lnTo>
                    <a:pt x="310199" y="0"/>
                  </a:lnTo>
                  <a:lnTo>
                    <a:pt x="521399" y="211199"/>
                  </a:lnTo>
                  <a:lnTo>
                    <a:pt x="310199" y="422399"/>
                  </a:lnTo>
                  <a:lnTo>
                    <a:pt x="0" y="422399"/>
                  </a:lnTo>
                  <a:lnTo>
                    <a:pt x="211199" y="211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1F49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/>
          <p:nvPr/>
        </p:nvSpPr>
        <p:spPr>
          <a:xfrm>
            <a:off x="6119200" y="3364725"/>
            <a:ext cx="5226685" cy="753745"/>
          </a:xfrm>
          <a:custGeom>
            <a:avLst/>
            <a:gdLst/>
            <a:ahLst/>
            <a:cxnLst/>
            <a:rect l="l" t="t" r="r" b="b"/>
            <a:pathLst>
              <a:path w="5226684" h="753745">
                <a:moveTo>
                  <a:pt x="5101047" y="0"/>
                </a:moveTo>
                <a:lnTo>
                  <a:pt x="125552" y="0"/>
                </a:lnTo>
                <a:lnTo>
                  <a:pt x="76681" y="9866"/>
                </a:lnTo>
                <a:lnTo>
                  <a:pt x="36773" y="36773"/>
                </a:lnTo>
                <a:lnTo>
                  <a:pt x="9866" y="76681"/>
                </a:lnTo>
                <a:lnTo>
                  <a:pt x="0" y="125552"/>
                </a:lnTo>
                <a:lnTo>
                  <a:pt x="0" y="627747"/>
                </a:lnTo>
                <a:lnTo>
                  <a:pt x="9866" y="676617"/>
                </a:lnTo>
                <a:lnTo>
                  <a:pt x="36773" y="716525"/>
                </a:lnTo>
                <a:lnTo>
                  <a:pt x="76681" y="743432"/>
                </a:lnTo>
                <a:lnTo>
                  <a:pt x="125552" y="753299"/>
                </a:lnTo>
                <a:lnTo>
                  <a:pt x="5101047" y="753299"/>
                </a:lnTo>
                <a:lnTo>
                  <a:pt x="5149918" y="743432"/>
                </a:lnTo>
                <a:lnTo>
                  <a:pt x="5189826" y="716525"/>
                </a:lnTo>
                <a:lnTo>
                  <a:pt x="5216733" y="676617"/>
                </a:lnTo>
                <a:lnTo>
                  <a:pt x="5226599" y="627747"/>
                </a:lnTo>
                <a:lnTo>
                  <a:pt x="5226599" y="125552"/>
                </a:lnTo>
                <a:lnTo>
                  <a:pt x="5217042" y="77505"/>
                </a:lnTo>
                <a:lnTo>
                  <a:pt x="5189827" y="36772"/>
                </a:lnTo>
                <a:lnTo>
                  <a:pt x="5149094" y="9556"/>
                </a:lnTo>
                <a:lnTo>
                  <a:pt x="5101047" y="0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6228998" y="3407238"/>
            <a:ext cx="37109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A</a:t>
            </a:r>
            <a:r>
              <a:rPr sz="1400" spc="-9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static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snapshot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of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container</a:t>
            </a:r>
            <a:r>
              <a:rPr sz="1400" spc="-10" dirty="0">
                <a:latin typeface="Arial"/>
                <a:cs typeface="Arial"/>
              </a:rPr>
              <a:t> configuration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284122" y="3616788"/>
            <a:ext cx="4356100" cy="4483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3204" indent="-230504">
              <a:lnSpc>
                <a:spcPts val="1664"/>
              </a:lnSpc>
              <a:spcBef>
                <a:spcPts val="100"/>
              </a:spcBef>
              <a:buChar char="-"/>
              <a:tabLst>
                <a:tab pos="243204" algn="l"/>
              </a:tabLst>
            </a:pPr>
            <a:r>
              <a:rPr sz="1400" dirty="0">
                <a:latin typeface="Arial"/>
                <a:cs typeface="Arial"/>
              </a:rPr>
              <a:t>Layer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images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are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read-</a:t>
            </a:r>
            <a:r>
              <a:rPr sz="1400" spc="-20" dirty="0">
                <a:latin typeface="Arial"/>
                <a:cs typeface="Arial"/>
              </a:rPr>
              <a:t>only</a:t>
            </a:r>
            <a:endParaRPr sz="1400">
              <a:latin typeface="Arial"/>
              <a:cs typeface="Arial"/>
            </a:endParaRPr>
          </a:p>
          <a:p>
            <a:pPr marL="243204" indent="-230504">
              <a:lnSpc>
                <a:spcPts val="1664"/>
              </a:lnSpc>
              <a:buChar char="-"/>
              <a:tabLst>
                <a:tab pos="243204" algn="l"/>
              </a:tabLst>
            </a:pPr>
            <a:r>
              <a:rPr sz="1400" dirty="0">
                <a:latin typeface="Arial"/>
                <a:cs typeface="Arial"/>
              </a:rPr>
              <a:t>Each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image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depends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on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one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or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more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parent</a:t>
            </a:r>
            <a:r>
              <a:rPr sz="1400" spc="-10" dirty="0">
                <a:latin typeface="Arial"/>
                <a:cs typeface="Arial"/>
              </a:rPr>
              <a:t> images</a:t>
            </a:r>
            <a:endParaRPr sz="1400">
              <a:latin typeface="Arial"/>
              <a:cs typeface="Aria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6119200" y="1881837"/>
            <a:ext cx="5226685" cy="1245870"/>
          </a:xfrm>
          <a:custGeom>
            <a:avLst/>
            <a:gdLst/>
            <a:ahLst/>
            <a:cxnLst/>
            <a:rect l="l" t="t" r="r" b="b"/>
            <a:pathLst>
              <a:path w="5226684" h="1245870">
                <a:moveTo>
                  <a:pt x="5019046" y="0"/>
                </a:moveTo>
                <a:lnTo>
                  <a:pt x="207553" y="0"/>
                </a:lnTo>
                <a:lnTo>
                  <a:pt x="159963" y="5481"/>
                </a:lnTo>
                <a:lnTo>
                  <a:pt x="116276" y="21095"/>
                </a:lnTo>
                <a:lnTo>
                  <a:pt x="77739" y="45597"/>
                </a:lnTo>
                <a:lnTo>
                  <a:pt x="45597" y="77739"/>
                </a:lnTo>
                <a:lnTo>
                  <a:pt x="21095" y="116276"/>
                </a:lnTo>
                <a:lnTo>
                  <a:pt x="5481" y="159963"/>
                </a:lnTo>
                <a:lnTo>
                  <a:pt x="0" y="207553"/>
                </a:lnTo>
                <a:lnTo>
                  <a:pt x="0" y="1037746"/>
                </a:lnTo>
                <a:lnTo>
                  <a:pt x="5481" y="1085336"/>
                </a:lnTo>
                <a:lnTo>
                  <a:pt x="21095" y="1129023"/>
                </a:lnTo>
                <a:lnTo>
                  <a:pt x="45597" y="1167560"/>
                </a:lnTo>
                <a:lnTo>
                  <a:pt x="77739" y="1199702"/>
                </a:lnTo>
                <a:lnTo>
                  <a:pt x="116276" y="1224203"/>
                </a:lnTo>
                <a:lnTo>
                  <a:pt x="159963" y="1239818"/>
                </a:lnTo>
                <a:lnTo>
                  <a:pt x="207553" y="1245299"/>
                </a:lnTo>
                <a:lnTo>
                  <a:pt x="5019046" y="1245299"/>
                </a:lnTo>
                <a:lnTo>
                  <a:pt x="5066636" y="1239818"/>
                </a:lnTo>
                <a:lnTo>
                  <a:pt x="5110323" y="1224203"/>
                </a:lnTo>
                <a:lnTo>
                  <a:pt x="5148860" y="1199702"/>
                </a:lnTo>
                <a:lnTo>
                  <a:pt x="5181002" y="1167560"/>
                </a:lnTo>
                <a:lnTo>
                  <a:pt x="5205503" y="1129023"/>
                </a:lnTo>
                <a:lnTo>
                  <a:pt x="5221118" y="1085336"/>
                </a:lnTo>
                <a:lnTo>
                  <a:pt x="5226599" y="1037746"/>
                </a:lnTo>
                <a:lnTo>
                  <a:pt x="5226599" y="207553"/>
                </a:lnTo>
                <a:lnTo>
                  <a:pt x="5222575" y="166873"/>
                </a:lnTo>
                <a:lnTo>
                  <a:pt x="5210800" y="128126"/>
                </a:lnTo>
                <a:lnTo>
                  <a:pt x="5191728" y="92403"/>
                </a:lnTo>
                <a:lnTo>
                  <a:pt x="5165808" y="60791"/>
                </a:lnTo>
                <a:lnTo>
                  <a:pt x="5134196" y="34871"/>
                </a:lnTo>
                <a:lnTo>
                  <a:pt x="5098473" y="15798"/>
                </a:lnTo>
                <a:lnTo>
                  <a:pt x="5059727" y="4024"/>
                </a:lnTo>
                <a:lnTo>
                  <a:pt x="5019046" y="0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6253016" y="1960800"/>
            <a:ext cx="1755139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A</a:t>
            </a:r>
            <a:r>
              <a:rPr sz="1400" spc="-9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application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sandbox</a:t>
            </a:r>
            <a:endParaRPr sz="1400">
              <a:latin typeface="Arial"/>
              <a:cs typeface="Arial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spc="-25" dirty="0"/>
              <a:t>16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6308140" y="2170350"/>
            <a:ext cx="4859655" cy="86741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243204" marR="5080" indent="-231140">
              <a:lnSpc>
                <a:spcPts val="1650"/>
              </a:lnSpc>
              <a:spcBef>
                <a:spcPts val="180"/>
              </a:spcBef>
              <a:buChar char="-"/>
              <a:tabLst>
                <a:tab pos="243204" algn="l"/>
              </a:tabLst>
            </a:pPr>
            <a:r>
              <a:rPr sz="1400" dirty="0">
                <a:latin typeface="Arial"/>
                <a:cs typeface="Arial"/>
              </a:rPr>
              <a:t>Each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container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is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based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on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an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image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that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holds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necessary </a:t>
            </a:r>
            <a:r>
              <a:rPr sz="1400" dirty="0">
                <a:latin typeface="Arial"/>
                <a:cs typeface="Arial"/>
              </a:rPr>
              <a:t>config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data</a:t>
            </a:r>
            <a:endParaRPr sz="1400">
              <a:latin typeface="Arial"/>
              <a:cs typeface="Arial"/>
            </a:endParaRPr>
          </a:p>
          <a:p>
            <a:pPr marL="243204" marR="54610" indent="-231140">
              <a:lnSpc>
                <a:spcPts val="1650"/>
              </a:lnSpc>
              <a:buChar char="-"/>
              <a:tabLst>
                <a:tab pos="243204" algn="l"/>
              </a:tabLst>
            </a:pPr>
            <a:r>
              <a:rPr sz="1400" dirty="0">
                <a:latin typeface="Arial"/>
                <a:cs typeface="Arial"/>
              </a:rPr>
              <a:t>When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you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launch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container,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writable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layer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is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added</a:t>
            </a:r>
            <a:r>
              <a:rPr sz="1400" spc="-25" dirty="0">
                <a:latin typeface="Arial"/>
                <a:cs typeface="Arial"/>
              </a:rPr>
              <a:t> on </a:t>
            </a:r>
            <a:r>
              <a:rPr sz="1400" dirty="0">
                <a:latin typeface="Arial"/>
                <a:cs typeface="Arial"/>
              </a:rPr>
              <a:t>top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of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10" dirty="0">
                <a:latin typeface="Arial"/>
                <a:cs typeface="Arial"/>
              </a:rPr>
              <a:t> image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Image</a:t>
            </a:r>
            <a:r>
              <a:rPr spc="-35" dirty="0"/>
              <a:t> </a:t>
            </a:r>
            <a:r>
              <a:rPr dirty="0"/>
              <a:t>Layering</a:t>
            </a:r>
            <a:r>
              <a:rPr spc="-25" dirty="0"/>
              <a:t> </a:t>
            </a:r>
            <a:r>
              <a:rPr dirty="0"/>
              <a:t>-</a:t>
            </a:r>
            <a:r>
              <a:rPr spc="-20" dirty="0"/>
              <a:t> </a:t>
            </a:r>
            <a:r>
              <a:rPr spc="-10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74599" y="4820125"/>
            <a:ext cx="3948429" cy="478790"/>
          </a:xfrm>
          <a:prstGeom prst="rect">
            <a:avLst/>
          </a:prstGeom>
          <a:solidFill>
            <a:srgbClr val="1155CC"/>
          </a:solidFill>
        </p:spPr>
        <p:txBody>
          <a:bodyPr vert="horz" wrap="square" lIns="0" tIns="1270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0"/>
              </a:spcBef>
            </a:pP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Debian</a:t>
            </a:r>
            <a:r>
              <a:rPr sz="14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Linux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74599" y="5473200"/>
            <a:ext cx="3948429" cy="478790"/>
          </a:xfrm>
          <a:prstGeom prst="rect">
            <a:avLst/>
          </a:prstGeom>
          <a:solidFill>
            <a:srgbClr val="666666"/>
          </a:solidFill>
        </p:spPr>
        <p:txBody>
          <a:bodyPr vert="horz" wrap="square" lIns="0" tIns="927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30"/>
              </a:spcBef>
            </a:pP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Kernel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74599" y="4210525"/>
            <a:ext cx="3948429" cy="478790"/>
          </a:xfrm>
          <a:prstGeom prst="rect">
            <a:avLst/>
          </a:prstGeom>
          <a:solidFill>
            <a:srgbClr val="741B47"/>
          </a:solidFill>
        </p:spPr>
        <p:txBody>
          <a:bodyPr vert="horz" wrap="square" lIns="0" tIns="127000" rIns="0" bIns="0" rtlCol="0">
            <a:spAutoFit/>
          </a:bodyPr>
          <a:lstStyle/>
          <a:p>
            <a:pPr marL="1139825">
              <a:lnSpc>
                <a:spcPct val="100000"/>
              </a:lnSpc>
              <a:spcBef>
                <a:spcPts val="1000"/>
              </a:spcBef>
            </a:pP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Install</a:t>
            </a:r>
            <a:r>
              <a:rPr sz="14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Python</a:t>
            </a:r>
            <a:r>
              <a:rPr sz="14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&amp;</a:t>
            </a:r>
            <a:r>
              <a:rPr sz="14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25" dirty="0">
                <a:solidFill>
                  <a:srgbClr val="FFFFFF"/>
                </a:solidFill>
                <a:latin typeface="Arial"/>
                <a:cs typeface="Arial"/>
              </a:rPr>
              <a:t>Pip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974599" y="3600925"/>
            <a:ext cx="3948429" cy="478790"/>
          </a:xfrm>
          <a:prstGeom prst="rect">
            <a:avLst/>
          </a:prstGeom>
          <a:solidFill>
            <a:srgbClr val="38761D"/>
          </a:solidFill>
        </p:spPr>
        <p:txBody>
          <a:bodyPr vert="horz" wrap="square" lIns="0" tIns="1270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0"/>
              </a:spcBef>
            </a:pP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Upgrade</a:t>
            </a:r>
            <a:r>
              <a:rPr sz="14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25" dirty="0">
                <a:solidFill>
                  <a:srgbClr val="FFFFFF"/>
                </a:solidFill>
                <a:latin typeface="Arial"/>
                <a:cs typeface="Arial"/>
              </a:rPr>
              <a:t>Pip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74599" y="2991325"/>
            <a:ext cx="3948429" cy="478790"/>
          </a:xfrm>
          <a:prstGeom prst="rect">
            <a:avLst/>
          </a:prstGeom>
          <a:solidFill>
            <a:srgbClr val="B45F06"/>
          </a:solidFill>
        </p:spPr>
        <p:txBody>
          <a:bodyPr vert="horz" wrap="square" lIns="0" tIns="1270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0"/>
              </a:spcBef>
            </a:pP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Install</a:t>
            </a:r>
            <a:r>
              <a:rPr sz="14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Pipenv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974599" y="2381725"/>
            <a:ext cx="3948429" cy="478790"/>
          </a:xfrm>
          <a:prstGeom prst="rect">
            <a:avLst/>
          </a:prstGeom>
          <a:solidFill>
            <a:srgbClr val="990000"/>
          </a:solidFill>
        </p:spPr>
        <p:txBody>
          <a:bodyPr vert="horz" wrap="square" lIns="0" tIns="1270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0"/>
              </a:spcBef>
            </a:pP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Pipenv</a:t>
            </a:r>
            <a:r>
              <a:rPr sz="14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20" dirty="0">
                <a:solidFill>
                  <a:srgbClr val="FFFFFF"/>
                </a:solidFill>
                <a:latin typeface="Arial"/>
                <a:cs typeface="Arial"/>
              </a:rPr>
              <a:t>Sync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18175" y="1266532"/>
            <a:ext cx="1044194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Docker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layers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for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container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running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debian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python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environment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using Pipenv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8582937" y="2741912"/>
            <a:ext cx="392430" cy="2791460"/>
            <a:chOff x="8582937" y="2741912"/>
            <a:chExt cx="392430" cy="2791460"/>
          </a:xfrm>
        </p:grpSpPr>
        <p:sp>
          <p:nvSpPr>
            <p:cNvPr id="11" name="object 11"/>
            <p:cNvSpPr/>
            <p:nvPr/>
          </p:nvSpPr>
          <p:spPr>
            <a:xfrm>
              <a:off x="8587700" y="2746674"/>
              <a:ext cx="382905" cy="2781935"/>
            </a:xfrm>
            <a:custGeom>
              <a:avLst/>
              <a:gdLst/>
              <a:ahLst/>
              <a:cxnLst/>
              <a:rect l="l" t="t" r="r" b="b"/>
              <a:pathLst>
                <a:path w="382904" h="2781935">
                  <a:moveTo>
                    <a:pt x="191249" y="0"/>
                  </a:moveTo>
                  <a:lnTo>
                    <a:pt x="0" y="191250"/>
                  </a:lnTo>
                  <a:lnTo>
                    <a:pt x="95624" y="191250"/>
                  </a:lnTo>
                  <a:lnTo>
                    <a:pt x="95624" y="2781600"/>
                  </a:lnTo>
                  <a:lnTo>
                    <a:pt x="286875" y="2781600"/>
                  </a:lnTo>
                  <a:lnTo>
                    <a:pt x="286875" y="191250"/>
                  </a:lnTo>
                  <a:lnTo>
                    <a:pt x="382499" y="191250"/>
                  </a:lnTo>
                  <a:lnTo>
                    <a:pt x="191249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587699" y="2746674"/>
              <a:ext cx="382905" cy="2781935"/>
            </a:xfrm>
            <a:custGeom>
              <a:avLst/>
              <a:gdLst/>
              <a:ahLst/>
              <a:cxnLst/>
              <a:rect l="l" t="t" r="r" b="b"/>
              <a:pathLst>
                <a:path w="382904" h="2781935">
                  <a:moveTo>
                    <a:pt x="0" y="191249"/>
                  </a:moveTo>
                  <a:lnTo>
                    <a:pt x="191249" y="0"/>
                  </a:lnTo>
                  <a:lnTo>
                    <a:pt x="382499" y="191249"/>
                  </a:lnTo>
                  <a:lnTo>
                    <a:pt x="286874" y="191249"/>
                  </a:lnTo>
                  <a:lnTo>
                    <a:pt x="286874" y="2781599"/>
                  </a:lnTo>
                  <a:lnTo>
                    <a:pt x="95624" y="2781599"/>
                  </a:lnTo>
                  <a:lnTo>
                    <a:pt x="95624" y="191249"/>
                  </a:lnTo>
                  <a:lnTo>
                    <a:pt x="0" y="191249"/>
                  </a:lnTo>
                  <a:close/>
                </a:path>
              </a:pathLst>
            </a:custGeom>
            <a:ln w="9524">
              <a:solidFill>
                <a:srgbClr val="1F49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spc="-25" dirty="0"/>
              <a:t>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Some</a:t>
            </a:r>
            <a:r>
              <a:rPr spc="-25" dirty="0"/>
              <a:t> </a:t>
            </a:r>
            <a:r>
              <a:rPr dirty="0"/>
              <a:t>Docker</a:t>
            </a:r>
            <a:r>
              <a:rPr spc="-25" dirty="0"/>
              <a:t> </a:t>
            </a:r>
            <a:r>
              <a:rPr spc="-10" dirty="0"/>
              <a:t>Vocabulary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90544" y="1383991"/>
            <a:ext cx="680021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Arial"/>
                <a:cs typeface="Arial"/>
              </a:rPr>
              <a:t>Docker</a:t>
            </a:r>
            <a:r>
              <a:rPr sz="2000" b="1" spc="-55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Image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The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basis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Docker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container.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Represent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full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application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90544" y="2298391"/>
            <a:ext cx="804164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Arial"/>
                <a:cs typeface="Arial"/>
              </a:rPr>
              <a:t>Docker</a:t>
            </a:r>
            <a:r>
              <a:rPr sz="2000" b="1" spc="-55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Container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The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standard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unit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in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which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application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service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resides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and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executes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90544" y="3212791"/>
            <a:ext cx="797115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Arial"/>
                <a:cs typeface="Arial"/>
              </a:rPr>
              <a:t>Docker</a:t>
            </a:r>
            <a:r>
              <a:rPr sz="2000" b="1" spc="-55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Engine</a:t>
            </a:r>
            <a:endParaRPr sz="20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Creates,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ships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and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runs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Docker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containers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deployable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on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physical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or </a:t>
            </a:r>
            <a:r>
              <a:rPr sz="2000" dirty="0">
                <a:latin typeface="Arial"/>
                <a:cs typeface="Arial"/>
              </a:rPr>
              <a:t>virtual,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host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locally,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in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datacenter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or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cloud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service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provider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90544" y="4431991"/>
            <a:ext cx="794194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Arial"/>
                <a:cs typeface="Arial"/>
              </a:rPr>
              <a:t>Registry</a:t>
            </a:r>
            <a:r>
              <a:rPr sz="2000" b="1" spc="-6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Service</a:t>
            </a:r>
            <a:r>
              <a:rPr sz="2000" b="1" spc="-6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(Docker</a:t>
            </a:r>
            <a:r>
              <a:rPr sz="2000" b="1" spc="-6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Hub</a:t>
            </a:r>
            <a:r>
              <a:rPr sz="2000" b="1" spc="-6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or</a:t>
            </a:r>
            <a:r>
              <a:rPr sz="2000" b="1" spc="-6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Docker</a:t>
            </a:r>
            <a:r>
              <a:rPr sz="2000" b="1" spc="-6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Trusted</a:t>
            </a:r>
            <a:r>
              <a:rPr sz="2000" b="1" spc="-65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Registry)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Cloud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or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server-</a:t>
            </a:r>
            <a:r>
              <a:rPr sz="2000" dirty="0">
                <a:latin typeface="Arial"/>
                <a:cs typeface="Arial"/>
              </a:rPr>
              <a:t>based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storage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and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distribution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service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for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your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images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6525" y="1454900"/>
            <a:ext cx="552450" cy="54292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6519" y="2414750"/>
            <a:ext cx="552449" cy="55245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96519" y="3384124"/>
            <a:ext cx="561974" cy="55245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34619" y="4460774"/>
            <a:ext cx="523875" cy="523875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0149430" y="2577232"/>
            <a:ext cx="1933575" cy="892810"/>
          </a:xfrm>
          <a:prstGeom prst="rect">
            <a:avLst/>
          </a:prstGeom>
          <a:solidFill>
            <a:srgbClr val="D8D8D8"/>
          </a:solidFill>
        </p:spPr>
        <p:txBody>
          <a:bodyPr vert="horz" wrap="square" lIns="0" tIns="279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20"/>
              </a:spcBef>
            </a:pPr>
            <a:r>
              <a:rPr sz="2000" b="1" spc="-10" dirty="0">
                <a:solidFill>
                  <a:srgbClr val="3A4044"/>
                </a:solidFill>
                <a:latin typeface="Arial"/>
                <a:cs typeface="Arial"/>
              </a:rPr>
              <a:t>Containers</a:t>
            </a:r>
            <a:endParaRPr sz="2000">
              <a:latin typeface="Arial"/>
              <a:cs typeface="Arial"/>
            </a:endParaRPr>
          </a:p>
          <a:p>
            <a:pPr marL="153670" marR="146050" algn="ctr">
              <a:lnSpc>
                <a:spcPct val="100000"/>
              </a:lnSpc>
              <a:spcBef>
                <a:spcPts val="15"/>
              </a:spcBef>
            </a:pPr>
            <a:r>
              <a:rPr sz="1600" dirty="0">
                <a:solidFill>
                  <a:srgbClr val="3A4044"/>
                </a:solidFill>
                <a:latin typeface="Arial"/>
                <a:cs typeface="Arial"/>
              </a:rPr>
              <a:t>How</a:t>
            </a:r>
            <a:r>
              <a:rPr sz="1600" spc="-15" dirty="0">
                <a:solidFill>
                  <a:srgbClr val="3A4044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3A4044"/>
                </a:solidFill>
                <a:latin typeface="Arial"/>
                <a:cs typeface="Arial"/>
              </a:rPr>
              <a:t>you</a:t>
            </a:r>
            <a:r>
              <a:rPr sz="1600" spc="-10" dirty="0">
                <a:solidFill>
                  <a:srgbClr val="3A4044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3A4044"/>
                </a:solidFill>
                <a:latin typeface="Arial"/>
                <a:cs typeface="Arial"/>
              </a:rPr>
              <a:t>run</a:t>
            </a:r>
            <a:r>
              <a:rPr sz="1600" b="1" spc="-5" dirty="0">
                <a:solidFill>
                  <a:srgbClr val="3A4044"/>
                </a:solidFill>
                <a:latin typeface="Arial"/>
                <a:cs typeface="Arial"/>
              </a:rPr>
              <a:t> </a:t>
            </a:r>
            <a:r>
              <a:rPr sz="1600" spc="-20" dirty="0">
                <a:solidFill>
                  <a:srgbClr val="3A4044"/>
                </a:solidFill>
                <a:latin typeface="Arial"/>
                <a:cs typeface="Arial"/>
              </a:rPr>
              <a:t>your </a:t>
            </a:r>
            <a:r>
              <a:rPr sz="1600" spc="-10" dirty="0">
                <a:solidFill>
                  <a:srgbClr val="3A4044"/>
                </a:solidFill>
                <a:latin typeface="Arial"/>
                <a:cs typeface="Arial"/>
              </a:rPr>
              <a:t>application</a:t>
            </a:r>
            <a:endParaRPr sz="1600">
              <a:latin typeface="Arial"/>
              <a:cs typeface="Arial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spc="-25" dirty="0"/>
              <a:t>18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0149430" y="1555186"/>
            <a:ext cx="1933575" cy="892810"/>
          </a:xfrm>
          <a:prstGeom prst="rect">
            <a:avLst/>
          </a:prstGeom>
          <a:solidFill>
            <a:srgbClr val="D8D8D8"/>
          </a:solidFill>
        </p:spPr>
        <p:txBody>
          <a:bodyPr vert="horz" wrap="square" lIns="0" tIns="279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20"/>
              </a:spcBef>
            </a:pPr>
            <a:r>
              <a:rPr sz="2000" b="1" spc="-10" dirty="0">
                <a:solidFill>
                  <a:srgbClr val="3A4044"/>
                </a:solidFill>
                <a:latin typeface="Arial"/>
                <a:cs typeface="Arial"/>
              </a:rPr>
              <a:t>Images</a:t>
            </a:r>
            <a:endParaRPr sz="2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5"/>
              </a:spcBef>
            </a:pPr>
            <a:r>
              <a:rPr sz="1600" dirty="0">
                <a:solidFill>
                  <a:srgbClr val="3A4044"/>
                </a:solidFill>
                <a:latin typeface="Arial"/>
                <a:cs typeface="Arial"/>
              </a:rPr>
              <a:t>How</a:t>
            </a:r>
            <a:r>
              <a:rPr sz="1600" spc="-15" dirty="0">
                <a:solidFill>
                  <a:srgbClr val="3A4044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3A4044"/>
                </a:solidFill>
                <a:latin typeface="Arial"/>
                <a:cs typeface="Arial"/>
              </a:rPr>
              <a:t>you</a:t>
            </a:r>
            <a:r>
              <a:rPr sz="1600" spc="-10" dirty="0">
                <a:solidFill>
                  <a:srgbClr val="3A4044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3A4044"/>
                </a:solidFill>
                <a:latin typeface="Arial"/>
                <a:cs typeface="Arial"/>
              </a:rPr>
              <a:t>store</a:t>
            </a:r>
            <a:endParaRPr sz="16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1600" dirty="0">
                <a:solidFill>
                  <a:srgbClr val="3A4044"/>
                </a:solidFill>
                <a:latin typeface="Arial"/>
                <a:cs typeface="Arial"/>
              </a:rPr>
              <a:t>your</a:t>
            </a:r>
            <a:r>
              <a:rPr sz="1600" spc="-5" dirty="0">
                <a:solidFill>
                  <a:srgbClr val="3A4044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3A4044"/>
                </a:solidFill>
                <a:latin typeface="Arial"/>
                <a:cs typeface="Arial"/>
              </a:rPr>
              <a:t>application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Docker</a:t>
            </a:r>
            <a:r>
              <a:rPr spc="-15" dirty="0"/>
              <a:t> </a:t>
            </a:r>
            <a:r>
              <a:rPr dirty="0"/>
              <a:t>Image</a:t>
            </a:r>
            <a:r>
              <a:rPr spc="-10" dirty="0"/>
              <a:t> </a:t>
            </a:r>
            <a:r>
              <a:rPr dirty="0"/>
              <a:t>as</a:t>
            </a:r>
            <a:r>
              <a:rPr spc="-10" dirty="0"/>
              <a:t> Layers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329591" y="6428667"/>
            <a:ext cx="1797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88888"/>
                </a:solidFill>
                <a:latin typeface="BIZ UDGothic"/>
                <a:cs typeface="BIZ UDGothic"/>
              </a:rPr>
              <a:t>29</a:t>
            </a:r>
            <a:endParaRPr sz="1200">
              <a:latin typeface="BIZ UDGothic"/>
              <a:cs typeface="BIZ UDGothic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25649" y="882325"/>
            <a:ext cx="9822180" cy="5732145"/>
          </a:xfrm>
          <a:custGeom>
            <a:avLst/>
            <a:gdLst/>
            <a:ahLst/>
            <a:cxnLst/>
            <a:rect l="l" t="t" r="r" b="b"/>
            <a:pathLst>
              <a:path w="9822180" h="5732145">
                <a:moveTo>
                  <a:pt x="9822000" y="0"/>
                </a:moveTo>
                <a:lnTo>
                  <a:pt x="0" y="0"/>
                </a:lnTo>
                <a:lnTo>
                  <a:pt x="0" y="5731799"/>
                </a:lnTo>
                <a:lnTo>
                  <a:pt x="9822000" y="5731799"/>
                </a:lnTo>
                <a:lnTo>
                  <a:pt x="9822000" y="0"/>
                </a:lnTo>
                <a:close/>
              </a:path>
            </a:pathLst>
          </a:custGeom>
          <a:solidFill>
            <a:srgbClr val="3F3F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98674" y="899597"/>
            <a:ext cx="474980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FFFF00"/>
                </a:solidFill>
                <a:latin typeface="Arial"/>
                <a:cs typeface="Arial"/>
              </a:rPr>
              <a:t>&gt;docker</a:t>
            </a:r>
            <a:r>
              <a:rPr sz="1600" spc="-30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FFF00"/>
                </a:solidFill>
                <a:latin typeface="Arial"/>
                <a:cs typeface="Arial"/>
              </a:rPr>
              <a:t>build</a:t>
            </a:r>
            <a:r>
              <a:rPr sz="1600" spc="-30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sz="1600" spc="-20" dirty="0">
                <a:solidFill>
                  <a:srgbClr val="FFFF00"/>
                </a:solidFill>
                <a:latin typeface="Arial"/>
                <a:cs typeface="Arial"/>
              </a:rPr>
              <a:t>-</a:t>
            </a:r>
            <a:r>
              <a:rPr sz="1600" dirty="0">
                <a:solidFill>
                  <a:srgbClr val="FFFF00"/>
                </a:solidFill>
                <a:latin typeface="Arial"/>
                <a:cs typeface="Arial"/>
              </a:rPr>
              <a:t>t</a:t>
            </a:r>
            <a:r>
              <a:rPr sz="1600" spc="-25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FFF00"/>
                </a:solidFill>
                <a:latin typeface="Arial"/>
                <a:cs typeface="Arial"/>
              </a:rPr>
              <a:t>hello_world_cmd</a:t>
            </a:r>
            <a:r>
              <a:rPr sz="1600" spc="-30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sz="1600" spc="-20" dirty="0">
                <a:solidFill>
                  <a:srgbClr val="FFFF00"/>
                </a:solidFill>
                <a:latin typeface="Arial"/>
                <a:cs typeface="Arial"/>
              </a:rPr>
              <a:t>-</a:t>
            </a:r>
            <a:r>
              <a:rPr sz="1600" dirty="0">
                <a:solidFill>
                  <a:srgbClr val="FFFF00"/>
                </a:solidFill>
                <a:latin typeface="Arial"/>
                <a:cs typeface="Arial"/>
              </a:rPr>
              <a:t>f</a:t>
            </a:r>
            <a:r>
              <a:rPr sz="1600" spc="-30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FFF00"/>
                </a:solidFill>
                <a:latin typeface="Arial"/>
                <a:cs typeface="Arial"/>
              </a:rPr>
              <a:t>Dockerfile_cmd</a:t>
            </a:r>
            <a:r>
              <a:rPr sz="1600" spc="-25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sz="1600" spc="-50" dirty="0">
                <a:solidFill>
                  <a:srgbClr val="FFFF00"/>
                </a:solidFill>
                <a:latin typeface="Arial"/>
                <a:cs typeface="Arial"/>
              </a:rPr>
              <a:t>.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25465" y="1387276"/>
            <a:ext cx="65849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solidFill>
                  <a:srgbClr val="D8D8D8"/>
                </a:solidFill>
                <a:latin typeface="Arial"/>
                <a:cs typeface="Arial"/>
              </a:rPr>
              <a:t>34.3kB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98674" y="1387276"/>
            <a:ext cx="3683635" cy="1732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D8D8D8"/>
                </a:solidFill>
                <a:latin typeface="Arial"/>
                <a:cs typeface="Arial"/>
              </a:rPr>
              <a:t>Sending</a:t>
            </a:r>
            <a:r>
              <a:rPr sz="16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D8D8D8"/>
                </a:solidFill>
                <a:latin typeface="Arial"/>
                <a:cs typeface="Arial"/>
              </a:rPr>
              <a:t>build</a:t>
            </a:r>
            <a:r>
              <a:rPr sz="16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D8D8D8"/>
                </a:solidFill>
                <a:latin typeface="Arial"/>
                <a:cs typeface="Arial"/>
              </a:rPr>
              <a:t>context</a:t>
            </a:r>
            <a:r>
              <a:rPr sz="16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D8D8D8"/>
                </a:solidFill>
                <a:latin typeface="Arial"/>
                <a:cs typeface="Arial"/>
              </a:rPr>
              <a:t>to</a:t>
            </a:r>
            <a:r>
              <a:rPr sz="16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D8D8D8"/>
                </a:solidFill>
                <a:latin typeface="Arial"/>
                <a:cs typeface="Arial"/>
              </a:rPr>
              <a:t>Docker</a:t>
            </a:r>
            <a:r>
              <a:rPr sz="16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D8D8D8"/>
                </a:solidFill>
                <a:latin typeface="Arial"/>
                <a:cs typeface="Arial"/>
              </a:rPr>
              <a:t>daemon </a:t>
            </a:r>
            <a:r>
              <a:rPr sz="1600" dirty="0">
                <a:solidFill>
                  <a:srgbClr val="D8D8D8"/>
                </a:solidFill>
                <a:latin typeface="Arial"/>
                <a:cs typeface="Arial"/>
              </a:rPr>
              <a:t>Step</a:t>
            </a:r>
            <a:r>
              <a:rPr sz="1600" spc="-2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D8D8D8"/>
                </a:solidFill>
                <a:latin typeface="Arial"/>
                <a:cs typeface="Arial"/>
              </a:rPr>
              <a:t>1/4</a:t>
            </a:r>
            <a:r>
              <a:rPr sz="1600" spc="-2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D8D8D8"/>
                </a:solidFill>
                <a:latin typeface="Arial"/>
                <a:cs typeface="Arial"/>
              </a:rPr>
              <a:t>:</a:t>
            </a:r>
            <a:r>
              <a:rPr sz="1600" spc="-2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D8D8D8"/>
                </a:solidFill>
                <a:latin typeface="Arial"/>
                <a:cs typeface="Arial"/>
              </a:rPr>
              <a:t>FROM</a:t>
            </a:r>
            <a:r>
              <a:rPr sz="1600" spc="-2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D8D8D8"/>
                </a:solidFill>
                <a:latin typeface="Arial"/>
                <a:cs typeface="Arial"/>
              </a:rPr>
              <a:t>ubuntu:latest</a:t>
            </a:r>
            <a:endParaRPr sz="1600">
              <a:latin typeface="Arial"/>
              <a:cs typeface="Arial"/>
            </a:endParaRPr>
          </a:p>
          <a:p>
            <a:pPr marL="12700" marR="704850">
              <a:lnSpc>
                <a:spcPct val="100000"/>
              </a:lnSpc>
            </a:pPr>
            <a:r>
              <a:rPr sz="1600" dirty="0">
                <a:solidFill>
                  <a:srgbClr val="D8D8D8"/>
                </a:solidFill>
                <a:latin typeface="Arial"/>
                <a:cs typeface="Arial"/>
              </a:rPr>
              <a:t>latest:</a:t>
            </a:r>
            <a:r>
              <a:rPr sz="1600" spc="-4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D8D8D8"/>
                </a:solidFill>
                <a:latin typeface="Arial"/>
                <a:cs typeface="Arial"/>
              </a:rPr>
              <a:t>Pulling</a:t>
            </a:r>
            <a:r>
              <a:rPr sz="1600" spc="-4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D8D8D8"/>
                </a:solidFill>
                <a:latin typeface="Arial"/>
                <a:cs typeface="Arial"/>
              </a:rPr>
              <a:t>from</a:t>
            </a:r>
            <a:r>
              <a:rPr sz="1600" spc="-4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D8D8D8"/>
                </a:solidFill>
                <a:latin typeface="Arial"/>
                <a:cs typeface="Arial"/>
              </a:rPr>
              <a:t>library/ubuntu </a:t>
            </a:r>
            <a:r>
              <a:rPr sz="1600" dirty="0">
                <a:solidFill>
                  <a:srgbClr val="D8D8D8"/>
                </a:solidFill>
                <a:latin typeface="Arial"/>
                <a:cs typeface="Arial"/>
              </a:rPr>
              <a:t>54ee1f796a1e:</a:t>
            </a:r>
            <a:r>
              <a:rPr sz="1600" spc="-11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D8D8D8"/>
                </a:solidFill>
                <a:latin typeface="Arial"/>
                <a:cs typeface="Arial"/>
              </a:rPr>
              <a:t>Already</a:t>
            </a:r>
            <a:r>
              <a:rPr sz="1600" spc="-10" dirty="0">
                <a:solidFill>
                  <a:srgbClr val="D8D8D8"/>
                </a:solidFill>
                <a:latin typeface="Arial"/>
                <a:cs typeface="Arial"/>
              </a:rPr>
              <a:t> exists f7bfea53ad12:</a:t>
            </a:r>
            <a:r>
              <a:rPr sz="1600" spc="-6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D8D8D8"/>
                </a:solidFill>
                <a:latin typeface="Arial"/>
                <a:cs typeface="Arial"/>
              </a:rPr>
              <a:t>Already</a:t>
            </a:r>
            <a:r>
              <a:rPr sz="1600" spc="4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D8D8D8"/>
                </a:solidFill>
                <a:latin typeface="Arial"/>
                <a:cs typeface="Arial"/>
              </a:rPr>
              <a:t>exists </a:t>
            </a:r>
            <a:r>
              <a:rPr sz="1600" dirty="0">
                <a:solidFill>
                  <a:srgbClr val="D8D8D8"/>
                </a:solidFill>
                <a:latin typeface="Arial"/>
                <a:cs typeface="Arial"/>
              </a:rPr>
              <a:t>46d371e02073:</a:t>
            </a:r>
            <a:r>
              <a:rPr sz="1600" spc="-10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D8D8D8"/>
                </a:solidFill>
                <a:latin typeface="Arial"/>
                <a:cs typeface="Arial"/>
              </a:rPr>
              <a:t>Already</a:t>
            </a:r>
            <a:r>
              <a:rPr sz="1600" spc="-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D8D8D8"/>
                </a:solidFill>
                <a:latin typeface="Arial"/>
                <a:cs typeface="Arial"/>
              </a:rPr>
              <a:t>exists </a:t>
            </a:r>
            <a:r>
              <a:rPr sz="1600" dirty="0">
                <a:solidFill>
                  <a:srgbClr val="D8D8D8"/>
                </a:solidFill>
                <a:latin typeface="Arial"/>
                <a:cs typeface="Arial"/>
              </a:rPr>
              <a:t>b66c17bbf772:</a:t>
            </a:r>
            <a:r>
              <a:rPr sz="1600" spc="-11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D8D8D8"/>
                </a:solidFill>
                <a:latin typeface="Arial"/>
                <a:cs typeface="Arial"/>
              </a:rPr>
              <a:t>Already</a:t>
            </a:r>
            <a:r>
              <a:rPr sz="1600" spc="-10" dirty="0">
                <a:solidFill>
                  <a:srgbClr val="D8D8D8"/>
                </a:solidFill>
                <a:latin typeface="Arial"/>
                <a:cs typeface="Arial"/>
              </a:rPr>
              <a:t> exists</a:t>
            </a:r>
            <a:endParaRPr sz="16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98674" y="3094156"/>
            <a:ext cx="855472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D8D8D8"/>
                </a:solidFill>
                <a:latin typeface="Arial"/>
                <a:cs typeface="Arial"/>
              </a:rPr>
              <a:t>Digest:</a:t>
            </a:r>
            <a:r>
              <a:rPr sz="1600" spc="-2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D8D8D8"/>
                </a:solidFill>
                <a:latin typeface="Arial"/>
                <a:cs typeface="Arial"/>
              </a:rPr>
              <a:t>sha256:31dfb10d52ce76c5ca0aa19d10b3e6424b830729e32a89a7c6eee2cda2be67a5 </a:t>
            </a:r>
            <a:r>
              <a:rPr sz="1600" dirty="0">
                <a:solidFill>
                  <a:srgbClr val="D8D8D8"/>
                </a:solidFill>
                <a:latin typeface="Arial"/>
                <a:cs typeface="Arial"/>
              </a:rPr>
              <a:t>Status:</a:t>
            </a:r>
            <a:r>
              <a:rPr sz="1600" spc="-4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D8D8D8"/>
                </a:solidFill>
                <a:latin typeface="Arial"/>
                <a:cs typeface="Arial"/>
              </a:rPr>
              <a:t>Downloaded</a:t>
            </a:r>
            <a:r>
              <a:rPr sz="1600" spc="-3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D8D8D8"/>
                </a:solidFill>
                <a:latin typeface="Arial"/>
                <a:cs typeface="Arial"/>
              </a:rPr>
              <a:t>newer</a:t>
            </a:r>
            <a:r>
              <a:rPr sz="1600" spc="-3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D8D8D8"/>
                </a:solidFill>
                <a:latin typeface="Arial"/>
                <a:cs typeface="Arial"/>
              </a:rPr>
              <a:t>image</a:t>
            </a:r>
            <a:r>
              <a:rPr sz="1600" spc="-3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D8D8D8"/>
                </a:solidFill>
                <a:latin typeface="Arial"/>
                <a:cs typeface="Arial"/>
              </a:rPr>
              <a:t>for</a:t>
            </a:r>
            <a:r>
              <a:rPr sz="1600" spc="-3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D8D8D8"/>
                </a:solidFill>
                <a:latin typeface="Arial"/>
                <a:cs typeface="Arial"/>
              </a:rPr>
              <a:t>ubuntu:latest</a:t>
            </a:r>
            <a:endParaRPr sz="1600">
              <a:latin typeface="Arial"/>
              <a:cs typeface="Arial"/>
            </a:endParaRPr>
          </a:p>
          <a:p>
            <a:pPr marL="68580">
              <a:lnSpc>
                <a:spcPct val="100000"/>
              </a:lnSpc>
            </a:pPr>
            <a:r>
              <a:rPr sz="1600" spc="-10" dirty="0">
                <a:solidFill>
                  <a:srgbClr val="D8D8D8"/>
                </a:solidFill>
                <a:latin typeface="Arial"/>
                <a:cs typeface="Arial"/>
              </a:rPr>
              <a:t>---</a:t>
            </a:r>
            <a:r>
              <a:rPr sz="1600" dirty="0">
                <a:solidFill>
                  <a:srgbClr val="D8D8D8"/>
                </a:solidFill>
                <a:latin typeface="Arial"/>
                <a:cs typeface="Arial"/>
              </a:rPr>
              <a:t>&gt;</a:t>
            </a:r>
            <a:r>
              <a:rPr sz="1600" spc="-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D8D8D8"/>
                </a:solidFill>
                <a:latin typeface="Arial"/>
                <a:cs typeface="Arial"/>
              </a:rPr>
              <a:t>4e2eef94cd6b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98674" y="3825676"/>
            <a:ext cx="579437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D8D8D8"/>
                </a:solidFill>
                <a:latin typeface="Arial"/>
                <a:cs typeface="Arial"/>
              </a:rPr>
              <a:t>Step</a:t>
            </a:r>
            <a:r>
              <a:rPr sz="1600" spc="-2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D8D8D8"/>
                </a:solidFill>
                <a:latin typeface="Arial"/>
                <a:cs typeface="Arial"/>
              </a:rPr>
              <a:t>2/4</a:t>
            </a:r>
            <a:r>
              <a:rPr sz="1600" spc="-2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D8D8D8"/>
                </a:solidFill>
                <a:latin typeface="Arial"/>
                <a:cs typeface="Arial"/>
              </a:rPr>
              <a:t>:</a:t>
            </a:r>
            <a:r>
              <a:rPr sz="1600" spc="-2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D8D8D8"/>
                </a:solidFill>
                <a:latin typeface="Arial"/>
                <a:cs typeface="Arial"/>
              </a:rPr>
              <a:t>RUN</a:t>
            </a:r>
            <a:r>
              <a:rPr sz="1600" spc="-2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D8D8D8"/>
                </a:solidFill>
                <a:latin typeface="Arial"/>
                <a:cs typeface="Arial"/>
              </a:rPr>
              <a:t>apt-</a:t>
            </a:r>
            <a:r>
              <a:rPr sz="1600" dirty="0">
                <a:solidFill>
                  <a:srgbClr val="D8D8D8"/>
                </a:solidFill>
                <a:latin typeface="Arial"/>
                <a:cs typeface="Arial"/>
              </a:rPr>
              <a:t>get</a:t>
            </a:r>
            <a:r>
              <a:rPr sz="1600" spc="-2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D8D8D8"/>
                </a:solidFill>
                <a:latin typeface="Arial"/>
                <a:cs typeface="Arial"/>
              </a:rPr>
              <a:t>update</a:t>
            </a:r>
            <a:endParaRPr sz="1600">
              <a:latin typeface="Arial"/>
              <a:cs typeface="Arial"/>
            </a:endParaRPr>
          </a:p>
          <a:p>
            <a:pPr marL="68580">
              <a:lnSpc>
                <a:spcPct val="100000"/>
              </a:lnSpc>
            </a:pPr>
            <a:r>
              <a:rPr sz="1600" spc="-10" dirty="0">
                <a:solidFill>
                  <a:srgbClr val="D8D8D8"/>
                </a:solidFill>
                <a:latin typeface="Arial"/>
                <a:cs typeface="Arial"/>
              </a:rPr>
              <a:t>---</a:t>
            </a:r>
            <a:r>
              <a:rPr sz="1600" dirty="0">
                <a:solidFill>
                  <a:srgbClr val="D8D8D8"/>
                </a:solidFill>
                <a:latin typeface="Arial"/>
                <a:cs typeface="Arial"/>
              </a:rPr>
              <a:t>&gt;</a:t>
            </a:r>
            <a:r>
              <a:rPr sz="1600" spc="-2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D8D8D8"/>
                </a:solidFill>
                <a:latin typeface="Arial"/>
                <a:cs typeface="Arial"/>
              </a:rPr>
              <a:t>Running</a:t>
            </a:r>
            <a:r>
              <a:rPr sz="1600" spc="-1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D8D8D8"/>
                </a:solidFill>
                <a:latin typeface="Arial"/>
                <a:cs typeface="Arial"/>
              </a:rPr>
              <a:t>in</a:t>
            </a:r>
            <a:r>
              <a:rPr sz="1600" spc="-1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D8D8D8"/>
                </a:solidFill>
                <a:latin typeface="Arial"/>
                <a:cs typeface="Arial"/>
              </a:rPr>
              <a:t>e3e1a87e8d6e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solidFill>
                  <a:srgbClr val="D8D8D8"/>
                </a:solidFill>
                <a:latin typeface="Arial"/>
                <a:cs typeface="Arial"/>
              </a:rPr>
              <a:t>Get:1</a:t>
            </a:r>
            <a:r>
              <a:rPr sz="1600" spc="-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D8D8D8"/>
                </a:solidFill>
                <a:latin typeface="Arial"/>
                <a:cs typeface="Arial"/>
                <a:hlinkClick r:id="rId2"/>
              </a:rPr>
              <a:t>http://archive.ubuntu.com/ubuntu</a:t>
            </a:r>
            <a:r>
              <a:rPr sz="1600" dirty="0">
                <a:solidFill>
                  <a:srgbClr val="D8D8D8"/>
                </a:solidFill>
                <a:latin typeface="Arial"/>
                <a:cs typeface="Arial"/>
              </a:rPr>
              <a:t> focal</a:t>
            </a:r>
            <a:r>
              <a:rPr sz="1600" spc="-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D8D8D8"/>
                </a:solidFill>
                <a:latin typeface="Arial"/>
                <a:cs typeface="Arial"/>
              </a:rPr>
              <a:t>InRelease [265 </a:t>
            </a:r>
            <a:r>
              <a:rPr sz="1600" spc="-25" dirty="0">
                <a:solidFill>
                  <a:srgbClr val="D8D8D8"/>
                </a:solidFill>
                <a:latin typeface="Arial"/>
                <a:cs typeface="Arial"/>
              </a:rPr>
              <a:t>kB]</a:t>
            </a:r>
            <a:endParaRPr sz="16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98674" y="4557197"/>
            <a:ext cx="8240395" cy="2219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D8D8D8"/>
                </a:solidFill>
                <a:latin typeface="Arial"/>
                <a:cs typeface="Arial"/>
              </a:rPr>
              <a:t>Get:2</a:t>
            </a:r>
            <a:r>
              <a:rPr sz="1600" spc="-1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D8D8D8"/>
                </a:solidFill>
                <a:latin typeface="Arial"/>
                <a:cs typeface="Arial"/>
                <a:hlinkClick r:id="rId3"/>
              </a:rPr>
              <a:t>http://security.ubuntu.com/ubuntu</a:t>
            </a:r>
            <a:r>
              <a:rPr sz="1600" spc="-1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D8D8D8"/>
                </a:solidFill>
                <a:latin typeface="Arial"/>
                <a:cs typeface="Arial"/>
              </a:rPr>
              <a:t>focal-</a:t>
            </a:r>
            <a:r>
              <a:rPr sz="1600" dirty="0">
                <a:solidFill>
                  <a:srgbClr val="D8D8D8"/>
                </a:solidFill>
                <a:latin typeface="Arial"/>
                <a:cs typeface="Arial"/>
              </a:rPr>
              <a:t>security</a:t>
            </a:r>
            <a:r>
              <a:rPr sz="1600" spc="-1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D8D8D8"/>
                </a:solidFill>
                <a:latin typeface="Arial"/>
                <a:cs typeface="Arial"/>
              </a:rPr>
              <a:t>InRelease</a:t>
            </a:r>
            <a:r>
              <a:rPr sz="1600" spc="-1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D8D8D8"/>
                </a:solidFill>
                <a:latin typeface="Arial"/>
                <a:cs typeface="Arial"/>
              </a:rPr>
              <a:t>[107</a:t>
            </a:r>
            <a:r>
              <a:rPr sz="1600" spc="-1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600" spc="-25" dirty="0">
                <a:solidFill>
                  <a:srgbClr val="D8D8D8"/>
                </a:solidFill>
                <a:latin typeface="Arial"/>
                <a:cs typeface="Arial"/>
              </a:rPr>
              <a:t>kB]</a:t>
            </a:r>
            <a:endParaRPr sz="1600">
              <a:latin typeface="Arial"/>
              <a:cs typeface="Arial"/>
            </a:endParaRPr>
          </a:p>
          <a:p>
            <a:pPr marL="12700" marR="117475">
              <a:lnSpc>
                <a:spcPct val="100000"/>
              </a:lnSpc>
            </a:pPr>
            <a:r>
              <a:rPr sz="1600" dirty="0">
                <a:solidFill>
                  <a:srgbClr val="D8D8D8"/>
                </a:solidFill>
                <a:latin typeface="Arial"/>
                <a:cs typeface="Arial"/>
              </a:rPr>
              <a:t>Get:3</a:t>
            </a:r>
            <a:r>
              <a:rPr sz="1600" spc="-2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D8D8D8"/>
                </a:solidFill>
                <a:latin typeface="Arial"/>
                <a:cs typeface="Arial"/>
                <a:hlinkClick r:id="rId3"/>
              </a:rPr>
              <a:t>http://security.ubuntu.com/ubuntu</a:t>
            </a:r>
            <a:r>
              <a:rPr sz="1600" spc="-2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D8D8D8"/>
                </a:solidFill>
                <a:latin typeface="Arial"/>
                <a:cs typeface="Arial"/>
              </a:rPr>
              <a:t>focal-</a:t>
            </a:r>
            <a:r>
              <a:rPr sz="1600" dirty="0">
                <a:solidFill>
                  <a:srgbClr val="D8D8D8"/>
                </a:solidFill>
                <a:latin typeface="Arial"/>
                <a:cs typeface="Arial"/>
              </a:rPr>
              <a:t>security/universe</a:t>
            </a:r>
            <a:r>
              <a:rPr sz="1600" spc="-2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D8D8D8"/>
                </a:solidFill>
                <a:latin typeface="Arial"/>
                <a:cs typeface="Arial"/>
              </a:rPr>
              <a:t>amd64</a:t>
            </a:r>
            <a:r>
              <a:rPr sz="1600" spc="-2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D8D8D8"/>
                </a:solidFill>
                <a:latin typeface="Arial"/>
                <a:cs typeface="Arial"/>
              </a:rPr>
              <a:t>Packages</a:t>
            </a:r>
            <a:r>
              <a:rPr sz="1600" spc="-1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D8D8D8"/>
                </a:solidFill>
                <a:latin typeface="Arial"/>
                <a:cs typeface="Arial"/>
              </a:rPr>
              <a:t>[67.5</a:t>
            </a:r>
            <a:r>
              <a:rPr sz="1600" spc="-2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600" spc="-25" dirty="0">
                <a:solidFill>
                  <a:srgbClr val="D8D8D8"/>
                </a:solidFill>
                <a:latin typeface="Arial"/>
                <a:cs typeface="Arial"/>
              </a:rPr>
              <a:t>kB] </a:t>
            </a:r>
            <a:r>
              <a:rPr sz="1600" dirty="0">
                <a:solidFill>
                  <a:srgbClr val="D8D8D8"/>
                </a:solidFill>
                <a:latin typeface="Arial"/>
                <a:cs typeface="Arial"/>
              </a:rPr>
              <a:t>Get:4</a:t>
            </a:r>
            <a:r>
              <a:rPr sz="1600" spc="1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D8D8D8"/>
                </a:solidFill>
                <a:latin typeface="Arial"/>
                <a:cs typeface="Arial"/>
                <a:hlinkClick r:id="rId2"/>
              </a:rPr>
              <a:t>http://archive.ubuntu.com/ubuntu</a:t>
            </a:r>
            <a:r>
              <a:rPr sz="1600" spc="1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D8D8D8"/>
                </a:solidFill>
                <a:latin typeface="Arial"/>
                <a:cs typeface="Arial"/>
              </a:rPr>
              <a:t>focal-</a:t>
            </a:r>
            <a:r>
              <a:rPr sz="1600" dirty="0">
                <a:solidFill>
                  <a:srgbClr val="D8D8D8"/>
                </a:solidFill>
                <a:latin typeface="Arial"/>
                <a:cs typeface="Arial"/>
              </a:rPr>
              <a:t>updates</a:t>
            </a:r>
            <a:r>
              <a:rPr sz="1600" spc="1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D8D8D8"/>
                </a:solidFill>
                <a:latin typeface="Arial"/>
                <a:cs typeface="Arial"/>
              </a:rPr>
              <a:t>InRelease</a:t>
            </a:r>
            <a:r>
              <a:rPr sz="1600" spc="1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600" spc="-55" dirty="0">
                <a:solidFill>
                  <a:srgbClr val="D8D8D8"/>
                </a:solidFill>
                <a:latin typeface="Arial"/>
                <a:cs typeface="Arial"/>
              </a:rPr>
              <a:t>[111</a:t>
            </a:r>
            <a:r>
              <a:rPr sz="1600" spc="1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600" spc="-25" dirty="0">
                <a:solidFill>
                  <a:srgbClr val="D8D8D8"/>
                </a:solidFill>
                <a:latin typeface="Arial"/>
                <a:cs typeface="Arial"/>
              </a:rPr>
              <a:t>kB]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solidFill>
                  <a:srgbClr val="D8D8D8"/>
                </a:solidFill>
                <a:latin typeface="Arial"/>
                <a:cs typeface="Arial"/>
              </a:rPr>
              <a:t>Get:5</a:t>
            </a:r>
            <a:r>
              <a:rPr sz="1600" spc="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D8D8D8"/>
                </a:solidFill>
                <a:latin typeface="Arial"/>
                <a:cs typeface="Arial"/>
                <a:hlinkClick r:id="rId2"/>
              </a:rPr>
              <a:t>http://archive.ubuntu.com/ubuntu</a:t>
            </a:r>
            <a:r>
              <a:rPr sz="1600" spc="1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D8D8D8"/>
                </a:solidFill>
                <a:latin typeface="Arial"/>
                <a:cs typeface="Arial"/>
              </a:rPr>
              <a:t>focal-</a:t>
            </a:r>
            <a:r>
              <a:rPr sz="1600" dirty="0">
                <a:solidFill>
                  <a:srgbClr val="D8D8D8"/>
                </a:solidFill>
                <a:latin typeface="Arial"/>
                <a:cs typeface="Arial"/>
              </a:rPr>
              <a:t>backports</a:t>
            </a:r>
            <a:r>
              <a:rPr sz="1600" spc="1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D8D8D8"/>
                </a:solidFill>
                <a:latin typeface="Arial"/>
                <a:cs typeface="Arial"/>
              </a:rPr>
              <a:t>InRelease</a:t>
            </a:r>
            <a:r>
              <a:rPr sz="1600" spc="1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D8D8D8"/>
                </a:solidFill>
                <a:latin typeface="Arial"/>
                <a:cs typeface="Arial"/>
              </a:rPr>
              <a:t>[98.3</a:t>
            </a:r>
            <a:r>
              <a:rPr sz="1600" spc="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600" spc="-25" dirty="0">
                <a:solidFill>
                  <a:srgbClr val="D8D8D8"/>
                </a:solidFill>
                <a:latin typeface="Arial"/>
                <a:cs typeface="Arial"/>
              </a:rPr>
              <a:t>kB]</a:t>
            </a:r>
            <a:endParaRPr sz="1600">
              <a:latin typeface="Arial"/>
              <a:cs typeface="Arial"/>
            </a:endParaRPr>
          </a:p>
          <a:p>
            <a:pPr marL="12700" marR="501650">
              <a:lnSpc>
                <a:spcPct val="100000"/>
              </a:lnSpc>
            </a:pPr>
            <a:r>
              <a:rPr sz="1600" dirty="0">
                <a:solidFill>
                  <a:srgbClr val="D8D8D8"/>
                </a:solidFill>
                <a:latin typeface="Arial"/>
                <a:cs typeface="Arial"/>
              </a:rPr>
              <a:t>Get:6</a:t>
            </a:r>
            <a:r>
              <a:rPr sz="1600" spc="-1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D8D8D8"/>
                </a:solidFill>
                <a:latin typeface="Arial"/>
                <a:cs typeface="Arial"/>
                <a:hlinkClick r:id="rId3"/>
              </a:rPr>
              <a:t>http://security.ubuntu.com/ubuntu</a:t>
            </a:r>
            <a:r>
              <a:rPr sz="1600" spc="-1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D8D8D8"/>
                </a:solidFill>
                <a:latin typeface="Arial"/>
                <a:cs typeface="Arial"/>
              </a:rPr>
              <a:t>focal-</a:t>
            </a:r>
            <a:r>
              <a:rPr sz="1600" dirty="0">
                <a:solidFill>
                  <a:srgbClr val="D8D8D8"/>
                </a:solidFill>
                <a:latin typeface="Arial"/>
                <a:cs typeface="Arial"/>
              </a:rPr>
              <a:t>security/main</a:t>
            </a:r>
            <a:r>
              <a:rPr sz="1600" spc="-1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D8D8D8"/>
                </a:solidFill>
                <a:latin typeface="Arial"/>
                <a:cs typeface="Arial"/>
              </a:rPr>
              <a:t>amd64</a:t>
            </a:r>
            <a:r>
              <a:rPr sz="1600" spc="-1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D8D8D8"/>
                </a:solidFill>
                <a:latin typeface="Arial"/>
                <a:cs typeface="Arial"/>
              </a:rPr>
              <a:t>Packages</a:t>
            </a:r>
            <a:r>
              <a:rPr sz="1600" spc="-1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D8D8D8"/>
                </a:solidFill>
                <a:latin typeface="Arial"/>
                <a:cs typeface="Arial"/>
              </a:rPr>
              <a:t>[231</a:t>
            </a:r>
            <a:r>
              <a:rPr sz="1600" spc="-1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600" spc="-25" dirty="0">
                <a:solidFill>
                  <a:srgbClr val="D8D8D8"/>
                </a:solidFill>
                <a:latin typeface="Arial"/>
                <a:cs typeface="Arial"/>
              </a:rPr>
              <a:t>kB] </a:t>
            </a:r>
            <a:r>
              <a:rPr sz="1600" dirty="0">
                <a:solidFill>
                  <a:srgbClr val="D8D8D8"/>
                </a:solidFill>
                <a:latin typeface="Arial"/>
                <a:cs typeface="Arial"/>
              </a:rPr>
              <a:t>Get:7</a:t>
            </a:r>
            <a:r>
              <a:rPr sz="1600" spc="-1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D8D8D8"/>
                </a:solidFill>
                <a:latin typeface="Arial"/>
                <a:cs typeface="Arial"/>
                <a:hlinkClick r:id="rId2"/>
              </a:rPr>
              <a:t>http://archive.ubuntu.com/ubuntu</a:t>
            </a:r>
            <a:r>
              <a:rPr sz="1600" spc="-1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D8D8D8"/>
                </a:solidFill>
                <a:latin typeface="Arial"/>
                <a:cs typeface="Arial"/>
              </a:rPr>
              <a:t>focal/restricted</a:t>
            </a:r>
            <a:r>
              <a:rPr sz="1600" spc="-1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D8D8D8"/>
                </a:solidFill>
                <a:latin typeface="Arial"/>
                <a:cs typeface="Arial"/>
              </a:rPr>
              <a:t>amd64</a:t>
            </a:r>
            <a:r>
              <a:rPr sz="1600" spc="-1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D8D8D8"/>
                </a:solidFill>
                <a:latin typeface="Arial"/>
                <a:cs typeface="Arial"/>
              </a:rPr>
              <a:t>Packages</a:t>
            </a:r>
            <a:r>
              <a:rPr sz="1600" spc="-1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D8D8D8"/>
                </a:solidFill>
                <a:latin typeface="Arial"/>
                <a:cs typeface="Arial"/>
              </a:rPr>
              <a:t>[33.4</a:t>
            </a:r>
            <a:r>
              <a:rPr sz="1600" spc="-1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600" spc="-25" dirty="0">
                <a:solidFill>
                  <a:srgbClr val="D8D8D8"/>
                </a:solidFill>
                <a:latin typeface="Arial"/>
                <a:cs typeface="Arial"/>
              </a:rPr>
              <a:t>kB] </a:t>
            </a:r>
            <a:r>
              <a:rPr sz="1600" dirty="0">
                <a:solidFill>
                  <a:srgbClr val="D8D8D8"/>
                </a:solidFill>
                <a:latin typeface="Arial"/>
                <a:cs typeface="Arial"/>
              </a:rPr>
              <a:t>Get:8 </a:t>
            </a:r>
            <a:r>
              <a:rPr sz="1600" spc="-10" dirty="0">
                <a:solidFill>
                  <a:srgbClr val="D8D8D8"/>
                </a:solidFill>
                <a:latin typeface="Arial"/>
                <a:cs typeface="Arial"/>
                <a:hlinkClick r:id="rId2"/>
              </a:rPr>
              <a:t>http://archive.ubuntu.com/ubuntu</a:t>
            </a:r>
            <a:r>
              <a:rPr sz="1600" dirty="0">
                <a:solidFill>
                  <a:srgbClr val="D8D8D8"/>
                </a:solidFill>
                <a:latin typeface="Arial"/>
                <a:cs typeface="Arial"/>
              </a:rPr>
              <a:t> focal/main amd64 Packages [1275 </a:t>
            </a:r>
            <a:r>
              <a:rPr sz="1600" spc="-25" dirty="0">
                <a:solidFill>
                  <a:srgbClr val="D8D8D8"/>
                </a:solidFill>
                <a:latin typeface="Arial"/>
                <a:cs typeface="Arial"/>
              </a:rPr>
              <a:t>kB]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solidFill>
                  <a:srgbClr val="D8D8D8"/>
                </a:solidFill>
                <a:latin typeface="Arial"/>
                <a:cs typeface="Arial"/>
              </a:rPr>
              <a:t>Get:9</a:t>
            </a:r>
            <a:r>
              <a:rPr sz="1600" spc="-2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D8D8D8"/>
                </a:solidFill>
                <a:latin typeface="Arial"/>
                <a:cs typeface="Arial"/>
                <a:hlinkClick r:id="rId3"/>
              </a:rPr>
              <a:t>http://security.ubuntu.com/ubuntu</a:t>
            </a:r>
            <a:r>
              <a:rPr sz="1600" spc="-2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D8D8D8"/>
                </a:solidFill>
                <a:latin typeface="Arial"/>
                <a:cs typeface="Arial"/>
              </a:rPr>
              <a:t>focal-</a:t>
            </a:r>
            <a:r>
              <a:rPr sz="1600" dirty="0">
                <a:solidFill>
                  <a:srgbClr val="D8D8D8"/>
                </a:solidFill>
                <a:latin typeface="Arial"/>
                <a:cs typeface="Arial"/>
              </a:rPr>
              <a:t>security/multiverse</a:t>
            </a:r>
            <a:r>
              <a:rPr sz="1600" spc="-2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D8D8D8"/>
                </a:solidFill>
                <a:latin typeface="Arial"/>
                <a:cs typeface="Arial"/>
              </a:rPr>
              <a:t>amd64</a:t>
            </a:r>
            <a:r>
              <a:rPr sz="1600" spc="-2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D8D8D8"/>
                </a:solidFill>
                <a:latin typeface="Arial"/>
                <a:cs typeface="Arial"/>
              </a:rPr>
              <a:t>Packages</a:t>
            </a:r>
            <a:r>
              <a:rPr sz="1600" spc="-2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D8D8D8"/>
                </a:solidFill>
                <a:latin typeface="Arial"/>
                <a:cs typeface="Arial"/>
              </a:rPr>
              <a:t>[1078</a:t>
            </a:r>
            <a:r>
              <a:rPr sz="1600" spc="-2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600" spc="-25" dirty="0">
                <a:solidFill>
                  <a:srgbClr val="D8D8D8"/>
                </a:solidFill>
                <a:latin typeface="Arial"/>
                <a:cs typeface="Arial"/>
              </a:rPr>
              <a:t>B]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spc="-50" dirty="0">
                <a:solidFill>
                  <a:srgbClr val="D8D8D8"/>
                </a:solidFill>
                <a:latin typeface="Arial"/>
                <a:cs typeface="Arial"/>
              </a:rPr>
              <a:t>…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807974" y="1630574"/>
            <a:ext cx="2063114" cy="2536190"/>
            <a:chOff x="4807974" y="1630574"/>
            <a:chExt cx="2063114" cy="2536190"/>
          </a:xfrm>
        </p:grpSpPr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09028" y="1630574"/>
              <a:ext cx="1661524" cy="39432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253790" y="1652337"/>
              <a:ext cx="1571999" cy="30480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5253789" y="1652337"/>
              <a:ext cx="1572260" cy="304800"/>
            </a:xfrm>
            <a:custGeom>
              <a:avLst/>
              <a:gdLst/>
              <a:ahLst/>
              <a:cxnLst/>
              <a:rect l="l" t="t" r="r" b="b"/>
              <a:pathLst>
                <a:path w="1572259" h="304800">
                  <a:moveTo>
                    <a:pt x="0" y="152399"/>
                  </a:moveTo>
                  <a:lnTo>
                    <a:pt x="152399" y="0"/>
                  </a:lnTo>
                  <a:lnTo>
                    <a:pt x="152399" y="76199"/>
                  </a:lnTo>
                  <a:lnTo>
                    <a:pt x="1571999" y="76199"/>
                  </a:lnTo>
                  <a:lnTo>
                    <a:pt x="1571999" y="228599"/>
                  </a:lnTo>
                  <a:lnTo>
                    <a:pt x="152399" y="228599"/>
                  </a:lnTo>
                  <a:lnTo>
                    <a:pt x="152399" y="304799"/>
                  </a:lnTo>
                  <a:lnTo>
                    <a:pt x="0" y="152399"/>
                  </a:lnTo>
                  <a:close/>
                </a:path>
              </a:pathLst>
            </a:custGeom>
            <a:ln w="9524">
              <a:solidFill>
                <a:srgbClr val="4A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07974" y="3772195"/>
              <a:ext cx="1661524" cy="39432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52737" y="3793957"/>
              <a:ext cx="1571999" cy="30480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4852737" y="3793957"/>
              <a:ext cx="1572260" cy="304800"/>
            </a:xfrm>
            <a:custGeom>
              <a:avLst/>
              <a:gdLst/>
              <a:ahLst/>
              <a:cxnLst/>
              <a:rect l="l" t="t" r="r" b="b"/>
              <a:pathLst>
                <a:path w="1572260" h="304800">
                  <a:moveTo>
                    <a:pt x="0" y="152399"/>
                  </a:moveTo>
                  <a:lnTo>
                    <a:pt x="152399" y="0"/>
                  </a:lnTo>
                  <a:lnTo>
                    <a:pt x="152399" y="76199"/>
                  </a:lnTo>
                  <a:lnTo>
                    <a:pt x="1571999" y="76199"/>
                  </a:lnTo>
                  <a:lnTo>
                    <a:pt x="1571999" y="228599"/>
                  </a:lnTo>
                  <a:lnTo>
                    <a:pt x="152399" y="228599"/>
                  </a:lnTo>
                  <a:lnTo>
                    <a:pt x="152399" y="304799"/>
                  </a:lnTo>
                  <a:lnTo>
                    <a:pt x="0" y="152399"/>
                  </a:lnTo>
                  <a:close/>
                </a:path>
              </a:pathLst>
            </a:custGeom>
            <a:ln w="9524">
              <a:solidFill>
                <a:srgbClr val="4A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958951" y="1604060"/>
            <a:ext cx="18034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8CB3E3"/>
                </a:solidFill>
                <a:latin typeface="Arial"/>
                <a:cs typeface="Arial"/>
              </a:rPr>
              <a:t>Step1:</a:t>
            </a:r>
            <a:r>
              <a:rPr sz="1800" spc="-15" dirty="0">
                <a:solidFill>
                  <a:srgbClr val="8CB3E3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8CB3E3"/>
                </a:solidFill>
                <a:latin typeface="Arial"/>
                <a:cs typeface="Arial"/>
              </a:rPr>
              <a:t>Instruction </a:t>
            </a:r>
            <a:r>
              <a:rPr sz="1800" spc="-50" dirty="0">
                <a:solidFill>
                  <a:srgbClr val="8CB3E3"/>
                </a:solidFill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557898" y="3745682"/>
            <a:ext cx="18034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8CB3E3"/>
                </a:solidFill>
                <a:latin typeface="Arial"/>
                <a:cs typeface="Arial"/>
              </a:rPr>
              <a:t>Step2:</a:t>
            </a:r>
            <a:r>
              <a:rPr sz="1800" spc="-15" dirty="0">
                <a:solidFill>
                  <a:srgbClr val="8CB3E3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8CB3E3"/>
                </a:solidFill>
                <a:latin typeface="Arial"/>
                <a:cs typeface="Arial"/>
              </a:rPr>
              <a:t>Instruction </a:t>
            </a:r>
            <a:r>
              <a:rPr sz="1800" spc="-50" dirty="0">
                <a:solidFill>
                  <a:srgbClr val="8CB3E3"/>
                </a:solidFill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Docker</a:t>
            </a:r>
            <a:r>
              <a:rPr spc="-15" dirty="0"/>
              <a:t> </a:t>
            </a:r>
            <a:r>
              <a:rPr dirty="0"/>
              <a:t>Image</a:t>
            </a:r>
            <a:r>
              <a:rPr spc="-10" dirty="0"/>
              <a:t> </a:t>
            </a:r>
            <a:r>
              <a:rPr dirty="0"/>
              <a:t>as</a:t>
            </a:r>
            <a:r>
              <a:rPr spc="-10" dirty="0"/>
              <a:t> Layers</a:t>
            </a:r>
          </a:p>
        </p:txBody>
      </p:sp>
      <p:sp>
        <p:nvSpPr>
          <p:cNvPr id="3" name="object 3"/>
          <p:cNvSpPr/>
          <p:nvPr/>
        </p:nvSpPr>
        <p:spPr>
          <a:xfrm>
            <a:off x="473249" y="1110924"/>
            <a:ext cx="10041255" cy="3293110"/>
          </a:xfrm>
          <a:custGeom>
            <a:avLst/>
            <a:gdLst/>
            <a:ahLst/>
            <a:cxnLst/>
            <a:rect l="l" t="t" r="r" b="b"/>
            <a:pathLst>
              <a:path w="10041255" h="3293110">
                <a:moveTo>
                  <a:pt x="10040999" y="0"/>
                </a:moveTo>
                <a:lnTo>
                  <a:pt x="0" y="0"/>
                </a:lnTo>
                <a:lnTo>
                  <a:pt x="0" y="3293099"/>
                </a:lnTo>
                <a:lnTo>
                  <a:pt x="10040999" y="3293099"/>
                </a:lnTo>
                <a:lnTo>
                  <a:pt x="10040999" y="0"/>
                </a:lnTo>
                <a:close/>
              </a:path>
            </a:pathLst>
          </a:custGeom>
          <a:solidFill>
            <a:srgbClr val="3F3F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58974" y="1128197"/>
            <a:ext cx="473710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FFFF00"/>
                </a:solidFill>
                <a:latin typeface="Arial"/>
                <a:cs typeface="Arial"/>
              </a:rPr>
              <a:t>&gt;docker</a:t>
            </a:r>
            <a:r>
              <a:rPr sz="1600" spc="-30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FFF00"/>
                </a:solidFill>
                <a:latin typeface="Arial"/>
                <a:cs typeface="Arial"/>
              </a:rPr>
              <a:t>build</a:t>
            </a:r>
            <a:r>
              <a:rPr sz="1600" spc="-30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sz="1600" spc="-20" dirty="0">
                <a:solidFill>
                  <a:srgbClr val="FFFF00"/>
                </a:solidFill>
                <a:latin typeface="Arial"/>
                <a:cs typeface="Arial"/>
              </a:rPr>
              <a:t>-</a:t>
            </a:r>
            <a:r>
              <a:rPr sz="1600" dirty="0">
                <a:solidFill>
                  <a:srgbClr val="FFFF00"/>
                </a:solidFill>
                <a:latin typeface="Arial"/>
                <a:cs typeface="Arial"/>
              </a:rPr>
              <a:t>t</a:t>
            </a:r>
            <a:r>
              <a:rPr sz="1600" spc="-25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FFF00"/>
                </a:solidFill>
                <a:latin typeface="Arial"/>
                <a:cs typeface="Arial"/>
              </a:rPr>
              <a:t>hello_world_cmd</a:t>
            </a:r>
            <a:r>
              <a:rPr sz="1600" spc="-30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sz="1600" spc="-20" dirty="0">
                <a:solidFill>
                  <a:srgbClr val="FFFF00"/>
                </a:solidFill>
                <a:latin typeface="Arial"/>
                <a:cs typeface="Arial"/>
              </a:rPr>
              <a:t>-</a:t>
            </a:r>
            <a:r>
              <a:rPr sz="1600" dirty="0">
                <a:solidFill>
                  <a:srgbClr val="FFFF00"/>
                </a:solidFill>
                <a:latin typeface="Arial"/>
                <a:cs typeface="Arial"/>
              </a:rPr>
              <a:t>f</a:t>
            </a:r>
            <a:r>
              <a:rPr sz="1600" spc="-30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FFF00"/>
                </a:solidFill>
                <a:latin typeface="Arial"/>
                <a:cs typeface="Arial"/>
              </a:rPr>
              <a:t>Dockerfile_cmd</a:t>
            </a:r>
            <a:r>
              <a:rPr sz="1600" spc="-25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sz="1600" spc="-50" dirty="0">
                <a:solidFill>
                  <a:srgbClr val="FFFF00"/>
                </a:solidFill>
                <a:latin typeface="Arial"/>
                <a:cs typeface="Arial"/>
              </a:rPr>
              <a:t>.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8974" y="1615876"/>
            <a:ext cx="4394835" cy="2707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solidFill>
                  <a:srgbClr val="D8D8D8"/>
                </a:solidFill>
                <a:latin typeface="Arial"/>
                <a:cs typeface="Arial"/>
              </a:rPr>
              <a:t>….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sz="1600" dirty="0">
                <a:solidFill>
                  <a:srgbClr val="D8D8D8"/>
                </a:solidFill>
                <a:latin typeface="Arial"/>
                <a:cs typeface="Arial"/>
              </a:rPr>
              <a:t>Step</a:t>
            </a:r>
            <a:r>
              <a:rPr sz="1600" spc="-2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D8D8D8"/>
                </a:solidFill>
                <a:latin typeface="Arial"/>
                <a:cs typeface="Arial"/>
              </a:rPr>
              <a:t>3/4</a:t>
            </a:r>
            <a:r>
              <a:rPr sz="1600" spc="-2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D8D8D8"/>
                </a:solidFill>
                <a:latin typeface="Arial"/>
                <a:cs typeface="Arial"/>
              </a:rPr>
              <a:t>:</a:t>
            </a:r>
            <a:r>
              <a:rPr sz="1600" spc="-2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D8D8D8"/>
                </a:solidFill>
                <a:latin typeface="Arial"/>
                <a:cs typeface="Arial"/>
              </a:rPr>
              <a:t>ENTRYPOINT</a:t>
            </a:r>
            <a:r>
              <a:rPr sz="1600" spc="-5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D8D8D8"/>
                </a:solidFill>
                <a:latin typeface="Arial"/>
                <a:cs typeface="Arial"/>
              </a:rPr>
              <a:t>["/bin/echo",</a:t>
            </a:r>
            <a:r>
              <a:rPr sz="1600" spc="-2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D8D8D8"/>
                </a:solidFill>
                <a:latin typeface="Arial"/>
                <a:cs typeface="Arial"/>
              </a:rPr>
              <a:t>"Hello"]</a:t>
            </a:r>
            <a:endParaRPr sz="1600">
              <a:latin typeface="Arial"/>
              <a:cs typeface="Arial"/>
            </a:endParaRPr>
          </a:p>
          <a:p>
            <a:pPr marL="55880">
              <a:lnSpc>
                <a:spcPct val="100000"/>
              </a:lnSpc>
            </a:pPr>
            <a:r>
              <a:rPr sz="1600" spc="-10" dirty="0">
                <a:solidFill>
                  <a:srgbClr val="D8D8D8"/>
                </a:solidFill>
                <a:latin typeface="Arial"/>
                <a:cs typeface="Arial"/>
              </a:rPr>
              <a:t>---</a:t>
            </a:r>
            <a:r>
              <a:rPr sz="1600" dirty="0">
                <a:solidFill>
                  <a:srgbClr val="D8D8D8"/>
                </a:solidFill>
                <a:latin typeface="Arial"/>
                <a:cs typeface="Arial"/>
              </a:rPr>
              <a:t>&gt;</a:t>
            </a:r>
            <a:r>
              <a:rPr sz="1600" spc="-2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D8D8D8"/>
                </a:solidFill>
                <a:latin typeface="Arial"/>
                <a:cs typeface="Arial"/>
              </a:rPr>
              <a:t>Running</a:t>
            </a:r>
            <a:r>
              <a:rPr sz="1600" spc="-1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D8D8D8"/>
                </a:solidFill>
                <a:latin typeface="Arial"/>
                <a:cs typeface="Arial"/>
              </a:rPr>
              <a:t>in</a:t>
            </a:r>
            <a:r>
              <a:rPr sz="1600" spc="-1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D8D8D8"/>
                </a:solidFill>
                <a:latin typeface="Arial"/>
                <a:cs typeface="Arial"/>
              </a:rPr>
              <a:t>52c7a98397ad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sz="1600" dirty="0">
                <a:solidFill>
                  <a:srgbClr val="D8D8D8"/>
                </a:solidFill>
                <a:latin typeface="Arial"/>
                <a:cs typeface="Arial"/>
              </a:rPr>
              <a:t>Removing</a:t>
            </a:r>
            <a:r>
              <a:rPr sz="1600" spc="-3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D8D8D8"/>
                </a:solidFill>
                <a:latin typeface="Arial"/>
                <a:cs typeface="Arial"/>
              </a:rPr>
              <a:t>intermediate</a:t>
            </a:r>
            <a:r>
              <a:rPr sz="16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D8D8D8"/>
                </a:solidFill>
                <a:latin typeface="Arial"/>
                <a:cs typeface="Arial"/>
              </a:rPr>
              <a:t>container</a:t>
            </a:r>
            <a:r>
              <a:rPr sz="1600" spc="-3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D8D8D8"/>
                </a:solidFill>
                <a:latin typeface="Arial"/>
                <a:cs typeface="Arial"/>
              </a:rPr>
              <a:t>52c7a98397ad</a:t>
            </a:r>
            <a:endParaRPr sz="1600">
              <a:latin typeface="Arial"/>
              <a:cs typeface="Arial"/>
            </a:endParaRPr>
          </a:p>
          <a:p>
            <a:pPr marR="2200275" indent="55880">
              <a:lnSpc>
                <a:spcPct val="100000"/>
              </a:lnSpc>
            </a:pPr>
            <a:r>
              <a:rPr sz="1600" spc="-10" dirty="0">
                <a:solidFill>
                  <a:srgbClr val="D8D8D8"/>
                </a:solidFill>
                <a:latin typeface="Arial"/>
                <a:cs typeface="Arial"/>
              </a:rPr>
              <a:t>---</a:t>
            </a:r>
            <a:r>
              <a:rPr sz="1600" dirty="0">
                <a:solidFill>
                  <a:srgbClr val="D8D8D8"/>
                </a:solidFill>
                <a:latin typeface="Arial"/>
                <a:cs typeface="Arial"/>
              </a:rPr>
              <a:t>&gt;</a:t>
            </a:r>
            <a:r>
              <a:rPr sz="1600" spc="-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D8D8D8"/>
                </a:solidFill>
                <a:latin typeface="Arial"/>
                <a:cs typeface="Arial"/>
              </a:rPr>
              <a:t>7e4f8b0774de</a:t>
            </a:r>
            <a:r>
              <a:rPr sz="1600" spc="50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D8D8D8"/>
                </a:solidFill>
                <a:latin typeface="Arial"/>
                <a:cs typeface="Arial"/>
              </a:rPr>
              <a:t>Step</a:t>
            </a:r>
            <a:r>
              <a:rPr sz="1600" spc="-2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D8D8D8"/>
                </a:solidFill>
                <a:latin typeface="Arial"/>
                <a:cs typeface="Arial"/>
              </a:rPr>
              <a:t>4/4</a:t>
            </a:r>
            <a:r>
              <a:rPr sz="1600" spc="-2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D8D8D8"/>
                </a:solidFill>
                <a:latin typeface="Arial"/>
                <a:cs typeface="Arial"/>
              </a:rPr>
              <a:t>:</a:t>
            </a:r>
            <a:r>
              <a:rPr sz="1600" spc="-2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D8D8D8"/>
                </a:solidFill>
                <a:latin typeface="Arial"/>
                <a:cs typeface="Arial"/>
              </a:rPr>
              <a:t>CMD</a:t>
            </a:r>
            <a:r>
              <a:rPr sz="1600" spc="-2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D8D8D8"/>
                </a:solidFill>
                <a:latin typeface="Arial"/>
                <a:cs typeface="Arial"/>
              </a:rPr>
              <a:t>["world"]</a:t>
            </a:r>
            <a:endParaRPr sz="1600">
              <a:latin typeface="Arial"/>
              <a:cs typeface="Arial"/>
            </a:endParaRPr>
          </a:p>
          <a:p>
            <a:pPr marL="55880">
              <a:lnSpc>
                <a:spcPct val="100000"/>
              </a:lnSpc>
            </a:pPr>
            <a:r>
              <a:rPr sz="1600" spc="-10" dirty="0">
                <a:solidFill>
                  <a:srgbClr val="D8D8D8"/>
                </a:solidFill>
                <a:latin typeface="Arial"/>
                <a:cs typeface="Arial"/>
              </a:rPr>
              <a:t>---</a:t>
            </a:r>
            <a:r>
              <a:rPr sz="1600" dirty="0">
                <a:solidFill>
                  <a:srgbClr val="D8D8D8"/>
                </a:solidFill>
                <a:latin typeface="Arial"/>
                <a:cs typeface="Arial"/>
              </a:rPr>
              <a:t>&gt;</a:t>
            </a:r>
            <a:r>
              <a:rPr sz="1600" spc="-2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D8D8D8"/>
                </a:solidFill>
                <a:latin typeface="Arial"/>
                <a:cs typeface="Arial"/>
              </a:rPr>
              <a:t>Running</a:t>
            </a:r>
            <a:r>
              <a:rPr sz="1600" spc="-1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D8D8D8"/>
                </a:solidFill>
                <a:latin typeface="Arial"/>
                <a:cs typeface="Arial"/>
              </a:rPr>
              <a:t>in</a:t>
            </a:r>
            <a:r>
              <a:rPr sz="1600" spc="-1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D8D8D8"/>
                </a:solidFill>
                <a:latin typeface="Arial"/>
                <a:cs typeface="Arial"/>
              </a:rPr>
              <a:t>353adb968c2b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sz="1600" dirty="0">
                <a:solidFill>
                  <a:srgbClr val="D8D8D8"/>
                </a:solidFill>
                <a:latin typeface="Arial"/>
                <a:cs typeface="Arial"/>
              </a:rPr>
              <a:t>Removing</a:t>
            </a:r>
            <a:r>
              <a:rPr sz="1600" spc="-3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D8D8D8"/>
                </a:solidFill>
                <a:latin typeface="Arial"/>
                <a:cs typeface="Arial"/>
              </a:rPr>
              <a:t>intermediate</a:t>
            </a:r>
            <a:r>
              <a:rPr sz="16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D8D8D8"/>
                </a:solidFill>
                <a:latin typeface="Arial"/>
                <a:cs typeface="Arial"/>
              </a:rPr>
              <a:t>container</a:t>
            </a:r>
            <a:r>
              <a:rPr sz="1600" spc="-3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D8D8D8"/>
                </a:solidFill>
                <a:latin typeface="Arial"/>
                <a:cs typeface="Arial"/>
              </a:rPr>
              <a:t>353adb968c2b</a:t>
            </a:r>
            <a:endParaRPr sz="1600">
              <a:latin typeface="Arial"/>
              <a:cs typeface="Arial"/>
            </a:endParaRPr>
          </a:p>
          <a:p>
            <a:pPr marL="55880">
              <a:lnSpc>
                <a:spcPct val="100000"/>
              </a:lnSpc>
            </a:pPr>
            <a:r>
              <a:rPr sz="1600" spc="-10" dirty="0">
                <a:solidFill>
                  <a:srgbClr val="D8D8D8"/>
                </a:solidFill>
                <a:latin typeface="Arial"/>
                <a:cs typeface="Arial"/>
              </a:rPr>
              <a:t>---</a:t>
            </a:r>
            <a:r>
              <a:rPr sz="1600" dirty="0">
                <a:solidFill>
                  <a:srgbClr val="D8D8D8"/>
                </a:solidFill>
                <a:latin typeface="Arial"/>
                <a:cs typeface="Arial"/>
              </a:rPr>
              <a:t>&gt;</a:t>
            </a:r>
            <a:r>
              <a:rPr sz="1600" spc="-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D8D8D8"/>
                </a:solidFill>
                <a:latin typeface="Arial"/>
                <a:cs typeface="Arial"/>
              </a:rPr>
              <a:t>a89172ee2876</a:t>
            </a:r>
            <a:endParaRPr sz="1600">
              <a:latin typeface="Arial"/>
              <a:cs typeface="Arial"/>
            </a:endParaRPr>
          </a:p>
          <a:p>
            <a:pPr marR="456565">
              <a:lnSpc>
                <a:spcPct val="100000"/>
              </a:lnSpc>
            </a:pPr>
            <a:r>
              <a:rPr sz="1600" dirty="0">
                <a:solidFill>
                  <a:srgbClr val="D8D8D8"/>
                </a:solidFill>
                <a:latin typeface="Arial"/>
                <a:cs typeface="Arial"/>
              </a:rPr>
              <a:t>Successfully</a:t>
            </a:r>
            <a:r>
              <a:rPr sz="1600" spc="-4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D8D8D8"/>
                </a:solidFill>
                <a:latin typeface="Arial"/>
                <a:cs typeface="Arial"/>
              </a:rPr>
              <a:t>built</a:t>
            </a:r>
            <a:r>
              <a:rPr sz="1600" spc="-3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D8D8D8"/>
                </a:solidFill>
                <a:latin typeface="Arial"/>
                <a:cs typeface="Arial"/>
              </a:rPr>
              <a:t>a89172ee2876 </a:t>
            </a:r>
            <a:r>
              <a:rPr sz="1600" dirty="0">
                <a:solidFill>
                  <a:srgbClr val="D8D8D8"/>
                </a:solidFill>
                <a:latin typeface="Arial"/>
                <a:cs typeface="Arial"/>
              </a:rPr>
              <a:t>Successfully</a:t>
            </a:r>
            <a:r>
              <a:rPr sz="1600" spc="-5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D8D8D8"/>
                </a:solidFill>
                <a:latin typeface="Arial"/>
                <a:cs typeface="Arial"/>
              </a:rPr>
              <a:t>tagged</a:t>
            </a:r>
            <a:r>
              <a:rPr sz="1600" spc="-5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D8D8D8"/>
                </a:solidFill>
                <a:latin typeface="Arial"/>
                <a:cs typeface="Arial"/>
              </a:rPr>
              <a:t>hello_world_cmd:latest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906711" y="1851153"/>
            <a:ext cx="1661795" cy="1343660"/>
            <a:chOff x="5906711" y="1851153"/>
            <a:chExt cx="1661795" cy="134366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06711" y="1851153"/>
              <a:ext cx="1661524" cy="39432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51473" y="1872915"/>
              <a:ext cx="1572000" cy="30480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5951474" y="1872915"/>
              <a:ext cx="1572260" cy="304800"/>
            </a:xfrm>
            <a:custGeom>
              <a:avLst/>
              <a:gdLst/>
              <a:ahLst/>
              <a:cxnLst/>
              <a:rect l="l" t="t" r="r" b="b"/>
              <a:pathLst>
                <a:path w="1572259" h="304800">
                  <a:moveTo>
                    <a:pt x="0" y="152399"/>
                  </a:moveTo>
                  <a:lnTo>
                    <a:pt x="152397" y="0"/>
                  </a:lnTo>
                  <a:lnTo>
                    <a:pt x="152397" y="76199"/>
                  </a:lnTo>
                  <a:lnTo>
                    <a:pt x="1571999" y="76199"/>
                  </a:lnTo>
                  <a:lnTo>
                    <a:pt x="1571999" y="228599"/>
                  </a:lnTo>
                  <a:lnTo>
                    <a:pt x="152397" y="228599"/>
                  </a:lnTo>
                  <a:lnTo>
                    <a:pt x="152397" y="304799"/>
                  </a:lnTo>
                  <a:lnTo>
                    <a:pt x="0" y="152399"/>
                  </a:lnTo>
                  <a:close/>
                </a:path>
              </a:pathLst>
            </a:custGeom>
            <a:ln w="9524">
              <a:solidFill>
                <a:srgbClr val="4A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06711" y="2800290"/>
              <a:ext cx="1661524" cy="39432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51473" y="2822051"/>
              <a:ext cx="1572000" cy="30480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5951474" y="2822052"/>
              <a:ext cx="1572260" cy="304800"/>
            </a:xfrm>
            <a:custGeom>
              <a:avLst/>
              <a:gdLst/>
              <a:ahLst/>
              <a:cxnLst/>
              <a:rect l="l" t="t" r="r" b="b"/>
              <a:pathLst>
                <a:path w="1572259" h="304800">
                  <a:moveTo>
                    <a:pt x="0" y="152399"/>
                  </a:moveTo>
                  <a:lnTo>
                    <a:pt x="152399" y="0"/>
                  </a:lnTo>
                  <a:lnTo>
                    <a:pt x="152399" y="76199"/>
                  </a:lnTo>
                  <a:lnTo>
                    <a:pt x="1571999" y="76199"/>
                  </a:lnTo>
                  <a:lnTo>
                    <a:pt x="1571999" y="228599"/>
                  </a:lnTo>
                  <a:lnTo>
                    <a:pt x="152399" y="228599"/>
                  </a:lnTo>
                  <a:lnTo>
                    <a:pt x="152399" y="304799"/>
                  </a:lnTo>
                  <a:lnTo>
                    <a:pt x="0" y="152399"/>
                  </a:lnTo>
                  <a:close/>
                </a:path>
              </a:pathLst>
            </a:custGeom>
            <a:ln w="9524">
              <a:solidFill>
                <a:srgbClr val="4A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7669324" y="1824630"/>
            <a:ext cx="19812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8CB3E3"/>
                </a:solidFill>
                <a:latin typeface="Arial"/>
                <a:cs typeface="Arial"/>
              </a:rPr>
              <a:t>Step3:</a:t>
            </a:r>
            <a:r>
              <a:rPr sz="1800" spc="-25" dirty="0">
                <a:solidFill>
                  <a:srgbClr val="8CB3E3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8CB3E3"/>
                </a:solidFill>
                <a:latin typeface="Arial"/>
                <a:cs typeface="Arial"/>
              </a:rPr>
              <a:t>Instruction</a:t>
            </a:r>
            <a:r>
              <a:rPr sz="1800" spc="-20" dirty="0">
                <a:solidFill>
                  <a:srgbClr val="8CB3E3"/>
                </a:solidFill>
                <a:latin typeface="Arial"/>
                <a:cs typeface="Arial"/>
              </a:rPr>
              <a:t> </a:t>
            </a:r>
            <a:r>
              <a:rPr sz="1800" spc="-50" dirty="0">
                <a:solidFill>
                  <a:srgbClr val="8CB3E3"/>
                </a:solidFill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spc="-25" dirty="0"/>
              <a:t>30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7669324" y="2773781"/>
            <a:ext cx="19812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8CB3E3"/>
                </a:solidFill>
                <a:latin typeface="Arial"/>
                <a:cs typeface="Arial"/>
              </a:rPr>
              <a:t>Step4:</a:t>
            </a:r>
            <a:r>
              <a:rPr sz="1800" spc="-25" dirty="0">
                <a:solidFill>
                  <a:srgbClr val="8CB3E3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8CB3E3"/>
                </a:solidFill>
                <a:latin typeface="Arial"/>
                <a:cs typeface="Arial"/>
              </a:rPr>
              <a:t>Instruction</a:t>
            </a:r>
            <a:r>
              <a:rPr sz="1800" spc="-20" dirty="0">
                <a:solidFill>
                  <a:srgbClr val="8CB3E3"/>
                </a:solidFill>
                <a:latin typeface="Arial"/>
                <a:cs typeface="Arial"/>
              </a:rPr>
              <a:t> </a:t>
            </a:r>
            <a:r>
              <a:rPr sz="1800" spc="-50" dirty="0">
                <a:solidFill>
                  <a:srgbClr val="8CB3E3"/>
                </a:solidFill>
                <a:latin typeface="Arial"/>
                <a:cs typeface="Arial"/>
              </a:rPr>
              <a:t>4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Docker</a:t>
            </a:r>
            <a:r>
              <a:rPr spc="-15" dirty="0"/>
              <a:t> </a:t>
            </a:r>
            <a:r>
              <a:rPr dirty="0"/>
              <a:t>Image</a:t>
            </a:r>
            <a:r>
              <a:rPr spc="-10" dirty="0"/>
              <a:t> </a:t>
            </a:r>
            <a:r>
              <a:rPr dirty="0"/>
              <a:t>as</a:t>
            </a:r>
            <a:r>
              <a:rPr spc="-10" dirty="0"/>
              <a:t> Layers</a:t>
            </a:r>
          </a:p>
        </p:txBody>
      </p:sp>
      <p:sp>
        <p:nvSpPr>
          <p:cNvPr id="3" name="object 3"/>
          <p:cNvSpPr/>
          <p:nvPr/>
        </p:nvSpPr>
        <p:spPr>
          <a:xfrm>
            <a:off x="437149" y="2418924"/>
            <a:ext cx="10099675" cy="2124075"/>
          </a:xfrm>
          <a:custGeom>
            <a:avLst/>
            <a:gdLst/>
            <a:ahLst/>
            <a:cxnLst/>
            <a:rect l="l" t="t" r="r" b="b"/>
            <a:pathLst>
              <a:path w="10099675" h="2124075">
                <a:moveTo>
                  <a:pt x="10099200" y="0"/>
                </a:moveTo>
                <a:lnTo>
                  <a:pt x="0" y="0"/>
                </a:lnTo>
                <a:lnTo>
                  <a:pt x="0" y="2123700"/>
                </a:lnTo>
                <a:lnTo>
                  <a:pt x="10099200" y="2123700"/>
                </a:lnTo>
                <a:lnTo>
                  <a:pt x="10099200" y="0"/>
                </a:lnTo>
                <a:close/>
              </a:path>
            </a:pathLst>
          </a:custGeom>
          <a:solidFill>
            <a:srgbClr val="3F3F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22874" y="2438228"/>
            <a:ext cx="27355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1445" indent="-131445">
              <a:lnSpc>
                <a:spcPct val="100000"/>
              </a:lnSpc>
              <a:spcBef>
                <a:spcPts val="100"/>
              </a:spcBef>
              <a:buClr>
                <a:srgbClr val="D8D8D8"/>
              </a:buClr>
              <a:buChar char="&gt;"/>
              <a:tabLst>
                <a:tab pos="131445" algn="l"/>
              </a:tabLst>
            </a:pPr>
            <a:r>
              <a:rPr sz="1200" dirty="0">
                <a:solidFill>
                  <a:srgbClr val="FFFF00"/>
                </a:solidFill>
                <a:latin typeface="Arial"/>
                <a:cs typeface="Arial"/>
              </a:rPr>
              <a:t>docker</a:t>
            </a:r>
            <a:r>
              <a:rPr sz="1200" spc="-15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00"/>
                </a:solidFill>
                <a:latin typeface="Arial"/>
                <a:cs typeface="Arial"/>
              </a:rPr>
              <a:t>image</a:t>
            </a:r>
            <a:r>
              <a:rPr sz="1200" spc="-15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00"/>
                </a:solidFill>
                <a:latin typeface="Arial"/>
                <a:cs typeface="Arial"/>
              </a:rPr>
              <a:t>history</a:t>
            </a:r>
            <a:r>
              <a:rPr sz="1200" spc="-10" dirty="0">
                <a:solidFill>
                  <a:srgbClr val="FFFF00"/>
                </a:solidFill>
                <a:latin typeface="Arial"/>
                <a:cs typeface="Arial"/>
              </a:rPr>
              <a:t> hello_world_cmd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11800" y="2621108"/>
            <a:ext cx="43764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2562860" algn="l"/>
                <a:tab pos="3576320" algn="l"/>
              </a:tabLst>
            </a:pPr>
            <a:r>
              <a:rPr sz="1200" spc="-10" dirty="0">
                <a:solidFill>
                  <a:srgbClr val="D8D8D8"/>
                </a:solidFill>
                <a:latin typeface="Arial"/>
                <a:cs typeface="Arial"/>
              </a:rPr>
              <a:t>CREATED</a:t>
            </a:r>
            <a:r>
              <a:rPr sz="1200" spc="-5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200" spc="-25" dirty="0">
                <a:solidFill>
                  <a:srgbClr val="D8D8D8"/>
                </a:solidFill>
                <a:latin typeface="Arial"/>
                <a:cs typeface="Arial"/>
              </a:rPr>
              <a:t>BY</a:t>
            </a:r>
            <a:r>
              <a:rPr sz="1200" dirty="0">
                <a:solidFill>
                  <a:srgbClr val="D8D8D8"/>
                </a:solidFill>
                <a:latin typeface="Arial"/>
                <a:cs typeface="Arial"/>
              </a:rPr>
              <a:t>	</a:t>
            </a:r>
            <a:r>
              <a:rPr sz="1200" spc="-20" dirty="0">
                <a:solidFill>
                  <a:srgbClr val="D8D8D8"/>
                </a:solidFill>
                <a:latin typeface="Arial"/>
                <a:cs typeface="Arial"/>
              </a:rPr>
              <a:t>SIZE</a:t>
            </a:r>
            <a:r>
              <a:rPr sz="1200" dirty="0">
                <a:solidFill>
                  <a:srgbClr val="D8D8D8"/>
                </a:solidFill>
                <a:latin typeface="Arial"/>
                <a:cs typeface="Arial"/>
              </a:rPr>
              <a:t>	</a:t>
            </a:r>
            <a:r>
              <a:rPr sz="1200" spc="-10" dirty="0">
                <a:solidFill>
                  <a:srgbClr val="D8D8D8"/>
                </a:solidFill>
                <a:latin typeface="Arial"/>
                <a:cs typeface="Arial"/>
              </a:rPr>
              <a:t>COMMENT</a:t>
            </a:r>
            <a:endParaRPr sz="1200">
              <a:latin typeface="Arial"/>
              <a:cs typeface="Arial"/>
            </a:endParaRPr>
          </a:p>
          <a:p>
            <a:pPr marL="217804">
              <a:lnSpc>
                <a:spcPct val="100000"/>
              </a:lnSpc>
              <a:tabLst>
                <a:tab pos="3023870" algn="l"/>
              </a:tabLst>
            </a:pPr>
            <a:r>
              <a:rPr sz="1200" dirty="0">
                <a:solidFill>
                  <a:srgbClr val="D8D8D8"/>
                </a:solidFill>
                <a:latin typeface="Arial"/>
                <a:cs typeface="Arial"/>
              </a:rPr>
              <a:t>/bin/sh</a:t>
            </a:r>
            <a:r>
              <a:rPr sz="1200" spc="-1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D8D8D8"/>
                </a:solidFill>
                <a:latin typeface="Arial"/>
                <a:cs typeface="Arial"/>
              </a:rPr>
              <a:t>-</a:t>
            </a:r>
            <a:r>
              <a:rPr sz="1200" dirty="0">
                <a:solidFill>
                  <a:srgbClr val="D8D8D8"/>
                </a:solidFill>
                <a:latin typeface="Arial"/>
                <a:cs typeface="Arial"/>
              </a:rPr>
              <a:t>c</a:t>
            </a:r>
            <a:r>
              <a:rPr sz="1200" spc="-1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D8D8D8"/>
                </a:solidFill>
                <a:latin typeface="Arial"/>
                <a:cs typeface="Arial"/>
              </a:rPr>
              <a:t>#(nop)</a:t>
            </a:r>
            <a:r>
              <a:rPr sz="1200" spc="31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D8D8D8"/>
                </a:solidFill>
                <a:latin typeface="Arial"/>
                <a:cs typeface="Arial"/>
              </a:rPr>
              <a:t>CMD</a:t>
            </a:r>
            <a:r>
              <a:rPr sz="1200" spc="-10" dirty="0">
                <a:solidFill>
                  <a:srgbClr val="D8D8D8"/>
                </a:solidFill>
                <a:latin typeface="Arial"/>
                <a:cs typeface="Arial"/>
              </a:rPr>
              <a:t> ["world"]</a:t>
            </a:r>
            <a:r>
              <a:rPr sz="1200" dirty="0">
                <a:solidFill>
                  <a:srgbClr val="D8D8D8"/>
                </a:solidFill>
                <a:latin typeface="Arial"/>
                <a:cs typeface="Arial"/>
              </a:rPr>
              <a:t>	</a:t>
            </a:r>
            <a:r>
              <a:rPr sz="1200" spc="-25" dirty="0">
                <a:solidFill>
                  <a:srgbClr val="D8D8D8"/>
                </a:solidFill>
                <a:latin typeface="Arial"/>
                <a:cs typeface="Arial"/>
              </a:rPr>
              <a:t>0B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22874" y="2621108"/>
            <a:ext cx="1029969" cy="1671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D8D8D8"/>
                </a:solidFill>
                <a:latin typeface="Arial"/>
                <a:cs typeface="Arial"/>
              </a:rPr>
              <a:t>IMAGE a89172ee2876</a:t>
            </a:r>
            <a:endParaRPr sz="1200">
              <a:latin typeface="Arial"/>
              <a:cs typeface="Arial"/>
            </a:endParaRPr>
          </a:p>
          <a:p>
            <a:pPr marR="46990" algn="just">
              <a:lnSpc>
                <a:spcPct val="100000"/>
              </a:lnSpc>
            </a:pPr>
            <a:r>
              <a:rPr sz="1200" spc="-10" dirty="0">
                <a:solidFill>
                  <a:srgbClr val="D8D8D8"/>
                </a:solidFill>
                <a:latin typeface="Arial"/>
                <a:cs typeface="Arial"/>
              </a:rPr>
              <a:t>7e4f8b0774de cfc0c414a914 4e2eef94cd6b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sz="1200" spc="-10" dirty="0">
                <a:solidFill>
                  <a:srgbClr val="D8D8D8"/>
                </a:solidFill>
                <a:latin typeface="Arial"/>
                <a:cs typeface="Arial"/>
              </a:rPr>
              <a:t>&lt;missing&gt;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sz="1200" spc="-10" dirty="0">
                <a:solidFill>
                  <a:srgbClr val="D8D8D8"/>
                </a:solidFill>
                <a:latin typeface="Arial"/>
                <a:cs typeface="Arial"/>
              </a:rPr>
              <a:t>&lt;missing&gt;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sz="1200" spc="-10" dirty="0">
                <a:solidFill>
                  <a:srgbClr val="D8D8D8"/>
                </a:solidFill>
                <a:latin typeface="Arial"/>
                <a:cs typeface="Arial"/>
              </a:rPr>
              <a:t>&lt;missing&gt;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sz="1200" spc="-10" dirty="0">
                <a:solidFill>
                  <a:srgbClr val="D8D8D8"/>
                </a:solidFill>
                <a:latin typeface="Arial"/>
                <a:cs typeface="Arial"/>
              </a:rPr>
              <a:t>&lt;missing&gt;</a:t>
            </a:r>
            <a:endParaRPr sz="12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46674" y="2621108"/>
            <a:ext cx="1200785" cy="1671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D8D8D8"/>
                </a:solidFill>
                <a:latin typeface="Arial"/>
                <a:cs typeface="Arial"/>
              </a:rPr>
              <a:t>CREATED</a:t>
            </a:r>
            <a:endParaRPr sz="1200">
              <a:latin typeface="Arial"/>
              <a:cs typeface="Arial"/>
            </a:endParaRPr>
          </a:p>
          <a:p>
            <a:pPr marL="230504">
              <a:lnSpc>
                <a:spcPct val="100000"/>
              </a:lnSpc>
            </a:pPr>
            <a:r>
              <a:rPr sz="1200" dirty="0">
                <a:solidFill>
                  <a:srgbClr val="D8D8D8"/>
                </a:solidFill>
                <a:latin typeface="Arial"/>
                <a:cs typeface="Arial"/>
              </a:rPr>
              <a:t>8</a:t>
            </a:r>
            <a:r>
              <a:rPr sz="1200" spc="-1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D8D8D8"/>
                </a:solidFill>
                <a:latin typeface="Arial"/>
                <a:cs typeface="Arial"/>
              </a:rPr>
              <a:t>minutes</a:t>
            </a:r>
            <a:r>
              <a:rPr sz="1200" spc="-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200" spc="-25" dirty="0">
                <a:solidFill>
                  <a:srgbClr val="D8D8D8"/>
                </a:solidFill>
                <a:latin typeface="Arial"/>
                <a:cs typeface="Arial"/>
              </a:rPr>
              <a:t>ago</a:t>
            </a:r>
            <a:endParaRPr sz="1200">
              <a:latin typeface="Arial"/>
              <a:cs typeface="Arial"/>
            </a:endParaRPr>
          </a:p>
          <a:p>
            <a:pPr marL="187960">
              <a:lnSpc>
                <a:spcPct val="100000"/>
              </a:lnSpc>
            </a:pPr>
            <a:r>
              <a:rPr sz="1200" dirty="0">
                <a:solidFill>
                  <a:srgbClr val="D8D8D8"/>
                </a:solidFill>
                <a:latin typeface="Arial"/>
                <a:cs typeface="Arial"/>
              </a:rPr>
              <a:t>8</a:t>
            </a:r>
            <a:r>
              <a:rPr sz="1200" spc="-1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D8D8D8"/>
                </a:solidFill>
                <a:latin typeface="Arial"/>
                <a:cs typeface="Arial"/>
              </a:rPr>
              <a:t>minutes</a:t>
            </a:r>
            <a:r>
              <a:rPr sz="1200" spc="-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200" spc="-25" dirty="0">
                <a:solidFill>
                  <a:srgbClr val="D8D8D8"/>
                </a:solidFill>
                <a:latin typeface="Arial"/>
                <a:cs typeface="Arial"/>
              </a:rPr>
              <a:t>ago</a:t>
            </a:r>
            <a:endParaRPr sz="1200">
              <a:latin typeface="Arial"/>
              <a:cs typeface="Arial"/>
            </a:endParaRPr>
          </a:p>
          <a:p>
            <a:pPr marL="162560">
              <a:lnSpc>
                <a:spcPct val="100000"/>
              </a:lnSpc>
            </a:pPr>
            <a:r>
              <a:rPr sz="1200" dirty="0">
                <a:solidFill>
                  <a:srgbClr val="D8D8D8"/>
                </a:solidFill>
                <a:latin typeface="Arial"/>
                <a:cs typeface="Arial"/>
              </a:rPr>
              <a:t>8</a:t>
            </a:r>
            <a:r>
              <a:rPr sz="1200" spc="-1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D8D8D8"/>
                </a:solidFill>
                <a:latin typeface="Arial"/>
                <a:cs typeface="Arial"/>
              </a:rPr>
              <a:t>minutes</a:t>
            </a:r>
            <a:r>
              <a:rPr sz="1200" spc="-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200" spc="-25" dirty="0">
                <a:solidFill>
                  <a:srgbClr val="D8D8D8"/>
                </a:solidFill>
                <a:latin typeface="Arial"/>
                <a:cs typeface="Arial"/>
              </a:rPr>
              <a:t>ago</a:t>
            </a:r>
            <a:endParaRPr sz="1200">
              <a:latin typeface="Arial"/>
              <a:cs typeface="Arial"/>
            </a:endParaRPr>
          </a:p>
          <a:p>
            <a:pPr marL="179705">
              <a:lnSpc>
                <a:spcPct val="100000"/>
              </a:lnSpc>
            </a:pPr>
            <a:r>
              <a:rPr sz="1200" dirty="0">
                <a:solidFill>
                  <a:srgbClr val="D8D8D8"/>
                </a:solidFill>
                <a:latin typeface="Arial"/>
                <a:cs typeface="Arial"/>
              </a:rPr>
              <a:t>3</a:t>
            </a:r>
            <a:r>
              <a:rPr sz="1200" spc="-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D8D8D8"/>
                </a:solidFill>
                <a:latin typeface="Arial"/>
                <a:cs typeface="Arial"/>
              </a:rPr>
              <a:t>weeks</a:t>
            </a:r>
            <a:r>
              <a:rPr sz="1200" spc="-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200" spc="-25" dirty="0">
                <a:solidFill>
                  <a:srgbClr val="D8D8D8"/>
                </a:solidFill>
                <a:latin typeface="Arial"/>
                <a:cs typeface="Arial"/>
              </a:rPr>
              <a:t>ago</a:t>
            </a:r>
            <a:endParaRPr sz="1200">
              <a:latin typeface="Arial"/>
              <a:cs typeface="Arial"/>
            </a:endParaRPr>
          </a:p>
          <a:p>
            <a:pPr marL="34290">
              <a:lnSpc>
                <a:spcPct val="100000"/>
              </a:lnSpc>
            </a:pPr>
            <a:r>
              <a:rPr sz="1200" dirty="0">
                <a:solidFill>
                  <a:srgbClr val="D8D8D8"/>
                </a:solidFill>
                <a:latin typeface="Arial"/>
                <a:cs typeface="Arial"/>
              </a:rPr>
              <a:t>3</a:t>
            </a:r>
            <a:r>
              <a:rPr sz="1200" spc="-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D8D8D8"/>
                </a:solidFill>
                <a:latin typeface="Arial"/>
                <a:cs typeface="Arial"/>
              </a:rPr>
              <a:t>weeks</a:t>
            </a:r>
            <a:r>
              <a:rPr sz="1200" spc="-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200" spc="-25" dirty="0">
                <a:solidFill>
                  <a:srgbClr val="D8D8D8"/>
                </a:solidFill>
                <a:latin typeface="Arial"/>
                <a:cs typeface="Arial"/>
              </a:rPr>
              <a:t>ago</a:t>
            </a:r>
            <a:endParaRPr sz="1200">
              <a:latin typeface="Arial"/>
              <a:cs typeface="Arial"/>
            </a:endParaRPr>
          </a:p>
          <a:p>
            <a:pPr marL="34290">
              <a:lnSpc>
                <a:spcPct val="100000"/>
              </a:lnSpc>
            </a:pPr>
            <a:r>
              <a:rPr sz="1200" dirty="0">
                <a:solidFill>
                  <a:srgbClr val="D8D8D8"/>
                </a:solidFill>
                <a:latin typeface="Arial"/>
                <a:cs typeface="Arial"/>
              </a:rPr>
              <a:t>3</a:t>
            </a:r>
            <a:r>
              <a:rPr sz="1200" spc="-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D8D8D8"/>
                </a:solidFill>
                <a:latin typeface="Arial"/>
                <a:cs typeface="Arial"/>
              </a:rPr>
              <a:t>weeks</a:t>
            </a:r>
            <a:r>
              <a:rPr sz="1200" spc="-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200" spc="-25" dirty="0">
                <a:solidFill>
                  <a:srgbClr val="D8D8D8"/>
                </a:solidFill>
                <a:latin typeface="Arial"/>
                <a:cs typeface="Arial"/>
              </a:rPr>
              <a:t>ago</a:t>
            </a:r>
            <a:endParaRPr sz="1200">
              <a:latin typeface="Arial"/>
              <a:cs typeface="Arial"/>
            </a:endParaRPr>
          </a:p>
          <a:p>
            <a:pPr marL="34290">
              <a:lnSpc>
                <a:spcPct val="100000"/>
              </a:lnSpc>
            </a:pPr>
            <a:r>
              <a:rPr sz="1200" dirty="0">
                <a:solidFill>
                  <a:srgbClr val="D8D8D8"/>
                </a:solidFill>
                <a:latin typeface="Arial"/>
                <a:cs typeface="Arial"/>
              </a:rPr>
              <a:t>3</a:t>
            </a:r>
            <a:r>
              <a:rPr sz="1200" spc="-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D8D8D8"/>
                </a:solidFill>
                <a:latin typeface="Arial"/>
                <a:cs typeface="Arial"/>
              </a:rPr>
              <a:t>weeks</a:t>
            </a:r>
            <a:r>
              <a:rPr sz="1200" spc="-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200" spc="-25" dirty="0">
                <a:solidFill>
                  <a:srgbClr val="D8D8D8"/>
                </a:solidFill>
                <a:latin typeface="Arial"/>
                <a:cs typeface="Arial"/>
              </a:rPr>
              <a:t>ago</a:t>
            </a:r>
            <a:endParaRPr sz="1200">
              <a:latin typeface="Arial"/>
              <a:cs typeface="Arial"/>
            </a:endParaRPr>
          </a:p>
          <a:p>
            <a:pPr marL="34290">
              <a:lnSpc>
                <a:spcPct val="100000"/>
              </a:lnSpc>
            </a:pPr>
            <a:r>
              <a:rPr sz="1200" dirty="0">
                <a:solidFill>
                  <a:srgbClr val="D8D8D8"/>
                </a:solidFill>
                <a:latin typeface="Arial"/>
                <a:cs typeface="Arial"/>
              </a:rPr>
              <a:t>3</a:t>
            </a:r>
            <a:r>
              <a:rPr sz="1200" spc="-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D8D8D8"/>
                </a:solidFill>
                <a:latin typeface="Arial"/>
                <a:cs typeface="Arial"/>
              </a:rPr>
              <a:t>weeks</a:t>
            </a:r>
            <a:r>
              <a:rPr sz="1200" spc="-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200" spc="-25" dirty="0">
                <a:solidFill>
                  <a:srgbClr val="D8D8D8"/>
                </a:solidFill>
                <a:latin typeface="Arial"/>
                <a:cs typeface="Arial"/>
              </a:rPr>
              <a:t>ago</a:t>
            </a:r>
            <a:endParaRPr sz="12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16809" y="2986868"/>
            <a:ext cx="3865879" cy="1305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018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D8D8D8"/>
                </a:solidFill>
                <a:latin typeface="Arial"/>
                <a:cs typeface="Arial"/>
              </a:rPr>
              <a:t>/bin/sh</a:t>
            </a:r>
            <a:r>
              <a:rPr sz="1200" spc="-1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D8D8D8"/>
                </a:solidFill>
                <a:latin typeface="Arial"/>
                <a:cs typeface="Arial"/>
              </a:rPr>
              <a:t>-</a:t>
            </a:r>
            <a:r>
              <a:rPr sz="1200" dirty="0">
                <a:solidFill>
                  <a:srgbClr val="D8D8D8"/>
                </a:solidFill>
                <a:latin typeface="Arial"/>
                <a:cs typeface="Arial"/>
              </a:rPr>
              <a:t>c</a:t>
            </a:r>
            <a:r>
              <a:rPr sz="1200" spc="-1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D8D8D8"/>
                </a:solidFill>
                <a:latin typeface="Arial"/>
                <a:cs typeface="Arial"/>
              </a:rPr>
              <a:t>#(nop)</a:t>
            </a:r>
            <a:r>
              <a:rPr sz="1200" spc="31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D8D8D8"/>
                </a:solidFill>
                <a:latin typeface="Arial"/>
                <a:cs typeface="Arial"/>
              </a:rPr>
              <a:t>ENTRYPOINT</a:t>
            </a:r>
            <a:r>
              <a:rPr sz="12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D8D8D8"/>
                </a:solidFill>
                <a:latin typeface="Arial"/>
                <a:cs typeface="Arial"/>
              </a:rPr>
              <a:t>["/bin/echo"</a:t>
            </a:r>
            <a:r>
              <a:rPr sz="1200" spc="-1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D8D8D8"/>
                </a:solidFill>
                <a:latin typeface="Arial"/>
                <a:cs typeface="Arial"/>
              </a:rPr>
              <a:t>"…</a:t>
            </a:r>
            <a:r>
              <a:rPr sz="1200" spc="155" dirty="0">
                <a:solidFill>
                  <a:srgbClr val="D8D8D8"/>
                </a:solidFill>
                <a:latin typeface="Arial"/>
                <a:cs typeface="Arial"/>
              </a:rPr>
              <a:t>  </a:t>
            </a:r>
            <a:r>
              <a:rPr sz="1200" spc="-25" dirty="0">
                <a:solidFill>
                  <a:srgbClr val="D8D8D8"/>
                </a:solidFill>
                <a:latin typeface="Arial"/>
                <a:cs typeface="Arial"/>
              </a:rPr>
              <a:t>0B</a:t>
            </a:r>
            <a:endParaRPr sz="1200">
              <a:latin typeface="Arial"/>
              <a:cs typeface="Arial"/>
            </a:endParaRPr>
          </a:p>
          <a:p>
            <a:pPr marL="144780">
              <a:lnSpc>
                <a:spcPct val="100000"/>
              </a:lnSpc>
              <a:tabLst>
                <a:tab pos="2758440" algn="l"/>
              </a:tabLst>
            </a:pPr>
            <a:r>
              <a:rPr sz="1200" dirty="0">
                <a:solidFill>
                  <a:srgbClr val="D8D8D8"/>
                </a:solidFill>
                <a:latin typeface="Arial"/>
                <a:cs typeface="Arial"/>
              </a:rPr>
              <a:t>/bin/sh</a:t>
            </a:r>
            <a:r>
              <a:rPr sz="1200" spc="-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D8D8D8"/>
                </a:solidFill>
                <a:latin typeface="Arial"/>
                <a:cs typeface="Arial"/>
              </a:rPr>
              <a:t>-</a:t>
            </a:r>
            <a:r>
              <a:rPr sz="1200" dirty="0">
                <a:solidFill>
                  <a:srgbClr val="D8D8D8"/>
                </a:solidFill>
                <a:latin typeface="Arial"/>
                <a:cs typeface="Arial"/>
              </a:rPr>
              <a:t>c </a:t>
            </a:r>
            <a:r>
              <a:rPr sz="1200" spc="-10" dirty="0">
                <a:solidFill>
                  <a:srgbClr val="D8D8D8"/>
                </a:solidFill>
                <a:latin typeface="Arial"/>
                <a:cs typeface="Arial"/>
              </a:rPr>
              <a:t>apt-</a:t>
            </a:r>
            <a:r>
              <a:rPr sz="1200" dirty="0">
                <a:solidFill>
                  <a:srgbClr val="D8D8D8"/>
                </a:solidFill>
                <a:latin typeface="Arial"/>
                <a:cs typeface="Arial"/>
              </a:rPr>
              <a:t>get </a:t>
            </a:r>
            <a:r>
              <a:rPr sz="1200" spc="-10" dirty="0">
                <a:solidFill>
                  <a:srgbClr val="D8D8D8"/>
                </a:solidFill>
                <a:latin typeface="Arial"/>
                <a:cs typeface="Arial"/>
              </a:rPr>
              <a:t>update</a:t>
            </a:r>
            <a:r>
              <a:rPr sz="1200" dirty="0">
                <a:solidFill>
                  <a:srgbClr val="D8D8D8"/>
                </a:solidFill>
                <a:latin typeface="Arial"/>
                <a:cs typeface="Arial"/>
              </a:rPr>
              <a:t>	</a:t>
            </a:r>
            <a:r>
              <a:rPr sz="1200" spc="-10" dirty="0">
                <a:solidFill>
                  <a:srgbClr val="D8D8D8"/>
                </a:solidFill>
                <a:latin typeface="Arial"/>
                <a:cs typeface="Arial"/>
              </a:rPr>
              <a:t>22.8MB</a:t>
            </a:r>
            <a:endParaRPr sz="1200">
              <a:latin typeface="Arial"/>
              <a:cs typeface="Arial"/>
            </a:endParaRPr>
          </a:p>
          <a:p>
            <a:pPr marL="144780">
              <a:lnSpc>
                <a:spcPct val="100000"/>
              </a:lnSpc>
              <a:tabLst>
                <a:tab pos="3036570" algn="l"/>
              </a:tabLst>
            </a:pPr>
            <a:r>
              <a:rPr sz="1200" dirty="0">
                <a:solidFill>
                  <a:srgbClr val="D8D8D8"/>
                </a:solidFill>
                <a:latin typeface="Arial"/>
                <a:cs typeface="Arial"/>
              </a:rPr>
              <a:t>/bin/sh</a:t>
            </a:r>
            <a:r>
              <a:rPr sz="1200" spc="-1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D8D8D8"/>
                </a:solidFill>
                <a:latin typeface="Arial"/>
                <a:cs typeface="Arial"/>
              </a:rPr>
              <a:t>-</a:t>
            </a:r>
            <a:r>
              <a:rPr sz="1200" dirty="0">
                <a:solidFill>
                  <a:srgbClr val="D8D8D8"/>
                </a:solidFill>
                <a:latin typeface="Arial"/>
                <a:cs typeface="Arial"/>
              </a:rPr>
              <a:t>c</a:t>
            </a:r>
            <a:r>
              <a:rPr sz="1200" spc="-1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D8D8D8"/>
                </a:solidFill>
                <a:latin typeface="Arial"/>
                <a:cs typeface="Arial"/>
              </a:rPr>
              <a:t>#(nop)</a:t>
            </a:r>
            <a:r>
              <a:rPr sz="1200" spc="31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D8D8D8"/>
                </a:solidFill>
                <a:latin typeface="Arial"/>
                <a:cs typeface="Arial"/>
              </a:rPr>
              <a:t>CMD</a:t>
            </a:r>
            <a:r>
              <a:rPr sz="1200" spc="-10" dirty="0">
                <a:solidFill>
                  <a:srgbClr val="D8D8D8"/>
                </a:solidFill>
                <a:latin typeface="Arial"/>
                <a:cs typeface="Arial"/>
              </a:rPr>
              <a:t> ["/bin/bash"]</a:t>
            </a:r>
            <a:r>
              <a:rPr sz="1200" dirty="0">
                <a:solidFill>
                  <a:srgbClr val="D8D8D8"/>
                </a:solidFill>
                <a:latin typeface="Arial"/>
                <a:cs typeface="Arial"/>
              </a:rPr>
              <a:t>	</a:t>
            </a:r>
            <a:r>
              <a:rPr sz="1200" spc="-25" dirty="0">
                <a:solidFill>
                  <a:srgbClr val="D8D8D8"/>
                </a:solidFill>
                <a:latin typeface="Arial"/>
                <a:cs typeface="Arial"/>
              </a:rPr>
              <a:t>0B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sz="1200" dirty="0">
                <a:solidFill>
                  <a:srgbClr val="D8D8D8"/>
                </a:solidFill>
                <a:latin typeface="Arial"/>
                <a:cs typeface="Arial"/>
              </a:rPr>
              <a:t>/bin/sh</a:t>
            </a:r>
            <a:r>
              <a:rPr sz="1200" spc="-1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D8D8D8"/>
                </a:solidFill>
                <a:latin typeface="Arial"/>
                <a:cs typeface="Arial"/>
              </a:rPr>
              <a:t>-</a:t>
            </a:r>
            <a:r>
              <a:rPr sz="1200" dirty="0">
                <a:solidFill>
                  <a:srgbClr val="D8D8D8"/>
                </a:solidFill>
                <a:latin typeface="Arial"/>
                <a:cs typeface="Arial"/>
              </a:rPr>
              <a:t>c</a:t>
            </a:r>
            <a:r>
              <a:rPr sz="1200" spc="-1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D8D8D8"/>
                </a:solidFill>
                <a:latin typeface="Arial"/>
                <a:cs typeface="Arial"/>
              </a:rPr>
              <a:t>mkdir</a:t>
            </a:r>
            <a:r>
              <a:rPr sz="1200" spc="-1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D8D8D8"/>
                </a:solidFill>
                <a:latin typeface="Arial"/>
                <a:cs typeface="Arial"/>
              </a:rPr>
              <a:t>-</a:t>
            </a:r>
            <a:r>
              <a:rPr sz="1200" dirty="0">
                <a:solidFill>
                  <a:srgbClr val="D8D8D8"/>
                </a:solidFill>
                <a:latin typeface="Arial"/>
                <a:cs typeface="Arial"/>
              </a:rPr>
              <a:t>p</a:t>
            </a:r>
            <a:r>
              <a:rPr sz="1200" spc="-1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D8D8D8"/>
                </a:solidFill>
                <a:latin typeface="Arial"/>
                <a:cs typeface="Arial"/>
              </a:rPr>
              <a:t>/run/systemd</a:t>
            </a:r>
            <a:r>
              <a:rPr sz="1200" spc="-1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D8D8D8"/>
                </a:solidFill>
                <a:latin typeface="Arial"/>
                <a:cs typeface="Arial"/>
              </a:rPr>
              <a:t>&amp;&amp;</a:t>
            </a:r>
            <a:r>
              <a:rPr sz="1200" spc="-1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D8D8D8"/>
                </a:solidFill>
                <a:latin typeface="Arial"/>
                <a:cs typeface="Arial"/>
              </a:rPr>
              <a:t>echo</a:t>
            </a:r>
            <a:r>
              <a:rPr sz="1200" spc="-1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D8D8D8"/>
                </a:solidFill>
                <a:latin typeface="Arial"/>
                <a:cs typeface="Arial"/>
              </a:rPr>
              <a:t>'do…</a:t>
            </a:r>
            <a:r>
              <a:rPr sz="1200" spc="150" dirty="0">
                <a:solidFill>
                  <a:srgbClr val="D8D8D8"/>
                </a:solidFill>
                <a:latin typeface="Arial"/>
                <a:cs typeface="Arial"/>
              </a:rPr>
              <a:t>  </a:t>
            </a:r>
            <a:r>
              <a:rPr sz="1200" spc="-25" dirty="0">
                <a:solidFill>
                  <a:srgbClr val="D8D8D8"/>
                </a:solidFill>
                <a:latin typeface="Arial"/>
                <a:cs typeface="Arial"/>
              </a:rPr>
              <a:t>7B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sz="1200" dirty="0">
                <a:solidFill>
                  <a:srgbClr val="D8D8D8"/>
                </a:solidFill>
                <a:latin typeface="Arial"/>
                <a:cs typeface="Arial"/>
              </a:rPr>
              <a:t>/bin/sh</a:t>
            </a:r>
            <a:r>
              <a:rPr sz="1200" spc="-1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D8D8D8"/>
                </a:solidFill>
                <a:latin typeface="Arial"/>
                <a:cs typeface="Arial"/>
              </a:rPr>
              <a:t>-</a:t>
            </a:r>
            <a:r>
              <a:rPr sz="1200" dirty="0">
                <a:solidFill>
                  <a:srgbClr val="D8D8D8"/>
                </a:solidFill>
                <a:latin typeface="Arial"/>
                <a:cs typeface="Arial"/>
              </a:rPr>
              <a:t>c</a:t>
            </a:r>
            <a:r>
              <a:rPr sz="1200" spc="-1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D8D8D8"/>
                </a:solidFill>
                <a:latin typeface="Arial"/>
                <a:cs typeface="Arial"/>
              </a:rPr>
              <a:t>set</a:t>
            </a:r>
            <a:r>
              <a:rPr sz="1200" spc="-10" dirty="0">
                <a:solidFill>
                  <a:srgbClr val="D8D8D8"/>
                </a:solidFill>
                <a:latin typeface="Arial"/>
                <a:cs typeface="Arial"/>
              </a:rPr>
              <a:t> -</a:t>
            </a:r>
            <a:r>
              <a:rPr sz="1200" dirty="0">
                <a:solidFill>
                  <a:srgbClr val="D8D8D8"/>
                </a:solidFill>
                <a:latin typeface="Arial"/>
                <a:cs typeface="Arial"/>
              </a:rPr>
              <a:t>xe</a:t>
            </a:r>
            <a:r>
              <a:rPr sz="1200" spc="155" dirty="0">
                <a:solidFill>
                  <a:srgbClr val="D8D8D8"/>
                </a:solidFill>
                <a:latin typeface="Arial"/>
                <a:cs typeface="Arial"/>
              </a:rPr>
              <a:t>  </a:t>
            </a:r>
            <a:r>
              <a:rPr sz="1200" dirty="0">
                <a:solidFill>
                  <a:srgbClr val="D8D8D8"/>
                </a:solidFill>
                <a:latin typeface="Arial"/>
                <a:cs typeface="Arial"/>
              </a:rPr>
              <a:t>&amp;&amp;</a:t>
            </a:r>
            <a:r>
              <a:rPr sz="1200" spc="-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D8D8D8"/>
                </a:solidFill>
                <a:latin typeface="Arial"/>
                <a:cs typeface="Arial"/>
              </a:rPr>
              <a:t>echo</a:t>
            </a:r>
            <a:r>
              <a:rPr sz="1200" spc="-1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D8D8D8"/>
                </a:solidFill>
                <a:latin typeface="Arial"/>
                <a:cs typeface="Arial"/>
              </a:rPr>
              <a:t>'#!/bin/sh'</a:t>
            </a:r>
            <a:r>
              <a:rPr sz="1200" spc="-1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D8D8D8"/>
                </a:solidFill>
                <a:latin typeface="Arial"/>
                <a:cs typeface="Arial"/>
              </a:rPr>
              <a:t>&gt;</a:t>
            </a:r>
            <a:r>
              <a:rPr sz="1200" spc="-1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D8D8D8"/>
                </a:solidFill>
                <a:latin typeface="Arial"/>
                <a:cs typeface="Arial"/>
              </a:rPr>
              <a:t>/…</a:t>
            </a:r>
            <a:r>
              <a:rPr sz="1200" spc="155" dirty="0">
                <a:solidFill>
                  <a:srgbClr val="D8D8D8"/>
                </a:solidFill>
                <a:latin typeface="Arial"/>
                <a:cs typeface="Arial"/>
              </a:rPr>
              <a:t>  </a:t>
            </a:r>
            <a:r>
              <a:rPr sz="1200" spc="-20" dirty="0">
                <a:solidFill>
                  <a:srgbClr val="D8D8D8"/>
                </a:solidFill>
                <a:latin typeface="Arial"/>
                <a:cs typeface="Arial"/>
              </a:rPr>
              <a:t>811B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tabLst>
                <a:tab pos="2849880" algn="l"/>
              </a:tabLst>
            </a:pPr>
            <a:r>
              <a:rPr sz="1200" dirty="0">
                <a:solidFill>
                  <a:srgbClr val="D8D8D8"/>
                </a:solidFill>
                <a:latin typeface="Arial"/>
                <a:cs typeface="Arial"/>
              </a:rPr>
              <a:t>/bin/sh</a:t>
            </a:r>
            <a:r>
              <a:rPr sz="1200" spc="-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D8D8D8"/>
                </a:solidFill>
                <a:latin typeface="Arial"/>
                <a:cs typeface="Arial"/>
              </a:rPr>
              <a:t>-</a:t>
            </a:r>
            <a:r>
              <a:rPr sz="1200" dirty="0">
                <a:solidFill>
                  <a:srgbClr val="D8D8D8"/>
                </a:solidFill>
                <a:latin typeface="Arial"/>
                <a:cs typeface="Arial"/>
              </a:rPr>
              <a:t>c [ </a:t>
            </a:r>
            <a:r>
              <a:rPr sz="1200" spc="-10" dirty="0">
                <a:solidFill>
                  <a:srgbClr val="D8D8D8"/>
                </a:solidFill>
                <a:latin typeface="Arial"/>
                <a:cs typeface="Arial"/>
              </a:rPr>
              <a:t>-</a:t>
            </a:r>
            <a:r>
              <a:rPr sz="1200" dirty="0">
                <a:solidFill>
                  <a:srgbClr val="D8D8D8"/>
                </a:solidFill>
                <a:latin typeface="Arial"/>
                <a:cs typeface="Arial"/>
              </a:rPr>
              <a:t>z</a:t>
            </a:r>
            <a:r>
              <a:rPr sz="1200" spc="-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D8D8D8"/>
                </a:solidFill>
                <a:latin typeface="Arial"/>
                <a:cs typeface="Arial"/>
              </a:rPr>
              <a:t>"$(apt-</a:t>
            </a:r>
            <a:r>
              <a:rPr sz="1200" dirty="0">
                <a:solidFill>
                  <a:srgbClr val="D8D8D8"/>
                </a:solidFill>
                <a:latin typeface="Arial"/>
                <a:cs typeface="Arial"/>
              </a:rPr>
              <a:t>get indextargets)" </a:t>
            </a:r>
            <a:r>
              <a:rPr sz="1200" spc="-50" dirty="0">
                <a:solidFill>
                  <a:srgbClr val="D8D8D8"/>
                </a:solidFill>
                <a:latin typeface="Arial"/>
                <a:cs typeface="Arial"/>
              </a:rPr>
              <a:t>]</a:t>
            </a:r>
            <a:r>
              <a:rPr sz="1200" dirty="0">
                <a:solidFill>
                  <a:srgbClr val="D8D8D8"/>
                </a:solidFill>
                <a:latin typeface="Arial"/>
                <a:cs typeface="Arial"/>
              </a:rPr>
              <a:t>	</a:t>
            </a:r>
            <a:r>
              <a:rPr sz="1200" spc="-10" dirty="0">
                <a:solidFill>
                  <a:srgbClr val="D8D8D8"/>
                </a:solidFill>
                <a:latin typeface="Arial"/>
                <a:cs typeface="Arial"/>
              </a:rPr>
              <a:t>1.01MB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sz="1200" dirty="0">
                <a:solidFill>
                  <a:srgbClr val="D8D8D8"/>
                </a:solidFill>
                <a:latin typeface="Arial"/>
                <a:cs typeface="Arial"/>
              </a:rPr>
              <a:t>/bin/sh</a:t>
            </a:r>
            <a:r>
              <a:rPr sz="1200" spc="-1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D8D8D8"/>
                </a:solidFill>
                <a:latin typeface="Arial"/>
                <a:cs typeface="Arial"/>
              </a:rPr>
              <a:t>-</a:t>
            </a:r>
            <a:r>
              <a:rPr sz="1200" dirty="0">
                <a:solidFill>
                  <a:srgbClr val="D8D8D8"/>
                </a:solidFill>
                <a:latin typeface="Arial"/>
                <a:cs typeface="Arial"/>
              </a:rPr>
              <a:t>c</a:t>
            </a:r>
            <a:r>
              <a:rPr sz="1200" spc="-1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D8D8D8"/>
                </a:solidFill>
                <a:latin typeface="Arial"/>
                <a:cs typeface="Arial"/>
              </a:rPr>
              <a:t>#(nop)</a:t>
            </a:r>
            <a:r>
              <a:rPr sz="1200" spc="-8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D8D8D8"/>
                </a:solidFill>
                <a:latin typeface="Arial"/>
                <a:cs typeface="Arial"/>
              </a:rPr>
              <a:t>ADD</a:t>
            </a:r>
            <a:r>
              <a:rPr sz="1200" spc="-1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D8D8D8"/>
                </a:solidFill>
                <a:latin typeface="Arial"/>
                <a:cs typeface="Arial"/>
              </a:rPr>
              <a:t>file:9f937f4889e7bf646…</a:t>
            </a:r>
            <a:r>
              <a:rPr sz="1200" spc="150" dirty="0">
                <a:solidFill>
                  <a:srgbClr val="D8D8D8"/>
                </a:solidFill>
                <a:latin typeface="Arial"/>
                <a:cs typeface="Arial"/>
              </a:rPr>
              <a:t>  </a:t>
            </a:r>
            <a:r>
              <a:rPr sz="1200" spc="-10" dirty="0">
                <a:solidFill>
                  <a:srgbClr val="D8D8D8"/>
                </a:solidFill>
                <a:latin typeface="Arial"/>
                <a:cs typeface="Arial"/>
              </a:rPr>
              <a:t>72.9MB</a:t>
            </a:r>
            <a:endParaRPr sz="12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37149" y="1145749"/>
            <a:ext cx="10099675" cy="831215"/>
          </a:xfrm>
          <a:custGeom>
            <a:avLst/>
            <a:gdLst/>
            <a:ahLst/>
            <a:cxnLst/>
            <a:rect l="l" t="t" r="r" b="b"/>
            <a:pathLst>
              <a:path w="10099675" h="831214">
                <a:moveTo>
                  <a:pt x="10099200" y="0"/>
                </a:moveTo>
                <a:lnTo>
                  <a:pt x="0" y="0"/>
                </a:lnTo>
                <a:lnTo>
                  <a:pt x="0" y="830999"/>
                </a:lnTo>
                <a:lnTo>
                  <a:pt x="10099200" y="830999"/>
                </a:lnTo>
                <a:lnTo>
                  <a:pt x="10099200" y="0"/>
                </a:lnTo>
                <a:close/>
              </a:path>
            </a:pathLst>
          </a:custGeom>
          <a:solidFill>
            <a:srgbClr val="3F3F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22874" y="1165053"/>
            <a:ext cx="17316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12065" indent="130810">
              <a:lnSpc>
                <a:spcPct val="100000"/>
              </a:lnSpc>
              <a:spcBef>
                <a:spcPts val="100"/>
              </a:spcBef>
              <a:buChar char="&gt;"/>
              <a:tabLst>
                <a:tab pos="130810" algn="l"/>
                <a:tab pos="1409065" algn="l"/>
              </a:tabLst>
            </a:pPr>
            <a:r>
              <a:rPr sz="1200" dirty="0">
                <a:solidFill>
                  <a:srgbClr val="FFFF00"/>
                </a:solidFill>
                <a:latin typeface="Arial"/>
                <a:cs typeface="Arial"/>
              </a:rPr>
              <a:t>docker</a:t>
            </a:r>
            <a:r>
              <a:rPr sz="1200" spc="-5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FFFF00"/>
                </a:solidFill>
                <a:latin typeface="Arial"/>
                <a:cs typeface="Arial"/>
              </a:rPr>
              <a:t>images </a:t>
            </a:r>
            <a:r>
              <a:rPr sz="1200" spc="-10" dirty="0">
                <a:solidFill>
                  <a:srgbClr val="D8D8D8"/>
                </a:solidFill>
                <a:latin typeface="Arial"/>
                <a:cs typeface="Arial"/>
              </a:rPr>
              <a:t>REPOSITORY</a:t>
            </a:r>
            <a:r>
              <a:rPr sz="1200" dirty="0">
                <a:solidFill>
                  <a:srgbClr val="D8D8D8"/>
                </a:solidFill>
                <a:latin typeface="Arial"/>
                <a:cs typeface="Arial"/>
              </a:rPr>
              <a:t>	</a:t>
            </a:r>
            <a:r>
              <a:rPr sz="1200" spc="-50" dirty="0">
                <a:solidFill>
                  <a:srgbClr val="D8D8D8"/>
                </a:solidFill>
                <a:latin typeface="Arial"/>
                <a:cs typeface="Arial"/>
              </a:rPr>
              <a:t>TAG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tabLst>
                <a:tab pos="1353820" algn="l"/>
              </a:tabLst>
            </a:pPr>
            <a:r>
              <a:rPr sz="1200" spc="-10" dirty="0">
                <a:solidFill>
                  <a:srgbClr val="D8D8D8"/>
                </a:solidFill>
                <a:latin typeface="Arial"/>
                <a:cs typeface="Arial"/>
              </a:rPr>
              <a:t>hello_world_cmd</a:t>
            </a:r>
            <a:r>
              <a:rPr sz="1200" dirty="0">
                <a:solidFill>
                  <a:srgbClr val="D8D8D8"/>
                </a:solidFill>
                <a:latin typeface="Arial"/>
                <a:cs typeface="Arial"/>
              </a:rPr>
              <a:t>	</a:t>
            </a:r>
            <a:r>
              <a:rPr sz="1200" spc="-10" dirty="0">
                <a:solidFill>
                  <a:srgbClr val="D8D8D8"/>
                </a:solidFill>
                <a:latin typeface="Arial"/>
                <a:cs typeface="Arial"/>
              </a:rPr>
              <a:t>latest</a:t>
            </a:r>
            <a:endParaRPr sz="1200">
              <a:latin typeface="Arial"/>
              <a:cs typeface="Arial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spc="-25" dirty="0"/>
              <a:t>31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832308" y="1347933"/>
            <a:ext cx="102996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indent="118745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D8D8D8"/>
                </a:solidFill>
                <a:latin typeface="Arial"/>
                <a:cs typeface="Arial"/>
              </a:rPr>
              <a:t>IMAGE</a:t>
            </a:r>
            <a:r>
              <a:rPr sz="1200" spc="-4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200" spc="-25" dirty="0">
                <a:solidFill>
                  <a:srgbClr val="D8D8D8"/>
                </a:solidFill>
                <a:latin typeface="Arial"/>
                <a:cs typeface="Arial"/>
              </a:rPr>
              <a:t>ID </a:t>
            </a:r>
            <a:r>
              <a:rPr sz="1200" spc="-10" dirty="0">
                <a:solidFill>
                  <a:srgbClr val="D8D8D8"/>
                </a:solidFill>
                <a:latin typeface="Arial"/>
                <a:cs typeface="Arial"/>
              </a:rPr>
              <a:t>a89172ee2876</a:t>
            </a:r>
            <a:endParaRPr sz="12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143013" y="1347933"/>
            <a:ext cx="101409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D8D8D8"/>
                </a:solidFill>
                <a:latin typeface="Arial"/>
                <a:cs typeface="Arial"/>
              </a:rPr>
              <a:t>CREATED</a:t>
            </a:r>
            <a:endParaRPr sz="1200">
              <a:latin typeface="Arial"/>
              <a:cs typeface="Arial"/>
            </a:endParaRPr>
          </a:p>
          <a:p>
            <a:pPr marL="43815">
              <a:lnSpc>
                <a:spcPct val="100000"/>
              </a:lnSpc>
            </a:pPr>
            <a:r>
              <a:rPr sz="1200" dirty="0">
                <a:solidFill>
                  <a:srgbClr val="D8D8D8"/>
                </a:solidFill>
                <a:latin typeface="Arial"/>
                <a:cs typeface="Arial"/>
              </a:rPr>
              <a:t>7</a:t>
            </a:r>
            <a:r>
              <a:rPr sz="1200" spc="-1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D8D8D8"/>
                </a:solidFill>
                <a:latin typeface="Arial"/>
                <a:cs typeface="Arial"/>
              </a:rPr>
              <a:t>minutes</a:t>
            </a:r>
            <a:r>
              <a:rPr sz="1200" spc="-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200" spc="-25" dirty="0">
                <a:solidFill>
                  <a:srgbClr val="D8D8D8"/>
                </a:solidFill>
                <a:latin typeface="Arial"/>
                <a:cs typeface="Arial"/>
              </a:rPr>
              <a:t>ago</a:t>
            </a:r>
            <a:endParaRPr sz="12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408140" y="1347933"/>
            <a:ext cx="5695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115" marR="5080" indent="-3175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solidFill>
                  <a:srgbClr val="D8D8D8"/>
                </a:solidFill>
                <a:latin typeface="Arial"/>
                <a:cs typeface="Arial"/>
              </a:rPr>
              <a:t>SIZE </a:t>
            </a:r>
            <a:r>
              <a:rPr sz="1200" spc="-10" dirty="0">
                <a:solidFill>
                  <a:srgbClr val="D8D8D8"/>
                </a:solidFill>
                <a:latin typeface="Arial"/>
                <a:cs typeface="Arial"/>
              </a:rPr>
              <a:t>96.7MB</a:t>
            </a:r>
            <a:endParaRPr sz="12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22874" y="1713693"/>
            <a:ext cx="50895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1056640" algn="l"/>
                <a:tab pos="2011680" algn="l"/>
                <a:tab pos="3315335" algn="l"/>
                <a:tab pos="4551045" algn="l"/>
              </a:tabLst>
            </a:pPr>
            <a:r>
              <a:rPr sz="1200" spc="-10" dirty="0">
                <a:solidFill>
                  <a:srgbClr val="D8D8D8"/>
                </a:solidFill>
                <a:latin typeface="Arial"/>
                <a:cs typeface="Arial"/>
              </a:rPr>
              <a:t>ubuntu</a:t>
            </a:r>
            <a:r>
              <a:rPr sz="1200" dirty="0">
                <a:solidFill>
                  <a:srgbClr val="D8D8D8"/>
                </a:solidFill>
                <a:latin typeface="Arial"/>
                <a:cs typeface="Arial"/>
              </a:rPr>
              <a:t>	</a:t>
            </a:r>
            <a:r>
              <a:rPr sz="1200" spc="-10" dirty="0">
                <a:solidFill>
                  <a:srgbClr val="D8D8D8"/>
                </a:solidFill>
                <a:latin typeface="Arial"/>
                <a:cs typeface="Arial"/>
              </a:rPr>
              <a:t>latest</a:t>
            </a:r>
            <a:r>
              <a:rPr sz="1200" dirty="0">
                <a:solidFill>
                  <a:srgbClr val="D8D8D8"/>
                </a:solidFill>
                <a:latin typeface="Arial"/>
                <a:cs typeface="Arial"/>
              </a:rPr>
              <a:t>	</a:t>
            </a:r>
            <a:r>
              <a:rPr sz="1200" spc="-10" dirty="0">
                <a:solidFill>
                  <a:srgbClr val="D8D8D8"/>
                </a:solidFill>
                <a:latin typeface="Arial"/>
                <a:cs typeface="Arial"/>
              </a:rPr>
              <a:t>4e2eef94cd6b</a:t>
            </a:r>
            <a:r>
              <a:rPr sz="1200" dirty="0">
                <a:solidFill>
                  <a:srgbClr val="D8D8D8"/>
                </a:solidFill>
                <a:latin typeface="Arial"/>
                <a:cs typeface="Arial"/>
              </a:rPr>
              <a:t>	3</a:t>
            </a:r>
            <a:r>
              <a:rPr sz="1200" spc="-1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D8D8D8"/>
                </a:solidFill>
                <a:latin typeface="Arial"/>
                <a:cs typeface="Arial"/>
              </a:rPr>
              <a:t>weeks</a:t>
            </a:r>
            <a:r>
              <a:rPr sz="1200" spc="-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200" spc="-25" dirty="0">
                <a:solidFill>
                  <a:srgbClr val="D8D8D8"/>
                </a:solidFill>
                <a:latin typeface="Arial"/>
                <a:cs typeface="Arial"/>
              </a:rPr>
              <a:t>ago</a:t>
            </a:r>
            <a:r>
              <a:rPr sz="1200" dirty="0">
                <a:solidFill>
                  <a:srgbClr val="D8D8D8"/>
                </a:solidFill>
                <a:latin typeface="Arial"/>
                <a:cs typeface="Arial"/>
              </a:rPr>
              <a:t>	</a:t>
            </a:r>
            <a:r>
              <a:rPr sz="1200" spc="-10" dirty="0">
                <a:solidFill>
                  <a:srgbClr val="D8D8D8"/>
                </a:solidFill>
                <a:latin typeface="Arial"/>
                <a:cs typeface="Arial"/>
              </a:rPr>
              <a:t>73.9MB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Why</a:t>
            </a:r>
            <a:r>
              <a:rPr spc="-45" dirty="0"/>
              <a:t> </a:t>
            </a:r>
            <a:r>
              <a:rPr spc="-10" dirty="0"/>
              <a:t>Layers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6199" y="1054515"/>
            <a:ext cx="1070229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3F3F3F"/>
                </a:solidFill>
                <a:latin typeface="Arial"/>
                <a:cs typeface="Arial"/>
              </a:rPr>
              <a:t>Why</a:t>
            </a:r>
            <a:r>
              <a:rPr sz="2000" spc="-5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F3F3F"/>
                </a:solidFill>
                <a:latin typeface="Arial"/>
                <a:cs typeface="Arial"/>
              </a:rPr>
              <a:t>build</a:t>
            </a:r>
            <a:r>
              <a:rPr sz="2000" spc="-4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F3F3F"/>
                </a:solidFill>
                <a:latin typeface="Arial"/>
                <a:cs typeface="Arial"/>
              </a:rPr>
              <a:t>an</a:t>
            </a:r>
            <a:r>
              <a:rPr sz="2000" spc="-4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F3F3F"/>
                </a:solidFill>
                <a:latin typeface="Arial"/>
                <a:cs typeface="Arial"/>
              </a:rPr>
              <a:t>image</a:t>
            </a:r>
            <a:r>
              <a:rPr sz="2000" spc="-4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F3F3F"/>
                </a:solidFill>
                <a:latin typeface="Arial"/>
                <a:cs typeface="Arial"/>
              </a:rPr>
              <a:t>with</a:t>
            </a:r>
            <a:r>
              <a:rPr sz="2000" spc="-4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F3F3F"/>
                </a:solidFill>
                <a:latin typeface="Arial"/>
                <a:cs typeface="Arial"/>
              </a:rPr>
              <a:t>multiple</a:t>
            </a:r>
            <a:r>
              <a:rPr sz="2000" spc="-4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F3F3F"/>
                </a:solidFill>
                <a:latin typeface="Arial"/>
                <a:cs typeface="Arial"/>
              </a:rPr>
              <a:t>layers</a:t>
            </a:r>
            <a:r>
              <a:rPr sz="2000" spc="-4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F3F3F"/>
                </a:solidFill>
                <a:latin typeface="Arial"/>
                <a:cs typeface="Arial"/>
              </a:rPr>
              <a:t>when</a:t>
            </a:r>
            <a:r>
              <a:rPr sz="2000" spc="-4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F3F3F"/>
                </a:solidFill>
                <a:latin typeface="Arial"/>
                <a:cs typeface="Arial"/>
              </a:rPr>
              <a:t>we</a:t>
            </a:r>
            <a:r>
              <a:rPr sz="2000" spc="-4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F3F3F"/>
                </a:solidFill>
                <a:latin typeface="Arial"/>
                <a:cs typeface="Arial"/>
              </a:rPr>
              <a:t>can</a:t>
            </a:r>
            <a:r>
              <a:rPr sz="2000" spc="-4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F3F3F"/>
                </a:solidFill>
                <a:latin typeface="Arial"/>
                <a:cs typeface="Arial"/>
              </a:rPr>
              <a:t>just</a:t>
            </a:r>
            <a:r>
              <a:rPr sz="2000" spc="-4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F3F3F"/>
                </a:solidFill>
                <a:latin typeface="Arial"/>
                <a:cs typeface="Arial"/>
              </a:rPr>
              <a:t>build</a:t>
            </a:r>
            <a:r>
              <a:rPr sz="2000" spc="-4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F3F3F"/>
                </a:solidFill>
                <a:latin typeface="Arial"/>
                <a:cs typeface="Arial"/>
              </a:rPr>
              <a:t>it</a:t>
            </a:r>
            <a:r>
              <a:rPr sz="2000" spc="-4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F3F3F"/>
                </a:solidFill>
                <a:latin typeface="Arial"/>
                <a:cs typeface="Arial"/>
              </a:rPr>
              <a:t>in</a:t>
            </a:r>
            <a:r>
              <a:rPr sz="2000" spc="-4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F3F3F"/>
                </a:solidFill>
                <a:latin typeface="Arial"/>
                <a:cs typeface="Arial"/>
              </a:rPr>
              <a:t>a</a:t>
            </a:r>
            <a:r>
              <a:rPr sz="2000" spc="-4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F3F3F"/>
                </a:solidFill>
                <a:latin typeface="Arial"/>
                <a:cs typeface="Arial"/>
              </a:rPr>
              <a:t>single</a:t>
            </a:r>
            <a:r>
              <a:rPr sz="2000" spc="-4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3F3F3F"/>
                </a:solidFill>
                <a:latin typeface="Arial"/>
                <a:cs typeface="Arial"/>
              </a:rPr>
              <a:t>layer?</a:t>
            </a:r>
            <a:endParaRPr sz="20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tabLst>
                <a:tab pos="1494155" algn="l"/>
              </a:tabLst>
            </a:pPr>
            <a:r>
              <a:rPr sz="2000" dirty="0">
                <a:solidFill>
                  <a:srgbClr val="3F3F3F"/>
                </a:solidFill>
                <a:latin typeface="Arial"/>
                <a:cs typeface="Arial"/>
              </a:rPr>
              <a:t>Let’s</a:t>
            </a:r>
            <a:r>
              <a:rPr sz="2000" spc="-50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F3F3F"/>
                </a:solidFill>
                <a:latin typeface="Arial"/>
                <a:cs typeface="Arial"/>
              </a:rPr>
              <a:t>take</a:t>
            </a:r>
            <a:r>
              <a:rPr sz="2000" spc="-50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F3F3F"/>
                </a:solidFill>
                <a:latin typeface="Arial"/>
                <a:cs typeface="Arial"/>
              </a:rPr>
              <a:t>an</a:t>
            </a:r>
            <a:r>
              <a:rPr sz="2000" spc="-50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F3F3F"/>
                </a:solidFill>
                <a:latin typeface="Arial"/>
                <a:cs typeface="Arial"/>
              </a:rPr>
              <a:t>example</a:t>
            </a:r>
            <a:r>
              <a:rPr sz="2000" spc="-50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F3F3F"/>
                </a:solidFill>
                <a:latin typeface="Arial"/>
                <a:cs typeface="Arial"/>
              </a:rPr>
              <a:t>to</a:t>
            </a:r>
            <a:r>
              <a:rPr sz="2000" spc="-50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F3F3F"/>
                </a:solidFill>
                <a:latin typeface="Arial"/>
                <a:cs typeface="Arial"/>
              </a:rPr>
              <a:t>explain</a:t>
            </a:r>
            <a:r>
              <a:rPr sz="2000" spc="-50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F3F3F"/>
                </a:solidFill>
                <a:latin typeface="Arial"/>
                <a:cs typeface="Arial"/>
              </a:rPr>
              <a:t>this</a:t>
            </a:r>
            <a:r>
              <a:rPr sz="2000" spc="-50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F3F3F"/>
                </a:solidFill>
                <a:latin typeface="Arial"/>
                <a:cs typeface="Arial"/>
              </a:rPr>
              <a:t>concept</a:t>
            </a:r>
            <a:r>
              <a:rPr sz="2000" spc="-4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F3F3F"/>
                </a:solidFill>
                <a:latin typeface="Arial"/>
                <a:cs typeface="Arial"/>
              </a:rPr>
              <a:t>better,</a:t>
            </a:r>
            <a:r>
              <a:rPr sz="2000" spc="-50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F3F3F"/>
                </a:solidFill>
                <a:latin typeface="Arial"/>
                <a:cs typeface="Arial"/>
              </a:rPr>
              <a:t>let</a:t>
            </a:r>
            <a:r>
              <a:rPr sz="2000" spc="-50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F3F3F"/>
                </a:solidFill>
                <a:latin typeface="Arial"/>
                <a:cs typeface="Arial"/>
              </a:rPr>
              <a:t>us</a:t>
            </a:r>
            <a:r>
              <a:rPr sz="2000" spc="-50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F3F3F"/>
                </a:solidFill>
                <a:latin typeface="Arial"/>
                <a:cs typeface="Arial"/>
              </a:rPr>
              <a:t>try</a:t>
            </a:r>
            <a:r>
              <a:rPr sz="2000" spc="-50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F3F3F"/>
                </a:solidFill>
                <a:latin typeface="Arial"/>
                <a:cs typeface="Arial"/>
              </a:rPr>
              <a:t>to</a:t>
            </a:r>
            <a:r>
              <a:rPr sz="2000" spc="-50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F3F3F"/>
                </a:solidFill>
                <a:latin typeface="Arial"/>
                <a:cs typeface="Arial"/>
              </a:rPr>
              <a:t>change</a:t>
            </a:r>
            <a:r>
              <a:rPr sz="2000" spc="-50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F3F3F"/>
                </a:solidFill>
                <a:latin typeface="Arial"/>
                <a:cs typeface="Arial"/>
              </a:rPr>
              <a:t>the</a:t>
            </a:r>
            <a:r>
              <a:rPr sz="2000" spc="-50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F3F3F"/>
                </a:solidFill>
                <a:latin typeface="Arial"/>
                <a:cs typeface="Arial"/>
              </a:rPr>
              <a:t>Dockerfile_cmd</a:t>
            </a:r>
            <a:r>
              <a:rPr sz="2000" spc="-4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3F3F3F"/>
                </a:solidFill>
                <a:latin typeface="Arial"/>
                <a:cs typeface="Arial"/>
              </a:rPr>
              <a:t>we </a:t>
            </a:r>
            <a:r>
              <a:rPr sz="2000" dirty="0">
                <a:solidFill>
                  <a:srgbClr val="3F3F3F"/>
                </a:solidFill>
                <a:latin typeface="Arial"/>
                <a:cs typeface="Arial"/>
              </a:rPr>
              <a:t>created</a:t>
            </a:r>
            <a:r>
              <a:rPr sz="2000" spc="-40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3F3F3F"/>
                </a:solidFill>
                <a:latin typeface="Arial"/>
                <a:cs typeface="Arial"/>
              </a:rPr>
              <a:t>and</a:t>
            </a:r>
            <a:r>
              <a:rPr sz="2000" dirty="0">
                <a:solidFill>
                  <a:srgbClr val="3F3F3F"/>
                </a:solidFill>
                <a:latin typeface="Arial"/>
                <a:cs typeface="Arial"/>
              </a:rPr>
              <a:t>	rebuild</a:t>
            </a:r>
            <a:r>
              <a:rPr sz="2000" spc="-60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F3F3F"/>
                </a:solidFill>
                <a:latin typeface="Arial"/>
                <a:cs typeface="Arial"/>
              </a:rPr>
              <a:t>a</a:t>
            </a:r>
            <a:r>
              <a:rPr sz="2000" spc="-60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F3F3F"/>
                </a:solidFill>
                <a:latin typeface="Arial"/>
                <a:cs typeface="Arial"/>
              </a:rPr>
              <a:t>new</a:t>
            </a:r>
            <a:r>
              <a:rPr sz="2000" spc="-5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F3F3F"/>
                </a:solidFill>
                <a:latin typeface="Arial"/>
                <a:cs typeface="Arial"/>
              </a:rPr>
              <a:t>Docker</a:t>
            </a:r>
            <a:r>
              <a:rPr sz="2000" spc="-60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3F3F3F"/>
                </a:solidFill>
                <a:latin typeface="Arial"/>
                <a:cs typeface="Arial"/>
              </a:rPr>
              <a:t>image.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93182" y="2229852"/>
            <a:ext cx="11021060" cy="2862580"/>
          </a:xfrm>
          <a:custGeom>
            <a:avLst/>
            <a:gdLst/>
            <a:ahLst/>
            <a:cxnLst/>
            <a:rect l="l" t="t" r="r" b="b"/>
            <a:pathLst>
              <a:path w="11021060" h="2862579">
                <a:moveTo>
                  <a:pt x="11020800" y="0"/>
                </a:moveTo>
                <a:lnTo>
                  <a:pt x="0" y="0"/>
                </a:lnTo>
                <a:lnTo>
                  <a:pt x="0" y="2862299"/>
                </a:lnTo>
                <a:lnTo>
                  <a:pt x="11020800" y="2862299"/>
                </a:lnTo>
                <a:lnTo>
                  <a:pt x="11020800" y="0"/>
                </a:lnTo>
                <a:close/>
              </a:path>
            </a:pathLst>
          </a:custGeom>
          <a:solidFill>
            <a:srgbClr val="3F3F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66207" y="2249154"/>
            <a:ext cx="36112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3510" indent="-130810">
              <a:lnSpc>
                <a:spcPct val="100000"/>
              </a:lnSpc>
              <a:spcBef>
                <a:spcPts val="100"/>
              </a:spcBef>
              <a:buChar char="&gt;"/>
              <a:tabLst>
                <a:tab pos="143510" algn="l"/>
              </a:tabLst>
            </a:pPr>
            <a:r>
              <a:rPr sz="1200" dirty="0">
                <a:solidFill>
                  <a:srgbClr val="FFFF00"/>
                </a:solidFill>
                <a:latin typeface="Arial"/>
                <a:cs typeface="Arial"/>
              </a:rPr>
              <a:t>docker</a:t>
            </a:r>
            <a:r>
              <a:rPr sz="1200" spc="-25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00"/>
                </a:solidFill>
                <a:latin typeface="Arial"/>
                <a:cs typeface="Arial"/>
              </a:rPr>
              <a:t>build</a:t>
            </a:r>
            <a:r>
              <a:rPr sz="1200" spc="-25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FFFF00"/>
                </a:solidFill>
                <a:latin typeface="Arial"/>
                <a:cs typeface="Arial"/>
              </a:rPr>
              <a:t>-</a:t>
            </a:r>
            <a:r>
              <a:rPr sz="1200" dirty="0">
                <a:solidFill>
                  <a:srgbClr val="FFFF00"/>
                </a:solidFill>
                <a:latin typeface="Arial"/>
                <a:cs typeface="Arial"/>
              </a:rPr>
              <a:t>t</a:t>
            </a:r>
            <a:r>
              <a:rPr sz="1200" spc="-25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00"/>
                </a:solidFill>
                <a:latin typeface="Arial"/>
                <a:cs typeface="Arial"/>
              </a:rPr>
              <a:t>hello_world_cmd</a:t>
            </a:r>
            <a:r>
              <a:rPr sz="1200" spc="-25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FFFF00"/>
                </a:solidFill>
                <a:latin typeface="Arial"/>
                <a:cs typeface="Arial"/>
              </a:rPr>
              <a:t>-</a:t>
            </a:r>
            <a:r>
              <a:rPr sz="1200" dirty="0">
                <a:solidFill>
                  <a:srgbClr val="FFFF00"/>
                </a:solidFill>
                <a:latin typeface="Arial"/>
                <a:cs typeface="Arial"/>
              </a:rPr>
              <a:t>f</a:t>
            </a:r>
            <a:r>
              <a:rPr sz="1200" spc="-25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00"/>
                </a:solidFill>
                <a:latin typeface="Arial"/>
                <a:cs typeface="Arial"/>
              </a:rPr>
              <a:t>Dockerfile_cmd</a:t>
            </a:r>
            <a:r>
              <a:rPr sz="1200" spc="-25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sz="1200" spc="-50" dirty="0">
                <a:solidFill>
                  <a:srgbClr val="FFFF00"/>
                </a:solidFill>
                <a:latin typeface="Arial"/>
                <a:cs typeface="Arial"/>
              </a:rPr>
              <a:t>.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536300" y="2432034"/>
            <a:ext cx="5003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D8D8D8"/>
                </a:solidFill>
                <a:latin typeface="Arial"/>
                <a:cs typeface="Arial"/>
              </a:rPr>
              <a:t>34.3kB</a:t>
            </a:r>
            <a:endParaRPr sz="12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66207" y="2432034"/>
            <a:ext cx="276923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D8D8D8"/>
                </a:solidFill>
                <a:latin typeface="Arial"/>
                <a:cs typeface="Arial"/>
              </a:rPr>
              <a:t>Sending</a:t>
            </a:r>
            <a:r>
              <a:rPr sz="1200" spc="-2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D8D8D8"/>
                </a:solidFill>
                <a:latin typeface="Arial"/>
                <a:cs typeface="Arial"/>
              </a:rPr>
              <a:t>build</a:t>
            </a:r>
            <a:r>
              <a:rPr sz="1200" spc="-2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D8D8D8"/>
                </a:solidFill>
                <a:latin typeface="Arial"/>
                <a:cs typeface="Arial"/>
              </a:rPr>
              <a:t>context</a:t>
            </a:r>
            <a:r>
              <a:rPr sz="1200" spc="-2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D8D8D8"/>
                </a:solidFill>
                <a:latin typeface="Arial"/>
                <a:cs typeface="Arial"/>
              </a:rPr>
              <a:t>to</a:t>
            </a:r>
            <a:r>
              <a:rPr sz="1200" spc="-1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D8D8D8"/>
                </a:solidFill>
                <a:latin typeface="Arial"/>
                <a:cs typeface="Arial"/>
              </a:rPr>
              <a:t>Docker</a:t>
            </a:r>
            <a:r>
              <a:rPr sz="1200" spc="-2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D8D8D8"/>
                </a:solidFill>
                <a:latin typeface="Arial"/>
                <a:cs typeface="Arial"/>
              </a:rPr>
              <a:t>daemon </a:t>
            </a:r>
            <a:r>
              <a:rPr sz="1200" dirty="0">
                <a:solidFill>
                  <a:srgbClr val="D8D8D8"/>
                </a:solidFill>
                <a:latin typeface="Arial"/>
                <a:cs typeface="Arial"/>
              </a:rPr>
              <a:t>Step</a:t>
            </a:r>
            <a:r>
              <a:rPr sz="1200" spc="-2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D8D8D8"/>
                </a:solidFill>
                <a:latin typeface="Arial"/>
                <a:cs typeface="Arial"/>
              </a:rPr>
              <a:t>1/4</a:t>
            </a:r>
            <a:r>
              <a:rPr sz="1200" spc="-2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D8D8D8"/>
                </a:solidFill>
                <a:latin typeface="Arial"/>
                <a:cs typeface="Arial"/>
              </a:rPr>
              <a:t>:</a:t>
            </a:r>
            <a:r>
              <a:rPr sz="1200" spc="-2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D8D8D8"/>
                </a:solidFill>
                <a:latin typeface="Arial"/>
                <a:cs typeface="Arial"/>
              </a:rPr>
              <a:t>FROM</a:t>
            </a:r>
            <a:r>
              <a:rPr sz="1200" spc="-2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D8D8D8"/>
                </a:solidFill>
                <a:latin typeface="Arial"/>
                <a:cs typeface="Arial"/>
              </a:rPr>
              <a:t>ubuntu:latest</a:t>
            </a:r>
            <a:endParaRPr sz="1200">
              <a:latin typeface="Arial"/>
              <a:cs typeface="Arial"/>
            </a:endParaRPr>
          </a:p>
          <a:p>
            <a:pPr marL="54610">
              <a:lnSpc>
                <a:spcPct val="100000"/>
              </a:lnSpc>
            </a:pPr>
            <a:r>
              <a:rPr sz="1200" spc="-10" dirty="0">
                <a:solidFill>
                  <a:srgbClr val="D8D8D8"/>
                </a:solidFill>
                <a:latin typeface="Arial"/>
                <a:cs typeface="Arial"/>
              </a:rPr>
              <a:t>---</a:t>
            </a:r>
            <a:r>
              <a:rPr sz="1200" dirty="0">
                <a:solidFill>
                  <a:srgbClr val="D8D8D8"/>
                </a:solidFill>
                <a:latin typeface="Arial"/>
                <a:cs typeface="Arial"/>
              </a:rPr>
              <a:t>&gt;</a:t>
            </a:r>
            <a:r>
              <a:rPr sz="1200" spc="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D8D8D8"/>
                </a:solidFill>
                <a:latin typeface="Arial"/>
                <a:cs typeface="Arial"/>
              </a:rPr>
              <a:t>4e2eef94cd6b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solidFill>
                  <a:srgbClr val="D8D8D8"/>
                </a:solidFill>
                <a:latin typeface="Arial"/>
                <a:cs typeface="Arial"/>
              </a:rPr>
              <a:t>Step</a:t>
            </a:r>
            <a:r>
              <a:rPr sz="1200" spc="-1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D8D8D8"/>
                </a:solidFill>
                <a:latin typeface="Arial"/>
                <a:cs typeface="Arial"/>
              </a:rPr>
              <a:t>2/4</a:t>
            </a:r>
            <a:r>
              <a:rPr sz="1200" spc="-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D8D8D8"/>
                </a:solidFill>
                <a:latin typeface="Arial"/>
                <a:cs typeface="Arial"/>
              </a:rPr>
              <a:t>:</a:t>
            </a:r>
            <a:r>
              <a:rPr sz="1200" spc="-1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D8D8D8"/>
                </a:solidFill>
                <a:latin typeface="Arial"/>
                <a:cs typeface="Arial"/>
              </a:rPr>
              <a:t>RUN</a:t>
            </a:r>
            <a:r>
              <a:rPr sz="1200" spc="-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D8D8D8"/>
                </a:solidFill>
                <a:latin typeface="Arial"/>
                <a:cs typeface="Arial"/>
              </a:rPr>
              <a:t>apt-</a:t>
            </a:r>
            <a:r>
              <a:rPr sz="1200" dirty="0">
                <a:solidFill>
                  <a:srgbClr val="D8D8D8"/>
                </a:solidFill>
                <a:latin typeface="Arial"/>
                <a:cs typeface="Arial"/>
              </a:rPr>
              <a:t>get</a:t>
            </a:r>
            <a:r>
              <a:rPr sz="1200" spc="-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D8D8D8"/>
                </a:solidFill>
                <a:latin typeface="Arial"/>
                <a:cs typeface="Arial"/>
              </a:rPr>
              <a:t>update</a:t>
            </a:r>
            <a:endParaRPr sz="1200">
              <a:latin typeface="Arial"/>
              <a:cs typeface="Arial"/>
            </a:endParaRPr>
          </a:p>
          <a:p>
            <a:pPr marL="54610">
              <a:lnSpc>
                <a:spcPct val="100000"/>
              </a:lnSpc>
            </a:pPr>
            <a:r>
              <a:rPr sz="1200" spc="-10" dirty="0">
                <a:solidFill>
                  <a:srgbClr val="D8D8D8"/>
                </a:solidFill>
                <a:latin typeface="Arial"/>
                <a:cs typeface="Arial"/>
              </a:rPr>
              <a:t>---</a:t>
            </a:r>
            <a:r>
              <a:rPr sz="1200" dirty="0">
                <a:solidFill>
                  <a:srgbClr val="D8D8D8"/>
                </a:solidFill>
                <a:latin typeface="Arial"/>
                <a:cs typeface="Arial"/>
              </a:rPr>
              <a:t>&gt;</a:t>
            </a:r>
            <a:r>
              <a:rPr sz="1200" spc="-1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D8D8D8"/>
                </a:solidFill>
                <a:latin typeface="Arial"/>
                <a:cs typeface="Arial"/>
              </a:rPr>
              <a:t>Using</a:t>
            </a:r>
            <a:r>
              <a:rPr sz="1200" spc="-10" dirty="0">
                <a:solidFill>
                  <a:srgbClr val="D8D8D8"/>
                </a:solidFill>
                <a:latin typeface="Arial"/>
                <a:cs typeface="Arial"/>
              </a:rPr>
              <a:t> cache</a:t>
            </a:r>
            <a:endParaRPr sz="1200">
              <a:latin typeface="Arial"/>
              <a:cs typeface="Arial"/>
            </a:endParaRPr>
          </a:p>
          <a:p>
            <a:pPr marL="54610">
              <a:lnSpc>
                <a:spcPct val="100000"/>
              </a:lnSpc>
            </a:pPr>
            <a:r>
              <a:rPr sz="1200" spc="-10" dirty="0">
                <a:solidFill>
                  <a:srgbClr val="D8D8D8"/>
                </a:solidFill>
                <a:latin typeface="Arial"/>
                <a:cs typeface="Arial"/>
              </a:rPr>
              <a:t>---</a:t>
            </a:r>
            <a:r>
              <a:rPr sz="1200" dirty="0">
                <a:solidFill>
                  <a:srgbClr val="D8D8D8"/>
                </a:solidFill>
                <a:latin typeface="Arial"/>
                <a:cs typeface="Arial"/>
              </a:rPr>
              <a:t>&gt;</a:t>
            </a:r>
            <a:r>
              <a:rPr sz="1200" spc="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D8D8D8"/>
                </a:solidFill>
                <a:latin typeface="Arial"/>
                <a:cs typeface="Arial"/>
              </a:rPr>
              <a:t>cfc0c414a914</a:t>
            </a:r>
            <a:endParaRPr sz="12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66207" y="3529314"/>
            <a:ext cx="3088005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D8D8D8"/>
                </a:solidFill>
                <a:latin typeface="Arial"/>
                <a:cs typeface="Arial"/>
              </a:rPr>
              <a:t>Step</a:t>
            </a:r>
            <a:r>
              <a:rPr sz="1200" spc="-2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D8D8D8"/>
                </a:solidFill>
                <a:latin typeface="Arial"/>
                <a:cs typeface="Arial"/>
              </a:rPr>
              <a:t>3/4</a:t>
            </a:r>
            <a:r>
              <a:rPr sz="1200" spc="-2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D8D8D8"/>
                </a:solidFill>
                <a:latin typeface="Arial"/>
                <a:cs typeface="Arial"/>
              </a:rPr>
              <a:t>:</a:t>
            </a:r>
            <a:r>
              <a:rPr sz="1200" spc="-2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D8D8D8"/>
                </a:solidFill>
                <a:latin typeface="Arial"/>
                <a:cs typeface="Arial"/>
              </a:rPr>
              <a:t>ENTRYPOINT</a:t>
            </a:r>
            <a:r>
              <a:rPr sz="1200" spc="-4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D8D8D8"/>
                </a:solidFill>
                <a:latin typeface="Arial"/>
                <a:cs typeface="Arial"/>
              </a:rPr>
              <a:t>["/bin/echo",</a:t>
            </a:r>
            <a:r>
              <a:rPr sz="1200" spc="-2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D8D8D8"/>
                </a:solidFill>
                <a:latin typeface="Arial"/>
                <a:cs typeface="Arial"/>
              </a:rPr>
              <a:t>"Hello"]</a:t>
            </a:r>
            <a:endParaRPr sz="1200">
              <a:latin typeface="Arial"/>
              <a:cs typeface="Arial"/>
            </a:endParaRPr>
          </a:p>
          <a:p>
            <a:pPr marL="54610">
              <a:lnSpc>
                <a:spcPct val="100000"/>
              </a:lnSpc>
            </a:pPr>
            <a:r>
              <a:rPr sz="1200" spc="-10" dirty="0">
                <a:solidFill>
                  <a:srgbClr val="D8D8D8"/>
                </a:solidFill>
                <a:latin typeface="Arial"/>
                <a:cs typeface="Arial"/>
              </a:rPr>
              <a:t>---</a:t>
            </a:r>
            <a:r>
              <a:rPr sz="1200" dirty="0">
                <a:solidFill>
                  <a:srgbClr val="D8D8D8"/>
                </a:solidFill>
                <a:latin typeface="Arial"/>
                <a:cs typeface="Arial"/>
              </a:rPr>
              <a:t>&gt;</a:t>
            </a:r>
            <a:r>
              <a:rPr sz="1200" spc="-1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D8D8D8"/>
                </a:solidFill>
                <a:latin typeface="Arial"/>
                <a:cs typeface="Arial"/>
              </a:rPr>
              <a:t>Using</a:t>
            </a:r>
            <a:r>
              <a:rPr sz="1200" spc="-10" dirty="0">
                <a:solidFill>
                  <a:srgbClr val="D8D8D8"/>
                </a:solidFill>
                <a:latin typeface="Arial"/>
                <a:cs typeface="Arial"/>
              </a:rPr>
              <a:t> cache</a:t>
            </a:r>
            <a:endParaRPr sz="1200">
              <a:latin typeface="Arial"/>
              <a:cs typeface="Arial"/>
            </a:endParaRPr>
          </a:p>
          <a:p>
            <a:pPr marL="12700" marR="1427480" indent="41910">
              <a:lnSpc>
                <a:spcPct val="100000"/>
              </a:lnSpc>
            </a:pPr>
            <a:r>
              <a:rPr sz="1200" spc="-10" dirty="0">
                <a:solidFill>
                  <a:srgbClr val="D8D8D8"/>
                </a:solidFill>
                <a:latin typeface="Arial"/>
                <a:cs typeface="Arial"/>
              </a:rPr>
              <a:t>---</a:t>
            </a:r>
            <a:r>
              <a:rPr sz="1200" dirty="0">
                <a:solidFill>
                  <a:srgbClr val="D8D8D8"/>
                </a:solidFill>
                <a:latin typeface="Arial"/>
                <a:cs typeface="Arial"/>
              </a:rPr>
              <a:t>&gt;</a:t>
            </a:r>
            <a:r>
              <a:rPr sz="1200" spc="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D8D8D8"/>
                </a:solidFill>
                <a:latin typeface="Arial"/>
                <a:cs typeface="Arial"/>
              </a:rPr>
              <a:t>7e4f8b0774de</a:t>
            </a:r>
            <a:r>
              <a:rPr sz="1200" spc="50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D8D8D8"/>
                </a:solidFill>
                <a:latin typeface="Arial"/>
                <a:cs typeface="Arial"/>
              </a:rPr>
              <a:t>Step</a:t>
            </a:r>
            <a:r>
              <a:rPr sz="1200" spc="-2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D8D8D8"/>
                </a:solidFill>
                <a:latin typeface="Arial"/>
                <a:cs typeface="Arial"/>
              </a:rPr>
              <a:t>4/4</a:t>
            </a:r>
            <a:r>
              <a:rPr sz="1200" spc="-1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D8D8D8"/>
                </a:solidFill>
                <a:latin typeface="Arial"/>
                <a:cs typeface="Arial"/>
              </a:rPr>
              <a:t>:</a:t>
            </a:r>
            <a:r>
              <a:rPr sz="1200" spc="-1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D8D8D8"/>
                </a:solidFill>
                <a:latin typeface="Arial"/>
                <a:cs typeface="Arial"/>
              </a:rPr>
              <a:t>CMD</a:t>
            </a:r>
            <a:r>
              <a:rPr sz="1200" spc="-1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D8D8D8"/>
                </a:solidFill>
                <a:latin typeface="Arial"/>
                <a:cs typeface="Arial"/>
              </a:rPr>
              <a:t>["world"]</a:t>
            </a:r>
            <a:endParaRPr sz="1200">
              <a:latin typeface="Arial"/>
              <a:cs typeface="Arial"/>
            </a:endParaRPr>
          </a:p>
          <a:p>
            <a:pPr marL="54610">
              <a:lnSpc>
                <a:spcPct val="100000"/>
              </a:lnSpc>
            </a:pPr>
            <a:r>
              <a:rPr sz="1200" spc="-10" dirty="0">
                <a:solidFill>
                  <a:srgbClr val="D8D8D8"/>
                </a:solidFill>
                <a:latin typeface="Arial"/>
                <a:cs typeface="Arial"/>
              </a:rPr>
              <a:t>---</a:t>
            </a:r>
            <a:r>
              <a:rPr sz="1200" dirty="0">
                <a:solidFill>
                  <a:srgbClr val="D8D8D8"/>
                </a:solidFill>
                <a:latin typeface="Arial"/>
                <a:cs typeface="Arial"/>
              </a:rPr>
              <a:t>&gt;</a:t>
            </a:r>
            <a:r>
              <a:rPr sz="1200" spc="-1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D8D8D8"/>
                </a:solidFill>
                <a:latin typeface="Arial"/>
                <a:cs typeface="Arial"/>
              </a:rPr>
              <a:t>Using</a:t>
            </a:r>
            <a:r>
              <a:rPr sz="1200" spc="-10" dirty="0">
                <a:solidFill>
                  <a:srgbClr val="D8D8D8"/>
                </a:solidFill>
                <a:latin typeface="Arial"/>
                <a:cs typeface="Arial"/>
              </a:rPr>
              <a:t> cache</a:t>
            </a:r>
            <a:endParaRPr sz="1200">
              <a:latin typeface="Arial"/>
              <a:cs typeface="Arial"/>
            </a:endParaRPr>
          </a:p>
          <a:p>
            <a:pPr marL="54610">
              <a:lnSpc>
                <a:spcPct val="100000"/>
              </a:lnSpc>
            </a:pPr>
            <a:r>
              <a:rPr sz="1200" spc="-10" dirty="0">
                <a:solidFill>
                  <a:srgbClr val="D8D8D8"/>
                </a:solidFill>
                <a:latin typeface="Arial"/>
                <a:cs typeface="Arial"/>
              </a:rPr>
              <a:t>---</a:t>
            </a:r>
            <a:r>
              <a:rPr sz="1200" dirty="0">
                <a:solidFill>
                  <a:srgbClr val="D8D8D8"/>
                </a:solidFill>
                <a:latin typeface="Arial"/>
                <a:cs typeface="Arial"/>
              </a:rPr>
              <a:t>&gt;</a:t>
            </a:r>
            <a:r>
              <a:rPr sz="1200" spc="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D8D8D8"/>
                </a:solidFill>
                <a:latin typeface="Arial"/>
                <a:cs typeface="Arial"/>
              </a:rPr>
              <a:t>a89172ee2876</a:t>
            </a:r>
            <a:endParaRPr sz="1200">
              <a:latin typeface="Arial"/>
              <a:cs typeface="Arial"/>
            </a:endParaRPr>
          </a:p>
          <a:p>
            <a:pPr marL="12700" marR="119380">
              <a:lnSpc>
                <a:spcPct val="100000"/>
              </a:lnSpc>
            </a:pPr>
            <a:r>
              <a:rPr sz="1200" dirty="0">
                <a:solidFill>
                  <a:srgbClr val="D8D8D8"/>
                </a:solidFill>
                <a:latin typeface="Arial"/>
                <a:cs typeface="Arial"/>
              </a:rPr>
              <a:t>Successfully</a:t>
            </a:r>
            <a:r>
              <a:rPr sz="1200" spc="-1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D8D8D8"/>
                </a:solidFill>
                <a:latin typeface="Arial"/>
                <a:cs typeface="Arial"/>
              </a:rPr>
              <a:t>built</a:t>
            </a:r>
            <a:r>
              <a:rPr sz="1200" spc="-10" dirty="0">
                <a:solidFill>
                  <a:srgbClr val="D8D8D8"/>
                </a:solidFill>
                <a:latin typeface="Arial"/>
                <a:cs typeface="Arial"/>
              </a:rPr>
              <a:t> a89172ee2876 </a:t>
            </a:r>
            <a:r>
              <a:rPr sz="1200" dirty="0">
                <a:solidFill>
                  <a:srgbClr val="D8D8D8"/>
                </a:solidFill>
                <a:latin typeface="Arial"/>
                <a:cs typeface="Arial"/>
              </a:rPr>
              <a:t>Successfully</a:t>
            </a:r>
            <a:r>
              <a:rPr sz="12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D8D8D8"/>
                </a:solidFill>
                <a:latin typeface="Arial"/>
                <a:cs typeface="Arial"/>
              </a:rPr>
              <a:t>tagged</a:t>
            </a:r>
            <a:r>
              <a:rPr sz="1200" spc="-2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D8D8D8"/>
                </a:solidFill>
                <a:latin typeface="Arial"/>
                <a:cs typeface="Arial"/>
              </a:rPr>
              <a:t>hello_world_cmd:latest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125475" y="3086394"/>
            <a:ext cx="2056764" cy="1206500"/>
            <a:chOff x="3125475" y="3086394"/>
            <a:chExt cx="2056764" cy="1206500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20594" y="3086394"/>
              <a:ext cx="1661524" cy="39432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65357" y="3108157"/>
              <a:ext cx="1572000" cy="30480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3565357" y="3108157"/>
              <a:ext cx="1572260" cy="304800"/>
            </a:xfrm>
            <a:custGeom>
              <a:avLst/>
              <a:gdLst/>
              <a:ahLst/>
              <a:cxnLst/>
              <a:rect l="l" t="t" r="r" b="b"/>
              <a:pathLst>
                <a:path w="1572260" h="304800">
                  <a:moveTo>
                    <a:pt x="0" y="152399"/>
                  </a:moveTo>
                  <a:lnTo>
                    <a:pt x="152399" y="0"/>
                  </a:lnTo>
                  <a:lnTo>
                    <a:pt x="152399" y="76199"/>
                  </a:lnTo>
                  <a:lnTo>
                    <a:pt x="1571999" y="76199"/>
                  </a:lnTo>
                  <a:lnTo>
                    <a:pt x="1571999" y="228599"/>
                  </a:lnTo>
                  <a:lnTo>
                    <a:pt x="152399" y="228599"/>
                  </a:lnTo>
                  <a:lnTo>
                    <a:pt x="152399" y="304799"/>
                  </a:lnTo>
                  <a:lnTo>
                    <a:pt x="0" y="152399"/>
                  </a:lnTo>
                  <a:close/>
                </a:path>
              </a:pathLst>
            </a:custGeom>
            <a:ln w="9524">
              <a:solidFill>
                <a:srgbClr val="4A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25475" y="3394403"/>
              <a:ext cx="1968347" cy="898117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70237" y="3416165"/>
              <a:ext cx="1878822" cy="80859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3170237" y="3416165"/>
              <a:ext cx="1878964" cy="808990"/>
            </a:xfrm>
            <a:custGeom>
              <a:avLst/>
              <a:gdLst/>
              <a:ahLst/>
              <a:cxnLst/>
              <a:rect l="l" t="t" r="r" b="b"/>
              <a:pathLst>
                <a:path w="1878964" h="808989">
                  <a:moveTo>
                    <a:pt x="0" y="713244"/>
                  </a:moveTo>
                  <a:lnTo>
                    <a:pt x="95382" y="519992"/>
                  </a:lnTo>
                  <a:lnTo>
                    <a:pt x="115259" y="578647"/>
                  </a:lnTo>
                  <a:lnTo>
                    <a:pt x="1820777" y="0"/>
                  </a:lnTo>
                  <a:lnTo>
                    <a:pt x="1878822" y="171289"/>
                  </a:lnTo>
                  <a:lnTo>
                    <a:pt x="173304" y="749937"/>
                  </a:lnTo>
                  <a:lnTo>
                    <a:pt x="193182" y="808592"/>
                  </a:lnTo>
                  <a:lnTo>
                    <a:pt x="0" y="713244"/>
                  </a:lnTo>
                  <a:close/>
                </a:path>
              </a:pathLst>
            </a:custGeom>
            <a:ln w="9524">
              <a:solidFill>
                <a:srgbClr val="4A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5270520" y="3059880"/>
            <a:ext cx="27813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8CB3E3"/>
                </a:solidFill>
                <a:latin typeface="Arial"/>
                <a:cs typeface="Arial"/>
              </a:rPr>
              <a:t>Have</a:t>
            </a:r>
            <a:r>
              <a:rPr sz="1800" spc="-15" dirty="0">
                <a:solidFill>
                  <a:srgbClr val="8CB3E3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8CB3E3"/>
                </a:solidFill>
                <a:latin typeface="Arial"/>
                <a:cs typeface="Arial"/>
              </a:rPr>
              <a:t>seen</a:t>
            </a:r>
            <a:r>
              <a:rPr sz="1800" spc="-15" dirty="0">
                <a:solidFill>
                  <a:srgbClr val="8CB3E3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8CB3E3"/>
                </a:solidFill>
                <a:latin typeface="Arial"/>
                <a:cs typeface="Arial"/>
              </a:rPr>
              <a:t>this</a:t>
            </a:r>
            <a:r>
              <a:rPr sz="1800" spc="-15" dirty="0">
                <a:solidFill>
                  <a:srgbClr val="8CB3E3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8CB3E3"/>
                </a:solidFill>
                <a:latin typeface="Arial"/>
                <a:cs typeface="Arial"/>
              </a:rPr>
              <a:t>before.</a:t>
            </a:r>
            <a:r>
              <a:rPr sz="1800" spc="-15" dirty="0">
                <a:solidFill>
                  <a:srgbClr val="8CB3E3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8CB3E3"/>
                </a:solidFill>
                <a:latin typeface="Arial"/>
                <a:cs typeface="Arial"/>
              </a:rPr>
              <a:t>Use </a:t>
            </a:r>
            <a:r>
              <a:rPr sz="1800" spc="-10" dirty="0">
                <a:solidFill>
                  <a:srgbClr val="8CB3E3"/>
                </a:solidFill>
                <a:latin typeface="Arial"/>
                <a:cs typeface="Arial"/>
              </a:rPr>
              <a:t>cache</a:t>
            </a:r>
            <a:endParaRPr sz="1800">
              <a:latin typeface="Arial"/>
              <a:cs typeface="Arial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spc="-25" dirty="0"/>
              <a:t>32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726700" y="5357398"/>
            <a:ext cx="10752455" cy="894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900" dirty="0">
                <a:solidFill>
                  <a:srgbClr val="3F3F3F"/>
                </a:solidFill>
                <a:latin typeface="Arial"/>
                <a:cs typeface="Arial"/>
              </a:rPr>
              <a:t>As</a:t>
            </a:r>
            <a:r>
              <a:rPr sz="1900" spc="-50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3F3F3F"/>
                </a:solidFill>
                <a:latin typeface="Arial"/>
                <a:cs typeface="Arial"/>
              </a:rPr>
              <a:t>you</a:t>
            </a:r>
            <a:r>
              <a:rPr sz="1900" spc="-50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3F3F3F"/>
                </a:solidFill>
                <a:latin typeface="Arial"/>
                <a:cs typeface="Arial"/>
              </a:rPr>
              <a:t>can</a:t>
            </a:r>
            <a:r>
              <a:rPr sz="1900" spc="-50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3F3F3F"/>
                </a:solidFill>
                <a:latin typeface="Arial"/>
                <a:cs typeface="Arial"/>
              </a:rPr>
              <a:t>see</a:t>
            </a:r>
            <a:r>
              <a:rPr sz="1900" spc="-50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3F3F3F"/>
                </a:solidFill>
                <a:latin typeface="Arial"/>
                <a:cs typeface="Arial"/>
              </a:rPr>
              <a:t>that</a:t>
            </a:r>
            <a:r>
              <a:rPr sz="1900" spc="-50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3F3F3F"/>
                </a:solidFill>
                <a:latin typeface="Arial"/>
                <a:cs typeface="Arial"/>
              </a:rPr>
              <a:t>the</a:t>
            </a:r>
            <a:r>
              <a:rPr sz="1900" spc="-50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3F3F3F"/>
                </a:solidFill>
                <a:latin typeface="Arial"/>
                <a:cs typeface="Arial"/>
              </a:rPr>
              <a:t>image</a:t>
            </a:r>
            <a:r>
              <a:rPr sz="1900" spc="-4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3F3F3F"/>
                </a:solidFill>
                <a:latin typeface="Arial"/>
                <a:cs typeface="Arial"/>
              </a:rPr>
              <a:t>was</a:t>
            </a:r>
            <a:r>
              <a:rPr sz="1900" spc="-50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3F3F3F"/>
                </a:solidFill>
                <a:latin typeface="Arial"/>
                <a:cs typeface="Arial"/>
              </a:rPr>
              <a:t>built</a:t>
            </a:r>
            <a:r>
              <a:rPr sz="1900" spc="-50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3F3F3F"/>
                </a:solidFill>
                <a:latin typeface="Arial"/>
                <a:cs typeface="Arial"/>
              </a:rPr>
              <a:t>using</a:t>
            </a:r>
            <a:r>
              <a:rPr sz="1900" spc="-50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3F3F3F"/>
                </a:solidFill>
                <a:latin typeface="Arial"/>
                <a:cs typeface="Arial"/>
              </a:rPr>
              <a:t>the</a:t>
            </a:r>
            <a:r>
              <a:rPr sz="1900" spc="-2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538CD5"/>
                </a:solidFill>
                <a:latin typeface="Arial"/>
                <a:cs typeface="Arial"/>
              </a:rPr>
              <a:t>existing</a:t>
            </a:r>
            <a:r>
              <a:rPr sz="1900" spc="-50" dirty="0">
                <a:solidFill>
                  <a:srgbClr val="538CD5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3F3F3F"/>
                </a:solidFill>
                <a:latin typeface="Arial"/>
                <a:cs typeface="Arial"/>
              </a:rPr>
              <a:t>layers</a:t>
            </a:r>
            <a:r>
              <a:rPr sz="1900" spc="-50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3F3F3F"/>
                </a:solidFill>
                <a:latin typeface="Arial"/>
                <a:cs typeface="Arial"/>
              </a:rPr>
              <a:t>from</a:t>
            </a:r>
            <a:r>
              <a:rPr sz="1900" spc="-50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3F3F3F"/>
                </a:solidFill>
                <a:latin typeface="Arial"/>
                <a:cs typeface="Arial"/>
              </a:rPr>
              <a:t>our</a:t>
            </a:r>
            <a:r>
              <a:rPr sz="1900" spc="-4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3F3F3F"/>
                </a:solidFill>
                <a:latin typeface="Arial"/>
                <a:cs typeface="Arial"/>
              </a:rPr>
              <a:t>previous</a:t>
            </a:r>
            <a:r>
              <a:rPr sz="1900" spc="-50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3F3F3F"/>
                </a:solidFill>
                <a:latin typeface="Arial"/>
                <a:cs typeface="Arial"/>
              </a:rPr>
              <a:t>docker</a:t>
            </a:r>
            <a:r>
              <a:rPr sz="1900" spc="-50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900" spc="-10" dirty="0">
                <a:solidFill>
                  <a:srgbClr val="3F3F3F"/>
                </a:solidFill>
                <a:latin typeface="Arial"/>
                <a:cs typeface="Arial"/>
              </a:rPr>
              <a:t>image </a:t>
            </a:r>
            <a:r>
              <a:rPr sz="1900" dirty="0">
                <a:solidFill>
                  <a:srgbClr val="3F3F3F"/>
                </a:solidFill>
                <a:latin typeface="Arial"/>
                <a:cs typeface="Arial"/>
              </a:rPr>
              <a:t>builds.</a:t>
            </a:r>
            <a:r>
              <a:rPr sz="1900" spc="-5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3F3F3F"/>
                </a:solidFill>
                <a:latin typeface="Arial"/>
                <a:cs typeface="Arial"/>
              </a:rPr>
              <a:t>If</a:t>
            </a:r>
            <a:r>
              <a:rPr sz="1900" spc="-50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3F3F3F"/>
                </a:solidFill>
                <a:latin typeface="Arial"/>
                <a:cs typeface="Arial"/>
              </a:rPr>
              <a:t>some</a:t>
            </a:r>
            <a:r>
              <a:rPr sz="1900" spc="-50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3F3F3F"/>
                </a:solidFill>
                <a:latin typeface="Arial"/>
                <a:cs typeface="Arial"/>
              </a:rPr>
              <a:t>of</a:t>
            </a:r>
            <a:r>
              <a:rPr sz="1900" spc="-50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3F3F3F"/>
                </a:solidFill>
                <a:latin typeface="Arial"/>
                <a:cs typeface="Arial"/>
              </a:rPr>
              <a:t>these</a:t>
            </a:r>
            <a:r>
              <a:rPr sz="1900" spc="-50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3F3F3F"/>
                </a:solidFill>
                <a:latin typeface="Arial"/>
                <a:cs typeface="Arial"/>
              </a:rPr>
              <a:t>layers</a:t>
            </a:r>
            <a:r>
              <a:rPr sz="1900" spc="-5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3F3F3F"/>
                </a:solidFill>
                <a:latin typeface="Arial"/>
                <a:cs typeface="Arial"/>
              </a:rPr>
              <a:t>are</a:t>
            </a:r>
            <a:r>
              <a:rPr sz="1900" spc="-50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3F3F3F"/>
                </a:solidFill>
                <a:latin typeface="Arial"/>
                <a:cs typeface="Arial"/>
              </a:rPr>
              <a:t>being</a:t>
            </a:r>
            <a:r>
              <a:rPr sz="1900" spc="-50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3F3F3F"/>
                </a:solidFill>
                <a:latin typeface="Arial"/>
                <a:cs typeface="Arial"/>
              </a:rPr>
              <a:t>used</a:t>
            </a:r>
            <a:r>
              <a:rPr sz="1900" spc="-50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3F3F3F"/>
                </a:solidFill>
                <a:latin typeface="Arial"/>
                <a:cs typeface="Arial"/>
              </a:rPr>
              <a:t>in</a:t>
            </a:r>
            <a:r>
              <a:rPr sz="1900" spc="-3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538CD5"/>
                </a:solidFill>
                <a:latin typeface="Arial"/>
                <a:cs typeface="Arial"/>
              </a:rPr>
              <a:t>other</a:t>
            </a:r>
            <a:r>
              <a:rPr sz="1900" spc="-50" dirty="0">
                <a:solidFill>
                  <a:srgbClr val="538CD5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538CD5"/>
                </a:solidFill>
                <a:latin typeface="Arial"/>
                <a:cs typeface="Arial"/>
              </a:rPr>
              <a:t>containers</a:t>
            </a:r>
            <a:r>
              <a:rPr sz="1900" dirty="0">
                <a:solidFill>
                  <a:srgbClr val="3F3F3F"/>
                </a:solidFill>
                <a:latin typeface="Arial"/>
                <a:cs typeface="Arial"/>
              </a:rPr>
              <a:t>,</a:t>
            </a:r>
            <a:r>
              <a:rPr sz="1900" spc="-50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3F3F3F"/>
                </a:solidFill>
                <a:latin typeface="Arial"/>
                <a:cs typeface="Arial"/>
              </a:rPr>
              <a:t>they</a:t>
            </a:r>
            <a:r>
              <a:rPr sz="1900" spc="-50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3F3F3F"/>
                </a:solidFill>
                <a:latin typeface="Arial"/>
                <a:cs typeface="Arial"/>
              </a:rPr>
              <a:t>can</a:t>
            </a:r>
            <a:r>
              <a:rPr sz="1900" spc="-5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3F3F3F"/>
                </a:solidFill>
                <a:latin typeface="Arial"/>
                <a:cs typeface="Arial"/>
              </a:rPr>
              <a:t>just</a:t>
            </a:r>
            <a:r>
              <a:rPr sz="1900" spc="-50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3F3F3F"/>
                </a:solidFill>
                <a:latin typeface="Arial"/>
                <a:cs typeface="Arial"/>
              </a:rPr>
              <a:t>use</a:t>
            </a:r>
            <a:r>
              <a:rPr sz="1900" spc="-50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3F3F3F"/>
                </a:solidFill>
                <a:latin typeface="Arial"/>
                <a:cs typeface="Arial"/>
              </a:rPr>
              <a:t>the</a:t>
            </a:r>
            <a:r>
              <a:rPr sz="1900" spc="-50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3F3F3F"/>
                </a:solidFill>
                <a:latin typeface="Arial"/>
                <a:cs typeface="Arial"/>
              </a:rPr>
              <a:t>existing</a:t>
            </a:r>
            <a:r>
              <a:rPr sz="1900" spc="-50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900" spc="-10" dirty="0">
                <a:solidFill>
                  <a:srgbClr val="3F3F3F"/>
                </a:solidFill>
                <a:latin typeface="Arial"/>
                <a:cs typeface="Arial"/>
              </a:rPr>
              <a:t>layer </a:t>
            </a:r>
            <a:r>
              <a:rPr sz="1900" dirty="0">
                <a:solidFill>
                  <a:srgbClr val="3F3F3F"/>
                </a:solidFill>
                <a:latin typeface="Arial"/>
                <a:cs typeface="Arial"/>
              </a:rPr>
              <a:t>instead</a:t>
            </a:r>
            <a:r>
              <a:rPr sz="1900" spc="-5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3F3F3F"/>
                </a:solidFill>
                <a:latin typeface="Arial"/>
                <a:cs typeface="Arial"/>
              </a:rPr>
              <a:t>of</a:t>
            </a:r>
            <a:r>
              <a:rPr sz="1900" spc="-50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3F3F3F"/>
                </a:solidFill>
                <a:latin typeface="Arial"/>
                <a:cs typeface="Arial"/>
              </a:rPr>
              <a:t>recreating</a:t>
            </a:r>
            <a:r>
              <a:rPr sz="1900" spc="-50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3F3F3F"/>
                </a:solidFill>
                <a:latin typeface="Arial"/>
                <a:cs typeface="Arial"/>
              </a:rPr>
              <a:t>it</a:t>
            </a:r>
            <a:r>
              <a:rPr sz="1900" spc="-50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3F3F3F"/>
                </a:solidFill>
                <a:latin typeface="Arial"/>
                <a:cs typeface="Arial"/>
              </a:rPr>
              <a:t>from</a:t>
            </a:r>
            <a:r>
              <a:rPr sz="1900" spc="-5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900" spc="-10" dirty="0">
                <a:solidFill>
                  <a:srgbClr val="3F3F3F"/>
                </a:solidFill>
                <a:latin typeface="Arial"/>
                <a:cs typeface="Arial"/>
              </a:rPr>
              <a:t>scratch.</a:t>
            </a:r>
            <a:endParaRPr sz="1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Why</a:t>
            </a:r>
            <a:r>
              <a:rPr spc="-30" dirty="0"/>
              <a:t> </a:t>
            </a:r>
            <a:r>
              <a:rPr dirty="0"/>
              <a:t>use</a:t>
            </a:r>
            <a:r>
              <a:rPr spc="-30" dirty="0"/>
              <a:t> </a:t>
            </a:r>
            <a:r>
              <a:rPr spc="-10" dirty="0"/>
              <a:t>Containers?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spc="-25" dirty="0"/>
              <a:t>33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22307" y="1264507"/>
            <a:ext cx="9467850" cy="1859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5760" marR="5080" indent="-353695">
              <a:lnSpc>
                <a:spcPct val="100000"/>
              </a:lnSpc>
              <a:spcBef>
                <a:spcPts val="100"/>
              </a:spcBef>
              <a:buChar char="•"/>
              <a:tabLst>
                <a:tab pos="365760" algn="l"/>
              </a:tabLst>
            </a:pPr>
            <a:r>
              <a:rPr sz="2800" dirty="0">
                <a:latin typeface="Arial"/>
                <a:cs typeface="Arial"/>
              </a:rPr>
              <a:t>Imagine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you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are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building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large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complex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application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(e.g. </a:t>
            </a:r>
            <a:r>
              <a:rPr sz="2800" dirty="0">
                <a:latin typeface="Arial"/>
                <a:cs typeface="Arial"/>
              </a:rPr>
              <a:t>Online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Store)</a:t>
            </a:r>
            <a:endParaRPr sz="2800">
              <a:latin typeface="Arial"/>
              <a:cs typeface="Arial"/>
            </a:endParaRPr>
          </a:p>
          <a:p>
            <a:pPr marL="365760" marR="944244" indent="-353695">
              <a:lnSpc>
                <a:spcPct val="100000"/>
              </a:lnSpc>
              <a:spcBef>
                <a:spcPts val="1000"/>
              </a:spcBef>
              <a:buChar char="•"/>
              <a:tabLst>
                <a:tab pos="365760" algn="l"/>
              </a:tabLst>
            </a:pPr>
            <a:r>
              <a:rPr sz="2800" spc="-10" dirty="0">
                <a:latin typeface="Arial"/>
                <a:cs typeface="Arial"/>
              </a:rPr>
              <a:t>Traditionality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you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would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build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this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using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4F81BD"/>
                </a:solidFill>
                <a:latin typeface="Arial"/>
                <a:cs typeface="Arial"/>
              </a:rPr>
              <a:t>Monolithic Architecture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Monolithic</a:t>
            </a:r>
            <a:r>
              <a:rPr spc="-195" dirty="0"/>
              <a:t> </a:t>
            </a:r>
            <a:r>
              <a:rPr spc="-10" dirty="0"/>
              <a:t>Architecture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644266" y="2234133"/>
            <a:ext cx="732155" cy="2871470"/>
            <a:chOff x="1644266" y="2234133"/>
            <a:chExt cx="732155" cy="287147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81434" y="4373801"/>
              <a:ext cx="457260" cy="73159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44266" y="2234133"/>
              <a:ext cx="731599" cy="731599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544395" y="2954287"/>
            <a:ext cx="10528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595959"/>
                </a:solidFill>
                <a:latin typeface="Arial"/>
                <a:cs typeface="Arial"/>
              </a:rPr>
              <a:t>Browser</a:t>
            </a:r>
            <a:r>
              <a:rPr sz="1200" b="1" spc="-8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b="1" spc="-20" dirty="0">
                <a:solidFill>
                  <a:srgbClr val="595959"/>
                </a:solidFill>
                <a:latin typeface="Arial"/>
                <a:cs typeface="Arial"/>
              </a:rPr>
              <a:t>Apps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266180" y="2411624"/>
            <a:ext cx="8142605" cy="2870835"/>
            <a:chOff x="2266180" y="2411624"/>
            <a:chExt cx="8142605" cy="2870835"/>
          </a:xfrm>
        </p:grpSpPr>
        <p:sp>
          <p:nvSpPr>
            <p:cNvPr id="8" name="object 8"/>
            <p:cNvSpPr/>
            <p:nvPr/>
          </p:nvSpPr>
          <p:spPr>
            <a:xfrm>
              <a:off x="2547314" y="2599932"/>
              <a:ext cx="2529205" cy="1247140"/>
            </a:xfrm>
            <a:custGeom>
              <a:avLst/>
              <a:gdLst/>
              <a:ahLst/>
              <a:cxnLst/>
              <a:rect l="l" t="t" r="r" b="b"/>
              <a:pathLst>
                <a:path w="2529204" h="1247139">
                  <a:moveTo>
                    <a:pt x="0" y="0"/>
                  </a:moveTo>
                  <a:lnTo>
                    <a:pt x="1264529" y="0"/>
                  </a:lnTo>
                  <a:lnTo>
                    <a:pt x="1264529" y="1246799"/>
                  </a:lnTo>
                  <a:lnTo>
                    <a:pt x="2528999" y="1246799"/>
                  </a:lnTo>
                </a:path>
              </a:pathLst>
            </a:custGeom>
            <a:ln w="28574">
              <a:solidFill>
                <a:srgbClr val="9E9E9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03352" y="2538447"/>
              <a:ext cx="158250" cy="12296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62027" y="3785247"/>
              <a:ext cx="158252" cy="12297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410144" y="3846799"/>
              <a:ext cx="2666365" cy="892810"/>
            </a:xfrm>
            <a:custGeom>
              <a:avLst/>
              <a:gdLst/>
              <a:ahLst/>
              <a:cxnLst/>
              <a:rect l="l" t="t" r="r" b="b"/>
              <a:pathLst>
                <a:path w="2666365" h="892810">
                  <a:moveTo>
                    <a:pt x="0" y="892799"/>
                  </a:moveTo>
                  <a:lnTo>
                    <a:pt x="1402285" y="892799"/>
                  </a:lnTo>
                  <a:lnTo>
                    <a:pt x="1402285" y="0"/>
                  </a:lnTo>
                  <a:lnTo>
                    <a:pt x="2666100" y="0"/>
                  </a:lnTo>
                </a:path>
              </a:pathLst>
            </a:custGeom>
            <a:ln w="28574">
              <a:solidFill>
                <a:srgbClr val="9E9E9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66180" y="4678114"/>
              <a:ext cx="158251" cy="12296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61957" y="3785314"/>
              <a:ext cx="158249" cy="12296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5247825" y="2411624"/>
              <a:ext cx="2651125" cy="2870835"/>
            </a:xfrm>
            <a:custGeom>
              <a:avLst/>
              <a:gdLst/>
              <a:ahLst/>
              <a:cxnLst/>
              <a:rect l="l" t="t" r="r" b="b"/>
              <a:pathLst>
                <a:path w="2651125" h="2870835">
                  <a:moveTo>
                    <a:pt x="2651099" y="0"/>
                  </a:moveTo>
                  <a:lnTo>
                    <a:pt x="0" y="0"/>
                  </a:lnTo>
                  <a:lnTo>
                    <a:pt x="0" y="2870400"/>
                  </a:lnTo>
                  <a:lnTo>
                    <a:pt x="2651099" y="2870400"/>
                  </a:lnTo>
                  <a:lnTo>
                    <a:pt x="2651099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795574" y="3536500"/>
              <a:ext cx="613159" cy="68130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7898925" y="3846824"/>
              <a:ext cx="1725295" cy="27940"/>
            </a:xfrm>
            <a:custGeom>
              <a:avLst/>
              <a:gdLst/>
              <a:ahLst/>
              <a:cxnLst/>
              <a:rect l="l" t="t" r="r" b="b"/>
              <a:pathLst>
                <a:path w="1725295" h="27939">
                  <a:moveTo>
                    <a:pt x="0" y="0"/>
                  </a:moveTo>
                  <a:lnTo>
                    <a:pt x="1725172" y="27562"/>
                  </a:lnTo>
                </a:path>
              </a:pathLst>
            </a:custGeom>
            <a:ln w="28574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609054" y="3812907"/>
              <a:ext cx="158987" cy="122957"/>
            </a:xfrm>
            <a:prstGeom prst="rect">
              <a:avLst/>
            </a:prstGeom>
          </p:spPr>
        </p:pic>
      </p:grpSp>
      <p:pic>
        <p:nvPicPr>
          <p:cNvPr id="18" name="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174887" y="1372511"/>
            <a:ext cx="731500" cy="731503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6290676" y="2142380"/>
            <a:ext cx="4997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595959"/>
                </a:solidFill>
                <a:latin typeface="Arial"/>
                <a:cs typeface="Arial"/>
              </a:rPr>
              <a:t>Server</a:t>
            </a:r>
            <a:endParaRPr sz="1200">
              <a:latin typeface="Arial"/>
              <a:cs typeface="Arial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spc="-25" dirty="0"/>
              <a:t>34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9808505" y="4302053"/>
            <a:ext cx="7035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595959"/>
                </a:solidFill>
                <a:latin typeface="Arial"/>
                <a:cs typeface="Arial"/>
              </a:rPr>
              <a:t>Database</a:t>
            </a:r>
            <a:endParaRPr sz="12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428575" y="2727850"/>
            <a:ext cx="2289810" cy="365125"/>
          </a:xfrm>
          <a:prstGeom prst="rect">
            <a:avLst/>
          </a:prstGeom>
          <a:solidFill>
            <a:srgbClr val="3C78D8"/>
          </a:solidFill>
        </p:spPr>
        <p:txBody>
          <a:bodyPr vert="horz" wrap="square" lIns="0" tIns="70485" rIns="0" bIns="0" rtlCol="0">
            <a:spAutoFit/>
          </a:bodyPr>
          <a:lstStyle/>
          <a:p>
            <a:pPr marL="266065">
              <a:lnSpc>
                <a:spcPct val="100000"/>
              </a:lnSpc>
              <a:spcBef>
                <a:spcPts val="555"/>
              </a:spcBef>
            </a:pP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Storefront</a:t>
            </a:r>
            <a:r>
              <a:rPr sz="14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UI</a:t>
            </a:r>
            <a:r>
              <a:rPr sz="14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Module</a:t>
            </a:r>
            <a:endParaRPr sz="14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428575" y="3337450"/>
            <a:ext cx="2289810" cy="365125"/>
          </a:xfrm>
          <a:prstGeom prst="rect">
            <a:avLst/>
          </a:prstGeom>
          <a:solidFill>
            <a:srgbClr val="6AA84F"/>
          </a:solidFill>
        </p:spPr>
        <p:txBody>
          <a:bodyPr vert="horz" wrap="square" lIns="0" tIns="70485" rIns="0" bIns="0" rtlCol="0">
            <a:spAutoFit/>
          </a:bodyPr>
          <a:lstStyle/>
          <a:p>
            <a:pPr marL="483234">
              <a:lnSpc>
                <a:spcPct val="100000"/>
              </a:lnSpc>
              <a:spcBef>
                <a:spcPts val="555"/>
              </a:spcBef>
            </a:pP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Catalog</a:t>
            </a:r>
            <a:r>
              <a:rPr sz="14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Module</a:t>
            </a:r>
            <a:endParaRPr sz="14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428575" y="3947050"/>
            <a:ext cx="2289810" cy="365125"/>
          </a:xfrm>
          <a:prstGeom prst="rect">
            <a:avLst/>
          </a:prstGeom>
          <a:solidFill>
            <a:srgbClr val="E69138"/>
          </a:solidFill>
        </p:spPr>
        <p:txBody>
          <a:bodyPr vert="horz" wrap="square" lIns="0" tIns="70485" rIns="0" bIns="0" rtlCol="0">
            <a:spAutoFit/>
          </a:bodyPr>
          <a:lstStyle/>
          <a:p>
            <a:pPr marL="453390">
              <a:lnSpc>
                <a:spcPct val="100000"/>
              </a:lnSpc>
              <a:spcBef>
                <a:spcPts val="555"/>
              </a:spcBef>
            </a:pP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Reviews</a:t>
            </a:r>
            <a:r>
              <a:rPr sz="14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Module</a:t>
            </a:r>
            <a:endParaRPr sz="14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428575" y="4556650"/>
            <a:ext cx="2289810" cy="365125"/>
          </a:xfrm>
          <a:prstGeom prst="rect">
            <a:avLst/>
          </a:prstGeom>
          <a:solidFill>
            <a:srgbClr val="CC0000"/>
          </a:solidFill>
        </p:spPr>
        <p:txBody>
          <a:bodyPr vert="horz" wrap="square" lIns="0" tIns="70485" rIns="0" bIns="0" rtlCol="0">
            <a:spAutoFit/>
          </a:bodyPr>
          <a:lstStyle/>
          <a:p>
            <a:pPr marL="517525">
              <a:lnSpc>
                <a:spcPct val="100000"/>
              </a:lnSpc>
              <a:spcBef>
                <a:spcPts val="555"/>
              </a:spcBef>
            </a:pP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Orders</a:t>
            </a:r>
            <a:r>
              <a:rPr sz="14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Module</a:t>
            </a:r>
            <a:endParaRPr sz="14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998851" y="2267791"/>
            <a:ext cx="15201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434343"/>
                </a:solidFill>
                <a:latin typeface="Arial"/>
                <a:cs typeface="Arial"/>
              </a:rPr>
              <a:t>HTML</a:t>
            </a:r>
            <a:r>
              <a:rPr sz="1200" b="1" spc="-45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434343"/>
                </a:solidFill>
                <a:latin typeface="Arial"/>
                <a:cs typeface="Arial"/>
              </a:rPr>
              <a:t>/</a:t>
            </a:r>
            <a:r>
              <a:rPr sz="1200" b="1" spc="-20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434343"/>
                </a:solidFill>
                <a:latin typeface="Arial"/>
                <a:cs typeface="Arial"/>
              </a:rPr>
              <a:t>REST</a:t>
            </a:r>
            <a:r>
              <a:rPr sz="1200" b="1" spc="-25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434343"/>
                </a:solidFill>
                <a:latin typeface="Arial"/>
                <a:cs typeface="Arial"/>
              </a:rPr>
              <a:t>/</a:t>
            </a:r>
            <a:r>
              <a:rPr sz="1200" b="1" spc="-20" dirty="0">
                <a:solidFill>
                  <a:srgbClr val="434343"/>
                </a:solidFill>
                <a:latin typeface="Arial"/>
                <a:cs typeface="Arial"/>
              </a:rPr>
              <a:t> JSON</a:t>
            </a:r>
            <a:endParaRPr sz="12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608019" y="4867625"/>
            <a:ext cx="2712085" cy="454025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751330">
              <a:lnSpc>
                <a:spcPct val="100000"/>
              </a:lnSpc>
              <a:spcBef>
                <a:spcPts val="345"/>
              </a:spcBef>
            </a:pPr>
            <a:r>
              <a:rPr sz="1200" b="1" dirty="0">
                <a:solidFill>
                  <a:srgbClr val="434343"/>
                </a:solidFill>
                <a:latin typeface="Arial"/>
                <a:cs typeface="Arial"/>
              </a:rPr>
              <a:t>REST</a:t>
            </a:r>
            <a:r>
              <a:rPr sz="1200" b="1" spc="-20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434343"/>
                </a:solidFill>
                <a:latin typeface="Arial"/>
                <a:cs typeface="Arial"/>
              </a:rPr>
              <a:t>/</a:t>
            </a:r>
            <a:r>
              <a:rPr sz="1200" b="1" spc="-15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200" b="1" spc="-20" dirty="0">
                <a:solidFill>
                  <a:srgbClr val="434343"/>
                </a:solidFill>
                <a:latin typeface="Arial"/>
                <a:cs typeface="Arial"/>
              </a:rPr>
              <a:t>JSON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sz="1200" b="1" spc="-10" dirty="0">
                <a:solidFill>
                  <a:srgbClr val="595959"/>
                </a:solidFill>
                <a:latin typeface="Arial"/>
                <a:cs typeface="Arial"/>
              </a:rPr>
              <a:t>Mobile</a:t>
            </a:r>
            <a:r>
              <a:rPr sz="1200" b="1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b="1" spc="-20" dirty="0">
                <a:solidFill>
                  <a:srgbClr val="595959"/>
                </a:solidFill>
                <a:latin typeface="Arial"/>
                <a:cs typeface="Arial"/>
              </a:rPr>
              <a:t>Apps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Monolithic</a:t>
            </a:r>
            <a:r>
              <a:rPr spc="-195" dirty="0"/>
              <a:t> </a:t>
            </a:r>
            <a:r>
              <a:rPr spc="-10" dirty="0"/>
              <a:t>Architecture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644266" y="2234133"/>
            <a:ext cx="732155" cy="2871470"/>
            <a:chOff x="1644266" y="2234133"/>
            <a:chExt cx="732155" cy="287147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81434" y="4373801"/>
              <a:ext cx="457260" cy="73159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44266" y="2234133"/>
              <a:ext cx="731599" cy="731599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544395" y="2954287"/>
            <a:ext cx="10528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595959"/>
                </a:solidFill>
                <a:latin typeface="Arial"/>
                <a:cs typeface="Arial"/>
              </a:rPr>
              <a:t>Browser</a:t>
            </a:r>
            <a:r>
              <a:rPr sz="1200" b="1" spc="-8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b="1" spc="-20" dirty="0">
                <a:solidFill>
                  <a:srgbClr val="595959"/>
                </a:solidFill>
                <a:latin typeface="Arial"/>
                <a:cs typeface="Arial"/>
              </a:rPr>
              <a:t>Apps</a:t>
            </a:r>
            <a:endParaRPr sz="12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08019" y="5113287"/>
            <a:ext cx="92519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595959"/>
                </a:solidFill>
                <a:latin typeface="Arial"/>
                <a:cs typeface="Arial"/>
              </a:rPr>
              <a:t>Mobile</a:t>
            </a:r>
            <a:r>
              <a:rPr sz="1200" b="1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b="1" spc="-20" dirty="0">
                <a:solidFill>
                  <a:srgbClr val="595959"/>
                </a:solidFill>
                <a:latin typeface="Arial"/>
                <a:cs typeface="Arial"/>
              </a:rPr>
              <a:t>Apps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266180" y="2411624"/>
            <a:ext cx="8142605" cy="2870835"/>
            <a:chOff x="2266180" y="2411624"/>
            <a:chExt cx="8142605" cy="2870835"/>
          </a:xfrm>
        </p:grpSpPr>
        <p:sp>
          <p:nvSpPr>
            <p:cNvPr id="9" name="object 9"/>
            <p:cNvSpPr/>
            <p:nvPr/>
          </p:nvSpPr>
          <p:spPr>
            <a:xfrm>
              <a:off x="2547314" y="2599932"/>
              <a:ext cx="2529205" cy="1247140"/>
            </a:xfrm>
            <a:custGeom>
              <a:avLst/>
              <a:gdLst/>
              <a:ahLst/>
              <a:cxnLst/>
              <a:rect l="l" t="t" r="r" b="b"/>
              <a:pathLst>
                <a:path w="2529204" h="1247139">
                  <a:moveTo>
                    <a:pt x="0" y="0"/>
                  </a:moveTo>
                  <a:lnTo>
                    <a:pt x="1264529" y="0"/>
                  </a:lnTo>
                  <a:lnTo>
                    <a:pt x="1264529" y="1246799"/>
                  </a:lnTo>
                  <a:lnTo>
                    <a:pt x="2528999" y="1246799"/>
                  </a:lnTo>
                </a:path>
              </a:pathLst>
            </a:custGeom>
            <a:ln w="28574">
              <a:solidFill>
                <a:srgbClr val="9E9E9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03352" y="2538447"/>
              <a:ext cx="158250" cy="12296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62027" y="3785247"/>
              <a:ext cx="158252" cy="12297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410144" y="3846799"/>
              <a:ext cx="2666365" cy="892810"/>
            </a:xfrm>
            <a:custGeom>
              <a:avLst/>
              <a:gdLst/>
              <a:ahLst/>
              <a:cxnLst/>
              <a:rect l="l" t="t" r="r" b="b"/>
              <a:pathLst>
                <a:path w="2666365" h="892810">
                  <a:moveTo>
                    <a:pt x="0" y="892799"/>
                  </a:moveTo>
                  <a:lnTo>
                    <a:pt x="1402285" y="892799"/>
                  </a:lnTo>
                  <a:lnTo>
                    <a:pt x="1402285" y="0"/>
                  </a:lnTo>
                  <a:lnTo>
                    <a:pt x="2666100" y="0"/>
                  </a:lnTo>
                </a:path>
              </a:pathLst>
            </a:custGeom>
            <a:ln w="28574">
              <a:solidFill>
                <a:srgbClr val="9E9E9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66180" y="4678114"/>
              <a:ext cx="158251" cy="12296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61957" y="3785314"/>
              <a:ext cx="158249" cy="122969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5247825" y="2411624"/>
              <a:ext cx="2651125" cy="2870835"/>
            </a:xfrm>
            <a:custGeom>
              <a:avLst/>
              <a:gdLst/>
              <a:ahLst/>
              <a:cxnLst/>
              <a:rect l="l" t="t" r="r" b="b"/>
              <a:pathLst>
                <a:path w="2651125" h="2870835">
                  <a:moveTo>
                    <a:pt x="2651099" y="0"/>
                  </a:moveTo>
                  <a:lnTo>
                    <a:pt x="0" y="0"/>
                  </a:lnTo>
                  <a:lnTo>
                    <a:pt x="0" y="2870400"/>
                  </a:lnTo>
                  <a:lnTo>
                    <a:pt x="2651099" y="2870400"/>
                  </a:lnTo>
                  <a:lnTo>
                    <a:pt x="2651099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795574" y="3536500"/>
              <a:ext cx="613159" cy="68130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7898925" y="3846824"/>
              <a:ext cx="1725295" cy="27940"/>
            </a:xfrm>
            <a:custGeom>
              <a:avLst/>
              <a:gdLst/>
              <a:ahLst/>
              <a:cxnLst/>
              <a:rect l="l" t="t" r="r" b="b"/>
              <a:pathLst>
                <a:path w="1725295" h="27939">
                  <a:moveTo>
                    <a:pt x="0" y="0"/>
                  </a:moveTo>
                  <a:lnTo>
                    <a:pt x="1725172" y="27562"/>
                  </a:lnTo>
                </a:path>
              </a:pathLst>
            </a:custGeom>
            <a:ln w="28574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609054" y="3812907"/>
              <a:ext cx="158987" cy="122957"/>
            </a:xfrm>
            <a:prstGeom prst="rect">
              <a:avLst/>
            </a:prstGeom>
          </p:spPr>
        </p:pic>
      </p:grpSp>
      <p:pic>
        <p:nvPicPr>
          <p:cNvPr id="19" name="object 1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174887" y="1372511"/>
            <a:ext cx="731500" cy="731503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6290676" y="2142380"/>
            <a:ext cx="4997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595959"/>
                </a:solidFill>
                <a:latin typeface="Arial"/>
                <a:cs typeface="Arial"/>
              </a:rPr>
              <a:t>Server</a:t>
            </a:r>
            <a:endParaRPr sz="12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808505" y="4302053"/>
            <a:ext cx="7035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595959"/>
                </a:solidFill>
                <a:latin typeface="Arial"/>
                <a:cs typeface="Arial"/>
              </a:rPr>
              <a:t>Database</a:t>
            </a:r>
            <a:endParaRPr sz="12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428575" y="2727850"/>
            <a:ext cx="2289810" cy="365125"/>
          </a:xfrm>
          <a:prstGeom prst="rect">
            <a:avLst/>
          </a:prstGeom>
          <a:solidFill>
            <a:srgbClr val="3C78D8"/>
          </a:solidFill>
        </p:spPr>
        <p:txBody>
          <a:bodyPr vert="horz" wrap="square" lIns="0" tIns="70485" rIns="0" bIns="0" rtlCol="0">
            <a:spAutoFit/>
          </a:bodyPr>
          <a:lstStyle/>
          <a:p>
            <a:pPr marL="266065">
              <a:lnSpc>
                <a:spcPct val="100000"/>
              </a:lnSpc>
              <a:spcBef>
                <a:spcPts val="555"/>
              </a:spcBef>
            </a:pP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Storefront</a:t>
            </a:r>
            <a:r>
              <a:rPr sz="14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UI</a:t>
            </a:r>
            <a:r>
              <a:rPr sz="14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Module</a:t>
            </a:r>
            <a:endParaRPr sz="14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428575" y="3337450"/>
            <a:ext cx="2289810" cy="365125"/>
          </a:xfrm>
          <a:prstGeom prst="rect">
            <a:avLst/>
          </a:prstGeom>
          <a:solidFill>
            <a:srgbClr val="6AA84F"/>
          </a:solidFill>
        </p:spPr>
        <p:txBody>
          <a:bodyPr vert="horz" wrap="square" lIns="0" tIns="70485" rIns="0" bIns="0" rtlCol="0">
            <a:spAutoFit/>
          </a:bodyPr>
          <a:lstStyle/>
          <a:p>
            <a:pPr marL="483234">
              <a:lnSpc>
                <a:spcPct val="100000"/>
              </a:lnSpc>
              <a:spcBef>
                <a:spcPts val="555"/>
              </a:spcBef>
            </a:pP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Catalog</a:t>
            </a:r>
            <a:r>
              <a:rPr sz="14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Module</a:t>
            </a:r>
            <a:endParaRPr sz="14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428575" y="3947050"/>
            <a:ext cx="2289810" cy="365125"/>
          </a:xfrm>
          <a:prstGeom prst="rect">
            <a:avLst/>
          </a:prstGeom>
          <a:solidFill>
            <a:srgbClr val="E69138"/>
          </a:solidFill>
        </p:spPr>
        <p:txBody>
          <a:bodyPr vert="horz" wrap="square" lIns="0" tIns="70485" rIns="0" bIns="0" rtlCol="0">
            <a:spAutoFit/>
          </a:bodyPr>
          <a:lstStyle/>
          <a:p>
            <a:pPr marL="453390">
              <a:lnSpc>
                <a:spcPct val="100000"/>
              </a:lnSpc>
              <a:spcBef>
                <a:spcPts val="555"/>
              </a:spcBef>
            </a:pP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Reviews</a:t>
            </a:r>
            <a:r>
              <a:rPr sz="14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Module</a:t>
            </a:r>
            <a:endParaRPr sz="14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428575" y="4556650"/>
            <a:ext cx="2289810" cy="365125"/>
          </a:xfrm>
          <a:prstGeom prst="rect">
            <a:avLst/>
          </a:prstGeom>
          <a:solidFill>
            <a:srgbClr val="CC0000"/>
          </a:solidFill>
        </p:spPr>
        <p:txBody>
          <a:bodyPr vert="horz" wrap="square" lIns="0" tIns="70485" rIns="0" bIns="0" rtlCol="0">
            <a:spAutoFit/>
          </a:bodyPr>
          <a:lstStyle/>
          <a:p>
            <a:pPr marL="517525">
              <a:lnSpc>
                <a:spcPct val="100000"/>
              </a:lnSpc>
              <a:spcBef>
                <a:spcPts val="555"/>
              </a:spcBef>
            </a:pP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Orders</a:t>
            </a:r>
            <a:r>
              <a:rPr sz="14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Module</a:t>
            </a:r>
            <a:endParaRPr sz="14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998851" y="2267791"/>
            <a:ext cx="15201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434343"/>
                </a:solidFill>
                <a:latin typeface="Arial"/>
                <a:cs typeface="Arial"/>
              </a:rPr>
              <a:t>HTML</a:t>
            </a:r>
            <a:r>
              <a:rPr sz="1200" b="1" spc="-45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434343"/>
                </a:solidFill>
                <a:latin typeface="Arial"/>
                <a:cs typeface="Arial"/>
              </a:rPr>
              <a:t>/</a:t>
            </a:r>
            <a:r>
              <a:rPr sz="1200" b="1" spc="-20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434343"/>
                </a:solidFill>
                <a:latin typeface="Arial"/>
                <a:cs typeface="Arial"/>
              </a:rPr>
              <a:t>REST</a:t>
            </a:r>
            <a:r>
              <a:rPr sz="1200" b="1" spc="-25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434343"/>
                </a:solidFill>
                <a:latin typeface="Arial"/>
                <a:cs typeface="Arial"/>
              </a:rPr>
              <a:t>/</a:t>
            </a:r>
            <a:r>
              <a:rPr sz="1200" b="1" spc="-20" dirty="0">
                <a:solidFill>
                  <a:srgbClr val="434343"/>
                </a:solidFill>
                <a:latin typeface="Arial"/>
                <a:cs typeface="Arial"/>
              </a:rPr>
              <a:t> JSON</a:t>
            </a:r>
            <a:endParaRPr sz="12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346684" y="4899016"/>
            <a:ext cx="97281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434343"/>
                </a:solidFill>
                <a:latin typeface="Arial"/>
                <a:cs typeface="Arial"/>
              </a:rPr>
              <a:t>REST</a:t>
            </a:r>
            <a:r>
              <a:rPr sz="1200" b="1" spc="-20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434343"/>
                </a:solidFill>
                <a:latin typeface="Arial"/>
                <a:cs typeface="Arial"/>
              </a:rPr>
              <a:t>/</a:t>
            </a:r>
            <a:r>
              <a:rPr sz="1200" b="1" spc="-15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200" b="1" spc="-20" dirty="0">
                <a:solidFill>
                  <a:srgbClr val="434343"/>
                </a:solidFill>
                <a:latin typeface="Arial"/>
                <a:cs typeface="Arial"/>
              </a:rPr>
              <a:t>JSON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28" name="object 2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657475" y="5382725"/>
            <a:ext cx="451781" cy="602375"/>
          </a:xfrm>
          <a:prstGeom prst="rect">
            <a:avLst/>
          </a:prstGeom>
        </p:spPr>
      </p:pic>
      <p:sp>
        <p:nvSpPr>
          <p:cNvPr id="29" name="object 29"/>
          <p:cNvSpPr txBox="1"/>
          <p:nvPr/>
        </p:nvSpPr>
        <p:spPr>
          <a:xfrm>
            <a:off x="6330650" y="5572071"/>
            <a:ext cx="47752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20" dirty="0">
                <a:solidFill>
                  <a:srgbClr val="990000"/>
                </a:solidFill>
                <a:latin typeface="Arial"/>
                <a:cs typeface="Arial"/>
              </a:rPr>
              <a:t>Java</a:t>
            </a:r>
            <a:endParaRPr sz="1600">
              <a:latin typeface="Arial"/>
              <a:cs typeface="Arial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spc="-25" dirty="0"/>
              <a:t>35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9831117" y="4804497"/>
            <a:ext cx="65786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10" dirty="0">
                <a:solidFill>
                  <a:srgbClr val="990000"/>
                </a:solidFill>
                <a:latin typeface="Arial"/>
                <a:cs typeface="Arial"/>
              </a:rPr>
              <a:t>Oracle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Monolithic</a:t>
            </a:r>
            <a:r>
              <a:rPr spc="-200" dirty="0"/>
              <a:t> </a:t>
            </a:r>
            <a:r>
              <a:rPr dirty="0"/>
              <a:t>Architecture</a:t>
            </a:r>
            <a:r>
              <a:rPr spc="-25" dirty="0"/>
              <a:t> </a:t>
            </a:r>
            <a:r>
              <a:rPr dirty="0"/>
              <a:t>-</a:t>
            </a:r>
            <a:r>
              <a:rPr spc="-195" dirty="0"/>
              <a:t> </a:t>
            </a:r>
            <a:r>
              <a:rPr spc="-10" dirty="0"/>
              <a:t>Advantages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spc="-25" dirty="0"/>
              <a:t>36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68375" y="1700853"/>
            <a:ext cx="9168765" cy="2890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Simple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538CD5"/>
                </a:solidFill>
                <a:latin typeface="Arial"/>
                <a:cs typeface="Arial"/>
              </a:rPr>
              <a:t>Develop</a:t>
            </a:r>
            <a:r>
              <a:rPr sz="2400" b="1" dirty="0">
                <a:latin typeface="Arial"/>
                <a:cs typeface="Arial"/>
              </a:rPr>
              <a:t>,</a:t>
            </a:r>
            <a:r>
              <a:rPr sz="2400" b="1" spc="-70" dirty="0">
                <a:latin typeface="Arial"/>
                <a:cs typeface="Arial"/>
              </a:rPr>
              <a:t> </a:t>
            </a:r>
            <a:r>
              <a:rPr sz="2400" b="1" spc="-20" dirty="0">
                <a:solidFill>
                  <a:srgbClr val="538CD5"/>
                </a:solidFill>
                <a:latin typeface="Arial"/>
                <a:cs typeface="Arial"/>
              </a:rPr>
              <a:t>Test</a:t>
            </a:r>
            <a:r>
              <a:rPr sz="2400" b="1" spc="-20" dirty="0">
                <a:latin typeface="Arial"/>
                <a:cs typeface="Arial"/>
              </a:rPr>
              <a:t>,</a:t>
            </a:r>
            <a:r>
              <a:rPr sz="2400" b="1" spc="-70" dirty="0"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538CD5"/>
                </a:solidFill>
                <a:latin typeface="Arial"/>
                <a:cs typeface="Arial"/>
              </a:rPr>
              <a:t>Deploy</a:t>
            </a:r>
            <a:r>
              <a:rPr sz="2400" b="1" spc="-60" dirty="0">
                <a:solidFill>
                  <a:srgbClr val="538CD5"/>
                </a:solidFill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538CD5"/>
                </a:solidFill>
                <a:latin typeface="Arial"/>
                <a:cs typeface="Arial"/>
              </a:rPr>
              <a:t>Scale</a:t>
            </a:r>
            <a:r>
              <a:rPr sz="2400" b="1" spc="-10" dirty="0">
                <a:latin typeface="Arial"/>
                <a:cs typeface="Arial"/>
              </a:rPr>
              <a:t>: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2400">
              <a:latin typeface="Arial"/>
              <a:cs typeface="Arial"/>
            </a:endParaRPr>
          </a:p>
          <a:p>
            <a:pPr marL="927100" marR="5080" indent="-559435">
              <a:lnSpc>
                <a:spcPct val="100000"/>
              </a:lnSpc>
              <a:buAutoNum type="arabicPeriod"/>
              <a:tabLst>
                <a:tab pos="927100" algn="l"/>
              </a:tabLst>
            </a:pPr>
            <a:r>
              <a:rPr sz="2400" dirty="0">
                <a:latin typeface="Arial"/>
                <a:cs typeface="Arial"/>
              </a:rPr>
              <a:t>Simple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develop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because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all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tools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IDEs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support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the </a:t>
            </a:r>
            <a:r>
              <a:rPr sz="2400" dirty="0">
                <a:latin typeface="Arial"/>
                <a:cs typeface="Arial"/>
              </a:rPr>
              <a:t>applications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by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default</a:t>
            </a:r>
            <a:endParaRPr sz="2400">
              <a:latin typeface="Arial"/>
              <a:cs typeface="Arial"/>
            </a:endParaRPr>
          </a:p>
          <a:p>
            <a:pPr marL="927100" marR="104139" indent="-559435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927100" algn="l"/>
              </a:tabLst>
            </a:pPr>
            <a:r>
              <a:rPr sz="2400" dirty="0">
                <a:latin typeface="Arial"/>
                <a:cs typeface="Arial"/>
              </a:rPr>
              <a:t>Easy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deploy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because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all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components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are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packed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into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one </a:t>
            </a:r>
            <a:r>
              <a:rPr sz="2400" spc="-10" dirty="0">
                <a:latin typeface="Arial"/>
                <a:cs typeface="Arial"/>
              </a:rPr>
              <a:t>bundle</a:t>
            </a:r>
            <a:endParaRPr sz="2400">
              <a:latin typeface="Arial"/>
              <a:cs typeface="Arial"/>
            </a:endParaRPr>
          </a:p>
          <a:p>
            <a:pPr marL="926465" indent="-558800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926465" algn="l"/>
              </a:tabLst>
            </a:pPr>
            <a:r>
              <a:rPr sz="2400" dirty="0">
                <a:latin typeface="Arial"/>
                <a:cs typeface="Arial"/>
              </a:rPr>
              <a:t>Easy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scale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whole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application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Monolithic</a:t>
            </a:r>
            <a:r>
              <a:rPr spc="-195" dirty="0"/>
              <a:t> </a:t>
            </a:r>
            <a:r>
              <a:rPr dirty="0"/>
              <a:t>Architecture</a:t>
            </a:r>
            <a:r>
              <a:rPr spc="-25" dirty="0"/>
              <a:t> </a:t>
            </a:r>
            <a:r>
              <a:rPr dirty="0"/>
              <a:t>-</a:t>
            </a:r>
            <a:r>
              <a:rPr spc="-25" dirty="0"/>
              <a:t> </a:t>
            </a:r>
            <a:r>
              <a:rPr spc="-10" dirty="0"/>
              <a:t>Disadvantages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spc="-25" dirty="0"/>
              <a:t>37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23776" y="1548454"/>
            <a:ext cx="9288780" cy="2981960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571500" indent="-558800">
              <a:lnSpc>
                <a:spcPct val="100000"/>
              </a:lnSpc>
              <a:spcBef>
                <a:spcPts val="1300"/>
              </a:spcBef>
              <a:buAutoNum type="arabicPeriod"/>
              <a:tabLst>
                <a:tab pos="571500" algn="l"/>
              </a:tabLst>
            </a:pPr>
            <a:r>
              <a:rPr sz="2400" spc="-10" dirty="0">
                <a:latin typeface="Arial"/>
                <a:cs typeface="Arial"/>
              </a:rPr>
              <a:t>Very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difficult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maintain</a:t>
            </a:r>
            <a:endParaRPr sz="2400">
              <a:latin typeface="Arial"/>
              <a:cs typeface="Arial"/>
            </a:endParaRPr>
          </a:p>
          <a:p>
            <a:pPr marL="571500" indent="-558800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571500" algn="l"/>
              </a:tabLst>
            </a:pPr>
            <a:r>
              <a:rPr sz="2400" dirty="0">
                <a:latin typeface="Arial"/>
                <a:cs typeface="Arial"/>
              </a:rPr>
              <a:t>One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component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failure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will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cause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whole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system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fail</a:t>
            </a:r>
            <a:endParaRPr sz="2400">
              <a:latin typeface="Arial"/>
              <a:cs typeface="Arial"/>
            </a:endParaRPr>
          </a:p>
          <a:p>
            <a:pPr marL="571500" indent="-558800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571500" algn="l"/>
              </a:tabLst>
            </a:pPr>
            <a:r>
              <a:rPr sz="2400" spc="-10" dirty="0">
                <a:latin typeface="Arial"/>
                <a:cs typeface="Arial"/>
              </a:rPr>
              <a:t>Very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difficult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create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patches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for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monolithic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architecture</a:t>
            </a:r>
            <a:endParaRPr sz="2400">
              <a:latin typeface="Arial"/>
              <a:cs typeface="Arial"/>
            </a:endParaRPr>
          </a:p>
          <a:p>
            <a:pPr marL="571500" indent="-558800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571500" algn="l"/>
              </a:tabLst>
            </a:pPr>
            <a:r>
              <a:rPr sz="2400" dirty="0">
                <a:latin typeface="Arial"/>
                <a:cs typeface="Arial"/>
              </a:rPr>
              <a:t>Adapting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new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technologies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challenging</a:t>
            </a:r>
            <a:endParaRPr sz="2400">
              <a:latin typeface="Arial"/>
              <a:cs typeface="Arial"/>
            </a:endParaRPr>
          </a:p>
          <a:p>
            <a:pPr marL="571500" marR="5080" indent="-559435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571500" algn="l"/>
              </a:tabLst>
            </a:pPr>
            <a:r>
              <a:rPr sz="2400" spc="-55" dirty="0">
                <a:latin typeface="Arial"/>
                <a:cs typeface="Arial"/>
              </a:rPr>
              <a:t>Take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long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time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startup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because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all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components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needs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to </a:t>
            </a:r>
            <a:r>
              <a:rPr sz="2400" dirty="0">
                <a:latin typeface="Arial"/>
                <a:cs typeface="Arial"/>
              </a:rPr>
              <a:t>get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started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Applications</a:t>
            </a:r>
            <a:r>
              <a:rPr spc="-35" dirty="0"/>
              <a:t> </a:t>
            </a:r>
            <a:r>
              <a:rPr dirty="0"/>
              <a:t>have</a:t>
            </a:r>
            <a:r>
              <a:rPr spc="-30" dirty="0"/>
              <a:t> </a:t>
            </a:r>
            <a:r>
              <a:rPr dirty="0"/>
              <a:t>changed</a:t>
            </a:r>
            <a:r>
              <a:rPr spc="-30" dirty="0"/>
              <a:t> </a:t>
            </a:r>
            <a:r>
              <a:rPr spc="-10" dirty="0"/>
              <a:t>dramatically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118458" y="1488678"/>
            <a:ext cx="1986914" cy="4455160"/>
            <a:chOff x="6118458" y="1488678"/>
            <a:chExt cx="1986914" cy="4455160"/>
          </a:xfrm>
        </p:grpSpPr>
        <p:sp>
          <p:nvSpPr>
            <p:cNvPr id="4" name="object 4"/>
            <p:cNvSpPr/>
            <p:nvPr/>
          </p:nvSpPr>
          <p:spPr>
            <a:xfrm>
              <a:off x="6132746" y="1673973"/>
              <a:ext cx="1130300" cy="3796029"/>
            </a:xfrm>
            <a:custGeom>
              <a:avLst/>
              <a:gdLst/>
              <a:ahLst/>
              <a:cxnLst/>
              <a:rect l="l" t="t" r="r" b="b"/>
              <a:pathLst>
                <a:path w="1130300" h="3796029">
                  <a:moveTo>
                    <a:pt x="9328" y="3773496"/>
                  </a:moveTo>
                  <a:lnTo>
                    <a:pt x="73071" y="3767129"/>
                  </a:lnTo>
                  <a:lnTo>
                    <a:pt x="130251" y="3760889"/>
                  </a:lnTo>
                  <a:lnTo>
                    <a:pt x="182092" y="3755159"/>
                  </a:lnTo>
                  <a:lnTo>
                    <a:pt x="229818" y="3750320"/>
                  </a:lnTo>
                  <a:lnTo>
                    <a:pt x="274652" y="3746755"/>
                  </a:lnTo>
                  <a:lnTo>
                    <a:pt x="317817" y="3744845"/>
                  </a:lnTo>
                  <a:lnTo>
                    <a:pt x="360539" y="3744973"/>
                  </a:lnTo>
                  <a:lnTo>
                    <a:pt x="404041" y="3747520"/>
                  </a:lnTo>
                  <a:lnTo>
                    <a:pt x="449546" y="3752868"/>
                  </a:lnTo>
                  <a:lnTo>
                    <a:pt x="498278" y="3761400"/>
                  </a:lnTo>
                  <a:lnTo>
                    <a:pt x="551461" y="3773496"/>
                  </a:lnTo>
                  <a:lnTo>
                    <a:pt x="607682" y="3785012"/>
                  </a:lnTo>
                  <a:lnTo>
                    <a:pt x="664386" y="3792034"/>
                  </a:lnTo>
                  <a:lnTo>
                    <a:pt x="721083" y="3795292"/>
                  </a:lnTo>
                  <a:lnTo>
                    <a:pt x="777286" y="3795517"/>
                  </a:lnTo>
                  <a:lnTo>
                    <a:pt x="832503" y="3793439"/>
                  </a:lnTo>
                  <a:lnTo>
                    <a:pt x="886246" y="3789788"/>
                  </a:lnTo>
                  <a:lnTo>
                    <a:pt x="938025" y="3785294"/>
                  </a:lnTo>
                  <a:lnTo>
                    <a:pt x="987352" y="3780688"/>
                  </a:lnTo>
                  <a:lnTo>
                    <a:pt x="1033736" y="3776699"/>
                  </a:lnTo>
                  <a:lnTo>
                    <a:pt x="1076689" y="3774059"/>
                  </a:lnTo>
                  <a:lnTo>
                    <a:pt x="1115721" y="3773496"/>
                  </a:lnTo>
                  <a:lnTo>
                    <a:pt x="1114823" y="3739508"/>
                  </a:lnTo>
                  <a:lnTo>
                    <a:pt x="1113494" y="3661866"/>
                  </a:lnTo>
                  <a:lnTo>
                    <a:pt x="1113040" y="3618722"/>
                  </a:lnTo>
                  <a:lnTo>
                    <a:pt x="1112714" y="3573037"/>
                  </a:lnTo>
                  <a:lnTo>
                    <a:pt x="1112502" y="3525065"/>
                  </a:lnTo>
                  <a:lnTo>
                    <a:pt x="1112395" y="3475061"/>
                  </a:lnTo>
                  <a:lnTo>
                    <a:pt x="1112380" y="3423280"/>
                  </a:lnTo>
                  <a:lnTo>
                    <a:pt x="1112448" y="3369978"/>
                  </a:lnTo>
                  <a:lnTo>
                    <a:pt x="1112588" y="3315410"/>
                  </a:lnTo>
                  <a:lnTo>
                    <a:pt x="1112787" y="3259829"/>
                  </a:lnTo>
                  <a:lnTo>
                    <a:pt x="1113035" y="3203492"/>
                  </a:lnTo>
                  <a:lnTo>
                    <a:pt x="1113322" y="3146654"/>
                  </a:lnTo>
                  <a:lnTo>
                    <a:pt x="1113635" y="3089569"/>
                  </a:lnTo>
                  <a:lnTo>
                    <a:pt x="1113965" y="3032492"/>
                  </a:lnTo>
                  <a:lnTo>
                    <a:pt x="1114300" y="2975679"/>
                  </a:lnTo>
                  <a:lnTo>
                    <a:pt x="1114628" y="2919385"/>
                  </a:lnTo>
                  <a:lnTo>
                    <a:pt x="1114940" y="2863864"/>
                  </a:lnTo>
                  <a:lnTo>
                    <a:pt x="1115224" y="2809371"/>
                  </a:lnTo>
                  <a:lnTo>
                    <a:pt x="1115468" y="2756162"/>
                  </a:lnTo>
                  <a:lnTo>
                    <a:pt x="1115663" y="2704492"/>
                  </a:lnTo>
                  <a:lnTo>
                    <a:pt x="1115797" y="2654615"/>
                  </a:lnTo>
                  <a:lnTo>
                    <a:pt x="1115858" y="2606787"/>
                  </a:lnTo>
                  <a:lnTo>
                    <a:pt x="1115836" y="2561262"/>
                  </a:lnTo>
                  <a:lnTo>
                    <a:pt x="1115721" y="2518296"/>
                  </a:lnTo>
                  <a:lnTo>
                    <a:pt x="1115488" y="2475351"/>
                  </a:lnTo>
                  <a:lnTo>
                    <a:pt x="1115136" y="2429885"/>
                  </a:lnTo>
                  <a:lnTo>
                    <a:pt x="1114682" y="2382148"/>
                  </a:lnTo>
                  <a:lnTo>
                    <a:pt x="1114145" y="2332391"/>
                  </a:lnTo>
                  <a:lnTo>
                    <a:pt x="1113543" y="2280863"/>
                  </a:lnTo>
                  <a:lnTo>
                    <a:pt x="1112893" y="2227813"/>
                  </a:lnTo>
                  <a:lnTo>
                    <a:pt x="1112214" y="2173492"/>
                  </a:lnTo>
                  <a:lnTo>
                    <a:pt x="1111525" y="2118149"/>
                  </a:lnTo>
                  <a:lnTo>
                    <a:pt x="1110842" y="2062035"/>
                  </a:lnTo>
                  <a:lnTo>
                    <a:pt x="1110186" y="2005398"/>
                  </a:lnTo>
                  <a:lnTo>
                    <a:pt x="1109572" y="1948490"/>
                  </a:lnTo>
                  <a:lnTo>
                    <a:pt x="1109021" y="1891559"/>
                  </a:lnTo>
                  <a:lnTo>
                    <a:pt x="1108549" y="1834855"/>
                  </a:lnTo>
                  <a:lnTo>
                    <a:pt x="1108175" y="1778629"/>
                  </a:lnTo>
                  <a:lnTo>
                    <a:pt x="1107918" y="1723130"/>
                  </a:lnTo>
                  <a:lnTo>
                    <a:pt x="1107794" y="1668608"/>
                  </a:lnTo>
                  <a:lnTo>
                    <a:pt x="1107823" y="1615313"/>
                  </a:lnTo>
                  <a:lnTo>
                    <a:pt x="1108023" y="1563494"/>
                  </a:lnTo>
                  <a:lnTo>
                    <a:pt x="1108411" y="1513402"/>
                  </a:lnTo>
                  <a:lnTo>
                    <a:pt x="1109007" y="1465286"/>
                  </a:lnTo>
                  <a:lnTo>
                    <a:pt x="1109827" y="1419396"/>
                  </a:lnTo>
                  <a:lnTo>
                    <a:pt x="1110890" y="1375981"/>
                  </a:lnTo>
                  <a:lnTo>
                    <a:pt x="1112215" y="1335293"/>
                  </a:lnTo>
                  <a:lnTo>
                    <a:pt x="1115721" y="1263091"/>
                  </a:lnTo>
                  <a:lnTo>
                    <a:pt x="1117709" y="1229258"/>
                  </a:lnTo>
                  <a:lnTo>
                    <a:pt x="1119557" y="1193400"/>
                  </a:lnTo>
                  <a:lnTo>
                    <a:pt x="1122823" y="1115955"/>
                  </a:lnTo>
                  <a:lnTo>
                    <a:pt x="1124234" y="1074540"/>
                  </a:lnTo>
                  <a:lnTo>
                    <a:pt x="1125491" y="1031445"/>
                  </a:lnTo>
                  <a:lnTo>
                    <a:pt x="1126592" y="986756"/>
                  </a:lnTo>
                  <a:lnTo>
                    <a:pt x="1127533" y="940558"/>
                  </a:lnTo>
                  <a:lnTo>
                    <a:pt x="1128311" y="892939"/>
                  </a:lnTo>
                  <a:lnTo>
                    <a:pt x="1128921" y="843983"/>
                  </a:lnTo>
                  <a:lnTo>
                    <a:pt x="1129362" y="793778"/>
                  </a:lnTo>
                  <a:lnTo>
                    <a:pt x="1129629" y="742410"/>
                  </a:lnTo>
                  <a:lnTo>
                    <a:pt x="1129718" y="689963"/>
                  </a:lnTo>
                  <a:lnTo>
                    <a:pt x="1129627" y="636525"/>
                  </a:lnTo>
                  <a:lnTo>
                    <a:pt x="1129352" y="582182"/>
                  </a:lnTo>
                  <a:lnTo>
                    <a:pt x="1128890" y="527019"/>
                  </a:lnTo>
                  <a:lnTo>
                    <a:pt x="1128236" y="471123"/>
                  </a:lnTo>
                  <a:lnTo>
                    <a:pt x="1127388" y="414580"/>
                  </a:lnTo>
                  <a:lnTo>
                    <a:pt x="1126343" y="357476"/>
                  </a:lnTo>
                  <a:lnTo>
                    <a:pt x="1125096" y="299897"/>
                  </a:lnTo>
                  <a:lnTo>
                    <a:pt x="1123644" y="241929"/>
                  </a:lnTo>
                  <a:lnTo>
                    <a:pt x="1121984" y="183659"/>
                  </a:lnTo>
                  <a:lnTo>
                    <a:pt x="1120112" y="125171"/>
                  </a:lnTo>
                  <a:lnTo>
                    <a:pt x="1118026" y="66554"/>
                  </a:lnTo>
                  <a:lnTo>
                    <a:pt x="1115721" y="7891"/>
                  </a:lnTo>
                  <a:lnTo>
                    <a:pt x="1053110" y="13296"/>
                  </a:lnTo>
                  <a:lnTo>
                    <a:pt x="993158" y="15417"/>
                  </a:lnTo>
                  <a:lnTo>
                    <a:pt x="935799" y="14989"/>
                  </a:lnTo>
                  <a:lnTo>
                    <a:pt x="880969" y="12746"/>
                  </a:lnTo>
                  <a:lnTo>
                    <a:pt x="828604" y="9422"/>
                  </a:lnTo>
                  <a:lnTo>
                    <a:pt x="778637" y="5751"/>
                  </a:lnTo>
                  <a:lnTo>
                    <a:pt x="731005" y="2468"/>
                  </a:lnTo>
                  <a:lnTo>
                    <a:pt x="685642" y="306"/>
                  </a:lnTo>
                  <a:lnTo>
                    <a:pt x="642484" y="0"/>
                  </a:lnTo>
                  <a:lnTo>
                    <a:pt x="601466" y="2283"/>
                  </a:lnTo>
                  <a:lnTo>
                    <a:pt x="562523" y="7891"/>
                  </a:lnTo>
                  <a:lnTo>
                    <a:pt x="523365" y="15124"/>
                  </a:lnTo>
                  <a:lnTo>
                    <a:pt x="481787" y="21633"/>
                  </a:lnTo>
                  <a:lnTo>
                    <a:pt x="437852" y="27177"/>
                  </a:lnTo>
                  <a:lnTo>
                    <a:pt x="391627" y="31514"/>
                  </a:lnTo>
                  <a:lnTo>
                    <a:pt x="343175" y="34406"/>
                  </a:lnTo>
                  <a:lnTo>
                    <a:pt x="292561" y="35610"/>
                  </a:lnTo>
                  <a:lnTo>
                    <a:pt x="239850" y="34885"/>
                  </a:lnTo>
                  <a:lnTo>
                    <a:pt x="185107" y="31992"/>
                  </a:lnTo>
                  <a:lnTo>
                    <a:pt x="128396" y="26689"/>
                  </a:lnTo>
                  <a:lnTo>
                    <a:pt x="69781" y="18736"/>
                  </a:lnTo>
                  <a:lnTo>
                    <a:pt x="9328" y="7891"/>
                  </a:lnTo>
                  <a:lnTo>
                    <a:pt x="11327" y="72656"/>
                  </a:lnTo>
                  <a:lnTo>
                    <a:pt x="12824" y="135307"/>
                  </a:lnTo>
                  <a:lnTo>
                    <a:pt x="13864" y="195972"/>
                  </a:lnTo>
                  <a:lnTo>
                    <a:pt x="14495" y="254778"/>
                  </a:lnTo>
                  <a:lnTo>
                    <a:pt x="14760" y="311852"/>
                  </a:lnTo>
                  <a:lnTo>
                    <a:pt x="14707" y="367321"/>
                  </a:lnTo>
                  <a:lnTo>
                    <a:pt x="14381" y="421311"/>
                  </a:lnTo>
                  <a:lnTo>
                    <a:pt x="13827" y="473951"/>
                  </a:lnTo>
                  <a:lnTo>
                    <a:pt x="13091" y="525367"/>
                  </a:lnTo>
                  <a:lnTo>
                    <a:pt x="12219" y="575685"/>
                  </a:lnTo>
                  <a:lnTo>
                    <a:pt x="11257" y="625034"/>
                  </a:lnTo>
                  <a:lnTo>
                    <a:pt x="10251" y="673539"/>
                  </a:lnTo>
                  <a:lnTo>
                    <a:pt x="9246" y="721328"/>
                  </a:lnTo>
                  <a:lnTo>
                    <a:pt x="8288" y="768529"/>
                  </a:lnTo>
                  <a:lnTo>
                    <a:pt x="7422" y="815267"/>
                  </a:lnTo>
                  <a:lnTo>
                    <a:pt x="6696" y="861670"/>
                  </a:lnTo>
                  <a:lnTo>
                    <a:pt x="6153" y="907866"/>
                  </a:lnTo>
                  <a:lnTo>
                    <a:pt x="5840" y="953980"/>
                  </a:lnTo>
                  <a:lnTo>
                    <a:pt x="5804" y="1000140"/>
                  </a:lnTo>
                  <a:lnTo>
                    <a:pt x="6088" y="1046473"/>
                  </a:lnTo>
                  <a:lnTo>
                    <a:pt x="6740" y="1093107"/>
                  </a:lnTo>
                  <a:lnTo>
                    <a:pt x="7805" y="1140167"/>
                  </a:lnTo>
                  <a:lnTo>
                    <a:pt x="9328" y="1187781"/>
                  </a:lnTo>
                  <a:lnTo>
                    <a:pt x="10807" y="1234367"/>
                  </a:lnTo>
                  <a:lnTo>
                    <a:pt x="11880" y="1282175"/>
                  </a:lnTo>
                  <a:lnTo>
                    <a:pt x="12585" y="1331086"/>
                  </a:lnTo>
                  <a:lnTo>
                    <a:pt x="12960" y="1380983"/>
                  </a:lnTo>
                  <a:lnTo>
                    <a:pt x="13042" y="1431749"/>
                  </a:lnTo>
                  <a:lnTo>
                    <a:pt x="12870" y="1483267"/>
                  </a:lnTo>
                  <a:lnTo>
                    <a:pt x="12481" y="1535419"/>
                  </a:lnTo>
                  <a:lnTo>
                    <a:pt x="11914" y="1588088"/>
                  </a:lnTo>
                  <a:lnTo>
                    <a:pt x="11205" y="1641157"/>
                  </a:lnTo>
                  <a:lnTo>
                    <a:pt x="10393" y="1694508"/>
                  </a:lnTo>
                  <a:lnTo>
                    <a:pt x="9515" y="1748023"/>
                  </a:lnTo>
                  <a:lnTo>
                    <a:pt x="8609" y="1801586"/>
                  </a:lnTo>
                  <a:lnTo>
                    <a:pt x="7713" y="1855079"/>
                  </a:lnTo>
                  <a:lnTo>
                    <a:pt x="6865" y="1908385"/>
                  </a:lnTo>
                  <a:lnTo>
                    <a:pt x="6103" y="1961387"/>
                  </a:lnTo>
                  <a:lnTo>
                    <a:pt x="5464" y="2013966"/>
                  </a:lnTo>
                  <a:lnTo>
                    <a:pt x="4986" y="2066006"/>
                  </a:lnTo>
                  <a:lnTo>
                    <a:pt x="4707" y="2117389"/>
                  </a:lnTo>
                  <a:lnTo>
                    <a:pt x="4665" y="2167998"/>
                  </a:lnTo>
                  <a:lnTo>
                    <a:pt x="4898" y="2217716"/>
                  </a:lnTo>
                  <a:lnTo>
                    <a:pt x="5442" y="2266425"/>
                  </a:lnTo>
                  <a:lnTo>
                    <a:pt x="6337" y="2314008"/>
                  </a:lnTo>
                  <a:lnTo>
                    <a:pt x="7620" y="2360348"/>
                  </a:lnTo>
                  <a:lnTo>
                    <a:pt x="9328" y="2405326"/>
                  </a:lnTo>
                  <a:lnTo>
                    <a:pt x="10814" y="2445492"/>
                  </a:lnTo>
                  <a:lnTo>
                    <a:pt x="11859" y="2487245"/>
                  </a:lnTo>
                  <a:lnTo>
                    <a:pt x="12504" y="2530492"/>
                  </a:lnTo>
                  <a:lnTo>
                    <a:pt x="12787" y="2575139"/>
                  </a:lnTo>
                  <a:lnTo>
                    <a:pt x="12747" y="2621093"/>
                  </a:lnTo>
                  <a:lnTo>
                    <a:pt x="12423" y="2668260"/>
                  </a:lnTo>
                  <a:lnTo>
                    <a:pt x="11855" y="2716547"/>
                  </a:lnTo>
                  <a:lnTo>
                    <a:pt x="11082" y="2765860"/>
                  </a:lnTo>
                  <a:lnTo>
                    <a:pt x="10142" y="2816106"/>
                  </a:lnTo>
                  <a:lnTo>
                    <a:pt x="9075" y="2867192"/>
                  </a:lnTo>
                  <a:lnTo>
                    <a:pt x="7919" y="2919023"/>
                  </a:lnTo>
                  <a:lnTo>
                    <a:pt x="6715" y="2971507"/>
                  </a:lnTo>
                  <a:lnTo>
                    <a:pt x="5500" y="3024550"/>
                  </a:lnTo>
                  <a:lnTo>
                    <a:pt x="4314" y="3078059"/>
                  </a:lnTo>
                  <a:lnTo>
                    <a:pt x="3197" y="3131939"/>
                  </a:lnTo>
                  <a:lnTo>
                    <a:pt x="2187" y="3186098"/>
                  </a:lnTo>
                  <a:lnTo>
                    <a:pt x="1323" y="3240442"/>
                  </a:lnTo>
                  <a:lnTo>
                    <a:pt x="644" y="3294878"/>
                  </a:lnTo>
                  <a:lnTo>
                    <a:pt x="190" y="3349311"/>
                  </a:lnTo>
                  <a:lnTo>
                    <a:pt x="0" y="3403650"/>
                  </a:lnTo>
                  <a:lnTo>
                    <a:pt x="112" y="3457799"/>
                  </a:lnTo>
                  <a:lnTo>
                    <a:pt x="565" y="3511667"/>
                  </a:lnTo>
                  <a:lnTo>
                    <a:pt x="1400" y="3565158"/>
                  </a:lnTo>
                  <a:lnTo>
                    <a:pt x="2654" y="3618180"/>
                  </a:lnTo>
                  <a:lnTo>
                    <a:pt x="4368" y="3670640"/>
                  </a:lnTo>
                  <a:lnTo>
                    <a:pt x="6579" y="3722443"/>
                  </a:lnTo>
                  <a:lnTo>
                    <a:pt x="9328" y="3773496"/>
                  </a:lnTo>
                  <a:close/>
                </a:path>
              </a:pathLst>
            </a:custGeom>
            <a:ln w="28574">
              <a:solidFill>
                <a:srgbClr val="4E88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169762" y="1488678"/>
              <a:ext cx="1935480" cy="4455160"/>
            </a:xfrm>
            <a:custGeom>
              <a:avLst/>
              <a:gdLst/>
              <a:ahLst/>
              <a:cxnLst/>
              <a:rect l="l" t="t" r="r" b="b"/>
              <a:pathLst>
                <a:path w="1935479" h="4455160">
                  <a:moveTo>
                    <a:pt x="1934999" y="0"/>
                  </a:moveTo>
                  <a:lnTo>
                    <a:pt x="0" y="0"/>
                  </a:lnTo>
                  <a:lnTo>
                    <a:pt x="0" y="4455064"/>
                  </a:lnTo>
                  <a:lnTo>
                    <a:pt x="1934999" y="4455064"/>
                  </a:lnTo>
                  <a:lnTo>
                    <a:pt x="193499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6909925" y="1974960"/>
            <a:ext cx="4443095" cy="2115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450215" algn="ctr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latin typeface="Arial"/>
                <a:cs typeface="Arial"/>
              </a:rPr>
              <a:t>Today</a:t>
            </a:r>
            <a:endParaRPr sz="2400">
              <a:latin typeface="Arial"/>
              <a:cs typeface="Arial"/>
            </a:endParaRPr>
          </a:p>
          <a:p>
            <a:pPr marL="12700" marR="5080" indent="-635" algn="ctr">
              <a:lnSpc>
                <a:spcPct val="125000"/>
              </a:lnSpc>
              <a:spcBef>
                <a:spcPts val="1575"/>
              </a:spcBef>
            </a:pPr>
            <a:r>
              <a:rPr sz="2000" dirty="0">
                <a:latin typeface="Arial"/>
                <a:cs typeface="Arial"/>
              </a:rPr>
              <a:t>Apps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are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constantly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being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developed </a:t>
            </a:r>
            <a:r>
              <a:rPr sz="2000" dirty="0">
                <a:latin typeface="Arial"/>
                <a:cs typeface="Arial"/>
              </a:rPr>
              <a:t>Build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from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loosely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coupled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components </a:t>
            </a:r>
            <a:r>
              <a:rPr sz="2000" dirty="0">
                <a:latin typeface="Arial"/>
                <a:cs typeface="Arial"/>
              </a:rPr>
              <a:t>Newer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version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are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deployed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often </a:t>
            </a:r>
            <a:r>
              <a:rPr sz="2000" dirty="0">
                <a:latin typeface="Arial"/>
                <a:cs typeface="Arial"/>
              </a:rPr>
              <a:t>Deployed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to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multitude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servers</a:t>
            </a:r>
            <a:endParaRPr sz="200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spc="-25" dirty="0"/>
              <a:t>38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208979" y="2131809"/>
            <a:ext cx="4690110" cy="18872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3157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Arial"/>
                <a:cs typeface="Arial"/>
              </a:rPr>
              <a:t>A</a:t>
            </a:r>
            <a:r>
              <a:rPr sz="2400" b="1" spc="-14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decade</a:t>
            </a:r>
            <a:r>
              <a:rPr sz="2400" b="1" spc="-60" dirty="0">
                <a:latin typeface="Arial"/>
                <a:cs typeface="Arial"/>
              </a:rPr>
              <a:t> </a:t>
            </a:r>
            <a:r>
              <a:rPr sz="2400" b="1" spc="-25" dirty="0">
                <a:latin typeface="Arial"/>
                <a:cs typeface="Arial"/>
              </a:rPr>
              <a:t>ago</a:t>
            </a:r>
            <a:endParaRPr sz="2400">
              <a:latin typeface="Arial"/>
              <a:cs typeface="Arial"/>
            </a:endParaRPr>
          </a:p>
          <a:p>
            <a:pPr marL="1270" algn="ctr">
              <a:lnSpc>
                <a:spcPct val="100000"/>
              </a:lnSpc>
              <a:spcBef>
                <a:spcPts val="2175"/>
              </a:spcBef>
            </a:pPr>
            <a:r>
              <a:rPr sz="2000" dirty="0">
                <a:latin typeface="Arial"/>
                <a:cs typeface="Arial"/>
              </a:rPr>
              <a:t>Apps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were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monolithic</a:t>
            </a:r>
            <a:endParaRPr sz="2000">
              <a:latin typeface="Arial"/>
              <a:cs typeface="Arial"/>
            </a:endParaRPr>
          </a:p>
          <a:p>
            <a:pPr marL="12065" marR="5080" algn="ctr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Built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on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single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stack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(e.e.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.NET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or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Java) </a:t>
            </a:r>
            <a:r>
              <a:rPr sz="2000" dirty="0">
                <a:latin typeface="Arial"/>
                <a:cs typeface="Arial"/>
              </a:rPr>
              <a:t>Long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lived</a:t>
            </a:r>
            <a:endParaRPr sz="2000">
              <a:latin typeface="Arial"/>
              <a:cs typeface="Arial"/>
            </a:endParaRPr>
          </a:p>
          <a:p>
            <a:pPr marL="635" algn="ctr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Deployed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to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single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server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Applications</a:t>
            </a:r>
            <a:r>
              <a:rPr spc="-35" dirty="0"/>
              <a:t> </a:t>
            </a:r>
            <a:r>
              <a:rPr dirty="0"/>
              <a:t>have</a:t>
            </a:r>
            <a:r>
              <a:rPr spc="-30" dirty="0"/>
              <a:t> </a:t>
            </a:r>
            <a:r>
              <a:rPr dirty="0"/>
              <a:t>changed</a:t>
            </a:r>
            <a:r>
              <a:rPr spc="-30" dirty="0"/>
              <a:t> </a:t>
            </a:r>
            <a:r>
              <a:rPr spc="-10" dirty="0"/>
              <a:t>dramatically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118458" y="1488678"/>
            <a:ext cx="1986914" cy="4455160"/>
            <a:chOff x="6118458" y="1488678"/>
            <a:chExt cx="1986914" cy="4455160"/>
          </a:xfrm>
        </p:grpSpPr>
        <p:sp>
          <p:nvSpPr>
            <p:cNvPr id="4" name="object 4"/>
            <p:cNvSpPr/>
            <p:nvPr/>
          </p:nvSpPr>
          <p:spPr>
            <a:xfrm>
              <a:off x="6132746" y="1673973"/>
              <a:ext cx="1130300" cy="3796029"/>
            </a:xfrm>
            <a:custGeom>
              <a:avLst/>
              <a:gdLst/>
              <a:ahLst/>
              <a:cxnLst/>
              <a:rect l="l" t="t" r="r" b="b"/>
              <a:pathLst>
                <a:path w="1130300" h="3796029">
                  <a:moveTo>
                    <a:pt x="9328" y="3773496"/>
                  </a:moveTo>
                  <a:lnTo>
                    <a:pt x="73071" y="3767129"/>
                  </a:lnTo>
                  <a:lnTo>
                    <a:pt x="130251" y="3760889"/>
                  </a:lnTo>
                  <a:lnTo>
                    <a:pt x="182092" y="3755159"/>
                  </a:lnTo>
                  <a:lnTo>
                    <a:pt x="229818" y="3750320"/>
                  </a:lnTo>
                  <a:lnTo>
                    <a:pt x="274652" y="3746755"/>
                  </a:lnTo>
                  <a:lnTo>
                    <a:pt x="317817" y="3744845"/>
                  </a:lnTo>
                  <a:lnTo>
                    <a:pt x="360539" y="3744973"/>
                  </a:lnTo>
                  <a:lnTo>
                    <a:pt x="404041" y="3747520"/>
                  </a:lnTo>
                  <a:lnTo>
                    <a:pt x="449546" y="3752868"/>
                  </a:lnTo>
                  <a:lnTo>
                    <a:pt x="498278" y="3761400"/>
                  </a:lnTo>
                  <a:lnTo>
                    <a:pt x="551461" y="3773496"/>
                  </a:lnTo>
                  <a:lnTo>
                    <a:pt x="607682" y="3785012"/>
                  </a:lnTo>
                  <a:lnTo>
                    <a:pt x="664386" y="3792034"/>
                  </a:lnTo>
                  <a:lnTo>
                    <a:pt x="721083" y="3795292"/>
                  </a:lnTo>
                  <a:lnTo>
                    <a:pt x="777286" y="3795517"/>
                  </a:lnTo>
                  <a:lnTo>
                    <a:pt x="832503" y="3793439"/>
                  </a:lnTo>
                  <a:lnTo>
                    <a:pt x="886246" y="3789788"/>
                  </a:lnTo>
                  <a:lnTo>
                    <a:pt x="938025" y="3785294"/>
                  </a:lnTo>
                  <a:lnTo>
                    <a:pt x="987352" y="3780688"/>
                  </a:lnTo>
                  <a:lnTo>
                    <a:pt x="1033736" y="3776699"/>
                  </a:lnTo>
                  <a:lnTo>
                    <a:pt x="1076689" y="3774059"/>
                  </a:lnTo>
                  <a:lnTo>
                    <a:pt x="1115721" y="3773496"/>
                  </a:lnTo>
                  <a:lnTo>
                    <a:pt x="1114823" y="3739508"/>
                  </a:lnTo>
                  <a:lnTo>
                    <a:pt x="1113494" y="3661866"/>
                  </a:lnTo>
                  <a:lnTo>
                    <a:pt x="1113040" y="3618722"/>
                  </a:lnTo>
                  <a:lnTo>
                    <a:pt x="1112714" y="3573037"/>
                  </a:lnTo>
                  <a:lnTo>
                    <a:pt x="1112502" y="3525065"/>
                  </a:lnTo>
                  <a:lnTo>
                    <a:pt x="1112395" y="3475061"/>
                  </a:lnTo>
                  <a:lnTo>
                    <a:pt x="1112380" y="3423280"/>
                  </a:lnTo>
                  <a:lnTo>
                    <a:pt x="1112448" y="3369978"/>
                  </a:lnTo>
                  <a:lnTo>
                    <a:pt x="1112588" y="3315410"/>
                  </a:lnTo>
                  <a:lnTo>
                    <a:pt x="1112787" y="3259829"/>
                  </a:lnTo>
                  <a:lnTo>
                    <a:pt x="1113035" y="3203492"/>
                  </a:lnTo>
                  <a:lnTo>
                    <a:pt x="1113322" y="3146654"/>
                  </a:lnTo>
                  <a:lnTo>
                    <a:pt x="1113635" y="3089569"/>
                  </a:lnTo>
                  <a:lnTo>
                    <a:pt x="1113965" y="3032492"/>
                  </a:lnTo>
                  <a:lnTo>
                    <a:pt x="1114300" y="2975679"/>
                  </a:lnTo>
                  <a:lnTo>
                    <a:pt x="1114628" y="2919385"/>
                  </a:lnTo>
                  <a:lnTo>
                    <a:pt x="1114940" y="2863864"/>
                  </a:lnTo>
                  <a:lnTo>
                    <a:pt x="1115224" y="2809371"/>
                  </a:lnTo>
                  <a:lnTo>
                    <a:pt x="1115468" y="2756162"/>
                  </a:lnTo>
                  <a:lnTo>
                    <a:pt x="1115663" y="2704492"/>
                  </a:lnTo>
                  <a:lnTo>
                    <a:pt x="1115797" y="2654615"/>
                  </a:lnTo>
                  <a:lnTo>
                    <a:pt x="1115858" y="2606787"/>
                  </a:lnTo>
                  <a:lnTo>
                    <a:pt x="1115836" y="2561262"/>
                  </a:lnTo>
                  <a:lnTo>
                    <a:pt x="1115721" y="2518296"/>
                  </a:lnTo>
                  <a:lnTo>
                    <a:pt x="1115488" y="2475351"/>
                  </a:lnTo>
                  <a:lnTo>
                    <a:pt x="1115136" y="2429885"/>
                  </a:lnTo>
                  <a:lnTo>
                    <a:pt x="1114682" y="2382148"/>
                  </a:lnTo>
                  <a:lnTo>
                    <a:pt x="1114145" y="2332391"/>
                  </a:lnTo>
                  <a:lnTo>
                    <a:pt x="1113543" y="2280863"/>
                  </a:lnTo>
                  <a:lnTo>
                    <a:pt x="1112893" y="2227813"/>
                  </a:lnTo>
                  <a:lnTo>
                    <a:pt x="1112214" y="2173492"/>
                  </a:lnTo>
                  <a:lnTo>
                    <a:pt x="1111525" y="2118149"/>
                  </a:lnTo>
                  <a:lnTo>
                    <a:pt x="1110842" y="2062035"/>
                  </a:lnTo>
                  <a:lnTo>
                    <a:pt x="1110186" y="2005398"/>
                  </a:lnTo>
                  <a:lnTo>
                    <a:pt x="1109572" y="1948490"/>
                  </a:lnTo>
                  <a:lnTo>
                    <a:pt x="1109021" y="1891559"/>
                  </a:lnTo>
                  <a:lnTo>
                    <a:pt x="1108549" y="1834855"/>
                  </a:lnTo>
                  <a:lnTo>
                    <a:pt x="1108175" y="1778629"/>
                  </a:lnTo>
                  <a:lnTo>
                    <a:pt x="1107918" y="1723130"/>
                  </a:lnTo>
                  <a:lnTo>
                    <a:pt x="1107794" y="1668608"/>
                  </a:lnTo>
                  <a:lnTo>
                    <a:pt x="1107823" y="1615313"/>
                  </a:lnTo>
                  <a:lnTo>
                    <a:pt x="1108023" y="1563494"/>
                  </a:lnTo>
                  <a:lnTo>
                    <a:pt x="1108411" y="1513402"/>
                  </a:lnTo>
                  <a:lnTo>
                    <a:pt x="1109007" y="1465286"/>
                  </a:lnTo>
                  <a:lnTo>
                    <a:pt x="1109827" y="1419396"/>
                  </a:lnTo>
                  <a:lnTo>
                    <a:pt x="1110890" y="1375981"/>
                  </a:lnTo>
                  <a:lnTo>
                    <a:pt x="1112215" y="1335293"/>
                  </a:lnTo>
                  <a:lnTo>
                    <a:pt x="1115721" y="1263091"/>
                  </a:lnTo>
                  <a:lnTo>
                    <a:pt x="1117709" y="1229258"/>
                  </a:lnTo>
                  <a:lnTo>
                    <a:pt x="1119557" y="1193400"/>
                  </a:lnTo>
                  <a:lnTo>
                    <a:pt x="1122823" y="1115955"/>
                  </a:lnTo>
                  <a:lnTo>
                    <a:pt x="1124234" y="1074540"/>
                  </a:lnTo>
                  <a:lnTo>
                    <a:pt x="1125491" y="1031445"/>
                  </a:lnTo>
                  <a:lnTo>
                    <a:pt x="1126592" y="986756"/>
                  </a:lnTo>
                  <a:lnTo>
                    <a:pt x="1127533" y="940558"/>
                  </a:lnTo>
                  <a:lnTo>
                    <a:pt x="1128311" y="892939"/>
                  </a:lnTo>
                  <a:lnTo>
                    <a:pt x="1128921" y="843983"/>
                  </a:lnTo>
                  <a:lnTo>
                    <a:pt x="1129362" y="793778"/>
                  </a:lnTo>
                  <a:lnTo>
                    <a:pt x="1129629" y="742410"/>
                  </a:lnTo>
                  <a:lnTo>
                    <a:pt x="1129718" y="689963"/>
                  </a:lnTo>
                  <a:lnTo>
                    <a:pt x="1129627" y="636525"/>
                  </a:lnTo>
                  <a:lnTo>
                    <a:pt x="1129352" y="582182"/>
                  </a:lnTo>
                  <a:lnTo>
                    <a:pt x="1128890" y="527019"/>
                  </a:lnTo>
                  <a:lnTo>
                    <a:pt x="1128236" y="471123"/>
                  </a:lnTo>
                  <a:lnTo>
                    <a:pt x="1127388" y="414580"/>
                  </a:lnTo>
                  <a:lnTo>
                    <a:pt x="1126343" y="357476"/>
                  </a:lnTo>
                  <a:lnTo>
                    <a:pt x="1125096" y="299897"/>
                  </a:lnTo>
                  <a:lnTo>
                    <a:pt x="1123644" y="241929"/>
                  </a:lnTo>
                  <a:lnTo>
                    <a:pt x="1121984" y="183659"/>
                  </a:lnTo>
                  <a:lnTo>
                    <a:pt x="1120112" y="125171"/>
                  </a:lnTo>
                  <a:lnTo>
                    <a:pt x="1118026" y="66554"/>
                  </a:lnTo>
                  <a:lnTo>
                    <a:pt x="1115721" y="7891"/>
                  </a:lnTo>
                  <a:lnTo>
                    <a:pt x="1053110" y="13296"/>
                  </a:lnTo>
                  <a:lnTo>
                    <a:pt x="993158" y="15417"/>
                  </a:lnTo>
                  <a:lnTo>
                    <a:pt x="935799" y="14989"/>
                  </a:lnTo>
                  <a:lnTo>
                    <a:pt x="880969" y="12746"/>
                  </a:lnTo>
                  <a:lnTo>
                    <a:pt x="828604" y="9422"/>
                  </a:lnTo>
                  <a:lnTo>
                    <a:pt x="778637" y="5751"/>
                  </a:lnTo>
                  <a:lnTo>
                    <a:pt x="731005" y="2468"/>
                  </a:lnTo>
                  <a:lnTo>
                    <a:pt x="685642" y="306"/>
                  </a:lnTo>
                  <a:lnTo>
                    <a:pt x="642484" y="0"/>
                  </a:lnTo>
                  <a:lnTo>
                    <a:pt x="601466" y="2283"/>
                  </a:lnTo>
                  <a:lnTo>
                    <a:pt x="562523" y="7891"/>
                  </a:lnTo>
                  <a:lnTo>
                    <a:pt x="523365" y="15124"/>
                  </a:lnTo>
                  <a:lnTo>
                    <a:pt x="481787" y="21633"/>
                  </a:lnTo>
                  <a:lnTo>
                    <a:pt x="437852" y="27177"/>
                  </a:lnTo>
                  <a:lnTo>
                    <a:pt x="391627" y="31514"/>
                  </a:lnTo>
                  <a:lnTo>
                    <a:pt x="343175" y="34406"/>
                  </a:lnTo>
                  <a:lnTo>
                    <a:pt x="292561" y="35610"/>
                  </a:lnTo>
                  <a:lnTo>
                    <a:pt x="239850" y="34885"/>
                  </a:lnTo>
                  <a:lnTo>
                    <a:pt x="185107" y="31992"/>
                  </a:lnTo>
                  <a:lnTo>
                    <a:pt x="128396" y="26689"/>
                  </a:lnTo>
                  <a:lnTo>
                    <a:pt x="69781" y="18736"/>
                  </a:lnTo>
                  <a:lnTo>
                    <a:pt x="9328" y="7891"/>
                  </a:lnTo>
                  <a:lnTo>
                    <a:pt x="11327" y="72656"/>
                  </a:lnTo>
                  <a:lnTo>
                    <a:pt x="12824" y="135307"/>
                  </a:lnTo>
                  <a:lnTo>
                    <a:pt x="13864" y="195972"/>
                  </a:lnTo>
                  <a:lnTo>
                    <a:pt x="14495" y="254778"/>
                  </a:lnTo>
                  <a:lnTo>
                    <a:pt x="14760" y="311852"/>
                  </a:lnTo>
                  <a:lnTo>
                    <a:pt x="14707" y="367321"/>
                  </a:lnTo>
                  <a:lnTo>
                    <a:pt x="14381" y="421311"/>
                  </a:lnTo>
                  <a:lnTo>
                    <a:pt x="13827" y="473951"/>
                  </a:lnTo>
                  <a:lnTo>
                    <a:pt x="13091" y="525367"/>
                  </a:lnTo>
                  <a:lnTo>
                    <a:pt x="12219" y="575685"/>
                  </a:lnTo>
                  <a:lnTo>
                    <a:pt x="11257" y="625034"/>
                  </a:lnTo>
                  <a:lnTo>
                    <a:pt x="10251" y="673539"/>
                  </a:lnTo>
                  <a:lnTo>
                    <a:pt x="9246" y="721328"/>
                  </a:lnTo>
                  <a:lnTo>
                    <a:pt x="8288" y="768529"/>
                  </a:lnTo>
                  <a:lnTo>
                    <a:pt x="7422" y="815267"/>
                  </a:lnTo>
                  <a:lnTo>
                    <a:pt x="6696" y="861670"/>
                  </a:lnTo>
                  <a:lnTo>
                    <a:pt x="6153" y="907866"/>
                  </a:lnTo>
                  <a:lnTo>
                    <a:pt x="5840" y="953980"/>
                  </a:lnTo>
                  <a:lnTo>
                    <a:pt x="5804" y="1000140"/>
                  </a:lnTo>
                  <a:lnTo>
                    <a:pt x="6088" y="1046473"/>
                  </a:lnTo>
                  <a:lnTo>
                    <a:pt x="6740" y="1093107"/>
                  </a:lnTo>
                  <a:lnTo>
                    <a:pt x="7805" y="1140167"/>
                  </a:lnTo>
                  <a:lnTo>
                    <a:pt x="9328" y="1187781"/>
                  </a:lnTo>
                  <a:lnTo>
                    <a:pt x="10807" y="1234367"/>
                  </a:lnTo>
                  <a:lnTo>
                    <a:pt x="11880" y="1282175"/>
                  </a:lnTo>
                  <a:lnTo>
                    <a:pt x="12585" y="1331086"/>
                  </a:lnTo>
                  <a:lnTo>
                    <a:pt x="12960" y="1380983"/>
                  </a:lnTo>
                  <a:lnTo>
                    <a:pt x="13042" y="1431749"/>
                  </a:lnTo>
                  <a:lnTo>
                    <a:pt x="12870" y="1483267"/>
                  </a:lnTo>
                  <a:lnTo>
                    <a:pt x="12481" y="1535419"/>
                  </a:lnTo>
                  <a:lnTo>
                    <a:pt x="11914" y="1588088"/>
                  </a:lnTo>
                  <a:lnTo>
                    <a:pt x="11205" y="1641157"/>
                  </a:lnTo>
                  <a:lnTo>
                    <a:pt x="10393" y="1694508"/>
                  </a:lnTo>
                  <a:lnTo>
                    <a:pt x="9515" y="1748023"/>
                  </a:lnTo>
                  <a:lnTo>
                    <a:pt x="8609" y="1801586"/>
                  </a:lnTo>
                  <a:lnTo>
                    <a:pt x="7713" y="1855079"/>
                  </a:lnTo>
                  <a:lnTo>
                    <a:pt x="6865" y="1908385"/>
                  </a:lnTo>
                  <a:lnTo>
                    <a:pt x="6103" y="1961387"/>
                  </a:lnTo>
                  <a:lnTo>
                    <a:pt x="5464" y="2013966"/>
                  </a:lnTo>
                  <a:lnTo>
                    <a:pt x="4986" y="2066006"/>
                  </a:lnTo>
                  <a:lnTo>
                    <a:pt x="4707" y="2117389"/>
                  </a:lnTo>
                  <a:lnTo>
                    <a:pt x="4665" y="2167998"/>
                  </a:lnTo>
                  <a:lnTo>
                    <a:pt x="4898" y="2217716"/>
                  </a:lnTo>
                  <a:lnTo>
                    <a:pt x="5442" y="2266425"/>
                  </a:lnTo>
                  <a:lnTo>
                    <a:pt x="6337" y="2314008"/>
                  </a:lnTo>
                  <a:lnTo>
                    <a:pt x="7620" y="2360348"/>
                  </a:lnTo>
                  <a:lnTo>
                    <a:pt x="9328" y="2405326"/>
                  </a:lnTo>
                  <a:lnTo>
                    <a:pt x="10814" y="2445492"/>
                  </a:lnTo>
                  <a:lnTo>
                    <a:pt x="11859" y="2487245"/>
                  </a:lnTo>
                  <a:lnTo>
                    <a:pt x="12504" y="2530492"/>
                  </a:lnTo>
                  <a:lnTo>
                    <a:pt x="12787" y="2575139"/>
                  </a:lnTo>
                  <a:lnTo>
                    <a:pt x="12747" y="2621093"/>
                  </a:lnTo>
                  <a:lnTo>
                    <a:pt x="12423" y="2668260"/>
                  </a:lnTo>
                  <a:lnTo>
                    <a:pt x="11855" y="2716547"/>
                  </a:lnTo>
                  <a:lnTo>
                    <a:pt x="11082" y="2765860"/>
                  </a:lnTo>
                  <a:lnTo>
                    <a:pt x="10142" y="2816106"/>
                  </a:lnTo>
                  <a:lnTo>
                    <a:pt x="9075" y="2867192"/>
                  </a:lnTo>
                  <a:lnTo>
                    <a:pt x="7919" y="2919023"/>
                  </a:lnTo>
                  <a:lnTo>
                    <a:pt x="6715" y="2971507"/>
                  </a:lnTo>
                  <a:lnTo>
                    <a:pt x="5500" y="3024550"/>
                  </a:lnTo>
                  <a:lnTo>
                    <a:pt x="4314" y="3078059"/>
                  </a:lnTo>
                  <a:lnTo>
                    <a:pt x="3197" y="3131939"/>
                  </a:lnTo>
                  <a:lnTo>
                    <a:pt x="2187" y="3186098"/>
                  </a:lnTo>
                  <a:lnTo>
                    <a:pt x="1323" y="3240442"/>
                  </a:lnTo>
                  <a:lnTo>
                    <a:pt x="644" y="3294878"/>
                  </a:lnTo>
                  <a:lnTo>
                    <a:pt x="190" y="3349311"/>
                  </a:lnTo>
                  <a:lnTo>
                    <a:pt x="0" y="3403650"/>
                  </a:lnTo>
                  <a:lnTo>
                    <a:pt x="112" y="3457799"/>
                  </a:lnTo>
                  <a:lnTo>
                    <a:pt x="565" y="3511667"/>
                  </a:lnTo>
                  <a:lnTo>
                    <a:pt x="1400" y="3565158"/>
                  </a:lnTo>
                  <a:lnTo>
                    <a:pt x="2654" y="3618180"/>
                  </a:lnTo>
                  <a:lnTo>
                    <a:pt x="4368" y="3670640"/>
                  </a:lnTo>
                  <a:lnTo>
                    <a:pt x="6579" y="3722443"/>
                  </a:lnTo>
                  <a:lnTo>
                    <a:pt x="9328" y="3773496"/>
                  </a:lnTo>
                  <a:close/>
                </a:path>
              </a:pathLst>
            </a:custGeom>
            <a:ln w="28574">
              <a:solidFill>
                <a:srgbClr val="4E88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169762" y="1488678"/>
              <a:ext cx="1935480" cy="4455160"/>
            </a:xfrm>
            <a:custGeom>
              <a:avLst/>
              <a:gdLst/>
              <a:ahLst/>
              <a:cxnLst/>
              <a:rect l="l" t="t" r="r" b="b"/>
              <a:pathLst>
                <a:path w="1935479" h="4455160">
                  <a:moveTo>
                    <a:pt x="1934999" y="0"/>
                  </a:moveTo>
                  <a:lnTo>
                    <a:pt x="0" y="0"/>
                  </a:lnTo>
                  <a:lnTo>
                    <a:pt x="0" y="4455064"/>
                  </a:lnTo>
                  <a:lnTo>
                    <a:pt x="1934999" y="4455064"/>
                  </a:lnTo>
                  <a:lnTo>
                    <a:pt x="193499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sz="half" idx="3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447675" algn="ctr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Today</a:t>
            </a:r>
          </a:p>
          <a:p>
            <a:pPr marL="145415" marR="136525" indent="-635" algn="ctr">
              <a:lnSpc>
                <a:spcPct val="125000"/>
              </a:lnSpc>
              <a:spcBef>
                <a:spcPts val="1575"/>
              </a:spcBef>
            </a:pPr>
            <a:r>
              <a:rPr sz="2000" b="0" dirty="0">
                <a:latin typeface="Arial"/>
                <a:cs typeface="Arial"/>
              </a:rPr>
              <a:t>Apps</a:t>
            </a:r>
            <a:r>
              <a:rPr sz="2000" b="0" spc="-45" dirty="0">
                <a:latin typeface="Arial"/>
                <a:cs typeface="Arial"/>
              </a:rPr>
              <a:t> </a:t>
            </a:r>
            <a:r>
              <a:rPr sz="2000" b="0" dirty="0">
                <a:latin typeface="Arial"/>
                <a:cs typeface="Arial"/>
              </a:rPr>
              <a:t>are</a:t>
            </a:r>
            <a:r>
              <a:rPr sz="2000" b="0" spc="-45" dirty="0">
                <a:latin typeface="Arial"/>
                <a:cs typeface="Arial"/>
              </a:rPr>
              <a:t> </a:t>
            </a:r>
            <a:r>
              <a:rPr sz="2000" b="0" dirty="0">
                <a:latin typeface="Arial"/>
                <a:cs typeface="Arial"/>
              </a:rPr>
              <a:t>constantly</a:t>
            </a:r>
            <a:r>
              <a:rPr sz="2000" b="0" spc="-45" dirty="0">
                <a:latin typeface="Arial"/>
                <a:cs typeface="Arial"/>
              </a:rPr>
              <a:t> </a:t>
            </a:r>
            <a:r>
              <a:rPr sz="2000" b="0" dirty="0">
                <a:latin typeface="Arial"/>
                <a:cs typeface="Arial"/>
              </a:rPr>
              <a:t>being</a:t>
            </a:r>
            <a:r>
              <a:rPr sz="2000" b="0" spc="-40" dirty="0">
                <a:latin typeface="Arial"/>
                <a:cs typeface="Arial"/>
              </a:rPr>
              <a:t> </a:t>
            </a:r>
            <a:r>
              <a:rPr sz="2000" b="0" spc="-10" dirty="0">
                <a:latin typeface="Arial"/>
                <a:cs typeface="Arial"/>
              </a:rPr>
              <a:t>developed </a:t>
            </a:r>
            <a:r>
              <a:rPr sz="2000" b="0" dirty="0">
                <a:latin typeface="Arial"/>
                <a:cs typeface="Arial"/>
              </a:rPr>
              <a:t>Build</a:t>
            </a:r>
            <a:r>
              <a:rPr sz="2000" b="0" spc="-65" dirty="0">
                <a:latin typeface="Arial"/>
                <a:cs typeface="Arial"/>
              </a:rPr>
              <a:t> </a:t>
            </a:r>
            <a:r>
              <a:rPr sz="2000" b="0" dirty="0">
                <a:latin typeface="Arial"/>
                <a:cs typeface="Arial"/>
              </a:rPr>
              <a:t>from</a:t>
            </a:r>
            <a:r>
              <a:rPr sz="2000" b="0" spc="-60" dirty="0">
                <a:latin typeface="Arial"/>
                <a:cs typeface="Arial"/>
              </a:rPr>
              <a:t> </a:t>
            </a:r>
            <a:r>
              <a:rPr sz="2000" b="0" dirty="0">
                <a:latin typeface="Arial"/>
                <a:cs typeface="Arial"/>
              </a:rPr>
              <a:t>loosely</a:t>
            </a:r>
            <a:r>
              <a:rPr sz="2000" b="0" spc="-60" dirty="0">
                <a:latin typeface="Arial"/>
                <a:cs typeface="Arial"/>
              </a:rPr>
              <a:t> </a:t>
            </a:r>
            <a:r>
              <a:rPr sz="2000" b="0" dirty="0">
                <a:latin typeface="Arial"/>
                <a:cs typeface="Arial"/>
              </a:rPr>
              <a:t>coupled</a:t>
            </a:r>
            <a:r>
              <a:rPr sz="2000" b="0" spc="-65" dirty="0">
                <a:latin typeface="Arial"/>
                <a:cs typeface="Arial"/>
              </a:rPr>
              <a:t> </a:t>
            </a:r>
            <a:r>
              <a:rPr sz="2000" b="0" spc="-10" dirty="0">
                <a:latin typeface="Arial"/>
                <a:cs typeface="Arial"/>
              </a:rPr>
              <a:t>components </a:t>
            </a:r>
            <a:r>
              <a:rPr sz="2000" b="0" dirty="0">
                <a:latin typeface="Arial"/>
                <a:cs typeface="Arial"/>
              </a:rPr>
              <a:t>Newer</a:t>
            </a:r>
            <a:r>
              <a:rPr sz="2000" b="0" spc="-75" dirty="0">
                <a:latin typeface="Arial"/>
                <a:cs typeface="Arial"/>
              </a:rPr>
              <a:t> </a:t>
            </a:r>
            <a:r>
              <a:rPr sz="2000" b="0" dirty="0">
                <a:latin typeface="Arial"/>
                <a:cs typeface="Arial"/>
              </a:rPr>
              <a:t>version</a:t>
            </a:r>
            <a:r>
              <a:rPr sz="2000" b="0" spc="-75" dirty="0">
                <a:latin typeface="Arial"/>
                <a:cs typeface="Arial"/>
              </a:rPr>
              <a:t> </a:t>
            </a:r>
            <a:r>
              <a:rPr sz="2000" b="0" dirty="0">
                <a:latin typeface="Arial"/>
                <a:cs typeface="Arial"/>
              </a:rPr>
              <a:t>are</a:t>
            </a:r>
            <a:r>
              <a:rPr sz="2000" b="0" spc="-75" dirty="0">
                <a:latin typeface="Arial"/>
                <a:cs typeface="Arial"/>
              </a:rPr>
              <a:t> </a:t>
            </a:r>
            <a:r>
              <a:rPr sz="2000" b="0" dirty="0">
                <a:latin typeface="Arial"/>
                <a:cs typeface="Arial"/>
              </a:rPr>
              <a:t>deployed</a:t>
            </a:r>
            <a:r>
              <a:rPr sz="2000" b="0" spc="-75" dirty="0">
                <a:latin typeface="Arial"/>
                <a:cs typeface="Arial"/>
              </a:rPr>
              <a:t> </a:t>
            </a:r>
            <a:r>
              <a:rPr sz="2000" b="0" spc="-10" dirty="0">
                <a:latin typeface="Arial"/>
                <a:cs typeface="Arial"/>
              </a:rPr>
              <a:t>often </a:t>
            </a:r>
            <a:r>
              <a:rPr sz="2000" b="0" dirty="0">
                <a:latin typeface="Arial"/>
                <a:cs typeface="Arial"/>
              </a:rPr>
              <a:t>Deployed</a:t>
            </a:r>
            <a:r>
              <a:rPr sz="2000" b="0" spc="-45" dirty="0">
                <a:latin typeface="Arial"/>
                <a:cs typeface="Arial"/>
              </a:rPr>
              <a:t> </a:t>
            </a:r>
            <a:r>
              <a:rPr sz="2000" b="0" dirty="0">
                <a:latin typeface="Arial"/>
                <a:cs typeface="Arial"/>
              </a:rPr>
              <a:t>to</a:t>
            </a:r>
            <a:r>
              <a:rPr sz="2000" b="0" spc="-45" dirty="0">
                <a:latin typeface="Arial"/>
                <a:cs typeface="Arial"/>
              </a:rPr>
              <a:t> </a:t>
            </a:r>
            <a:r>
              <a:rPr sz="2000" b="0" dirty="0">
                <a:latin typeface="Arial"/>
                <a:cs typeface="Arial"/>
              </a:rPr>
              <a:t>a</a:t>
            </a:r>
            <a:r>
              <a:rPr sz="2000" b="0" spc="-45" dirty="0">
                <a:latin typeface="Arial"/>
                <a:cs typeface="Arial"/>
              </a:rPr>
              <a:t> </a:t>
            </a:r>
            <a:r>
              <a:rPr sz="2000" b="0" dirty="0">
                <a:latin typeface="Arial"/>
                <a:cs typeface="Arial"/>
              </a:rPr>
              <a:t>multitude</a:t>
            </a:r>
            <a:r>
              <a:rPr sz="2000" b="0" spc="-45" dirty="0">
                <a:latin typeface="Arial"/>
                <a:cs typeface="Arial"/>
              </a:rPr>
              <a:t> </a:t>
            </a:r>
            <a:r>
              <a:rPr sz="2000" b="0" dirty="0">
                <a:latin typeface="Arial"/>
                <a:cs typeface="Arial"/>
              </a:rPr>
              <a:t>of</a:t>
            </a:r>
            <a:r>
              <a:rPr sz="2000" b="0" spc="-40" dirty="0">
                <a:latin typeface="Arial"/>
                <a:cs typeface="Arial"/>
              </a:rPr>
              <a:t> </a:t>
            </a:r>
            <a:r>
              <a:rPr sz="2000" b="0" spc="-10" dirty="0">
                <a:latin typeface="Arial"/>
                <a:cs typeface="Arial"/>
              </a:rPr>
              <a:t>servers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30"/>
              </a:spcBef>
            </a:pPr>
            <a:endParaRPr sz="2000">
              <a:latin typeface="Arial"/>
              <a:cs typeface="Arial"/>
            </a:endParaRPr>
          </a:p>
          <a:p>
            <a:pPr marR="448309" algn="ctr">
              <a:lnSpc>
                <a:spcPct val="100000"/>
              </a:lnSpc>
            </a:pPr>
            <a:r>
              <a:rPr sz="2700" dirty="0">
                <a:solidFill>
                  <a:srgbClr val="4F81BD"/>
                </a:solidFill>
              </a:rPr>
              <a:t>Data</a:t>
            </a:r>
            <a:r>
              <a:rPr sz="2700" spc="-20" dirty="0">
                <a:solidFill>
                  <a:srgbClr val="4F81BD"/>
                </a:solidFill>
              </a:rPr>
              <a:t> </a:t>
            </a:r>
            <a:r>
              <a:rPr sz="2700" spc="-10" dirty="0">
                <a:solidFill>
                  <a:srgbClr val="4F81BD"/>
                </a:solidFill>
              </a:rPr>
              <a:t>Science</a:t>
            </a:r>
            <a:endParaRPr sz="2700"/>
          </a:p>
          <a:p>
            <a:pPr marL="12700" marR="5080" algn="ctr">
              <a:lnSpc>
                <a:spcPct val="100000"/>
              </a:lnSpc>
              <a:spcBef>
                <a:spcPts val="2190"/>
              </a:spcBef>
            </a:pPr>
            <a:r>
              <a:rPr sz="2000" dirty="0">
                <a:solidFill>
                  <a:srgbClr val="4F81BD"/>
                </a:solidFill>
              </a:rPr>
              <a:t>Apps</a:t>
            </a:r>
            <a:r>
              <a:rPr sz="2000" spc="-35" dirty="0">
                <a:solidFill>
                  <a:srgbClr val="4F81BD"/>
                </a:solidFill>
              </a:rPr>
              <a:t> </a:t>
            </a:r>
            <a:r>
              <a:rPr sz="2000" dirty="0">
                <a:solidFill>
                  <a:srgbClr val="4F81BD"/>
                </a:solidFill>
              </a:rPr>
              <a:t>are</a:t>
            </a:r>
            <a:r>
              <a:rPr sz="2000" spc="-35" dirty="0">
                <a:solidFill>
                  <a:srgbClr val="4F81BD"/>
                </a:solidFill>
              </a:rPr>
              <a:t> </a:t>
            </a:r>
            <a:r>
              <a:rPr sz="2000" dirty="0">
                <a:solidFill>
                  <a:srgbClr val="4F81BD"/>
                </a:solidFill>
              </a:rPr>
              <a:t>being</a:t>
            </a:r>
            <a:r>
              <a:rPr sz="2000" spc="-35" dirty="0">
                <a:solidFill>
                  <a:srgbClr val="4F81BD"/>
                </a:solidFill>
              </a:rPr>
              <a:t> </a:t>
            </a:r>
            <a:r>
              <a:rPr sz="2000" dirty="0">
                <a:solidFill>
                  <a:srgbClr val="4F81BD"/>
                </a:solidFill>
              </a:rPr>
              <a:t>integrated</a:t>
            </a:r>
            <a:r>
              <a:rPr sz="2000" spc="-35" dirty="0">
                <a:solidFill>
                  <a:srgbClr val="4F81BD"/>
                </a:solidFill>
              </a:rPr>
              <a:t> </a:t>
            </a:r>
            <a:r>
              <a:rPr sz="2000" dirty="0">
                <a:solidFill>
                  <a:srgbClr val="4F81BD"/>
                </a:solidFill>
              </a:rPr>
              <a:t>with</a:t>
            </a:r>
            <a:r>
              <a:rPr sz="2000" spc="-35" dirty="0">
                <a:solidFill>
                  <a:srgbClr val="4F81BD"/>
                </a:solidFill>
              </a:rPr>
              <a:t> </a:t>
            </a:r>
            <a:r>
              <a:rPr sz="2000" spc="-10" dirty="0">
                <a:solidFill>
                  <a:srgbClr val="4F81BD"/>
                </a:solidFill>
              </a:rPr>
              <a:t>various </a:t>
            </a:r>
            <a:r>
              <a:rPr sz="2000" dirty="0">
                <a:solidFill>
                  <a:srgbClr val="4F81BD"/>
                </a:solidFill>
              </a:rPr>
              <a:t>data</a:t>
            </a:r>
            <a:r>
              <a:rPr sz="2000" spc="-55" dirty="0">
                <a:solidFill>
                  <a:srgbClr val="4F81BD"/>
                </a:solidFill>
              </a:rPr>
              <a:t> </a:t>
            </a:r>
            <a:r>
              <a:rPr sz="2000" dirty="0">
                <a:solidFill>
                  <a:srgbClr val="4F81BD"/>
                </a:solidFill>
              </a:rPr>
              <a:t>types/sources</a:t>
            </a:r>
            <a:r>
              <a:rPr sz="2000" spc="-50" dirty="0">
                <a:solidFill>
                  <a:srgbClr val="4F81BD"/>
                </a:solidFill>
              </a:rPr>
              <a:t> </a:t>
            </a:r>
            <a:r>
              <a:rPr sz="2000" dirty="0">
                <a:solidFill>
                  <a:srgbClr val="4F81BD"/>
                </a:solidFill>
              </a:rPr>
              <a:t>and</a:t>
            </a:r>
            <a:r>
              <a:rPr sz="2000" spc="-50" dirty="0">
                <a:solidFill>
                  <a:srgbClr val="4F81BD"/>
                </a:solidFill>
              </a:rPr>
              <a:t> </a:t>
            </a:r>
            <a:r>
              <a:rPr sz="2000" spc="-10" dirty="0">
                <a:solidFill>
                  <a:srgbClr val="4F81BD"/>
                </a:solidFill>
              </a:rPr>
              <a:t>models</a:t>
            </a:r>
            <a:endParaRPr sz="200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spc="-25" dirty="0"/>
              <a:t>39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208979" y="2131809"/>
            <a:ext cx="4690110" cy="18872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3157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Arial"/>
                <a:cs typeface="Arial"/>
              </a:rPr>
              <a:t>A</a:t>
            </a:r>
            <a:r>
              <a:rPr sz="2400" b="1" spc="-14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decade</a:t>
            </a:r>
            <a:r>
              <a:rPr sz="2400" b="1" spc="-60" dirty="0">
                <a:latin typeface="Arial"/>
                <a:cs typeface="Arial"/>
              </a:rPr>
              <a:t> </a:t>
            </a:r>
            <a:r>
              <a:rPr sz="2400" b="1" spc="-25" dirty="0">
                <a:latin typeface="Arial"/>
                <a:cs typeface="Arial"/>
              </a:rPr>
              <a:t>ago</a:t>
            </a:r>
            <a:endParaRPr sz="2400">
              <a:latin typeface="Arial"/>
              <a:cs typeface="Arial"/>
            </a:endParaRPr>
          </a:p>
          <a:p>
            <a:pPr marL="1270" algn="ctr">
              <a:lnSpc>
                <a:spcPct val="100000"/>
              </a:lnSpc>
              <a:spcBef>
                <a:spcPts val="2175"/>
              </a:spcBef>
            </a:pPr>
            <a:r>
              <a:rPr sz="2000" dirty="0">
                <a:latin typeface="Arial"/>
                <a:cs typeface="Arial"/>
              </a:rPr>
              <a:t>Apps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were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monolithic</a:t>
            </a:r>
            <a:endParaRPr sz="2000">
              <a:latin typeface="Arial"/>
              <a:cs typeface="Arial"/>
            </a:endParaRPr>
          </a:p>
          <a:p>
            <a:pPr marL="12065" marR="5080" algn="ctr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Built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on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single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stack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(e.e.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.NET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or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Java) </a:t>
            </a:r>
            <a:r>
              <a:rPr sz="2000" dirty="0">
                <a:latin typeface="Arial"/>
                <a:cs typeface="Arial"/>
              </a:rPr>
              <a:t>Long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lived</a:t>
            </a:r>
            <a:endParaRPr sz="2000">
              <a:latin typeface="Arial"/>
              <a:cs typeface="Arial"/>
            </a:endParaRPr>
          </a:p>
          <a:p>
            <a:pPr marL="635" algn="ctr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Deployed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to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single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server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Today:</a:t>
            </a:r>
            <a:r>
              <a:rPr spc="-100" dirty="0"/>
              <a:t> </a:t>
            </a:r>
            <a:r>
              <a:rPr spc="-10" dirty="0"/>
              <a:t>Microservice</a:t>
            </a:r>
            <a:r>
              <a:rPr spc="-210" dirty="0"/>
              <a:t> </a:t>
            </a:r>
            <a:r>
              <a:rPr spc="-10" dirty="0"/>
              <a:t>Architecture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491866" y="1395933"/>
            <a:ext cx="732155" cy="4051300"/>
            <a:chOff x="1491866" y="1395933"/>
            <a:chExt cx="732155" cy="40513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29032" y="3002200"/>
              <a:ext cx="457260" cy="73159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91866" y="1395933"/>
              <a:ext cx="731599" cy="73159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91866" y="4715333"/>
              <a:ext cx="731599" cy="731599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391995" y="2116087"/>
            <a:ext cx="10528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595959"/>
                </a:solidFill>
                <a:latin typeface="Arial"/>
                <a:cs typeface="Arial"/>
              </a:rPr>
              <a:t>Browser</a:t>
            </a:r>
            <a:r>
              <a:rPr sz="1200" b="1" spc="-8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b="1" spc="-20" dirty="0">
                <a:solidFill>
                  <a:srgbClr val="595959"/>
                </a:solidFill>
                <a:latin typeface="Arial"/>
                <a:cs typeface="Arial"/>
              </a:rPr>
              <a:t>Apps</a:t>
            </a:r>
            <a:endParaRPr sz="12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55619" y="3741687"/>
            <a:ext cx="92519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595959"/>
                </a:solidFill>
                <a:latin typeface="Arial"/>
                <a:cs typeface="Arial"/>
              </a:rPr>
              <a:t>Mobile</a:t>
            </a:r>
            <a:r>
              <a:rPr sz="1200" b="1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b="1" spc="-20" dirty="0">
                <a:solidFill>
                  <a:srgbClr val="595959"/>
                </a:solidFill>
                <a:latin typeface="Arial"/>
                <a:cs typeface="Arial"/>
              </a:rPr>
              <a:t>Apps</a:t>
            </a:r>
            <a:endParaRPr sz="12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99075" y="5468886"/>
            <a:ext cx="13487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595959"/>
                </a:solidFill>
                <a:latin typeface="Arial"/>
                <a:cs typeface="Arial"/>
              </a:rPr>
              <a:t>Edge</a:t>
            </a:r>
            <a:r>
              <a:rPr sz="1200" b="1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595959"/>
                </a:solidFill>
                <a:latin typeface="Arial"/>
                <a:cs typeface="Arial"/>
              </a:rPr>
              <a:t>Device</a:t>
            </a:r>
            <a:r>
              <a:rPr sz="1200" b="1" spc="-6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b="1" spc="-20" dirty="0">
                <a:solidFill>
                  <a:srgbClr val="595959"/>
                </a:solidFill>
                <a:latin typeface="Arial"/>
                <a:cs typeface="Arial"/>
              </a:rPr>
              <a:t>Apps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113780" y="1700247"/>
            <a:ext cx="2516505" cy="3442970"/>
            <a:chOff x="2113780" y="1700247"/>
            <a:chExt cx="2516505" cy="3442970"/>
          </a:xfrm>
        </p:grpSpPr>
        <p:sp>
          <p:nvSpPr>
            <p:cNvPr id="11" name="object 11"/>
            <p:cNvSpPr/>
            <p:nvPr/>
          </p:nvSpPr>
          <p:spPr>
            <a:xfrm>
              <a:off x="2394915" y="1761732"/>
              <a:ext cx="2091055" cy="1658620"/>
            </a:xfrm>
            <a:custGeom>
              <a:avLst/>
              <a:gdLst/>
              <a:ahLst/>
              <a:cxnLst/>
              <a:rect l="l" t="t" r="r" b="b"/>
              <a:pathLst>
                <a:path w="2091054" h="1658620">
                  <a:moveTo>
                    <a:pt x="0" y="0"/>
                  </a:moveTo>
                  <a:lnTo>
                    <a:pt x="1449698" y="0"/>
                  </a:lnTo>
                  <a:lnTo>
                    <a:pt x="1449698" y="1658399"/>
                  </a:lnTo>
                  <a:lnTo>
                    <a:pt x="2090998" y="1658399"/>
                  </a:lnTo>
                </a:path>
              </a:pathLst>
            </a:custGeom>
            <a:ln w="28574">
              <a:solidFill>
                <a:srgbClr val="9E9E9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50952" y="1700247"/>
              <a:ext cx="158251" cy="122971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471627" y="3358647"/>
              <a:ext cx="158252" cy="12297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2257744" y="3367999"/>
              <a:ext cx="2228850" cy="52705"/>
            </a:xfrm>
            <a:custGeom>
              <a:avLst/>
              <a:gdLst/>
              <a:ahLst/>
              <a:cxnLst/>
              <a:rect l="l" t="t" r="r" b="b"/>
              <a:pathLst>
                <a:path w="2228850" h="52704">
                  <a:moveTo>
                    <a:pt x="0" y="0"/>
                  </a:moveTo>
                  <a:lnTo>
                    <a:pt x="1575363" y="0"/>
                  </a:lnTo>
                  <a:lnTo>
                    <a:pt x="1575363" y="52199"/>
                  </a:lnTo>
                  <a:lnTo>
                    <a:pt x="2228400" y="52199"/>
                  </a:lnTo>
                </a:path>
              </a:pathLst>
            </a:custGeom>
            <a:ln w="28574">
              <a:solidFill>
                <a:srgbClr val="9E9E9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13780" y="3306514"/>
              <a:ext cx="158251" cy="12296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471857" y="3358714"/>
              <a:ext cx="158249" cy="122969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2394915" y="3420332"/>
              <a:ext cx="2091055" cy="1661160"/>
            </a:xfrm>
            <a:custGeom>
              <a:avLst/>
              <a:gdLst/>
              <a:ahLst/>
              <a:cxnLst/>
              <a:rect l="l" t="t" r="r" b="b"/>
              <a:pathLst>
                <a:path w="2091054" h="1661160">
                  <a:moveTo>
                    <a:pt x="0" y="1660799"/>
                  </a:moveTo>
                  <a:lnTo>
                    <a:pt x="1449698" y="1660799"/>
                  </a:lnTo>
                  <a:lnTo>
                    <a:pt x="1449698" y="0"/>
                  </a:lnTo>
                  <a:lnTo>
                    <a:pt x="2090998" y="0"/>
                  </a:lnTo>
                </a:path>
              </a:pathLst>
            </a:custGeom>
            <a:ln w="28574">
              <a:solidFill>
                <a:srgbClr val="9E9E9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50952" y="5019647"/>
              <a:ext cx="158251" cy="122972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471627" y="3358847"/>
              <a:ext cx="158252" cy="122972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4657450" y="3002200"/>
            <a:ext cx="1766570" cy="836294"/>
          </a:xfrm>
          <a:prstGeom prst="rect">
            <a:avLst/>
          </a:prstGeom>
          <a:solidFill>
            <a:srgbClr val="BF9000"/>
          </a:solidFill>
        </p:spPr>
        <p:txBody>
          <a:bodyPr vert="horz" wrap="square" lIns="0" tIns="762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0"/>
              </a:spcBef>
            </a:pPr>
            <a:endParaRPr sz="1800">
              <a:latin typeface="Times New Roman"/>
              <a:cs typeface="Times New Roman"/>
            </a:endParaRPr>
          </a:p>
          <a:p>
            <a:pPr marL="254000">
              <a:lnSpc>
                <a:spcPct val="100000"/>
              </a:lnSpc>
            </a:pP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API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 Service</a:t>
            </a:r>
            <a:endParaRPr sz="18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614374" y="1441142"/>
            <a:ext cx="97281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434343"/>
                </a:solidFill>
                <a:latin typeface="Arial"/>
                <a:cs typeface="Arial"/>
              </a:rPr>
              <a:t>REST</a:t>
            </a:r>
            <a:r>
              <a:rPr sz="1200" b="1" spc="-20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434343"/>
                </a:solidFill>
                <a:latin typeface="Arial"/>
                <a:cs typeface="Arial"/>
              </a:rPr>
              <a:t>/</a:t>
            </a:r>
            <a:r>
              <a:rPr sz="1200" b="1" spc="-15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200" b="1" spc="-20" dirty="0">
                <a:solidFill>
                  <a:srgbClr val="434343"/>
                </a:solidFill>
                <a:latin typeface="Arial"/>
                <a:cs typeface="Arial"/>
              </a:rPr>
              <a:t>JSON</a:t>
            </a:r>
            <a:endParaRPr sz="120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2284724" y="4810900"/>
            <a:ext cx="1533525" cy="173355"/>
          </a:xfrm>
          <a:custGeom>
            <a:avLst/>
            <a:gdLst/>
            <a:ahLst/>
            <a:cxnLst/>
            <a:rect l="l" t="t" r="r" b="b"/>
            <a:pathLst>
              <a:path w="1533525" h="173354">
                <a:moveTo>
                  <a:pt x="1533300" y="0"/>
                </a:moveTo>
                <a:lnTo>
                  <a:pt x="0" y="0"/>
                </a:lnTo>
                <a:lnTo>
                  <a:pt x="0" y="173099"/>
                </a:lnTo>
                <a:lnTo>
                  <a:pt x="1533300" y="173099"/>
                </a:lnTo>
                <a:lnTo>
                  <a:pt x="15333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2564434" y="4788165"/>
            <a:ext cx="97281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434343"/>
                </a:solidFill>
                <a:latin typeface="Arial"/>
                <a:cs typeface="Arial"/>
              </a:rPr>
              <a:t>REST</a:t>
            </a:r>
            <a:r>
              <a:rPr sz="1200" b="1" spc="-20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434343"/>
                </a:solidFill>
                <a:latin typeface="Arial"/>
                <a:cs typeface="Arial"/>
              </a:rPr>
              <a:t>/</a:t>
            </a:r>
            <a:r>
              <a:rPr sz="1200" b="1" spc="-15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200" b="1" spc="-20" dirty="0">
                <a:solidFill>
                  <a:srgbClr val="434343"/>
                </a:solidFill>
                <a:latin typeface="Arial"/>
                <a:cs typeface="Arial"/>
              </a:rPr>
              <a:t>JSON</a:t>
            </a:r>
            <a:endParaRPr sz="1200">
              <a:latin typeface="Arial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2306025" y="3092950"/>
            <a:ext cx="1490980" cy="173355"/>
          </a:xfrm>
          <a:custGeom>
            <a:avLst/>
            <a:gdLst/>
            <a:ahLst/>
            <a:cxnLst/>
            <a:rect l="l" t="t" r="r" b="b"/>
            <a:pathLst>
              <a:path w="1490979" h="173354">
                <a:moveTo>
                  <a:pt x="1490700" y="0"/>
                </a:moveTo>
                <a:lnTo>
                  <a:pt x="0" y="0"/>
                </a:lnTo>
                <a:lnTo>
                  <a:pt x="0" y="173099"/>
                </a:lnTo>
                <a:lnTo>
                  <a:pt x="1490700" y="173099"/>
                </a:lnTo>
                <a:lnTo>
                  <a:pt x="14907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2564434" y="3070216"/>
            <a:ext cx="97281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434343"/>
                </a:solidFill>
                <a:latin typeface="Arial"/>
                <a:cs typeface="Arial"/>
              </a:rPr>
              <a:t>REST</a:t>
            </a:r>
            <a:r>
              <a:rPr sz="1200" b="1" spc="-20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434343"/>
                </a:solidFill>
                <a:latin typeface="Arial"/>
                <a:cs typeface="Arial"/>
              </a:rPr>
              <a:t>/</a:t>
            </a:r>
            <a:r>
              <a:rPr sz="1200" b="1" spc="-15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200" b="1" spc="-20" dirty="0">
                <a:solidFill>
                  <a:srgbClr val="434343"/>
                </a:solidFill>
                <a:latin typeface="Arial"/>
                <a:cs typeface="Arial"/>
              </a:rPr>
              <a:t>JSON</a:t>
            </a:r>
            <a:endParaRPr sz="12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722174" y="1965850"/>
            <a:ext cx="1766570" cy="365125"/>
          </a:xfrm>
          <a:prstGeom prst="rect">
            <a:avLst/>
          </a:prstGeom>
          <a:solidFill>
            <a:srgbClr val="3C78D8"/>
          </a:solidFill>
        </p:spPr>
        <p:txBody>
          <a:bodyPr vert="horz" wrap="square" lIns="0" tIns="70485" rIns="0" bIns="0" rtlCol="0">
            <a:spAutoFit/>
          </a:bodyPr>
          <a:lstStyle/>
          <a:p>
            <a:pPr marL="339725">
              <a:lnSpc>
                <a:spcPct val="100000"/>
              </a:lnSpc>
              <a:spcBef>
                <a:spcPts val="555"/>
              </a:spcBef>
            </a:pP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Storefront</a:t>
            </a:r>
            <a:r>
              <a:rPr sz="14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25" dirty="0">
                <a:solidFill>
                  <a:srgbClr val="FFFFFF"/>
                </a:solidFill>
                <a:latin typeface="Arial"/>
                <a:cs typeface="Arial"/>
              </a:rPr>
              <a:t>UI</a:t>
            </a:r>
            <a:endParaRPr sz="14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104975" y="2346850"/>
            <a:ext cx="2289810" cy="365125"/>
          </a:xfrm>
          <a:prstGeom prst="rect">
            <a:avLst/>
          </a:prstGeom>
          <a:solidFill>
            <a:srgbClr val="6AA84F"/>
          </a:solidFill>
        </p:spPr>
        <p:txBody>
          <a:bodyPr vert="horz" wrap="square" lIns="0" tIns="70485" rIns="0" bIns="0" rtlCol="0">
            <a:spAutoFit/>
          </a:bodyPr>
          <a:lstStyle/>
          <a:p>
            <a:pPr marL="483234">
              <a:lnSpc>
                <a:spcPct val="100000"/>
              </a:lnSpc>
              <a:spcBef>
                <a:spcPts val="555"/>
              </a:spcBef>
            </a:pP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Catalog</a:t>
            </a:r>
            <a:r>
              <a:rPr sz="14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Module</a:t>
            </a:r>
            <a:endParaRPr sz="14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104975" y="3185050"/>
            <a:ext cx="2289810" cy="365125"/>
          </a:xfrm>
          <a:prstGeom prst="rect">
            <a:avLst/>
          </a:prstGeom>
          <a:solidFill>
            <a:srgbClr val="E69138"/>
          </a:solidFill>
        </p:spPr>
        <p:txBody>
          <a:bodyPr vert="horz" wrap="square" lIns="0" tIns="70485" rIns="0" bIns="0" rtlCol="0">
            <a:spAutoFit/>
          </a:bodyPr>
          <a:lstStyle/>
          <a:p>
            <a:pPr marL="453390">
              <a:lnSpc>
                <a:spcPct val="100000"/>
              </a:lnSpc>
              <a:spcBef>
                <a:spcPts val="555"/>
              </a:spcBef>
            </a:pP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Reviews</a:t>
            </a:r>
            <a:r>
              <a:rPr sz="14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Module</a:t>
            </a:r>
            <a:endParaRPr sz="14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104975" y="4175650"/>
            <a:ext cx="2289810" cy="365125"/>
          </a:xfrm>
          <a:prstGeom prst="rect">
            <a:avLst/>
          </a:prstGeom>
          <a:solidFill>
            <a:srgbClr val="CC0000"/>
          </a:solidFill>
        </p:spPr>
        <p:txBody>
          <a:bodyPr vert="horz" wrap="square" lIns="0" tIns="70485" rIns="0" bIns="0" rtlCol="0">
            <a:spAutoFit/>
          </a:bodyPr>
          <a:lstStyle/>
          <a:p>
            <a:pPr marL="517525">
              <a:lnSpc>
                <a:spcPct val="100000"/>
              </a:lnSpc>
              <a:spcBef>
                <a:spcPts val="555"/>
              </a:spcBef>
            </a:pP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Orders</a:t>
            </a:r>
            <a:r>
              <a:rPr sz="14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Module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2250952" y="1700247"/>
            <a:ext cx="2444115" cy="889000"/>
            <a:chOff x="2250952" y="1700247"/>
            <a:chExt cx="2444115" cy="889000"/>
          </a:xfrm>
        </p:grpSpPr>
        <p:sp>
          <p:nvSpPr>
            <p:cNvPr id="31" name="object 31"/>
            <p:cNvSpPr/>
            <p:nvPr/>
          </p:nvSpPr>
          <p:spPr>
            <a:xfrm>
              <a:off x="2394916" y="1761732"/>
              <a:ext cx="2155825" cy="386715"/>
            </a:xfrm>
            <a:custGeom>
              <a:avLst/>
              <a:gdLst/>
              <a:ahLst/>
              <a:cxnLst/>
              <a:rect l="l" t="t" r="r" b="b"/>
              <a:pathLst>
                <a:path w="2155825" h="386714">
                  <a:moveTo>
                    <a:pt x="0" y="0"/>
                  </a:moveTo>
                  <a:lnTo>
                    <a:pt x="1077898" y="0"/>
                  </a:lnTo>
                  <a:lnTo>
                    <a:pt x="1077898" y="386699"/>
                  </a:lnTo>
                  <a:lnTo>
                    <a:pt x="2155798" y="386699"/>
                  </a:lnTo>
                </a:path>
              </a:pathLst>
            </a:custGeom>
            <a:ln w="28574">
              <a:solidFill>
                <a:srgbClr val="9E9E9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50952" y="1700247"/>
              <a:ext cx="158251" cy="122971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36427" y="2086947"/>
              <a:ext cx="158252" cy="122971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3925900" y="2415937"/>
              <a:ext cx="732155" cy="173355"/>
            </a:xfrm>
            <a:custGeom>
              <a:avLst/>
              <a:gdLst/>
              <a:ahLst/>
              <a:cxnLst/>
              <a:rect l="l" t="t" r="r" b="b"/>
              <a:pathLst>
                <a:path w="732154" h="173355">
                  <a:moveTo>
                    <a:pt x="731700" y="0"/>
                  </a:moveTo>
                  <a:lnTo>
                    <a:pt x="0" y="0"/>
                  </a:lnTo>
                  <a:lnTo>
                    <a:pt x="0" y="173099"/>
                  </a:lnTo>
                  <a:lnTo>
                    <a:pt x="731700" y="173099"/>
                  </a:lnTo>
                  <a:lnTo>
                    <a:pt x="7317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4067453" y="2393203"/>
            <a:ext cx="4489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solidFill>
                  <a:srgbClr val="434343"/>
                </a:solidFill>
                <a:latin typeface="Arial"/>
                <a:cs typeface="Arial"/>
              </a:rPr>
              <a:t>HTML</a:t>
            </a:r>
            <a:endParaRPr sz="12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104975" y="5166250"/>
            <a:ext cx="2289810" cy="681355"/>
          </a:xfrm>
          <a:prstGeom prst="rect">
            <a:avLst/>
          </a:prstGeom>
          <a:solidFill>
            <a:srgbClr val="674EA7"/>
          </a:solidFill>
        </p:spPr>
        <p:txBody>
          <a:bodyPr vert="horz" wrap="square" lIns="0" tIns="133985" rIns="0" bIns="0" rtlCol="0">
            <a:spAutoFit/>
          </a:bodyPr>
          <a:lstStyle/>
          <a:p>
            <a:pPr marL="833755" marR="391160" indent="-434975">
              <a:lnSpc>
                <a:spcPts val="1650"/>
              </a:lnSpc>
              <a:spcBef>
                <a:spcPts val="1055"/>
              </a:spcBef>
            </a:pP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Recommendation Module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37" name="object 3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872051" y="3078349"/>
            <a:ext cx="487680" cy="487680"/>
          </a:xfrm>
          <a:prstGeom prst="rect">
            <a:avLst/>
          </a:prstGeom>
        </p:spPr>
      </p:pic>
      <p:sp>
        <p:nvSpPr>
          <p:cNvPr id="38" name="object 38"/>
          <p:cNvSpPr txBox="1"/>
          <p:nvPr/>
        </p:nvSpPr>
        <p:spPr>
          <a:xfrm>
            <a:off x="10662763" y="3516188"/>
            <a:ext cx="8883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595959"/>
                </a:solidFill>
                <a:latin typeface="Arial"/>
                <a:cs typeface="Arial"/>
              </a:rPr>
              <a:t>Cloud</a:t>
            </a:r>
            <a:r>
              <a:rPr sz="1200" b="1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595959"/>
                </a:solidFill>
                <a:latin typeface="Arial"/>
                <a:cs typeface="Arial"/>
              </a:rPr>
              <a:t>Store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39" name="object 3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864674" y="2340864"/>
            <a:ext cx="348024" cy="386700"/>
          </a:xfrm>
          <a:prstGeom prst="rect">
            <a:avLst/>
          </a:prstGeom>
        </p:spPr>
      </p:pic>
      <p:sp>
        <p:nvSpPr>
          <p:cNvPr id="40" name="object 40"/>
          <p:cNvSpPr txBox="1"/>
          <p:nvPr/>
        </p:nvSpPr>
        <p:spPr>
          <a:xfrm>
            <a:off x="10772081" y="2801617"/>
            <a:ext cx="7035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595959"/>
                </a:solidFill>
                <a:latin typeface="Arial"/>
                <a:cs typeface="Arial"/>
              </a:rPr>
              <a:t>Database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41" name="object 4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864674" y="4054624"/>
            <a:ext cx="348024" cy="386700"/>
          </a:xfrm>
          <a:prstGeom prst="rect">
            <a:avLst/>
          </a:prstGeom>
        </p:spPr>
      </p:pic>
      <p:sp>
        <p:nvSpPr>
          <p:cNvPr id="42" name="object 42"/>
          <p:cNvSpPr txBox="1"/>
          <p:nvPr/>
        </p:nvSpPr>
        <p:spPr>
          <a:xfrm>
            <a:off x="10772081" y="4515379"/>
            <a:ext cx="7035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595959"/>
                </a:solidFill>
                <a:latin typeface="Arial"/>
                <a:cs typeface="Arial"/>
              </a:rPr>
              <a:t>Database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43" name="object 4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1239694" y="5219294"/>
            <a:ext cx="487668" cy="487668"/>
          </a:xfrm>
          <a:prstGeom prst="rect">
            <a:avLst/>
          </a:prstGeom>
        </p:spPr>
      </p:pic>
      <p:pic>
        <p:nvPicPr>
          <p:cNvPr id="44" name="object 4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0699207" y="5219294"/>
            <a:ext cx="487668" cy="487668"/>
          </a:xfrm>
          <a:prstGeom prst="rect">
            <a:avLst/>
          </a:prstGeom>
        </p:spPr>
      </p:pic>
      <p:sp>
        <p:nvSpPr>
          <p:cNvPr id="45" name="object 45"/>
          <p:cNvSpPr txBox="1"/>
          <p:nvPr/>
        </p:nvSpPr>
        <p:spPr>
          <a:xfrm>
            <a:off x="10859381" y="5745429"/>
            <a:ext cx="5505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4F81BD"/>
                </a:solidFill>
                <a:latin typeface="Arial"/>
                <a:cs typeface="Arial"/>
              </a:rPr>
              <a:t>Models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6409562" y="2548447"/>
            <a:ext cx="701675" cy="2933700"/>
            <a:chOff x="6409562" y="2548447"/>
            <a:chExt cx="701675" cy="2933700"/>
          </a:xfrm>
        </p:grpSpPr>
        <p:sp>
          <p:nvSpPr>
            <p:cNvPr id="47" name="object 47"/>
            <p:cNvSpPr/>
            <p:nvPr/>
          </p:nvSpPr>
          <p:spPr>
            <a:xfrm>
              <a:off x="6423850" y="2665752"/>
              <a:ext cx="577215" cy="755015"/>
            </a:xfrm>
            <a:custGeom>
              <a:avLst/>
              <a:gdLst/>
              <a:ahLst/>
              <a:cxnLst/>
              <a:rect l="l" t="t" r="r" b="b"/>
              <a:pathLst>
                <a:path w="577215" h="755014">
                  <a:moveTo>
                    <a:pt x="0" y="754497"/>
                  </a:moveTo>
                  <a:lnTo>
                    <a:pt x="576864" y="0"/>
                  </a:lnTo>
                </a:path>
              </a:pathLst>
            </a:custGeom>
            <a:ln w="28574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948932" y="2548447"/>
              <a:ext cx="144832" cy="160259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6423850" y="3380927"/>
              <a:ext cx="510540" cy="39370"/>
            </a:xfrm>
            <a:custGeom>
              <a:avLst/>
              <a:gdLst/>
              <a:ahLst/>
              <a:cxnLst/>
              <a:rect l="l" t="t" r="r" b="b"/>
              <a:pathLst>
                <a:path w="510540" h="39370">
                  <a:moveTo>
                    <a:pt x="0" y="39322"/>
                  </a:moveTo>
                  <a:lnTo>
                    <a:pt x="510057" y="0"/>
                  </a:lnTo>
                </a:path>
              </a:pathLst>
            </a:custGeom>
            <a:ln w="28574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5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915992" y="3319582"/>
              <a:ext cx="161494" cy="122692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6423850" y="3420250"/>
              <a:ext cx="580390" cy="799465"/>
            </a:xfrm>
            <a:custGeom>
              <a:avLst/>
              <a:gdLst/>
              <a:ahLst/>
              <a:cxnLst/>
              <a:rect l="l" t="t" r="r" b="b"/>
              <a:pathLst>
                <a:path w="580390" h="799464">
                  <a:moveTo>
                    <a:pt x="0" y="0"/>
                  </a:moveTo>
                  <a:lnTo>
                    <a:pt x="580279" y="799354"/>
                  </a:lnTo>
                </a:path>
              </a:pathLst>
            </a:custGeom>
            <a:ln w="28574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2" name="object 5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951647" y="4177589"/>
              <a:ext cx="142949" cy="161242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6423850" y="3420250"/>
              <a:ext cx="628015" cy="1924050"/>
            </a:xfrm>
            <a:custGeom>
              <a:avLst/>
              <a:gdLst/>
              <a:ahLst/>
              <a:cxnLst/>
              <a:rect l="l" t="t" r="r" b="b"/>
              <a:pathLst>
                <a:path w="628015" h="1924050">
                  <a:moveTo>
                    <a:pt x="0" y="0"/>
                  </a:moveTo>
                  <a:lnTo>
                    <a:pt x="627809" y="1923809"/>
                  </a:lnTo>
                </a:path>
              </a:pathLst>
            </a:custGeom>
            <a:ln w="28574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4" name="object 5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992502" y="5315130"/>
              <a:ext cx="118314" cy="166494"/>
            </a:xfrm>
            <a:prstGeom prst="rect">
              <a:avLst/>
            </a:prstGeom>
          </p:spPr>
        </p:pic>
      </p:grpSp>
      <p:grpSp>
        <p:nvGrpSpPr>
          <p:cNvPr id="55" name="object 55"/>
          <p:cNvGrpSpPr/>
          <p:nvPr/>
        </p:nvGrpSpPr>
        <p:grpSpPr>
          <a:xfrm>
            <a:off x="9498259" y="3299537"/>
            <a:ext cx="1038225" cy="128905"/>
            <a:chOff x="9498259" y="3299537"/>
            <a:chExt cx="1038225" cy="128905"/>
          </a:xfrm>
        </p:grpSpPr>
        <p:sp>
          <p:nvSpPr>
            <p:cNvPr id="56" name="object 56"/>
            <p:cNvSpPr/>
            <p:nvPr/>
          </p:nvSpPr>
          <p:spPr>
            <a:xfrm>
              <a:off x="9642219" y="3361022"/>
              <a:ext cx="750570" cy="5715"/>
            </a:xfrm>
            <a:custGeom>
              <a:avLst/>
              <a:gdLst/>
              <a:ahLst/>
              <a:cxnLst/>
              <a:rect l="l" t="t" r="r" b="b"/>
              <a:pathLst>
                <a:path w="750570" h="5714">
                  <a:moveTo>
                    <a:pt x="0" y="5354"/>
                  </a:moveTo>
                  <a:lnTo>
                    <a:pt x="750309" y="0"/>
                  </a:lnTo>
                </a:path>
              </a:pathLst>
            </a:custGeom>
            <a:ln w="28574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7" name="object 5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498259" y="3304892"/>
              <a:ext cx="158584" cy="122967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0377904" y="3299537"/>
              <a:ext cx="158584" cy="122969"/>
            </a:xfrm>
            <a:prstGeom prst="rect">
              <a:avLst/>
            </a:prstGeom>
          </p:spPr>
        </p:pic>
      </p:grpSp>
      <p:grpSp>
        <p:nvGrpSpPr>
          <p:cNvPr id="59" name="object 59"/>
          <p:cNvGrpSpPr/>
          <p:nvPr/>
        </p:nvGrpSpPr>
        <p:grpSpPr>
          <a:xfrm>
            <a:off x="9498259" y="2461338"/>
            <a:ext cx="1038225" cy="128905"/>
            <a:chOff x="9498259" y="2461338"/>
            <a:chExt cx="1038225" cy="128905"/>
          </a:xfrm>
        </p:grpSpPr>
        <p:sp>
          <p:nvSpPr>
            <p:cNvPr id="60" name="object 60"/>
            <p:cNvSpPr/>
            <p:nvPr/>
          </p:nvSpPr>
          <p:spPr>
            <a:xfrm>
              <a:off x="9642219" y="2522822"/>
              <a:ext cx="750570" cy="5715"/>
            </a:xfrm>
            <a:custGeom>
              <a:avLst/>
              <a:gdLst/>
              <a:ahLst/>
              <a:cxnLst/>
              <a:rect l="l" t="t" r="r" b="b"/>
              <a:pathLst>
                <a:path w="750570" h="5714">
                  <a:moveTo>
                    <a:pt x="0" y="5354"/>
                  </a:moveTo>
                  <a:lnTo>
                    <a:pt x="750309" y="0"/>
                  </a:lnTo>
                </a:path>
              </a:pathLst>
            </a:custGeom>
            <a:ln w="28574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1" name="object 6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498259" y="2466692"/>
              <a:ext cx="158584" cy="122967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0377904" y="2461338"/>
              <a:ext cx="158584" cy="122968"/>
            </a:xfrm>
            <a:prstGeom prst="rect">
              <a:avLst/>
            </a:prstGeom>
          </p:spPr>
        </p:pic>
      </p:grpSp>
      <p:grpSp>
        <p:nvGrpSpPr>
          <p:cNvPr id="63" name="object 63"/>
          <p:cNvGrpSpPr/>
          <p:nvPr/>
        </p:nvGrpSpPr>
        <p:grpSpPr>
          <a:xfrm>
            <a:off x="9498259" y="4290137"/>
            <a:ext cx="1038225" cy="128905"/>
            <a:chOff x="9498259" y="4290137"/>
            <a:chExt cx="1038225" cy="128905"/>
          </a:xfrm>
        </p:grpSpPr>
        <p:sp>
          <p:nvSpPr>
            <p:cNvPr id="64" name="object 64"/>
            <p:cNvSpPr/>
            <p:nvPr/>
          </p:nvSpPr>
          <p:spPr>
            <a:xfrm>
              <a:off x="9642219" y="4351622"/>
              <a:ext cx="750570" cy="5715"/>
            </a:xfrm>
            <a:custGeom>
              <a:avLst/>
              <a:gdLst/>
              <a:ahLst/>
              <a:cxnLst/>
              <a:rect l="l" t="t" r="r" b="b"/>
              <a:pathLst>
                <a:path w="750570" h="5714">
                  <a:moveTo>
                    <a:pt x="0" y="5354"/>
                  </a:moveTo>
                  <a:lnTo>
                    <a:pt x="750309" y="0"/>
                  </a:lnTo>
                </a:path>
              </a:pathLst>
            </a:custGeom>
            <a:ln w="28574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5" name="object 6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498259" y="4295492"/>
              <a:ext cx="158584" cy="122969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0377904" y="4290137"/>
              <a:ext cx="158584" cy="122969"/>
            </a:xfrm>
            <a:prstGeom prst="rect">
              <a:avLst/>
            </a:prstGeom>
          </p:spPr>
        </p:pic>
      </p:grpSp>
      <p:grpSp>
        <p:nvGrpSpPr>
          <p:cNvPr id="67" name="object 67"/>
          <p:cNvGrpSpPr/>
          <p:nvPr/>
        </p:nvGrpSpPr>
        <p:grpSpPr>
          <a:xfrm>
            <a:off x="9498259" y="5509337"/>
            <a:ext cx="1038225" cy="128905"/>
            <a:chOff x="9498259" y="5509337"/>
            <a:chExt cx="1038225" cy="128905"/>
          </a:xfrm>
        </p:grpSpPr>
        <p:sp>
          <p:nvSpPr>
            <p:cNvPr id="68" name="object 68"/>
            <p:cNvSpPr/>
            <p:nvPr/>
          </p:nvSpPr>
          <p:spPr>
            <a:xfrm>
              <a:off x="9642219" y="5570822"/>
              <a:ext cx="750570" cy="5715"/>
            </a:xfrm>
            <a:custGeom>
              <a:avLst/>
              <a:gdLst/>
              <a:ahLst/>
              <a:cxnLst/>
              <a:rect l="l" t="t" r="r" b="b"/>
              <a:pathLst>
                <a:path w="750570" h="5714">
                  <a:moveTo>
                    <a:pt x="0" y="5354"/>
                  </a:moveTo>
                  <a:lnTo>
                    <a:pt x="750309" y="0"/>
                  </a:lnTo>
                </a:path>
              </a:pathLst>
            </a:custGeom>
            <a:ln w="28574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9" name="object 6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498259" y="5514692"/>
              <a:ext cx="158584" cy="122969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0377904" y="5509337"/>
              <a:ext cx="158584" cy="122969"/>
            </a:xfrm>
            <a:prstGeom prst="rect">
              <a:avLst/>
            </a:prstGeom>
          </p:spPr>
        </p:pic>
      </p:grpSp>
      <p:sp>
        <p:nvSpPr>
          <p:cNvPr id="71" name="object 7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spc="-25" dirty="0"/>
              <a:t>40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Software</a:t>
            </a:r>
            <a:r>
              <a:rPr spc="-50" dirty="0"/>
              <a:t> </a:t>
            </a:r>
            <a:r>
              <a:rPr dirty="0"/>
              <a:t>Development</a:t>
            </a:r>
            <a:r>
              <a:rPr spc="-55" dirty="0"/>
              <a:t> </a:t>
            </a:r>
            <a:r>
              <a:rPr dirty="0"/>
              <a:t>Workflow</a:t>
            </a:r>
            <a:r>
              <a:rPr spc="-45" dirty="0"/>
              <a:t> </a:t>
            </a:r>
            <a:r>
              <a:rPr dirty="0"/>
              <a:t>(no</a:t>
            </a:r>
            <a:r>
              <a:rPr spc="-50" dirty="0"/>
              <a:t> </a:t>
            </a:r>
            <a:r>
              <a:rPr spc="-10" dirty="0"/>
              <a:t>Docker)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7512" y="1917550"/>
            <a:ext cx="537586" cy="430055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350591" y="1217918"/>
            <a:ext cx="1682750" cy="650240"/>
          </a:xfrm>
          <a:custGeom>
            <a:avLst/>
            <a:gdLst/>
            <a:ahLst/>
            <a:cxnLst/>
            <a:rect l="l" t="t" r="r" b="b"/>
            <a:pathLst>
              <a:path w="1682750" h="650239">
                <a:moveTo>
                  <a:pt x="1682428" y="0"/>
                </a:moveTo>
                <a:lnTo>
                  <a:pt x="0" y="0"/>
                </a:lnTo>
                <a:lnTo>
                  <a:pt x="0" y="650218"/>
                </a:lnTo>
                <a:lnTo>
                  <a:pt x="1682428" y="650218"/>
                </a:lnTo>
                <a:lnTo>
                  <a:pt x="1682428" y="0"/>
                </a:lnTo>
                <a:close/>
              </a:path>
            </a:pathLst>
          </a:custGeom>
          <a:solidFill>
            <a:srgbClr val="D9EAD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30085" y="1036201"/>
            <a:ext cx="63690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solidFill>
                  <a:srgbClr val="38761D"/>
                </a:solidFill>
                <a:latin typeface="Arial"/>
                <a:cs typeface="Arial"/>
              </a:rPr>
              <a:t>Windows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7667" y="1374797"/>
            <a:ext cx="243260" cy="277961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50591" y="1217918"/>
            <a:ext cx="1682750" cy="650240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751840" marR="417830">
              <a:lnSpc>
                <a:spcPct val="100000"/>
              </a:lnSpc>
              <a:spcBef>
                <a:spcPts val="955"/>
              </a:spcBef>
            </a:pPr>
            <a:r>
              <a:rPr sz="1100" b="1" spc="-10" dirty="0">
                <a:solidFill>
                  <a:srgbClr val="274E13"/>
                </a:solidFill>
                <a:latin typeface="Arial"/>
                <a:cs typeface="Arial"/>
              </a:rPr>
              <a:t>Node.js Python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80223" y="2622525"/>
            <a:ext cx="1585595" cy="1097915"/>
            <a:chOff x="380223" y="2622525"/>
            <a:chExt cx="1585595" cy="1097915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17512" y="3290009"/>
              <a:ext cx="537586" cy="430069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380223" y="2622525"/>
              <a:ext cx="1585595" cy="650240"/>
            </a:xfrm>
            <a:custGeom>
              <a:avLst/>
              <a:gdLst/>
              <a:ahLst/>
              <a:cxnLst/>
              <a:rect l="l" t="t" r="r" b="b"/>
              <a:pathLst>
                <a:path w="1585595" h="650239">
                  <a:moveTo>
                    <a:pt x="1585412" y="0"/>
                  </a:moveTo>
                  <a:lnTo>
                    <a:pt x="0" y="0"/>
                  </a:lnTo>
                  <a:lnTo>
                    <a:pt x="0" y="650218"/>
                  </a:lnTo>
                  <a:lnTo>
                    <a:pt x="1585412" y="650218"/>
                  </a:lnTo>
                  <a:lnTo>
                    <a:pt x="1585412" y="0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59717" y="2440809"/>
            <a:ext cx="39751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solidFill>
                  <a:srgbClr val="990000"/>
                </a:solidFill>
                <a:latin typeface="Arial"/>
                <a:cs typeface="Arial"/>
              </a:rPr>
              <a:t>Linux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87667" y="2724226"/>
            <a:ext cx="243260" cy="277985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380223" y="2622525"/>
            <a:ext cx="1585595" cy="650240"/>
          </a:xfrm>
          <a:prstGeom prst="rect">
            <a:avLst/>
          </a:prstGeom>
        </p:spPr>
        <p:txBody>
          <a:bodyPr vert="horz" wrap="square" lIns="0" tIns="138430" rIns="0" bIns="0" rtlCol="0">
            <a:spAutoFit/>
          </a:bodyPr>
          <a:lstStyle/>
          <a:p>
            <a:pPr marL="722630" marR="350520">
              <a:lnSpc>
                <a:spcPct val="100000"/>
              </a:lnSpc>
              <a:spcBef>
                <a:spcPts val="1090"/>
              </a:spcBef>
            </a:pPr>
            <a:r>
              <a:rPr sz="1100" b="1" spc="-10" dirty="0">
                <a:solidFill>
                  <a:srgbClr val="990000"/>
                </a:solidFill>
                <a:latin typeface="Arial"/>
                <a:cs typeface="Arial"/>
              </a:rPr>
              <a:t>Node.js Python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98756" y="3995442"/>
            <a:ext cx="1548765" cy="1104900"/>
            <a:chOff x="398756" y="3995442"/>
            <a:chExt cx="1548765" cy="1104900"/>
          </a:xfrm>
        </p:grpSpPr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24746" y="4669793"/>
              <a:ext cx="537586" cy="430069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398756" y="3995442"/>
              <a:ext cx="1548765" cy="650240"/>
            </a:xfrm>
            <a:custGeom>
              <a:avLst/>
              <a:gdLst/>
              <a:ahLst/>
              <a:cxnLst/>
              <a:rect l="l" t="t" r="r" b="b"/>
              <a:pathLst>
                <a:path w="1548764" h="650239">
                  <a:moveTo>
                    <a:pt x="1548365" y="0"/>
                  </a:moveTo>
                  <a:lnTo>
                    <a:pt x="0" y="0"/>
                  </a:lnTo>
                  <a:lnTo>
                    <a:pt x="0" y="650218"/>
                  </a:lnTo>
                  <a:lnTo>
                    <a:pt x="1548365" y="650218"/>
                  </a:lnTo>
                  <a:lnTo>
                    <a:pt x="1548365" y="0"/>
                  </a:lnTo>
                  <a:close/>
                </a:path>
              </a:pathLst>
            </a:custGeom>
            <a:solidFill>
              <a:srgbClr val="C9DA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78250" y="3813726"/>
            <a:ext cx="29718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25" dirty="0">
                <a:solidFill>
                  <a:srgbClr val="1155CC"/>
                </a:solidFill>
                <a:latin typeface="Arial"/>
                <a:cs typeface="Arial"/>
              </a:rPr>
              <a:t>Mac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18" name="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87667" y="4157138"/>
            <a:ext cx="243260" cy="277957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398756" y="3995442"/>
            <a:ext cx="1548765" cy="650240"/>
          </a:xfrm>
          <a:prstGeom prst="rect">
            <a:avLst/>
          </a:prstGeom>
        </p:spPr>
        <p:txBody>
          <a:bodyPr vert="horz" wrap="square" lIns="0" tIns="126364" rIns="0" bIns="0" rtlCol="0">
            <a:spAutoFit/>
          </a:bodyPr>
          <a:lstStyle/>
          <a:p>
            <a:pPr marL="704215" marR="332105">
              <a:lnSpc>
                <a:spcPct val="100000"/>
              </a:lnSpc>
              <a:spcBef>
                <a:spcPts val="994"/>
              </a:spcBef>
            </a:pPr>
            <a:r>
              <a:rPr sz="1100" b="1" spc="-10" dirty="0">
                <a:solidFill>
                  <a:srgbClr val="1C4587"/>
                </a:solidFill>
                <a:latin typeface="Arial"/>
                <a:cs typeface="Arial"/>
              </a:rPr>
              <a:t>Node.js Python</a:t>
            </a:r>
            <a:endParaRPr sz="1100">
              <a:latin typeface="Arial"/>
              <a:cs typeface="Arial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spc="-25" dirty="0"/>
              <a:t>41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286333" y="5496739"/>
            <a:ext cx="243014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Arial"/>
                <a:cs typeface="Arial"/>
              </a:rPr>
              <a:t>OS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Specific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installation</a:t>
            </a:r>
            <a:r>
              <a:rPr sz="1600" b="1" spc="-40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in </a:t>
            </a:r>
            <a:r>
              <a:rPr sz="1600" dirty="0">
                <a:latin typeface="Arial"/>
                <a:cs typeface="Arial"/>
              </a:rPr>
              <a:t>every</a:t>
            </a:r>
            <a:r>
              <a:rPr sz="1600" spc="-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developer</a:t>
            </a:r>
            <a:r>
              <a:rPr sz="1600" spc="-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machine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Software</a:t>
            </a:r>
            <a:r>
              <a:rPr spc="-50" dirty="0"/>
              <a:t> </a:t>
            </a:r>
            <a:r>
              <a:rPr dirty="0"/>
              <a:t>Development</a:t>
            </a:r>
            <a:r>
              <a:rPr spc="-55" dirty="0"/>
              <a:t> </a:t>
            </a:r>
            <a:r>
              <a:rPr dirty="0"/>
              <a:t>Workflow</a:t>
            </a:r>
            <a:r>
              <a:rPr spc="-45" dirty="0"/>
              <a:t> </a:t>
            </a:r>
            <a:r>
              <a:rPr dirty="0"/>
              <a:t>(no</a:t>
            </a:r>
            <a:r>
              <a:rPr spc="-50" dirty="0"/>
              <a:t> </a:t>
            </a:r>
            <a:r>
              <a:rPr spc="-10" dirty="0"/>
              <a:t>Docker)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226415" y="2621304"/>
            <a:ext cx="1763395" cy="577215"/>
            <a:chOff x="3226415" y="2621304"/>
            <a:chExt cx="1763395" cy="577215"/>
          </a:xfrm>
        </p:grpSpPr>
        <p:sp>
          <p:nvSpPr>
            <p:cNvPr id="4" name="object 4"/>
            <p:cNvSpPr/>
            <p:nvPr/>
          </p:nvSpPr>
          <p:spPr>
            <a:xfrm>
              <a:off x="3235941" y="2630831"/>
              <a:ext cx="1744345" cy="558165"/>
            </a:xfrm>
            <a:custGeom>
              <a:avLst/>
              <a:gdLst/>
              <a:ahLst/>
              <a:cxnLst/>
              <a:rect l="l" t="t" r="r" b="b"/>
              <a:pathLst>
                <a:path w="1744345" h="558164">
                  <a:moveTo>
                    <a:pt x="1743956" y="0"/>
                  </a:moveTo>
                  <a:lnTo>
                    <a:pt x="0" y="0"/>
                  </a:lnTo>
                  <a:lnTo>
                    <a:pt x="0" y="557585"/>
                  </a:lnTo>
                  <a:lnTo>
                    <a:pt x="1743956" y="557585"/>
                  </a:lnTo>
                  <a:lnTo>
                    <a:pt x="1743956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235940" y="2630829"/>
              <a:ext cx="1744345" cy="558165"/>
            </a:xfrm>
            <a:custGeom>
              <a:avLst/>
              <a:gdLst/>
              <a:ahLst/>
              <a:cxnLst/>
              <a:rect l="l" t="t" r="r" b="b"/>
              <a:pathLst>
                <a:path w="1744345" h="558164">
                  <a:moveTo>
                    <a:pt x="0" y="557587"/>
                  </a:moveTo>
                  <a:lnTo>
                    <a:pt x="0" y="0"/>
                  </a:lnTo>
                  <a:lnTo>
                    <a:pt x="1330607" y="0"/>
                  </a:lnTo>
                  <a:lnTo>
                    <a:pt x="1743957" y="0"/>
                  </a:lnTo>
                  <a:lnTo>
                    <a:pt x="1743957" y="557587"/>
                  </a:lnTo>
                  <a:lnTo>
                    <a:pt x="0" y="557587"/>
                  </a:lnTo>
                  <a:close/>
                </a:path>
              </a:pathLst>
            </a:custGeom>
            <a:ln w="19049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438935" y="2774877"/>
            <a:ext cx="1261745" cy="278130"/>
          </a:xfrm>
          <a:prstGeom prst="rect">
            <a:avLst/>
          </a:prstGeom>
          <a:solidFill>
            <a:srgbClr val="FFFFFF"/>
          </a:solidFill>
          <a:ln w="9524">
            <a:solidFill>
              <a:srgbClr val="595959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393065">
              <a:lnSpc>
                <a:spcPct val="100000"/>
              </a:lnSpc>
              <a:spcBef>
                <a:spcPts val="330"/>
              </a:spcBef>
            </a:pPr>
            <a:r>
              <a:rPr sz="1200" spc="-10" dirty="0">
                <a:latin typeface="Arial"/>
                <a:cs typeface="Arial"/>
              </a:rPr>
              <a:t>GitHub</a:t>
            </a:r>
            <a:endParaRPr sz="12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48740" y="2401954"/>
            <a:ext cx="103378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434343"/>
                </a:solidFill>
                <a:latin typeface="Arial"/>
                <a:cs typeface="Arial"/>
              </a:rPr>
              <a:t>Source</a:t>
            </a:r>
            <a:r>
              <a:rPr sz="1100" b="1" spc="-55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434343"/>
                </a:solidFill>
                <a:latin typeface="Arial"/>
                <a:cs typeface="Arial"/>
              </a:rPr>
              <a:t>Control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7512" y="1917550"/>
            <a:ext cx="537586" cy="430055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350591" y="1217918"/>
            <a:ext cx="1682750" cy="650240"/>
          </a:xfrm>
          <a:custGeom>
            <a:avLst/>
            <a:gdLst/>
            <a:ahLst/>
            <a:cxnLst/>
            <a:rect l="l" t="t" r="r" b="b"/>
            <a:pathLst>
              <a:path w="1682750" h="650239">
                <a:moveTo>
                  <a:pt x="1682428" y="0"/>
                </a:moveTo>
                <a:lnTo>
                  <a:pt x="0" y="0"/>
                </a:lnTo>
                <a:lnTo>
                  <a:pt x="0" y="650218"/>
                </a:lnTo>
                <a:lnTo>
                  <a:pt x="1682428" y="650218"/>
                </a:lnTo>
                <a:lnTo>
                  <a:pt x="1682428" y="0"/>
                </a:lnTo>
                <a:close/>
              </a:path>
            </a:pathLst>
          </a:custGeom>
          <a:solidFill>
            <a:srgbClr val="D9EAD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30085" y="1036201"/>
            <a:ext cx="63690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solidFill>
                  <a:srgbClr val="38761D"/>
                </a:solidFill>
                <a:latin typeface="Arial"/>
                <a:cs typeface="Arial"/>
              </a:rPr>
              <a:t>Windows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7667" y="1374797"/>
            <a:ext cx="243260" cy="277961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350591" y="1217918"/>
            <a:ext cx="1682750" cy="650240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751840" marR="417830">
              <a:lnSpc>
                <a:spcPct val="100000"/>
              </a:lnSpc>
              <a:spcBef>
                <a:spcPts val="955"/>
              </a:spcBef>
            </a:pPr>
            <a:r>
              <a:rPr sz="1100" b="1" spc="-10" dirty="0">
                <a:solidFill>
                  <a:srgbClr val="274E13"/>
                </a:solidFill>
                <a:latin typeface="Arial"/>
                <a:cs typeface="Arial"/>
              </a:rPr>
              <a:t>Node.js Python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80223" y="2622525"/>
            <a:ext cx="1585595" cy="1097915"/>
            <a:chOff x="380223" y="2622525"/>
            <a:chExt cx="1585595" cy="1097915"/>
          </a:xfrm>
        </p:grpSpPr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17512" y="3290009"/>
              <a:ext cx="537586" cy="430069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380223" y="2622525"/>
              <a:ext cx="1585595" cy="650240"/>
            </a:xfrm>
            <a:custGeom>
              <a:avLst/>
              <a:gdLst/>
              <a:ahLst/>
              <a:cxnLst/>
              <a:rect l="l" t="t" r="r" b="b"/>
              <a:pathLst>
                <a:path w="1585595" h="650239">
                  <a:moveTo>
                    <a:pt x="1585412" y="0"/>
                  </a:moveTo>
                  <a:lnTo>
                    <a:pt x="0" y="0"/>
                  </a:lnTo>
                  <a:lnTo>
                    <a:pt x="0" y="650218"/>
                  </a:lnTo>
                  <a:lnTo>
                    <a:pt x="1585412" y="650218"/>
                  </a:lnTo>
                  <a:lnTo>
                    <a:pt x="1585412" y="0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359717" y="2440809"/>
            <a:ext cx="39751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solidFill>
                  <a:srgbClr val="990000"/>
                </a:solidFill>
                <a:latin typeface="Arial"/>
                <a:cs typeface="Arial"/>
              </a:rPr>
              <a:t>Linux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17" name="object 1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87667" y="2724226"/>
            <a:ext cx="243260" cy="277985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380223" y="2622525"/>
            <a:ext cx="1585595" cy="650240"/>
          </a:xfrm>
          <a:prstGeom prst="rect">
            <a:avLst/>
          </a:prstGeom>
        </p:spPr>
        <p:txBody>
          <a:bodyPr vert="horz" wrap="square" lIns="0" tIns="138430" rIns="0" bIns="0" rtlCol="0">
            <a:spAutoFit/>
          </a:bodyPr>
          <a:lstStyle/>
          <a:p>
            <a:pPr marL="722630" marR="350520">
              <a:lnSpc>
                <a:spcPct val="100000"/>
              </a:lnSpc>
              <a:spcBef>
                <a:spcPts val="1090"/>
              </a:spcBef>
            </a:pPr>
            <a:r>
              <a:rPr sz="1100" b="1" spc="-10" dirty="0">
                <a:solidFill>
                  <a:srgbClr val="990000"/>
                </a:solidFill>
                <a:latin typeface="Arial"/>
                <a:cs typeface="Arial"/>
              </a:rPr>
              <a:t>Node.js Python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98756" y="3995442"/>
            <a:ext cx="1548765" cy="1104900"/>
            <a:chOff x="398756" y="3995442"/>
            <a:chExt cx="1548765" cy="1104900"/>
          </a:xfrm>
        </p:grpSpPr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24746" y="4669793"/>
              <a:ext cx="537586" cy="430069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398756" y="3995442"/>
              <a:ext cx="1548765" cy="650240"/>
            </a:xfrm>
            <a:custGeom>
              <a:avLst/>
              <a:gdLst/>
              <a:ahLst/>
              <a:cxnLst/>
              <a:rect l="l" t="t" r="r" b="b"/>
              <a:pathLst>
                <a:path w="1548764" h="650239">
                  <a:moveTo>
                    <a:pt x="1548365" y="0"/>
                  </a:moveTo>
                  <a:lnTo>
                    <a:pt x="0" y="0"/>
                  </a:lnTo>
                  <a:lnTo>
                    <a:pt x="0" y="650218"/>
                  </a:lnTo>
                  <a:lnTo>
                    <a:pt x="1548365" y="650218"/>
                  </a:lnTo>
                  <a:lnTo>
                    <a:pt x="1548365" y="0"/>
                  </a:lnTo>
                  <a:close/>
                </a:path>
              </a:pathLst>
            </a:custGeom>
            <a:solidFill>
              <a:srgbClr val="C9DA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378250" y="3813726"/>
            <a:ext cx="29718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25" dirty="0">
                <a:solidFill>
                  <a:srgbClr val="1155CC"/>
                </a:solidFill>
                <a:latin typeface="Arial"/>
                <a:cs typeface="Arial"/>
              </a:rPr>
              <a:t>Mac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23" name="object 2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87667" y="4157138"/>
            <a:ext cx="243260" cy="277957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398756" y="3995442"/>
            <a:ext cx="1548765" cy="650240"/>
          </a:xfrm>
          <a:prstGeom prst="rect">
            <a:avLst/>
          </a:prstGeom>
        </p:spPr>
        <p:txBody>
          <a:bodyPr vert="horz" wrap="square" lIns="0" tIns="126364" rIns="0" bIns="0" rtlCol="0">
            <a:spAutoFit/>
          </a:bodyPr>
          <a:lstStyle/>
          <a:p>
            <a:pPr marL="704215" marR="332105">
              <a:lnSpc>
                <a:spcPct val="100000"/>
              </a:lnSpc>
              <a:spcBef>
                <a:spcPts val="994"/>
              </a:spcBef>
            </a:pPr>
            <a:r>
              <a:rPr sz="1100" b="1" spc="-10" dirty="0">
                <a:solidFill>
                  <a:srgbClr val="1C4587"/>
                </a:solidFill>
                <a:latin typeface="Arial"/>
                <a:cs typeface="Arial"/>
              </a:rPr>
              <a:t>Node.js Python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2350504" y="2819269"/>
            <a:ext cx="541020" cy="275590"/>
            <a:chOff x="2350504" y="2819269"/>
            <a:chExt cx="541020" cy="275590"/>
          </a:xfrm>
        </p:grpSpPr>
        <p:sp>
          <p:nvSpPr>
            <p:cNvPr id="26" name="object 26"/>
            <p:cNvSpPr/>
            <p:nvPr/>
          </p:nvSpPr>
          <p:spPr>
            <a:xfrm>
              <a:off x="2355267" y="2824032"/>
              <a:ext cx="531495" cy="266065"/>
            </a:xfrm>
            <a:custGeom>
              <a:avLst/>
              <a:gdLst/>
              <a:ahLst/>
              <a:cxnLst/>
              <a:rect l="l" t="t" r="r" b="b"/>
              <a:pathLst>
                <a:path w="531494" h="266064">
                  <a:moveTo>
                    <a:pt x="398550" y="0"/>
                  </a:moveTo>
                  <a:lnTo>
                    <a:pt x="398550" y="66375"/>
                  </a:lnTo>
                  <a:lnTo>
                    <a:pt x="0" y="66375"/>
                  </a:lnTo>
                  <a:lnTo>
                    <a:pt x="0" y="199125"/>
                  </a:lnTo>
                  <a:lnTo>
                    <a:pt x="398550" y="199125"/>
                  </a:lnTo>
                  <a:lnTo>
                    <a:pt x="398550" y="265501"/>
                  </a:lnTo>
                  <a:lnTo>
                    <a:pt x="531299" y="132750"/>
                  </a:lnTo>
                  <a:lnTo>
                    <a:pt x="398550" y="0"/>
                  </a:lnTo>
                  <a:close/>
                </a:path>
              </a:pathLst>
            </a:custGeom>
            <a:solidFill>
              <a:srgbClr val="EEEC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355266" y="2824032"/>
              <a:ext cx="531495" cy="266065"/>
            </a:xfrm>
            <a:custGeom>
              <a:avLst/>
              <a:gdLst/>
              <a:ahLst/>
              <a:cxnLst/>
              <a:rect l="l" t="t" r="r" b="b"/>
              <a:pathLst>
                <a:path w="531494" h="266064">
                  <a:moveTo>
                    <a:pt x="0" y="66374"/>
                  </a:moveTo>
                  <a:lnTo>
                    <a:pt x="398550" y="66374"/>
                  </a:lnTo>
                  <a:lnTo>
                    <a:pt x="398550" y="0"/>
                  </a:lnTo>
                  <a:lnTo>
                    <a:pt x="531300" y="132749"/>
                  </a:lnTo>
                  <a:lnTo>
                    <a:pt x="398550" y="265499"/>
                  </a:lnTo>
                  <a:lnTo>
                    <a:pt x="398550" y="199124"/>
                  </a:lnTo>
                  <a:lnTo>
                    <a:pt x="0" y="199124"/>
                  </a:lnTo>
                  <a:lnTo>
                    <a:pt x="0" y="66374"/>
                  </a:lnTo>
                  <a:close/>
                </a:path>
              </a:pathLst>
            </a:custGeom>
            <a:ln w="9524">
              <a:solidFill>
                <a:srgbClr val="1F49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286333" y="5496739"/>
            <a:ext cx="243014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Arial"/>
                <a:cs typeface="Arial"/>
              </a:rPr>
              <a:t>OS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Specific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4F81BD"/>
                </a:solidFill>
                <a:latin typeface="Arial"/>
                <a:cs typeface="Arial"/>
              </a:rPr>
              <a:t>installation</a:t>
            </a:r>
            <a:r>
              <a:rPr sz="1600" b="1" spc="-40" dirty="0">
                <a:solidFill>
                  <a:srgbClr val="4F81BD"/>
                </a:solidFill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in </a:t>
            </a:r>
            <a:r>
              <a:rPr sz="1600" dirty="0">
                <a:latin typeface="Arial"/>
                <a:cs typeface="Arial"/>
              </a:rPr>
              <a:t>every</a:t>
            </a:r>
            <a:r>
              <a:rPr sz="1600" spc="-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developer</a:t>
            </a:r>
            <a:r>
              <a:rPr sz="1600" spc="-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machine</a:t>
            </a:r>
            <a:endParaRPr sz="1600">
              <a:latin typeface="Arial"/>
              <a:cs typeface="Arial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spc="-25" dirty="0"/>
              <a:t>42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2938666" y="3671105"/>
            <a:ext cx="250888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Arial"/>
                <a:cs typeface="Arial"/>
              </a:rPr>
              <a:t>Every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team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member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moves </a:t>
            </a:r>
            <a:r>
              <a:rPr sz="1600" dirty="0">
                <a:latin typeface="Arial"/>
                <a:cs typeface="Arial"/>
              </a:rPr>
              <a:t>code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to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source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control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Software</a:t>
            </a:r>
            <a:r>
              <a:rPr spc="-50" dirty="0"/>
              <a:t> </a:t>
            </a:r>
            <a:r>
              <a:rPr dirty="0"/>
              <a:t>Development</a:t>
            </a:r>
            <a:r>
              <a:rPr spc="-55" dirty="0"/>
              <a:t> </a:t>
            </a:r>
            <a:r>
              <a:rPr dirty="0"/>
              <a:t>Workflow</a:t>
            </a:r>
            <a:r>
              <a:rPr spc="-45" dirty="0"/>
              <a:t> </a:t>
            </a:r>
            <a:r>
              <a:rPr dirty="0"/>
              <a:t>(no</a:t>
            </a:r>
            <a:r>
              <a:rPr spc="-50" dirty="0"/>
              <a:t> </a:t>
            </a:r>
            <a:r>
              <a:rPr spc="-10" dirty="0"/>
              <a:t>Docker)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226415" y="2621304"/>
            <a:ext cx="1763395" cy="577215"/>
            <a:chOff x="3226415" y="2621304"/>
            <a:chExt cx="1763395" cy="577215"/>
          </a:xfrm>
        </p:grpSpPr>
        <p:sp>
          <p:nvSpPr>
            <p:cNvPr id="4" name="object 4"/>
            <p:cNvSpPr/>
            <p:nvPr/>
          </p:nvSpPr>
          <p:spPr>
            <a:xfrm>
              <a:off x="3235941" y="2630831"/>
              <a:ext cx="1744345" cy="558165"/>
            </a:xfrm>
            <a:custGeom>
              <a:avLst/>
              <a:gdLst/>
              <a:ahLst/>
              <a:cxnLst/>
              <a:rect l="l" t="t" r="r" b="b"/>
              <a:pathLst>
                <a:path w="1744345" h="558164">
                  <a:moveTo>
                    <a:pt x="1743956" y="0"/>
                  </a:moveTo>
                  <a:lnTo>
                    <a:pt x="0" y="0"/>
                  </a:lnTo>
                  <a:lnTo>
                    <a:pt x="0" y="557585"/>
                  </a:lnTo>
                  <a:lnTo>
                    <a:pt x="1743956" y="557585"/>
                  </a:lnTo>
                  <a:lnTo>
                    <a:pt x="1743956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235940" y="2630829"/>
              <a:ext cx="1744345" cy="558165"/>
            </a:xfrm>
            <a:custGeom>
              <a:avLst/>
              <a:gdLst/>
              <a:ahLst/>
              <a:cxnLst/>
              <a:rect l="l" t="t" r="r" b="b"/>
              <a:pathLst>
                <a:path w="1744345" h="558164">
                  <a:moveTo>
                    <a:pt x="0" y="557587"/>
                  </a:moveTo>
                  <a:lnTo>
                    <a:pt x="0" y="0"/>
                  </a:lnTo>
                  <a:lnTo>
                    <a:pt x="1330607" y="0"/>
                  </a:lnTo>
                  <a:lnTo>
                    <a:pt x="1743957" y="0"/>
                  </a:lnTo>
                  <a:lnTo>
                    <a:pt x="1743957" y="557587"/>
                  </a:lnTo>
                  <a:lnTo>
                    <a:pt x="0" y="557587"/>
                  </a:lnTo>
                  <a:close/>
                </a:path>
              </a:pathLst>
            </a:custGeom>
            <a:ln w="19049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438935" y="2774877"/>
            <a:ext cx="1261745" cy="278130"/>
          </a:xfrm>
          <a:prstGeom prst="rect">
            <a:avLst/>
          </a:prstGeom>
          <a:solidFill>
            <a:srgbClr val="FFFFFF"/>
          </a:solidFill>
          <a:ln w="9524">
            <a:solidFill>
              <a:srgbClr val="595959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393065">
              <a:lnSpc>
                <a:spcPct val="100000"/>
              </a:lnSpc>
              <a:spcBef>
                <a:spcPts val="330"/>
              </a:spcBef>
            </a:pPr>
            <a:r>
              <a:rPr sz="1200" spc="-10" dirty="0">
                <a:latin typeface="Arial"/>
                <a:cs typeface="Arial"/>
              </a:rPr>
              <a:t>GitHub</a:t>
            </a:r>
            <a:endParaRPr sz="12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48740" y="2401954"/>
            <a:ext cx="103378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434343"/>
                </a:solidFill>
                <a:latin typeface="Arial"/>
                <a:cs typeface="Arial"/>
              </a:rPr>
              <a:t>Source</a:t>
            </a:r>
            <a:r>
              <a:rPr sz="1100" b="1" spc="-55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434343"/>
                </a:solidFill>
                <a:latin typeface="Arial"/>
                <a:cs typeface="Arial"/>
              </a:rPr>
              <a:t>Control</a:t>
            </a:r>
            <a:endParaRPr sz="11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464871" y="2151053"/>
            <a:ext cx="84772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434343"/>
                </a:solidFill>
                <a:latin typeface="Arial"/>
                <a:cs typeface="Arial"/>
              </a:rPr>
              <a:t>Build</a:t>
            </a:r>
            <a:r>
              <a:rPr sz="1100" b="1" spc="-40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434343"/>
                </a:solidFill>
                <a:latin typeface="Arial"/>
                <a:cs typeface="Arial"/>
              </a:rPr>
              <a:t>Server</a:t>
            </a:r>
            <a:endParaRPr sz="11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574835" y="2657121"/>
            <a:ext cx="848994" cy="650240"/>
          </a:xfrm>
          <a:custGeom>
            <a:avLst/>
            <a:gdLst/>
            <a:ahLst/>
            <a:cxnLst/>
            <a:rect l="l" t="t" r="r" b="b"/>
            <a:pathLst>
              <a:path w="848995" h="650239">
                <a:moveTo>
                  <a:pt x="848786" y="0"/>
                </a:moveTo>
                <a:lnTo>
                  <a:pt x="0" y="0"/>
                </a:lnTo>
                <a:lnTo>
                  <a:pt x="0" y="650218"/>
                </a:lnTo>
                <a:lnTo>
                  <a:pt x="848786" y="650218"/>
                </a:lnTo>
                <a:lnTo>
                  <a:pt x="848786" y="0"/>
                </a:lnTo>
                <a:close/>
              </a:path>
            </a:pathLst>
          </a:custGeom>
          <a:solidFill>
            <a:srgbClr val="F4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426272" y="2343064"/>
            <a:ext cx="1193800" cy="1166495"/>
          </a:xfrm>
          <a:prstGeom prst="rect">
            <a:avLst/>
          </a:prstGeom>
          <a:ln w="9524">
            <a:solidFill>
              <a:srgbClr val="595959"/>
            </a:solidFill>
          </a:ln>
        </p:spPr>
        <p:txBody>
          <a:bodyPr vert="horz" wrap="square" lIns="0" tIns="144780" rIns="0" bIns="0" rtlCol="0">
            <a:spAutoFit/>
          </a:bodyPr>
          <a:lstStyle/>
          <a:p>
            <a:pPr marL="140335">
              <a:lnSpc>
                <a:spcPct val="100000"/>
              </a:lnSpc>
              <a:spcBef>
                <a:spcPts val="1140"/>
              </a:spcBef>
            </a:pPr>
            <a:r>
              <a:rPr sz="1100" b="1" spc="-10" dirty="0">
                <a:solidFill>
                  <a:srgbClr val="990000"/>
                </a:solidFill>
                <a:latin typeface="Arial"/>
                <a:cs typeface="Arial"/>
              </a:rPr>
              <a:t>Linux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7512" y="1917550"/>
            <a:ext cx="537586" cy="430055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350591" y="1217918"/>
            <a:ext cx="1682750" cy="650240"/>
          </a:xfrm>
          <a:custGeom>
            <a:avLst/>
            <a:gdLst/>
            <a:ahLst/>
            <a:cxnLst/>
            <a:rect l="l" t="t" r="r" b="b"/>
            <a:pathLst>
              <a:path w="1682750" h="650239">
                <a:moveTo>
                  <a:pt x="1682428" y="0"/>
                </a:moveTo>
                <a:lnTo>
                  <a:pt x="0" y="0"/>
                </a:lnTo>
                <a:lnTo>
                  <a:pt x="0" y="650218"/>
                </a:lnTo>
                <a:lnTo>
                  <a:pt x="1682428" y="650218"/>
                </a:lnTo>
                <a:lnTo>
                  <a:pt x="1682428" y="0"/>
                </a:lnTo>
                <a:close/>
              </a:path>
            </a:pathLst>
          </a:custGeom>
          <a:solidFill>
            <a:srgbClr val="D9EAD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330085" y="1036201"/>
            <a:ext cx="63690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solidFill>
                  <a:srgbClr val="38761D"/>
                </a:solidFill>
                <a:latin typeface="Arial"/>
                <a:cs typeface="Arial"/>
              </a:rPr>
              <a:t>Windows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7667" y="1374797"/>
            <a:ext cx="243260" cy="277961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350591" y="1217918"/>
            <a:ext cx="1682750" cy="650240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751840" marR="417830">
              <a:lnSpc>
                <a:spcPct val="100000"/>
              </a:lnSpc>
              <a:spcBef>
                <a:spcPts val="955"/>
              </a:spcBef>
            </a:pPr>
            <a:r>
              <a:rPr sz="1100" b="1" spc="-10" dirty="0">
                <a:solidFill>
                  <a:srgbClr val="274E13"/>
                </a:solidFill>
                <a:latin typeface="Arial"/>
                <a:cs typeface="Arial"/>
              </a:rPr>
              <a:t>Node.js Python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80223" y="2622525"/>
            <a:ext cx="1585595" cy="1097915"/>
            <a:chOff x="380223" y="2622525"/>
            <a:chExt cx="1585595" cy="1097915"/>
          </a:xfrm>
        </p:grpSpPr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17512" y="3290009"/>
              <a:ext cx="537586" cy="430069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380223" y="2622525"/>
              <a:ext cx="1585595" cy="650240"/>
            </a:xfrm>
            <a:custGeom>
              <a:avLst/>
              <a:gdLst/>
              <a:ahLst/>
              <a:cxnLst/>
              <a:rect l="l" t="t" r="r" b="b"/>
              <a:pathLst>
                <a:path w="1585595" h="650239">
                  <a:moveTo>
                    <a:pt x="1585412" y="0"/>
                  </a:moveTo>
                  <a:lnTo>
                    <a:pt x="0" y="0"/>
                  </a:lnTo>
                  <a:lnTo>
                    <a:pt x="0" y="650218"/>
                  </a:lnTo>
                  <a:lnTo>
                    <a:pt x="1585412" y="650218"/>
                  </a:lnTo>
                  <a:lnTo>
                    <a:pt x="1585412" y="0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359717" y="2440809"/>
            <a:ext cx="39751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solidFill>
                  <a:srgbClr val="990000"/>
                </a:solidFill>
                <a:latin typeface="Arial"/>
                <a:cs typeface="Arial"/>
              </a:rPr>
              <a:t>Linux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20" name="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87667" y="2724226"/>
            <a:ext cx="243260" cy="277985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380223" y="2622525"/>
            <a:ext cx="1585595" cy="650240"/>
          </a:xfrm>
          <a:prstGeom prst="rect">
            <a:avLst/>
          </a:prstGeom>
        </p:spPr>
        <p:txBody>
          <a:bodyPr vert="horz" wrap="square" lIns="0" tIns="138430" rIns="0" bIns="0" rtlCol="0">
            <a:spAutoFit/>
          </a:bodyPr>
          <a:lstStyle/>
          <a:p>
            <a:pPr marL="722630" marR="350520">
              <a:lnSpc>
                <a:spcPct val="100000"/>
              </a:lnSpc>
              <a:spcBef>
                <a:spcPts val="1090"/>
              </a:spcBef>
            </a:pPr>
            <a:r>
              <a:rPr sz="1100" b="1" spc="-10" dirty="0">
                <a:solidFill>
                  <a:srgbClr val="990000"/>
                </a:solidFill>
                <a:latin typeface="Arial"/>
                <a:cs typeface="Arial"/>
              </a:rPr>
              <a:t>Node.js Python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398756" y="3995442"/>
            <a:ext cx="1548765" cy="1104900"/>
            <a:chOff x="398756" y="3995442"/>
            <a:chExt cx="1548765" cy="1104900"/>
          </a:xfrm>
        </p:grpSpPr>
        <p:pic>
          <p:nvPicPr>
            <p:cNvPr id="23" name="object 2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24746" y="4669793"/>
              <a:ext cx="537586" cy="430069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398756" y="3995442"/>
              <a:ext cx="1548765" cy="650240"/>
            </a:xfrm>
            <a:custGeom>
              <a:avLst/>
              <a:gdLst/>
              <a:ahLst/>
              <a:cxnLst/>
              <a:rect l="l" t="t" r="r" b="b"/>
              <a:pathLst>
                <a:path w="1548764" h="650239">
                  <a:moveTo>
                    <a:pt x="1548365" y="0"/>
                  </a:moveTo>
                  <a:lnTo>
                    <a:pt x="0" y="0"/>
                  </a:lnTo>
                  <a:lnTo>
                    <a:pt x="0" y="650218"/>
                  </a:lnTo>
                  <a:lnTo>
                    <a:pt x="1548365" y="650218"/>
                  </a:lnTo>
                  <a:lnTo>
                    <a:pt x="1548365" y="0"/>
                  </a:lnTo>
                  <a:close/>
                </a:path>
              </a:pathLst>
            </a:custGeom>
            <a:solidFill>
              <a:srgbClr val="C9DA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378250" y="3813726"/>
            <a:ext cx="29718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25" dirty="0">
                <a:solidFill>
                  <a:srgbClr val="1155CC"/>
                </a:solidFill>
                <a:latin typeface="Arial"/>
                <a:cs typeface="Arial"/>
              </a:rPr>
              <a:t>Mac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26" name="object 2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87667" y="4157138"/>
            <a:ext cx="243260" cy="277957"/>
          </a:xfrm>
          <a:prstGeom prst="rect">
            <a:avLst/>
          </a:prstGeom>
        </p:spPr>
      </p:pic>
      <p:sp>
        <p:nvSpPr>
          <p:cNvPr id="27" name="object 27"/>
          <p:cNvSpPr txBox="1"/>
          <p:nvPr/>
        </p:nvSpPr>
        <p:spPr>
          <a:xfrm>
            <a:off x="398756" y="3995442"/>
            <a:ext cx="1548765" cy="650240"/>
          </a:xfrm>
          <a:prstGeom prst="rect">
            <a:avLst/>
          </a:prstGeom>
        </p:spPr>
        <p:txBody>
          <a:bodyPr vert="horz" wrap="square" lIns="0" tIns="126364" rIns="0" bIns="0" rtlCol="0">
            <a:spAutoFit/>
          </a:bodyPr>
          <a:lstStyle/>
          <a:p>
            <a:pPr marL="704215" marR="332105">
              <a:lnSpc>
                <a:spcPct val="100000"/>
              </a:lnSpc>
              <a:spcBef>
                <a:spcPts val="994"/>
              </a:spcBef>
            </a:pPr>
            <a:r>
              <a:rPr sz="1100" b="1" spc="-10" dirty="0">
                <a:solidFill>
                  <a:srgbClr val="1C4587"/>
                </a:solidFill>
                <a:latin typeface="Arial"/>
                <a:cs typeface="Arial"/>
              </a:rPr>
              <a:t>Node.js Python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2350504" y="2819269"/>
            <a:ext cx="541020" cy="275590"/>
            <a:chOff x="2350504" y="2819269"/>
            <a:chExt cx="541020" cy="275590"/>
          </a:xfrm>
        </p:grpSpPr>
        <p:sp>
          <p:nvSpPr>
            <p:cNvPr id="29" name="object 29"/>
            <p:cNvSpPr/>
            <p:nvPr/>
          </p:nvSpPr>
          <p:spPr>
            <a:xfrm>
              <a:off x="2355267" y="2824032"/>
              <a:ext cx="531495" cy="266065"/>
            </a:xfrm>
            <a:custGeom>
              <a:avLst/>
              <a:gdLst/>
              <a:ahLst/>
              <a:cxnLst/>
              <a:rect l="l" t="t" r="r" b="b"/>
              <a:pathLst>
                <a:path w="531494" h="266064">
                  <a:moveTo>
                    <a:pt x="398550" y="0"/>
                  </a:moveTo>
                  <a:lnTo>
                    <a:pt x="398550" y="66375"/>
                  </a:lnTo>
                  <a:lnTo>
                    <a:pt x="0" y="66375"/>
                  </a:lnTo>
                  <a:lnTo>
                    <a:pt x="0" y="199125"/>
                  </a:lnTo>
                  <a:lnTo>
                    <a:pt x="398550" y="199125"/>
                  </a:lnTo>
                  <a:lnTo>
                    <a:pt x="398550" y="265501"/>
                  </a:lnTo>
                  <a:lnTo>
                    <a:pt x="531299" y="132750"/>
                  </a:lnTo>
                  <a:lnTo>
                    <a:pt x="398550" y="0"/>
                  </a:lnTo>
                  <a:close/>
                </a:path>
              </a:pathLst>
            </a:custGeom>
            <a:solidFill>
              <a:srgbClr val="EEEC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355266" y="2824032"/>
              <a:ext cx="531495" cy="266065"/>
            </a:xfrm>
            <a:custGeom>
              <a:avLst/>
              <a:gdLst/>
              <a:ahLst/>
              <a:cxnLst/>
              <a:rect l="l" t="t" r="r" b="b"/>
              <a:pathLst>
                <a:path w="531494" h="266064">
                  <a:moveTo>
                    <a:pt x="0" y="66374"/>
                  </a:moveTo>
                  <a:lnTo>
                    <a:pt x="398550" y="66374"/>
                  </a:lnTo>
                  <a:lnTo>
                    <a:pt x="398550" y="0"/>
                  </a:lnTo>
                  <a:lnTo>
                    <a:pt x="531300" y="132749"/>
                  </a:lnTo>
                  <a:lnTo>
                    <a:pt x="398550" y="265499"/>
                  </a:lnTo>
                  <a:lnTo>
                    <a:pt x="398550" y="199124"/>
                  </a:lnTo>
                  <a:lnTo>
                    <a:pt x="0" y="199124"/>
                  </a:lnTo>
                  <a:lnTo>
                    <a:pt x="0" y="66374"/>
                  </a:lnTo>
                  <a:close/>
                </a:path>
              </a:pathLst>
            </a:custGeom>
            <a:ln w="9524">
              <a:solidFill>
                <a:srgbClr val="1F49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286333" y="5496739"/>
            <a:ext cx="243014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Arial"/>
                <a:cs typeface="Arial"/>
              </a:rPr>
              <a:t>OS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Specific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4F81BD"/>
                </a:solidFill>
                <a:latin typeface="Arial"/>
                <a:cs typeface="Arial"/>
              </a:rPr>
              <a:t>installation</a:t>
            </a:r>
            <a:r>
              <a:rPr sz="1600" b="1" spc="-40" dirty="0">
                <a:solidFill>
                  <a:srgbClr val="4F81BD"/>
                </a:solidFill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in </a:t>
            </a:r>
            <a:r>
              <a:rPr sz="1600" dirty="0">
                <a:latin typeface="Arial"/>
                <a:cs typeface="Arial"/>
              </a:rPr>
              <a:t>every</a:t>
            </a:r>
            <a:r>
              <a:rPr sz="1600" spc="-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developer</a:t>
            </a:r>
            <a:r>
              <a:rPr sz="1600" spc="-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machine</a:t>
            </a:r>
            <a:endParaRPr sz="16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938666" y="3671105"/>
            <a:ext cx="250888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Arial"/>
                <a:cs typeface="Arial"/>
              </a:rPr>
              <a:t>Every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team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member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moves </a:t>
            </a:r>
            <a:r>
              <a:rPr sz="1600" dirty="0">
                <a:latin typeface="Arial"/>
                <a:cs typeface="Arial"/>
              </a:rPr>
              <a:t>code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to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source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control</a:t>
            </a:r>
            <a:endParaRPr sz="16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859983" y="4003539"/>
            <a:ext cx="2667635" cy="1732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4417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Arial"/>
                <a:cs typeface="Arial"/>
              </a:rPr>
              <a:t>Build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server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needs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to</a:t>
            </a:r>
            <a:r>
              <a:rPr sz="1600" spc="-25" dirty="0">
                <a:latin typeface="Arial"/>
                <a:cs typeface="Arial"/>
              </a:rPr>
              <a:t> be </a:t>
            </a:r>
            <a:r>
              <a:rPr sz="1600" b="1" dirty="0">
                <a:solidFill>
                  <a:srgbClr val="4F81BD"/>
                </a:solidFill>
                <a:latin typeface="Arial"/>
                <a:cs typeface="Arial"/>
              </a:rPr>
              <a:t>installed</a:t>
            </a:r>
            <a:r>
              <a:rPr sz="1600" b="1" spc="-30" dirty="0">
                <a:solidFill>
                  <a:srgbClr val="4F81BD"/>
                </a:solidFill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with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all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required software/frameworks</a:t>
            </a:r>
            <a:endParaRPr sz="1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600" dirty="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sz="1600" dirty="0">
                <a:latin typeface="Arial"/>
                <a:cs typeface="Arial"/>
              </a:rPr>
              <a:t>Production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build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is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performed </a:t>
            </a:r>
            <a:r>
              <a:rPr sz="1600" dirty="0">
                <a:latin typeface="Arial"/>
                <a:cs typeface="Arial"/>
              </a:rPr>
              <a:t>by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pulling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code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from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source control</a:t>
            </a:r>
            <a:endParaRPr sz="1600" dirty="0">
              <a:latin typeface="Arial"/>
              <a:cs typeface="Arial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5503237" y="2786770"/>
            <a:ext cx="541020" cy="275590"/>
            <a:chOff x="5503237" y="2786770"/>
            <a:chExt cx="541020" cy="275590"/>
          </a:xfrm>
        </p:grpSpPr>
        <p:sp>
          <p:nvSpPr>
            <p:cNvPr id="35" name="object 35"/>
            <p:cNvSpPr/>
            <p:nvPr/>
          </p:nvSpPr>
          <p:spPr>
            <a:xfrm>
              <a:off x="5508000" y="2791533"/>
              <a:ext cx="531495" cy="266065"/>
            </a:xfrm>
            <a:custGeom>
              <a:avLst/>
              <a:gdLst/>
              <a:ahLst/>
              <a:cxnLst/>
              <a:rect l="l" t="t" r="r" b="b"/>
              <a:pathLst>
                <a:path w="531495" h="266064">
                  <a:moveTo>
                    <a:pt x="398550" y="0"/>
                  </a:moveTo>
                  <a:lnTo>
                    <a:pt x="398550" y="66375"/>
                  </a:lnTo>
                  <a:lnTo>
                    <a:pt x="0" y="66375"/>
                  </a:lnTo>
                  <a:lnTo>
                    <a:pt x="0" y="199124"/>
                  </a:lnTo>
                  <a:lnTo>
                    <a:pt x="398550" y="199124"/>
                  </a:lnTo>
                  <a:lnTo>
                    <a:pt x="398550" y="265499"/>
                  </a:lnTo>
                  <a:lnTo>
                    <a:pt x="531299" y="132749"/>
                  </a:lnTo>
                  <a:lnTo>
                    <a:pt x="398550" y="0"/>
                  </a:lnTo>
                  <a:close/>
                </a:path>
              </a:pathLst>
            </a:custGeom>
            <a:solidFill>
              <a:srgbClr val="EEEC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5507999" y="2791532"/>
              <a:ext cx="531495" cy="266065"/>
            </a:xfrm>
            <a:custGeom>
              <a:avLst/>
              <a:gdLst/>
              <a:ahLst/>
              <a:cxnLst/>
              <a:rect l="l" t="t" r="r" b="b"/>
              <a:pathLst>
                <a:path w="531495" h="266064">
                  <a:moveTo>
                    <a:pt x="0" y="66374"/>
                  </a:moveTo>
                  <a:lnTo>
                    <a:pt x="398549" y="66374"/>
                  </a:lnTo>
                  <a:lnTo>
                    <a:pt x="398549" y="0"/>
                  </a:lnTo>
                  <a:lnTo>
                    <a:pt x="531299" y="132749"/>
                  </a:lnTo>
                  <a:lnTo>
                    <a:pt x="398549" y="265499"/>
                  </a:lnTo>
                  <a:lnTo>
                    <a:pt x="398549" y="199124"/>
                  </a:lnTo>
                  <a:lnTo>
                    <a:pt x="0" y="199124"/>
                  </a:lnTo>
                  <a:lnTo>
                    <a:pt x="0" y="66374"/>
                  </a:lnTo>
                  <a:close/>
                </a:path>
              </a:pathLst>
            </a:custGeom>
            <a:ln w="9524">
              <a:solidFill>
                <a:srgbClr val="1F49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spc="-25" dirty="0"/>
              <a:t>43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Software</a:t>
            </a:r>
            <a:r>
              <a:rPr spc="-50" dirty="0"/>
              <a:t> </a:t>
            </a:r>
            <a:r>
              <a:rPr dirty="0"/>
              <a:t>Development</a:t>
            </a:r>
            <a:r>
              <a:rPr spc="-55" dirty="0"/>
              <a:t> </a:t>
            </a:r>
            <a:r>
              <a:rPr dirty="0"/>
              <a:t>Workflow</a:t>
            </a:r>
            <a:r>
              <a:rPr spc="-45" dirty="0"/>
              <a:t> </a:t>
            </a:r>
            <a:r>
              <a:rPr dirty="0"/>
              <a:t>(no</a:t>
            </a:r>
            <a:r>
              <a:rPr spc="-50" dirty="0"/>
              <a:t> </a:t>
            </a:r>
            <a:r>
              <a:rPr spc="-10" dirty="0"/>
              <a:t>Docker)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226415" y="2621304"/>
            <a:ext cx="1763395" cy="577215"/>
            <a:chOff x="3226415" y="2621304"/>
            <a:chExt cx="1763395" cy="577215"/>
          </a:xfrm>
        </p:grpSpPr>
        <p:sp>
          <p:nvSpPr>
            <p:cNvPr id="4" name="object 4"/>
            <p:cNvSpPr/>
            <p:nvPr/>
          </p:nvSpPr>
          <p:spPr>
            <a:xfrm>
              <a:off x="3235941" y="2630831"/>
              <a:ext cx="1744345" cy="558165"/>
            </a:xfrm>
            <a:custGeom>
              <a:avLst/>
              <a:gdLst/>
              <a:ahLst/>
              <a:cxnLst/>
              <a:rect l="l" t="t" r="r" b="b"/>
              <a:pathLst>
                <a:path w="1744345" h="558164">
                  <a:moveTo>
                    <a:pt x="1743956" y="0"/>
                  </a:moveTo>
                  <a:lnTo>
                    <a:pt x="0" y="0"/>
                  </a:lnTo>
                  <a:lnTo>
                    <a:pt x="0" y="557585"/>
                  </a:lnTo>
                  <a:lnTo>
                    <a:pt x="1743956" y="557585"/>
                  </a:lnTo>
                  <a:lnTo>
                    <a:pt x="1743956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235940" y="2630829"/>
              <a:ext cx="1744345" cy="558165"/>
            </a:xfrm>
            <a:custGeom>
              <a:avLst/>
              <a:gdLst/>
              <a:ahLst/>
              <a:cxnLst/>
              <a:rect l="l" t="t" r="r" b="b"/>
              <a:pathLst>
                <a:path w="1744345" h="558164">
                  <a:moveTo>
                    <a:pt x="0" y="557587"/>
                  </a:moveTo>
                  <a:lnTo>
                    <a:pt x="0" y="0"/>
                  </a:lnTo>
                  <a:lnTo>
                    <a:pt x="1330607" y="0"/>
                  </a:lnTo>
                  <a:lnTo>
                    <a:pt x="1743957" y="0"/>
                  </a:lnTo>
                  <a:lnTo>
                    <a:pt x="1743957" y="557587"/>
                  </a:lnTo>
                  <a:lnTo>
                    <a:pt x="0" y="557587"/>
                  </a:lnTo>
                  <a:close/>
                </a:path>
              </a:pathLst>
            </a:custGeom>
            <a:ln w="19049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438935" y="2774877"/>
            <a:ext cx="1261745" cy="278130"/>
          </a:xfrm>
          <a:prstGeom prst="rect">
            <a:avLst/>
          </a:prstGeom>
          <a:solidFill>
            <a:srgbClr val="FFFFFF"/>
          </a:solidFill>
          <a:ln w="9524">
            <a:solidFill>
              <a:srgbClr val="595959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393065">
              <a:lnSpc>
                <a:spcPct val="100000"/>
              </a:lnSpc>
              <a:spcBef>
                <a:spcPts val="330"/>
              </a:spcBef>
            </a:pPr>
            <a:r>
              <a:rPr sz="1200" spc="-10" dirty="0">
                <a:latin typeface="Arial"/>
                <a:cs typeface="Arial"/>
              </a:rPr>
              <a:t>GitHub</a:t>
            </a:r>
            <a:endParaRPr sz="12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48740" y="2401954"/>
            <a:ext cx="103378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434343"/>
                </a:solidFill>
                <a:latin typeface="Arial"/>
                <a:cs typeface="Arial"/>
              </a:rPr>
              <a:t>Source</a:t>
            </a:r>
            <a:r>
              <a:rPr sz="1100" b="1" spc="-55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434343"/>
                </a:solidFill>
                <a:latin typeface="Arial"/>
                <a:cs typeface="Arial"/>
              </a:rPr>
              <a:t>Control</a:t>
            </a:r>
            <a:endParaRPr sz="11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464871" y="2151053"/>
            <a:ext cx="84772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434343"/>
                </a:solidFill>
                <a:latin typeface="Arial"/>
                <a:cs typeface="Arial"/>
              </a:rPr>
              <a:t>Build</a:t>
            </a:r>
            <a:r>
              <a:rPr sz="1100" b="1" spc="-40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434343"/>
                </a:solidFill>
                <a:latin typeface="Arial"/>
                <a:cs typeface="Arial"/>
              </a:rPr>
              <a:t>Server</a:t>
            </a:r>
            <a:endParaRPr sz="11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574835" y="2657121"/>
            <a:ext cx="848994" cy="650240"/>
          </a:xfrm>
          <a:custGeom>
            <a:avLst/>
            <a:gdLst/>
            <a:ahLst/>
            <a:cxnLst/>
            <a:rect l="l" t="t" r="r" b="b"/>
            <a:pathLst>
              <a:path w="848995" h="650239">
                <a:moveTo>
                  <a:pt x="848786" y="0"/>
                </a:moveTo>
                <a:lnTo>
                  <a:pt x="0" y="0"/>
                </a:lnTo>
                <a:lnTo>
                  <a:pt x="0" y="650218"/>
                </a:lnTo>
                <a:lnTo>
                  <a:pt x="848786" y="650218"/>
                </a:lnTo>
                <a:lnTo>
                  <a:pt x="848786" y="0"/>
                </a:lnTo>
                <a:close/>
              </a:path>
            </a:pathLst>
          </a:custGeom>
          <a:solidFill>
            <a:srgbClr val="F4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426272" y="2343064"/>
            <a:ext cx="1193800" cy="1166495"/>
          </a:xfrm>
          <a:prstGeom prst="rect">
            <a:avLst/>
          </a:prstGeom>
          <a:ln w="9524">
            <a:solidFill>
              <a:srgbClr val="595959"/>
            </a:solidFill>
          </a:ln>
        </p:spPr>
        <p:txBody>
          <a:bodyPr vert="horz" wrap="square" lIns="0" tIns="144780" rIns="0" bIns="0" rtlCol="0">
            <a:spAutoFit/>
          </a:bodyPr>
          <a:lstStyle/>
          <a:p>
            <a:pPr marL="140335">
              <a:lnSpc>
                <a:spcPct val="100000"/>
              </a:lnSpc>
              <a:spcBef>
                <a:spcPts val="1140"/>
              </a:spcBef>
            </a:pPr>
            <a:r>
              <a:rPr sz="1100" b="1" spc="-10" dirty="0">
                <a:solidFill>
                  <a:srgbClr val="990000"/>
                </a:solidFill>
                <a:latin typeface="Arial"/>
                <a:cs typeface="Arial"/>
              </a:rPr>
              <a:t>Linux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7512" y="1917550"/>
            <a:ext cx="537586" cy="430055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350591" y="1217918"/>
            <a:ext cx="1682750" cy="650240"/>
          </a:xfrm>
          <a:custGeom>
            <a:avLst/>
            <a:gdLst/>
            <a:ahLst/>
            <a:cxnLst/>
            <a:rect l="l" t="t" r="r" b="b"/>
            <a:pathLst>
              <a:path w="1682750" h="650239">
                <a:moveTo>
                  <a:pt x="1682428" y="0"/>
                </a:moveTo>
                <a:lnTo>
                  <a:pt x="0" y="0"/>
                </a:lnTo>
                <a:lnTo>
                  <a:pt x="0" y="650218"/>
                </a:lnTo>
                <a:lnTo>
                  <a:pt x="1682428" y="650218"/>
                </a:lnTo>
                <a:lnTo>
                  <a:pt x="1682428" y="0"/>
                </a:lnTo>
                <a:close/>
              </a:path>
            </a:pathLst>
          </a:custGeom>
          <a:solidFill>
            <a:srgbClr val="D9EAD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330085" y="1036201"/>
            <a:ext cx="63690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solidFill>
                  <a:srgbClr val="38761D"/>
                </a:solidFill>
                <a:latin typeface="Arial"/>
                <a:cs typeface="Arial"/>
              </a:rPr>
              <a:t>Windows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7667" y="1374797"/>
            <a:ext cx="243260" cy="277961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350591" y="1217918"/>
            <a:ext cx="1682750" cy="650240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751840" marR="417830">
              <a:lnSpc>
                <a:spcPct val="100000"/>
              </a:lnSpc>
              <a:spcBef>
                <a:spcPts val="955"/>
              </a:spcBef>
            </a:pPr>
            <a:r>
              <a:rPr sz="1100" b="1" spc="-10" dirty="0">
                <a:solidFill>
                  <a:srgbClr val="274E13"/>
                </a:solidFill>
                <a:latin typeface="Arial"/>
                <a:cs typeface="Arial"/>
              </a:rPr>
              <a:t>Node.js Python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80223" y="2622525"/>
            <a:ext cx="1585595" cy="1097915"/>
            <a:chOff x="380223" y="2622525"/>
            <a:chExt cx="1585595" cy="1097915"/>
          </a:xfrm>
        </p:grpSpPr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17512" y="3290009"/>
              <a:ext cx="537586" cy="430069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380223" y="2622525"/>
              <a:ext cx="1585595" cy="650240"/>
            </a:xfrm>
            <a:custGeom>
              <a:avLst/>
              <a:gdLst/>
              <a:ahLst/>
              <a:cxnLst/>
              <a:rect l="l" t="t" r="r" b="b"/>
              <a:pathLst>
                <a:path w="1585595" h="650239">
                  <a:moveTo>
                    <a:pt x="1585412" y="0"/>
                  </a:moveTo>
                  <a:lnTo>
                    <a:pt x="0" y="0"/>
                  </a:lnTo>
                  <a:lnTo>
                    <a:pt x="0" y="650218"/>
                  </a:lnTo>
                  <a:lnTo>
                    <a:pt x="1585412" y="650218"/>
                  </a:lnTo>
                  <a:lnTo>
                    <a:pt x="1585412" y="0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359717" y="2440809"/>
            <a:ext cx="39751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solidFill>
                  <a:srgbClr val="990000"/>
                </a:solidFill>
                <a:latin typeface="Arial"/>
                <a:cs typeface="Arial"/>
              </a:rPr>
              <a:t>Linux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20" name="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87667" y="2724226"/>
            <a:ext cx="243260" cy="277985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380223" y="2622525"/>
            <a:ext cx="1585595" cy="650240"/>
          </a:xfrm>
          <a:prstGeom prst="rect">
            <a:avLst/>
          </a:prstGeom>
        </p:spPr>
        <p:txBody>
          <a:bodyPr vert="horz" wrap="square" lIns="0" tIns="138430" rIns="0" bIns="0" rtlCol="0">
            <a:spAutoFit/>
          </a:bodyPr>
          <a:lstStyle/>
          <a:p>
            <a:pPr marL="722630" marR="350520">
              <a:lnSpc>
                <a:spcPct val="100000"/>
              </a:lnSpc>
              <a:spcBef>
                <a:spcPts val="1090"/>
              </a:spcBef>
            </a:pPr>
            <a:r>
              <a:rPr sz="1100" b="1" spc="-10" dirty="0">
                <a:solidFill>
                  <a:srgbClr val="990000"/>
                </a:solidFill>
                <a:latin typeface="Arial"/>
                <a:cs typeface="Arial"/>
              </a:rPr>
              <a:t>Node.js Python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398756" y="3995442"/>
            <a:ext cx="1548765" cy="1104900"/>
            <a:chOff x="398756" y="3995442"/>
            <a:chExt cx="1548765" cy="1104900"/>
          </a:xfrm>
        </p:grpSpPr>
        <p:pic>
          <p:nvPicPr>
            <p:cNvPr id="23" name="object 2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24746" y="4669793"/>
              <a:ext cx="537586" cy="430069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398756" y="3995442"/>
              <a:ext cx="1548765" cy="650240"/>
            </a:xfrm>
            <a:custGeom>
              <a:avLst/>
              <a:gdLst/>
              <a:ahLst/>
              <a:cxnLst/>
              <a:rect l="l" t="t" r="r" b="b"/>
              <a:pathLst>
                <a:path w="1548764" h="650239">
                  <a:moveTo>
                    <a:pt x="1548365" y="0"/>
                  </a:moveTo>
                  <a:lnTo>
                    <a:pt x="0" y="0"/>
                  </a:lnTo>
                  <a:lnTo>
                    <a:pt x="0" y="650218"/>
                  </a:lnTo>
                  <a:lnTo>
                    <a:pt x="1548365" y="650218"/>
                  </a:lnTo>
                  <a:lnTo>
                    <a:pt x="1548365" y="0"/>
                  </a:lnTo>
                  <a:close/>
                </a:path>
              </a:pathLst>
            </a:custGeom>
            <a:solidFill>
              <a:srgbClr val="C9DA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378250" y="3813726"/>
            <a:ext cx="29718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25" dirty="0">
                <a:solidFill>
                  <a:srgbClr val="1155CC"/>
                </a:solidFill>
                <a:latin typeface="Arial"/>
                <a:cs typeface="Arial"/>
              </a:rPr>
              <a:t>Mac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26" name="object 2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87667" y="4157138"/>
            <a:ext cx="243260" cy="277957"/>
          </a:xfrm>
          <a:prstGeom prst="rect">
            <a:avLst/>
          </a:prstGeom>
        </p:spPr>
      </p:pic>
      <p:sp>
        <p:nvSpPr>
          <p:cNvPr id="27" name="object 27"/>
          <p:cNvSpPr txBox="1"/>
          <p:nvPr/>
        </p:nvSpPr>
        <p:spPr>
          <a:xfrm>
            <a:off x="398756" y="3995442"/>
            <a:ext cx="1548765" cy="650240"/>
          </a:xfrm>
          <a:prstGeom prst="rect">
            <a:avLst/>
          </a:prstGeom>
        </p:spPr>
        <p:txBody>
          <a:bodyPr vert="horz" wrap="square" lIns="0" tIns="126364" rIns="0" bIns="0" rtlCol="0">
            <a:spAutoFit/>
          </a:bodyPr>
          <a:lstStyle/>
          <a:p>
            <a:pPr marL="704215" marR="332105">
              <a:lnSpc>
                <a:spcPct val="100000"/>
              </a:lnSpc>
              <a:spcBef>
                <a:spcPts val="994"/>
              </a:spcBef>
            </a:pPr>
            <a:r>
              <a:rPr sz="1100" b="1" spc="-10" dirty="0">
                <a:solidFill>
                  <a:srgbClr val="1C4587"/>
                </a:solidFill>
                <a:latin typeface="Arial"/>
                <a:cs typeface="Arial"/>
              </a:rPr>
              <a:t>Node.js Python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2350504" y="2819269"/>
            <a:ext cx="541020" cy="275590"/>
            <a:chOff x="2350504" y="2819269"/>
            <a:chExt cx="541020" cy="275590"/>
          </a:xfrm>
        </p:grpSpPr>
        <p:sp>
          <p:nvSpPr>
            <p:cNvPr id="29" name="object 29"/>
            <p:cNvSpPr/>
            <p:nvPr/>
          </p:nvSpPr>
          <p:spPr>
            <a:xfrm>
              <a:off x="2355267" y="2824032"/>
              <a:ext cx="531495" cy="266065"/>
            </a:xfrm>
            <a:custGeom>
              <a:avLst/>
              <a:gdLst/>
              <a:ahLst/>
              <a:cxnLst/>
              <a:rect l="l" t="t" r="r" b="b"/>
              <a:pathLst>
                <a:path w="531494" h="266064">
                  <a:moveTo>
                    <a:pt x="398550" y="0"/>
                  </a:moveTo>
                  <a:lnTo>
                    <a:pt x="398550" y="66375"/>
                  </a:lnTo>
                  <a:lnTo>
                    <a:pt x="0" y="66375"/>
                  </a:lnTo>
                  <a:lnTo>
                    <a:pt x="0" y="199125"/>
                  </a:lnTo>
                  <a:lnTo>
                    <a:pt x="398550" y="199125"/>
                  </a:lnTo>
                  <a:lnTo>
                    <a:pt x="398550" y="265501"/>
                  </a:lnTo>
                  <a:lnTo>
                    <a:pt x="531299" y="132750"/>
                  </a:lnTo>
                  <a:lnTo>
                    <a:pt x="398550" y="0"/>
                  </a:lnTo>
                  <a:close/>
                </a:path>
              </a:pathLst>
            </a:custGeom>
            <a:solidFill>
              <a:srgbClr val="EEEC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355266" y="2824032"/>
              <a:ext cx="531495" cy="266065"/>
            </a:xfrm>
            <a:custGeom>
              <a:avLst/>
              <a:gdLst/>
              <a:ahLst/>
              <a:cxnLst/>
              <a:rect l="l" t="t" r="r" b="b"/>
              <a:pathLst>
                <a:path w="531494" h="266064">
                  <a:moveTo>
                    <a:pt x="0" y="66374"/>
                  </a:moveTo>
                  <a:lnTo>
                    <a:pt x="398550" y="66374"/>
                  </a:lnTo>
                  <a:lnTo>
                    <a:pt x="398550" y="0"/>
                  </a:lnTo>
                  <a:lnTo>
                    <a:pt x="531300" y="132749"/>
                  </a:lnTo>
                  <a:lnTo>
                    <a:pt x="398550" y="265499"/>
                  </a:lnTo>
                  <a:lnTo>
                    <a:pt x="398550" y="199124"/>
                  </a:lnTo>
                  <a:lnTo>
                    <a:pt x="0" y="199124"/>
                  </a:lnTo>
                  <a:lnTo>
                    <a:pt x="0" y="66374"/>
                  </a:lnTo>
                  <a:close/>
                </a:path>
              </a:pathLst>
            </a:custGeom>
            <a:ln w="9524">
              <a:solidFill>
                <a:srgbClr val="1F49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286333" y="5496739"/>
            <a:ext cx="243014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Arial"/>
                <a:cs typeface="Arial"/>
              </a:rPr>
              <a:t>OS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Specific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4F81BD"/>
                </a:solidFill>
                <a:latin typeface="Arial"/>
                <a:cs typeface="Arial"/>
              </a:rPr>
              <a:t>installation</a:t>
            </a:r>
            <a:r>
              <a:rPr sz="1600" b="1" spc="-40" dirty="0">
                <a:solidFill>
                  <a:srgbClr val="4F81BD"/>
                </a:solidFill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in </a:t>
            </a:r>
            <a:r>
              <a:rPr sz="1600" dirty="0">
                <a:latin typeface="Arial"/>
                <a:cs typeface="Arial"/>
              </a:rPr>
              <a:t>every</a:t>
            </a:r>
            <a:r>
              <a:rPr sz="1600" spc="-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developer</a:t>
            </a:r>
            <a:r>
              <a:rPr sz="1600" spc="-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machine</a:t>
            </a:r>
            <a:endParaRPr sz="16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938666" y="3671105"/>
            <a:ext cx="250888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Arial"/>
                <a:cs typeface="Arial"/>
              </a:rPr>
              <a:t>Every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team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member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moves </a:t>
            </a:r>
            <a:r>
              <a:rPr sz="1600" dirty="0">
                <a:latin typeface="Arial"/>
                <a:cs typeface="Arial"/>
              </a:rPr>
              <a:t>code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to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source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control</a:t>
            </a:r>
            <a:endParaRPr sz="16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859983" y="4003539"/>
            <a:ext cx="232854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Arial"/>
                <a:cs typeface="Arial"/>
              </a:rPr>
              <a:t>Build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server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needs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to</a:t>
            </a:r>
            <a:r>
              <a:rPr sz="1600" spc="-25" dirty="0">
                <a:latin typeface="Arial"/>
                <a:cs typeface="Arial"/>
              </a:rPr>
              <a:t> be </a:t>
            </a:r>
            <a:r>
              <a:rPr sz="1600" b="1" dirty="0">
                <a:solidFill>
                  <a:srgbClr val="4F81BD"/>
                </a:solidFill>
                <a:latin typeface="Arial"/>
                <a:cs typeface="Arial"/>
              </a:rPr>
              <a:t>installed</a:t>
            </a:r>
            <a:r>
              <a:rPr sz="1600" b="1" spc="-30" dirty="0">
                <a:solidFill>
                  <a:srgbClr val="4F81BD"/>
                </a:solidFill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with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all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required softwares/frameworks</a:t>
            </a:r>
            <a:endParaRPr sz="16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859983" y="4978899"/>
            <a:ext cx="266763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Arial"/>
                <a:cs typeface="Arial"/>
              </a:rPr>
              <a:t>Production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build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is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performed </a:t>
            </a:r>
            <a:r>
              <a:rPr sz="1600" dirty="0">
                <a:latin typeface="Arial"/>
                <a:cs typeface="Arial"/>
              </a:rPr>
              <a:t>by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pulling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code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from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source control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5503237" y="2786770"/>
            <a:ext cx="541020" cy="275590"/>
            <a:chOff x="5503237" y="2786770"/>
            <a:chExt cx="541020" cy="275590"/>
          </a:xfrm>
        </p:grpSpPr>
        <p:sp>
          <p:nvSpPr>
            <p:cNvPr id="36" name="object 36"/>
            <p:cNvSpPr/>
            <p:nvPr/>
          </p:nvSpPr>
          <p:spPr>
            <a:xfrm>
              <a:off x="5508000" y="2791533"/>
              <a:ext cx="531495" cy="266065"/>
            </a:xfrm>
            <a:custGeom>
              <a:avLst/>
              <a:gdLst/>
              <a:ahLst/>
              <a:cxnLst/>
              <a:rect l="l" t="t" r="r" b="b"/>
              <a:pathLst>
                <a:path w="531495" h="266064">
                  <a:moveTo>
                    <a:pt x="398550" y="0"/>
                  </a:moveTo>
                  <a:lnTo>
                    <a:pt x="398550" y="66375"/>
                  </a:lnTo>
                  <a:lnTo>
                    <a:pt x="0" y="66375"/>
                  </a:lnTo>
                  <a:lnTo>
                    <a:pt x="0" y="199124"/>
                  </a:lnTo>
                  <a:lnTo>
                    <a:pt x="398550" y="199124"/>
                  </a:lnTo>
                  <a:lnTo>
                    <a:pt x="398550" y="265499"/>
                  </a:lnTo>
                  <a:lnTo>
                    <a:pt x="531299" y="132749"/>
                  </a:lnTo>
                  <a:lnTo>
                    <a:pt x="398550" y="0"/>
                  </a:lnTo>
                  <a:close/>
                </a:path>
              </a:pathLst>
            </a:custGeom>
            <a:solidFill>
              <a:srgbClr val="EEEC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5507999" y="2791532"/>
              <a:ext cx="531495" cy="266065"/>
            </a:xfrm>
            <a:custGeom>
              <a:avLst/>
              <a:gdLst/>
              <a:ahLst/>
              <a:cxnLst/>
              <a:rect l="l" t="t" r="r" b="b"/>
              <a:pathLst>
                <a:path w="531495" h="266064">
                  <a:moveTo>
                    <a:pt x="0" y="66374"/>
                  </a:moveTo>
                  <a:lnTo>
                    <a:pt x="398549" y="66374"/>
                  </a:lnTo>
                  <a:lnTo>
                    <a:pt x="398549" y="0"/>
                  </a:lnTo>
                  <a:lnTo>
                    <a:pt x="531299" y="132749"/>
                  </a:lnTo>
                  <a:lnTo>
                    <a:pt x="398549" y="265499"/>
                  </a:lnTo>
                  <a:lnTo>
                    <a:pt x="398549" y="199124"/>
                  </a:lnTo>
                  <a:lnTo>
                    <a:pt x="0" y="199124"/>
                  </a:lnTo>
                  <a:lnTo>
                    <a:pt x="0" y="66374"/>
                  </a:lnTo>
                  <a:close/>
                </a:path>
              </a:pathLst>
            </a:custGeom>
            <a:ln w="9524">
              <a:solidFill>
                <a:srgbClr val="1F49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9664791" y="2271528"/>
            <a:ext cx="170624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434343"/>
                </a:solidFill>
                <a:latin typeface="Arial"/>
                <a:cs typeface="Arial"/>
              </a:rPr>
              <a:t>Production</a:t>
            </a:r>
            <a:r>
              <a:rPr sz="1100" b="1" spc="-45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434343"/>
                </a:solidFill>
                <a:latin typeface="Arial"/>
                <a:cs typeface="Arial"/>
              </a:rPr>
              <a:t>/</a:t>
            </a:r>
            <a:r>
              <a:rPr sz="1100" b="1" spc="-45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434343"/>
                </a:solidFill>
                <a:latin typeface="Arial"/>
                <a:cs typeface="Arial"/>
              </a:rPr>
              <a:t>Test</a:t>
            </a:r>
            <a:r>
              <a:rPr sz="1100" b="1" spc="-40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434343"/>
                </a:solidFill>
                <a:latin typeface="Arial"/>
                <a:cs typeface="Arial"/>
              </a:rPr>
              <a:t>Servers</a:t>
            </a:r>
            <a:endParaRPr sz="1100">
              <a:latin typeface="Arial"/>
              <a:cs typeface="Arial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10762001" y="2784562"/>
            <a:ext cx="670560" cy="650240"/>
          </a:xfrm>
          <a:custGeom>
            <a:avLst/>
            <a:gdLst/>
            <a:ahLst/>
            <a:cxnLst/>
            <a:rect l="l" t="t" r="r" b="b"/>
            <a:pathLst>
              <a:path w="670559" h="650239">
                <a:moveTo>
                  <a:pt x="669933" y="0"/>
                </a:moveTo>
                <a:lnTo>
                  <a:pt x="0" y="0"/>
                </a:lnTo>
                <a:lnTo>
                  <a:pt x="0" y="650218"/>
                </a:lnTo>
                <a:lnTo>
                  <a:pt x="669933" y="650218"/>
                </a:lnTo>
                <a:lnTo>
                  <a:pt x="669933" y="0"/>
                </a:lnTo>
                <a:close/>
              </a:path>
            </a:pathLst>
          </a:custGeom>
          <a:solidFill>
            <a:srgbClr val="F4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9746026" y="2784562"/>
            <a:ext cx="670560" cy="650240"/>
          </a:xfrm>
          <a:custGeom>
            <a:avLst/>
            <a:gdLst/>
            <a:ahLst/>
            <a:cxnLst/>
            <a:rect l="l" t="t" r="r" b="b"/>
            <a:pathLst>
              <a:path w="670559" h="650239">
                <a:moveTo>
                  <a:pt x="669932" y="0"/>
                </a:moveTo>
                <a:lnTo>
                  <a:pt x="0" y="0"/>
                </a:lnTo>
                <a:lnTo>
                  <a:pt x="0" y="650218"/>
                </a:lnTo>
                <a:lnTo>
                  <a:pt x="669932" y="650218"/>
                </a:lnTo>
                <a:lnTo>
                  <a:pt x="669932" y="0"/>
                </a:lnTo>
                <a:close/>
              </a:path>
            </a:pathLst>
          </a:custGeom>
          <a:solidFill>
            <a:srgbClr val="F4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9626192" y="2463538"/>
            <a:ext cx="1948814" cy="1166495"/>
          </a:xfrm>
          <a:prstGeom prst="rect">
            <a:avLst/>
          </a:prstGeom>
          <a:ln w="9524">
            <a:solidFill>
              <a:srgbClr val="595959"/>
            </a:solidFill>
          </a:ln>
        </p:spPr>
        <p:txBody>
          <a:bodyPr vert="horz" wrap="square" lIns="0" tIns="151765" rIns="0" bIns="0" rtlCol="0">
            <a:spAutoFit/>
          </a:bodyPr>
          <a:lstStyle/>
          <a:p>
            <a:pPr marL="113030">
              <a:lnSpc>
                <a:spcPct val="100000"/>
              </a:lnSpc>
              <a:spcBef>
                <a:spcPts val="1195"/>
              </a:spcBef>
              <a:tabLst>
                <a:tab pos="1129030" algn="l"/>
              </a:tabLst>
            </a:pPr>
            <a:r>
              <a:rPr sz="1100" b="1" spc="-10" dirty="0">
                <a:solidFill>
                  <a:srgbClr val="990000"/>
                </a:solidFill>
                <a:latin typeface="Arial"/>
                <a:cs typeface="Arial"/>
              </a:rPr>
              <a:t>Linux</a:t>
            </a:r>
            <a:r>
              <a:rPr sz="1100" b="1" dirty="0">
                <a:solidFill>
                  <a:srgbClr val="990000"/>
                </a:solidFill>
                <a:latin typeface="Arial"/>
                <a:cs typeface="Arial"/>
              </a:rPr>
              <a:t>	</a:t>
            </a:r>
            <a:r>
              <a:rPr sz="1100" b="1" spc="-10" dirty="0">
                <a:solidFill>
                  <a:srgbClr val="990000"/>
                </a:solidFill>
                <a:latin typeface="Arial"/>
                <a:cs typeface="Arial"/>
              </a:rPr>
              <a:t>Linux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42" name="object 4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868851" y="2867295"/>
            <a:ext cx="381357" cy="435745"/>
          </a:xfrm>
          <a:prstGeom prst="rect">
            <a:avLst/>
          </a:prstGeom>
        </p:spPr>
      </p:pic>
      <p:pic>
        <p:nvPicPr>
          <p:cNvPr id="43" name="object 4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903093" y="2885627"/>
            <a:ext cx="416023" cy="416022"/>
          </a:xfrm>
          <a:prstGeom prst="rect">
            <a:avLst/>
          </a:prstGeom>
        </p:spPr>
      </p:pic>
      <p:grpSp>
        <p:nvGrpSpPr>
          <p:cNvPr id="44" name="object 44"/>
          <p:cNvGrpSpPr/>
          <p:nvPr/>
        </p:nvGrpSpPr>
        <p:grpSpPr>
          <a:xfrm>
            <a:off x="8352869" y="2786770"/>
            <a:ext cx="541020" cy="275590"/>
            <a:chOff x="8352869" y="2786770"/>
            <a:chExt cx="541020" cy="275590"/>
          </a:xfrm>
        </p:grpSpPr>
        <p:sp>
          <p:nvSpPr>
            <p:cNvPr id="45" name="object 45"/>
            <p:cNvSpPr/>
            <p:nvPr/>
          </p:nvSpPr>
          <p:spPr>
            <a:xfrm>
              <a:off x="8357633" y="2791533"/>
              <a:ext cx="531495" cy="266065"/>
            </a:xfrm>
            <a:custGeom>
              <a:avLst/>
              <a:gdLst/>
              <a:ahLst/>
              <a:cxnLst/>
              <a:rect l="l" t="t" r="r" b="b"/>
              <a:pathLst>
                <a:path w="531495" h="266064">
                  <a:moveTo>
                    <a:pt x="398550" y="0"/>
                  </a:moveTo>
                  <a:lnTo>
                    <a:pt x="398550" y="66375"/>
                  </a:lnTo>
                  <a:lnTo>
                    <a:pt x="0" y="66375"/>
                  </a:lnTo>
                  <a:lnTo>
                    <a:pt x="0" y="199124"/>
                  </a:lnTo>
                  <a:lnTo>
                    <a:pt x="398550" y="199124"/>
                  </a:lnTo>
                  <a:lnTo>
                    <a:pt x="398550" y="265499"/>
                  </a:lnTo>
                  <a:lnTo>
                    <a:pt x="531299" y="132749"/>
                  </a:lnTo>
                  <a:lnTo>
                    <a:pt x="398550" y="0"/>
                  </a:lnTo>
                  <a:close/>
                </a:path>
              </a:pathLst>
            </a:custGeom>
            <a:solidFill>
              <a:srgbClr val="EEEC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8357632" y="2791532"/>
              <a:ext cx="531495" cy="266065"/>
            </a:xfrm>
            <a:custGeom>
              <a:avLst/>
              <a:gdLst/>
              <a:ahLst/>
              <a:cxnLst/>
              <a:rect l="l" t="t" r="r" b="b"/>
              <a:pathLst>
                <a:path w="531495" h="266064">
                  <a:moveTo>
                    <a:pt x="0" y="66374"/>
                  </a:moveTo>
                  <a:lnTo>
                    <a:pt x="398549" y="66374"/>
                  </a:lnTo>
                  <a:lnTo>
                    <a:pt x="398549" y="0"/>
                  </a:lnTo>
                  <a:lnTo>
                    <a:pt x="531299" y="132749"/>
                  </a:lnTo>
                  <a:lnTo>
                    <a:pt x="398549" y="265499"/>
                  </a:lnTo>
                  <a:lnTo>
                    <a:pt x="398549" y="199124"/>
                  </a:lnTo>
                  <a:lnTo>
                    <a:pt x="0" y="199124"/>
                  </a:lnTo>
                  <a:lnTo>
                    <a:pt x="0" y="66374"/>
                  </a:lnTo>
                  <a:close/>
                </a:path>
              </a:pathLst>
            </a:custGeom>
            <a:ln w="9524">
              <a:solidFill>
                <a:srgbClr val="1F49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9053450" y="4172105"/>
            <a:ext cx="261048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Arial"/>
                <a:cs typeface="Arial"/>
              </a:rPr>
              <a:t>Production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server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needs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to </a:t>
            </a:r>
            <a:r>
              <a:rPr sz="1600" dirty="0">
                <a:latin typeface="Arial"/>
                <a:cs typeface="Arial"/>
              </a:rPr>
              <a:t>be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4F81BD"/>
                </a:solidFill>
                <a:latin typeface="Arial"/>
                <a:cs typeface="Arial"/>
              </a:rPr>
              <a:t>installed</a:t>
            </a:r>
            <a:r>
              <a:rPr sz="1600" b="1" spc="-20" dirty="0">
                <a:solidFill>
                  <a:srgbClr val="4F81BD"/>
                </a:solidFill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with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all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required softwares/frameworks</a:t>
            </a:r>
            <a:endParaRPr sz="1600">
              <a:latin typeface="Arial"/>
              <a:cs typeface="Arial"/>
            </a:endParaRPr>
          </a:p>
        </p:txBody>
      </p:sp>
      <p:sp>
        <p:nvSpPr>
          <p:cNvPr id="49" name="object 4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spc="-25" dirty="0"/>
              <a:t>44</a:t>
            </a:r>
          </a:p>
        </p:txBody>
      </p:sp>
      <p:sp>
        <p:nvSpPr>
          <p:cNvPr id="48" name="object 48"/>
          <p:cNvSpPr txBox="1"/>
          <p:nvPr/>
        </p:nvSpPr>
        <p:spPr>
          <a:xfrm>
            <a:off x="9053450" y="5147464"/>
            <a:ext cx="226822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Arial"/>
                <a:cs typeface="Arial"/>
              </a:rPr>
              <a:t>Production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server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will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be </a:t>
            </a:r>
            <a:r>
              <a:rPr sz="1600" dirty="0">
                <a:latin typeface="Arial"/>
                <a:cs typeface="Arial"/>
              </a:rPr>
              <a:t>different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OS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version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spc="-20" dirty="0">
                <a:latin typeface="Arial"/>
                <a:cs typeface="Arial"/>
              </a:rPr>
              <a:t>than </a:t>
            </a:r>
            <a:r>
              <a:rPr sz="1600" dirty="0">
                <a:latin typeface="Arial"/>
                <a:cs typeface="Arial"/>
              </a:rPr>
              <a:t>development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machines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Software</a:t>
            </a:r>
            <a:r>
              <a:rPr spc="-50" dirty="0"/>
              <a:t> </a:t>
            </a:r>
            <a:r>
              <a:rPr dirty="0"/>
              <a:t>Development</a:t>
            </a:r>
            <a:r>
              <a:rPr spc="-50" dirty="0"/>
              <a:t> </a:t>
            </a:r>
            <a:r>
              <a:rPr dirty="0"/>
              <a:t>Workflow</a:t>
            </a:r>
            <a:r>
              <a:rPr spc="-45" dirty="0"/>
              <a:t> </a:t>
            </a:r>
            <a:r>
              <a:rPr dirty="0"/>
              <a:t>(with</a:t>
            </a:r>
            <a:r>
              <a:rPr spc="-50" dirty="0"/>
              <a:t> </a:t>
            </a:r>
            <a:r>
              <a:rPr spc="-10" dirty="0"/>
              <a:t>Docker)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7512" y="1917550"/>
            <a:ext cx="537586" cy="430055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350591" y="1217918"/>
            <a:ext cx="1682750" cy="650240"/>
          </a:xfrm>
          <a:custGeom>
            <a:avLst/>
            <a:gdLst/>
            <a:ahLst/>
            <a:cxnLst/>
            <a:rect l="l" t="t" r="r" b="b"/>
            <a:pathLst>
              <a:path w="1682750" h="650239">
                <a:moveTo>
                  <a:pt x="1682428" y="0"/>
                </a:moveTo>
                <a:lnTo>
                  <a:pt x="0" y="0"/>
                </a:lnTo>
                <a:lnTo>
                  <a:pt x="0" y="650218"/>
                </a:lnTo>
                <a:lnTo>
                  <a:pt x="1682428" y="650218"/>
                </a:lnTo>
                <a:lnTo>
                  <a:pt x="1682428" y="0"/>
                </a:lnTo>
                <a:close/>
              </a:path>
            </a:pathLst>
          </a:custGeom>
          <a:solidFill>
            <a:srgbClr val="D9EAD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30085" y="1036201"/>
            <a:ext cx="63690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solidFill>
                  <a:srgbClr val="38761D"/>
                </a:solidFill>
                <a:latin typeface="Arial"/>
                <a:cs typeface="Arial"/>
              </a:rPr>
              <a:t>Windows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80223" y="2622525"/>
            <a:ext cx="1585595" cy="1097915"/>
            <a:chOff x="380223" y="2622525"/>
            <a:chExt cx="1585595" cy="1097915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7512" y="3290009"/>
              <a:ext cx="537586" cy="43006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80223" y="2622525"/>
              <a:ext cx="1585595" cy="650240"/>
            </a:xfrm>
            <a:custGeom>
              <a:avLst/>
              <a:gdLst/>
              <a:ahLst/>
              <a:cxnLst/>
              <a:rect l="l" t="t" r="r" b="b"/>
              <a:pathLst>
                <a:path w="1585595" h="650239">
                  <a:moveTo>
                    <a:pt x="1585412" y="0"/>
                  </a:moveTo>
                  <a:lnTo>
                    <a:pt x="0" y="0"/>
                  </a:lnTo>
                  <a:lnTo>
                    <a:pt x="0" y="650218"/>
                  </a:lnTo>
                  <a:lnTo>
                    <a:pt x="1585412" y="650218"/>
                  </a:lnTo>
                  <a:lnTo>
                    <a:pt x="1585412" y="0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59717" y="2440809"/>
            <a:ext cx="39751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solidFill>
                  <a:srgbClr val="990000"/>
                </a:solidFill>
                <a:latin typeface="Arial"/>
                <a:cs typeface="Arial"/>
              </a:rPr>
              <a:t>Linux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98756" y="3995442"/>
            <a:ext cx="1548765" cy="1104900"/>
            <a:chOff x="398756" y="3995442"/>
            <a:chExt cx="1548765" cy="1104900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24746" y="4669793"/>
              <a:ext cx="537586" cy="43006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398756" y="3995442"/>
              <a:ext cx="1548765" cy="650240"/>
            </a:xfrm>
            <a:custGeom>
              <a:avLst/>
              <a:gdLst/>
              <a:ahLst/>
              <a:cxnLst/>
              <a:rect l="l" t="t" r="r" b="b"/>
              <a:pathLst>
                <a:path w="1548764" h="650239">
                  <a:moveTo>
                    <a:pt x="1548365" y="0"/>
                  </a:moveTo>
                  <a:lnTo>
                    <a:pt x="0" y="0"/>
                  </a:lnTo>
                  <a:lnTo>
                    <a:pt x="0" y="650218"/>
                  </a:lnTo>
                  <a:lnTo>
                    <a:pt x="1548365" y="650218"/>
                  </a:lnTo>
                  <a:lnTo>
                    <a:pt x="1548365" y="0"/>
                  </a:lnTo>
                  <a:close/>
                </a:path>
              </a:pathLst>
            </a:custGeom>
            <a:solidFill>
              <a:srgbClr val="C9DA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78250" y="3813726"/>
            <a:ext cx="29718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25" dirty="0">
                <a:solidFill>
                  <a:srgbClr val="1155CC"/>
                </a:solidFill>
                <a:latin typeface="Arial"/>
                <a:cs typeface="Arial"/>
              </a:rPr>
              <a:t>Mac</a:t>
            </a:r>
            <a:endParaRPr sz="11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86333" y="5191939"/>
            <a:ext cx="257810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Arial"/>
                <a:cs typeface="Arial"/>
              </a:rPr>
              <a:t>Development</a:t>
            </a:r>
            <a:r>
              <a:rPr sz="1600" spc="-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machines</a:t>
            </a:r>
            <a:r>
              <a:rPr sz="1600" spc="-5" dirty="0">
                <a:latin typeface="Arial"/>
                <a:cs typeface="Arial"/>
              </a:rPr>
              <a:t> </a:t>
            </a:r>
            <a:r>
              <a:rPr sz="1600" spc="-20" dirty="0">
                <a:latin typeface="Arial"/>
                <a:cs typeface="Arial"/>
              </a:rPr>
              <a:t>only </a:t>
            </a:r>
            <a:r>
              <a:rPr sz="1600" dirty="0">
                <a:latin typeface="Arial"/>
                <a:cs typeface="Arial"/>
              </a:rPr>
              <a:t>needs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4F81BD"/>
                </a:solidFill>
                <a:latin typeface="Arial"/>
                <a:cs typeface="Arial"/>
              </a:rPr>
              <a:t>Docker</a:t>
            </a:r>
            <a:r>
              <a:rPr sz="1600" b="1" spc="-10" dirty="0">
                <a:solidFill>
                  <a:srgbClr val="4F81BD"/>
                </a:solidFill>
                <a:latin typeface="Arial"/>
                <a:cs typeface="Arial"/>
              </a:rPr>
              <a:t> installed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07259" y="1397179"/>
            <a:ext cx="1326515" cy="252095"/>
            <a:chOff x="507259" y="1397179"/>
            <a:chExt cx="1326515" cy="252095"/>
          </a:xfrm>
        </p:grpSpPr>
        <p:sp>
          <p:nvSpPr>
            <p:cNvPr id="16" name="object 16"/>
            <p:cNvSpPr/>
            <p:nvPr/>
          </p:nvSpPr>
          <p:spPr>
            <a:xfrm>
              <a:off x="512022" y="1401942"/>
              <a:ext cx="300990" cy="242570"/>
            </a:xfrm>
            <a:custGeom>
              <a:avLst/>
              <a:gdLst/>
              <a:ahLst/>
              <a:cxnLst/>
              <a:rect l="l" t="t" r="r" b="b"/>
              <a:pathLst>
                <a:path w="300990" h="242569">
                  <a:moveTo>
                    <a:pt x="300392" y="0"/>
                  </a:moveTo>
                  <a:lnTo>
                    <a:pt x="0" y="0"/>
                  </a:lnTo>
                  <a:lnTo>
                    <a:pt x="0" y="242394"/>
                  </a:lnTo>
                  <a:lnTo>
                    <a:pt x="300392" y="242394"/>
                  </a:lnTo>
                  <a:lnTo>
                    <a:pt x="300392" y="0"/>
                  </a:lnTo>
                  <a:close/>
                </a:path>
              </a:pathLst>
            </a:custGeom>
            <a:solidFill>
              <a:srgbClr val="FFE5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12022" y="1401941"/>
              <a:ext cx="300990" cy="242570"/>
            </a:xfrm>
            <a:custGeom>
              <a:avLst/>
              <a:gdLst/>
              <a:ahLst/>
              <a:cxnLst/>
              <a:rect l="l" t="t" r="r" b="b"/>
              <a:pathLst>
                <a:path w="300990" h="242569">
                  <a:moveTo>
                    <a:pt x="0" y="0"/>
                  </a:moveTo>
                  <a:lnTo>
                    <a:pt x="300392" y="0"/>
                  </a:lnTo>
                  <a:lnTo>
                    <a:pt x="300392" y="242393"/>
                  </a:lnTo>
                  <a:lnTo>
                    <a:pt x="0" y="242393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6B26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020009" y="1401942"/>
              <a:ext cx="300990" cy="242570"/>
            </a:xfrm>
            <a:custGeom>
              <a:avLst/>
              <a:gdLst/>
              <a:ahLst/>
              <a:cxnLst/>
              <a:rect l="l" t="t" r="r" b="b"/>
              <a:pathLst>
                <a:path w="300990" h="242569">
                  <a:moveTo>
                    <a:pt x="300392" y="0"/>
                  </a:moveTo>
                  <a:lnTo>
                    <a:pt x="0" y="0"/>
                  </a:lnTo>
                  <a:lnTo>
                    <a:pt x="0" y="242394"/>
                  </a:lnTo>
                  <a:lnTo>
                    <a:pt x="300392" y="242394"/>
                  </a:lnTo>
                  <a:lnTo>
                    <a:pt x="300392" y="0"/>
                  </a:lnTo>
                  <a:close/>
                </a:path>
              </a:pathLst>
            </a:custGeom>
            <a:solidFill>
              <a:srgbClr val="FFE5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020009" y="1401941"/>
              <a:ext cx="300990" cy="242570"/>
            </a:xfrm>
            <a:custGeom>
              <a:avLst/>
              <a:gdLst/>
              <a:ahLst/>
              <a:cxnLst/>
              <a:rect l="l" t="t" r="r" b="b"/>
              <a:pathLst>
                <a:path w="300990" h="242569">
                  <a:moveTo>
                    <a:pt x="0" y="0"/>
                  </a:moveTo>
                  <a:lnTo>
                    <a:pt x="300392" y="0"/>
                  </a:lnTo>
                  <a:lnTo>
                    <a:pt x="300392" y="242393"/>
                  </a:lnTo>
                  <a:lnTo>
                    <a:pt x="0" y="242393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6B26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527996" y="1401942"/>
              <a:ext cx="300990" cy="242570"/>
            </a:xfrm>
            <a:custGeom>
              <a:avLst/>
              <a:gdLst/>
              <a:ahLst/>
              <a:cxnLst/>
              <a:rect l="l" t="t" r="r" b="b"/>
              <a:pathLst>
                <a:path w="300989" h="242569">
                  <a:moveTo>
                    <a:pt x="300392" y="0"/>
                  </a:moveTo>
                  <a:lnTo>
                    <a:pt x="0" y="0"/>
                  </a:lnTo>
                  <a:lnTo>
                    <a:pt x="0" y="242394"/>
                  </a:lnTo>
                  <a:lnTo>
                    <a:pt x="300392" y="242394"/>
                  </a:lnTo>
                  <a:lnTo>
                    <a:pt x="300392" y="0"/>
                  </a:lnTo>
                  <a:close/>
                </a:path>
              </a:pathLst>
            </a:custGeom>
            <a:solidFill>
              <a:srgbClr val="FFE5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527996" y="1401941"/>
              <a:ext cx="300990" cy="242570"/>
            </a:xfrm>
            <a:custGeom>
              <a:avLst/>
              <a:gdLst/>
              <a:ahLst/>
              <a:cxnLst/>
              <a:rect l="l" t="t" r="r" b="b"/>
              <a:pathLst>
                <a:path w="300989" h="242569">
                  <a:moveTo>
                    <a:pt x="0" y="0"/>
                  </a:moveTo>
                  <a:lnTo>
                    <a:pt x="300392" y="0"/>
                  </a:lnTo>
                  <a:lnTo>
                    <a:pt x="300392" y="242393"/>
                  </a:lnTo>
                  <a:lnTo>
                    <a:pt x="0" y="242393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6B26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" name="object 22"/>
          <p:cNvGrpSpPr/>
          <p:nvPr/>
        </p:nvGrpSpPr>
        <p:grpSpPr>
          <a:xfrm>
            <a:off x="507259" y="2819580"/>
            <a:ext cx="1326515" cy="252095"/>
            <a:chOff x="507259" y="2819580"/>
            <a:chExt cx="1326515" cy="252095"/>
          </a:xfrm>
        </p:grpSpPr>
        <p:sp>
          <p:nvSpPr>
            <p:cNvPr id="23" name="object 23"/>
            <p:cNvSpPr/>
            <p:nvPr/>
          </p:nvSpPr>
          <p:spPr>
            <a:xfrm>
              <a:off x="512022" y="2824342"/>
              <a:ext cx="300990" cy="242570"/>
            </a:xfrm>
            <a:custGeom>
              <a:avLst/>
              <a:gdLst/>
              <a:ahLst/>
              <a:cxnLst/>
              <a:rect l="l" t="t" r="r" b="b"/>
              <a:pathLst>
                <a:path w="300990" h="242569">
                  <a:moveTo>
                    <a:pt x="300392" y="0"/>
                  </a:moveTo>
                  <a:lnTo>
                    <a:pt x="0" y="0"/>
                  </a:lnTo>
                  <a:lnTo>
                    <a:pt x="0" y="242393"/>
                  </a:lnTo>
                  <a:lnTo>
                    <a:pt x="300392" y="242393"/>
                  </a:lnTo>
                  <a:lnTo>
                    <a:pt x="300392" y="0"/>
                  </a:lnTo>
                  <a:close/>
                </a:path>
              </a:pathLst>
            </a:custGeom>
            <a:solidFill>
              <a:srgbClr val="FFE5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12022" y="2824342"/>
              <a:ext cx="300990" cy="242570"/>
            </a:xfrm>
            <a:custGeom>
              <a:avLst/>
              <a:gdLst/>
              <a:ahLst/>
              <a:cxnLst/>
              <a:rect l="l" t="t" r="r" b="b"/>
              <a:pathLst>
                <a:path w="300990" h="242569">
                  <a:moveTo>
                    <a:pt x="0" y="0"/>
                  </a:moveTo>
                  <a:lnTo>
                    <a:pt x="300392" y="0"/>
                  </a:lnTo>
                  <a:lnTo>
                    <a:pt x="300392" y="242394"/>
                  </a:lnTo>
                  <a:lnTo>
                    <a:pt x="0" y="24239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6B26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020009" y="2824342"/>
              <a:ext cx="300990" cy="242570"/>
            </a:xfrm>
            <a:custGeom>
              <a:avLst/>
              <a:gdLst/>
              <a:ahLst/>
              <a:cxnLst/>
              <a:rect l="l" t="t" r="r" b="b"/>
              <a:pathLst>
                <a:path w="300990" h="242569">
                  <a:moveTo>
                    <a:pt x="300392" y="0"/>
                  </a:moveTo>
                  <a:lnTo>
                    <a:pt x="0" y="0"/>
                  </a:lnTo>
                  <a:lnTo>
                    <a:pt x="0" y="242393"/>
                  </a:lnTo>
                  <a:lnTo>
                    <a:pt x="300392" y="242393"/>
                  </a:lnTo>
                  <a:lnTo>
                    <a:pt x="300392" y="0"/>
                  </a:lnTo>
                  <a:close/>
                </a:path>
              </a:pathLst>
            </a:custGeom>
            <a:solidFill>
              <a:srgbClr val="FFE5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020009" y="2824342"/>
              <a:ext cx="300990" cy="242570"/>
            </a:xfrm>
            <a:custGeom>
              <a:avLst/>
              <a:gdLst/>
              <a:ahLst/>
              <a:cxnLst/>
              <a:rect l="l" t="t" r="r" b="b"/>
              <a:pathLst>
                <a:path w="300990" h="242569">
                  <a:moveTo>
                    <a:pt x="0" y="0"/>
                  </a:moveTo>
                  <a:lnTo>
                    <a:pt x="300392" y="0"/>
                  </a:lnTo>
                  <a:lnTo>
                    <a:pt x="300392" y="242394"/>
                  </a:lnTo>
                  <a:lnTo>
                    <a:pt x="0" y="24239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6B26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27996" y="2824342"/>
              <a:ext cx="300990" cy="242570"/>
            </a:xfrm>
            <a:custGeom>
              <a:avLst/>
              <a:gdLst/>
              <a:ahLst/>
              <a:cxnLst/>
              <a:rect l="l" t="t" r="r" b="b"/>
              <a:pathLst>
                <a:path w="300989" h="242569">
                  <a:moveTo>
                    <a:pt x="300392" y="0"/>
                  </a:moveTo>
                  <a:lnTo>
                    <a:pt x="0" y="0"/>
                  </a:lnTo>
                  <a:lnTo>
                    <a:pt x="0" y="242393"/>
                  </a:lnTo>
                  <a:lnTo>
                    <a:pt x="300392" y="242393"/>
                  </a:lnTo>
                  <a:lnTo>
                    <a:pt x="300392" y="0"/>
                  </a:lnTo>
                  <a:close/>
                </a:path>
              </a:pathLst>
            </a:custGeom>
            <a:solidFill>
              <a:srgbClr val="FFE5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27996" y="2824342"/>
              <a:ext cx="300990" cy="242570"/>
            </a:xfrm>
            <a:custGeom>
              <a:avLst/>
              <a:gdLst/>
              <a:ahLst/>
              <a:cxnLst/>
              <a:rect l="l" t="t" r="r" b="b"/>
              <a:pathLst>
                <a:path w="300989" h="242569">
                  <a:moveTo>
                    <a:pt x="0" y="0"/>
                  </a:moveTo>
                  <a:lnTo>
                    <a:pt x="300392" y="0"/>
                  </a:lnTo>
                  <a:lnTo>
                    <a:pt x="300392" y="242394"/>
                  </a:lnTo>
                  <a:lnTo>
                    <a:pt x="0" y="24239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6B26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9" name="object 29"/>
          <p:cNvGrpSpPr/>
          <p:nvPr/>
        </p:nvGrpSpPr>
        <p:grpSpPr>
          <a:xfrm>
            <a:off x="507259" y="4181019"/>
            <a:ext cx="1326515" cy="252095"/>
            <a:chOff x="507259" y="4181019"/>
            <a:chExt cx="1326515" cy="252095"/>
          </a:xfrm>
        </p:grpSpPr>
        <p:sp>
          <p:nvSpPr>
            <p:cNvPr id="30" name="object 30"/>
            <p:cNvSpPr/>
            <p:nvPr/>
          </p:nvSpPr>
          <p:spPr>
            <a:xfrm>
              <a:off x="512022" y="4185782"/>
              <a:ext cx="300990" cy="242570"/>
            </a:xfrm>
            <a:custGeom>
              <a:avLst/>
              <a:gdLst/>
              <a:ahLst/>
              <a:cxnLst/>
              <a:rect l="l" t="t" r="r" b="b"/>
              <a:pathLst>
                <a:path w="300990" h="242570">
                  <a:moveTo>
                    <a:pt x="300392" y="0"/>
                  </a:moveTo>
                  <a:lnTo>
                    <a:pt x="0" y="0"/>
                  </a:lnTo>
                  <a:lnTo>
                    <a:pt x="0" y="242393"/>
                  </a:lnTo>
                  <a:lnTo>
                    <a:pt x="300392" y="242393"/>
                  </a:lnTo>
                  <a:lnTo>
                    <a:pt x="300392" y="0"/>
                  </a:lnTo>
                  <a:close/>
                </a:path>
              </a:pathLst>
            </a:custGeom>
            <a:solidFill>
              <a:srgbClr val="FFE5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12022" y="4185782"/>
              <a:ext cx="300990" cy="242570"/>
            </a:xfrm>
            <a:custGeom>
              <a:avLst/>
              <a:gdLst/>
              <a:ahLst/>
              <a:cxnLst/>
              <a:rect l="l" t="t" r="r" b="b"/>
              <a:pathLst>
                <a:path w="300990" h="242570">
                  <a:moveTo>
                    <a:pt x="0" y="0"/>
                  </a:moveTo>
                  <a:lnTo>
                    <a:pt x="300392" y="0"/>
                  </a:lnTo>
                  <a:lnTo>
                    <a:pt x="300392" y="242394"/>
                  </a:lnTo>
                  <a:lnTo>
                    <a:pt x="0" y="24239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6B26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020009" y="4185782"/>
              <a:ext cx="300990" cy="242570"/>
            </a:xfrm>
            <a:custGeom>
              <a:avLst/>
              <a:gdLst/>
              <a:ahLst/>
              <a:cxnLst/>
              <a:rect l="l" t="t" r="r" b="b"/>
              <a:pathLst>
                <a:path w="300990" h="242570">
                  <a:moveTo>
                    <a:pt x="300392" y="0"/>
                  </a:moveTo>
                  <a:lnTo>
                    <a:pt x="0" y="0"/>
                  </a:lnTo>
                  <a:lnTo>
                    <a:pt x="0" y="242393"/>
                  </a:lnTo>
                  <a:lnTo>
                    <a:pt x="300392" y="242393"/>
                  </a:lnTo>
                  <a:lnTo>
                    <a:pt x="300392" y="0"/>
                  </a:lnTo>
                  <a:close/>
                </a:path>
              </a:pathLst>
            </a:custGeom>
            <a:solidFill>
              <a:srgbClr val="FFE5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020009" y="4185782"/>
              <a:ext cx="300990" cy="242570"/>
            </a:xfrm>
            <a:custGeom>
              <a:avLst/>
              <a:gdLst/>
              <a:ahLst/>
              <a:cxnLst/>
              <a:rect l="l" t="t" r="r" b="b"/>
              <a:pathLst>
                <a:path w="300990" h="242570">
                  <a:moveTo>
                    <a:pt x="0" y="0"/>
                  </a:moveTo>
                  <a:lnTo>
                    <a:pt x="300392" y="0"/>
                  </a:lnTo>
                  <a:lnTo>
                    <a:pt x="300392" y="242394"/>
                  </a:lnTo>
                  <a:lnTo>
                    <a:pt x="0" y="24239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6B26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527996" y="4185782"/>
              <a:ext cx="300990" cy="242570"/>
            </a:xfrm>
            <a:custGeom>
              <a:avLst/>
              <a:gdLst/>
              <a:ahLst/>
              <a:cxnLst/>
              <a:rect l="l" t="t" r="r" b="b"/>
              <a:pathLst>
                <a:path w="300989" h="242570">
                  <a:moveTo>
                    <a:pt x="300392" y="0"/>
                  </a:moveTo>
                  <a:lnTo>
                    <a:pt x="0" y="0"/>
                  </a:lnTo>
                  <a:lnTo>
                    <a:pt x="0" y="242393"/>
                  </a:lnTo>
                  <a:lnTo>
                    <a:pt x="300392" y="242393"/>
                  </a:lnTo>
                  <a:lnTo>
                    <a:pt x="300392" y="0"/>
                  </a:lnTo>
                  <a:close/>
                </a:path>
              </a:pathLst>
            </a:custGeom>
            <a:solidFill>
              <a:srgbClr val="FFE5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527996" y="4185782"/>
              <a:ext cx="300990" cy="242570"/>
            </a:xfrm>
            <a:custGeom>
              <a:avLst/>
              <a:gdLst/>
              <a:ahLst/>
              <a:cxnLst/>
              <a:rect l="l" t="t" r="r" b="b"/>
              <a:pathLst>
                <a:path w="300989" h="242570">
                  <a:moveTo>
                    <a:pt x="0" y="0"/>
                  </a:moveTo>
                  <a:lnTo>
                    <a:pt x="300392" y="0"/>
                  </a:lnTo>
                  <a:lnTo>
                    <a:pt x="300392" y="242394"/>
                  </a:lnTo>
                  <a:lnTo>
                    <a:pt x="0" y="24239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6B26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286333" y="5942707"/>
            <a:ext cx="2656205" cy="496570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 marR="5080">
              <a:lnSpc>
                <a:spcPts val="1920"/>
              </a:lnSpc>
              <a:spcBef>
                <a:spcPts val="10"/>
              </a:spcBef>
            </a:pPr>
            <a:r>
              <a:rPr sz="1600" b="1" dirty="0">
                <a:solidFill>
                  <a:srgbClr val="4F81BD"/>
                </a:solidFill>
                <a:latin typeface="Arial"/>
                <a:cs typeface="Arial"/>
              </a:rPr>
              <a:t>Containers</a:t>
            </a:r>
            <a:r>
              <a:rPr sz="1600" b="1" spc="-25" dirty="0">
                <a:solidFill>
                  <a:srgbClr val="4F81BD"/>
                </a:solidFill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need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to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be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spc="-20" dirty="0">
                <a:latin typeface="Arial"/>
                <a:cs typeface="Arial"/>
              </a:rPr>
              <a:t>setup </a:t>
            </a:r>
            <a:r>
              <a:rPr sz="1600" dirty="0">
                <a:latin typeface="Arial"/>
                <a:cs typeface="Arial"/>
              </a:rPr>
              <a:t>only</a:t>
            </a:r>
            <a:r>
              <a:rPr sz="1600" spc="-5" dirty="0">
                <a:latin typeface="Arial"/>
                <a:cs typeface="Arial"/>
              </a:rPr>
              <a:t> </a:t>
            </a:r>
            <a:r>
              <a:rPr sz="1600" spc="-20" dirty="0">
                <a:latin typeface="Arial"/>
                <a:cs typeface="Arial"/>
              </a:rPr>
              <a:t>once</a:t>
            </a:r>
            <a:endParaRPr sz="1600">
              <a:latin typeface="Arial"/>
              <a:cs typeface="Arial"/>
            </a:endParaRPr>
          </a:p>
        </p:txBody>
      </p:sp>
      <p:sp>
        <p:nvSpPr>
          <p:cNvPr id="37" name="object 3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spc="-25" dirty="0"/>
              <a:t>45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Software</a:t>
            </a:r>
            <a:r>
              <a:rPr spc="-50" dirty="0"/>
              <a:t> </a:t>
            </a:r>
            <a:r>
              <a:rPr dirty="0"/>
              <a:t>Development</a:t>
            </a:r>
            <a:r>
              <a:rPr spc="-50" dirty="0"/>
              <a:t> </a:t>
            </a:r>
            <a:r>
              <a:rPr dirty="0"/>
              <a:t>Workflow</a:t>
            </a:r>
            <a:r>
              <a:rPr spc="-45" dirty="0"/>
              <a:t> </a:t>
            </a:r>
            <a:r>
              <a:rPr dirty="0"/>
              <a:t>(with</a:t>
            </a:r>
            <a:r>
              <a:rPr spc="-50" dirty="0"/>
              <a:t> </a:t>
            </a:r>
            <a:r>
              <a:rPr spc="-10" dirty="0"/>
              <a:t>Docker)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226415" y="2621304"/>
            <a:ext cx="1763395" cy="577215"/>
            <a:chOff x="3226415" y="2621304"/>
            <a:chExt cx="1763395" cy="577215"/>
          </a:xfrm>
        </p:grpSpPr>
        <p:sp>
          <p:nvSpPr>
            <p:cNvPr id="4" name="object 4"/>
            <p:cNvSpPr/>
            <p:nvPr/>
          </p:nvSpPr>
          <p:spPr>
            <a:xfrm>
              <a:off x="3235941" y="2630831"/>
              <a:ext cx="1744345" cy="558165"/>
            </a:xfrm>
            <a:custGeom>
              <a:avLst/>
              <a:gdLst/>
              <a:ahLst/>
              <a:cxnLst/>
              <a:rect l="l" t="t" r="r" b="b"/>
              <a:pathLst>
                <a:path w="1744345" h="558164">
                  <a:moveTo>
                    <a:pt x="1743956" y="0"/>
                  </a:moveTo>
                  <a:lnTo>
                    <a:pt x="0" y="0"/>
                  </a:lnTo>
                  <a:lnTo>
                    <a:pt x="0" y="557585"/>
                  </a:lnTo>
                  <a:lnTo>
                    <a:pt x="1743956" y="557585"/>
                  </a:lnTo>
                  <a:lnTo>
                    <a:pt x="1743956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235940" y="2630829"/>
              <a:ext cx="1744345" cy="558165"/>
            </a:xfrm>
            <a:custGeom>
              <a:avLst/>
              <a:gdLst/>
              <a:ahLst/>
              <a:cxnLst/>
              <a:rect l="l" t="t" r="r" b="b"/>
              <a:pathLst>
                <a:path w="1744345" h="558164">
                  <a:moveTo>
                    <a:pt x="0" y="557587"/>
                  </a:moveTo>
                  <a:lnTo>
                    <a:pt x="0" y="0"/>
                  </a:lnTo>
                  <a:lnTo>
                    <a:pt x="1330607" y="0"/>
                  </a:lnTo>
                  <a:lnTo>
                    <a:pt x="1743957" y="0"/>
                  </a:lnTo>
                  <a:lnTo>
                    <a:pt x="1743957" y="557587"/>
                  </a:lnTo>
                  <a:lnTo>
                    <a:pt x="0" y="557587"/>
                  </a:lnTo>
                  <a:close/>
                </a:path>
              </a:pathLst>
            </a:custGeom>
            <a:ln w="19049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438935" y="2774877"/>
            <a:ext cx="1261745" cy="278130"/>
          </a:xfrm>
          <a:prstGeom prst="rect">
            <a:avLst/>
          </a:prstGeom>
          <a:solidFill>
            <a:srgbClr val="FFFFFF"/>
          </a:solidFill>
          <a:ln w="9524">
            <a:solidFill>
              <a:srgbClr val="595959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393065">
              <a:lnSpc>
                <a:spcPct val="100000"/>
              </a:lnSpc>
              <a:spcBef>
                <a:spcPts val="330"/>
              </a:spcBef>
            </a:pPr>
            <a:r>
              <a:rPr sz="1200" spc="-10" dirty="0">
                <a:latin typeface="Arial"/>
                <a:cs typeface="Arial"/>
              </a:rPr>
              <a:t>GitHub</a:t>
            </a:r>
            <a:endParaRPr sz="12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48740" y="2401954"/>
            <a:ext cx="103378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434343"/>
                </a:solidFill>
                <a:latin typeface="Arial"/>
                <a:cs typeface="Arial"/>
              </a:rPr>
              <a:t>Source</a:t>
            </a:r>
            <a:r>
              <a:rPr sz="1100" b="1" spc="-55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434343"/>
                </a:solidFill>
                <a:latin typeface="Arial"/>
                <a:cs typeface="Arial"/>
              </a:rPr>
              <a:t>Control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7512" y="1917550"/>
            <a:ext cx="537586" cy="430055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350591" y="1217918"/>
            <a:ext cx="1682750" cy="650240"/>
          </a:xfrm>
          <a:custGeom>
            <a:avLst/>
            <a:gdLst/>
            <a:ahLst/>
            <a:cxnLst/>
            <a:rect l="l" t="t" r="r" b="b"/>
            <a:pathLst>
              <a:path w="1682750" h="650239">
                <a:moveTo>
                  <a:pt x="1682428" y="0"/>
                </a:moveTo>
                <a:lnTo>
                  <a:pt x="0" y="0"/>
                </a:lnTo>
                <a:lnTo>
                  <a:pt x="0" y="650218"/>
                </a:lnTo>
                <a:lnTo>
                  <a:pt x="1682428" y="650218"/>
                </a:lnTo>
                <a:lnTo>
                  <a:pt x="1682428" y="0"/>
                </a:lnTo>
                <a:close/>
              </a:path>
            </a:pathLst>
          </a:custGeom>
          <a:solidFill>
            <a:srgbClr val="D9EAD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30085" y="1036201"/>
            <a:ext cx="63690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solidFill>
                  <a:srgbClr val="38761D"/>
                </a:solidFill>
                <a:latin typeface="Arial"/>
                <a:cs typeface="Arial"/>
              </a:rPr>
              <a:t>Windows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80223" y="2622525"/>
            <a:ext cx="1585595" cy="1097915"/>
            <a:chOff x="380223" y="2622525"/>
            <a:chExt cx="1585595" cy="1097915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7512" y="3290009"/>
              <a:ext cx="537586" cy="43006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380223" y="2622525"/>
              <a:ext cx="1585595" cy="650240"/>
            </a:xfrm>
            <a:custGeom>
              <a:avLst/>
              <a:gdLst/>
              <a:ahLst/>
              <a:cxnLst/>
              <a:rect l="l" t="t" r="r" b="b"/>
              <a:pathLst>
                <a:path w="1585595" h="650239">
                  <a:moveTo>
                    <a:pt x="1585412" y="0"/>
                  </a:moveTo>
                  <a:lnTo>
                    <a:pt x="0" y="0"/>
                  </a:lnTo>
                  <a:lnTo>
                    <a:pt x="0" y="650218"/>
                  </a:lnTo>
                  <a:lnTo>
                    <a:pt x="1585412" y="650218"/>
                  </a:lnTo>
                  <a:lnTo>
                    <a:pt x="1585412" y="0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359717" y="2440809"/>
            <a:ext cx="39751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solidFill>
                  <a:srgbClr val="990000"/>
                </a:solidFill>
                <a:latin typeface="Arial"/>
                <a:cs typeface="Arial"/>
              </a:rPr>
              <a:t>Linux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98756" y="3995442"/>
            <a:ext cx="1548765" cy="1104900"/>
            <a:chOff x="398756" y="3995442"/>
            <a:chExt cx="1548765" cy="1104900"/>
          </a:xfrm>
        </p:grpSpPr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24746" y="4669793"/>
              <a:ext cx="537586" cy="430069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398756" y="3995442"/>
              <a:ext cx="1548765" cy="650240"/>
            </a:xfrm>
            <a:custGeom>
              <a:avLst/>
              <a:gdLst/>
              <a:ahLst/>
              <a:cxnLst/>
              <a:rect l="l" t="t" r="r" b="b"/>
              <a:pathLst>
                <a:path w="1548764" h="650239">
                  <a:moveTo>
                    <a:pt x="1548365" y="0"/>
                  </a:moveTo>
                  <a:lnTo>
                    <a:pt x="0" y="0"/>
                  </a:lnTo>
                  <a:lnTo>
                    <a:pt x="0" y="650218"/>
                  </a:lnTo>
                  <a:lnTo>
                    <a:pt x="1548365" y="650218"/>
                  </a:lnTo>
                  <a:lnTo>
                    <a:pt x="1548365" y="0"/>
                  </a:lnTo>
                  <a:close/>
                </a:path>
              </a:pathLst>
            </a:custGeom>
            <a:solidFill>
              <a:srgbClr val="C9DA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378250" y="3813726"/>
            <a:ext cx="29718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25" dirty="0">
                <a:solidFill>
                  <a:srgbClr val="1155CC"/>
                </a:solidFill>
                <a:latin typeface="Arial"/>
                <a:cs typeface="Arial"/>
              </a:rPr>
              <a:t>Mac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350504" y="2819269"/>
            <a:ext cx="541020" cy="275590"/>
            <a:chOff x="2350504" y="2819269"/>
            <a:chExt cx="541020" cy="275590"/>
          </a:xfrm>
        </p:grpSpPr>
        <p:sp>
          <p:nvSpPr>
            <p:cNvPr id="20" name="object 20"/>
            <p:cNvSpPr/>
            <p:nvPr/>
          </p:nvSpPr>
          <p:spPr>
            <a:xfrm>
              <a:off x="2355267" y="2824032"/>
              <a:ext cx="531495" cy="266065"/>
            </a:xfrm>
            <a:custGeom>
              <a:avLst/>
              <a:gdLst/>
              <a:ahLst/>
              <a:cxnLst/>
              <a:rect l="l" t="t" r="r" b="b"/>
              <a:pathLst>
                <a:path w="531494" h="266064">
                  <a:moveTo>
                    <a:pt x="398550" y="0"/>
                  </a:moveTo>
                  <a:lnTo>
                    <a:pt x="398550" y="66375"/>
                  </a:lnTo>
                  <a:lnTo>
                    <a:pt x="0" y="66375"/>
                  </a:lnTo>
                  <a:lnTo>
                    <a:pt x="0" y="199125"/>
                  </a:lnTo>
                  <a:lnTo>
                    <a:pt x="398550" y="199125"/>
                  </a:lnTo>
                  <a:lnTo>
                    <a:pt x="398550" y="265501"/>
                  </a:lnTo>
                  <a:lnTo>
                    <a:pt x="531299" y="132750"/>
                  </a:lnTo>
                  <a:lnTo>
                    <a:pt x="398550" y="0"/>
                  </a:lnTo>
                  <a:close/>
                </a:path>
              </a:pathLst>
            </a:custGeom>
            <a:solidFill>
              <a:srgbClr val="EEEC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355266" y="2824032"/>
              <a:ext cx="531495" cy="266065"/>
            </a:xfrm>
            <a:custGeom>
              <a:avLst/>
              <a:gdLst/>
              <a:ahLst/>
              <a:cxnLst/>
              <a:rect l="l" t="t" r="r" b="b"/>
              <a:pathLst>
                <a:path w="531494" h="266064">
                  <a:moveTo>
                    <a:pt x="0" y="66374"/>
                  </a:moveTo>
                  <a:lnTo>
                    <a:pt x="398550" y="66374"/>
                  </a:lnTo>
                  <a:lnTo>
                    <a:pt x="398550" y="0"/>
                  </a:lnTo>
                  <a:lnTo>
                    <a:pt x="531300" y="132749"/>
                  </a:lnTo>
                  <a:lnTo>
                    <a:pt x="398550" y="265499"/>
                  </a:lnTo>
                  <a:lnTo>
                    <a:pt x="398550" y="199124"/>
                  </a:lnTo>
                  <a:lnTo>
                    <a:pt x="0" y="199124"/>
                  </a:lnTo>
                  <a:lnTo>
                    <a:pt x="0" y="66374"/>
                  </a:lnTo>
                  <a:close/>
                </a:path>
              </a:pathLst>
            </a:custGeom>
            <a:ln w="9524">
              <a:solidFill>
                <a:srgbClr val="1F49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286333" y="5191939"/>
            <a:ext cx="257810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Arial"/>
                <a:cs typeface="Arial"/>
              </a:rPr>
              <a:t>Development</a:t>
            </a:r>
            <a:r>
              <a:rPr sz="1600" spc="-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machines</a:t>
            </a:r>
            <a:r>
              <a:rPr sz="1600" spc="-5" dirty="0">
                <a:latin typeface="Arial"/>
                <a:cs typeface="Arial"/>
              </a:rPr>
              <a:t> </a:t>
            </a:r>
            <a:r>
              <a:rPr sz="1600" spc="-20" dirty="0">
                <a:latin typeface="Arial"/>
                <a:cs typeface="Arial"/>
              </a:rPr>
              <a:t>only </a:t>
            </a:r>
            <a:r>
              <a:rPr sz="1600" dirty="0">
                <a:latin typeface="Arial"/>
                <a:cs typeface="Arial"/>
              </a:rPr>
              <a:t>needs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4F81BD"/>
                </a:solidFill>
                <a:latin typeface="Arial"/>
                <a:cs typeface="Arial"/>
              </a:rPr>
              <a:t>Docker</a:t>
            </a:r>
            <a:r>
              <a:rPr sz="1600" b="1" spc="-10" dirty="0">
                <a:solidFill>
                  <a:srgbClr val="4F81BD"/>
                </a:solidFill>
                <a:latin typeface="Arial"/>
                <a:cs typeface="Arial"/>
              </a:rPr>
              <a:t> installed</a:t>
            </a:r>
            <a:endParaRPr sz="16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938666" y="3671105"/>
            <a:ext cx="250888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Arial"/>
                <a:cs typeface="Arial"/>
              </a:rPr>
              <a:t>Every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team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member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moves </a:t>
            </a:r>
            <a:r>
              <a:rPr sz="1600" dirty="0">
                <a:latin typeface="Arial"/>
                <a:cs typeface="Arial"/>
              </a:rPr>
              <a:t>code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to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source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control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507259" y="1397179"/>
            <a:ext cx="1326515" cy="252095"/>
            <a:chOff x="507259" y="1397179"/>
            <a:chExt cx="1326515" cy="252095"/>
          </a:xfrm>
        </p:grpSpPr>
        <p:sp>
          <p:nvSpPr>
            <p:cNvPr id="25" name="object 25"/>
            <p:cNvSpPr/>
            <p:nvPr/>
          </p:nvSpPr>
          <p:spPr>
            <a:xfrm>
              <a:off x="512022" y="1401942"/>
              <a:ext cx="300990" cy="242570"/>
            </a:xfrm>
            <a:custGeom>
              <a:avLst/>
              <a:gdLst/>
              <a:ahLst/>
              <a:cxnLst/>
              <a:rect l="l" t="t" r="r" b="b"/>
              <a:pathLst>
                <a:path w="300990" h="242569">
                  <a:moveTo>
                    <a:pt x="300392" y="0"/>
                  </a:moveTo>
                  <a:lnTo>
                    <a:pt x="0" y="0"/>
                  </a:lnTo>
                  <a:lnTo>
                    <a:pt x="0" y="242394"/>
                  </a:lnTo>
                  <a:lnTo>
                    <a:pt x="300392" y="242394"/>
                  </a:lnTo>
                  <a:lnTo>
                    <a:pt x="300392" y="0"/>
                  </a:lnTo>
                  <a:close/>
                </a:path>
              </a:pathLst>
            </a:custGeom>
            <a:solidFill>
              <a:srgbClr val="FFE5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12022" y="1401941"/>
              <a:ext cx="300990" cy="242570"/>
            </a:xfrm>
            <a:custGeom>
              <a:avLst/>
              <a:gdLst/>
              <a:ahLst/>
              <a:cxnLst/>
              <a:rect l="l" t="t" r="r" b="b"/>
              <a:pathLst>
                <a:path w="300990" h="242569">
                  <a:moveTo>
                    <a:pt x="0" y="0"/>
                  </a:moveTo>
                  <a:lnTo>
                    <a:pt x="300392" y="0"/>
                  </a:lnTo>
                  <a:lnTo>
                    <a:pt x="300392" y="242393"/>
                  </a:lnTo>
                  <a:lnTo>
                    <a:pt x="0" y="242393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6B26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020009" y="1401942"/>
              <a:ext cx="300990" cy="242570"/>
            </a:xfrm>
            <a:custGeom>
              <a:avLst/>
              <a:gdLst/>
              <a:ahLst/>
              <a:cxnLst/>
              <a:rect l="l" t="t" r="r" b="b"/>
              <a:pathLst>
                <a:path w="300990" h="242569">
                  <a:moveTo>
                    <a:pt x="300392" y="0"/>
                  </a:moveTo>
                  <a:lnTo>
                    <a:pt x="0" y="0"/>
                  </a:lnTo>
                  <a:lnTo>
                    <a:pt x="0" y="242394"/>
                  </a:lnTo>
                  <a:lnTo>
                    <a:pt x="300392" y="242394"/>
                  </a:lnTo>
                  <a:lnTo>
                    <a:pt x="300392" y="0"/>
                  </a:lnTo>
                  <a:close/>
                </a:path>
              </a:pathLst>
            </a:custGeom>
            <a:solidFill>
              <a:srgbClr val="FFE5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020009" y="1401941"/>
              <a:ext cx="300990" cy="242570"/>
            </a:xfrm>
            <a:custGeom>
              <a:avLst/>
              <a:gdLst/>
              <a:ahLst/>
              <a:cxnLst/>
              <a:rect l="l" t="t" r="r" b="b"/>
              <a:pathLst>
                <a:path w="300990" h="242569">
                  <a:moveTo>
                    <a:pt x="0" y="0"/>
                  </a:moveTo>
                  <a:lnTo>
                    <a:pt x="300392" y="0"/>
                  </a:lnTo>
                  <a:lnTo>
                    <a:pt x="300392" y="242393"/>
                  </a:lnTo>
                  <a:lnTo>
                    <a:pt x="0" y="242393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6B26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527996" y="1401942"/>
              <a:ext cx="300990" cy="242570"/>
            </a:xfrm>
            <a:custGeom>
              <a:avLst/>
              <a:gdLst/>
              <a:ahLst/>
              <a:cxnLst/>
              <a:rect l="l" t="t" r="r" b="b"/>
              <a:pathLst>
                <a:path w="300989" h="242569">
                  <a:moveTo>
                    <a:pt x="300392" y="0"/>
                  </a:moveTo>
                  <a:lnTo>
                    <a:pt x="0" y="0"/>
                  </a:lnTo>
                  <a:lnTo>
                    <a:pt x="0" y="242394"/>
                  </a:lnTo>
                  <a:lnTo>
                    <a:pt x="300392" y="242394"/>
                  </a:lnTo>
                  <a:lnTo>
                    <a:pt x="300392" y="0"/>
                  </a:lnTo>
                  <a:close/>
                </a:path>
              </a:pathLst>
            </a:custGeom>
            <a:solidFill>
              <a:srgbClr val="FFE5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527996" y="1401941"/>
              <a:ext cx="300990" cy="242570"/>
            </a:xfrm>
            <a:custGeom>
              <a:avLst/>
              <a:gdLst/>
              <a:ahLst/>
              <a:cxnLst/>
              <a:rect l="l" t="t" r="r" b="b"/>
              <a:pathLst>
                <a:path w="300989" h="242569">
                  <a:moveTo>
                    <a:pt x="0" y="0"/>
                  </a:moveTo>
                  <a:lnTo>
                    <a:pt x="300392" y="0"/>
                  </a:lnTo>
                  <a:lnTo>
                    <a:pt x="300392" y="242393"/>
                  </a:lnTo>
                  <a:lnTo>
                    <a:pt x="0" y="242393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6B26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1" name="object 31"/>
          <p:cNvGrpSpPr/>
          <p:nvPr/>
        </p:nvGrpSpPr>
        <p:grpSpPr>
          <a:xfrm>
            <a:off x="507259" y="2819580"/>
            <a:ext cx="1326515" cy="252095"/>
            <a:chOff x="507259" y="2819580"/>
            <a:chExt cx="1326515" cy="252095"/>
          </a:xfrm>
        </p:grpSpPr>
        <p:sp>
          <p:nvSpPr>
            <p:cNvPr id="32" name="object 32"/>
            <p:cNvSpPr/>
            <p:nvPr/>
          </p:nvSpPr>
          <p:spPr>
            <a:xfrm>
              <a:off x="512022" y="2824342"/>
              <a:ext cx="300990" cy="242570"/>
            </a:xfrm>
            <a:custGeom>
              <a:avLst/>
              <a:gdLst/>
              <a:ahLst/>
              <a:cxnLst/>
              <a:rect l="l" t="t" r="r" b="b"/>
              <a:pathLst>
                <a:path w="300990" h="242569">
                  <a:moveTo>
                    <a:pt x="300392" y="0"/>
                  </a:moveTo>
                  <a:lnTo>
                    <a:pt x="0" y="0"/>
                  </a:lnTo>
                  <a:lnTo>
                    <a:pt x="0" y="242393"/>
                  </a:lnTo>
                  <a:lnTo>
                    <a:pt x="300392" y="242393"/>
                  </a:lnTo>
                  <a:lnTo>
                    <a:pt x="300392" y="0"/>
                  </a:lnTo>
                  <a:close/>
                </a:path>
              </a:pathLst>
            </a:custGeom>
            <a:solidFill>
              <a:srgbClr val="FFE5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12022" y="2824342"/>
              <a:ext cx="300990" cy="242570"/>
            </a:xfrm>
            <a:custGeom>
              <a:avLst/>
              <a:gdLst/>
              <a:ahLst/>
              <a:cxnLst/>
              <a:rect l="l" t="t" r="r" b="b"/>
              <a:pathLst>
                <a:path w="300990" h="242569">
                  <a:moveTo>
                    <a:pt x="0" y="0"/>
                  </a:moveTo>
                  <a:lnTo>
                    <a:pt x="300392" y="0"/>
                  </a:lnTo>
                  <a:lnTo>
                    <a:pt x="300392" y="242394"/>
                  </a:lnTo>
                  <a:lnTo>
                    <a:pt x="0" y="24239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6B26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020009" y="2824342"/>
              <a:ext cx="300990" cy="242570"/>
            </a:xfrm>
            <a:custGeom>
              <a:avLst/>
              <a:gdLst/>
              <a:ahLst/>
              <a:cxnLst/>
              <a:rect l="l" t="t" r="r" b="b"/>
              <a:pathLst>
                <a:path w="300990" h="242569">
                  <a:moveTo>
                    <a:pt x="300392" y="0"/>
                  </a:moveTo>
                  <a:lnTo>
                    <a:pt x="0" y="0"/>
                  </a:lnTo>
                  <a:lnTo>
                    <a:pt x="0" y="242393"/>
                  </a:lnTo>
                  <a:lnTo>
                    <a:pt x="300392" y="242393"/>
                  </a:lnTo>
                  <a:lnTo>
                    <a:pt x="300392" y="0"/>
                  </a:lnTo>
                  <a:close/>
                </a:path>
              </a:pathLst>
            </a:custGeom>
            <a:solidFill>
              <a:srgbClr val="FFE5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020009" y="2824342"/>
              <a:ext cx="300990" cy="242570"/>
            </a:xfrm>
            <a:custGeom>
              <a:avLst/>
              <a:gdLst/>
              <a:ahLst/>
              <a:cxnLst/>
              <a:rect l="l" t="t" r="r" b="b"/>
              <a:pathLst>
                <a:path w="300990" h="242569">
                  <a:moveTo>
                    <a:pt x="0" y="0"/>
                  </a:moveTo>
                  <a:lnTo>
                    <a:pt x="300392" y="0"/>
                  </a:lnTo>
                  <a:lnTo>
                    <a:pt x="300392" y="242394"/>
                  </a:lnTo>
                  <a:lnTo>
                    <a:pt x="0" y="24239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6B26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527996" y="2824342"/>
              <a:ext cx="300990" cy="242570"/>
            </a:xfrm>
            <a:custGeom>
              <a:avLst/>
              <a:gdLst/>
              <a:ahLst/>
              <a:cxnLst/>
              <a:rect l="l" t="t" r="r" b="b"/>
              <a:pathLst>
                <a:path w="300989" h="242569">
                  <a:moveTo>
                    <a:pt x="300392" y="0"/>
                  </a:moveTo>
                  <a:lnTo>
                    <a:pt x="0" y="0"/>
                  </a:lnTo>
                  <a:lnTo>
                    <a:pt x="0" y="242393"/>
                  </a:lnTo>
                  <a:lnTo>
                    <a:pt x="300392" y="242393"/>
                  </a:lnTo>
                  <a:lnTo>
                    <a:pt x="300392" y="0"/>
                  </a:lnTo>
                  <a:close/>
                </a:path>
              </a:pathLst>
            </a:custGeom>
            <a:solidFill>
              <a:srgbClr val="FFE5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527996" y="2824342"/>
              <a:ext cx="300990" cy="242570"/>
            </a:xfrm>
            <a:custGeom>
              <a:avLst/>
              <a:gdLst/>
              <a:ahLst/>
              <a:cxnLst/>
              <a:rect l="l" t="t" r="r" b="b"/>
              <a:pathLst>
                <a:path w="300989" h="242569">
                  <a:moveTo>
                    <a:pt x="0" y="0"/>
                  </a:moveTo>
                  <a:lnTo>
                    <a:pt x="300392" y="0"/>
                  </a:lnTo>
                  <a:lnTo>
                    <a:pt x="300392" y="242394"/>
                  </a:lnTo>
                  <a:lnTo>
                    <a:pt x="0" y="24239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6B26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8" name="object 38"/>
          <p:cNvGrpSpPr/>
          <p:nvPr/>
        </p:nvGrpSpPr>
        <p:grpSpPr>
          <a:xfrm>
            <a:off x="507259" y="4181019"/>
            <a:ext cx="1326515" cy="252095"/>
            <a:chOff x="507259" y="4181019"/>
            <a:chExt cx="1326515" cy="252095"/>
          </a:xfrm>
        </p:grpSpPr>
        <p:sp>
          <p:nvSpPr>
            <p:cNvPr id="39" name="object 39"/>
            <p:cNvSpPr/>
            <p:nvPr/>
          </p:nvSpPr>
          <p:spPr>
            <a:xfrm>
              <a:off x="512022" y="4185782"/>
              <a:ext cx="300990" cy="242570"/>
            </a:xfrm>
            <a:custGeom>
              <a:avLst/>
              <a:gdLst/>
              <a:ahLst/>
              <a:cxnLst/>
              <a:rect l="l" t="t" r="r" b="b"/>
              <a:pathLst>
                <a:path w="300990" h="242570">
                  <a:moveTo>
                    <a:pt x="300392" y="0"/>
                  </a:moveTo>
                  <a:lnTo>
                    <a:pt x="0" y="0"/>
                  </a:lnTo>
                  <a:lnTo>
                    <a:pt x="0" y="242393"/>
                  </a:lnTo>
                  <a:lnTo>
                    <a:pt x="300392" y="242393"/>
                  </a:lnTo>
                  <a:lnTo>
                    <a:pt x="300392" y="0"/>
                  </a:lnTo>
                  <a:close/>
                </a:path>
              </a:pathLst>
            </a:custGeom>
            <a:solidFill>
              <a:srgbClr val="FFE5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12022" y="4185782"/>
              <a:ext cx="300990" cy="242570"/>
            </a:xfrm>
            <a:custGeom>
              <a:avLst/>
              <a:gdLst/>
              <a:ahLst/>
              <a:cxnLst/>
              <a:rect l="l" t="t" r="r" b="b"/>
              <a:pathLst>
                <a:path w="300990" h="242570">
                  <a:moveTo>
                    <a:pt x="0" y="0"/>
                  </a:moveTo>
                  <a:lnTo>
                    <a:pt x="300392" y="0"/>
                  </a:lnTo>
                  <a:lnTo>
                    <a:pt x="300392" y="242394"/>
                  </a:lnTo>
                  <a:lnTo>
                    <a:pt x="0" y="24239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6B26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020009" y="4185782"/>
              <a:ext cx="300990" cy="242570"/>
            </a:xfrm>
            <a:custGeom>
              <a:avLst/>
              <a:gdLst/>
              <a:ahLst/>
              <a:cxnLst/>
              <a:rect l="l" t="t" r="r" b="b"/>
              <a:pathLst>
                <a:path w="300990" h="242570">
                  <a:moveTo>
                    <a:pt x="300392" y="0"/>
                  </a:moveTo>
                  <a:lnTo>
                    <a:pt x="0" y="0"/>
                  </a:lnTo>
                  <a:lnTo>
                    <a:pt x="0" y="242393"/>
                  </a:lnTo>
                  <a:lnTo>
                    <a:pt x="300392" y="242393"/>
                  </a:lnTo>
                  <a:lnTo>
                    <a:pt x="300392" y="0"/>
                  </a:lnTo>
                  <a:close/>
                </a:path>
              </a:pathLst>
            </a:custGeom>
            <a:solidFill>
              <a:srgbClr val="FFE5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1020009" y="4185782"/>
              <a:ext cx="300990" cy="242570"/>
            </a:xfrm>
            <a:custGeom>
              <a:avLst/>
              <a:gdLst/>
              <a:ahLst/>
              <a:cxnLst/>
              <a:rect l="l" t="t" r="r" b="b"/>
              <a:pathLst>
                <a:path w="300990" h="242570">
                  <a:moveTo>
                    <a:pt x="0" y="0"/>
                  </a:moveTo>
                  <a:lnTo>
                    <a:pt x="300392" y="0"/>
                  </a:lnTo>
                  <a:lnTo>
                    <a:pt x="300392" y="242394"/>
                  </a:lnTo>
                  <a:lnTo>
                    <a:pt x="0" y="24239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6B26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1527996" y="4185782"/>
              <a:ext cx="300990" cy="242570"/>
            </a:xfrm>
            <a:custGeom>
              <a:avLst/>
              <a:gdLst/>
              <a:ahLst/>
              <a:cxnLst/>
              <a:rect l="l" t="t" r="r" b="b"/>
              <a:pathLst>
                <a:path w="300989" h="242570">
                  <a:moveTo>
                    <a:pt x="300392" y="0"/>
                  </a:moveTo>
                  <a:lnTo>
                    <a:pt x="0" y="0"/>
                  </a:lnTo>
                  <a:lnTo>
                    <a:pt x="0" y="242393"/>
                  </a:lnTo>
                  <a:lnTo>
                    <a:pt x="300392" y="242393"/>
                  </a:lnTo>
                  <a:lnTo>
                    <a:pt x="300392" y="0"/>
                  </a:lnTo>
                  <a:close/>
                </a:path>
              </a:pathLst>
            </a:custGeom>
            <a:solidFill>
              <a:srgbClr val="FFE5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1527996" y="4185782"/>
              <a:ext cx="300990" cy="242570"/>
            </a:xfrm>
            <a:custGeom>
              <a:avLst/>
              <a:gdLst/>
              <a:ahLst/>
              <a:cxnLst/>
              <a:rect l="l" t="t" r="r" b="b"/>
              <a:pathLst>
                <a:path w="300989" h="242570">
                  <a:moveTo>
                    <a:pt x="0" y="0"/>
                  </a:moveTo>
                  <a:lnTo>
                    <a:pt x="300392" y="0"/>
                  </a:lnTo>
                  <a:lnTo>
                    <a:pt x="300392" y="242394"/>
                  </a:lnTo>
                  <a:lnTo>
                    <a:pt x="0" y="24239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6B26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286333" y="5942707"/>
            <a:ext cx="2656205" cy="496570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 marR="5080">
              <a:lnSpc>
                <a:spcPts val="1920"/>
              </a:lnSpc>
              <a:spcBef>
                <a:spcPts val="10"/>
              </a:spcBef>
            </a:pPr>
            <a:r>
              <a:rPr sz="1600" b="1" dirty="0">
                <a:solidFill>
                  <a:srgbClr val="4F81BD"/>
                </a:solidFill>
                <a:latin typeface="Arial"/>
                <a:cs typeface="Arial"/>
              </a:rPr>
              <a:t>Containers</a:t>
            </a:r>
            <a:r>
              <a:rPr sz="1600" b="1" spc="-25" dirty="0">
                <a:solidFill>
                  <a:srgbClr val="4F81BD"/>
                </a:solidFill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need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to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be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spc="-20" dirty="0">
                <a:latin typeface="Arial"/>
                <a:cs typeface="Arial"/>
              </a:rPr>
              <a:t>setup </a:t>
            </a:r>
            <a:r>
              <a:rPr sz="1600" dirty="0">
                <a:latin typeface="Arial"/>
                <a:cs typeface="Arial"/>
              </a:rPr>
              <a:t>only</a:t>
            </a:r>
            <a:r>
              <a:rPr sz="1600" spc="-5" dirty="0">
                <a:latin typeface="Arial"/>
                <a:cs typeface="Arial"/>
              </a:rPr>
              <a:t> </a:t>
            </a:r>
            <a:r>
              <a:rPr sz="1600" spc="-20" dirty="0">
                <a:latin typeface="Arial"/>
                <a:cs typeface="Arial"/>
              </a:rPr>
              <a:t>once</a:t>
            </a:r>
            <a:endParaRPr sz="1600">
              <a:latin typeface="Arial"/>
              <a:cs typeface="Arial"/>
            </a:endParaRPr>
          </a:p>
        </p:txBody>
      </p:sp>
      <p:sp>
        <p:nvSpPr>
          <p:cNvPr id="46" name="object 4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spc="-25" dirty="0"/>
              <a:t>46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Software</a:t>
            </a:r>
            <a:r>
              <a:rPr spc="-50" dirty="0"/>
              <a:t> </a:t>
            </a:r>
            <a:r>
              <a:rPr dirty="0"/>
              <a:t>Development</a:t>
            </a:r>
            <a:r>
              <a:rPr spc="-50" dirty="0"/>
              <a:t> </a:t>
            </a:r>
            <a:r>
              <a:rPr dirty="0"/>
              <a:t>Workflow</a:t>
            </a:r>
            <a:r>
              <a:rPr spc="-45" dirty="0"/>
              <a:t> </a:t>
            </a:r>
            <a:r>
              <a:rPr dirty="0"/>
              <a:t>(with</a:t>
            </a:r>
            <a:r>
              <a:rPr spc="-50" dirty="0"/>
              <a:t> </a:t>
            </a:r>
            <a:r>
              <a:rPr spc="-10" dirty="0"/>
              <a:t>Docker)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226415" y="2621304"/>
            <a:ext cx="1763395" cy="577215"/>
            <a:chOff x="3226415" y="2621304"/>
            <a:chExt cx="1763395" cy="577215"/>
          </a:xfrm>
        </p:grpSpPr>
        <p:sp>
          <p:nvSpPr>
            <p:cNvPr id="4" name="object 4"/>
            <p:cNvSpPr/>
            <p:nvPr/>
          </p:nvSpPr>
          <p:spPr>
            <a:xfrm>
              <a:off x="3235941" y="2630831"/>
              <a:ext cx="1744345" cy="558165"/>
            </a:xfrm>
            <a:custGeom>
              <a:avLst/>
              <a:gdLst/>
              <a:ahLst/>
              <a:cxnLst/>
              <a:rect l="l" t="t" r="r" b="b"/>
              <a:pathLst>
                <a:path w="1744345" h="558164">
                  <a:moveTo>
                    <a:pt x="1743956" y="0"/>
                  </a:moveTo>
                  <a:lnTo>
                    <a:pt x="0" y="0"/>
                  </a:lnTo>
                  <a:lnTo>
                    <a:pt x="0" y="557585"/>
                  </a:lnTo>
                  <a:lnTo>
                    <a:pt x="1743956" y="557585"/>
                  </a:lnTo>
                  <a:lnTo>
                    <a:pt x="1743956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235940" y="2630829"/>
              <a:ext cx="1744345" cy="558165"/>
            </a:xfrm>
            <a:custGeom>
              <a:avLst/>
              <a:gdLst/>
              <a:ahLst/>
              <a:cxnLst/>
              <a:rect l="l" t="t" r="r" b="b"/>
              <a:pathLst>
                <a:path w="1744345" h="558164">
                  <a:moveTo>
                    <a:pt x="0" y="557587"/>
                  </a:moveTo>
                  <a:lnTo>
                    <a:pt x="0" y="0"/>
                  </a:lnTo>
                  <a:lnTo>
                    <a:pt x="1330607" y="0"/>
                  </a:lnTo>
                  <a:lnTo>
                    <a:pt x="1743957" y="0"/>
                  </a:lnTo>
                  <a:lnTo>
                    <a:pt x="1743957" y="557587"/>
                  </a:lnTo>
                  <a:lnTo>
                    <a:pt x="0" y="557587"/>
                  </a:lnTo>
                  <a:close/>
                </a:path>
              </a:pathLst>
            </a:custGeom>
            <a:ln w="19049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438935" y="2774877"/>
            <a:ext cx="1261745" cy="278130"/>
          </a:xfrm>
          <a:prstGeom prst="rect">
            <a:avLst/>
          </a:prstGeom>
          <a:solidFill>
            <a:srgbClr val="FFFFFF"/>
          </a:solidFill>
          <a:ln w="9524">
            <a:solidFill>
              <a:srgbClr val="595959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393065">
              <a:lnSpc>
                <a:spcPct val="100000"/>
              </a:lnSpc>
              <a:spcBef>
                <a:spcPts val="330"/>
              </a:spcBef>
            </a:pPr>
            <a:r>
              <a:rPr sz="1200" spc="-10" dirty="0">
                <a:latin typeface="Arial"/>
                <a:cs typeface="Arial"/>
              </a:rPr>
              <a:t>GitHub</a:t>
            </a:r>
            <a:endParaRPr sz="12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48740" y="2401954"/>
            <a:ext cx="103378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434343"/>
                </a:solidFill>
                <a:latin typeface="Arial"/>
                <a:cs typeface="Arial"/>
              </a:rPr>
              <a:t>Source</a:t>
            </a:r>
            <a:r>
              <a:rPr sz="1100" b="1" spc="-55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434343"/>
                </a:solidFill>
                <a:latin typeface="Arial"/>
                <a:cs typeface="Arial"/>
              </a:rPr>
              <a:t>Control</a:t>
            </a:r>
            <a:endParaRPr sz="11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464871" y="2151053"/>
            <a:ext cx="84772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434343"/>
                </a:solidFill>
                <a:latin typeface="Arial"/>
                <a:cs typeface="Arial"/>
              </a:rPr>
              <a:t>Build</a:t>
            </a:r>
            <a:r>
              <a:rPr sz="1100" b="1" spc="-40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434343"/>
                </a:solidFill>
                <a:latin typeface="Arial"/>
                <a:cs typeface="Arial"/>
              </a:rPr>
              <a:t>Server</a:t>
            </a:r>
            <a:endParaRPr sz="11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574835" y="2657121"/>
            <a:ext cx="848994" cy="650240"/>
          </a:xfrm>
          <a:custGeom>
            <a:avLst/>
            <a:gdLst/>
            <a:ahLst/>
            <a:cxnLst/>
            <a:rect l="l" t="t" r="r" b="b"/>
            <a:pathLst>
              <a:path w="848995" h="650239">
                <a:moveTo>
                  <a:pt x="848786" y="0"/>
                </a:moveTo>
                <a:lnTo>
                  <a:pt x="0" y="0"/>
                </a:lnTo>
                <a:lnTo>
                  <a:pt x="0" y="650218"/>
                </a:lnTo>
                <a:lnTo>
                  <a:pt x="848786" y="650218"/>
                </a:lnTo>
                <a:lnTo>
                  <a:pt x="848786" y="0"/>
                </a:lnTo>
                <a:close/>
              </a:path>
            </a:pathLst>
          </a:custGeom>
          <a:solidFill>
            <a:srgbClr val="F4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426272" y="2343064"/>
            <a:ext cx="1193800" cy="1166495"/>
          </a:xfrm>
          <a:prstGeom prst="rect">
            <a:avLst/>
          </a:prstGeom>
          <a:ln w="9524">
            <a:solidFill>
              <a:srgbClr val="595959"/>
            </a:solidFill>
          </a:ln>
        </p:spPr>
        <p:txBody>
          <a:bodyPr vert="horz" wrap="square" lIns="0" tIns="144780" rIns="0" bIns="0" rtlCol="0">
            <a:spAutoFit/>
          </a:bodyPr>
          <a:lstStyle/>
          <a:p>
            <a:pPr marL="140335">
              <a:lnSpc>
                <a:spcPct val="100000"/>
              </a:lnSpc>
              <a:spcBef>
                <a:spcPts val="1140"/>
              </a:spcBef>
            </a:pPr>
            <a:r>
              <a:rPr sz="1100" b="1" spc="-10" dirty="0">
                <a:solidFill>
                  <a:srgbClr val="990000"/>
                </a:solidFill>
                <a:latin typeface="Arial"/>
                <a:cs typeface="Arial"/>
              </a:rPr>
              <a:t>Linux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7512" y="1917550"/>
            <a:ext cx="537586" cy="430055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350591" y="1217918"/>
            <a:ext cx="1682750" cy="650240"/>
          </a:xfrm>
          <a:custGeom>
            <a:avLst/>
            <a:gdLst/>
            <a:ahLst/>
            <a:cxnLst/>
            <a:rect l="l" t="t" r="r" b="b"/>
            <a:pathLst>
              <a:path w="1682750" h="650239">
                <a:moveTo>
                  <a:pt x="1682428" y="0"/>
                </a:moveTo>
                <a:lnTo>
                  <a:pt x="0" y="0"/>
                </a:lnTo>
                <a:lnTo>
                  <a:pt x="0" y="650218"/>
                </a:lnTo>
                <a:lnTo>
                  <a:pt x="1682428" y="650218"/>
                </a:lnTo>
                <a:lnTo>
                  <a:pt x="1682428" y="0"/>
                </a:lnTo>
                <a:close/>
              </a:path>
            </a:pathLst>
          </a:custGeom>
          <a:solidFill>
            <a:srgbClr val="D9EAD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330085" y="1036201"/>
            <a:ext cx="63690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solidFill>
                  <a:srgbClr val="38761D"/>
                </a:solidFill>
                <a:latin typeface="Arial"/>
                <a:cs typeface="Arial"/>
              </a:rPr>
              <a:t>Windows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80223" y="2622525"/>
            <a:ext cx="1585595" cy="1097915"/>
            <a:chOff x="380223" y="2622525"/>
            <a:chExt cx="1585595" cy="1097915"/>
          </a:xfrm>
        </p:grpSpPr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7512" y="3290009"/>
              <a:ext cx="537586" cy="430069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380223" y="2622525"/>
              <a:ext cx="1585595" cy="650240"/>
            </a:xfrm>
            <a:custGeom>
              <a:avLst/>
              <a:gdLst/>
              <a:ahLst/>
              <a:cxnLst/>
              <a:rect l="l" t="t" r="r" b="b"/>
              <a:pathLst>
                <a:path w="1585595" h="650239">
                  <a:moveTo>
                    <a:pt x="1585412" y="0"/>
                  </a:moveTo>
                  <a:lnTo>
                    <a:pt x="0" y="0"/>
                  </a:lnTo>
                  <a:lnTo>
                    <a:pt x="0" y="650218"/>
                  </a:lnTo>
                  <a:lnTo>
                    <a:pt x="1585412" y="650218"/>
                  </a:lnTo>
                  <a:lnTo>
                    <a:pt x="1585412" y="0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59717" y="2440809"/>
            <a:ext cx="39751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solidFill>
                  <a:srgbClr val="990000"/>
                </a:solidFill>
                <a:latin typeface="Arial"/>
                <a:cs typeface="Arial"/>
              </a:rPr>
              <a:t>Linux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98756" y="3995442"/>
            <a:ext cx="1548765" cy="1104900"/>
            <a:chOff x="398756" y="3995442"/>
            <a:chExt cx="1548765" cy="1104900"/>
          </a:xfrm>
        </p:grpSpPr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24746" y="4669793"/>
              <a:ext cx="537586" cy="430069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398756" y="3995442"/>
              <a:ext cx="1548765" cy="650240"/>
            </a:xfrm>
            <a:custGeom>
              <a:avLst/>
              <a:gdLst/>
              <a:ahLst/>
              <a:cxnLst/>
              <a:rect l="l" t="t" r="r" b="b"/>
              <a:pathLst>
                <a:path w="1548764" h="650239">
                  <a:moveTo>
                    <a:pt x="1548365" y="0"/>
                  </a:moveTo>
                  <a:lnTo>
                    <a:pt x="0" y="0"/>
                  </a:lnTo>
                  <a:lnTo>
                    <a:pt x="0" y="650218"/>
                  </a:lnTo>
                  <a:lnTo>
                    <a:pt x="1548365" y="650218"/>
                  </a:lnTo>
                  <a:lnTo>
                    <a:pt x="1548365" y="0"/>
                  </a:lnTo>
                  <a:close/>
                </a:path>
              </a:pathLst>
            </a:custGeom>
            <a:solidFill>
              <a:srgbClr val="C9DA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378250" y="3813726"/>
            <a:ext cx="29718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25" dirty="0">
                <a:solidFill>
                  <a:srgbClr val="1155CC"/>
                </a:solidFill>
                <a:latin typeface="Arial"/>
                <a:cs typeface="Arial"/>
              </a:rPr>
              <a:t>Mac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2350504" y="2819269"/>
            <a:ext cx="541020" cy="275590"/>
            <a:chOff x="2350504" y="2819269"/>
            <a:chExt cx="541020" cy="275590"/>
          </a:xfrm>
        </p:grpSpPr>
        <p:sp>
          <p:nvSpPr>
            <p:cNvPr id="23" name="object 23"/>
            <p:cNvSpPr/>
            <p:nvPr/>
          </p:nvSpPr>
          <p:spPr>
            <a:xfrm>
              <a:off x="2355267" y="2824032"/>
              <a:ext cx="531495" cy="266065"/>
            </a:xfrm>
            <a:custGeom>
              <a:avLst/>
              <a:gdLst/>
              <a:ahLst/>
              <a:cxnLst/>
              <a:rect l="l" t="t" r="r" b="b"/>
              <a:pathLst>
                <a:path w="531494" h="266064">
                  <a:moveTo>
                    <a:pt x="398550" y="0"/>
                  </a:moveTo>
                  <a:lnTo>
                    <a:pt x="398550" y="66375"/>
                  </a:lnTo>
                  <a:lnTo>
                    <a:pt x="0" y="66375"/>
                  </a:lnTo>
                  <a:lnTo>
                    <a:pt x="0" y="199125"/>
                  </a:lnTo>
                  <a:lnTo>
                    <a:pt x="398550" y="199125"/>
                  </a:lnTo>
                  <a:lnTo>
                    <a:pt x="398550" y="265501"/>
                  </a:lnTo>
                  <a:lnTo>
                    <a:pt x="531299" y="132750"/>
                  </a:lnTo>
                  <a:lnTo>
                    <a:pt x="398550" y="0"/>
                  </a:lnTo>
                  <a:close/>
                </a:path>
              </a:pathLst>
            </a:custGeom>
            <a:solidFill>
              <a:srgbClr val="EEEC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355266" y="2824032"/>
              <a:ext cx="531495" cy="266065"/>
            </a:xfrm>
            <a:custGeom>
              <a:avLst/>
              <a:gdLst/>
              <a:ahLst/>
              <a:cxnLst/>
              <a:rect l="l" t="t" r="r" b="b"/>
              <a:pathLst>
                <a:path w="531494" h="266064">
                  <a:moveTo>
                    <a:pt x="0" y="66374"/>
                  </a:moveTo>
                  <a:lnTo>
                    <a:pt x="398550" y="66374"/>
                  </a:lnTo>
                  <a:lnTo>
                    <a:pt x="398550" y="0"/>
                  </a:lnTo>
                  <a:lnTo>
                    <a:pt x="531300" y="132749"/>
                  </a:lnTo>
                  <a:lnTo>
                    <a:pt x="398550" y="265499"/>
                  </a:lnTo>
                  <a:lnTo>
                    <a:pt x="398550" y="199124"/>
                  </a:lnTo>
                  <a:lnTo>
                    <a:pt x="0" y="199124"/>
                  </a:lnTo>
                  <a:lnTo>
                    <a:pt x="0" y="66374"/>
                  </a:lnTo>
                  <a:close/>
                </a:path>
              </a:pathLst>
            </a:custGeom>
            <a:ln w="9524">
              <a:solidFill>
                <a:srgbClr val="1F49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286333" y="5191939"/>
            <a:ext cx="257810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Arial"/>
                <a:cs typeface="Arial"/>
              </a:rPr>
              <a:t>Development</a:t>
            </a:r>
            <a:r>
              <a:rPr sz="1600" spc="-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machines</a:t>
            </a:r>
            <a:r>
              <a:rPr sz="1600" spc="-5" dirty="0">
                <a:latin typeface="Arial"/>
                <a:cs typeface="Arial"/>
              </a:rPr>
              <a:t> </a:t>
            </a:r>
            <a:r>
              <a:rPr sz="1600" spc="-20" dirty="0">
                <a:latin typeface="Arial"/>
                <a:cs typeface="Arial"/>
              </a:rPr>
              <a:t>only </a:t>
            </a:r>
            <a:r>
              <a:rPr sz="1600" dirty="0">
                <a:latin typeface="Arial"/>
                <a:cs typeface="Arial"/>
              </a:rPr>
              <a:t>needs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4F81BD"/>
                </a:solidFill>
                <a:latin typeface="Arial"/>
                <a:cs typeface="Arial"/>
              </a:rPr>
              <a:t>Docker</a:t>
            </a:r>
            <a:r>
              <a:rPr sz="1600" b="1" spc="-10" dirty="0">
                <a:solidFill>
                  <a:srgbClr val="4F81BD"/>
                </a:solidFill>
                <a:latin typeface="Arial"/>
                <a:cs typeface="Arial"/>
              </a:rPr>
              <a:t> installed</a:t>
            </a:r>
            <a:endParaRPr sz="16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938666" y="3671105"/>
            <a:ext cx="250888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Arial"/>
                <a:cs typeface="Arial"/>
              </a:rPr>
              <a:t>Every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team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member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moves </a:t>
            </a:r>
            <a:r>
              <a:rPr sz="1600" dirty="0">
                <a:latin typeface="Arial"/>
                <a:cs typeface="Arial"/>
              </a:rPr>
              <a:t>code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to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source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control</a:t>
            </a:r>
            <a:endParaRPr sz="16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859983" y="4003539"/>
            <a:ext cx="213677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Arial"/>
                <a:cs typeface="Arial"/>
              </a:rPr>
              <a:t>Build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server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only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needs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b="1" dirty="0">
                <a:solidFill>
                  <a:srgbClr val="4F81BD"/>
                </a:solidFill>
                <a:latin typeface="Arial"/>
                <a:cs typeface="Arial"/>
              </a:rPr>
              <a:t>Docker</a:t>
            </a:r>
            <a:r>
              <a:rPr sz="1600" b="1" spc="-20" dirty="0">
                <a:solidFill>
                  <a:srgbClr val="4F81BD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4F81BD"/>
                </a:solidFill>
                <a:latin typeface="Arial"/>
                <a:cs typeface="Arial"/>
              </a:rPr>
              <a:t>installed</a:t>
            </a:r>
            <a:endParaRPr sz="16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859983" y="4735059"/>
            <a:ext cx="266700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Arial"/>
                <a:cs typeface="Arial"/>
              </a:rPr>
              <a:t>Docker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4F81BD"/>
                </a:solidFill>
                <a:latin typeface="Arial"/>
                <a:cs typeface="Arial"/>
              </a:rPr>
              <a:t>images</a:t>
            </a:r>
            <a:r>
              <a:rPr sz="1600" b="1" spc="-15" dirty="0">
                <a:solidFill>
                  <a:srgbClr val="4F81BD"/>
                </a:solidFill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are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built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for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spc="-50" dirty="0">
                <a:latin typeface="Arial"/>
                <a:cs typeface="Arial"/>
              </a:rPr>
              <a:t>a </a:t>
            </a:r>
            <a:r>
              <a:rPr sz="1600" dirty="0">
                <a:latin typeface="Arial"/>
                <a:cs typeface="Arial"/>
              </a:rPr>
              <a:t>release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and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pushed</a:t>
            </a:r>
            <a:r>
              <a:rPr sz="1600" spc="-25" dirty="0">
                <a:latin typeface="Arial"/>
                <a:cs typeface="Arial"/>
              </a:rPr>
              <a:t> to </a:t>
            </a:r>
            <a:r>
              <a:rPr sz="1600" b="1" dirty="0">
                <a:solidFill>
                  <a:srgbClr val="4F81BD"/>
                </a:solidFill>
                <a:latin typeface="Arial"/>
                <a:cs typeface="Arial"/>
              </a:rPr>
              <a:t>container</a:t>
            </a:r>
            <a:r>
              <a:rPr sz="1600" b="1" spc="-50" dirty="0">
                <a:solidFill>
                  <a:srgbClr val="4F81BD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4F81BD"/>
                </a:solidFill>
                <a:latin typeface="Arial"/>
                <a:cs typeface="Arial"/>
              </a:rPr>
              <a:t>registry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5503237" y="2786770"/>
            <a:ext cx="541020" cy="275590"/>
            <a:chOff x="5503237" y="2786770"/>
            <a:chExt cx="541020" cy="275590"/>
          </a:xfrm>
        </p:grpSpPr>
        <p:sp>
          <p:nvSpPr>
            <p:cNvPr id="30" name="object 30"/>
            <p:cNvSpPr/>
            <p:nvPr/>
          </p:nvSpPr>
          <p:spPr>
            <a:xfrm>
              <a:off x="5508000" y="2791533"/>
              <a:ext cx="531495" cy="266065"/>
            </a:xfrm>
            <a:custGeom>
              <a:avLst/>
              <a:gdLst/>
              <a:ahLst/>
              <a:cxnLst/>
              <a:rect l="l" t="t" r="r" b="b"/>
              <a:pathLst>
                <a:path w="531495" h="266064">
                  <a:moveTo>
                    <a:pt x="398550" y="0"/>
                  </a:moveTo>
                  <a:lnTo>
                    <a:pt x="398550" y="66375"/>
                  </a:lnTo>
                  <a:lnTo>
                    <a:pt x="0" y="66375"/>
                  </a:lnTo>
                  <a:lnTo>
                    <a:pt x="0" y="199124"/>
                  </a:lnTo>
                  <a:lnTo>
                    <a:pt x="398550" y="199124"/>
                  </a:lnTo>
                  <a:lnTo>
                    <a:pt x="398550" y="265499"/>
                  </a:lnTo>
                  <a:lnTo>
                    <a:pt x="531299" y="132749"/>
                  </a:lnTo>
                  <a:lnTo>
                    <a:pt x="398550" y="0"/>
                  </a:lnTo>
                  <a:close/>
                </a:path>
              </a:pathLst>
            </a:custGeom>
            <a:solidFill>
              <a:srgbClr val="EEEC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507999" y="2791532"/>
              <a:ext cx="531495" cy="266065"/>
            </a:xfrm>
            <a:custGeom>
              <a:avLst/>
              <a:gdLst/>
              <a:ahLst/>
              <a:cxnLst/>
              <a:rect l="l" t="t" r="r" b="b"/>
              <a:pathLst>
                <a:path w="531495" h="266064">
                  <a:moveTo>
                    <a:pt x="0" y="66374"/>
                  </a:moveTo>
                  <a:lnTo>
                    <a:pt x="398549" y="66374"/>
                  </a:lnTo>
                  <a:lnTo>
                    <a:pt x="398549" y="0"/>
                  </a:lnTo>
                  <a:lnTo>
                    <a:pt x="531299" y="132749"/>
                  </a:lnTo>
                  <a:lnTo>
                    <a:pt x="398549" y="265499"/>
                  </a:lnTo>
                  <a:lnTo>
                    <a:pt x="398549" y="199124"/>
                  </a:lnTo>
                  <a:lnTo>
                    <a:pt x="0" y="199124"/>
                  </a:lnTo>
                  <a:lnTo>
                    <a:pt x="0" y="66374"/>
                  </a:lnTo>
                  <a:close/>
                </a:path>
              </a:pathLst>
            </a:custGeom>
            <a:ln w="9524">
              <a:solidFill>
                <a:srgbClr val="1F49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2" name="object 32"/>
          <p:cNvGrpSpPr/>
          <p:nvPr/>
        </p:nvGrpSpPr>
        <p:grpSpPr>
          <a:xfrm>
            <a:off x="507259" y="1397179"/>
            <a:ext cx="1326515" cy="252095"/>
            <a:chOff x="507259" y="1397179"/>
            <a:chExt cx="1326515" cy="252095"/>
          </a:xfrm>
        </p:grpSpPr>
        <p:sp>
          <p:nvSpPr>
            <p:cNvPr id="33" name="object 33"/>
            <p:cNvSpPr/>
            <p:nvPr/>
          </p:nvSpPr>
          <p:spPr>
            <a:xfrm>
              <a:off x="512022" y="1401942"/>
              <a:ext cx="300990" cy="242570"/>
            </a:xfrm>
            <a:custGeom>
              <a:avLst/>
              <a:gdLst/>
              <a:ahLst/>
              <a:cxnLst/>
              <a:rect l="l" t="t" r="r" b="b"/>
              <a:pathLst>
                <a:path w="300990" h="242569">
                  <a:moveTo>
                    <a:pt x="300392" y="0"/>
                  </a:moveTo>
                  <a:lnTo>
                    <a:pt x="0" y="0"/>
                  </a:lnTo>
                  <a:lnTo>
                    <a:pt x="0" y="242394"/>
                  </a:lnTo>
                  <a:lnTo>
                    <a:pt x="300392" y="242394"/>
                  </a:lnTo>
                  <a:lnTo>
                    <a:pt x="300392" y="0"/>
                  </a:lnTo>
                  <a:close/>
                </a:path>
              </a:pathLst>
            </a:custGeom>
            <a:solidFill>
              <a:srgbClr val="FFE5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12022" y="1401941"/>
              <a:ext cx="300990" cy="242570"/>
            </a:xfrm>
            <a:custGeom>
              <a:avLst/>
              <a:gdLst/>
              <a:ahLst/>
              <a:cxnLst/>
              <a:rect l="l" t="t" r="r" b="b"/>
              <a:pathLst>
                <a:path w="300990" h="242569">
                  <a:moveTo>
                    <a:pt x="0" y="0"/>
                  </a:moveTo>
                  <a:lnTo>
                    <a:pt x="300392" y="0"/>
                  </a:lnTo>
                  <a:lnTo>
                    <a:pt x="300392" y="242393"/>
                  </a:lnTo>
                  <a:lnTo>
                    <a:pt x="0" y="242393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6B26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020009" y="1401942"/>
              <a:ext cx="300990" cy="242570"/>
            </a:xfrm>
            <a:custGeom>
              <a:avLst/>
              <a:gdLst/>
              <a:ahLst/>
              <a:cxnLst/>
              <a:rect l="l" t="t" r="r" b="b"/>
              <a:pathLst>
                <a:path w="300990" h="242569">
                  <a:moveTo>
                    <a:pt x="300392" y="0"/>
                  </a:moveTo>
                  <a:lnTo>
                    <a:pt x="0" y="0"/>
                  </a:lnTo>
                  <a:lnTo>
                    <a:pt x="0" y="242394"/>
                  </a:lnTo>
                  <a:lnTo>
                    <a:pt x="300392" y="242394"/>
                  </a:lnTo>
                  <a:lnTo>
                    <a:pt x="300392" y="0"/>
                  </a:lnTo>
                  <a:close/>
                </a:path>
              </a:pathLst>
            </a:custGeom>
            <a:solidFill>
              <a:srgbClr val="FFE5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020009" y="1401941"/>
              <a:ext cx="300990" cy="242570"/>
            </a:xfrm>
            <a:custGeom>
              <a:avLst/>
              <a:gdLst/>
              <a:ahLst/>
              <a:cxnLst/>
              <a:rect l="l" t="t" r="r" b="b"/>
              <a:pathLst>
                <a:path w="300990" h="242569">
                  <a:moveTo>
                    <a:pt x="0" y="0"/>
                  </a:moveTo>
                  <a:lnTo>
                    <a:pt x="300392" y="0"/>
                  </a:lnTo>
                  <a:lnTo>
                    <a:pt x="300392" y="242393"/>
                  </a:lnTo>
                  <a:lnTo>
                    <a:pt x="0" y="242393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6B26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527996" y="1401942"/>
              <a:ext cx="300990" cy="242570"/>
            </a:xfrm>
            <a:custGeom>
              <a:avLst/>
              <a:gdLst/>
              <a:ahLst/>
              <a:cxnLst/>
              <a:rect l="l" t="t" r="r" b="b"/>
              <a:pathLst>
                <a:path w="300989" h="242569">
                  <a:moveTo>
                    <a:pt x="300392" y="0"/>
                  </a:moveTo>
                  <a:lnTo>
                    <a:pt x="0" y="0"/>
                  </a:lnTo>
                  <a:lnTo>
                    <a:pt x="0" y="242394"/>
                  </a:lnTo>
                  <a:lnTo>
                    <a:pt x="300392" y="242394"/>
                  </a:lnTo>
                  <a:lnTo>
                    <a:pt x="300392" y="0"/>
                  </a:lnTo>
                  <a:close/>
                </a:path>
              </a:pathLst>
            </a:custGeom>
            <a:solidFill>
              <a:srgbClr val="FFE5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527996" y="1401941"/>
              <a:ext cx="300990" cy="242570"/>
            </a:xfrm>
            <a:custGeom>
              <a:avLst/>
              <a:gdLst/>
              <a:ahLst/>
              <a:cxnLst/>
              <a:rect l="l" t="t" r="r" b="b"/>
              <a:pathLst>
                <a:path w="300989" h="242569">
                  <a:moveTo>
                    <a:pt x="0" y="0"/>
                  </a:moveTo>
                  <a:lnTo>
                    <a:pt x="300392" y="0"/>
                  </a:lnTo>
                  <a:lnTo>
                    <a:pt x="300392" y="242393"/>
                  </a:lnTo>
                  <a:lnTo>
                    <a:pt x="0" y="242393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6B26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9" name="object 39"/>
          <p:cNvGrpSpPr/>
          <p:nvPr/>
        </p:nvGrpSpPr>
        <p:grpSpPr>
          <a:xfrm>
            <a:off x="507259" y="2819580"/>
            <a:ext cx="1326515" cy="252095"/>
            <a:chOff x="507259" y="2819580"/>
            <a:chExt cx="1326515" cy="252095"/>
          </a:xfrm>
        </p:grpSpPr>
        <p:sp>
          <p:nvSpPr>
            <p:cNvPr id="40" name="object 40"/>
            <p:cNvSpPr/>
            <p:nvPr/>
          </p:nvSpPr>
          <p:spPr>
            <a:xfrm>
              <a:off x="512022" y="2824342"/>
              <a:ext cx="300990" cy="242570"/>
            </a:xfrm>
            <a:custGeom>
              <a:avLst/>
              <a:gdLst/>
              <a:ahLst/>
              <a:cxnLst/>
              <a:rect l="l" t="t" r="r" b="b"/>
              <a:pathLst>
                <a:path w="300990" h="242569">
                  <a:moveTo>
                    <a:pt x="300392" y="0"/>
                  </a:moveTo>
                  <a:lnTo>
                    <a:pt x="0" y="0"/>
                  </a:lnTo>
                  <a:lnTo>
                    <a:pt x="0" y="242393"/>
                  </a:lnTo>
                  <a:lnTo>
                    <a:pt x="300392" y="242393"/>
                  </a:lnTo>
                  <a:lnTo>
                    <a:pt x="300392" y="0"/>
                  </a:lnTo>
                  <a:close/>
                </a:path>
              </a:pathLst>
            </a:custGeom>
            <a:solidFill>
              <a:srgbClr val="FFE5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12022" y="2824342"/>
              <a:ext cx="300990" cy="242570"/>
            </a:xfrm>
            <a:custGeom>
              <a:avLst/>
              <a:gdLst/>
              <a:ahLst/>
              <a:cxnLst/>
              <a:rect l="l" t="t" r="r" b="b"/>
              <a:pathLst>
                <a:path w="300990" h="242569">
                  <a:moveTo>
                    <a:pt x="0" y="0"/>
                  </a:moveTo>
                  <a:lnTo>
                    <a:pt x="300392" y="0"/>
                  </a:lnTo>
                  <a:lnTo>
                    <a:pt x="300392" y="242394"/>
                  </a:lnTo>
                  <a:lnTo>
                    <a:pt x="0" y="24239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6B26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1020009" y="2824342"/>
              <a:ext cx="300990" cy="242570"/>
            </a:xfrm>
            <a:custGeom>
              <a:avLst/>
              <a:gdLst/>
              <a:ahLst/>
              <a:cxnLst/>
              <a:rect l="l" t="t" r="r" b="b"/>
              <a:pathLst>
                <a:path w="300990" h="242569">
                  <a:moveTo>
                    <a:pt x="300392" y="0"/>
                  </a:moveTo>
                  <a:lnTo>
                    <a:pt x="0" y="0"/>
                  </a:lnTo>
                  <a:lnTo>
                    <a:pt x="0" y="242393"/>
                  </a:lnTo>
                  <a:lnTo>
                    <a:pt x="300392" y="242393"/>
                  </a:lnTo>
                  <a:lnTo>
                    <a:pt x="300392" y="0"/>
                  </a:lnTo>
                  <a:close/>
                </a:path>
              </a:pathLst>
            </a:custGeom>
            <a:solidFill>
              <a:srgbClr val="FFE5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1020009" y="2824342"/>
              <a:ext cx="300990" cy="242570"/>
            </a:xfrm>
            <a:custGeom>
              <a:avLst/>
              <a:gdLst/>
              <a:ahLst/>
              <a:cxnLst/>
              <a:rect l="l" t="t" r="r" b="b"/>
              <a:pathLst>
                <a:path w="300990" h="242569">
                  <a:moveTo>
                    <a:pt x="0" y="0"/>
                  </a:moveTo>
                  <a:lnTo>
                    <a:pt x="300392" y="0"/>
                  </a:lnTo>
                  <a:lnTo>
                    <a:pt x="300392" y="242394"/>
                  </a:lnTo>
                  <a:lnTo>
                    <a:pt x="0" y="24239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6B26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1527996" y="2824342"/>
              <a:ext cx="300990" cy="242570"/>
            </a:xfrm>
            <a:custGeom>
              <a:avLst/>
              <a:gdLst/>
              <a:ahLst/>
              <a:cxnLst/>
              <a:rect l="l" t="t" r="r" b="b"/>
              <a:pathLst>
                <a:path w="300989" h="242569">
                  <a:moveTo>
                    <a:pt x="300392" y="0"/>
                  </a:moveTo>
                  <a:lnTo>
                    <a:pt x="0" y="0"/>
                  </a:lnTo>
                  <a:lnTo>
                    <a:pt x="0" y="242393"/>
                  </a:lnTo>
                  <a:lnTo>
                    <a:pt x="300392" y="242393"/>
                  </a:lnTo>
                  <a:lnTo>
                    <a:pt x="300392" y="0"/>
                  </a:lnTo>
                  <a:close/>
                </a:path>
              </a:pathLst>
            </a:custGeom>
            <a:solidFill>
              <a:srgbClr val="FFE5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527996" y="2824342"/>
              <a:ext cx="300990" cy="242570"/>
            </a:xfrm>
            <a:custGeom>
              <a:avLst/>
              <a:gdLst/>
              <a:ahLst/>
              <a:cxnLst/>
              <a:rect l="l" t="t" r="r" b="b"/>
              <a:pathLst>
                <a:path w="300989" h="242569">
                  <a:moveTo>
                    <a:pt x="0" y="0"/>
                  </a:moveTo>
                  <a:lnTo>
                    <a:pt x="300392" y="0"/>
                  </a:lnTo>
                  <a:lnTo>
                    <a:pt x="300392" y="242394"/>
                  </a:lnTo>
                  <a:lnTo>
                    <a:pt x="0" y="24239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6B26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6" name="object 46"/>
          <p:cNvGrpSpPr/>
          <p:nvPr/>
        </p:nvGrpSpPr>
        <p:grpSpPr>
          <a:xfrm>
            <a:off x="507259" y="4181019"/>
            <a:ext cx="1326515" cy="252095"/>
            <a:chOff x="507259" y="4181019"/>
            <a:chExt cx="1326515" cy="252095"/>
          </a:xfrm>
        </p:grpSpPr>
        <p:sp>
          <p:nvSpPr>
            <p:cNvPr id="47" name="object 47"/>
            <p:cNvSpPr/>
            <p:nvPr/>
          </p:nvSpPr>
          <p:spPr>
            <a:xfrm>
              <a:off x="512022" y="4185782"/>
              <a:ext cx="300990" cy="242570"/>
            </a:xfrm>
            <a:custGeom>
              <a:avLst/>
              <a:gdLst/>
              <a:ahLst/>
              <a:cxnLst/>
              <a:rect l="l" t="t" r="r" b="b"/>
              <a:pathLst>
                <a:path w="300990" h="242570">
                  <a:moveTo>
                    <a:pt x="300392" y="0"/>
                  </a:moveTo>
                  <a:lnTo>
                    <a:pt x="0" y="0"/>
                  </a:lnTo>
                  <a:lnTo>
                    <a:pt x="0" y="242393"/>
                  </a:lnTo>
                  <a:lnTo>
                    <a:pt x="300392" y="242393"/>
                  </a:lnTo>
                  <a:lnTo>
                    <a:pt x="300392" y="0"/>
                  </a:lnTo>
                  <a:close/>
                </a:path>
              </a:pathLst>
            </a:custGeom>
            <a:solidFill>
              <a:srgbClr val="FFE5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512022" y="4185782"/>
              <a:ext cx="300990" cy="242570"/>
            </a:xfrm>
            <a:custGeom>
              <a:avLst/>
              <a:gdLst/>
              <a:ahLst/>
              <a:cxnLst/>
              <a:rect l="l" t="t" r="r" b="b"/>
              <a:pathLst>
                <a:path w="300990" h="242570">
                  <a:moveTo>
                    <a:pt x="0" y="0"/>
                  </a:moveTo>
                  <a:lnTo>
                    <a:pt x="300392" y="0"/>
                  </a:lnTo>
                  <a:lnTo>
                    <a:pt x="300392" y="242394"/>
                  </a:lnTo>
                  <a:lnTo>
                    <a:pt x="0" y="24239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6B26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1020009" y="4185782"/>
              <a:ext cx="300990" cy="242570"/>
            </a:xfrm>
            <a:custGeom>
              <a:avLst/>
              <a:gdLst/>
              <a:ahLst/>
              <a:cxnLst/>
              <a:rect l="l" t="t" r="r" b="b"/>
              <a:pathLst>
                <a:path w="300990" h="242570">
                  <a:moveTo>
                    <a:pt x="300392" y="0"/>
                  </a:moveTo>
                  <a:lnTo>
                    <a:pt x="0" y="0"/>
                  </a:lnTo>
                  <a:lnTo>
                    <a:pt x="0" y="242393"/>
                  </a:lnTo>
                  <a:lnTo>
                    <a:pt x="300392" y="242393"/>
                  </a:lnTo>
                  <a:lnTo>
                    <a:pt x="300392" y="0"/>
                  </a:lnTo>
                  <a:close/>
                </a:path>
              </a:pathLst>
            </a:custGeom>
            <a:solidFill>
              <a:srgbClr val="FFE5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1020009" y="4185782"/>
              <a:ext cx="300990" cy="242570"/>
            </a:xfrm>
            <a:custGeom>
              <a:avLst/>
              <a:gdLst/>
              <a:ahLst/>
              <a:cxnLst/>
              <a:rect l="l" t="t" r="r" b="b"/>
              <a:pathLst>
                <a:path w="300990" h="242570">
                  <a:moveTo>
                    <a:pt x="0" y="0"/>
                  </a:moveTo>
                  <a:lnTo>
                    <a:pt x="300392" y="0"/>
                  </a:lnTo>
                  <a:lnTo>
                    <a:pt x="300392" y="242394"/>
                  </a:lnTo>
                  <a:lnTo>
                    <a:pt x="0" y="24239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6B26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1527996" y="4185782"/>
              <a:ext cx="300990" cy="242570"/>
            </a:xfrm>
            <a:custGeom>
              <a:avLst/>
              <a:gdLst/>
              <a:ahLst/>
              <a:cxnLst/>
              <a:rect l="l" t="t" r="r" b="b"/>
              <a:pathLst>
                <a:path w="300989" h="242570">
                  <a:moveTo>
                    <a:pt x="300392" y="0"/>
                  </a:moveTo>
                  <a:lnTo>
                    <a:pt x="0" y="0"/>
                  </a:lnTo>
                  <a:lnTo>
                    <a:pt x="0" y="242393"/>
                  </a:lnTo>
                  <a:lnTo>
                    <a:pt x="300392" y="242393"/>
                  </a:lnTo>
                  <a:lnTo>
                    <a:pt x="300392" y="0"/>
                  </a:lnTo>
                  <a:close/>
                </a:path>
              </a:pathLst>
            </a:custGeom>
            <a:solidFill>
              <a:srgbClr val="FFE5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1527996" y="4185782"/>
              <a:ext cx="300990" cy="242570"/>
            </a:xfrm>
            <a:custGeom>
              <a:avLst/>
              <a:gdLst/>
              <a:ahLst/>
              <a:cxnLst/>
              <a:rect l="l" t="t" r="r" b="b"/>
              <a:pathLst>
                <a:path w="300989" h="242570">
                  <a:moveTo>
                    <a:pt x="0" y="0"/>
                  </a:moveTo>
                  <a:lnTo>
                    <a:pt x="300392" y="0"/>
                  </a:lnTo>
                  <a:lnTo>
                    <a:pt x="300392" y="242394"/>
                  </a:lnTo>
                  <a:lnTo>
                    <a:pt x="0" y="24239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6B26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3" name="object 53"/>
          <p:cNvGrpSpPr/>
          <p:nvPr/>
        </p:nvGrpSpPr>
        <p:grpSpPr>
          <a:xfrm>
            <a:off x="6719502" y="2729284"/>
            <a:ext cx="614680" cy="455295"/>
            <a:chOff x="6719502" y="2729284"/>
            <a:chExt cx="614680" cy="455295"/>
          </a:xfrm>
        </p:grpSpPr>
        <p:sp>
          <p:nvSpPr>
            <p:cNvPr id="54" name="object 54"/>
            <p:cNvSpPr/>
            <p:nvPr/>
          </p:nvSpPr>
          <p:spPr>
            <a:xfrm>
              <a:off x="6724263" y="2937246"/>
              <a:ext cx="300355" cy="242570"/>
            </a:xfrm>
            <a:custGeom>
              <a:avLst/>
              <a:gdLst/>
              <a:ahLst/>
              <a:cxnLst/>
              <a:rect l="l" t="t" r="r" b="b"/>
              <a:pathLst>
                <a:path w="300354" h="242569">
                  <a:moveTo>
                    <a:pt x="300300" y="0"/>
                  </a:moveTo>
                  <a:lnTo>
                    <a:pt x="0" y="0"/>
                  </a:lnTo>
                  <a:lnTo>
                    <a:pt x="0" y="242399"/>
                  </a:lnTo>
                  <a:lnTo>
                    <a:pt x="300300" y="242399"/>
                  </a:lnTo>
                  <a:lnTo>
                    <a:pt x="300300" y="0"/>
                  </a:lnTo>
                  <a:close/>
                </a:path>
              </a:pathLst>
            </a:custGeom>
            <a:solidFill>
              <a:srgbClr val="FFF2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6724264" y="2937247"/>
              <a:ext cx="300355" cy="242570"/>
            </a:xfrm>
            <a:custGeom>
              <a:avLst/>
              <a:gdLst/>
              <a:ahLst/>
              <a:cxnLst/>
              <a:rect l="l" t="t" r="r" b="b"/>
              <a:pathLst>
                <a:path w="300354" h="242569">
                  <a:moveTo>
                    <a:pt x="0" y="0"/>
                  </a:moveTo>
                  <a:lnTo>
                    <a:pt x="300299" y="0"/>
                  </a:lnTo>
                  <a:lnTo>
                    <a:pt x="300299" y="242399"/>
                  </a:lnTo>
                  <a:lnTo>
                    <a:pt x="0" y="242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6B26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6825863" y="2835646"/>
              <a:ext cx="300355" cy="242570"/>
            </a:xfrm>
            <a:custGeom>
              <a:avLst/>
              <a:gdLst/>
              <a:ahLst/>
              <a:cxnLst/>
              <a:rect l="l" t="t" r="r" b="b"/>
              <a:pathLst>
                <a:path w="300354" h="242569">
                  <a:moveTo>
                    <a:pt x="300300" y="0"/>
                  </a:moveTo>
                  <a:lnTo>
                    <a:pt x="0" y="0"/>
                  </a:lnTo>
                  <a:lnTo>
                    <a:pt x="0" y="242399"/>
                  </a:lnTo>
                  <a:lnTo>
                    <a:pt x="300300" y="242399"/>
                  </a:lnTo>
                  <a:lnTo>
                    <a:pt x="300300" y="0"/>
                  </a:lnTo>
                  <a:close/>
                </a:path>
              </a:pathLst>
            </a:custGeom>
            <a:solidFill>
              <a:srgbClr val="FFF2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6825864" y="2835647"/>
              <a:ext cx="300355" cy="242570"/>
            </a:xfrm>
            <a:custGeom>
              <a:avLst/>
              <a:gdLst/>
              <a:ahLst/>
              <a:cxnLst/>
              <a:rect l="l" t="t" r="r" b="b"/>
              <a:pathLst>
                <a:path w="300354" h="242569">
                  <a:moveTo>
                    <a:pt x="0" y="0"/>
                  </a:moveTo>
                  <a:lnTo>
                    <a:pt x="300299" y="0"/>
                  </a:lnTo>
                  <a:lnTo>
                    <a:pt x="300299" y="242399"/>
                  </a:lnTo>
                  <a:lnTo>
                    <a:pt x="0" y="242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6B26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7029063" y="2734046"/>
              <a:ext cx="300355" cy="242570"/>
            </a:xfrm>
            <a:custGeom>
              <a:avLst/>
              <a:gdLst/>
              <a:ahLst/>
              <a:cxnLst/>
              <a:rect l="l" t="t" r="r" b="b"/>
              <a:pathLst>
                <a:path w="300354" h="242569">
                  <a:moveTo>
                    <a:pt x="300300" y="0"/>
                  </a:moveTo>
                  <a:lnTo>
                    <a:pt x="0" y="0"/>
                  </a:lnTo>
                  <a:lnTo>
                    <a:pt x="0" y="242399"/>
                  </a:lnTo>
                  <a:lnTo>
                    <a:pt x="300300" y="242399"/>
                  </a:lnTo>
                  <a:lnTo>
                    <a:pt x="300300" y="0"/>
                  </a:lnTo>
                  <a:close/>
                </a:path>
              </a:pathLst>
            </a:custGeom>
            <a:solidFill>
              <a:srgbClr val="FFF2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7029064" y="2734047"/>
              <a:ext cx="300355" cy="242570"/>
            </a:xfrm>
            <a:custGeom>
              <a:avLst/>
              <a:gdLst/>
              <a:ahLst/>
              <a:cxnLst/>
              <a:rect l="l" t="t" r="r" b="b"/>
              <a:pathLst>
                <a:path w="300354" h="242569">
                  <a:moveTo>
                    <a:pt x="0" y="0"/>
                  </a:moveTo>
                  <a:lnTo>
                    <a:pt x="300299" y="0"/>
                  </a:lnTo>
                  <a:lnTo>
                    <a:pt x="300299" y="242399"/>
                  </a:lnTo>
                  <a:lnTo>
                    <a:pt x="0" y="242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6B26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286333" y="5942707"/>
            <a:ext cx="2656205" cy="496570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 marR="5080">
              <a:lnSpc>
                <a:spcPts val="1920"/>
              </a:lnSpc>
              <a:spcBef>
                <a:spcPts val="10"/>
              </a:spcBef>
            </a:pPr>
            <a:r>
              <a:rPr sz="1600" b="1" dirty="0">
                <a:solidFill>
                  <a:srgbClr val="4F81BD"/>
                </a:solidFill>
                <a:latin typeface="Arial"/>
                <a:cs typeface="Arial"/>
              </a:rPr>
              <a:t>Containers</a:t>
            </a:r>
            <a:r>
              <a:rPr sz="1600" b="1" spc="-25" dirty="0">
                <a:solidFill>
                  <a:srgbClr val="4F81BD"/>
                </a:solidFill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need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to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be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spc="-20" dirty="0">
                <a:latin typeface="Arial"/>
                <a:cs typeface="Arial"/>
              </a:rPr>
              <a:t>setup </a:t>
            </a:r>
            <a:r>
              <a:rPr sz="1600" dirty="0">
                <a:latin typeface="Arial"/>
                <a:cs typeface="Arial"/>
              </a:rPr>
              <a:t>only</a:t>
            </a:r>
            <a:r>
              <a:rPr sz="1600" spc="-5" dirty="0">
                <a:latin typeface="Arial"/>
                <a:cs typeface="Arial"/>
              </a:rPr>
              <a:t> </a:t>
            </a:r>
            <a:r>
              <a:rPr sz="1600" spc="-20" dirty="0">
                <a:latin typeface="Arial"/>
                <a:cs typeface="Arial"/>
              </a:rPr>
              <a:t>once</a:t>
            </a:r>
            <a:endParaRPr sz="1600">
              <a:latin typeface="Arial"/>
              <a:cs typeface="Arial"/>
            </a:endParaRPr>
          </a:p>
        </p:txBody>
      </p:sp>
      <p:sp>
        <p:nvSpPr>
          <p:cNvPr id="61" name="object 6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spc="-25" dirty="0"/>
              <a:t>47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Software</a:t>
            </a:r>
            <a:r>
              <a:rPr spc="-50" dirty="0"/>
              <a:t> </a:t>
            </a:r>
            <a:r>
              <a:rPr dirty="0"/>
              <a:t>Development</a:t>
            </a:r>
            <a:r>
              <a:rPr spc="-50" dirty="0"/>
              <a:t> </a:t>
            </a:r>
            <a:r>
              <a:rPr dirty="0"/>
              <a:t>Workflow</a:t>
            </a:r>
            <a:r>
              <a:rPr spc="-45" dirty="0"/>
              <a:t> </a:t>
            </a:r>
            <a:r>
              <a:rPr dirty="0"/>
              <a:t>(with</a:t>
            </a:r>
            <a:r>
              <a:rPr spc="-50" dirty="0"/>
              <a:t> </a:t>
            </a:r>
            <a:r>
              <a:rPr spc="-10" dirty="0"/>
              <a:t>Docker)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226415" y="2621304"/>
            <a:ext cx="1763395" cy="577215"/>
            <a:chOff x="3226415" y="2621304"/>
            <a:chExt cx="1763395" cy="577215"/>
          </a:xfrm>
        </p:grpSpPr>
        <p:sp>
          <p:nvSpPr>
            <p:cNvPr id="4" name="object 4"/>
            <p:cNvSpPr/>
            <p:nvPr/>
          </p:nvSpPr>
          <p:spPr>
            <a:xfrm>
              <a:off x="3235941" y="2630831"/>
              <a:ext cx="1744345" cy="558165"/>
            </a:xfrm>
            <a:custGeom>
              <a:avLst/>
              <a:gdLst/>
              <a:ahLst/>
              <a:cxnLst/>
              <a:rect l="l" t="t" r="r" b="b"/>
              <a:pathLst>
                <a:path w="1744345" h="558164">
                  <a:moveTo>
                    <a:pt x="1743956" y="0"/>
                  </a:moveTo>
                  <a:lnTo>
                    <a:pt x="0" y="0"/>
                  </a:lnTo>
                  <a:lnTo>
                    <a:pt x="0" y="557585"/>
                  </a:lnTo>
                  <a:lnTo>
                    <a:pt x="1743956" y="557585"/>
                  </a:lnTo>
                  <a:lnTo>
                    <a:pt x="1743956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235940" y="2630829"/>
              <a:ext cx="1744345" cy="558165"/>
            </a:xfrm>
            <a:custGeom>
              <a:avLst/>
              <a:gdLst/>
              <a:ahLst/>
              <a:cxnLst/>
              <a:rect l="l" t="t" r="r" b="b"/>
              <a:pathLst>
                <a:path w="1744345" h="558164">
                  <a:moveTo>
                    <a:pt x="0" y="557587"/>
                  </a:moveTo>
                  <a:lnTo>
                    <a:pt x="0" y="0"/>
                  </a:lnTo>
                  <a:lnTo>
                    <a:pt x="1330607" y="0"/>
                  </a:lnTo>
                  <a:lnTo>
                    <a:pt x="1743957" y="0"/>
                  </a:lnTo>
                  <a:lnTo>
                    <a:pt x="1743957" y="557587"/>
                  </a:lnTo>
                  <a:lnTo>
                    <a:pt x="0" y="557587"/>
                  </a:lnTo>
                  <a:close/>
                </a:path>
              </a:pathLst>
            </a:custGeom>
            <a:ln w="19049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438935" y="2774877"/>
            <a:ext cx="1261745" cy="278130"/>
          </a:xfrm>
          <a:prstGeom prst="rect">
            <a:avLst/>
          </a:prstGeom>
          <a:solidFill>
            <a:srgbClr val="FFFFFF"/>
          </a:solidFill>
          <a:ln w="9524">
            <a:solidFill>
              <a:srgbClr val="595959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393065">
              <a:lnSpc>
                <a:spcPct val="100000"/>
              </a:lnSpc>
              <a:spcBef>
                <a:spcPts val="330"/>
              </a:spcBef>
            </a:pPr>
            <a:r>
              <a:rPr sz="1200" spc="-10" dirty="0">
                <a:latin typeface="Arial"/>
                <a:cs typeface="Arial"/>
              </a:rPr>
              <a:t>GitHub</a:t>
            </a:r>
            <a:endParaRPr sz="12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48740" y="2401954"/>
            <a:ext cx="103378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434343"/>
                </a:solidFill>
                <a:latin typeface="Arial"/>
                <a:cs typeface="Arial"/>
              </a:rPr>
              <a:t>Source</a:t>
            </a:r>
            <a:r>
              <a:rPr sz="1100" b="1" spc="-55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434343"/>
                </a:solidFill>
                <a:latin typeface="Arial"/>
                <a:cs typeface="Arial"/>
              </a:rPr>
              <a:t>Control</a:t>
            </a:r>
            <a:endParaRPr sz="11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464871" y="2151053"/>
            <a:ext cx="84772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434343"/>
                </a:solidFill>
                <a:latin typeface="Arial"/>
                <a:cs typeface="Arial"/>
              </a:rPr>
              <a:t>Build</a:t>
            </a:r>
            <a:r>
              <a:rPr sz="1100" b="1" spc="-40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434343"/>
                </a:solidFill>
                <a:latin typeface="Arial"/>
                <a:cs typeface="Arial"/>
              </a:rPr>
              <a:t>Server</a:t>
            </a:r>
            <a:endParaRPr sz="11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574835" y="2657121"/>
            <a:ext cx="848994" cy="650240"/>
          </a:xfrm>
          <a:custGeom>
            <a:avLst/>
            <a:gdLst/>
            <a:ahLst/>
            <a:cxnLst/>
            <a:rect l="l" t="t" r="r" b="b"/>
            <a:pathLst>
              <a:path w="848995" h="650239">
                <a:moveTo>
                  <a:pt x="848786" y="0"/>
                </a:moveTo>
                <a:lnTo>
                  <a:pt x="0" y="0"/>
                </a:lnTo>
                <a:lnTo>
                  <a:pt x="0" y="650218"/>
                </a:lnTo>
                <a:lnTo>
                  <a:pt x="848786" y="650218"/>
                </a:lnTo>
                <a:lnTo>
                  <a:pt x="848786" y="0"/>
                </a:lnTo>
                <a:close/>
              </a:path>
            </a:pathLst>
          </a:custGeom>
          <a:solidFill>
            <a:srgbClr val="F4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426272" y="2343064"/>
            <a:ext cx="1193800" cy="1166495"/>
          </a:xfrm>
          <a:prstGeom prst="rect">
            <a:avLst/>
          </a:prstGeom>
          <a:ln w="9524">
            <a:solidFill>
              <a:srgbClr val="595959"/>
            </a:solidFill>
          </a:ln>
        </p:spPr>
        <p:txBody>
          <a:bodyPr vert="horz" wrap="square" lIns="0" tIns="144780" rIns="0" bIns="0" rtlCol="0">
            <a:spAutoFit/>
          </a:bodyPr>
          <a:lstStyle/>
          <a:p>
            <a:pPr marL="140335">
              <a:lnSpc>
                <a:spcPct val="100000"/>
              </a:lnSpc>
              <a:spcBef>
                <a:spcPts val="1140"/>
              </a:spcBef>
            </a:pPr>
            <a:r>
              <a:rPr sz="1100" b="1" spc="-10" dirty="0">
                <a:solidFill>
                  <a:srgbClr val="990000"/>
                </a:solidFill>
                <a:latin typeface="Arial"/>
                <a:cs typeface="Arial"/>
              </a:rPr>
              <a:t>Linux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7512" y="1917550"/>
            <a:ext cx="537586" cy="430055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350591" y="1217918"/>
            <a:ext cx="1682750" cy="650240"/>
          </a:xfrm>
          <a:custGeom>
            <a:avLst/>
            <a:gdLst/>
            <a:ahLst/>
            <a:cxnLst/>
            <a:rect l="l" t="t" r="r" b="b"/>
            <a:pathLst>
              <a:path w="1682750" h="650239">
                <a:moveTo>
                  <a:pt x="1682428" y="0"/>
                </a:moveTo>
                <a:lnTo>
                  <a:pt x="0" y="0"/>
                </a:lnTo>
                <a:lnTo>
                  <a:pt x="0" y="650218"/>
                </a:lnTo>
                <a:lnTo>
                  <a:pt x="1682428" y="650218"/>
                </a:lnTo>
                <a:lnTo>
                  <a:pt x="1682428" y="0"/>
                </a:lnTo>
                <a:close/>
              </a:path>
            </a:pathLst>
          </a:custGeom>
          <a:solidFill>
            <a:srgbClr val="D9EAD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330085" y="1036201"/>
            <a:ext cx="63690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solidFill>
                  <a:srgbClr val="38761D"/>
                </a:solidFill>
                <a:latin typeface="Arial"/>
                <a:cs typeface="Arial"/>
              </a:rPr>
              <a:t>Windows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80223" y="2622525"/>
            <a:ext cx="1585595" cy="1097915"/>
            <a:chOff x="380223" y="2622525"/>
            <a:chExt cx="1585595" cy="1097915"/>
          </a:xfrm>
        </p:grpSpPr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7512" y="3290009"/>
              <a:ext cx="537586" cy="430069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380223" y="2622525"/>
              <a:ext cx="1585595" cy="650240"/>
            </a:xfrm>
            <a:custGeom>
              <a:avLst/>
              <a:gdLst/>
              <a:ahLst/>
              <a:cxnLst/>
              <a:rect l="l" t="t" r="r" b="b"/>
              <a:pathLst>
                <a:path w="1585595" h="650239">
                  <a:moveTo>
                    <a:pt x="1585412" y="0"/>
                  </a:moveTo>
                  <a:lnTo>
                    <a:pt x="0" y="0"/>
                  </a:lnTo>
                  <a:lnTo>
                    <a:pt x="0" y="650218"/>
                  </a:lnTo>
                  <a:lnTo>
                    <a:pt x="1585412" y="650218"/>
                  </a:lnTo>
                  <a:lnTo>
                    <a:pt x="1585412" y="0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59717" y="2440809"/>
            <a:ext cx="39751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solidFill>
                  <a:srgbClr val="990000"/>
                </a:solidFill>
                <a:latin typeface="Arial"/>
                <a:cs typeface="Arial"/>
              </a:rPr>
              <a:t>Linux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98756" y="3995442"/>
            <a:ext cx="1548765" cy="1104900"/>
            <a:chOff x="398756" y="3995442"/>
            <a:chExt cx="1548765" cy="1104900"/>
          </a:xfrm>
        </p:grpSpPr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24746" y="4669793"/>
              <a:ext cx="537586" cy="430069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398756" y="3995442"/>
              <a:ext cx="1548765" cy="650240"/>
            </a:xfrm>
            <a:custGeom>
              <a:avLst/>
              <a:gdLst/>
              <a:ahLst/>
              <a:cxnLst/>
              <a:rect l="l" t="t" r="r" b="b"/>
              <a:pathLst>
                <a:path w="1548764" h="650239">
                  <a:moveTo>
                    <a:pt x="1548365" y="0"/>
                  </a:moveTo>
                  <a:lnTo>
                    <a:pt x="0" y="0"/>
                  </a:lnTo>
                  <a:lnTo>
                    <a:pt x="0" y="650218"/>
                  </a:lnTo>
                  <a:lnTo>
                    <a:pt x="1548365" y="650218"/>
                  </a:lnTo>
                  <a:lnTo>
                    <a:pt x="1548365" y="0"/>
                  </a:lnTo>
                  <a:close/>
                </a:path>
              </a:pathLst>
            </a:custGeom>
            <a:solidFill>
              <a:srgbClr val="C9DA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378250" y="3813726"/>
            <a:ext cx="29718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25" dirty="0">
                <a:solidFill>
                  <a:srgbClr val="1155CC"/>
                </a:solidFill>
                <a:latin typeface="Arial"/>
                <a:cs typeface="Arial"/>
              </a:rPr>
              <a:t>Mac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2350504" y="2819269"/>
            <a:ext cx="541020" cy="275590"/>
            <a:chOff x="2350504" y="2819269"/>
            <a:chExt cx="541020" cy="275590"/>
          </a:xfrm>
        </p:grpSpPr>
        <p:sp>
          <p:nvSpPr>
            <p:cNvPr id="23" name="object 23"/>
            <p:cNvSpPr/>
            <p:nvPr/>
          </p:nvSpPr>
          <p:spPr>
            <a:xfrm>
              <a:off x="2355267" y="2824032"/>
              <a:ext cx="531495" cy="266065"/>
            </a:xfrm>
            <a:custGeom>
              <a:avLst/>
              <a:gdLst/>
              <a:ahLst/>
              <a:cxnLst/>
              <a:rect l="l" t="t" r="r" b="b"/>
              <a:pathLst>
                <a:path w="531494" h="266064">
                  <a:moveTo>
                    <a:pt x="398550" y="0"/>
                  </a:moveTo>
                  <a:lnTo>
                    <a:pt x="398550" y="66375"/>
                  </a:lnTo>
                  <a:lnTo>
                    <a:pt x="0" y="66375"/>
                  </a:lnTo>
                  <a:lnTo>
                    <a:pt x="0" y="199125"/>
                  </a:lnTo>
                  <a:lnTo>
                    <a:pt x="398550" y="199125"/>
                  </a:lnTo>
                  <a:lnTo>
                    <a:pt x="398550" y="265501"/>
                  </a:lnTo>
                  <a:lnTo>
                    <a:pt x="531299" y="132750"/>
                  </a:lnTo>
                  <a:lnTo>
                    <a:pt x="398550" y="0"/>
                  </a:lnTo>
                  <a:close/>
                </a:path>
              </a:pathLst>
            </a:custGeom>
            <a:solidFill>
              <a:srgbClr val="EEEC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355266" y="2824032"/>
              <a:ext cx="531495" cy="266065"/>
            </a:xfrm>
            <a:custGeom>
              <a:avLst/>
              <a:gdLst/>
              <a:ahLst/>
              <a:cxnLst/>
              <a:rect l="l" t="t" r="r" b="b"/>
              <a:pathLst>
                <a:path w="531494" h="266064">
                  <a:moveTo>
                    <a:pt x="0" y="66374"/>
                  </a:moveTo>
                  <a:lnTo>
                    <a:pt x="398550" y="66374"/>
                  </a:lnTo>
                  <a:lnTo>
                    <a:pt x="398550" y="0"/>
                  </a:lnTo>
                  <a:lnTo>
                    <a:pt x="531300" y="132749"/>
                  </a:lnTo>
                  <a:lnTo>
                    <a:pt x="398550" y="265499"/>
                  </a:lnTo>
                  <a:lnTo>
                    <a:pt x="398550" y="199124"/>
                  </a:lnTo>
                  <a:lnTo>
                    <a:pt x="0" y="199124"/>
                  </a:lnTo>
                  <a:lnTo>
                    <a:pt x="0" y="66374"/>
                  </a:lnTo>
                  <a:close/>
                </a:path>
              </a:pathLst>
            </a:custGeom>
            <a:ln w="9524">
              <a:solidFill>
                <a:srgbClr val="1F49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286333" y="5191939"/>
            <a:ext cx="257810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Arial"/>
                <a:cs typeface="Arial"/>
              </a:rPr>
              <a:t>Development</a:t>
            </a:r>
            <a:r>
              <a:rPr sz="1600" spc="-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machines</a:t>
            </a:r>
            <a:r>
              <a:rPr sz="1600" spc="-5" dirty="0">
                <a:latin typeface="Arial"/>
                <a:cs typeface="Arial"/>
              </a:rPr>
              <a:t> </a:t>
            </a:r>
            <a:r>
              <a:rPr sz="1600" spc="-20" dirty="0">
                <a:latin typeface="Arial"/>
                <a:cs typeface="Arial"/>
              </a:rPr>
              <a:t>only </a:t>
            </a:r>
            <a:r>
              <a:rPr sz="1600" dirty="0">
                <a:latin typeface="Arial"/>
                <a:cs typeface="Arial"/>
              </a:rPr>
              <a:t>needs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4F81BD"/>
                </a:solidFill>
                <a:latin typeface="Arial"/>
                <a:cs typeface="Arial"/>
              </a:rPr>
              <a:t>Docker</a:t>
            </a:r>
            <a:r>
              <a:rPr sz="1600" b="1" spc="-10" dirty="0">
                <a:solidFill>
                  <a:srgbClr val="4F81BD"/>
                </a:solidFill>
                <a:latin typeface="Arial"/>
                <a:cs typeface="Arial"/>
              </a:rPr>
              <a:t> installed</a:t>
            </a:r>
            <a:endParaRPr sz="16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938666" y="3671105"/>
            <a:ext cx="250888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Arial"/>
                <a:cs typeface="Arial"/>
              </a:rPr>
              <a:t>Every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team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member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moves </a:t>
            </a:r>
            <a:r>
              <a:rPr sz="1600" dirty="0">
                <a:latin typeface="Arial"/>
                <a:cs typeface="Arial"/>
              </a:rPr>
              <a:t>code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to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source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control</a:t>
            </a:r>
            <a:endParaRPr sz="16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859983" y="4003539"/>
            <a:ext cx="213677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Arial"/>
                <a:cs typeface="Arial"/>
              </a:rPr>
              <a:t>Build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server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only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needs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b="1" dirty="0">
                <a:solidFill>
                  <a:srgbClr val="4F81BD"/>
                </a:solidFill>
                <a:latin typeface="Arial"/>
                <a:cs typeface="Arial"/>
              </a:rPr>
              <a:t>Docker</a:t>
            </a:r>
            <a:r>
              <a:rPr sz="1600" b="1" spc="-20" dirty="0">
                <a:solidFill>
                  <a:srgbClr val="4F81BD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4F81BD"/>
                </a:solidFill>
                <a:latin typeface="Arial"/>
                <a:cs typeface="Arial"/>
              </a:rPr>
              <a:t>installed</a:t>
            </a:r>
            <a:endParaRPr sz="16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859983" y="4735059"/>
            <a:ext cx="266700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Arial"/>
                <a:cs typeface="Arial"/>
              </a:rPr>
              <a:t>Docker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4F81BD"/>
                </a:solidFill>
                <a:latin typeface="Arial"/>
                <a:cs typeface="Arial"/>
              </a:rPr>
              <a:t>images</a:t>
            </a:r>
            <a:r>
              <a:rPr sz="1600" b="1" spc="-15" dirty="0">
                <a:solidFill>
                  <a:srgbClr val="4F81BD"/>
                </a:solidFill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are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built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for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spc="-50" dirty="0">
                <a:latin typeface="Arial"/>
                <a:cs typeface="Arial"/>
              </a:rPr>
              <a:t>a </a:t>
            </a:r>
            <a:r>
              <a:rPr sz="1600" dirty="0">
                <a:latin typeface="Arial"/>
                <a:cs typeface="Arial"/>
              </a:rPr>
              <a:t>release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and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pushed</a:t>
            </a:r>
            <a:r>
              <a:rPr sz="1600" spc="-25" dirty="0">
                <a:latin typeface="Arial"/>
                <a:cs typeface="Arial"/>
              </a:rPr>
              <a:t> to </a:t>
            </a:r>
            <a:r>
              <a:rPr sz="1600" b="1" dirty="0">
                <a:solidFill>
                  <a:srgbClr val="4F81BD"/>
                </a:solidFill>
                <a:latin typeface="Arial"/>
                <a:cs typeface="Arial"/>
              </a:rPr>
              <a:t>container</a:t>
            </a:r>
            <a:r>
              <a:rPr sz="1600" b="1" spc="-50" dirty="0">
                <a:solidFill>
                  <a:srgbClr val="4F81BD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4F81BD"/>
                </a:solidFill>
                <a:latin typeface="Arial"/>
                <a:cs typeface="Arial"/>
              </a:rPr>
              <a:t>registry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5503237" y="2786770"/>
            <a:ext cx="541020" cy="275590"/>
            <a:chOff x="5503237" y="2786770"/>
            <a:chExt cx="541020" cy="275590"/>
          </a:xfrm>
        </p:grpSpPr>
        <p:sp>
          <p:nvSpPr>
            <p:cNvPr id="30" name="object 30"/>
            <p:cNvSpPr/>
            <p:nvPr/>
          </p:nvSpPr>
          <p:spPr>
            <a:xfrm>
              <a:off x="5508000" y="2791533"/>
              <a:ext cx="531495" cy="266065"/>
            </a:xfrm>
            <a:custGeom>
              <a:avLst/>
              <a:gdLst/>
              <a:ahLst/>
              <a:cxnLst/>
              <a:rect l="l" t="t" r="r" b="b"/>
              <a:pathLst>
                <a:path w="531495" h="266064">
                  <a:moveTo>
                    <a:pt x="398550" y="0"/>
                  </a:moveTo>
                  <a:lnTo>
                    <a:pt x="398550" y="66375"/>
                  </a:lnTo>
                  <a:lnTo>
                    <a:pt x="0" y="66375"/>
                  </a:lnTo>
                  <a:lnTo>
                    <a:pt x="0" y="199124"/>
                  </a:lnTo>
                  <a:lnTo>
                    <a:pt x="398550" y="199124"/>
                  </a:lnTo>
                  <a:lnTo>
                    <a:pt x="398550" y="265499"/>
                  </a:lnTo>
                  <a:lnTo>
                    <a:pt x="531299" y="132749"/>
                  </a:lnTo>
                  <a:lnTo>
                    <a:pt x="398550" y="0"/>
                  </a:lnTo>
                  <a:close/>
                </a:path>
              </a:pathLst>
            </a:custGeom>
            <a:solidFill>
              <a:srgbClr val="EEEC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507999" y="2791532"/>
              <a:ext cx="531495" cy="266065"/>
            </a:xfrm>
            <a:custGeom>
              <a:avLst/>
              <a:gdLst/>
              <a:ahLst/>
              <a:cxnLst/>
              <a:rect l="l" t="t" r="r" b="b"/>
              <a:pathLst>
                <a:path w="531495" h="266064">
                  <a:moveTo>
                    <a:pt x="0" y="66374"/>
                  </a:moveTo>
                  <a:lnTo>
                    <a:pt x="398549" y="66374"/>
                  </a:lnTo>
                  <a:lnTo>
                    <a:pt x="398549" y="0"/>
                  </a:lnTo>
                  <a:lnTo>
                    <a:pt x="531299" y="132749"/>
                  </a:lnTo>
                  <a:lnTo>
                    <a:pt x="398549" y="265499"/>
                  </a:lnTo>
                  <a:lnTo>
                    <a:pt x="398549" y="199124"/>
                  </a:lnTo>
                  <a:lnTo>
                    <a:pt x="0" y="199124"/>
                  </a:lnTo>
                  <a:lnTo>
                    <a:pt x="0" y="66374"/>
                  </a:lnTo>
                  <a:close/>
                </a:path>
              </a:pathLst>
            </a:custGeom>
            <a:ln w="9524">
              <a:solidFill>
                <a:srgbClr val="1F49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9664791" y="2271528"/>
            <a:ext cx="166751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434343"/>
                </a:solidFill>
                <a:latin typeface="Arial"/>
                <a:cs typeface="Arial"/>
              </a:rPr>
              <a:t>Production/</a:t>
            </a:r>
            <a:r>
              <a:rPr sz="1100" b="1" spc="-65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434343"/>
                </a:solidFill>
                <a:latin typeface="Arial"/>
                <a:cs typeface="Arial"/>
              </a:rPr>
              <a:t>Test</a:t>
            </a:r>
            <a:r>
              <a:rPr sz="1100" b="1" spc="-65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434343"/>
                </a:solidFill>
                <a:latin typeface="Arial"/>
                <a:cs typeface="Arial"/>
              </a:rPr>
              <a:t>Servers</a:t>
            </a:r>
            <a:endParaRPr sz="1100">
              <a:latin typeface="Arial"/>
              <a:cs typeface="Arial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10762001" y="2784562"/>
            <a:ext cx="670560" cy="650240"/>
          </a:xfrm>
          <a:custGeom>
            <a:avLst/>
            <a:gdLst/>
            <a:ahLst/>
            <a:cxnLst/>
            <a:rect l="l" t="t" r="r" b="b"/>
            <a:pathLst>
              <a:path w="670559" h="650239">
                <a:moveTo>
                  <a:pt x="669933" y="0"/>
                </a:moveTo>
                <a:lnTo>
                  <a:pt x="0" y="0"/>
                </a:lnTo>
                <a:lnTo>
                  <a:pt x="0" y="650218"/>
                </a:lnTo>
                <a:lnTo>
                  <a:pt x="669933" y="650218"/>
                </a:lnTo>
                <a:lnTo>
                  <a:pt x="669933" y="0"/>
                </a:lnTo>
                <a:close/>
              </a:path>
            </a:pathLst>
          </a:custGeom>
          <a:solidFill>
            <a:srgbClr val="F4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9746026" y="2784562"/>
            <a:ext cx="670560" cy="650240"/>
          </a:xfrm>
          <a:custGeom>
            <a:avLst/>
            <a:gdLst/>
            <a:ahLst/>
            <a:cxnLst/>
            <a:rect l="l" t="t" r="r" b="b"/>
            <a:pathLst>
              <a:path w="670559" h="650239">
                <a:moveTo>
                  <a:pt x="669932" y="0"/>
                </a:moveTo>
                <a:lnTo>
                  <a:pt x="0" y="0"/>
                </a:lnTo>
                <a:lnTo>
                  <a:pt x="0" y="650218"/>
                </a:lnTo>
                <a:lnTo>
                  <a:pt x="669932" y="650218"/>
                </a:lnTo>
                <a:lnTo>
                  <a:pt x="669932" y="0"/>
                </a:lnTo>
                <a:close/>
              </a:path>
            </a:pathLst>
          </a:custGeom>
          <a:solidFill>
            <a:srgbClr val="F4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9626192" y="2463538"/>
            <a:ext cx="1948814" cy="1166495"/>
          </a:xfrm>
          <a:prstGeom prst="rect">
            <a:avLst/>
          </a:prstGeom>
          <a:ln w="9524">
            <a:solidFill>
              <a:srgbClr val="595959"/>
            </a:solidFill>
          </a:ln>
        </p:spPr>
        <p:txBody>
          <a:bodyPr vert="horz" wrap="square" lIns="0" tIns="151765" rIns="0" bIns="0" rtlCol="0">
            <a:spAutoFit/>
          </a:bodyPr>
          <a:lstStyle/>
          <a:p>
            <a:pPr marL="113030">
              <a:lnSpc>
                <a:spcPct val="100000"/>
              </a:lnSpc>
              <a:spcBef>
                <a:spcPts val="1195"/>
              </a:spcBef>
              <a:tabLst>
                <a:tab pos="1129030" algn="l"/>
              </a:tabLst>
            </a:pPr>
            <a:r>
              <a:rPr sz="1100" b="1" spc="-10" dirty="0">
                <a:solidFill>
                  <a:srgbClr val="990000"/>
                </a:solidFill>
                <a:latin typeface="Arial"/>
                <a:cs typeface="Arial"/>
              </a:rPr>
              <a:t>Linux</a:t>
            </a:r>
            <a:r>
              <a:rPr sz="1100" b="1" dirty="0">
                <a:solidFill>
                  <a:srgbClr val="990000"/>
                </a:solidFill>
                <a:latin typeface="Arial"/>
                <a:cs typeface="Arial"/>
              </a:rPr>
              <a:t>	</a:t>
            </a:r>
            <a:r>
              <a:rPr sz="1100" b="1" spc="-10" dirty="0">
                <a:solidFill>
                  <a:srgbClr val="990000"/>
                </a:solidFill>
                <a:latin typeface="Arial"/>
                <a:cs typeface="Arial"/>
              </a:rPr>
              <a:t>Linux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8352869" y="2786770"/>
            <a:ext cx="541020" cy="275590"/>
            <a:chOff x="8352869" y="2786770"/>
            <a:chExt cx="541020" cy="275590"/>
          </a:xfrm>
        </p:grpSpPr>
        <p:sp>
          <p:nvSpPr>
            <p:cNvPr id="37" name="object 37"/>
            <p:cNvSpPr/>
            <p:nvPr/>
          </p:nvSpPr>
          <p:spPr>
            <a:xfrm>
              <a:off x="8357633" y="2791533"/>
              <a:ext cx="531495" cy="266065"/>
            </a:xfrm>
            <a:custGeom>
              <a:avLst/>
              <a:gdLst/>
              <a:ahLst/>
              <a:cxnLst/>
              <a:rect l="l" t="t" r="r" b="b"/>
              <a:pathLst>
                <a:path w="531495" h="266064">
                  <a:moveTo>
                    <a:pt x="398550" y="0"/>
                  </a:moveTo>
                  <a:lnTo>
                    <a:pt x="398550" y="66375"/>
                  </a:lnTo>
                  <a:lnTo>
                    <a:pt x="0" y="66375"/>
                  </a:lnTo>
                  <a:lnTo>
                    <a:pt x="0" y="199124"/>
                  </a:lnTo>
                  <a:lnTo>
                    <a:pt x="398550" y="199124"/>
                  </a:lnTo>
                  <a:lnTo>
                    <a:pt x="398550" y="265499"/>
                  </a:lnTo>
                  <a:lnTo>
                    <a:pt x="531299" y="132749"/>
                  </a:lnTo>
                  <a:lnTo>
                    <a:pt x="398550" y="0"/>
                  </a:lnTo>
                  <a:close/>
                </a:path>
              </a:pathLst>
            </a:custGeom>
            <a:solidFill>
              <a:srgbClr val="EEEC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8357632" y="2791532"/>
              <a:ext cx="531495" cy="266065"/>
            </a:xfrm>
            <a:custGeom>
              <a:avLst/>
              <a:gdLst/>
              <a:ahLst/>
              <a:cxnLst/>
              <a:rect l="l" t="t" r="r" b="b"/>
              <a:pathLst>
                <a:path w="531495" h="266064">
                  <a:moveTo>
                    <a:pt x="0" y="66374"/>
                  </a:moveTo>
                  <a:lnTo>
                    <a:pt x="398549" y="66374"/>
                  </a:lnTo>
                  <a:lnTo>
                    <a:pt x="398549" y="0"/>
                  </a:lnTo>
                  <a:lnTo>
                    <a:pt x="531299" y="132749"/>
                  </a:lnTo>
                  <a:lnTo>
                    <a:pt x="398549" y="265499"/>
                  </a:lnTo>
                  <a:lnTo>
                    <a:pt x="398549" y="199124"/>
                  </a:lnTo>
                  <a:lnTo>
                    <a:pt x="0" y="199124"/>
                  </a:lnTo>
                  <a:lnTo>
                    <a:pt x="0" y="66374"/>
                  </a:lnTo>
                  <a:close/>
                </a:path>
              </a:pathLst>
            </a:custGeom>
            <a:ln w="9524">
              <a:solidFill>
                <a:srgbClr val="1F49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9053450" y="4172105"/>
            <a:ext cx="265684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Arial"/>
                <a:cs typeface="Arial"/>
              </a:rPr>
              <a:t>Production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server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only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needs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b="1" dirty="0">
                <a:solidFill>
                  <a:srgbClr val="4F81BD"/>
                </a:solidFill>
                <a:latin typeface="Arial"/>
                <a:cs typeface="Arial"/>
              </a:rPr>
              <a:t>Docker</a:t>
            </a:r>
            <a:r>
              <a:rPr sz="1600" b="1" spc="-20" dirty="0">
                <a:solidFill>
                  <a:srgbClr val="4F81BD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4F81BD"/>
                </a:solidFill>
                <a:latin typeface="Arial"/>
                <a:cs typeface="Arial"/>
              </a:rPr>
              <a:t>installed</a:t>
            </a:r>
            <a:endParaRPr sz="16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9053450" y="4903625"/>
            <a:ext cx="2588260" cy="1000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Arial"/>
                <a:cs typeface="Arial"/>
              </a:rPr>
              <a:t>Production</a:t>
            </a:r>
            <a:r>
              <a:rPr sz="1600" spc="-6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server</a:t>
            </a:r>
            <a:r>
              <a:rPr sz="1600" spc="-6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pulls </a:t>
            </a:r>
            <a:r>
              <a:rPr sz="1600" dirty="0">
                <a:latin typeface="Arial"/>
                <a:cs typeface="Arial"/>
              </a:rPr>
              <a:t>Docker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4F81BD"/>
                </a:solidFill>
                <a:latin typeface="Arial"/>
                <a:cs typeface="Arial"/>
              </a:rPr>
              <a:t>images</a:t>
            </a:r>
            <a:r>
              <a:rPr sz="1600" b="1" spc="-15" dirty="0">
                <a:solidFill>
                  <a:srgbClr val="4F81BD"/>
                </a:solidFill>
                <a:latin typeface="Arial"/>
                <a:cs typeface="Arial"/>
              </a:rPr>
              <a:t> </a:t>
            </a:r>
            <a:r>
              <a:rPr sz="1600" spc="-20" dirty="0">
                <a:latin typeface="Arial"/>
                <a:cs typeface="Arial"/>
              </a:rPr>
              <a:t>from </a:t>
            </a:r>
            <a:r>
              <a:rPr sz="1600" b="1" dirty="0">
                <a:solidFill>
                  <a:srgbClr val="4F81BD"/>
                </a:solidFill>
                <a:latin typeface="Arial"/>
                <a:cs typeface="Arial"/>
              </a:rPr>
              <a:t>container</a:t>
            </a:r>
            <a:r>
              <a:rPr sz="1600" b="1" spc="-45" dirty="0">
                <a:solidFill>
                  <a:srgbClr val="4F81BD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4F81BD"/>
                </a:solidFill>
                <a:latin typeface="Arial"/>
                <a:cs typeface="Arial"/>
              </a:rPr>
              <a:t>registry</a:t>
            </a:r>
            <a:r>
              <a:rPr sz="1600" b="1" spc="-40" dirty="0">
                <a:solidFill>
                  <a:srgbClr val="4F81BD"/>
                </a:solidFill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and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spc="-20" dirty="0">
                <a:latin typeface="Arial"/>
                <a:cs typeface="Arial"/>
              </a:rPr>
              <a:t>runs them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507259" y="1397179"/>
            <a:ext cx="1326515" cy="252095"/>
            <a:chOff x="507259" y="1397179"/>
            <a:chExt cx="1326515" cy="252095"/>
          </a:xfrm>
        </p:grpSpPr>
        <p:sp>
          <p:nvSpPr>
            <p:cNvPr id="42" name="object 42"/>
            <p:cNvSpPr/>
            <p:nvPr/>
          </p:nvSpPr>
          <p:spPr>
            <a:xfrm>
              <a:off x="512022" y="1401942"/>
              <a:ext cx="300990" cy="242570"/>
            </a:xfrm>
            <a:custGeom>
              <a:avLst/>
              <a:gdLst/>
              <a:ahLst/>
              <a:cxnLst/>
              <a:rect l="l" t="t" r="r" b="b"/>
              <a:pathLst>
                <a:path w="300990" h="242569">
                  <a:moveTo>
                    <a:pt x="300392" y="0"/>
                  </a:moveTo>
                  <a:lnTo>
                    <a:pt x="0" y="0"/>
                  </a:lnTo>
                  <a:lnTo>
                    <a:pt x="0" y="242394"/>
                  </a:lnTo>
                  <a:lnTo>
                    <a:pt x="300392" y="242394"/>
                  </a:lnTo>
                  <a:lnTo>
                    <a:pt x="300392" y="0"/>
                  </a:lnTo>
                  <a:close/>
                </a:path>
              </a:pathLst>
            </a:custGeom>
            <a:solidFill>
              <a:srgbClr val="FFE5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12022" y="1401941"/>
              <a:ext cx="300990" cy="242570"/>
            </a:xfrm>
            <a:custGeom>
              <a:avLst/>
              <a:gdLst/>
              <a:ahLst/>
              <a:cxnLst/>
              <a:rect l="l" t="t" r="r" b="b"/>
              <a:pathLst>
                <a:path w="300990" h="242569">
                  <a:moveTo>
                    <a:pt x="0" y="0"/>
                  </a:moveTo>
                  <a:lnTo>
                    <a:pt x="300392" y="0"/>
                  </a:lnTo>
                  <a:lnTo>
                    <a:pt x="300392" y="242393"/>
                  </a:lnTo>
                  <a:lnTo>
                    <a:pt x="0" y="242393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6B26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1020009" y="1401942"/>
              <a:ext cx="300990" cy="242570"/>
            </a:xfrm>
            <a:custGeom>
              <a:avLst/>
              <a:gdLst/>
              <a:ahLst/>
              <a:cxnLst/>
              <a:rect l="l" t="t" r="r" b="b"/>
              <a:pathLst>
                <a:path w="300990" h="242569">
                  <a:moveTo>
                    <a:pt x="300392" y="0"/>
                  </a:moveTo>
                  <a:lnTo>
                    <a:pt x="0" y="0"/>
                  </a:lnTo>
                  <a:lnTo>
                    <a:pt x="0" y="242394"/>
                  </a:lnTo>
                  <a:lnTo>
                    <a:pt x="300392" y="242394"/>
                  </a:lnTo>
                  <a:lnTo>
                    <a:pt x="300392" y="0"/>
                  </a:lnTo>
                  <a:close/>
                </a:path>
              </a:pathLst>
            </a:custGeom>
            <a:solidFill>
              <a:srgbClr val="FFE5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020009" y="1401941"/>
              <a:ext cx="300990" cy="242570"/>
            </a:xfrm>
            <a:custGeom>
              <a:avLst/>
              <a:gdLst/>
              <a:ahLst/>
              <a:cxnLst/>
              <a:rect l="l" t="t" r="r" b="b"/>
              <a:pathLst>
                <a:path w="300990" h="242569">
                  <a:moveTo>
                    <a:pt x="0" y="0"/>
                  </a:moveTo>
                  <a:lnTo>
                    <a:pt x="300392" y="0"/>
                  </a:lnTo>
                  <a:lnTo>
                    <a:pt x="300392" y="242393"/>
                  </a:lnTo>
                  <a:lnTo>
                    <a:pt x="0" y="242393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6B26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1527996" y="1401942"/>
              <a:ext cx="300990" cy="242570"/>
            </a:xfrm>
            <a:custGeom>
              <a:avLst/>
              <a:gdLst/>
              <a:ahLst/>
              <a:cxnLst/>
              <a:rect l="l" t="t" r="r" b="b"/>
              <a:pathLst>
                <a:path w="300989" h="242569">
                  <a:moveTo>
                    <a:pt x="300392" y="0"/>
                  </a:moveTo>
                  <a:lnTo>
                    <a:pt x="0" y="0"/>
                  </a:lnTo>
                  <a:lnTo>
                    <a:pt x="0" y="242394"/>
                  </a:lnTo>
                  <a:lnTo>
                    <a:pt x="300392" y="242394"/>
                  </a:lnTo>
                  <a:lnTo>
                    <a:pt x="300392" y="0"/>
                  </a:lnTo>
                  <a:close/>
                </a:path>
              </a:pathLst>
            </a:custGeom>
            <a:solidFill>
              <a:srgbClr val="FFE5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1527996" y="1401941"/>
              <a:ext cx="300990" cy="242570"/>
            </a:xfrm>
            <a:custGeom>
              <a:avLst/>
              <a:gdLst/>
              <a:ahLst/>
              <a:cxnLst/>
              <a:rect l="l" t="t" r="r" b="b"/>
              <a:pathLst>
                <a:path w="300989" h="242569">
                  <a:moveTo>
                    <a:pt x="0" y="0"/>
                  </a:moveTo>
                  <a:lnTo>
                    <a:pt x="300392" y="0"/>
                  </a:lnTo>
                  <a:lnTo>
                    <a:pt x="300392" y="242393"/>
                  </a:lnTo>
                  <a:lnTo>
                    <a:pt x="0" y="242393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6B26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8" name="object 48"/>
          <p:cNvGrpSpPr/>
          <p:nvPr/>
        </p:nvGrpSpPr>
        <p:grpSpPr>
          <a:xfrm>
            <a:off x="507259" y="2819580"/>
            <a:ext cx="1326515" cy="252095"/>
            <a:chOff x="507259" y="2819580"/>
            <a:chExt cx="1326515" cy="252095"/>
          </a:xfrm>
        </p:grpSpPr>
        <p:sp>
          <p:nvSpPr>
            <p:cNvPr id="49" name="object 49"/>
            <p:cNvSpPr/>
            <p:nvPr/>
          </p:nvSpPr>
          <p:spPr>
            <a:xfrm>
              <a:off x="512022" y="2824342"/>
              <a:ext cx="300990" cy="242570"/>
            </a:xfrm>
            <a:custGeom>
              <a:avLst/>
              <a:gdLst/>
              <a:ahLst/>
              <a:cxnLst/>
              <a:rect l="l" t="t" r="r" b="b"/>
              <a:pathLst>
                <a:path w="300990" h="242569">
                  <a:moveTo>
                    <a:pt x="300392" y="0"/>
                  </a:moveTo>
                  <a:lnTo>
                    <a:pt x="0" y="0"/>
                  </a:lnTo>
                  <a:lnTo>
                    <a:pt x="0" y="242393"/>
                  </a:lnTo>
                  <a:lnTo>
                    <a:pt x="300392" y="242393"/>
                  </a:lnTo>
                  <a:lnTo>
                    <a:pt x="300392" y="0"/>
                  </a:lnTo>
                  <a:close/>
                </a:path>
              </a:pathLst>
            </a:custGeom>
            <a:solidFill>
              <a:srgbClr val="FFE5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512022" y="2824342"/>
              <a:ext cx="300990" cy="242570"/>
            </a:xfrm>
            <a:custGeom>
              <a:avLst/>
              <a:gdLst/>
              <a:ahLst/>
              <a:cxnLst/>
              <a:rect l="l" t="t" r="r" b="b"/>
              <a:pathLst>
                <a:path w="300990" h="242569">
                  <a:moveTo>
                    <a:pt x="0" y="0"/>
                  </a:moveTo>
                  <a:lnTo>
                    <a:pt x="300392" y="0"/>
                  </a:lnTo>
                  <a:lnTo>
                    <a:pt x="300392" y="242394"/>
                  </a:lnTo>
                  <a:lnTo>
                    <a:pt x="0" y="24239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6B26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1020009" y="2824342"/>
              <a:ext cx="300990" cy="242570"/>
            </a:xfrm>
            <a:custGeom>
              <a:avLst/>
              <a:gdLst/>
              <a:ahLst/>
              <a:cxnLst/>
              <a:rect l="l" t="t" r="r" b="b"/>
              <a:pathLst>
                <a:path w="300990" h="242569">
                  <a:moveTo>
                    <a:pt x="300392" y="0"/>
                  </a:moveTo>
                  <a:lnTo>
                    <a:pt x="0" y="0"/>
                  </a:lnTo>
                  <a:lnTo>
                    <a:pt x="0" y="242393"/>
                  </a:lnTo>
                  <a:lnTo>
                    <a:pt x="300392" y="242393"/>
                  </a:lnTo>
                  <a:lnTo>
                    <a:pt x="300392" y="0"/>
                  </a:lnTo>
                  <a:close/>
                </a:path>
              </a:pathLst>
            </a:custGeom>
            <a:solidFill>
              <a:srgbClr val="FFE5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1020009" y="2824342"/>
              <a:ext cx="300990" cy="242570"/>
            </a:xfrm>
            <a:custGeom>
              <a:avLst/>
              <a:gdLst/>
              <a:ahLst/>
              <a:cxnLst/>
              <a:rect l="l" t="t" r="r" b="b"/>
              <a:pathLst>
                <a:path w="300990" h="242569">
                  <a:moveTo>
                    <a:pt x="0" y="0"/>
                  </a:moveTo>
                  <a:lnTo>
                    <a:pt x="300392" y="0"/>
                  </a:lnTo>
                  <a:lnTo>
                    <a:pt x="300392" y="242394"/>
                  </a:lnTo>
                  <a:lnTo>
                    <a:pt x="0" y="24239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6B26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1527996" y="2824342"/>
              <a:ext cx="300990" cy="242570"/>
            </a:xfrm>
            <a:custGeom>
              <a:avLst/>
              <a:gdLst/>
              <a:ahLst/>
              <a:cxnLst/>
              <a:rect l="l" t="t" r="r" b="b"/>
              <a:pathLst>
                <a:path w="300989" h="242569">
                  <a:moveTo>
                    <a:pt x="300392" y="0"/>
                  </a:moveTo>
                  <a:lnTo>
                    <a:pt x="0" y="0"/>
                  </a:lnTo>
                  <a:lnTo>
                    <a:pt x="0" y="242393"/>
                  </a:lnTo>
                  <a:lnTo>
                    <a:pt x="300392" y="242393"/>
                  </a:lnTo>
                  <a:lnTo>
                    <a:pt x="300392" y="0"/>
                  </a:lnTo>
                  <a:close/>
                </a:path>
              </a:pathLst>
            </a:custGeom>
            <a:solidFill>
              <a:srgbClr val="FFE5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1527996" y="2824342"/>
              <a:ext cx="300990" cy="242570"/>
            </a:xfrm>
            <a:custGeom>
              <a:avLst/>
              <a:gdLst/>
              <a:ahLst/>
              <a:cxnLst/>
              <a:rect l="l" t="t" r="r" b="b"/>
              <a:pathLst>
                <a:path w="300989" h="242569">
                  <a:moveTo>
                    <a:pt x="0" y="0"/>
                  </a:moveTo>
                  <a:lnTo>
                    <a:pt x="300392" y="0"/>
                  </a:lnTo>
                  <a:lnTo>
                    <a:pt x="300392" y="242394"/>
                  </a:lnTo>
                  <a:lnTo>
                    <a:pt x="0" y="24239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6B26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5" name="object 55"/>
          <p:cNvGrpSpPr/>
          <p:nvPr/>
        </p:nvGrpSpPr>
        <p:grpSpPr>
          <a:xfrm>
            <a:off x="507259" y="4181019"/>
            <a:ext cx="1326515" cy="252095"/>
            <a:chOff x="507259" y="4181019"/>
            <a:chExt cx="1326515" cy="252095"/>
          </a:xfrm>
        </p:grpSpPr>
        <p:sp>
          <p:nvSpPr>
            <p:cNvPr id="56" name="object 56"/>
            <p:cNvSpPr/>
            <p:nvPr/>
          </p:nvSpPr>
          <p:spPr>
            <a:xfrm>
              <a:off x="512022" y="4185782"/>
              <a:ext cx="300990" cy="242570"/>
            </a:xfrm>
            <a:custGeom>
              <a:avLst/>
              <a:gdLst/>
              <a:ahLst/>
              <a:cxnLst/>
              <a:rect l="l" t="t" r="r" b="b"/>
              <a:pathLst>
                <a:path w="300990" h="242570">
                  <a:moveTo>
                    <a:pt x="300392" y="0"/>
                  </a:moveTo>
                  <a:lnTo>
                    <a:pt x="0" y="0"/>
                  </a:lnTo>
                  <a:lnTo>
                    <a:pt x="0" y="242393"/>
                  </a:lnTo>
                  <a:lnTo>
                    <a:pt x="300392" y="242393"/>
                  </a:lnTo>
                  <a:lnTo>
                    <a:pt x="300392" y="0"/>
                  </a:lnTo>
                  <a:close/>
                </a:path>
              </a:pathLst>
            </a:custGeom>
            <a:solidFill>
              <a:srgbClr val="FFE5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512022" y="4185782"/>
              <a:ext cx="300990" cy="242570"/>
            </a:xfrm>
            <a:custGeom>
              <a:avLst/>
              <a:gdLst/>
              <a:ahLst/>
              <a:cxnLst/>
              <a:rect l="l" t="t" r="r" b="b"/>
              <a:pathLst>
                <a:path w="300990" h="242570">
                  <a:moveTo>
                    <a:pt x="0" y="0"/>
                  </a:moveTo>
                  <a:lnTo>
                    <a:pt x="300392" y="0"/>
                  </a:lnTo>
                  <a:lnTo>
                    <a:pt x="300392" y="242394"/>
                  </a:lnTo>
                  <a:lnTo>
                    <a:pt x="0" y="24239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6B26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1020009" y="4185782"/>
              <a:ext cx="300990" cy="242570"/>
            </a:xfrm>
            <a:custGeom>
              <a:avLst/>
              <a:gdLst/>
              <a:ahLst/>
              <a:cxnLst/>
              <a:rect l="l" t="t" r="r" b="b"/>
              <a:pathLst>
                <a:path w="300990" h="242570">
                  <a:moveTo>
                    <a:pt x="300392" y="0"/>
                  </a:moveTo>
                  <a:lnTo>
                    <a:pt x="0" y="0"/>
                  </a:lnTo>
                  <a:lnTo>
                    <a:pt x="0" y="242393"/>
                  </a:lnTo>
                  <a:lnTo>
                    <a:pt x="300392" y="242393"/>
                  </a:lnTo>
                  <a:lnTo>
                    <a:pt x="300392" y="0"/>
                  </a:lnTo>
                  <a:close/>
                </a:path>
              </a:pathLst>
            </a:custGeom>
            <a:solidFill>
              <a:srgbClr val="FFE5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1020009" y="4185782"/>
              <a:ext cx="300990" cy="242570"/>
            </a:xfrm>
            <a:custGeom>
              <a:avLst/>
              <a:gdLst/>
              <a:ahLst/>
              <a:cxnLst/>
              <a:rect l="l" t="t" r="r" b="b"/>
              <a:pathLst>
                <a:path w="300990" h="242570">
                  <a:moveTo>
                    <a:pt x="0" y="0"/>
                  </a:moveTo>
                  <a:lnTo>
                    <a:pt x="300392" y="0"/>
                  </a:lnTo>
                  <a:lnTo>
                    <a:pt x="300392" y="242394"/>
                  </a:lnTo>
                  <a:lnTo>
                    <a:pt x="0" y="24239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6B26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1527996" y="4185782"/>
              <a:ext cx="300990" cy="242570"/>
            </a:xfrm>
            <a:custGeom>
              <a:avLst/>
              <a:gdLst/>
              <a:ahLst/>
              <a:cxnLst/>
              <a:rect l="l" t="t" r="r" b="b"/>
              <a:pathLst>
                <a:path w="300989" h="242570">
                  <a:moveTo>
                    <a:pt x="300392" y="0"/>
                  </a:moveTo>
                  <a:lnTo>
                    <a:pt x="0" y="0"/>
                  </a:lnTo>
                  <a:lnTo>
                    <a:pt x="0" y="242393"/>
                  </a:lnTo>
                  <a:lnTo>
                    <a:pt x="300392" y="242393"/>
                  </a:lnTo>
                  <a:lnTo>
                    <a:pt x="300392" y="0"/>
                  </a:lnTo>
                  <a:close/>
                </a:path>
              </a:pathLst>
            </a:custGeom>
            <a:solidFill>
              <a:srgbClr val="FFE5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1527996" y="4185782"/>
              <a:ext cx="300990" cy="242570"/>
            </a:xfrm>
            <a:custGeom>
              <a:avLst/>
              <a:gdLst/>
              <a:ahLst/>
              <a:cxnLst/>
              <a:rect l="l" t="t" r="r" b="b"/>
              <a:pathLst>
                <a:path w="300989" h="242570">
                  <a:moveTo>
                    <a:pt x="0" y="0"/>
                  </a:moveTo>
                  <a:lnTo>
                    <a:pt x="300392" y="0"/>
                  </a:lnTo>
                  <a:lnTo>
                    <a:pt x="300392" y="242394"/>
                  </a:lnTo>
                  <a:lnTo>
                    <a:pt x="0" y="24239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6B26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2" name="object 62"/>
          <p:cNvGrpSpPr/>
          <p:nvPr/>
        </p:nvGrpSpPr>
        <p:grpSpPr>
          <a:xfrm>
            <a:off x="9912235" y="2994485"/>
            <a:ext cx="309880" cy="252095"/>
            <a:chOff x="9912235" y="2994485"/>
            <a:chExt cx="309880" cy="252095"/>
          </a:xfrm>
        </p:grpSpPr>
        <p:sp>
          <p:nvSpPr>
            <p:cNvPr id="63" name="object 63"/>
            <p:cNvSpPr/>
            <p:nvPr/>
          </p:nvSpPr>
          <p:spPr>
            <a:xfrm>
              <a:off x="9916998" y="2999247"/>
              <a:ext cx="300355" cy="242570"/>
            </a:xfrm>
            <a:custGeom>
              <a:avLst/>
              <a:gdLst/>
              <a:ahLst/>
              <a:cxnLst/>
              <a:rect l="l" t="t" r="r" b="b"/>
              <a:pathLst>
                <a:path w="300354" h="242569">
                  <a:moveTo>
                    <a:pt x="300300" y="0"/>
                  </a:moveTo>
                  <a:lnTo>
                    <a:pt x="0" y="0"/>
                  </a:lnTo>
                  <a:lnTo>
                    <a:pt x="0" y="242399"/>
                  </a:lnTo>
                  <a:lnTo>
                    <a:pt x="300300" y="242399"/>
                  </a:lnTo>
                  <a:lnTo>
                    <a:pt x="300300" y="0"/>
                  </a:lnTo>
                  <a:close/>
                </a:path>
              </a:pathLst>
            </a:custGeom>
            <a:solidFill>
              <a:srgbClr val="FFF2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9916997" y="2999247"/>
              <a:ext cx="300355" cy="242570"/>
            </a:xfrm>
            <a:custGeom>
              <a:avLst/>
              <a:gdLst/>
              <a:ahLst/>
              <a:cxnLst/>
              <a:rect l="l" t="t" r="r" b="b"/>
              <a:pathLst>
                <a:path w="300354" h="242569">
                  <a:moveTo>
                    <a:pt x="0" y="0"/>
                  </a:moveTo>
                  <a:lnTo>
                    <a:pt x="300299" y="0"/>
                  </a:lnTo>
                  <a:lnTo>
                    <a:pt x="300299" y="242399"/>
                  </a:lnTo>
                  <a:lnTo>
                    <a:pt x="0" y="242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6B26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5" name="object 65"/>
          <p:cNvGrpSpPr/>
          <p:nvPr/>
        </p:nvGrpSpPr>
        <p:grpSpPr>
          <a:xfrm>
            <a:off x="6719502" y="2729284"/>
            <a:ext cx="614680" cy="455295"/>
            <a:chOff x="6719502" y="2729284"/>
            <a:chExt cx="614680" cy="455295"/>
          </a:xfrm>
        </p:grpSpPr>
        <p:sp>
          <p:nvSpPr>
            <p:cNvPr id="66" name="object 66"/>
            <p:cNvSpPr/>
            <p:nvPr/>
          </p:nvSpPr>
          <p:spPr>
            <a:xfrm>
              <a:off x="6724263" y="2937246"/>
              <a:ext cx="300355" cy="242570"/>
            </a:xfrm>
            <a:custGeom>
              <a:avLst/>
              <a:gdLst/>
              <a:ahLst/>
              <a:cxnLst/>
              <a:rect l="l" t="t" r="r" b="b"/>
              <a:pathLst>
                <a:path w="300354" h="242569">
                  <a:moveTo>
                    <a:pt x="300300" y="0"/>
                  </a:moveTo>
                  <a:lnTo>
                    <a:pt x="0" y="0"/>
                  </a:lnTo>
                  <a:lnTo>
                    <a:pt x="0" y="242399"/>
                  </a:lnTo>
                  <a:lnTo>
                    <a:pt x="300300" y="242399"/>
                  </a:lnTo>
                  <a:lnTo>
                    <a:pt x="300300" y="0"/>
                  </a:lnTo>
                  <a:close/>
                </a:path>
              </a:pathLst>
            </a:custGeom>
            <a:solidFill>
              <a:srgbClr val="FFF2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6724264" y="2937247"/>
              <a:ext cx="300355" cy="242570"/>
            </a:xfrm>
            <a:custGeom>
              <a:avLst/>
              <a:gdLst/>
              <a:ahLst/>
              <a:cxnLst/>
              <a:rect l="l" t="t" r="r" b="b"/>
              <a:pathLst>
                <a:path w="300354" h="242569">
                  <a:moveTo>
                    <a:pt x="0" y="0"/>
                  </a:moveTo>
                  <a:lnTo>
                    <a:pt x="300299" y="0"/>
                  </a:lnTo>
                  <a:lnTo>
                    <a:pt x="300299" y="242399"/>
                  </a:lnTo>
                  <a:lnTo>
                    <a:pt x="0" y="242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6B26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6825863" y="2835646"/>
              <a:ext cx="300355" cy="242570"/>
            </a:xfrm>
            <a:custGeom>
              <a:avLst/>
              <a:gdLst/>
              <a:ahLst/>
              <a:cxnLst/>
              <a:rect l="l" t="t" r="r" b="b"/>
              <a:pathLst>
                <a:path w="300354" h="242569">
                  <a:moveTo>
                    <a:pt x="300300" y="0"/>
                  </a:moveTo>
                  <a:lnTo>
                    <a:pt x="0" y="0"/>
                  </a:lnTo>
                  <a:lnTo>
                    <a:pt x="0" y="242399"/>
                  </a:lnTo>
                  <a:lnTo>
                    <a:pt x="300300" y="242399"/>
                  </a:lnTo>
                  <a:lnTo>
                    <a:pt x="300300" y="0"/>
                  </a:lnTo>
                  <a:close/>
                </a:path>
              </a:pathLst>
            </a:custGeom>
            <a:solidFill>
              <a:srgbClr val="FFF2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6825864" y="2835647"/>
              <a:ext cx="300355" cy="242570"/>
            </a:xfrm>
            <a:custGeom>
              <a:avLst/>
              <a:gdLst/>
              <a:ahLst/>
              <a:cxnLst/>
              <a:rect l="l" t="t" r="r" b="b"/>
              <a:pathLst>
                <a:path w="300354" h="242569">
                  <a:moveTo>
                    <a:pt x="0" y="0"/>
                  </a:moveTo>
                  <a:lnTo>
                    <a:pt x="300299" y="0"/>
                  </a:lnTo>
                  <a:lnTo>
                    <a:pt x="300299" y="242399"/>
                  </a:lnTo>
                  <a:lnTo>
                    <a:pt x="0" y="242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6B26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7029063" y="2734046"/>
              <a:ext cx="300355" cy="242570"/>
            </a:xfrm>
            <a:custGeom>
              <a:avLst/>
              <a:gdLst/>
              <a:ahLst/>
              <a:cxnLst/>
              <a:rect l="l" t="t" r="r" b="b"/>
              <a:pathLst>
                <a:path w="300354" h="242569">
                  <a:moveTo>
                    <a:pt x="300300" y="0"/>
                  </a:moveTo>
                  <a:lnTo>
                    <a:pt x="0" y="0"/>
                  </a:lnTo>
                  <a:lnTo>
                    <a:pt x="0" y="242399"/>
                  </a:lnTo>
                  <a:lnTo>
                    <a:pt x="300300" y="242399"/>
                  </a:lnTo>
                  <a:lnTo>
                    <a:pt x="300300" y="0"/>
                  </a:lnTo>
                  <a:close/>
                </a:path>
              </a:pathLst>
            </a:custGeom>
            <a:solidFill>
              <a:srgbClr val="FFF2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7029064" y="2734047"/>
              <a:ext cx="300355" cy="242570"/>
            </a:xfrm>
            <a:custGeom>
              <a:avLst/>
              <a:gdLst/>
              <a:ahLst/>
              <a:cxnLst/>
              <a:rect l="l" t="t" r="r" b="b"/>
              <a:pathLst>
                <a:path w="300354" h="242569">
                  <a:moveTo>
                    <a:pt x="0" y="0"/>
                  </a:moveTo>
                  <a:lnTo>
                    <a:pt x="300299" y="0"/>
                  </a:lnTo>
                  <a:lnTo>
                    <a:pt x="300299" y="242399"/>
                  </a:lnTo>
                  <a:lnTo>
                    <a:pt x="0" y="242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6B26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2" name="object 72"/>
          <p:cNvSpPr txBox="1"/>
          <p:nvPr/>
        </p:nvSpPr>
        <p:spPr>
          <a:xfrm>
            <a:off x="286333" y="5942707"/>
            <a:ext cx="2656205" cy="496570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 marR="5080">
              <a:lnSpc>
                <a:spcPts val="1920"/>
              </a:lnSpc>
              <a:spcBef>
                <a:spcPts val="10"/>
              </a:spcBef>
            </a:pPr>
            <a:r>
              <a:rPr sz="1600" b="1" dirty="0">
                <a:solidFill>
                  <a:srgbClr val="4F81BD"/>
                </a:solidFill>
                <a:latin typeface="Arial"/>
                <a:cs typeface="Arial"/>
              </a:rPr>
              <a:t>Containers</a:t>
            </a:r>
            <a:r>
              <a:rPr sz="1600" b="1" spc="-25" dirty="0">
                <a:solidFill>
                  <a:srgbClr val="4F81BD"/>
                </a:solidFill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need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to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be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spc="-20" dirty="0">
                <a:latin typeface="Arial"/>
                <a:cs typeface="Arial"/>
              </a:rPr>
              <a:t>setup </a:t>
            </a:r>
            <a:r>
              <a:rPr sz="1600" dirty="0">
                <a:latin typeface="Arial"/>
                <a:cs typeface="Arial"/>
              </a:rPr>
              <a:t>only</a:t>
            </a:r>
            <a:r>
              <a:rPr sz="1600" spc="-5" dirty="0">
                <a:latin typeface="Arial"/>
                <a:cs typeface="Arial"/>
              </a:rPr>
              <a:t> </a:t>
            </a:r>
            <a:r>
              <a:rPr sz="1600" spc="-20" dirty="0">
                <a:latin typeface="Arial"/>
                <a:cs typeface="Arial"/>
              </a:rPr>
              <a:t>once</a:t>
            </a:r>
            <a:endParaRPr sz="1600">
              <a:latin typeface="Arial"/>
              <a:cs typeface="Arial"/>
            </a:endParaRPr>
          </a:p>
        </p:txBody>
      </p:sp>
      <p:sp>
        <p:nvSpPr>
          <p:cNvPr id="73" name="object 7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spc="-25" dirty="0"/>
              <a:t>48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D8D8D8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</TotalTime>
  <Words>2450</Words>
  <Application>Microsoft Macintosh PowerPoint</Application>
  <PresentationFormat>Widescreen</PresentationFormat>
  <Paragraphs>512</Paragraphs>
  <Slides>35</Slides>
  <Notes>0</Notes>
  <HiddenSlides>8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0" baseType="lpstr">
      <vt:lpstr>BIZ UDGothic</vt:lpstr>
      <vt:lpstr>Arial</vt:lpstr>
      <vt:lpstr>Times New Roman</vt:lpstr>
      <vt:lpstr>Trebuchet MS</vt:lpstr>
      <vt:lpstr>Office Theme</vt:lpstr>
      <vt:lpstr>Environments vs Virtualization vs Containerization</vt:lpstr>
      <vt:lpstr>Virtual Environments</vt:lpstr>
      <vt:lpstr>Virtual Machines</vt:lpstr>
      <vt:lpstr>Wish List</vt:lpstr>
      <vt:lpstr>Comparison</vt:lpstr>
      <vt:lpstr>What is a Container</vt:lpstr>
      <vt:lpstr>What Makes Containers so Small?</vt:lpstr>
      <vt:lpstr>How to run a docker container</vt:lpstr>
      <vt:lpstr>What is the difference between an image and container</vt:lpstr>
      <vt:lpstr>Inside the Dockerfile</vt:lpstr>
      <vt:lpstr>Multiple containers from same image</vt:lpstr>
      <vt:lpstr>Docker Image as Layers</vt:lpstr>
      <vt:lpstr>Image Layering</vt:lpstr>
      <vt:lpstr>Image Layering - Example</vt:lpstr>
      <vt:lpstr>Some Docker Vocabulary</vt:lpstr>
      <vt:lpstr>Docker Image as Layers</vt:lpstr>
      <vt:lpstr>Docker Image as Layers</vt:lpstr>
      <vt:lpstr>Docker Image as Layers</vt:lpstr>
      <vt:lpstr>Why Layers</vt:lpstr>
      <vt:lpstr>Why use Containers?</vt:lpstr>
      <vt:lpstr>Monolithic Architecture</vt:lpstr>
      <vt:lpstr>Monolithic Architecture</vt:lpstr>
      <vt:lpstr>Monolithic Architecture - Advantages</vt:lpstr>
      <vt:lpstr>Monolithic Architecture - Disadvantages</vt:lpstr>
      <vt:lpstr>Applications have changed dramatically</vt:lpstr>
      <vt:lpstr>Applications have changed dramatically</vt:lpstr>
      <vt:lpstr>Today: Microservice Architecture</vt:lpstr>
      <vt:lpstr>Software Development Workflow (no Docker)</vt:lpstr>
      <vt:lpstr>Software Development Workflow (no Docker)</vt:lpstr>
      <vt:lpstr>Software Development Workflow (no Docker)</vt:lpstr>
      <vt:lpstr>Software Development Workflow (no Docker)</vt:lpstr>
      <vt:lpstr>Software Development Workflow (with Docker)</vt:lpstr>
      <vt:lpstr>Software Development Workflow (with Docker)</vt:lpstr>
      <vt:lpstr>Software Development Workflow (with Docker)</vt:lpstr>
      <vt:lpstr>Software Development Workflow (with Docker)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07_lecture_development_containers</dc:title>
  <cp:lastModifiedBy>Microsoft Office User</cp:lastModifiedBy>
  <cp:revision>1</cp:revision>
  <dcterms:created xsi:type="dcterms:W3CDTF">2025-01-15T22:02:21Z</dcterms:created>
  <dcterms:modified xsi:type="dcterms:W3CDTF">2025-01-16T04:04:58Z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2024-09-12T00:00:00Z</vt:filetime>
  </property>
  <property fmtid="{D5CDD505-2E9C-101B-9397-08002B2CF9AE}" pid="3" name="Creator">
    <vt:lpwstr>Google</vt:lpwstr>
  </property>
  <property fmtid="{D5CDD505-2E9C-101B-9397-08002B2CF9AE}" pid="4" name="LastSaved">
    <vt:filetime>2025-01-15T00:00:00Z</vt:filetime>
  </property>
  <property fmtid="{D5CDD505-2E9C-101B-9397-08002B2CF9AE}" pid="5" name="Producer">
    <vt:lpwstr>macOS Version 13.6.1 (Build 22G313) Quartz PDFContext</vt:lpwstr>
  </property>
</Properties>
</file>