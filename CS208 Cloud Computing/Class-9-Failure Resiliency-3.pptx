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5" r:id="rId2"/>
    <p:sldMasterId id="2147483690" r:id="rId3"/>
    <p:sldMasterId id="2147483705" r:id="rId4"/>
    <p:sldMasterId id="2147483717" r:id="rId5"/>
  </p:sldMasterIdLst>
  <p:notesMasterIdLst>
    <p:notesMasterId r:id="rId50"/>
  </p:notesMasterIdLst>
  <p:sldIdLst>
    <p:sldId id="432" r:id="rId6"/>
    <p:sldId id="1423" r:id="rId7"/>
    <p:sldId id="1424" r:id="rId8"/>
    <p:sldId id="1425" r:id="rId9"/>
    <p:sldId id="1426" r:id="rId10"/>
    <p:sldId id="1427" r:id="rId11"/>
    <p:sldId id="261" r:id="rId12"/>
    <p:sldId id="262" r:id="rId13"/>
    <p:sldId id="433" r:id="rId14"/>
    <p:sldId id="1406" r:id="rId15"/>
    <p:sldId id="1408" r:id="rId16"/>
    <p:sldId id="1415" r:id="rId17"/>
    <p:sldId id="1417" r:id="rId18"/>
    <p:sldId id="1409" r:id="rId19"/>
    <p:sldId id="1421" r:id="rId20"/>
    <p:sldId id="1416" r:id="rId21"/>
    <p:sldId id="1410" r:id="rId22"/>
    <p:sldId id="1412" r:id="rId23"/>
    <p:sldId id="1411" r:id="rId24"/>
    <p:sldId id="1418" r:id="rId25"/>
    <p:sldId id="1413" r:id="rId26"/>
    <p:sldId id="1414" r:id="rId27"/>
    <p:sldId id="1419" r:id="rId28"/>
    <p:sldId id="1420" r:id="rId29"/>
    <p:sldId id="1422" r:id="rId30"/>
    <p:sldId id="383" r:id="rId31"/>
    <p:sldId id="384" r:id="rId32"/>
    <p:sldId id="385" r:id="rId33"/>
    <p:sldId id="386" r:id="rId34"/>
    <p:sldId id="387" r:id="rId35"/>
    <p:sldId id="388" r:id="rId36"/>
    <p:sldId id="389" r:id="rId37"/>
    <p:sldId id="399" r:id="rId38"/>
    <p:sldId id="400" r:id="rId39"/>
    <p:sldId id="401" r:id="rId40"/>
    <p:sldId id="402" r:id="rId41"/>
    <p:sldId id="403" r:id="rId42"/>
    <p:sldId id="404" r:id="rId43"/>
    <p:sldId id="405" r:id="rId44"/>
    <p:sldId id="406" r:id="rId45"/>
    <p:sldId id="407" r:id="rId46"/>
    <p:sldId id="408" r:id="rId47"/>
    <p:sldId id="409" r:id="rId48"/>
    <p:sldId id="392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07"/>
    <p:restoredTop sz="96058"/>
  </p:normalViewPr>
  <p:slideViewPr>
    <p:cSldViewPr snapToGrid="0" snapToObjects="1">
      <p:cViewPr varScale="1">
        <p:scale>
          <a:sx n="119" d="100"/>
          <a:sy n="119" d="100"/>
        </p:scale>
        <p:origin x="1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dangode K Ramakrishnan" userId="4323c311-26bb-4891-a6f8-617f455f2e62" providerId="ADAL" clId="{54284079-FE58-D545-A2EE-8C99FF73F49D}"/>
    <pc:docChg chg="custSel modSld">
      <pc:chgData name="Kadangode K Ramakrishnan" userId="4323c311-26bb-4891-a6f8-617f455f2e62" providerId="ADAL" clId="{54284079-FE58-D545-A2EE-8C99FF73F49D}" dt="2025-02-11T05:13:05.752" v="239"/>
      <pc:docMkLst>
        <pc:docMk/>
      </pc:docMkLst>
      <pc:sldChg chg="modSp mod">
        <pc:chgData name="Kadangode K Ramakrishnan" userId="4323c311-26bb-4891-a6f8-617f455f2e62" providerId="ADAL" clId="{54284079-FE58-D545-A2EE-8C99FF73F49D}" dt="2025-02-11T04:23:49.813" v="173" actId="20577"/>
        <pc:sldMkLst>
          <pc:docMk/>
          <pc:sldMk cId="2318223473" sldId="261"/>
        </pc:sldMkLst>
        <pc:spChg chg="mod">
          <ac:chgData name="Kadangode K Ramakrishnan" userId="4323c311-26bb-4891-a6f8-617f455f2e62" providerId="ADAL" clId="{54284079-FE58-D545-A2EE-8C99FF73F49D}" dt="2025-02-11T04:23:49.813" v="173" actId="20577"/>
          <ac:spMkLst>
            <pc:docMk/>
            <pc:sldMk cId="2318223473" sldId="261"/>
            <ac:spMk id="2" creationId="{00000000-0000-0000-0000-000000000000}"/>
          </ac:spMkLst>
        </pc:spChg>
      </pc:sldChg>
      <pc:sldChg chg="addSp delSp mod modAnim">
        <pc:chgData name="Kadangode K Ramakrishnan" userId="4323c311-26bb-4891-a6f8-617f455f2e62" providerId="ADAL" clId="{54284079-FE58-D545-A2EE-8C99FF73F49D}" dt="2025-02-11T05:13:05.752" v="239"/>
        <pc:sldMkLst>
          <pc:docMk/>
          <pc:sldMk cId="3911284998" sldId="387"/>
        </pc:sldMkLst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24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25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26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27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28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29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30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33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34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35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36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38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39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40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41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42" creationId="{00000000-0000-0000-0000-000000000000}"/>
          </ac:spMkLst>
        </pc:spChg>
        <pc:spChg chg="topLvl">
          <ac:chgData name="Kadangode K Ramakrishnan" userId="4323c311-26bb-4891-a6f8-617f455f2e62" providerId="ADAL" clId="{54284079-FE58-D545-A2EE-8C99FF73F49D}" dt="2025-02-11T05:12:14.139" v="237" actId="165"/>
          <ac:spMkLst>
            <pc:docMk/>
            <pc:sldMk cId="3911284998" sldId="387"/>
            <ac:spMk id="86044" creationId="{00000000-0000-0000-0000-000000000000}"/>
          </ac:spMkLst>
        </pc:spChg>
        <pc:grpChg chg="del">
          <ac:chgData name="Kadangode K Ramakrishnan" userId="4323c311-26bb-4891-a6f8-617f455f2e62" providerId="ADAL" clId="{54284079-FE58-D545-A2EE-8C99FF73F49D}" dt="2025-02-11T05:11:49.449" v="235" actId="165"/>
          <ac:grpSpMkLst>
            <pc:docMk/>
            <pc:sldMk cId="3911284998" sldId="387"/>
            <ac:grpSpMk id="2" creationId="{00000000-0000-0000-0000-000000000000}"/>
          </ac:grpSpMkLst>
        </pc:grpChg>
        <pc:grpChg chg="add del">
          <ac:chgData name="Kadangode K Ramakrishnan" userId="4323c311-26bb-4891-a6f8-617f455f2e62" providerId="ADAL" clId="{54284079-FE58-D545-A2EE-8C99FF73F49D}" dt="2025-02-11T05:12:14.139" v="237" actId="165"/>
          <ac:grpSpMkLst>
            <pc:docMk/>
            <pc:sldMk cId="3911284998" sldId="387"/>
            <ac:grpSpMk id="3" creationId="{38CAC521-6D0B-AEBF-FD63-AA39B070D053}"/>
          </ac:grpSpMkLst>
        </pc:grpChg>
        <pc:grpChg chg="add">
          <ac:chgData name="Kadangode K Ramakrishnan" userId="4323c311-26bb-4891-a6f8-617f455f2e62" providerId="ADAL" clId="{54284079-FE58-D545-A2EE-8C99FF73F49D}" dt="2025-02-11T05:12:59.413" v="238" actId="164"/>
          <ac:grpSpMkLst>
            <pc:docMk/>
            <pc:sldMk cId="3911284998" sldId="387"/>
            <ac:grpSpMk id="4" creationId="{D6CF9999-E958-04F7-BCBE-4C2F368B0844}"/>
          </ac:grpSpMkLst>
        </pc:grpChg>
        <pc:picChg chg="topLvl">
          <ac:chgData name="Kadangode K Ramakrishnan" userId="4323c311-26bb-4891-a6f8-617f455f2e62" providerId="ADAL" clId="{54284079-FE58-D545-A2EE-8C99FF73F49D}" dt="2025-02-11T05:12:14.139" v="237" actId="165"/>
          <ac:picMkLst>
            <pc:docMk/>
            <pc:sldMk cId="3911284998" sldId="387"/>
            <ac:picMk id="86023" creationId="{00000000-0000-0000-0000-000000000000}"/>
          </ac:picMkLst>
        </pc:picChg>
        <pc:cxnChg chg="topLvl">
          <ac:chgData name="Kadangode K Ramakrishnan" userId="4323c311-26bb-4891-a6f8-617f455f2e62" providerId="ADAL" clId="{54284079-FE58-D545-A2EE-8C99FF73F49D}" dt="2025-02-11T05:12:14.139" v="237" actId="165"/>
          <ac:cxnSpMkLst>
            <pc:docMk/>
            <pc:sldMk cId="3911284998" sldId="387"/>
            <ac:cxnSpMk id="17" creationId="{00000000-0000-0000-0000-000000000000}"/>
          </ac:cxnSpMkLst>
        </pc:cxnChg>
        <pc:cxnChg chg="topLvl">
          <ac:chgData name="Kadangode K Ramakrishnan" userId="4323c311-26bb-4891-a6f8-617f455f2e62" providerId="ADAL" clId="{54284079-FE58-D545-A2EE-8C99FF73F49D}" dt="2025-02-11T05:12:14.139" v="237" actId="165"/>
          <ac:cxnSpMkLst>
            <pc:docMk/>
            <pc:sldMk cId="3911284998" sldId="387"/>
            <ac:cxnSpMk id="19" creationId="{00000000-0000-0000-0000-000000000000}"/>
          </ac:cxnSpMkLst>
        </pc:cxnChg>
        <pc:cxnChg chg="topLvl">
          <ac:chgData name="Kadangode K Ramakrishnan" userId="4323c311-26bb-4891-a6f8-617f455f2e62" providerId="ADAL" clId="{54284079-FE58-D545-A2EE-8C99FF73F49D}" dt="2025-02-11T05:12:14.139" v="237" actId="165"/>
          <ac:cxnSpMkLst>
            <pc:docMk/>
            <pc:sldMk cId="3911284998" sldId="387"/>
            <ac:cxnSpMk id="25" creationId="{00000000-0000-0000-0000-000000000000}"/>
          </ac:cxnSpMkLst>
        </pc:cxnChg>
        <pc:cxnChg chg="topLvl">
          <ac:chgData name="Kadangode K Ramakrishnan" userId="4323c311-26bb-4891-a6f8-617f455f2e62" providerId="ADAL" clId="{54284079-FE58-D545-A2EE-8C99FF73F49D}" dt="2025-02-11T05:12:14.139" v="237" actId="165"/>
          <ac:cxnSpMkLst>
            <pc:docMk/>
            <pc:sldMk cId="3911284998" sldId="387"/>
            <ac:cxnSpMk id="32" creationId="{00000000-0000-0000-0000-000000000000}"/>
          </ac:cxnSpMkLst>
        </pc:cxnChg>
      </pc:sldChg>
      <pc:sldChg chg="modSp mod">
        <pc:chgData name="Kadangode K Ramakrishnan" userId="4323c311-26bb-4891-a6f8-617f455f2e62" providerId="ADAL" clId="{54284079-FE58-D545-A2EE-8C99FF73F49D}" dt="2025-02-11T04:32:46.617" v="174" actId="1076"/>
        <pc:sldMkLst>
          <pc:docMk/>
          <pc:sldMk cId="4147932294" sldId="1408"/>
        </pc:sldMkLst>
        <pc:spChg chg="mod">
          <ac:chgData name="Kadangode K Ramakrishnan" userId="4323c311-26bb-4891-a6f8-617f455f2e62" providerId="ADAL" clId="{54284079-FE58-D545-A2EE-8C99FF73F49D}" dt="2025-02-11T04:32:46.617" v="174" actId="1076"/>
          <ac:spMkLst>
            <pc:docMk/>
            <pc:sldMk cId="4147932294" sldId="1408"/>
            <ac:spMk id="3" creationId="{00000000-0000-0000-0000-000000000000}"/>
          </ac:spMkLst>
        </pc:spChg>
      </pc:sldChg>
      <pc:sldChg chg="modSp mod">
        <pc:chgData name="Kadangode K Ramakrishnan" userId="4323c311-26bb-4891-a6f8-617f455f2e62" providerId="ADAL" clId="{54284079-FE58-D545-A2EE-8C99FF73F49D}" dt="2025-02-11T04:38:10.019" v="234" actId="20577"/>
        <pc:sldMkLst>
          <pc:docMk/>
          <pc:sldMk cId="3996947855" sldId="1421"/>
        </pc:sldMkLst>
        <pc:spChg chg="mod">
          <ac:chgData name="Kadangode K Ramakrishnan" userId="4323c311-26bb-4891-a6f8-617f455f2e62" providerId="ADAL" clId="{54284079-FE58-D545-A2EE-8C99FF73F49D}" dt="2025-02-11T04:38:10.019" v="234" actId="20577"/>
          <ac:spMkLst>
            <pc:docMk/>
            <pc:sldMk cId="3996947855" sldId="1421"/>
            <ac:spMk id="4" creationId="{4C0004A0-827E-F544-8D07-6C0C8FFBDDE6}"/>
          </ac:spMkLst>
        </pc:spChg>
      </pc:sldChg>
      <pc:sldChg chg="modSp mod">
        <pc:chgData name="Kadangode K Ramakrishnan" userId="4323c311-26bb-4891-a6f8-617f455f2e62" providerId="ADAL" clId="{54284079-FE58-D545-A2EE-8C99FF73F49D}" dt="2025-02-11T04:22:49.479" v="109" actId="20577"/>
        <pc:sldMkLst>
          <pc:docMk/>
          <pc:sldMk cId="3453975885" sldId="1426"/>
        </pc:sldMkLst>
        <pc:spChg chg="mod">
          <ac:chgData name="Kadangode K Ramakrishnan" userId="4323c311-26bb-4891-a6f8-617f455f2e62" providerId="ADAL" clId="{54284079-FE58-D545-A2EE-8C99FF73F49D}" dt="2025-02-11T04:22:49.479" v="109" actId="20577"/>
          <ac:spMkLst>
            <pc:docMk/>
            <pc:sldMk cId="3453975885" sldId="142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2E809-647A-8A45-9550-212D936B8EAD}" type="datetimeFigureOut">
              <a:rPr lang="en-US" smtClean="0"/>
              <a:t>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EE45E-EAFD-684F-B358-5B46B0E70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67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670ED531-658C-4640-BF33-A8FA3EEF0D5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charset="0"/>
                <a:ea typeface="ＭＳ Ｐゴシック" charset="0"/>
              </a:rPr>
              <a:pPr marL="0" marR="0" lvl="0" indent="0" algn="r" defTabSz="4560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charset="0"/>
              <a:ea typeface="ＭＳ Ｐゴシック" charset="0"/>
            </a:endParaRPr>
          </a:p>
        </p:txBody>
      </p:sp>
      <p:sp>
        <p:nvSpPr>
          <p:cNvPr id="23555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ＭＳ Ｐゴシック" charset="0"/>
              <a:cs typeface="Arial" pitchFamily="-111" charset="-52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101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9B34F5FB-03B8-4CD4-9523-0805DD00E9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pPr marL="0" marR="0" lvl="0" indent="0" algn="r" defTabSz="4560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12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DB10E474-69FA-49FB-98D6-48A57CFCBA7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pPr marL="0" marR="0" lvl="0" indent="0" algn="r" defTabSz="4560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31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latin typeface="Arial" charset="0"/>
              <a:cs typeface="Arial" charset="0"/>
              <a:sym typeface="Wingdings" pitchFamily="2" charset="2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/>
            </a:pPr>
            <a:fld id="{A7F89A02-11B7-4BA9-940B-F42BEC08CF7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charset="0"/>
                <a:ea typeface="ＭＳ Ｐゴシック" charset="0"/>
                <a:cs typeface="Arial" charset="0"/>
              </a:rPr>
              <a:pPr marL="0" marR="0" lvl="0" indent="0" algn="r" defTabSz="4560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723900" algn="l"/>
                  <a:tab pos="1447800" algn="l"/>
                  <a:tab pos="2171700" algn="l"/>
                  <a:tab pos="2895600" algn="l"/>
                </a:tabLst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50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155B65-7DDE-4EA8-A622-3D60086422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ヒラギノ角ゴ ProN W3"/>
                <a:cs typeface="ヒラギノ角ゴ ProN W3"/>
                <a:sym typeface="Verdana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ヒラギノ角ゴ ProN W3"/>
              <a:cs typeface="ヒラギノ角ゴ ProN W3"/>
              <a:sym typeface="Verdana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717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CF5CBF-AEDC-4519-AF84-769C0EDE5C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ヒラギノ角ゴ ProN W3"/>
                <a:cs typeface="ヒラギノ角ゴ ProN W3"/>
                <a:sym typeface="Verdana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ヒラギノ角ゴ ProN W3"/>
              <a:cs typeface="ヒラギノ角ゴ ProN W3"/>
              <a:sym typeface="Verdana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564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en-US" sz="2200" dirty="0">
                <a:latin typeface="Lucida Grande" charset="0"/>
                <a:ea typeface="ＭＳ Ｐゴシック" charset="0"/>
                <a:cs typeface="Lucida Grande" charset="0"/>
                <a:sym typeface="Lucida Grande" charset="0"/>
              </a:rPr>
              <a:t>*** improve somehow</a:t>
            </a:r>
          </a:p>
          <a:p>
            <a:pPr>
              <a:spcBef>
                <a:spcPts val="800"/>
              </a:spcBef>
              <a:buFontTx/>
              <a:buChar char="•"/>
              <a:defRPr/>
            </a:pPr>
            <a:r>
              <a:rPr lang="en-US" sz="3000" b="1" dirty="0">
                <a:ea typeface="ＭＳ Ｐゴシック" charset="0"/>
                <a:cs typeface="Gill Sans" charset="0"/>
                <a:sym typeface="Gill Sans" charset="0"/>
              </a:rPr>
              <a:t>Internal</a:t>
            </a:r>
            <a:r>
              <a:rPr lang="en-US" sz="3000" dirty="0">
                <a:ea typeface="ＭＳ Ｐゴシック" charset="0"/>
                <a:cs typeface="Gill Sans" charset="0"/>
                <a:sym typeface="Gill Sans" charset="0"/>
              </a:rPr>
              <a:t> packets released immediately</a:t>
            </a:r>
          </a:p>
          <a:p>
            <a:pPr marL="1117499" lvl="1" indent="-355568">
              <a:spcBef>
                <a:spcPts val="800"/>
              </a:spcBef>
              <a:buClr>
                <a:srgbClr val="1A1A1A"/>
              </a:buClr>
              <a:buFontTx/>
              <a:buChar char="•"/>
              <a:defRPr/>
            </a:pPr>
            <a:r>
              <a:rPr lang="en-US" sz="3200" dirty="0">
                <a:solidFill>
                  <a:srgbClr val="1A1A1A"/>
                </a:solidFill>
                <a:ea typeface="ＭＳ Ｐゴシック" charset="0"/>
                <a:cs typeface="Gill Sans" charset="0"/>
                <a:sym typeface="Gill Sans" charset="0"/>
              </a:rPr>
              <a:t>Include vector clock with message</a:t>
            </a:r>
          </a:p>
          <a:p>
            <a:pPr>
              <a:lnSpc>
                <a:spcPct val="90000"/>
              </a:lnSpc>
              <a:spcBef>
                <a:spcPts val="800"/>
              </a:spcBef>
              <a:buFontTx/>
              <a:buChar char="•"/>
              <a:defRPr/>
            </a:pPr>
            <a:r>
              <a:rPr lang="en-US" sz="3000" b="1" dirty="0">
                <a:ea typeface="ＭＳ Ｐゴシック" charset="0"/>
                <a:cs typeface="Gill Sans" charset="0"/>
                <a:sym typeface="Gill Sans" charset="0"/>
              </a:rPr>
              <a:t>External</a:t>
            </a:r>
            <a:r>
              <a:rPr lang="en-US" sz="3000" dirty="0">
                <a:ea typeface="ＭＳ Ｐゴシック" charset="0"/>
                <a:cs typeface="Gill Sans" charset="0"/>
                <a:sym typeface="Gill Sans" charset="0"/>
              </a:rPr>
              <a:t> packets buffered until </a:t>
            </a:r>
            <a:r>
              <a:rPr lang="en-US" sz="3000" b="1" dirty="0">
                <a:ea typeface="ＭＳ Ｐゴシック" charset="0"/>
                <a:cs typeface="Gill Sans" charset="0"/>
                <a:sym typeface="Gill Sans" charset="0"/>
              </a:rPr>
              <a:t>dependent</a:t>
            </a:r>
            <a:r>
              <a:rPr lang="en-US" sz="3000" dirty="0">
                <a:ea typeface="ＭＳ Ｐゴシック" charset="0"/>
                <a:cs typeface="Gill Sans" charset="0"/>
                <a:sym typeface="Gill Sans" charset="0"/>
              </a:rPr>
              <a:t> writes complete</a:t>
            </a:r>
          </a:p>
          <a:p>
            <a:pPr marL="1117499" lvl="1" indent="-355568">
              <a:spcBef>
                <a:spcPts val="800"/>
              </a:spcBef>
              <a:buClr>
                <a:srgbClr val="1A1A1A"/>
              </a:buClr>
              <a:buFontTx/>
              <a:buChar char="•"/>
              <a:defRPr/>
            </a:pPr>
            <a:r>
              <a:rPr lang="en-US" sz="3200" dirty="0">
                <a:solidFill>
                  <a:srgbClr val="1A1A1A"/>
                </a:solidFill>
                <a:ea typeface="ＭＳ Ｐゴシック" charset="0"/>
                <a:cs typeface="Gill Sans" charset="0"/>
                <a:sym typeface="Gill Sans" charset="0"/>
              </a:rPr>
              <a:t>Tag packet with pending write counter</a:t>
            </a:r>
          </a:p>
          <a:p>
            <a:pPr marL="1117499" lvl="1" indent="-355568">
              <a:spcBef>
                <a:spcPts val="800"/>
              </a:spcBef>
              <a:buClr>
                <a:srgbClr val="1A1A1A"/>
              </a:buClr>
              <a:buFontTx/>
              <a:buChar char="•"/>
              <a:defRPr/>
            </a:pPr>
            <a:r>
              <a:rPr lang="en-US" sz="3200" dirty="0">
                <a:solidFill>
                  <a:srgbClr val="1A1A1A"/>
                </a:solidFill>
                <a:ea typeface="ＭＳ Ｐゴシック" charset="0"/>
                <a:cs typeface="Gill Sans" charset="0"/>
                <a:sym typeface="Gill Sans" charset="0"/>
              </a:rPr>
              <a:t>Release when commit counter exceeds tag</a:t>
            </a:r>
          </a:p>
        </p:txBody>
      </p:sp>
    </p:spTree>
    <p:extLst>
      <p:ext uri="{BB962C8B-B14F-4D97-AF65-F5344CB8AC3E}">
        <p14:creationId xmlns:p14="http://schemas.microsoft.com/office/powerpoint/2010/main" val="2622073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en-US" sz="2200" dirty="0">
                <a:latin typeface="Lucida Grande" charset="0"/>
                <a:ea typeface="ＭＳ Ｐゴシック" charset="0"/>
                <a:cs typeface="Lucida Grande" charset="0"/>
                <a:sym typeface="Lucida Grande" charset="0"/>
              </a:rPr>
              <a:t>*** improve somehow</a:t>
            </a:r>
          </a:p>
          <a:p>
            <a:pPr>
              <a:spcBef>
                <a:spcPts val="800"/>
              </a:spcBef>
              <a:buFontTx/>
              <a:buChar char="•"/>
              <a:defRPr/>
            </a:pPr>
            <a:r>
              <a:rPr lang="en-US" sz="3000" b="1" dirty="0">
                <a:ea typeface="ＭＳ Ｐゴシック" charset="0"/>
                <a:cs typeface="Gill Sans" charset="0"/>
                <a:sym typeface="Gill Sans" charset="0"/>
              </a:rPr>
              <a:t>Internal</a:t>
            </a:r>
            <a:r>
              <a:rPr lang="en-US" sz="3000" dirty="0">
                <a:ea typeface="ＭＳ Ｐゴシック" charset="0"/>
                <a:cs typeface="Gill Sans" charset="0"/>
                <a:sym typeface="Gill Sans" charset="0"/>
              </a:rPr>
              <a:t> packets released immediately</a:t>
            </a:r>
          </a:p>
          <a:p>
            <a:pPr marL="1117499" lvl="1" indent="-355568">
              <a:spcBef>
                <a:spcPts val="800"/>
              </a:spcBef>
              <a:buClr>
                <a:srgbClr val="1A1A1A"/>
              </a:buClr>
              <a:buFontTx/>
              <a:buChar char="•"/>
              <a:defRPr/>
            </a:pPr>
            <a:r>
              <a:rPr lang="en-US" sz="3200" dirty="0">
                <a:solidFill>
                  <a:srgbClr val="1A1A1A"/>
                </a:solidFill>
                <a:ea typeface="ＭＳ Ｐゴシック" charset="0"/>
                <a:cs typeface="Gill Sans" charset="0"/>
                <a:sym typeface="Gill Sans" charset="0"/>
              </a:rPr>
              <a:t>Include vector clock with message</a:t>
            </a:r>
          </a:p>
          <a:p>
            <a:pPr>
              <a:lnSpc>
                <a:spcPct val="90000"/>
              </a:lnSpc>
              <a:spcBef>
                <a:spcPts val="800"/>
              </a:spcBef>
              <a:buFontTx/>
              <a:buChar char="•"/>
              <a:defRPr/>
            </a:pPr>
            <a:r>
              <a:rPr lang="en-US" sz="3000" b="1" dirty="0">
                <a:ea typeface="ＭＳ Ｐゴシック" charset="0"/>
                <a:cs typeface="Gill Sans" charset="0"/>
                <a:sym typeface="Gill Sans" charset="0"/>
              </a:rPr>
              <a:t>External</a:t>
            </a:r>
            <a:r>
              <a:rPr lang="en-US" sz="3000" dirty="0">
                <a:ea typeface="ＭＳ Ｐゴシック" charset="0"/>
                <a:cs typeface="Gill Sans" charset="0"/>
                <a:sym typeface="Gill Sans" charset="0"/>
              </a:rPr>
              <a:t> packets buffered until </a:t>
            </a:r>
            <a:r>
              <a:rPr lang="en-US" sz="3000" b="1" dirty="0">
                <a:ea typeface="ＭＳ Ｐゴシック" charset="0"/>
                <a:cs typeface="Gill Sans" charset="0"/>
                <a:sym typeface="Gill Sans" charset="0"/>
              </a:rPr>
              <a:t>dependent</a:t>
            </a:r>
            <a:r>
              <a:rPr lang="en-US" sz="3000" dirty="0">
                <a:ea typeface="ＭＳ Ｐゴシック" charset="0"/>
                <a:cs typeface="Gill Sans" charset="0"/>
                <a:sym typeface="Gill Sans" charset="0"/>
              </a:rPr>
              <a:t> writes complete</a:t>
            </a:r>
          </a:p>
          <a:p>
            <a:pPr marL="1117499" lvl="1" indent="-355568">
              <a:spcBef>
                <a:spcPts val="800"/>
              </a:spcBef>
              <a:buClr>
                <a:srgbClr val="1A1A1A"/>
              </a:buClr>
              <a:buFontTx/>
              <a:buChar char="•"/>
              <a:defRPr/>
            </a:pPr>
            <a:r>
              <a:rPr lang="en-US" sz="3200" dirty="0">
                <a:solidFill>
                  <a:srgbClr val="1A1A1A"/>
                </a:solidFill>
                <a:ea typeface="ＭＳ Ｐゴシック" charset="0"/>
                <a:cs typeface="Gill Sans" charset="0"/>
                <a:sym typeface="Gill Sans" charset="0"/>
              </a:rPr>
              <a:t>Tag packet with pending write counter</a:t>
            </a:r>
          </a:p>
          <a:p>
            <a:pPr marL="1117499" lvl="1" indent="-355568">
              <a:spcBef>
                <a:spcPts val="800"/>
              </a:spcBef>
              <a:buClr>
                <a:srgbClr val="1A1A1A"/>
              </a:buClr>
              <a:buFontTx/>
              <a:buChar char="•"/>
              <a:defRPr/>
            </a:pPr>
            <a:r>
              <a:rPr lang="en-US" sz="3200" dirty="0">
                <a:solidFill>
                  <a:srgbClr val="1A1A1A"/>
                </a:solidFill>
                <a:ea typeface="ＭＳ Ｐゴシック" charset="0"/>
                <a:cs typeface="Gill Sans" charset="0"/>
                <a:sym typeface="Gill Sans" charset="0"/>
              </a:rPr>
              <a:t>Release when commit counter exceeds tag</a:t>
            </a:r>
          </a:p>
        </p:txBody>
      </p:sp>
    </p:spTree>
    <p:extLst>
      <p:ext uri="{BB962C8B-B14F-4D97-AF65-F5344CB8AC3E}">
        <p14:creationId xmlns:p14="http://schemas.microsoft.com/office/powerpoint/2010/main" val="759097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orMiguel 2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87"/>
            <a:ext cx="9144001" cy="6858000"/>
          </a:xfrm>
          <a:prstGeom prst="rect">
            <a:avLst/>
          </a:prstGeom>
        </p:spPr>
      </p:pic>
      <p:pic>
        <p:nvPicPr>
          <p:cNvPr id="17" name="Picture 16" descr="att_globe_rgb_grd_pos_2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gray">
          <a:xfrm>
            <a:off x="8077200" y="381000"/>
            <a:ext cx="548640" cy="548640"/>
          </a:xfrm>
          <a:prstGeom prst="rect">
            <a:avLst/>
          </a:prstGeom>
        </p:spPr>
      </p:pic>
      <p:sp>
        <p:nvSpPr>
          <p:cNvPr id="12" name="Text Placeholder 21"/>
          <p:cNvSpPr>
            <a:spLocks noGrp="1"/>
          </p:cNvSpPr>
          <p:nvPr>
            <p:ph type="body" sz="quarter" idx="10"/>
          </p:nvPr>
        </p:nvSpPr>
        <p:spPr bwMode="gray">
          <a:xfrm>
            <a:off x="403225" y="1905000"/>
            <a:ext cx="6388100" cy="685800"/>
          </a:xfrm>
          <a:prstGeom prst="rect">
            <a:avLst/>
          </a:prstGeom>
        </p:spPr>
        <p:txBody>
          <a:bodyPr vert="horz" lIns="0" tIns="0" rIns="0" bIns="0"/>
          <a:lstStyle>
            <a:lvl1pPr>
              <a:defRPr sz="2200">
                <a:solidFill>
                  <a:schemeClr val="bg2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 bwMode="gray">
          <a:xfrm>
            <a:off x="403225" y="274638"/>
            <a:ext cx="6248400" cy="1143000"/>
          </a:xfrm>
          <a:prstGeom prst="rect">
            <a:avLst/>
          </a:prstGeom>
        </p:spPr>
        <p:txBody>
          <a:bodyPr vert="horz"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398463" y="6361987"/>
            <a:ext cx="5495925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600" dirty="0">
                <a:solidFill>
                  <a:schemeClr val="accent1"/>
                </a:solidFill>
              </a:rPr>
              <a:t>© 2010 AT&amp;T Intellectual Property. All rights reserved. AT&amp;T, the AT&amp;T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logo and all other AT&amp;T marks contained herein are trademarks of AT&amp;T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Intellectual Property and/or AT&amp;T affiliated companies. All other marks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contained herein are the property of their respective owners.</a:t>
            </a:r>
          </a:p>
        </p:txBody>
      </p:sp>
      <p:sp>
        <p:nvSpPr>
          <p:cNvPr id="8" name="Freeform 49"/>
          <p:cNvSpPr>
            <a:spLocks/>
          </p:cNvSpPr>
          <p:nvPr userDrawn="1"/>
        </p:nvSpPr>
        <p:spPr bwMode="auto">
          <a:xfrm>
            <a:off x="3733800" y="2196307"/>
            <a:ext cx="4648200" cy="2735636"/>
          </a:xfrm>
          <a:custGeom>
            <a:avLst/>
            <a:gdLst/>
            <a:ahLst/>
            <a:cxnLst>
              <a:cxn ang="0">
                <a:pos x="1783" y="1"/>
              </a:cxn>
              <a:cxn ang="0">
                <a:pos x="1691" y="162"/>
              </a:cxn>
              <a:cxn ang="0">
                <a:pos x="1726" y="338"/>
              </a:cxn>
              <a:cxn ang="0">
                <a:pos x="1816" y="610"/>
              </a:cxn>
              <a:cxn ang="0">
                <a:pos x="1356" y="1070"/>
              </a:cxn>
              <a:cxn ang="0">
                <a:pos x="534" y="1070"/>
              </a:cxn>
              <a:cxn ang="0">
                <a:pos x="0" y="535"/>
              </a:cxn>
              <a:cxn ang="0">
                <a:pos x="534" y="0"/>
              </a:cxn>
              <a:cxn ang="0">
                <a:pos x="1783" y="1"/>
              </a:cxn>
            </a:cxnLst>
            <a:rect l="0" t="0" r="r" b="b"/>
            <a:pathLst>
              <a:path w="1816" h="1070">
                <a:moveTo>
                  <a:pt x="1783" y="1"/>
                </a:moveTo>
                <a:cubicBezTo>
                  <a:pt x="1783" y="1"/>
                  <a:pt x="1704" y="77"/>
                  <a:pt x="1691" y="162"/>
                </a:cubicBezTo>
                <a:cubicBezTo>
                  <a:pt x="1681" y="223"/>
                  <a:pt x="1686" y="275"/>
                  <a:pt x="1726" y="338"/>
                </a:cubicBezTo>
                <a:cubicBezTo>
                  <a:pt x="1782" y="414"/>
                  <a:pt x="1816" y="508"/>
                  <a:pt x="1816" y="610"/>
                </a:cubicBezTo>
                <a:cubicBezTo>
                  <a:pt x="1816" y="864"/>
                  <a:pt x="1610" y="1070"/>
                  <a:pt x="1356" y="1070"/>
                </a:cubicBezTo>
                <a:cubicBezTo>
                  <a:pt x="534" y="1070"/>
                  <a:pt x="534" y="1070"/>
                  <a:pt x="534" y="1070"/>
                </a:cubicBezTo>
                <a:cubicBezTo>
                  <a:pt x="239" y="1070"/>
                  <a:pt x="0" y="830"/>
                  <a:pt x="0" y="535"/>
                </a:cubicBezTo>
                <a:cubicBezTo>
                  <a:pt x="0" y="240"/>
                  <a:pt x="239" y="0"/>
                  <a:pt x="534" y="0"/>
                </a:cubicBezTo>
                <a:lnTo>
                  <a:pt x="1783" y="1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 l="-14000" t="-20000" r="-15000" b="-24000"/>
            </a:stretch>
          </a:blip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89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vrn_bus_exp_cvr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14800" cy="3583143"/>
          </a:xfrm>
          <a:prstGeom prst="rect">
            <a:avLst/>
          </a:prstGeom>
        </p:spPr>
      </p:pic>
      <p:sp>
        <p:nvSpPr>
          <p:cNvPr id="7" name="Title 19"/>
          <p:cNvSpPr>
            <a:spLocks noGrp="1"/>
          </p:cNvSpPr>
          <p:nvPr>
            <p:ph type="title"/>
          </p:nvPr>
        </p:nvSpPr>
        <p:spPr>
          <a:xfrm>
            <a:off x="1079500" y="3810000"/>
            <a:ext cx="7162799" cy="6858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3200"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"/>
          </p:nvPr>
        </p:nvSpPr>
        <p:spPr bwMode="gray">
          <a:xfrm>
            <a:off x="1079500" y="4521200"/>
            <a:ext cx="6781800" cy="685800"/>
          </a:xfrm>
          <a:prstGeom prst="rect">
            <a:avLst/>
          </a:prstGeom>
        </p:spPr>
        <p:txBody>
          <a:bodyPr vert="horz" lIns="0" tIns="0" rIns="0" bIns="0"/>
          <a:lstStyle>
            <a:lvl1pPr>
              <a:defRPr sz="2200">
                <a:solidFill>
                  <a:schemeClr val="accent1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65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07229" y="1954213"/>
            <a:ext cx="8335133" cy="285856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buSzPct val="100000"/>
              <a:defRPr sz="20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5"/>
          <p:cNvSpPr>
            <a:spLocks noGrp="1"/>
          </p:cNvSpPr>
          <p:nvPr>
            <p:ph type="title"/>
          </p:nvPr>
        </p:nvSpPr>
        <p:spPr>
          <a:xfrm>
            <a:off x="410444" y="381000"/>
            <a:ext cx="8328744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068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07230" y="1954213"/>
            <a:ext cx="3941762" cy="308716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buSzPct val="100000"/>
              <a:defRPr sz="17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buSzPct val="100000"/>
              <a:defRPr sz="15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buSzPct val="100000"/>
              <a:defRPr sz="15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795838" y="1954213"/>
            <a:ext cx="3943350" cy="3087160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buSzPct val="100000"/>
              <a:defRPr sz="17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buSzPct val="100000"/>
              <a:defRPr sz="15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buSzPct val="100000"/>
              <a:defRPr sz="15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5"/>
          <p:cNvSpPr>
            <a:spLocks noGrp="1"/>
          </p:cNvSpPr>
          <p:nvPr>
            <p:ph type="title"/>
          </p:nvPr>
        </p:nvSpPr>
        <p:spPr>
          <a:xfrm>
            <a:off x="410444" y="381000"/>
            <a:ext cx="8328744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59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07230" y="2640013"/>
            <a:ext cx="3941762" cy="308716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buSzPct val="100000"/>
              <a:defRPr sz="20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795910" y="2640013"/>
            <a:ext cx="3943350" cy="308716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>
                <a:solidFill>
                  <a:schemeClr val="accent1"/>
                </a:solidFill>
              </a:defRPr>
            </a:lvl1pPr>
            <a:lvl2pPr>
              <a:buClr>
                <a:schemeClr val="accent1"/>
              </a:buClr>
              <a:buSzPct val="100000"/>
              <a:defRPr sz="2000">
                <a:solidFill>
                  <a:schemeClr val="accent1"/>
                </a:solidFill>
              </a:defRPr>
            </a:lvl2pPr>
            <a:lvl3pPr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3pPr>
            <a:lvl4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4pPr>
            <a:lvl5pPr>
              <a:buClr>
                <a:schemeClr val="accent1"/>
              </a:buClr>
              <a:buSzPct val="100000"/>
              <a:defRPr sz="16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07230" y="1954213"/>
            <a:ext cx="3936170" cy="63976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954213"/>
            <a:ext cx="3938660" cy="63976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5"/>
          <p:cNvSpPr>
            <a:spLocks noGrp="1"/>
          </p:cNvSpPr>
          <p:nvPr>
            <p:ph type="title"/>
          </p:nvPr>
        </p:nvSpPr>
        <p:spPr>
          <a:xfrm>
            <a:off x="410444" y="381000"/>
            <a:ext cx="8328744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68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1284475" y="2669756"/>
            <a:ext cx="3150531" cy="343421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400"/>
              </a:spcBef>
              <a:spcAft>
                <a:spcPts val="0"/>
              </a:spcAft>
              <a:defRPr sz="1800">
                <a:solidFill>
                  <a:schemeClr val="accent1"/>
                </a:solidFill>
              </a:defRPr>
            </a:lvl1pPr>
            <a:lvl2pPr marL="287338" indent="-195263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Lucida Grande"/>
              <a:buChar char="•"/>
              <a:defRPr sz="1800">
                <a:solidFill>
                  <a:schemeClr val="accent1"/>
                </a:solidFill>
              </a:defRPr>
            </a:lvl2pPr>
            <a:lvl3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3pPr>
            <a:lvl4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4pPr>
            <a:lvl5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4591050" y="2669756"/>
            <a:ext cx="3295682" cy="3434210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400"/>
              </a:spcBef>
              <a:spcAft>
                <a:spcPts val="0"/>
              </a:spcAft>
              <a:defRPr sz="1800">
                <a:solidFill>
                  <a:schemeClr val="accent1"/>
                </a:solidFill>
              </a:defRPr>
            </a:lvl1pPr>
            <a:lvl2pPr marL="287338" indent="-195263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2pPr>
            <a:lvl3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3pPr>
            <a:lvl4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100000"/>
              <a:defRPr sz="1800">
                <a:solidFill>
                  <a:schemeClr val="accent1"/>
                </a:solidFill>
              </a:defRPr>
            </a:lvl4pPr>
            <a:lvl5pPr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defRPr sz="1800">
                <a:solidFill>
                  <a:schemeClr val="accent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Line 6"/>
          <p:cNvSpPr>
            <a:spLocks noChangeShapeType="1"/>
          </p:cNvSpPr>
          <p:nvPr userDrawn="1"/>
        </p:nvSpPr>
        <p:spPr bwMode="auto">
          <a:xfrm>
            <a:off x="4529138" y="2562225"/>
            <a:ext cx="0" cy="347980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Line 7"/>
          <p:cNvSpPr>
            <a:spLocks noChangeShapeType="1"/>
          </p:cNvSpPr>
          <p:nvPr userDrawn="1"/>
        </p:nvSpPr>
        <p:spPr bwMode="auto">
          <a:xfrm>
            <a:off x="1271588" y="2566988"/>
            <a:ext cx="656113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 bwMode="gray">
          <a:xfrm>
            <a:off x="1270071" y="1981200"/>
            <a:ext cx="6603858" cy="533400"/>
          </a:xfrm>
          <a:prstGeom prst="rect">
            <a:avLst/>
          </a:prstGeom>
        </p:spPr>
        <p:txBody>
          <a:bodyPr vert="horz" bIns="0" anchor="b" anchorCtr="0"/>
          <a:lstStyle>
            <a:lvl1pPr algn="ctr">
              <a:defRPr>
                <a:solidFill>
                  <a:srgbClr val="80808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5"/>
          <p:cNvSpPr>
            <a:spLocks noGrp="1"/>
          </p:cNvSpPr>
          <p:nvPr>
            <p:ph type="title"/>
          </p:nvPr>
        </p:nvSpPr>
        <p:spPr>
          <a:xfrm>
            <a:off x="410444" y="381000"/>
            <a:ext cx="8328744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565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5"/>
          <p:cNvSpPr>
            <a:spLocks noGrp="1"/>
          </p:cNvSpPr>
          <p:nvPr>
            <p:ph type="title"/>
          </p:nvPr>
        </p:nvSpPr>
        <p:spPr>
          <a:xfrm>
            <a:off x="410444" y="381000"/>
            <a:ext cx="8328744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054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018463" cy="5905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5900"/>
            <a:ext cx="8018463" cy="40322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</a:t>
            </a:r>
            <a:fld id="{D4EBAE04-3149-4D95-88BB-3CF445D0C1F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9203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37513" cy="838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838" y="1485900"/>
            <a:ext cx="8037512" cy="40513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C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7030A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Page </a:t>
            </a:r>
            <a:fld id="{E218AC47-F4D5-4A58-A0C0-0DD466A5F1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intrnl_cnsmr_3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971800"/>
            <a:ext cx="7119938" cy="389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11"/>
          <p:cNvSpPr txBox="1"/>
          <p:nvPr userDrawn="1"/>
        </p:nvSpPr>
        <p:spPr>
          <a:xfrm>
            <a:off x="414338" y="6075363"/>
            <a:ext cx="4613275" cy="55403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chemeClr val="bg1"/>
                </a:solidFill>
                <a:latin typeface="Verdana" pitchFamily="-111" charset="0"/>
                <a:ea typeface="Arial" pitchFamily="-111" charset="-52"/>
                <a:cs typeface="Arial" pitchFamily="-111" charset="-52"/>
              </a:rPr>
              <a:t>© 2010 AT&amp;T Intellectual Property. All rights reserved. AT&amp;T, the AT&amp;T logo and all other AT&amp;T marks contained herein are trademarks of AT&amp;T Intellectual Property and/or AT&amp;T affiliated companies. All other marks contained herein are the property of their respective owners.</a:t>
            </a:r>
          </a:p>
        </p:txBody>
      </p:sp>
      <p:pic>
        <p:nvPicPr>
          <p:cNvPr id="6" name="Picture 6" descr="att_globe_rgb_grd_pos_2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1000" y="377825"/>
            <a:ext cx="754063" cy="72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401639" y="381000"/>
            <a:ext cx="7370763" cy="8382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"/>
          </p:nvPr>
        </p:nvSpPr>
        <p:spPr bwMode="gray">
          <a:xfrm>
            <a:off x="401638" y="4572000"/>
            <a:ext cx="3103562" cy="838200"/>
          </a:xfrm>
          <a:prstGeom prst="rect">
            <a:avLst/>
          </a:prstGeom>
        </p:spPr>
        <p:txBody>
          <a:bodyPr vert="horz" lIns="0" tIns="0" rIns="0" bIns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4649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37513" cy="83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171575" y="6605588"/>
            <a:ext cx="1647825" cy="152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Page </a:t>
            </a:r>
            <a:fld id="{16288CE3-BF29-4B19-8508-0E0BFBAF5C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58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Divider">
    <p:bg>
      <p:bgPr>
        <a:gradFill rotWithShape="1">
          <a:gsLst>
            <a:gs pos="0">
              <a:schemeClr val="bg1">
                <a:tint val="40000"/>
                <a:satMod val="350000"/>
              </a:schemeClr>
            </a:gs>
            <a:gs pos="50000">
              <a:schemeClr val="bg1">
                <a:tint val="45000"/>
                <a:shade val="99000"/>
                <a:satMod val="350000"/>
              </a:schemeClr>
            </a:gs>
            <a:gs pos="100000">
              <a:schemeClr val="bg2">
                <a:lumMod val="75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\\psf\Host\Volumes\johbee\Documents\01_Freelance_Design\INTERBRAND\AT&amp;T\ABS_Template_2011\source\ATT_for_Andy_rd_3\ABS_ jpeg\network_artwork_org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37"/>
          <a:stretch>
            <a:fillRect/>
          </a:stretch>
        </p:blipFill>
        <p:spPr bwMode="white">
          <a:xfrm>
            <a:off x="-4874" y="-5487"/>
            <a:ext cx="9148874" cy="686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99521" y="6314441"/>
            <a:ext cx="385235" cy="152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b="1" i="0">
                <a:solidFill>
                  <a:srgbClr val="FFFFFF"/>
                </a:solidFill>
                <a:latin typeface="Calibri"/>
                <a:cs typeface="Calibri"/>
              </a:defRPr>
            </a:lvl1pPr>
          </a:lstStyle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9"/>
          <p:cNvSpPr>
            <a:spLocks noGrp="1"/>
          </p:cNvSpPr>
          <p:nvPr>
            <p:ph type="title" hasCustomPrompt="1"/>
          </p:nvPr>
        </p:nvSpPr>
        <p:spPr bwMode="auto">
          <a:xfrm>
            <a:off x="387350" y="1592467"/>
            <a:ext cx="7626350" cy="105746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Calibri"/>
                <a:cs typeface="Calibri"/>
              </a:defRPr>
            </a:lvl1pPr>
          </a:lstStyle>
          <a:p>
            <a:r>
              <a:rPr lang="en-US" dirty="0"/>
              <a:t>Click to edit Master divider style</a:t>
            </a:r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"/>
          </p:nvPr>
        </p:nvSpPr>
        <p:spPr bwMode="black">
          <a:xfrm>
            <a:off x="387350" y="2890178"/>
            <a:ext cx="5334000" cy="877824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FFFFFF"/>
                </a:solidFill>
                <a:latin typeface="Calibri"/>
                <a:cs typeface="Calibri"/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38201" y="6355081"/>
            <a:ext cx="3514725" cy="2769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600" b="0" i="0" dirty="0">
                <a:solidFill>
                  <a:schemeClr val="bg1"/>
                </a:solidFill>
                <a:latin typeface="Calibri"/>
                <a:cs typeface="Calibri"/>
              </a:rPr>
              <a:t>© 2012 AT&amp;T Intellectual Property. All rights reserved. AT&amp;T, the AT&amp;T</a:t>
            </a:r>
            <a:r>
              <a:rPr lang="en-US" sz="600" b="0" i="0" baseline="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600" b="0" i="0" dirty="0">
                <a:solidFill>
                  <a:schemeClr val="bg1"/>
                </a:solidFill>
                <a:latin typeface="Calibri"/>
                <a:cs typeface="Calibri"/>
              </a:rPr>
              <a:t>logo and all other AT&amp;T </a:t>
            </a:r>
            <a:br>
              <a:rPr lang="en-US" sz="600" b="0" i="0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n-US" sz="600" b="0" i="0" dirty="0">
                <a:solidFill>
                  <a:schemeClr val="bg1"/>
                </a:solidFill>
                <a:latin typeface="Calibri"/>
                <a:cs typeface="Calibri"/>
              </a:rPr>
              <a:t>marks contained herein are trademarks of AT&amp;T</a:t>
            </a:r>
            <a:r>
              <a:rPr lang="en-US" sz="600" b="0" i="0" baseline="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600" b="0" i="0" dirty="0">
                <a:solidFill>
                  <a:schemeClr val="bg1"/>
                </a:solidFill>
                <a:latin typeface="Calibri"/>
                <a:cs typeface="Calibri"/>
              </a:rPr>
              <a:t>Intellectual Property and/or AT&amp;T affiliated </a:t>
            </a:r>
            <a:br>
              <a:rPr lang="en-US" sz="600" b="0" i="0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n-US" sz="600" b="0" i="0" dirty="0">
                <a:solidFill>
                  <a:schemeClr val="bg1"/>
                </a:solidFill>
                <a:latin typeface="Calibri"/>
                <a:cs typeface="Calibri"/>
              </a:rPr>
              <a:t>companies. All other marks</a:t>
            </a:r>
            <a:r>
              <a:rPr lang="en-US" sz="600" b="0" i="0" baseline="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600" b="0" i="0" dirty="0">
                <a:solidFill>
                  <a:schemeClr val="bg1"/>
                </a:solidFill>
                <a:latin typeface="Calibri"/>
                <a:cs typeface="Calibri"/>
              </a:rPr>
              <a:t>contained herein are the property of their respective owners.</a:t>
            </a:r>
          </a:p>
        </p:txBody>
      </p:sp>
      <p:pic>
        <p:nvPicPr>
          <p:cNvPr id="10" name="Picture 9" descr="Globe_Alone_rgb.jpg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521700" y="6279945"/>
            <a:ext cx="382763" cy="3827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8230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17" y="2130425"/>
            <a:ext cx="7772400" cy="1470025"/>
          </a:xfrm>
        </p:spPr>
        <p:txBody>
          <a:bodyPr/>
          <a:lstStyle>
            <a:lvl1pPr>
              <a:defRPr>
                <a:solidFill>
                  <a:srgbClr val="19196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6053" indent="0" algn="ctr">
              <a:buNone/>
              <a:defRPr/>
            </a:lvl2pPr>
            <a:lvl3pPr marL="912101" indent="0" algn="ctr">
              <a:buNone/>
              <a:defRPr/>
            </a:lvl3pPr>
            <a:lvl4pPr marL="1368151" indent="0" algn="ctr">
              <a:buNone/>
              <a:defRPr/>
            </a:lvl4pPr>
            <a:lvl5pPr marL="1824202" indent="0" algn="ctr">
              <a:buNone/>
              <a:defRPr/>
            </a:lvl5pPr>
            <a:lvl6pPr marL="2280253" indent="0" algn="ctr">
              <a:buNone/>
              <a:defRPr/>
            </a:lvl6pPr>
            <a:lvl7pPr marL="2736303" indent="0" algn="ctr">
              <a:buNone/>
              <a:defRPr/>
            </a:lvl7pPr>
            <a:lvl8pPr marL="3192354" indent="0" algn="ctr">
              <a:buNone/>
              <a:defRPr/>
            </a:lvl8pPr>
            <a:lvl9pPr marL="364840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idx="10"/>
          </p:nvPr>
        </p:nvSpPr>
        <p:spPr>
          <a:xfrm>
            <a:off x="3124217" y="6229367"/>
            <a:ext cx="2130425" cy="473075"/>
          </a:xfrm>
          <a:prstGeom prst="rect">
            <a:avLst/>
          </a:prstGeom>
        </p:spPr>
        <p:txBody>
          <a:bodyPr lIns="91211" tIns="45605" rIns="91211" bIns="45605"/>
          <a:lstStyle>
            <a:lvl1pPr>
              <a:defRPr/>
            </a:lvl1pPr>
          </a:lstStyle>
          <a:p>
            <a:pPr>
              <a:defRPr/>
            </a:pPr>
            <a:fld id="{365B7102-0CB9-2C4E-AEDB-C4FD3D7C4C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58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idx="10"/>
          </p:nvPr>
        </p:nvSpPr>
        <p:spPr>
          <a:xfrm>
            <a:off x="6858017" y="6248417"/>
            <a:ext cx="2130425" cy="473075"/>
          </a:xfrm>
          <a:prstGeom prst="rect">
            <a:avLst/>
          </a:prstGeom>
        </p:spPr>
        <p:txBody>
          <a:bodyPr lIns="91211" tIns="45605" rIns="91211" bIns="45605"/>
          <a:lstStyle>
            <a:lvl1pPr>
              <a:defRPr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fld id="{D7740E11-9CFB-B54D-84A8-E9F7C80E41CB}" type="slidenum">
              <a:rPr lang="en-US"/>
              <a:pPr>
                <a:defRPr/>
              </a:pPr>
              <a:t>‹#›</a:t>
            </a:fld>
            <a:r>
              <a:rPr lang="en-US"/>
              <a:t> of 12</a:t>
            </a:r>
          </a:p>
        </p:txBody>
      </p:sp>
    </p:spTree>
    <p:extLst>
      <p:ext uri="{BB962C8B-B14F-4D97-AF65-F5344CB8AC3E}">
        <p14:creationId xmlns:p14="http://schemas.microsoft.com/office/powerpoint/2010/main" val="2286922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5356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 noChangeArrowheads="1"/>
          </p:cNvSpPr>
          <p:nvPr>
            <p:ph type="sldNum" idx="10"/>
          </p:nvPr>
        </p:nvSpPr>
        <p:spPr>
          <a:xfrm>
            <a:off x="3124217" y="6229367"/>
            <a:ext cx="2130425" cy="473075"/>
          </a:xfrm>
          <a:prstGeom prst="rect">
            <a:avLst/>
          </a:prstGeom>
        </p:spPr>
        <p:txBody>
          <a:bodyPr lIns="91211" tIns="45605" rIns="91211" bIns="45605"/>
          <a:lstStyle>
            <a:lvl1pPr>
              <a:defRPr/>
            </a:lvl1pPr>
          </a:lstStyle>
          <a:p>
            <a:pPr>
              <a:defRPr/>
            </a:pPr>
            <a:fld id="{58E93E3D-F40E-5E49-AE61-FB4A0F70F1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25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19196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CA001-59EA-D741-99F4-0EFEBCF794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525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xfrm>
            <a:off x="6858000" y="6248400"/>
            <a:ext cx="2130425" cy="473075"/>
          </a:xfrm>
        </p:spPr>
        <p:txBody>
          <a:bodyPr/>
          <a:lstStyle>
            <a:lvl1pPr>
              <a:buFont typeface="Times New Roman" charset="0"/>
              <a:buNone/>
              <a:defRPr>
                <a:latin typeface="Arial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fld id="{84464B35-2555-2244-9D39-359C0EEFEA78}" type="slidenum">
              <a:rPr lang="en-US"/>
              <a:pPr>
                <a:defRPr/>
              </a:pPr>
              <a:t>‹#›</a:t>
            </a:fld>
            <a:r>
              <a:rPr lang="en-US"/>
              <a:t> of 12</a:t>
            </a:r>
          </a:p>
        </p:txBody>
      </p:sp>
    </p:spTree>
    <p:extLst>
      <p:ext uri="{BB962C8B-B14F-4D97-AF65-F5344CB8AC3E}">
        <p14:creationId xmlns:p14="http://schemas.microsoft.com/office/powerpoint/2010/main" val="2031923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874FD0-1093-1E4F-8326-BB715C54C5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04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111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7012" cy="4111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D48B6-010A-CF46-AA29-DCF52259D1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31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C06BC4-EFBC-8548-9F97-8448B57879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368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942C0-3B2C-9841-9E06-F69FDA494A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495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398BA9-2BDC-1D4C-97C6-A2BCA6733E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488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5BE7A3-FFB8-3842-A172-88A483B464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357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7742B-EB47-D447-BCBF-CBF2E6EDE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28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89B93-3D36-D844-AFE0-951C6B7523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55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813" y="-339725"/>
            <a:ext cx="2055812" cy="6051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-339725"/>
            <a:ext cx="6018213" cy="6051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982E3D-C841-F448-A667-C94BA4404D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1686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39725"/>
            <a:ext cx="8226425" cy="1554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7013" cy="4111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600200"/>
            <a:ext cx="4037012" cy="197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732213"/>
            <a:ext cx="4037012" cy="1979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92900E-AA4B-B54A-A466-5290882EFA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7453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39725"/>
            <a:ext cx="8226425" cy="1554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BAB6A-7076-234B-A114-0A32453CB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013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r>
              <a:rPr lang="en-US"/>
              <a:t>Second level</a:t>
            </a:r>
          </a:p>
          <a:p>
            <a:pPr lvl="0"/>
            <a:r>
              <a:rPr lang="en-US"/>
              <a:t>Third level</a:t>
            </a:r>
          </a:p>
          <a:p>
            <a:pPr lvl="0"/>
            <a:r>
              <a:rPr lang="en-US"/>
              <a:t>Fourth level</a:t>
            </a:r>
          </a:p>
          <a:p>
            <a:pPr lvl="0"/>
            <a:r>
              <a:rPr lang="en-US"/>
              <a:t>Fifth level</a:t>
            </a:r>
          </a:p>
        </p:txBody>
      </p:sp>
      <p:sp>
        <p:nvSpPr>
          <p:cNvPr id="4" name="Slide Number Placeholder 70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9CC8D-F74C-0B4C-AC75-3A8A1F49C9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Slide Number Placeholder 70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CC317E-1EE2-6B4A-AB1F-1C24E186C3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1028"/>
          <p:cNvSpPr>
            <a:spLocks noGrp="1" noChangeArrowheads="1"/>
          </p:cNvSpPr>
          <p:nvPr>
            <p:ph type="dt" sz="half" idx="12"/>
          </p:nvPr>
        </p:nvSpPr>
        <p:spPr>
          <a:xfrm>
            <a:off x="685800" y="626745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ooter Placeholder 1029"/>
          <p:cNvSpPr>
            <a:spLocks noGrp="1" noChangeArrowheads="1"/>
          </p:cNvSpPr>
          <p:nvPr>
            <p:ph type="ftr" sz="quarter" idx="13"/>
          </p:nvPr>
        </p:nvSpPr>
        <p:spPr>
          <a:xfrm>
            <a:off x="3124200" y="626745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defTabSz="457200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Slide Number Placeholder 704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71C8D1-50F8-DF4E-A006-4071988A17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Slide Number Placeholder 492"/>
          <p:cNvSpPr>
            <a:spLocks noGrp="1" noChangeArrowheads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ACEBF-CC7D-5042-85B0-31B129B0AB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16255"/>
      </p:ext>
    </p:extLst>
  </p:cSld>
  <p:clrMapOvr>
    <a:masterClrMapping/>
  </p:clrMapOvr>
  <p:transition spd="slow" advClick="0" advTm="7000"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7924800" cy="1524000"/>
          </a:xfrm>
        </p:spPr>
        <p:txBody>
          <a:bodyPr lIns="91440" tIns="45720" rIns="91440" bIns="4572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2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>
              <a:solidFill>
                <a:srgbClr val="1C1C1C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>
              <a:solidFill>
                <a:srgbClr val="1C1C1C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94B2E74-175A-4630-BF90-58AA5E3732FF}" type="slidenum">
              <a:rPr lang="en-US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9327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69FBC-8F50-460E-8AB7-1828ED94614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99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78320-55F4-40BD-AF8B-DAB748B827D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3214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9F85B-06F5-4A70-809A-6AB1E015273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9098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9219DF-0555-41A2-8180-0C954E48A7E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4261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802648-491D-4405-AB81-67C7EF526C4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1642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BF887-E5D0-4415-877D-8A3E0F0998C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6608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35852-3696-4262-BFBE-0E00A17346F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3882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6AD5B7-B21E-4CA0-B486-7927DCF1D1A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3993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052BF-9963-4F55-8447-BC8B3679715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9291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30975" y="228600"/>
            <a:ext cx="1947863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92775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DA77C-401F-4BCE-A0E0-DAA39E194EE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9869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68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800"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4572000" h="3060700">
                <a:moveTo>
                  <a:pt x="0" y="3060192"/>
                </a:moveTo>
                <a:lnTo>
                  <a:pt x="4572000" y="3060192"/>
                </a:lnTo>
                <a:lnTo>
                  <a:pt x="4572000" y="0"/>
                </a:lnTo>
                <a:lnTo>
                  <a:pt x="0" y="0"/>
                </a:lnTo>
                <a:lnTo>
                  <a:pt x="0" y="30601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4800"/>
          </a:p>
        </p:txBody>
      </p:sp>
      <p:sp>
        <p:nvSpPr>
          <p:cNvPr id="18" name="bk object 18"/>
          <p:cNvSpPr/>
          <p:nvPr/>
        </p:nvSpPr>
        <p:spPr>
          <a:xfrm>
            <a:off x="64006" y="68295"/>
            <a:ext cx="9015984" cy="66929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800"/>
          </a:p>
        </p:txBody>
      </p:sp>
      <p:sp>
        <p:nvSpPr>
          <p:cNvPr id="19" name="bk object 19"/>
          <p:cNvSpPr/>
          <p:nvPr/>
        </p:nvSpPr>
        <p:spPr>
          <a:xfrm>
            <a:off x="64006" y="68295"/>
            <a:ext cx="9017000" cy="6692953"/>
          </a:xfrm>
          <a:custGeom>
            <a:avLst/>
            <a:gdLst/>
            <a:ahLst/>
            <a:cxnLst/>
            <a:rect l="l" t="t" r="r" b="b"/>
            <a:pathLst>
              <a:path w="4508500" h="2987040">
                <a:moveTo>
                  <a:pt x="0" y="147193"/>
                </a:moveTo>
                <a:lnTo>
                  <a:pt x="7505" y="100673"/>
                </a:lnTo>
                <a:lnTo>
                  <a:pt x="28406" y="60268"/>
                </a:lnTo>
                <a:lnTo>
                  <a:pt x="60277" y="28403"/>
                </a:lnTo>
                <a:lnTo>
                  <a:pt x="100694" y="7505"/>
                </a:lnTo>
                <a:lnTo>
                  <a:pt x="147231" y="0"/>
                </a:lnTo>
                <a:lnTo>
                  <a:pt x="4360799" y="0"/>
                </a:lnTo>
                <a:lnTo>
                  <a:pt x="4407318" y="7505"/>
                </a:lnTo>
                <a:lnTo>
                  <a:pt x="4447723" y="28403"/>
                </a:lnTo>
                <a:lnTo>
                  <a:pt x="4479588" y="60268"/>
                </a:lnTo>
                <a:lnTo>
                  <a:pt x="4500486" y="100673"/>
                </a:lnTo>
                <a:lnTo>
                  <a:pt x="4507992" y="147193"/>
                </a:lnTo>
                <a:lnTo>
                  <a:pt x="4507992" y="2839808"/>
                </a:lnTo>
                <a:lnTo>
                  <a:pt x="4500486" y="2886345"/>
                </a:lnTo>
                <a:lnTo>
                  <a:pt x="4479588" y="2926762"/>
                </a:lnTo>
                <a:lnTo>
                  <a:pt x="4447723" y="2958633"/>
                </a:lnTo>
                <a:lnTo>
                  <a:pt x="4407318" y="2979534"/>
                </a:lnTo>
                <a:lnTo>
                  <a:pt x="4360799" y="2987040"/>
                </a:lnTo>
                <a:lnTo>
                  <a:pt x="147231" y="2987040"/>
                </a:lnTo>
                <a:lnTo>
                  <a:pt x="100694" y="2979534"/>
                </a:lnTo>
                <a:lnTo>
                  <a:pt x="60277" y="2958633"/>
                </a:lnTo>
                <a:lnTo>
                  <a:pt x="28406" y="2926762"/>
                </a:lnTo>
                <a:lnTo>
                  <a:pt x="7505" y="2886345"/>
                </a:lnTo>
                <a:lnTo>
                  <a:pt x="0" y="2839808"/>
                </a:lnTo>
                <a:lnTo>
                  <a:pt x="0" y="147193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800"/>
          </a:p>
        </p:txBody>
      </p:sp>
      <p:sp>
        <p:nvSpPr>
          <p:cNvPr id="20" name="bk object 20"/>
          <p:cNvSpPr/>
          <p:nvPr/>
        </p:nvSpPr>
        <p:spPr>
          <a:xfrm>
            <a:off x="64006" y="1396642"/>
            <a:ext cx="9019540" cy="119517"/>
          </a:xfrm>
          <a:custGeom>
            <a:avLst/>
            <a:gdLst/>
            <a:ahLst/>
            <a:cxnLst/>
            <a:rect l="l" t="t" r="r" b="b"/>
            <a:pathLst>
              <a:path w="4509770" h="53340">
                <a:moveTo>
                  <a:pt x="0" y="53339"/>
                </a:moveTo>
                <a:lnTo>
                  <a:pt x="4509516" y="53339"/>
                </a:lnTo>
                <a:lnTo>
                  <a:pt x="4509516" y="0"/>
                </a:lnTo>
                <a:lnTo>
                  <a:pt x="0" y="0"/>
                </a:lnTo>
                <a:lnTo>
                  <a:pt x="0" y="53339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 sz="4800"/>
          </a:p>
        </p:txBody>
      </p:sp>
      <p:sp>
        <p:nvSpPr>
          <p:cNvPr id="21" name="bk object 21"/>
          <p:cNvSpPr/>
          <p:nvPr/>
        </p:nvSpPr>
        <p:spPr>
          <a:xfrm>
            <a:off x="64006" y="2977682"/>
            <a:ext cx="9019540" cy="109557"/>
          </a:xfrm>
          <a:custGeom>
            <a:avLst/>
            <a:gdLst/>
            <a:ahLst/>
            <a:cxnLst/>
            <a:rect l="l" t="t" r="r" b="b"/>
            <a:pathLst>
              <a:path w="4509770" h="48894">
                <a:moveTo>
                  <a:pt x="0" y="48768"/>
                </a:moveTo>
                <a:lnTo>
                  <a:pt x="4509516" y="48768"/>
                </a:lnTo>
                <a:lnTo>
                  <a:pt x="4509516" y="0"/>
                </a:lnTo>
                <a:lnTo>
                  <a:pt x="0" y="0"/>
                </a:lnTo>
                <a:lnTo>
                  <a:pt x="0" y="48768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 sz="480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453" y="1516158"/>
            <a:ext cx="9023094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56390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1483" y="2978534"/>
            <a:ext cx="2701034" cy="584775"/>
          </a:xfrm>
        </p:spPr>
        <p:txBody>
          <a:bodyPr lIns="0" tIns="0" rIns="0" bIns="0"/>
          <a:lstStyle>
            <a:lvl1pPr>
              <a:defRPr sz="38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1010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1483" y="2978534"/>
            <a:ext cx="2701034" cy="584775"/>
          </a:xfrm>
        </p:spPr>
        <p:txBody>
          <a:bodyPr lIns="0" tIns="0" rIns="0" bIns="0"/>
          <a:lstStyle>
            <a:lvl1pPr>
              <a:defRPr sz="38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03045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1483" y="2978534"/>
            <a:ext cx="2701034" cy="584775"/>
          </a:xfrm>
        </p:spPr>
        <p:txBody>
          <a:bodyPr lIns="0" tIns="0" rIns="0" bIns="0"/>
          <a:lstStyle>
            <a:lvl1pPr>
              <a:defRPr sz="38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44991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26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lobe_Alone_rgb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05329" y="6282264"/>
            <a:ext cx="369437" cy="369437"/>
          </a:xfrm>
          <a:prstGeom prst="rect">
            <a:avLst/>
          </a:prstGeom>
        </p:spPr>
      </p:pic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402165" y="6341880"/>
            <a:ext cx="385235" cy="152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="1">
                <a:solidFill>
                  <a:schemeClr val="accent1"/>
                </a:solidFill>
              </a:defRPr>
            </a:lvl1pPr>
          </a:lstStyle>
          <a:p>
            <a:fld id="{1DEFE11F-158B-594E-8BEE-CC26B87FEB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28675" y="6361987"/>
            <a:ext cx="5495925" cy="1846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600" dirty="0">
                <a:solidFill>
                  <a:schemeClr val="accent1"/>
                </a:solidFill>
              </a:rPr>
              <a:t>© 2011 AT&amp;T Intellectual Property. All rights reserved. AT&amp;T, the AT&amp;T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logo and all other AT&amp;T marks contained herein are trademarks of AT&amp;T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Intellectual Property and/or AT&amp;T affiliated companies. All other marks</a:t>
            </a:r>
            <a:r>
              <a:rPr lang="en-US" sz="600" baseline="0" dirty="0">
                <a:solidFill>
                  <a:schemeClr val="accent1"/>
                </a:solidFill>
              </a:rPr>
              <a:t> </a:t>
            </a:r>
            <a:r>
              <a:rPr lang="en-US" sz="600" dirty="0">
                <a:solidFill>
                  <a:schemeClr val="accent1"/>
                </a:solidFill>
              </a:rPr>
              <a:t>contained herein are the property of their respective owners.</a:t>
            </a:r>
          </a:p>
        </p:txBody>
      </p:sp>
    </p:spTree>
    <p:extLst>
      <p:ext uri="{BB962C8B-B14F-4D97-AF65-F5344CB8AC3E}">
        <p14:creationId xmlns:p14="http://schemas.microsoft.com/office/powerpoint/2010/main" val="4118627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dt="0"/>
  <p:txStyles>
    <p:titleStyle>
      <a:lvl1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+mj-lt"/>
          <a:ea typeface="+mj-ea"/>
          <a:cs typeface="+mj-cs"/>
        </a:defRPr>
      </a:lvl1pPr>
      <a:lvl2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2pPr>
      <a:lvl3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3pPr>
      <a:lvl4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4pPr>
      <a:lvl5pPr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5pPr>
      <a:lvl6pPr marL="4572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6pPr>
      <a:lvl7pPr marL="9144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7pPr>
      <a:lvl8pPr marL="13716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8pPr>
      <a:lvl9pPr marL="1828800" algn="l" defTabSz="947738" rtl="0" eaLnBrk="0" fontAlgn="base" hangingPunct="0">
        <a:lnSpc>
          <a:spcPct val="105000"/>
        </a:lnSpc>
        <a:spcBef>
          <a:spcPct val="0"/>
        </a:spcBef>
        <a:spcAft>
          <a:spcPct val="0"/>
        </a:spcAft>
        <a:defRPr sz="2600" b="1">
          <a:solidFill>
            <a:schemeClr val="accent1"/>
          </a:solidFill>
          <a:latin typeface="Verdana" pitchFamily="-111" charset="0"/>
        </a:defRPr>
      </a:lvl9pPr>
    </p:titleStyle>
    <p:bodyStyle>
      <a:lvl1pPr algn="l" defTabSz="947738" rtl="0" eaLnBrk="0" fontAlgn="base" hangingPunct="0">
        <a:spcBef>
          <a:spcPct val="20000"/>
        </a:spcBef>
        <a:spcAft>
          <a:spcPct val="20000"/>
        </a:spcAft>
        <a:buClr>
          <a:schemeClr val="tx2"/>
        </a:buClr>
        <a:buSzPct val="1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234950" indent="-233363" algn="l" defTabSz="947738" rtl="0" eaLnBrk="0" fontAlgn="base" hangingPunct="0">
        <a:spcBef>
          <a:spcPct val="10000"/>
        </a:spcBef>
        <a:spcAft>
          <a:spcPct val="30000"/>
        </a:spcAft>
        <a:buClr>
          <a:schemeClr val="tx1"/>
        </a:buClr>
        <a:buSzPct val="80000"/>
        <a:buChar char="•"/>
        <a:defRPr sz="2000">
          <a:solidFill>
            <a:schemeClr val="tx1"/>
          </a:solidFill>
          <a:latin typeface="+mn-lt"/>
          <a:ea typeface="ＭＳ Ｐゴシック" pitchFamily="-111" charset="-128"/>
        </a:defRPr>
      </a:lvl2pPr>
      <a:lvl3pPr marL="461963" indent="-225425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IB Wb Regular" pitchFamily="-111" charset="0"/>
        <a:buChar char="–"/>
        <a:defRPr>
          <a:solidFill>
            <a:schemeClr val="tx1"/>
          </a:solidFill>
          <a:latin typeface="+mn-lt"/>
          <a:ea typeface="ＭＳ Ｐゴシック" pitchFamily="-111" charset="-128"/>
        </a:defRPr>
      </a:lvl3pPr>
      <a:lvl4pPr marL="692150" indent="-22860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Char char="•"/>
        <a:defRPr sz="1600">
          <a:solidFill>
            <a:schemeClr val="tx1"/>
          </a:solidFill>
          <a:latin typeface="+mn-lt"/>
          <a:ea typeface="ＭＳ Ｐゴシック" pitchFamily="-111" charset="-128"/>
        </a:defRPr>
      </a:lvl4pPr>
      <a:lvl5pPr marL="9159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-111" charset="0"/>
        <a:buChar char="–"/>
        <a:defRPr sz="1600">
          <a:solidFill>
            <a:schemeClr val="tx1"/>
          </a:solidFill>
          <a:latin typeface="+mn-lt"/>
          <a:ea typeface="ＭＳ Ｐゴシック" pitchFamily="-111" charset="-128"/>
        </a:defRPr>
      </a:lvl5pPr>
      <a:lvl6pPr marL="13731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-111" charset="0"/>
        <a:buChar char="–"/>
        <a:defRPr sz="1600">
          <a:solidFill>
            <a:schemeClr val="tx1"/>
          </a:solidFill>
          <a:latin typeface="+mn-lt"/>
          <a:ea typeface="ＭＳ Ｐゴシック" pitchFamily="-111" charset="-128"/>
        </a:defRPr>
      </a:lvl6pPr>
      <a:lvl7pPr marL="18303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-111" charset="0"/>
        <a:buChar char="–"/>
        <a:defRPr sz="1600">
          <a:solidFill>
            <a:schemeClr val="tx1"/>
          </a:solidFill>
          <a:latin typeface="+mn-lt"/>
          <a:ea typeface="ＭＳ Ｐゴシック" pitchFamily="-111" charset="-128"/>
        </a:defRPr>
      </a:lvl7pPr>
      <a:lvl8pPr marL="22875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-111" charset="0"/>
        <a:buChar char="–"/>
        <a:defRPr sz="1600">
          <a:solidFill>
            <a:schemeClr val="tx1"/>
          </a:solidFill>
          <a:latin typeface="+mn-lt"/>
          <a:ea typeface="ＭＳ Ｐゴシック" pitchFamily="-111" charset="-128"/>
        </a:defRPr>
      </a:lvl8pPr>
      <a:lvl9pPr marL="2744788" indent="-222250" algn="l" defTabSz="947738" rtl="0" eaLnBrk="0" fontAlgn="base" hangingPunct="0">
        <a:spcBef>
          <a:spcPct val="0"/>
        </a:spcBef>
        <a:spcAft>
          <a:spcPct val="20000"/>
        </a:spcAft>
        <a:buClr>
          <a:schemeClr val="tx1"/>
        </a:buClr>
        <a:buSzPct val="80000"/>
        <a:buFont typeface="Verdana" pitchFamily="-111" charset="0"/>
        <a:buChar char="–"/>
        <a:defRPr sz="1600">
          <a:solidFill>
            <a:schemeClr val="tx1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17" y="-339725"/>
            <a:ext cx="8226425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9776" tIns="46682" rIns="89776" bIns="46682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17" y="1600200"/>
            <a:ext cx="8226425" cy="411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9776" tIns="46682" rIns="89776" bIns="4668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</p:txBody>
      </p:sp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457200" y="6245238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211" tIns="45605" rIns="91211" bIns="45605" anchor="ctr"/>
          <a:lstStyle/>
          <a:p>
            <a:pPr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sz="1800">
              <a:cs typeface="Arial" charset="0"/>
            </a:endParaRP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5791200" y="6245238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211" tIns="45605" rIns="91211" bIns="45605" anchor="ctr"/>
          <a:lstStyle/>
          <a:p>
            <a:pPr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sz="18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24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</p:sldLayoutIdLst>
  <p:hf sldNum="0" hdr="0" ftr="0" dt="0"/>
  <p:txStyles>
    <p:titleStyle>
      <a:lvl1pPr algn="l" defTabSz="45605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 b="1">
          <a:solidFill>
            <a:srgbClr val="161645"/>
          </a:solidFill>
          <a:latin typeface="Arial"/>
          <a:ea typeface="ＭＳ Ｐゴシック" charset="-128"/>
          <a:cs typeface="Arial"/>
        </a:defRPr>
      </a:lvl1pPr>
      <a:lvl2pPr algn="l" defTabSz="45605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 b="1">
          <a:solidFill>
            <a:srgbClr val="161645"/>
          </a:solidFill>
          <a:latin typeface="Arial" charset="0"/>
          <a:ea typeface="ＭＳ Ｐゴシック" charset="-128"/>
          <a:cs typeface="Arial" charset="0"/>
        </a:defRPr>
      </a:lvl2pPr>
      <a:lvl3pPr algn="l" defTabSz="45605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 b="1">
          <a:solidFill>
            <a:srgbClr val="161645"/>
          </a:solidFill>
          <a:latin typeface="Arial" charset="0"/>
          <a:ea typeface="ＭＳ Ｐゴシック" charset="-128"/>
          <a:cs typeface="Arial" charset="0"/>
        </a:defRPr>
      </a:lvl3pPr>
      <a:lvl4pPr algn="l" defTabSz="45605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 b="1">
          <a:solidFill>
            <a:srgbClr val="161645"/>
          </a:solidFill>
          <a:latin typeface="Arial" charset="0"/>
          <a:ea typeface="ＭＳ Ｐゴシック" charset="-128"/>
          <a:cs typeface="Arial" charset="0"/>
        </a:defRPr>
      </a:lvl4pPr>
      <a:lvl5pPr algn="l" defTabSz="45605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 b="1">
          <a:solidFill>
            <a:srgbClr val="161645"/>
          </a:solidFill>
          <a:latin typeface="Arial" charset="0"/>
          <a:ea typeface="ＭＳ Ｐゴシック" charset="-128"/>
          <a:cs typeface="Arial" charset="0"/>
        </a:defRPr>
      </a:lvl5pPr>
      <a:lvl6pPr marL="2508279" indent="-228025" algn="l" defTabSz="45605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800">
          <a:solidFill>
            <a:srgbClr val="161645"/>
          </a:solidFill>
          <a:latin typeface="Gill Sans MT" pitchFamily="32" charset="0"/>
          <a:cs typeface="Arial" charset="0"/>
        </a:defRPr>
      </a:lvl6pPr>
      <a:lvl7pPr marL="2964335" indent="-228025" algn="l" defTabSz="45605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800">
          <a:solidFill>
            <a:srgbClr val="161645"/>
          </a:solidFill>
          <a:latin typeface="Gill Sans MT" pitchFamily="32" charset="0"/>
          <a:cs typeface="Arial" charset="0"/>
        </a:defRPr>
      </a:lvl7pPr>
      <a:lvl8pPr marL="3420378" indent="-228025" algn="l" defTabSz="45605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800">
          <a:solidFill>
            <a:srgbClr val="161645"/>
          </a:solidFill>
          <a:latin typeface="Gill Sans MT" pitchFamily="32" charset="0"/>
          <a:cs typeface="Arial" charset="0"/>
        </a:defRPr>
      </a:lvl8pPr>
      <a:lvl9pPr marL="3876431" indent="-228025" algn="l" defTabSz="45605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800">
          <a:solidFill>
            <a:srgbClr val="161645"/>
          </a:solidFill>
          <a:latin typeface="Gill Sans MT" pitchFamily="32" charset="0"/>
          <a:cs typeface="Arial" charset="0"/>
        </a:defRPr>
      </a:lvl9pPr>
    </p:titleStyle>
    <p:bodyStyle>
      <a:lvl1pPr marL="342038" indent="-342038" algn="l" defTabSz="456053" rtl="0" eaLnBrk="0" fontAlgn="base" hangingPunct="0"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charset="0"/>
        <a:buChar char="•"/>
        <a:defRPr sz="2400">
          <a:solidFill>
            <a:srgbClr val="00264D"/>
          </a:solidFill>
          <a:latin typeface="Arial"/>
          <a:ea typeface="ＭＳ Ｐゴシック" charset="-128"/>
          <a:cs typeface="Arial"/>
        </a:defRPr>
      </a:lvl1pPr>
      <a:lvl2pPr marL="741081" indent="-285036" algn="l" defTabSz="45605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charset="0"/>
        <a:buChar char="–"/>
        <a:defRPr sz="2000">
          <a:solidFill>
            <a:srgbClr val="00264D"/>
          </a:solidFill>
          <a:latin typeface="Arial"/>
          <a:ea typeface="ＭＳ Ｐゴシック" charset="-128"/>
          <a:cs typeface="Arial"/>
        </a:defRPr>
      </a:lvl2pPr>
      <a:lvl3pPr marL="1140126" indent="-228025" algn="l" defTabSz="45605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charset="0"/>
        <a:buChar char="•"/>
        <a:defRPr>
          <a:solidFill>
            <a:srgbClr val="00264D"/>
          </a:solidFill>
          <a:latin typeface="Arial"/>
          <a:ea typeface="ＭＳ Ｐゴシック" charset="-128"/>
          <a:cs typeface="Arial"/>
        </a:defRPr>
      </a:lvl3pPr>
      <a:lvl4pPr marL="1596176" indent="-228025" algn="l" defTabSz="456053" rtl="0" eaLnBrk="0" fontAlgn="base" hangingPunct="0">
        <a:spcBef>
          <a:spcPts val="596"/>
        </a:spcBef>
        <a:spcAft>
          <a:spcPct val="0"/>
        </a:spcAft>
        <a:buClr>
          <a:srgbClr val="000000"/>
        </a:buClr>
        <a:buSzPct val="100000"/>
        <a:buFont typeface="Times New Roman" charset="0"/>
        <a:buChar char="–"/>
        <a:defRPr sz="2200" b="1">
          <a:solidFill>
            <a:srgbClr val="00264D"/>
          </a:solidFill>
          <a:latin typeface="Arial"/>
          <a:ea typeface="ＭＳ Ｐゴシック" charset="-128"/>
          <a:cs typeface="Arial"/>
        </a:defRPr>
      </a:lvl4pPr>
      <a:lvl5pPr marL="2052226" indent="-228025" algn="l" defTabSz="456053" rtl="0" eaLnBrk="0" fontAlgn="base" hangingPunct="0">
        <a:spcBef>
          <a:spcPts val="596"/>
        </a:spcBef>
        <a:spcAft>
          <a:spcPct val="0"/>
        </a:spcAft>
        <a:buClr>
          <a:srgbClr val="000000"/>
        </a:buClr>
        <a:buSzPct val="100000"/>
        <a:buFont typeface="Times New Roman" charset="0"/>
        <a:buChar char="»"/>
        <a:defRPr sz="2200" b="1">
          <a:solidFill>
            <a:srgbClr val="00264D"/>
          </a:solidFill>
          <a:latin typeface="Arial"/>
          <a:ea typeface="ＭＳ Ｐゴシック" charset="-128"/>
          <a:cs typeface="Arial"/>
        </a:defRPr>
      </a:lvl5pPr>
      <a:lvl6pPr marL="2508279" indent="-228025" algn="l" defTabSz="456053" rtl="0" eaLnBrk="0" fontAlgn="base" hangingPunct="0">
        <a:spcBef>
          <a:spcPts val="596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6B6BCF"/>
          </a:solidFill>
          <a:latin typeface="+mn-lt"/>
          <a:cs typeface="+mn-cs"/>
        </a:defRPr>
      </a:lvl6pPr>
      <a:lvl7pPr marL="2964335" indent="-228025" algn="l" defTabSz="456053" rtl="0" eaLnBrk="0" fontAlgn="base" hangingPunct="0">
        <a:spcBef>
          <a:spcPts val="596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6B6BCF"/>
          </a:solidFill>
          <a:latin typeface="+mn-lt"/>
          <a:cs typeface="+mn-cs"/>
        </a:defRPr>
      </a:lvl7pPr>
      <a:lvl8pPr marL="3420378" indent="-228025" algn="l" defTabSz="456053" rtl="0" eaLnBrk="0" fontAlgn="base" hangingPunct="0">
        <a:spcBef>
          <a:spcPts val="596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6B6BCF"/>
          </a:solidFill>
          <a:latin typeface="+mn-lt"/>
          <a:cs typeface="+mn-cs"/>
        </a:defRPr>
      </a:lvl8pPr>
      <a:lvl9pPr marL="3876431" indent="-228025" algn="l" defTabSz="456053" rtl="0" eaLnBrk="0" fontAlgn="base" hangingPunct="0">
        <a:spcBef>
          <a:spcPts val="596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6B6BCF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2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053" algn="l" defTabSz="912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101" algn="l" defTabSz="912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151" algn="l" defTabSz="912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202" algn="l" defTabSz="912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253" algn="l" defTabSz="912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303" algn="l" defTabSz="912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354" algn="l" defTabSz="912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404" algn="l" defTabSz="91210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339725"/>
            <a:ext cx="8226425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6425" cy="411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sz="1800">
              <a:solidFill>
                <a:prstClr val="white"/>
              </a:solidFill>
              <a:cs typeface="Arial" charset="0"/>
            </a:endParaRP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5791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sz="1800">
              <a:solidFill>
                <a:prstClr val="white"/>
              </a:solidFill>
              <a:cs typeface="Arial" charset="0"/>
            </a:endParaRPr>
          </a:p>
        </p:txBody>
      </p:sp>
      <p:sp>
        <p:nvSpPr>
          <p:cNvPr id="2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3124200" y="6229350"/>
            <a:ext cx="2130425" cy="4730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>
                <a:srgbClr val="000000"/>
              </a:buClr>
              <a:buSzPct val="100000"/>
              <a:buFont typeface="Times New Roman" charset="0"/>
              <a:buNone/>
              <a:defRPr sz="1400">
                <a:solidFill>
                  <a:srgbClr val="000000"/>
                </a:solidFill>
                <a:cs typeface="Arial" charset="0"/>
              </a:defRPr>
            </a:lvl1pPr>
          </a:lstStyle>
          <a:p>
            <a:pPr defTabSz="457200">
              <a:defRPr/>
            </a:pPr>
            <a:fld id="{1974A612-B1EB-4248-BF31-51AAB45CE0C3}" type="slidenum">
              <a:rPr lang="en-US"/>
              <a:pPr defTabSz="457200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35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hf sldNum="0"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 b="1">
          <a:solidFill>
            <a:srgbClr val="161645"/>
          </a:solidFill>
          <a:latin typeface="Arial"/>
          <a:ea typeface="ＭＳ Ｐゴシック" charset="-128"/>
          <a:cs typeface="Arial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 b="1">
          <a:solidFill>
            <a:srgbClr val="161645"/>
          </a:solidFill>
          <a:latin typeface="Arial" charset="0"/>
          <a:ea typeface="ＭＳ Ｐゴシック" charset="-128"/>
          <a:cs typeface="Arial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 b="1">
          <a:solidFill>
            <a:srgbClr val="161645"/>
          </a:solidFill>
          <a:latin typeface="Arial" charset="0"/>
          <a:ea typeface="ＭＳ Ｐゴシック" charset="-128"/>
          <a:cs typeface="Arial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 b="1">
          <a:solidFill>
            <a:srgbClr val="161645"/>
          </a:solidFill>
          <a:latin typeface="Arial" charset="0"/>
          <a:ea typeface="ＭＳ Ｐゴシック" charset="-128"/>
          <a:cs typeface="Arial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 b="1">
          <a:solidFill>
            <a:srgbClr val="161645"/>
          </a:solidFill>
          <a:latin typeface="Arial" charset="0"/>
          <a:ea typeface="ＭＳ Ｐゴシック" charset="-128"/>
          <a:cs typeface="Arial" charset="0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800">
          <a:solidFill>
            <a:srgbClr val="161645"/>
          </a:solidFill>
          <a:latin typeface="Gill Sans MT" pitchFamily="32" charset="0"/>
          <a:cs typeface="Arial" charset="0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800">
          <a:solidFill>
            <a:srgbClr val="161645"/>
          </a:solidFill>
          <a:latin typeface="Gill Sans MT" pitchFamily="32" charset="0"/>
          <a:cs typeface="Arial" charset="0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800">
          <a:solidFill>
            <a:srgbClr val="161645"/>
          </a:solidFill>
          <a:latin typeface="Gill Sans MT" pitchFamily="32" charset="0"/>
          <a:cs typeface="Arial" charset="0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800">
          <a:solidFill>
            <a:srgbClr val="161645"/>
          </a:solidFill>
          <a:latin typeface="Gill Sans MT" pitchFamily="32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ts val="900"/>
        </a:spcBef>
        <a:spcAft>
          <a:spcPct val="0"/>
        </a:spcAft>
        <a:buClr>
          <a:srgbClr val="000000"/>
        </a:buClr>
        <a:buSzPct val="100000"/>
        <a:buFont typeface="Times New Roman" charset="0"/>
        <a:buChar char="•"/>
        <a:defRPr sz="2800" b="1">
          <a:solidFill>
            <a:srgbClr val="00264D"/>
          </a:solidFill>
          <a:latin typeface="Arial"/>
          <a:ea typeface="ＭＳ Ｐゴシック" charset="-128"/>
          <a:cs typeface="Arial"/>
        </a:defRPr>
      </a:lvl1pPr>
      <a:lvl2pPr marL="742950" indent="-28575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charset="0"/>
        <a:buChar char="–"/>
        <a:defRPr sz="2400" b="1">
          <a:solidFill>
            <a:srgbClr val="00264D"/>
          </a:solidFill>
          <a:latin typeface="Arial"/>
          <a:ea typeface="ＭＳ Ｐゴシック" charset="-128"/>
          <a:cs typeface="Arial"/>
        </a:defRPr>
      </a:lvl2pPr>
      <a:lvl3pPr marL="1143000" indent="-22860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charset="0"/>
        <a:buChar char="•"/>
        <a:defRPr sz="2400" b="1">
          <a:solidFill>
            <a:srgbClr val="00264D"/>
          </a:solidFill>
          <a:latin typeface="Arial"/>
          <a:ea typeface="ＭＳ Ｐゴシック" charset="-128"/>
          <a:cs typeface="Arial"/>
        </a:defRPr>
      </a:lvl3pPr>
      <a:lvl4pPr marL="16002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charset="0"/>
        <a:buChar char="–"/>
        <a:defRPr sz="2200" b="1">
          <a:solidFill>
            <a:srgbClr val="00264D"/>
          </a:solidFill>
          <a:latin typeface="Arial"/>
          <a:ea typeface="ＭＳ Ｐゴシック" charset="-128"/>
          <a:cs typeface="Arial"/>
        </a:defRPr>
      </a:lvl4pPr>
      <a:lvl5pPr marL="20574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charset="0"/>
        <a:buChar char="»"/>
        <a:defRPr sz="2200" b="1">
          <a:solidFill>
            <a:srgbClr val="00264D"/>
          </a:solidFill>
          <a:latin typeface="Arial"/>
          <a:ea typeface="ＭＳ Ｐゴシック" charset="-128"/>
          <a:cs typeface="Arial"/>
        </a:defRPr>
      </a:lvl5pPr>
      <a:lvl6pPr marL="25146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6B6BCF"/>
          </a:solidFill>
          <a:latin typeface="+mn-lt"/>
          <a:cs typeface="+mn-cs"/>
        </a:defRPr>
      </a:lvl6pPr>
      <a:lvl7pPr marL="29718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6B6BCF"/>
          </a:solidFill>
          <a:latin typeface="+mn-lt"/>
          <a:cs typeface="+mn-cs"/>
        </a:defRPr>
      </a:lvl7pPr>
      <a:lvl8pPr marL="3429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6B6BCF"/>
          </a:solidFill>
          <a:latin typeface="+mn-lt"/>
          <a:cs typeface="+mn-cs"/>
        </a:defRPr>
      </a:lvl8pPr>
      <a:lvl9pPr marL="38862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 b="1">
          <a:solidFill>
            <a:srgbClr val="6B6BCF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3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9303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103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83" name="Rectangle 103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 b="0">
                <a:latin typeface="Tahoma" pitchFamily="34" charset="0"/>
                <a:cs typeface="Times New Roman" pitchFamily="18" charset="0"/>
              </a:defRPr>
            </a:lvl1pPr>
          </a:lstStyle>
          <a:p>
            <a:pPr defTabSz="914400">
              <a:defRPr/>
            </a:pPr>
            <a:endParaRPr lang="en-US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3084" name="Rectangle 103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 b="0">
                <a:latin typeface="Tahoma" pitchFamily="34" charset="0"/>
                <a:cs typeface="Times New Roman" pitchFamily="18" charset="0"/>
              </a:defRPr>
            </a:lvl1pPr>
          </a:lstStyle>
          <a:p>
            <a:pPr defTabSz="914400">
              <a:defRPr/>
            </a:pPr>
            <a:endParaRPr lang="en-US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3085" name="Rectangle 103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b="0">
                <a:latin typeface="Tahoma" pitchFamily="34" charset="0"/>
                <a:cs typeface="Times New Roman" pitchFamily="18" charset="0"/>
              </a:defRPr>
            </a:lvl1pPr>
          </a:lstStyle>
          <a:p>
            <a:pPr defTabSz="914400">
              <a:defRPr/>
            </a:pPr>
            <a:fld id="{C2748C94-EBCD-45D9-B7E6-7E3856D65B01}" type="slidenum">
              <a:rPr lang="en-US">
                <a:solidFill>
                  <a:srgbClr val="000000"/>
                </a:solidFill>
                <a:ea typeface="+mn-ea"/>
              </a:rPr>
              <a:pPr defTabSz="914400">
                <a:defRPr/>
              </a:pPr>
              <a:t>‹#›</a:t>
            </a:fld>
            <a:endParaRPr lang="en-US" dirty="0">
              <a:solidFill>
                <a:srgbClr val="000000"/>
              </a:solidFill>
              <a:ea typeface="+mn-ea"/>
            </a:endParaRPr>
          </a:p>
        </p:txBody>
      </p:sp>
      <p:sp>
        <p:nvSpPr>
          <p:cNvPr id="3088" name="Line 1040"/>
          <p:cNvSpPr>
            <a:spLocks noChangeShapeType="1"/>
          </p:cNvSpPr>
          <p:nvPr userDrawn="1"/>
        </p:nvSpPr>
        <p:spPr bwMode="auto">
          <a:xfrm>
            <a:off x="787400" y="1219200"/>
            <a:ext cx="7569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defTabSz="914400">
              <a:spcBef>
                <a:spcPct val="50000"/>
              </a:spcBef>
              <a:defRPr/>
            </a:pPr>
            <a:endParaRPr lang="en-CA" b="1" dirty="0">
              <a:solidFill>
                <a:srgbClr val="000000"/>
              </a:solidFill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45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fol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folHlink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folHlink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folHlink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folHlink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folHlink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folHlink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folHlink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folHlink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68297"/>
            <a:ext cx="9013190" cy="6697221"/>
          </a:xfrm>
          <a:custGeom>
            <a:avLst/>
            <a:gdLst/>
            <a:ahLst/>
            <a:cxnLst/>
            <a:rect l="l" t="t" r="r" b="b"/>
            <a:pathLst>
              <a:path w="4506595" h="2988945">
                <a:moveTo>
                  <a:pt x="0" y="147319"/>
                </a:moveTo>
                <a:lnTo>
                  <a:pt x="7509" y="100738"/>
                </a:lnTo>
                <a:lnTo>
                  <a:pt x="28421" y="60295"/>
                </a:lnTo>
                <a:lnTo>
                  <a:pt x="60309" y="28411"/>
                </a:lnTo>
                <a:lnTo>
                  <a:pt x="100747" y="7506"/>
                </a:lnTo>
                <a:lnTo>
                  <a:pt x="147307" y="0"/>
                </a:lnTo>
                <a:lnTo>
                  <a:pt x="4359148" y="0"/>
                </a:lnTo>
                <a:lnTo>
                  <a:pt x="4405729" y="7506"/>
                </a:lnTo>
                <a:lnTo>
                  <a:pt x="4446172" y="28411"/>
                </a:lnTo>
                <a:lnTo>
                  <a:pt x="4478056" y="60295"/>
                </a:lnTo>
                <a:lnTo>
                  <a:pt x="4498961" y="100738"/>
                </a:lnTo>
                <a:lnTo>
                  <a:pt x="4506468" y="147319"/>
                </a:lnTo>
                <a:lnTo>
                  <a:pt x="4506468" y="2841256"/>
                </a:lnTo>
                <a:lnTo>
                  <a:pt x="4498961" y="2887816"/>
                </a:lnTo>
                <a:lnTo>
                  <a:pt x="4478056" y="2928254"/>
                </a:lnTo>
                <a:lnTo>
                  <a:pt x="4446172" y="2960142"/>
                </a:lnTo>
                <a:lnTo>
                  <a:pt x="4405729" y="2981054"/>
                </a:lnTo>
                <a:lnTo>
                  <a:pt x="4359148" y="2988564"/>
                </a:lnTo>
                <a:lnTo>
                  <a:pt x="147307" y="2988564"/>
                </a:lnTo>
                <a:lnTo>
                  <a:pt x="100747" y="2981054"/>
                </a:lnTo>
                <a:lnTo>
                  <a:pt x="60309" y="2960142"/>
                </a:lnTo>
                <a:lnTo>
                  <a:pt x="28421" y="2928254"/>
                </a:lnTo>
                <a:lnTo>
                  <a:pt x="7509" y="2887816"/>
                </a:lnTo>
                <a:lnTo>
                  <a:pt x="0" y="2841256"/>
                </a:lnTo>
                <a:lnTo>
                  <a:pt x="0" y="1473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1483" y="2978534"/>
            <a:ext cx="2701034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69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339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914400">
        <a:defRPr>
          <a:latin typeface="+mn-lt"/>
          <a:ea typeface="+mn-ea"/>
          <a:cs typeface="+mn-cs"/>
        </a:defRPr>
      </a:lvl2pPr>
      <a:lvl3pPr marL="1828800">
        <a:defRPr>
          <a:latin typeface="+mn-lt"/>
          <a:ea typeface="+mn-ea"/>
          <a:cs typeface="+mn-cs"/>
        </a:defRPr>
      </a:lvl3pPr>
      <a:lvl4pPr marL="2743200">
        <a:defRPr>
          <a:latin typeface="+mn-lt"/>
          <a:ea typeface="+mn-ea"/>
          <a:cs typeface="+mn-cs"/>
        </a:defRPr>
      </a:lvl4pPr>
      <a:lvl5pPr marL="3657600">
        <a:defRPr>
          <a:latin typeface="+mn-lt"/>
          <a:ea typeface="+mn-ea"/>
          <a:cs typeface="+mn-cs"/>
        </a:defRPr>
      </a:lvl5pPr>
      <a:lvl6pPr marL="4572000">
        <a:defRPr>
          <a:latin typeface="+mn-lt"/>
          <a:ea typeface="+mn-ea"/>
          <a:cs typeface="+mn-cs"/>
        </a:defRPr>
      </a:lvl6pPr>
      <a:lvl7pPr marL="5486400">
        <a:defRPr>
          <a:latin typeface="+mn-lt"/>
          <a:ea typeface="+mn-ea"/>
          <a:cs typeface="+mn-cs"/>
        </a:defRPr>
      </a:lvl7pPr>
      <a:lvl8pPr marL="6400800">
        <a:defRPr>
          <a:latin typeface="+mn-lt"/>
          <a:ea typeface="+mn-ea"/>
          <a:cs typeface="+mn-cs"/>
        </a:defRPr>
      </a:lvl8pPr>
      <a:lvl9pPr marL="7315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914400">
        <a:defRPr>
          <a:latin typeface="+mn-lt"/>
          <a:ea typeface="+mn-ea"/>
          <a:cs typeface="+mn-cs"/>
        </a:defRPr>
      </a:lvl2pPr>
      <a:lvl3pPr marL="1828800">
        <a:defRPr>
          <a:latin typeface="+mn-lt"/>
          <a:ea typeface="+mn-ea"/>
          <a:cs typeface="+mn-cs"/>
        </a:defRPr>
      </a:lvl3pPr>
      <a:lvl4pPr marL="2743200">
        <a:defRPr>
          <a:latin typeface="+mn-lt"/>
          <a:ea typeface="+mn-ea"/>
          <a:cs typeface="+mn-cs"/>
        </a:defRPr>
      </a:lvl4pPr>
      <a:lvl5pPr marL="3657600">
        <a:defRPr>
          <a:latin typeface="+mn-lt"/>
          <a:ea typeface="+mn-ea"/>
          <a:cs typeface="+mn-cs"/>
        </a:defRPr>
      </a:lvl5pPr>
      <a:lvl6pPr marL="4572000">
        <a:defRPr>
          <a:latin typeface="+mn-lt"/>
          <a:ea typeface="+mn-ea"/>
          <a:cs typeface="+mn-cs"/>
        </a:defRPr>
      </a:lvl6pPr>
      <a:lvl7pPr marL="5486400">
        <a:defRPr>
          <a:latin typeface="+mn-lt"/>
          <a:ea typeface="+mn-ea"/>
          <a:cs typeface="+mn-cs"/>
        </a:defRPr>
      </a:lvl7pPr>
      <a:lvl8pPr marL="6400800">
        <a:defRPr>
          <a:latin typeface="+mn-lt"/>
          <a:ea typeface="+mn-ea"/>
          <a:cs typeface="+mn-cs"/>
        </a:defRPr>
      </a:lvl8pPr>
      <a:lvl9pPr marL="7315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8.png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8.png"/><Relationship Id="rId4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FE3C46-613C-6A49-B870-C42B1CF61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34" y="2779644"/>
            <a:ext cx="8855901" cy="838200"/>
          </a:xfrm>
        </p:spPr>
        <p:txBody>
          <a:bodyPr/>
          <a:lstStyle/>
          <a:p>
            <a:pPr algn="ctr"/>
            <a:r>
              <a:rPr lang="en-US" dirty="0"/>
              <a:t>Class – 9</a:t>
            </a:r>
            <a:br>
              <a:rPr lang="en-US" dirty="0"/>
            </a:br>
            <a:r>
              <a:rPr lang="en-US" dirty="0"/>
              <a:t>Failure Resiliency in Virtualized Environments</a:t>
            </a:r>
            <a:br>
              <a:rPr lang="en-US" dirty="0"/>
            </a:br>
            <a:r>
              <a:rPr lang="en-US" dirty="0"/>
              <a:t>K. K. Ramakrishnan</a:t>
            </a:r>
            <a:br>
              <a:rPr lang="en-US" dirty="0"/>
            </a:br>
            <a:r>
              <a:rPr lang="en-US" dirty="0"/>
              <a:t>CS 208</a:t>
            </a:r>
          </a:p>
        </p:txBody>
      </p:sp>
    </p:spTree>
    <p:extLst>
      <p:ext uri="{BB962C8B-B14F-4D97-AF65-F5344CB8AC3E}">
        <p14:creationId xmlns:p14="http://schemas.microsoft.com/office/powerpoint/2010/main" val="2999876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52727" y="3234842"/>
            <a:ext cx="4888230" cy="764312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0" marR="0" lvl="0" indent="0" algn="ctr" defTabSz="1828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40" normalizeH="0" baseline="0" noProof="0" dirty="0">
                <a:ln>
                  <a:noFill/>
                </a:ln>
                <a:solidFill>
                  <a:srgbClr val="69636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Atomicity, </a:t>
            </a:r>
            <a:r>
              <a:rPr kumimoji="0" sz="2400" b="1" i="0" u="none" strike="noStrike" kern="1200" cap="none" spc="-20" normalizeH="0" baseline="0" noProof="0" dirty="0">
                <a:ln>
                  <a:noFill/>
                </a:ln>
                <a:solidFill>
                  <a:srgbClr val="69636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Consistency,</a:t>
            </a:r>
            <a:r>
              <a:rPr kumimoji="0" sz="2400" b="1" i="0" u="none" strike="noStrike" kern="1200" cap="none" spc="100" normalizeH="0" baseline="0" noProof="0" dirty="0">
                <a:ln>
                  <a:noFill/>
                </a:ln>
                <a:solidFill>
                  <a:srgbClr val="69636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69636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Isolation,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0160" marR="0" lvl="0" indent="0" algn="ctr" defTabSz="18288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srgbClr val="696363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Durability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542" y="596198"/>
            <a:ext cx="9031458" cy="2403222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307340" rIns="0" bIns="0" rtlCol="0">
            <a:spAutoFit/>
          </a:bodyPr>
          <a:lstStyle/>
          <a:p>
            <a:pPr marL="2730500" marR="0" lvl="0" indent="0" algn="l" defTabSz="1828800" rtl="0" eaLnBrk="1" fontAlgn="auto" latinLnBrk="0" hangingPunct="1">
              <a:lnSpc>
                <a:spcPct val="100000"/>
              </a:lnSpc>
              <a:spcBef>
                <a:spcPts val="24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Failure Resiliency: Fundamentals </a:t>
            </a:r>
          </a:p>
          <a:p>
            <a:pPr marL="2730500" marR="0" lvl="0" indent="0" algn="l" defTabSz="1828800" rtl="0" eaLnBrk="1" fontAlgn="auto" latinLnBrk="0" hangingPunct="1">
              <a:lnSpc>
                <a:spcPct val="100000"/>
              </a:lnSpc>
              <a:spcBef>
                <a:spcPts val="24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ACID</a:t>
            </a:r>
            <a:r>
              <a:rPr kumimoji="0" sz="3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properties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997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812" y="484648"/>
            <a:ext cx="8792307" cy="6263253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87020" marR="115570" lvl="0" indent="-261620" algn="l" defTabSz="1828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D24717"/>
              </a:buClr>
              <a:buSzPct val="82142"/>
              <a:buFontTx/>
              <a:buChar char=""/>
              <a:tabLst>
                <a:tab pos="288290" algn="l"/>
              </a:tabLst>
              <a:defRPr/>
            </a:pPr>
            <a:r>
              <a:rPr kumimoji="0" lang="en-US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Transactions</a:t>
            </a: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are key to protect data against failures.</a:t>
            </a:r>
          </a:p>
          <a:p>
            <a:pPr marL="287020" marR="115570" lvl="0" indent="-261620" algn="l" defTabSz="1828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D24717"/>
              </a:buClr>
              <a:buSzPct val="82142"/>
              <a:buFontTx/>
              <a:buChar char=""/>
              <a:tabLst>
                <a:tab pos="28829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Transactions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should possess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several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properties,  often called the </a:t>
            </a:r>
            <a:r>
              <a:rPr kumimoji="0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ACID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properties;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they should be  enforced by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concurrency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control and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recovery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methods of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application, such as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DBMS. </a:t>
            </a:r>
            <a:endParaRPr kumimoji="0" lang="en-US" sz="2800" b="0" i="0" u="none" strike="noStrike" kern="120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115570" lvl="0" indent="-261620" algn="l" defTabSz="1828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D24717"/>
              </a:buClr>
              <a:buSzPct val="82142"/>
              <a:buFontTx/>
              <a:buChar char=""/>
              <a:tabLst>
                <a:tab pos="288290" algn="l"/>
              </a:tabLst>
              <a:defRPr/>
            </a:pP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What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are </a:t>
            </a:r>
            <a:r>
              <a:rPr kumimoji="0" sz="2800" b="0" i="0" u="none" strike="noStrike" kern="1200" cap="none" spc="-4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ACID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properties:</a:t>
            </a:r>
          </a:p>
          <a:p>
            <a:pPr marL="287020" marR="744220" lvl="0" indent="-261620" algn="l" defTabSz="1828800" rtl="0" eaLnBrk="1" fontAlgn="auto" latinLnBrk="0" hangingPunct="1">
              <a:lnSpc>
                <a:spcPct val="100000"/>
              </a:lnSpc>
              <a:spcBef>
                <a:spcPts val="618"/>
              </a:spcBef>
              <a:spcAft>
                <a:spcPts val="0"/>
              </a:spcAft>
              <a:buClr>
                <a:srgbClr val="D24717"/>
              </a:buClr>
              <a:buSzPct val="82142"/>
              <a:buFont typeface="Arial"/>
              <a:buChar char=""/>
              <a:tabLst>
                <a:tab pos="288290" algn="l"/>
              </a:tabLst>
              <a:defRPr/>
            </a:pPr>
            <a:r>
              <a:rPr kumimoji="0" sz="2800" b="1" i="0" u="sng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tomicity: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an atomic unit of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processing;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 should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either be performed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</a:t>
            </a:r>
            <a:r>
              <a:rPr kumimoji="0" sz="2800" b="0" i="0" u="none" strike="noStrike" kern="1200" cap="none" spc="-3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its 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entirety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or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not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performed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</a:t>
            </a:r>
            <a:r>
              <a:rPr kumimoji="0" sz="2800" b="1" i="0" u="none" strike="noStrike" kern="1200" cap="none" spc="-2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ll.</a:t>
            </a:r>
          </a:p>
          <a:p>
            <a:pPr marL="287020" marR="10160" lvl="0" indent="-261620" algn="l" defTabSz="1828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4717"/>
              </a:buClr>
              <a:buSzPct val="82142"/>
              <a:buFont typeface="Arial"/>
              <a:buChar char=""/>
              <a:tabLst>
                <a:tab pos="288290" algn="l"/>
              </a:tabLst>
              <a:defRPr/>
            </a:pPr>
            <a:r>
              <a:rPr kumimoji="0" sz="2800" b="1" i="0" u="sng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onsistency preservation: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transaction should  be consistency preserving, meaning that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if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it is 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completely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executed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from beginning to end</a:t>
            </a:r>
            <a:r>
              <a:rPr kumimoji="0" sz="2800" b="0" i="0" u="none" strike="noStrike" kern="1200" cap="none" spc="-3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without  interference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from other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transactions,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 should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take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the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database from one consistent state to</a:t>
            </a:r>
            <a:r>
              <a:rPr kumimoji="0" sz="2800" b="1" i="0" u="none" strike="noStrike" kern="1200" cap="none" spc="-4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another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526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537" y="554988"/>
            <a:ext cx="8492490" cy="441146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87020" marR="195580" lvl="0" indent="-261620" algn="l" defTabSz="1828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D24717"/>
              </a:buClr>
              <a:buSzPct val="82142"/>
              <a:buFont typeface="Arial"/>
              <a:buChar char=""/>
              <a:tabLst>
                <a:tab pos="288290" algn="l"/>
              </a:tabLst>
              <a:defRPr/>
            </a:pPr>
            <a:r>
              <a:rPr kumimoji="0" sz="2800" b="1" i="0" u="sng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solation: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should appear as though it  is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being executed in isolation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from other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transactions,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even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though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many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may be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executing </a:t>
            </a:r>
            <a:r>
              <a:rPr kumimoji="0" sz="280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concurrently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is,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execution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  transaction should not be interfered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with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by any  other transactions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executing</a:t>
            </a:r>
            <a:r>
              <a:rPr kumimoji="0" sz="2800" b="0" i="0" u="none" strike="noStrike" kern="1200" cap="none" spc="-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concurrently.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10160" lvl="0" indent="-261620" algn="l" defTabSz="1828800" rtl="0" eaLnBrk="1" fontAlgn="auto" latinLnBrk="0" hangingPunct="1">
              <a:lnSpc>
                <a:spcPct val="100000"/>
              </a:lnSpc>
              <a:spcBef>
                <a:spcPts val="618"/>
              </a:spcBef>
              <a:spcAft>
                <a:spcPts val="0"/>
              </a:spcAft>
              <a:buClr>
                <a:srgbClr val="D24717"/>
              </a:buClr>
              <a:buSzPct val="82142"/>
              <a:buFont typeface="Arial"/>
              <a:buChar char=""/>
              <a:tabLst>
                <a:tab pos="288290" algn="l"/>
              </a:tabLst>
              <a:defRPr/>
            </a:pPr>
            <a:r>
              <a:rPr kumimoji="0" sz="2800" b="1" i="0" u="sng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urability or </a:t>
            </a:r>
            <a:r>
              <a:rPr kumimoji="0" sz="280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permanency: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changes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applied </a:t>
            </a:r>
            <a:r>
              <a:rPr kumimoji="0" sz="28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database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by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a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committed transaction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must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persist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the database. These changes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must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not</a:t>
            </a:r>
            <a:r>
              <a:rPr kumimoji="0" sz="2800" b="0" i="0" u="none" strike="noStrike" kern="1200" cap="none" spc="-5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lost because of any</a:t>
            </a:r>
            <a:r>
              <a:rPr kumimoji="0" sz="28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failure.</a:t>
            </a:r>
          </a:p>
        </p:txBody>
      </p:sp>
    </p:spTree>
    <p:extLst>
      <p:ext uri="{BB962C8B-B14F-4D97-AF65-F5344CB8AC3E}">
        <p14:creationId xmlns:p14="http://schemas.microsoft.com/office/powerpoint/2010/main" val="7184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536" y="480744"/>
            <a:ext cx="8712130" cy="601062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5400" marR="0" lvl="0" indent="0" algn="ctr" defTabSz="1828800" rtl="0" eaLnBrk="1" fontAlgn="auto" latinLnBrk="0" hangingPunct="1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Details: </a:t>
            </a:r>
            <a:r>
              <a:rPr kumimoji="0" sz="2800" b="1" i="0" u="sng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800" b="1" i="0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tomicity</a:t>
            </a:r>
            <a:endParaRPr kumimoji="0" sz="2800" b="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0" lvl="0" indent="-261620" algn="l" defTabSz="1828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4717"/>
              </a:buClr>
              <a:buSzPct val="85714"/>
              <a:buFontTx/>
              <a:buChar char=""/>
              <a:tabLst>
                <a:tab pos="288290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atomicity property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requires that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we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execute</a:t>
            </a:r>
            <a:r>
              <a:rPr kumimoji="0" sz="2800" b="1" i="0" u="none" strike="noStrike" kern="1200" cap="none" spc="-3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</a:p>
          <a:p>
            <a:pPr marL="287020" marR="0" lvl="0" indent="0" algn="l" defTabSz="18288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</a:t>
            </a:r>
            <a:r>
              <a:rPr kumimoji="0" sz="2800" b="1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completion.</a:t>
            </a:r>
          </a:p>
          <a:p>
            <a:pPr marL="287020" marR="421640" lvl="0" indent="-261620" algn="l" defTabSz="1828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4717"/>
              </a:buClr>
              <a:buSzPct val="82142"/>
              <a:buFontTx/>
              <a:buChar char=""/>
              <a:tabLst>
                <a:tab pos="288290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 is the responsibility of the </a:t>
            </a:r>
            <a:r>
              <a:rPr kumimoji="0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 recovery</a:t>
            </a:r>
            <a:r>
              <a:rPr kumimoji="0" sz="2800" b="0" i="1" u="none" strike="noStrike" kern="1200" cap="none" spc="-3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</a:t>
            </a:r>
            <a:r>
              <a:rPr kumimoji="0" sz="28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subsystem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DBMS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ensure</a:t>
            </a:r>
            <a:r>
              <a:rPr kumimoji="0" sz="2800" b="0" i="0" u="none" strike="noStrike" kern="1200" cap="none" spc="-22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atomicity.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143510" lvl="0" indent="-261620" algn="l" defTabSz="1828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4717"/>
              </a:buClr>
              <a:buSzPct val="82142"/>
              <a:buFontTx/>
              <a:buChar char=""/>
              <a:tabLst>
                <a:tab pos="288290" algn="l"/>
              </a:tabLst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If a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fails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to complete 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some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reason,  such as a system crash in the midst of</a:t>
            </a:r>
            <a:r>
              <a:rPr kumimoji="0" sz="2800" b="0" i="0" u="none" strike="noStrike" kern="1200" cap="none" spc="-4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execution,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recovery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technique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must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undo any 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effects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the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 the</a:t>
            </a:r>
            <a:r>
              <a:rPr kumimoji="0" sz="2800" b="1" i="0" u="none" strike="noStrike" kern="1200" cap="none" spc="-2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database.</a:t>
            </a:r>
          </a:p>
          <a:p>
            <a:pPr marL="287020" marR="0" lvl="0" indent="-261620" algn="l" defTabSz="1828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4717"/>
              </a:buClr>
              <a:buSzPct val="85714"/>
              <a:buFontTx/>
              <a:buChar char=""/>
              <a:tabLst>
                <a:tab pos="288290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 the other hand,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write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operations of a</a:t>
            </a:r>
            <a:r>
              <a:rPr kumimoji="0" sz="2800" b="0" i="0" u="none" strike="noStrike" kern="1200" cap="none" spc="-3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committed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0" lvl="0" indent="0" algn="l" defTabSz="18288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 must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eventually written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</a:t>
            </a:r>
            <a:r>
              <a:rPr kumimoji="0" sz="28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disk.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0" lvl="0" indent="0" algn="l" defTabSz="18288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/>
                <a:cs typeface="Arial"/>
              </a:rPr>
              <a:t>Similar conditions apply to the cloud operator – responsible for atomicity of recovery subsystem.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3975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772" y="554988"/>
            <a:ext cx="8959850" cy="45653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400" algn="ctr">
              <a:spcBef>
                <a:spcPts val="200"/>
              </a:spcBef>
            </a:pPr>
            <a:r>
              <a:rPr lang="en-US" sz="2800" b="1" spc="-10" dirty="0">
                <a:solidFill>
                  <a:srgbClr val="000000"/>
                </a:solidFill>
              </a:rPr>
              <a:t>Details: </a:t>
            </a:r>
            <a:r>
              <a:rPr sz="2800" b="1" u="sng" spc="-10" dirty="0">
                <a:solidFill>
                  <a:srgbClr val="000000"/>
                </a:solidFill>
              </a:rPr>
              <a:t>C</a:t>
            </a:r>
            <a:r>
              <a:rPr sz="2800" b="1" spc="-10" dirty="0">
                <a:solidFill>
                  <a:srgbClr val="000000"/>
                </a:solidFill>
              </a:rPr>
              <a:t>onsistency</a:t>
            </a:r>
            <a:r>
              <a:rPr sz="2800" b="1" spc="-110" dirty="0">
                <a:solidFill>
                  <a:srgbClr val="000000"/>
                </a:solidFill>
              </a:rPr>
              <a:t> </a:t>
            </a:r>
            <a:r>
              <a:rPr sz="2800" b="1" spc="-10" dirty="0">
                <a:solidFill>
                  <a:srgbClr val="000000"/>
                </a:solidFill>
              </a:rPr>
              <a:t>preservation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61773" y="1060349"/>
            <a:ext cx="8959850" cy="5456622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87020" marR="137160" lvl="0" indent="-261620" algn="l" defTabSz="1828800" rtl="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>
                <a:srgbClr val="D24717"/>
              </a:buClr>
              <a:buSzPct val="84615"/>
              <a:buFontTx/>
              <a:buChar char=""/>
              <a:tabLst>
                <a:tab pos="288290" algn="l"/>
              </a:tabLst>
              <a:defRPr/>
            </a:pP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preservation of </a:t>
            </a:r>
            <a:r>
              <a:rPr kumimoji="0" sz="2600" b="1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consistency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generally considered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</a:t>
            </a:r>
            <a:r>
              <a:rPr kumimoji="0" sz="26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 the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responsibility of the programmers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who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write the 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database programs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 of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DBMS module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enforces  integrity</a:t>
            </a:r>
            <a:r>
              <a:rPr kumimoji="0" sz="2600" b="1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constraints.</a:t>
            </a:r>
            <a:endParaRPr kumimoji="0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10160" lvl="0" indent="-261620" algn="l" defTabSz="1828800" rtl="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D24717"/>
              </a:buClr>
              <a:buSzPct val="84615"/>
              <a:buFontTx/>
              <a:buChar char=""/>
              <a:tabLst>
                <a:tab pos="28829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database state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a collection of all the stored data </a:t>
            </a:r>
            <a:r>
              <a:rPr kumimoji="0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items</a:t>
            </a:r>
            <a:r>
              <a:rPr kumimoji="0" sz="2600" b="0" i="0" u="none" strike="noStrike" kern="1200" cap="none" spc="-40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(values) in the database at a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given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point in</a:t>
            </a:r>
            <a:r>
              <a:rPr kumimoji="0" sz="2600" b="0" i="0" u="none" strike="noStrike" kern="1200" cap="none" spc="3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time.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492758" lvl="0" indent="-261620" algn="l" defTabSz="1828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4717"/>
              </a:buClr>
              <a:buSzPct val="84615"/>
              <a:buFontTx/>
              <a:buChar char=""/>
              <a:tabLst>
                <a:tab pos="28829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consistent state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the database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satisfies the  constraints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specified in the </a:t>
            </a:r>
            <a:r>
              <a:rPr kumimoji="0" sz="26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schema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well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as any other  constraints on the database that should</a:t>
            </a:r>
            <a:r>
              <a:rPr kumimoji="0" sz="2600" b="0" i="0" u="none" strike="noStrike" kern="1200" cap="none" spc="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hold.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387350" lvl="0" indent="-261620" algn="l" defTabSz="1828800" rtl="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D24717"/>
              </a:buClr>
              <a:buSzPct val="84615"/>
              <a:buFontTx/>
              <a:buChar char=""/>
              <a:tabLst>
                <a:tab pos="288290" algn="l"/>
              </a:tabLst>
              <a:defRPr/>
            </a:pP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database program should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 written in a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way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that  guarantees that, if the database is in a consistent state  before executing the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transaction,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will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 in a </a:t>
            </a:r>
            <a:r>
              <a:rPr kumimoji="0" sz="26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consistent 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state after the </a:t>
            </a:r>
            <a:r>
              <a:rPr kumimoji="0" sz="2600" b="0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complete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execution of the</a:t>
            </a:r>
            <a:r>
              <a:rPr kumimoji="0" sz="2600" b="0" i="0" u="none" strike="noStrike" kern="1200" cap="none" spc="3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6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</a:t>
            </a:r>
            <a:endParaRPr kumimoji="0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231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536" y="482580"/>
            <a:ext cx="8486140" cy="6332696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5400" marR="0" lvl="0" indent="0" algn="ctr" defTabSz="1828800" rtl="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Details: </a:t>
            </a:r>
            <a:r>
              <a:rPr kumimoji="0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solation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0" lvl="0" indent="-261620" algn="l" defTabSz="1828800" rtl="0" eaLnBrk="1" fontAlgn="auto" latinLnBrk="0" hangingPunct="1">
              <a:lnSpc>
                <a:spcPts val="2830"/>
              </a:lnSpc>
              <a:spcBef>
                <a:spcPts val="530"/>
              </a:spcBef>
              <a:spcAft>
                <a:spcPts val="0"/>
              </a:spcAft>
              <a:buClr>
                <a:srgbClr val="D24717"/>
              </a:buClr>
              <a:buSzPct val="83333"/>
              <a:buFontTx/>
              <a:buChar char=""/>
              <a:tabLst>
                <a:tab pos="28829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isolation property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enforced by the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concurrency</a:t>
            </a:r>
            <a:r>
              <a:rPr kumimoji="0" sz="2400" b="0" i="1" u="none" strike="noStrike" kern="1200" cap="none" spc="-40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control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0" lvl="0" indent="0" algn="l" defTabSz="1828800" rtl="0" eaLnBrk="1" fontAlgn="auto" latinLnBrk="0" hangingPunct="1">
              <a:lnSpc>
                <a:spcPts val="28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subsystem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the</a:t>
            </a:r>
            <a:r>
              <a:rPr kumimoji="0" sz="24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DBMS.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– similarly cloud provider is responsible for isolation.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39370" lvl="0" indent="-261620" algn="l" defTabSz="1828800" rtl="0" eaLnBrk="1" fontAlgn="auto" latinLnBrk="0" hangingPunct="1">
              <a:lnSpc>
                <a:spcPct val="97300"/>
              </a:lnSpc>
              <a:spcBef>
                <a:spcPts val="600"/>
              </a:spcBef>
              <a:spcAft>
                <a:spcPts val="0"/>
              </a:spcAft>
              <a:buClr>
                <a:srgbClr val="D24717"/>
              </a:buClr>
              <a:buSzPct val="83333"/>
              <a:buFontTx/>
              <a:buChar char=""/>
              <a:tabLst>
                <a:tab pos="373380" algn="l"/>
              </a:tabLst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If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every transaction does not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make its updates </a:t>
            </a:r>
            <a:r>
              <a:rPr kumimoji="0" sz="22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(write 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operations) visible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other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transactions until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it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committed, 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form of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isolation is enforced</a:t>
            </a:r>
            <a:r>
              <a:rPr kumimoji="0" lang="en-US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: one that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solves the temporary  update problem and eliminates cascading rollbacks but does  not eliminate all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other</a:t>
            </a:r>
            <a:r>
              <a:rPr kumimoji="0" sz="22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problems.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0" lvl="0" indent="-261620" algn="l" defTabSz="1828800" rtl="0" eaLnBrk="1" fontAlgn="auto" latinLnBrk="0" hangingPunct="1">
              <a:lnSpc>
                <a:spcPts val="2850"/>
              </a:lnSpc>
              <a:spcBef>
                <a:spcPts val="508"/>
              </a:spcBef>
              <a:spcAft>
                <a:spcPts val="0"/>
              </a:spcAft>
              <a:buClr>
                <a:srgbClr val="D24717"/>
              </a:buClr>
              <a:buSzPct val="83333"/>
              <a:buFontTx/>
              <a:buChar char=""/>
              <a:tabLst>
                <a:tab pos="288290" algn="l"/>
              </a:tabLst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There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have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been attempts to define the </a:t>
            </a:r>
            <a:r>
              <a:rPr kumimoji="0" sz="22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level </a:t>
            </a: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isolation</a:t>
            </a:r>
            <a:r>
              <a:rPr kumimoji="0" sz="2200" b="1" i="0" u="none" strike="noStrike" kern="1200" cap="none" spc="-3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</a:t>
            </a:r>
          </a:p>
          <a:p>
            <a:pPr marL="287020" marR="0" lvl="0" indent="0" algn="l" defTabSz="18288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r>
              <a:rPr kumimoji="0" sz="2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transaction.</a:t>
            </a:r>
          </a:p>
          <a:p>
            <a:pPr marL="287020" marR="0" lvl="0" indent="-261620" algn="l" defTabSz="1828800" rtl="0" eaLnBrk="1" fontAlgn="auto" latinLnBrk="0" hangingPunct="1">
              <a:lnSpc>
                <a:spcPts val="2830"/>
              </a:lnSpc>
              <a:spcBef>
                <a:spcPts val="520"/>
              </a:spcBef>
              <a:spcAft>
                <a:spcPts val="0"/>
              </a:spcAft>
              <a:buClr>
                <a:srgbClr val="D24717"/>
              </a:buClr>
              <a:buSzPct val="83333"/>
              <a:buFontTx/>
              <a:buChar char=""/>
              <a:tabLst>
                <a:tab pos="288290" algn="l"/>
              </a:tabLst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 is said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have level 0 (zero) isolation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if it</a:t>
            </a:r>
            <a:r>
              <a:rPr kumimoji="0" sz="2200" b="0" i="0" u="none" strike="noStrike" kern="1200" cap="none" spc="-9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does</a:t>
            </a:r>
          </a:p>
          <a:p>
            <a:pPr marL="287020" marR="0" lvl="0" indent="0" algn="l" defTabSz="1828800" rtl="0" eaLnBrk="1" fontAlgn="auto" latinLnBrk="0" hangingPunct="1">
              <a:lnSpc>
                <a:spcPts val="28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not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overwrite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dirty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reads of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higher-level</a:t>
            </a:r>
            <a:r>
              <a:rPr kumimoji="0" sz="2200" b="0" i="0" u="none" strike="noStrike" kern="1200" cap="none" spc="-12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transactions.</a:t>
            </a:r>
          </a:p>
          <a:p>
            <a:pPr marL="287020" marR="10160" lvl="0" indent="-261620" algn="l" defTabSz="1828800" rtl="0" eaLnBrk="1" fontAlgn="auto" latinLnBrk="0" hangingPunct="1">
              <a:lnSpc>
                <a:spcPct val="97100"/>
              </a:lnSpc>
              <a:spcBef>
                <a:spcPts val="620"/>
              </a:spcBef>
              <a:spcAft>
                <a:spcPts val="0"/>
              </a:spcAft>
              <a:buClr>
                <a:srgbClr val="D24717"/>
              </a:buClr>
              <a:buSzPct val="83333"/>
              <a:buFontTx/>
              <a:buChar char=""/>
              <a:tabLst>
                <a:tab pos="288290" algn="l"/>
              </a:tabLst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Level 1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(one)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isolation has no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lost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updates, and level 2  isolation has no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lost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updates and no dirty reads. </a:t>
            </a:r>
            <a:r>
              <a:rPr kumimoji="0" sz="2200" b="0" i="0" u="none" strike="noStrike" kern="1200" cap="none" spc="-3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Finally,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level 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3 isolation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(also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called </a:t>
            </a:r>
            <a:r>
              <a:rPr kumimoji="0" sz="2200" b="0" i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true isolation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) has, in addition to</a:t>
            </a:r>
            <a:r>
              <a:rPr kumimoji="0" sz="2200" b="0" i="0" u="none" strike="noStrike" kern="1200" cap="none" spc="-38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level</a:t>
            </a:r>
            <a:r>
              <a:rPr kumimoji="0" lang="en-US" sz="2200" b="0" i="0" u="none" strike="noStrike" kern="1200" cap="none" spc="-1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 properties, repeatable reads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8223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537" y="480744"/>
            <a:ext cx="8413750" cy="2840521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5400" marR="0" lvl="0" indent="0" algn="ctr" defTabSz="1828800" rtl="0" eaLnBrk="1" fontAlgn="auto" latinLnBrk="0" hangingPunct="1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Details: </a:t>
            </a:r>
            <a:r>
              <a:rPr kumimoji="0" sz="2800" b="1" i="0" u="sng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urability or</a:t>
            </a:r>
            <a:r>
              <a:rPr kumimoji="0" sz="28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permanency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0" lvl="0" indent="-261620" algn="l" defTabSz="1828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4717"/>
              </a:buClr>
              <a:buSzPct val="85714"/>
              <a:buFontTx/>
              <a:buChar char=""/>
              <a:tabLst>
                <a:tab pos="288290" algn="l"/>
              </a:tabLst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durability property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is the responsibility of</a:t>
            </a:r>
            <a:r>
              <a:rPr kumimoji="0" sz="2800" b="1" i="0" u="none" strike="noStrike" kern="1200" cap="none" spc="-40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the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recovery </a:t>
            </a:r>
            <a:r>
              <a:rPr kumimoji="0" sz="2800" b="1" i="1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subsystem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of the</a:t>
            </a:r>
            <a:r>
              <a:rPr kumimoji="0" sz="2800" b="1" i="0" u="none" strike="noStrike" kern="1200" cap="none" spc="-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DBMS.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87020" marR="10160" lvl="0" indent="-261620" algn="l" defTabSz="18288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D24717"/>
              </a:buClr>
              <a:buSzPct val="82142"/>
              <a:buFontTx/>
              <a:buChar char=""/>
              <a:tabLst>
                <a:tab pos="288290" algn="l"/>
              </a:tabLst>
              <a:defRPr/>
            </a:pP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Recovery systems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take care of the changes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made 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 database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must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not be lost because of any</a:t>
            </a:r>
            <a:r>
              <a:rPr kumimoji="0" sz="2800" b="1" i="0" u="none" strike="noStrike" kern="1200" cap="none" spc="-458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failure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3246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ext Box 1"/>
          <p:cNvSpPr txBox="1">
            <a:spLocks noChangeArrowheads="1"/>
          </p:cNvSpPr>
          <p:nvPr/>
        </p:nvSpPr>
        <p:spPr bwMode="auto">
          <a:xfrm>
            <a:off x="1066800" y="1524000"/>
            <a:ext cx="7162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211" tIns="45605" rIns="91211" bIns="45605" anchor="ctr" anchorCtr="1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1645"/>
                </a:solidFill>
                <a:effectLst/>
                <a:uLnTx/>
                <a:uFillTx/>
                <a:latin typeface="Calibri" charset="0"/>
                <a:ea typeface="ＭＳ Ｐゴシック" charset="0"/>
              </a:rPr>
              <a:t>Remus: High Availability with 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1645"/>
                </a:solidFill>
                <a:effectLst/>
                <a:uLnTx/>
                <a:uFillTx/>
                <a:latin typeface="Calibri" charset="0"/>
                <a:ea typeface="ＭＳ Ｐゴシック" charset="0"/>
              </a:rPr>
            </a:b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61645"/>
                </a:solidFill>
                <a:effectLst/>
                <a:uLnTx/>
                <a:uFillTx/>
                <a:latin typeface="Calibri" charset="0"/>
                <a:ea typeface="ＭＳ Ｐゴシック" charset="0"/>
              </a:rPr>
              <a:t>VM Replication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61645"/>
              </a:solidFill>
              <a:effectLst/>
              <a:uLnTx/>
              <a:uFillTx/>
              <a:latin typeface="Calibri" charset="0"/>
              <a:ea typeface="ＭＳ Ｐゴシック" charset="0"/>
            </a:endParaRPr>
          </a:p>
        </p:txBody>
      </p:sp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0" y="3962400"/>
            <a:ext cx="9129386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211" tIns="45605" rIns="91211" bIns="45605" anchor="ctr" anchorCtr="1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456053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1645"/>
                </a:solidFill>
                <a:effectLst/>
                <a:uLnTx/>
                <a:uFillTx/>
                <a:latin typeface="Calibri" charset="0"/>
                <a:ea typeface="ＭＳ Ｐゴシック" charset="0"/>
              </a:rPr>
              <a:t>Paper:</a:t>
            </a:r>
          </a:p>
          <a:p>
            <a:pPr marL="0" marR="0" lvl="0" indent="0" algn="ctr" defTabSz="456053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61645"/>
                </a:solidFill>
                <a:effectLst/>
                <a:uLnTx/>
                <a:uFillTx/>
                <a:latin typeface="Calibri" charset="0"/>
                <a:ea typeface="ＭＳ Ｐゴシック" charset="0"/>
              </a:rPr>
              <a:t>Remus: High Availability via Asynchronous Virtual Machine Replication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1645"/>
                </a:solidFill>
                <a:effectLst/>
                <a:uLnTx/>
                <a:uFillTx/>
                <a:latin typeface="Calibri" charset="0"/>
                <a:ea typeface="ＭＳ Ｐゴシック" charset="0"/>
              </a:rPr>
              <a:t>Brendan Cully, Geoffrey Lefebvre, Dutch Meyer, Mike Feeley, Norm Hutchinson, Andrew Warfield (best paper, NSDI 2008)</a:t>
            </a:r>
          </a:p>
          <a:p>
            <a:pPr marL="0" marR="0" lvl="0" indent="0" algn="ctr" defTabSz="456053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61645"/>
                </a:solidFill>
                <a:effectLst/>
                <a:uLnTx/>
                <a:uFillTx/>
                <a:latin typeface="Calibri" charset="0"/>
                <a:ea typeface="ＭＳ Ｐゴシック" charset="0"/>
              </a:rPr>
              <a:t>Some slides based on those originally created by Jeff Chase, Duke University</a:t>
            </a:r>
          </a:p>
        </p:txBody>
      </p:sp>
    </p:spTree>
    <p:extLst>
      <p:ext uri="{BB962C8B-B14F-4D97-AF65-F5344CB8AC3E}">
        <p14:creationId xmlns:p14="http://schemas.microsoft.com/office/powerpoint/2010/main" val="395988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457200" y="209866"/>
            <a:ext cx="8226425" cy="629822"/>
          </a:xfrm>
        </p:spPr>
        <p:txBody>
          <a:bodyPr/>
          <a:lstStyle/>
          <a:p>
            <a:pPr algn="ctr"/>
            <a:r>
              <a:rPr lang="en-US" sz="3600" dirty="0">
                <a:latin typeface="Arial" charset="0"/>
                <a:ea typeface="ＭＳ Ｐゴシック" charset="0"/>
                <a:cs typeface="Arial" charset="0"/>
              </a:rPr>
              <a:t>Recall: virtual machines (VMs)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2819400"/>
          </a:xfrm>
        </p:spPr>
        <p:txBody>
          <a:bodyPr/>
          <a:lstStyle/>
          <a:p>
            <a:r>
              <a:rPr lang="en-US" sz="2400" b="0" dirty="0">
                <a:latin typeface="Arial" charset="0"/>
                <a:ea typeface="ＭＳ Ｐゴシック" charset="0"/>
                <a:cs typeface="Arial" charset="0"/>
              </a:rPr>
              <a:t>Each guest VM runs a complete OS instance over an isolated “sliver” of host physical memory.</a:t>
            </a:r>
          </a:p>
          <a:p>
            <a:r>
              <a:rPr lang="en-US" sz="2400" b="0" dirty="0">
                <a:latin typeface="Arial" charset="0"/>
                <a:ea typeface="ＭＳ Ｐゴシック" charset="0"/>
                <a:cs typeface="Arial" charset="0"/>
              </a:rPr>
              <a:t>Hypervisors support </a:t>
            </a:r>
            <a:r>
              <a:rPr lang="en-US" sz="2400" dirty="0">
                <a:latin typeface="Arial" charset="0"/>
                <a:ea typeface="ＭＳ Ｐゴシック" charset="0"/>
                <a:cs typeface="Arial" charset="0"/>
              </a:rPr>
              <a:t>migration</a:t>
            </a:r>
            <a:r>
              <a:rPr lang="en-US" sz="2400" b="0" dirty="0">
                <a:latin typeface="Arial" charset="0"/>
                <a:ea typeface="ＭＳ Ｐゴシック" charset="0"/>
                <a:cs typeface="Arial" charset="0"/>
              </a:rPr>
              <a:t> and </a:t>
            </a:r>
            <a:r>
              <a:rPr lang="en-US" sz="2400" dirty="0">
                <a:latin typeface="Arial" charset="0"/>
                <a:ea typeface="ＭＳ Ｐゴシック" charset="0"/>
                <a:cs typeface="Arial" charset="0"/>
              </a:rPr>
              <a:t>suspend/resume</a:t>
            </a:r>
            <a:r>
              <a:rPr lang="en-US" sz="2400" b="0" dirty="0">
                <a:latin typeface="Arial" charset="0"/>
                <a:ea typeface="ＭＳ Ｐゴシック" charset="0"/>
                <a:cs typeface="Arial" charset="0"/>
              </a:rPr>
              <a:t>.</a:t>
            </a:r>
          </a:p>
          <a:p>
            <a:pPr lvl="1"/>
            <a:r>
              <a:rPr lang="en-US" sz="2000" b="0" dirty="0">
                <a:latin typeface="Arial" charset="0"/>
                <a:ea typeface="ＭＳ Ｐゴシック" charset="0"/>
                <a:cs typeface="Arial" charset="0"/>
              </a:rPr>
              <a:t>Both operations require an </a:t>
            </a:r>
            <a:r>
              <a:rPr lang="en-US" sz="2000" i="1" dirty="0">
                <a:latin typeface="Arial" charset="0"/>
                <a:ea typeface="ＭＳ Ｐゴシック" charset="0"/>
                <a:cs typeface="Arial" charset="0"/>
              </a:rPr>
              <a:t>atomic</a:t>
            </a:r>
            <a:r>
              <a:rPr lang="en-US" sz="2000" dirty="0">
                <a:latin typeface="Arial" charset="0"/>
                <a:ea typeface="ＭＳ Ｐゴシック" charset="0"/>
                <a:cs typeface="Arial" charset="0"/>
              </a:rPr>
              <a:t> snapshot (checkpoint) </a:t>
            </a:r>
            <a:r>
              <a:rPr lang="en-US" sz="2000" b="0" dirty="0">
                <a:latin typeface="Arial" charset="0"/>
                <a:ea typeface="ＭＳ Ｐゴシック" charset="0"/>
                <a:cs typeface="Arial" charset="0"/>
              </a:rPr>
              <a:t>of VM memory state and register contexts.</a:t>
            </a:r>
          </a:p>
          <a:p>
            <a:pPr lvl="1"/>
            <a:r>
              <a:rPr lang="en-US" sz="2000" b="0" dirty="0">
                <a:latin typeface="Arial" charset="0"/>
                <a:ea typeface="ＭＳ Ｐゴシック" charset="0"/>
                <a:cs typeface="Arial" charset="0"/>
              </a:rPr>
              <a:t>Capture modified pages and write them to snapshot.</a:t>
            </a:r>
          </a:p>
        </p:txBody>
      </p:sp>
      <p:sp>
        <p:nvSpPr>
          <p:cNvPr id="51208" name="AutoShape 10"/>
          <p:cNvSpPr>
            <a:spLocks noChangeArrowheads="1"/>
          </p:cNvSpPr>
          <p:nvPr/>
        </p:nvSpPr>
        <p:spPr bwMode="auto">
          <a:xfrm>
            <a:off x="1219200" y="6121400"/>
            <a:ext cx="2133600" cy="431800"/>
          </a:xfrm>
          <a:prstGeom prst="flowChartProcess">
            <a:avLst/>
          </a:prstGeom>
          <a:solidFill>
            <a:srgbClr val="99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ＭＳ Ｐゴシック" charset="0"/>
              <a:cs typeface="Arial" pitchFamily="-111" charset="-52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219200" y="4572000"/>
            <a:ext cx="2111375" cy="139382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439863" y="4721225"/>
            <a:ext cx="442912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1216" name="AutoShape 10"/>
          <p:cNvSpPr>
            <a:spLocks noChangeArrowheads="1"/>
          </p:cNvSpPr>
          <p:nvPr/>
        </p:nvSpPr>
        <p:spPr bwMode="auto">
          <a:xfrm>
            <a:off x="1439863" y="5407025"/>
            <a:ext cx="1662112" cy="431800"/>
          </a:xfrm>
          <a:prstGeom prst="flowChartProcess">
            <a:avLst/>
          </a:prstGeom>
          <a:solidFill>
            <a:srgbClr val="99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ＭＳ Ｐゴシック" charset="0"/>
              <a:cs typeface="Arial" pitchFamily="-111" charset="-52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049463" y="4721225"/>
            <a:ext cx="442912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2659063" y="4721225"/>
            <a:ext cx="442912" cy="609600"/>
          </a:xfrm>
          <a:prstGeom prst="rect">
            <a:avLst/>
          </a:prstGeom>
          <a:solidFill>
            <a:schemeClr val="bg1">
              <a:lumMod val="50000"/>
            </a:schemeClr>
          </a:solidFill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1219200" y="6172200"/>
            <a:ext cx="213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64D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hypervisor (VMM)</a:t>
            </a: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228600" y="6096000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64D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host</a:t>
            </a:r>
          </a:p>
        </p:txBody>
      </p:sp>
      <p:sp>
        <p:nvSpPr>
          <p:cNvPr id="22" name="Text Box 18"/>
          <p:cNvSpPr txBox="1">
            <a:spLocks noChangeArrowheads="1"/>
          </p:cNvSpPr>
          <p:nvPr/>
        </p:nvSpPr>
        <p:spPr bwMode="auto">
          <a:xfrm>
            <a:off x="76200" y="5029200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64D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guest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1524000" y="5410200"/>
            <a:ext cx="1600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64D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guest kernel</a:t>
            </a:r>
          </a:p>
        </p:txBody>
      </p:sp>
    </p:spTree>
    <p:extLst>
      <p:ext uri="{BB962C8B-B14F-4D97-AF65-F5344CB8AC3E}">
        <p14:creationId xmlns:p14="http://schemas.microsoft.com/office/powerpoint/2010/main" val="2395406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9882"/>
            <a:ext cx="8226425" cy="1034556"/>
          </a:xfrm>
        </p:spPr>
        <p:txBody>
          <a:bodyPr/>
          <a:lstStyle/>
          <a:p>
            <a:pPr algn="ctr"/>
            <a:r>
              <a:rPr lang="en-US" dirty="0"/>
              <a:t>Remus checkpoints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3187"/>
            <a:ext cx="8226425" cy="4111625"/>
          </a:xfrm>
        </p:spPr>
        <p:txBody>
          <a:bodyPr/>
          <a:lstStyle/>
          <a:p>
            <a:r>
              <a:rPr lang="en-US" sz="2400" b="0" dirty="0"/>
              <a:t>Snapshot the VM, but don’t suspend it </a:t>
            </a:r>
            <a:r>
              <a:rPr lang="en-US" sz="2000" b="0" dirty="0"/>
              <a:t>(? I question the ‘don’t suspend’ part – really means suspend for a short period, and don’t wait for synch. transfer</a:t>
            </a:r>
            <a:r>
              <a:rPr lang="en-US" sz="2400" b="0" dirty="0"/>
              <a:t>).</a:t>
            </a:r>
          </a:p>
          <a:p>
            <a:pPr lvl="1"/>
            <a:r>
              <a:rPr lang="en-US" sz="2000" b="0" dirty="0"/>
              <a:t>Snapshot periodically as VM executes.</a:t>
            </a:r>
          </a:p>
          <a:p>
            <a:pPr lvl="1"/>
            <a:r>
              <a:rPr lang="en-US" sz="2000" b="0" dirty="0"/>
              <a:t>Snapshot concurrently: keep running while snapshot is in progress.</a:t>
            </a:r>
          </a:p>
          <a:p>
            <a:r>
              <a:rPr lang="en-US" sz="2400" b="0" dirty="0"/>
              <a:t>Migrate the VM, but don’t start the remote copy.</a:t>
            </a:r>
          </a:p>
          <a:p>
            <a:pPr lvl="1"/>
            <a:r>
              <a:rPr lang="en-US" sz="2000" b="0" dirty="0"/>
              <a:t>Just load the snapshot on the remote host.</a:t>
            </a:r>
          </a:p>
          <a:p>
            <a:pPr lvl="1"/>
            <a:r>
              <a:rPr lang="en-US" sz="2000" b="0" dirty="0"/>
              <a:t>Transmit “live” incremental checkpoints over the network.</a:t>
            </a:r>
          </a:p>
          <a:p>
            <a:pPr lvl="1"/>
            <a:r>
              <a:rPr lang="en-US" sz="2000" b="0" dirty="0"/>
              <a:t>Update the remote snapshot/copy/instance in place.</a:t>
            </a:r>
          </a:p>
          <a:p>
            <a:pPr lvl="1"/>
            <a:r>
              <a:rPr lang="en-US" sz="2000" b="0" dirty="0"/>
              <a:t>Remote host is a </a:t>
            </a:r>
            <a:r>
              <a:rPr lang="en-US" sz="2000" dirty="0"/>
              <a:t>warm standby </a:t>
            </a:r>
            <a:r>
              <a:rPr lang="en-US" sz="2000" b="0" dirty="0"/>
              <a:t>or </a:t>
            </a:r>
            <a:r>
              <a:rPr lang="en-US" sz="2000" dirty="0"/>
              <a:t>backup replica</a:t>
            </a:r>
            <a:r>
              <a:rPr lang="en-US" sz="2000" b="0" dirty="0"/>
              <a:t>.</a:t>
            </a:r>
          </a:p>
          <a:p>
            <a:r>
              <a:rPr lang="en-US" sz="2400" b="0" dirty="0"/>
              <a:t>All checkpoints (need to be) are </a:t>
            </a:r>
            <a:r>
              <a:rPr lang="en-US" sz="2400" dirty="0"/>
              <a:t>atomic</a:t>
            </a:r>
            <a:r>
              <a:rPr lang="en-US" sz="2400" b="0" dirty="0"/>
              <a:t>: they capture a point in time.</a:t>
            </a:r>
          </a:p>
          <a:p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147932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Remus Checkpoints</a:t>
            </a:r>
            <a:endParaRPr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534400" cy="2271633"/>
          </a:xfrm>
        </p:spPr>
        <p:txBody>
          <a:bodyPr/>
          <a:lstStyle/>
          <a:p>
            <a:r>
              <a:rPr lang="en-CA" sz="2400" dirty="0"/>
              <a:t>Remus divides time into </a:t>
            </a:r>
            <a:r>
              <a:rPr lang="en-CA" sz="2400" b="1" i="1" dirty="0">
                <a:solidFill>
                  <a:srgbClr val="FF0000"/>
                </a:solidFill>
              </a:rPr>
              <a:t>epochs</a:t>
            </a:r>
            <a:r>
              <a:rPr lang="en-CA" sz="2400" dirty="0"/>
              <a:t> (~25ms)</a:t>
            </a:r>
          </a:p>
          <a:p>
            <a:r>
              <a:rPr lang="en-CA" sz="2400" dirty="0"/>
              <a:t>Performs a </a:t>
            </a:r>
            <a:r>
              <a:rPr lang="en-CA" sz="2400" b="1" i="1" dirty="0">
                <a:solidFill>
                  <a:srgbClr val="FF0000"/>
                </a:solidFill>
              </a:rPr>
              <a:t>checkpoint</a:t>
            </a:r>
            <a:r>
              <a:rPr lang="en-CA" sz="2400" dirty="0">
                <a:solidFill>
                  <a:srgbClr val="0000FF"/>
                </a:solidFill>
              </a:rPr>
              <a:t> </a:t>
            </a:r>
            <a:r>
              <a:rPr lang="en-CA" sz="2400" dirty="0"/>
              <a:t>at the end of each epoch</a:t>
            </a:r>
            <a:br>
              <a:rPr lang="en-CA" sz="2400" dirty="0"/>
            </a:br>
            <a:r>
              <a:rPr lang="en-CA" sz="2000" dirty="0"/>
              <a:t>1. Suspend primary VM</a:t>
            </a:r>
            <a:br>
              <a:rPr lang="en-CA" sz="2000" dirty="0"/>
            </a:br>
            <a:r>
              <a:rPr lang="en-CA" sz="2000" dirty="0"/>
              <a:t>2. Copy all state changes to a buffer in </a:t>
            </a:r>
            <a:r>
              <a:rPr lang="en-CA" sz="2000" b="1" i="1" dirty="0">
                <a:solidFill>
                  <a:srgbClr val="FF0000"/>
                </a:solidFill>
              </a:rPr>
              <a:t>Domain 0</a:t>
            </a:r>
            <a:br>
              <a:rPr lang="en-CA" sz="2000" dirty="0"/>
            </a:br>
            <a:r>
              <a:rPr lang="en-CA" sz="2000" dirty="0"/>
              <a:t>3. Resume primary VM</a:t>
            </a:r>
            <a:br>
              <a:rPr lang="en-CA" sz="2000" dirty="0"/>
            </a:br>
            <a:r>
              <a:rPr lang="en-CA" sz="2000" dirty="0"/>
              <a:t>4. Send asynchronous message to backup containing state changes</a:t>
            </a:r>
            <a:br>
              <a:rPr lang="en-CA" sz="2000" dirty="0"/>
            </a:br>
            <a:r>
              <a:rPr lang="en-CA" sz="2000" dirty="0"/>
              <a:t>5. Backup VM applies state changes</a:t>
            </a:r>
            <a:endParaRPr lang="en-CA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F69FBC-8F50-460E-8AB7-1828ED94614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ＭＳ Ｐゴシック" charset="0"/>
                <a:cs typeface="Times New Roman" pitchFamily="18" charset="0"/>
              </a:rPr>
              <a:pPr marL="0" marR="0" lvl="0" indent="0" algn="r" defTabSz="4560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ＭＳ Ｐゴシック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81400" y="4292025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Periodic Checkpoints</a:t>
            </a:r>
            <a:br>
              <a:rPr kumimoji="0" lang="en-CA" sz="16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</a:br>
            <a:r>
              <a:rPr kumimoji="0" lang="en-CA" sz="16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(Changes to VM State)</a:t>
            </a:r>
          </a:p>
        </p:txBody>
      </p:sp>
      <p:pic>
        <p:nvPicPr>
          <p:cNvPr id="10" name="Picture 2" descr="MCj0431637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500" y="5448300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Line 42"/>
          <p:cNvSpPr>
            <a:spLocks noChangeShapeType="1"/>
          </p:cNvSpPr>
          <p:nvPr/>
        </p:nvSpPr>
        <p:spPr bwMode="auto">
          <a:xfrm>
            <a:off x="2209800" y="5257800"/>
            <a:ext cx="1" cy="265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med" len="lg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5638800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Primary Server</a:t>
            </a:r>
          </a:p>
        </p:txBody>
      </p:sp>
      <p:cxnSp>
        <p:nvCxnSpPr>
          <p:cNvPr id="13" name="Straight Arrow Connector 12"/>
          <p:cNvCxnSpPr>
            <a:stCxn id="27" idx="3"/>
            <a:endCxn id="32" idx="1"/>
          </p:cNvCxnSpPr>
          <p:nvPr/>
        </p:nvCxnSpPr>
        <p:spPr bwMode="auto">
          <a:xfrm flipV="1">
            <a:off x="3352800" y="4610100"/>
            <a:ext cx="2819400" cy="1"/>
          </a:xfrm>
          <a:prstGeom prst="straightConnector1">
            <a:avLst/>
          </a:prstGeom>
          <a:noFill/>
          <a:ln w="317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</p:cxnSp>
      <p:sp>
        <p:nvSpPr>
          <p:cNvPr id="27" name="Rounded Rectangle 26"/>
          <p:cNvSpPr/>
          <p:nvPr/>
        </p:nvSpPr>
        <p:spPr bwMode="auto">
          <a:xfrm>
            <a:off x="2285999" y="4267201"/>
            <a:ext cx="1066801" cy="685799"/>
          </a:xfrm>
          <a:prstGeom prst="round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Domain 0</a:t>
            </a:r>
          </a:p>
        </p:txBody>
      </p:sp>
      <p:pic>
        <p:nvPicPr>
          <p:cNvPr id="29" name="Picture 2" descr="MCj0431637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0" y="5448300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Line 42"/>
          <p:cNvSpPr>
            <a:spLocks noChangeShapeType="1"/>
          </p:cNvSpPr>
          <p:nvPr/>
        </p:nvSpPr>
        <p:spPr bwMode="auto">
          <a:xfrm>
            <a:off x="7353300" y="5257800"/>
            <a:ext cx="1" cy="26577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med" len="lg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34300" y="5638800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Backup</a:t>
            </a:r>
            <a:b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</a:b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Server</a:t>
            </a:r>
          </a:p>
        </p:txBody>
      </p:sp>
      <p:sp>
        <p:nvSpPr>
          <p:cNvPr id="32" name="Rounded Rectangle 31"/>
          <p:cNvSpPr/>
          <p:nvPr/>
        </p:nvSpPr>
        <p:spPr bwMode="auto">
          <a:xfrm>
            <a:off x="6172200" y="4267200"/>
            <a:ext cx="1066801" cy="685800"/>
          </a:xfrm>
          <a:prstGeom prst="round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Domain 0</a:t>
            </a:r>
          </a:p>
        </p:txBody>
      </p:sp>
      <p:sp>
        <p:nvSpPr>
          <p:cNvPr id="37" name="Rounded Rectangle 36"/>
          <p:cNvSpPr/>
          <p:nvPr/>
        </p:nvSpPr>
        <p:spPr bwMode="auto">
          <a:xfrm>
            <a:off x="990600" y="4953000"/>
            <a:ext cx="2362200" cy="304799"/>
          </a:xfrm>
          <a:prstGeom prst="round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Xen VMM</a:t>
            </a:r>
          </a:p>
        </p:txBody>
      </p:sp>
      <p:sp>
        <p:nvSpPr>
          <p:cNvPr id="14" name="Rounded Rectangle 13"/>
          <p:cNvSpPr/>
          <p:nvPr/>
        </p:nvSpPr>
        <p:spPr bwMode="auto">
          <a:xfrm>
            <a:off x="1009650" y="4267201"/>
            <a:ext cx="1276350" cy="685799"/>
          </a:xfrm>
          <a:prstGeom prst="roundRect">
            <a:avLst/>
          </a:prstGeom>
          <a:noFill/>
          <a:ln w="317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Primary</a:t>
            </a:r>
            <a:b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</a:b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VM</a:t>
            </a:r>
          </a:p>
        </p:txBody>
      </p:sp>
      <p:sp>
        <p:nvSpPr>
          <p:cNvPr id="39" name="Rounded Rectangle 38"/>
          <p:cNvSpPr/>
          <p:nvPr/>
        </p:nvSpPr>
        <p:spPr bwMode="auto">
          <a:xfrm>
            <a:off x="6172200" y="4953000"/>
            <a:ext cx="2362200" cy="304799"/>
          </a:xfrm>
          <a:prstGeom prst="round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Xen VMM</a:t>
            </a:r>
          </a:p>
        </p:txBody>
      </p:sp>
      <p:sp>
        <p:nvSpPr>
          <p:cNvPr id="28" name="Rounded Rectangle 27"/>
          <p:cNvSpPr/>
          <p:nvPr/>
        </p:nvSpPr>
        <p:spPr bwMode="auto">
          <a:xfrm>
            <a:off x="7239000" y="4267200"/>
            <a:ext cx="1276350" cy="685800"/>
          </a:xfrm>
          <a:prstGeom prst="roundRect">
            <a:avLst/>
          </a:prstGeom>
          <a:noFill/>
          <a:ln w="317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Backup</a:t>
            </a:r>
            <a:b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</a:br>
            <a:r>
              <a:rPr kumimoji="0" lang="en-C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512123"/>
            <a:ext cx="256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[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Ashraf </a:t>
            </a:r>
            <a:r>
              <a:rPr kumimoji="0" lang="da-DK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Aboulnaga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 </a:t>
            </a:r>
            <a:r>
              <a:rPr kumimoji="0" lang="da-DK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RemusDB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1934"/>
              </a:solidFill>
              <a:effectLst/>
              <a:uLnTx/>
              <a:uFillTx/>
              <a:latin typeface="Arial" charset="0"/>
              <a:ea typeface="ＭＳ Ｐゴシック" charset="0"/>
              <a:cs typeface="Arial" pitchFamily="-111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17728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6600" y="2067858"/>
            <a:ext cx="228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Changes to VM State</a:t>
            </a:r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Transparent </a:t>
            </a:r>
            <a:r>
              <a:rPr lang="en-CA" dirty="0"/>
              <a:t>HA </a:t>
            </a:r>
            <a:r>
              <a:rPr dirty="0"/>
              <a:t>for DBMS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57200" y="4191000"/>
            <a:ext cx="8534400" cy="194020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 i="1" dirty="0" err="1">
                <a:solidFill>
                  <a:srgbClr val="FF0000"/>
                </a:solidFill>
                <a:latin typeface="Arial" charset="0"/>
                <a:cs typeface="Arial" charset="0"/>
              </a:rPr>
              <a:t>RemusDB</a:t>
            </a:r>
            <a:r>
              <a:rPr lang="en-US" sz="24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:</a:t>
            </a:r>
            <a:r>
              <a:rPr lang="en-US" sz="2400" dirty="0">
                <a:latin typeface="Arial" charset="0"/>
                <a:cs typeface="Arial" charset="0"/>
              </a:rPr>
              <a:t> efficient and transparent active/standby high availability for DBMS implemented in the virtualization layer</a:t>
            </a:r>
          </a:p>
          <a:p>
            <a:pPr lvl="1" eaLnBrk="1" hangingPunct="1">
              <a:lnSpc>
                <a:spcPct val="90000"/>
              </a:lnSpc>
            </a:pPr>
            <a:r>
              <a:rPr lang="en-CA" sz="2000" dirty="0"/>
              <a:t>Propagates all changes in VM state from primary to backup</a:t>
            </a:r>
            <a:endParaRPr lang="en-US" sz="2000" dirty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CA" sz="2000" dirty="0"/>
              <a:t>High availability with no code changes to the DBMS</a:t>
            </a:r>
            <a:endParaRPr lang="en-US" sz="2000" dirty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CA" sz="2000" dirty="0"/>
              <a:t>Completely transparent failover from primary to backup</a:t>
            </a:r>
          </a:p>
          <a:p>
            <a:pPr lvl="1" eaLnBrk="1" hangingPunct="1">
              <a:lnSpc>
                <a:spcPct val="90000"/>
              </a:lnSpc>
            </a:pPr>
            <a:r>
              <a:rPr lang="en-CA" sz="2000" dirty="0"/>
              <a:t>Failover to a warmed up backup server</a:t>
            </a: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86600" y="3210858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Backup Server</a:t>
            </a:r>
          </a:p>
        </p:txBody>
      </p:sp>
      <p:sp>
        <p:nvSpPr>
          <p:cNvPr id="5" name="AutoShape 10"/>
          <p:cNvSpPr>
            <a:spLocks noChangeArrowheads="1"/>
          </p:cNvSpPr>
          <p:nvPr/>
        </p:nvSpPr>
        <p:spPr bwMode="auto">
          <a:xfrm>
            <a:off x="457200" y="2262605"/>
            <a:ext cx="637445" cy="498197"/>
          </a:xfrm>
          <a:prstGeom prst="can">
            <a:avLst>
              <a:gd name="adj" fmla="val 25000"/>
            </a:avLst>
          </a:prstGeom>
          <a:solidFill>
            <a:srgbClr val="00B8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DB</a:t>
            </a:r>
          </a:p>
        </p:txBody>
      </p:sp>
      <p:sp>
        <p:nvSpPr>
          <p:cNvPr id="6" name="AutoShape 41"/>
          <p:cNvSpPr>
            <a:spLocks noChangeArrowheads="1"/>
          </p:cNvSpPr>
          <p:nvPr/>
        </p:nvSpPr>
        <p:spPr bwMode="auto">
          <a:xfrm>
            <a:off x="2010569" y="2220258"/>
            <a:ext cx="1037431" cy="540544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DBMS</a:t>
            </a:r>
          </a:p>
        </p:txBody>
      </p:sp>
      <p:sp>
        <p:nvSpPr>
          <p:cNvPr id="7" name="Line 42"/>
          <p:cNvSpPr>
            <a:spLocks noChangeShapeType="1"/>
          </p:cNvSpPr>
          <p:nvPr/>
        </p:nvSpPr>
        <p:spPr bwMode="auto">
          <a:xfrm flipH="1" flipV="1">
            <a:off x="1094644" y="2511703"/>
            <a:ext cx="35315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med" len="lg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  <p:pic>
        <p:nvPicPr>
          <p:cNvPr id="8" name="Picture 2" descr="MCj0431637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19300" y="3020358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Line 42"/>
          <p:cNvSpPr>
            <a:spLocks noChangeShapeType="1"/>
          </p:cNvSpPr>
          <p:nvPr/>
        </p:nvSpPr>
        <p:spPr bwMode="auto">
          <a:xfrm>
            <a:off x="2514600" y="2855590"/>
            <a:ext cx="0" cy="24004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med" len="lg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19200" y="3210858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Primary Server</a:t>
            </a:r>
          </a:p>
        </p:txBody>
      </p:sp>
      <p:cxnSp>
        <p:nvCxnSpPr>
          <p:cNvPr id="11" name="Straight Arrow Connector 10"/>
          <p:cNvCxnSpPr>
            <a:stCxn id="13" idx="3"/>
            <a:endCxn id="19" idx="1"/>
          </p:cNvCxnSpPr>
          <p:nvPr/>
        </p:nvCxnSpPr>
        <p:spPr bwMode="auto">
          <a:xfrm>
            <a:off x="3200400" y="2347425"/>
            <a:ext cx="2438400" cy="0"/>
          </a:xfrm>
          <a:prstGeom prst="straightConnector1">
            <a:avLst/>
          </a:prstGeom>
          <a:noFill/>
          <a:ln w="31750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lg" len="lg"/>
          </a:ln>
          <a:effectLst/>
        </p:spPr>
      </p:cxnSp>
      <p:sp>
        <p:nvSpPr>
          <p:cNvPr id="13" name="Rounded Rectangle 12"/>
          <p:cNvSpPr/>
          <p:nvPr/>
        </p:nvSpPr>
        <p:spPr bwMode="auto">
          <a:xfrm>
            <a:off x="1447800" y="1839258"/>
            <a:ext cx="1752600" cy="1016333"/>
          </a:xfrm>
          <a:prstGeom prst="round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VM</a:t>
            </a:r>
          </a:p>
        </p:txBody>
      </p:sp>
      <p:sp>
        <p:nvSpPr>
          <p:cNvPr id="14" name="AutoShape 10"/>
          <p:cNvSpPr>
            <a:spLocks noChangeArrowheads="1"/>
          </p:cNvSpPr>
          <p:nvPr/>
        </p:nvSpPr>
        <p:spPr bwMode="auto">
          <a:xfrm flipH="1">
            <a:off x="7744555" y="2262605"/>
            <a:ext cx="637445" cy="498197"/>
          </a:xfrm>
          <a:prstGeom prst="can">
            <a:avLst>
              <a:gd name="adj" fmla="val 25000"/>
            </a:avLst>
          </a:prstGeom>
          <a:solidFill>
            <a:srgbClr val="00B8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DB</a:t>
            </a:r>
          </a:p>
        </p:txBody>
      </p:sp>
      <p:sp>
        <p:nvSpPr>
          <p:cNvPr id="15" name="AutoShape 41"/>
          <p:cNvSpPr>
            <a:spLocks noChangeArrowheads="1"/>
          </p:cNvSpPr>
          <p:nvPr/>
        </p:nvSpPr>
        <p:spPr bwMode="auto">
          <a:xfrm>
            <a:off x="6201569" y="2220258"/>
            <a:ext cx="1037431" cy="540544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</p:spPr>
        <p:txBody>
          <a:bodyPr wrap="none" anchor="ctr" anchorCtr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rPr>
              <a:t>DBMS</a:t>
            </a:r>
          </a:p>
        </p:txBody>
      </p:sp>
      <p:sp>
        <p:nvSpPr>
          <p:cNvPr id="16" name="Line 42"/>
          <p:cNvSpPr>
            <a:spLocks noChangeShapeType="1"/>
          </p:cNvSpPr>
          <p:nvPr/>
        </p:nvSpPr>
        <p:spPr bwMode="auto">
          <a:xfrm flipV="1">
            <a:off x="7391400" y="2601258"/>
            <a:ext cx="35315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med" len="lg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  <p:pic>
        <p:nvPicPr>
          <p:cNvPr id="17" name="Picture 2" descr="MCj0431637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0300" y="3020358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Line 42"/>
          <p:cNvSpPr>
            <a:spLocks noChangeShapeType="1"/>
          </p:cNvSpPr>
          <p:nvPr/>
        </p:nvSpPr>
        <p:spPr bwMode="auto">
          <a:xfrm>
            <a:off x="6705600" y="2855590"/>
            <a:ext cx="0" cy="240046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med" len="lg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charset="0"/>
              <a:cs typeface="Arial" pitchFamily="34" charset="0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5638800" y="1839258"/>
            <a:ext cx="1752600" cy="1016333"/>
          </a:xfrm>
          <a:prstGeom prst="roundRect">
            <a:avLst/>
          </a:prstGeom>
          <a:noFill/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VM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752602" y="1406804"/>
            <a:ext cx="7238998" cy="2707996"/>
            <a:chOff x="1752602" y="1447800"/>
            <a:chExt cx="7238998" cy="2707996"/>
          </a:xfrm>
        </p:grpSpPr>
        <p:sp>
          <p:nvSpPr>
            <p:cNvPr id="21" name="AutoShape 45"/>
            <p:cNvSpPr>
              <a:spLocks noChangeArrowheads="1"/>
            </p:cNvSpPr>
            <p:nvPr/>
          </p:nvSpPr>
          <p:spPr bwMode="auto">
            <a:xfrm flipH="1">
              <a:off x="1752602" y="1447800"/>
              <a:ext cx="1371598" cy="2707996"/>
            </a:xfrm>
            <a:prstGeom prst="lightningBolt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0"/>
                <a:cs typeface="Arial" pitchFamily="34" charset="0"/>
              </a:endParaRPr>
            </a:p>
          </p:txBody>
        </p:sp>
        <p:cxnSp>
          <p:nvCxnSpPr>
            <p:cNvPr id="22" name="Straight Connector 21"/>
            <p:cNvCxnSpPr/>
            <p:nvPr/>
          </p:nvCxnSpPr>
          <p:spPr bwMode="auto">
            <a:xfrm flipV="1">
              <a:off x="7057231" y="3251854"/>
              <a:ext cx="867569" cy="72482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7057231" y="3251854"/>
              <a:ext cx="867569" cy="724820"/>
            </a:xfrm>
            <a:prstGeom prst="lin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TextBox 23"/>
            <p:cNvSpPr txBox="1"/>
            <p:nvPr/>
          </p:nvSpPr>
          <p:spPr>
            <a:xfrm>
              <a:off x="7924800" y="3291323"/>
              <a:ext cx="1066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itchFamily="34" charset="0"/>
                  <a:ea typeface="ＭＳ Ｐゴシック" charset="0"/>
                  <a:cs typeface="Arial" pitchFamily="34" charset="0"/>
                </a:rPr>
                <a:t>Primary Server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F69FBC-8F50-460E-8AB7-1828ED94614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ＭＳ Ｐゴシック" charset="0"/>
                <a:cs typeface="Times New Roman" pitchFamily="18" charset="0"/>
              </a:rPr>
              <a:pPr marL="0" marR="0" lvl="0" indent="0" algn="r" defTabSz="4560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ＭＳ Ｐゴシック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8600" y="6512123"/>
            <a:ext cx="256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[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Ashraf </a:t>
            </a:r>
            <a:r>
              <a:rPr kumimoji="0" lang="da-DK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Aboulnaga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 </a:t>
            </a:r>
            <a:r>
              <a:rPr kumimoji="0" lang="da-DK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RemusDB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1934"/>
              </a:solidFill>
              <a:effectLst/>
              <a:uLnTx/>
              <a:uFillTx/>
              <a:latin typeface="Arial" charset="0"/>
              <a:ea typeface="ＭＳ Ｐゴシック" charset="0"/>
              <a:cs typeface="Arial" pitchFamily="-111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1365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17" y="0"/>
            <a:ext cx="8226425" cy="681038"/>
          </a:xfrm>
        </p:spPr>
        <p:txBody>
          <a:bodyPr/>
          <a:lstStyle/>
          <a:p>
            <a:pPr algn="ctr"/>
            <a:r>
              <a:rPr lang="en-US" dirty="0"/>
              <a:t>Remus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209800"/>
            <a:ext cx="9121775" cy="472440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466DF3-D2CA-874A-B6CC-B426834752B5}"/>
              </a:ext>
            </a:extLst>
          </p:cNvPr>
          <p:cNvSpPr txBox="1"/>
          <p:nvPr/>
        </p:nvSpPr>
        <p:spPr>
          <a:xfrm>
            <a:off x="1" y="533400"/>
            <a:ext cx="10058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Increase system performance through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speculative execution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, </a:t>
            </a:r>
          </a:p>
          <a:p>
            <a:pPr marL="342900" marR="0" lvl="0" indent="-34290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decouples external output from synchronization points. </a:t>
            </a:r>
          </a:p>
          <a:p>
            <a:pPr marL="342900" marR="0" lvl="0" indent="-34290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Allows the primary server to remain productive, while </a:t>
            </a:r>
          </a:p>
          <a:p>
            <a:pPr marL="342900" marR="0" lvl="0" indent="-34290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Synchronization with the replicated server is performed asynchronously.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7305A"/>
              </a:solidFill>
              <a:effectLst/>
              <a:uLnTx/>
              <a:uFillTx/>
              <a:latin typeface="Arial" charset="0"/>
              <a:ea typeface="ＭＳ Ｐゴシック" charset="0"/>
              <a:cs typeface="Arial" pitchFamily="-111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23583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F113DD-1F6B-2840-8476-7CC77EDA6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6425" cy="909638"/>
          </a:xfrm>
        </p:spPr>
        <p:txBody>
          <a:bodyPr/>
          <a:lstStyle/>
          <a:p>
            <a:pPr algn="ctr"/>
            <a:r>
              <a:rPr lang="en-US" dirty="0"/>
              <a:t>Key Principles of Replication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004A0-827E-F544-8D07-6C0C8FFBD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09638"/>
            <a:ext cx="8763000" cy="5872162"/>
          </a:xfrm>
        </p:spPr>
        <p:txBody>
          <a:bodyPr/>
          <a:lstStyle/>
          <a:p>
            <a:r>
              <a:rPr lang="en-US" b="0" dirty="0"/>
              <a:t>State of replica needs to be synchronized with primary only when </a:t>
            </a:r>
            <a:r>
              <a:rPr lang="en-US" dirty="0">
                <a:solidFill>
                  <a:srgbClr val="FF0000"/>
                </a:solidFill>
              </a:rPr>
              <a:t>(prior to when) </a:t>
            </a:r>
            <a:r>
              <a:rPr lang="en-US" b="0" dirty="0"/>
              <a:t>the output of the primary has become externally visible. </a:t>
            </a:r>
          </a:p>
          <a:p>
            <a:r>
              <a:rPr lang="en-US" b="0" dirty="0"/>
              <a:t>buffer output until a more convenient time for sending, continue performing computation </a:t>
            </a:r>
            <a:r>
              <a:rPr lang="en-US" b="0" i="1" dirty="0"/>
              <a:t>speculatively </a:t>
            </a:r>
            <a:r>
              <a:rPr lang="en-US" b="0" dirty="0"/>
              <a:t>ahead of synchronization points. </a:t>
            </a:r>
          </a:p>
          <a:p>
            <a:pPr lvl="1"/>
            <a:r>
              <a:rPr lang="en-US" b="0" dirty="0"/>
              <a:t>trade-off between output latency and runtime overhead </a:t>
            </a:r>
          </a:p>
          <a:p>
            <a:r>
              <a:rPr lang="en-US" b="0" dirty="0"/>
              <a:t>Buffering output at the primary server allows replication to be performed </a:t>
            </a:r>
            <a:r>
              <a:rPr lang="en-US" b="0" i="1" dirty="0"/>
              <a:t>asynchronously</a:t>
            </a:r>
          </a:p>
          <a:p>
            <a:pPr lvl="1"/>
            <a:r>
              <a:rPr lang="en-US" b="0" i="1" dirty="0"/>
              <a:t>Output becomes externally visible only after replication</a:t>
            </a:r>
          </a:p>
          <a:p>
            <a:r>
              <a:rPr lang="en-US" b="0" dirty="0"/>
              <a:t>Overlapping normal execution with replication </a:t>
            </a:r>
            <a:r>
              <a:rPr lang="en-US" b="0" dirty="0">
                <a:sym typeface="Wingdings" pitchFamily="2" charset="2"/>
              </a:rPr>
              <a:t> </a:t>
            </a:r>
            <a:r>
              <a:rPr lang="en-US" b="0" dirty="0"/>
              <a:t>substantial performance benefits.  </a:t>
            </a:r>
          </a:p>
          <a:p>
            <a:endParaRPr lang="en-US" dirty="0"/>
          </a:p>
          <a:p>
            <a:pPr lvl="1"/>
            <a:endParaRPr lang="en-US" b="0" dirty="0"/>
          </a:p>
          <a:p>
            <a:endParaRPr lang="en-US" b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947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Remus Checkpoints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066" y="1385017"/>
            <a:ext cx="5732318" cy="1792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3276600"/>
            <a:ext cx="8534400" cy="247360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CA" sz="2400" dirty="0"/>
              <a:t>After a failure, the backup resumes execution from the </a:t>
            </a:r>
            <a:r>
              <a:rPr lang="en-CA" sz="2400" b="1" i="1" dirty="0">
                <a:solidFill>
                  <a:srgbClr val="FF0000"/>
                </a:solidFill>
              </a:rPr>
              <a:t>latest checkpoint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Arial" charset="0"/>
                <a:cs typeface="Arial" charset="0"/>
              </a:rPr>
              <a:t>Any work done by the primary during epoch C will be lost 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(unsafe)</a:t>
            </a:r>
          </a:p>
          <a:p>
            <a:pPr eaLnBrk="1" hangingPunct="1">
              <a:lnSpc>
                <a:spcPct val="90000"/>
              </a:lnSpc>
            </a:pPr>
            <a:endParaRPr lang="en-US" sz="1100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sz="2400" dirty="0">
                <a:latin typeface="Arial" charset="0"/>
                <a:cs typeface="Arial" charset="0"/>
              </a:rPr>
              <a:t>Remus provides a consistent view of execution to clients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sz="2000" dirty="0">
                <a:latin typeface="Arial" charset="0"/>
                <a:cs typeface="Arial" charset="0"/>
              </a:rPr>
              <a:t>Any network packets sent during an epoch are </a:t>
            </a:r>
            <a:r>
              <a:rPr lang="en-US" sz="20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buffered</a:t>
            </a:r>
            <a:r>
              <a:rPr lang="en-US" sz="2000" dirty="0">
                <a:latin typeface="Arial" charset="0"/>
                <a:cs typeface="Arial" charset="0"/>
              </a:rPr>
              <a:t> until the next checkpoint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sz="2000" dirty="0">
                <a:latin typeface="Arial" charset="0"/>
                <a:cs typeface="Arial" charset="0"/>
              </a:rPr>
              <a:t>Guarantees that a client will see results only if they are based on </a:t>
            </a:r>
            <a:r>
              <a:rPr lang="en-US" sz="20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safe</a:t>
            </a:r>
            <a:r>
              <a:rPr lang="en-US" sz="2000" dirty="0">
                <a:latin typeface="Arial" charset="0"/>
                <a:cs typeface="Arial" charset="0"/>
              </a:rPr>
              <a:t> execution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</a:pPr>
            <a:r>
              <a:rPr lang="en-US" sz="2000" dirty="0">
                <a:latin typeface="Arial" charset="0"/>
                <a:cs typeface="Arial" charset="0"/>
              </a:rPr>
              <a:t>Same principle is also applied to disk writes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F69FBC-8F50-460E-8AB7-1828ED94614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ＭＳ Ｐゴシック" charset="0"/>
                <a:cs typeface="Times New Roman" pitchFamily="18" charset="0"/>
              </a:rPr>
              <a:pPr marL="0" marR="0" lvl="0" indent="0" algn="r" defTabSz="45605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ＭＳ Ｐゴシック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" y="6512123"/>
            <a:ext cx="2569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[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Ashraf </a:t>
            </a:r>
            <a:r>
              <a:rPr kumimoji="0" lang="da-DK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Aboulnaga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 </a:t>
            </a:r>
            <a:r>
              <a:rPr kumimoji="0" lang="da-DK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RemusDB</a:t>
            </a:r>
            <a:r>
              <a:rPr kumimoji="0" lang="da-DK" sz="1400" b="0" i="0" u="none" strike="noStrike" kern="1200" cap="none" spc="0" normalizeH="0" baseline="0" noProof="0" dirty="0">
                <a:ln>
                  <a:noFill/>
                </a:ln>
                <a:solidFill>
                  <a:srgbClr val="001934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]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1934"/>
              </a:solidFill>
              <a:effectLst/>
              <a:uLnTx/>
              <a:uFillTx/>
              <a:latin typeface="Arial" charset="0"/>
              <a:ea typeface="ＭＳ Ｐゴシック" charset="0"/>
              <a:cs typeface="Arial" pitchFamily="-111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737340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7" y="0"/>
            <a:ext cx="8226425" cy="757238"/>
          </a:xfrm>
        </p:spPr>
        <p:txBody>
          <a:bodyPr/>
          <a:lstStyle/>
          <a:p>
            <a:r>
              <a:rPr lang="en-US" dirty="0"/>
              <a:t>Outbound packet buffering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783013"/>
            <a:ext cx="5029200" cy="315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9F1767-1FC8-E944-B4A6-478DCA7C0773}"/>
              </a:ext>
            </a:extLst>
          </p:cNvPr>
          <p:cNvSpPr/>
          <p:nvPr/>
        </p:nvSpPr>
        <p:spPr>
          <a:xfrm>
            <a:off x="-76200" y="1048252"/>
            <a:ext cx="9144000" cy="2443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6053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E005F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/>
                <a:ea typeface="ＭＳ Ｐゴシック" charset="0"/>
                <a:cs typeface="Arial" pitchFamily="-111" charset="-52"/>
              </a:rPr>
              <a:t>Crucial packets queued for transmission be held until check- pointed state of epoch in which they were generated is committed to backup; </a:t>
            </a:r>
          </a:p>
          <a:p>
            <a:pPr marL="1083981" marR="0" lvl="1" indent="-342900" algn="l" defTabSz="456053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E005F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if primary fails, these generated packets reflect speculative state that has been lost.</a:t>
            </a:r>
          </a:p>
          <a:p>
            <a:pPr marL="342900" marR="0" lvl="0" indent="-342900" algn="l" defTabSz="456053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4E005F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When guest checkpoint has been acknowledged by backup, buffer receives a RELEASE message, and begins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dequeueing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F75B1-7B45-6047-95E9-8220CDC925DC}"/>
              </a:ext>
            </a:extLst>
          </p:cNvPr>
          <p:cNvSpPr txBox="1"/>
          <p:nvPr/>
        </p:nvSpPr>
        <p:spPr>
          <a:xfrm>
            <a:off x="7010400" y="4953000"/>
            <a:ext cx="1959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Buffer in Dom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A003-5FE4-FD44-93E1-C1DCB77EEEF3}"/>
              </a:ext>
            </a:extLst>
          </p:cNvPr>
          <p:cNvSpPr txBox="1"/>
          <p:nvPr/>
        </p:nvSpPr>
        <p:spPr>
          <a:xfrm>
            <a:off x="4957588" y="4953000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sync</a:t>
            </a:r>
          </a:p>
        </p:txBody>
      </p:sp>
    </p:spTree>
    <p:extLst>
      <p:ext uri="{BB962C8B-B14F-4D97-AF65-F5344CB8AC3E}">
        <p14:creationId xmlns:p14="http://schemas.microsoft.com/office/powerpoint/2010/main" val="4089559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7" y="0"/>
            <a:ext cx="8226425" cy="604838"/>
          </a:xfrm>
        </p:spPr>
        <p:txBody>
          <a:bodyPr/>
          <a:lstStyle/>
          <a:p>
            <a:pPr algn="ctr"/>
            <a:r>
              <a:rPr lang="en-US" dirty="0"/>
              <a:t>Disk (FS) updates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742351"/>
            <a:ext cx="5448300" cy="411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FEE32D-CAD5-944D-A030-AF32A32A4312}"/>
              </a:ext>
            </a:extLst>
          </p:cNvPr>
          <p:cNvSpPr txBox="1"/>
          <p:nvPr/>
        </p:nvSpPr>
        <p:spPr>
          <a:xfrm>
            <a:off x="-1571" y="611765"/>
            <a:ext cx="9144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when write has been acknowledged by a disk, application (or FS) expects to recover data even in event of power failure </a:t>
            </a:r>
          </a:p>
          <a:p>
            <a:pPr marL="342900" marR="0" lvl="0" indent="-34290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Remus must preserve crash consistency even if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both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hosts fail. </a:t>
            </a:r>
          </a:p>
          <a:p>
            <a:pPr marL="1083981" marR="0" lvl="1" indent="-34290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Maintains complete mirror of active VM’s disks on the backup host. </a:t>
            </a:r>
          </a:p>
          <a:p>
            <a:pPr marL="1083981" marR="0" lvl="1" indent="-34290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writes to persistent storage tracked and checkpointed just like updates to memory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AF169-C373-1A45-8FE1-8F959BB0A942}"/>
              </a:ext>
            </a:extLst>
          </p:cNvPr>
          <p:cNvSpPr txBox="1"/>
          <p:nvPr/>
        </p:nvSpPr>
        <p:spPr>
          <a:xfrm>
            <a:off x="5600700" y="3303925"/>
            <a:ext cx="3743332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Writes to disk from active VM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treated as write-through;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asynchronously mirrored to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in-memory buffer on backup;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Ensures active disk image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remains crash consistent at all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times in case both hosts fail;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active disk will reflect the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crashed state of externally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visible VM at the time of failure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D64FDF-EF5A-704A-90AC-FC59D419CA5D}"/>
              </a:ext>
            </a:extLst>
          </p:cNvPr>
          <p:cNvCxnSpPr/>
          <p:nvPr/>
        </p:nvCxnSpPr>
        <p:spPr bwMode="auto">
          <a:xfrm>
            <a:off x="2152357" y="5359791"/>
            <a:ext cx="2082018" cy="759655"/>
          </a:xfrm>
          <a:prstGeom prst="straightConnector1">
            <a:avLst/>
          </a:prstGeom>
          <a:solidFill>
            <a:srgbClr val="00B8FF"/>
          </a:solidFill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46203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7" y="0"/>
            <a:ext cx="8226425" cy="681038"/>
          </a:xfrm>
        </p:spPr>
        <p:txBody>
          <a:bodyPr/>
          <a:lstStyle/>
          <a:p>
            <a:pPr algn="ctr"/>
            <a:r>
              <a:rPr lang="en-US" dirty="0"/>
              <a:t>Remus implementation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181350"/>
            <a:ext cx="9144000" cy="360045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AE7E1E-A1C1-5A49-B666-EEDCED011CE9}"/>
              </a:ext>
            </a:extLst>
          </p:cNvPr>
          <p:cNvSpPr txBox="1"/>
          <p:nvPr/>
        </p:nvSpPr>
        <p:spPr>
          <a:xfrm>
            <a:off x="0" y="681038"/>
            <a:ext cx="9144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Propagate frequent checkpoints of active VM to backup physical host. </a:t>
            </a:r>
          </a:p>
          <a:p>
            <a:pPr marL="342900" marR="0" lvl="0" indent="-34290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On backup, VM image is resident in memory and may begin execution immediately if failure of active system detected.</a:t>
            </a:r>
          </a:p>
          <a:p>
            <a:pPr marL="342900" marR="0" lvl="0" indent="-34290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VM on backup does not actually execute until a failure occurs. Simply acts as receptacle for checkpoints of active VM. </a:t>
            </a:r>
          </a:p>
          <a:p>
            <a:pPr marL="342900" marR="0" lvl="0" indent="-34290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67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Consumes relatively small amount of the backup host’s resources, allowing it to concurrently protect VMs running on multiple physical hosts in N-to-1-style configuration.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7305A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pitchFamily="-111" charset="-52"/>
              </a:rPr>
              <a:t> </a:t>
            </a:r>
          </a:p>
          <a:p>
            <a:pPr marL="0" marR="0" lvl="0" indent="0" algn="l" defTabSz="45605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7305A"/>
              </a:solidFill>
              <a:effectLst/>
              <a:uLnTx/>
              <a:uFillTx/>
              <a:latin typeface="Arial" charset="0"/>
              <a:ea typeface="ＭＳ Ｐゴシック" charset="0"/>
              <a:cs typeface="Arial" pitchFamily="-111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1748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Tardigrade</a:t>
            </a:r>
            <a:r>
              <a:rPr lang="en-US" dirty="0"/>
              <a:t> (NSDI-15)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7700"/>
            <a:ext cx="9144000" cy="300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16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1046163"/>
            <a:ext cx="6096000" cy="5778500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Remus checkpoint latency</a:t>
            </a:r>
          </a:p>
        </p:txBody>
      </p:sp>
    </p:spTree>
    <p:extLst>
      <p:ext uri="{BB962C8B-B14F-4D97-AF65-F5344CB8AC3E}">
        <p14:creationId xmlns:p14="http://schemas.microsoft.com/office/powerpoint/2010/main" val="3565798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66850"/>
            <a:ext cx="5076825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Remus overhead</a:t>
            </a:r>
          </a:p>
        </p:txBody>
      </p:sp>
    </p:spTree>
    <p:extLst>
      <p:ext uri="{BB962C8B-B14F-4D97-AF65-F5344CB8AC3E}">
        <p14:creationId xmlns:p14="http://schemas.microsoft.com/office/powerpoint/2010/main" val="1167799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Tardigrade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0"/>
            <a:ext cx="83820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6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Tardigrade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82423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16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1A7A0-0154-D543-9C18-67A65DC28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47800"/>
            <a:ext cx="9144000" cy="1524000"/>
          </a:xfrm>
        </p:spPr>
        <p:txBody>
          <a:bodyPr/>
          <a:lstStyle/>
          <a:p>
            <a:r>
              <a:rPr lang="en-US" dirty="0" err="1"/>
              <a:t>PipeCloud</a:t>
            </a:r>
            <a:r>
              <a:rPr lang="en-US" dirty="0"/>
              <a:t>: Using Causality to Overcome Speed-of-light delays on Cloud-based Disaster Recovery</a:t>
            </a:r>
            <a:br>
              <a:rPr lang="en-US" dirty="0"/>
            </a:br>
            <a:endParaRPr lang="en-US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521FAE-36AC-BA42-B87F-37D7460F4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9144000" cy="1981200"/>
          </a:xfrm>
        </p:spPr>
        <p:txBody>
          <a:bodyPr/>
          <a:lstStyle/>
          <a:p>
            <a:r>
              <a:rPr lang="en-US" sz="2800" dirty="0"/>
              <a:t>Tim Wood, Andres </a:t>
            </a:r>
            <a:r>
              <a:rPr lang="en-US" sz="2800" dirty="0" err="1"/>
              <a:t>Lagar-Cavilla</a:t>
            </a:r>
            <a:r>
              <a:rPr lang="en-US" sz="2800" dirty="0"/>
              <a:t>, K. K. Ramakrishnan, Prashant Shenoy and Jacobus Van der Merwe</a:t>
            </a:r>
          </a:p>
          <a:p>
            <a:r>
              <a:rPr lang="en-US" sz="2800" dirty="0"/>
              <a:t>SOCC 2011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A77F0-A57F-9942-8F44-8BB346A0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4B2E74-175A-4630-BF90-58AA5E3732FF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ahoma" pitchFamily="34" charset="0"/>
                <a:cs typeface="Times New Roman" pitchFamily="18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Tahoma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114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599238"/>
            <a:ext cx="309563" cy="258762"/>
          </a:xfrm>
          <a:noFill/>
        </p:spPr>
        <p:txBody>
          <a:bodyPr lIns="59701" tIns="29851" rIns="59701" bIns="2985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ACDCA0-2F4C-42C8-A291-48655BA0C789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67AB4"/>
                </a:solidFill>
                <a:effectLst/>
                <a:uLnTx/>
                <a:uFillTx/>
                <a:latin typeface="Verdana" pitchFamily="34" charset="0"/>
                <a:ea typeface="ヒラギノ角ゴ ProN W3"/>
                <a:cs typeface="ヒラギノ角ゴ ProN W3"/>
                <a:sym typeface="Verdana" pitchFamily="34" charset="0"/>
              </a:rPr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67AB4"/>
              </a:solidFill>
              <a:effectLst/>
              <a:uLnTx/>
              <a:uFillTx/>
              <a:latin typeface="Verdana" pitchFamily="34" charset="0"/>
              <a:ea typeface="ヒラギノ角ゴ ProN W3"/>
              <a:cs typeface="ヒラギノ角ゴ ProN W3"/>
              <a:sym typeface="Verdana" pitchFamily="34" charset="0"/>
            </a:endParaRPr>
          </a:p>
        </p:txBody>
      </p:sp>
      <p:sp>
        <p:nvSpPr>
          <p:cNvPr id="80899" name="Rectangle 1"/>
          <p:cNvSpPr>
            <a:spLocks noGrp="1" noChangeArrowheads="1"/>
          </p:cNvSpPr>
          <p:nvPr>
            <p:ph type="body" idx="1"/>
          </p:nvPr>
        </p:nvSpPr>
        <p:spPr/>
        <p:txBody>
          <a:bodyPr lIns="59701" tIns="29851" rIns="59701" bIns="29851"/>
          <a:lstStyle/>
          <a:p>
            <a:pPr marL="231775" indent="-57150" eaLnBrk="1" hangingPunct="1"/>
            <a:r>
              <a:rPr lang="en-US" dirty="0"/>
              <a:t>Data center outages cost lots of money</a:t>
            </a:r>
          </a:p>
          <a:p>
            <a:pPr marL="555625" lvl="1" eaLnBrk="1" hangingPunct="1"/>
            <a:r>
              <a:rPr lang="en-US" dirty="0">
                <a:ea typeface="ＭＳ Ｐゴシック" pitchFamily="34" charset="-128"/>
              </a:rPr>
              <a:t>Millions of $ per second of downtime</a:t>
            </a:r>
          </a:p>
          <a:p>
            <a:pPr marL="231775" indent="-57150" eaLnBrk="1" hangingPunct="1">
              <a:lnSpc>
                <a:spcPct val="90000"/>
              </a:lnSpc>
            </a:pPr>
            <a:r>
              <a:rPr lang="en-US" dirty="0"/>
              <a:t>Many different causes</a:t>
            </a:r>
          </a:p>
          <a:p>
            <a:pPr marL="555625" lvl="1" eaLnBrk="1" hangingPunct="1"/>
            <a:r>
              <a:rPr lang="en-US" dirty="0">
                <a:ea typeface="ＭＳ Ｐゴシック" pitchFamily="34" charset="-128"/>
              </a:rPr>
              <a:t>Hardware failures</a:t>
            </a:r>
          </a:p>
          <a:p>
            <a:pPr marL="555625" lvl="1" eaLnBrk="1" hangingPunct="1"/>
            <a:r>
              <a:rPr lang="en-US" dirty="0">
                <a:ea typeface="ＭＳ Ｐゴシック" pitchFamily="34" charset="-128"/>
              </a:rPr>
              <a:t>Software bugs</a:t>
            </a:r>
          </a:p>
          <a:p>
            <a:pPr marL="555625" lvl="1" eaLnBrk="1" hangingPunct="1"/>
            <a:r>
              <a:rPr lang="en-US" dirty="0">
                <a:ea typeface="ＭＳ Ｐゴシック" pitchFamily="34" charset="-128"/>
              </a:rPr>
              <a:t>Malicious users</a:t>
            </a:r>
          </a:p>
          <a:p>
            <a:pPr marL="231775" indent="-57150" eaLnBrk="1" hangingPunct="1">
              <a:lnSpc>
                <a:spcPct val="90000"/>
              </a:lnSpc>
            </a:pPr>
            <a:endParaRPr lang="en-US" dirty="0"/>
          </a:p>
          <a:p>
            <a:pPr marL="231775" indent="-57150" eaLnBrk="1" hangingPunct="1"/>
            <a:r>
              <a:rPr lang="en-US" b="1" dirty="0"/>
              <a:t>...or....</a:t>
            </a:r>
            <a:endParaRPr lang="en-US" b="1" dirty="0">
              <a:ea typeface="ヒラギノ角ゴ ProN W6"/>
              <a:cs typeface="ヒラギノ角ゴ ProN W6"/>
            </a:endParaRPr>
          </a:p>
          <a:p>
            <a:pPr marL="555625" lvl="1" eaLnBrk="1" hangingPunct="1"/>
            <a:r>
              <a:rPr lang="en-US" dirty="0">
                <a:ea typeface="ＭＳ Ｐゴシック" pitchFamily="34" charset="-128"/>
              </a:rPr>
              <a:t>9/11</a:t>
            </a:r>
          </a:p>
          <a:p>
            <a:pPr marL="555625" lvl="1" eaLnBrk="1" hangingPunct="1"/>
            <a:r>
              <a:rPr lang="en-US" dirty="0">
                <a:ea typeface="ＭＳ Ｐゴシック" pitchFamily="34" charset="-128"/>
              </a:rPr>
              <a:t>Electrical Grid failure (2003, 2011)</a:t>
            </a:r>
          </a:p>
          <a:p>
            <a:pPr marL="555625" lvl="1" eaLnBrk="1" hangingPunct="1"/>
            <a:r>
              <a:rPr lang="en-US" dirty="0">
                <a:ea typeface="ＭＳ Ｐゴシック" pitchFamily="34" charset="-128"/>
              </a:rPr>
              <a:t>Events in Japan in 2011</a:t>
            </a:r>
          </a:p>
        </p:txBody>
      </p:sp>
      <p:pic>
        <p:nvPicPr>
          <p:cNvPr id="8090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8075" y="3846513"/>
            <a:ext cx="2633663" cy="1619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80901" name="Rectangle 4"/>
          <p:cNvSpPr>
            <a:spLocks noGrp="1" noChangeArrowheads="1"/>
          </p:cNvSpPr>
          <p:nvPr>
            <p:ph type="title"/>
          </p:nvPr>
        </p:nvSpPr>
        <p:spPr>
          <a:xfrm>
            <a:off x="303213" y="331788"/>
            <a:ext cx="8432800" cy="711200"/>
          </a:xfrm>
        </p:spPr>
        <p:txBody>
          <a:bodyPr lIns="59701" tIns="29851" rIns="59701" bIns="29851"/>
          <a:lstStyle/>
          <a:p>
            <a:pPr eaLnBrk="1" hangingPunct="1"/>
            <a:r>
              <a:rPr lang="en-US"/>
              <a:t>Reliability: Storage Issues</a:t>
            </a:r>
            <a:endParaRPr lang="en-US" sz="420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491038" y="2273300"/>
            <a:ext cx="1071562" cy="1460500"/>
            <a:chOff x="0" y="0"/>
            <a:chExt cx="960" cy="1308"/>
          </a:xfrm>
        </p:grpSpPr>
        <p:pic>
          <p:nvPicPr>
            <p:cNvPr id="80905" name="Picture 6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552"/>
              <a:ext cx="960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0906" name="Picture 7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368"/>
              <a:ext cx="960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0907" name="Picture 8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184"/>
              <a:ext cx="960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0908" name="Picture 9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0"/>
              <a:ext cx="960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80903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59438" y="2232025"/>
            <a:ext cx="3484562" cy="1349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80904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732713" y="1009650"/>
            <a:ext cx="1225550" cy="955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3027479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5"/>
          <p:cNvSpPr>
            <a:spLocks noGrp="1"/>
          </p:cNvSpPr>
          <p:nvPr>
            <p:ph type="title"/>
          </p:nvPr>
        </p:nvSpPr>
        <p:spPr>
          <a:xfrm>
            <a:off x="381000" y="228600"/>
            <a:ext cx="8037513" cy="533400"/>
          </a:xfrm>
        </p:spPr>
        <p:txBody>
          <a:bodyPr lIns="91440" tIns="45720" rIns="91440" bIns="45720"/>
          <a:lstStyle/>
          <a:p>
            <a:r>
              <a:rPr lang="en-US" sz="2800"/>
              <a:t>Disaster Recovery as a Cloud Service</a:t>
            </a:r>
          </a:p>
        </p:txBody>
      </p:sp>
      <p:sp>
        <p:nvSpPr>
          <p:cNvPr id="81923" name="Content Placeholder 6"/>
          <p:cNvSpPr>
            <a:spLocks noGrp="1"/>
          </p:cNvSpPr>
          <p:nvPr>
            <p:ph idx="1"/>
          </p:nvPr>
        </p:nvSpPr>
        <p:spPr>
          <a:xfrm>
            <a:off x="152400" y="1006475"/>
            <a:ext cx="8839200" cy="5546725"/>
          </a:xfrm>
        </p:spPr>
        <p:txBody>
          <a:bodyPr lIns="91440" tIns="45720" rIns="91440" bIns="45720"/>
          <a:lstStyle/>
          <a:p>
            <a:pPr marL="0" indent="0">
              <a:buFontTx/>
              <a:buChar char="•"/>
            </a:pPr>
            <a:r>
              <a:rPr lang="en-US" dirty="0"/>
              <a:t>Business and Govt. services utilize Disaster Recovery (DR) systems to minimize data loss and the downtime incurred by catastrophic system failures</a:t>
            </a:r>
          </a:p>
          <a:p>
            <a:pPr marL="0" indent="0">
              <a:buFontTx/>
              <a:buChar char="•"/>
            </a:pPr>
            <a:r>
              <a:rPr lang="en-US" dirty="0"/>
              <a:t>Key challenge: providing DR services to support Business Continuity (BC), allowing applications to rapidly come back online after a failure occurs</a:t>
            </a:r>
          </a:p>
          <a:p>
            <a:pPr marL="0" indent="0">
              <a:buFontTx/>
              <a:buChar char="•"/>
            </a:pPr>
            <a:r>
              <a:rPr lang="en-US" dirty="0"/>
              <a:t>Current DR services - expensive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ea typeface="ＭＳ Ｐゴシック" pitchFamily="34" charset="-128"/>
              </a:rPr>
              <a:t>Performance: Come either at very high cost (Synch replication) or weak guarantees on amount of data loss (</a:t>
            </a:r>
            <a:r>
              <a:rPr lang="en-US" dirty="0" err="1">
                <a:ea typeface="ＭＳ Ｐゴシック" pitchFamily="34" charset="-128"/>
              </a:rPr>
              <a:t>Asynch</a:t>
            </a:r>
            <a:r>
              <a:rPr lang="en-US" dirty="0">
                <a:ea typeface="ＭＳ Ｐゴシック" pitchFamily="34" charset="-128"/>
              </a:rPr>
              <a:t> replication)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ea typeface="ＭＳ Ｐゴシック" pitchFamily="34" charset="-128"/>
              </a:rPr>
              <a:t>Significant time required to restart operation after a failure (large RTO).</a:t>
            </a:r>
          </a:p>
          <a:p>
            <a:pPr marL="0" indent="0">
              <a:buFontTx/>
              <a:buChar char="•"/>
            </a:pPr>
            <a:r>
              <a:rPr lang="en-US" dirty="0"/>
              <a:t>Cloud computing platforms can be well suited for DR as a service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ea typeface="ＭＳ Ｐゴシック" pitchFamily="34" charset="-128"/>
              </a:rPr>
              <a:t>pay-as-you-go pricing model can lower costs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ea typeface="ＭＳ Ｐゴシック" pitchFamily="34" charset="-128"/>
              </a:rPr>
              <a:t>use of automated virtual platforms can minimize recovery time after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18AC47-F4D5-4A58-A0C0-0DD466A5F1E2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67AB4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067AB4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214138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3213" y="304800"/>
            <a:ext cx="8432800" cy="711200"/>
          </a:xfrm>
        </p:spPr>
        <p:txBody>
          <a:bodyPr lIns="91440" tIns="45720" rIns="91440" bIns="45720"/>
          <a:lstStyle/>
          <a:p>
            <a:r>
              <a:rPr lang="en-US" dirty="0"/>
              <a:t>Disaster Recovery Requirements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210550" cy="4546600"/>
          </a:xfrm>
        </p:spPr>
        <p:txBody>
          <a:bodyPr lIns="91440" tIns="45720" rIns="91440" bIns="45720"/>
          <a:lstStyle/>
          <a:p>
            <a:pPr marL="0" indent="0"/>
            <a:r>
              <a:rPr lang="en-US" sz="1800" dirty="0"/>
              <a:t>Recovery Point Objective (RPO)</a:t>
            </a:r>
          </a:p>
          <a:p>
            <a:pPr lvl="1"/>
            <a:r>
              <a:rPr lang="en-US" sz="1800" dirty="0">
                <a:ea typeface="ＭＳ Ｐゴシック" pitchFamily="34" charset="-128"/>
              </a:rPr>
              <a:t>Amount of tolerable data loss</a:t>
            </a:r>
          </a:p>
          <a:p>
            <a:pPr marL="0" indent="0"/>
            <a:r>
              <a:rPr lang="en-US" sz="1800" dirty="0"/>
              <a:t>Recovery Time Objective (RTO)</a:t>
            </a:r>
          </a:p>
          <a:p>
            <a:pPr lvl="1"/>
            <a:r>
              <a:rPr lang="en-US" sz="1800" dirty="0">
                <a:ea typeface="ＭＳ Ｐゴシック" pitchFamily="34" charset="-128"/>
              </a:rPr>
              <a:t>Acceptable system downtime</a:t>
            </a:r>
          </a:p>
          <a:p>
            <a:pPr lvl="4"/>
            <a:endParaRPr lang="en-US" sz="1400" dirty="0">
              <a:ea typeface="ＭＳ Ｐゴシック" pitchFamily="34" charset="-128"/>
            </a:endParaRPr>
          </a:p>
          <a:p>
            <a:pPr marL="0" indent="0"/>
            <a:r>
              <a:rPr lang="en-US" sz="1800" dirty="0"/>
              <a:t>Performance</a:t>
            </a:r>
          </a:p>
          <a:p>
            <a:pPr lvl="1"/>
            <a:r>
              <a:rPr lang="en-US" sz="1800" dirty="0">
                <a:ea typeface="ＭＳ Ｐゴシック" pitchFamily="34" charset="-128"/>
              </a:rPr>
              <a:t>Impact both on normal operation and after recovery</a:t>
            </a:r>
          </a:p>
          <a:p>
            <a:pPr marL="0" indent="0"/>
            <a:r>
              <a:rPr lang="en-US" sz="1800" dirty="0"/>
              <a:t>Consistency</a:t>
            </a:r>
          </a:p>
          <a:p>
            <a:pPr lvl="1"/>
            <a:r>
              <a:rPr lang="en-US" sz="1800" dirty="0">
                <a:ea typeface="ＭＳ Ｐゴシック" pitchFamily="34" charset="-128"/>
              </a:rPr>
              <a:t>Correctness of application data and outputs</a:t>
            </a:r>
          </a:p>
          <a:p>
            <a:pPr marL="0" indent="0"/>
            <a:r>
              <a:rPr lang="en-US" sz="1800" dirty="0"/>
              <a:t>Geographic Separation</a:t>
            </a:r>
          </a:p>
          <a:p>
            <a:pPr lvl="1"/>
            <a:r>
              <a:rPr lang="en-US" sz="1800" dirty="0">
                <a:ea typeface="ＭＳ Ｐゴシック" pitchFamily="34" charset="-128"/>
              </a:rPr>
              <a:t>DR site should not be affected by same disaster (don’t share same risk)</a:t>
            </a:r>
          </a:p>
          <a:p>
            <a:pPr lvl="1"/>
            <a:r>
              <a:rPr lang="en-US" sz="1800" dirty="0">
                <a:ea typeface="ＭＳ Ｐゴシック" pitchFamily="34" charset="-128"/>
              </a:rPr>
              <a:t>Remote replication over long distances is a challenge</a:t>
            </a:r>
          </a:p>
          <a:p>
            <a:pPr lvl="2"/>
            <a:r>
              <a:rPr lang="en-US" sz="1600" dirty="0">
                <a:ea typeface="ＭＳ Ｐゴシック" pitchFamily="34" charset="-128"/>
              </a:rPr>
              <a:t>Some vendors use an intermediate site in the Metro Area Network to stage the replication to the remote site (Cost!)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18AC47-F4D5-4A58-A0C0-0DD466A5F1E2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67AB4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067AB4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7167567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F767AB-CD8F-4C53-9A50-ADFC9FB2765C}" type="slidenum"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67AB4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67AB4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7838" y="1219200"/>
            <a:ext cx="8037512" cy="4318000"/>
          </a:xfrm>
        </p:spPr>
        <p:txBody>
          <a:bodyPr/>
          <a:lstStyle/>
          <a:p>
            <a:pPr marL="473257" eaLnBrk="1" hangingPunct="1">
              <a:defRPr/>
            </a:pPr>
            <a:r>
              <a:rPr lang="en-US" dirty="0"/>
              <a:t>Use DR services to prevent lengthy service disruptions</a:t>
            </a:r>
          </a:p>
          <a:p>
            <a:pPr marL="473257" eaLnBrk="1" hangingPunct="1">
              <a:defRPr/>
            </a:pPr>
            <a:r>
              <a:rPr lang="en-US" dirty="0"/>
              <a:t>Long distance data backups + failover mechanism</a:t>
            </a:r>
          </a:p>
          <a:p>
            <a:pPr marL="785785" lvl="1" eaLnBrk="1" hangingPunct="1">
              <a:defRPr/>
            </a:pPr>
            <a:r>
              <a:rPr lang="en-US" dirty="0"/>
              <a:t>Replicate disk writes</a:t>
            </a:r>
          </a:p>
          <a:p>
            <a:pPr marL="785785" lvl="1" eaLnBrk="1" hangingPunct="1">
              <a:defRPr/>
            </a:pPr>
            <a:r>
              <a:rPr lang="en-US" dirty="0"/>
              <a:t>Switch to backup site after disaster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671093" y="3545086"/>
            <a:ext cx="995660" cy="1482329"/>
            <a:chOff x="-55" y="0"/>
            <a:chExt cx="892" cy="1328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55" y="0"/>
              <a:ext cx="728" cy="800"/>
              <a:chOff x="0" y="0"/>
              <a:chExt cx="728" cy="800"/>
            </a:xfrm>
          </p:grpSpPr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0" y="0"/>
                <a:ext cx="728" cy="800"/>
                <a:chOff x="0" y="0"/>
                <a:chExt cx="728" cy="800"/>
              </a:xfrm>
            </p:grpSpPr>
            <p:pic>
              <p:nvPicPr>
                <p:cNvPr id="8232" name="Picture 3"/>
                <p:cNvPicPr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0" y="264"/>
                  <a:ext cx="720" cy="5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8233" name="Picture 4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104" y="0"/>
                  <a:ext cx="624" cy="62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8231" name="Line 6"/>
              <p:cNvSpPr>
                <a:spLocks noChangeShapeType="1"/>
              </p:cNvSpPr>
              <p:nvPr/>
            </p:nvSpPr>
            <p:spPr bwMode="auto">
              <a:xfrm rot="10800000" flipH="1">
                <a:off x="424" y="216"/>
                <a:ext cx="144" cy="344"/>
              </a:xfrm>
              <a:prstGeom prst="line">
                <a:avLst/>
              </a:prstGeom>
              <a:noFill/>
              <a:ln w="63500">
                <a:solidFill>
                  <a:srgbClr val="3F691E"/>
                </a:solidFill>
                <a:round/>
                <a:headEnd type="stealth" w="med" len="med"/>
                <a:tailEnd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cs typeface="Arial" pitchFamily="-111" charset="-52"/>
                </a:endParaRPr>
              </a:p>
            </p:txBody>
          </p:sp>
        </p:grpSp>
        <p:sp>
          <p:nvSpPr>
            <p:cNvPr id="8229" name="Rectangle 8"/>
            <p:cNvSpPr>
              <a:spLocks/>
            </p:cNvSpPr>
            <p:nvPr/>
          </p:nvSpPr>
          <p:spPr bwMode="auto">
            <a:xfrm>
              <a:off x="-55" y="832"/>
              <a:ext cx="892" cy="4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  <a:t>replicate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  <a:t>data</a:t>
              </a:r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863947" y="3464719"/>
            <a:ext cx="1651992" cy="1845097"/>
            <a:chOff x="0" y="0"/>
            <a:chExt cx="1480" cy="1653"/>
          </a:xfrm>
        </p:grpSpPr>
        <p:sp>
          <p:nvSpPr>
            <p:cNvPr id="8225" name="AutoShape 10"/>
            <p:cNvSpPr>
              <a:spLocks/>
            </p:cNvSpPr>
            <p:nvPr/>
          </p:nvSpPr>
          <p:spPr bwMode="auto">
            <a:xfrm>
              <a:off x="81" y="0"/>
              <a:ext cx="1264" cy="1131"/>
            </a:xfrm>
            <a:prstGeom prst="roundRect">
              <a:avLst>
                <a:gd name="adj" fmla="val 10606"/>
              </a:avLst>
            </a:prstGeom>
            <a:solidFill>
              <a:srgbClr val="FFDBCD"/>
            </a:solidFill>
            <a:ln w="19050">
              <a:solidFill>
                <a:srgbClr val="6E05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8226" name="Rectangle 11"/>
            <p:cNvSpPr>
              <a:spLocks/>
            </p:cNvSpPr>
            <p:nvPr/>
          </p:nvSpPr>
          <p:spPr bwMode="auto">
            <a:xfrm>
              <a:off x="0" y="1133"/>
              <a:ext cx="1480" cy="52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  <a:t>Primary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  <a:t>Data Center</a:t>
              </a:r>
            </a:p>
          </p:txBody>
        </p:sp>
        <p:pic>
          <p:nvPicPr>
            <p:cNvPr id="8227" name="Picture 12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74" y="64"/>
              <a:ext cx="854" cy="1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5467114" y="2652117"/>
            <a:ext cx="2388776" cy="1478979"/>
            <a:chOff x="-156" y="0"/>
            <a:chExt cx="2139" cy="1325"/>
          </a:xfrm>
        </p:grpSpPr>
        <p:grpSp>
          <p:nvGrpSpPr>
            <p:cNvPr id="7" name="Group 16"/>
            <p:cNvGrpSpPr>
              <a:grpSpLocks/>
            </p:cNvGrpSpPr>
            <p:nvPr/>
          </p:nvGrpSpPr>
          <p:grpSpPr bwMode="auto">
            <a:xfrm>
              <a:off x="289" y="0"/>
              <a:ext cx="1240" cy="1104"/>
              <a:chOff x="0" y="0"/>
              <a:chExt cx="1240" cy="1104"/>
            </a:xfrm>
          </p:grpSpPr>
          <p:sp>
            <p:nvSpPr>
              <p:cNvPr id="8223" name="AutoShape 14"/>
              <p:cNvSpPr>
                <a:spLocks/>
              </p:cNvSpPr>
              <p:nvPr/>
            </p:nvSpPr>
            <p:spPr bwMode="auto">
              <a:xfrm>
                <a:off x="0" y="0"/>
                <a:ext cx="1240" cy="1104"/>
              </a:xfrm>
              <a:prstGeom prst="roundRect">
                <a:avLst>
                  <a:gd name="adj" fmla="val 10866"/>
                </a:avLst>
              </a:prstGeom>
              <a:solidFill>
                <a:srgbClr val="FFEFCB"/>
              </a:solidFill>
              <a:ln w="19050">
                <a:solidFill>
                  <a:srgbClr val="956900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cs typeface="Arial" pitchFamily="-111" charset="-52"/>
                </a:endParaRPr>
              </a:p>
            </p:txBody>
          </p:sp>
          <p:pic>
            <p:nvPicPr>
              <p:cNvPr id="8224" name="Picture 15"/>
              <p:cNvPicPr>
                <a:picLocks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95" y="62"/>
                <a:ext cx="839" cy="100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8222" name="Rectangle 17"/>
            <p:cNvSpPr>
              <a:spLocks/>
            </p:cNvSpPr>
            <p:nvPr/>
          </p:nvSpPr>
          <p:spPr bwMode="auto">
            <a:xfrm>
              <a:off x="-156" y="1091"/>
              <a:ext cx="2139" cy="2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  <a:t>Private Backup Site</a:t>
              </a:r>
            </a:p>
          </p:txBody>
        </p:sp>
      </p:grpSp>
      <p:grpSp>
        <p:nvGrpSpPr>
          <p:cNvPr id="8" name="Group 25"/>
          <p:cNvGrpSpPr>
            <a:grpSpLocks/>
          </p:cNvGrpSpPr>
          <p:nvPr/>
        </p:nvGrpSpPr>
        <p:grpSpPr bwMode="auto">
          <a:xfrm>
            <a:off x="4983882" y="4688086"/>
            <a:ext cx="2125266" cy="1644179"/>
            <a:chOff x="0" y="0"/>
            <a:chExt cx="1904" cy="1473"/>
          </a:xfrm>
        </p:grpSpPr>
        <p:sp>
          <p:nvSpPr>
            <p:cNvPr id="8215" name="AutoShape 19"/>
            <p:cNvSpPr>
              <a:spLocks/>
            </p:cNvSpPr>
            <p:nvPr/>
          </p:nvSpPr>
          <p:spPr bwMode="auto">
            <a:xfrm>
              <a:off x="246" y="0"/>
              <a:ext cx="1320" cy="1145"/>
            </a:xfrm>
            <a:prstGeom prst="roundRect">
              <a:avLst>
                <a:gd name="adj" fmla="val 10472"/>
              </a:avLst>
            </a:prstGeom>
            <a:solidFill>
              <a:schemeClr val="accent1"/>
            </a:solidFill>
            <a:ln w="19050">
              <a:solidFill>
                <a:srgbClr val="003C52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84" y="63"/>
              <a:ext cx="1076" cy="1016"/>
              <a:chOff x="0" y="0"/>
              <a:chExt cx="1075" cy="1016"/>
            </a:xfrm>
          </p:grpSpPr>
          <p:pic>
            <p:nvPicPr>
              <p:cNvPr id="8218" name="Picture 20"/>
              <p:cNvPicPr>
                <a:picLocks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62" y="0"/>
                <a:ext cx="613" cy="7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219" name="Picture 21"/>
              <p:cNvPicPr>
                <a:picLocks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241" y="120"/>
                <a:ext cx="614" cy="7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8220" name="Picture 22"/>
              <p:cNvPicPr>
                <a:picLocks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0" y="277"/>
                <a:ext cx="613" cy="7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8217" name="Rectangle 24"/>
            <p:cNvSpPr>
              <a:spLocks/>
            </p:cNvSpPr>
            <p:nvPr/>
          </p:nvSpPr>
          <p:spPr bwMode="auto">
            <a:xfrm>
              <a:off x="0" y="1153"/>
              <a:ext cx="1904" cy="32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  <a:t>Public DR Cloud</a:t>
              </a:r>
            </a:p>
          </p:txBody>
        </p:sp>
      </p:grpSp>
      <p:sp>
        <p:nvSpPr>
          <p:cNvPr id="8200" name="Line 26"/>
          <p:cNvSpPr>
            <a:spLocks noChangeShapeType="1"/>
          </p:cNvSpPr>
          <p:nvPr/>
        </p:nvSpPr>
        <p:spPr bwMode="auto">
          <a:xfrm flipH="1">
            <a:off x="3839765" y="3482578"/>
            <a:ext cx="1928813" cy="723305"/>
          </a:xfrm>
          <a:prstGeom prst="line">
            <a:avLst/>
          </a:prstGeom>
          <a:noFill/>
          <a:ln w="50800">
            <a:solidFill>
              <a:srgbClr val="1A1A1A"/>
            </a:solidFill>
            <a:round/>
            <a:headEnd type="stealth" w="med" len="med"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  <p:grpSp>
        <p:nvGrpSpPr>
          <p:cNvPr id="10" name="Group 39"/>
          <p:cNvGrpSpPr>
            <a:grpSpLocks/>
          </p:cNvGrpSpPr>
          <p:nvPr/>
        </p:nvGrpSpPr>
        <p:grpSpPr bwMode="auto">
          <a:xfrm>
            <a:off x="6849070" y="4455914"/>
            <a:ext cx="1839516" cy="2242468"/>
            <a:chOff x="0" y="0"/>
            <a:chExt cx="1648" cy="2009"/>
          </a:xfrm>
        </p:grpSpPr>
        <p:grpSp>
          <p:nvGrpSpPr>
            <p:cNvPr id="11" name="Group 29"/>
            <p:cNvGrpSpPr>
              <a:grpSpLocks/>
            </p:cNvGrpSpPr>
            <p:nvPr/>
          </p:nvGrpSpPr>
          <p:grpSpPr bwMode="auto">
            <a:xfrm>
              <a:off x="656" y="0"/>
              <a:ext cx="696" cy="617"/>
              <a:chOff x="0" y="0"/>
              <a:chExt cx="696" cy="617"/>
            </a:xfrm>
          </p:grpSpPr>
          <p:sp>
            <p:nvSpPr>
              <p:cNvPr id="8213" name="AutoShape 27"/>
              <p:cNvSpPr>
                <a:spLocks/>
              </p:cNvSpPr>
              <p:nvPr/>
            </p:nvSpPr>
            <p:spPr bwMode="auto">
              <a:xfrm>
                <a:off x="0" y="0"/>
                <a:ext cx="696" cy="617"/>
              </a:xfrm>
              <a:prstGeom prst="roundRect">
                <a:avLst>
                  <a:gd name="adj" fmla="val 6472"/>
                </a:avLst>
              </a:prstGeom>
              <a:solidFill>
                <a:srgbClr val="FFFA83"/>
              </a:solidFill>
              <a:ln w="19050">
                <a:solidFill>
                  <a:srgbClr val="B7B100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cs typeface="Arial" pitchFamily="-111" charset="-52"/>
                </a:endParaRPr>
              </a:p>
            </p:txBody>
          </p:sp>
          <p:pic>
            <p:nvPicPr>
              <p:cNvPr id="8214" name="Picture 28"/>
              <p:cNvPicPr>
                <a:picLocks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08" y="32"/>
                <a:ext cx="469" cy="5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2" name="Group 32"/>
            <p:cNvGrpSpPr>
              <a:grpSpLocks/>
            </p:cNvGrpSpPr>
            <p:nvPr/>
          </p:nvGrpSpPr>
          <p:grpSpPr bwMode="auto">
            <a:xfrm>
              <a:off x="952" y="720"/>
              <a:ext cx="696" cy="617"/>
              <a:chOff x="0" y="0"/>
              <a:chExt cx="696" cy="617"/>
            </a:xfrm>
          </p:grpSpPr>
          <p:sp>
            <p:nvSpPr>
              <p:cNvPr id="8211" name="AutoShape 30"/>
              <p:cNvSpPr>
                <a:spLocks/>
              </p:cNvSpPr>
              <p:nvPr/>
            </p:nvSpPr>
            <p:spPr bwMode="auto">
              <a:xfrm>
                <a:off x="0" y="0"/>
                <a:ext cx="696" cy="617"/>
              </a:xfrm>
              <a:prstGeom prst="roundRect">
                <a:avLst>
                  <a:gd name="adj" fmla="val 6472"/>
                </a:avLst>
              </a:prstGeom>
              <a:solidFill>
                <a:srgbClr val="A3D979"/>
              </a:solidFill>
              <a:ln w="19050">
                <a:solidFill>
                  <a:srgbClr val="2B4714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cs typeface="Arial" pitchFamily="-111" charset="-52"/>
                </a:endParaRPr>
              </a:p>
            </p:txBody>
          </p:sp>
          <p:pic>
            <p:nvPicPr>
              <p:cNvPr id="8212" name="Picture 31"/>
              <p:cNvPicPr>
                <a:picLocks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07" y="32"/>
                <a:ext cx="470" cy="5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3" name="Group 35"/>
            <p:cNvGrpSpPr>
              <a:grpSpLocks/>
            </p:cNvGrpSpPr>
            <p:nvPr/>
          </p:nvGrpSpPr>
          <p:grpSpPr bwMode="auto">
            <a:xfrm>
              <a:off x="384" y="1392"/>
              <a:ext cx="696" cy="617"/>
              <a:chOff x="0" y="0"/>
              <a:chExt cx="696" cy="617"/>
            </a:xfrm>
          </p:grpSpPr>
          <p:sp>
            <p:nvSpPr>
              <p:cNvPr id="8209" name="AutoShape 33"/>
              <p:cNvSpPr>
                <a:spLocks/>
              </p:cNvSpPr>
              <p:nvPr/>
            </p:nvSpPr>
            <p:spPr bwMode="auto">
              <a:xfrm>
                <a:off x="0" y="0"/>
                <a:ext cx="696" cy="617"/>
              </a:xfrm>
              <a:prstGeom prst="roundRect">
                <a:avLst>
                  <a:gd name="adj" fmla="val 6472"/>
                </a:avLst>
              </a:prstGeom>
              <a:solidFill>
                <a:srgbClr val="ECBAFE"/>
              </a:solidFill>
              <a:ln w="19050">
                <a:solidFill>
                  <a:srgbClr val="22002F"/>
                </a:solidFill>
                <a:round/>
                <a:headEnd/>
                <a:tailEnd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cs typeface="Arial" pitchFamily="-111" charset="-52"/>
                </a:endParaRPr>
              </a:p>
            </p:txBody>
          </p:sp>
          <p:pic>
            <p:nvPicPr>
              <p:cNvPr id="8210" name="Picture 34"/>
              <p:cNvPicPr>
                <a:picLocks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06" y="32"/>
                <a:ext cx="470" cy="5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8206" name="Line 36"/>
            <p:cNvSpPr>
              <a:spLocks noChangeShapeType="1"/>
            </p:cNvSpPr>
            <p:nvPr/>
          </p:nvSpPr>
          <p:spPr bwMode="auto">
            <a:xfrm rot="10800000" flipH="1">
              <a:off x="0" y="264"/>
              <a:ext cx="624" cy="112"/>
            </a:xfrm>
            <a:prstGeom prst="line">
              <a:avLst/>
            </a:prstGeom>
            <a:noFill/>
            <a:ln w="38100">
              <a:solidFill>
                <a:srgbClr val="1A1A1A"/>
              </a:solidFill>
              <a:round/>
              <a:headEnd type="stealth" w="med" len="med"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8207" name="Line 37"/>
            <p:cNvSpPr>
              <a:spLocks noChangeShapeType="1"/>
            </p:cNvSpPr>
            <p:nvPr/>
          </p:nvSpPr>
          <p:spPr bwMode="auto">
            <a:xfrm>
              <a:off x="136" y="880"/>
              <a:ext cx="704" cy="144"/>
            </a:xfrm>
            <a:prstGeom prst="line">
              <a:avLst/>
            </a:prstGeom>
            <a:noFill/>
            <a:ln w="38100">
              <a:solidFill>
                <a:srgbClr val="1A1A1A"/>
              </a:solidFill>
              <a:round/>
              <a:headEnd type="stealth" w="med" len="med"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8208" name="Line 38"/>
            <p:cNvSpPr>
              <a:spLocks noChangeShapeType="1"/>
            </p:cNvSpPr>
            <p:nvPr/>
          </p:nvSpPr>
          <p:spPr bwMode="auto">
            <a:xfrm>
              <a:off x="56" y="1160"/>
              <a:ext cx="512" cy="168"/>
            </a:xfrm>
            <a:prstGeom prst="line">
              <a:avLst/>
            </a:prstGeom>
            <a:noFill/>
            <a:ln w="38100">
              <a:solidFill>
                <a:srgbClr val="1A1A1A"/>
              </a:solidFill>
              <a:round/>
              <a:headEnd type="stealth" w="med" len="med"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</p:grpSp>
      <p:sp>
        <p:nvSpPr>
          <p:cNvPr id="7208" name="Freeform 40"/>
          <p:cNvSpPr>
            <a:spLocks/>
          </p:cNvSpPr>
          <p:nvPr/>
        </p:nvSpPr>
        <p:spPr bwMode="auto">
          <a:xfrm>
            <a:off x="2992562" y="4842123"/>
            <a:ext cx="2436688" cy="1427634"/>
          </a:xfrm>
          <a:custGeom>
            <a:avLst/>
            <a:gdLst>
              <a:gd name="T0" fmla="*/ 609179 w 21481"/>
              <a:gd name="T1" fmla="*/ 0 h 21173"/>
              <a:gd name="T2" fmla="*/ 1021052 w 21481"/>
              <a:gd name="T3" fmla="*/ 173860 h 21173"/>
              <a:gd name="T4" fmla="*/ 409937 w 21481"/>
              <a:gd name="T5" fmla="*/ 427889 h 21173"/>
              <a:gd name="T6" fmla="*/ 51141 w 21481"/>
              <a:gd name="T7" fmla="*/ 834394 h 21173"/>
              <a:gd name="T8" fmla="*/ 51141 w 21481"/>
              <a:gd name="T9" fmla="*/ 1583824 h 21173"/>
              <a:gd name="T10" fmla="*/ 595950 w 21481"/>
              <a:gd name="T11" fmla="*/ 1952257 h 21173"/>
              <a:gd name="T12" fmla="*/ 1222230 w 21481"/>
              <a:gd name="T13" fmla="*/ 1821455 h 21173"/>
              <a:gd name="T14" fmla="*/ 1293376 w 21481"/>
              <a:gd name="T15" fmla="*/ 1317999 h 21173"/>
              <a:gd name="T16" fmla="*/ 1319995 w 21481"/>
              <a:gd name="T17" fmla="*/ 710784 h 21173"/>
              <a:gd name="T18" fmla="*/ 1568926 w 21481"/>
              <a:gd name="T19" fmla="*/ 177696 h 21173"/>
              <a:gd name="T20" fmla="*/ 1835442 w 21481"/>
              <a:gd name="T21" fmla="*/ 296128 h 21173"/>
              <a:gd name="T22" fmla="*/ 1870934 w 21481"/>
              <a:gd name="T23" fmla="*/ 1036639 h 21173"/>
              <a:gd name="T24" fmla="*/ 1728803 w 21481"/>
              <a:gd name="T25" fmla="*/ 1584495 h 21173"/>
              <a:gd name="T26" fmla="*/ 1835442 w 21481"/>
              <a:gd name="T27" fmla="*/ 1954751 h 21173"/>
              <a:gd name="T28" fmla="*/ 2217470 w 21481"/>
              <a:gd name="T29" fmla="*/ 1910351 h 21173"/>
              <a:gd name="T30" fmla="*/ 2350889 w 21481"/>
              <a:gd name="T31" fmla="*/ 1184703 h 21173"/>
              <a:gd name="T32" fmla="*/ 2537385 w 21481"/>
              <a:gd name="T33" fmla="*/ 651616 h 21173"/>
              <a:gd name="T34" fmla="*/ 2697424 w 21481"/>
              <a:gd name="T35" fmla="*/ 710784 h 21173"/>
              <a:gd name="T36" fmla="*/ 2883920 w 21481"/>
              <a:gd name="T37" fmla="*/ 1406799 h 21173"/>
              <a:gd name="T38" fmla="*/ 3141724 w 21481"/>
              <a:gd name="T39" fmla="*/ 1273503 h 21173"/>
              <a:gd name="T40" fmla="*/ 3465512 w 21481"/>
              <a:gd name="T41" fmla="*/ 1050353 h 21173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1481" h="21173">
                <a:moveTo>
                  <a:pt x="3776" y="0"/>
                </a:moveTo>
                <a:cubicBezTo>
                  <a:pt x="4618" y="598"/>
                  <a:pt x="5665" y="616"/>
                  <a:pt x="6329" y="1813"/>
                </a:cubicBezTo>
                <a:cubicBezTo>
                  <a:pt x="7261" y="3495"/>
                  <a:pt x="2660" y="1621"/>
                  <a:pt x="2541" y="4462"/>
                </a:cubicBezTo>
                <a:cubicBezTo>
                  <a:pt x="2463" y="6319"/>
                  <a:pt x="623" y="6956"/>
                  <a:pt x="317" y="8701"/>
                </a:cubicBezTo>
                <a:cubicBezTo>
                  <a:pt x="-93" y="11041"/>
                  <a:pt x="-119" y="15160"/>
                  <a:pt x="317" y="16516"/>
                </a:cubicBezTo>
                <a:cubicBezTo>
                  <a:pt x="689" y="17671"/>
                  <a:pt x="2776" y="19104"/>
                  <a:pt x="3694" y="20358"/>
                </a:cubicBezTo>
                <a:cubicBezTo>
                  <a:pt x="4522" y="21489"/>
                  <a:pt x="6949" y="20581"/>
                  <a:pt x="7576" y="18994"/>
                </a:cubicBezTo>
                <a:cubicBezTo>
                  <a:pt x="8185" y="17454"/>
                  <a:pt x="7900" y="15888"/>
                  <a:pt x="8017" y="13744"/>
                </a:cubicBezTo>
                <a:cubicBezTo>
                  <a:pt x="8156" y="11205"/>
                  <a:pt x="7851" y="9826"/>
                  <a:pt x="8182" y="7412"/>
                </a:cubicBezTo>
                <a:cubicBezTo>
                  <a:pt x="8531" y="4872"/>
                  <a:pt x="8660" y="2857"/>
                  <a:pt x="9725" y="1853"/>
                </a:cubicBezTo>
                <a:cubicBezTo>
                  <a:pt x="10352" y="1262"/>
                  <a:pt x="10996" y="1808"/>
                  <a:pt x="11377" y="3088"/>
                </a:cubicBezTo>
                <a:cubicBezTo>
                  <a:pt x="12113" y="5563"/>
                  <a:pt x="11779" y="7732"/>
                  <a:pt x="11597" y="10810"/>
                </a:cubicBezTo>
                <a:cubicBezTo>
                  <a:pt x="11454" y="13235"/>
                  <a:pt x="10699" y="14102"/>
                  <a:pt x="10716" y="16523"/>
                </a:cubicBezTo>
                <a:cubicBezTo>
                  <a:pt x="10728" y="18182"/>
                  <a:pt x="10797" y="19438"/>
                  <a:pt x="11377" y="20384"/>
                </a:cubicBezTo>
                <a:cubicBezTo>
                  <a:pt x="12123" y="21600"/>
                  <a:pt x="13089" y="21384"/>
                  <a:pt x="13745" y="19921"/>
                </a:cubicBezTo>
                <a:cubicBezTo>
                  <a:pt x="14696" y="17801"/>
                  <a:pt x="14110" y="15309"/>
                  <a:pt x="14572" y="12354"/>
                </a:cubicBezTo>
                <a:cubicBezTo>
                  <a:pt x="14938" y="10007"/>
                  <a:pt x="14790" y="7945"/>
                  <a:pt x="15728" y="6795"/>
                </a:cubicBezTo>
                <a:cubicBezTo>
                  <a:pt x="16078" y="6366"/>
                  <a:pt x="16434" y="6760"/>
                  <a:pt x="16720" y="7412"/>
                </a:cubicBezTo>
                <a:cubicBezTo>
                  <a:pt x="17662" y="9568"/>
                  <a:pt x="16721" y="13205"/>
                  <a:pt x="17876" y="14670"/>
                </a:cubicBezTo>
                <a:cubicBezTo>
                  <a:pt x="18448" y="15396"/>
                  <a:pt x="18969" y="14320"/>
                  <a:pt x="19474" y="13280"/>
                </a:cubicBezTo>
                <a:cubicBezTo>
                  <a:pt x="20140" y="11906"/>
                  <a:pt x="21117" y="12431"/>
                  <a:pt x="21481" y="10953"/>
                </a:cubicBezTo>
              </a:path>
            </a:pathLst>
          </a:custGeom>
          <a:noFill/>
          <a:ln w="50800" cap="flat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  <p:sp>
        <p:nvSpPr>
          <p:cNvPr id="44" name="Rectangle 2"/>
          <p:cNvSpPr txBox="1">
            <a:spLocks noChangeArrowheads="1"/>
          </p:cNvSpPr>
          <p:nvPr/>
        </p:nvSpPr>
        <p:spPr bwMode="auto">
          <a:xfrm>
            <a:off x="0" y="331788"/>
            <a:ext cx="9144000" cy="711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47738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0" cap="none" spc="0" normalizeH="0" baseline="0" noProof="0">
                <a:ln>
                  <a:noFill/>
                </a:ln>
                <a:solidFill>
                  <a:srgbClr val="067AB4"/>
                </a:solidFill>
                <a:effectLst/>
                <a:uLnTx/>
                <a:uFillTx/>
                <a:latin typeface="Verdana"/>
                <a:ea typeface="+mj-ea"/>
                <a:cs typeface="Arial" pitchFamily="-111" charset="-52"/>
              </a:rPr>
              <a:t>Disaster Recovery…in the cloud</a:t>
            </a:r>
            <a:endParaRPr kumimoji="0" lang="en-US" sz="3800" b="1" i="0" u="none" strike="noStrike" kern="0" cap="none" spc="0" normalizeH="0" baseline="0" noProof="0" dirty="0">
              <a:ln>
                <a:noFill/>
              </a:ln>
              <a:solidFill>
                <a:srgbClr val="067AB4"/>
              </a:solidFill>
              <a:effectLst/>
              <a:uLnTx/>
              <a:uFillTx/>
              <a:latin typeface="Verdana"/>
              <a:ea typeface="+mj-ea"/>
              <a:cs typeface="Arial" pitchFamily="-111" charset="-52"/>
            </a:endParaRPr>
          </a:p>
        </p:txBody>
      </p:sp>
      <p:sp>
        <p:nvSpPr>
          <p:cNvPr id="47" name="Rectangular Callout 58"/>
          <p:cNvSpPr>
            <a:spLocks noChangeArrowheads="1"/>
          </p:cNvSpPr>
          <p:nvPr/>
        </p:nvSpPr>
        <p:spPr bwMode="auto">
          <a:xfrm>
            <a:off x="381000" y="5275047"/>
            <a:ext cx="2438400" cy="1076325"/>
          </a:xfrm>
          <a:prstGeom prst="wedgeRectCallout">
            <a:avLst>
              <a:gd name="adj1" fmla="val 146706"/>
              <a:gd name="adj2" fmla="val -30131"/>
            </a:avLst>
          </a:prstGeom>
          <a:solidFill>
            <a:srgbClr val="FFE3CC"/>
          </a:solidFill>
          <a:ln w="12700" algn="ctr">
            <a:solidFill>
              <a:srgbClr val="FFC799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rPr>
              <a:t>Can the cloud reduce the cost of DR and improve level of service?</a:t>
            </a:r>
          </a:p>
        </p:txBody>
      </p:sp>
    </p:spTree>
    <p:extLst>
      <p:ext uri="{BB962C8B-B14F-4D97-AF65-F5344CB8AC3E}">
        <p14:creationId xmlns:p14="http://schemas.microsoft.com/office/powerpoint/2010/main" val="17197922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8" grpId="0" animBg="1"/>
      <p:bldP spid="4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 as a Cloud Service</a:t>
            </a:r>
          </a:p>
        </p:txBody>
      </p:sp>
      <p:sp>
        <p:nvSpPr>
          <p:cNvPr id="86019" name="Content Placeholder 2"/>
          <p:cNvSpPr>
            <a:spLocks noGrp="1"/>
          </p:cNvSpPr>
          <p:nvPr>
            <p:ph idx="1"/>
          </p:nvPr>
        </p:nvSpPr>
        <p:spPr>
          <a:xfrm>
            <a:off x="477838" y="1219200"/>
            <a:ext cx="8037512" cy="4191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/>
              <a:t>Example: Cloud used for a Multi-Tier Web Application</a:t>
            </a: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C5F9FE-06B2-4975-B3C5-C8EF4864884C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67AB4"/>
                </a:solidFill>
                <a:effectLst/>
                <a:uLnTx/>
                <a:uFillTx/>
                <a:latin typeface="Verdana" pitchFamily="34" charset="0"/>
                <a:ea typeface="ＭＳ Ｐゴシック" pitchFamily="34" charset="-128"/>
                <a:cs typeface="Arial" pitchFamily="-111" charset="-52"/>
                <a:sym typeface="Verdana" pitchFamily="34" charset="0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67AB4"/>
              </a:solidFill>
              <a:effectLst/>
              <a:uLnTx/>
              <a:uFillTx/>
              <a:latin typeface="Verdana" pitchFamily="34" charset="0"/>
              <a:ea typeface="ＭＳ Ｐゴシック" pitchFamily="34" charset="-128"/>
              <a:cs typeface="Arial" pitchFamily="-111" charset="-52"/>
              <a:sym typeface="Verdana" pitchFamily="34" charset="0"/>
            </a:endParaRPr>
          </a:p>
        </p:txBody>
      </p:sp>
      <p:pic>
        <p:nvPicPr>
          <p:cNvPr id="86023" name="Picture 27" descr="ICON_Cloud_Q30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600200"/>
            <a:ext cx="42672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24" name="Rectangle 22"/>
          <p:cNvSpPr>
            <a:spLocks noChangeArrowheads="1"/>
          </p:cNvSpPr>
          <p:nvPr/>
        </p:nvSpPr>
        <p:spPr bwMode="auto">
          <a:xfrm>
            <a:off x="457200" y="2514600"/>
            <a:ext cx="335280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Verdana" pitchFamily="-111" charset="0"/>
              <a:ea typeface="ヒラギノ角ゴ ProN W3"/>
              <a:cs typeface="ヒラギノ角ゴ ProN W3"/>
              <a:sym typeface="Verdana" pitchFamily="34" charset="0"/>
            </a:endParaRPr>
          </a:p>
        </p:txBody>
      </p:sp>
      <p:sp>
        <p:nvSpPr>
          <p:cNvPr id="86025" name="Oval 19"/>
          <p:cNvSpPr>
            <a:spLocks noChangeArrowheads="1"/>
          </p:cNvSpPr>
          <p:nvPr/>
        </p:nvSpPr>
        <p:spPr bwMode="auto">
          <a:xfrm>
            <a:off x="533400" y="1905000"/>
            <a:ext cx="31242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1002"/>
                </a:solidFill>
                <a:effectLst/>
                <a:uLnTx/>
                <a:uFillTx/>
                <a:latin typeface="Comic Sans MS" pitchFamily="66" charset="0"/>
                <a:ea typeface="ヒラギノ角ゴ ProN W3"/>
                <a:cs typeface="ヒラギノ角ゴ ProN W3"/>
                <a:sym typeface="Verdana" pitchFamily="34" charset="0"/>
              </a:rPr>
              <a:t>Primary Data Center</a:t>
            </a:r>
          </a:p>
        </p:txBody>
      </p:sp>
      <p:sp>
        <p:nvSpPr>
          <p:cNvPr id="86026" name="AutoShape 4"/>
          <p:cNvSpPr>
            <a:spLocks noChangeArrowheads="1"/>
          </p:cNvSpPr>
          <p:nvPr/>
        </p:nvSpPr>
        <p:spPr bwMode="auto">
          <a:xfrm>
            <a:off x="609600" y="3048000"/>
            <a:ext cx="1066800" cy="914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ヒラギノ角ゴ ProN W3"/>
                <a:cs typeface="ヒラギノ角ゴ ProN W3"/>
                <a:sym typeface="Verdana" pitchFamily="34" charset="0"/>
              </a:rPr>
              <a:t>Web Server</a:t>
            </a:r>
          </a:p>
        </p:txBody>
      </p:sp>
      <p:sp>
        <p:nvSpPr>
          <p:cNvPr id="86027" name="AutoShape 4"/>
          <p:cNvSpPr>
            <a:spLocks noChangeArrowheads="1"/>
          </p:cNvSpPr>
          <p:nvPr/>
        </p:nvSpPr>
        <p:spPr bwMode="auto">
          <a:xfrm>
            <a:off x="685800" y="2971800"/>
            <a:ext cx="1066800" cy="914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ヒラギノ角ゴ ProN W3"/>
                <a:cs typeface="ヒラギノ角ゴ ProN W3"/>
                <a:sym typeface="Verdana" pitchFamily="34" charset="0"/>
              </a:rPr>
              <a:t>Web Server</a:t>
            </a:r>
          </a:p>
        </p:txBody>
      </p:sp>
      <p:sp>
        <p:nvSpPr>
          <p:cNvPr id="86028" name="AutoShape 4"/>
          <p:cNvSpPr>
            <a:spLocks noChangeArrowheads="1"/>
          </p:cNvSpPr>
          <p:nvPr/>
        </p:nvSpPr>
        <p:spPr bwMode="auto">
          <a:xfrm>
            <a:off x="762000" y="2819400"/>
            <a:ext cx="1066800" cy="9144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ヒラギノ角ゴ ProN W3"/>
                <a:cs typeface="ヒラギノ角ゴ ProN W3"/>
                <a:sym typeface="Verdana" pitchFamily="34" charset="0"/>
              </a:rPr>
              <a:t>Web Server</a:t>
            </a:r>
          </a:p>
        </p:txBody>
      </p:sp>
      <p:sp>
        <p:nvSpPr>
          <p:cNvPr id="86029" name="AutoShape 4"/>
          <p:cNvSpPr>
            <a:spLocks noChangeArrowheads="1"/>
          </p:cNvSpPr>
          <p:nvPr/>
        </p:nvSpPr>
        <p:spPr bwMode="auto">
          <a:xfrm>
            <a:off x="2362200" y="2819400"/>
            <a:ext cx="1066800" cy="990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ヒラギノ角ゴ ProN W3"/>
                <a:cs typeface="ヒラギノ角ゴ ProN W3"/>
                <a:sym typeface="Verdana" pitchFamily="34" charset="0"/>
              </a:rPr>
              <a:t>DataBase</a:t>
            </a:r>
          </a:p>
        </p:txBody>
      </p:sp>
      <p:sp>
        <p:nvSpPr>
          <p:cNvPr id="86030" name="Flowchart: Magnetic Disk 14"/>
          <p:cNvSpPr>
            <a:spLocks noChangeArrowheads="1"/>
          </p:cNvSpPr>
          <p:nvPr/>
        </p:nvSpPr>
        <p:spPr bwMode="auto">
          <a:xfrm>
            <a:off x="2743200" y="3429000"/>
            <a:ext cx="304800" cy="228600"/>
          </a:xfrm>
          <a:prstGeom prst="flowChartMagneticDisk">
            <a:avLst/>
          </a:prstGeom>
          <a:noFill/>
          <a:ln w="12700" algn="ctr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ea typeface="ＭＳ Ｐゴシック" pitchFamily="34" charset="-128"/>
              <a:cs typeface="Arial" pitchFamily="-111" charset="-52"/>
            </a:endParaRPr>
          </a:p>
        </p:txBody>
      </p:sp>
      <p:cxnSp>
        <p:nvCxnSpPr>
          <p:cNvPr id="17" name="Straight Connector 16"/>
          <p:cNvCxnSpPr>
            <a:endCxn id="86029" idx="1"/>
          </p:cNvCxnSpPr>
          <p:nvPr/>
        </p:nvCxnSpPr>
        <p:spPr bwMode="auto">
          <a:xfrm flipV="1">
            <a:off x="1828800" y="3314700"/>
            <a:ext cx="533400" cy="1143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86035" idx="1"/>
          </p:cNvCxnSpPr>
          <p:nvPr/>
        </p:nvCxnSpPr>
        <p:spPr bwMode="auto">
          <a:xfrm>
            <a:off x="3429000" y="3429000"/>
            <a:ext cx="1752600" cy="1588"/>
          </a:xfrm>
          <a:prstGeom prst="line">
            <a:avLst/>
          </a:prstGeom>
          <a:ln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033" name="AutoShape 4"/>
          <p:cNvSpPr>
            <a:spLocks noChangeArrowheads="1"/>
          </p:cNvSpPr>
          <p:nvPr/>
        </p:nvSpPr>
        <p:spPr bwMode="auto">
          <a:xfrm>
            <a:off x="5257800" y="3124200"/>
            <a:ext cx="609600" cy="609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ヒラギノ角ゴ ProN W3"/>
                <a:cs typeface="ヒラギノ角ゴ ProN W3"/>
                <a:sym typeface="Verdana" pitchFamily="34" charset="0"/>
              </a:rPr>
              <a:t>DR Server</a:t>
            </a:r>
          </a:p>
        </p:txBody>
      </p:sp>
      <p:sp>
        <p:nvSpPr>
          <p:cNvPr id="86034" name="Flowchart: Magnetic Disk 20"/>
          <p:cNvSpPr>
            <a:spLocks noChangeArrowheads="1"/>
          </p:cNvSpPr>
          <p:nvPr/>
        </p:nvSpPr>
        <p:spPr bwMode="auto">
          <a:xfrm>
            <a:off x="6019800" y="3276600"/>
            <a:ext cx="304800" cy="228600"/>
          </a:xfrm>
          <a:prstGeom prst="flowChartMagneticDisk">
            <a:avLst/>
          </a:prstGeom>
          <a:noFill/>
          <a:ln w="12700" algn="ctr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ea typeface="ＭＳ Ｐゴシック" pitchFamily="34" charset="-128"/>
              <a:cs typeface="Arial" pitchFamily="-111" charset="-52"/>
            </a:endParaRPr>
          </a:p>
        </p:txBody>
      </p:sp>
      <p:sp>
        <p:nvSpPr>
          <p:cNvPr id="86035" name="Rectangle 21"/>
          <p:cNvSpPr>
            <a:spLocks noChangeArrowheads="1"/>
          </p:cNvSpPr>
          <p:nvPr/>
        </p:nvSpPr>
        <p:spPr bwMode="auto">
          <a:xfrm>
            <a:off x="5181600" y="3048000"/>
            <a:ext cx="1295400" cy="762000"/>
          </a:xfrm>
          <a:prstGeom prst="rect">
            <a:avLst/>
          </a:prstGeom>
          <a:noFill/>
          <a:ln w="12700" algn="ctr">
            <a:solidFill>
              <a:schemeClr val="accent2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ea typeface="ＭＳ Ｐゴシック" pitchFamily="34" charset="-128"/>
              <a:cs typeface="Arial" pitchFamily="-111" charset="-52"/>
            </a:endParaRPr>
          </a:p>
        </p:txBody>
      </p:sp>
      <p:sp>
        <p:nvSpPr>
          <p:cNvPr id="86036" name="TextBox 22"/>
          <p:cNvSpPr txBox="1">
            <a:spLocks noChangeArrowheads="1"/>
          </p:cNvSpPr>
          <p:nvPr/>
        </p:nvSpPr>
        <p:spPr bwMode="auto">
          <a:xfrm>
            <a:off x="5100590" y="2590800"/>
            <a:ext cx="1540807" cy="515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ヒラギノ角ゴ ProN W3"/>
                <a:cs typeface="ヒラギノ角ゴ ProN W3"/>
                <a:sym typeface="Verdana" pitchFamily="34" charset="0"/>
              </a:rPr>
              <a:t>Replication Mode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ヒラギノ角ゴ ProN W3"/>
                <a:cs typeface="ヒラギノ角ゴ ProN W3"/>
                <a:sym typeface="Verdana" pitchFamily="34" charset="0"/>
              </a:rPr>
              <a:t>Resources</a:t>
            </a:r>
          </a:p>
        </p:txBody>
      </p:sp>
      <p:cxnSp>
        <p:nvCxnSpPr>
          <p:cNvPr id="25" name="Straight Connector 24"/>
          <p:cNvCxnSpPr/>
          <p:nvPr/>
        </p:nvCxnSpPr>
        <p:spPr bwMode="auto">
          <a:xfrm rot="5400000">
            <a:off x="5640388" y="3276600"/>
            <a:ext cx="1827212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6CF9999-E958-04F7-BCBE-4C2F368B0844}"/>
              </a:ext>
            </a:extLst>
          </p:cNvPr>
          <p:cNvGrpSpPr/>
          <p:nvPr/>
        </p:nvGrpSpPr>
        <p:grpSpPr>
          <a:xfrm>
            <a:off x="6705600" y="2514600"/>
            <a:ext cx="2362200" cy="1480810"/>
            <a:chOff x="6705600" y="2514600"/>
            <a:chExt cx="2362200" cy="1480810"/>
          </a:xfrm>
        </p:grpSpPr>
        <p:sp>
          <p:nvSpPr>
            <p:cNvPr id="86038" name="AutoShape 4"/>
            <p:cNvSpPr>
              <a:spLocks noChangeArrowheads="1"/>
            </p:cNvSpPr>
            <p:nvPr/>
          </p:nvSpPr>
          <p:spPr bwMode="auto">
            <a:xfrm>
              <a:off x="6705600" y="2667000"/>
              <a:ext cx="1066800" cy="9906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ヒラギノ角ゴ ProN W3"/>
                  <a:cs typeface="ヒラギノ角ゴ ProN W3"/>
                  <a:sym typeface="Verdana" pitchFamily="34" charset="0"/>
                </a:rPr>
                <a:t>DataBase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ヒラギノ角ゴ ProN W3"/>
                <a:cs typeface="ヒラギノ角ゴ ProN W3"/>
                <a:sym typeface="Verdana" pitchFamily="34" charset="0"/>
              </a:endParaRPr>
            </a:p>
          </p:txBody>
        </p:sp>
        <p:sp>
          <p:nvSpPr>
            <p:cNvPr id="86039" name="Flowchart: Magnetic Disk 26"/>
            <p:cNvSpPr>
              <a:spLocks noChangeArrowheads="1"/>
            </p:cNvSpPr>
            <p:nvPr/>
          </p:nvSpPr>
          <p:spPr bwMode="auto">
            <a:xfrm>
              <a:off x="7086600" y="3352800"/>
              <a:ext cx="304800" cy="228600"/>
            </a:xfrm>
            <a:prstGeom prst="flowChartMagneticDisk">
              <a:avLst/>
            </a:prstGeom>
            <a:noFill/>
            <a:ln w="12700" algn="ctr">
              <a:solidFill>
                <a:schemeClr val="accent2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6040" name="AutoShape 4"/>
            <p:cNvSpPr>
              <a:spLocks noChangeArrowheads="1"/>
            </p:cNvSpPr>
            <p:nvPr/>
          </p:nvSpPr>
          <p:spPr bwMode="auto">
            <a:xfrm>
              <a:off x="7848600" y="2743200"/>
              <a:ext cx="1066800" cy="9144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ヒラギノ角ゴ ProN W3"/>
                  <a:cs typeface="ヒラギノ角ゴ ProN W3"/>
                  <a:sym typeface="Verdana" pitchFamily="34" charset="0"/>
                </a:rPr>
                <a:t>Web Server</a:t>
              </a:r>
            </a:p>
          </p:txBody>
        </p:sp>
        <p:sp>
          <p:nvSpPr>
            <p:cNvPr id="86041" name="AutoShape 4"/>
            <p:cNvSpPr>
              <a:spLocks noChangeArrowheads="1"/>
            </p:cNvSpPr>
            <p:nvPr/>
          </p:nvSpPr>
          <p:spPr bwMode="auto">
            <a:xfrm>
              <a:off x="7924800" y="2667000"/>
              <a:ext cx="1066800" cy="9144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ヒラギノ角ゴ ProN W3"/>
                  <a:cs typeface="ヒラギノ角ゴ ProN W3"/>
                  <a:sym typeface="Verdana" pitchFamily="34" charset="0"/>
                </a:rPr>
                <a:t>Web Server</a:t>
              </a:r>
            </a:p>
          </p:txBody>
        </p:sp>
        <p:sp>
          <p:nvSpPr>
            <p:cNvPr id="86042" name="AutoShape 4"/>
            <p:cNvSpPr>
              <a:spLocks noChangeArrowheads="1"/>
            </p:cNvSpPr>
            <p:nvPr/>
          </p:nvSpPr>
          <p:spPr bwMode="auto">
            <a:xfrm>
              <a:off x="8001000" y="2514600"/>
              <a:ext cx="1066800" cy="9144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ヒラギノ角ゴ ProN W3"/>
                  <a:cs typeface="ヒラギノ角ゴ ProN W3"/>
                  <a:sym typeface="Verdana" pitchFamily="34" charset="0"/>
                </a:rPr>
                <a:t>Web Server</a:t>
              </a:r>
            </a:p>
          </p:txBody>
        </p:sp>
        <p:cxnSp>
          <p:nvCxnSpPr>
            <p:cNvPr id="32" name="Straight Connector 31"/>
            <p:cNvCxnSpPr>
              <a:stCxn id="86038" idx="3"/>
              <a:endCxn id="86041" idx="1"/>
            </p:cNvCxnSpPr>
            <p:nvPr/>
          </p:nvCxnSpPr>
          <p:spPr bwMode="auto">
            <a:xfrm flipV="1">
              <a:off x="7772400" y="3124200"/>
              <a:ext cx="152400" cy="3810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044" name="TextBox 34"/>
            <p:cNvSpPr txBox="1">
              <a:spLocks noChangeArrowheads="1"/>
            </p:cNvSpPr>
            <p:nvPr/>
          </p:nvSpPr>
          <p:spPr bwMode="auto">
            <a:xfrm>
              <a:off x="6751401" y="3733800"/>
              <a:ext cx="2149949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ヒラギノ角ゴ ProN W3"/>
                  <a:cs typeface="ヒラギノ角ゴ ProN W3"/>
                  <a:sym typeface="Verdana" pitchFamily="34" charset="0"/>
                </a:rPr>
                <a:t>Failover Mode Resources</a:t>
              </a:r>
            </a:p>
          </p:txBody>
        </p:sp>
      </p:grpSp>
      <p:sp>
        <p:nvSpPr>
          <p:cNvPr id="37" name="Content Placeholder 2"/>
          <p:cNvSpPr txBox="1">
            <a:spLocks/>
          </p:cNvSpPr>
          <p:nvPr/>
        </p:nvSpPr>
        <p:spPr bwMode="auto">
          <a:xfrm>
            <a:off x="0" y="4343400"/>
            <a:ext cx="9144000" cy="190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342900" marR="0" lvl="0" indent="-342900" defTabSz="947738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pitchFamily="124" charset="-128"/>
                <a:cs typeface="Arial" pitchFamily="-111" charset="-52"/>
                <a:sym typeface="Verdana" charset="0"/>
              </a:rPr>
              <a:t>Replication mode: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pitchFamily="124" charset="-128"/>
                <a:cs typeface="Arial" pitchFamily="-111" charset="-52"/>
                <a:sym typeface="Verdana" charset="0"/>
              </a:rPr>
              <a:t>Resources in the Cloud during non-failure mode, to replicate state. </a:t>
            </a:r>
            <a:r>
              <a:rPr lang="en-US" sz="2000" kern="0" dirty="0">
                <a:solidFill>
                  <a:srgbClr val="4D4D4D"/>
                </a:solidFill>
                <a:latin typeface="Verdana"/>
                <a:ea typeface="ＭＳ Ｐゴシック" pitchFamily="124" charset="-128"/>
                <a:cs typeface="Arial" pitchFamily="-111" charset="-52"/>
                <a:sym typeface="Verdana" charset="0"/>
              </a:rPr>
              <a:t>C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pitchFamily="124" charset="-128"/>
                <a:cs typeface="Arial" pitchFamily="-111" charset="-52"/>
                <a:sym typeface="Verdana" charset="0"/>
              </a:rPr>
              <a:t>an be shared and be low-cost (statistical multiplexing)</a:t>
            </a:r>
          </a:p>
          <a:p>
            <a:pPr marL="342900" marR="0" lvl="0" indent="-342900" defTabSz="947738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pitchFamily="124" charset="-128"/>
                <a:cs typeface="Arial" pitchFamily="-111" charset="-52"/>
                <a:sym typeface="Verdana" charset="0"/>
              </a:rPr>
              <a:t>Failover Mode: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pitchFamily="124" charset="-128"/>
                <a:cs typeface="Arial" pitchFamily="-111" charset="-52"/>
                <a:sym typeface="Verdana" charset="0"/>
              </a:rPr>
              <a:t>resources used only as needed, and available on-demand from Cloud Provider</a:t>
            </a:r>
          </a:p>
          <a:p>
            <a:pPr marL="342900" marR="0" lvl="0" indent="-342900" defTabSz="947738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pitchFamily="124" charset="-128"/>
                <a:cs typeface="Arial" pitchFamily="-111" charset="-52"/>
                <a:sym typeface="Verdana" charset="0"/>
              </a:rPr>
              <a:t>Automation make BC== DR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/>
                <a:ea typeface="ＭＳ Ｐゴシック" pitchFamily="124" charset="-128"/>
                <a:cs typeface="Arial" pitchFamily="-111" charset="-52"/>
                <a:sym typeface="Verdana" charset="0"/>
              </a:rPr>
              <a:t>, with nearly immediate failover</a:t>
            </a:r>
          </a:p>
          <a:p>
            <a:pPr marL="342900" marR="0" lvl="0" indent="-342900" algn="ctr" defTabSz="947738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rgbClr val="000000"/>
              </a:buClr>
              <a:buSzPct val="100000"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Verdana"/>
              <a:ea typeface="ＭＳ Ｐゴシック" pitchFamily="124" charset="-128"/>
              <a:cs typeface="Arial" pitchFamily="-111" charset="-52"/>
              <a:sym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28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Cost Analysis Scenario</a:t>
            </a: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11150" y="1092200"/>
            <a:ext cx="8832850" cy="5118100"/>
          </a:xfrm>
        </p:spPr>
        <p:txBody>
          <a:bodyPr/>
          <a:lstStyle/>
          <a:p>
            <a:pPr eaLnBrk="1" hangingPunct="1"/>
            <a:r>
              <a:rPr lang="en-US" dirty="0"/>
              <a:t>Compare the cost of DR in Colocation center vs. Cloud-based DR</a:t>
            </a:r>
          </a:p>
          <a:p>
            <a:pPr eaLnBrk="1" hangingPunct="1"/>
            <a:r>
              <a:rPr lang="en-US" dirty="0" err="1"/>
              <a:t>Colo</a:t>
            </a:r>
            <a:r>
              <a:rPr lang="en-US" dirty="0"/>
              <a:t> case pays for servers and space at all times</a:t>
            </a:r>
          </a:p>
          <a:p>
            <a:pPr eaLnBrk="1" hangingPunct="1"/>
            <a:r>
              <a:rPr lang="en-US" dirty="0"/>
              <a:t>Cloud DR only pays for resources as they are used</a:t>
            </a:r>
          </a:p>
          <a:p>
            <a:pPr eaLnBrk="1" hangingPunct="1"/>
            <a:r>
              <a:rPr lang="en-US" dirty="0"/>
              <a:t>Use Case: </a:t>
            </a:r>
            <a:r>
              <a:rPr lang="en-US" dirty="0" err="1"/>
              <a:t>RUBiS</a:t>
            </a:r>
            <a:r>
              <a:rPr lang="en-US" dirty="0"/>
              <a:t> </a:t>
            </a:r>
            <a:r>
              <a:rPr lang="en-US" dirty="0" err="1"/>
              <a:t>ebay</a:t>
            </a:r>
            <a:r>
              <a:rPr lang="en-US" dirty="0"/>
              <a:t>-like multi-tier web application</a:t>
            </a:r>
          </a:p>
          <a:p>
            <a:pPr lvl="1" eaLnBrk="1" hangingPunct="1"/>
            <a:r>
              <a:rPr lang="en-US" dirty="0"/>
              <a:t>3 web front ends</a:t>
            </a:r>
          </a:p>
          <a:p>
            <a:pPr lvl="1" eaLnBrk="1" hangingPunct="1"/>
            <a:r>
              <a:rPr lang="en-US" dirty="0"/>
              <a:t>1 database server</a:t>
            </a:r>
          </a:p>
          <a:p>
            <a:pPr eaLnBrk="1" hangingPunct="1"/>
            <a:r>
              <a:rPr lang="en-US" dirty="0"/>
              <a:t>Only database state is replicated</a:t>
            </a:r>
          </a:p>
        </p:txBody>
      </p:sp>
      <p:grpSp>
        <p:nvGrpSpPr>
          <p:cNvPr id="2" name="Group 69"/>
          <p:cNvGrpSpPr>
            <a:grpSpLocks/>
          </p:cNvGrpSpPr>
          <p:nvPr/>
        </p:nvGrpSpPr>
        <p:grpSpPr bwMode="auto">
          <a:xfrm>
            <a:off x="5688013" y="5384800"/>
            <a:ext cx="2770187" cy="1244600"/>
            <a:chOff x="0" y="0"/>
            <a:chExt cx="1744" cy="784"/>
          </a:xfrm>
        </p:grpSpPr>
        <p:sp>
          <p:nvSpPr>
            <p:cNvPr id="87069" name="AutoShape 70"/>
            <p:cNvSpPr>
              <a:spLocks/>
            </p:cNvSpPr>
            <p:nvPr/>
          </p:nvSpPr>
          <p:spPr bwMode="auto">
            <a:xfrm>
              <a:off x="160" y="0"/>
              <a:ext cx="1584" cy="764"/>
            </a:xfrm>
            <a:prstGeom prst="roundRect">
              <a:avLst>
                <a:gd name="adj" fmla="val 15690"/>
              </a:avLst>
            </a:prstGeom>
            <a:solidFill>
              <a:srgbClr val="CADBFE"/>
            </a:solidFill>
            <a:ln w="19050">
              <a:solidFill>
                <a:srgbClr val="002939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pic>
          <p:nvPicPr>
            <p:cNvPr id="87070" name="Picture 71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43" y="92"/>
              <a:ext cx="480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7071" name="Rectangle 72"/>
            <p:cNvSpPr>
              <a:spLocks/>
            </p:cNvSpPr>
            <p:nvPr/>
          </p:nvSpPr>
          <p:spPr bwMode="auto">
            <a:xfrm>
              <a:off x="799" y="591"/>
              <a:ext cx="828" cy="19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3920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DR Cloud</a:t>
              </a:r>
            </a:p>
          </p:txBody>
        </p:sp>
        <p:pic>
          <p:nvPicPr>
            <p:cNvPr id="87072" name="Picture 73"/>
            <p:cNvPicPr>
              <a:picLocks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04" y="289"/>
              <a:ext cx="312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7073" name="AutoShape 74"/>
            <p:cNvSpPr>
              <a:spLocks/>
            </p:cNvSpPr>
            <p:nvPr/>
          </p:nvSpPr>
          <p:spPr bwMode="auto">
            <a:xfrm>
              <a:off x="0" y="86"/>
              <a:ext cx="477" cy="401"/>
            </a:xfrm>
            <a:prstGeom prst="roundRect">
              <a:avLst>
                <a:gd name="adj" fmla="val 9977"/>
              </a:avLst>
            </a:prstGeom>
            <a:solidFill>
              <a:srgbClr val="98B7FE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3920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DR Server</a:t>
              </a:r>
            </a:p>
          </p:txBody>
        </p:sp>
      </p:grpSp>
      <p:grpSp>
        <p:nvGrpSpPr>
          <p:cNvPr id="3" name="Group 75"/>
          <p:cNvGrpSpPr>
            <a:grpSpLocks/>
          </p:cNvGrpSpPr>
          <p:nvPr/>
        </p:nvGrpSpPr>
        <p:grpSpPr bwMode="auto">
          <a:xfrm>
            <a:off x="546100" y="4522788"/>
            <a:ext cx="2514600" cy="1206500"/>
            <a:chOff x="0" y="0"/>
            <a:chExt cx="1583" cy="759"/>
          </a:xfrm>
        </p:grpSpPr>
        <p:sp>
          <p:nvSpPr>
            <p:cNvPr id="87062" name="AutoShape 76"/>
            <p:cNvSpPr>
              <a:spLocks/>
            </p:cNvSpPr>
            <p:nvPr/>
          </p:nvSpPr>
          <p:spPr bwMode="auto">
            <a:xfrm>
              <a:off x="0" y="0"/>
              <a:ext cx="1583" cy="759"/>
            </a:xfrm>
            <a:prstGeom prst="roundRect">
              <a:avLst>
                <a:gd name="adj" fmla="val 15787"/>
              </a:avLst>
            </a:prstGeom>
            <a:solidFill>
              <a:srgbClr val="C2E5A6"/>
            </a:solidFill>
            <a:ln w="19050">
              <a:solidFill>
                <a:srgbClr val="3F691E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7063" name="Rectangle 77"/>
            <p:cNvSpPr>
              <a:spLocks/>
            </p:cNvSpPr>
            <p:nvPr/>
          </p:nvSpPr>
          <p:spPr bwMode="auto">
            <a:xfrm>
              <a:off x="318" y="579"/>
              <a:ext cx="944" cy="17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3920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Enterprise DC</a:t>
              </a:r>
            </a:p>
          </p:txBody>
        </p:sp>
        <p:sp>
          <p:nvSpPr>
            <p:cNvPr id="87064" name="AutoShape 78"/>
            <p:cNvSpPr>
              <a:spLocks/>
            </p:cNvSpPr>
            <p:nvPr/>
          </p:nvSpPr>
          <p:spPr bwMode="auto">
            <a:xfrm>
              <a:off x="101" y="65"/>
              <a:ext cx="393" cy="386"/>
            </a:xfrm>
            <a:prstGeom prst="roundRect">
              <a:avLst>
                <a:gd name="adj" fmla="val 10361"/>
              </a:avLst>
            </a:prstGeom>
            <a:solidFill>
              <a:srgbClr val="D9EACA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7065" name="AutoShape 79"/>
            <p:cNvSpPr>
              <a:spLocks/>
            </p:cNvSpPr>
            <p:nvPr/>
          </p:nvSpPr>
          <p:spPr bwMode="auto">
            <a:xfrm>
              <a:off x="178" y="136"/>
              <a:ext cx="393" cy="386"/>
            </a:xfrm>
            <a:prstGeom prst="roundRect">
              <a:avLst>
                <a:gd name="adj" fmla="val 10361"/>
              </a:avLst>
            </a:prstGeom>
            <a:solidFill>
              <a:srgbClr val="D9EACA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7066" name="AutoShape 80"/>
            <p:cNvSpPr>
              <a:spLocks/>
            </p:cNvSpPr>
            <p:nvPr/>
          </p:nvSpPr>
          <p:spPr bwMode="auto">
            <a:xfrm>
              <a:off x="262" y="189"/>
              <a:ext cx="428" cy="386"/>
            </a:xfrm>
            <a:prstGeom prst="roundRect">
              <a:avLst>
                <a:gd name="adj" fmla="val 10361"/>
              </a:avLst>
            </a:prstGeom>
            <a:solidFill>
              <a:srgbClr val="D9EACA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3920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Web servers</a:t>
              </a:r>
              <a:b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</a:b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3x</a:t>
              </a:r>
            </a:p>
          </p:txBody>
        </p:sp>
        <p:sp>
          <p:nvSpPr>
            <p:cNvPr id="87067" name="AutoShape 81"/>
            <p:cNvSpPr>
              <a:spLocks/>
            </p:cNvSpPr>
            <p:nvPr/>
          </p:nvSpPr>
          <p:spPr bwMode="auto">
            <a:xfrm>
              <a:off x="792" y="189"/>
              <a:ext cx="684" cy="386"/>
            </a:xfrm>
            <a:prstGeom prst="roundRect">
              <a:avLst>
                <a:gd name="adj" fmla="val 10361"/>
              </a:avLst>
            </a:prstGeom>
            <a:solidFill>
              <a:srgbClr val="D9EACA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3920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Database</a:t>
              </a:r>
            </a:p>
          </p:txBody>
        </p:sp>
        <p:pic>
          <p:nvPicPr>
            <p:cNvPr id="87068" name="Picture 82"/>
            <p:cNvPicPr>
              <a:picLocks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08" y="341"/>
              <a:ext cx="408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oup 83"/>
          <p:cNvGrpSpPr>
            <a:grpSpLocks/>
          </p:cNvGrpSpPr>
          <p:nvPr/>
        </p:nvGrpSpPr>
        <p:grpSpPr bwMode="auto">
          <a:xfrm>
            <a:off x="5905500" y="4040188"/>
            <a:ext cx="2513013" cy="1206500"/>
            <a:chOff x="0" y="0"/>
            <a:chExt cx="1583" cy="760"/>
          </a:xfrm>
        </p:grpSpPr>
        <p:sp>
          <p:nvSpPr>
            <p:cNvPr id="87055" name="AutoShape 84"/>
            <p:cNvSpPr>
              <a:spLocks/>
            </p:cNvSpPr>
            <p:nvPr/>
          </p:nvSpPr>
          <p:spPr bwMode="auto">
            <a:xfrm>
              <a:off x="0" y="0"/>
              <a:ext cx="1583" cy="760"/>
            </a:xfrm>
            <a:prstGeom prst="roundRect">
              <a:avLst>
                <a:gd name="adj" fmla="val 15787"/>
              </a:avLst>
            </a:prstGeom>
            <a:solidFill>
              <a:srgbClr val="FEDF98"/>
            </a:solidFill>
            <a:ln w="19050">
              <a:solidFill>
                <a:srgbClr val="343434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7056" name="Rectangle 85"/>
            <p:cNvSpPr>
              <a:spLocks/>
            </p:cNvSpPr>
            <p:nvPr/>
          </p:nvSpPr>
          <p:spPr bwMode="auto">
            <a:xfrm>
              <a:off x="170" y="571"/>
              <a:ext cx="1184" cy="18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3920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Colocation Center</a:t>
              </a:r>
            </a:p>
          </p:txBody>
        </p:sp>
        <p:sp>
          <p:nvSpPr>
            <p:cNvPr id="87057" name="AutoShape 86"/>
            <p:cNvSpPr>
              <a:spLocks/>
            </p:cNvSpPr>
            <p:nvPr/>
          </p:nvSpPr>
          <p:spPr bwMode="auto">
            <a:xfrm>
              <a:off x="101" y="65"/>
              <a:ext cx="393" cy="386"/>
            </a:xfrm>
            <a:prstGeom prst="roundRect">
              <a:avLst>
                <a:gd name="adj" fmla="val 10361"/>
              </a:avLst>
            </a:prstGeom>
            <a:solidFill>
              <a:schemeClr val="accent1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7058" name="AutoShape 87"/>
            <p:cNvSpPr>
              <a:spLocks/>
            </p:cNvSpPr>
            <p:nvPr/>
          </p:nvSpPr>
          <p:spPr bwMode="auto">
            <a:xfrm>
              <a:off x="178" y="136"/>
              <a:ext cx="393" cy="386"/>
            </a:xfrm>
            <a:prstGeom prst="roundRect">
              <a:avLst>
                <a:gd name="adj" fmla="val 10361"/>
              </a:avLst>
            </a:prstGeom>
            <a:solidFill>
              <a:schemeClr val="accent1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7059" name="AutoShape 88"/>
            <p:cNvSpPr>
              <a:spLocks/>
            </p:cNvSpPr>
            <p:nvPr/>
          </p:nvSpPr>
          <p:spPr bwMode="auto">
            <a:xfrm>
              <a:off x="262" y="190"/>
              <a:ext cx="428" cy="385"/>
            </a:xfrm>
            <a:prstGeom prst="roundRect">
              <a:avLst>
                <a:gd name="adj" fmla="val 10361"/>
              </a:avLst>
            </a:prstGeom>
            <a:solidFill>
              <a:schemeClr val="accent1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3920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Web servers</a:t>
              </a:r>
              <a:b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</a:b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3x</a:t>
              </a:r>
            </a:p>
          </p:txBody>
        </p:sp>
        <p:sp>
          <p:nvSpPr>
            <p:cNvPr id="87060" name="AutoShape 89"/>
            <p:cNvSpPr>
              <a:spLocks/>
            </p:cNvSpPr>
            <p:nvPr/>
          </p:nvSpPr>
          <p:spPr bwMode="auto">
            <a:xfrm>
              <a:off x="791" y="190"/>
              <a:ext cx="685" cy="385"/>
            </a:xfrm>
            <a:prstGeom prst="roundRect">
              <a:avLst>
                <a:gd name="adj" fmla="val 10361"/>
              </a:avLst>
            </a:prstGeom>
            <a:solidFill>
              <a:schemeClr val="accent1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3920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Database</a:t>
              </a:r>
            </a:p>
          </p:txBody>
        </p:sp>
        <p:pic>
          <p:nvPicPr>
            <p:cNvPr id="87061" name="Picture 90"/>
            <p:cNvPicPr>
              <a:picLocks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07" y="344"/>
              <a:ext cx="408" cy="2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6171" name="Line 91"/>
          <p:cNvSpPr>
            <a:spLocks noChangeShapeType="1"/>
          </p:cNvSpPr>
          <p:nvPr/>
        </p:nvSpPr>
        <p:spPr bwMode="auto">
          <a:xfrm flipH="1">
            <a:off x="3403600" y="4700588"/>
            <a:ext cx="2286000" cy="252412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  <p:sp>
        <p:nvSpPr>
          <p:cNvPr id="46172" name="Line 92"/>
          <p:cNvSpPr>
            <a:spLocks noChangeShapeType="1"/>
          </p:cNvSpPr>
          <p:nvPr/>
        </p:nvSpPr>
        <p:spPr bwMode="auto">
          <a:xfrm rot="10800000">
            <a:off x="3403600" y="5551488"/>
            <a:ext cx="2273300" cy="31750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 type="stealth" w="med" len="med"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  <p:sp>
        <p:nvSpPr>
          <p:cNvPr id="46173" name="AutoShape 93"/>
          <p:cNvSpPr>
            <a:spLocks/>
          </p:cNvSpPr>
          <p:nvPr/>
        </p:nvSpPr>
        <p:spPr bwMode="auto">
          <a:xfrm>
            <a:off x="6731000" y="5932488"/>
            <a:ext cx="927100" cy="444500"/>
          </a:xfrm>
          <a:prstGeom prst="roundRect">
            <a:avLst>
              <a:gd name="adj" fmla="val 14282"/>
            </a:avLst>
          </a:prstGeom>
          <a:solidFill>
            <a:srgbClr val="9BA5C7">
              <a:alpha val="69803"/>
            </a:srgbClr>
          </a:solidFill>
          <a:ln w="19050">
            <a:solidFill>
              <a:srgbClr val="1A1A1A"/>
            </a:solidFill>
            <a:round/>
            <a:headEnd/>
            <a:tailEnd/>
          </a:ln>
        </p:spPr>
        <p:txBody>
          <a:bodyPr lIns="0" tIns="0" rIns="39200" bIns="0" anchor="ctr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rPr>
              <a:t>Database</a:t>
            </a:r>
          </a:p>
        </p:txBody>
      </p:sp>
      <p:grpSp>
        <p:nvGrpSpPr>
          <p:cNvPr id="5" name="Group 94"/>
          <p:cNvGrpSpPr>
            <a:grpSpLocks/>
          </p:cNvGrpSpPr>
          <p:nvPr/>
        </p:nvGrpSpPr>
        <p:grpSpPr bwMode="auto">
          <a:xfrm>
            <a:off x="7505700" y="5335588"/>
            <a:ext cx="933450" cy="814387"/>
            <a:chOff x="0" y="0"/>
            <a:chExt cx="588" cy="513"/>
          </a:xfrm>
        </p:grpSpPr>
        <p:sp>
          <p:nvSpPr>
            <p:cNvPr id="87052" name="AutoShape 95"/>
            <p:cNvSpPr>
              <a:spLocks/>
            </p:cNvSpPr>
            <p:nvPr/>
          </p:nvSpPr>
          <p:spPr bwMode="auto">
            <a:xfrm>
              <a:off x="0" y="0"/>
              <a:ext cx="393" cy="385"/>
            </a:xfrm>
            <a:prstGeom prst="roundRect">
              <a:avLst>
                <a:gd name="adj" fmla="val 10361"/>
              </a:avLst>
            </a:prstGeom>
            <a:solidFill>
              <a:srgbClr val="9BA5C7">
                <a:alpha val="69803"/>
              </a:srgbClr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7053" name="AutoShape 96"/>
            <p:cNvSpPr>
              <a:spLocks/>
            </p:cNvSpPr>
            <p:nvPr/>
          </p:nvSpPr>
          <p:spPr bwMode="auto">
            <a:xfrm>
              <a:off x="72" y="72"/>
              <a:ext cx="393" cy="385"/>
            </a:xfrm>
            <a:prstGeom prst="roundRect">
              <a:avLst>
                <a:gd name="adj" fmla="val 10361"/>
              </a:avLst>
            </a:prstGeom>
            <a:solidFill>
              <a:srgbClr val="9BA5C7">
                <a:alpha val="69803"/>
              </a:srgbClr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7054" name="AutoShape 97"/>
            <p:cNvSpPr>
              <a:spLocks/>
            </p:cNvSpPr>
            <p:nvPr/>
          </p:nvSpPr>
          <p:spPr bwMode="auto">
            <a:xfrm>
              <a:off x="160" y="128"/>
              <a:ext cx="428" cy="385"/>
            </a:xfrm>
            <a:prstGeom prst="roundRect">
              <a:avLst>
                <a:gd name="adj" fmla="val 10361"/>
              </a:avLst>
            </a:prstGeom>
            <a:solidFill>
              <a:srgbClr val="9BA5C7">
                <a:alpha val="69803"/>
              </a:srgbClr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3920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Web servers</a:t>
              </a:r>
              <a:b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</a:b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3x</a:t>
              </a:r>
            </a:p>
          </p:txBody>
        </p:sp>
      </p:grpSp>
      <p:sp>
        <p:nvSpPr>
          <p:cNvPr id="33" name="Slide Number Placeholder 3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18AC47-F4D5-4A58-A0C0-0DD466A5F1E2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67AB4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067AB4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3235770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71" grpId="0" animBg="1"/>
      <p:bldP spid="46172" grpId="0" animBg="1"/>
      <p:bldP spid="46173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838200"/>
          </a:xfrm>
        </p:spPr>
        <p:txBody>
          <a:bodyPr/>
          <a:lstStyle/>
          <a:p>
            <a:pPr eaLnBrk="1" hangingPunct="1"/>
            <a:r>
              <a:rPr lang="en-US" sz="3600"/>
              <a:t>Cost Analysis: Colocation vs. Cloud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1150" y="1092200"/>
            <a:ext cx="7937500" cy="5003800"/>
          </a:xfrm>
        </p:spPr>
        <p:txBody>
          <a:bodyPr/>
          <a:lstStyle/>
          <a:p>
            <a:pPr eaLnBrk="1" hangingPunct="1"/>
            <a:r>
              <a:rPr lang="en-US" sz="1900" b="1" dirty="0"/>
              <a:t>Normal Case</a:t>
            </a:r>
          </a:p>
          <a:p>
            <a:pPr lvl="1" eaLnBrk="1" hangingPunct="1"/>
            <a:r>
              <a:rPr lang="en-US" sz="1900" dirty="0"/>
              <a:t>Resources needed</a:t>
            </a:r>
            <a:br>
              <a:rPr lang="en-US" sz="1900" dirty="0"/>
            </a:br>
            <a:r>
              <a:rPr lang="en-US" sz="1900" dirty="0"/>
              <a:t> to replicate DB state</a:t>
            </a:r>
          </a:p>
          <a:p>
            <a:pPr lvl="1" eaLnBrk="1" hangingPunct="1"/>
            <a:endParaRPr lang="en-US" sz="1900" dirty="0"/>
          </a:p>
          <a:p>
            <a:pPr eaLnBrk="1" hangingPunct="1"/>
            <a:r>
              <a:rPr lang="en-US" sz="1900" b="1" dirty="0"/>
              <a:t>Post-Disaster</a:t>
            </a:r>
          </a:p>
          <a:p>
            <a:pPr lvl="1" eaLnBrk="1" hangingPunct="1"/>
            <a:r>
              <a:rPr lang="en-US" sz="1900" dirty="0"/>
              <a:t>Resources needed</a:t>
            </a:r>
            <a:br>
              <a:rPr lang="en-US" sz="1900" dirty="0"/>
            </a:br>
            <a:r>
              <a:rPr lang="en-US" sz="1900" dirty="0"/>
              <a:t>to run all application </a:t>
            </a:r>
            <a:br>
              <a:rPr lang="en-US" sz="1900" dirty="0"/>
            </a:br>
            <a:r>
              <a:rPr lang="en-US" sz="1900" dirty="0"/>
              <a:t>components</a:t>
            </a:r>
          </a:p>
          <a:p>
            <a:pPr lvl="4" eaLnBrk="1" hangingPunct="1"/>
            <a:endParaRPr lang="en-US" sz="1900" dirty="0"/>
          </a:p>
          <a:p>
            <a:pPr lvl="4" eaLnBrk="1" hangingPunct="1"/>
            <a:endParaRPr lang="en-US" sz="1900" dirty="0"/>
          </a:p>
          <a:p>
            <a:pPr eaLnBrk="1" hangingPunct="1"/>
            <a:r>
              <a:rPr lang="en-US" sz="1900" b="1" dirty="0"/>
              <a:t>99% Uptime cost (3 days </a:t>
            </a:r>
            <a:r>
              <a:rPr lang="en-US" sz="1900" b="1"/>
              <a:t>of downtime per </a:t>
            </a:r>
            <a:r>
              <a:rPr lang="en-US" sz="1900" b="1" dirty="0"/>
              <a:t>year)</a:t>
            </a:r>
            <a:endParaRPr lang="en-US" sz="1900" dirty="0"/>
          </a:p>
          <a:p>
            <a:pPr lvl="1" eaLnBrk="1" hangingPunct="1"/>
            <a:r>
              <a:rPr lang="en-US" sz="1900" dirty="0" err="1"/>
              <a:t>Colo</a:t>
            </a:r>
            <a:r>
              <a:rPr lang="en-US" sz="1900" dirty="0"/>
              <a:t>: </a:t>
            </a:r>
            <a:r>
              <a:rPr lang="en-US" sz="1900" b="1" dirty="0">
                <a:solidFill>
                  <a:srgbClr val="6E0500"/>
                </a:solidFill>
              </a:rPr>
              <a:t>$10,373 per year</a:t>
            </a:r>
          </a:p>
          <a:p>
            <a:pPr lvl="1" eaLnBrk="1" hangingPunct="1"/>
            <a:r>
              <a:rPr lang="en-US" sz="1900" dirty="0"/>
              <a:t>Cloud: </a:t>
            </a:r>
            <a:r>
              <a:rPr lang="en-US" sz="1900" b="1" dirty="0">
                <a:solidFill>
                  <a:srgbClr val="3F691E"/>
                </a:solidFill>
              </a:rPr>
              <a:t>$1,562 per year</a:t>
            </a:r>
          </a:p>
        </p:txBody>
      </p:sp>
      <p:graphicFrame>
        <p:nvGraphicFramePr>
          <p:cNvPr id="12356" name="Group 68"/>
          <p:cNvGraphicFramePr>
            <a:graphicFrameLocks noGrp="1"/>
          </p:cNvGraphicFramePr>
          <p:nvPr/>
        </p:nvGraphicFramePr>
        <p:xfrm>
          <a:off x="3629025" y="1381125"/>
          <a:ext cx="5308600" cy="2660079"/>
        </p:xfrm>
        <a:graphic>
          <a:graphicData uri="http://schemas.openxmlformats.org/drawingml/2006/table">
            <a:tbl>
              <a:tblPr/>
              <a:tblGrid>
                <a:gridCol w="160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  <a:ea typeface="ヒラギノ角ゴ ProN W3" charset="-128"/>
                        <a:cs typeface="ヒラギノ角ゴ ProN W3" charset="-128"/>
                        <a:sym typeface="Verdana" charset="0"/>
                      </a:endParaRPr>
                    </a:p>
                  </a:txBody>
                  <a:tcPr marL="50800" marR="50800" marT="50800" marB="5080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Normal Case</a:t>
                      </a: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Post-Disaster</a:t>
                      </a: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8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Servers</a:t>
                      </a:r>
                    </a:p>
                  </a:txBody>
                  <a:tcPr marL="50800" marR="50800" marT="50800" marB="5080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75500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colo = 4 servers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  </a:t>
                      </a:r>
                      <a:b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</a:b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2D99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cloud = 1 VMs</a:t>
                      </a: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975500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colo = 4 servers</a:t>
                      </a:r>
                      <a:b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</a:b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2D99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cloud = 5 VMs</a:t>
                      </a: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Network</a:t>
                      </a:r>
                    </a:p>
                  </a:txBody>
                  <a:tcPr marL="50800" marR="50800" marT="50800" marB="5080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5 GB/day</a:t>
                      </a: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180 GB/day</a:t>
                      </a: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Colocation:</a:t>
                      </a:r>
                    </a:p>
                  </a:txBody>
                  <a:tcPr marL="50800" marR="50800" marT="50800" marB="5080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DF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$28.04/day</a:t>
                      </a: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DF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$66.01/day</a:t>
                      </a: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DF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Cloud:</a:t>
                      </a:r>
                    </a:p>
                  </a:txBody>
                  <a:tcPr marL="50800" marR="50800" marT="50800" marB="50800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D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$3.80/day</a:t>
                      </a: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D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67AB4"/>
                        </a:buClr>
                        <a:buSzPct val="100000"/>
                        <a:buFont typeface="Verdana" charset="0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charset="0"/>
                          <a:ea typeface="ヒラギノ角ゴ ProN W3" charset="-128"/>
                          <a:cs typeface="ヒラギノ角ゴ ProN W3" charset="-128"/>
                          <a:sym typeface="Verdana" charset="0"/>
                        </a:rPr>
                        <a:t>$52.03/day</a:t>
                      </a:r>
                    </a:p>
                  </a:txBody>
                  <a:tcPr marL="50800" marR="50800" marT="50800" marB="50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D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46" name="Oval 58"/>
          <p:cNvSpPr>
            <a:spLocks/>
          </p:cNvSpPr>
          <p:nvPr/>
        </p:nvSpPr>
        <p:spPr bwMode="auto">
          <a:xfrm>
            <a:off x="4965700" y="2870200"/>
            <a:ext cx="1968500" cy="1206500"/>
          </a:xfrm>
          <a:prstGeom prst="ellipse">
            <a:avLst/>
          </a:prstGeom>
          <a:noFill/>
          <a:ln w="50800">
            <a:solidFill>
              <a:srgbClr val="66B132"/>
            </a:solidFill>
            <a:round/>
            <a:headEnd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3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Verdana" pitchFamily="-111" charset="0"/>
              <a:ea typeface="ＭＳ Ｐゴシック" pitchFamily="34" charset="-128"/>
              <a:cs typeface="Arial" pitchFamily="-111" charset="-52"/>
            </a:endParaRPr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5360086" y="5080000"/>
            <a:ext cx="3009900" cy="1447800"/>
            <a:chOff x="0" y="0"/>
            <a:chExt cx="1896" cy="912"/>
          </a:xfrm>
        </p:grpSpPr>
        <p:sp>
          <p:nvSpPr>
            <p:cNvPr id="88093" name="AutoShape 60"/>
            <p:cNvSpPr>
              <a:spLocks/>
            </p:cNvSpPr>
            <p:nvPr/>
          </p:nvSpPr>
          <p:spPr bwMode="auto">
            <a:xfrm>
              <a:off x="0" y="0"/>
              <a:ext cx="1896" cy="912"/>
            </a:xfrm>
            <a:prstGeom prst="roundRect">
              <a:avLst>
                <a:gd name="adj" fmla="val 13157"/>
              </a:avLst>
            </a:prstGeom>
            <a:solidFill>
              <a:srgbClr val="C2E5A6"/>
            </a:solidFill>
            <a:ln w="19050">
              <a:solidFill>
                <a:srgbClr val="3F691E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8094" name="Rectangle 61"/>
            <p:cNvSpPr>
              <a:spLocks/>
            </p:cNvSpPr>
            <p:nvPr/>
          </p:nvSpPr>
          <p:spPr bwMode="auto">
            <a:xfrm>
              <a:off x="381" y="695"/>
              <a:ext cx="1130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3920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RUBiS</a:t>
              </a:r>
            </a:p>
          </p:txBody>
        </p:sp>
        <p:sp>
          <p:nvSpPr>
            <p:cNvPr id="88095" name="AutoShape 62"/>
            <p:cNvSpPr>
              <a:spLocks/>
            </p:cNvSpPr>
            <p:nvPr/>
          </p:nvSpPr>
          <p:spPr bwMode="auto">
            <a:xfrm>
              <a:off x="121" y="78"/>
              <a:ext cx="470" cy="463"/>
            </a:xfrm>
            <a:prstGeom prst="roundRect">
              <a:avLst>
                <a:gd name="adj" fmla="val 8634"/>
              </a:avLst>
            </a:prstGeom>
            <a:solidFill>
              <a:srgbClr val="D9EACA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8096" name="AutoShape 63"/>
            <p:cNvSpPr>
              <a:spLocks/>
            </p:cNvSpPr>
            <p:nvPr/>
          </p:nvSpPr>
          <p:spPr bwMode="auto">
            <a:xfrm>
              <a:off x="213" y="163"/>
              <a:ext cx="471" cy="464"/>
            </a:xfrm>
            <a:prstGeom prst="roundRect">
              <a:avLst>
                <a:gd name="adj" fmla="val 8634"/>
              </a:avLst>
            </a:prstGeom>
            <a:solidFill>
              <a:srgbClr val="D9EACA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Arial" pitchFamily="-111" charset="-52"/>
              </a:endParaRPr>
            </a:p>
          </p:txBody>
        </p:sp>
        <p:sp>
          <p:nvSpPr>
            <p:cNvPr id="88097" name="AutoShape 64"/>
            <p:cNvSpPr>
              <a:spLocks/>
            </p:cNvSpPr>
            <p:nvPr/>
          </p:nvSpPr>
          <p:spPr bwMode="auto">
            <a:xfrm>
              <a:off x="313" y="228"/>
              <a:ext cx="513" cy="463"/>
            </a:xfrm>
            <a:prstGeom prst="roundRect">
              <a:avLst>
                <a:gd name="adj" fmla="val 8634"/>
              </a:avLst>
            </a:prstGeom>
            <a:solidFill>
              <a:srgbClr val="D9EACA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3920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Web servers</a:t>
              </a:r>
              <a:b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</a:b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3x</a:t>
              </a:r>
            </a:p>
          </p:txBody>
        </p:sp>
        <p:sp>
          <p:nvSpPr>
            <p:cNvPr id="88098" name="AutoShape 65"/>
            <p:cNvSpPr>
              <a:spLocks/>
            </p:cNvSpPr>
            <p:nvPr/>
          </p:nvSpPr>
          <p:spPr bwMode="auto">
            <a:xfrm>
              <a:off x="948" y="228"/>
              <a:ext cx="819" cy="463"/>
            </a:xfrm>
            <a:prstGeom prst="roundRect">
              <a:avLst>
                <a:gd name="adj" fmla="val 8634"/>
              </a:avLst>
            </a:prstGeom>
            <a:solidFill>
              <a:srgbClr val="D9EACA"/>
            </a:solidFill>
            <a:ln w="19050">
              <a:solidFill>
                <a:srgbClr val="1A1A1A"/>
              </a:solidFill>
              <a:round/>
              <a:headEnd/>
              <a:tailEnd/>
            </a:ln>
          </p:spPr>
          <p:txBody>
            <a:bodyPr lIns="0" tIns="0" rIns="39200" bIns="0"/>
            <a:lstStyle/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ts val="138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Arial" pitchFamily="-111" charset="-52"/>
                </a:rPr>
                <a:t>Database</a:t>
              </a:r>
            </a:p>
          </p:txBody>
        </p:sp>
        <p:pic>
          <p:nvPicPr>
            <p:cNvPr id="88099" name="Picture 66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26" y="409"/>
              <a:ext cx="48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" name="Slide Number Placeholder 1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67AB4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rPr>
              <a:t> </a:t>
            </a:r>
            <a:fld id="{E218AC47-F4D5-4A58-A0C0-0DD466A5F1E2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67AB4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067AB4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326426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2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2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 advAuto="0"/>
      <p:bldP spid="1234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/>
          <p:cNvSpPr>
            <a:spLocks noGrp="1"/>
          </p:cNvSpPr>
          <p:nvPr>
            <p:ph type="title"/>
          </p:nvPr>
        </p:nvSpPr>
        <p:spPr>
          <a:xfrm>
            <a:off x="139337" y="756445"/>
            <a:ext cx="8708207" cy="2892447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But having a Remote Cloud site for DR is still a challenge:</a:t>
            </a:r>
            <a:br>
              <a:rPr lang="en-US" sz="4000" dirty="0">
                <a:solidFill>
                  <a:schemeClr val="tx1"/>
                </a:solidFill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D332-F9EF-4C4D-A9A5-079EC2CDC10A}"/>
              </a:ext>
            </a:extLst>
          </p:cNvPr>
          <p:cNvSpPr txBox="1"/>
          <p:nvPr/>
        </p:nvSpPr>
        <p:spPr>
          <a:xfrm>
            <a:off x="174171" y="4119154"/>
            <a:ext cx="88653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Locating the Cloud site close to the primary site isn’t always feasible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Latency to cloud (speed of light, throughput limitations) result in limitations that have to be overcome</a:t>
            </a:r>
          </a:p>
        </p:txBody>
      </p:sp>
    </p:spTree>
    <p:extLst>
      <p:ext uri="{BB962C8B-B14F-4D97-AF65-F5344CB8AC3E}">
        <p14:creationId xmlns:p14="http://schemas.microsoft.com/office/powerpoint/2010/main" val="3207888794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 bwMode="auto">
          <a:xfrm>
            <a:off x="217714" y="5932714"/>
            <a:ext cx="8926286" cy="92528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ea typeface="Arial" pitchFamily="-111" charset="-52"/>
              <a:cs typeface="Arial" pitchFamily="-111" charset="-52"/>
            </a:endParaRPr>
          </a:p>
        </p:txBody>
      </p:sp>
      <p:sp>
        <p:nvSpPr>
          <p:cNvPr id="9011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>
                <a:solidFill>
                  <a:schemeClr val="tx1"/>
                </a:solidFill>
              </a:rPr>
              <a:t>(A)Synchronous Replication</a:t>
            </a: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4981802"/>
            <a:ext cx="4712042" cy="1670050"/>
          </a:xfrm>
        </p:spPr>
        <p:txBody>
          <a:bodyPr/>
          <a:lstStyle/>
          <a:p>
            <a:pPr marL="228600">
              <a:buClrTx/>
              <a:defRPr/>
            </a:pPr>
            <a:r>
              <a:rPr lang="en-US" sz="1600" b="1" dirty="0">
                <a:solidFill>
                  <a:srgbClr val="067AB4"/>
                </a:solidFill>
              </a:rPr>
              <a:t>Synchronous replication </a:t>
            </a:r>
          </a:p>
          <a:p>
            <a:pPr marL="256032">
              <a:buClrTx/>
              <a:defRPr/>
            </a:pPr>
            <a:r>
              <a:rPr lang="en-US" sz="1600" dirty="0"/>
              <a:t>No data loss</a:t>
            </a:r>
          </a:p>
          <a:p>
            <a:pPr marL="256032">
              <a:buClrTx/>
              <a:defRPr/>
            </a:pPr>
            <a:r>
              <a:rPr lang="en-US" sz="1600" dirty="0"/>
              <a:t>No unsafe replies</a:t>
            </a:r>
          </a:p>
          <a:p>
            <a:pPr marL="256032">
              <a:buClrTx/>
              <a:defRPr/>
            </a:pPr>
            <a:r>
              <a:rPr lang="en-US" sz="1600" dirty="0"/>
              <a:t>But performance very </a:t>
            </a:r>
            <a:br>
              <a:rPr lang="en-US" sz="1600" dirty="0"/>
            </a:br>
            <a:r>
              <a:rPr lang="en-US" sz="1600" dirty="0"/>
              <a:t>sensitive to latency!</a:t>
            </a:r>
          </a:p>
        </p:txBody>
      </p:sp>
      <p:sp>
        <p:nvSpPr>
          <p:cNvPr id="46" name="Rectangle 2"/>
          <p:cNvSpPr txBox="1">
            <a:spLocks noChangeArrowheads="1"/>
          </p:cNvSpPr>
          <p:nvPr/>
        </p:nvSpPr>
        <p:spPr bwMode="auto">
          <a:xfrm>
            <a:off x="4001820" y="4983010"/>
            <a:ext cx="4876800" cy="1670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473075" marR="0" lvl="0" indent="-125413" algn="l" defTabSz="947738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67AB4"/>
                </a:solidFill>
                <a:effectLst/>
                <a:uLnTx/>
                <a:uFillTx/>
                <a:latin typeface="Verdana"/>
                <a:cs typeface="Arial" pitchFamily="-111" charset="-52"/>
              </a:rPr>
              <a:t>Asynchronous replication </a:t>
            </a:r>
          </a:p>
          <a:p>
            <a:pPr marL="328585" marR="0" lvl="0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cs typeface="Arial" pitchFamily="-111" charset="-52"/>
              </a:rPr>
              <a:t>	Typically some data loss</a:t>
            </a:r>
          </a:p>
          <a:p>
            <a:pPr marL="328585" marR="0" lvl="0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cs typeface="Arial" pitchFamily="-111" charset="-52"/>
              </a:rPr>
              <a:t>	Client view not consistent with replica</a:t>
            </a:r>
          </a:p>
          <a:p>
            <a:pPr marL="328585" marR="0" lvl="0" indent="-233363" algn="l" defTabSz="947738" rtl="0" eaLnBrk="0" fontAlgn="base" latinLnBrk="0" hangingPunct="0">
              <a:lnSpc>
                <a:spcPct val="100000"/>
              </a:lnSpc>
              <a:spcBef>
                <a:spcPct val="10000"/>
              </a:spcBef>
              <a:spcAft>
                <a:spcPct val="300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ヒラギノ角ゴ ProN W3" charset="-128"/>
                <a:cs typeface="ヒラギノ角ゴ ProN W3" charset="-128"/>
                <a:sym typeface="Verdana" charset="0"/>
              </a:rPr>
              <a:t>	Remote writes can be batched and pipelined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cs typeface="Arial" pitchFamily="-111" charset="-52"/>
            </a:endParaRPr>
          </a:p>
        </p:txBody>
      </p:sp>
      <p:grpSp>
        <p:nvGrpSpPr>
          <p:cNvPr id="2" name="Group 58"/>
          <p:cNvGrpSpPr/>
          <p:nvPr/>
        </p:nvGrpSpPr>
        <p:grpSpPr>
          <a:xfrm>
            <a:off x="0" y="1227438"/>
            <a:ext cx="9144000" cy="1488697"/>
            <a:chOff x="0" y="1227438"/>
            <a:chExt cx="9144000" cy="1488697"/>
          </a:xfrm>
        </p:grpSpPr>
        <p:grpSp>
          <p:nvGrpSpPr>
            <p:cNvPr id="3" name="Group 47"/>
            <p:cNvGrpSpPr>
              <a:grpSpLocks/>
            </p:cNvGrpSpPr>
            <p:nvPr/>
          </p:nvGrpSpPr>
          <p:grpSpPr bwMode="auto">
            <a:xfrm>
              <a:off x="0" y="1276350"/>
              <a:ext cx="9144000" cy="1439785"/>
              <a:chOff x="0" y="1276945"/>
              <a:chExt cx="8911829" cy="1438926"/>
            </a:xfrm>
          </p:grpSpPr>
          <p:sp>
            <p:nvSpPr>
              <p:cNvPr id="90120" name="Rectangle 5"/>
              <p:cNvSpPr>
                <a:spLocks/>
              </p:cNvSpPr>
              <p:nvPr/>
            </p:nvSpPr>
            <p:spPr bwMode="auto">
              <a:xfrm>
                <a:off x="0" y="1276945"/>
                <a:ext cx="2723555" cy="5089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rPr>
                  <a:t>Synchronous</a:t>
                </a:r>
              </a:p>
            </p:txBody>
          </p:sp>
          <p:grpSp>
            <p:nvGrpSpPr>
              <p:cNvPr id="4" name="Group 46"/>
              <p:cNvGrpSpPr>
                <a:grpSpLocks/>
              </p:cNvGrpSpPr>
              <p:nvPr/>
            </p:nvGrpSpPr>
            <p:grpSpPr bwMode="auto">
              <a:xfrm>
                <a:off x="63624" y="1348383"/>
                <a:ext cx="8848205" cy="1367488"/>
                <a:chOff x="63624" y="1348383"/>
                <a:chExt cx="8848205" cy="1367488"/>
              </a:xfrm>
            </p:grpSpPr>
            <p:sp>
              <p:nvSpPr>
                <p:cNvPr id="90122" name="Line 3"/>
                <p:cNvSpPr>
                  <a:spLocks noChangeShapeType="1"/>
                </p:cNvSpPr>
                <p:nvPr/>
              </p:nvSpPr>
              <p:spPr bwMode="auto">
                <a:xfrm flipH="1">
                  <a:off x="132830" y="2404318"/>
                  <a:ext cx="8778999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 type="stealth" w="med" len="med"/>
                  <a:tailEnd/>
                </a:ln>
              </p:spPr>
              <p:txBody>
                <a:bodyPr lIns="0" tIns="0" rIns="0" bIns="0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cs typeface="Arial" pitchFamily="-111" charset="-52"/>
                  </a:endParaRPr>
                </a:p>
              </p:txBody>
            </p:sp>
            <p:sp>
              <p:nvSpPr>
                <p:cNvPr id="90123" name="Rectangle 4"/>
                <p:cNvSpPr>
                  <a:spLocks/>
                </p:cNvSpPr>
                <p:nvPr/>
              </p:nvSpPr>
              <p:spPr bwMode="auto">
                <a:xfrm>
                  <a:off x="4237688" y="2454417"/>
                  <a:ext cx="521810" cy="2614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rPr>
                    <a:t>Time</a:t>
                  </a:r>
                </a:p>
              </p:txBody>
            </p:sp>
            <p:grpSp>
              <p:nvGrpSpPr>
                <p:cNvPr id="5" name="Group 6"/>
                <p:cNvGrpSpPr>
                  <a:grpSpLocks/>
                </p:cNvGrpSpPr>
                <p:nvPr/>
              </p:nvGrpSpPr>
              <p:grpSpPr bwMode="auto">
                <a:xfrm>
                  <a:off x="63624" y="1348383"/>
                  <a:ext cx="3750469" cy="928688"/>
                  <a:chOff x="0" y="0"/>
                  <a:chExt cx="3359" cy="832"/>
                </a:xfrm>
              </p:grpSpPr>
              <p:sp>
                <p:nvSpPr>
                  <p:cNvPr id="90130" name="Rectangle 7"/>
                  <p:cNvSpPr>
                    <a:spLocks/>
                  </p:cNvSpPr>
                  <p:nvPr/>
                </p:nvSpPr>
                <p:spPr bwMode="auto">
                  <a:xfrm>
                    <a:off x="1862" y="400"/>
                    <a:ext cx="985" cy="43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0" bIns="0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itchFamily="-111" charset="0"/>
                        <a:ea typeface="ＭＳ Ｐゴシック" pitchFamily="34" charset="-128"/>
                        <a:cs typeface="Gill Sans"/>
                      </a:rPr>
                      <a:t>Processing</a:t>
                    </a:r>
                    <a:endParaRPr kumimoji="0" lang="en-US" sz="1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endParaRPr>
                  </a:p>
                </p:txBody>
              </p:sp>
              <p:sp>
                <p:nvSpPr>
                  <p:cNvPr id="90131" name="Rectangle 8"/>
                  <p:cNvSpPr>
                    <a:spLocks/>
                  </p:cNvSpPr>
                  <p:nvPr/>
                </p:nvSpPr>
                <p:spPr bwMode="auto">
                  <a:xfrm>
                    <a:off x="0" y="400"/>
                    <a:ext cx="1864" cy="432"/>
                  </a:xfrm>
                  <a:prstGeom prst="rect">
                    <a:avLst/>
                  </a:prstGeom>
                  <a:solidFill>
                    <a:srgbClr val="A40800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0" bIns="0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dana" pitchFamily="-111" charset="0"/>
                        <a:ea typeface="ＭＳ Ｐゴシック" pitchFamily="34" charset="-128"/>
                        <a:cs typeface="Gill Sans"/>
                      </a:rPr>
                      <a:t>Replicate Write</a:t>
                    </a:r>
                  </a:p>
                </p:txBody>
              </p:sp>
              <p:sp>
                <p:nvSpPr>
                  <p:cNvPr id="90132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3293" y="0"/>
                    <a:ext cx="0" cy="392"/>
                  </a:xfrm>
                  <a:prstGeom prst="line">
                    <a:avLst/>
                  </a:prstGeom>
                  <a:noFill/>
                  <a:ln w="63500">
                    <a:solidFill>
                      <a:srgbClr val="0091CE"/>
                    </a:solidFill>
                    <a:miter lim="800000"/>
                    <a:headEnd type="triangle" w="med" len="med"/>
                    <a:tailEnd/>
                  </a:ln>
                </p:spPr>
                <p:txBody>
                  <a:bodyPr lIns="0" tIns="0" rIns="0" bIns="0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CCCCCC"/>
                      </a:solidFill>
                      <a:effectLst/>
                      <a:uLnTx/>
                      <a:uFillTx/>
                      <a:latin typeface="Verdana" pitchFamily="-111" charset="0"/>
                      <a:cs typeface="Arial" pitchFamily="-111" charset="-52"/>
                    </a:endParaRPr>
                  </a:p>
                </p:txBody>
              </p:sp>
              <p:sp>
                <p:nvSpPr>
                  <p:cNvPr id="90133" name="Rectangle 10"/>
                  <p:cNvSpPr>
                    <a:spLocks/>
                  </p:cNvSpPr>
                  <p:nvPr/>
                </p:nvSpPr>
                <p:spPr bwMode="auto">
                  <a:xfrm>
                    <a:off x="2851" y="400"/>
                    <a:ext cx="508" cy="43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0" bIns="0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itchFamily="-111" charset="0"/>
                        <a:ea typeface="ＭＳ Ｐゴシック" pitchFamily="34" charset="-128"/>
                        <a:cs typeface="Gill Sans"/>
                      </a:rPr>
                      <a:t>Reply</a:t>
                    </a:r>
                    <a:endParaRPr kumimoji="0" lang="en-US" sz="1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endParaRPr>
                  </a:p>
                </p:txBody>
              </p:sp>
            </p:grpSp>
            <p:grpSp>
              <p:nvGrpSpPr>
                <p:cNvPr id="6" name="Group 39"/>
                <p:cNvGrpSpPr>
                  <a:grpSpLocks/>
                </p:cNvGrpSpPr>
                <p:nvPr/>
              </p:nvGrpSpPr>
              <p:grpSpPr bwMode="auto">
                <a:xfrm>
                  <a:off x="3902274" y="1348383"/>
                  <a:ext cx="3749353" cy="928688"/>
                  <a:chOff x="0" y="0"/>
                  <a:chExt cx="3359" cy="832"/>
                </a:xfrm>
              </p:grpSpPr>
              <p:sp>
                <p:nvSpPr>
                  <p:cNvPr id="90126" name="Rectangle 40"/>
                  <p:cNvSpPr>
                    <a:spLocks/>
                  </p:cNvSpPr>
                  <p:nvPr/>
                </p:nvSpPr>
                <p:spPr bwMode="auto">
                  <a:xfrm>
                    <a:off x="1862" y="400"/>
                    <a:ext cx="985" cy="43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0" bIns="0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itchFamily="-111" charset="0"/>
                        <a:ea typeface="ＭＳ Ｐゴシック" pitchFamily="34" charset="-128"/>
                        <a:cs typeface="Gill Sans"/>
                      </a:rPr>
                      <a:t>Processing</a:t>
                    </a:r>
                    <a:endParaRPr kumimoji="0" lang="en-US" sz="1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endParaRPr>
                  </a:p>
                </p:txBody>
              </p:sp>
              <p:sp>
                <p:nvSpPr>
                  <p:cNvPr id="90127" name="Rectangle 41"/>
                  <p:cNvSpPr>
                    <a:spLocks/>
                  </p:cNvSpPr>
                  <p:nvPr/>
                </p:nvSpPr>
                <p:spPr bwMode="auto">
                  <a:xfrm>
                    <a:off x="0" y="400"/>
                    <a:ext cx="1864" cy="432"/>
                  </a:xfrm>
                  <a:prstGeom prst="rect">
                    <a:avLst/>
                  </a:prstGeom>
                  <a:solidFill>
                    <a:srgbClr val="A40800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0" bIns="0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dana" pitchFamily="-111" charset="0"/>
                        <a:ea typeface="ＭＳ Ｐゴシック" pitchFamily="34" charset="-128"/>
                        <a:cs typeface="Gill Sans"/>
                      </a:rPr>
                      <a:t>Replicate Write</a:t>
                    </a:r>
                  </a:p>
                </p:txBody>
              </p:sp>
              <p:sp>
                <p:nvSpPr>
                  <p:cNvPr id="90128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3293" y="0"/>
                    <a:ext cx="0" cy="392"/>
                  </a:xfrm>
                  <a:prstGeom prst="line">
                    <a:avLst/>
                  </a:prstGeom>
                  <a:noFill/>
                  <a:ln w="63500">
                    <a:solidFill>
                      <a:srgbClr val="0091CE"/>
                    </a:solidFill>
                    <a:miter lim="800000"/>
                    <a:headEnd type="triangle" w="med" len="med"/>
                    <a:tailEnd/>
                  </a:ln>
                </p:spPr>
                <p:txBody>
                  <a:bodyPr lIns="0" tIns="0" rIns="0" bIns="0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CCCCCC"/>
                      </a:solidFill>
                      <a:effectLst/>
                      <a:uLnTx/>
                      <a:uFillTx/>
                      <a:latin typeface="Verdana" pitchFamily="-111" charset="0"/>
                      <a:cs typeface="Arial" pitchFamily="-111" charset="-52"/>
                    </a:endParaRPr>
                  </a:p>
                </p:txBody>
              </p:sp>
              <p:sp>
                <p:nvSpPr>
                  <p:cNvPr id="90129" name="Rectangle 43"/>
                  <p:cNvSpPr>
                    <a:spLocks/>
                  </p:cNvSpPr>
                  <p:nvPr/>
                </p:nvSpPr>
                <p:spPr bwMode="auto">
                  <a:xfrm>
                    <a:off x="2851" y="400"/>
                    <a:ext cx="508" cy="43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0" tIns="0" rIns="0" bIns="0" anchor="ctr"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itchFamily="-111" charset="0"/>
                        <a:ea typeface="ＭＳ Ｐゴシック" pitchFamily="34" charset="-128"/>
                        <a:cs typeface="Gill Sans"/>
                      </a:rPr>
                      <a:t>Reply</a:t>
                    </a:r>
                    <a:endParaRPr kumimoji="0" lang="en-US" sz="1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endParaRPr>
                  </a:p>
                </p:txBody>
              </p:sp>
            </p:grpSp>
          </p:grpSp>
        </p:grpSp>
        <p:cxnSp>
          <p:nvCxnSpPr>
            <p:cNvPr id="50" name="Straight Arrow Connector 49"/>
            <p:cNvCxnSpPr/>
            <p:nvPr/>
          </p:nvCxnSpPr>
          <p:spPr bwMode="auto">
            <a:xfrm>
              <a:off x="98854" y="1227438"/>
              <a:ext cx="0" cy="551935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 bwMode="auto">
            <a:xfrm>
              <a:off x="4036540" y="1260390"/>
              <a:ext cx="0" cy="551935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7" name="Group 59"/>
          <p:cNvGrpSpPr/>
          <p:nvPr/>
        </p:nvGrpSpPr>
        <p:grpSpPr>
          <a:xfrm>
            <a:off x="88804" y="2706324"/>
            <a:ext cx="8978996" cy="1973626"/>
            <a:chOff x="88804" y="2706324"/>
            <a:chExt cx="8978996" cy="1973626"/>
          </a:xfrm>
        </p:grpSpPr>
        <p:grpSp>
          <p:nvGrpSpPr>
            <p:cNvPr id="8" name="Group 11"/>
            <p:cNvGrpSpPr>
              <a:grpSpLocks/>
            </p:cNvGrpSpPr>
            <p:nvPr/>
          </p:nvGrpSpPr>
          <p:grpSpPr bwMode="auto">
            <a:xfrm>
              <a:off x="88804" y="2706324"/>
              <a:ext cx="8978996" cy="1973626"/>
              <a:chOff x="44" y="-31"/>
              <a:chExt cx="8044" cy="1768"/>
            </a:xfrm>
          </p:grpSpPr>
          <p:grpSp>
            <p:nvGrpSpPr>
              <p:cNvPr id="9" name="Group 12"/>
              <p:cNvGrpSpPr>
                <a:grpSpLocks/>
              </p:cNvGrpSpPr>
              <p:nvPr/>
            </p:nvGrpSpPr>
            <p:grpSpPr bwMode="auto">
              <a:xfrm>
                <a:off x="224" y="1456"/>
                <a:ext cx="7864" cy="281"/>
                <a:chOff x="0" y="0"/>
                <a:chExt cx="7864" cy="281"/>
              </a:xfrm>
            </p:grpSpPr>
            <p:sp>
              <p:nvSpPr>
                <p:cNvPr id="90159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0" y="0"/>
                  <a:ext cx="786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 type="stealth" w="med" len="med"/>
                  <a:tailEnd/>
                </a:ln>
              </p:spPr>
              <p:txBody>
                <a:bodyPr lIns="0" tIns="0" rIns="0" bIns="0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cs typeface="Arial" pitchFamily="-111" charset="-52"/>
                  </a:endParaRPr>
                </a:p>
              </p:txBody>
            </p:sp>
            <p:sp>
              <p:nvSpPr>
                <p:cNvPr id="90160" name="Rectangle 14"/>
                <p:cNvSpPr>
                  <a:spLocks/>
                </p:cNvSpPr>
                <p:nvPr/>
              </p:nvSpPr>
              <p:spPr bwMode="auto">
                <a:xfrm>
                  <a:off x="3670" y="47"/>
                  <a:ext cx="480" cy="2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rPr>
                    <a:t>Time</a:t>
                  </a:r>
                </a:p>
              </p:txBody>
            </p:sp>
          </p:grpSp>
          <p:sp>
            <p:nvSpPr>
              <p:cNvPr id="90135" name="Rectangle 15"/>
              <p:cNvSpPr>
                <a:spLocks/>
              </p:cNvSpPr>
              <p:nvPr/>
            </p:nvSpPr>
            <p:spPr bwMode="auto">
              <a:xfrm>
                <a:off x="44" y="72"/>
                <a:ext cx="1536" cy="4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rPr>
                  <a:t>Async</a:t>
                </a: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endParaRPr>
              </a:p>
            </p:txBody>
          </p:sp>
          <p:sp>
            <p:nvSpPr>
              <p:cNvPr id="90136" name="Rectangle 16"/>
              <p:cNvSpPr>
                <a:spLocks/>
              </p:cNvSpPr>
              <p:nvPr/>
            </p:nvSpPr>
            <p:spPr bwMode="auto">
              <a:xfrm>
                <a:off x="5464" y="887"/>
                <a:ext cx="2064" cy="424"/>
              </a:xfrm>
              <a:prstGeom prst="rect">
                <a:avLst/>
              </a:prstGeom>
              <a:solidFill>
                <a:srgbClr val="A408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rPr>
                  <a:t>Replicate Writes</a:t>
                </a:r>
              </a:p>
            </p:txBody>
          </p:sp>
          <p:sp>
            <p:nvSpPr>
              <p:cNvPr id="90137" name="Line 17"/>
              <p:cNvSpPr>
                <a:spLocks noChangeShapeType="1"/>
              </p:cNvSpPr>
              <p:nvPr/>
            </p:nvSpPr>
            <p:spPr bwMode="auto">
              <a:xfrm flipH="1">
                <a:off x="476" y="1218"/>
                <a:ext cx="4940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prstDash val="sysDot"/>
                <a:miter lim="800000"/>
                <a:headEnd type="stealth" w="med" len="med"/>
                <a:tailEnd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cs typeface="Arial" pitchFamily="-111" charset="-52"/>
                </a:endParaRPr>
              </a:p>
            </p:txBody>
          </p:sp>
          <p:sp>
            <p:nvSpPr>
              <p:cNvPr id="90138" name="Line 18"/>
              <p:cNvSpPr>
                <a:spLocks noChangeShapeType="1"/>
              </p:cNvSpPr>
              <p:nvPr/>
            </p:nvSpPr>
            <p:spPr bwMode="auto">
              <a:xfrm>
                <a:off x="3832" y="1024"/>
                <a:ext cx="0" cy="20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cs typeface="Arial" pitchFamily="-111" charset="-52"/>
                </a:endParaRPr>
              </a:p>
            </p:txBody>
          </p:sp>
          <p:sp>
            <p:nvSpPr>
              <p:cNvPr id="90139" name="Line 19"/>
              <p:cNvSpPr>
                <a:spLocks noChangeShapeType="1"/>
              </p:cNvSpPr>
              <p:nvPr/>
            </p:nvSpPr>
            <p:spPr bwMode="auto">
              <a:xfrm>
                <a:off x="2176" y="1024"/>
                <a:ext cx="0" cy="20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cs typeface="Arial" pitchFamily="-111" charset="-52"/>
                </a:endParaRPr>
              </a:p>
            </p:txBody>
          </p:sp>
          <p:sp>
            <p:nvSpPr>
              <p:cNvPr id="90140" name="Line 20"/>
              <p:cNvSpPr>
                <a:spLocks noChangeShapeType="1"/>
              </p:cNvSpPr>
              <p:nvPr/>
            </p:nvSpPr>
            <p:spPr bwMode="auto">
              <a:xfrm>
                <a:off x="472" y="1024"/>
                <a:ext cx="0" cy="208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cs typeface="Arial" pitchFamily="-111" charset="-52"/>
                </a:endParaRPr>
              </a:p>
            </p:txBody>
          </p:sp>
          <p:grpSp>
            <p:nvGrpSpPr>
              <p:cNvPr id="10" name="Group 21"/>
              <p:cNvGrpSpPr>
                <a:grpSpLocks/>
              </p:cNvGrpSpPr>
              <p:nvPr/>
            </p:nvGrpSpPr>
            <p:grpSpPr bwMode="auto">
              <a:xfrm>
                <a:off x="408" y="-8"/>
                <a:ext cx="1687" cy="1104"/>
                <a:chOff x="0" y="-8"/>
                <a:chExt cx="1687" cy="1104"/>
              </a:xfrm>
            </p:grpSpPr>
            <p:sp>
              <p:nvSpPr>
                <p:cNvPr id="90154" name="Rectangle 22"/>
                <p:cNvSpPr>
                  <a:spLocks/>
                </p:cNvSpPr>
                <p:nvPr/>
              </p:nvSpPr>
              <p:spPr bwMode="auto">
                <a:xfrm>
                  <a:off x="112" y="664"/>
                  <a:ext cx="985" cy="4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rPr>
                    <a:t>Processing</a:t>
                  </a:r>
                  <a:endPara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endParaRPr>
                </a:p>
              </p:txBody>
            </p:sp>
            <p:sp>
              <p:nvSpPr>
                <p:cNvPr id="90155" name="Line 23"/>
                <p:cNvSpPr>
                  <a:spLocks noChangeShapeType="1"/>
                </p:cNvSpPr>
                <p:nvPr/>
              </p:nvSpPr>
              <p:spPr bwMode="auto">
                <a:xfrm>
                  <a:off x="1534" y="252"/>
                  <a:ext cx="0" cy="392"/>
                </a:xfrm>
                <a:prstGeom prst="line">
                  <a:avLst/>
                </a:prstGeom>
                <a:noFill/>
                <a:ln w="63500">
                  <a:solidFill>
                    <a:srgbClr val="FF2712"/>
                  </a:solidFill>
                  <a:miter lim="800000"/>
                  <a:headEnd type="triangle" w="med" len="med"/>
                  <a:tailEnd/>
                </a:ln>
              </p:spPr>
              <p:txBody>
                <a:bodyPr lIns="0" tIns="0" rIns="0" bIns="0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cs typeface="Arial" pitchFamily="-111" charset="-52"/>
                  </a:endParaRPr>
                </a:p>
              </p:txBody>
            </p:sp>
            <p:sp>
              <p:nvSpPr>
                <p:cNvPr id="90156" name="Rectangle 24"/>
                <p:cNvSpPr>
                  <a:spLocks/>
                </p:cNvSpPr>
                <p:nvPr/>
              </p:nvSpPr>
              <p:spPr bwMode="auto">
                <a:xfrm>
                  <a:off x="1101" y="664"/>
                  <a:ext cx="508" cy="432"/>
                </a:xfrm>
                <a:prstGeom prst="rect">
                  <a:avLst/>
                </a:prstGeom>
                <a:solidFill>
                  <a:schemeClr val="accent2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rPr>
                    <a:t>Reply</a:t>
                  </a:r>
                  <a:endPara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endParaRPr>
                </a:p>
              </p:txBody>
            </p:sp>
            <p:sp>
              <p:nvSpPr>
                <p:cNvPr id="90157" name="Rectangle 25"/>
                <p:cNvSpPr>
                  <a:spLocks/>
                </p:cNvSpPr>
                <p:nvPr/>
              </p:nvSpPr>
              <p:spPr bwMode="auto">
                <a:xfrm>
                  <a:off x="900" y="-8"/>
                  <a:ext cx="787" cy="27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4D4D4D">
                          <a:lumMod val="75000"/>
                        </a:srgbClr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rPr>
                    <a:t>Unsafe</a:t>
                  </a: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endParaRPr>
                </a:p>
              </p:txBody>
            </p:sp>
            <p:sp>
              <p:nvSpPr>
                <p:cNvPr id="90158" name="Rectangle 26"/>
                <p:cNvSpPr>
                  <a:spLocks/>
                </p:cNvSpPr>
                <p:nvPr/>
              </p:nvSpPr>
              <p:spPr bwMode="auto">
                <a:xfrm>
                  <a:off x="0" y="664"/>
                  <a:ext cx="144" cy="432"/>
                </a:xfrm>
                <a:prstGeom prst="rect">
                  <a:avLst/>
                </a:prstGeom>
                <a:solidFill>
                  <a:srgbClr val="A40800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cs typeface="Arial" pitchFamily="-111" charset="-52"/>
                  </a:endParaRPr>
                </a:p>
              </p:txBody>
            </p:sp>
          </p:grpSp>
          <p:grpSp>
            <p:nvGrpSpPr>
              <p:cNvPr id="11" name="Group 27"/>
              <p:cNvGrpSpPr>
                <a:grpSpLocks/>
              </p:cNvGrpSpPr>
              <p:nvPr/>
            </p:nvGrpSpPr>
            <p:grpSpPr bwMode="auto">
              <a:xfrm>
                <a:off x="2088" y="-31"/>
                <a:ext cx="1713" cy="1127"/>
                <a:chOff x="0" y="-31"/>
                <a:chExt cx="1713" cy="1127"/>
              </a:xfrm>
            </p:grpSpPr>
            <p:sp>
              <p:nvSpPr>
                <p:cNvPr id="90149" name="Rectangle 28"/>
                <p:cNvSpPr>
                  <a:spLocks/>
                </p:cNvSpPr>
                <p:nvPr/>
              </p:nvSpPr>
              <p:spPr bwMode="auto">
                <a:xfrm>
                  <a:off x="112" y="664"/>
                  <a:ext cx="985" cy="4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rPr>
                    <a:t>Processing</a:t>
                  </a:r>
                  <a:endPara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endParaRPr>
                </a:p>
              </p:txBody>
            </p:sp>
            <p:sp>
              <p:nvSpPr>
                <p:cNvPr id="90150" name="Line 29"/>
                <p:cNvSpPr>
                  <a:spLocks noChangeShapeType="1"/>
                </p:cNvSpPr>
                <p:nvPr/>
              </p:nvSpPr>
              <p:spPr bwMode="auto">
                <a:xfrm>
                  <a:off x="1534" y="252"/>
                  <a:ext cx="0" cy="392"/>
                </a:xfrm>
                <a:prstGeom prst="line">
                  <a:avLst/>
                </a:prstGeom>
                <a:noFill/>
                <a:ln w="63500">
                  <a:solidFill>
                    <a:srgbClr val="FF2712"/>
                  </a:solidFill>
                  <a:miter lim="800000"/>
                  <a:headEnd type="triangle" w="med" len="med"/>
                  <a:tailEnd/>
                </a:ln>
              </p:spPr>
              <p:txBody>
                <a:bodyPr lIns="0" tIns="0" rIns="0" bIns="0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cs typeface="Arial" pitchFamily="-111" charset="-52"/>
                  </a:endParaRPr>
                </a:p>
              </p:txBody>
            </p:sp>
            <p:sp>
              <p:nvSpPr>
                <p:cNvPr id="90151" name="Rectangle 30"/>
                <p:cNvSpPr>
                  <a:spLocks/>
                </p:cNvSpPr>
                <p:nvPr/>
              </p:nvSpPr>
              <p:spPr bwMode="auto">
                <a:xfrm>
                  <a:off x="1101" y="664"/>
                  <a:ext cx="508" cy="432"/>
                </a:xfrm>
                <a:prstGeom prst="rect">
                  <a:avLst/>
                </a:prstGeom>
                <a:solidFill>
                  <a:schemeClr val="accent2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rPr>
                    <a:t>Reply</a:t>
                  </a:r>
                  <a:endPara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endParaRPr>
                </a:p>
              </p:txBody>
            </p:sp>
            <p:sp>
              <p:nvSpPr>
                <p:cNvPr id="90152" name="Rectangle 31"/>
                <p:cNvSpPr>
                  <a:spLocks/>
                </p:cNvSpPr>
                <p:nvPr/>
              </p:nvSpPr>
              <p:spPr bwMode="auto">
                <a:xfrm>
                  <a:off x="926" y="-31"/>
                  <a:ext cx="787" cy="27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4D4D4D">
                          <a:lumMod val="75000"/>
                        </a:srgbClr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rPr>
                    <a:t>Unsafe</a:t>
                  </a: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endParaRPr>
                </a:p>
              </p:txBody>
            </p:sp>
            <p:sp>
              <p:nvSpPr>
                <p:cNvPr id="90153" name="Rectangle 32"/>
                <p:cNvSpPr>
                  <a:spLocks/>
                </p:cNvSpPr>
                <p:nvPr/>
              </p:nvSpPr>
              <p:spPr bwMode="auto">
                <a:xfrm>
                  <a:off x="0" y="664"/>
                  <a:ext cx="144" cy="432"/>
                </a:xfrm>
                <a:prstGeom prst="rect">
                  <a:avLst/>
                </a:prstGeom>
                <a:solidFill>
                  <a:srgbClr val="A40800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cs typeface="Arial" pitchFamily="-111" charset="-52"/>
                  </a:endParaRPr>
                </a:p>
              </p:txBody>
            </p:sp>
          </p:grpSp>
          <p:grpSp>
            <p:nvGrpSpPr>
              <p:cNvPr id="12" name="Group 33"/>
              <p:cNvGrpSpPr>
                <a:grpSpLocks/>
              </p:cNvGrpSpPr>
              <p:nvPr/>
            </p:nvGrpSpPr>
            <p:grpSpPr bwMode="auto">
              <a:xfrm>
                <a:off x="3768" y="22"/>
                <a:ext cx="1756" cy="1074"/>
                <a:chOff x="0" y="22"/>
                <a:chExt cx="1756" cy="1074"/>
              </a:xfrm>
            </p:grpSpPr>
            <p:sp>
              <p:nvSpPr>
                <p:cNvPr id="90144" name="Rectangle 34"/>
                <p:cNvSpPr>
                  <a:spLocks/>
                </p:cNvSpPr>
                <p:nvPr/>
              </p:nvSpPr>
              <p:spPr bwMode="auto">
                <a:xfrm>
                  <a:off x="112" y="664"/>
                  <a:ext cx="985" cy="432"/>
                </a:xfrm>
                <a:prstGeom prst="rect">
                  <a:avLst/>
                </a:prstGeom>
                <a:solidFill>
                  <a:schemeClr val="accent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rPr>
                    <a:t>Processing</a:t>
                  </a:r>
                  <a:endPara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endParaRPr>
                </a:p>
              </p:txBody>
            </p:sp>
            <p:sp>
              <p:nvSpPr>
                <p:cNvPr id="90145" name="Line 35"/>
                <p:cNvSpPr>
                  <a:spLocks noChangeShapeType="1"/>
                </p:cNvSpPr>
                <p:nvPr/>
              </p:nvSpPr>
              <p:spPr bwMode="auto">
                <a:xfrm>
                  <a:off x="1534" y="252"/>
                  <a:ext cx="0" cy="392"/>
                </a:xfrm>
                <a:prstGeom prst="line">
                  <a:avLst/>
                </a:prstGeom>
                <a:noFill/>
                <a:ln w="63500">
                  <a:solidFill>
                    <a:srgbClr val="FF2712"/>
                  </a:solidFill>
                  <a:miter lim="800000"/>
                  <a:headEnd type="triangle" w="med" len="med"/>
                  <a:tailEnd/>
                </a:ln>
              </p:spPr>
              <p:txBody>
                <a:bodyPr lIns="0" tIns="0" rIns="0" bIns="0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cs typeface="Arial" pitchFamily="-111" charset="-52"/>
                  </a:endParaRPr>
                </a:p>
              </p:txBody>
            </p:sp>
            <p:sp>
              <p:nvSpPr>
                <p:cNvPr id="90146" name="Rectangle 36"/>
                <p:cNvSpPr>
                  <a:spLocks/>
                </p:cNvSpPr>
                <p:nvPr/>
              </p:nvSpPr>
              <p:spPr bwMode="auto">
                <a:xfrm>
                  <a:off x="1101" y="664"/>
                  <a:ext cx="508" cy="432"/>
                </a:xfrm>
                <a:prstGeom prst="rect">
                  <a:avLst/>
                </a:prstGeom>
                <a:solidFill>
                  <a:schemeClr val="accent2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rPr>
                    <a:t>Reply</a:t>
                  </a:r>
                  <a:endPara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endParaRPr>
                </a:p>
              </p:txBody>
            </p:sp>
            <p:sp>
              <p:nvSpPr>
                <p:cNvPr id="90147" name="Rectangle 37"/>
                <p:cNvSpPr>
                  <a:spLocks/>
                </p:cNvSpPr>
                <p:nvPr/>
              </p:nvSpPr>
              <p:spPr bwMode="auto">
                <a:xfrm>
                  <a:off x="969" y="22"/>
                  <a:ext cx="787" cy="27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4D4D4D">
                          <a:lumMod val="75000"/>
                        </a:srgbClr>
                      </a:solidFill>
                      <a:effectLst/>
                      <a:uLnTx/>
                      <a:uFillTx/>
                      <a:latin typeface="Verdana" pitchFamily="-111" charset="0"/>
                      <a:ea typeface="ＭＳ Ｐゴシック" pitchFamily="34" charset="-128"/>
                      <a:cs typeface="Gill Sans"/>
                    </a:rPr>
                    <a:t>Unsafe</a:t>
                  </a: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endParaRPr>
                </a:p>
              </p:txBody>
            </p:sp>
            <p:sp>
              <p:nvSpPr>
                <p:cNvPr id="90148" name="Rectangle 38"/>
                <p:cNvSpPr>
                  <a:spLocks/>
                </p:cNvSpPr>
                <p:nvPr/>
              </p:nvSpPr>
              <p:spPr bwMode="auto">
                <a:xfrm>
                  <a:off x="0" y="664"/>
                  <a:ext cx="144" cy="432"/>
                </a:xfrm>
                <a:prstGeom prst="rect">
                  <a:avLst/>
                </a:prstGeom>
                <a:solidFill>
                  <a:srgbClr val="A40800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cs typeface="Arial" pitchFamily="-111" charset="-52"/>
                  </a:endParaRPr>
                </a:p>
              </p:txBody>
            </p:sp>
          </p:grpSp>
        </p:grpSp>
        <p:cxnSp>
          <p:nvCxnSpPr>
            <p:cNvPr id="56" name="Straight Arrow Connector 55"/>
            <p:cNvCxnSpPr/>
            <p:nvPr/>
          </p:nvCxnSpPr>
          <p:spPr bwMode="auto">
            <a:xfrm>
              <a:off x="477794" y="2940909"/>
              <a:ext cx="0" cy="551935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 bwMode="auto">
            <a:xfrm>
              <a:off x="2380734" y="2965622"/>
              <a:ext cx="0" cy="551935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 bwMode="auto">
            <a:xfrm>
              <a:off x="4250724" y="2957385"/>
              <a:ext cx="0" cy="551935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4707AA3-A6CE-4140-830A-05B778513E94}"/>
              </a:ext>
            </a:extLst>
          </p:cNvPr>
          <p:cNvSpPr txBox="1"/>
          <p:nvPr/>
        </p:nvSpPr>
        <p:spPr>
          <a:xfrm>
            <a:off x="-79128" y="946435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4FFFF5-66A1-8E49-BC06-13A09FCFECF6}"/>
              </a:ext>
            </a:extLst>
          </p:cNvPr>
          <p:cNvSpPr txBox="1"/>
          <p:nvPr/>
        </p:nvSpPr>
        <p:spPr>
          <a:xfrm>
            <a:off x="3675794" y="966631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</a:t>
            </a:r>
          </a:p>
        </p:txBody>
      </p:sp>
    </p:spTree>
    <p:extLst>
      <p:ext uri="{BB962C8B-B14F-4D97-AF65-F5344CB8AC3E}">
        <p14:creationId xmlns:p14="http://schemas.microsoft.com/office/powerpoint/2010/main" val="26307801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  <p:bldP spid="4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 bwMode="auto">
          <a:xfrm>
            <a:off x="0" y="5932714"/>
            <a:ext cx="9144000" cy="92528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ea typeface="Arial" pitchFamily="-111" charset="-52"/>
              <a:cs typeface="Arial" pitchFamily="-111" charset="-52"/>
            </a:endParaRPr>
          </a:p>
        </p:txBody>
      </p:sp>
      <p:sp>
        <p:nvSpPr>
          <p:cNvPr id="9113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>
                <a:solidFill>
                  <a:schemeClr val="tx1"/>
                </a:solidFill>
              </a:rPr>
              <a:t>Client Focused Guarantees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4313" y="1098550"/>
            <a:ext cx="8688387" cy="3544888"/>
          </a:xfrm>
        </p:spPr>
        <p:txBody>
          <a:bodyPr/>
          <a:lstStyle/>
          <a:p>
            <a:pPr marL="473075">
              <a:buClrTx/>
            </a:pPr>
            <a:r>
              <a:rPr lang="en-US" dirty="0"/>
              <a:t>Want performance of </a:t>
            </a:r>
            <a:r>
              <a:rPr lang="en-US" b="1" dirty="0" err="1"/>
              <a:t>Async</a:t>
            </a:r>
            <a:r>
              <a:rPr lang="en-US" dirty="0"/>
              <a:t>, but consistency guarantees similar to </a:t>
            </a:r>
            <a:r>
              <a:rPr lang="en-US" b="1" dirty="0"/>
              <a:t>Sync</a:t>
            </a:r>
            <a:endParaRPr lang="en-US" b="1" dirty="0">
              <a:ea typeface="ヒラギノ角ゴ ProN W6"/>
              <a:cs typeface="ヒラギノ角ゴ ProN W6"/>
            </a:endParaRPr>
          </a:p>
          <a:p>
            <a:pPr marL="473075">
              <a:buClrTx/>
            </a:pPr>
            <a:r>
              <a:rPr lang="en-US" b="1" dirty="0"/>
              <a:t>Synchronous</a:t>
            </a:r>
            <a:r>
              <a:rPr lang="en-US" dirty="0"/>
              <a:t>: no further processing occurs until writes are replicated to backup site</a:t>
            </a:r>
          </a:p>
          <a:p>
            <a:pPr marL="914400" lvl="1" indent="-228600">
              <a:buClrTx/>
            </a:pPr>
            <a:r>
              <a:rPr lang="en-US" dirty="0">
                <a:solidFill>
                  <a:srgbClr val="000000"/>
                </a:solidFill>
              </a:rPr>
              <a:t>This is a stronger guarantee than client needs</a:t>
            </a:r>
          </a:p>
          <a:p>
            <a:pPr marL="473075">
              <a:lnSpc>
                <a:spcPct val="90000"/>
              </a:lnSpc>
              <a:buClrTx/>
            </a:pPr>
            <a:r>
              <a:rPr lang="en-US" b="1" dirty="0"/>
              <a:t>Pipelined Synchrony</a:t>
            </a:r>
            <a:r>
              <a:rPr lang="en-US" dirty="0"/>
              <a:t>: no replies to client until prior writes are replicated to backup site</a:t>
            </a:r>
          </a:p>
          <a:p>
            <a:pPr marL="914400" lvl="2" indent="-228600">
              <a:lnSpc>
                <a:spcPct val="90000"/>
              </a:lnSpc>
              <a:buClrTx/>
            </a:pPr>
            <a:r>
              <a:rPr lang="en-US" dirty="0">
                <a:solidFill>
                  <a:srgbClr val="067AB4"/>
                </a:solidFill>
              </a:rPr>
              <a:t>Overlap execution with replication to make progress</a:t>
            </a:r>
          </a:p>
          <a:p>
            <a:pPr marL="914400" lvl="2" indent="-228600">
              <a:lnSpc>
                <a:spcPct val="90000"/>
              </a:lnSpc>
              <a:buClrTx/>
            </a:pPr>
            <a:r>
              <a:rPr lang="en-US" dirty="0">
                <a:solidFill>
                  <a:srgbClr val="067AB4"/>
                </a:solidFill>
              </a:rPr>
              <a:t>Can perform useful work during WAN replication delay</a:t>
            </a:r>
          </a:p>
          <a:p>
            <a:pPr marL="914400" lvl="2" indent="-228600">
              <a:lnSpc>
                <a:spcPct val="90000"/>
              </a:lnSpc>
              <a:buClrTx/>
            </a:pPr>
            <a:r>
              <a:rPr lang="en-US" dirty="0">
                <a:solidFill>
                  <a:srgbClr val="067AB4"/>
                </a:solidFill>
              </a:rPr>
              <a:t>Reply released on completion of replication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44463" y="5037138"/>
            <a:ext cx="3508375" cy="928687"/>
            <a:chOff x="0" y="0"/>
            <a:chExt cx="3143" cy="832"/>
          </a:xfrm>
        </p:grpSpPr>
        <p:sp>
          <p:nvSpPr>
            <p:cNvPr id="91160" name="Rectangle 4"/>
            <p:cNvSpPr>
              <a:spLocks/>
            </p:cNvSpPr>
            <p:nvPr/>
          </p:nvSpPr>
          <p:spPr bwMode="auto">
            <a:xfrm>
              <a:off x="1646" y="400"/>
              <a:ext cx="985" cy="43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Processing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  <p:sp>
          <p:nvSpPr>
            <p:cNvPr id="91161" name="Rectangle 5"/>
            <p:cNvSpPr>
              <a:spLocks/>
            </p:cNvSpPr>
            <p:nvPr/>
          </p:nvSpPr>
          <p:spPr bwMode="auto">
            <a:xfrm>
              <a:off x="0" y="400"/>
              <a:ext cx="1648" cy="432"/>
            </a:xfrm>
            <a:prstGeom prst="rect">
              <a:avLst/>
            </a:prstGeom>
            <a:solidFill>
              <a:srgbClr val="A408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Replicate Write</a:t>
              </a:r>
            </a:p>
          </p:txBody>
        </p:sp>
        <p:sp>
          <p:nvSpPr>
            <p:cNvPr id="91162" name="Line 6"/>
            <p:cNvSpPr>
              <a:spLocks noChangeShapeType="1"/>
            </p:cNvSpPr>
            <p:nvPr/>
          </p:nvSpPr>
          <p:spPr bwMode="auto">
            <a:xfrm>
              <a:off x="3077" y="0"/>
              <a:ext cx="0" cy="392"/>
            </a:xfrm>
            <a:prstGeom prst="line">
              <a:avLst/>
            </a:prstGeom>
            <a:noFill/>
            <a:ln w="63500">
              <a:solidFill>
                <a:srgbClr val="0091CE"/>
              </a:solidFill>
              <a:miter lim="800000"/>
              <a:headEnd type="triangle" w="med" len="med"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91163" name="Rectangle 7"/>
            <p:cNvSpPr>
              <a:spLocks/>
            </p:cNvSpPr>
            <p:nvPr/>
          </p:nvSpPr>
          <p:spPr bwMode="auto">
            <a:xfrm>
              <a:off x="2635" y="400"/>
              <a:ext cx="508" cy="432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Reply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</p:grpSp>
      <p:sp>
        <p:nvSpPr>
          <p:cNvPr id="91142" name="Rectangle 8"/>
          <p:cNvSpPr>
            <a:spLocks/>
          </p:cNvSpPr>
          <p:nvPr/>
        </p:nvSpPr>
        <p:spPr bwMode="auto">
          <a:xfrm>
            <a:off x="158195" y="5025510"/>
            <a:ext cx="8191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rPr>
              <a:t>Sync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668564" y="4611688"/>
            <a:ext cx="2403624" cy="1808162"/>
            <a:chOff x="-138" y="-116"/>
            <a:chExt cx="2152" cy="1620"/>
          </a:xfrm>
        </p:grpSpPr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78" y="-116"/>
              <a:ext cx="1936" cy="1620"/>
              <a:chOff x="0" y="-116"/>
              <a:chExt cx="1936" cy="1620"/>
            </a:xfrm>
          </p:grpSpPr>
          <p:sp>
            <p:nvSpPr>
              <p:cNvPr id="91155" name="Rectangle 11"/>
              <p:cNvSpPr>
                <a:spLocks/>
              </p:cNvSpPr>
              <p:nvPr/>
            </p:nvSpPr>
            <p:spPr bwMode="auto">
              <a:xfrm>
                <a:off x="0" y="664"/>
                <a:ext cx="985" cy="432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rPr>
                  <a:t>Processing</a:t>
                </a:r>
                <a:endParaRPr kumimoji="0" 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endParaRPr>
              </a:p>
            </p:txBody>
          </p:sp>
          <p:sp>
            <p:nvSpPr>
              <p:cNvPr id="91156" name="Line 12"/>
              <p:cNvSpPr>
                <a:spLocks noChangeShapeType="1"/>
              </p:cNvSpPr>
              <p:nvPr/>
            </p:nvSpPr>
            <p:spPr bwMode="auto">
              <a:xfrm>
                <a:off x="1422" y="252"/>
                <a:ext cx="0" cy="392"/>
              </a:xfrm>
              <a:prstGeom prst="line">
                <a:avLst/>
              </a:prstGeom>
              <a:noFill/>
              <a:ln w="63500">
                <a:solidFill>
                  <a:srgbClr val="FF2712"/>
                </a:solidFill>
                <a:miter lim="800000"/>
                <a:headEnd type="triangle" w="med" len="med"/>
                <a:tailEnd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cs typeface="Arial" pitchFamily="-111" charset="-52"/>
                </a:endParaRPr>
              </a:p>
            </p:txBody>
          </p:sp>
          <p:sp>
            <p:nvSpPr>
              <p:cNvPr id="91157" name="Rectangle 13"/>
              <p:cNvSpPr>
                <a:spLocks/>
              </p:cNvSpPr>
              <p:nvPr/>
            </p:nvSpPr>
            <p:spPr bwMode="auto">
              <a:xfrm>
                <a:off x="989" y="664"/>
                <a:ext cx="508" cy="432"/>
              </a:xfrm>
              <a:prstGeom prst="rect">
                <a:avLst/>
              </a:prstGeom>
              <a:solidFill>
                <a:schemeClr val="accent2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rPr>
                  <a:t>Reply</a:t>
                </a:r>
                <a:endParaRPr kumimoji="0" 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endParaRPr>
              </a:p>
            </p:txBody>
          </p:sp>
          <p:sp>
            <p:nvSpPr>
              <p:cNvPr id="91158" name="Rectangle 14"/>
              <p:cNvSpPr>
                <a:spLocks/>
              </p:cNvSpPr>
              <p:nvPr/>
            </p:nvSpPr>
            <p:spPr bwMode="auto">
              <a:xfrm>
                <a:off x="957" y="-116"/>
                <a:ext cx="786" cy="5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4D4D">
                        <a:lumMod val="75000"/>
                      </a:srgbClr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rPr>
                  <a:t>Unsafe</a:t>
                </a:r>
                <a:b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CCCC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rPr>
                </a:b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endParaRPr>
              </a:p>
            </p:txBody>
          </p:sp>
          <p:sp>
            <p:nvSpPr>
              <p:cNvPr id="91159" name="Rectangle 15"/>
              <p:cNvSpPr>
                <a:spLocks/>
              </p:cNvSpPr>
              <p:nvPr/>
            </p:nvSpPr>
            <p:spPr bwMode="auto">
              <a:xfrm>
                <a:off x="0" y="1072"/>
                <a:ext cx="1936" cy="432"/>
              </a:xfrm>
              <a:prstGeom prst="rect">
                <a:avLst/>
              </a:prstGeom>
              <a:solidFill>
                <a:srgbClr val="A40800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dana" pitchFamily="-111" charset="0"/>
                    <a:ea typeface="ＭＳ Ｐゴシック" pitchFamily="34" charset="-128"/>
                    <a:cs typeface="Gill Sans"/>
                  </a:rPr>
                  <a:t>Replicate Write</a:t>
                </a:r>
              </a:p>
            </p:txBody>
          </p:sp>
        </p:grpSp>
        <p:sp>
          <p:nvSpPr>
            <p:cNvPr id="91154" name="Rectangle 16"/>
            <p:cNvSpPr>
              <a:spLocks/>
            </p:cNvSpPr>
            <p:nvPr/>
          </p:nvSpPr>
          <p:spPr bwMode="auto">
            <a:xfrm>
              <a:off x="-138" y="271"/>
              <a:ext cx="916" cy="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Async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5961519" y="4874759"/>
            <a:ext cx="3182481" cy="1566862"/>
            <a:chOff x="-238" y="-92"/>
            <a:chExt cx="2851" cy="1404"/>
          </a:xfrm>
        </p:grpSpPr>
        <p:sp>
          <p:nvSpPr>
            <p:cNvPr id="91145" name="Rectangle 18"/>
            <p:cNvSpPr>
              <a:spLocks/>
            </p:cNvSpPr>
            <p:nvPr/>
          </p:nvSpPr>
          <p:spPr bwMode="auto">
            <a:xfrm>
              <a:off x="-238" y="63"/>
              <a:ext cx="1407" cy="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PipeSync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  <p:sp>
          <p:nvSpPr>
            <p:cNvPr id="91146" name="Rectangle 19"/>
            <p:cNvSpPr>
              <a:spLocks/>
            </p:cNvSpPr>
            <p:nvPr/>
          </p:nvSpPr>
          <p:spPr bwMode="auto">
            <a:xfrm>
              <a:off x="25" y="472"/>
              <a:ext cx="985" cy="43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Processing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  <p:sp>
          <p:nvSpPr>
            <p:cNvPr id="91147" name="Rectangle 20"/>
            <p:cNvSpPr>
              <a:spLocks/>
            </p:cNvSpPr>
            <p:nvPr/>
          </p:nvSpPr>
          <p:spPr bwMode="auto">
            <a:xfrm>
              <a:off x="1014" y="472"/>
              <a:ext cx="508" cy="432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Reply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  <p:sp>
          <p:nvSpPr>
            <p:cNvPr id="91148" name="Rectangle 21"/>
            <p:cNvSpPr>
              <a:spLocks/>
            </p:cNvSpPr>
            <p:nvPr/>
          </p:nvSpPr>
          <p:spPr bwMode="auto">
            <a:xfrm>
              <a:off x="1730" y="-92"/>
              <a:ext cx="883" cy="5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Release</a:t>
              </a:r>
              <a:b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CCCC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</a:b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  <p:sp>
          <p:nvSpPr>
            <p:cNvPr id="91149" name="Rectangle 22"/>
            <p:cNvSpPr>
              <a:spLocks/>
            </p:cNvSpPr>
            <p:nvPr/>
          </p:nvSpPr>
          <p:spPr bwMode="auto">
            <a:xfrm>
              <a:off x="25" y="880"/>
              <a:ext cx="2056" cy="432"/>
            </a:xfrm>
            <a:prstGeom prst="rect">
              <a:avLst/>
            </a:prstGeom>
            <a:solidFill>
              <a:srgbClr val="A408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Replicate Write</a:t>
              </a:r>
            </a:p>
          </p:txBody>
        </p:sp>
        <p:sp>
          <p:nvSpPr>
            <p:cNvPr id="91150" name="Line 23"/>
            <p:cNvSpPr>
              <a:spLocks noChangeShapeType="1"/>
            </p:cNvSpPr>
            <p:nvPr/>
          </p:nvSpPr>
          <p:spPr bwMode="auto">
            <a:xfrm flipH="1">
              <a:off x="1542" y="746"/>
              <a:ext cx="635" cy="0"/>
            </a:xfrm>
            <a:prstGeom prst="line">
              <a:avLst/>
            </a:prstGeom>
            <a:noFill/>
            <a:ln w="76200">
              <a:solidFill>
                <a:srgbClr val="0091CE"/>
              </a:solidFill>
              <a:prstDash val="sysDot"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91151" name="Rectangle 24"/>
            <p:cNvSpPr>
              <a:spLocks/>
            </p:cNvSpPr>
            <p:nvPr/>
          </p:nvSpPr>
          <p:spPr bwMode="auto">
            <a:xfrm>
              <a:off x="1540" y="481"/>
              <a:ext cx="493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Hold</a:t>
              </a:r>
            </a:p>
          </p:txBody>
        </p:sp>
        <p:sp>
          <p:nvSpPr>
            <p:cNvPr id="91152" name="Line 25"/>
            <p:cNvSpPr>
              <a:spLocks noChangeShapeType="1"/>
            </p:cNvSpPr>
            <p:nvPr/>
          </p:nvSpPr>
          <p:spPr bwMode="auto">
            <a:xfrm>
              <a:off x="2160" y="348"/>
              <a:ext cx="0" cy="392"/>
            </a:xfrm>
            <a:prstGeom prst="line">
              <a:avLst/>
            </a:prstGeom>
            <a:noFill/>
            <a:ln w="63500">
              <a:solidFill>
                <a:srgbClr val="0091CE"/>
              </a:solidFill>
              <a:miter lim="800000"/>
              <a:headEnd type="triangle" w="med" len="med"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15894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1"/>
          <p:cNvSpPr>
            <a:spLocks noGrp="1" noChangeArrowheads="1"/>
          </p:cNvSpPr>
          <p:nvPr>
            <p:ph type="title"/>
          </p:nvPr>
        </p:nvSpPr>
        <p:spPr>
          <a:xfrm>
            <a:off x="348342" y="381000"/>
            <a:ext cx="8567057" cy="838200"/>
          </a:xfrm>
        </p:spPr>
        <p:txBody>
          <a:bodyPr/>
          <a:lstStyle/>
          <a:p>
            <a:r>
              <a:rPr lang="en-US" sz="2800" b="0" dirty="0">
                <a:solidFill>
                  <a:schemeClr val="tx1"/>
                </a:solidFill>
              </a:rPr>
              <a:t>‘Black-box’ Pipelined Synchrony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74775" y="2590800"/>
            <a:ext cx="2924748" cy="1471613"/>
            <a:chOff x="0" y="25"/>
            <a:chExt cx="2620" cy="1319"/>
          </a:xfrm>
        </p:grpSpPr>
        <p:sp>
          <p:nvSpPr>
            <p:cNvPr id="92182" name="Rectangle 3"/>
            <p:cNvSpPr>
              <a:spLocks/>
            </p:cNvSpPr>
            <p:nvPr/>
          </p:nvSpPr>
          <p:spPr bwMode="auto">
            <a:xfrm>
              <a:off x="8" y="500"/>
              <a:ext cx="985" cy="42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Processing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  <p:sp>
          <p:nvSpPr>
            <p:cNvPr id="92183" name="Line 4"/>
            <p:cNvSpPr>
              <a:spLocks noChangeShapeType="1"/>
            </p:cNvSpPr>
            <p:nvPr/>
          </p:nvSpPr>
          <p:spPr bwMode="auto">
            <a:xfrm>
              <a:off x="2166" y="316"/>
              <a:ext cx="0" cy="392"/>
            </a:xfrm>
            <a:prstGeom prst="line">
              <a:avLst/>
            </a:prstGeom>
            <a:noFill/>
            <a:ln w="63500">
              <a:solidFill>
                <a:srgbClr val="0091CE"/>
              </a:solidFill>
              <a:miter lim="800000"/>
              <a:headEnd type="triangle" w="med" len="med"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92184" name="Rectangle 5"/>
            <p:cNvSpPr>
              <a:spLocks/>
            </p:cNvSpPr>
            <p:nvPr/>
          </p:nvSpPr>
          <p:spPr bwMode="auto">
            <a:xfrm>
              <a:off x="1021" y="500"/>
              <a:ext cx="508" cy="422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Reply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  <p:sp>
          <p:nvSpPr>
            <p:cNvPr id="92185" name="Line 6"/>
            <p:cNvSpPr>
              <a:spLocks noChangeShapeType="1"/>
            </p:cNvSpPr>
            <p:nvPr/>
          </p:nvSpPr>
          <p:spPr bwMode="auto">
            <a:xfrm flipH="1">
              <a:off x="1549" y="714"/>
              <a:ext cx="635" cy="0"/>
            </a:xfrm>
            <a:prstGeom prst="line">
              <a:avLst/>
            </a:prstGeom>
            <a:noFill/>
            <a:ln w="76200">
              <a:solidFill>
                <a:srgbClr val="0091CE"/>
              </a:solidFill>
              <a:prstDash val="sysDot"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92186" name="Rectangle 7"/>
            <p:cNvSpPr>
              <a:spLocks/>
            </p:cNvSpPr>
            <p:nvPr/>
          </p:nvSpPr>
          <p:spPr bwMode="auto">
            <a:xfrm>
              <a:off x="1546" y="449"/>
              <a:ext cx="493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Hold</a:t>
              </a:r>
            </a:p>
          </p:txBody>
        </p:sp>
        <p:sp>
          <p:nvSpPr>
            <p:cNvPr id="92187" name="Rectangle 8"/>
            <p:cNvSpPr>
              <a:spLocks/>
            </p:cNvSpPr>
            <p:nvPr/>
          </p:nvSpPr>
          <p:spPr bwMode="auto">
            <a:xfrm>
              <a:off x="1777" y="25"/>
              <a:ext cx="843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Release</a:t>
              </a:r>
            </a:p>
          </p:txBody>
        </p:sp>
        <p:sp>
          <p:nvSpPr>
            <p:cNvPr id="92188" name="Rectangle 9"/>
            <p:cNvSpPr>
              <a:spLocks/>
            </p:cNvSpPr>
            <p:nvPr/>
          </p:nvSpPr>
          <p:spPr bwMode="auto">
            <a:xfrm>
              <a:off x="0" y="912"/>
              <a:ext cx="2192" cy="432"/>
            </a:xfrm>
            <a:prstGeom prst="rect">
              <a:avLst/>
            </a:prstGeom>
            <a:solidFill>
              <a:srgbClr val="A408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Replicate Write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3214688" y="3671888"/>
            <a:ext cx="2924747" cy="1471612"/>
            <a:chOff x="0" y="25"/>
            <a:chExt cx="2620" cy="1319"/>
          </a:xfrm>
        </p:grpSpPr>
        <p:sp>
          <p:nvSpPr>
            <p:cNvPr id="92175" name="Rectangle 11"/>
            <p:cNvSpPr>
              <a:spLocks/>
            </p:cNvSpPr>
            <p:nvPr/>
          </p:nvSpPr>
          <p:spPr bwMode="auto">
            <a:xfrm>
              <a:off x="8" y="500"/>
              <a:ext cx="985" cy="42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Processing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  <p:sp>
          <p:nvSpPr>
            <p:cNvPr id="92176" name="Line 12"/>
            <p:cNvSpPr>
              <a:spLocks noChangeShapeType="1"/>
            </p:cNvSpPr>
            <p:nvPr/>
          </p:nvSpPr>
          <p:spPr bwMode="auto">
            <a:xfrm>
              <a:off x="2166" y="316"/>
              <a:ext cx="0" cy="392"/>
            </a:xfrm>
            <a:prstGeom prst="line">
              <a:avLst/>
            </a:prstGeom>
            <a:noFill/>
            <a:ln w="63500">
              <a:solidFill>
                <a:srgbClr val="0091CE"/>
              </a:solidFill>
              <a:miter lim="800000"/>
              <a:headEnd type="triangle" w="med" len="med"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92177" name="Rectangle 13"/>
            <p:cNvSpPr>
              <a:spLocks/>
            </p:cNvSpPr>
            <p:nvPr/>
          </p:nvSpPr>
          <p:spPr bwMode="auto">
            <a:xfrm>
              <a:off x="1021" y="500"/>
              <a:ext cx="508" cy="422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Reply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  <p:sp>
          <p:nvSpPr>
            <p:cNvPr id="92178" name="Line 14"/>
            <p:cNvSpPr>
              <a:spLocks noChangeShapeType="1"/>
            </p:cNvSpPr>
            <p:nvPr/>
          </p:nvSpPr>
          <p:spPr bwMode="auto">
            <a:xfrm flipH="1">
              <a:off x="1549" y="714"/>
              <a:ext cx="635" cy="0"/>
            </a:xfrm>
            <a:prstGeom prst="line">
              <a:avLst/>
            </a:prstGeom>
            <a:noFill/>
            <a:ln w="76200">
              <a:solidFill>
                <a:srgbClr val="0091CE"/>
              </a:solidFill>
              <a:prstDash val="sysDot"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92179" name="Rectangle 15"/>
            <p:cNvSpPr>
              <a:spLocks/>
            </p:cNvSpPr>
            <p:nvPr/>
          </p:nvSpPr>
          <p:spPr bwMode="auto">
            <a:xfrm>
              <a:off x="1546" y="449"/>
              <a:ext cx="493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Hold</a:t>
              </a:r>
            </a:p>
          </p:txBody>
        </p:sp>
        <p:sp>
          <p:nvSpPr>
            <p:cNvPr id="92180" name="Rectangle 16"/>
            <p:cNvSpPr>
              <a:spLocks/>
            </p:cNvSpPr>
            <p:nvPr/>
          </p:nvSpPr>
          <p:spPr bwMode="auto">
            <a:xfrm>
              <a:off x="1777" y="25"/>
              <a:ext cx="843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Release</a:t>
              </a:r>
            </a:p>
          </p:txBody>
        </p:sp>
        <p:sp>
          <p:nvSpPr>
            <p:cNvPr id="92181" name="Rectangle 17"/>
            <p:cNvSpPr>
              <a:spLocks/>
            </p:cNvSpPr>
            <p:nvPr/>
          </p:nvSpPr>
          <p:spPr bwMode="auto">
            <a:xfrm>
              <a:off x="0" y="912"/>
              <a:ext cx="2192" cy="432"/>
            </a:xfrm>
            <a:prstGeom prst="rect">
              <a:avLst/>
            </a:prstGeom>
            <a:solidFill>
              <a:srgbClr val="A408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Replicate Write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5018088" y="4770438"/>
            <a:ext cx="2924747" cy="1471612"/>
            <a:chOff x="0" y="25"/>
            <a:chExt cx="2620" cy="1319"/>
          </a:xfrm>
        </p:grpSpPr>
        <p:sp>
          <p:nvSpPr>
            <p:cNvPr id="92168" name="Rectangle 19"/>
            <p:cNvSpPr>
              <a:spLocks/>
            </p:cNvSpPr>
            <p:nvPr/>
          </p:nvSpPr>
          <p:spPr bwMode="auto">
            <a:xfrm>
              <a:off x="8" y="500"/>
              <a:ext cx="985" cy="42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Processing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  <p:sp>
          <p:nvSpPr>
            <p:cNvPr id="92169" name="Line 20"/>
            <p:cNvSpPr>
              <a:spLocks noChangeShapeType="1"/>
            </p:cNvSpPr>
            <p:nvPr/>
          </p:nvSpPr>
          <p:spPr bwMode="auto">
            <a:xfrm>
              <a:off x="2166" y="316"/>
              <a:ext cx="0" cy="392"/>
            </a:xfrm>
            <a:prstGeom prst="line">
              <a:avLst/>
            </a:prstGeom>
            <a:noFill/>
            <a:ln w="63500">
              <a:solidFill>
                <a:srgbClr val="0091CE"/>
              </a:solidFill>
              <a:miter lim="800000"/>
              <a:headEnd type="triangle" w="med" len="med"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92170" name="Rectangle 21"/>
            <p:cNvSpPr>
              <a:spLocks/>
            </p:cNvSpPr>
            <p:nvPr/>
          </p:nvSpPr>
          <p:spPr bwMode="auto">
            <a:xfrm>
              <a:off x="1021" y="500"/>
              <a:ext cx="508" cy="422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Reply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ＭＳ Ｐゴシック" pitchFamily="34" charset="-128"/>
                <a:cs typeface="Gill Sans"/>
              </a:endParaRPr>
            </a:p>
          </p:txBody>
        </p:sp>
        <p:sp>
          <p:nvSpPr>
            <p:cNvPr id="92171" name="Line 22"/>
            <p:cNvSpPr>
              <a:spLocks noChangeShapeType="1"/>
            </p:cNvSpPr>
            <p:nvPr/>
          </p:nvSpPr>
          <p:spPr bwMode="auto">
            <a:xfrm flipH="1">
              <a:off x="1549" y="714"/>
              <a:ext cx="635" cy="0"/>
            </a:xfrm>
            <a:prstGeom prst="line">
              <a:avLst/>
            </a:prstGeom>
            <a:noFill/>
            <a:ln w="76200">
              <a:solidFill>
                <a:srgbClr val="0091CE"/>
              </a:solidFill>
              <a:prstDash val="sysDot"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92172" name="Rectangle 23"/>
            <p:cNvSpPr>
              <a:spLocks/>
            </p:cNvSpPr>
            <p:nvPr/>
          </p:nvSpPr>
          <p:spPr bwMode="auto">
            <a:xfrm>
              <a:off x="1546" y="449"/>
              <a:ext cx="493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Hold</a:t>
              </a:r>
            </a:p>
          </p:txBody>
        </p:sp>
        <p:sp>
          <p:nvSpPr>
            <p:cNvPr id="92173" name="Rectangle 24"/>
            <p:cNvSpPr>
              <a:spLocks/>
            </p:cNvSpPr>
            <p:nvPr/>
          </p:nvSpPr>
          <p:spPr bwMode="auto">
            <a:xfrm>
              <a:off x="1777" y="25"/>
              <a:ext cx="843" cy="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Release</a:t>
              </a:r>
            </a:p>
          </p:txBody>
        </p:sp>
        <p:sp>
          <p:nvSpPr>
            <p:cNvPr id="92174" name="Rectangle 25"/>
            <p:cNvSpPr>
              <a:spLocks/>
            </p:cNvSpPr>
            <p:nvPr/>
          </p:nvSpPr>
          <p:spPr bwMode="auto">
            <a:xfrm>
              <a:off x="0" y="912"/>
              <a:ext cx="2192" cy="432"/>
            </a:xfrm>
            <a:prstGeom prst="rect">
              <a:avLst/>
            </a:prstGeom>
            <a:solidFill>
              <a:srgbClr val="A408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-111" charset="0"/>
                  <a:ea typeface="ＭＳ Ｐゴシック" pitchFamily="34" charset="-128"/>
                  <a:cs typeface="Gill Sans"/>
                </a:rPr>
                <a:t>Replicate Write</a:t>
              </a:r>
            </a:p>
          </p:txBody>
        </p:sp>
      </p:grpSp>
      <p:sp>
        <p:nvSpPr>
          <p:cNvPr id="92167" name="Rectangle 26"/>
          <p:cNvSpPr>
            <a:spLocks noGrp="1" noChangeArrowheads="1"/>
          </p:cNvSpPr>
          <p:nvPr>
            <p:ph type="body" idx="1"/>
          </p:nvPr>
        </p:nvSpPr>
        <p:spPr>
          <a:xfrm>
            <a:off x="214313" y="1098550"/>
            <a:ext cx="8688387" cy="1479893"/>
          </a:xfrm>
        </p:spPr>
        <p:txBody>
          <a:bodyPr/>
          <a:lstStyle/>
          <a:p>
            <a:pPr marL="473075">
              <a:buClrTx/>
            </a:pPr>
            <a:r>
              <a:rPr lang="en-US" dirty="0"/>
              <a:t>Overlap replication with further computation</a:t>
            </a:r>
          </a:p>
          <a:p>
            <a:pPr marL="473075">
              <a:buClrTx/>
            </a:pPr>
            <a:r>
              <a:rPr lang="en-US" dirty="0"/>
              <a:t>Hold network replies until writes complete</a:t>
            </a:r>
          </a:p>
          <a:p>
            <a:pPr marL="473075">
              <a:buClrTx/>
            </a:pPr>
            <a:r>
              <a:rPr lang="en-US" dirty="0"/>
              <a:t>Gives </a:t>
            </a:r>
            <a:r>
              <a:rPr lang="en-US" b="1" dirty="0"/>
              <a:t>client</a:t>
            </a:r>
            <a:r>
              <a:rPr lang="en-US" dirty="0"/>
              <a:t> same guarantee as synchronous replication</a:t>
            </a:r>
          </a:p>
        </p:txBody>
      </p:sp>
    </p:spTree>
    <p:extLst>
      <p:ext uri="{BB962C8B-B14F-4D97-AF65-F5344CB8AC3E}">
        <p14:creationId xmlns:p14="http://schemas.microsoft.com/office/powerpoint/2010/main" val="3940422779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 bwMode="auto">
          <a:xfrm>
            <a:off x="7304314" y="5932714"/>
            <a:ext cx="1839686" cy="92528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ea typeface="Arial" pitchFamily="-111" charset="-52"/>
              <a:cs typeface="Arial" pitchFamily="-111" charset="-52"/>
            </a:endParaRPr>
          </a:p>
        </p:txBody>
      </p:sp>
      <p:pic>
        <p:nvPicPr>
          <p:cNvPr id="14338" name="Picture 1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8274" y="5715000"/>
            <a:ext cx="2705695" cy="885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78970" y="457200"/>
            <a:ext cx="8665029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b="0" dirty="0">
                <a:solidFill>
                  <a:schemeClr val="tx1"/>
                </a:solidFill>
              </a:rPr>
              <a:t>Tracking Writes and Replies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96323"/>
            <a:ext cx="5980657" cy="5357813"/>
          </a:xfrm>
        </p:spPr>
        <p:txBody>
          <a:bodyPr/>
          <a:lstStyle/>
          <a:p>
            <a:pPr marL="1678722" lvl="4" indent="-205376" eaLnBrk="1" hangingPunct="1">
              <a:defRPr/>
            </a:pPr>
            <a:endParaRPr lang="en-US" dirty="0"/>
          </a:p>
          <a:p>
            <a:pPr marL="348245" indent="-205376" eaLnBrk="1" hangingPunct="1">
              <a:lnSpc>
                <a:spcPct val="60000"/>
              </a:lnSpc>
              <a:defRPr/>
            </a:pPr>
            <a:r>
              <a:rPr lang="en-US" dirty="0"/>
              <a:t>Treat VM as black box</a:t>
            </a:r>
          </a:p>
          <a:p>
            <a:pPr marL="598268" lvl="1" indent="-205376" eaLnBrk="1" hangingPunct="1">
              <a:buClr>
                <a:srgbClr val="000000"/>
              </a:buClr>
              <a:defRPr/>
            </a:pPr>
            <a:r>
              <a:rPr lang="en-US" b="1" dirty="0"/>
              <a:t>No modifications to application</a:t>
            </a:r>
            <a:endParaRPr lang="en-US" b="1" dirty="0">
              <a:ea typeface="ヒラギノ角ゴ ProN W6" charset="0"/>
              <a:cs typeface="ヒラギノ角ゴ ProN W6" charset="0"/>
            </a:endParaRPr>
          </a:p>
          <a:p>
            <a:pPr marL="598268" lvl="1" indent="-205376" eaLnBrk="1" hangingPunct="1">
              <a:buClr>
                <a:srgbClr val="000000"/>
              </a:buClr>
              <a:defRPr/>
            </a:pPr>
            <a:r>
              <a:rPr lang="en-US" dirty="0">
                <a:solidFill>
                  <a:srgbClr val="000000"/>
                </a:solidFill>
              </a:rPr>
              <a:t>Track disk writes and network calls</a:t>
            </a:r>
          </a:p>
          <a:p>
            <a:pPr marL="1678722" lvl="4" indent="-205376" eaLnBrk="1" hangingPunct="1">
              <a:lnSpc>
                <a:spcPct val="90000"/>
              </a:lnSpc>
              <a:defRPr/>
            </a:pPr>
            <a:endParaRPr lang="en-US" dirty="0"/>
          </a:p>
          <a:p>
            <a:pPr marL="348245" indent="-205376" eaLnBrk="1" hangingPunct="1">
              <a:lnSpc>
                <a:spcPct val="60000"/>
              </a:lnSpc>
              <a:defRPr/>
            </a:pPr>
            <a:r>
              <a:rPr lang="en-US" dirty="0"/>
              <a:t>Hypervisor (Dom0 in Xen) intercepts all I/O</a:t>
            </a:r>
          </a:p>
          <a:p>
            <a:pPr marL="598268" lvl="1" indent="-205376" eaLnBrk="1" hangingPunct="1">
              <a:buClr>
                <a:srgbClr val="000000"/>
              </a:buClr>
              <a:defRPr/>
            </a:pPr>
            <a:r>
              <a:rPr lang="en-US" dirty="0">
                <a:solidFill>
                  <a:srgbClr val="000000"/>
                </a:solidFill>
              </a:rPr>
              <a:t>Replicate disk writes to backup</a:t>
            </a:r>
          </a:p>
          <a:p>
            <a:pPr marL="598268" lvl="1" indent="-205376" eaLnBrk="1" hangingPunct="1">
              <a:buClr>
                <a:srgbClr val="000000"/>
              </a:buClr>
              <a:defRPr/>
            </a:pPr>
            <a:r>
              <a:rPr lang="en-US" dirty="0">
                <a:solidFill>
                  <a:srgbClr val="000000"/>
                </a:solidFill>
              </a:rPr>
              <a:t>Hold network packets until prior disk writes are committed at replica</a:t>
            </a:r>
          </a:p>
          <a:p>
            <a:pPr marL="363318" indent="-205376" eaLnBrk="1" hangingPunct="1">
              <a:buClr>
                <a:srgbClr val="000000"/>
              </a:buClr>
              <a:defRPr/>
            </a:pPr>
            <a:r>
              <a:rPr lang="en-US" dirty="0">
                <a:solidFill>
                  <a:srgbClr val="000000"/>
                </a:solidFill>
              </a:rPr>
              <a:t>Count pending and committed writes</a:t>
            </a:r>
          </a:p>
          <a:p>
            <a:pPr marL="598268" lvl="1" indent="-205376" eaLnBrk="1" hangingPunct="1">
              <a:buClr>
                <a:srgbClr val="000000"/>
              </a:buClr>
              <a:defRPr/>
            </a:pPr>
            <a:r>
              <a:rPr lang="en-US" b="1" dirty="0"/>
              <a:t>Enforces total ordering of events – even with multi-tier applications</a:t>
            </a:r>
            <a:endParaRPr lang="en-US" b="1" dirty="0">
              <a:ea typeface="ヒラギノ角ゴ ProN W6" charset="0"/>
              <a:cs typeface="ヒラギノ角ゴ ProN W6" charset="0"/>
            </a:endParaRPr>
          </a:p>
        </p:txBody>
      </p:sp>
      <p:sp>
        <p:nvSpPr>
          <p:cNvPr id="14341" name="Rectangle 4"/>
          <p:cNvSpPr>
            <a:spLocks/>
          </p:cNvSpPr>
          <p:nvPr/>
        </p:nvSpPr>
        <p:spPr bwMode="auto">
          <a:xfrm>
            <a:off x="6072187" y="1134070"/>
            <a:ext cx="1839516" cy="5447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-111" charset="0"/>
                <a:ea typeface="MS PGothic" pitchFamily="34" charset="-128"/>
                <a:cs typeface="Arial" pitchFamily="-111" charset="-52"/>
              </a:rPr>
              <a:t>PipeSync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Verdana" pitchFamily="-111" charset="0"/>
              <a:ea typeface="MS PGothic" pitchFamily="34" charset="-128"/>
              <a:cs typeface="Arial" pitchFamily="-111" charset="-52"/>
            </a:endParaRPr>
          </a:p>
        </p:txBody>
      </p:sp>
      <p:sp>
        <p:nvSpPr>
          <p:cNvPr id="14342" name="Rectangle 5"/>
          <p:cNvSpPr>
            <a:spLocks/>
          </p:cNvSpPr>
          <p:nvPr/>
        </p:nvSpPr>
        <p:spPr bwMode="auto">
          <a:xfrm>
            <a:off x="7143750" y="3018234"/>
            <a:ext cx="892969" cy="892969"/>
          </a:xfrm>
          <a:prstGeom prst="rect">
            <a:avLst/>
          </a:prstGeom>
          <a:solidFill>
            <a:srgbClr val="343434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-111" charset="0"/>
                <a:ea typeface="MS PGothic" pitchFamily="34" charset="-128"/>
                <a:cs typeface="Arial" pitchFamily="-111" charset="-52"/>
              </a:rPr>
              <a:t>VM</a:t>
            </a:r>
          </a:p>
        </p:txBody>
      </p:sp>
      <p:sp>
        <p:nvSpPr>
          <p:cNvPr id="14343" name="Rectangle 6"/>
          <p:cNvSpPr>
            <a:spLocks/>
          </p:cNvSpPr>
          <p:nvPr/>
        </p:nvSpPr>
        <p:spPr bwMode="auto">
          <a:xfrm>
            <a:off x="6438305" y="3902274"/>
            <a:ext cx="2294930" cy="1080492"/>
          </a:xfrm>
          <a:prstGeom prst="rect">
            <a:avLst/>
          </a:prstGeom>
          <a:solidFill>
            <a:srgbClr val="C2E5A6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b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MS PGothic" pitchFamily="34" charset="-128"/>
                <a:cs typeface="Arial" pitchFamily="-111" charset="-52"/>
              </a:rPr>
              <a:t>Hypervisor</a:t>
            </a:r>
          </a:p>
        </p:txBody>
      </p:sp>
      <p:pic>
        <p:nvPicPr>
          <p:cNvPr id="14344" name="Picture 7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45586" y="4125516"/>
            <a:ext cx="804788" cy="54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5" name="Picture 8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93719" y="3993803"/>
            <a:ext cx="571500" cy="669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6" name="Line 9"/>
          <p:cNvSpPr>
            <a:spLocks noChangeShapeType="1"/>
          </p:cNvSpPr>
          <p:nvPr/>
        </p:nvSpPr>
        <p:spPr bwMode="auto">
          <a:xfrm rot="10800000" flipH="1">
            <a:off x="7259836" y="3536156"/>
            <a:ext cx="0" cy="794742"/>
          </a:xfrm>
          <a:prstGeom prst="line">
            <a:avLst/>
          </a:prstGeom>
          <a:noFill/>
          <a:ln w="63500">
            <a:solidFill>
              <a:srgbClr val="D90B00"/>
            </a:solidFill>
            <a:miter lim="800000"/>
            <a:headEnd type="triangle" w="med" len="med"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  <p:sp>
        <p:nvSpPr>
          <p:cNvPr id="14347" name="Line 10"/>
          <p:cNvSpPr>
            <a:spLocks noChangeShapeType="1"/>
          </p:cNvSpPr>
          <p:nvPr/>
        </p:nvSpPr>
        <p:spPr bwMode="auto">
          <a:xfrm rot="10800000" flipH="1">
            <a:off x="7947422" y="3536156"/>
            <a:ext cx="0" cy="794742"/>
          </a:xfrm>
          <a:prstGeom prst="line">
            <a:avLst/>
          </a:prstGeom>
          <a:noFill/>
          <a:ln w="63500">
            <a:solidFill>
              <a:srgbClr val="D90B00"/>
            </a:solidFill>
            <a:miter lim="800000"/>
            <a:headEnd type="triangle" w="med" len="med"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  <p:sp>
        <p:nvSpPr>
          <p:cNvPr id="14348" name="Rectangle 11"/>
          <p:cNvSpPr>
            <a:spLocks/>
          </p:cNvSpPr>
          <p:nvPr/>
        </p:nvSpPr>
        <p:spPr bwMode="auto">
          <a:xfrm>
            <a:off x="6438305" y="5902524"/>
            <a:ext cx="2294930" cy="473273"/>
          </a:xfrm>
          <a:prstGeom prst="rect">
            <a:avLst/>
          </a:prstGeom>
          <a:solidFill>
            <a:srgbClr val="C2E5A6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b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MS PGothic" pitchFamily="34" charset="-128"/>
                <a:cs typeface="Arial" pitchFamily="-111" charset="-52"/>
              </a:rPr>
              <a:t>Backup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ea typeface="MS PGothic" pitchFamily="34" charset="-128"/>
                <a:cs typeface="Arial" pitchFamily="-111" charset="-52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MS PGothic" pitchFamily="34" charset="-128"/>
                <a:cs typeface="Arial" pitchFamily="-111" charset="-52"/>
              </a:rPr>
              <a:t>server</a:t>
            </a:r>
          </a:p>
        </p:txBody>
      </p:sp>
      <p:sp>
        <p:nvSpPr>
          <p:cNvPr id="14349" name="Line 12"/>
          <p:cNvSpPr>
            <a:spLocks noChangeShapeType="1"/>
          </p:cNvSpPr>
          <p:nvPr/>
        </p:nvSpPr>
        <p:spPr bwMode="auto">
          <a:xfrm rot="10800000">
            <a:off x="8268891" y="4375547"/>
            <a:ext cx="0" cy="1732359"/>
          </a:xfrm>
          <a:prstGeom prst="line">
            <a:avLst/>
          </a:prstGeom>
          <a:noFill/>
          <a:ln w="63500">
            <a:solidFill>
              <a:srgbClr val="D90B00"/>
            </a:solidFill>
            <a:miter lim="800000"/>
            <a:headEnd type="triangle" w="med" len="med"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  <p:sp>
        <p:nvSpPr>
          <p:cNvPr id="14350" name="Line 13"/>
          <p:cNvSpPr>
            <a:spLocks noChangeShapeType="1"/>
          </p:cNvSpPr>
          <p:nvPr/>
        </p:nvSpPr>
        <p:spPr bwMode="auto">
          <a:xfrm>
            <a:off x="6134695" y="4330898"/>
            <a:ext cx="955477" cy="0"/>
          </a:xfrm>
          <a:prstGeom prst="line">
            <a:avLst/>
          </a:prstGeom>
          <a:noFill/>
          <a:ln w="63500">
            <a:solidFill>
              <a:srgbClr val="D90B00"/>
            </a:solidFill>
            <a:miter lim="800000"/>
            <a:headEnd type="triangle" w="med" len="med"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277570" y="1161975"/>
            <a:ext cx="2858618" cy="1472283"/>
            <a:chOff x="0" y="25"/>
            <a:chExt cx="2561" cy="1319"/>
          </a:xfrm>
        </p:grpSpPr>
        <p:sp>
          <p:nvSpPr>
            <p:cNvPr id="14352" name="Rectangle 14"/>
            <p:cNvSpPr>
              <a:spLocks/>
            </p:cNvSpPr>
            <p:nvPr/>
          </p:nvSpPr>
          <p:spPr bwMode="auto">
            <a:xfrm>
              <a:off x="8" y="500"/>
              <a:ext cx="985" cy="422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  <a:t>Processing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MS PGothic" pitchFamily="34" charset="-128"/>
                <a:cs typeface="Arial" pitchFamily="-111" charset="-52"/>
              </a:endParaRPr>
            </a:p>
          </p:txBody>
        </p:sp>
        <p:sp>
          <p:nvSpPr>
            <p:cNvPr id="14353" name="Line 15"/>
            <p:cNvSpPr>
              <a:spLocks noChangeShapeType="1"/>
            </p:cNvSpPr>
            <p:nvPr/>
          </p:nvSpPr>
          <p:spPr bwMode="auto">
            <a:xfrm>
              <a:off x="2166" y="316"/>
              <a:ext cx="0" cy="392"/>
            </a:xfrm>
            <a:prstGeom prst="line">
              <a:avLst/>
            </a:prstGeom>
            <a:noFill/>
            <a:ln w="63500">
              <a:solidFill>
                <a:srgbClr val="0091CE"/>
              </a:solidFill>
              <a:miter lim="800000"/>
              <a:headEnd type="triangle" w="med" len="med"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14354" name="Rectangle 16"/>
            <p:cNvSpPr>
              <a:spLocks/>
            </p:cNvSpPr>
            <p:nvPr/>
          </p:nvSpPr>
          <p:spPr bwMode="auto">
            <a:xfrm>
              <a:off x="1021" y="500"/>
              <a:ext cx="508" cy="422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  <a:t>Reply</a:t>
              </a:r>
              <a:endPara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-111" charset="0"/>
                <a:ea typeface="MS PGothic" pitchFamily="34" charset="-128"/>
                <a:cs typeface="Arial" pitchFamily="-111" charset="-52"/>
              </a:endParaRPr>
            </a:p>
          </p:txBody>
        </p:sp>
        <p:sp>
          <p:nvSpPr>
            <p:cNvPr id="14355" name="Line 17"/>
            <p:cNvSpPr>
              <a:spLocks noChangeShapeType="1"/>
            </p:cNvSpPr>
            <p:nvPr/>
          </p:nvSpPr>
          <p:spPr bwMode="auto">
            <a:xfrm flipH="1">
              <a:off x="1549" y="714"/>
              <a:ext cx="635" cy="0"/>
            </a:xfrm>
            <a:prstGeom prst="line">
              <a:avLst/>
            </a:prstGeom>
            <a:noFill/>
            <a:ln w="76200">
              <a:solidFill>
                <a:srgbClr val="0091CE"/>
              </a:solidFill>
              <a:prstDash val="sysDot"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endParaRPr>
            </a:p>
          </p:txBody>
        </p:sp>
        <p:sp>
          <p:nvSpPr>
            <p:cNvPr id="14356" name="Rectangle 18"/>
            <p:cNvSpPr>
              <a:spLocks/>
            </p:cNvSpPr>
            <p:nvPr/>
          </p:nvSpPr>
          <p:spPr bwMode="auto">
            <a:xfrm>
              <a:off x="1546" y="449"/>
              <a:ext cx="493" cy="2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  <a:t>Hold</a:t>
              </a:r>
            </a:p>
          </p:txBody>
        </p:sp>
        <p:sp>
          <p:nvSpPr>
            <p:cNvPr id="14357" name="Rectangle 19"/>
            <p:cNvSpPr>
              <a:spLocks/>
            </p:cNvSpPr>
            <p:nvPr/>
          </p:nvSpPr>
          <p:spPr bwMode="auto">
            <a:xfrm>
              <a:off x="1718" y="25"/>
              <a:ext cx="843" cy="2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67AB4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  <a:t>Release</a:t>
              </a:r>
            </a:p>
          </p:txBody>
        </p:sp>
        <p:sp>
          <p:nvSpPr>
            <p:cNvPr id="14358" name="Rectangle 20"/>
            <p:cNvSpPr>
              <a:spLocks/>
            </p:cNvSpPr>
            <p:nvPr/>
          </p:nvSpPr>
          <p:spPr bwMode="auto">
            <a:xfrm>
              <a:off x="0" y="912"/>
              <a:ext cx="2192" cy="432"/>
            </a:xfrm>
            <a:prstGeom prst="rect">
              <a:avLst/>
            </a:prstGeom>
            <a:solidFill>
              <a:srgbClr val="A408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dana" pitchFamily="-111" charset="0"/>
                  <a:ea typeface="MS PGothic" pitchFamily="34" charset="-128"/>
                  <a:cs typeface="Arial" pitchFamily="-111" charset="-52"/>
                </a:rPr>
                <a:t>Replicate Write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302330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37513" cy="762000"/>
          </a:xfrm>
        </p:spPr>
        <p:txBody>
          <a:bodyPr/>
          <a:lstStyle/>
          <a:p>
            <a:pPr algn="l"/>
            <a:r>
              <a:rPr lang="en-US" sz="2800" b="0" dirty="0">
                <a:solidFill>
                  <a:schemeClr val="accent2"/>
                </a:solidFill>
              </a:rPr>
              <a:t>Multi-tier Applications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1887" y="979714"/>
            <a:ext cx="9144000" cy="2209800"/>
          </a:xfrm>
        </p:spPr>
        <p:txBody>
          <a:bodyPr/>
          <a:lstStyle/>
          <a:p>
            <a:pPr marL="473075">
              <a:buClrTx/>
            </a:pPr>
            <a:r>
              <a:rPr lang="en-US" sz="1800" dirty="0">
                <a:solidFill>
                  <a:srgbClr val="000000"/>
                </a:solidFill>
              </a:rPr>
              <a:t>Many applications have multiple components</a:t>
            </a:r>
          </a:p>
          <a:p>
            <a:pPr marL="784225" lvl="1">
              <a:buClrTx/>
            </a:pPr>
            <a:r>
              <a:rPr lang="en-US" sz="1800" dirty="0">
                <a:solidFill>
                  <a:srgbClr val="000000"/>
                </a:solidFill>
              </a:rPr>
              <a:t>Want to speculate across tiers</a:t>
            </a:r>
          </a:p>
          <a:p>
            <a:pPr marL="784225" lvl="1">
              <a:buClrTx/>
            </a:pPr>
            <a:r>
              <a:rPr lang="en-US" sz="1800" dirty="0">
                <a:solidFill>
                  <a:srgbClr val="000000"/>
                </a:solidFill>
              </a:rPr>
              <a:t>Must support consistency if multiple tiers have protected disks</a:t>
            </a:r>
          </a:p>
          <a:p>
            <a:pPr marL="473075">
              <a:lnSpc>
                <a:spcPct val="90000"/>
              </a:lnSpc>
              <a:buClrTx/>
            </a:pPr>
            <a:r>
              <a:rPr lang="en-US" sz="1800" dirty="0">
                <a:solidFill>
                  <a:srgbClr val="000000"/>
                </a:solidFill>
              </a:rPr>
              <a:t>Must propagate write dependencies across tiers</a:t>
            </a:r>
          </a:p>
          <a:p>
            <a:pPr marL="473075" lvl="3" indent="-342900">
              <a:lnSpc>
                <a:spcPct val="90000"/>
              </a:lnSpc>
              <a:spcBef>
                <a:spcPct val="20000"/>
              </a:spcBef>
              <a:buClrTx/>
              <a:buSzPct val="100000"/>
              <a:buNone/>
            </a:pPr>
            <a:r>
              <a:rPr lang="en-US" sz="1800" dirty="0">
                <a:solidFill>
                  <a:srgbClr val="000000"/>
                </a:solidFill>
                <a:ea typeface="+mn-ea"/>
                <a:cs typeface="+mn-cs"/>
              </a:rPr>
              <a:t>Multi-tier apps </a:t>
            </a:r>
            <a:r>
              <a:rPr lang="en-US" sz="1800" dirty="0">
                <a:ea typeface="+mn-ea"/>
                <a:cs typeface="+mn-cs"/>
                <a:sym typeface="Wingdings" pitchFamily="2" charset="2"/>
              </a:rPr>
              <a:t></a:t>
            </a:r>
            <a:r>
              <a:rPr lang="en-US" sz="1800" dirty="0">
                <a:solidFill>
                  <a:srgbClr val="000000"/>
                </a:solidFill>
                <a:ea typeface="+mn-ea"/>
                <a:cs typeface="+mn-cs"/>
              </a:rPr>
              <a:t> more execution to overlap </a:t>
            </a:r>
            <a:r>
              <a:rPr lang="en-US" sz="1800" dirty="0">
                <a:solidFill>
                  <a:srgbClr val="000000"/>
                </a:solidFill>
                <a:ea typeface="+mn-ea"/>
                <a:cs typeface="+mn-cs"/>
                <a:sym typeface="Wingdings" pitchFamily="2" charset="2"/>
              </a:rPr>
              <a:t></a:t>
            </a:r>
            <a:r>
              <a:rPr lang="en-US" sz="1800" dirty="0">
                <a:solidFill>
                  <a:srgbClr val="000000"/>
                </a:solidFill>
                <a:ea typeface="+mn-ea"/>
                <a:cs typeface="+mn-cs"/>
              </a:rPr>
              <a:t> less replication overhead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60338" y="2990850"/>
            <a:ext cx="8912225" cy="519113"/>
            <a:chOff x="0" y="0"/>
            <a:chExt cx="7984" cy="464"/>
          </a:xfrm>
        </p:grpSpPr>
        <p:sp>
          <p:nvSpPr>
            <p:cNvPr id="93199" name="Rectangle 4"/>
            <p:cNvSpPr>
              <a:spLocks/>
            </p:cNvSpPr>
            <p:nvPr/>
          </p:nvSpPr>
          <p:spPr bwMode="auto">
            <a:xfrm>
              <a:off x="0" y="0"/>
              <a:ext cx="2312" cy="464"/>
            </a:xfrm>
            <a:prstGeom prst="rect">
              <a:avLst/>
            </a:prstGeom>
            <a:solidFill>
              <a:srgbClr val="FFA49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Gill Sans"/>
                </a:rPr>
                <a:t>Front write (RTT)</a:t>
              </a:r>
            </a:p>
          </p:txBody>
        </p:sp>
        <p:sp>
          <p:nvSpPr>
            <p:cNvPr id="93200" name="Rectangle 5"/>
            <p:cNvSpPr>
              <a:spLocks/>
            </p:cNvSpPr>
            <p:nvPr/>
          </p:nvSpPr>
          <p:spPr bwMode="auto">
            <a:xfrm>
              <a:off x="2392" y="0"/>
              <a:ext cx="2312" cy="464"/>
            </a:xfrm>
            <a:prstGeom prst="rect">
              <a:avLst/>
            </a:prstGeom>
            <a:solidFill>
              <a:srgbClr val="FFA49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Gill Sans"/>
                </a:rPr>
                <a:t>App write (RTT)</a:t>
              </a:r>
            </a:p>
          </p:txBody>
        </p:sp>
        <p:sp>
          <p:nvSpPr>
            <p:cNvPr id="93201" name="Rectangle 6"/>
            <p:cNvSpPr>
              <a:spLocks/>
            </p:cNvSpPr>
            <p:nvPr/>
          </p:nvSpPr>
          <p:spPr bwMode="auto">
            <a:xfrm>
              <a:off x="4784" y="0"/>
              <a:ext cx="2312" cy="464"/>
            </a:xfrm>
            <a:prstGeom prst="rect">
              <a:avLst/>
            </a:prstGeom>
            <a:solidFill>
              <a:srgbClr val="FFA49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Gill Sans"/>
                </a:rPr>
                <a:t>DB write (RTT)</a:t>
              </a:r>
            </a:p>
          </p:txBody>
        </p:sp>
        <p:sp>
          <p:nvSpPr>
            <p:cNvPr id="93202" name="Rectangle 7"/>
            <p:cNvSpPr>
              <a:spLocks/>
            </p:cNvSpPr>
            <p:nvPr/>
          </p:nvSpPr>
          <p:spPr bwMode="auto">
            <a:xfrm>
              <a:off x="7176" y="0"/>
              <a:ext cx="808" cy="464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Gill Sans"/>
                </a:rPr>
                <a:t>Reply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545138" y="4037013"/>
            <a:ext cx="3017837" cy="2151062"/>
            <a:chOff x="0" y="0"/>
            <a:chExt cx="2704" cy="1928"/>
          </a:xfrm>
        </p:grpSpPr>
        <p:sp>
          <p:nvSpPr>
            <p:cNvPr id="93193" name="Rectangle 9"/>
            <p:cNvSpPr>
              <a:spLocks/>
            </p:cNvSpPr>
            <p:nvPr/>
          </p:nvSpPr>
          <p:spPr bwMode="auto">
            <a:xfrm>
              <a:off x="0" y="0"/>
              <a:ext cx="2312" cy="464"/>
            </a:xfrm>
            <a:prstGeom prst="rect">
              <a:avLst/>
            </a:prstGeom>
            <a:solidFill>
              <a:srgbClr val="C2E5A6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Gill Sans"/>
                </a:rPr>
                <a:t>Front write (RTT)</a:t>
              </a:r>
            </a:p>
          </p:txBody>
        </p:sp>
        <p:sp>
          <p:nvSpPr>
            <p:cNvPr id="93194" name="Rectangle 10"/>
            <p:cNvSpPr>
              <a:spLocks/>
            </p:cNvSpPr>
            <p:nvPr/>
          </p:nvSpPr>
          <p:spPr bwMode="auto">
            <a:xfrm>
              <a:off x="144" y="488"/>
              <a:ext cx="2312" cy="464"/>
            </a:xfrm>
            <a:prstGeom prst="rect">
              <a:avLst/>
            </a:prstGeom>
            <a:solidFill>
              <a:srgbClr val="C2E5A6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Gill Sans"/>
                </a:rPr>
                <a:t>App write (RTT)</a:t>
              </a:r>
            </a:p>
          </p:txBody>
        </p:sp>
        <p:sp>
          <p:nvSpPr>
            <p:cNvPr id="93195" name="Rectangle 11"/>
            <p:cNvSpPr>
              <a:spLocks/>
            </p:cNvSpPr>
            <p:nvPr/>
          </p:nvSpPr>
          <p:spPr bwMode="auto">
            <a:xfrm>
              <a:off x="320" y="976"/>
              <a:ext cx="2312" cy="464"/>
            </a:xfrm>
            <a:prstGeom prst="rect">
              <a:avLst/>
            </a:prstGeom>
            <a:solidFill>
              <a:srgbClr val="C2E5A6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Gill Sans"/>
                </a:rPr>
                <a:t>DB write (RTT)</a:t>
              </a:r>
            </a:p>
          </p:txBody>
        </p:sp>
        <p:sp>
          <p:nvSpPr>
            <p:cNvPr id="93196" name="Rectangle 12"/>
            <p:cNvSpPr>
              <a:spLocks/>
            </p:cNvSpPr>
            <p:nvPr/>
          </p:nvSpPr>
          <p:spPr bwMode="auto">
            <a:xfrm>
              <a:off x="480" y="1464"/>
              <a:ext cx="808" cy="464"/>
            </a:xfrm>
            <a:prstGeom prst="rect">
              <a:avLst/>
            </a:prstGeom>
            <a:solidFill>
              <a:srgbClr val="92D05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  <a:cs typeface="Gill Sans"/>
                </a:rPr>
                <a:t>Reply</a:t>
              </a:r>
            </a:p>
          </p:txBody>
        </p:sp>
        <p:sp>
          <p:nvSpPr>
            <p:cNvPr id="93197" name="Line 13"/>
            <p:cNvSpPr>
              <a:spLocks noChangeShapeType="1"/>
            </p:cNvSpPr>
            <p:nvPr/>
          </p:nvSpPr>
          <p:spPr bwMode="auto">
            <a:xfrm rot="10800000" flipH="1">
              <a:off x="1328" y="1767"/>
              <a:ext cx="1376" cy="1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93198" name="Line 14"/>
            <p:cNvSpPr>
              <a:spLocks noChangeShapeType="1"/>
            </p:cNvSpPr>
            <p:nvPr/>
          </p:nvSpPr>
          <p:spPr bwMode="auto">
            <a:xfrm rot="10800000" flipH="1">
              <a:off x="2680" y="271"/>
              <a:ext cx="0" cy="1513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lIns="0" tIns="0" rIns="0" bIns="0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93191" name="Rectangle 15"/>
          <p:cNvSpPr>
            <a:spLocks/>
          </p:cNvSpPr>
          <p:nvPr/>
        </p:nvSpPr>
        <p:spPr bwMode="auto">
          <a:xfrm>
            <a:off x="5014913" y="3658315"/>
            <a:ext cx="22762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Gill Sans"/>
              </a:rPr>
              <a:t>vs</a:t>
            </a:r>
          </a:p>
        </p:txBody>
      </p:sp>
      <p:pic>
        <p:nvPicPr>
          <p:cNvPr id="93192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413" y="4660900"/>
            <a:ext cx="5178425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1852713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 bwMode="auto">
          <a:xfrm>
            <a:off x="0" y="6193970"/>
            <a:ext cx="7805057" cy="40011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Verdana" pitchFamily="-111" charset="0"/>
              <a:ea typeface="Arial" pitchFamily="-111" charset="-52"/>
              <a:cs typeface="Arial" pitchFamily="-111" charset="-52"/>
            </a:endParaRPr>
          </a:p>
        </p:txBody>
      </p:sp>
      <p:sp>
        <p:nvSpPr>
          <p:cNvPr id="16386" name="AutoShape 1"/>
          <p:cNvSpPr>
            <a:spLocks/>
          </p:cNvSpPr>
          <p:nvPr/>
        </p:nvSpPr>
        <p:spPr bwMode="auto">
          <a:xfrm>
            <a:off x="6947297" y="4107656"/>
            <a:ext cx="2000250" cy="794742"/>
          </a:xfrm>
          <a:prstGeom prst="roundRect">
            <a:avLst>
              <a:gd name="adj" fmla="val 0"/>
            </a:avLst>
          </a:prstGeom>
          <a:solidFill>
            <a:srgbClr val="98B7FE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125011" tIns="125011" rIns="125011" bIns="12501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Hypervisor</a:t>
            </a:r>
          </a:p>
        </p:txBody>
      </p:sp>
      <p:sp>
        <p:nvSpPr>
          <p:cNvPr id="16387" name="AutoShape 2"/>
          <p:cNvSpPr>
            <a:spLocks/>
          </p:cNvSpPr>
          <p:nvPr/>
        </p:nvSpPr>
        <p:spPr bwMode="auto">
          <a:xfrm>
            <a:off x="4759523" y="4107656"/>
            <a:ext cx="2000250" cy="794742"/>
          </a:xfrm>
          <a:prstGeom prst="roundRect">
            <a:avLst>
              <a:gd name="adj" fmla="val 0"/>
            </a:avLst>
          </a:prstGeom>
          <a:solidFill>
            <a:srgbClr val="98B7FE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125011" tIns="125011" rIns="125011" bIns="12501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Hypervisor</a:t>
            </a:r>
          </a:p>
        </p:txBody>
      </p:sp>
      <p:sp>
        <p:nvSpPr>
          <p:cNvPr id="15363" name="Line 3"/>
          <p:cNvSpPr>
            <a:spLocks noChangeShapeType="1"/>
          </p:cNvSpPr>
          <p:nvPr/>
        </p:nvSpPr>
        <p:spPr bwMode="auto">
          <a:xfrm rot="10800000" flipH="1">
            <a:off x="1312664" y="3865439"/>
            <a:ext cx="1177603" cy="1908721"/>
          </a:xfrm>
          <a:prstGeom prst="line">
            <a:avLst/>
          </a:prstGeom>
          <a:noFill/>
          <a:ln w="88900">
            <a:solidFill>
              <a:srgbClr val="A40800"/>
            </a:solidFill>
            <a:miter lim="800000"/>
            <a:headEnd/>
            <a:tailEnd type="stealth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6389" name="AutoShape 4"/>
          <p:cNvSpPr>
            <a:spLocks/>
          </p:cNvSpPr>
          <p:nvPr/>
        </p:nvSpPr>
        <p:spPr bwMode="auto">
          <a:xfrm>
            <a:off x="2419945" y="4107656"/>
            <a:ext cx="2098477" cy="794742"/>
          </a:xfrm>
          <a:prstGeom prst="roundRect">
            <a:avLst>
              <a:gd name="adj" fmla="val 0"/>
            </a:avLst>
          </a:prstGeom>
          <a:solidFill>
            <a:srgbClr val="98B7FE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125011" tIns="125011" rIns="125011" bIns="12501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Hypervisor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sz="2800" b="0">
                <a:solidFill>
                  <a:schemeClr val="accent2"/>
                </a:solidFill>
              </a:rPr>
              <a:t>Tracking Dependencies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46314" y="1196323"/>
            <a:ext cx="9144000" cy="2027039"/>
          </a:xfrm>
        </p:spPr>
        <p:txBody>
          <a:bodyPr/>
          <a:lstStyle/>
          <a:p>
            <a:pPr marL="473257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Use Vector Clocks to track pending writes</a:t>
            </a:r>
          </a:p>
          <a:p>
            <a:pPr marL="785785" lvl="1" eaLnBrk="1" hangingPunct="1">
              <a:defRPr/>
            </a:pPr>
            <a:r>
              <a:rPr lang="en-US" sz="1600" dirty="0">
                <a:solidFill>
                  <a:srgbClr val="000000"/>
                </a:solidFill>
              </a:rPr>
              <a:t>One entry per protected disk:  </a:t>
            </a:r>
            <a:r>
              <a:rPr lang="en-US" sz="1600" b="1" dirty="0">
                <a:solidFill>
                  <a:srgbClr val="067AB4"/>
                </a:solidFill>
              </a:rPr>
              <a:t>&lt;D</a:t>
            </a:r>
            <a:r>
              <a:rPr lang="en-US" sz="1600" b="1" baseline="-6000" dirty="0">
                <a:solidFill>
                  <a:srgbClr val="067AB4"/>
                </a:solidFill>
              </a:rPr>
              <a:t>1</a:t>
            </a:r>
            <a:r>
              <a:rPr lang="en-US" sz="1600" b="1" dirty="0">
                <a:solidFill>
                  <a:srgbClr val="067AB4"/>
                </a:solidFill>
              </a:rPr>
              <a:t>, D</a:t>
            </a:r>
            <a:r>
              <a:rPr lang="en-US" sz="1600" b="1" baseline="-6000" dirty="0">
                <a:solidFill>
                  <a:srgbClr val="067AB4"/>
                </a:solidFill>
              </a:rPr>
              <a:t>2</a:t>
            </a:r>
            <a:r>
              <a:rPr lang="en-US" sz="1600" b="1" dirty="0">
                <a:solidFill>
                  <a:srgbClr val="067AB4"/>
                </a:solidFill>
              </a:rPr>
              <a:t>, ...,</a:t>
            </a:r>
            <a:r>
              <a:rPr lang="en-US" sz="1600" b="1" dirty="0" err="1">
                <a:solidFill>
                  <a:srgbClr val="067AB4"/>
                </a:solidFill>
              </a:rPr>
              <a:t>D</a:t>
            </a:r>
            <a:r>
              <a:rPr lang="en-US" sz="1600" b="1" baseline="-6000" dirty="0" err="1">
                <a:solidFill>
                  <a:srgbClr val="067AB4"/>
                </a:solidFill>
              </a:rPr>
              <a:t>n</a:t>
            </a:r>
            <a:r>
              <a:rPr lang="en-US" sz="1600" b="1" dirty="0">
                <a:solidFill>
                  <a:srgbClr val="067AB4"/>
                </a:solidFill>
              </a:rPr>
              <a:t>&gt;</a:t>
            </a:r>
            <a:endParaRPr lang="en-US" sz="1600" dirty="0">
              <a:solidFill>
                <a:srgbClr val="067AB4"/>
              </a:solidFill>
            </a:endParaRPr>
          </a:p>
          <a:p>
            <a:pPr marL="473257"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</a:rPr>
              <a:t>Node </a:t>
            </a:r>
            <a:r>
              <a:rPr lang="en-US" b="1" dirty="0" err="1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increments </a:t>
            </a:r>
            <a:r>
              <a:rPr lang="en-US" b="1" dirty="0">
                <a:solidFill>
                  <a:srgbClr val="067AB4"/>
                </a:solidFill>
              </a:rPr>
              <a:t>D</a:t>
            </a:r>
            <a:r>
              <a:rPr lang="en-US" b="1" baseline="-6000" dirty="0">
                <a:solidFill>
                  <a:srgbClr val="067AB4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on each write</a:t>
            </a:r>
          </a:p>
          <a:p>
            <a:pPr marL="473257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Use vector clocks to </a:t>
            </a:r>
            <a:r>
              <a:rPr lang="en-US" b="1" dirty="0">
                <a:solidFill>
                  <a:srgbClr val="067AB4"/>
                </a:solidFill>
              </a:rPr>
              <a:t>determine a causal ordering</a:t>
            </a:r>
            <a:endParaRPr lang="en-US" b="1" dirty="0">
              <a:solidFill>
                <a:srgbClr val="067AB4"/>
              </a:solidFill>
              <a:ea typeface="ヒラギノ角ゴ ProN W6" charset="0"/>
              <a:cs typeface="ヒラギノ角ゴ ProN W6" charset="0"/>
            </a:endParaRPr>
          </a:p>
        </p:txBody>
      </p:sp>
      <p:sp>
        <p:nvSpPr>
          <p:cNvPr id="16393" name="AutoShape 8"/>
          <p:cNvSpPr>
            <a:spLocks/>
          </p:cNvSpPr>
          <p:nvPr/>
        </p:nvSpPr>
        <p:spPr bwMode="auto">
          <a:xfrm>
            <a:off x="2544961" y="3562945"/>
            <a:ext cx="1946672" cy="535781"/>
          </a:xfrm>
          <a:prstGeom prst="roundRect">
            <a:avLst>
              <a:gd name="adj" fmla="val 25000"/>
            </a:avLst>
          </a:prstGeom>
          <a:solidFill>
            <a:srgbClr val="D9EAC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Front End</a:t>
            </a:r>
          </a:p>
        </p:txBody>
      </p:sp>
      <p:sp>
        <p:nvSpPr>
          <p:cNvPr id="16394" name="AutoShape 9"/>
          <p:cNvSpPr>
            <a:spLocks/>
          </p:cNvSpPr>
          <p:nvPr/>
        </p:nvSpPr>
        <p:spPr bwMode="auto">
          <a:xfrm>
            <a:off x="4777383" y="3562945"/>
            <a:ext cx="1946672" cy="544711"/>
          </a:xfrm>
          <a:prstGeom prst="roundRect">
            <a:avLst>
              <a:gd name="adj" fmla="val 24588"/>
            </a:avLst>
          </a:prstGeom>
          <a:solidFill>
            <a:srgbClr val="D9EAC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App Tier</a:t>
            </a:r>
          </a:p>
        </p:txBody>
      </p:sp>
      <p:sp>
        <p:nvSpPr>
          <p:cNvPr id="16395" name="AutoShape 10"/>
          <p:cNvSpPr>
            <a:spLocks/>
          </p:cNvSpPr>
          <p:nvPr/>
        </p:nvSpPr>
        <p:spPr bwMode="auto">
          <a:xfrm>
            <a:off x="6965156" y="3562945"/>
            <a:ext cx="1946672" cy="544711"/>
          </a:xfrm>
          <a:prstGeom prst="roundRect">
            <a:avLst>
              <a:gd name="adj" fmla="val 24588"/>
            </a:avLst>
          </a:prstGeom>
          <a:solidFill>
            <a:srgbClr val="D9EAC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Database</a:t>
            </a:r>
          </a:p>
        </p:txBody>
      </p:sp>
      <p:pic>
        <p:nvPicPr>
          <p:cNvPr id="16396" name="Picture 11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68266" y="4536281"/>
            <a:ext cx="804788" cy="54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7" name="Picture 1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81305" y="4554141"/>
            <a:ext cx="804788" cy="54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8" name="Rectangle 13"/>
          <p:cNvSpPr>
            <a:spLocks/>
          </p:cNvSpPr>
          <p:nvPr/>
        </p:nvSpPr>
        <p:spPr bwMode="auto">
          <a:xfrm>
            <a:off x="3089672" y="3143250"/>
            <a:ext cx="848320" cy="464344"/>
          </a:xfrm>
          <a:prstGeom prst="rect">
            <a:avLst/>
          </a:prstGeom>
          <a:solidFill>
            <a:srgbClr val="FFDBC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5,10</a:t>
            </a:r>
          </a:p>
        </p:txBody>
      </p:sp>
      <p:sp>
        <p:nvSpPr>
          <p:cNvPr id="16399" name="Rectangle 14"/>
          <p:cNvSpPr>
            <a:spLocks/>
          </p:cNvSpPr>
          <p:nvPr/>
        </p:nvSpPr>
        <p:spPr bwMode="auto">
          <a:xfrm>
            <a:off x="5322094" y="3143250"/>
            <a:ext cx="848320" cy="464344"/>
          </a:xfrm>
          <a:prstGeom prst="rect">
            <a:avLst/>
          </a:prstGeom>
          <a:solidFill>
            <a:srgbClr val="FFDBC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5,10</a:t>
            </a:r>
          </a:p>
        </p:txBody>
      </p:sp>
      <p:sp>
        <p:nvSpPr>
          <p:cNvPr id="16400" name="Rectangle 15"/>
          <p:cNvSpPr>
            <a:spLocks/>
          </p:cNvSpPr>
          <p:nvPr/>
        </p:nvSpPr>
        <p:spPr bwMode="auto">
          <a:xfrm>
            <a:off x="7554516" y="3143250"/>
            <a:ext cx="848320" cy="464344"/>
          </a:xfrm>
          <a:prstGeom prst="rect">
            <a:avLst/>
          </a:prstGeom>
          <a:solidFill>
            <a:srgbClr val="FFDBC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5,10</a:t>
            </a:r>
          </a:p>
        </p:txBody>
      </p:sp>
      <p:sp>
        <p:nvSpPr>
          <p:cNvPr id="15376" name="Rectangle 16"/>
          <p:cNvSpPr>
            <a:spLocks/>
          </p:cNvSpPr>
          <p:nvPr/>
        </p:nvSpPr>
        <p:spPr bwMode="auto">
          <a:xfrm>
            <a:off x="3089672" y="3143250"/>
            <a:ext cx="848320" cy="464344"/>
          </a:xfrm>
          <a:prstGeom prst="rect">
            <a:avLst/>
          </a:prstGeom>
          <a:solidFill>
            <a:srgbClr val="FFB79B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,10</a:t>
            </a:r>
          </a:p>
        </p:txBody>
      </p:sp>
      <p:sp>
        <p:nvSpPr>
          <p:cNvPr id="15377" name="Freeform 17"/>
          <p:cNvSpPr>
            <a:spLocks/>
          </p:cNvSpPr>
          <p:nvPr/>
        </p:nvSpPr>
        <p:spPr bwMode="auto">
          <a:xfrm>
            <a:off x="4348758" y="3866555"/>
            <a:ext cx="508992" cy="401836"/>
          </a:xfrm>
          <a:custGeom>
            <a:avLst/>
            <a:gdLst>
              <a:gd name="T0" fmla="*/ 723900 w 21600"/>
              <a:gd name="T1" fmla="*/ 0 h 21600"/>
              <a:gd name="T2" fmla="*/ 723900 w 21600"/>
              <a:gd name="T3" fmla="*/ 571500 h 21600"/>
              <a:gd name="T4" fmla="*/ 0 w 21600"/>
              <a:gd name="T5" fmla="*/ 57150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</a:path>
            </a:pathLst>
          </a:custGeom>
          <a:noFill/>
          <a:ln w="63500" cap="flat">
            <a:solidFill>
              <a:srgbClr val="2B4714"/>
            </a:solidFill>
            <a:prstDash val="solid"/>
            <a:miter lim="800000"/>
            <a:headEnd type="stealth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5378" name="Freeform 18"/>
          <p:cNvSpPr>
            <a:spLocks/>
          </p:cNvSpPr>
          <p:nvPr/>
        </p:nvSpPr>
        <p:spPr bwMode="auto">
          <a:xfrm>
            <a:off x="6536531" y="3875484"/>
            <a:ext cx="660797" cy="348258"/>
          </a:xfrm>
          <a:custGeom>
            <a:avLst/>
            <a:gdLst>
              <a:gd name="T0" fmla="*/ 939800 w 21600"/>
              <a:gd name="T1" fmla="*/ 0 h 21600"/>
              <a:gd name="T2" fmla="*/ 939800 w 21600"/>
              <a:gd name="T3" fmla="*/ 495300 h 21600"/>
              <a:gd name="T4" fmla="*/ 0 w 21600"/>
              <a:gd name="T5" fmla="*/ 49530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</a:path>
            </a:pathLst>
          </a:custGeom>
          <a:noFill/>
          <a:ln w="63500" cap="flat">
            <a:solidFill>
              <a:srgbClr val="2B4714"/>
            </a:solidFill>
            <a:prstDash val="solid"/>
            <a:miter lim="800000"/>
            <a:headEnd type="stealth" w="med" len="med"/>
            <a:tailEnd type="none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5379" name="Freeform 19"/>
          <p:cNvSpPr>
            <a:spLocks/>
          </p:cNvSpPr>
          <p:nvPr/>
        </p:nvSpPr>
        <p:spPr bwMode="auto">
          <a:xfrm>
            <a:off x="6536531" y="3866555"/>
            <a:ext cx="666378" cy="366117"/>
          </a:xfrm>
          <a:custGeom>
            <a:avLst/>
            <a:gdLst>
              <a:gd name="T0" fmla="*/ 947738 w 21600"/>
              <a:gd name="T1" fmla="*/ 0 h 21600"/>
              <a:gd name="T2" fmla="*/ 939138 w 21600"/>
              <a:gd name="T3" fmla="*/ 520700 h 21600"/>
              <a:gd name="T4" fmla="*/ 0 w 21600"/>
              <a:gd name="T5" fmla="*/ 52070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21404" y="21600"/>
                </a:lnTo>
                <a:lnTo>
                  <a:pt x="0" y="21600"/>
                </a:lnTo>
                <a:lnTo>
                  <a:pt x="0" y="0"/>
                </a:lnTo>
              </a:path>
            </a:pathLst>
          </a:custGeom>
          <a:noFill/>
          <a:ln w="63500" cap="flat">
            <a:solidFill>
              <a:srgbClr val="2B4714"/>
            </a:solidFill>
            <a:prstDash val="solid"/>
            <a:miter lim="800000"/>
            <a:headEnd type="none" w="med" len="med"/>
            <a:tailEnd type="stealth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5380" name="Rectangle 20"/>
          <p:cNvSpPr>
            <a:spLocks/>
          </p:cNvSpPr>
          <p:nvPr/>
        </p:nvSpPr>
        <p:spPr bwMode="auto">
          <a:xfrm>
            <a:off x="5322094" y="3143250"/>
            <a:ext cx="848320" cy="464344"/>
          </a:xfrm>
          <a:prstGeom prst="rect">
            <a:avLst/>
          </a:prstGeom>
          <a:solidFill>
            <a:srgbClr val="FFB79B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,10</a:t>
            </a:r>
          </a:p>
        </p:txBody>
      </p:sp>
      <p:sp>
        <p:nvSpPr>
          <p:cNvPr id="15381" name="Rectangle 21"/>
          <p:cNvSpPr>
            <a:spLocks/>
          </p:cNvSpPr>
          <p:nvPr/>
        </p:nvSpPr>
        <p:spPr bwMode="auto">
          <a:xfrm>
            <a:off x="7554516" y="3143250"/>
            <a:ext cx="848320" cy="464344"/>
          </a:xfrm>
          <a:prstGeom prst="rect">
            <a:avLst/>
          </a:prstGeom>
          <a:solidFill>
            <a:srgbClr val="FFB79B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,10</a:t>
            </a:r>
          </a:p>
        </p:txBody>
      </p:sp>
      <p:sp>
        <p:nvSpPr>
          <p:cNvPr id="15382" name="Rectangle 22"/>
          <p:cNvSpPr>
            <a:spLocks/>
          </p:cNvSpPr>
          <p:nvPr/>
        </p:nvSpPr>
        <p:spPr bwMode="auto">
          <a:xfrm>
            <a:off x="7554516" y="3143250"/>
            <a:ext cx="848320" cy="464344"/>
          </a:xfrm>
          <a:prstGeom prst="rect">
            <a:avLst/>
          </a:prstGeom>
          <a:solidFill>
            <a:srgbClr val="FE936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6,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11</a:t>
            </a:r>
          </a:p>
        </p:txBody>
      </p:sp>
      <p:sp>
        <p:nvSpPr>
          <p:cNvPr id="15383" name="Line 23"/>
          <p:cNvSpPr>
            <a:spLocks noChangeShapeType="1"/>
          </p:cNvSpPr>
          <p:nvPr/>
        </p:nvSpPr>
        <p:spPr bwMode="auto">
          <a:xfrm rot="10800000">
            <a:off x="3866555" y="4857750"/>
            <a:ext cx="1026914" cy="868412"/>
          </a:xfrm>
          <a:prstGeom prst="line">
            <a:avLst/>
          </a:prstGeom>
          <a:noFill/>
          <a:ln w="101600">
            <a:solidFill>
              <a:srgbClr val="140041"/>
            </a:solidFill>
            <a:miter lim="800000"/>
            <a:headEnd type="stealth" w="med" len="med"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5384" name="Line 24"/>
          <p:cNvSpPr>
            <a:spLocks noChangeShapeType="1"/>
          </p:cNvSpPr>
          <p:nvPr/>
        </p:nvSpPr>
        <p:spPr bwMode="auto">
          <a:xfrm rot="10800000" flipH="1">
            <a:off x="6702847" y="4759524"/>
            <a:ext cx="1039192" cy="966639"/>
          </a:xfrm>
          <a:prstGeom prst="line">
            <a:avLst/>
          </a:prstGeom>
          <a:noFill/>
          <a:ln w="101600">
            <a:solidFill>
              <a:srgbClr val="140041"/>
            </a:solidFill>
            <a:miter lim="800000"/>
            <a:headEnd type="stealth" w="med" len="med"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6410" name="Picture 25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27811" y="5922615"/>
            <a:ext cx="2610818" cy="594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411" name="Rectangle 26"/>
          <p:cNvSpPr>
            <a:spLocks/>
          </p:cNvSpPr>
          <p:nvPr/>
        </p:nvSpPr>
        <p:spPr bwMode="auto">
          <a:xfrm>
            <a:off x="4878959" y="5840016"/>
            <a:ext cx="2197819" cy="454298"/>
          </a:xfrm>
          <a:prstGeom prst="rect">
            <a:avLst/>
          </a:prstGeom>
          <a:solidFill>
            <a:srgbClr val="C2E5A6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Backup server</a:t>
            </a:r>
          </a:p>
        </p:txBody>
      </p:sp>
      <p:pic>
        <p:nvPicPr>
          <p:cNvPr id="16412" name="Picture 27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55914" y="6170414"/>
            <a:ext cx="804788" cy="54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13" name="Picture 28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63321" y="6090047"/>
            <a:ext cx="804788" cy="54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89" name="Rectangle 29"/>
          <p:cNvSpPr>
            <a:spLocks/>
          </p:cNvSpPr>
          <p:nvPr/>
        </p:nvSpPr>
        <p:spPr bwMode="auto">
          <a:xfrm>
            <a:off x="4196953" y="4161234"/>
            <a:ext cx="508992" cy="339328"/>
          </a:xfrm>
          <a:prstGeom prst="rect">
            <a:avLst/>
          </a:prstGeom>
          <a:solidFill>
            <a:srgbClr val="FFB79B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,10</a:t>
            </a:r>
          </a:p>
        </p:txBody>
      </p:sp>
      <p:pic>
        <p:nvPicPr>
          <p:cNvPr id="16415" name="Picture 30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2203" y="5589984"/>
            <a:ext cx="840507" cy="96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416" name="Rectangle 31"/>
          <p:cNvSpPr>
            <a:spLocks/>
          </p:cNvSpPr>
          <p:nvPr/>
        </p:nvSpPr>
        <p:spPr bwMode="auto">
          <a:xfrm>
            <a:off x="7849195" y="2339808"/>
            <a:ext cx="848320" cy="464344"/>
          </a:xfrm>
          <a:prstGeom prst="rect">
            <a:avLst/>
          </a:prstGeom>
          <a:solidFill>
            <a:srgbClr val="FE936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5,10</a:t>
            </a:r>
          </a:p>
        </p:txBody>
      </p:sp>
      <p:sp>
        <p:nvSpPr>
          <p:cNvPr id="16417" name="Rectangle 32"/>
          <p:cNvSpPr>
            <a:spLocks/>
          </p:cNvSpPr>
          <p:nvPr/>
        </p:nvSpPr>
        <p:spPr bwMode="auto">
          <a:xfrm>
            <a:off x="7851750" y="2015780"/>
            <a:ext cx="878446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E05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Front, DB</a:t>
            </a:r>
          </a:p>
        </p:txBody>
      </p:sp>
      <p:sp>
        <p:nvSpPr>
          <p:cNvPr id="15393" name="Rectangle 33"/>
          <p:cNvSpPr>
            <a:spLocks/>
          </p:cNvSpPr>
          <p:nvPr/>
        </p:nvSpPr>
        <p:spPr bwMode="auto">
          <a:xfrm>
            <a:off x="5322094" y="3143250"/>
            <a:ext cx="848320" cy="464344"/>
          </a:xfrm>
          <a:prstGeom prst="rect">
            <a:avLst/>
          </a:prstGeom>
          <a:solidFill>
            <a:srgbClr val="FE936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6,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632738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nimBg="1"/>
      <p:bldP spid="15376" grpId="0" animBg="1" autoUpdateAnimBg="0"/>
      <p:bldP spid="15377" grpId="0" animBg="1"/>
      <p:bldP spid="15377" grpId="1" animBg="1"/>
      <p:bldP spid="15378" grpId="0" animBg="1"/>
      <p:bldP spid="15378" grpId="1" animBg="1"/>
      <p:bldP spid="15379" grpId="0" animBg="1"/>
      <p:bldP spid="15380" grpId="0" animBg="1" autoUpdateAnimBg="0"/>
      <p:bldP spid="15381" grpId="0" animBg="1" autoUpdateAnimBg="0"/>
      <p:bldP spid="15382" grpId="0" animBg="1" autoUpdateAnimBg="0"/>
      <p:bldP spid="15383" grpId="0" animBg="1"/>
      <p:bldP spid="15383" grpId="1" animBg="1"/>
      <p:bldP spid="15384" grpId="0" animBg="1"/>
      <p:bldP spid="15384" grpId="1" animBg="1"/>
      <p:bldP spid="15389" grpId="0" animBg="1" autoUpdateAnimBg="0"/>
      <p:bldP spid="15389" grpId="1" animBg="1" autoUpdateAnimBg="0"/>
      <p:bldP spid="15393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 bwMode="auto">
          <a:xfrm>
            <a:off x="315686" y="6117771"/>
            <a:ext cx="7815943" cy="74022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ＭＳ Ｐゴシック" pitchFamily="-64" charset="-128"/>
              <a:cs typeface="Arial" pitchFamily="-111" charset="-52"/>
            </a:endParaRPr>
          </a:p>
        </p:txBody>
      </p:sp>
      <p:sp>
        <p:nvSpPr>
          <p:cNvPr id="18434" name="AutoShape 1"/>
          <p:cNvSpPr>
            <a:spLocks/>
          </p:cNvSpPr>
          <p:nvPr/>
        </p:nvSpPr>
        <p:spPr bwMode="auto">
          <a:xfrm>
            <a:off x="6947297" y="4107656"/>
            <a:ext cx="2000250" cy="794742"/>
          </a:xfrm>
          <a:prstGeom prst="roundRect">
            <a:avLst>
              <a:gd name="adj" fmla="val 0"/>
            </a:avLst>
          </a:prstGeom>
          <a:solidFill>
            <a:srgbClr val="98B7FE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125011" tIns="125011" rIns="125011" bIns="12501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Hypervisor</a:t>
            </a:r>
          </a:p>
        </p:txBody>
      </p:sp>
      <p:sp>
        <p:nvSpPr>
          <p:cNvPr id="18435" name="AutoShape 2"/>
          <p:cNvSpPr>
            <a:spLocks/>
          </p:cNvSpPr>
          <p:nvPr/>
        </p:nvSpPr>
        <p:spPr bwMode="auto">
          <a:xfrm>
            <a:off x="4759523" y="4107656"/>
            <a:ext cx="2000250" cy="794742"/>
          </a:xfrm>
          <a:prstGeom prst="roundRect">
            <a:avLst>
              <a:gd name="adj" fmla="val 0"/>
            </a:avLst>
          </a:prstGeom>
          <a:solidFill>
            <a:srgbClr val="98B7FE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125011" tIns="125011" rIns="125011" bIns="12501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Hypervisor</a:t>
            </a:r>
          </a:p>
        </p:txBody>
      </p:sp>
      <p:sp>
        <p:nvSpPr>
          <p:cNvPr id="18436" name="Line 3"/>
          <p:cNvSpPr>
            <a:spLocks noChangeShapeType="1"/>
          </p:cNvSpPr>
          <p:nvPr/>
        </p:nvSpPr>
        <p:spPr bwMode="auto">
          <a:xfrm rot="10800000" flipH="1">
            <a:off x="1312664" y="3865439"/>
            <a:ext cx="1177603" cy="1908721"/>
          </a:xfrm>
          <a:prstGeom prst="line">
            <a:avLst/>
          </a:prstGeom>
          <a:noFill/>
          <a:ln w="88900">
            <a:solidFill>
              <a:srgbClr val="A40800"/>
            </a:solidFill>
            <a:miter lim="800000"/>
            <a:headEnd/>
            <a:tailEnd type="stealth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437" name="AutoShape 4"/>
          <p:cNvSpPr>
            <a:spLocks/>
          </p:cNvSpPr>
          <p:nvPr/>
        </p:nvSpPr>
        <p:spPr bwMode="auto">
          <a:xfrm>
            <a:off x="2419945" y="4107656"/>
            <a:ext cx="2098477" cy="794742"/>
          </a:xfrm>
          <a:prstGeom prst="roundRect">
            <a:avLst>
              <a:gd name="adj" fmla="val 0"/>
            </a:avLst>
          </a:prstGeom>
          <a:solidFill>
            <a:srgbClr val="98B7FE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125011" tIns="125011" rIns="125011" bIns="12501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Hypervisor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37513" cy="8382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b="0" dirty="0">
                <a:solidFill>
                  <a:schemeClr val="accent2"/>
                </a:solidFill>
              </a:rPr>
              <a:t>Tracking Dependencies</a:t>
            </a:r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24543" y="1110343"/>
            <a:ext cx="9144000" cy="2058591"/>
          </a:xfrm>
        </p:spPr>
        <p:txBody>
          <a:bodyPr/>
          <a:lstStyle/>
          <a:p>
            <a:pPr marL="473257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Use Vector Clocks to track pending writes</a:t>
            </a:r>
          </a:p>
          <a:p>
            <a:pPr marL="785785" lvl="1" eaLnBrk="1" hangingPunct="1">
              <a:defRPr/>
            </a:pPr>
            <a:r>
              <a:rPr lang="en-US" sz="1600" dirty="0">
                <a:solidFill>
                  <a:srgbClr val="000000"/>
                </a:solidFill>
              </a:rPr>
              <a:t>One entry per protected disk:  </a:t>
            </a:r>
            <a:r>
              <a:rPr lang="en-US" sz="1600" b="1" dirty="0">
                <a:solidFill>
                  <a:srgbClr val="067AB4"/>
                </a:solidFill>
              </a:rPr>
              <a:t>&lt;D</a:t>
            </a:r>
            <a:r>
              <a:rPr lang="en-US" sz="1600" b="1" baseline="-6000" dirty="0">
                <a:solidFill>
                  <a:srgbClr val="067AB4"/>
                </a:solidFill>
              </a:rPr>
              <a:t>1</a:t>
            </a:r>
            <a:r>
              <a:rPr lang="en-US" sz="1600" b="1" dirty="0">
                <a:solidFill>
                  <a:srgbClr val="067AB4"/>
                </a:solidFill>
              </a:rPr>
              <a:t>, D</a:t>
            </a:r>
            <a:r>
              <a:rPr lang="en-US" sz="1600" b="1" baseline="-6000" dirty="0">
                <a:solidFill>
                  <a:srgbClr val="067AB4"/>
                </a:solidFill>
              </a:rPr>
              <a:t>2</a:t>
            </a:r>
            <a:r>
              <a:rPr lang="en-US" sz="1600" b="1" dirty="0">
                <a:solidFill>
                  <a:srgbClr val="067AB4"/>
                </a:solidFill>
              </a:rPr>
              <a:t>, ...,</a:t>
            </a:r>
            <a:r>
              <a:rPr lang="en-US" sz="1600" b="1" dirty="0" err="1">
                <a:solidFill>
                  <a:srgbClr val="067AB4"/>
                </a:solidFill>
              </a:rPr>
              <a:t>D</a:t>
            </a:r>
            <a:r>
              <a:rPr lang="en-US" sz="1600" b="1" baseline="-6000" dirty="0" err="1">
                <a:solidFill>
                  <a:srgbClr val="067AB4"/>
                </a:solidFill>
              </a:rPr>
              <a:t>n</a:t>
            </a:r>
            <a:r>
              <a:rPr lang="en-US" sz="1600" b="1" dirty="0">
                <a:solidFill>
                  <a:srgbClr val="067AB4"/>
                </a:solidFill>
              </a:rPr>
              <a:t>&gt;</a:t>
            </a:r>
            <a:endParaRPr lang="en-US" sz="1600" dirty="0">
              <a:solidFill>
                <a:srgbClr val="067AB4"/>
              </a:solidFill>
            </a:endParaRPr>
          </a:p>
          <a:p>
            <a:pPr marL="473257"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</a:rPr>
              <a:t>Node </a:t>
            </a:r>
            <a:r>
              <a:rPr lang="en-US" b="1" dirty="0" err="1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increments </a:t>
            </a:r>
            <a:r>
              <a:rPr lang="en-US" b="1" dirty="0">
                <a:solidFill>
                  <a:srgbClr val="067AB4"/>
                </a:solidFill>
              </a:rPr>
              <a:t>D</a:t>
            </a:r>
            <a:r>
              <a:rPr lang="en-US" b="1" baseline="-6000" dirty="0">
                <a:solidFill>
                  <a:srgbClr val="067AB4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on each write</a:t>
            </a:r>
          </a:p>
          <a:p>
            <a:pPr marL="473257" eaLnBrk="1" hangingPunct="1">
              <a:defRPr/>
            </a:pPr>
            <a:r>
              <a:rPr lang="en-US" dirty="0">
                <a:solidFill>
                  <a:srgbClr val="000000"/>
                </a:solidFill>
              </a:rPr>
              <a:t>Use vector clocks to </a:t>
            </a:r>
            <a:r>
              <a:rPr lang="en-US" b="1" dirty="0">
                <a:solidFill>
                  <a:srgbClr val="067AB4"/>
                </a:solidFill>
              </a:rPr>
              <a:t>determine a causal ordering</a:t>
            </a:r>
            <a:endParaRPr lang="en-US" b="1" dirty="0">
              <a:solidFill>
                <a:srgbClr val="067AB4"/>
              </a:solidFill>
              <a:ea typeface="ヒラギノ角ゴ ProN W6" charset="0"/>
              <a:cs typeface="ヒラギノ角ゴ ProN W6" charset="0"/>
            </a:endParaRPr>
          </a:p>
        </p:txBody>
      </p:sp>
      <p:sp>
        <p:nvSpPr>
          <p:cNvPr id="18441" name="AutoShape 8"/>
          <p:cNvSpPr>
            <a:spLocks/>
          </p:cNvSpPr>
          <p:nvPr/>
        </p:nvSpPr>
        <p:spPr bwMode="auto">
          <a:xfrm>
            <a:off x="2544961" y="3562945"/>
            <a:ext cx="1946672" cy="535781"/>
          </a:xfrm>
          <a:prstGeom prst="roundRect">
            <a:avLst>
              <a:gd name="adj" fmla="val 25000"/>
            </a:avLst>
          </a:prstGeom>
          <a:solidFill>
            <a:srgbClr val="D9EAC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Front End</a:t>
            </a:r>
          </a:p>
        </p:txBody>
      </p:sp>
      <p:sp>
        <p:nvSpPr>
          <p:cNvPr id="18442" name="AutoShape 9"/>
          <p:cNvSpPr>
            <a:spLocks/>
          </p:cNvSpPr>
          <p:nvPr/>
        </p:nvSpPr>
        <p:spPr bwMode="auto">
          <a:xfrm>
            <a:off x="4777383" y="3562945"/>
            <a:ext cx="1946672" cy="544711"/>
          </a:xfrm>
          <a:prstGeom prst="roundRect">
            <a:avLst>
              <a:gd name="adj" fmla="val 24588"/>
            </a:avLst>
          </a:prstGeom>
          <a:solidFill>
            <a:srgbClr val="D9EAC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App Tier</a:t>
            </a:r>
          </a:p>
        </p:txBody>
      </p:sp>
      <p:sp>
        <p:nvSpPr>
          <p:cNvPr id="18443" name="AutoShape 10"/>
          <p:cNvSpPr>
            <a:spLocks/>
          </p:cNvSpPr>
          <p:nvPr/>
        </p:nvSpPr>
        <p:spPr bwMode="auto">
          <a:xfrm>
            <a:off x="6965156" y="3562945"/>
            <a:ext cx="1946672" cy="544711"/>
          </a:xfrm>
          <a:prstGeom prst="roundRect">
            <a:avLst>
              <a:gd name="adj" fmla="val 24588"/>
            </a:avLst>
          </a:prstGeom>
          <a:solidFill>
            <a:srgbClr val="D9EAC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Database</a:t>
            </a:r>
          </a:p>
        </p:txBody>
      </p:sp>
      <p:pic>
        <p:nvPicPr>
          <p:cNvPr id="18444" name="Picture 11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68266" y="4536281"/>
            <a:ext cx="804788" cy="54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45" name="Picture 1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81305" y="4554141"/>
            <a:ext cx="804788" cy="54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6" name="Rectangle 13"/>
          <p:cNvSpPr>
            <a:spLocks/>
          </p:cNvSpPr>
          <p:nvPr/>
        </p:nvSpPr>
        <p:spPr bwMode="auto">
          <a:xfrm>
            <a:off x="3089672" y="3143250"/>
            <a:ext cx="848320" cy="464344"/>
          </a:xfrm>
          <a:prstGeom prst="rect">
            <a:avLst/>
          </a:prstGeom>
          <a:solidFill>
            <a:srgbClr val="FFDBC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5,10</a:t>
            </a:r>
          </a:p>
        </p:txBody>
      </p:sp>
      <p:sp>
        <p:nvSpPr>
          <p:cNvPr id="18447" name="Rectangle 14"/>
          <p:cNvSpPr>
            <a:spLocks/>
          </p:cNvSpPr>
          <p:nvPr/>
        </p:nvSpPr>
        <p:spPr bwMode="auto">
          <a:xfrm>
            <a:off x="5322094" y="3143250"/>
            <a:ext cx="848320" cy="464344"/>
          </a:xfrm>
          <a:prstGeom prst="rect">
            <a:avLst/>
          </a:prstGeom>
          <a:solidFill>
            <a:srgbClr val="FFDBC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5,10</a:t>
            </a:r>
          </a:p>
        </p:txBody>
      </p:sp>
      <p:sp>
        <p:nvSpPr>
          <p:cNvPr id="18448" name="Rectangle 15"/>
          <p:cNvSpPr>
            <a:spLocks/>
          </p:cNvSpPr>
          <p:nvPr/>
        </p:nvSpPr>
        <p:spPr bwMode="auto">
          <a:xfrm>
            <a:off x="7554516" y="3143250"/>
            <a:ext cx="848320" cy="464344"/>
          </a:xfrm>
          <a:prstGeom prst="rect">
            <a:avLst/>
          </a:prstGeom>
          <a:solidFill>
            <a:srgbClr val="FFDBC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5,10</a:t>
            </a:r>
          </a:p>
        </p:txBody>
      </p:sp>
      <p:sp>
        <p:nvSpPr>
          <p:cNvPr id="18449" name="Rectangle 16"/>
          <p:cNvSpPr>
            <a:spLocks/>
          </p:cNvSpPr>
          <p:nvPr/>
        </p:nvSpPr>
        <p:spPr bwMode="auto">
          <a:xfrm>
            <a:off x="3089672" y="3143250"/>
            <a:ext cx="848320" cy="464344"/>
          </a:xfrm>
          <a:prstGeom prst="rect">
            <a:avLst/>
          </a:prstGeom>
          <a:solidFill>
            <a:srgbClr val="FFB79B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,10</a:t>
            </a:r>
          </a:p>
        </p:txBody>
      </p:sp>
      <p:sp>
        <p:nvSpPr>
          <p:cNvPr id="18450" name="Freeform 17"/>
          <p:cNvSpPr>
            <a:spLocks/>
          </p:cNvSpPr>
          <p:nvPr/>
        </p:nvSpPr>
        <p:spPr bwMode="auto">
          <a:xfrm>
            <a:off x="6536531" y="3866555"/>
            <a:ext cx="666378" cy="366117"/>
          </a:xfrm>
          <a:custGeom>
            <a:avLst/>
            <a:gdLst>
              <a:gd name="T0" fmla="*/ 947738 w 21600"/>
              <a:gd name="T1" fmla="*/ 0 h 21600"/>
              <a:gd name="T2" fmla="*/ 939138 w 21600"/>
              <a:gd name="T3" fmla="*/ 520700 h 21600"/>
              <a:gd name="T4" fmla="*/ 0 w 21600"/>
              <a:gd name="T5" fmla="*/ 52070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21404" y="21600"/>
                </a:lnTo>
                <a:lnTo>
                  <a:pt x="0" y="21600"/>
                </a:lnTo>
                <a:lnTo>
                  <a:pt x="0" y="0"/>
                </a:lnTo>
              </a:path>
            </a:pathLst>
          </a:custGeom>
          <a:noFill/>
          <a:ln w="63500" cap="flat">
            <a:solidFill>
              <a:srgbClr val="2B4714"/>
            </a:solidFill>
            <a:prstDash val="solid"/>
            <a:miter lim="800000"/>
            <a:headEnd type="none" w="med" len="med"/>
            <a:tailEnd type="stealth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451" name="Rectangle 18"/>
          <p:cNvSpPr>
            <a:spLocks/>
          </p:cNvSpPr>
          <p:nvPr/>
        </p:nvSpPr>
        <p:spPr bwMode="auto">
          <a:xfrm>
            <a:off x="5322094" y="3143250"/>
            <a:ext cx="848320" cy="464344"/>
          </a:xfrm>
          <a:prstGeom prst="rect">
            <a:avLst/>
          </a:prstGeom>
          <a:solidFill>
            <a:srgbClr val="FFB79B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,10</a:t>
            </a:r>
          </a:p>
        </p:txBody>
      </p:sp>
      <p:sp>
        <p:nvSpPr>
          <p:cNvPr id="18452" name="Rectangle 19"/>
          <p:cNvSpPr>
            <a:spLocks/>
          </p:cNvSpPr>
          <p:nvPr/>
        </p:nvSpPr>
        <p:spPr bwMode="auto">
          <a:xfrm>
            <a:off x="7554516" y="3143250"/>
            <a:ext cx="848320" cy="464344"/>
          </a:xfrm>
          <a:prstGeom prst="rect">
            <a:avLst/>
          </a:prstGeom>
          <a:solidFill>
            <a:srgbClr val="FFB79B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,10</a:t>
            </a:r>
          </a:p>
        </p:txBody>
      </p:sp>
      <p:sp>
        <p:nvSpPr>
          <p:cNvPr id="18453" name="Rectangle 20"/>
          <p:cNvSpPr>
            <a:spLocks/>
          </p:cNvSpPr>
          <p:nvPr/>
        </p:nvSpPr>
        <p:spPr bwMode="auto">
          <a:xfrm>
            <a:off x="7554516" y="3143250"/>
            <a:ext cx="848320" cy="464344"/>
          </a:xfrm>
          <a:prstGeom prst="rect">
            <a:avLst/>
          </a:prstGeom>
          <a:solidFill>
            <a:srgbClr val="FE936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6,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11</a:t>
            </a:r>
          </a:p>
        </p:txBody>
      </p:sp>
      <p:pic>
        <p:nvPicPr>
          <p:cNvPr id="18454" name="Picture 21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27811" y="5922615"/>
            <a:ext cx="2610818" cy="594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55" name="Rectangle 22"/>
          <p:cNvSpPr>
            <a:spLocks/>
          </p:cNvSpPr>
          <p:nvPr/>
        </p:nvSpPr>
        <p:spPr bwMode="auto">
          <a:xfrm>
            <a:off x="4878959" y="5840016"/>
            <a:ext cx="2197819" cy="454298"/>
          </a:xfrm>
          <a:prstGeom prst="rect">
            <a:avLst/>
          </a:prstGeom>
          <a:solidFill>
            <a:srgbClr val="C2E5A6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Backup server</a:t>
            </a:r>
          </a:p>
        </p:txBody>
      </p:sp>
      <p:pic>
        <p:nvPicPr>
          <p:cNvPr id="18456" name="Picture 23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55914" y="6170414"/>
            <a:ext cx="804788" cy="54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57" name="Picture 24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63321" y="6090047"/>
            <a:ext cx="804788" cy="54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58" name="Picture 25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2203" y="5589984"/>
            <a:ext cx="840507" cy="96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59" name="Rectangle 26"/>
          <p:cNvSpPr>
            <a:spLocks/>
          </p:cNvSpPr>
          <p:nvPr/>
        </p:nvSpPr>
        <p:spPr bwMode="auto">
          <a:xfrm>
            <a:off x="7849195" y="1526976"/>
            <a:ext cx="848320" cy="464344"/>
          </a:xfrm>
          <a:prstGeom prst="rect">
            <a:avLst/>
          </a:prstGeom>
          <a:solidFill>
            <a:srgbClr val="FE936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5,10</a:t>
            </a:r>
          </a:p>
        </p:txBody>
      </p:sp>
      <p:sp>
        <p:nvSpPr>
          <p:cNvPr id="18460" name="Rectangle 27"/>
          <p:cNvSpPr>
            <a:spLocks/>
          </p:cNvSpPr>
          <p:nvPr/>
        </p:nvSpPr>
        <p:spPr bwMode="auto">
          <a:xfrm>
            <a:off x="7851750" y="1202948"/>
            <a:ext cx="878446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E05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Front, DB</a:t>
            </a:r>
          </a:p>
        </p:txBody>
      </p:sp>
      <p:sp>
        <p:nvSpPr>
          <p:cNvPr id="18461" name="Line 28"/>
          <p:cNvSpPr>
            <a:spLocks noChangeShapeType="1"/>
          </p:cNvSpPr>
          <p:nvPr/>
        </p:nvSpPr>
        <p:spPr bwMode="auto">
          <a:xfrm>
            <a:off x="892969" y="3330774"/>
            <a:ext cx="1705570" cy="213197"/>
          </a:xfrm>
          <a:prstGeom prst="line">
            <a:avLst/>
          </a:prstGeom>
          <a:noFill/>
          <a:ln w="88900">
            <a:solidFill>
              <a:srgbClr val="A40800"/>
            </a:solidFill>
            <a:miter lim="800000"/>
            <a:headEnd/>
            <a:tailEnd type="stealth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18462" name="Picture 29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859" y="3045023"/>
            <a:ext cx="840507" cy="965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AutoShape 30"/>
          <p:cNvSpPr>
            <a:spLocks/>
          </p:cNvSpPr>
          <p:nvPr/>
        </p:nvSpPr>
        <p:spPr bwMode="auto">
          <a:xfrm>
            <a:off x="1276945" y="3643313"/>
            <a:ext cx="1214438" cy="1598414"/>
          </a:xfrm>
          <a:prstGeom prst="roundRect">
            <a:avLst>
              <a:gd name="adj" fmla="val 11028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NetQ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18463" name="Freeform 31"/>
          <p:cNvSpPr>
            <a:spLocks/>
          </p:cNvSpPr>
          <p:nvPr/>
        </p:nvSpPr>
        <p:spPr bwMode="auto">
          <a:xfrm>
            <a:off x="1893094" y="4000500"/>
            <a:ext cx="875109" cy="223242"/>
          </a:xfrm>
          <a:custGeom>
            <a:avLst/>
            <a:gdLst>
              <a:gd name="T0" fmla="*/ 1244600 w 21600"/>
              <a:gd name="T1" fmla="*/ 0 h 21600"/>
              <a:gd name="T2" fmla="*/ 1244600 w 21600"/>
              <a:gd name="T3" fmla="*/ 317500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0"/>
                </a:lnTo>
              </a:path>
            </a:pathLst>
          </a:custGeom>
          <a:noFill/>
          <a:ln w="88900" cap="flat">
            <a:solidFill>
              <a:srgbClr val="A40800"/>
            </a:solidFill>
            <a:prstDash val="solid"/>
            <a:miter lim="800000"/>
            <a:headEnd type="none" w="med" len="med"/>
            <a:tailEnd type="stealth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464" name="Rectangle 32"/>
          <p:cNvSpPr>
            <a:spLocks/>
          </p:cNvSpPr>
          <p:nvPr/>
        </p:nvSpPr>
        <p:spPr bwMode="auto">
          <a:xfrm>
            <a:off x="1098352" y="3768328"/>
            <a:ext cx="848320" cy="464344"/>
          </a:xfrm>
          <a:prstGeom prst="rect">
            <a:avLst/>
          </a:prstGeom>
          <a:solidFill>
            <a:srgbClr val="FFB79B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6,10</a:t>
            </a:r>
          </a:p>
        </p:txBody>
      </p:sp>
      <p:sp>
        <p:nvSpPr>
          <p:cNvPr id="18465" name="Freeform 33"/>
          <p:cNvSpPr>
            <a:spLocks/>
          </p:cNvSpPr>
          <p:nvPr/>
        </p:nvSpPr>
        <p:spPr bwMode="auto">
          <a:xfrm>
            <a:off x="4348758" y="3857625"/>
            <a:ext cx="666378" cy="366117"/>
          </a:xfrm>
          <a:custGeom>
            <a:avLst/>
            <a:gdLst>
              <a:gd name="T0" fmla="*/ 947738 w 21600"/>
              <a:gd name="T1" fmla="*/ 0 h 21600"/>
              <a:gd name="T2" fmla="*/ 939138 w 21600"/>
              <a:gd name="T3" fmla="*/ 520700 h 21600"/>
              <a:gd name="T4" fmla="*/ 0 w 21600"/>
              <a:gd name="T5" fmla="*/ 52070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lnTo>
                  <a:pt x="21404" y="21600"/>
                </a:lnTo>
                <a:lnTo>
                  <a:pt x="0" y="21600"/>
                </a:lnTo>
                <a:lnTo>
                  <a:pt x="0" y="0"/>
                </a:lnTo>
              </a:path>
            </a:pathLst>
          </a:custGeom>
          <a:noFill/>
          <a:ln w="63500" cap="flat">
            <a:solidFill>
              <a:srgbClr val="2B4714"/>
            </a:solidFill>
            <a:prstDash val="solid"/>
            <a:miter lim="800000"/>
            <a:headEnd type="none" w="med" len="med"/>
            <a:tailEnd type="stealth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466" name="Freeform 34"/>
          <p:cNvSpPr>
            <a:spLocks/>
          </p:cNvSpPr>
          <p:nvPr/>
        </p:nvSpPr>
        <p:spPr bwMode="auto">
          <a:xfrm>
            <a:off x="1890861" y="4000500"/>
            <a:ext cx="1143000" cy="535781"/>
          </a:xfrm>
          <a:custGeom>
            <a:avLst/>
            <a:gdLst>
              <a:gd name="T0" fmla="*/ 1613634 w 21600"/>
              <a:gd name="T1" fmla="*/ 0 h 21600"/>
              <a:gd name="T2" fmla="*/ 1625600 w 21600"/>
              <a:gd name="T3" fmla="*/ 762000 h 21600"/>
              <a:gd name="T4" fmla="*/ 0 w 21600"/>
              <a:gd name="T5" fmla="*/ 747818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>
                <a:moveTo>
                  <a:pt x="21441" y="0"/>
                </a:moveTo>
                <a:lnTo>
                  <a:pt x="21600" y="21600"/>
                </a:lnTo>
                <a:lnTo>
                  <a:pt x="0" y="21198"/>
                </a:lnTo>
              </a:path>
            </a:pathLst>
          </a:custGeom>
          <a:noFill/>
          <a:ln w="88900" cap="flat">
            <a:solidFill>
              <a:srgbClr val="A40800"/>
            </a:solidFill>
            <a:prstDash val="solid"/>
            <a:miter lim="800000"/>
            <a:headEnd type="none" w="med" len="med"/>
            <a:tailEnd type="stealth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467" name="Rectangle 35"/>
          <p:cNvSpPr>
            <a:spLocks/>
          </p:cNvSpPr>
          <p:nvPr/>
        </p:nvSpPr>
        <p:spPr bwMode="auto">
          <a:xfrm>
            <a:off x="1107281" y="4313039"/>
            <a:ext cx="848320" cy="464344"/>
          </a:xfrm>
          <a:prstGeom prst="rect">
            <a:avLst/>
          </a:prstGeom>
          <a:solidFill>
            <a:srgbClr val="FE936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6,11</a:t>
            </a:r>
          </a:p>
        </p:txBody>
      </p:sp>
      <p:grpSp>
        <p:nvGrpSpPr>
          <p:cNvPr id="6" name="Group 38"/>
          <p:cNvGrpSpPr>
            <a:grpSpLocks/>
          </p:cNvGrpSpPr>
          <p:nvPr/>
        </p:nvGrpSpPr>
        <p:grpSpPr bwMode="auto">
          <a:xfrm>
            <a:off x="3679031" y="5072063"/>
            <a:ext cx="961058" cy="1175370"/>
            <a:chOff x="0" y="0"/>
            <a:chExt cx="861" cy="1053"/>
          </a:xfrm>
        </p:grpSpPr>
        <p:sp>
          <p:nvSpPr>
            <p:cNvPr id="4" name="Line 36"/>
            <p:cNvSpPr>
              <a:spLocks noChangeShapeType="1"/>
            </p:cNvSpPr>
            <p:nvPr/>
          </p:nvSpPr>
          <p:spPr bwMode="auto">
            <a:xfrm>
              <a:off x="0" y="0"/>
              <a:ext cx="861" cy="1053"/>
            </a:xfrm>
            <a:prstGeom prst="line">
              <a:avLst/>
            </a:prstGeom>
            <a:noFill/>
            <a:ln w="101600">
              <a:solidFill>
                <a:srgbClr val="3F691E"/>
              </a:solidFill>
              <a:miter lim="800000"/>
              <a:headEnd type="stealth" w="med" len="med"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8478" name="Rectangle 37"/>
            <p:cNvSpPr>
              <a:spLocks/>
            </p:cNvSpPr>
            <p:nvPr/>
          </p:nvSpPr>
          <p:spPr bwMode="auto">
            <a:xfrm>
              <a:off x="232" y="496"/>
              <a:ext cx="432" cy="416"/>
            </a:xfrm>
            <a:prstGeom prst="rect">
              <a:avLst/>
            </a:prstGeom>
            <a:solidFill>
              <a:srgbClr val="FE7038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Arial" pitchFamily="34" charset="0"/>
                  <a:ea typeface="MS PGothic" pitchFamily="34" charset="-128"/>
                  <a:cs typeface="Arial" pitchFamily="34" charset="0"/>
                </a:rPr>
                <a:t>6</a:t>
              </a:r>
            </a:p>
          </p:txBody>
        </p:sp>
      </p:grpSp>
      <p:sp>
        <p:nvSpPr>
          <p:cNvPr id="18471" name="Line 39"/>
          <p:cNvSpPr>
            <a:spLocks noChangeShapeType="1"/>
          </p:cNvSpPr>
          <p:nvPr/>
        </p:nvSpPr>
        <p:spPr bwMode="auto">
          <a:xfrm rot="10800000">
            <a:off x="642938" y="3696891"/>
            <a:ext cx="1250156" cy="303609"/>
          </a:xfrm>
          <a:prstGeom prst="line">
            <a:avLst/>
          </a:prstGeom>
          <a:noFill/>
          <a:ln w="88900">
            <a:solidFill>
              <a:srgbClr val="A40800"/>
            </a:solidFill>
            <a:miter lim="800000"/>
            <a:headEnd/>
            <a:tailEnd type="stealth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7" name="Group 42"/>
          <p:cNvGrpSpPr>
            <a:grpSpLocks/>
          </p:cNvGrpSpPr>
          <p:nvPr/>
        </p:nvGrpSpPr>
        <p:grpSpPr bwMode="auto">
          <a:xfrm>
            <a:off x="4458146" y="4967139"/>
            <a:ext cx="1893094" cy="940966"/>
            <a:chOff x="0" y="0"/>
            <a:chExt cx="1695" cy="842"/>
          </a:xfrm>
        </p:grpSpPr>
        <p:sp>
          <p:nvSpPr>
            <p:cNvPr id="5" name="Line 40"/>
            <p:cNvSpPr>
              <a:spLocks noChangeShapeType="1"/>
            </p:cNvSpPr>
            <p:nvPr/>
          </p:nvSpPr>
          <p:spPr bwMode="auto">
            <a:xfrm>
              <a:off x="0" y="0"/>
              <a:ext cx="1695" cy="842"/>
            </a:xfrm>
            <a:prstGeom prst="line">
              <a:avLst/>
            </a:prstGeom>
            <a:noFill/>
            <a:ln w="101600">
              <a:solidFill>
                <a:srgbClr val="3F691E"/>
              </a:solidFill>
              <a:miter lim="800000"/>
              <a:headEnd type="stealth" w="med" len="med"/>
              <a:tailEnd/>
            </a:ln>
          </p:spPr>
          <p:txBody>
            <a:bodyPr lIns="0" tIns="0" rIns="0" bIns="0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18476" name="Rectangle 41"/>
            <p:cNvSpPr>
              <a:spLocks/>
            </p:cNvSpPr>
            <p:nvPr/>
          </p:nvSpPr>
          <p:spPr bwMode="auto">
            <a:xfrm>
              <a:off x="1234" y="338"/>
              <a:ext cx="432" cy="416"/>
            </a:xfrm>
            <a:prstGeom prst="rect">
              <a:avLst/>
            </a:prstGeom>
            <a:solidFill>
              <a:srgbClr val="FE7038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Arial" pitchFamily="34" charset="0"/>
                  <a:ea typeface="MS PGothic" pitchFamily="34" charset="-128"/>
                  <a:cs typeface="Arial" pitchFamily="34" charset="0"/>
                </a:rPr>
                <a:t>11</a:t>
              </a:r>
            </a:p>
          </p:txBody>
        </p:sp>
      </p:grpSp>
      <p:sp>
        <p:nvSpPr>
          <p:cNvPr id="18475" name="Line 43"/>
          <p:cNvSpPr>
            <a:spLocks noChangeShapeType="1"/>
          </p:cNvSpPr>
          <p:nvPr/>
        </p:nvSpPr>
        <p:spPr bwMode="auto">
          <a:xfrm flipH="1">
            <a:off x="898550" y="4536281"/>
            <a:ext cx="958825" cy="1148581"/>
          </a:xfrm>
          <a:prstGeom prst="line">
            <a:avLst/>
          </a:prstGeom>
          <a:noFill/>
          <a:ln w="88900">
            <a:solidFill>
              <a:srgbClr val="A40800"/>
            </a:solidFill>
            <a:miter lim="800000"/>
            <a:headEnd/>
            <a:tailEnd type="stealth" w="med" len="med"/>
          </a:ln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473" name="Rectangle 44"/>
          <p:cNvSpPr>
            <a:spLocks/>
          </p:cNvSpPr>
          <p:nvPr/>
        </p:nvSpPr>
        <p:spPr bwMode="auto">
          <a:xfrm>
            <a:off x="5322094" y="3143250"/>
            <a:ext cx="848320" cy="464344"/>
          </a:xfrm>
          <a:prstGeom prst="rect">
            <a:avLst/>
          </a:prstGeom>
          <a:solidFill>
            <a:srgbClr val="FE936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6,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11</a:t>
            </a:r>
          </a:p>
        </p:txBody>
      </p:sp>
      <p:sp>
        <p:nvSpPr>
          <p:cNvPr id="18477" name="Rectangle 45"/>
          <p:cNvSpPr>
            <a:spLocks/>
          </p:cNvSpPr>
          <p:nvPr/>
        </p:nvSpPr>
        <p:spPr bwMode="auto">
          <a:xfrm>
            <a:off x="3089672" y="3143250"/>
            <a:ext cx="848320" cy="464344"/>
          </a:xfrm>
          <a:prstGeom prst="rect">
            <a:avLst/>
          </a:prstGeom>
          <a:solidFill>
            <a:srgbClr val="FE936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Helvetica Neue" charset="0"/>
                <a:ea typeface="MS PGothic" pitchFamily="34" charset="-128"/>
                <a:cs typeface="Arial" pitchFamily="34" charset="0"/>
                <a:sym typeface="Helvetica Neue" charset="0"/>
              </a:rPr>
              <a:t>6,11</a:t>
            </a:r>
          </a:p>
        </p:txBody>
      </p:sp>
    </p:spTree>
    <p:extLst>
      <p:ext uri="{BB962C8B-B14F-4D97-AF65-F5344CB8AC3E}">
        <p14:creationId xmlns:p14="http://schemas.microsoft.com/office/powerpoint/2010/main" val="1220892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18463" grpId="0" animBg="1"/>
      <p:bldP spid="18464" grpId="0" animBg="1" autoUpdateAnimBg="0"/>
      <p:bldP spid="18464" grpId="1" animBg="1" autoUpdateAnimBg="0"/>
      <p:bldP spid="18465" grpId="0" animBg="1"/>
      <p:bldP spid="18466" grpId="0" animBg="1"/>
      <p:bldP spid="18467" grpId="0" animBg="1" autoUpdateAnimBg="0"/>
      <p:bldP spid="18467" grpId="1" animBg="1" autoUpdateAnimBg="0"/>
      <p:bldP spid="18471" grpId="0" animBg="1"/>
      <p:bldP spid="18475" grpId="0" animBg="1"/>
      <p:bldP spid="18477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0">
                <a:solidFill>
                  <a:schemeClr val="accent2"/>
                </a:solidFill>
              </a:rPr>
              <a:t>TPC-W Performance</a:t>
            </a:r>
          </a:p>
        </p:txBody>
      </p:sp>
      <p:sp>
        <p:nvSpPr>
          <p:cNvPr id="94212" name="Rectangle 10"/>
          <p:cNvSpPr>
            <a:spLocks/>
          </p:cNvSpPr>
          <p:nvPr/>
        </p:nvSpPr>
        <p:spPr bwMode="auto">
          <a:xfrm>
            <a:off x="5768975" y="2217732"/>
            <a:ext cx="554038" cy="258762"/>
          </a:xfrm>
          <a:prstGeom prst="rect">
            <a:avLst/>
          </a:prstGeom>
          <a:solidFill>
            <a:srgbClr val="001F67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4213" name="Rectangle 11"/>
          <p:cNvSpPr>
            <a:spLocks/>
          </p:cNvSpPr>
          <p:nvPr/>
        </p:nvSpPr>
        <p:spPr bwMode="auto">
          <a:xfrm>
            <a:off x="5768975" y="1781169"/>
            <a:ext cx="554038" cy="258763"/>
          </a:xfrm>
          <a:prstGeom prst="rect">
            <a:avLst/>
          </a:prstGeom>
          <a:solidFill>
            <a:srgbClr val="A3D97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4214" name="Rectangle 12"/>
          <p:cNvSpPr>
            <a:spLocks/>
          </p:cNvSpPr>
          <p:nvPr/>
        </p:nvSpPr>
        <p:spPr bwMode="auto">
          <a:xfrm>
            <a:off x="5768975" y="1343019"/>
            <a:ext cx="554038" cy="258763"/>
          </a:xfrm>
          <a:prstGeom prst="rect">
            <a:avLst/>
          </a:prstGeom>
          <a:solidFill>
            <a:srgbClr val="A40800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4215" name="Rectangle 13"/>
          <p:cNvSpPr>
            <a:spLocks/>
          </p:cNvSpPr>
          <p:nvPr/>
        </p:nvSpPr>
        <p:spPr bwMode="auto">
          <a:xfrm>
            <a:off x="6340475" y="1273169"/>
            <a:ext cx="7429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Gill Sans"/>
              </a:rPr>
              <a:t>Sync</a:t>
            </a:r>
          </a:p>
        </p:txBody>
      </p:sp>
      <p:sp>
        <p:nvSpPr>
          <p:cNvPr id="94216" name="Rectangle 14"/>
          <p:cNvSpPr>
            <a:spLocks/>
          </p:cNvSpPr>
          <p:nvPr/>
        </p:nvSpPr>
        <p:spPr bwMode="auto">
          <a:xfrm>
            <a:off x="6369050" y="1709732"/>
            <a:ext cx="15398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Gill Sans"/>
              </a:rPr>
              <a:t>PipeCloud</a:t>
            </a:r>
          </a:p>
        </p:txBody>
      </p:sp>
      <p:sp>
        <p:nvSpPr>
          <p:cNvPr id="94217" name="Rectangle 15"/>
          <p:cNvSpPr>
            <a:spLocks/>
          </p:cNvSpPr>
          <p:nvPr/>
        </p:nvSpPr>
        <p:spPr bwMode="auto">
          <a:xfrm>
            <a:off x="6375400" y="2147882"/>
            <a:ext cx="9096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Gill Sans"/>
              </a:rPr>
              <a:t>Async</a:t>
            </a:r>
          </a:p>
        </p:txBody>
      </p:sp>
      <p:sp>
        <p:nvSpPr>
          <p:cNvPr id="20496" name="AutoShape 16"/>
          <p:cNvSpPr>
            <a:spLocks/>
          </p:cNvSpPr>
          <p:nvPr/>
        </p:nvSpPr>
        <p:spPr bwMode="auto">
          <a:xfrm>
            <a:off x="6585857" y="3755572"/>
            <a:ext cx="1765527" cy="1852833"/>
          </a:xfrm>
          <a:prstGeom prst="roundRect">
            <a:avLst>
              <a:gd name="adj" fmla="val 5412"/>
            </a:avLst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Gill Sans"/>
              </a:rPr>
              <a:t>PipeCloud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Gill Sans"/>
              </a:rPr>
              <a:t> has throughput like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Gill Sans"/>
              </a:rPr>
              <a:t>Async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  <a:cs typeface="Gill Sans"/>
              </a:rPr>
              <a:t>, but guarantees like Sync</a:t>
            </a:r>
          </a:p>
        </p:txBody>
      </p:sp>
      <p:pic>
        <p:nvPicPr>
          <p:cNvPr id="94219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4038" y="1111244"/>
            <a:ext cx="491172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220" name="Picture 3" descr="Screen shot 2011-07-18 at 10.29.36 AM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0400" y="3629019"/>
            <a:ext cx="5072063" cy="246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627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6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0">
                <a:solidFill>
                  <a:schemeClr val="accent2"/>
                </a:solidFill>
              </a:rPr>
              <a:t>Benefit of Pipelining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4313" y="1283608"/>
            <a:ext cx="3606800" cy="5357813"/>
          </a:xfrm>
        </p:spPr>
        <p:txBody>
          <a:bodyPr/>
          <a:lstStyle/>
          <a:p>
            <a:pPr marL="473075">
              <a:buClrTx/>
            </a:pPr>
            <a:r>
              <a:rPr lang="en-US" sz="1800" b="1" dirty="0">
                <a:solidFill>
                  <a:srgbClr val="067AB4"/>
                </a:solidFill>
              </a:rPr>
              <a:t>Computation</a:t>
            </a:r>
          </a:p>
          <a:p>
            <a:pPr marL="784225" lvl="1">
              <a:buClrTx/>
            </a:pPr>
            <a:r>
              <a:rPr lang="en-US" sz="1800" dirty="0" err="1">
                <a:solidFill>
                  <a:srgbClr val="000000"/>
                </a:solidFill>
              </a:rPr>
              <a:t>PipeCloud</a:t>
            </a:r>
            <a:r>
              <a:rPr lang="en-US" sz="1800" dirty="0">
                <a:solidFill>
                  <a:srgbClr val="000000"/>
                </a:solidFill>
              </a:rPr>
              <a:t> overlaps replication at one tier with computation at another</a:t>
            </a:r>
          </a:p>
          <a:p>
            <a:pPr marL="784225" lvl="1">
              <a:buClrTx/>
            </a:pPr>
            <a:endParaRPr lang="en-US" sz="1800" dirty="0">
              <a:solidFill>
                <a:srgbClr val="000000"/>
              </a:solidFill>
            </a:endParaRPr>
          </a:p>
          <a:p>
            <a:pPr marL="784225" lvl="1">
              <a:buClrTx/>
            </a:pPr>
            <a:endParaRPr lang="en-US" sz="1800" dirty="0">
              <a:solidFill>
                <a:srgbClr val="000000"/>
              </a:solidFill>
            </a:endParaRPr>
          </a:p>
          <a:p>
            <a:pPr marL="473075">
              <a:lnSpc>
                <a:spcPct val="90000"/>
              </a:lnSpc>
              <a:buClrTx/>
            </a:pPr>
            <a:r>
              <a:rPr lang="en-US" sz="1800" b="1" dirty="0">
                <a:solidFill>
                  <a:srgbClr val="067AB4"/>
                </a:solidFill>
              </a:rPr>
              <a:t>Multiple writes</a:t>
            </a:r>
          </a:p>
          <a:p>
            <a:pPr marL="784225" lvl="1">
              <a:buClrTx/>
            </a:pPr>
            <a:r>
              <a:rPr lang="en-US" sz="1800" dirty="0">
                <a:solidFill>
                  <a:srgbClr val="000000"/>
                </a:solidFill>
              </a:rPr>
              <a:t>Sync has poor performance when multiple tiers must be protected</a:t>
            </a:r>
          </a:p>
          <a:p>
            <a:pPr marL="784225" lvl="1">
              <a:buClrTx/>
            </a:pPr>
            <a:r>
              <a:rPr lang="en-US" sz="1800" dirty="0">
                <a:solidFill>
                  <a:srgbClr val="000000"/>
                </a:solidFill>
              </a:rPr>
              <a:t>Pipelining provides large benefit</a:t>
            </a:r>
          </a:p>
        </p:txBody>
      </p:sp>
      <p:pic>
        <p:nvPicPr>
          <p:cNvPr id="95237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7013" y="1100813"/>
            <a:ext cx="4562475" cy="273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5238" name="Picture 2" descr="Screen shot 2011-07-18 at 10.31.11 AM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83038" y="3832901"/>
            <a:ext cx="4848225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615938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0">
                <a:solidFill>
                  <a:schemeClr val="accent2"/>
                </a:solidFill>
              </a:rPr>
              <a:t>Consistency after Failure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544" y="1554617"/>
            <a:ext cx="3921125" cy="5357813"/>
          </a:xfrm>
        </p:spPr>
        <p:txBody>
          <a:bodyPr/>
          <a:lstStyle/>
          <a:p>
            <a:pPr marL="119063" indent="11113">
              <a:buClrTx/>
            </a:pPr>
            <a:r>
              <a:rPr lang="en-US" sz="1800" dirty="0">
                <a:solidFill>
                  <a:srgbClr val="000000"/>
                </a:solidFill>
              </a:rPr>
              <a:t>Sync and </a:t>
            </a:r>
            <a:r>
              <a:rPr lang="en-US" sz="1800" dirty="0" err="1">
                <a:solidFill>
                  <a:srgbClr val="000000"/>
                </a:solidFill>
              </a:rPr>
              <a:t>PipeCloud</a:t>
            </a: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guarantee the client gets no </a:t>
            </a:r>
            <a:r>
              <a:rPr lang="en-US" sz="1800" b="1" dirty="0">
                <a:solidFill>
                  <a:srgbClr val="000000"/>
                </a:solidFill>
              </a:rPr>
              <a:t>unsafe replies</a:t>
            </a:r>
            <a:endParaRPr lang="en-US" sz="1800" b="1" dirty="0">
              <a:solidFill>
                <a:srgbClr val="000000"/>
              </a:solidFill>
              <a:ea typeface="ヒラギノ角ゴ ProN W6"/>
              <a:cs typeface="ヒラギノ角ゴ ProN W6"/>
            </a:endParaRPr>
          </a:p>
          <a:p>
            <a:pPr marL="784225" lvl="1">
              <a:buClrTx/>
            </a:pPr>
            <a:r>
              <a:rPr lang="en-US" sz="1800" dirty="0">
                <a:solidFill>
                  <a:srgbClr val="000000"/>
                </a:solidFill>
              </a:rPr>
              <a:t>Client &lt; Backup</a:t>
            </a: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for correctness</a:t>
            </a:r>
          </a:p>
          <a:p>
            <a:pPr marL="784225" lvl="1">
              <a:buClrTx/>
            </a:pPr>
            <a:endParaRPr lang="en-US" sz="1800" dirty="0">
              <a:solidFill>
                <a:srgbClr val="000000"/>
              </a:solidFill>
            </a:endParaRPr>
          </a:p>
          <a:p>
            <a:pPr marL="784225" lvl="1">
              <a:buClrTx/>
            </a:pPr>
            <a:endParaRPr lang="en-US" sz="1800" dirty="0">
              <a:solidFill>
                <a:srgbClr val="000000"/>
              </a:solidFill>
            </a:endParaRPr>
          </a:p>
          <a:p>
            <a:pPr marL="784225" lvl="1">
              <a:buClrTx/>
            </a:pPr>
            <a:endParaRPr lang="en-US" sz="1800" dirty="0">
              <a:solidFill>
                <a:srgbClr val="000000"/>
              </a:solidFill>
            </a:endParaRPr>
          </a:p>
          <a:p>
            <a:pPr marL="784225" lvl="1">
              <a:buClrTx/>
            </a:pPr>
            <a:endParaRPr lang="en-US" sz="1800" dirty="0">
              <a:solidFill>
                <a:srgbClr val="000000"/>
              </a:solidFill>
            </a:endParaRPr>
          </a:p>
          <a:p>
            <a:pPr marL="119063" indent="11113">
              <a:lnSpc>
                <a:spcPct val="90000"/>
              </a:lnSpc>
              <a:buClrTx/>
              <a:tabLst>
                <a:tab pos="119063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Can recover to EC2 within two minutes of failure detection</a:t>
            </a:r>
          </a:p>
        </p:txBody>
      </p:sp>
      <p:pic>
        <p:nvPicPr>
          <p:cNvPr id="96261" name="Picture 1" descr="Screen shot 2011-07-18 at 10.33.03 AM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06341" y="1286330"/>
            <a:ext cx="5330825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6262" name="Picture 2" descr="Screen shot 2011-07-18 at 10.33.47 AM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11191" y="4447043"/>
            <a:ext cx="3911600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30717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/>
              <a:t> Cloud Computing has changed how enterprise IT systems operate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It is an integral part of the options to be considered for IT expansion/consolidation</a:t>
            </a:r>
          </a:p>
          <a:p>
            <a:pPr lvl="2">
              <a:buFont typeface="Arial" pitchFamily="34" charset="0"/>
              <a:buChar char="•"/>
            </a:pPr>
            <a:r>
              <a:rPr lang="en-US" dirty="0"/>
              <a:t>Potential for considerable cost savings</a:t>
            </a:r>
          </a:p>
          <a:p>
            <a:pPr lvl="2">
              <a:buFont typeface="Arial" pitchFamily="34" charset="0"/>
              <a:buChar char="•"/>
            </a:pPr>
            <a:r>
              <a:rPr lang="en-US" dirty="0"/>
              <a:t>Alternatives include private/public  and hybrid cloud platforms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Ability to seamlessly integrate cloud platforms with enterprise data centers enhanced by integrating with VPNs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Need to make VPN provisioning equally agile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Cloud platforms are good candidates for Disaster </a:t>
            </a:r>
            <a:r>
              <a:rPr lang="en-US"/>
              <a:t>Recovery solutions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18AC47-F4D5-4A58-A0C0-0DD466A5F1E2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67AB4"/>
                </a:solidFill>
                <a:effectLst/>
                <a:uLnTx/>
                <a:uFillTx/>
                <a:latin typeface="Verdana" pitchFamily="-111" charset="0"/>
                <a:cs typeface="Arial" pitchFamily="-111" charset="-52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067AB4"/>
              </a:solidFill>
              <a:effectLst/>
              <a:uLnTx/>
              <a:uFillTx/>
              <a:latin typeface="Verdana" pitchFamily="-111" charset="0"/>
              <a:cs typeface="Arial" pitchFamily="-111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27885701"/>
      </p:ext>
    </p:extLst>
  </p:cSld>
  <p:clrMapOvr>
    <a:masterClrMapping/>
  </p:clrMapOvr>
</p:sld>
</file>

<file path=ppt/theme/theme1.xml><?xml version="1.0" encoding="utf-8"?>
<a:theme xmlns:a="http://schemas.openxmlformats.org/drawingml/2006/main" name="att_gvt_bus_exp">
  <a:themeElements>
    <a:clrScheme name="att_opt2_orng_073107 1">
      <a:dk1>
        <a:srgbClr val="4D4D4D"/>
      </a:dk1>
      <a:lt1>
        <a:srgbClr val="FFFFFF"/>
      </a:lt1>
      <a:dk2>
        <a:srgbClr val="000000"/>
      </a:dk2>
      <a:lt2>
        <a:srgbClr val="CCCCCC"/>
      </a:lt2>
      <a:accent1>
        <a:srgbClr val="067AB4"/>
      </a:accent1>
      <a:accent2>
        <a:srgbClr val="FF7200"/>
      </a:accent2>
      <a:accent3>
        <a:srgbClr val="FFFFFF"/>
      </a:accent3>
      <a:accent4>
        <a:srgbClr val="404040"/>
      </a:accent4>
      <a:accent5>
        <a:srgbClr val="AABED6"/>
      </a:accent5>
      <a:accent6>
        <a:srgbClr val="E76700"/>
      </a:accent6>
      <a:hlink>
        <a:srgbClr val="6EBB1F"/>
      </a:hlink>
      <a:folHlink>
        <a:srgbClr val="0C2577"/>
      </a:folHlink>
    </a:clrScheme>
    <a:fontScheme name="att_opt2_orng_073107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CCCCCC"/>
            </a:solidFill>
            <a:effectLst/>
            <a:latin typeface="Verdana" pitchFamily="-111" charset="0"/>
            <a:ea typeface="Arial" pitchFamily="-111" charset="-52"/>
            <a:cs typeface="Arial" pitchFamily="-111" charset="-5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CCCCCC"/>
            </a:solidFill>
            <a:effectLst/>
            <a:latin typeface="Verdana" pitchFamily="-111" charset="0"/>
            <a:ea typeface="Arial" pitchFamily="-111" charset="-52"/>
            <a:cs typeface="Arial" pitchFamily="-111" charset="-52"/>
          </a:defRPr>
        </a:defPPr>
      </a:lstStyle>
    </a:lnDef>
  </a:objectDefaults>
  <a:extraClrSchemeLst>
    <a:extraClrScheme>
      <a:clrScheme name="att_opt2_orng_073107 1">
        <a:dk1>
          <a:srgbClr val="4D4D4D"/>
        </a:dk1>
        <a:lt1>
          <a:srgbClr val="FFFFFF"/>
        </a:lt1>
        <a:dk2>
          <a:srgbClr val="000000"/>
        </a:dk2>
        <a:lt2>
          <a:srgbClr val="CCCCCC"/>
        </a:lt2>
        <a:accent1>
          <a:srgbClr val="067AB4"/>
        </a:accent1>
        <a:accent2>
          <a:srgbClr val="FF7200"/>
        </a:accent2>
        <a:accent3>
          <a:srgbClr val="FFFFFF"/>
        </a:accent3>
        <a:accent4>
          <a:srgbClr val="404040"/>
        </a:accent4>
        <a:accent5>
          <a:srgbClr val="AABED6"/>
        </a:accent5>
        <a:accent6>
          <a:srgbClr val="E76700"/>
        </a:accent6>
        <a:hlink>
          <a:srgbClr val="6EBB1F"/>
        </a:hlink>
        <a:folHlink>
          <a:srgbClr val="0C25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Custom 5">
      <a:dk1>
        <a:srgbClr val="003367"/>
      </a:dk1>
      <a:lt1>
        <a:srgbClr val="37305A"/>
      </a:lt1>
      <a:dk2>
        <a:srgbClr val="E0E4DC"/>
      </a:dk2>
      <a:lt2>
        <a:srgbClr val="B5B5B5"/>
      </a:lt2>
      <a:accent1>
        <a:srgbClr val="4D8CF1"/>
      </a:accent1>
      <a:accent2>
        <a:srgbClr val="651222"/>
      </a:accent2>
      <a:accent3>
        <a:srgbClr val="0036A6"/>
      </a:accent3>
      <a:accent4>
        <a:srgbClr val="666666"/>
      </a:accent4>
      <a:accent5>
        <a:srgbClr val="738300"/>
      </a:accent5>
      <a:accent6>
        <a:srgbClr val="003367"/>
      </a:accent6>
      <a:hlink>
        <a:srgbClr val="0036A6"/>
      </a:hlink>
      <a:folHlink>
        <a:srgbClr val="4E005F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8_Default Design">
  <a:themeElements>
    <a:clrScheme name="Custom 6">
      <a:dk1>
        <a:srgbClr val="003367"/>
      </a:dk1>
      <a:lt1>
        <a:sysClr val="window" lastClr="FFFFFF"/>
      </a:lt1>
      <a:dk2>
        <a:srgbClr val="195F9E"/>
      </a:dk2>
      <a:lt2>
        <a:srgbClr val="B5B5B5"/>
      </a:lt2>
      <a:accent1>
        <a:srgbClr val="998674"/>
      </a:accent1>
      <a:accent2>
        <a:srgbClr val="651222"/>
      </a:accent2>
      <a:accent3>
        <a:srgbClr val="0036A6"/>
      </a:accent3>
      <a:accent4>
        <a:srgbClr val="666666"/>
      </a:accent4>
      <a:accent5>
        <a:srgbClr val="738300"/>
      </a:accent5>
      <a:accent6>
        <a:srgbClr val="003367"/>
      </a:accent6>
      <a:hlink>
        <a:srgbClr val="0036A6"/>
      </a:hlink>
      <a:folHlink>
        <a:srgbClr val="4E005F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rgbClr val="0000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0" cap="flat" cmpd="sng" algn="ctr">
          <a:solidFill>
            <a:srgbClr val="0000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39129</TotalTime>
  <Words>2890</Words>
  <Application>Microsoft Macintosh PowerPoint</Application>
  <PresentationFormat>On-screen Show (4:3)</PresentationFormat>
  <Paragraphs>480</Paragraphs>
  <Slides>44</Slides>
  <Notes>8</Notes>
  <HiddenSlides>3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44</vt:i4>
      </vt:variant>
    </vt:vector>
  </HeadingPairs>
  <TitlesOfParts>
    <vt:vector size="60" baseType="lpstr">
      <vt:lpstr>IB Wb Regular</vt:lpstr>
      <vt:lpstr>Arial</vt:lpstr>
      <vt:lpstr>Calibri</vt:lpstr>
      <vt:lpstr>Comic Sans MS</vt:lpstr>
      <vt:lpstr>Gill Sans MT</vt:lpstr>
      <vt:lpstr>Helvetica Neue</vt:lpstr>
      <vt:lpstr>Lucida Grande</vt:lpstr>
      <vt:lpstr>Tahoma</vt:lpstr>
      <vt:lpstr>Times New Roman</vt:lpstr>
      <vt:lpstr>Verdana</vt:lpstr>
      <vt:lpstr>Wingdings</vt:lpstr>
      <vt:lpstr>att_gvt_bus_exp</vt:lpstr>
      <vt:lpstr>Default Design</vt:lpstr>
      <vt:lpstr>18_Default Design</vt:lpstr>
      <vt:lpstr>Blends</vt:lpstr>
      <vt:lpstr>1_Office Theme</vt:lpstr>
      <vt:lpstr>Class – 9 Failure Resiliency in Virtualized Environments K. K. Ramakrishnan CS 208</vt:lpstr>
      <vt:lpstr>PowerPoint Presentation</vt:lpstr>
      <vt:lpstr>PowerPoint Presentation</vt:lpstr>
      <vt:lpstr>PowerPoint Presentation</vt:lpstr>
      <vt:lpstr>PowerPoint Presentation</vt:lpstr>
      <vt:lpstr>Details: Consistency preservation</vt:lpstr>
      <vt:lpstr>PowerPoint Presentation</vt:lpstr>
      <vt:lpstr>PowerPoint Presentation</vt:lpstr>
      <vt:lpstr>PowerPoint Presentation</vt:lpstr>
      <vt:lpstr>Recall: virtual machines (VMs)</vt:lpstr>
      <vt:lpstr>Remus checkpoints</vt:lpstr>
      <vt:lpstr>Remus Checkpoints</vt:lpstr>
      <vt:lpstr>Transparent HA for DBMS</vt:lpstr>
      <vt:lpstr>Remus</vt:lpstr>
      <vt:lpstr>Key Principles of Replication</vt:lpstr>
      <vt:lpstr>Remus Checkpoints</vt:lpstr>
      <vt:lpstr>Outbound packet buffering</vt:lpstr>
      <vt:lpstr>Disk (FS) updates</vt:lpstr>
      <vt:lpstr>Remus implementation</vt:lpstr>
      <vt:lpstr>Tardigrade (NSDI-15)</vt:lpstr>
      <vt:lpstr>Remus checkpoint latency</vt:lpstr>
      <vt:lpstr>Remus overhead</vt:lpstr>
      <vt:lpstr>Tardigrade</vt:lpstr>
      <vt:lpstr>Tardigrade</vt:lpstr>
      <vt:lpstr>PipeCloud: Using Causality to Overcome Speed-of-light delays on Cloud-based Disaster Recovery </vt:lpstr>
      <vt:lpstr>Reliability: Storage Issues</vt:lpstr>
      <vt:lpstr>Disaster Recovery as a Cloud Service</vt:lpstr>
      <vt:lpstr>Disaster Recovery Requirements</vt:lpstr>
      <vt:lpstr>PowerPoint Presentation</vt:lpstr>
      <vt:lpstr>DR as a Cloud Service</vt:lpstr>
      <vt:lpstr>Cost Analysis Scenario</vt:lpstr>
      <vt:lpstr>Cost Analysis: Colocation vs. Cloud</vt:lpstr>
      <vt:lpstr>But having a Remote Cloud site for DR is still a challenge: </vt:lpstr>
      <vt:lpstr>(A)Synchronous Replication</vt:lpstr>
      <vt:lpstr>Client Focused Guarantees</vt:lpstr>
      <vt:lpstr>‘Black-box’ Pipelined Synchrony</vt:lpstr>
      <vt:lpstr>Tracking Writes and Replies</vt:lpstr>
      <vt:lpstr>Multi-tier Applications</vt:lpstr>
      <vt:lpstr>Tracking Dependencies</vt:lpstr>
      <vt:lpstr>Tracking Dependencies</vt:lpstr>
      <vt:lpstr>TPC-W Performance</vt:lpstr>
      <vt:lpstr>Benefit of Pipelining</vt:lpstr>
      <vt:lpstr>Consistency after Failure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– 6 Failure Resiliency in Virtualized Environments K. K. Ramakrishnan CS 208</dc:title>
  <dc:creator>Microsoft Office User</dc:creator>
  <cp:lastModifiedBy>Microsoft Office User</cp:lastModifiedBy>
  <cp:revision>47</cp:revision>
  <dcterms:created xsi:type="dcterms:W3CDTF">2018-04-19T00:48:30Z</dcterms:created>
  <dcterms:modified xsi:type="dcterms:W3CDTF">2025-02-11T05:13:45Z</dcterms:modified>
</cp:coreProperties>
</file>