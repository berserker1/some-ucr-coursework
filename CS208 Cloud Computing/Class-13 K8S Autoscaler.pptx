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303" r:id="rId42"/>
    <p:sldId id="296" r:id="rId43"/>
    <p:sldId id="297" r:id="rId44"/>
    <p:sldId id="298" r:id="rId45"/>
    <p:sldId id="299" r:id="rId46"/>
    <p:sldId id="300" r:id="rId47"/>
    <p:sldId id="301" r:id="rId48"/>
    <p:sldId id="302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15"/>
    <p:restoredTop sz="94599"/>
  </p:normalViewPr>
  <p:slideViewPr>
    <p:cSldViewPr snapToGrid="0">
      <p:cViewPr varScale="1">
        <p:scale>
          <a:sx n="112" d="100"/>
          <a:sy n="112" d="100"/>
        </p:scale>
        <p:origin x="8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F7C3B-CBBE-A646-A3A7-2AF6AEAEC0B7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FB26D-7A5A-9447-A20A-EC9ABAA7F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8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FB26D-7A5A-9447-A20A-EC9ABAA7F71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24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FB26D-7A5A-9447-A20A-EC9ABAA7F71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973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FB26D-7A5A-9447-A20A-EC9ABAA7F71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78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B2E36-58E9-B9B2-764D-61D27731B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4CDE4-969D-D2C2-207B-5FB59D6A2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7261-DC87-2BBF-B1EF-6A2D59D49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5875-F48D-9541-89AB-74416F517B43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A0B0F-F73A-A64E-B1F0-AED08D45C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906B4-2F55-1876-707B-9AF66165D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6BB46-BF34-AC4B-9A0D-96BF7D26C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8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D113D-427F-2225-5E0B-055041646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356F9-6007-B08E-756A-77C0E2255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D0FA3-72CD-F6C7-9538-543E7B8E9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5875-F48D-9541-89AB-74416F517B43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8D749-C31D-FC36-9793-DBBC272AF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1C562-4E2F-9AA8-D65F-F1FDF7C15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6BB46-BF34-AC4B-9A0D-96BF7D26C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89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740E5-8C34-02A9-A3DB-3DAF90301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154FE-75EF-C32F-465D-45AEFAE30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0DFB0-CEC4-1415-E11D-4B3B81059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5875-F48D-9541-89AB-74416F517B43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6FC29-355A-7EE5-2E7D-6DA638723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7B4A6-BA2E-37B9-D754-0AE8DC2E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6BB46-BF34-AC4B-9A0D-96BF7D26C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46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3B553-90F9-9627-D042-BC8440473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C3A94-C21D-2F86-5BEB-8870A2E14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9C7CD-CC03-0E93-E909-8517F1D6C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A205F-C085-3BF7-7617-36A3E5B18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5875-F48D-9541-89AB-74416F517B43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E38E8-0705-CDBD-4824-64B129E85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44A30-AE25-8421-9B05-8D5858E27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6BB46-BF34-AC4B-9A0D-96BF7D26C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99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B9D1-96EC-8E40-2990-067A9B4AB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1D65B-26B5-CA45-7D35-6BF8C5F7B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4B124-7643-507F-5628-B26EC65A5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056BF7-E46B-612B-F1E3-CCFBE654AE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D25C0A-F6E3-7F32-B1A5-7C14E29376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748C1A-9CDB-0746-5231-44849807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5875-F48D-9541-89AB-74416F517B43}" type="datetimeFigureOut">
              <a:rPr lang="en-US" smtClean="0"/>
              <a:t>2/24/25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585F29-F38B-8E03-6217-46B25FF30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2256EA-B8F3-39B1-7CB5-0DB7CDC78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6BB46-BF34-AC4B-9A0D-96BF7D26C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28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067E5-5649-3C56-6CAF-1E5DD9C34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A94CDB-917C-A122-6C13-BE62A4B9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5875-F48D-9541-89AB-74416F517B43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1F393A-9C8D-EA4A-D955-080A68BF2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59A46-3696-2954-BADE-CAD40444A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6BB46-BF34-AC4B-9A0D-96BF7D26C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36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EF0CA8-0E56-6617-21DA-2151127B4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5875-F48D-9541-89AB-74416F517B43}" type="datetimeFigureOut">
              <a:rPr lang="en-US" smtClean="0"/>
              <a:t>2/24/25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FCF0C0-5E63-45FD-4EA1-685D07AE6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FBD96-8216-F062-06BC-8B33BFA2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6BB46-BF34-AC4B-9A0D-96BF7D26C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603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A0550-9A95-5347-9BCA-C06967A45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545DF-2052-C3DA-5F1D-7EE963D27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CFAF7-7AD2-BE83-1EC9-6D1E90B8B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4C469-B76A-FF8F-7756-82E1179A0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5875-F48D-9541-89AB-74416F517B43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1B597-9B94-8FF1-4B43-FEB2D6BF4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E3D29-85DF-2D9B-4BD3-14F4E13AA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6BB46-BF34-AC4B-9A0D-96BF7D26C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617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D68C3-23F7-1DF5-78D4-410388FF1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D23DBD-C2FB-C3BF-F690-0AC94965A8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D4C57C-03C3-6FBD-7C50-7058C24F8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15A83-A7EC-F70F-C3AD-6DC7620EF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5875-F48D-9541-89AB-74416F517B43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CF6EB-3967-531E-AF72-B537F156C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251EF-D021-4228-E8B8-F03627C9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6BB46-BF34-AC4B-9A0D-96BF7D26C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57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574BC-C706-03B4-8C7F-3198F9986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F3DE30-6675-66A8-0467-E5516FDEA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93745-C12E-BB4E-CE7F-053300AFE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5875-F48D-9541-89AB-74416F517B43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4E42F-7412-FFC6-85F4-FD99F3C90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19488-6F69-3879-F405-2480A6AD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6BB46-BF34-AC4B-9A0D-96BF7D26C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94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0985DA-43C9-7AA9-E403-EC4A18339A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93B67F-EF3D-83A9-F8D2-4D744DEC1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7B39E-85C7-87D3-061C-44BD5573C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5875-F48D-9541-89AB-74416F517B43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453D6-429B-EC26-CD84-A0C5ADED5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EE25B-F26D-E79C-84B4-229D1E6CC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6BB46-BF34-AC4B-9A0D-96BF7D26C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51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C4D550-E04F-373E-87D2-9FE0937D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F50AD-4971-76AA-5E4F-54BD3D9E3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68E13-0AAB-18FE-452E-4E1849B91D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565875-F48D-9541-89AB-74416F517B43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F9564-9F3D-5B40-9690-BC4FABC35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3C423-DE4C-8E0E-5E63-EDB1FA477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E6BB46-BF34-AC4B-9A0D-96BF7D26C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313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7" Type="http://schemas.openxmlformats.org/officeDocument/2006/relationships/image" Target="../media/image45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7" Type="http://schemas.openxmlformats.org/officeDocument/2006/relationships/image" Target="../media/image51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D8B67-97AD-2C0C-655B-053DFC930C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Autoscaling All Things in Kubernetes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71BA5-76EB-8D64-8AA7-F196C55744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Class 7</a:t>
            </a:r>
          </a:p>
        </p:txBody>
      </p:sp>
    </p:spTree>
    <p:extLst>
      <p:ext uri="{BB962C8B-B14F-4D97-AF65-F5344CB8AC3E}">
        <p14:creationId xmlns:p14="http://schemas.microsoft.com/office/powerpoint/2010/main" val="899464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76872-ABD8-FDA6-1CA7-F17DDDCBF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Kubernetes, several things are referred to as "</a:t>
            </a:r>
            <a:r>
              <a:rPr lang="en-US" b="1" dirty="0"/>
              <a:t>autoscaling</a:t>
            </a:r>
            <a:r>
              <a:rPr lang="en-US" dirty="0"/>
              <a:t>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16367-257C-03AF-9629-8F1BB7645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Horizontal </a:t>
            </a:r>
            <a:r>
              <a:rPr lang="en-US" dirty="0"/>
              <a:t>Pod </a:t>
            </a:r>
            <a:r>
              <a:rPr lang="en-US" dirty="0" err="1"/>
              <a:t>Autoscaler</a:t>
            </a:r>
            <a:endParaRPr lang="en-US" dirty="0"/>
          </a:p>
          <a:p>
            <a:r>
              <a:rPr lang="en-US" b="1" dirty="0"/>
              <a:t>Vertical </a:t>
            </a:r>
            <a:r>
              <a:rPr lang="en-US" dirty="0"/>
              <a:t>Pod </a:t>
            </a:r>
            <a:r>
              <a:rPr lang="en-US" dirty="0" err="1"/>
              <a:t>Autoscaler</a:t>
            </a:r>
            <a:endParaRPr lang="en-US" dirty="0"/>
          </a:p>
          <a:p>
            <a:r>
              <a:rPr lang="en-US" b="1" dirty="0"/>
              <a:t>Cluster </a:t>
            </a:r>
            <a:r>
              <a:rPr lang="en-US" dirty="0" err="1"/>
              <a:t>Autoscaler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62FA9A-4EFA-1590-0CA5-2A014D331A08}"/>
              </a:ext>
            </a:extLst>
          </p:cNvPr>
          <p:cNvSpPr txBox="1"/>
          <p:nvPr/>
        </p:nvSpPr>
        <p:spPr>
          <a:xfrm>
            <a:off x="152400" y="4769535"/>
            <a:ext cx="12039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i="1" dirty="0">
                <a:solidFill>
                  <a:schemeClr val="bg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Those </a:t>
            </a:r>
            <a:r>
              <a:rPr lang="en-US" sz="2600" b="1" i="1" dirty="0" err="1">
                <a:solidFill>
                  <a:schemeClr val="bg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autoscalers</a:t>
            </a:r>
            <a:r>
              <a:rPr lang="en-US" sz="2600" b="1" i="1" dirty="0">
                <a:solidFill>
                  <a:schemeClr val="bg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belong to different categories because they address other concerns.</a:t>
            </a:r>
          </a:p>
        </p:txBody>
      </p:sp>
    </p:spTree>
    <p:extLst>
      <p:ext uri="{BB962C8B-B14F-4D97-AF65-F5344CB8AC3E}">
        <p14:creationId xmlns:p14="http://schemas.microsoft.com/office/powerpoint/2010/main" val="1613132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F9F4C-A1DD-7676-0CF0-CF45A244F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Horizontal Pod </a:t>
            </a:r>
            <a:r>
              <a:rPr lang="en-US" dirty="0" err="1"/>
              <a:t>Autoscaler</a:t>
            </a:r>
            <a:r>
              <a:rPr lang="en-US" dirty="0"/>
              <a:t> (HPA)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030F9-B0E0-8DF6-1E18-0A9C09086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HPA is designed to increase the replicas in your deployments.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As your application receives more traffic, you could have the </a:t>
            </a:r>
            <a:r>
              <a:rPr lang="en-US" dirty="0" err="1"/>
              <a:t>autoscaler</a:t>
            </a:r>
            <a:r>
              <a:rPr lang="en-US" dirty="0"/>
              <a:t> adjusting the number of replicas to handle more requests</a:t>
            </a:r>
          </a:p>
          <a:p>
            <a:pPr lvl="1"/>
            <a:r>
              <a:rPr lang="en-US" dirty="0"/>
              <a:t>The HPA inspects metrics such as memory and CPU at a regular interval</a:t>
            </a:r>
          </a:p>
          <a:p>
            <a:pPr lvl="1"/>
            <a:r>
              <a:rPr lang="en-US" dirty="0"/>
              <a:t>If the metrics pass a user-defined threshold, the </a:t>
            </a:r>
            <a:r>
              <a:rPr lang="en-US" dirty="0" err="1"/>
              <a:t>autoscaler</a:t>
            </a:r>
            <a:r>
              <a:rPr lang="en-US" dirty="0"/>
              <a:t> creates more Pods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329F882-3135-A802-0698-1B5C0336E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8750" y="2254446"/>
            <a:ext cx="3181350" cy="238601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35C2CD52-3123-971A-534B-0E392A9DF0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24700" y="2254445"/>
            <a:ext cx="3181350" cy="2386013"/>
          </a:xfrm>
          <a:prstGeom prst="rect">
            <a:avLst/>
          </a:prstGeom>
        </p:spPr>
      </p:pic>
      <p:sp>
        <p:nvSpPr>
          <p:cNvPr id="11" name="Right Arrow 10">
            <a:extLst>
              <a:ext uri="{FF2B5EF4-FFF2-40B4-BE49-F238E27FC236}">
                <a16:creationId xmlns:a16="http://schemas.microsoft.com/office/drawing/2014/main" id="{758C16A6-39BD-4EF6-B0E7-89C80ED89750}"/>
              </a:ext>
            </a:extLst>
          </p:cNvPr>
          <p:cNvSpPr/>
          <p:nvPr/>
        </p:nvSpPr>
        <p:spPr>
          <a:xfrm>
            <a:off x="4933950" y="3053753"/>
            <a:ext cx="1676400" cy="8953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13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F9F4C-A1DD-7676-0CF0-CF45A244F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Vertical Pod </a:t>
            </a:r>
            <a:r>
              <a:rPr lang="en-US" dirty="0" err="1"/>
              <a:t>Autoscaler</a:t>
            </a:r>
            <a:r>
              <a:rPr lang="en-US" dirty="0"/>
              <a:t> (VPA)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030F9-B0E0-8DF6-1E18-0A9C09086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4277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VPA is useful when you can't create more copies of your Pods, but you still need to handle more traffic</a:t>
            </a:r>
          </a:p>
          <a:p>
            <a:pPr lvl="1"/>
            <a:r>
              <a:rPr lang="en-US" dirty="0"/>
              <a:t>E.g., you can't scale a database (easily) only by adding more Pods</a:t>
            </a:r>
          </a:p>
          <a:p>
            <a:pPr lvl="1"/>
            <a:r>
              <a:rPr lang="en-US" dirty="0"/>
              <a:t>A database might require sharding or configuring read-only replicas</a:t>
            </a:r>
          </a:p>
          <a:p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But you can make a database handle more connections by increasing the memory and CPU available to it</a:t>
            </a:r>
          </a:p>
          <a:p>
            <a:r>
              <a:rPr lang="en-US" dirty="0"/>
              <a:t>That's precisely the purpose of the vertical </a:t>
            </a:r>
            <a:r>
              <a:rPr lang="en-US" dirty="0" err="1"/>
              <a:t>autoscaler</a:t>
            </a:r>
            <a:r>
              <a:rPr lang="en-US" dirty="0"/>
              <a:t> — increasing the size of the Pod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91CF46B-6631-A44F-3671-967ACAE42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3558" y="3803430"/>
            <a:ext cx="4072760" cy="305457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BD78E1B-EDCD-6E57-4EF6-C16FDF5C44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7876" y="3803430"/>
            <a:ext cx="4072760" cy="3054570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3CEC0B50-8FE5-5C68-A2A8-4FCEFA79E915}"/>
              </a:ext>
            </a:extLst>
          </p:cNvPr>
          <p:cNvSpPr/>
          <p:nvPr/>
        </p:nvSpPr>
        <p:spPr>
          <a:xfrm>
            <a:off x="5192112" y="4795870"/>
            <a:ext cx="1676400" cy="8953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7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F9F4C-A1DD-7676-0CF0-CF45A244F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</a:t>
            </a:r>
            <a:r>
              <a:rPr lang="en-US" dirty="0" err="1"/>
              <a:t>Autoscaler</a:t>
            </a:r>
            <a:r>
              <a:rPr lang="en-US" dirty="0"/>
              <a:t> (CA)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030F9-B0E0-8DF6-1E18-0A9C09086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your cluster runs low on resources, the Cluster </a:t>
            </a:r>
            <a:r>
              <a:rPr lang="en-US" dirty="0" err="1"/>
              <a:t>Autoscaler</a:t>
            </a:r>
            <a:r>
              <a:rPr lang="en-US" dirty="0"/>
              <a:t> provision a new compute unit and adds it to the cluster.</a:t>
            </a:r>
          </a:p>
          <a:p>
            <a:r>
              <a:rPr lang="en-US" dirty="0"/>
              <a:t>If there are too many empty nodes, the cluster </a:t>
            </a:r>
            <a:r>
              <a:rPr lang="en-US" dirty="0" err="1"/>
              <a:t>autoscaler</a:t>
            </a:r>
            <a:r>
              <a:rPr lang="en-US" dirty="0"/>
              <a:t> will remove them to reduce costs.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FA7CC66-405A-790A-E95B-51E50AAD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3304" y="3473130"/>
            <a:ext cx="3572992" cy="267974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D325C77-7CAA-9C38-4165-398A9E1021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36579" y="3453680"/>
            <a:ext cx="3572992" cy="267974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B984A5B-742E-238F-0F3B-1A69845967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5704" y="3453680"/>
            <a:ext cx="3572992" cy="2679744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EE1FEDA2-7F91-F26D-F665-C72C3E9EEEF8}"/>
              </a:ext>
            </a:extLst>
          </p:cNvPr>
          <p:cNvSpPr/>
          <p:nvPr/>
        </p:nvSpPr>
        <p:spPr>
          <a:xfrm>
            <a:off x="1960179" y="4240926"/>
            <a:ext cx="1676400" cy="8953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AB5759DC-2B60-7E62-4D12-77A70BA70088}"/>
              </a:ext>
            </a:extLst>
          </p:cNvPr>
          <p:cNvSpPr/>
          <p:nvPr/>
        </p:nvSpPr>
        <p:spPr>
          <a:xfrm>
            <a:off x="6280982" y="4240926"/>
            <a:ext cx="1676400" cy="8953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6F48A7-FF85-62D9-6C60-77E235986646}"/>
              </a:ext>
            </a:extLst>
          </p:cNvPr>
          <p:cNvSpPr txBox="1"/>
          <p:nvPr/>
        </p:nvSpPr>
        <p:spPr>
          <a:xfrm>
            <a:off x="159757" y="5934670"/>
            <a:ext cx="24699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-apple-system"/>
              </a:rPr>
              <a:t>When you scale your pods in Kubernetes, you might run out of space.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C00A0C-3D78-B748-65B1-2A35565E2A49}"/>
              </a:ext>
            </a:extLst>
          </p:cNvPr>
          <p:cNvSpPr txBox="1"/>
          <p:nvPr/>
        </p:nvSpPr>
        <p:spPr>
          <a:xfrm>
            <a:off x="3636579" y="5934670"/>
            <a:ext cx="27760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-apple-system"/>
              </a:rPr>
              <a:t>The Cluster </a:t>
            </a:r>
            <a:r>
              <a:rPr lang="en-US" b="0" i="0" dirty="0" err="1">
                <a:effectLst/>
                <a:latin typeface="-apple-system"/>
              </a:rPr>
              <a:t>Autoscaler</a:t>
            </a:r>
            <a:r>
              <a:rPr lang="en-US" b="0" i="0" dirty="0">
                <a:effectLst/>
                <a:latin typeface="-apple-system"/>
              </a:rPr>
              <a:t> is designed to increase the node count in your cluster.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901191-3A91-DC8B-CF2D-EBE15F8A5430}"/>
              </a:ext>
            </a:extLst>
          </p:cNvPr>
          <p:cNvSpPr txBox="1"/>
          <p:nvPr/>
        </p:nvSpPr>
        <p:spPr>
          <a:xfrm>
            <a:off x="7364073" y="5923522"/>
            <a:ext cx="47843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-apple-system"/>
              </a:rPr>
              <a:t>You can keep scaling your pods without worrying about the underlying nodes. The cluster </a:t>
            </a:r>
            <a:r>
              <a:rPr lang="en-US" b="0" i="0" dirty="0" err="1">
                <a:effectLst/>
                <a:latin typeface="-apple-system"/>
              </a:rPr>
              <a:t>autoscaler</a:t>
            </a:r>
            <a:r>
              <a:rPr lang="en-US" b="0" i="0" dirty="0">
                <a:effectLst/>
                <a:latin typeface="-apple-system"/>
              </a:rPr>
              <a:t> will create more automatically.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20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4EE2C-F0E3-8F63-083D-AB7D1908F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these components all "</a:t>
            </a:r>
            <a:r>
              <a:rPr lang="en-US" dirty="0" err="1"/>
              <a:t>autoscale</a:t>
            </a:r>
            <a:r>
              <a:rPr lang="en-US" dirty="0"/>
              <a:t>" something…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C6525-1C72-2E85-D6D6-D375716B7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are entirely </a:t>
            </a:r>
            <a:r>
              <a:rPr lang="en-US" b="1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unrelated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dirty="0"/>
              <a:t>to each other</a:t>
            </a:r>
          </a:p>
          <a:p>
            <a:endParaRPr lang="en-US" dirty="0"/>
          </a:p>
          <a:p>
            <a:r>
              <a:rPr lang="en-US" dirty="0"/>
              <a:t>They all address very different use cases and use other concepts and mechanisms.</a:t>
            </a:r>
          </a:p>
          <a:p>
            <a:r>
              <a:rPr lang="en-US" dirty="0"/>
              <a:t>And they are developed in separate projects and can be used independently from each other.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F860FE-8033-A50E-0B88-8EC541DA8A9F}"/>
              </a:ext>
            </a:extLst>
          </p:cNvPr>
          <p:cNvSpPr txBox="1"/>
          <p:nvPr/>
        </p:nvSpPr>
        <p:spPr>
          <a:xfrm>
            <a:off x="532873" y="5222856"/>
            <a:ext cx="109128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However, scaling your cluster requires fine-tuning the setting of the </a:t>
            </a:r>
            <a:r>
              <a:rPr lang="en-US" sz="2800" b="1" i="1" dirty="0" err="1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autoscalers</a:t>
            </a:r>
            <a:r>
              <a:rPr lang="en-US" sz="2800" b="1" i="1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 so that they work in concert.</a:t>
            </a:r>
            <a:endParaRPr lang="en-US" sz="2800" i="1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653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A835-F057-70DF-AA23-127A3664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autoscaling pods goes wrong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B047E-E923-303E-B596-DC93BB02D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04652" cy="4351338"/>
          </a:xfrm>
        </p:spPr>
        <p:txBody>
          <a:bodyPr/>
          <a:lstStyle/>
          <a:p>
            <a:r>
              <a:rPr lang="en-US" dirty="0"/>
              <a:t>Imagine having an application that requires and uses 1.5GB of memory and 0.25 vCPU at all times.</a:t>
            </a:r>
          </a:p>
          <a:p>
            <a:r>
              <a:rPr lang="en-US" dirty="0"/>
              <a:t>You provisioned a cluster with a single node of 8GB and 2 vCPU — it should be able to fit four pods perfectly (and have a little bit of extra space left).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1BDA186-0F69-0E7A-C72C-B8DB236EC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2852" y="1299702"/>
            <a:ext cx="6402916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106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5B932-E4D0-8E41-5F54-DE1E5624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Then, you deploy a single Pod and set up: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D1EFA-01B2-69FD-C9DC-68A8487AB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Horizontal Pod </a:t>
            </a:r>
            <a:r>
              <a:rPr lang="en-US" dirty="0" err="1"/>
              <a:t>Autoscaler</a:t>
            </a:r>
            <a:r>
              <a:rPr lang="en-US" dirty="0"/>
              <a:t> adds a replica every 10 incoming requests (i.e. if you have 40 concurrent requests, it should scale to 4 replicas).</a:t>
            </a:r>
          </a:p>
          <a:p>
            <a:r>
              <a:rPr lang="en-US" dirty="0"/>
              <a:t>A Cluster </a:t>
            </a:r>
            <a:r>
              <a:rPr lang="en-US" dirty="0" err="1"/>
              <a:t>Autoscaler</a:t>
            </a:r>
            <a:r>
              <a:rPr lang="en-US" dirty="0"/>
              <a:t> to create more nodes when resources are low.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18E3F7-5C02-1EBD-1202-572528CEB297}"/>
              </a:ext>
            </a:extLst>
          </p:cNvPr>
          <p:cNvSpPr txBox="1"/>
          <p:nvPr/>
        </p:nvSpPr>
        <p:spPr>
          <a:xfrm>
            <a:off x="993227" y="4835548"/>
            <a:ext cx="60981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NOTE: The HPA can scale the replicas in your deployment using Custom Metrics such as the queries per second (QPS) from an Ingress controller.</a:t>
            </a:r>
            <a:endParaRPr lang="en-US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887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F459A-179E-6ACD-7D78-050595109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You start driving traffic 30 concurrent requests to your cluster and observe the following: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0C18E-771B-017F-1A8F-5B24C89FC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43670" cy="4351338"/>
          </a:xfrm>
        </p:spPr>
        <p:txBody>
          <a:bodyPr/>
          <a:lstStyle/>
          <a:p>
            <a:r>
              <a:rPr lang="en-US" dirty="0"/>
              <a:t>The Horizontal Pod </a:t>
            </a:r>
            <a:r>
              <a:rPr lang="en-US" dirty="0" err="1"/>
              <a:t>Autoscaler</a:t>
            </a:r>
            <a:r>
              <a:rPr lang="en-US" dirty="0"/>
              <a:t> starts scaling the Pods.</a:t>
            </a:r>
          </a:p>
          <a:p>
            <a:r>
              <a:rPr lang="en-US" dirty="0"/>
              <a:t>Two more Pods are created.</a:t>
            </a:r>
          </a:p>
          <a:p>
            <a:r>
              <a:rPr lang="en-US" dirty="0"/>
              <a:t>The Cluster </a:t>
            </a:r>
            <a:r>
              <a:rPr lang="en-US" dirty="0" err="1"/>
              <a:t>Autoscaler</a:t>
            </a:r>
            <a:r>
              <a:rPr lang="en-US" dirty="0"/>
              <a:t> doesn't trigger — no new node is created in the cluster.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It makes sense since there's enough space for one more Pod in that node.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EC4AC63-D55B-70B9-E6D0-F285749DF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8623" y="1027906"/>
            <a:ext cx="77724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456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1AEC9-6FCD-59D1-5125-0EEA49A7A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further increase the traffic to 40 concurrent requests and observe again: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289F5-EC04-E597-AC14-EE2877A82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572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The Horizontal Pod </a:t>
            </a:r>
            <a:r>
              <a:rPr lang="en-US" dirty="0" err="1"/>
              <a:t>Autoscaler</a:t>
            </a:r>
            <a:r>
              <a:rPr lang="en-US" dirty="0"/>
              <a:t> creates one more Pod.</a:t>
            </a:r>
          </a:p>
          <a:p>
            <a:r>
              <a:rPr lang="en-US" dirty="0"/>
              <a:t>The Pod is pending and cannot be deployed.</a:t>
            </a:r>
          </a:p>
          <a:p>
            <a:r>
              <a:rPr lang="en-US" dirty="0"/>
              <a:t>The Cluster </a:t>
            </a:r>
            <a:r>
              <a:rPr lang="en-US" dirty="0" err="1"/>
              <a:t>Autoscaler</a:t>
            </a:r>
            <a:r>
              <a:rPr lang="en-US" dirty="0"/>
              <a:t> triggers creating a new node.</a:t>
            </a:r>
          </a:p>
          <a:p>
            <a:r>
              <a:rPr lang="en-US" dirty="0"/>
              <a:t>The node is provisioned in 4 minutes. After that, the pending Pod is deployed.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C05C58A-B78C-E847-CE4B-E0670FA18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2466" y="3026984"/>
            <a:ext cx="4611939" cy="345895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894BE2C-0BD8-CFAF-38B9-A3C77E5475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9066" y="3026984"/>
            <a:ext cx="4611939" cy="3458954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14EDBFEC-5116-29F5-EEA9-19B41FC5ED0D}"/>
              </a:ext>
            </a:extLst>
          </p:cNvPr>
          <p:cNvSpPr/>
          <p:nvPr/>
        </p:nvSpPr>
        <p:spPr>
          <a:xfrm>
            <a:off x="5097519" y="4140029"/>
            <a:ext cx="1676400" cy="8953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 minutes 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FBBE8-7934-89C9-954F-9771543EC17C}"/>
              </a:ext>
            </a:extLst>
          </p:cNvPr>
          <p:cNvSpPr txBox="1"/>
          <p:nvPr/>
        </p:nvSpPr>
        <p:spPr>
          <a:xfrm>
            <a:off x="167640" y="5882142"/>
            <a:ext cx="39760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-apple-system"/>
              </a:rPr>
              <a:t>When you scale to four replicas, the fourth replicas isn't deployed in the first node. Instead, it stays </a:t>
            </a:r>
            <a:r>
              <a:rPr lang="en-US" b="0" i="1" dirty="0">
                <a:effectLst/>
                <a:latin typeface="-apple-system"/>
              </a:rPr>
              <a:t>"Pending"</a:t>
            </a:r>
            <a:r>
              <a:rPr lang="en-US" b="0" i="0" dirty="0">
                <a:effectLst/>
                <a:latin typeface="-apple-system"/>
              </a:rPr>
              <a:t>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8DA9EE-78EF-93D1-CAFE-35C15D09C5D5}"/>
              </a:ext>
            </a:extLst>
          </p:cNvPr>
          <p:cNvSpPr txBox="1"/>
          <p:nvPr/>
        </p:nvSpPr>
        <p:spPr>
          <a:xfrm>
            <a:off x="7551683" y="5889760"/>
            <a:ext cx="24405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autoscaler</a:t>
            </a:r>
            <a:r>
              <a:rPr lang="en-US" dirty="0"/>
              <a:t> creates a new node, and the pod is finally deployed.</a:t>
            </a:r>
          </a:p>
        </p:txBody>
      </p:sp>
    </p:spTree>
    <p:extLst>
      <p:ext uri="{BB962C8B-B14F-4D97-AF65-F5344CB8AC3E}">
        <p14:creationId xmlns:p14="http://schemas.microsoft.com/office/powerpoint/2010/main" val="310222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775CB-D438-CCC9-4311-6FC1201FE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Why is the fourth Pod not deployed in the first node?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5AA8D-3C90-58CA-A012-7E234633A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Pods deployed in your Kubernetes cluster consume resources such as memory, CPU and storage.</a:t>
            </a:r>
          </a:p>
          <a:p>
            <a:endParaRPr lang="en-US" dirty="0"/>
          </a:p>
          <a:p>
            <a:r>
              <a:rPr lang="en-US" b="1" i="1" dirty="0">
                <a:solidFill>
                  <a:srgbClr val="FF0000"/>
                </a:solidFill>
              </a:rPr>
              <a:t>However, on the same node, the operating system and the </a:t>
            </a:r>
            <a:r>
              <a:rPr lang="en-US" b="1" i="1" dirty="0" err="1">
                <a:solidFill>
                  <a:srgbClr val="FF0000"/>
                </a:solidFill>
              </a:rPr>
              <a:t>kubelet</a:t>
            </a:r>
            <a:r>
              <a:rPr lang="en-US" b="1" i="1" dirty="0">
                <a:solidFill>
                  <a:srgbClr val="FF0000"/>
                </a:solidFill>
              </a:rPr>
              <a:t> require memory and CPU too.</a:t>
            </a:r>
          </a:p>
        </p:txBody>
      </p:sp>
    </p:spTree>
    <p:extLst>
      <p:ext uri="{BB962C8B-B14F-4D97-AF65-F5344CB8AC3E}">
        <p14:creationId xmlns:p14="http://schemas.microsoft.com/office/powerpoint/2010/main" val="997790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50D5C-BC0F-0973-A2A5-1B22A1C28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a Kubernetes worker node's memory and CPU are divided into: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34D1D-B0F4-84C2-39C0-0A8595F2D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774324" cy="4351338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Resources reserved to the eviction threshold.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Resources available to Pods.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Resources necessary to run Kubernetes agents such as the </a:t>
            </a:r>
            <a:r>
              <a:rPr lang="en-US" dirty="0" err="1"/>
              <a:t>Kubelet</a:t>
            </a:r>
            <a:r>
              <a:rPr lang="en-US" dirty="0"/>
              <a:t>, the container runtime, node problem detector, etc.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Resources needed to run the operating system and system daemons such as SSH, </a:t>
            </a:r>
            <a:r>
              <a:rPr lang="en-US" dirty="0" err="1"/>
              <a:t>systemd</a:t>
            </a:r>
            <a:r>
              <a:rPr lang="en-US" dirty="0"/>
              <a:t>, etc.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AE4E6-0F56-1DFA-E266-DAE2B7CF4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0282" y="1256364"/>
            <a:ext cx="6982015" cy="523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597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86870-0977-C9DA-A649-CD61D788F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of those quotas are </a:t>
            </a:r>
            <a:r>
              <a:rPr lang="en-US" b="1" i="1" dirty="0" err="1"/>
              <a:t>customisable</a:t>
            </a:r>
            <a:r>
              <a:rPr lang="en-US" dirty="0"/>
              <a:t>, but you need to account for them!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558C9-0FF2-1017-759D-818CC22D1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an 8GB and 2 vCPU virtual machine, you can expect:</a:t>
            </a:r>
          </a:p>
          <a:p>
            <a:pPr lvl="1"/>
            <a:r>
              <a:rPr lang="en-US" dirty="0"/>
              <a:t>100MB of memory and 0.1 vCPU to be reserved for the operating system.</a:t>
            </a:r>
          </a:p>
          <a:p>
            <a:pPr lvl="1"/>
            <a:r>
              <a:rPr lang="en-US" dirty="0"/>
              <a:t>1.8GB of memory and 0.07 vCPU to be reserved for the </a:t>
            </a:r>
            <a:r>
              <a:rPr lang="en-US" dirty="0" err="1"/>
              <a:t>Kubelet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100MB of memory for the eviction threshold.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The remaining ~6GB of memory and 1.83 vCPU are usable by the Pods.</a:t>
            </a:r>
          </a:p>
        </p:txBody>
      </p:sp>
    </p:spTree>
    <p:extLst>
      <p:ext uri="{BB962C8B-B14F-4D97-AF65-F5344CB8AC3E}">
        <p14:creationId xmlns:p14="http://schemas.microsoft.com/office/powerpoint/2010/main" val="704894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86870-0977-C9DA-A649-CD61D788F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of those quotas are </a:t>
            </a:r>
            <a:r>
              <a:rPr lang="en-US" b="1" i="1" dirty="0" err="1"/>
              <a:t>customisable</a:t>
            </a:r>
            <a:r>
              <a:rPr lang="en-US" dirty="0"/>
              <a:t>, but you need to account for them!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558C9-0FF2-1017-759D-818CC22D1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800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If your cluster runs a </a:t>
            </a:r>
            <a:r>
              <a:rPr lang="en-US" dirty="0" err="1"/>
              <a:t>DeamonSet</a:t>
            </a:r>
            <a:r>
              <a:rPr lang="en-US" dirty="0"/>
              <a:t> such as </a:t>
            </a:r>
            <a:r>
              <a:rPr lang="en-US" dirty="0" err="1"/>
              <a:t>kube</a:t>
            </a:r>
            <a:r>
              <a:rPr lang="en-US" dirty="0"/>
              <a:t>-proxy, you should further reduce the available memory and CPU.</a:t>
            </a:r>
          </a:p>
          <a:p>
            <a:r>
              <a:rPr lang="en-US" b="1" i="1" dirty="0"/>
              <a:t>Considering </a:t>
            </a:r>
            <a:r>
              <a:rPr lang="en-US" b="1" i="1" dirty="0" err="1"/>
              <a:t>kube</a:t>
            </a:r>
            <a:r>
              <a:rPr lang="en-US" b="1" i="1" dirty="0"/>
              <a:t>-proxy has requests of 128MB and 0.1 vCPU, only ~5.9GB of memory and 1.73 vCPU are available to run Pods.</a:t>
            </a:r>
          </a:p>
          <a:p>
            <a:r>
              <a:rPr lang="en-US" dirty="0"/>
              <a:t>After accounting for all the extra resources, you have space left for only </a:t>
            </a:r>
            <a:r>
              <a:rPr lang="en-US" b="1" dirty="0">
                <a:solidFill>
                  <a:srgbClr val="FF0000"/>
                </a:solidFill>
              </a:rPr>
              <a:t>three</a:t>
            </a:r>
            <a:r>
              <a:rPr lang="en-US" dirty="0"/>
              <a:t> pods.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592855C-B501-A369-52F4-C4777F00D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993" y="2151943"/>
            <a:ext cx="6136043" cy="32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56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1AEC9-6FCD-59D1-5125-0EEA49A7A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fourth stays "Pending" unless it can be deployed on another node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289F5-EC04-E597-AC14-EE2877A82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57200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Since the Cluster </a:t>
            </a:r>
            <a:r>
              <a:rPr lang="en-US" b="1" i="1" dirty="0" err="1">
                <a:solidFill>
                  <a:srgbClr val="FF0000"/>
                </a:solidFill>
              </a:rPr>
              <a:t>Autoscaler</a:t>
            </a:r>
            <a:r>
              <a:rPr lang="en-US" b="1" i="1" dirty="0">
                <a:solidFill>
                  <a:srgbClr val="FF0000"/>
                </a:solidFill>
              </a:rPr>
              <a:t> knows that there's no space for a fourth Pod, why doesn't it provision a new node?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Why does it wait for the Pod to be pending before it triggers creating a node?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C05C58A-B78C-E847-CE4B-E0670FA18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2466" y="3026984"/>
            <a:ext cx="4611939" cy="345895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894BE2C-0BD8-CFAF-38B9-A3C77E5475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9066" y="3026984"/>
            <a:ext cx="4611939" cy="3458954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14EDBFEC-5116-29F5-EEA9-19B41FC5ED0D}"/>
              </a:ext>
            </a:extLst>
          </p:cNvPr>
          <p:cNvSpPr/>
          <p:nvPr/>
        </p:nvSpPr>
        <p:spPr>
          <a:xfrm>
            <a:off x="5097519" y="4140029"/>
            <a:ext cx="1676400" cy="8953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 minutes 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FBBE8-7934-89C9-954F-9771543EC17C}"/>
              </a:ext>
            </a:extLst>
          </p:cNvPr>
          <p:cNvSpPr txBox="1"/>
          <p:nvPr/>
        </p:nvSpPr>
        <p:spPr>
          <a:xfrm>
            <a:off x="167640" y="5882142"/>
            <a:ext cx="39760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-apple-system"/>
              </a:rPr>
              <a:t>When you scale to four replicas, the fourth replicas isn't deployed in the first node. Instead, it stays </a:t>
            </a:r>
            <a:r>
              <a:rPr lang="en-US" b="0" i="1" dirty="0">
                <a:effectLst/>
                <a:latin typeface="-apple-system"/>
              </a:rPr>
              <a:t>"Pending"</a:t>
            </a:r>
            <a:r>
              <a:rPr lang="en-US" b="0" i="0" dirty="0">
                <a:effectLst/>
                <a:latin typeface="-apple-system"/>
              </a:rPr>
              <a:t>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8DA9EE-78EF-93D1-CAFE-35C15D09C5D5}"/>
              </a:ext>
            </a:extLst>
          </p:cNvPr>
          <p:cNvSpPr txBox="1"/>
          <p:nvPr/>
        </p:nvSpPr>
        <p:spPr>
          <a:xfrm>
            <a:off x="7551683" y="5889760"/>
            <a:ext cx="24405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autoscaler</a:t>
            </a:r>
            <a:r>
              <a:rPr lang="en-US" dirty="0"/>
              <a:t> creates a new node, and the pod is finally deployed.</a:t>
            </a:r>
          </a:p>
        </p:txBody>
      </p:sp>
    </p:spTree>
    <p:extLst>
      <p:ext uri="{BB962C8B-B14F-4D97-AF65-F5344CB8AC3E}">
        <p14:creationId xmlns:p14="http://schemas.microsoft.com/office/powerpoint/2010/main" val="1048100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537C1-10B3-51D0-C4BB-90036C10B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Cluster </a:t>
            </a:r>
            <a:r>
              <a:rPr lang="en-US" dirty="0" err="1"/>
              <a:t>Autoscaler</a:t>
            </a:r>
            <a:r>
              <a:rPr lang="en-US" dirty="0"/>
              <a:t> works in Kubernetes?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B4202-7DFB-6A97-C55B-A4F2233A4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The Cluster </a:t>
            </a:r>
            <a:r>
              <a:rPr lang="en-US" b="1" i="1" dirty="0" err="1">
                <a:solidFill>
                  <a:schemeClr val="bg2">
                    <a:lumMod val="50000"/>
                    <a:lumOff val="50000"/>
                  </a:schemeClr>
                </a:solidFill>
              </a:rPr>
              <a:t>Autoscaler</a:t>
            </a:r>
            <a:r>
              <a:rPr lang="en-US" b="1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 doesn't look at memory or CPU available when it triggers the autoscaling</a:t>
            </a:r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.</a:t>
            </a:r>
          </a:p>
          <a:p>
            <a:pPr lvl="1"/>
            <a:r>
              <a:rPr lang="en-US" dirty="0"/>
              <a:t>Instead, the Cluster </a:t>
            </a:r>
            <a:r>
              <a:rPr lang="en-US" dirty="0" err="1"/>
              <a:t>Autoscaler</a:t>
            </a:r>
            <a:r>
              <a:rPr lang="en-US" dirty="0"/>
              <a:t> reacts to events and checks for any </a:t>
            </a:r>
            <a:r>
              <a:rPr lang="en-US" dirty="0" err="1"/>
              <a:t>unschedulable</a:t>
            </a:r>
            <a:r>
              <a:rPr lang="en-US" dirty="0"/>
              <a:t> Pods </a:t>
            </a:r>
            <a:r>
              <a:rPr lang="en-US" b="1" dirty="0"/>
              <a:t>every 10 seconds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 pod is </a:t>
            </a:r>
            <a:r>
              <a:rPr lang="en-US" dirty="0" err="1"/>
              <a:t>unschedulable</a:t>
            </a:r>
            <a:r>
              <a:rPr lang="en-US" dirty="0"/>
              <a:t> when the scheduler is unable to find a node that can accommodate it.</a:t>
            </a:r>
          </a:p>
          <a:p>
            <a:endParaRPr lang="en-US" dirty="0"/>
          </a:p>
          <a:p>
            <a:r>
              <a:rPr lang="en-US" dirty="0"/>
              <a:t>For example, when a Pod requests 1 vCPU but the cluster has only 0.5 vCPU available, the scheduler marks the Pod as </a:t>
            </a:r>
            <a:r>
              <a:rPr lang="en-US" dirty="0" err="1"/>
              <a:t>unschedulable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i="1" dirty="0">
                <a:solidFill>
                  <a:srgbClr val="FF0000"/>
                </a:solidFill>
              </a:rPr>
              <a:t>That's when the Cluster </a:t>
            </a:r>
            <a:r>
              <a:rPr lang="en-US" b="1" i="1" dirty="0" err="1">
                <a:solidFill>
                  <a:srgbClr val="FF0000"/>
                </a:solidFill>
              </a:rPr>
              <a:t>Autoscaler</a:t>
            </a:r>
            <a:r>
              <a:rPr lang="en-US" b="1" i="1" dirty="0">
                <a:solidFill>
                  <a:srgbClr val="FF0000"/>
                </a:solidFill>
              </a:rPr>
              <a:t> initiates creating a new node.</a:t>
            </a:r>
          </a:p>
        </p:txBody>
      </p:sp>
    </p:spTree>
    <p:extLst>
      <p:ext uri="{BB962C8B-B14F-4D97-AF65-F5344CB8AC3E}">
        <p14:creationId xmlns:p14="http://schemas.microsoft.com/office/powerpoint/2010/main" val="1744989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5197-3F00-3C89-88FA-A9F7EBFAA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Cluster </a:t>
            </a:r>
            <a:r>
              <a:rPr lang="en-US" dirty="0" err="1"/>
              <a:t>Autoscaler</a:t>
            </a:r>
            <a:r>
              <a:rPr lang="en-US" dirty="0"/>
              <a:t> works in Kubernetes?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16DE4-CC30-EA64-FBAE-ED92EDBAC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Cluster </a:t>
            </a:r>
            <a:r>
              <a:rPr lang="en-US" dirty="0" err="1"/>
              <a:t>Autoscaler</a:t>
            </a:r>
            <a:r>
              <a:rPr lang="en-US" dirty="0"/>
              <a:t> scans the current cluster and checks if any of the </a:t>
            </a:r>
            <a:r>
              <a:rPr lang="en-US" dirty="0" err="1"/>
              <a:t>unschedulable</a:t>
            </a:r>
            <a:r>
              <a:rPr lang="en-US" dirty="0"/>
              <a:t> pods would fit on in a new node.</a:t>
            </a:r>
          </a:p>
          <a:p>
            <a:endParaRPr lang="en-US" dirty="0"/>
          </a:p>
          <a:p>
            <a:r>
              <a:rPr lang="en-US" dirty="0"/>
              <a:t>If you have a cluster with several node types (often also referred to as node groups or node pools), the Cluster </a:t>
            </a:r>
            <a:r>
              <a:rPr lang="en-US" dirty="0" err="1"/>
              <a:t>Autoscaler</a:t>
            </a:r>
            <a:r>
              <a:rPr lang="en-US" dirty="0"/>
              <a:t> will pick one of them using the following strategies:</a:t>
            </a:r>
          </a:p>
          <a:p>
            <a:pPr lvl="1"/>
            <a:r>
              <a:rPr lang="en-US" b="1" dirty="0"/>
              <a:t>Random</a:t>
            </a:r>
            <a:r>
              <a:rPr lang="en-US" dirty="0"/>
              <a:t> — picks a node type at random. This is the default strategy.</a:t>
            </a:r>
          </a:p>
          <a:p>
            <a:pPr lvl="1"/>
            <a:r>
              <a:rPr lang="en-US" b="1" dirty="0"/>
              <a:t>Most pods </a:t>
            </a:r>
            <a:r>
              <a:rPr lang="en-US" dirty="0"/>
              <a:t>— selects the node group that would schedule the most pods.</a:t>
            </a:r>
          </a:p>
          <a:p>
            <a:pPr lvl="1"/>
            <a:r>
              <a:rPr lang="en-US" b="1" dirty="0"/>
              <a:t>Least waste </a:t>
            </a:r>
            <a:r>
              <a:rPr lang="en-US" dirty="0"/>
              <a:t>— selects the node group with the least idle CPU after scale-up.</a:t>
            </a:r>
          </a:p>
          <a:p>
            <a:pPr lvl="1"/>
            <a:r>
              <a:rPr lang="en-US" b="1" dirty="0"/>
              <a:t>Price</a:t>
            </a:r>
            <a:r>
              <a:rPr lang="en-US" dirty="0"/>
              <a:t> — select the node group that will cost the least (only works for GCP at the moment).</a:t>
            </a:r>
          </a:p>
          <a:p>
            <a:pPr lvl="1"/>
            <a:r>
              <a:rPr lang="en-US" b="1" dirty="0"/>
              <a:t>Priority</a:t>
            </a:r>
            <a:r>
              <a:rPr lang="en-US" dirty="0"/>
              <a:t> — selects the node group with the highest priority (and you manually assign priorities).</a:t>
            </a:r>
          </a:p>
          <a:p>
            <a:r>
              <a:rPr lang="en-US" b="1" i="1" dirty="0"/>
              <a:t>Once the node type is identified, the Cluster </a:t>
            </a:r>
            <a:r>
              <a:rPr lang="en-US" b="1" i="1" dirty="0" err="1"/>
              <a:t>Autoscaler</a:t>
            </a:r>
            <a:r>
              <a:rPr lang="en-US" b="1" i="1" dirty="0"/>
              <a:t> will call the relevant API to provision a new compute resource.</a:t>
            </a:r>
          </a:p>
        </p:txBody>
      </p:sp>
    </p:spTree>
    <p:extLst>
      <p:ext uri="{BB962C8B-B14F-4D97-AF65-F5344CB8AC3E}">
        <p14:creationId xmlns:p14="http://schemas.microsoft.com/office/powerpoint/2010/main" val="3817951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76916-FE86-4B96-5012-136AB36E6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Cluster </a:t>
            </a:r>
            <a:r>
              <a:rPr lang="en-US" dirty="0" err="1"/>
              <a:t>Autoscaler</a:t>
            </a:r>
            <a:r>
              <a:rPr lang="en-US" dirty="0"/>
              <a:t> works in Kubernetes?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39A-1C55-1289-E6F9-5798BE647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you're using AWS, the Cluster </a:t>
            </a:r>
            <a:r>
              <a:rPr lang="en-US" dirty="0" err="1"/>
              <a:t>Autoscaler</a:t>
            </a:r>
            <a:r>
              <a:rPr lang="en-US" dirty="0"/>
              <a:t> will provision a new EC2 instance.</a:t>
            </a:r>
          </a:p>
          <a:p>
            <a:r>
              <a:rPr lang="en-US" dirty="0"/>
              <a:t>On Azure, it will create a new Virtual Machine and on GCP, a new Compute Engine.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 may take some time before the created nodes appear in Kubernetes.</a:t>
            </a:r>
          </a:p>
          <a:p>
            <a:r>
              <a:rPr lang="en-US" b="1" dirty="0"/>
              <a:t>Unfortunately, provisioning new nodes is usually slow.</a:t>
            </a:r>
          </a:p>
          <a:p>
            <a:pPr lvl="1"/>
            <a:r>
              <a:rPr lang="en-US" dirty="0"/>
              <a:t>It might take several minutes to provision a new compute unit.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993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CF869-4615-06BE-EA9A-9CC6BA1A3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pod autoscaling lead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49E1A-8223-7C44-E7C7-9414F89A6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time it takes to create a new Pod on a new Node is determined by four major factors:</a:t>
            </a:r>
          </a:p>
          <a:p>
            <a:pPr lvl="1"/>
            <a:r>
              <a:rPr lang="en-US" b="1" dirty="0"/>
              <a:t>Horizontal Pod </a:t>
            </a:r>
            <a:r>
              <a:rPr lang="en-US" b="1" dirty="0" err="1"/>
              <a:t>Autoscaler</a:t>
            </a:r>
            <a:r>
              <a:rPr lang="en-US" b="1" dirty="0"/>
              <a:t> reaction time.</a:t>
            </a:r>
          </a:p>
          <a:p>
            <a:pPr lvl="1"/>
            <a:r>
              <a:rPr lang="en-US" b="1" dirty="0"/>
              <a:t>Cluster </a:t>
            </a:r>
            <a:r>
              <a:rPr lang="en-US" b="1" dirty="0" err="1"/>
              <a:t>Autoscaler</a:t>
            </a:r>
            <a:r>
              <a:rPr lang="en-US" b="1" dirty="0"/>
              <a:t> reaction time.</a:t>
            </a:r>
          </a:p>
          <a:p>
            <a:pPr lvl="1"/>
            <a:r>
              <a:rPr lang="en-US" b="1" dirty="0"/>
              <a:t>Node provisioning time.</a:t>
            </a:r>
          </a:p>
          <a:p>
            <a:pPr lvl="1"/>
            <a:r>
              <a:rPr lang="en-US" b="1" dirty="0"/>
              <a:t>Pod creation time.</a:t>
            </a:r>
          </a:p>
        </p:txBody>
      </p:sp>
    </p:spTree>
    <p:extLst>
      <p:ext uri="{BB962C8B-B14F-4D97-AF65-F5344CB8AC3E}">
        <p14:creationId xmlns:p14="http://schemas.microsoft.com/office/powerpoint/2010/main" val="1615535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434C8-FA6E-2673-31CD-A5E35628E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Horizontal Pod </a:t>
            </a:r>
            <a:r>
              <a:rPr lang="en-US" dirty="0" err="1"/>
              <a:t>Autoscaler</a:t>
            </a:r>
            <a:r>
              <a:rPr lang="en-US" dirty="0"/>
              <a:t> reaction time.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C9837-784B-2A03-91E5-40E61F473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77790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Horizontal Pod </a:t>
            </a:r>
            <a:r>
              <a:rPr lang="en-US" dirty="0" err="1"/>
              <a:t>Autoscaler</a:t>
            </a:r>
            <a:r>
              <a:rPr lang="en-US" dirty="0"/>
              <a:t> controller is in charge of checking the metrics and deciding to scale up or down your replicas.</a:t>
            </a:r>
          </a:p>
          <a:p>
            <a:pPr lvl="1"/>
            <a:r>
              <a:rPr lang="en-US" dirty="0"/>
              <a:t>By default, the Horizontal Pod </a:t>
            </a:r>
            <a:r>
              <a:rPr lang="en-US" dirty="0" err="1"/>
              <a:t>Autoscaler</a:t>
            </a:r>
            <a:r>
              <a:rPr lang="en-US" dirty="0"/>
              <a:t> checks Pods metrics every 15 seconds.</a:t>
            </a:r>
          </a:p>
          <a:p>
            <a:pPr lvl="1"/>
            <a:r>
              <a:rPr lang="en-US" dirty="0"/>
              <a:t>Every minute, the Metrics Server will aggregate those metrics and expose them to the rest of the Kubernetes API.</a:t>
            </a:r>
          </a:p>
          <a:p>
            <a:pPr lvl="1"/>
            <a:r>
              <a:rPr lang="en-US" dirty="0"/>
              <a:t>By default, pods' CPU and memory usage is scraped by </a:t>
            </a:r>
            <a:r>
              <a:rPr lang="en-US" dirty="0" err="1"/>
              <a:t>kubelet</a:t>
            </a:r>
            <a:r>
              <a:rPr lang="en-US" dirty="0"/>
              <a:t> every 10 seconds.</a:t>
            </a:r>
          </a:p>
          <a:p>
            <a:endParaRPr lang="en-US" dirty="0"/>
          </a:p>
          <a:p>
            <a:r>
              <a:rPr lang="en-US" b="1" i="1" dirty="0">
                <a:solidFill>
                  <a:srgbClr val="FF0000"/>
                </a:solidFill>
              </a:rPr>
              <a:t>In the worst-case scenario, the Horizontal Pod </a:t>
            </a:r>
            <a:r>
              <a:rPr lang="en-US" b="1" i="1" dirty="0" err="1">
                <a:solidFill>
                  <a:srgbClr val="FF0000"/>
                </a:solidFill>
              </a:rPr>
              <a:t>Autoscaler</a:t>
            </a:r>
            <a:r>
              <a:rPr lang="en-US" b="1" i="1" dirty="0">
                <a:solidFill>
                  <a:srgbClr val="FF0000"/>
                </a:solidFill>
              </a:rPr>
              <a:t> can take up to 1 minute and a half to trigger the autoscaling (i.e. 10s + 60s + 15s).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CCE6C1D-27E0-1D0D-3EFD-8B8A6FADD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9800" y="3997217"/>
            <a:ext cx="7772400" cy="360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66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CAF90-360F-FBB5-3D76-EB7F2CC55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</a:t>
            </a:r>
            <a:r>
              <a:rPr lang="en-US" dirty="0" err="1"/>
              <a:t>Autoscaler</a:t>
            </a:r>
            <a:r>
              <a:rPr lang="en-US" dirty="0"/>
              <a:t> reaction time.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9B002-8583-015F-765C-31CDD3DA5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9862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The Cluster </a:t>
            </a:r>
            <a:r>
              <a:rPr lang="en-US" b="1" dirty="0" err="1"/>
              <a:t>Autoscaler</a:t>
            </a:r>
            <a:r>
              <a:rPr lang="en-US" b="1" dirty="0"/>
              <a:t> checks for </a:t>
            </a:r>
            <a:r>
              <a:rPr lang="en-US" b="1" dirty="0" err="1"/>
              <a:t>unschedulable</a:t>
            </a:r>
            <a:r>
              <a:rPr lang="en-US" b="1" dirty="0"/>
              <a:t> Pods in the cluster every 10 seconds.</a:t>
            </a:r>
          </a:p>
          <a:p>
            <a:r>
              <a:rPr lang="en-US" dirty="0"/>
              <a:t>Once one or more Pods are detected, it will run an algorithm to decide:</a:t>
            </a:r>
          </a:p>
          <a:p>
            <a:pPr lvl="1"/>
            <a:r>
              <a:rPr lang="en-US" dirty="0"/>
              <a:t>How many nodes are necessary to deploy all pending Pods.</a:t>
            </a:r>
          </a:p>
          <a:p>
            <a:pPr lvl="1"/>
            <a:r>
              <a:rPr lang="en-US" dirty="0"/>
              <a:t>What type of node group should be created.</a:t>
            </a:r>
          </a:p>
          <a:p>
            <a:r>
              <a:rPr lang="en-US" dirty="0"/>
              <a:t>The entire process should take:</a:t>
            </a:r>
          </a:p>
          <a:p>
            <a:pPr lvl="1"/>
            <a:r>
              <a:rPr lang="en-US" dirty="0"/>
              <a:t>No more than 30 seconds on clusters with less than 100 nodes with up to 30 pods each. The average latency should be about 5 seconds.</a:t>
            </a:r>
          </a:p>
          <a:p>
            <a:pPr lvl="1"/>
            <a:r>
              <a:rPr lang="en-US" dirty="0"/>
              <a:t>No more than 60 seconds on cluster with 100 to 1000 nodes. The average latency should be about 15 seconds.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3507C2-1A0E-06AF-FD5C-F4CAE1260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2862" y="4098114"/>
            <a:ext cx="7772400" cy="360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811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9F4B3-5F1A-A42F-1301-5262F3C74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provisioning time.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DCBD4-4FE5-7903-298C-2BE8062C5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depends mainly on the cloud provider.</a:t>
            </a:r>
          </a:p>
          <a:p>
            <a:r>
              <a:rPr lang="en-US" b="1" i="1" dirty="0"/>
              <a:t>It's pretty standard for a new compute resource to be provisioned in 3 to 5 minutes.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3CA0A1-CACD-FB85-4313-3744685E6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0277" y="3256788"/>
            <a:ext cx="7772400" cy="360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443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0FF4E-8AD0-9F03-25B5-51277E426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Pod creation time.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36358-BE6E-DA7B-C34D-42774C223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62596"/>
          </a:xfrm>
        </p:spPr>
        <p:txBody>
          <a:bodyPr>
            <a:normAutofit/>
          </a:bodyPr>
          <a:lstStyle/>
          <a:p>
            <a:r>
              <a:rPr lang="en-US" dirty="0"/>
              <a:t>The Pod has to be created by the container runtime.</a:t>
            </a:r>
          </a:p>
          <a:p>
            <a:r>
              <a:rPr lang="en-US" b="1" i="1" dirty="0"/>
              <a:t>Launching a container shouldn't take more than few milliseconds, but downloading the container image could take several seconds.</a:t>
            </a:r>
          </a:p>
          <a:p>
            <a:pPr lvl="1"/>
            <a:r>
              <a:rPr lang="en-US" dirty="0"/>
              <a:t>If you're not caching your container images, downloading an image from the container registry could take from a couple of seconds up to a minute, depending on the size and number of layers.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9200F4D-CEDB-AD52-DBE8-38C1361D6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9800" y="3652334"/>
            <a:ext cx="7772400" cy="360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2262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1AE69-D80B-B695-F5F6-8FA9A4FD4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 the total timing for trigger the autoscaling when there is no space in the current cluster 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BFC71-F5B1-3447-6BA0-7A38CB144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Horizontal Pod </a:t>
            </a:r>
            <a:r>
              <a:rPr lang="en-US" dirty="0" err="1"/>
              <a:t>Autoscaler</a:t>
            </a:r>
            <a:r>
              <a:rPr lang="en-US" dirty="0"/>
              <a:t> might take up to 1m30s to increase the number of replicas.</a:t>
            </a:r>
          </a:p>
          <a:p>
            <a:r>
              <a:rPr lang="en-US" dirty="0"/>
              <a:t>The Cluster </a:t>
            </a:r>
            <a:r>
              <a:rPr lang="en-US" dirty="0" err="1"/>
              <a:t>Autoscaler</a:t>
            </a:r>
            <a:r>
              <a:rPr lang="en-US" dirty="0"/>
              <a:t> should take less than 30 seconds for a cluster with less than 100 nodes and less than a minute for a cluster with more than 100 nodes.</a:t>
            </a:r>
          </a:p>
          <a:p>
            <a:r>
              <a:rPr lang="en-US" dirty="0"/>
              <a:t>The cloud provider might take 3 to 5 minutes to create the computer resource.</a:t>
            </a:r>
          </a:p>
          <a:p>
            <a:r>
              <a:rPr lang="en-US" dirty="0"/>
              <a:t>The container runtime could take up to 30 seconds to download the container image.</a:t>
            </a:r>
          </a:p>
          <a:p>
            <a:endParaRPr lang="en-US" dirty="0"/>
          </a:p>
          <a:p>
            <a:r>
              <a:rPr lang="en-US" dirty="0"/>
              <a:t>In the worse case, with a small cluster, you have to wait </a:t>
            </a:r>
            <a:r>
              <a:rPr lang="en-US" b="1" i="1" dirty="0"/>
              <a:t>6m30s</a:t>
            </a:r>
          </a:p>
        </p:txBody>
      </p:sp>
    </p:spTree>
    <p:extLst>
      <p:ext uri="{BB962C8B-B14F-4D97-AF65-F5344CB8AC3E}">
        <p14:creationId xmlns:p14="http://schemas.microsoft.com/office/powerpoint/2010/main" val="4167225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70139-74DB-E4D3-DCEC-054824FE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a cluster with more than 100 nodes…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EC5A4-6655-BAB9-1C45-7A83CF266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total delay could be up to 7 minutes!</a:t>
            </a:r>
          </a:p>
          <a:p>
            <a:endParaRPr lang="en-US" dirty="0"/>
          </a:p>
          <a:p>
            <a:r>
              <a:rPr lang="en-US" b="1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Are you happy to wait for 7 minutes before you have more Pods to handle a sudden surge in traffic?</a:t>
            </a:r>
          </a:p>
          <a:p>
            <a:endParaRPr lang="en-US" b="1" i="1" dirty="0">
              <a:solidFill>
                <a:schemeClr val="bg2">
                  <a:lumMod val="50000"/>
                  <a:lumOff val="50000"/>
                </a:schemeClr>
              </a:solidFill>
            </a:endParaRPr>
          </a:p>
          <a:p>
            <a:r>
              <a:rPr lang="en-US" b="1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How can you tune the autoscaling to reduce the 7 minutes scaling time if you need a new node?</a:t>
            </a:r>
          </a:p>
        </p:txBody>
      </p:sp>
    </p:spTree>
    <p:extLst>
      <p:ext uri="{BB962C8B-B14F-4D97-AF65-F5344CB8AC3E}">
        <p14:creationId xmlns:p14="http://schemas.microsoft.com/office/powerpoint/2010/main" val="473435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5DDF2-9CA6-FC25-9356-9F3098CA1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could change…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C56D6-A512-BEF1-2F3A-45002FFE3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refresh time for the Horizontal Pod </a:t>
            </a:r>
            <a:r>
              <a:rPr lang="en-US" dirty="0" err="1"/>
              <a:t>Autoscaler</a:t>
            </a:r>
            <a:r>
              <a:rPr lang="en-US" dirty="0"/>
              <a:t> (controlled by the --horizontal-pod-</a:t>
            </a:r>
            <a:r>
              <a:rPr lang="en-US" dirty="0" err="1"/>
              <a:t>autoscaler</a:t>
            </a:r>
            <a:r>
              <a:rPr lang="en-US" dirty="0"/>
              <a:t>-sync-period flag, default is 15 seconds).</a:t>
            </a:r>
          </a:p>
          <a:p>
            <a:r>
              <a:rPr lang="en-US" dirty="0"/>
              <a:t>The interval for metrics scraping in the Metrics Server (controlled by the metric-resolution flag, default 60 seconds).</a:t>
            </a:r>
          </a:p>
          <a:p>
            <a:r>
              <a:rPr lang="en-US" dirty="0"/>
              <a:t>How frequently the cluster </a:t>
            </a:r>
            <a:r>
              <a:rPr lang="en-US" dirty="0" err="1"/>
              <a:t>autoscaler</a:t>
            </a:r>
            <a:r>
              <a:rPr lang="en-US" dirty="0"/>
              <a:t> scans for unscheduled Pods (controlled by the scan-interval flag, default 10 seconds).</a:t>
            </a:r>
          </a:p>
          <a:p>
            <a:r>
              <a:rPr lang="en-US" dirty="0"/>
              <a:t>How you cache the image on the local node (with a tool such as </a:t>
            </a:r>
            <a:r>
              <a:rPr lang="en-US" dirty="0" err="1"/>
              <a:t>kube</a:t>
            </a:r>
            <a:r>
              <a:rPr lang="en-US" dirty="0"/>
              <a:t>-fledged).</a:t>
            </a:r>
          </a:p>
          <a:p>
            <a:endParaRPr lang="en-US" dirty="0"/>
          </a:p>
          <a:p>
            <a:r>
              <a:rPr lang="en-US" b="1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But even if you were to tune those settings to a tiny number, you will still be limited by the cloud provider provisioning time.</a:t>
            </a:r>
          </a:p>
        </p:txBody>
      </p:sp>
    </p:spTree>
    <p:extLst>
      <p:ext uri="{BB962C8B-B14F-4D97-AF65-F5344CB8AC3E}">
        <p14:creationId xmlns:p14="http://schemas.microsoft.com/office/powerpoint/2010/main" val="2463753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2B4D3-C814-9BFD-0113-C56DAD23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So, how could you fix that?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23FF0-1D86-12D5-D6BB-40246FD95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you can't change the provisioning time, you will need a workaround this time.</a:t>
            </a:r>
          </a:p>
          <a:p>
            <a:endParaRPr lang="en-US" dirty="0"/>
          </a:p>
          <a:p>
            <a:r>
              <a:rPr lang="en-US" dirty="0"/>
              <a:t>You could try two things:</a:t>
            </a:r>
          </a:p>
          <a:p>
            <a:pPr lvl="1"/>
            <a:r>
              <a:rPr lang="en-US" b="1" dirty="0"/>
              <a:t>Avoid creating new nodes</a:t>
            </a:r>
            <a:r>
              <a:rPr lang="en-US" dirty="0"/>
              <a:t>, if possible.</a:t>
            </a:r>
          </a:p>
          <a:p>
            <a:pPr lvl="1"/>
            <a:r>
              <a:rPr lang="en-US" b="1" dirty="0"/>
              <a:t>Creating nodes proactively </a:t>
            </a:r>
            <a:r>
              <a:rPr lang="en-US" dirty="0"/>
              <a:t>so that they are already provisioned when you need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6559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C34A9-0689-7323-7730-CFDBA7044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Avoid creating new nodes - Choosing the optimal instance size for a Kubernetes node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6545-C3A7-D122-A160-80D4FFD34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24752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Choosing the right instance type for your cluster has dramatic consequences on your scaling strategy.</a:t>
            </a:r>
          </a:p>
          <a:p>
            <a:r>
              <a:rPr lang="en-US" i="1" dirty="0"/>
              <a:t>Consider the following scenario.</a:t>
            </a:r>
          </a:p>
          <a:p>
            <a:pPr lvl="1"/>
            <a:r>
              <a:rPr lang="en-US" dirty="0"/>
              <a:t>You have an application that requests 1GB of memory and 0.1 vCPU.</a:t>
            </a:r>
          </a:p>
          <a:p>
            <a:pPr lvl="1"/>
            <a:r>
              <a:rPr lang="en-US" dirty="0"/>
              <a:t>You provision a node that has 4GB of memory and 1 vCPU.</a:t>
            </a:r>
          </a:p>
          <a:p>
            <a:r>
              <a:rPr lang="en-US" dirty="0"/>
              <a:t>After reserving memory and CPU for the </a:t>
            </a:r>
            <a:r>
              <a:rPr lang="en-US" dirty="0" err="1"/>
              <a:t>kubelet</a:t>
            </a:r>
            <a:r>
              <a:rPr lang="en-US" dirty="0"/>
              <a:t>, operating system and eviction threshold, you are left with ~2.5GB of memory and 0.7 vCPU that can be used for running Pods.</a:t>
            </a:r>
          </a:p>
          <a:p>
            <a:pPr lvl="1"/>
            <a:r>
              <a:rPr lang="en-US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Your node has space for only two Pods!</a:t>
            </a:r>
          </a:p>
          <a:p>
            <a:pPr lvl="1"/>
            <a:r>
              <a:rPr lang="en-US" dirty="0"/>
              <a:t>Every time you scale your replicas, you are likely to incur in up to 7 minutes delay (the lead time to trigger the Horizontal Pod </a:t>
            </a:r>
            <a:r>
              <a:rPr lang="en-US" dirty="0" err="1"/>
              <a:t>Autoscaler</a:t>
            </a:r>
            <a:r>
              <a:rPr lang="en-US" dirty="0"/>
              <a:t>, Cluster </a:t>
            </a:r>
            <a:r>
              <a:rPr lang="en-US" dirty="0" err="1"/>
              <a:t>Autoscaler</a:t>
            </a:r>
            <a:r>
              <a:rPr lang="en-US" dirty="0"/>
              <a:t> and provisioning the compute resource on the cloud provider).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0F02AC7-109B-4D01-DD23-B0F76344B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7471" y="2076094"/>
            <a:ext cx="5647741" cy="423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676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F955C-0DFA-67C9-7A04-83A4EAA8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Let's have a look at what happens if you decide to use </a:t>
            </a:r>
            <a:r>
              <a:rPr lang="en-US" b="1" dirty="0"/>
              <a:t>a 64GB memory and 16 vCPU node </a:t>
            </a:r>
            <a:r>
              <a:rPr lang="en-US" dirty="0"/>
              <a:t>instead.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69281-6615-A78C-0CDF-FDB4783E3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1033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After reserving memory and CPU for the </a:t>
            </a:r>
            <a:r>
              <a:rPr lang="en-US" dirty="0" err="1"/>
              <a:t>kubelet</a:t>
            </a:r>
            <a:r>
              <a:rPr lang="en-US" dirty="0"/>
              <a:t>, operating system and eviction threshold</a:t>
            </a:r>
          </a:p>
          <a:p>
            <a:pPr lvl="1"/>
            <a:r>
              <a:rPr lang="en-US" dirty="0"/>
              <a:t>you are left with ~58.32GB of memory and 15.8 vCPU that can be used for running Pods.</a:t>
            </a:r>
          </a:p>
          <a:p>
            <a:r>
              <a:rPr lang="en-US" b="1" i="1" dirty="0"/>
              <a:t>The available space can host 58 Pods, and you are likely to need a new node only when you have more than 58 replicas.</a:t>
            </a:r>
          </a:p>
          <a:p>
            <a:r>
              <a:rPr lang="en-US" dirty="0"/>
              <a:t>Also, every time a node is added to the cluster, several pods can be deployed.</a:t>
            </a:r>
          </a:p>
          <a:p>
            <a:r>
              <a:rPr lang="en-US" b="1" i="1" dirty="0"/>
              <a:t>There is less chance to trigger again the Cluster </a:t>
            </a:r>
            <a:r>
              <a:rPr lang="en-US" b="1" i="1" dirty="0" err="1"/>
              <a:t>Autoscaler</a:t>
            </a:r>
            <a:r>
              <a:rPr lang="en-US" b="1" i="1" dirty="0"/>
              <a:t> (and provisioning new compute units on the cloud provider).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4E999BD-A066-4038-A37C-38A32D5B4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33653" y="1640239"/>
            <a:ext cx="5846634" cy="438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384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5B118-E6D6-5D5E-1971-B04A7B93C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large instance types also has another benefit.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1DD0E-5D25-F926-DEC4-1144FDE1C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The ratio between resource reserved for </a:t>
            </a:r>
            <a:r>
              <a:rPr lang="en-US" b="1" dirty="0" err="1"/>
              <a:t>Kubelet</a:t>
            </a:r>
            <a:r>
              <a:rPr lang="en-US" b="1" dirty="0"/>
              <a:t>, operating system and eviction threshold and available resources to run Pods is greater.</a:t>
            </a:r>
          </a:p>
          <a:p>
            <a:r>
              <a:rPr lang="en-US" dirty="0"/>
              <a:t>Have a look at this graph that pictures the memory available to pods…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As the instance size increase, you can notice that (in proportion) the resources available to pods increase.</a:t>
            </a:r>
          </a:p>
          <a:p>
            <a:r>
              <a:rPr lang="en-US" dirty="0"/>
              <a:t>In other words, you are </a:t>
            </a:r>
            <a:r>
              <a:rPr lang="en-US" dirty="0" err="1"/>
              <a:t>utilising</a:t>
            </a:r>
            <a:r>
              <a:rPr lang="en-US" dirty="0"/>
              <a:t> your resources more efficiently than having two instances of half of the size.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16ABE7A-B7C1-9D7B-9801-ABC7ECAA2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4591" y="2193324"/>
            <a:ext cx="4577950" cy="343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630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6CA81-3BBC-EEEE-C158-EAA2E2ED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Should you select the biggest instance all the time?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23DD1-6615-C913-B99D-0CD77EFCC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Choosing a larger instance type is not always a good option</a:t>
            </a:r>
            <a:r>
              <a:rPr lang="en-US" dirty="0"/>
              <a:t>. You should also consider:</a:t>
            </a:r>
          </a:p>
          <a:p>
            <a:pPr lvl="1"/>
            <a:r>
              <a:rPr lang="en-US" dirty="0"/>
              <a:t>Blast radius — if you have only </a:t>
            </a:r>
            <a:r>
              <a:rPr lang="en-US" b="1" dirty="0"/>
              <a:t>a few large </a:t>
            </a:r>
            <a:r>
              <a:rPr lang="en-US" dirty="0"/>
              <a:t>nodes, then the impact of a failing node is bigger than if you have </a:t>
            </a:r>
            <a:r>
              <a:rPr lang="en-US" b="1" dirty="0"/>
              <a:t>many small </a:t>
            </a:r>
            <a:r>
              <a:rPr lang="en-US" dirty="0"/>
              <a:t>nodes.</a:t>
            </a:r>
          </a:p>
          <a:p>
            <a:pPr lvl="1"/>
            <a:r>
              <a:rPr lang="en-US" dirty="0"/>
              <a:t>Autoscaling is less cost-effective as the next increment is a (very) </a:t>
            </a:r>
            <a:r>
              <a:rPr lang="en-US" b="1" dirty="0"/>
              <a:t>large</a:t>
            </a:r>
            <a:r>
              <a:rPr lang="en-US" dirty="0"/>
              <a:t> node</a:t>
            </a:r>
          </a:p>
          <a:p>
            <a:pPr lvl="2"/>
            <a:r>
              <a:rPr lang="en-US" dirty="0"/>
              <a:t>You might still face a delay in provisioning the new </a:t>
            </a:r>
            <a:r>
              <a:rPr lang="en-US" b="1" dirty="0"/>
              <a:t>LARGE</a:t>
            </a:r>
            <a:r>
              <a:rPr lang="en-US" dirty="0"/>
              <a:t> compute unit.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7005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672C4-6B2F-9D82-97A1-D6AFAC6D3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you work around that?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BFF3D-4560-C05B-BD70-79A5FB25E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What if instead of creating a new node when it's time to scale, you create the same node ahead of time?</a:t>
            </a:r>
          </a:p>
          <a:p>
            <a:pPr lvl="1"/>
            <a:r>
              <a:rPr lang="en-US" dirty="0"/>
              <a:t>Creating nodes proactively</a:t>
            </a:r>
          </a:p>
        </p:txBody>
      </p:sp>
    </p:spTree>
    <p:extLst>
      <p:ext uri="{BB962C8B-B14F-4D97-AF65-F5344CB8AC3E}">
        <p14:creationId xmlns:p14="http://schemas.microsoft.com/office/powerpoint/2010/main" val="10023868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45028-E4D1-9DE7-E89B-EE99846A9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Overprovisioning nodes in your Kubernetes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BAFC1-D7D8-C5C0-CA90-C1B0A43E7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96499"/>
          </a:xfrm>
        </p:spPr>
        <p:txBody>
          <a:bodyPr>
            <a:normAutofit/>
          </a:bodyPr>
          <a:lstStyle/>
          <a:p>
            <a:r>
              <a:rPr lang="en-US" dirty="0"/>
              <a:t>If you can afford to have a spare node available at all times, you could:</a:t>
            </a:r>
          </a:p>
          <a:p>
            <a:pPr lvl="1"/>
            <a:r>
              <a:rPr lang="en-US" dirty="0"/>
              <a:t>Create a node and leave it empty.</a:t>
            </a:r>
          </a:p>
          <a:p>
            <a:pPr lvl="1"/>
            <a:r>
              <a:rPr lang="en-US" dirty="0"/>
              <a:t>As soon as there's a Pod in the empty node, you create another empty node.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02BD7-6B6D-D8A2-8BD3-8836F51E5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9145" y="4434250"/>
            <a:ext cx="3382377" cy="253678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46E59E9-35BC-12B2-2D8D-2EBEFCD80D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7687" y="4429896"/>
            <a:ext cx="3382377" cy="253678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BF747DA-51C7-52AE-F1E6-084F0FFD71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478" y="4429896"/>
            <a:ext cx="3382377" cy="2536783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3A9A8AFA-2FDC-CE10-D9C7-6A0A01A6F5D8}"/>
              </a:ext>
            </a:extLst>
          </p:cNvPr>
          <p:cNvSpPr/>
          <p:nvPr/>
        </p:nvSpPr>
        <p:spPr>
          <a:xfrm>
            <a:off x="2835876" y="5393724"/>
            <a:ext cx="525162" cy="4324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A206B5C1-FECD-8B27-8666-2FBFCE4940DF}"/>
              </a:ext>
            </a:extLst>
          </p:cNvPr>
          <p:cNvSpPr/>
          <p:nvPr/>
        </p:nvSpPr>
        <p:spPr>
          <a:xfrm>
            <a:off x="7158681" y="5393723"/>
            <a:ext cx="525162" cy="4324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74E902-244C-A830-9516-9603684E2277}"/>
              </a:ext>
            </a:extLst>
          </p:cNvPr>
          <p:cNvSpPr txBox="1"/>
          <p:nvPr/>
        </p:nvSpPr>
        <p:spPr>
          <a:xfrm>
            <a:off x="8105004" y="4022124"/>
            <a:ext cx="40869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-apple-system"/>
              </a:rPr>
              <a:t>Since creating the Node happens in the background, you will likely not notice the lead time to provision a cloud machine.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C466E6-AA98-0636-481E-07385E99C48E}"/>
              </a:ext>
            </a:extLst>
          </p:cNvPr>
          <p:cNvSpPr txBox="1"/>
          <p:nvPr/>
        </p:nvSpPr>
        <p:spPr>
          <a:xfrm>
            <a:off x="3942835" y="4062621"/>
            <a:ext cx="32158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-apple-system"/>
              </a:rPr>
              <a:t>As soon as a Pod is created in the empty node, the Cluster </a:t>
            </a:r>
            <a:r>
              <a:rPr lang="en-US" b="0" i="0" dirty="0" err="1">
                <a:effectLst/>
                <a:latin typeface="-apple-system"/>
              </a:rPr>
              <a:t>Autoscaler</a:t>
            </a:r>
            <a:r>
              <a:rPr lang="en-US" b="0" i="0" dirty="0">
                <a:effectLst/>
                <a:latin typeface="-apple-system"/>
              </a:rPr>
              <a:t> creates a new node.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CDBCA5-7FBA-AE26-242F-F0802FDAE349}"/>
              </a:ext>
            </a:extLst>
          </p:cNvPr>
          <p:cNvSpPr txBox="1"/>
          <p:nvPr/>
        </p:nvSpPr>
        <p:spPr>
          <a:xfrm>
            <a:off x="40017" y="4022124"/>
            <a:ext cx="33950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-apple-system"/>
              </a:rPr>
              <a:t>When you decide to overprovision a cluster, a node is always empty and ready to deploy Pods.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7966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4B43A-F1DB-CB1B-BE7D-29C43E8F6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It's a trade-off: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8528A-9B1A-0FAF-B9A1-0182BF68B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incur </a:t>
            </a:r>
            <a:r>
              <a:rPr lang="en-US" b="1" dirty="0"/>
              <a:t>an extra cost </a:t>
            </a:r>
            <a:r>
              <a:rPr lang="en-US" dirty="0"/>
              <a:t>(one empty node available at all times), but you gain in speed.</a:t>
            </a:r>
          </a:p>
          <a:p>
            <a:r>
              <a:rPr lang="en-US" dirty="0"/>
              <a:t>With this strategy, you can scale your cluster much quicker. But there's </a:t>
            </a:r>
            <a:r>
              <a:rPr lang="en-US" b="1" dirty="0"/>
              <a:t>bad </a:t>
            </a:r>
            <a:r>
              <a:rPr lang="en-US" dirty="0"/>
              <a:t>and </a:t>
            </a:r>
            <a:r>
              <a:rPr lang="en-US" b="1" dirty="0"/>
              <a:t>good </a:t>
            </a:r>
            <a:r>
              <a:rPr lang="en-US" dirty="0"/>
              <a:t>news.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bad</a:t>
            </a:r>
            <a:r>
              <a:rPr lang="en-US" dirty="0"/>
              <a:t> news is that the Cluster </a:t>
            </a:r>
            <a:r>
              <a:rPr lang="en-US" dirty="0" err="1"/>
              <a:t>Autoscaler</a:t>
            </a:r>
            <a:r>
              <a:rPr lang="en-US" dirty="0"/>
              <a:t> doesn't have this functionality built-in.</a:t>
            </a:r>
          </a:p>
          <a:p>
            <a:pPr lvl="2"/>
            <a:r>
              <a:rPr lang="en-US" dirty="0"/>
              <a:t>It cannot be configured to be proactive, and there is </a:t>
            </a:r>
            <a:r>
              <a:rPr lang="en-US" u="sng" dirty="0"/>
              <a:t>no flag </a:t>
            </a:r>
            <a:r>
              <a:rPr lang="en-US" dirty="0"/>
              <a:t>to "always provision an empty node".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good</a:t>
            </a:r>
            <a:r>
              <a:rPr lang="en-US" dirty="0"/>
              <a:t> news is that you can still </a:t>
            </a:r>
            <a:r>
              <a:rPr lang="en-US" b="1" i="1" dirty="0"/>
              <a:t>fake (?)</a:t>
            </a:r>
            <a:r>
              <a:rPr lang="en-US" dirty="0"/>
              <a:t> it.</a:t>
            </a:r>
          </a:p>
        </p:txBody>
      </p:sp>
    </p:spTree>
    <p:extLst>
      <p:ext uri="{BB962C8B-B14F-4D97-AF65-F5344CB8AC3E}">
        <p14:creationId xmlns:p14="http://schemas.microsoft.com/office/powerpoint/2010/main" val="10582619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01769-D598-11E9-8F66-CB2A57441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fake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F8D0E-D265-44A9-8716-A335DE88B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89175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/>
              <a:t>You could run a “dummy” Pod with enough </a:t>
            </a:r>
            <a:r>
              <a:rPr lang="en-US" b="1" i="1" u="sng" dirty="0"/>
              <a:t>requested resources</a:t>
            </a:r>
            <a:r>
              <a:rPr lang="en-US" b="1" i="1" dirty="0"/>
              <a:t> to reserve an entire node</a:t>
            </a:r>
            <a:r>
              <a:rPr lang="en-US" dirty="0"/>
              <a:t>.</a:t>
            </a:r>
          </a:p>
          <a:p>
            <a:r>
              <a:rPr lang="en-US" dirty="0"/>
              <a:t>You could think about this Pod as a placeholder — it is meant to reserve space, not use any resource.</a:t>
            </a:r>
          </a:p>
          <a:p>
            <a:r>
              <a:rPr lang="en-US" dirty="0"/>
              <a:t>As soon as a real Pod is created, you could </a:t>
            </a:r>
            <a:r>
              <a:rPr lang="en-US" b="1" u="sng" dirty="0"/>
              <a:t>evict</a:t>
            </a:r>
            <a:r>
              <a:rPr lang="en-US" dirty="0"/>
              <a:t> the placeholder Pod and deploy the real Pod.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5ED13C3-D911-2D3E-A703-E9A364003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5823" y="4219832"/>
            <a:ext cx="3772929" cy="282969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AFA8A42-019C-2B46-72A5-B280EEAE8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07360" y="4028303"/>
            <a:ext cx="3772929" cy="282969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794C94C-8B3D-595E-BC59-5AA38F90FF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508" y="4028302"/>
            <a:ext cx="3772929" cy="2829697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9DE4E201-1BA4-BEE7-C5B6-D52FF0F31624}"/>
              </a:ext>
            </a:extLst>
          </p:cNvPr>
          <p:cNvSpPr/>
          <p:nvPr/>
        </p:nvSpPr>
        <p:spPr>
          <a:xfrm>
            <a:off x="3161271" y="5010663"/>
            <a:ext cx="525162" cy="4324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101BFF0C-FCF7-777C-3655-E1B791ADF8B7}"/>
              </a:ext>
            </a:extLst>
          </p:cNvPr>
          <p:cNvSpPr/>
          <p:nvPr/>
        </p:nvSpPr>
        <p:spPr>
          <a:xfrm>
            <a:off x="7361537" y="5010663"/>
            <a:ext cx="525162" cy="4324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3054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31104-D107-7C95-F963-3BC97AD3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details…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D3E1C-4ACD-3401-F247-1B4B38604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71519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Overprovisioning can be configured using k8s deployment running a pod that </a:t>
            </a:r>
            <a:r>
              <a:rPr lang="en-US" b="1" u="sng" dirty="0"/>
              <a:t>sleeps forever</a:t>
            </a:r>
            <a:r>
              <a:rPr lang="en-US" dirty="0"/>
              <a:t>.</a:t>
            </a:r>
          </a:p>
          <a:p>
            <a:r>
              <a:rPr lang="en-US" b="1" i="1" dirty="0"/>
              <a:t>You should pay extra attention to the memory and CPU requests.</a:t>
            </a:r>
            <a:endParaRPr lang="en-US" dirty="0"/>
          </a:p>
          <a:p>
            <a:pPr lvl="1"/>
            <a:r>
              <a:rPr lang="en-US" dirty="0"/>
              <a:t>The scheduler uses those values to decide where to deploy a Pod.</a:t>
            </a:r>
          </a:p>
          <a:p>
            <a:pPr lvl="1"/>
            <a:r>
              <a:rPr lang="en-US" dirty="0"/>
              <a:t>In this particular case, they are used to reserve the space.</a:t>
            </a:r>
          </a:p>
          <a:p>
            <a:endParaRPr lang="en-US" dirty="0"/>
          </a:p>
          <a:p>
            <a:r>
              <a:rPr lang="en-US" dirty="0"/>
              <a:t>You could provision a single large pod that has roughly the requests matching the available node resources.</a:t>
            </a:r>
          </a:p>
          <a:p>
            <a:r>
              <a:rPr lang="en-US" b="1" i="1" dirty="0"/>
              <a:t>Please make sure that you account for resources consumed by the </a:t>
            </a:r>
            <a:r>
              <a:rPr lang="en-US" b="1" i="1" dirty="0" err="1"/>
              <a:t>kubelet</a:t>
            </a:r>
            <a:r>
              <a:rPr lang="en-US" b="1" i="1" dirty="0"/>
              <a:t>, operating system, </a:t>
            </a:r>
            <a:r>
              <a:rPr lang="en-US" b="1" i="1" dirty="0" err="1"/>
              <a:t>kube</a:t>
            </a:r>
            <a:r>
              <a:rPr lang="en-US" b="1" i="1" dirty="0"/>
              <a:t>-proxy, etc</a:t>
            </a:r>
            <a:r>
              <a:rPr lang="en-US" dirty="0"/>
              <a:t>. (Next)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EDB1C39-274E-8907-B648-012EBC2C4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531" y="1892302"/>
            <a:ext cx="4973751" cy="393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835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0F48-FDDF-40D8-AA2B-FF4A42D9B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E5027-3ACA-D892-6D2D-7D5C195D7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your node instance is 2 vCPU and 8GB of memory and the available space for pods is 1.73 vCPU and ~5.9GB of memory, your pause pod should match the latter.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7345422-E7BF-7F35-958A-C7C815992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0568" y="2545491"/>
            <a:ext cx="6133071" cy="45998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D97764-458D-B424-255F-DF9A3E774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249" y="82487"/>
            <a:ext cx="6821214" cy="167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9394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618B9-65B4-EAA2-41D9-2860A18BC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Pod Priority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3F85E-C76B-A838-DF5E-2FC88442A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Pod Priority indicates the importance of a Pod relative to other Pods.</a:t>
            </a:r>
          </a:p>
          <a:p>
            <a:r>
              <a:rPr lang="en-US" dirty="0"/>
              <a:t>To make sure that the placeholder Pod is evicted </a:t>
            </a:r>
            <a:r>
              <a:rPr lang="en-US" b="1" u="sng" dirty="0"/>
              <a:t>as soon as </a:t>
            </a:r>
            <a:r>
              <a:rPr lang="en-US" dirty="0"/>
              <a:t>a real Pod is created, you can use Priorities and Preemptions.</a:t>
            </a:r>
          </a:p>
          <a:p>
            <a:pPr lvl="1"/>
            <a:r>
              <a:rPr lang="en-US" dirty="0"/>
              <a:t>When a Pod cannot be scheduled, the scheduler tries to preempt (evict) lower priority Pods to schedule the Pending pod.</a:t>
            </a:r>
          </a:p>
          <a:p>
            <a:pPr lvl="1"/>
            <a:r>
              <a:rPr lang="en-US" dirty="0"/>
              <a:t>You can configure Pod Priorities in your cluster with a </a:t>
            </a:r>
            <a:r>
              <a:rPr lang="en-US" b="1" i="1" dirty="0" err="1"/>
              <a:t>PodPriorityClass</a:t>
            </a:r>
            <a:r>
              <a:rPr lang="en-US" dirty="0"/>
              <a:t>: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CAFB5CB-56CD-1004-78FD-192EDDF4C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048" y="4464046"/>
            <a:ext cx="6291649" cy="216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6976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10035-57F6-A86A-3BD6-C10881E42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Pod Priority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4DF42-3EA4-39F1-0040-736DC543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0198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Since the default priority for a Pod is 0 and the overprovisioning </a:t>
            </a:r>
            <a:r>
              <a:rPr lang="en-US" dirty="0" err="1"/>
              <a:t>PriorityClass</a:t>
            </a:r>
            <a:r>
              <a:rPr lang="en-US" dirty="0"/>
              <a:t> has a value of -1, those Pods tagged with “overprovisioning” </a:t>
            </a:r>
            <a:r>
              <a:rPr lang="en-US" dirty="0" err="1"/>
              <a:t>PriorityClass</a:t>
            </a:r>
            <a:r>
              <a:rPr lang="en-US" dirty="0"/>
              <a:t> are the first to be evicted when the cluster runs out of space.</a:t>
            </a:r>
          </a:p>
          <a:p>
            <a:r>
              <a:rPr lang="en-US" dirty="0" err="1"/>
              <a:t>PriorityClass</a:t>
            </a:r>
            <a:r>
              <a:rPr lang="en-US" dirty="0"/>
              <a:t> also has two optional fields: </a:t>
            </a:r>
            <a:r>
              <a:rPr lang="en-US" b="1" dirty="0" err="1"/>
              <a:t>globalDefault</a:t>
            </a:r>
            <a:r>
              <a:rPr lang="en-US" dirty="0"/>
              <a:t> and </a:t>
            </a:r>
            <a:r>
              <a:rPr lang="en-US" b="1" dirty="0"/>
              <a:t>description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globalDefault</a:t>
            </a:r>
            <a:r>
              <a:rPr lang="en-US" dirty="0"/>
              <a:t> field indicates that the value of this </a:t>
            </a:r>
            <a:r>
              <a:rPr lang="en-US" dirty="0" err="1"/>
              <a:t>PriorityClass</a:t>
            </a:r>
            <a:r>
              <a:rPr lang="en-US" dirty="0"/>
              <a:t> should be used for Pods without a </a:t>
            </a:r>
            <a:r>
              <a:rPr lang="en-US" dirty="0" err="1"/>
              <a:t>priorityClassName</a:t>
            </a:r>
            <a:r>
              <a:rPr lang="en-US" dirty="0"/>
              <a:t>. Only </a:t>
            </a:r>
            <a:r>
              <a:rPr lang="en-US" b="1" u="sng" dirty="0"/>
              <a:t>one</a:t>
            </a:r>
            <a:r>
              <a:rPr lang="en-US" dirty="0"/>
              <a:t> </a:t>
            </a:r>
            <a:r>
              <a:rPr lang="en-US" dirty="0" err="1"/>
              <a:t>PriorityClass</a:t>
            </a:r>
            <a:r>
              <a:rPr lang="en-US" dirty="0"/>
              <a:t> with </a:t>
            </a:r>
            <a:r>
              <a:rPr lang="en-US" dirty="0" err="1"/>
              <a:t>globalDefault</a:t>
            </a:r>
            <a:r>
              <a:rPr lang="en-US" dirty="0"/>
              <a:t> set to true can exist in the system.</a:t>
            </a:r>
          </a:p>
          <a:p>
            <a:pPr lvl="1"/>
            <a:r>
              <a:rPr lang="en-US" dirty="0"/>
              <a:t>The description is a human-readable memo of what the </a:t>
            </a:r>
            <a:r>
              <a:rPr lang="en-US" dirty="0" err="1"/>
              <a:t>PriorityClass</a:t>
            </a:r>
            <a:r>
              <a:rPr lang="en-US" dirty="0"/>
              <a:t> is about.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A70F6CDD-F0A2-0AA6-B466-0A5386D75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689598"/>
            <a:ext cx="6291649" cy="216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053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EDD25-9E54-8B99-FAF0-BEE50501D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assign the priority to the Pod?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E8E11-65F2-7F96-44EF-EC3B1AB47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52535" cy="4351338"/>
          </a:xfrm>
        </p:spPr>
        <p:txBody>
          <a:bodyPr/>
          <a:lstStyle/>
          <a:p>
            <a:r>
              <a:rPr lang="en-US" dirty="0"/>
              <a:t>You can assign the priority to your sleep Pod with: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08B4948-A60D-0751-C4F2-7E40BF826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95" y="2594919"/>
            <a:ext cx="4811723" cy="400976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6FF3D1-306A-969C-455F-A959E40C30D5}"/>
              </a:ext>
            </a:extLst>
          </p:cNvPr>
          <p:cNvSpPr txBox="1">
            <a:spLocks/>
          </p:cNvSpPr>
          <p:nvPr/>
        </p:nvSpPr>
        <p:spPr>
          <a:xfrm>
            <a:off x="6260757" y="1825625"/>
            <a:ext cx="53525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When there are not enough resources in the cluster, the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placeholder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pod is preempted right away, and new pods take their place.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Since the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placeholder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pod become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unschedulable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it forces the Cluster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Autoscaler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to add more nodes to the cluster.</a:t>
            </a:r>
          </a:p>
        </p:txBody>
      </p:sp>
    </p:spTree>
    <p:extLst>
      <p:ext uri="{BB962C8B-B14F-4D97-AF65-F5344CB8AC3E}">
        <p14:creationId xmlns:p14="http://schemas.microsoft.com/office/powerpoint/2010/main" val="15022092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93CC1-7FE7-304D-5041-7D20D9ECB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downscale a cluster?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874F5-F8C1-1260-48AB-2ED070A82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</a:t>
            </a:r>
            <a:r>
              <a:rPr lang="en-US" b="1" dirty="0"/>
              <a:t>10 seconds </a:t>
            </a:r>
            <a:r>
              <a:rPr lang="en-US" dirty="0"/>
              <a:t>(default value), the Cluster </a:t>
            </a:r>
            <a:r>
              <a:rPr lang="en-US" dirty="0" err="1"/>
              <a:t>Autoscaler</a:t>
            </a:r>
            <a:r>
              <a:rPr lang="en-US" dirty="0"/>
              <a:t> decides to remove a node only when the request utilization falls below </a:t>
            </a:r>
            <a:r>
              <a:rPr lang="en-US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50%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Note: Cluster </a:t>
            </a:r>
            <a:r>
              <a:rPr lang="en-US" dirty="0" err="1"/>
              <a:t>Autoscaler</a:t>
            </a:r>
            <a:r>
              <a:rPr lang="en-US" dirty="0"/>
              <a:t> only looks at requested resource of pods instead of actual CPU and memory usage (obtained from </a:t>
            </a:r>
            <a:r>
              <a:rPr lang="en-US" i="1" dirty="0"/>
              <a:t>top</a:t>
            </a:r>
            <a:r>
              <a:rPr lang="en-US" dirty="0"/>
              <a:t>, </a:t>
            </a:r>
            <a:r>
              <a:rPr lang="en-US" i="1" dirty="0" err="1"/>
              <a:t>meminfo</a:t>
            </a:r>
            <a:r>
              <a:rPr lang="en-US" dirty="0"/>
              <a:t>)</a:t>
            </a:r>
          </a:p>
          <a:p>
            <a:r>
              <a:rPr lang="en-US" dirty="0"/>
              <a:t>Graceful termination of the node</a:t>
            </a:r>
          </a:p>
          <a:p>
            <a:pPr lvl="1"/>
            <a:r>
              <a:rPr lang="en-US" dirty="0"/>
              <a:t>Mark nodes as </a:t>
            </a:r>
            <a:r>
              <a:rPr lang="en-US" dirty="0" err="1"/>
              <a:t>unschedulable</a:t>
            </a:r>
            <a:endParaRPr lang="en-US" dirty="0"/>
          </a:p>
          <a:p>
            <a:pPr lvl="1"/>
            <a:r>
              <a:rPr lang="en-US" dirty="0"/>
              <a:t>Move the running pods to another node; or wait for all pods to terminate</a:t>
            </a:r>
          </a:p>
        </p:txBody>
      </p:sp>
    </p:spTree>
    <p:extLst>
      <p:ext uri="{BB962C8B-B14F-4D97-AF65-F5344CB8AC3E}">
        <p14:creationId xmlns:p14="http://schemas.microsoft.com/office/powerpoint/2010/main" val="10504968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E676D-EF26-CA1E-7B35-B963DA026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Vertical Autoscaling</a:t>
            </a:r>
            <a:r>
              <a:rPr lang="en-US" dirty="0"/>
              <a:t>: Selecting the correct memory and CPU requests for your Pods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D261B-79EE-2DFE-E1C0-286A2B26B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cluster </a:t>
            </a:r>
            <a:r>
              <a:rPr lang="en-US" b="1" dirty="0" err="1"/>
              <a:t>autoscaler</a:t>
            </a:r>
            <a:r>
              <a:rPr lang="en-US" b="1" dirty="0"/>
              <a:t> makes scaling decisions based on the presence of pending pods (“</a:t>
            </a:r>
            <a:r>
              <a:rPr lang="en-US" b="1" dirty="0" err="1"/>
              <a:t>unschedulable</a:t>
            </a:r>
            <a:r>
              <a:rPr lang="en-US" b="1" dirty="0"/>
              <a:t>”).</a:t>
            </a:r>
          </a:p>
          <a:p>
            <a:endParaRPr lang="en-US" dirty="0"/>
          </a:p>
          <a:p>
            <a:r>
              <a:rPr lang="en-US" dirty="0"/>
              <a:t>The Kubernetes scheduler places a Pod to a Node based on its memory and CPU requests.</a:t>
            </a:r>
          </a:p>
          <a:p>
            <a:pPr lvl="1"/>
            <a:r>
              <a:rPr lang="en-US" dirty="0"/>
              <a:t>Hence, it's essential to set the correct requests on your pods, or you might be triggering your </a:t>
            </a:r>
            <a:r>
              <a:rPr lang="en-US" b="1" dirty="0"/>
              <a:t>cluster </a:t>
            </a:r>
            <a:r>
              <a:rPr lang="en-US" b="1" dirty="0" err="1"/>
              <a:t>autoscaler</a:t>
            </a:r>
            <a:r>
              <a:rPr lang="en-US" b="1" dirty="0"/>
              <a:t> </a:t>
            </a:r>
            <a:r>
              <a:rPr lang="en-US" dirty="0"/>
              <a:t>too late (or too early).</a:t>
            </a:r>
          </a:p>
        </p:txBody>
      </p:sp>
    </p:spTree>
    <p:extLst>
      <p:ext uri="{BB962C8B-B14F-4D97-AF65-F5344CB8AC3E}">
        <p14:creationId xmlns:p14="http://schemas.microsoft.com/office/powerpoint/2010/main" val="17849724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E676D-EF26-CA1E-7B35-B963DA026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the correct memory and CPU requests for your Pods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D261B-79EE-2DFE-E1C0-286A2B26B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9800" cy="4351338"/>
          </a:xfrm>
        </p:spPr>
        <p:txBody>
          <a:bodyPr/>
          <a:lstStyle/>
          <a:p>
            <a:r>
              <a:rPr lang="en-US" b="1" dirty="0"/>
              <a:t>Let's have a look at an example.</a:t>
            </a:r>
          </a:p>
          <a:p>
            <a:r>
              <a:rPr lang="en-US" dirty="0"/>
              <a:t>You decide to profile your application pod, and you found out that:</a:t>
            </a:r>
          </a:p>
          <a:p>
            <a:pPr lvl="1"/>
            <a:r>
              <a:rPr lang="en-US" b="1" dirty="0"/>
              <a:t>Under average load</a:t>
            </a:r>
            <a:r>
              <a:rPr lang="en-US" dirty="0"/>
              <a:t>, the pod consumes 512MB of memory and 0.25 vCPU.</a:t>
            </a:r>
          </a:p>
          <a:p>
            <a:pPr lvl="1"/>
            <a:r>
              <a:rPr lang="en-US" b="1" dirty="0"/>
              <a:t>At peak</a:t>
            </a:r>
            <a:r>
              <a:rPr lang="en-US" dirty="0"/>
              <a:t>, the pod should consume up to 4GB of memory and 1 vCPU.</a:t>
            </a:r>
          </a:p>
          <a:p>
            <a:endParaRPr lang="en-US" b="1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D55B2E4-D50A-2CA6-6C37-842FF7032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5421" y="2009554"/>
            <a:ext cx="4923037" cy="36922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5735A5-9648-A323-7D6A-102B3899EAD2}"/>
              </a:ext>
            </a:extLst>
          </p:cNvPr>
          <p:cNvSpPr txBox="1"/>
          <p:nvPr/>
        </p:nvSpPr>
        <p:spPr>
          <a:xfrm>
            <a:off x="1766624" y="5701832"/>
            <a:ext cx="895392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1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The </a:t>
            </a:r>
            <a:r>
              <a:rPr lang="en-US" sz="2500" b="1" i="1" u="sng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limit</a:t>
            </a:r>
            <a:r>
              <a:rPr lang="en-US" sz="2500" b="1" i="1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 for your container is 4GB of memory and 1 vCPU.</a:t>
            </a:r>
          </a:p>
        </p:txBody>
      </p:sp>
    </p:spTree>
    <p:extLst>
      <p:ext uri="{BB962C8B-B14F-4D97-AF65-F5344CB8AC3E}">
        <p14:creationId xmlns:p14="http://schemas.microsoft.com/office/powerpoint/2010/main" val="28140218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E676D-EF26-CA1E-7B35-B963DA026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the correct memory and CPU requests for your Pods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D261B-79EE-2DFE-E1C0-286A2B26B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9800" cy="4351338"/>
          </a:xfrm>
        </p:spPr>
        <p:txBody>
          <a:bodyPr>
            <a:normAutofit/>
          </a:bodyPr>
          <a:lstStyle/>
          <a:p>
            <a:r>
              <a:rPr lang="en-US" b="1" dirty="0"/>
              <a:t>How should we set the CPU and memory requests for your pods?</a:t>
            </a:r>
          </a:p>
          <a:p>
            <a:r>
              <a:rPr lang="en-US" dirty="0"/>
              <a:t>We have three options: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Set requests lower than the actual average usage.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Set requests to match the actual limits.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Be conservative and assign requests closer to the limit.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D55B2E4-D50A-2CA6-6C37-842FF7032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5421" y="2009554"/>
            <a:ext cx="4923037" cy="36922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5735A5-9648-A323-7D6A-102B3899EAD2}"/>
              </a:ext>
            </a:extLst>
          </p:cNvPr>
          <p:cNvSpPr txBox="1"/>
          <p:nvPr/>
        </p:nvSpPr>
        <p:spPr>
          <a:xfrm>
            <a:off x="1466239" y="5223817"/>
            <a:ext cx="895392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1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Which option we should use?</a:t>
            </a:r>
          </a:p>
        </p:txBody>
      </p:sp>
    </p:spTree>
    <p:extLst>
      <p:ext uri="{BB962C8B-B14F-4D97-AF65-F5344CB8AC3E}">
        <p14:creationId xmlns:p14="http://schemas.microsoft.com/office/powerpoint/2010/main" val="31007149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4123E-A1EE-5CD4-C99C-B3EF285A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Option#1: Defining requests lower than the actual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9B60D-1386-2B2E-CD8C-0288ABB16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14241" cy="4351338"/>
          </a:xfrm>
        </p:spPr>
        <p:txBody>
          <a:bodyPr/>
          <a:lstStyle/>
          <a:p>
            <a:r>
              <a:rPr lang="en-US" dirty="0"/>
              <a:t>This is </a:t>
            </a:r>
            <a:r>
              <a:rPr lang="en-US" b="1" dirty="0"/>
              <a:t>problematic </a:t>
            </a:r>
            <a:r>
              <a:rPr lang="en-US" dirty="0"/>
              <a:t>since your nodes will be often overcommitted</a:t>
            </a:r>
          </a:p>
          <a:p>
            <a:r>
              <a:rPr lang="en-US" b="1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Overcommitting nodes can lead to excessive evictions of pods</a:t>
            </a:r>
          </a:p>
          <a:p>
            <a:pPr lvl="1"/>
            <a:r>
              <a:rPr lang="en-US" b="1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more work for the </a:t>
            </a:r>
            <a:r>
              <a:rPr lang="en-US" b="1" i="1" dirty="0" err="1">
                <a:solidFill>
                  <a:schemeClr val="bg2">
                    <a:lumMod val="50000"/>
                    <a:lumOff val="50000"/>
                  </a:schemeClr>
                </a:solidFill>
              </a:rPr>
              <a:t>kubelet</a:t>
            </a:r>
            <a:r>
              <a:rPr lang="en-US" b="1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 for pod creation/termination</a:t>
            </a:r>
          </a:p>
          <a:p>
            <a:pPr lvl="1"/>
            <a:r>
              <a:rPr lang="en-US" b="1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a lot of rescheduling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B87A4E3-9AFF-297D-66C7-13A4D94B47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8117" y="2685088"/>
            <a:ext cx="5563883" cy="41729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4A75FC4-7659-8449-C9FA-AC300C5441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81800" y="2685088"/>
            <a:ext cx="762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242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2B054-86C8-DEA1-A972-3D23243D4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Option#2: Set requests to match the actual 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4E663-0D1C-5AB2-95CA-4BD08D3F8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02572" cy="4351338"/>
          </a:xfrm>
        </p:spPr>
        <p:txBody>
          <a:bodyPr/>
          <a:lstStyle/>
          <a:p>
            <a:r>
              <a:rPr lang="en-US" dirty="0"/>
              <a:t>In Kubernetes, this is often referred to as </a:t>
            </a:r>
            <a:r>
              <a:rPr lang="en-US" b="1" dirty="0"/>
              <a:t>Guaranteed Quality of Service class </a:t>
            </a:r>
            <a:r>
              <a:rPr lang="en-US" dirty="0"/>
              <a:t>and refers to the fact that it's </a:t>
            </a:r>
            <a:r>
              <a:rPr lang="en-US" b="1" u="sng" dirty="0"/>
              <a:t>improbable</a:t>
            </a:r>
            <a:r>
              <a:rPr lang="en-US" dirty="0"/>
              <a:t> that the pod will be terminated and evicted.</a:t>
            </a:r>
          </a:p>
          <a:p>
            <a:r>
              <a:rPr lang="en-US" dirty="0"/>
              <a:t>Pods with Guaranteed Quality of Service are stable but also </a:t>
            </a:r>
            <a:r>
              <a:rPr lang="en-US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inefficient</a:t>
            </a:r>
            <a:r>
              <a:rPr lang="en-US" dirty="0"/>
              <a:t>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439E8AE-B4EB-A039-ABA5-39168F452F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656" y="2975742"/>
            <a:ext cx="5176344" cy="38822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55616BE-15ED-674A-28A6-93484EB94D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85000" y="2937933"/>
            <a:ext cx="762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491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E514A-C7B0-9327-702E-89AEC6A5A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Option#3: Be conservative and assign requests closer to the limit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95A65-75FB-08D6-F972-866EF7DA5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24448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If you want efficiency, you might want to lower the requests and leave a </a:t>
            </a:r>
            <a:r>
              <a:rPr lang="en-US" b="1" u="sng" dirty="0"/>
              <a:t>gap</a:t>
            </a:r>
            <a:r>
              <a:rPr lang="en-US" dirty="0"/>
              <a:t> between those and the limit.</a:t>
            </a:r>
          </a:p>
          <a:p>
            <a:r>
              <a:rPr lang="en-US" dirty="0"/>
              <a:t>This is often referred to as </a:t>
            </a:r>
            <a:r>
              <a:rPr lang="en-US" b="1" dirty="0"/>
              <a:t>Burstable Quality of Service class </a:t>
            </a:r>
            <a:r>
              <a:rPr lang="en-US" dirty="0"/>
              <a:t>and refers to the fact that the Pod baseline consumption can </a:t>
            </a:r>
            <a:r>
              <a:rPr lang="en-US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occasionally burst </a:t>
            </a:r>
            <a:r>
              <a:rPr lang="en-US" dirty="0"/>
              <a:t>into using more memory and CPU.</a:t>
            </a:r>
          </a:p>
          <a:p>
            <a:pPr lvl="1"/>
            <a:r>
              <a:rPr lang="en-US" dirty="0"/>
              <a:t>If there are resources in the Node, the pod will use them before returning to the baseline consumption.</a:t>
            </a:r>
          </a:p>
          <a:p>
            <a:pPr lvl="1"/>
            <a:r>
              <a:rPr lang="en-US" dirty="0"/>
              <a:t>If the node is low on resources, the pod will compete for resources (CPU), and the </a:t>
            </a:r>
            <a:r>
              <a:rPr lang="en-US" dirty="0" err="1"/>
              <a:t>kubelet</a:t>
            </a:r>
            <a:r>
              <a:rPr lang="en-US" dirty="0"/>
              <a:t> might try to evict the Pod (memory).</a:t>
            </a:r>
          </a:p>
          <a:p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6715A7C-5D00-3DD3-0F86-393B386E911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4446" y="3064040"/>
            <a:ext cx="5057553" cy="37931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44C3E69-8A08-8AF0-2313-4070011CDE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28630" y="3021706"/>
            <a:ext cx="762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8371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A532E-0F4A-9A19-F106-0E71B6579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Should you use </a:t>
            </a:r>
            <a:r>
              <a:rPr lang="en-US" b="1" dirty="0"/>
              <a:t>Guaranteed</a:t>
            </a:r>
            <a:r>
              <a:rPr lang="en-US" dirty="0"/>
              <a:t> or </a:t>
            </a:r>
            <a:r>
              <a:rPr lang="en-US" b="1" dirty="0"/>
              <a:t>Burstable</a:t>
            </a:r>
            <a:r>
              <a:rPr lang="en-US" dirty="0"/>
              <a:t> quality of Service?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3C3C5-60C6-966F-93F6-1736C2061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b="1" dirty="0"/>
              <a:t>Guaranteed Quality of Service</a:t>
            </a:r>
            <a:r>
              <a:rPr lang="en-US" dirty="0"/>
              <a:t> when you want to minimize rescheduling and evictions for the Pod – “</a:t>
            </a:r>
            <a:r>
              <a:rPr lang="en-US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Stability</a:t>
            </a:r>
            <a:r>
              <a:rPr lang="en-US" dirty="0"/>
              <a:t>”</a:t>
            </a:r>
          </a:p>
          <a:p>
            <a:r>
              <a:rPr lang="en-US" dirty="0"/>
              <a:t>Use </a:t>
            </a:r>
            <a:r>
              <a:rPr lang="en-US" b="1" dirty="0"/>
              <a:t>Burstable Quality of Service </a:t>
            </a:r>
            <a:r>
              <a:rPr lang="en-US" dirty="0"/>
              <a:t>when you want to optimize your cluster and use the resources wisely --- “</a:t>
            </a:r>
            <a:r>
              <a:rPr lang="en-US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Efficiency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The best of both worlds:</a:t>
            </a:r>
          </a:p>
          <a:p>
            <a:pPr lvl="1"/>
            <a:r>
              <a:rPr lang="en-US" dirty="0"/>
              <a:t>Vertical Pod </a:t>
            </a:r>
            <a:r>
              <a:rPr lang="en-US" dirty="0" err="1"/>
              <a:t>Autoscaler</a:t>
            </a:r>
            <a:r>
              <a:rPr lang="en-US" dirty="0"/>
              <a:t> – Google’ Autopilot [1]</a:t>
            </a:r>
          </a:p>
          <a:p>
            <a:pPr lvl="1"/>
            <a:r>
              <a:rPr lang="en-US" dirty="0"/>
              <a:t>The VPA collects the data from the Pod and applies a regression model to dynamically adjust requests and limits.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6F0DA1-3BE5-CEAA-E501-855FE96BA985}"/>
              </a:ext>
            </a:extLst>
          </p:cNvPr>
          <p:cNvSpPr txBox="1"/>
          <p:nvPr/>
        </p:nvSpPr>
        <p:spPr>
          <a:xfrm>
            <a:off x="0" y="6464528"/>
            <a:ext cx="11666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[1]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Rzadca</a:t>
            </a:r>
            <a:r>
              <a:rPr lang="en-US" b="0" i="0" dirty="0">
                <a:effectLst/>
                <a:latin typeface="Arial" panose="020B0604020202020204" pitchFamily="34" charset="0"/>
              </a:rPr>
              <a:t>, Krzysztof, et al. "Autopilot: workload autoscaling at google." </a:t>
            </a:r>
            <a:r>
              <a:rPr lang="en-US" b="0" i="1" dirty="0" err="1">
                <a:effectLst/>
                <a:latin typeface="Arial" panose="020B0604020202020204" pitchFamily="34" charset="0"/>
              </a:rPr>
              <a:t>EuroSys</a:t>
            </a:r>
            <a:r>
              <a:rPr lang="en-US" b="0" i="1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>
                <a:effectLst/>
                <a:latin typeface="Arial" panose="020B0604020202020204" pitchFamily="34" charset="0"/>
              </a:rPr>
              <a:t>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821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3846</TotalTime>
  <Words>3780</Words>
  <Application>Microsoft Macintosh PowerPoint</Application>
  <PresentationFormat>Widescreen</PresentationFormat>
  <Paragraphs>287</Paragraphs>
  <Slides>48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-apple-system</vt:lpstr>
      <vt:lpstr>Aptos</vt:lpstr>
      <vt:lpstr>Arial</vt:lpstr>
      <vt:lpstr>Calibri</vt:lpstr>
      <vt:lpstr>Office Theme</vt:lpstr>
      <vt:lpstr>Autoscaling All Things in Kubernetes</vt:lpstr>
      <vt:lpstr>In Kubernetes, several things are referred to as "autoscaling"</vt:lpstr>
      <vt:lpstr>Horizontal Pod Autoscaler (HPA)</vt:lpstr>
      <vt:lpstr>Vertical Pod Autoscaler (VPA)</vt:lpstr>
      <vt:lpstr>Cluster Autoscaler (CA)</vt:lpstr>
      <vt:lpstr>While these components all "autoscale" something…</vt:lpstr>
      <vt:lpstr>When autoscaling pods goes wrong</vt:lpstr>
      <vt:lpstr>Then, you deploy a single Pod and set up:</vt:lpstr>
      <vt:lpstr>You start driving traffic 30 concurrent requests to your cluster and observe the following:</vt:lpstr>
      <vt:lpstr>You further increase the traffic to 40 concurrent requests and observe again:</vt:lpstr>
      <vt:lpstr>Why is the fourth Pod not deployed in the first node?</vt:lpstr>
      <vt:lpstr>In a Kubernetes worker node's memory and CPU are divided into:</vt:lpstr>
      <vt:lpstr>All of those quotas are customisable, but you need to account for them!</vt:lpstr>
      <vt:lpstr>All of those quotas are customisable, but you need to account for them!</vt:lpstr>
      <vt:lpstr>The fourth stays "Pending" unless it can be deployed on another node</vt:lpstr>
      <vt:lpstr>How the Cluster Autoscaler works in Kubernetes?</vt:lpstr>
      <vt:lpstr>How the Cluster Autoscaler works in Kubernetes? (cont’d)</vt:lpstr>
      <vt:lpstr>How the Cluster Autoscaler works in Kubernetes? (cont’d)</vt:lpstr>
      <vt:lpstr>Exploring pod autoscaling lead time</vt:lpstr>
      <vt:lpstr>Horizontal Pod Autoscaler reaction time.</vt:lpstr>
      <vt:lpstr>Cluster Autoscaler reaction time.</vt:lpstr>
      <vt:lpstr>Node provisioning time.</vt:lpstr>
      <vt:lpstr>Pod creation time.</vt:lpstr>
      <vt:lpstr>So the total timing for trigger the autoscaling when there is no space in the current cluster is:</vt:lpstr>
      <vt:lpstr>With a cluster with more than 100 nodes…</vt:lpstr>
      <vt:lpstr>You could change…</vt:lpstr>
      <vt:lpstr>So, how could you fix that?</vt:lpstr>
      <vt:lpstr>Avoid creating new nodes - Choosing the optimal instance size for a Kubernetes node</vt:lpstr>
      <vt:lpstr>Let's have a look at what happens if you decide to use a 64GB memory and 16 vCPU node instead.</vt:lpstr>
      <vt:lpstr>Choosing large instance types also has another benefit.</vt:lpstr>
      <vt:lpstr>Should you select the biggest instance all the time?</vt:lpstr>
      <vt:lpstr>How can you work around that?</vt:lpstr>
      <vt:lpstr>Overprovisioning nodes in your Kubernetes cluster</vt:lpstr>
      <vt:lpstr>It's a trade-off:</vt:lpstr>
      <vt:lpstr>How to fake it?</vt:lpstr>
      <vt:lpstr>More details…</vt:lpstr>
      <vt:lpstr>Example</vt:lpstr>
      <vt:lpstr>Pod Priority Class</vt:lpstr>
      <vt:lpstr>Pod Priority Class</vt:lpstr>
      <vt:lpstr>How to assign the priority to the Pod?</vt:lpstr>
      <vt:lpstr>How to downscale a cluster?</vt:lpstr>
      <vt:lpstr>Vertical Autoscaling: Selecting the correct memory and CPU requests for your Pods</vt:lpstr>
      <vt:lpstr>Selecting the correct memory and CPU requests for your Pods (cont’d)</vt:lpstr>
      <vt:lpstr>Selecting the correct memory and CPU requests for your Pods (cont’d)</vt:lpstr>
      <vt:lpstr>Option#1: Defining requests lower than the actual usage</vt:lpstr>
      <vt:lpstr>Option#2: Set requests to match the actual limits</vt:lpstr>
      <vt:lpstr>Option#3: Be conservative and assign requests closer to the limit</vt:lpstr>
      <vt:lpstr>Should you use Guaranteed or Burstable quality of Service?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Autoscaling All Things in Kubernetes</dc:title>
  <dc:creator>ShixiongQi</dc:creator>
  <cp:lastModifiedBy>Microsoft Office User</cp:lastModifiedBy>
  <cp:revision>183</cp:revision>
  <dcterms:created xsi:type="dcterms:W3CDTF">2024-09-19T02:32:45Z</dcterms:created>
  <dcterms:modified xsi:type="dcterms:W3CDTF">2025-02-27T03:14:31Z</dcterms:modified>
</cp:coreProperties>
</file>