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55"/>
  </p:notesMasterIdLst>
  <p:handoutMasterIdLst>
    <p:handoutMasterId r:id="rId56"/>
  </p:handoutMasterIdLst>
  <p:sldIdLst>
    <p:sldId id="271" r:id="rId2"/>
    <p:sldId id="354" r:id="rId3"/>
    <p:sldId id="355" r:id="rId4"/>
    <p:sldId id="356" r:id="rId5"/>
    <p:sldId id="357" r:id="rId6"/>
    <p:sldId id="358" r:id="rId7"/>
    <p:sldId id="359" r:id="rId8"/>
    <p:sldId id="430" r:id="rId9"/>
    <p:sldId id="431" r:id="rId10"/>
    <p:sldId id="360" r:id="rId11"/>
    <p:sldId id="432" r:id="rId12"/>
    <p:sldId id="435" r:id="rId13"/>
    <p:sldId id="433" r:id="rId14"/>
    <p:sldId id="428" r:id="rId15"/>
    <p:sldId id="434" r:id="rId16"/>
    <p:sldId id="429" r:id="rId17"/>
    <p:sldId id="361" r:id="rId18"/>
    <p:sldId id="362" r:id="rId19"/>
    <p:sldId id="363" r:id="rId20"/>
    <p:sldId id="364" r:id="rId21"/>
    <p:sldId id="365" r:id="rId22"/>
    <p:sldId id="366" r:id="rId23"/>
    <p:sldId id="367" r:id="rId24"/>
    <p:sldId id="368" r:id="rId25"/>
    <p:sldId id="369" r:id="rId26"/>
    <p:sldId id="370" r:id="rId27"/>
    <p:sldId id="371" r:id="rId28"/>
    <p:sldId id="372" r:id="rId29"/>
    <p:sldId id="373" r:id="rId30"/>
    <p:sldId id="374" r:id="rId31"/>
    <p:sldId id="375" r:id="rId32"/>
    <p:sldId id="376" r:id="rId33"/>
    <p:sldId id="377" r:id="rId34"/>
    <p:sldId id="378" r:id="rId35"/>
    <p:sldId id="389" r:id="rId36"/>
    <p:sldId id="390" r:id="rId37"/>
    <p:sldId id="439" r:id="rId38"/>
    <p:sldId id="391" r:id="rId39"/>
    <p:sldId id="437" r:id="rId40"/>
    <p:sldId id="440" r:id="rId41"/>
    <p:sldId id="441" r:id="rId42"/>
    <p:sldId id="442" r:id="rId43"/>
    <p:sldId id="443" r:id="rId44"/>
    <p:sldId id="436" r:id="rId45"/>
    <p:sldId id="392" r:id="rId46"/>
    <p:sldId id="393" r:id="rId47"/>
    <p:sldId id="394" r:id="rId48"/>
    <p:sldId id="406" r:id="rId49"/>
    <p:sldId id="407" r:id="rId50"/>
    <p:sldId id="413" r:id="rId51"/>
    <p:sldId id="414" r:id="rId52"/>
    <p:sldId id="425" r:id="rId53"/>
    <p:sldId id="426" r:id="rId54"/>
  </p:sldIdLst>
  <p:sldSz cx="9144000" cy="6858000" type="screen4x3"/>
  <p:notesSz cx="6980238" cy="9144000"/>
  <p:defaultTextStyle>
    <a:defPPr>
      <a:defRPr lang="en-US"/>
    </a:defPPr>
    <a:lvl1pPr algn="l" rtl="0" eaLnBrk="0" fontAlgn="base" hangingPunct="0">
      <a:spcBef>
        <a:spcPct val="0"/>
      </a:spcBef>
      <a:spcAft>
        <a:spcPct val="0"/>
      </a:spcAft>
      <a:defRPr sz="2400" kern="1200">
        <a:solidFill>
          <a:schemeClr val="tx1"/>
        </a:solidFill>
        <a:latin typeface="Tahoma" pitchFamily="34" charset="0"/>
        <a:ea typeface="+mn-ea"/>
        <a:cs typeface="+mn-cs"/>
      </a:defRPr>
    </a:lvl1pPr>
    <a:lvl2pPr marL="457200" algn="l" rtl="0" eaLnBrk="0" fontAlgn="base" hangingPunct="0">
      <a:spcBef>
        <a:spcPct val="0"/>
      </a:spcBef>
      <a:spcAft>
        <a:spcPct val="0"/>
      </a:spcAft>
      <a:defRPr sz="2400" kern="1200">
        <a:solidFill>
          <a:schemeClr val="tx1"/>
        </a:solidFill>
        <a:latin typeface="Tahoma" pitchFamily="34" charset="0"/>
        <a:ea typeface="+mn-ea"/>
        <a:cs typeface="+mn-cs"/>
      </a:defRPr>
    </a:lvl2pPr>
    <a:lvl3pPr marL="914400" algn="l" rtl="0" eaLnBrk="0" fontAlgn="base" hangingPunct="0">
      <a:spcBef>
        <a:spcPct val="0"/>
      </a:spcBef>
      <a:spcAft>
        <a:spcPct val="0"/>
      </a:spcAft>
      <a:defRPr sz="2400" kern="1200">
        <a:solidFill>
          <a:schemeClr val="tx1"/>
        </a:solidFill>
        <a:latin typeface="Tahoma"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Tahoma"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Tahoma" pitchFamily="34" charset="0"/>
        <a:ea typeface="+mn-ea"/>
        <a:cs typeface="+mn-cs"/>
      </a:defRPr>
    </a:lvl5pPr>
    <a:lvl6pPr marL="2286000" algn="l" defTabSz="914400" rtl="0" eaLnBrk="1" latinLnBrk="0" hangingPunct="1">
      <a:defRPr sz="2400" kern="1200">
        <a:solidFill>
          <a:schemeClr val="tx1"/>
        </a:solidFill>
        <a:latin typeface="Tahoma" pitchFamily="34" charset="0"/>
        <a:ea typeface="+mn-ea"/>
        <a:cs typeface="+mn-cs"/>
      </a:defRPr>
    </a:lvl6pPr>
    <a:lvl7pPr marL="2743200" algn="l" defTabSz="914400" rtl="0" eaLnBrk="1" latinLnBrk="0" hangingPunct="1">
      <a:defRPr sz="2400" kern="1200">
        <a:solidFill>
          <a:schemeClr val="tx1"/>
        </a:solidFill>
        <a:latin typeface="Tahoma" pitchFamily="34" charset="0"/>
        <a:ea typeface="+mn-ea"/>
        <a:cs typeface="+mn-cs"/>
      </a:defRPr>
    </a:lvl7pPr>
    <a:lvl8pPr marL="3200400" algn="l" defTabSz="914400" rtl="0" eaLnBrk="1" latinLnBrk="0" hangingPunct="1">
      <a:defRPr sz="2400" kern="1200">
        <a:solidFill>
          <a:schemeClr val="tx1"/>
        </a:solidFill>
        <a:latin typeface="Tahoma" pitchFamily="34" charset="0"/>
        <a:ea typeface="+mn-ea"/>
        <a:cs typeface="+mn-cs"/>
      </a:defRPr>
    </a:lvl8pPr>
    <a:lvl9pPr marL="3657600" algn="l" defTabSz="914400" rtl="0" eaLnBrk="1" latinLnBrk="0" hangingPunct="1">
      <a:defRPr sz="2400" kern="1200">
        <a:solidFill>
          <a:schemeClr val="tx1"/>
        </a:solidFill>
        <a:latin typeface="Tahoma"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essandro Pernafini" initials="AP" lastIdx="1" clrIdx="0">
    <p:extLst>
      <p:ext uri="{19B8F6BF-5375-455C-9EA6-DF929625EA0E}">
        <p15:presenceInfo xmlns:p15="http://schemas.microsoft.com/office/powerpoint/2012/main" userId="78482cbf01c2226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7673"/>
    <a:srgbClr val="EC8A87"/>
    <a:srgbClr val="FF7C80"/>
    <a:srgbClr val="3366CC"/>
    <a:srgbClr val="008000"/>
    <a:srgbClr val="FFFF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091" autoAdjust="0"/>
    <p:restoredTop sz="96058" autoAdjust="0"/>
  </p:normalViewPr>
  <p:slideViewPr>
    <p:cSldViewPr>
      <p:cViewPr varScale="1">
        <p:scale>
          <a:sx n="119" d="100"/>
          <a:sy n="119" d="100"/>
        </p:scale>
        <p:origin x="1640" y="1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commentAuthors" Target="commentAuthor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bwMode="auto">
          <a:xfrm>
            <a:off x="0" y="1"/>
            <a:ext cx="3051399" cy="493835"/>
          </a:xfrm>
          <a:prstGeom prst="rect">
            <a:avLst/>
          </a:prstGeom>
          <a:noFill/>
          <a:ln w="9525">
            <a:noFill/>
            <a:miter lim="800000"/>
            <a:headEnd/>
            <a:tailEnd/>
          </a:ln>
          <a:effectLst/>
        </p:spPr>
        <p:txBody>
          <a:bodyPr vert="horz" wrap="square" lIns="91169" tIns="45585" rIns="91169" bIns="45585" numCol="1" anchor="t" anchorCtr="0" compatLnSpc="1">
            <a:prstTxWarp prst="textNoShape">
              <a:avLst/>
            </a:prstTxWarp>
          </a:bodyPr>
          <a:lstStyle>
            <a:lvl1pPr defTabSz="910683">
              <a:defRPr sz="1300">
                <a:latin typeface="Helvetica" pitchFamily="34" charset="0"/>
              </a:defRPr>
            </a:lvl1pPr>
          </a:lstStyle>
          <a:p>
            <a:pPr>
              <a:defRPr/>
            </a:pPr>
            <a:endParaRPr lang="it-IT"/>
          </a:p>
        </p:txBody>
      </p:sp>
      <p:sp>
        <p:nvSpPr>
          <p:cNvPr id="19459" name="Rectangle 3"/>
          <p:cNvSpPr>
            <a:spLocks noGrp="1" noChangeArrowheads="1"/>
          </p:cNvSpPr>
          <p:nvPr>
            <p:ph type="dt" sz="quarter" idx="1"/>
          </p:nvPr>
        </p:nvSpPr>
        <p:spPr bwMode="auto">
          <a:xfrm>
            <a:off x="3991047" y="1"/>
            <a:ext cx="2971185" cy="493835"/>
          </a:xfrm>
          <a:prstGeom prst="rect">
            <a:avLst/>
          </a:prstGeom>
          <a:noFill/>
          <a:ln w="9525">
            <a:noFill/>
            <a:miter lim="800000"/>
            <a:headEnd/>
            <a:tailEnd/>
          </a:ln>
          <a:effectLst/>
        </p:spPr>
        <p:txBody>
          <a:bodyPr vert="horz" wrap="square" lIns="91169" tIns="45585" rIns="91169" bIns="45585" numCol="1" anchor="t" anchorCtr="0" compatLnSpc="1">
            <a:prstTxWarp prst="textNoShape">
              <a:avLst/>
            </a:prstTxWarp>
          </a:bodyPr>
          <a:lstStyle>
            <a:lvl1pPr algn="r" defTabSz="910683">
              <a:defRPr sz="1300"/>
            </a:lvl1pPr>
          </a:lstStyle>
          <a:p>
            <a:pPr>
              <a:defRPr/>
            </a:pPr>
            <a:endParaRPr lang="it-IT"/>
          </a:p>
        </p:txBody>
      </p:sp>
      <p:sp>
        <p:nvSpPr>
          <p:cNvPr id="19460" name="Rectangle 4"/>
          <p:cNvSpPr>
            <a:spLocks noGrp="1" noChangeArrowheads="1"/>
          </p:cNvSpPr>
          <p:nvPr>
            <p:ph type="ftr" sz="quarter" idx="2"/>
          </p:nvPr>
        </p:nvSpPr>
        <p:spPr bwMode="auto">
          <a:xfrm>
            <a:off x="0" y="8704385"/>
            <a:ext cx="3051399" cy="420566"/>
          </a:xfrm>
          <a:prstGeom prst="rect">
            <a:avLst/>
          </a:prstGeom>
          <a:noFill/>
          <a:ln w="9525">
            <a:noFill/>
            <a:miter lim="800000"/>
            <a:headEnd/>
            <a:tailEnd/>
          </a:ln>
          <a:effectLst/>
        </p:spPr>
        <p:txBody>
          <a:bodyPr vert="horz" wrap="square" lIns="91169" tIns="45585" rIns="91169" bIns="45585" numCol="1" anchor="b" anchorCtr="0" compatLnSpc="1">
            <a:prstTxWarp prst="textNoShape">
              <a:avLst/>
            </a:prstTxWarp>
          </a:bodyPr>
          <a:lstStyle>
            <a:lvl1pPr defTabSz="910683">
              <a:defRPr sz="1300"/>
            </a:lvl1pPr>
          </a:lstStyle>
          <a:p>
            <a:pPr>
              <a:defRPr/>
            </a:pPr>
            <a:endParaRPr lang="it-IT"/>
          </a:p>
        </p:txBody>
      </p:sp>
      <p:sp>
        <p:nvSpPr>
          <p:cNvPr id="19461" name="Rectangle 5"/>
          <p:cNvSpPr>
            <a:spLocks noGrp="1" noChangeArrowheads="1"/>
          </p:cNvSpPr>
          <p:nvPr>
            <p:ph type="sldNum" sz="quarter" idx="3"/>
          </p:nvPr>
        </p:nvSpPr>
        <p:spPr bwMode="auto">
          <a:xfrm>
            <a:off x="3991047" y="8704385"/>
            <a:ext cx="2971185" cy="420566"/>
          </a:xfrm>
          <a:prstGeom prst="rect">
            <a:avLst/>
          </a:prstGeom>
          <a:noFill/>
          <a:ln w="9525">
            <a:noFill/>
            <a:miter lim="800000"/>
            <a:headEnd/>
            <a:tailEnd/>
          </a:ln>
          <a:effectLst/>
        </p:spPr>
        <p:txBody>
          <a:bodyPr vert="horz" wrap="square" lIns="91169" tIns="45585" rIns="91169" bIns="45585" numCol="1" anchor="b" anchorCtr="0" compatLnSpc="1">
            <a:prstTxWarp prst="textNoShape">
              <a:avLst/>
            </a:prstTxWarp>
          </a:bodyPr>
          <a:lstStyle>
            <a:lvl1pPr algn="r" defTabSz="910683">
              <a:defRPr sz="1300">
                <a:latin typeface="Helvetica" pitchFamily="34" charset="0"/>
              </a:defRPr>
            </a:lvl1pPr>
          </a:lstStyle>
          <a:p>
            <a:pPr>
              <a:defRPr/>
            </a:pPr>
            <a:fld id="{E5C32496-6A6F-42C6-80A3-2B57BD8E3E03}" type="slidenum">
              <a:rPr lang="it-IT"/>
              <a:pPr>
                <a:defRPr/>
              </a:pPr>
              <a:t>‹#›</a:t>
            </a:fld>
            <a:endParaRPr lang="it-IT"/>
          </a:p>
        </p:txBody>
      </p:sp>
    </p:spTree>
    <p:extLst>
      <p:ext uri="{BB962C8B-B14F-4D97-AF65-F5344CB8AC3E}">
        <p14:creationId xmlns:p14="http://schemas.microsoft.com/office/powerpoint/2010/main" val="30882616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hdr" sz="quarter"/>
          </p:nvPr>
        </p:nvSpPr>
        <p:spPr bwMode="auto">
          <a:xfrm>
            <a:off x="1" y="1"/>
            <a:ext cx="2995740" cy="493835"/>
          </a:xfrm>
          <a:prstGeom prst="rect">
            <a:avLst/>
          </a:prstGeom>
          <a:noFill/>
          <a:ln w="9525">
            <a:noFill/>
            <a:miter lim="800000"/>
            <a:headEnd/>
            <a:tailEnd/>
          </a:ln>
          <a:effectLst/>
        </p:spPr>
        <p:txBody>
          <a:bodyPr vert="horz" wrap="square" lIns="91518" tIns="45757" rIns="91518" bIns="45757" numCol="1" anchor="t" anchorCtr="0" compatLnSpc="1">
            <a:prstTxWarp prst="textNoShape">
              <a:avLst/>
            </a:prstTxWarp>
          </a:bodyPr>
          <a:lstStyle>
            <a:lvl1pPr defTabSz="915460">
              <a:defRPr sz="1300"/>
            </a:lvl1pPr>
          </a:lstStyle>
          <a:p>
            <a:pPr>
              <a:defRPr/>
            </a:pPr>
            <a:endParaRPr lang="it-IT"/>
          </a:p>
        </p:txBody>
      </p:sp>
      <p:sp>
        <p:nvSpPr>
          <p:cNvPr id="38915" name="Rectangle 3"/>
          <p:cNvSpPr>
            <a:spLocks noGrp="1" noChangeArrowheads="1"/>
          </p:cNvSpPr>
          <p:nvPr>
            <p:ph type="dt" idx="1"/>
          </p:nvPr>
        </p:nvSpPr>
        <p:spPr bwMode="auto">
          <a:xfrm>
            <a:off x="3940299" y="1"/>
            <a:ext cx="3075953" cy="493835"/>
          </a:xfrm>
          <a:prstGeom prst="rect">
            <a:avLst/>
          </a:prstGeom>
          <a:noFill/>
          <a:ln w="9525">
            <a:noFill/>
            <a:miter lim="800000"/>
            <a:headEnd/>
            <a:tailEnd/>
          </a:ln>
          <a:effectLst/>
        </p:spPr>
        <p:txBody>
          <a:bodyPr vert="horz" wrap="square" lIns="91518" tIns="45757" rIns="91518" bIns="45757" numCol="1" anchor="t" anchorCtr="0" compatLnSpc="1">
            <a:prstTxWarp prst="textNoShape">
              <a:avLst/>
            </a:prstTxWarp>
          </a:bodyPr>
          <a:lstStyle>
            <a:lvl1pPr algn="r" defTabSz="915460">
              <a:defRPr sz="1300"/>
            </a:lvl1pPr>
          </a:lstStyle>
          <a:p>
            <a:pPr>
              <a:defRPr/>
            </a:pPr>
            <a:endParaRPr lang="it-IT"/>
          </a:p>
        </p:txBody>
      </p:sp>
      <p:sp>
        <p:nvSpPr>
          <p:cNvPr id="30724" name="Rectangle 4"/>
          <p:cNvSpPr>
            <a:spLocks noGrp="1" noRot="1" noChangeAspect="1" noChangeArrowheads="1" noTextEdit="1"/>
          </p:cNvSpPr>
          <p:nvPr>
            <p:ph type="sldImg" idx="2"/>
          </p:nvPr>
        </p:nvSpPr>
        <p:spPr bwMode="auto">
          <a:xfrm>
            <a:off x="1217613" y="704850"/>
            <a:ext cx="4592637" cy="3443288"/>
          </a:xfrm>
          <a:prstGeom prst="rect">
            <a:avLst/>
          </a:prstGeom>
          <a:noFill/>
          <a:ln w="9525">
            <a:solidFill>
              <a:srgbClr val="000000"/>
            </a:solidFill>
            <a:miter lim="800000"/>
            <a:headEnd/>
            <a:tailEnd/>
          </a:ln>
        </p:spPr>
      </p:sp>
      <p:sp>
        <p:nvSpPr>
          <p:cNvPr id="38917" name="Rectangle 5"/>
          <p:cNvSpPr>
            <a:spLocks noGrp="1" noChangeArrowheads="1"/>
          </p:cNvSpPr>
          <p:nvPr>
            <p:ph type="body" sz="quarter" idx="3"/>
          </p:nvPr>
        </p:nvSpPr>
        <p:spPr bwMode="auto">
          <a:xfrm>
            <a:off x="946196" y="4358054"/>
            <a:ext cx="5123862" cy="4073769"/>
          </a:xfrm>
          <a:prstGeom prst="rect">
            <a:avLst/>
          </a:prstGeom>
          <a:noFill/>
          <a:ln w="9525">
            <a:noFill/>
            <a:miter lim="800000"/>
            <a:headEnd/>
            <a:tailEnd/>
          </a:ln>
          <a:effectLst/>
        </p:spPr>
        <p:txBody>
          <a:bodyPr vert="horz" wrap="square" lIns="91518" tIns="45757" rIns="91518" bIns="45757" numCol="1" anchor="t" anchorCtr="0" compatLnSpc="1">
            <a:prstTxWarp prst="textNoShape">
              <a:avLst/>
            </a:prstTxWarp>
          </a:bodyPr>
          <a:lstStyle/>
          <a:p>
            <a:pPr lvl="0"/>
            <a:r>
              <a:rPr lang="it-IT" noProof="0"/>
              <a:t>Fare clic per modificare gli stili del testo dello schema</a:t>
            </a:r>
          </a:p>
          <a:p>
            <a:pPr lvl="1"/>
            <a:r>
              <a:rPr lang="it-IT" noProof="0"/>
              <a:t>Secondo livello</a:t>
            </a:r>
          </a:p>
          <a:p>
            <a:pPr lvl="2"/>
            <a:r>
              <a:rPr lang="it-IT" noProof="0"/>
              <a:t>Terzo livello</a:t>
            </a:r>
          </a:p>
          <a:p>
            <a:pPr lvl="3"/>
            <a:r>
              <a:rPr lang="it-IT" noProof="0"/>
              <a:t>Quarto livello</a:t>
            </a:r>
          </a:p>
          <a:p>
            <a:pPr lvl="4"/>
            <a:r>
              <a:rPr lang="it-IT" noProof="0"/>
              <a:t>Quinto livello</a:t>
            </a:r>
          </a:p>
        </p:txBody>
      </p:sp>
      <p:sp>
        <p:nvSpPr>
          <p:cNvPr id="38918" name="Rectangle 6"/>
          <p:cNvSpPr>
            <a:spLocks noGrp="1" noChangeArrowheads="1"/>
          </p:cNvSpPr>
          <p:nvPr>
            <p:ph type="ftr" sz="quarter" idx="4"/>
          </p:nvPr>
        </p:nvSpPr>
        <p:spPr bwMode="auto">
          <a:xfrm>
            <a:off x="1" y="8716108"/>
            <a:ext cx="2995740" cy="420566"/>
          </a:xfrm>
          <a:prstGeom prst="rect">
            <a:avLst/>
          </a:prstGeom>
          <a:noFill/>
          <a:ln w="9525">
            <a:noFill/>
            <a:miter lim="800000"/>
            <a:headEnd/>
            <a:tailEnd/>
          </a:ln>
          <a:effectLst/>
        </p:spPr>
        <p:txBody>
          <a:bodyPr vert="horz" wrap="square" lIns="91518" tIns="45757" rIns="91518" bIns="45757" numCol="1" anchor="b" anchorCtr="0" compatLnSpc="1">
            <a:prstTxWarp prst="textNoShape">
              <a:avLst/>
            </a:prstTxWarp>
          </a:bodyPr>
          <a:lstStyle>
            <a:lvl1pPr defTabSz="915460">
              <a:defRPr sz="1300"/>
            </a:lvl1pPr>
          </a:lstStyle>
          <a:p>
            <a:pPr>
              <a:defRPr/>
            </a:pPr>
            <a:endParaRPr lang="it-IT"/>
          </a:p>
        </p:txBody>
      </p:sp>
      <p:sp>
        <p:nvSpPr>
          <p:cNvPr id="38919" name="Rectangle 7"/>
          <p:cNvSpPr>
            <a:spLocks noGrp="1" noChangeArrowheads="1"/>
          </p:cNvSpPr>
          <p:nvPr>
            <p:ph type="sldNum" sz="quarter" idx="5"/>
          </p:nvPr>
        </p:nvSpPr>
        <p:spPr bwMode="auto">
          <a:xfrm>
            <a:off x="3940299" y="8716108"/>
            <a:ext cx="3075953" cy="420566"/>
          </a:xfrm>
          <a:prstGeom prst="rect">
            <a:avLst/>
          </a:prstGeom>
          <a:noFill/>
          <a:ln w="9525">
            <a:noFill/>
            <a:miter lim="800000"/>
            <a:headEnd/>
            <a:tailEnd/>
          </a:ln>
          <a:effectLst/>
        </p:spPr>
        <p:txBody>
          <a:bodyPr vert="horz" wrap="square" lIns="91518" tIns="45757" rIns="91518" bIns="45757" numCol="1" anchor="b" anchorCtr="0" compatLnSpc="1">
            <a:prstTxWarp prst="textNoShape">
              <a:avLst/>
            </a:prstTxWarp>
          </a:bodyPr>
          <a:lstStyle>
            <a:lvl1pPr algn="r" defTabSz="915460">
              <a:defRPr sz="1300"/>
            </a:lvl1pPr>
          </a:lstStyle>
          <a:p>
            <a:pPr>
              <a:defRPr/>
            </a:pPr>
            <a:fld id="{F0A83906-7568-42BE-A414-E23047DC155E}" type="slidenum">
              <a:rPr lang="it-IT"/>
              <a:pPr>
                <a:defRPr/>
              </a:pPr>
              <a:t>‹#›</a:t>
            </a:fld>
            <a:endParaRPr lang="it-IT"/>
          </a:p>
        </p:txBody>
      </p:sp>
    </p:spTree>
    <p:extLst>
      <p:ext uri="{BB962C8B-B14F-4D97-AF65-F5344CB8AC3E}">
        <p14:creationId xmlns:p14="http://schemas.microsoft.com/office/powerpoint/2010/main" val="338803480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ahoma"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Tahoma"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Tahoma"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Tahoma"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Tahoma"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p>
            <a:fld id="{DB55615D-D876-41EA-8A06-06CE297854CB}" type="slidenum">
              <a:rPr lang="it-IT" smtClean="0"/>
              <a:pPr/>
              <a:t>1</a:t>
            </a:fld>
            <a:endParaRPr lang="it-IT"/>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p:spPr>
        <p:txBody>
          <a:bodyPr/>
          <a:lstStyle/>
          <a:p>
            <a:endParaRPr lang="it-IT"/>
          </a:p>
        </p:txBody>
      </p:sp>
    </p:spTree>
    <p:extLst>
      <p:ext uri="{BB962C8B-B14F-4D97-AF65-F5344CB8AC3E}">
        <p14:creationId xmlns:p14="http://schemas.microsoft.com/office/powerpoint/2010/main" val="25450726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a:ln/>
        </p:spPr>
        <p:txBody>
          <a:bodyPr/>
          <a:lstStyle/>
          <a:p>
            <a:endParaRPr lang="it-IT">
              <a:latin typeface="Arial" pitchFamily="34" charset="0"/>
            </a:endParaRPr>
          </a:p>
        </p:txBody>
      </p:sp>
    </p:spTree>
    <p:extLst>
      <p:ext uri="{BB962C8B-B14F-4D97-AF65-F5344CB8AC3E}">
        <p14:creationId xmlns:p14="http://schemas.microsoft.com/office/powerpoint/2010/main" val="11240331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it-IT"/>
          </a:p>
        </p:txBody>
      </p:sp>
    </p:spTree>
    <p:extLst>
      <p:ext uri="{BB962C8B-B14F-4D97-AF65-F5344CB8AC3E}">
        <p14:creationId xmlns:p14="http://schemas.microsoft.com/office/powerpoint/2010/main" val="9034833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normAutofit/>
          </a:bodyPr>
          <a:lstStyle/>
          <a:p>
            <a:r>
              <a:rPr lang="it-IT" dirty="0"/>
              <a:t>Nuova slide</a:t>
            </a:r>
          </a:p>
        </p:txBody>
      </p:sp>
    </p:spTree>
    <p:extLst>
      <p:ext uri="{BB962C8B-B14F-4D97-AF65-F5344CB8AC3E}">
        <p14:creationId xmlns:p14="http://schemas.microsoft.com/office/powerpoint/2010/main" val="4679944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normAutofit/>
          </a:bodyPr>
          <a:lstStyle/>
          <a:p>
            <a:r>
              <a:rPr lang="it-IT" dirty="0"/>
              <a:t>Nuova</a:t>
            </a:r>
            <a:r>
              <a:rPr lang="it-IT" baseline="0" dirty="0"/>
              <a:t> slide</a:t>
            </a:r>
            <a:endParaRPr lang="it-IT" dirty="0"/>
          </a:p>
        </p:txBody>
      </p:sp>
    </p:spTree>
    <p:extLst>
      <p:ext uri="{BB962C8B-B14F-4D97-AF65-F5344CB8AC3E}">
        <p14:creationId xmlns:p14="http://schemas.microsoft.com/office/powerpoint/2010/main" val="10206293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it-IT"/>
          </a:p>
        </p:txBody>
      </p:sp>
    </p:spTree>
    <p:extLst>
      <p:ext uri="{BB962C8B-B14F-4D97-AF65-F5344CB8AC3E}">
        <p14:creationId xmlns:p14="http://schemas.microsoft.com/office/powerpoint/2010/main" val="23039367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it-IT"/>
          </a:p>
        </p:txBody>
      </p:sp>
    </p:spTree>
    <p:extLst>
      <p:ext uri="{BB962C8B-B14F-4D97-AF65-F5344CB8AC3E}">
        <p14:creationId xmlns:p14="http://schemas.microsoft.com/office/powerpoint/2010/main" val="22746198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it-IT"/>
          </a:p>
        </p:txBody>
      </p:sp>
    </p:spTree>
    <p:extLst>
      <p:ext uri="{BB962C8B-B14F-4D97-AF65-F5344CB8AC3E}">
        <p14:creationId xmlns:p14="http://schemas.microsoft.com/office/powerpoint/2010/main" val="38745894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it-IT"/>
          </a:p>
        </p:txBody>
      </p:sp>
    </p:spTree>
    <p:extLst>
      <p:ext uri="{BB962C8B-B14F-4D97-AF65-F5344CB8AC3E}">
        <p14:creationId xmlns:p14="http://schemas.microsoft.com/office/powerpoint/2010/main" val="16062222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it-IT"/>
          </a:p>
        </p:txBody>
      </p:sp>
    </p:spTree>
    <p:extLst>
      <p:ext uri="{BB962C8B-B14F-4D97-AF65-F5344CB8AC3E}">
        <p14:creationId xmlns:p14="http://schemas.microsoft.com/office/powerpoint/2010/main" val="23668879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it-IT"/>
          </a:p>
        </p:txBody>
      </p:sp>
    </p:spTree>
    <p:extLst>
      <p:ext uri="{BB962C8B-B14F-4D97-AF65-F5344CB8AC3E}">
        <p14:creationId xmlns:p14="http://schemas.microsoft.com/office/powerpoint/2010/main" val="37457862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it-IT"/>
          </a:p>
        </p:txBody>
      </p:sp>
    </p:spTree>
    <p:extLst>
      <p:ext uri="{BB962C8B-B14F-4D97-AF65-F5344CB8AC3E}">
        <p14:creationId xmlns:p14="http://schemas.microsoft.com/office/powerpoint/2010/main" val="21543562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it-IT"/>
          </a:p>
        </p:txBody>
      </p:sp>
    </p:spTree>
    <p:extLst>
      <p:ext uri="{BB962C8B-B14F-4D97-AF65-F5344CB8AC3E}">
        <p14:creationId xmlns:p14="http://schemas.microsoft.com/office/powerpoint/2010/main" val="34403082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it-IT"/>
          </a:p>
        </p:txBody>
      </p:sp>
    </p:spTree>
    <p:extLst>
      <p:ext uri="{BB962C8B-B14F-4D97-AF65-F5344CB8AC3E}">
        <p14:creationId xmlns:p14="http://schemas.microsoft.com/office/powerpoint/2010/main" val="39873177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it-IT"/>
          </a:p>
        </p:txBody>
      </p:sp>
    </p:spTree>
    <p:extLst>
      <p:ext uri="{BB962C8B-B14F-4D97-AF65-F5344CB8AC3E}">
        <p14:creationId xmlns:p14="http://schemas.microsoft.com/office/powerpoint/2010/main" val="41602289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it-IT"/>
          </a:p>
        </p:txBody>
      </p:sp>
    </p:spTree>
    <p:extLst>
      <p:ext uri="{BB962C8B-B14F-4D97-AF65-F5344CB8AC3E}">
        <p14:creationId xmlns:p14="http://schemas.microsoft.com/office/powerpoint/2010/main" val="19183717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it-IT"/>
          </a:p>
        </p:txBody>
      </p:sp>
    </p:spTree>
    <p:extLst>
      <p:ext uri="{BB962C8B-B14F-4D97-AF65-F5344CB8AC3E}">
        <p14:creationId xmlns:p14="http://schemas.microsoft.com/office/powerpoint/2010/main" val="28371401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it-IT"/>
          </a:p>
        </p:txBody>
      </p:sp>
    </p:spTree>
    <p:extLst>
      <p:ext uri="{BB962C8B-B14F-4D97-AF65-F5344CB8AC3E}">
        <p14:creationId xmlns:p14="http://schemas.microsoft.com/office/powerpoint/2010/main" val="4262639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it-IT"/>
          </a:p>
        </p:txBody>
      </p:sp>
    </p:spTree>
    <p:extLst>
      <p:ext uri="{BB962C8B-B14F-4D97-AF65-F5344CB8AC3E}">
        <p14:creationId xmlns:p14="http://schemas.microsoft.com/office/powerpoint/2010/main" val="31958457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it-IT"/>
          </a:p>
        </p:txBody>
      </p:sp>
    </p:spTree>
    <p:extLst>
      <p:ext uri="{BB962C8B-B14F-4D97-AF65-F5344CB8AC3E}">
        <p14:creationId xmlns:p14="http://schemas.microsoft.com/office/powerpoint/2010/main" val="31675467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it-IT"/>
          </a:p>
        </p:txBody>
      </p:sp>
    </p:spTree>
    <p:extLst>
      <p:ext uri="{BB962C8B-B14F-4D97-AF65-F5344CB8AC3E}">
        <p14:creationId xmlns:p14="http://schemas.microsoft.com/office/powerpoint/2010/main" val="118135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it-IT"/>
          </a:p>
        </p:txBody>
      </p:sp>
    </p:spTree>
    <p:extLst>
      <p:ext uri="{BB962C8B-B14F-4D97-AF65-F5344CB8AC3E}">
        <p14:creationId xmlns:p14="http://schemas.microsoft.com/office/powerpoint/2010/main" val="31387922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it-IT"/>
          </a:p>
        </p:txBody>
      </p:sp>
    </p:spTree>
    <p:extLst>
      <p:ext uri="{BB962C8B-B14F-4D97-AF65-F5344CB8AC3E}">
        <p14:creationId xmlns:p14="http://schemas.microsoft.com/office/powerpoint/2010/main" val="26778225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it-IT"/>
          </a:p>
        </p:txBody>
      </p:sp>
    </p:spTree>
    <p:extLst>
      <p:ext uri="{BB962C8B-B14F-4D97-AF65-F5344CB8AC3E}">
        <p14:creationId xmlns:p14="http://schemas.microsoft.com/office/powerpoint/2010/main" val="19005214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it-IT"/>
          </a:p>
        </p:txBody>
      </p:sp>
    </p:spTree>
    <p:extLst>
      <p:ext uri="{BB962C8B-B14F-4D97-AF65-F5344CB8AC3E}">
        <p14:creationId xmlns:p14="http://schemas.microsoft.com/office/powerpoint/2010/main" val="28288462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it-IT"/>
          </a:p>
        </p:txBody>
      </p:sp>
    </p:spTree>
    <p:extLst>
      <p:ext uri="{BB962C8B-B14F-4D97-AF65-F5344CB8AC3E}">
        <p14:creationId xmlns:p14="http://schemas.microsoft.com/office/powerpoint/2010/main" val="10890684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it-IT"/>
          </a:p>
        </p:txBody>
      </p:sp>
    </p:spTree>
    <p:extLst>
      <p:ext uri="{BB962C8B-B14F-4D97-AF65-F5344CB8AC3E}">
        <p14:creationId xmlns:p14="http://schemas.microsoft.com/office/powerpoint/2010/main" val="23461403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it-IT"/>
          </a:p>
        </p:txBody>
      </p:sp>
    </p:spTree>
    <p:extLst>
      <p:ext uri="{BB962C8B-B14F-4D97-AF65-F5344CB8AC3E}">
        <p14:creationId xmlns:p14="http://schemas.microsoft.com/office/powerpoint/2010/main" val="474711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it-IT"/>
          </a:p>
        </p:txBody>
      </p:sp>
    </p:spTree>
    <p:extLst>
      <p:ext uri="{BB962C8B-B14F-4D97-AF65-F5344CB8AC3E}">
        <p14:creationId xmlns:p14="http://schemas.microsoft.com/office/powerpoint/2010/main" val="351765621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normAutofit/>
          </a:bodyPr>
          <a:lstStyle/>
          <a:p>
            <a:endParaRPr lang="it-IT"/>
          </a:p>
        </p:txBody>
      </p:sp>
    </p:spTree>
    <p:extLst>
      <p:ext uri="{BB962C8B-B14F-4D97-AF65-F5344CB8AC3E}">
        <p14:creationId xmlns:p14="http://schemas.microsoft.com/office/powerpoint/2010/main" val="200575013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it-IT"/>
          </a:p>
        </p:txBody>
      </p:sp>
    </p:spTree>
    <p:extLst>
      <p:ext uri="{BB962C8B-B14F-4D97-AF65-F5344CB8AC3E}">
        <p14:creationId xmlns:p14="http://schemas.microsoft.com/office/powerpoint/2010/main" val="117971110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it-IT"/>
          </a:p>
        </p:txBody>
      </p:sp>
    </p:spTree>
    <p:extLst>
      <p:ext uri="{BB962C8B-B14F-4D97-AF65-F5344CB8AC3E}">
        <p14:creationId xmlns:p14="http://schemas.microsoft.com/office/powerpoint/2010/main" val="107718409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it-IT"/>
          </a:p>
        </p:txBody>
      </p:sp>
    </p:spTree>
    <p:extLst>
      <p:ext uri="{BB962C8B-B14F-4D97-AF65-F5344CB8AC3E}">
        <p14:creationId xmlns:p14="http://schemas.microsoft.com/office/powerpoint/2010/main" val="241527579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it-IT"/>
          </a:p>
        </p:txBody>
      </p:sp>
    </p:spTree>
    <p:extLst>
      <p:ext uri="{BB962C8B-B14F-4D97-AF65-F5344CB8AC3E}">
        <p14:creationId xmlns:p14="http://schemas.microsoft.com/office/powerpoint/2010/main" val="231225538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it-IT"/>
          </a:p>
        </p:txBody>
      </p:sp>
    </p:spTree>
    <p:extLst>
      <p:ext uri="{BB962C8B-B14F-4D97-AF65-F5344CB8AC3E}">
        <p14:creationId xmlns:p14="http://schemas.microsoft.com/office/powerpoint/2010/main" val="23547758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it-IT"/>
          </a:p>
        </p:txBody>
      </p:sp>
    </p:spTree>
    <p:extLst>
      <p:ext uri="{BB962C8B-B14F-4D97-AF65-F5344CB8AC3E}">
        <p14:creationId xmlns:p14="http://schemas.microsoft.com/office/powerpoint/2010/main" val="24941745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it-IT"/>
          </a:p>
        </p:txBody>
      </p:sp>
    </p:spTree>
    <p:extLst>
      <p:ext uri="{BB962C8B-B14F-4D97-AF65-F5344CB8AC3E}">
        <p14:creationId xmlns:p14="http://schemas.microsoft.com/office/powerpoint/2010/main" val="367458906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Tree>
    <p:extLst>
      <p:ext uri="{BB962C8B-B14F-4D97-AF65-F5344CB8AC3E}">
        <p14:creationId xmlns:p14="http://schemas.microsoft.com/office/powerpoint/2010/main" val="408423105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Tree>
    <p:extLst>
      <p:ext uri="{BB962C8B-B14F-4D97-AF65-F5344CB8AC3E}">
        <p14:creationId xmlns:p14="http://schemas.microsoft.com/office/powerpoint/2010/main" val="82095220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Tree>
    <p:extLst>
      <p:ext uri="{BB962C8B-B14F-4D97-AF65-F5344CB8AC3E}">
        <p14:creationId xmlns:p14="http://schemas.microsoft.com/office/powerpoint/2010/main" val="395448600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Tree>
    <p:extLst>
      <p:ext uri="{BB962C8B-B14F-4D97-AF65-F5344CB8AC3E}">
        <p14:creationId xmlns:p14="http://schemas.microsoft.com/office/powerpoint/2010/main" val="305496114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Tree>
    <p:extLst>
      <p:ext uri="{BB962C8B-B14F-4D97-AF65-F5344CB8AC3E}">
        <p14:creationId xmlns:p14="http://schemas.microsoft.com/office/powerpoint/2010/main" val="236604244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Tree>
    <p:extLst>
      <p:ext uri="{BB962C8B-B14F-4D97-AF65-F5344CB8AC3E}">
        <p14:creationId xmlns:p14="http://schemas.microsoft.com/office/powerpoint/2010/main" val="365215325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Tree>
    <p:extLst>
      <p:ext uri="{BB962C8B-B14F-4D97-AF65-F5344CB8AC3E}">
        <p14:creationId xmlns:p14="http://schemas.microsoft.com/office/powerpoint/2010/main" val="361009907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p:cNvSpPr>
            <a:spLocks noGrp="1" noRot="1" noChangeAspect="1" noChangeArrowheads="1" noTextEdit="1"/>
          </p:cNvSpPr>
          <p:nvPr>
            <p:ph type="sldImg"/>
          </p:nvPr>
        </p:nvSpPr>
        <p:spPr>
          <a:ln/>
        </p:spPr>
      </p:sp>
      <p:sp>
        <p:nvSpPr>
          <p:cNvPr id="20482"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26598032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p:cNvSpPr>
            <a:spLocks noGrp="1" noRot="1" noChangeAspect="1" noChangeArrowheads="1" noTextEdit="1"/>
          </p:cNvSpPr>
          <p:nvPr>
            <p:ph type="sldImg"/>
          </p:nvPr>
        </p:nvSpPr>
        <p:spPr>
          <a:ln/>
        </p:spPr>
      </p:sp>
      <p:sp>
        <p:nvSpPr>
          <p:cNvPr id="2048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50309745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1" name="Rectangle 2"/>
          <p:cNvSpPr>
            <a:spLocks noGrp="1" noRot="1" noChangeAspect="1" noChangeArrowheads="1" noTextEdit="1"/>
          </p:cNvSpPr>
          <p:nvPr>
            <p:ph type="sldImg"/>
          </p:nvPr>
        </p:nvSpPr>
        <p:spPr>
          <a:xfrm>
            <a:off x="1203325" y="684213"/>
            <a:ext cx="4573588" cy="3430587"/>
          </a:xfrm>
          <a:ln/>
        </p:spPr>
      </p:sp>
      <p:sp>
        <p:nvSpPr>
          <p:cNvPr id="114692" name="Rectangle 3"/>
          <p:cNvSpPr>
            <a:spLocks noGrp="1" noChangeArrowheads="1"/>
          </p:cNvSpPr>
          <p:nvPr>
            <p:ph type="body" idx="1"/>
          </p:nvPr>
        </p:nvSpPr>
        <p:spPr>
          <a:xfrm>
            <a:off x="698678" y="4343072"/>
            <a:ext cx="5582884" cy="4116336"/>
          </a:xfrm>
          <a:noFill/>
          <a:ln/>
        </p:spPr>
        <p:txBody>
          <a:bodyPr/>
          <a:lstStyle/>
          <a:p>
            <a:pPr eaLnBrk="1" hangingPunct="1"/>
            <a:endParaRPr lang="it-IT">
              <a:latin typeface="Arial" pitchFamily="34" charset="0"/>
            </a:endParaRPr>
          </a:p>
        </p:txBody>
      </p:sp>
    </p:spTree>
    <p:extLst>
      <p:ext uri="{BB962C8B-B14F-4D97-AF65-F5344CB8AC3E}">
        <p14:creationId xmlns:p14="http://schemas.microsoft.com/office/powerpoint/2010/main" val="159633918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5" name="Rectangle 2"/>
          <p:cNvSpPr>
            <a:spLocks noGrp="1" noRot="1" noChangeAspect="1" noChangeArrowheads="1" noTextEdit="1"/>
          </p:cNvSpPr>
          <p:nvPr>
            <p:ph type="sldImg"/>
          </p:nvPr>
        </p:nvSpPr>
        <p:spPr>
          <a:xfrm>
            <a:off x="1203325" y="684213"/>
            <a:ext cx="4573588" cy="3430587"/>
          </a:xfrm>
          <a:ln/>
        </p:spPr>
      </p:sp>
      <p:sp>
        <p:nvSpPr>
          <p:cNvPr id="115716" name="Rectangle 3"/>
          <p:cNvSpPr>
            <a:spLocks noGrp="1" noChangeArrowheads="1"/>
          </p:cNvSpPr>
          <p:nvPr>
            <p:ph type="body" idx="1"/>
          </p:nvPr>
        </p:nvSpPr>
        <p:spPr>
          <a:xfrm>
            <a:off x="698678" y="4343072"/>
            <a:ext cx="5582884" cy="4116336"/>
          </a:xfrm>
          <a:noFill/>
          <a:ln/>
        </p:spPr>
        <p:txBody>
          <a:bodyPr/>
          <a:lstStyle/>
          <a:p>
            <a:pPr eaLnBrk="1" hangingPunct="1"/>
            <a:endParaRPr lang="it-IT">
              <a:latin typeface="Arial" pitchFamily="34" charset="0"/>
            </a:endParaRPr>
          </a:p>
        </p:txBody>
      </p:sp>
    </p:spTree>
    <p:extLst>
      <p:ext uri="{BB962C8B-B14F-4D97-AF65-F5344CB8AC3E}">
        <p14:creationId xmlns:p14="http://schemas.microsoft.com/office/powerpoint/2010/main" val="333511563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Slide Image Placeholder 1"/>
          <p:cNvSpPr>
            <a:spLocks noGrp="1" noRot="1" noChangeAspect="1" noTextEdit="1"/>
          </p:cNvSpPr>
          <p:nvPr>
            <p:ph type="sldImg"/>
          </p:nvPr>
        </p:nvSpPr>
        <p:spPr>
          <a:ln/>
        </p:spPr>
      </p:sp>
      <p:sp>
        <p:nvSpPr>
          <p:cNvPr id="116739" name="Notes Placeholder 2"/>
          <p:cNvSpPr>
            <a:spLocks noGrp="1"/>
          </p:cNvSpPr>
          <p:nvPr>
            <p:ph type="body" idx="1"/>
          </p:nvPr>
        </p:nvSpPr>
        <p:spPr>
          <a:noFill/>
          <a:ln/>
        </p:spPr>
        <p:txBody>
          <a:bodyPr/>
          <a:lstStyle/>
          <a:p>
            <a:pPr eaLnBrk="1" hangingPunct="1"/>
            <a:r>
              <a:rPr lang="it-IT" dirty="0">
                <a:latin typeface="Arial" pitchFamily="34" charset="0"/>
              </a:rPr>
              <a:t>Spostare</a:t>
            </a:r>
            <a:r>
              <a:rPr lang="it-IT" baseline="0" dirty="0">
                <a:latin typeface="Arial" pitchFamily="34" charset="0"/>
              </a:rPr>
              <a:t> alla fine o cambiare titolo?</a:t>
            </a:r>
            <a:endParaRPr lang="it-IT" dirty="0">
              <a:latin typeface="Arial" pitchFamily="34" charset="0"/>
            </a:endParaRPr>
          </a:p>
        </p:txBody>
      </p:sp>
    </p:spTree>
    <p:extLst>
      <p:ext uri="{BB962C8B-B14F-4D97-AF65-F5344CB8AC3E}">
        <p14:creationId xmlns:p14="http://schemas.microsoft.com/office/powerpoint/2010/main" val="389181476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Slide Image Placeholder 1"/>
          <p:cNvSpPr>
            <a:spLocks noGrp="1" noRot="1" noChangeAspect="1" noTextEdit="1"/>
          </p:cNvSpPr>
          <p:nvPr>
            <p:ph type="sldImg"/>
          </p:nvPr>
        </p:nvSpPr>
        <p:spPr>
          <a:ln/>
        </p:spPr>
      </p:sp>
      <p:sp>
        <p:nvSpPr>
          <p:cNvPr id="117763" name="Notes Placeholder 2"/>
          <p:cNvSpPr>
            <a:spLocks noGrp="1"/>
          </p:cNvSpPr>
          <p:nvPr>
            <p:ph type="body" idx="1"/>
          </p:nvPr>
        </p:nvSpPr>
        <p:spPr>
          <a:noFill/>
          <a:ln/>
        </p:spPr>
        <p:txBody>
          <a:bodyPr/>
          <a:lstStyle/>
          <a:p>
            <a:pPr eaLnBrk="1" hangingPunct="1"/>
            <a:endParaRPr lang="it-IT">
              <a:latin typeface="Arial" pitchFamily="34" charset="0"/>
            </a:endParaRPr>
          </a:p>
        </p:txBody>
      </p:sp>
    </p:spTree>
    <p:extLst>
      <p:ext uri="{BB962C8B-B14F-4D97-AF65-F5344CB8AC3E}">
        <p14:creationId xmlns:p14="http://schemas.microsoft.com/office/powerpoint/2010/main" val="319487086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Slide Image Placeholder 1"/>
          <p:cNvSpPr>
            <a:spLocks noGrp="1" noRot="1" noChangeAspect="1" noTextEdit="1"/>
          </p:cNvSpPr>
          <p:nvPr>
            <p:ph type="sldImg"/>
          </p:nvPr>
        </p:nvSpPr>
        <p:spPr>
          <a:ln/>
        </p:spPr>
      </p:sp>
      <p:sp>
        <p:nvSpPr>
          <p:cNvPr id="119811" name="Notes Placeholder 2"/>
          <p:cNvSpPr>
            <a:spLocks noGrp="1"/>
          </p:cNvSpPr>
          <p:nvPr>
            <p:ph type="body" idx="1"/>
          </p:nvPr>
        </p:nvSpPr>
        <p:spPr>
          <a:noFill/>
          <a:ln/>
        </p:spPr>
        <p:txBody>
          <a:bodyPr/>
          <a:lstStyle/>
          <a:p>
            <a:pPr eaLnBrk="1" hangingPunct="1"/>
            <a:endParaRPr lang="it-IT">
              <a:latin typeface="Arial" pitchFamily="34" charset="0"/>
            </a:endParaRPr>
          </a:p>
        </p:txBody>
      </p:sp>
    </p:spTree>
    <p:extLst>
      <p:ext uri="{BB962C8B-B14F-4D97-AF65-F5344CB8AC3E}">
        <p14:creationId xmlns:p14="http://schemas.microsoft.com/office/powerpoint/2010/main" val="65426227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Slide Image Placeholder 1"/>
          <p:cNvSpPr>
            <a:spLocks noGrp="1" noRot="1" noChangeAspect="1" noTextEdit="1"/>
          </p:cNvSpPr>
          <p:nvPr>
            <p:ph type="sldImg"/>
          </p:nvPr>
        </p:nvSpPr>
        <p:spPr>
          <a:ln/>
        </p:spPr>
      </p:sp>
      <p:sp>
        <p:nvSpPr>
          <p:cNvPr id="119811" name="Notes Placeholder 2"/>
          <p:cNvSpPr>
            <a:spLocks noGrp="1"/>
          </p:cNvSpPr>
          <p:nvPr>
            <p:ph type="body" idx="1"/>
          </p:nvPr>
        </p:nvSpPr>
        <p:spPr>
          <a:noFill/>
          <a:ln/>
        </p:spPr>
        <p:txBody>
          <a:bodyPr/>
          <a:lstStyle/>
          <a:p>
            <a:pPr eaLnBrk="1" hangingPunct="1"/>
            <a:endParaRPr lang="it-IT" dirty="0">
              <a:latin typeface="Arial" pitchFamily="34" charset="0"/>
            </a:endParaRPr>
          </a:p>
        </p:txBody>
      </p:sp>
    </p:spTree>
    <p:extLst>
      <p:ext uri="{BB962C8B-B14F-4D97-AF65-F5344CB8AC3E}">
        <p14:creationId xmlns:p14="http://schemas.microsoft.com/office/powerpoint/2010/main" val="26535739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2130425"/>
            <a:ext cx="7772400" cy="1470025"/>
          </a:xfrm>
        </p:spPr>
        <p:txBody>
          <a:bodyPr/>
          <a:lstStyle/>
          <a:p>
            <a:r>
              <a:rPr lang="it-IT"/>
              <a:t>Fare clic per modificare lo stile del titolo</a:t>
            </a:r>
          </a:p>
        </p:txBody>
      </p:sp>
      <p:sp>
        <p:nvSpPr>
          <p:cNvPr id="3" name="Sottotitolo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it-IT"/>
              <a:t>Fare clic per modificare lo stile del sottotitolo dello schema</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Introduzione </a:t>
            </a:r>
          </a:p>
        </p:txBody>
      </p:sp>
      <p:sp>
        <p:nvSpPr>
          <p:cNvPr id="6" name="Rectangle 6"/>
          <p:cNvSpPr>
            <a:spLocks noGrp="1" noChangeArrowheads="1"/>
          </p:cNvSpPr>
          <p:nvPr>
            <p:ph type="sldNum" sz="quarter" idx="12"/>
          </p:nvPr>
        </p:nvSpPr>
        <p:spPr>
          <a:ln/>
        </p:spPr>
        <p:txBody>
          <a:bodyPr/>
          <a:lstStyle>
            <a:lvl1pPr>
              <a:defRPr/>
            </a:lvl1pPr>
          </a:lstStyle>
          <a:p>
            <a:pPr>
              <a:defRPr/>
            </a:pPr>
            <a:r>
              <a:rPr lang="it-IT"/>
              <a:t>Introduzione </a:t>
            </a:r>
            <a:fld id="{BD976549-189E-4A00-AD4B-129F1657D81C}" type="slidenum">
              <a:rPr lang="it-IT"/>
              <a:pPr>
                <a:defRPr/>
              </a:pPr>
              <a:t>‹#›</a:t>
            </a:fld>
            <a:endParaRPr lang="it-IT"/>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idx="1"/>
          </p:nvPr>
        </p:nvSpPr>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Introduzione </a:t>
            </a:r>
          </a:p>
        </p:txBody>
      </p:sp>
      <p:sp>
        <p:nvSpPr>
          <p:cNvPr id="6" name="Rectangle 6"/>
          <p:cNvSpPr>
            <a:spLocks noGrp="1" noChangeArrowheads="1"/>
          </p:cNvSpPr>
          <p:nvPr>
            <p:ph type="sldNum" sz="quarter" idx="12"/>
          </p:nvPr>
        </p:nvSpPr>
        <p:spPr>
          <a:ln/>
        </p:spPr>
        <p:txBody>
          <a:bodyPr/>
          <a:lstStyle>
            <a:lvl1pPr>
              <a:defRPr/>
            </a:lvl1pPr>
          </a:lstStyle>
          <a:p>
            <a:pPr>
              <a:defRPr/>
            </a:pPr>
            <a:r>
              <a:rPr lang="it-IT"/>
              <a:t>Introduzione </a:t>
            </a:r>
            <a:fld id="{7892A7F7-F0EA-4D9C-9B5D-B9E96502A89C}" type="slidenum">
              <a:rPr lang="it-IT"/>
              <a:pPr>
                <a:defRPr/>
              </a:pPr>
              <a:t>‹#›</a:t>
            </a:fld>
            <a:endParaRPr lang="it-IT"/>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22313" y="4406900"/>
            <a:ext cx="7772400" cy="1362075"/>
          </a:xfrm>
        </p:spPr>
        <p:txBody>
          <a:bodyPr anchor="t"/>
          <a:lstStyle>
            <a:lvl1pPr algn="l">
              <a:defRPr sz="4000" b="1" cap="all"/>
            </a:lvl1pPr>
          </a:lstStyle>
          <a:p>
            <a:r>
              <a:rPr lang="it-IT"/>
              <a:t>Fare clic per modificare lo stile del titolo</a:t>
            </a:r>
          </a:p>
        </p:txBody>
      </p:sp>
      <p:sp>
        <p:nvSpPr>
          <p:cNvPr id="3" name="Segnaposto testo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it-IT"/>
              <a:t>Fare clic per modificare stili del testo dello schema</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Introduzione </a:t>
            </a:r>
          </a:p>
        </p:txBody>
      </p:sp>
      <p:sp>
        <p:nvSpPr>
          <p:cNvPr id="6" name="Rectangle 6"/>
          <p:cNvSpPr>
            <a:spLocks noGrp="1" noChangeArrowheads="1"/>
          </p:cNvSpPr>
          <p:nvPr>
            <p:ph type="sldNum" sz="quarter" idx="12"/>
          </p:nvPr>
        </p:nvSpPr>
        <p:spPr>
          <a:ln/>
        </p:spPr>
        <p:txBody>
          <a:bodyPr/>
          <a:lstStyle>
            <a:lvl1pPr>
              <a:defRPr/>
            </a:lvl1pPr>
          </a:lstStyle>
          <a:p>
            <a:pPr>
              <a:defRPr/>
            </a:pPr>
            <a:r>
              <a:rPr lang="it-IT"/>
              <a:t>Introduzione </a:t>
            </a:r>
            <a:fld id="{E2A4DE41-7324-464B-B342-EB42B89E66CA}" type="slidenum">
              <a:rPr lang="it-IT"/>
              <a:pPr>
                <a:defRPr/>
              </a:pPr>
              <a:t>‹#›</a:t>
            </a:fld>
            <a:endParaRPr lang="it-IT"/>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Introduzione </a:t>
            </a:r>
          </a:p>
        </p:txBody>
      </p:sp>
      <p:sp>
        <p:nvSpPr>
          <p:cNvPr id="7" name="Rectangle 6"/>
          <p:cNvSpPr>
            <a:spLocks noGrp="1" noChangeArrowheads="1"/>
          </p:cNvSpPr>
          <p:nvPr>
            <p:ph type="sldNum" sz="quarter" idx="12"/>
          </p:nvPr>
        </p:nvSpPr>
        <p:spPr>
          <a:ln/>
        </p:spPr>
        <p:txBody>
          <a:bodyPr/>
          <a:lstStyle>
            <a:lvl1pPr>
              <a:defRPr/>
            </a:lvl1pPr>
          </a:lstStyle>
          <a:p>
            <a:pPr>
              <a:defRPr/>
            </a:pPr>
            <a:r>
              <a:rPr lang="it-IT"/>
              <a:t>Introduzione </a:t>
            </a:r>
            <a:fld id="{058A68AB-B388-43BB-9AF0-18784B7EB792}" type="slidenum">
              <a:rPr lang="it-IT"/>
              <a:pPr>
                <a:defRPr/>
              </a:pPr>
              <a:t>‹#›</a:t>
            </a:fld>
            <a:endParaRPr lang="it-IT"/>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a:xfrm>
            <a:off x="457200" y="274638"/>
            <a:ext cx="8229600" cy="1143000"/>
          </a:xfrm>
        </p:spPr>
        <p:txBody>
          <a:bodyPr/>
          <a:lstStyle>
            <a:lvl1pPr>
              <a:defRPr/>
            </a:lvl1pPr>
          </a:lstStyle>
          <a:p>
            <a:r>
              <a:rPr lang="it-IT"/>
              <a:t>Fare clic per modificare lo stile del titolo</a:t>
            </a:r>
          </a:p>
        </p:txBody>
      </p:sp>
      <p:sp>
        <p:nvSpPr>
          <p:cNvPr id="3" name="Segnaposto tes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4" name="Segnaposto contenut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6" name="Segnaposto contenut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r>
              <a:rPr lang="en-US"/>
              <a:t>Introduzione </a:t>
            </a:r>
          </a:p>
        </p:txBody>
      </p:sp>
      <p:sp>
        <p:nvSpPr>
          <p:cNvPr id="9" name="Rectangle 6"/>
          <p:cNvSpPr>
            <a:spLocks noGrp="1" noChangeArrowheads="1"/>
          </p:cNvSpPr>
          <p:nvPr>
            <p:ph type="sldNum" sz="quarter" idx="12"/>
          </p:nvPr>
        </p:nvSpPr>
        <p:spPr>
          <a:ln/>
        </p:spPr>
        <p:txBody>
          <a:bodyPr/>
          <a:lstStyle>
            <a:lvl1pPr>
              <a:defRPr/>
            </a:lvl1pPr>
          </a:lstStyle>
          <a:p>
            <a:pPr>
              <a:defRPr/>
            </a:pPr>
            <a:r>
              <a:rPr lang="it-IT"/>
              <a:t>Introduzione </a:t>
            </a:r>
            <a:fld id="{8712E18B-0C0E-493C-A1FA-24A74EDBEE25}" type="slidenum">
              <a:rPr lang="it-IT"/>
              <a:pPr>
                <a:defRPr/>
              </a:pPr>
              <a:t>‹#›</a:t>
            </a:fld>
            <a:endParaRPr lang="it-IT"/>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r>
              <a:rPr lang="en-US"/>
              <a:t>Introduzione </a:t>
            </a:r>
          </a:p>
        </p:txBody>
      </p:sp>
      <p:sp>
        <p:nvSpPr>
          <p:cNvPr id="5" name="Rectangle 6"/>
          <p:cNvSpPr>
            <a:spLocks noGrp="1" noChangeArrowheads="1"/>
          </p:cNvSpPr>
          <p:nvPr>
            <p:ph type="sldNum" sz="quarter" idx="12"/>
          </p:nvPr>
        </p:nvSpPr>
        <p:spPr>
          <a:ln/>
        </p:spPr>
        <p:txBody>
          <a:bodyPr/>
          <a:lstStyle>
            <a:lvl1pPr>
              <a:defRPr/>
            </a:lvl1pPr>
          </a:lstStyle>
          <a:p>
            <a:pPr>
              <a:defRPr/>
            </a:pPr>
            <a:r>
              <a:rPr lang="it-IT"/>
              <a:t>Introduzione </a:t>
            </a:r>
            <a:fld id="{16530A7B-DB72-4936-BE16-D7DA969E8A45}" type="slidenum">
              <a:rPr lang="it-IT"/>
              <a:pPr>
                <a:defRPr/>
              </a:pPr>
              <a:t>‹#›</a:t>
            </a:fld>
            <a:endParaRPr lang="it-IT"/>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457200" y="273050"/>
            <a:ext cx="3008313" cy="1162050"/>
          </a:xfrm>
        </p:spPr>
        <p:txBody>
          <a:bodyPr anchor="b"/>
          <a:lstStyle>
            <a:lvl1pPr algn="l">
              <a:defRPr sz="2000" b="1"/>
            </a:lvl1pPr>
          </a:lstStyle>
          <a:p>
            <a:r>
              <a:rPr lang="it-IT"/>
              <a:t>Fare clic per modificare lo stile del titolo</a:t>
            </a:r>
          </a:p>
        </p:txBody>
      </p:sp>
      <p:sp>
        <p:nvSpPr>
          <p:cNvPr id="3" name="Segnaposto contenut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stili del testo dello schema</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Introduzione </a:t>
            </a:r>
          </a:p>
        </p:txBody>
      </p:sp>
      <p:sp>
        <p:nvSpPr>
          <p:cNvPr id="7" name="Rectangle 6"/>
          <p:cNvSpPr>
            <a:spLocks noGrp="1" noChangeArrowheads="1"/>
          </p:cNvSpPr>
          <p:nvPr>
            <p:ph type="sldNum" sz="quarter" idx="12"/>
          </p:nvPr>
        </p:nvSpPr>
        <p:spPr>
          <a:ln/>
        </p:spPr>
        <p:txBody>
          <a:bodyPr/>
          <a:lstStyle>
            <a:lvl1pPr>
              <a:defRPr/>
            </a:lvl1pPr>
          </a:lstStyle>
          <a:p>
            <a:pPr>
              <a:defRPr/>
            </a:pPr>
            <a:r>
              <a:rPr lang="it-IT"/>
              <a:t>Introduzione </a:t>
            </a:r>
            <a:fld id="{58DC0C45-089B-46C9-AED6-5C3BA0680CC1}" type="slidenum">
              <a:rPr lang="it-IT"/>
              <a:pPr>
                <a:defRPr/>
              </a:pPr>
              <a:t>‹#›</a:t>
            </a:fld>
            <a:endParaRPr lang="it-IT"/>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792288" y="4800600"/>
            <a:ext cx="5486400" cy="566738"/>
          </a:xfrm>
        </p:spPr>
        <p:txBody>
          <a:bodyPr anchor="b"/>
          <a:lstStyle>
            <a:lvl1pPr algn="l">
              <a:defRPr sz="2000" b="1"/>
            </a:lvl1pPr>
          </a:lstStyle>
          <a:p>
            <a:r>
              <a:rPr lang="it-IT"/>
              <a:t>Fare clic per modificare lo stile del titolo</a:t>
            </a:r>
          </a:p>
        </p:txBody>
      </p:sp>
      <p:sp>
        <p:nvSpPr>
          <p:cNvPr id="3" name="Segnaposto immagin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it-IT" noProof="0"/>
          </a:p>
        </p:txBody>
      </p:sp>
      <p:sp>
        <p:nvSpPr>
          <p:cNvPr id="4" name="Segnaposto tes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stili del testo dello schema</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Introduzione </a:t>
            </a:r>
          </a:p>
        </p:txBody>
      </p:sp>
      <p:sp>
        <p:nvSpPr>
          <p:cNvPr id="7" name="Rectangle 6"/>
          <p:cNvSpPr>
            <a:spLocks noGrp="1" noChangeArrowheads="1"/>
          </p:cNvSpPr>
          <p:nvPr>
            <p:ph type="sldNum" sz="quarter" idx="12"/>
          </p:nvPr>
        </p:nvSpPr>
        <p:spPr>
          <a:ln/>
        </p:spPr>
        <p:txBody>
          <a:bodyPr/>
          <a:lstStyle>
            <a:lvl1pPr>
              <a:defRPr/>
            </a:lvl1pPr>
          </a:lstStyle>
          <a:p>
            <a:pPr>
              <a:defRPr/>
            </a:pPr>
            <a:r>
              <a:rPr lang="it-IT"/>
              <a:t>Introduzione </a:t>
            </a:r>
            <a:fld id="{D29A0981-BA23-4096-A5CF-0262FA87AA0A}" type="slidenum">
              <a:rPr lang="it-IT"/>
              <a:pPr>
                <a:defRPr/>
              </a:pPr>
              <a:t>‹#›</a:t>
            </a:fld>
            <a:endParaRPr lang="it-IT"/>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testo verticale 2"/>
          <p:cNvSpPr>
            <a:spLocks noGrp="1"/>
          </p:cNvSpPr>
          <p:nvPr>
            <p:ph type="body" orient="vert" idx="1"/>
          </p:nvPr>
        </p:nvSpPr>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Introduzione </a:t>
            </a:r>
          </a:p>
        </p:txBody>
      </p:sp>
      <p:sp>
        <p:nvSpPr>
          <p:cNvPr id="6" name="Rectangle 6"/>
          <p:cNvSpPr>
            <a:spLocks noGrp="1" noChangeArrowheads="1"/>
          </p:cNvSpPr>
          <p:nvPr>
            <p:ph type="sldNum" sz="quarter" idx="12"/>
          </p:nvPr>
        </p:nvSpPr>
        <p:spPr>
          <a:ln/>
        </p:spPr>
        <p:txBody>
          <a:bodyPr/>
          <a:lstStyle>
            <a:lvl1pPr>
              <a:defRPr/>
            </a:lvl1pPr>
          </a:lstStyle>
          <a:p>
            <a:pPr>
              <a:defRPr/>
            </a:pPr>
            <a:r>
              <a:rPr lang="it-IT"/>
              <a:t>Introduzione </a:t>
            </a:r>
            <a:fld id="{A2FAED36-CBC9-4411-B65D-43CCEEB022B1}" type="slidenum">
              <a:rPr lang="it-IT"/>
              <a:pPr>
                <a:defRPr/>
              </a:pPr>
              <a:t>‹#›</a:t>
            </a:fld>
            <a:endParaRPr lang="it-IT"/>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6515100" y="609600"/>
            <a:ext cx="1943100" cy="5486400"/>
          </a:xfrm>
        </p:spPr>
        <p:txBody>
          <a:bodyPr vert="eaVert"/>
          <a:lstStyle/>
          <a:p>
            <a:r>
              <a:rPr lang="it-IT"/>
              <a:t>Fare clic per modificare lo stile del titolo</a:t>
            </a:r>
          </a:p>
        </p:txBody>
      </p:sp>
      <p:sp>
        <p:nvSpPr>
          <p:cNvPr id="3" name="Segnaposto testo verticale 2"/>
          <p:cNvSpPr>
            <a:spLocks noGrp="1"/>
          </p:cNvSpPr>
          <p:nvPr>
            <p:ph type="body" orient="vert" idx="1"/>
          </p:nvPr>
        </p:nvSpPr>
        <p:spPr>
          <a:xfrm>
            <a:off x="685800" y="609600"/>
            <a:ext cx="5676900" cy="5486400"/>
          </a:xfrm>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Introduzione </a:t>
            </a:r>
          </a:p>
        </p:txBody>
      </p:sp>
      <p:sp>
        <p:nvSpPr>
          <p:cNvPr id="6" name="Rectangle 6"/>
          <p:cNvSpPr>
            <a:spLocks noGrp="1" noChangeArrowheads="1"/>
          </p:cNvSpPr>
          <p:nvPr>
            <p:ph type="sldNum" sz="quarter" idx="12"/>
          </p:nvPr>
        </p:nvSpPr>
        <p:spPr>
          <a:ln/>
        </p:spPr>
        <p:txBody>
          <a:bodyPr/>
          <a:lstStyle>
            <a:lvl1pPr>
              <a:defRPr/>
            </a:lvl1pPr>
          </a:lstStyle>
          <a:p>
            <a:pPr>
              <a:defRPr/>
            </a:pPr>
            <a:r>
              <a:rPr lang="it-IT"/>
              <a:t>Introduzione </a:t>
            </a:r>
            <a:fld id="{A7C786C9-A5BD-40FB-8C77-F1DFABFBBA5B}" type="slidenum">
              <a:rPr lang="it-IT"/>
              <a:pPr>
                <a:defRPr/>
              </a:pPr>
              <a:t>‹#›</a:t>
            </a:fld>
            <a:endParaRPr lang="it-IT"/>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5" name="Title 4"/>
          <p:cNvSpPr>
            <a:spLocks noGrp="1"/>
          </p:cNvSpPr>
          <p:nvPr>
            <p:ph type="title"/>
          </p:nvPr>
        </p:nvSpPr>
        <p:spPr>
          <a:xfrm>
            <a:off x="457200" y="274638"/>
            <a:ext cx="8229600" cy="1143000"/>
          </a:xfrm>
          <a:prstGeom prst="rect">
            <a:avLst/>
          </a:prstGeom>
        </p:spPr>
        <p:txBody>
          <a:bodyPr/>
          <a:lstStyle/>
          <a:p>
            <a:r>
              <a:rPr lang="en-US"/>
              <a:t>Click to edit Master title style</a:t>
            </a:r>
            <a:endParaRPr lang="it-IT"/>
          </a:p>
        </p:txBody>
      </p:sp>
      <p:sp>
        <p:nvSpPr>
          <p:cNvPr id="4"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r>
              <a:rPr lang="it-IT" dirty="0"/>
              <a:t>OpenStack</a:t>
            </a:r>
            <a:fld id="{A7C9C766-E516-4B2D-9256-4BF5CB5C4E52}" type="slidenum">
              <a:rPr lang="it-IT" smtClean="0"/>
              <a:pPr>
                <a:defRPr/>
              </a:pPr>
              <a:t>‹#›</a:t>
            </a:fld>
            <a:endParaRPr lang="it-IT" dirty="0"/>
          </a:p>
        </p:txBody>
      </p:sp>
    </p:spTree>
    <p:extLst>
      <p:ext uri="{BB962C8B-B14F-4D97-AF65-F5344CB8AC3E}">
        <p14:creationId xmlns:p14="http://schemas.microsoft.com/office/powerpoint/2010/main" val="12447896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Simple Slide">
    <p:spTree>
      <p:nvGrpSpPr>
        <p:cNvPr id="1" name=""/>
        <p:cNvGrpSpPr/>
        <p:nvPr/>
      </p:nvGrpSpPr>
      <p:grpSpPr>
        <a:xfrm>
          <a:off x="0" y="0"/>
          <a:ext cx="0" cy="0"/>
          <a:chOff x="0" y="0"/>
          <a:chExt cx="0" cy="0"/>
        </a:xfrm>
      </p:grpSpPr>
      <p:sp>
        <p:nvSpPr>
          <p:cNvPr id="8" name="Titolo 1"/>
          <p:cNvSpPr>
            <a:spLocks noGrp="1"/>
          </p:cNvSpPr>
          <p:nvPr>
            <p:ph type="ctrTitle" hasCustomPrompt="1"/>
          </p:nvPr>
        </p:nvSpPr>
        <p:spPr>
          <a:xfrm>
            <a:off x="2214546" y="285728"/>
            <a:ext cx="6600844" cy="642942"/>
          </a:xfrm>
          <a:prstGeom prst="rect">
            <a:avLst/>
          </a:prstGeom>
        </p:spPr>
        <p:txBody>
          <a:bodyPr/>
          <a:lstStyle>
            <a:lvl1pPr algn="r">
              <a:defRPr sz="3200" baseline="0">
                <a:solidFill>
                  <a:schemeClr val="bg1"/>
                </a:solidFill>
                <a:latin typeface="Arial" pitchFamily="34" charset="0"/>
                <a:cs typeface="Arial" pitchFamily="34" charset="0"/>
              </a:defRPr>
            </a:lvl1pPr>
          </a:lstStyle>
          <a:p>
            <a:r>
              <a:rPr lang="it-IT" dirty="0"/>
              <a:t>Slide </a:t>
            </a:r>
            <a:r>
              <a:rPr lang="it-IT" dirty="0" err="1"/>
              <a:t>title</a:t>
            </a:r>
            <a:r>
              <a:rPr lang="it-IT" dirty="0"/>
              <a:t> </a:t>
            </a:r>
            <a:r>
              <a:rPr lang="it-IT" dirty="0" err="1"/>
              <a:t>goes</a:t>
            </a:r>
            <a:r>
              <a:rPr lang="it-IT" dirty="0"/>
              <a:t> </a:t>
            </a:r>
            <a:r>
              <a:rPr lang="it-IT" dirty="0" err="1"/>
              <a:t>here</a:t>
            </a:r>
            <a:endParaRPr lang="it-IT" dirty="0"/>
          </a:p>
        </p:txBody>
      </p:sp>
      <p:sp>
        <p:nvSpPr>
          <p:cNvPr id="14" name="Segnaposto testo 13"/>
          <p:cNvSpPr>
            <a:spLocks noGrp="1"/>
          </p:cNvSpPr>
          <p:nvPr>
            <p:ph type="body" sz="quarter" idx="14" hasCustomPrompt="1"/>
          </p:nvPr>
        </p:nvSpPr>
        <p:spPr>
          <a:xfrm>
            <a:off x="428596" y="1357298"/>
            <a:ext cx="8358246" cy="4429156"/>
          </a:xfrm>
          <a:prstGeom prst="rect">
            <a:avLst/>
          </a:prstGeom>
        </p:spPr>
        <p:txBody>
          <a:bodyPr/>
          <a:lstStyle>
            <a:lvl1pPr>
              <a:defRPr sz="2800" baseline="0">
                <a:latin typeface="Arial" pitchFamily="34" charset="0"/>
                <a:cs typeface="Arial" pitchFamily="34" charset="0"/>
              </a:defRPr>
            </a:lvl1pPr>
            <a:lvl2pPr>
              <a:defRPr sz="2400">
                <a:latin typeface="Arial" pitchFamily="34" charset="0"/>
                <a:cs typeface="Arial" pitchFamily="34" charset="0"/>
              </a:defRPr>
            </a:lvl2pPr>
            <a:lvl3pPr>
              <a:defRPr sz="2000" baseline="0">
                <a:latin typeface="Arial" pitchFamily="34" charset="0"/>
                <a:cs typeface="Arial" pitchFamily="34" charset="0"/>
              </a:defRPr>
            </a:lvl3pPr>
            <a:lvl4pPr>
              <a:defRPr sz="1800">
                <a:latin typeface="Arial" pitchFamily="34" charset="0"/>
                <a:cs typeface="Arial" pitchFamily="34" charset="0"/>
              </a:defRPr>
            </a:lvl4pPr>
            <a:lvl5pPr>
              <a:defRPr sz="1600" baseline="0">
                <a:latin typeface="Arial" pitchFamily="34" charset="0"/>
                <a:cs typeface="Arial" pitchFamily="34" charset="0"/>
              </a:defRPr>
            </a:lvl5pPr>
          </a:lstStyle>
          <a:p>
            <a:pPr lvl="0"/>
            <a:r>
              <a:rPr lang="it-IT" dirty="0" err="1"/>
              <a:t>Write</a:t>
            </a:r>
            <a:r>
              <a:rPr lang="it-IT" dirty="0"/>
              <a:t> </a:t>
            </a:r>
            <a:r>
              <a:rPr lang="it-IT" dirty="0" err="1"/>
              <a:t>your</a:t>
            </a:r>
            <a:r>
              <a:rPr lang="it-IT" dirty="0"/>
              <a:t> text </a:t>
            </a:r>
            <a:r>
              <a:rPr lang="it-IT" dirty="0" err="1"/>
              <a:t>here</a:t>
            </a:r>
            <a:endParaRPr lang="it-IT" dirty="0"/>
          </a:p>
          <a:p>
            <a:pPr lvl="1"/>
            <a:r>
              <a:rPr lang="it-IT" dirty="0" err="1"/>
              <a:t>Second</a:t>
            </a:r>
            <a:r>
              <a:rPr lang="it-IT" dirty="0"/>
              <a:t> </a:t>
            </a:r>
            <a:r>
              <a:rPr lang="it-IT" dirty="0" err="1"/>
              <a:t>level</a:t>
            </a:r>
            <a:endParaRPr lang="it-IT" dirty="0"/>
          </a:p>
          <a:p>
            <a:pPr lvl="2"/>
            <a:r>
              <a:rPr lang="it-IT" dirty="0" err="1"/>
              <a:t>Third</a:t>
            </a:r>
            <a:r>
              <a:rPr lang="it-IT" dirty="0"/>
              <a:t> </a:t>
            </a:r>
            <a:r>
              <a:rPr lang="it-IT" dirty="0" err="1"/>
              <a:t>level</a:t>
            </a:r>
            <a:endParaRPr lang="it-IT" dirty="0"/>
          </a:p>
          <a:p>
            <a:pPr lvl="3"/>
            <a:r>
              <a:rPr lang="it-IT" dirty="0"/>
              <a:t>And so on</a:t>
            </a:r>
          </a:p>
          <a:p>
            <a:pPr lvl="4"/>
            <a:r>
              <a:rPr lang="it-IT" dirty="0"/>
              <a:t>And on</a:t>
            </a:r>
          </a:p>
        </p:txBody>
      </p:sp>
      <p:sp>
        <p:nvSpPr>
          <p:cNvPr id="5" name="Rectangle 6"/>
          <p:cNvSpPr txBox="1">
            <a:spLocks noChangeArrowheads="1"/>
          </p:cNvSpPr>
          <p:nvPr userDrawn="1"/>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Tahoma" pitchFamily="34" charset="0"/>
                <a:ea typeface="+mn-ea"/>
                <a:cs typeface="+mn-cs"/>
              </a:defRPr>
            </a:lvl1pPr>
            <a:lvl2pPr marL="457200" algn="l" rtl="0" eaLnBrk="0" fontAlgn="base" hangingPunct="0">
              <a:spcBef>
                <a:spcPct val="0"/>
              </a:spcBef>
              <a:spcAft>
                <a:spcPct val="0"/>
              </a:spcAft>
              <a:defRPr sz="2400" kern="1200">
                <a:solidFill>
                  <a:schemeClr val="tx1"/>
                </a:solidFill>
                <a:latin typeface="Tahoma" pitchFamily="34" charset="0"/>
                <a:ea typeface="+mn-ea"/>
                <a:cs typeface="+mn-cs"/>
              </a:defRPr>
            </a:lvl2pPr>
            <a:lvl3pPr marL="914400" algn="l" rtl="0" eaLnBrk="0" fontAlgn="base" hangingPunct="0">
              <a:spcBef>
                <a:spcPct val="0"/>
              </a:spcBef>
              <a:spcAft>
                <a:spcPct val="0"/>
              </a:spcAft>
              <a:defRPr sz="2400" kern="1200">
                <a:solidFill>
                  <a:schemeClr val="tx1"/>
                </a:solidFill>
                <a:latin typeface="Tahoma"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Tahoma"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Tahoma" pitchFamily="34" charset="0"/>
                <a:ea typeface="+mn-ea"/>
                <a:cs typeface="+mn-cs"/>
              </a:defRPr>
            </a:lvl5pPr>
            <a:lvl6pPr marL="2286000" algn="l" defTabSz="914400" rtl="0" eaLnBrk="1" latinLnBrk="0" hangingPunct="1">
              <a:defRPr sz="2400" kern="1200">
                <a:solidFill>
                  <a:schemeClr val="tx1"/>
                </a:solidFill>
                <a:latin typeface="Tahoma" pitchFamily="34" charset="0"/>
                <a:ea typeface="+mn-ea"/>
                <a:cs typeface="+mn-cs"/>
              </a:defRPr>
            </a:lvl6pPr>
            <a:lvl7pPr marL="2743200" algn="l" defTabSz="914400" rtl="0" eaLnBrk="1" latinLnBrk="0" hangingPunct="1">
              <a:defRPr sz="2400" kern="1200">
                <a:solidFill>
                  <a:schemeClr val="tx1"/>
                </a:solidFill>
                <a:latin typeface="Tahoma" pitchFamily="34" charset="0"/>
                <a:ea typeface="+mn-ea"/>
                <a:cs typeface="+mn-cs"/>
              </a:defRPr>
            </a:lvl7pPr>
            <a:lvl8pPr marL="3200400" algn="l" defTabSz="914400" rtl="0" eaLnBrk="1" latinLnBrk="0" hangingPunct="1">
              <a:defRPr sz="2400" kern="1200">
                <a:solidFill>
                  <a:schemeClr val="tx1"/>
                </a:solidFill>
                <a:latin typeface="Tahoma" pitchFamily="34" charset="0"/>
                <a:ea typeface="+mn-ea"/>
                <a:cs typeface="+mn-cs"/>
              </a:defRPr>
            </a:lvl8pPr>
            <a:lvl9pPr marL="3657600" algn="l" defTabSz="914400" rtl="0" eaLnBrk="1" latinLnBrk="0" hangingPunct="1">
              <a:defRPr sz="2400" kern="1200">
                <a:solidFill>
                  <a:schemeClr val="tx1"/>
                </a:solidFill>
                <a:latin typeface="Tahoma" pitchFamily="34" charset="0"/>
                <a:ea typeface="+mn-ea"/>
                <a:cs typeface="+mn-cs"/>
              </a:defRPr>
            </a:lvl9pPr>
          </a:lstStyle>
          <a:p>
            <a:pPr>
              <a:defRPr/>
            </a:pPr>
            <a:r>
              <a:rPr lang="it-IT" dirty="0"/>
              <a:t>OpenStack</a:t>
            </a:r>
            <a:fld id="{A7C9C766-E516-4B2D-9256-4BF5CB5C4E52}" type="slidenum">
              <a:rPr lang="it-IT" smtClean="0"/>
              <a:pPr>
                <a:defRPr/>
              </a:pPr>
              <a:t>‹#›</a:t>
            </a:fld>
            <a:endParaRPr lang="it-IT" dirty="0"/>
          </a:p>
        </p:txBody>
      </p:sp>
    </p:spTree>
    <p:extLst>
      <p:ext uri="{BB962C8B-B14F-4D97-AF65-F5344CB8AC3E}">
        <p14:creationId xmlns:p14="http://schemas.microsoft.com/office/powerpoint/2010/main" val="35778400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5" name="Rectangle 6"/>
          <p:cNvSpPr txBox="1">
            <a:spLocks noChangeArrowheads="1"/>
          </p:cNvSpPr>
          <p:nvPr userDrawn="1"/>
        </p:nvSpPr>
        <p:spPr bwMode="auto">
          <a:xfrm>
            <a:off x="7236296" y="6525344"/>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Tahoma" pitchFamily="34" charset="0"/>
                <a:ea typeface="+mn-ea"/>
                <a:cs typeface="+mn-cs"/>
              </a:defRPr>
            </a:lvl1pPr>
            <a:lvl2pPr marL="457200" algn="l" rtl="0" eaLnBrk="0" fontAlgn="base" hangingPunct="0">
              <a:spcBef>
                <a:spcPct val="0"/>
              </a:spcBef>
              <a:spcAft>
                <a:spcPct val="0"/>
              </a:spcAft>
              <a:defRPr sz="2400" kern="1200">
                <a:solidFill>
                  <a:schemeClr val="tx1"/>
                </a:solidFill>
                <a:latin typeface="Tahoma" pitchFamily="34" charset="0"/>
                <a:ea typeface="+mn-ea"/>
                <a:cs typeface="+mn-cs"/>
              </a:defRPr>
            </a:lvl2pPr>
            <a:lvl3pPr marL="914400" algn="l" rtl="0" eaLnBrk="0" fontAlgn="base" hangingPunct="0">
              <a:spcBef>
                <a:spcPct val="0"/>
              </a:spcBef>
              <a:spcAft>
                <a:spcPct val="0"/>
              </a:spcAft>
              <a:defRPr sz="2400" kern="1200">
                <a:solidFill>
                  <a:schemeClr val="tx1"/>
                </a:solidFill>
                <a:latin typeface="Tahoma"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Tahoma"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Tahoma" pitchFamily="34" charset="0"/>
                <a:ea typeface="+mn-ea"/>
                <a:cs typeface="+mn-cs"/>
              </a:defRPr>
            </a:lvl5pPr>
            <a:lvl6pPr marL="2286000" algn="l" defTabSz="914400" rtl="0" eaLnBrk="1" latinLnBrk="0" hangingPunct="1">
              <a:defRPr sz="2400" kern="1200">
                <a:solidFill>
                  <a:schemeClr val="tx1"/>
                </a:solidFill>
                <a:latin typeface="Tahoma" pitchFamily="34" charset="0"/>
                <a:ea typeface="+mn-ea"/>
                <a:cs typeface="+mn-cs"/>
              </a:defRPr>
            </a:lvl6pPr>
            <a:lvl7pPr marL="2743200" algn="l" defTabSz="914400" rtl="0" eaLnBrk="1" latinLnBrk="0" hangingPunct="1">
              <a:defRPr sz="2400" kern="1200">
                <a:solidFill>
                  <a:schemeClr val="tx1"/>
                </a:solidFill>
                <a:latin typeface="Tahoma" pitchFamily="34" charset="0"/>
                <a:ea typeface="+mn-ea"/>
                <a:cs typeface="+mn-cs"/>
              </a:defRPr>
            </a:lvl7pPr>
            <a:lvl8pPr marL="3200400" algn="l" defTabSz="914400" rtl="0" eaLnBrk="1" latinLnBrk="0" hangingPunct="1">
              <a:defRPr sz="2400" kern="1200">
                <a:solidFill>
                  <a:schemeClr val="tx1"/>
                </a:solidFill>
                <a:latin typeface="Tahoma" pitchFamily="34" charset="0"/>
                <a:ea typeface="+mn-ea"/>
                <a:cs typeface="+mn-cs"/>
              </a:defRPr>
            </a:lvl8pPr>
            <a:lvl9pPr marL="3657600" algn="l" defTabSz="914400" rtl="0" eaLnBrk="1" latinLnBrk="0" hangingPunct="1">
              <a:defRPr sz="2400" kern="1200">
                <a:solidFill>
                  <a:schemeClr val="tx1"/>
                </a:solidFill>
                <a:latin typeface="Tahoma" pitchFamily="34" charset="0"/>
                <a:ea typeface="+mn-ea"/>
                <a:cs typeface="+mn-cs"/>
              </a:defRPr>
            </a:lvl9pPr>
          </a:lstStyle>
          <a:p>
            <a:pPr>
              <a:defRPr/>
            </a:pPr>
            <a:r>
              <a:rPr lang="it-IT" dirty="0"/>
              <a:t>OpenStack </a:t>
            </a:r>
            <a:fld id="{A7C9C766-E516-4B2D-9256-4BF5CB5C4E52}" type="slidenum">
              <a:rPr lang="it-IT" smtClean="0"/>
              <a:pPr>
                <a:defRPr/>
              </a:pPr>
              <a:t>‹#›</a:t>
            </a:fld>
            <a:endParaRPr lang="it-IT"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6" name="Rectangle 6"/>
          <p:cNvSpPr txBox="1">
            <a:spLocks noChangeArrowheads="1"/>
          </p:cNvSpPr>
          <p:nvPr userDrawn="1"/>
        </p:nvSpPr>
        <p:spPr bwMode="auto">
          <a:xfrm>
            <a:off x="7236296" y="6525344"/>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Tahoma" pitchFamily="34" charset="0"/>
                <a:ea typeface="+mn-ea"/>
                <a:cs typeface="+mn-cs"/>
              </a:defRPr>
            </a:lvl1pPr>
            <a:lvl2pPr marL="457200" algn="l" rtl="0" eaLnBrk="0" fontAlgn="base" hangingPunct="0">
              <a:spcBef>
                <a:spcPct val="0"/>
              </a:spcBef>
              <a:spcAft>
                <a:spcPct val="0"/>
              </a:spcAft>
              <a:defRPr sz="2400" kern="1200">
                <a:solidFill>
                  <a:schemeClr val="tx1"/>
                </a:solidFill>
                <a:latin typeface="Tahoma" pitchFamily="34" charset="0"/>
                <a:ea typeface="+mn-ea"/>
                <a:cs typeface="+mn-cs"/>
              </a:defRPr>
            </a:lvl2pPr>
            <a:lvl3pPr marL="914400" algn="l" rtl="0" eaLnBrk="0" fontAlgn="base" hangingPunct="0">
              <a:spcBef>
                <a:spcPct val="0"/>
              </a:spcBef>
              <a:spcAft>
                <a:spcPct val="0"/>
              </a:spcAft>
              <a:defRPr sz="2400" kern="1200">
                <a:solidFill>
                  <a:schemeClr val="tx1"/>
                </a:solidFill>
                <a:latin typeface="Tahoma"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Tahoma"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Tahoma" pitchFamily="34" charset="0"/>
                <a:ea typeface="+mn-ea"/>
                <a:cs typeface="+mn-cs"/>
              </a:defRPr>
            </a:lvl5pPr>
            <a:lvl6pPr marL="2286000" algn="l" defTabSz="914400" rtl="0" eaLnBrk="1" latinLnBrk="0" hangingPunct="1">
              <a:defRPr sz="2400" kern="1200">
                <a:solidFill>
                  <a:schemeClr val="tx1"/>
                </a:solidFill>
                <a:latin typeface="Tahoma" pitchFamily="34" charset="0"/>
                <a:ea typeface="+mn-ea"/>
                <a:cs typeface="+mn-cs"/>
              </a:defRPr>
            </a:lvl6pPr>
            <a:lvl7pPr marL="2743200" algn="l" defTabSz="914400" rtl="0" eaLnBrk="1" latinLnBrk="0" hangingPunct="1">
              <a:defRPr sz="2400" kern="1200">
                <a:solidFill>
                  <a:schemeClr val="tx1"/>
                </a:solidFill>
                <a:latin typeface="Tahoma" pitchFamily="34" charset="0"/>
                <a:ea typeface="+mn-ea"/>
                <a:cs typeface="+mn-cs"/>
              </a:defRPr>
            </a:lvl7pPr>
            <a:lvl8pPr marL="3200400" algn="l" defTabSz="914400" rtl="0" eaLnBrk="1" latinLnBrk="0" hangingPunct="1">
              <a:defRPr sz="2400" kern="1200">
                <a:solidFill>
                  <a:schemeClr val="tx1"/>
                </a:solidFill>
                <a:latin typeface="Tahoma" pitchFamily="34" charset="0"/>
                <a:ea typeface="+mn-ea"/>
                <a:cs typeface="+mn-cs"/>
              </a:defRPr>
            </a:lvl8pPr>
            <a:lvl9pPr marL="3657600" algn="l" defTabSz="914400" rtl="0" eaLnBrk="1" latinLnBrk="0" hangingPunct="1">
              <a:defRPr sz="2400" kern="1200">
                <a:solidFill>
                  <a:schemeClr val="tx1"/>
                </a:solidFill>
                <a:latin typeface="Tahoma" pitchFamily="34" charset="0"/>
                <a:ea typeface="+mn-ea"/>
                <a:cs typeface="+mn-cs"/>
              </a:defRPr>
            </a:lvl9pPr>
          </a:lstStyle>
          <a:p>
            <a:pPr>
              <a:defRPr/>
            </a:pPr>
            <a:r>
              <a:rPr lang="it-IT" dirty="0"/>
              <a:t>OpenStack </a:t>
            </a:r>
            <a:fld id="{A7C9C766-E516-4B2D-9256-4BF5CB5C4E52}" type="slidenum">
              <a:rPr lang="it-IT" smtClean="0"/>
              <a:pPr>
                <a:defRPr/>
              </a:pPr>
              <a:t>‹#›</a:t>
            </a:fld>
            <a:endParaRPr lang="it-IT" dirty="0"/>
          </a:p>
        </p:txBody>
      </p:sp>
    </p:spTree>
    <p:extLst>
      <p:ext uri="{BB962C8B-B14F-4D97-AF65-F5344CB8AC3E}">
        <p14:creationId xmlns:p14="http://schemas.microsoft.com/office/powerpoint/2010/main" val="37635703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Fare clic per modificare lo stile del titolo dello schema</a:t>
            </a:r>
          </a:p>
        </p:txBody>
      </p:sp>
      <p:sp>
        <p:nvSpPr>
          <p:cNvPr id="1027"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Fare clic per modificare gli stili del testo dello schema</a:t>
            </a:r>
          </a:p>
          <a:p>
            <a:pPr lvl="1"/>
            <a:r>
              <a:rPr lang="en-US"/>
              <a:t>Secondo livello</a:t>
            </a:r>
          </a:p>
          <a:p>
            <a:pPr lvl="2"/>
            <a:r>
              <a:rPr lang="en-US"/>
              <a:t>Terzo livello</a:t>
            </a:r>
          </a:p>
          <a:p>
            <a:pPr lvl="3"/>
            <a:r>
              <a:rPr lang="en-US"/>
              <a:t>Quarto livello</a:t>
            </a:r>
          </a:p>
          <a:p>
            <a:pPr lvl="4"/>
            <a:r>
              <a:rPr lang="en-US"/>
              <a:t>Quinto livello</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r>
              <a:rPr lang="en-US"/>
              <a:t>Introduzione </a:t>
            </a: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r>
              <a:rPr lang="it-IT" dirty="0"/>
              <a:t>OpenStack</a:t>
            </a:r>
            <a:fld id="{A7C9C766-E516-4B2D-9256-4BF5CB5C4E52}" type="slidenum">
              <a:rPr lang="it-IT" smtClean="0"/>
              <a:pPr>
                <a:defRPr/>
              </a:pPr>
              <a:t>‹#›</a:t>
            </a:fld>
            <a:endParaRPr lang="it-IT"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 id="2147483657" r:id="rId8"/>
    <p:sldLayoutId id="2147483658" r:id="rId9"/>
    <p:sldLayoutId id="2147483659" r:id="rId10"/>
    <p:sldLayoutId id="2147483660" r:id="rId11"/>
    <p:sldLayoutId id="2147483661" r:id="rId12"/>
    <p:sldLayoutId id="2147483655" r:id="rId13"/>
    <p:sldLayoutId id="2147483662" r:id="rId14"/>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ahoma" pitchFamily="34" charset="0"/>
        </a:defRPr>
      </a:lvl2pPr>
      <a:lvl3pPr algn="ctr" rtl="0" eaLnBrk="0" fontAlgn="base" hangingPunct="0">
        <a:spcBef>
          <a:spcPct val="0"/>
        </a:spcBef>
        <a:spcAft>
          <a:spcPct val="0"/>
        </a:spcAft>
        <a:defRPr sz="4400">
          <a:solidFill>
            <a:schemeClr val="tx2"/>
          </a:solidFill>
          <a:latin typeface="Tahoma" pitchFamily="34" charset="0"/>
        </a:defRPr>
      </a:lvl3pPr>
      <a:lvl4pPr algn="ctr" rtl="0" eaLnBrk="0" fontAlgn="base" hangingPunct="0">
        <a:spcBef>
          <a:spcPct val="0"/>
        </a:spcBef>
        <a:spcAft>
          <a:spcPct val="0"/>
        </a:spcAft>
        <a:defRPr sz="4400">
          <a:solidFill>
            <a:schemeClr val="tx2"/>
          </a:solidFill>
          <a:latin typeface="Tahoma" pitchFamily="34" charset="0"/>
        </a:defRPr>
      </a:lvl4pPr>
      <a:lvl5pPr algn="ctr" rtl="0" eaLnBrk="0" fontAlgn="base" hangingPunct="0">
        <a:spcBef>
          <a:spcPct val="0"/>
        </a:spcBef>
        <a:spcAft>
          <a:spcPct val="0"/>
        </a:spcAft>
        <a:defRPr sz="4400">
          <a:solidFill>
            <a:schemeClr val="tx2"/>
          </a:solidFill>
          <a:latin typeface="Tahoma" pitchFamily="34" charset="0"/>
        </a:defRPr>
      </a:lvl5pPr>
      <a:lvl6pPr marL="457200" algn="ctr" rtl="0" eaLnBrk="0" fontAlgn="base" hangingPunct="0">
        <a:spcBef>
          <a:spcPct val="0"/>
        </a:spcBef>
        <a:spcAft>
          <a:spcPct val="0"/>
        </a:spcAft>
        <a:defRPr sz="4400">
          <a:solidFill>
            <a:schemeClr val="tx2"/>
          </a:solidFill>
          <a:latin typeface="Tahoma" pitchFamily="34" charset="0"/>
        </a:defRPr>
      </a:lvl6pPr>
      <a:lvl7pPr marL="914400" algn="ctr" rtl="0" eaLnBrk="0" fontAlgn="base" hangingPunct="0">
        <a:spcBef>
          <a:spcPct val="0"/>
        </a:spcBef>
        <a:spcAft>
          <a:spcPct val="0"/>
        </a:spcAft>
        <a:defRPr sz="4400">
          <a:solidFill>
            <a:schemeClr val="tx2"/>
          </a:solidFill>
          <a:latin typeface="Tahoma" pitchFamily="34" charset="0"/>
        </a:defRPr>
      </a:lvl7pPr>
      <a:lvl8pPr marL="1371600" algn="ctr" rtl="0" eaLnBrk="0" fontAlgn="base" hangingPunct="0">
        <a:spcBef>
          <a:spcPct val="0"/>
        </a:spcBef>
        <a:spcAft>
          <a:spcPct val="0"/>
        </a:spcAft>
        <a:defRPr sz="4400">
          <a:solidFill>
            <a:schemeClr val="tx2"/>
          </a:solidFill>
          <a:latin typeface="Tahoma" pitchFamily="34" charset="0"/>
        </a:defRPr>
      </a:lvl8pPr>
      <a:lvl9pPr marL="1828800" algn="ctr" rtl="0" eaLnBrk="0" fontAlgn="base" hangingPunct="0">
        <a:spcBef>
          <a:spcPct val="0"/>
        </a:spcBef>
        <a:spcAft>
          <a:spcPct val="0"/>
        </a:spcAft>
        <a:defRPr sz="4400">
          <a:solidFill>
            <a:schemeClr val="tx2"/>
          </a:solidFill>
          <a:latin typeface="Tahoma"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3.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2.xml"/><Relationship Id="rId1" Type="http://schemas.openxmlformats.org/officeDocument/2006/relationships/slideLayout" Target="../slideLayouts/slideLayout13.xml"/><Relationship Id="rId4" Type="http://schemas.openxmlformats.org/officeDocument/2006/relationships/image" Target="../media/image39.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5.xml"/><Relationship Id="rId1" Type="http://schemas.openxmlformats.org/officeDocument/2006/relationships/slideLayout" Target="../slideLayouts/slideLayout13.xml"/><Relationship Id="rId4" Type="http://schemas.openxmlformats.org/officeDocument/2006/relationships/image" Target="../media/image42.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3" Type="http://schemas.openxmlformats.org/officeDocument/2006/relationships/hyperlink" Target="http://docs.openstack.org/" TargetMode="External"/><Relationship Id="rId2" Type="http://schemas.openxmlformats.org/officeDocument/2006/relationships/notesSlide" Target="../notesSlides/notesSlide52.xml"/><Relationship Id="rId1" Type="http://schemas.openxmlformats.org/officeDocument/2006/relationships/slideLayout" Target="../slideLayouts/slideLayout13.xml"/><Relationship Id="rId6" Type="http://schemas.openxmlformats.org/officeDocument/2006/relationships/hyperlink" Target="http://www.slideshare.net/jasonhoutw/openstack-introduction" TargetMode="External"/><Relationship Id="rId5" Type="http://schemas.openxmlformats.org/officeDocument/2006/relationships/hyperlink" Target="http://devstack.org/" TargetMode="External"/><Relationship Id="rId4" Type="http://schemas.openxmlformats.org/officeDocument/2006/relationships/hyperlink" Target="https://wiki.openstack.org/wiki/Main_Pag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3"/>
          <p:cNvSpPr>
            <a:spLocks noGrp="1" noChangeArrowheads="1"/>
          </p:cNvSpPr>
          <p:nvPr>
            <p:ph type="subTitle" idx="1"/>
          </p:nvPr>
        </p:nvSpPr>
        <p:spPr>
          <a:xfrm>
            <a:off x="827088" y="5661248"/>
            <a:ext cx="7620000" cy="720502"/>
          </a:xfrm>
        </p:spPr>
        <p:txBody>
          <a:bodyPr/>
          <a:lstStyle/>
          <a:p>
            <a:r>
              <a:rPr lang="it-IT" sz="2400" b="1" dirty="0" err="1">
                <a:latin typeface="Helvetica" pitchFamily="34" charset="0"/>
              </a:rPr>
              <a:t>Slides</a:t>
            </a:r>
            <a:r>
              <a:rPr lang="it-IT" sz="2400" b="1" dirty="0">
                <a:latin typeface="Helvetica" pitchFamily="34" charset="0"/>
              </a:rPr>
              <a:t> from Antonio Corradi &amp; Luca </a:t>
            </a:r>
            <a:r>
              <a:rPr lang="it-IT" sz="2400" b="1" dirty="0" err="1">
                <a:latin typeface="Helvetica" pitchFamily="34" charset="0"/>
              </a:rPr>
              <a:t>Foschini</a:t>
            </a:r>
            <a:endParaRPr lang="it-IT" sz="2400" b="1" dirty="0">
              <a:latin typeface="Helvetica" pitchFamily="34" charset="0"/>
            </a:endParaRPr>
          </a:p>
          <a:p>
            <a:r>
              <a:rPr lang="it-IT" sz="2400" b="1" dirty="0" err="1">
                <a:latin typeface="Helvetica" pitchFamily="34" charset="0"/>
              </a:rPr>
              <a:t>Univ</a:t>
            </a:r>
            <a:r>
              <a:rPr lang="it-IT" sz="2400" b="1" dirty="0">
                <a:latin typeface="Helvetica" pitchFamily="34" charset="0"/>
              </a:rPr>
              <a:t>. of Bologna, </a:t>
            </a:r>
            <a:r>
              <a:rPr lang="it-IT" sz="2400" b="1" dirty="0" err="1">
                <a:latin typeface="Helvetica" pitchFamily="34" charset="0"/>
              </a:rPr>
              <a:t>Italy</a:t>
            </a:r>
            <a:endParaRPr lang="it-IT" sz="2400" b="1" dirty="0">
              <a:latin typeface="Helvetica" pitchFamily="34" charset="0"/>
            </a:endParaRPr>
          </a:p>
          <a:p>
            <a:r>
              <a:rPr lang="it-IT" sz="2400" b="1" dirty="0">
                <a:latin typeface="Helvetica" pitchFamily="34" charset="0"/>
              </a:rPr>
              <a:t>2014-2015</a:t>
            </a:r>
          </a:p>
        </p:txBody>
      </p:sp>
      <p:sp>
        <p:nvSpPr>
          <p:cNvPr id="2054" name="Rectangle 6"/>
          <p:cNvSpPr>
            <a:spLocks noChangeArrowheads="1"/>
          </p:cNvSpPr>
          <p:nvPr/>
        </p:nvSpPr>
        <p:spPr bwMode="auto">
          <a:xfrm>
            <a:off x="250825" y="3357563"/>
            <a:ext cx="8763000" cy="1066800"/>
          </a:xfrm>
          <a:prstGeom prst="rect">
            <a:avLst/>
          </a:prstGeom>
          <a:noFill/>
          <a:ln w="9525">
            <a:noFill/>
            <a:miter lim="800000"/>
            <a:headEnd/>
            <a:tailEnd/>
          </a:ln>
        </p:spPr>
        <p:txBody>
          <a:bodyPr/>
          <a:lstStyle/>
          <a:p>
            <a:pPr algn="ctr">
              <a:spcBef>
                <a:spcPct val="20000"/>
              </a:spcBef>
            </a:pPr>
            <a:r>
              <a:rPr lang="it-IT" sz="2800" b="1" i="1">
                <a:solidFill>
                  <a:srgbClr val="FF0000"/>
                </a:solidFill>
                <a:latin typeface="Helvetica" pitchFamily="34" charset="0"/>
              </a:rPr>
              <a:t>Cloud:    Openstack</a:t>
            </a:r>
            <a:endParaRPr lang="it-IT" b="1" i="1" dirty="0">
              <a:solidFill>
                <a:srgbClr val="FF0000"/>
              </a:solidFill>
              <a:latin typeface="Helvetica"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205" y="898476"/>
            <a:ext cx="9077325" cy="5534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3" name="Rectangle 5"/>
          <p:cNvSpPr>
            <a:spLocks noChangeArrowheads="1"/>
          </p:cNvSpPr>
          <p:nvPr/>
        </p:nvSpPr>
        <p:spPr bwMode="auto">
          <a:xfrm>
            <a:off x="683568" y="116632"/>
            <a:ext cx="7848600" cy="762000"/>
          </a:xfrm>
          <a:prstGeom prst="rect">
            <a:avLst/>
          </a:prstGeom>
          <a:noFill/>
          <a:ln w="9525">
            <a:noFill/>
            <a:miter lim="800000"/>
            <a:headEnd/>
            <a:tailEnd/>
          </a:ln>
          <a:effectLst/>
        </p:spPr>
        <p:txBody>
          <a:bodyPr anchor="ctr"/>
          <a:lstStyle/>
          <a:p>
            <a:pPr algn="ctr">
              <a:defRPr/>
            </a:pPr>
            <a:r>
              <a:rPr lang="en-US" sz="3200" b="1" dirty="0">
                <a:solidFill>
                  <a:srgbClr val="3366CC"/>
                </a:solidFill>
                <a:effectLst>
                  <a:outerShdw blurRad="38100" dist="38100" dir="2700000" algn="tl">
                    <a:srgbClr val="C0C0C0"/>
                  </a:outerShdw>
                </a:effectLst>
                <a:latin typeface="Helvetica" pitchFamily="34" charset="0"/>
              </a:rPr>
              <a:t>NIST   STANDARD   CLOUD </a:t>
            </a:r>
            <a:endParaRPr lang="it-IT" sz="3200" b="1" dirty="0">
              <a:latin typeface="Helvetica" pitchFamily="34" charset="0"/>
            </a:endParaRPr>
          </a:p>
        </p:txBody>
      </p:sp>
      <p:sp>
        <p:nvSpPr>
          <p:cNvPr id="74" name="Line 6"/>
          <p:cNvSpPr>
            <a:spLocks noChangeShapeType="1"/>
          </p:cNvSpPr>
          <p:nvPr/>
        </p:nvSpPr>
        <p:spPr bwMode="auto">
          <a:xfrm>
            <a:off x="326058" y="764704"/>
            <a:ext cx="8458200" cy="0"/>
          </a:xfrm>
          <a:prstGeom prst="line">
            <a:avLst/>
          </a:prstGeom>
          <a:noFill/>
          <a:ln w="28575">
            <a:solidFill>
              <a:srgbClr val="3366CC"/>
            </a:solidFill>
            <a:round/>
            <a:headEnd/>
            <a:tailEnd/>
          </a:ln>
        </p:spPr>
        <p:txBody>
          <a:bodyPr wrap="none" lIns="90000" tIns="46800" rIns="90000" bIns="46800" anchor="ctr">
            <a:spAutoFit/>
          </a:bodyPr>
          <a:lstStyle/>
          <a:p>
            <a:endParaRPr lang="it-IT"/>
          </a:p>
        </p:txBody>
      </p:sp>
      <p:sp>
        <p:nvSpPr>
          <p:cNvPr id="8" name="TextBox 7"/>
          <p:cNvSpPr txBox="1"/>
          <p:nvPr/>
        </p:nvSpPr>
        <p:spPr>
          <a:xfrm>
            <a:off x="69205" y="6447166"/>
            <a:ext cx="6514404" cy="369332"/>
          </a:xfrm>
          <a:prstGeom prst="rect">
            <a:avLst/>
          </a:prstGeom>
          <a:noFill/>
        </p:spPr>
        <p:txBody>
          <a:bodyPr wrap="square" rtlCol="0">
            <a:spAutoFit/>
          </a:bodyPr>
          <a:lstStyle/>
          <a:p>
            <a:r>
              <a:rPr lang="en-US" sz="1800" dirty="0">
                <a:latin typeface="Arial" panose="020B0604020202020204" pitchFamily="34" charset="0"/>
                <a:cs typeface="Arial" panose="020B0604020202020204" pitchFamily="34" charset="0"/>
              </a:rPr>
              <a:t>National Institute of Standards and Technology www.nist.gov/</a:t>
            </a:r>
            <a:endParaRPr lang="it-IT"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28654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cstate="print"/>
          <a:srcRect/>
          <a:stretch>
            <a:fillRect/>
          </a:stretch>
        </p:blipFill>
        <p:spPr bwMode="auto">
          <a:xfrm>
            <a:off x="185196" y="1298354"/>
            <a:ext cx="8839200" cy="4886325"/>
          </a:xfrm>
          <a:prstGeom prst="rect">
            <a:avLst/>
          </a:prstGeom>
          <a:noFill/>
          <a:ln w="9525">
            <a:noFill/>
            <a:miter lim="800000"/>
            <a:headEnd/>
            <a:tailEnd/>
          </a:ln>
        </p:spPr>
      </p:pic>
      <p:sp>
        <p:nvSpPr>
          <p:cNvPr id="5" name="Rectangle 5"/>
          <p:cNvSpPr>
            <a:spLocks noChangeArrowheads="1"/>
          </p:cNvSpPr>
          <p:nvPr/>
        </p:nvSpPr>
        <p:spPr bwMode="auto">
          <a:xfrm>
            <a:off x="683568" y="116632"/>
            <a:ext cx="7848600" cy="762000"/>
          </a:xfrm>
          <a:prstGeom prst="rect">
            <a:avLst/>
          </a:prstGeom>
          <a:noFill/>
          <a:ln w="9525">
            <a:noFill/>
            <a:miter lim="800000"/>
            <a:headEnd/>
            <a:tailEnd/>
          </a:ln>
          <a:effectLst/>
        </p:spPr>
        <p:txBody>
          <a:bodyPr anchor="ctr"/>
          <a:lstStyle/>
          <a:p>
            <a:pPr algn="ctr">
              <a:defRPr/>
            </a:pPr>
            <a:r>
              <a:rPr lang="en-US" sz="3200" b="1" dirty="0">
                <a:solidFill>
                  <a:srgbClr val="3366CC"/>
                </a:solidFill>
                <a:effectLst>
                  <a:outerShdw blurRad="38100" dist="38100" dir="2700000" algn="tl">
                    <a:srgbClr val="C0C0C0"/>
                  </a:outerShdw>
                </a:effectLst>
                <a:latin typeface="Helvetica" pitchFamily="34" charset="0"/>
              </a:rPr>
              <a:t>Known Deployment Models</a:t>
            </a:r>
            <a:endParaRPr lang="it-IT" sz="3200" b="1" dirty="0">
              <a:latin typeface="Helvetica" pitchFamily="34" charset="0"/>
            </a:endParaRPr>
          </a:p>
        </p:txBody>
      </p:sp>
      <p:sp>
        <p:nvSpPr>
          <p:cNvPr id="7" name="Line 6"/>
          <p:cNvSpPr>
            <a:spLocks noChangeShapeType="1"/>
          </p:cNvSpPr>
          <p:nvPr/>
        </p:nvSpPr>
        <p:spPr bwMode="auto">
          <a:xfrm>
            <a:off x="378768" y="878632"/>
            <a:ext cx="8458200" cy="0"/>
          </a:xfrm>
          <a:prstGeom prst="line">
            <a:avLst/>
          </a:prstGeom>
          <a:noFill/>
          <a:ln w="28575">
            <a:solidFill>
              <a:srgbClr val="3366CC"/>
            </a:solidFill>
            <a:round/>
            <a:headEnd/>
            <a:tailEnd/>
          </a:ln>
        </p:spPr>
        <p:txBody>
          <a:bodyPr wrap="none" lIns="90000" tIns="46800" rIns="90000" bIns="46800" anchor="ctr">
            <a:spAutoFit/>
          </a:bodyPr>
          <a:lstStyle/>
          <a:p>
            <a:endParaRPr lang="it-IT"/>
          </a:p>
        </p:txBody>
      </p:sp>
    </p:spTree>
    <p:extLst>
      <p:ext uri="{BB962C8B-B14F-4D97-AF65-F5344CB8AC3E}">
        <p14:creationId xmlns:p14="http://schemas.microsoft.com/office/powerpoint/2010/main" val="42288831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Rectangle 3"/>
          <p:cNvSpPr txBox="1">
            <a:spLocks noChangeArrowheads="1"/>
          </p:cNvSpPr>
          <p:nvPr/>
        </p:nvSpPr>
        <p:spPr>
          <a:xfrm>
            <a:off x="328753" y="1284288"/>
            <a:ext cx="8407400" cy="556087"/>
          </a:xfrm>
          <a:prstGeom prst="rect">
            <a:avLst/>
          </a:prstGeom>
        </p:spPr>
        <p:txBody>
          <a:bodyPr/>
          <a:lstStyle/>
          <a:p>
            <a:pPr marL="342900" indent="-342900" algn="l">
              <a:spcBef>
                <a:spcPct val="20000"/>
              </a:spcBef>
              <a:buClr>
                <a:schemeClr val="bg2"/>
              </a:buClr>
              <a:buSzPct val="75000"/>
              <a:buFont typeface="Wingdings" pitchFamily="2" charset="2"/>
              <a:buChar char="§"/>
              <a:defRPr/>
            </a:pPr>
            <a:r>
              <a:rPr lang="en-US" sz="2800" kern="0" dirty="0">
                <a:latin typeface="Arial" panose="020B0604020202020204" pitchFamily="34" charset="0"/>
                <a:cs typeface="Arial" panose="020B0604020202020204" pitchFamily="34" charset="0"/>
              </a:rPr>
              <a:t>First step: </a:t>
            </a:r>
            <a:r>
              <a:rPr lang="en-US" sz="2800" i="1" kern="0" dirty="0">
                <a:latin typeface="Arial" panose="020B0604020202020204" pitchFamily="34" charset="0"/>
                <a:cs typeface="Arial" panose="020B0604020202020204" pitchFamily="34" charset="0"/>
              </a:rPr>
              <a:t>Server virtualization</a:t>
            </a:r>
          </a:p>
        </p:txBody>
      </p:sp>
      <p:grpSp>
        <p:nvGrpSpPr>
          <p:cNvPr id="6" name="Group 9"/>
          <p:cNvGrpSpPr>
            <a:grpSpLocks noChangeAspect="1"/>
          </p:cNvGrpSpPr>
          <p:nvPr/>
        </p:nvGrpSpPr>
        <p:grpSpPr bwMode="auto">
          <a:xfrm>
            <a:off x="2229918" y="2075086"/>
            <a:ext cx="4558677" cy="1370170"/>
            <a:chOff x="-69" y="-48"/>
            <a:chExt cx="6387" cy="1920"/>
          </a:xfrm>
        </p:grpSpPr>
        <p:pic>
          <p:nvPicPr>
            <p:cNvPr id="7" name="Picture 1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6" y="176"/>
              <a:ext cx="1184" cy="1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8" name="Picture 1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02" y="176"/>
              <a:ext cx="1184" cy="1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9" name="Picture 12"/>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518" y="176"/>
              <a:ext cx="1184" cy="1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0" name="Picture 13"/>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134" y="176"/>
              <a:ext cx="1184" cy="1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1" name="Rectangle 14"/>
            <p:cNvSpPr>
              <a:spLocks/>
            </p:cNvSpPr>
            <p:nvPr/>
          </p:nvSpPr>
          <p:spPr bwMode="auto">
            <a:xfrm>
              <a:off x="555" y="-48"/>
              <a:ext cx="647"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p>
              <a:pPr algn="ctr" defTabSz="642123" fontAlgn="base">
                <a:spcBef>
                  <a:spcPct val="0"/>
                </a:spcBef>
                <a:spcAft>
                  <a:spcPct val="0"/>
                </a:spcAft>
              </a:pPr>
              <a:r>
                <a:rPr lang="en-US" sz="1000">
                  <a:solidFill>
                    <a:srgbClr val="232323"/>
                  </a:solidFill>
                  <a:latin typeface="Arial" panose="020B0604020202020204" pitchFamily="34" charset="0"/>
                  <a:cs typeface="Arial" panose="020B0604020202020204" pitchFamily="34" charset="0"/>
                  <a:sym typeface="Myriad Pro Bold" charset="0"/>
                </a:rPr>
                <a:t>HOST 1</a:t>
              </a:r>
            </a:p>
          </p:txBody>
        </p:sp>
        <p:sp>
          <p:nvSpPr>
            <p:cNvPr id="12" name="Rectangle 15"/>
            <p:cNvSpPr>
              <a:spLocks/>
            </p:cNvSpPr>
            <p:nvPr/>
          </p:nvSpPr>
          <p:spPr bwMode="auto">
            <a:xfrm>
              <a:off x="2171" y="-48"/>
              <a:ext cx="647"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p>
              <a:pPr algn="ctr" defTabSz="642123" fontAlgn="base">
                <a:spcBef>
                  <a:spcPct val="0"/>
                </a:spcBef>
                <a:spcAft>
                  <a:spcPct val="0"/>
                </a:spcAft>
              </a:pPr>
              <a:r>
                <a:rPr lang="en-US" sz="1000" dirty="0">
                  <a:solidFill>
                    <a:srgbClr val="232323"/>
                  </a:solidFill>
                  <a:latin typeface="Arial" panose="020B0604020202020204" pitchFamily="34" charset="0"/>
                  <a:cs typeface="Arial" panose="020B0604020202020204" pitchFamily="34" charset="0"/>
                  <a:sym typeface="Myriad Pro Bold" charset="0"/>
                </a:rPr>
                <a:t>HOST 2</a:t>
              </a:r>
            </a:p>
          </p:txBody>
        </p:sp>
        <p:sp>
          <p:nvSpPr>
            <p:cNvPr id="13" name="Rectangle 16"/>
            <p:cNvSpPr>
              <a:spLocks/>
            </p:cNvSpPr>
            <p:nvPr/>
          </p:nvSpPr>
          <p:spPr bwMode="auto">
            <a:xfrm>
              <a:off x="3787" y="-48"/>
              <a:ext cx="647"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p>
              <a:pPr algn="ctr" defTabSz="642123" fontAlgn="base">
                <a:spcBef>
                  <a:spcPct val="0"/>
                </a:spcBef>
                <a:spcAft>
                  <a:spcPct val="0"/>
                </a:spcAft>
              </a:pPr>
              <a:r>
                <a:rPr lang="en-US" sz="1000">
                  <a:solidFill>
                    <a:srgbClr val="232323"/>
                  </a:solidFill>
                  <a:latin typeface="Arial" panose="020B0604020202020204" pitchFamily="34" charset="0"/>
                  <a:cs typeface="Arial" panose="020B0604020202020204" pitchFamily="34" charset="0"/>
                  <a:sym typeface="Myriad Pro Bold" charset="0"/>
                </a:rPr>
                <a:t>HOST 3</a:t>
              </a:r>
            </a:p>
          </p:txBody>
        </p:sp>
        <p:sp>
          <p:nvSpPr>
            <p:cNvPr id="14" name="Rectangle 17"/>
            <p:cNvSpPr>
              <a:spLocks/>
            </p:cNvSpPr>
            <p:nvPr/>
          </p:nvSpPr>
          <p:spPr bwMode="auto">
            <a:xfrm>
              <a:off x="5149" y="-48"/>
              <a:ext cx="1154"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p>
              <a:pPr algn="ctr" defTabSz="642123" fontAlgn="base">
                <a:spcBef>
                  <a:spcPct val="0"/>
                </a:spcBef>
                <a:spcAft>
                  <a:spcPct val="0"/>
                </a:spcAft>
              </a:pPr>
              <a:r>
                <a:rPr lang="en-US" sz="1000">
                  <a:solidFill>
                    <a:srgbClr val="232323"/>
                  </a:solidFill>
                  <a:latin typeface="Arial" panose="020B0604020202020204" pitchFamily="34" charset="0"/>
                  <a:cs typeface="Arial" panose="020B0604020202020204" pitchFamily="34" charset="0"/>
                  <a:sym typeface="Myriad Pro Bold" charset="0"/>
                </a:rPr>
                <a:t>HOST 4, ETC.</a:t>
              </a:r>
            </a:p>
          </p:txBody>
        </p:sp>
        <p:sp>
          <p:nvSpPr>
            <p:cNvPr id="15" name="Rectangle 18"/>
            <p:cNvSpPr>
              <a:spLocks/>
            </p:cNvSpPr>
            <p:nvPr/>
          </p:nvSpPr>
          <p:spPr bwMode="auto">
            <a:xfrm>
              <a:off x="-69" y="400"/>
              <a:ext cx="359"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p>
              <a:pPr algn="ctr" defTabSz="642123" fontAlgn="base">
                <a:spcBef>
                  <a:spcPct val="0"/>
                </a:spcBef>
                <a:spcAft>
                  <a:spcPct val="0"/>
                </a:spcAft>
              </a:pPr>
              <a:r>
                <a:rPr lang="en-US" sz="1000">
                  <a:solidFill>
                    <a:srgbClr val="232323"/>
                  </a:solidFill>
                  <a:latin typeface="Arial" panose="020B0604020202020204" pitchFamily="34" charset="0"/>
                  <a:cs typeface="Arial" panose="020B0604020202020204" pitchFamily="34" charset="0"/>
                  <a:sym typeface="Myriad Pro Bold" charset="0"/>
                </a:rPr>
                <a:t>VMs</a:t>
              </a:r>
            </a:p>
          </p:txBody>
        </p:sp>
        <p:sp>
          <p:nvSpPr>
            <p:cNvPr id="16" name="Rectangle 19"/>
            <p:cNvSpPr>
              <a:spLocks/>
            </p:cNvSpPr>
            <p:nvPr/>
          </p:nvSpPr>
          <p:spPr bwMode="auto">
            <a:xfrm>
              <a:off x="1123" y="1225"/>
              <a:ext cx="4986" cy="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p>
              <a:pPr defTabSz="642123" fontAlgn="base">
                <a:spcBef>
                  <a:spcPct val="0"/>
                </a:spcBef>
                <a:spcAft>
                  <a:spcPct val="0"/>
                </a:spcAft>
              </a:pPr>
              <a:r>
                <a:rPr lang="en-US" sz="1000" dirty="0">
                  <a:solidFill>
                    <a:srgbClr val="232323"/>
                  </a:solidFill>
                  <a:latin typeface="Arial" panose="020B0604020202020204" pitchFamily="34" charset="0"/>
                  <a:cs typeface="Arial" panose="020B0604020202020204" pitchFamily="34" charset="0"/>
                  <a:sym typeface="Myriad Pro Bold" charset="0"/>
                </a:rPr>
                <a:t>Hypervisor:</a:t>
              </a:r>
            </a:p>
            <a:p>
              <a:pPr defTabSz="642123" fontAlgn="base">
                <a:spcBef>
                  <a:spcPct val="0"/>
                </a:spcBef>
                <a:spcAft>
                  <a:spcPct val="0"/>
                </a:spcAft>
              </a:pPr>
              <a:r>
                <a:rPr lang="en-US" sz="1000" dirty="0">
                  <a:solidFill>
                    <a:srgbClr val="232323"/>
                  </a:solidFill>
                  <a:latin typeface="Arial" panose="020B0604020202020204" pitchFamily="34" charset="0"/>
                  <a:cs typeface="Arial" panose="020B0604020202020204" pitchFamily="34" charset="0"/>
                  <a:sym typeface="Myriad Pro Bold" charset="0"/>
                </a:rPr>
                <a:t>Turns 1 server into many “virtual machines” (instances or VMs)</a:t>
              </a:r>
            </a:p>
            <a:p>
              <a:pPr defTabSz="642123" fontAlgn="base">
                <a:spcBef>
                  <a:spcPct val="0"/>
                </a:spcBef>
                <a:spcAft>
                  <a:spcPct val="0"/>
                </a:spcAft>
              </a:pPr>
              <a:r>
                <a:rPr lang="en-US" sz="1000" dirty="0">
                  <a:solidFill>
                    <a:srgbClr val="232323"/>
                  </a:solidFill>
                  <a:latin typeface="Arial" panose="020B0604020202020204" pitchFamily="34" charset="0"/>
                  <a:cs typeface="Arial" panose="020B0604020202020204" pitchFamily="34" charset="0"/>
                  <a:sym typeface="Myriad Pro" charset="0"/>
                </a:rPr>
                <a:t>(</a:t>
              </a:r>
              <a:r>
                <a:rPr lang="en-US" sz="1000" dirty="0" err="1">
                  <a:solidFill>
                    <a:srgbClr val="232323"/>
                  </a:solidFill>
                  <a:latin typeface="Arial" panose="020B0604020202020204" pitchFamily="34" charset="0"/>
                  <a:cs typeface="Arial" panose="020B0604020202020204" pitchFamily="34" charset="0"/>
                  <a:sym typeface="Myriad Pro" charset="0"/>
                </a:rPr>
                <a:t>VMWare</a:t>
              </a:r>
              <a:r>
                <a:rPr lang="en-US" sz="1000" dirty="0">
                  <a:solidFill>
                    <a:srgbClr val="232323"/>
                  </a:solidFill>
                  <a:latin typeface="Arial" panose="020B0604020202020204" pitchFamily="34" charset="0"/>
                  <a:cs typeface="Arial" panose="020B0604020202020204" pitchFamily="34" charset="0"/>
                  <a:sym typeface="Myriad Pro" charset="0"/>
                </a:rPr>
                <a:t> ESX, Citrix XEN Server, KVM, Etc.)</a:t>
              </a:r>
            </a:p>
          </p:txBody>
        </p:sp>
        <p:sp>
          <p:nvSpPr>
            <p:cNvPr id="17" name="Line 20"/>
            <p:cNvSpPr>
              <a:spLocks noChangeShapeType="1"/>
            </p:cNvSpPr>
            <p:nvPr/>
          </p:nvSpPr>
          <p:spPr bwMode="auto">
            <a:xfrm>
              <a:off x="1080" y="1033"/>
              <a:ext cx="166" cy="271"/>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lIns="0" tIns="0" rIns="0" bIns="0"/>
            <a:lstStyle/>
            <a:p>
              <a:pPr defTabSz="642123" fontAlgn="base">
                <a:spcBef>
                  <a:spcPct val="0"/>
                </a:spcBef>
                <a:spcAft>
                  <a:spcPct val="0"/>
                </a:spcAft>
              </a:pPr>
              <a:endParaRPr lang="en-US" sz="800">
                <a:solidFill>
                  <a:srgbClr val="000000"/>
                </a:solidFill>
                <a:latin typeface="Arial" panose="020B0604020202020204" pitchFamily="34" charset="0"/>
                <a:cs typeface="Arial" panose="020B0604020202020204" pitchFamily="34" charset="0"/>
                <a:sym typeface="Gill Sans" charset="0"/>
              </a:endParaRPr>
            </a:p>
          </p:txBody>
        </p:sp>
        <p:sp>
          <p:nvSpPr>
            <p:cNvPr id="18" name="Line 21"/>
            <p:cNvSpPr>
              <a:spLocks noChangeShapeType="1"/>
            </p:cNvSpPr>
            <p:nvPr/>
          </p:nvSpPr>
          <p:spPr bwMode="auto">
            <a:xfrm flipH="1">
              <a:off x="293" y="513"/>
              <a:ext cx="373" cy="0"/>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lIns="0" tIns="0" rIns="0" bIns="0"/>
            <a:lstStyle/>
            <a:p>
              <a:pPr defTabSz="642123" fontAlgn="base">
                <a:spcBef>
                  <a:spcPct val="0"/>
                </a:spcBef>
                <a:spcAft>
                  <a:spcPct val="0"/>
                </a:spcAft>
              </a:pPr>
              <a:endParaRPr lang="en-US" sz="800">
                <a:solidFill>
                  <a:srgbClr val="000000"/>
                </a:solidFill>
                <a:latin typeface="Arial" panose="020B0604020202020204" pitchFamily="34" charset="0"/>
                <a:cs typeface="Arial" panose="020B0604020202020204" pitchFamily="34" charset="0"/>
                <a:sym typeface="Gill Sans" charset="0"/>
              </a:endParaRPr>
            </a:p>
          </p:txBody>
        </p:sp>
      </p:grpSp>
      <p:sp>
        <p:nvSpPr>
          <p:cNvPr id="32" name="Rectangle 3"/>
          <p:cNvSpPr txBox="1">
            <a:spLocks noChangeArrowheads="1"/>
          </p:cNvSpPr>
          <p:nvPr/>
        </p:nvSpPr>
        <p:spPr>
          <a:xfrm>
            <a:off x="328753" y="3624304"/>
            <a:ext cx="8407400" cy="2834369"/>
          </a:xfrm>
          <a:prstGeom prst="rect">
            <a:avLst/>
          </a:prstGeom>
        </p:spPr>
        <p:txBody>
          <a:bodyPr/>
          <a:lstStyle/>
          <a:p>
            <a:pPr marL="342900" indent="-342900" algn="l">
              <a:spcBef>
                <a:spcPct val="20000"/>
              </a:spcBef>
              <a:buClr>
                <a:schemeClr val="bg2"/>
              </a:buClr>
              <a:buSzPct val="75000"/>
              <a:buFont typeface="Wingdings" pitchFamily="2" charset="2"/>
              <a:buChar char="§"/>
              <a:defRPr/>
            </a:pPr>
            <a:r>
              <a:rPr lang="en-US" sz="2800" kern="0" dirty="0">
                <a:latin typeface="Arial" panose="020B0604020202020204" pitchFamily="34" charset="0"/>
                <a:cs typeface="Arial" panose="020B0604020202020204" pitchFamily="34" charset="0"/>
              </a:rPr>
              <a:t>Hypervisors provide an abstraction layer between hardware and software</a:t>
            </a:r>
          </a:p>
          <a:p>
            <a:pPr marL="342900" indent="-342900" algn="l">
              <a:spcBef>
                <a:spcPct val="20000"/>
              </a:spcBef>
              <a:buClr>
                <a:schemeClr val="bg2"/>
              </a:buClr>
              <a:buSzPct val="75000"/>
              <a:buFont typeface="Wingdings" pitchFamily="2" charset="2"/>
              <a:buChar char="§"/>
              <a:defRPr/>
            </a:pPr>
            <a:r>
              <a:rPr lang="en-US" sz="2800" kern="0" dirty="0">
                <a:latin typeface="Arial" panose="020B0604020202020204" pitchFamily="34" charset="0"/>
                <a:cs typeface="Arial" panose="020B0604020202020204" pitchFamily="34" charset="0"/>
              </a:rPr>
              <a:t>Hardware abstraction</a:t>
            </a:r>
          </a:p>
          <a:p>
            <a:pPr marL="342900" indent="-342900" algn="l">
              <a:spcBef>
                <a:spcPct val="20000"/>
              </a:spcBef>
              <a:buClr>
                <a:schemeClr val="bg2"/>
              </a:buClr>
              <a:buSzPct val="75000"/>
              <a:buFont typeface="Wingdings" pitchFamily="2" charset="2"/>
              <a:buChar char="§"/>
              <a:defRPr/>
            </a:pPr>
            <a:r>
              <a:rPr lang="en-US" sz="2800" kern="0" dirty="0">
                <a:latin typeface="Arial" panose="020B0604020202020204" pitchFamily="34" charset="0"/>
                <a:cs typeface="Arial" panose="020B0604020202020204" pitchFamily="34" charset="0"/>
              </a:rPr>
              <a:t>Better resource utilization for every single server</a:t>
            </a:r>
          </a:p>
        </p:txBody>
      </p:sp>
      <p:sp>
        <p:nvSpPr>
          <p:cNvPr id="19" name="Rectangle 5"/>
          <p:cNvSpPr>
            <a:spLocks noChangeArrowheads="1"/>
          </p:cNvSpPr>
          <p:nvPr/>
        </p:nvSpPr>
        <p:spPr bwMode="auto">
          <a:xfrm>
            <a:off x="683568" y="116632"/>
            <a:ext cx="7848600" cy="762000"/>
          </a:xfrm>
          <a:prstGeom prst="rect">
            <a:avLst/>
          </a:prstGeom>
          <a:noFill/>
          <a:ln w="9525">
            <a:noFill/>
            <a:miter lim="800000"/>
            <a:headEnd/>
            <a:tailEnd/>
          </a:ln>
          <a:effectLst/>
        </p:spPr>
        <p:txBody>
          <a:bodyPr anchor="ctr"/>
          <a:lstStyle/>
          <a:p>
            <a:pPr algn="ctr">
              <a:defRPr/>
            </a:pPr>
            <a:r>
              <a:rPr lang="en-US" sz="3200" b="1" dirty="0">
                <a:solidFill>
                  <a:srgbClr val="3366CC"/>
                </a:solidFill>
                <a:effectLst>
                  <a:outerShdw blurRad="38100" dist="38100" dir="2700000" algn="tl">
                    <a:srgbClr val="C0C0C0"/>
                  </a:outerShdw>
                </a:effectLst>
                <a:latin typeface="Helvetica" pitchFamily="34" charset="0"/>
              </a:rPr>
              <a:t>Cloud: resource virtualization</a:t>
            </a:r>
            <a:endParaRPr lang="it-IT" sz="3200" b="1" dirty="0">
              <a:latin typeface="Helvetica" pitchFamily="34" charset="0"/>
            </a:endParaRPr>
          </a:p>
        </p:txBody>
      </p:sp>
      <p:sp>
        <p:nvSpPr>
          <p:cNvPr id="20" name="Line 6"/>
          <p:cNvSpPr>
            <a:spLocks noChangeShapeType="1"/>
          </p:cNvSpPr>
          <p:nvPr/>
        </p:nvSpPr>
        <p:spPr bwMode="auto">
          <a:xfrm>
            <a:off x="378768" y="878632"/>
            <a:ext cx="8458200" cy="0"/>
          </a:xfrm>
          <a:prstGeom prst="line">
            <a:avLst/>
          </a:prstGeom>
          <a:noFill/>
          <a:ln w="28575">
            <a:solidFill>
              <a:srgbClr val="3366CC"/>
            </a:solidFill>
            <a:round/>
            <a:headEnd/>
            <a:tailEnd/>
          </a:ln>
        </p:spPr>
        <p:txBody>
          <a:bodyPr wrap="none" lIns="90000" tIns="46800" rIns="90000" bIns="46800" anchor="ctr">
            <a:spAutoFit/>
          </a:bodyPr>
          <a:lstStyle/>
          <a:p>
            <a:endParaRPr lang="it-IT"/>
          </a:p>
        </p:txBody>
      </p:sp>
    </p:spTree>
    <p:extLst>
      <p:ext uri="{BB962C8B-B14F-4D97-AF65-F5344CB8AC3E}">
        <p14:creationId xmlns:p14="http://schemas.microsoft.com/office/powerpoint/2010/main" val="6187438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a:xfrm>
            <a:off x="318143" y="1284288"/>
            <a:ext cx="8407400" cy="903327"/>
          </a:xfrm>
          <a:prstGeom prst="rect">
            <a:avLst/>
          </a:prstGeom>
        </p:spPr>
        <p:txBody>
          <a:bodyPr/>
          <a:lstStyle/>
          <a:p>
            <a:pPr marL="342900" indent="-342900" algn="l">
              <a:spcBef>
                <a:spcPct val="20000"/>
              </a:spcBef>
              <a:buClr>
                <a:schemeClr val="bg2"/>
              </a:buClr>
              <a:buSzPct val="75000"/>
              <a:buFont typeface="Wingdings" pitchFamily="2" charset="2"/>
              <a:buChar char="§"/>
              <a:defRPr/>
            </a:pPr>
            <a:r>
              <a:rPr lang="en-US" sz="2800" kern="0" dirty="0">
                <a:latin typeface="Arial" panose="020B0604020202020204" pitchFamily="34" charset="0"/>
                <a:cs typeface="Arial" panose="020B0604020202020204" pitchFamily="34" charset="0"/>
              </a:rPr>
              <a:t>Second step: </a:t>
            </a:r>
            <a:r>
              <a:rPr lang="en-US" sz="2800" i="1" kern="0" dirty="0">
                <a:latin typeface="Arial" panose="020B0604020202020204" pitchFamily="34" charset="0"/>
                <a:cs typeface="Arial" panose="020B0604020202020204" pitchFamily="34" charset="0"/>
              </a:rPr>
              <a:t>network and storage virtualization</a:t>
            </a:r>
          </a:p>
        </p:txBody>
      </p:sp>
      <p:grpSp>
        <p:nvGrpSpPr>
          <p:cNvPr id="6" name="群組 50"/>
          <p:cNvGrpSpPr>
            <a:grpSpLocks noChangeAspect="1"/>
          </p:cNvGrpSpPr>
          <p:nvPr/>
        </p:nvGrpSpPr>
        <p:grpSpPr>
          <a:xfrm>
            <a:off x="1219807" y="2450014"/>
            <a:ext cx="6604073" cy="1617947"/>
            <a:chOff x="285750" y="2625329"/>
            <a:chExt cx="8572500" cy="2100197"/>
          </a:xfrm>
        </p:grpSpPr>
        <p:sp>
          <p:nvSpPr>
            <p:cNvPr id="7" name="Rectangle 2"/>
            <p:cNvSpPr>
              <a:spLocks/>
            </p:cNvSpPr>
            <p:nvPr/>
          </p:nvSpPr>
          <p:spPr bwMode="auto">
            <a:xfrm>
              <a:off x="930945" y="4221683"/>
              <a:ext cx="1137419" cy="215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pPr algn="ctr" defTabSz="642123" fontAlgn="base">
                <a:spcBef>
                  <a:spcPct val="0"/>
                </a:spcBef>
                <a:spcAft>
                  <a:spcPct val="0"/>
                </a:spcAft>
              </a:pPr>
              <a:r>
                <a:rPr lang="en-US" sz="1400" dirty="0">
                  <a:solidFill>
                    <a:srgbClr val="000000"/>
                  </a:solidFill>
                  <a:cs typeface="Myriad Pro" charset="0"/>
                  <a:sym typeface="Myriad Pro" charset="0"/>
                </a:rPr>
                <a:t>Compute Pool</a:t>
              </a:r>
            </a:p>
          </p:txBody>
        </p:sp>
        <p:sp>
          <p:nvSpPr>
            <p:cNvPr id="8" name="Rectangle 3"/>
            <p:cNvSpPr>
              <a:spLocks/>
            </p:cNvSpPr>
            <p:nvPr/>
          </p:nvSpPr>
          <p:spPr bwMode="auto">
            <a:xfrm>
              <a:off x="3948039" y="4221683"/>
              <a:ext cx="1068214" cy="215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pPr algn="ctr" defTabSz="642123" fontAlgn="base">
                <a:spcBef>
                  <a:spcPct val="0"/>
                </a:spcBef>
                <a:spcAft>
                  <a:spcPct val="0"/>
                </a:spcAft>
              </a:pPr>
              <a:r>
                <a:rPr lang="en-US" sz="1400" dirty="0">
                  <a:solidFill>
                    <a:srgbClr val="000000"/>
                  </a:solidFill>
                  <a:cs typeface="Myriad Pro" charset="0"/>
                  <a:sym typeface="Myriad Pro" charset="0"/>
                </a:rPr>
                <a:t>Network Pool</a:t>
              </a:r>
            </a:p>
          </p:txBody>
        </p:sp>
        <p:sp>
          <p:nvSpPr>
            <p:cNvPr id="9" name="Rectangle 6"/>
            <p:cNvSpPr>
              <a:spLocks/>
            </p:cNvSpPr>
            <p:nvPr/>
          </p:nvSpPr>
          <p:spPr bwMode="auto">
            <a:xfrm>
              <a:off x="7143750" y="4203825"/>
              <a:ext cx="1036960" cy="215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pPr algn="ctr" defTabSz="642123" fontAlgn="base">
                <a:spcBef>
                  <a:spcPct val="0"/>
                </a:spcBef>
                <a:spcAft>
                  <a:spcPct val="0"/>
                </a:spcAft>
              </a:pPr>
              <a:r>
                <a:rPr lang="en-US" sz="1400" dirty="0">
                  <a:solidFill>
                    <a:srgbClr val="000000"/>
                  </a:solidFill>
                  <a:cs typeface="Myriad Pro" charset="0"/>
                  <a:sym typeface="Myriad Pro" charset="0"/>
                </a:rPr>
                <a:t>Storage Pool</a:t>
              </a:r>
            </a:p>
          </p:txBody>
        </p:sp>
        <p:pic>
          <p:nvPicPr>
            <p:cNvPr id="10" name="Picture 1"/>
            <p:cNvPicPr>
              <a:picLocks noChangeAspect="1"/>
            </p:cNvPicPr>
            <p:nvPr/>
          </p:nvPicPr>
          <p:blipFill>
            <a:blip r:embed="rId3" cstate="print"/>
            <a:stretch>
              <a:fillRect/>
            </a:stretch>
          </p:blipFill>
          <p:spPr>
            <a:xfrm>
              <a:off x="285750" y="3000400"/>
              <a:ext cx="2310557" cy="1125141"/>
            </a:xfrm>
            <a:prstGeom prst="rect">
              <a:avLst/>
            </a:prstGeom>
          </p:spPr>
        </p:pic>
        <p:pic>
          <p:nvPicPr>
            <p:cNvPr id="11" name="Picture 2"/>
            <p:cNvPicPr>
              <a:picLocks noChangeAspect="1"/>
            </p:cNvPicPr>
            <p:nvPr/>
          </p:nvPicPr>
          <p:blipFill>
            <a:blip r:embed="rId4" cstate="print"/>
            <a:stretch>
              <a:fillRect/>
            </a:stretch>
          </p:blipFill>
          <p:spPr>
            <a:xfrm>
              <a:off x="3178970" y="2839641"/>
              <a:ext cx="2689007" cy="1401961"/>
            </a:xfrm>
            <a:prstGeom prst="rect">
              <a:avLst/>
            </a:prstGeom>
          </p:spPr>
        </p:pic>
        <p:pic>
          <p:nvPicPr>
            <p:cNvPr id="12" name="Picture 3"/>
            <p:cNvPicPr>
              <a:picLocks noChangeAspect="1"/>
            </p:cNvPicPr>
            <p:nvPr/>
          </p:nvPicPr>
          <p:blipFill>
            <a:blip r:embed="rId5" cstate="print"/>
            <a:stretch>
              <a:fillRect/>
            </a:stretch>
          </p:blipFill>
          <p:spPr>
            <a:xfrm>
              <a:off x="6447234" y="2625329"/>
              <a:ext cx="2411016" cy="1525596"/>
            </a:xfrm>
            <a:prstGeom prst="rect">
              <a:avLst/>
            </a:prstGeom>
          </p:spPr>
        </p:pic>
        <p:sp>
          <p:nvSpPr>
            <p:cNvPr id="13" name="Rectangle 2"/>
            <p:cNvSpPr>
              <a:spLocks/>
            </p:cNvSpPr>
            <p:nvPr/>
          </p:nvSpPr>
          <p:spPr bwMode="auto">
            <a:xfrm>
              <a:off x="687114" y="4509120"/>
              <a:ext cx="1620575" cy="216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pPr algn="ctr" defTabSz="642123" fontAlgn="base">
                <a:spcBef>
                  <a:spcPct val="0"/>
                </a:spcBef>
                <a:spcAft>
                  <a:spcPct val="0"/>
                </a:spcAft>
              </a:pPr>
              <a:r>
                <a:rPr lang="en-US" sz="1400" b="1" dirty="0">
                  <a:solidFill>
                    <a:srgbClr val="000000"/>
                  </a:solidFill>
                  <a:cs typeface="Myriad Pro" charset="0"/>
                  <a:sym typeface="Myriad Pro" charset="0"/>
                </a:rPr>
                <a:t>Virtualized Servers</a:t>
              </a:r>
            </a:p>
          </p:txBody>
        </p:sp>
        <p:sp>
          <p:nvSpPr>
            <p:cNvPr id="14" name="Rectangle 2"/>
            <p:cNvSpPr>
              <a:spLocks/>
            </p:cNvSpPr>
            <p:nvPr/>
          </p:nvSpPr>
          <p:spPr bwMode="auto">
            <a:xfrm>
              <a:off x="3771449" y="4509120"/>
              <a:ext cx="1770533" cy="216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pPr algn="ctr" defTabSz="642123" fontAlgn="base">
                <a:spcBef>
                  <a:spcPct val="0"/>
                </a:spcBef>
                <a:spcAft>
                  <a:spcPct val="0"/>
                </a:spcAft>
              </a:pPr>
              <a:r>
                <a:rPr lang="en-US" sz="1400" b="1" dirty="0">
                  <a:solidFill>
                    <a:srgbClr val="000000"/>
                  </a:solidFill>
                  <a:cs typeface="Myriad Pro" charset="0"/>
                  <a:sym typeface="Myriad Pro" charset="0"/>
                </a:rPr>
                <a:t>Virtualized Networks</a:t>
              </a:r>
            </a:p>
          </p:txBody>
        </p:sp>
        <p:sp>
          <p:nvSpPr>
            <p:cNvPr id="15" name="Rectangle 2"/>
            <p:cNvSpPr>
              <a:spLocks/>
            </p:cNvSpPr>
            <p:nvPr/>
          </p:nvSpPr>
          <p:spPr bwMode="auto">
            <a:xfrm>
              <a:off x="6742647" y="4509120"/>
              <a:ext cx="1630173" cy="216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p>
              <a:pPr algn="ctr" defTabSz="642123" fontAlgn="base">
                <a:spcBef>
                  <a:spcPct val="0"/>
                </a:spcBef>
                <a:spcAft>
                  <a:spcPct val="0"/>
                </a:spcAft>
              </a:pPr>
              <a:r>
                <a:rPr lang="en-US" sz="1400" b="1" dirty="0">
                  <a:solidFill>
                    <a:srgbClr val="000000"/>
                  </a:solidFill>
                  <a:cs typeface="Myriad Pro" charset="0"/>
                  <a:sym typeface="Myriad Pro" charset="0"/>
                </a:rPr>
                <a:t>Virtualized Storage</a:t>
              </a:r>
            </a:p>
          </p:txBody>
        </p:sp>
      </p:grpSp>
      <p:sp>
        <p:nvSpPr>
          <p:cNvPr id="16" name="Rectangle 3"/>
          <p:cNvSpPr txBox="1">
            <a:spLocks noChangeArrowheads="1"/>
          </p:cNvSpPr>
          <p:nvPr/>
        </p:nvSpPr>
        <p:spPr>
          <a:xfrm>
            <a:off x="318143" y="4330359"/>
            <a:ext cx="8407400" cy="1410684"/>
          </a:xfrm>
          <a:prstGeom prst="rect">
            <a:avLst/>
          </a:prstGeom>
        </p:spPr>
        <p:txBody>
          <a:bodyPr/>
          <a:lstStyle/>
          <a:p>
            <a:pPr marL="342900" indent="-342900" algn="l">
              <a:spcBef>
                <a:spcPct val="20000"/>
              </a:spcBef>
              <a:buClr>
                <a:schemeClr val="bg2"/>
              </a:buClr>
              <a:buSzPct val="75000"/>
              <a:buFont typeface="Wingdings" pitchFamily="2" charset="2"/>
              <a:buChar char="§"/>
              <a:defRPr/>
            </a:pPr>
            <a:r>
              <a:rPr lang="en-US" sz="2800" kern="0" dirty="0">
                <a:latin typeface="Arial" panose="020B0604020202020204" pitchFamily="34" charset="0"/>
                <a:cs typeface="Arial" panose="020B0604020202020204" pitchFamily="34" charset="0"/>
              </a:rPr>
              <a:t>Resource pool available for several applications</a:t>
            </a:r>
          </a:p>
          <a:p>
            <a:pPr marL="342900" indent="-342900" algn="l">
              <a:spcBef>
                <a:spcPct val="20000"/>
              </a:spcBef>
              <a:buClr>
                <a:schemeClr val="bg2"/>
              </a:buClr>
              <a:buSzPct val="75000"/>
              <a:buFont typeface="Wingdings" pitchFamily="2" charset="2"/>
              <a:buChar char="§"/>
              <a:defRPr/>
            </a:pPr>
            <a:r>
              <a:rPr lang="en-US" sz="2800" kern="0" dirty="0">
                <a:latin typeface="Arial" panose="020B0604020202020204" pitchFamily="34" charset="0"/>
                <a:cs typeface="Arial" panose="020B0604020202020204" pitchFamily="34" charset="0"/>
              </a:rPr>
              <a:t>Flexibility and efficiency</a:t>
            </a:r>
          </a:p>
          <a:p>
            <a:pPr marL="342900" indent="-342900" algn="l">
              <a:spcBef>
                <a:spcPct val="20000"/>
              </a:spcBef>
              <a:buClr>
                <a:schemeClr val="bg2"/>
              </a:buClr>
              <a:buSzPct val="75000"/>
              <a:buFont typeface="Wingdings" pitchFamily="2" charset="2"/>
              <a:buChar char="§"/>
              <a:defRPr/>
            </a:pPr>
            <a:endParaRPr lang="en-US" sz="2800" kern="0" dirty="0">
              <a:latin typeface="Arial" panose="020B0604020202020204" pitchFamily="34" charset="0"/>
              <a:cs typeface="Arial" panose="020B0604020202020204" pitchFamily="34" charset="0"/>
            </a:endParaRPr>
          </a:p>
        </p:txBody>
      </p:sp>
      <p:sp>
        <p:nvSpPr>
          <p:cNvPr id="19" name="Rectangle 5"/>
          <p:cNvSpPr>
            <a:spLocks noChangeArrowheads="1"/>
          </p:cNvSpPr>
          <p:nvPr/>
        </p:nvSpPr>
        <p:spPr bwMode="auto">
          <a:xfrm>
            <a:off x="683568" y="332656"/>
            <a:ext cx="7848600" cy="762000"/>
          </a:xfrm>
          <a:prstGeom prst="rect">
            <a:avLst/>
          </a:prstGeom>
          <a:noFill/>
          <a:ln w="9525">
            <a:noFill/>
            <a:miter lim="800000"/>
            <a:headEnd/>
            <a:tailEnd/>
          </a:ln>
          <a:effectLst/>
        </p:spPr>
        <p:txBody>
          <a:bodyPr anchor="ctr"/>
          <a:lstStyle/>
          <a:p>
            <a:pPr algn="ctr">
              <a:defRPr/>
            </a:pPr>
            <a:r>
              <a:rPr lang="en-US" sz="3200" b="1" dirty="0">
                <a:solidFill>
                  <a:srgbClr val="3366CC"/>
                </a:solidFill>
                <a:effectLst>
                  <a:outerShdw blurRad="38100" dist="38100" dir="2700000" algn="tl">
                    <a:srgbClr val="C0C0C0"/>
                  </a:outerShdw>
                </a:effectLst>
                <a:latin typeface="Helvetica" pitchFamily="34" charset="0"/>
              </a:rPr>
              <a:t>Cloud: resource virtualization</a:t>
            </a:r>
            <a:endParaRPr lang="it-IT" sz="3200" b="1" dirty="0">
              <a:latin typeface="Helvetica" pitchFamily="34" charset="0"/>
            </a:endParaRPr>
          </a:p>
        </p:txBody>
      </p:sp>
      <p:sp>
        <p:nvSpPr>
          <p:cNvPr id="20" name="Line 6"/>
          <p:cNvSpPr>
            <a:spLocks noChangeShapeType="1"/>
          </p:cNvSpPr>
          <p:nvPr/>
        </p:nvSpPr>
        <p:spPr bwMode="auto">
          <a:xfrm>
            <a:off x="378768" y="1094656"/>
            <a:ext cx="8458200" cy="0"/>
          </a:xfrm>
          <a:prstGeom prst="line">
            <a:avLst/>
          </a:prstGeom>
          <a:noFill/>
          <a:ln w="28575">
            <a:solidFill>
              <a:srgbClr val="3366CC"/>
            </a:solidFill>
            <a:round/>
            <a:headEnd/>
            <a:tailEnd/>
          </a:ln>
        </p:spPr>
        <p:txBody>
          <a:bodyPr wrap="none" lIns="90000" tIns="46800" rIns="90000" bIns="46800" anchor="ctr">
            <a:spAutoFit/>
          </a:bodyPr>
          <a:lstStyle/>
          <a:p>
            <a:endParaRPr lang="it-IT"/>
          </a:p>
        </p:txBody>
      </p:sp>
    </p:spTree>
    <p:extLst>
      <p:ext uri="{BB962C8B-B14F-4D97-AF65-F5344CB8AC3E}">
        <p14:creationId xmlns:p14="http://schemas.microsoft.com/office/powerpoint/2010/main" val="1607478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Line 1"/>
          <p:cNvSpPr>
            <a:spLocks noChangeShapeType="1"/>
          </p:cNvSpPr>
          <p:nvPr/>
        </p:nvSpPr>
        <p:spPr bwMode="auto">
          <a:xfrm>
            <a:off x="1917651" y="5116736"/>
            <a:ext cx="5925964" cy="17859"/>
          </a:xfrm>
          <a:prstGeom prst="line">
            <a:avLst/>
          </a:prstGeom>
          <a:noFill/>
          <a:ln w="38100">
            <a:solidFill>
              <a:srgbClr val="2C8BBE"/>
            </a:solidFill>
            <a:prstDash val="sysDot"/>
            <a:round/>
            <a:headEnd/>
            <a:tailEnd/>
          </a:ln>
          <a:extLst>
            <a:ext uri="{909E8E84-426E-40DD-AFC4-6F175D3DCCD1}">
              <a14:hiddenFill xmlns:a14="http://schemas.microsoft.com/office/drawing/2010/main">
                <a:noFill/>
              </a14:hiddenFill>
            </a:ext>
          </a:extLst>
        </p:spPr>
        <p:txBody>
          <a:bodyPr lIns="0" tIns="0" rIns="0" bIns="0"/>
          <a:lstStyle/>
          <a:p>
            <a:pPr defTabSz="642123" fontAlgn="base">
              <a:spcBef>
                <a:spcPct val="0"/>
              </a:spcBef>
              <a:spcAft>
                <a:spcPct val="0"/>
              </a:spcAft>
            </a:pPr>
            <a:endParaRPr lang="en-US" sz="800">
              <a:solidFill>
                <a:srgbClr val="000000"/>
              </a:solidFill>
              <a:latin typeface="Gill Sans" charset="0"/>
              <a:sym typeface="Gill Sans" charset="0"/>
            </a:endParaRPr>
          </a:p>
        </p:txBody>
      </p:sp>
      <p:grpSp>
        <p:nvGrpSpPr>
          <p:cNvPr id="6" name="Group 2"/>
          <p:cNvGrpSpPr>
            <a:grpSpLocks/>
          </p:cNvGrpSpPr>
          <p:nvPr/>
        </p:nvGrpSpPr>
        <p:grpSpPr bwMode="auto">
          <a:xfrm>
            <a:off x="1619672" y="1466431"/>
            <a:ext cx="428625" cy="569234"/>
            <a:chOff x="0" y="-139"/>
            <a:chExt cx="384" cy="509"/>
          </a:xfrm>
        </p:grpSpPr>
        <p:pic>
          <p:nvPicPr>
            <p:cNvPr id="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384" cy="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pic>
        <p:sp>
          <p:nvSpPr>
            <p:cNvPr id="8" name="Rectangle 4"/>
            <p:cNvSpPr>
              <a:spLocks/>
            </p:cNvSpPr>
            <p:nvPr/>
          </p:nvSpPr>
          <p:spPr bwMode="auto">
            <a:xfrm>
              <a:off x="36" y="-139"/>
              <a:ext cx="280"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p>
              <a:pPr algn="ctr" defTabSz="642123" fontAlgn="base">
                <a:spcBef>
                  <a:spcPct val="0"/>
                </a:spcBef>
                <a:spcAft>
                  <a:spcPct val="0"/>
                </a:spcAft>
              </a:pPr>
              <a:r>
                <a:rPr lang="en-US" sz="900" dirty="0">
                  <a:solidFill>
                    <a:srgbClr val="2988BD"/>
                  </a:solidFill>
                  <a:latin typeface="Myriad Pro Bold" charset="0"/>
                  <a:cs typeface="Myriad Pro Bold" charset="0"/>
                  <a:sym typeface="Myriad Pro Bold" charset="0"/>
                </a:rPr>
                <a:t>APPS</a:t>
              </a:r>
            </a:p>
          </p:txBody>
        </p:sp>
      </p:grpSp>
      <p:sp>
        <p:nvSpPr>
          <p:cNvPr id="9" name="Line 7"/>
          <p:cNvSpPr>
            <a:spLocks noChangeShapeType="1"/>
          </p:cNvSpPr>
          <p:nvPr/>
        </p:nvSpPr>
        <p:spPr bwMode="auto">
          <a:xfrm rot="10800000" flipH="1">
            <a:off x="6616898" y="4479380"/>
            <a:ext cx="0" cy="652983"/>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lIns="0" tIns="0" rIns="0" bIns="0"/>
          <a:lstStyle/>
          <a:p>
            <a:pPr defTabSz="642123" fontAlgn="base">
              <a:spcBef>
                <a:spcPct val="0"/>
              </a:spcBef>
              <a:spcAft>
                <a:spcPct val="0"/>
              </a:spcAft>
            </a:pPr>
            <a:endParaRPr lang="en-US" sz="800">
              <a:solidFill>
                <a:srgbClr val="000000"/>
              </a:solidFill>
              <a:latin typeface="Gill Sans" charset="0"/>
              <a:sym typeface="Gill Sans" charset="0"/>
            </a:endParaRPr>
          </a:p>
        </p:txBody>
      </p:sp>
      <p:pic>
        <p:nvPicPr>
          <p:cNvPr id="10" name="Picture 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75047" y="4580930"/>
            <a:ext cx="1893094" cy="910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pic>
      <p:pic>
        <p:nvPicPr>
          <p:cNvPr id="11" name="Picture 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97016" y="4580930"/>
            <a:ext cx="1893094" cy="910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pic>
      <p:sp>
        <p:nvSpPr>
          <p:cNvPr id="12" name="Line 10"/>
          <p:cNvSpPr>
            <a:spLocks noChangeShapeType="1"/>
          </p:cNvSpPr>
          <p:nvPr/>
        </p:nvSpPr>
        <p:spPr bwMode="auto">
          <a:xfrm rot="10800000">
            <a:off x="1311548" y="4481588"/>
            <a:ext cx="0" cy="371698"/>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lIns="0" tIns="0" rIns="0" bIns="0"/>
          <a:lstStyle/>
          <a:p>
            <a:pPr defTabSz="642123" fontAlgn="base">
              <a:spcBef>
                <a:spcPct val="0"/>
              </a:spcBef>
              <a:spcAft>
                <a:spcPct val="0"/>
              </a:spcAft>
            </a:pPr>
            <a:endParaRPr lang="en-US" sz="800">
              <a:solidFill>
                <a:srgbClr val="000000"/>
              </a:solidFill>
              <a:latin typeface="Gill Sans" charset="0"/>
              <a:sym typeface="Gill Sans" charset="0"/>
            </a:endParaRPr>
          </a:p>
        </p:txBody>
      </p:sp>
      <p:sp>
        <p:nvSpPr>
          <p:cNvPr id="13" name="Rectangle 11"/>
          <p:cNvSpPr>
            <a:spLocks/>
          </p:cNvSpPr>
          <p:nvPr/>
        </p:nvSpPr>
        <p:spPr bwMode="auto">
          <a:xfrm>
            <a:off x="478856" y="4158982"/>
            <a:ext cx="2922600" cy="281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p>
            <a:pPr defTabSz="642123" fontAlgn="base">
              <a:spcBef>
                <a:spcPct val="0"/>
              </a:spcBef>
              <a:spcAft>
                <a:spcPct val="0"/>
              </a:spcAft>
            </a:pPr>
            <a:r>
              <a:rPr lang="en-US" dirty="0">
                <a:solidFill>
                  <a:srgbClr val="232323"/>
                </a:solidFill>
                <a:cs typeface="Myriad Pro" charset="0"/>
                <a:sym typeface="Myriad Pro" charset="0"/>
              </a:rPr>
              <a:t>Creates Pools of Resources</a:t>
            </a:r>
          </a:p>
        </p:txBody>
      </p:sp>
      <p:sp>
        <p:nvSpPr>
          <p:cNvPr id="14" name="Line 12"/>
          <p:cNvSpPr>
            <a:spLocks noChangeShapeType="1"/>
          </p:cNvSpPr>
          <p:nvPr/>
        </p:nvSpPr>
        <p:spPr bwMode="auto">
          <a:xfrm rot="10800000" flipH="1">
            <a:off x="4607719" y="3536156"/>
            <a:ext cx="0" cy="1581671"/>
          </a:xfrm>
          <a:prstGeom prst="line">
            <a:avLst/>
          </a:prstGeom>
          <a:noFill/>
          <a:ln w="38100">
            <a:solidFill>
              <a:srgbClr val="2C8BBE"/>
            </a:solidFill>
            <a:prstDash val="sysDot"/>
            <a:round/>
            <a:headEnd/>
            <a:tailEnd type="stealth" w="med" len="med"/>
          </a:ln>
          <a:extLst>
            <a:ext uri="{909E8E84-426E-40DD-AFC4-6F175D3DCCD1}">
              <a14:hiddenFill xmlns:a14="http://schemas.microsoft.com/office/drawing/2010/main">
                <a:noFill/>
              </a14:hiddenFill>
            </a:ext>
          </a:extLst>
        </p:spPr>
        <p:txBody>
          <a:bodyPr lIns="0" tIns="0" rIns="0" bIns="0"/>
          <a:lstStyle/>
          <a:p>
            <a:pPr defTabSz="642123" fontAlgn="base">
              <a:spcBef>
                <a:spcPct val="0"/>
              </a:spcBef>
              <a:spcAft>
                <a:spcPct val="0"/>
              </a:spcAft>
            </a:pPr>
            <a:endParaRPr lang="en-US" sz="800">
              <a:solidFill>
                <a:srgbClr val="000000"/>
              </a:solidFill>
              <a:latin typeface="Gill Sans" charset="0"/>
              <a:sym typeface="Gill Sans" charset="0"/>
            </a:endParaRPr>
          </a:p>
        </p:txBody>
      </p:sp>
      <p:sp>
        <p:nvSpPr>
          <p:cNvPr id="15" name="Rectangle 13"/>
          <p:cNvSpPr>
            <a:spLocks/>
          </p:cNvSpPr>
          <p:nvPr/>
        </p:nvSpPr>
        <p:spPr bwMode="auto">
          <a:xfrm>
            <a:off x="5747394" y="4158982"/>
            <a:ext cx="2513729" cy="281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p>
            <a:pPr defTabSz="642123" fontAlgn="base">
              <a:spcBef>
                <a:spcPct val="0"/>
              </a:spcBef>
              <a:spcAft>
                <a:spcPct val="0"/>
              </a:spcAft>
            </a:pPr>
            <a:r>
              <a:rPr lang="en-US">
                <a:solidFill>
                  <a:srgbClr val="232323"/>
                </a:solidFill>
                <a:cs typeface="Myriad Pro" charset="0"/>
                <a:sym typeface="Myriad Pro" charset="0"/>
              </a:rPr>
              <a:t>Automates The Network</a:t>
            </a:r>
          </a:p>
        </p:txBody>
      </p:sp>
      <p:pic>
        <p:nvPicPr>
          <p:cNvPr id="16" name="Picture 1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732984" y="4580930"/>
            <a:ext cx="1893094" cy="910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pic>
      <p:pic>
        <p:nvPicPr>
          <p:cNvPr id="17" name="Picture 1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536031" y="4580930"/>
            <a:ext cx="1893094" cy="910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pic>
      <p:sp>
        <p:nvSpPr>
          <p:cNvPr id="18" name="Line 16"/>
          <p:cNvSpPr>
            <a:spLocks noChangeShapeType="1"/>
          </p:cNvSpPr>
          <p:nvPr/>
        </p:nvSpPr>
        <p:spPr bwMode="auto">
          <a:xfrm rot="10800000" flipH="1">
            <a:off x="6340078" y="1873003"/>
            <a:ext cx="0" cy="925339"/>
          </a:xfrm>
          <a:prstGeom prst="line">
            <a:avLst/>
          </a:prstGeom>
          <a:noFill/>
          <a:ln w="38100">
            <a:solidFill>
              <a:srgbClr val="2C8BBE"/>
            </a:solidFill>
            <a:prstDash val="sysDot"/>
            <a:round/>
            <a:headEnd type="diamond" w="med" len="med"/>
            <a:tailEnd type="diamond" w="med" len="med"/>
          </a:ln>
          <a:extLst>
            <a:ext uri="{909E8E84-426E-40DD-AFC4-6F175D3DCCD1}">
              <a14:hiddenFill xmlns:a14="http://schemas.microsoft.com/office/drawing/2010/main">
                <a:noFill/>
              </a14:hiddenFill>
            </a:ext>
          </a:extLst>
        </p:spPr>
        <p:txBody>
          <a:bodyPr lIns="0" tIns="0" rIns="0" bIns="0"/>
          <a:lstStyle/>
          <a:p>
            <a:pPr defTabSz="642123" fontAlgn="base">
              <a:spcBef>
                <a:spcPct val="0"/>
              </a:spcBef>
              <a:spcAft>
                <a:spcPct val="0"/>
              </a:spcAft>
            </a:pPr>
            <a:endParaRPr lang="en-US" sz="800">
              <a:solidFill>
                <a:srgbClr val="000000"/>
              </a:solidFill>
              <a:latin typeface="Gill Sans" charset="0"/>
              <a:sym typeface="Gill Sans" charset="0"/>
            </a:endParaRPr>
          </a:p>
        </p:txBody>
      </p:sp>
      <p:sp>
        <p:nvSpPr>
          <p:cNvPr id="19" name="Line 17"/>
          <p:cNvSpPr>
            <a:spLocks noChangeShapeType="1"/>
          </p:cNvSpPr>
          <p:nvPr/>
        </p:nvSpPr>
        <p:spPr bwMode="auto">
          <a:xfrm rot="10800000" flipH="1">
            <a:off x="1825054" y="1864072"/>
            <a:ext cx="0" cy="666378"/>
          </a:xfrm>
          <a:prstGeom prst="line">
            <a:avLst/>
          </a:prstGeom>
          <a:noFill/>
          <a:ln w="38100">
            <a:solidFill>
              <a:srgbClr val="2C8BBE"/>
            </a:solidFill>
            <a:prstDash val="sysDot"/>
            <a:round/>
            <a:headEnd type="diamond" w="med" len="med"/>
            <a:tailEnd type="diamond" w="med" len="med"/>
          </a:ln>
          <a:extLst>
            <a:ext uri="{909E8E84-426E-40DD-AFC4-6F175D3DCCD1}">
              <a14:hiddenFill xmlns:a14="http://schemas.microsoft.com/office/drawing/2010/main">
                <a:noFill/>
              </a14:hiddenFill>
            </a:ext>
          </a:extLst>
        </p:spPr>
        <p:txBody>
          <a:bodyPr lIns="0" tIns="0" rIns="0" bIns="0"/>
          <a:lstStyle/>
          <a:p>
            <a:pPr defTabSz="642123" fontAlgn="base">
              <a:spcBef>
                <a:spcPct val="0"/>
              </a:spcBef>
              <a:spcAft>
                <a:spcPct val="0"/>
              </a:spcAft>
            </a:pPr>
            <a:endParaRPr lang="en-US" sz="800">
              <a:solidFill>
                <a:srgbClr val="000000"/>
              </a:solidFill>
              <a:latin typeface="Gill Sans" charset="0"/>
              <a:sym typeface="Gill Sans" charset="0"/>
            </a:endParaRPr>
          </a:p>
        </p:txBody>
      </p:sp>
      <p:grpSp>
        <p:nvGrpSpPr>
          <p:cNvPr id="20" name="Group 18"/>
          <p:cNvGrpSpPr>
            <a:grpSpLocks/>
          </p:cNvGrpSpPr>
          <p:nvPr/>
        </p:nvGrpSpPr>
        <p:grpSpPr bwMode="auto">
          <a:xfrm>
            <a:off x="125016" y="1669852"/>
            <a:ext cx="8893969" cy="2116336"/>
            <a:chOff x="0" y="0"/>
            <a:chExt cx="8672" cy="1896"/>
          </a:xfrm>
        </p:grpSpPr>
        <p:sp>
          <p:nvSpPr>
            <p:cNvPr id="21" name="Rectangle 19"/>
            <p:cNvSpPr>
              <a:spLocks/>
            </p:cNvSpPr>
            <p:nvPr/>
          </p:nvSpPr>
          <p:spPr bwMode="auto">
            <a:xfrm rot="10800000" flipH="1">
              <a:off x="0" y="704"/>
              <a:ext cx="8672" cy="1192"/>
            </a:xfrm>
            <a:prstGeom prst="rect">
              <a:avLst/>
            </a:prstGeom>
            <a:gradFill rotWithShape="0">
              <a:gsLst>
                <a:gs pos="0">
                  <a:srgbClr val="818181"/>
                </a:gs>
                <a:gs pos="3625">
                  <a:srgbClr val="E6E6E6"/>
                </a:gs>
                <a:gs pos="94211">
                  <a:srgbClr val="E6E6E6"/>
                </a:gs>
                <a:gs pos="96890">
                  <a:srgbClr val="E6E6E6"/>
                </a:gs>
                <a:gs pos="100000">
                  <a:srgbClr val="858585"/>
                </a:gs>
              </a:gsLst>
              <a:lin ang="5400000" scaled="1"/>
            </a:gradFill>
            <a:ln>
              <a:noFill/>
            </a:ln>
            <a:extLst>
              <a:ext uri="{91240B29-F687-4F45-9708-019B960494DF}">
                <a14:hiddenLine xmlns:a14="http://schemas.microsoft.com/office/drawing/2010/main" w="12700">
                  <a:solidFill>
                    <a:srgbClr val="000000"/>
                  </a:solidFill>
                  <a:round/>
                  <a:headEnd/>
                  <a:tailEnd/>
                </a14:hiddenLine>
              </a:ext>
            </a:extLst>
          </p:spPr>
          <p:txBody>
            <a:bodyPr lIns="0" tIns="0" rIns="0" bIns="0"/>
            <a:lstStyle/>
            <a:p>
              <a:pPr defTabSz="642123" fontAlgn="base">
                <a:spcBef>
                  <a:spcPct val="0"/>
                </a:spcBef>
                <a:spcAft>
                  <a:spcPct val="0"/>
                </a:spcAft>
              </a:pPr>
              <a:endParaRPr lang="en-US" sz="800">
                <a:solidFill>
                  <a:srgbClr val="000000"/>
                </a:solidFill>
                <a:latin typeface="Gill Sans" charset="0"/>
                <a:sym typeface="Gill Sans" charset="0"/>
              </a:endParaRPr>
            </a:p>
          </p:txBody>
        </p:sp>
        <p:grpSp>
          <p:nvGrpSpPr>
            <p:cNvPr id="22" name="Group 20"/>
            <p:cNvGrpSpPr>
              <a:grpSpLocks/>
            </p:cNvGrpSpPr>
            <p:nvPr/>
          </p:nvGrpSpPr>
          <p:grpSpPr bwMode="auto">
            <a:xfrm>
              <a:off x="5400" y="0"/>
              <a:ext cx="1464" cy="471"/>
              <a:chOff x="0" y="0"/>
              <a:chExt cx="1464" cy="471"/>
            </a:xfrm>
          </p:grpSpPr>
          <p:grpSp>
            <p:nvGrpSpPr>
              <p:cNvPr id="23" name="Group 21"/>
              <p:cNvGrpSpPr>
                <a:grpSpLocks/>
              </p:cNvGrpSpPr>
              <p:nvPr/>
            </p:nvGrpSpPr>
            <p:grpSpPr bwMode="auto">
              <a:xfrm>
                <a:off x="0" y="0"/>
                <a:ext cx="488" cy="471"/>
                <a:chOff x="0" y="0"/>
                <a:chExt cx="488" cy="471"/>
              </a:xfrm>
            </p:grpSpPr>
            <p:pic>
              <p:nvPicPr>
                <p:cNvPr id="29" name="Picture 22"/>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52" y="32"/>
                  <a:ext cx="192"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30" name="Rectangle 23"/>
                <p:cNvSpPr>
                  <a:spLocks/>
                </p:cNvSpPr>
                <p:nvPr/>
              </p:nvSpPr>
              <p:spPr bwMode="auto">
                <a:xfrm>
                  <a:off x="56" y="345"/>
                  <a:ext cx="392"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p>
                  <a:pPr algn="ctr" defTabSz="642123" fontAlgn="base">
                    <a:spcBef>
                      <a:spcPct val="0"/>
                    </a:spcBef>
                    <a:spcAft>
                      <a:spcPct val="0"/>
                    </a:spcAft>
                  </a:pPr>
                  <a:r>
                    <a:rPr lang="en-US" sz="900">
                      <a:solidFill>
                        <a:srgbClr val="2988BD"/>
                      </a:solidFill>
                      <a:latin typeface="Myriad Pro Bold" charset="0"/>
                      <a:cs typeface="Myriad Pro Bold" charset="0"/>
                      <a:sym typeface="Myriad Pro Bold" charset="0"/>
                    </a:rPr>
                    <a:t>USERS</a:t>
                  </a:r>
                </a:p>
              </p:txBody>
            </p:sp>
            <p:pic>
              <p:nvPicPr>
                <p:cNvPr id="31" name="Picture 24"/>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96" y="0"/>
                  <a:ext cx="192"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2" name="Picture 25"/>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0" y="8"/>
                  <a:ext cx="192"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grpSp>
          <p:grpSp>
            <p:nvGrpSpPr>
              <p:cNvPr id="24" name="Group 26"/>
              <p:cNvGrpSpPr>
                <a:grpSpLocks/>
              </p:cNvGrpSpPr>
              <p:nvPr/>
            </p:nvGrpSpPr>
            <p:grpSpPr bwMode="auto">
              <a:xfrm>
                <a:off x="976" y="0"/>
                <a:ext cx="488" cy="471"/>
                <a:chOff x="0" y="0"/>
                <a:chExt cx="488" cy="471"/>
              </a:xfrm>
            </p:grpSpPr>
            <p:pic>
              <p:nvPicPr>
                <p:cNvPr id="25" name="Picture 27"/>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52" y="32"/>
                  <a:ext cx="192"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26" name="Rectangle 28"/>
                <p:cNvSpPr>
                  <a:spLocks/>
                </p:cNvSpPr>
                <p:nvPr/>
              </p:nvSpPr>
              <p:spPr bwMode="auto">
                <a:xfrm>
                  <a:off x="30" y="345"/>
                  <a:ext cx="444"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p>
                  <a:pPr algn="ctr" defTabSz="642123" fontAlgn="base">
                    <a:spcBef>
                      <a:spcPct val="0"/>
                    </a:spcBef>
                    <a:spcAft>
                      <a:spcPct val="0"/>
                    </a:spcAft>
                  </a:pPr>
                  <a:r>
                    <a:rPr lang="en-US" sz="900">
                      <a:solidFill>
                        <a:srgbClr val="2988BD"/>
                      </a:solidFill>
                      <a:latin typeface="Myriad Pro Bold" charset="0"/>
                      <a:cs typeface="Myriad Pro Bold" charset="0"/>
                      <a:sym typeface="Myriad Pro Bold" charset="0"/>
                    </a:rPr>
                    <a:t>ADMINS</a:t>
                  </a:r>
                </a:p>
              </p:txBody>
            </p:sp>
            <p:pic>
              <p:nvPicPr>
                <p:cNvPr id="27" name="Picture 29"/>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96" y="0"/>
                  <a:ext cx="192"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28" name="Picture 30"/>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0" y="8"/>
                  <a:ext cx="192"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grpSp>
        </p:grpSp>
      </p:grpSp>
      <p:sp>
        <p:nvSpPr>
          <p:cNvPr id="33" name="Rectangle 31"/>
          <p:cNvSpPr>
            <a:spLocks/>
          </p:cNvSpPr>
          <p:nvPr/>
        </p:nvSpPr>
        <p:spPr bwMode="auto">
          <a:xfrm>
            <a:off x="125016" y="2491408"/>
            <a:ext cx="8893969" cy="1241227"/>
          </a:xfrm>
          <a:prstGeom prst="rect">
            <a:avLst/>
          </a:prstGeom>
          <a:gradFill rotWithShape="0">
            <a:gsLst>
              <a:gs pos="0">
                <a:srgbClr val="B7DBE3"/>
              </a:gs>
              <a:gs pos="100000">
                <a:srgbClr val="F2FCFF"/>
              </a:gs>
            </a:gsLst>
            <a:lin ang="16380000" scaled="1"/>
          </a:gradFill>
          <a:ln w="12700" cap="flat">
            <a:solidFill>
              <a:srgbClr val="C6C6C6"/>
            </a:solidFill>
            <a:prstDash val="solid"/>
            <a:round/>
            <a:headEnd type="none" w="med" len="med"/>
            <a:tailEnd type="none" w="med" len="med"/>
          </a:ln>
          <a:effectLst>
            <a:outerShdw blurRad="12700" dist="25399" dir="2700000" algn="ctr" rotWithShape="0">
              <a:srgbClr val="B4B4B4">
                <a:alpha val="74998"/>
              </a:srgbClr>
            </a:outerShdw>
          </a:effectLst>
        </p:spPr>
        <p:txBody>
          <a:bodyPr lIns="0" tIns="0" rIns="28525" bIns="0" anchor="ctr"/>
          <a:lstStyle/>
          <a:p>
            <a:pPr marL="27858" defTabSz="642123" fontAlgn="base">
              <a:spcBef>
                <a:spcPct val="0"/>
              </a:spcBef>
              <a:spcAft>
                <a:spcPct val="0"/>
              </a:spcAft>
              <a:defRPr/>
            </a:pPr>
            <a:r>
              <a:rPr lang="en-US" sz="800">
                <a:solidFill>
                  <a:srgbClr val="000000"/>
                </a:solidFill>
                <a:latin typeface="Gill Sans" charset="0"/>
                <a:cs typeface="Gill Sans" charset="0"/>
                <a:sym typeface="Gill Sans" charset="0"/>
              </a:rPr>
              <a:t>     </a:t>
            </a:r>
          </a:p>
        </p:txBody>
      </p:sp>
      <p:sp>
        <p:nvSpPr>
          <p:cNvPr id="34" name="Rectangle 32"/>
          <p:cNvSpPr>
            <a:spLocks/>
          </p:cNvSpPr>
          <p:nvPr/>
        </p:nvSpPr>
        <p:spPr bwMode="auto">
          <a:xfrm>
            <a:off x="2053828" y="3036094"/>
            <a:ext cx="5036344" cy="241102"/>
          </a:xfrm>
          <a:prstGeom prst="rect">
            <a:avLst/>
          </a:prstGeom>
          <a:noFill/>
          <a:ln w="12700" cap="flat">
            <a:noFill/>
            <a:miter lim="800000"/>
            <a:headEnd type="none" w="med" len="med"/>
            <a:tailEnd type="none" w="med" len="med"/>
          </a:ln>
          <a:effectLst>
            <a:outerShdw blurRad="12700" dist="25399" dir="2700000" algn="ctr" rotWithShape="0">
              <a:schemeClr val="bg2">
                <a:alpha val="74998"/>
              </a:schemeClr>
            </a:outerShdw>
          </a:effectLst>
        </p:spPr>
        <p:txBody>
          <a:bodyPr lIns="0" tIns="0" rIns="0" bIns="0" anchor="ctr"/>
          <a:lstStyle/>
          <a:p>
            <a:pPr algn="ctr" defTabSz="642123" fontAlgn="base">
              <a:spcBef>
                <a:spcPct val="0"/>
              </a:spcBef>
              <a:spcAft>
                <a:spcPct val="0"/>
              </a:spcAft>
              <a:defRPr/>
            </a:pPr>
            <a:r>
              <a:rPr lang="en-US" dirty="0">
                <a:solidFill>
                  <a:srgbClr val="0F4363"/>
                </a:solidFill>
                <a:latin typeface="Myriad Pro Bold" charset="0"/>
                <a:cs typeface="Myriad Pro Bold" charset="0"/>
                <a:sym typeface="Myriad Pro Bold" charset="0"/>
              </a:rPr>
              <a:t>CLOUD OPERATING SYSTEM</a:t>
            </a:r>
          </a:p>
        </p:txBody>
      </p:sp>
      <p:sp>
        <p:nvSpPr>
          <p:cNvPr id="35" name="Rectangle 35"/>
          <p:cNvSpPr>
            <a:spLocks/>
          </p:cNvSpPr>
          <p:nvPr/>
        </p:nvSpPr>
        <p:spPr bwMode="auto">
          <a:xfrm>
            <a:off x="2241426" y="1456790"/>
            <a:ext cx="2436564"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p>
            <a:pPr defTabSz="642123" fontAlgn="base">
              <a:spcBef>
                <a:spcPct val="0"/>
              </a:spcBef>
              <a:spcAft>
                <a:spcPct val="0"/>
              </a:spcAft>
            </a:pPr>
            <a:r>
              <a:rPr lang="en-US" dirty="0">
                <a:solidFill>
                  <a:srgbClr val="232323"/>
                </a:solidFill>
                <a:cs typeface="Myriad Pro" charset="0"/>
                <a:sym typeface="Myriad Pro" charset="0"/>
              </a:rPr>
              <a:t>Connects to apps </a:t>
            </a:r>
          </a:p>
          <a:p>
            <a:pPr algn="ctr" defTabSz="642123" fontAlgn="base">
              <a:spcBef>
                <a:spcPct val="0"/>
              </a:spcBef>
              <a:spcAft>
                <a:spcPct val="0"/>
              </a:spcAft>
            </a:pPr>
            <a:r>
              <a:rPr lang="en-US" dirty="0">
                <a:solidFill>
                  <a:srgbClr val="232323"/>
                </a:solidFill>
                <a:cs typeface="Myriad Pro" charset="0"/>
                <a:sym typeface="Myriad Pro" charset="0"/>
              </a:rPr>
              <a:t>via APIs</a:t>
            </a:r>
          </a:p>
        </p:txBody>
      </p:sp>
      <p:sp>
        <p:nvSpPr>
          <p:cNvPr id="36" name="Line 36"/>
          <p:cNvSpPr>
            <a:spLocks noChangeShapeType="1"/>
          </p:cNvSpPr>
          <p:nvPr/>
        </p:nvSpPr>
        <p:spPr bwMode="auto">
          <a:xfrm>
            <a:off x="1917701" y="1810494"/>
            <a:ext cx="255612" cy="0"/>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lIns="0" tIns="0" rIns="0" bIns="0"/>
          <a:lstStyle/>
          <a:p>
            <a:pPr defTabSz="642123" fontAlgn="base">
              <a:spcBef>
                <a:spcPct val="0"/>
              </a:spcBef>
              <a:spcAft>
                <a:spcPct val="0"/>
              </a:spcAft>
            </a:pPr>
            <a:endParaRPr lang="en-US" sz="800">
              <a:solidFill>
                <a:srgbClr val="000000"/>
              </a:solidFill>
              <a:latin typeface="Gill Sans" charset="0"/>
              <a:sym typeface="Gill Sans" charset="0"/>
            </a:endParaRPr>
          </a:p>
        </p:txBody>
      </p:sp>
      <p:grpSp>
        <p:nvGrpSpPr>
          <p:cNvPr id="37" name="Group 47"/>
          <p:cNvGrpSpPr>
            <a:grpSpLocks/>
          </p:cNvGrpSpPr>
          <p:nvPr/>
        </p:nvGrpSpPr>
        <p:grpSpPr bwMode="auto">
          <a:xfrm>
            <a:off x="8742164" y="2571750"/>
            <a:ext cx="116086" cy="116086"/>
            <a:chOff x="0" y="0"/>
            <a:chExt cx="104" cy="104"/>
          </a:xfrm>
        </p:grpSpPr>
        <p:sp>
          <p:nvSpPr>
            <p:cNvPr id="38" name="Oval 48"/>
            <p:cNvSpPr>
              <a:spLocks/>
            </p:cNvSpPr>
            <p:nvPr/>
          </p:nvSpPr>
          <p:spPr bwMode="auto">
            <a:xfrm>
              <a:off x="0" y="0"/>
              <a:ext cx="104" cy="104"/>
            </a:xfrm>
            <a:prstGeom prst="ellipse">
              <a:avLst/>
            </a:prstGeom>
            <a:solidFill>
              <a:srgbClr val="D6D6D6"/>
            </a:solidFill>
            <a:ln w="12700">
              <a:solidFill>
                <a:srgbClr val="A2A2A2"/>
              </a:solidFill>
              <a:round/>
              <a:headEnd/>
              <a:tailEnd/>
            </a:ln>
          </p:spPr>
          <p:txBody>
            <a:bodyPr lIns="0" tIns="0" rIns="0" bIns="0"/>
            <a:lstStyle/>
            <a:p>
              <a:pPr defTabSz="642123" fontAlgn="base">
                <a:spcBef>
                  <a:spcPct val="0"/>
                </a:spcBef>
                <a:spcAft>
                  <a:spcPct val="0"/>
                </a:spcAft>
              </a:pPr>
              <a:endParaRPr lang="en-US" sz="800">
                <a:solidFill>
                  <a:srgbClr val="000000"/>
                </a:solidFill>
                <a:latin typeface="Gill Sans" charset="0"/>
                <a:sym typeface="Gill Sans" charset="0"/>
              </a:endParaRPr>
            </a:p>
          </p:txBody>
        </p:sp>
        <p:sp>
          <p:nvSpPr>
            <p:cNvPr id="39" name="Line 49"/>
            <p:cNvSpPr>
              <a:spLocks noChangeShapeType="1"/>
            </p:cNvSpPr>
            <p:nvPr/>
          </p:nvSpPr>
          <p:spPr bwMode="auto">
            <a:xfrm>
              <a:off x="16" y="16"/>
              <a:ext cx="67" cy="67"/>
            </a:xfrm>
            <a:prstGeom prst="line">
              <a:avLst/>
            </a:prstGeom>
            <a:noFill/>
            <a:ln w="12700">
              <a:solidFill>
                <a:srgbClr val="A2A2A2"/>
              </a:solidFill>
              <a:round/>
              <a:headEnd/>
              <a:tailEnd/>
            </a:ln>
            <a:extLst>
              <a:ext uri="{909E8E84-426E-40DD-AFC4-6F175D3DCCD1}">
                <a14:hiddenFill xmlns:a14="http://schemas.microsoft.com/office/drawing/2010/main">
                  <a:noFill/>
                </a14:hiddenFill>
              </a:ext>
            </a:extLst>
          </p:spPr>
          <p:txBody>
            <a:bodyPr lIns="0" tIns="0" rIns="0" bIns="0"/>
            <a:lstStyle/>
            <a:p>
              <a:pPr defTabSz="642123" fontAlgn="base">
                <a:spcBef>
                  <a:spcPct val="0"/>
                </a:spcBef>
                <a:spcAft>
                  <a:spcPct val="0"/>
                </a:spcAft>
              </a:pPr>
              <a:endParaRPr lang="en-US" sz="800">
                <a:solidFill>
                  <a:srgbClr val="000000"/>
                </a:solidFill>
                <a:latin typeface="Gill Sans" charset="0"/>
                <a:sym typeface="Gill Sans" charset="0"/>
              </a:endParaRPr>
            </a:p>
          </p:txBody>
        </p:sp>
      </p:grpSp>
      <p:grpSp>
        <p:nvGrpSpPr>
          <p:cNvPr id="40" name="Group 50"/>
          <p:cNvGrpSpPr>
            <a:grpSpLocks/>
          </p:cNvGrpSpPr>
          <p:nvPr/>
        </p:nvGrpSpPr>
        <p:grpSpPr bwMode="auto">
          <a:xfrm>
            <a:off x="8742164" y="3580805"/>
            <a:ext cx="116086" cy="116086"/>
            <a:chOff x="0" y="0"/>
            <a:chExt cx="104" cy="104"/>
          </a:xfrm>
        </p:grpSpPr>
        <p:sp>
          <p:nvSpPr>
            <p:cNvPr id="41" name="Oval 51"/>
            <p:cNvSpPr>
              <a:spLocks/>
            </p:cNvSpPr>
            <p:nvPr/>
          </p:nvSpPr>
          <p:spPr bwMode="auto">
            <a:xfrm>
              <a:off x="0" y="0"/>
              <a:ext cx="104" cy="104"/>
            </a:xfrm>
            <a:prstGeom prst="ellipse">
              <a:avLst/>
            </a:prstGeom>
            <a:solidFill>
              <a:srgbClr val="D6D6D6"/>
            </a:solidFill>
            <a:ln w="12700">
              <a:solidFill>
                <a:srgbClr val="A2A2A2"/>
              </a:solidFill>
              <a:round/>
              <a:headEnd/>
              <a:tailEnd/>
            </a:ln>
          </p:spPr>
          <p:txBody>
            <a:bodyPr lIns="0" tIns="0" rIns="0" bIns="0"/>
            <a:lstStyle/>
            <a:p>
              <a:pPr defTabSz="642123" fontAlgn="base">
                <a:spcBef>
                  <a:spcPct val="0"/>
                </a:spcBef>
                <a:spcAft>
                  <a:spcPct val="0"/>
                </a:spcAft>
              </a:pPr>
              <a:endParaRPr lang="en-US" sz="800">
                <a:solidFill>
                  <a:srgbClr val="000000"/>
                </a:solidFill>
                <a:latin typeface="Gill Sans" charset="0"/>
                <a:sym typeface="Gill Sans" charset="0"/>
              </a:endParaRPr>
            </a:p>
          </p:txBody>
        </p:sp>
        <p:sp>
          <p:nvSpPr>
            <p:cNvPr id="42" name="Line 52"/>
            <p:cNvSpPr>
              <a:spLocks noChangeShapeType="1"/>
            </p:cNvSpPr>
            <p:nvPr/>
          </p:nvSpPr>
          <p:spPr bwMode="auto">
            <a:xfrm>
              <a:off x="16" y="16"/>
              <a:ext cx="67" cy="67"/>
            </a:xfrm>
            <a:prstGeom prst="line">
              <a:avLst/>
            </a:prstGeom>
            <a:noFill/>
            <a:ln w="12700">
              <a:solidFill>
                <a:srgbClr val="A2A2A2"/>
              </a:solidFill>
              <a:round/>
              <a:headEnd/>
              <a:tailEnd/>
            </a:ln>
            <a:extLst>
              <a:ext uri="{909E8E84-426E-40DD-AFC4-6F175D3DCCD1}">
                <a14:hiddenFill xmlns:a14="http://schemas.microsoft.com/office/drawing/2010/main">
                  <a:noFill/>
                </a14:hiddenFill>
              </a:ext>
            </a:extLst>
          </p:spPr>
          <p:txBody>
            <a:bodyPr lIns="0" tIns="0" rIns="0" bIns="0"/>
            <a:lstStyle/>
            <a:p>
              <a:pPr defTabSz="642123" fontAlgn="base">
                <a:spcBef>
                  <a:spcPct val="0"/>
                </a:spcBef>
                <a:spcAft>
                  <a:spcPct val="0"/>
                </a:spcAft>
              </a:pPr>
              <a:endParaRPr lang="en-US" sz="800">
                <a:solidFill>
                  <a:srgbClr val="000000"/>
                </a:solidFill>
                <a:latin typeface="Gill Sans" charset="0"/>
                <a:sym typeface="Gill Sans" charset="0"/>
              </a:endParaRPr>
            </a:p>
          </p:txBody>
        </p:sp>
      </p:grpSp>
      <p:grpSp>
        <p:nvGrpSpPr>
          <p:cNvPr id="43" name="Group 53"/>
          <p:cNvGrpSpPr>
            <a:grpSpLocks/>
          </p:cNvGrpSpPr>
          <p:nvPr/>
        </p:nvGrpSpPr>
        <p:grpSpPr bwMode="auto">
          <a:xfrm>
            <a:off x="223242" y="2571750"/>
            <a:ext cx="116086" cy="116086"/>
            <a:chOff x="0" y="0"/>
            <a:chExt cx="104" cy="104"/>
          </a:xfrm>
        </p:grpSpPr>
        <p:sp>
          <p:nvSpPr>
            <p:cNvPr id="44" name="Oval 54"/>
            <p:cNvSpPr>
              <a:spLocks/>
            </p:cNvSpPr>
            <p:nvPr/>
          </p:nvSpPr>
          <p:spPr bwMode="auto">
            <a:xfrm>
              <a:off x="0" y="0"/>
              <a:ext cx="104" cy="104"/>
            </a:xfrm>
            <a:prstGeom prst="ellipse">
              <a:avLst/>
            </a:prstGeom>
            <a:solidFill>
              <a:srgbClr val="D6D6D6"/>
            </a:solidFill>
            <a:ln w="12700">
              <a:solidFill>
                <a:srgbClr val="A2A2A2"/>
              </a:solidFill>
              <a:round/>
              <a:headEnd/>
              <a:tailEnd/>
            </a:ln>
          </p:spPr>
          <p:txBody>
            <a:bodyPr lIns="0" tIns="0" rIns="0" bIns="0"/>
            <a:lstStyle/>
            <a:p>
              <a:pPr defTabSz="642123" fontAlgn="base">
                <a:spcBef>
                  <a:spcPct val="0"/>
                </a:spcBef>
                <a:spcAft>
                  <a:spcPct val="0"/>
                </a:spcAft>
              </a:pPr>
              <a:endParaRPr lang="en-US" sz="800">
                <a:solidFill>
                  <a:srgbClr val="000000"/>
                </a:solidFill>
                <a:latin typeface="Gill Sans" charset="0"/>
                <a:sym typeface="Gill Sans" charset="0"/>
              </a:endParaRPr>
            </a:p>
          </p:txBody>
        </p:sp>
        <p:sp>
          <p:nvSpPr>
            <p:cNvPr id="45" name="Line 55"/>
            <p:cNvSpPr>
              <a:spLocks noChangeShapeType="1"/>
            </p:cNvSpPr>
            <p:nvPr/>
          </p:nvSpPr>
          <p:spPr bwMode="auto">
            <a:xfrm>
              <a:off x="16" y="16"/>
              <a:ext cx="67" cy="67"/>
            </a:xfrm>
            <a:prstGeom prst="line">
              <a:avLst/>
            </a:prstGeom>
            <a:noFill/>
            <a:ln w="12700">
              <a:solidFill>
                <a:srgbClr val="A2A2A2"/>
              </a:solidFill>
              <a:round/>
              <a:headEnd/>
              <a:tailEnd/>
            </a:ln>
            <a:extLst>
              <a:ext uri="{909E8E84-426E-40DD-AFC4-6F175D3DCCD1}">
                <a14:hiddenFill xmlns:a14="http://schemas.microsoft.com/office/drawing/2010/main">
                  <a:noFill/>
                </a14:hiddenFill>
              </a:ext>
            </a:extLst>
          </p:spPr>
          <p:txBody>
            <a:bodyPr lIns="0" tIns="0" rIns="0" bIns="0"/>
            <a:lstStyle/>
            <a:p>
              <a:pPr defTabSz="642123" fontAlgn="base">
                <a:spcBef>
                  <a:spcPct val="0"/>
                </a:spcBef>
                <a:spcAft>
                  <a:spcPct val="0"/>
                </a:spcAft>
              </a:pPr>
              <a:endParaRPr lang="en-US" sz="800">
                <a:solidFill>
                  <a:srgbClr val="000000"/>
                </a:solidFill>
                <a:latin typeface="Gill Sans" charset="0"/>
                <a:sym typeface="Gill Sans" charset="0"/>
              </a:endParaRPr>
            </a:p>
          </p:txBody>
        </p:sp>
      </p:grpSp>
      <p:grpSp>
        <p:nvGrpSpPr>
          <p:cNvPr id="46" name="Group 56"/>
          <p:cNvGrpSpPr>
            <a:grpSpLocks/>
          </p:cNvGrpSpPr>
          <p:nvPr/>
        </p:nvGrpSpPr>
        <p:grpSpPr bwMode="auto">
          <a:xfrm>
            <a:off x="276820" y="3571875"/>
            <a:ext cx="116086" cy="116086"/>
            <a:chOff x="0" y="0"/>
            <a:chExt cx="104" cy="104"/>
          </a:xfrm>
        </p:grpSpPr>
        <p:sp>
          <p:nvSpPr>
            <p:cNvPr id="47" name="Oval 57"/>
            <p:cNvSpPr>
              <a:spLocks/>
            </p:cNvSpPr>
            <p:nvPr/>
          </p:nvSpPr>
          <p:spPr bwMode="auto">
            <a:xfrm>
              <a:off x="0" y="0"/>
              <a:ext cx="104" cy="104"/>
            </a:xfrm>
            <a:prstGeom prst="ellipse">
              <a:avLst/>
            </a:prstGeom>
            <a:solidFill>
              <a:srgbClr val="D6D6D6"/>
            </a:solidFill>
            <a:ln w="12700">
              <a:solidFill>
                <a:srgbClr val="A2A2A2"/>
              </a:solidFill>
              <a:round/>
              <a:headEnd/>
              <a:tailEnd/>
            </a:ln>
          </p:spPr>
          <p:txBody>
            <a:bodyPr lIns="0" tIns="0" rIns="0" bIns="0"/>
            <a:lstStyle/>
            <a:p>
              <a:pPr defTabSz="642123" fontAlgn="base">
                <a:spcBef>
                  <a:spcPct val="0"/>
                </a:spcBef>
                <a:spcAft>
                  <a:spcPct val="0"/>
                </a:spcAft>
              </a:pPr>
              <a:endParaRPr lang="en-US" sz="800">
                <a:solidFill>
                  <a:srgbClr val="000000"/>
                </a:solidFill>
                <a:latin typeface="Gill Sans" charset="0"/>
                <a:sym typeface="Gill Sans" charset="0"/>
              </a:endParaRPr>
            </a:p>
          </p:txBody>
        </p:sp>
        <p:sp>
          <p:nvSpPr>
            <p:cNvPr id="48" name="Line 58"/>
            <p:cNvSpPr>
              <a:spLocks noChangeShapeType="1"/>
            </p:cNvSpPr>
            <p:nvPr/>
          </p:nvSpPr>
          <p:spPr bwMode="auto">
            <a:xfrm>
              <a:off x="16" y="16"/>
              <a:ext cx="67" cy="67"/>
            </a:xfrm>
            <a:prstGeom prst="line">
              <a:avLst/>
            </a:prstGeom>
            <a:noFill/>
            <a:ln w="12700">
              <a:solidFill>
                <a:srgbClr val="A2A2A2"/>
              </a:solidFill>
              <a:round/>
              <a:headEnd/>
              <a:tailEnd/>
            </a:ln>
            <a:extLst>
              <a:ext uri="{909E8E84-426E-40DD-AFC4-6F175D3DCCD1}">
                <a14:hiddenFill xmlns:a14="http://schemas.microsoft.com/office/drawing/2010/main">
                  <a:noFill/>
                </a14:hiddenFill>
              </a:ext>
            </a:extLst>
          </p:spPr>
          <p:txBody>
            <a:bodyPr lIns="0" tIns="0" rIns="0" bIns="0"/>
            <a:lstStyle/>
            <a:p>
              <a:pPr defTabSz="642123" fontAlgn="base">
                <a:spcBef>
                  <a:spcPct val="0"/>
                </a:spcBef>
                <a:spcAft>
                  <a:spcPct val="0"/>
                </a:spcAft>
              </a:pPr>
              <a:endParaRPr lang="en-US" sz="800">
                <a:solidFill>
                  <a:srgbClr val="000000"/>
                </a:solidFill>
                <a:latin typeface="Gill Sans" charset="0"/>
                <a:sym typeface="Gill Sans" charset="0"/>
              </a:endParaRPr>
            </a:p>
          </p:txBody>
        </p:sp>
      </p:grpSp>
      <p:pic>
        <p:nvPicPr>
          <p:cNvPr id="49" name="Picture 5" descr="openstack-cloud-software-logo.png"/>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00063" y="2464595"/>
            <a:ext cx="1393031" cy="1393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 name="Rectangle 5"/>
          <p:cNvSpPr>
            <a:spLocks noChangeArrowheads="1"/>
          </p:cNvSpPr>
          <p:nvPr/>
        </p:nvSpPr>
        <p:spPr bwMode="auto">
          <a:xfrm>
            <a:off x="683418" y="109439"/>
            <a:ext cx="7848600" cy="762000"/>
          </a:xfrm>
          <a:prstGeom prst="rect">
            <a:avLst/>
          </a:prstGeom>
          <a:noFill/>
          <a:ln w="9525">
            <a:noFill/>
            <a:miter lim="800000"/>
            <a:headEnd/>
            <a:tailEnd/>
          </a:ln>
          <a:effectLst/>
        </p:spPr>
        <p:txBody>
          <a:bodyPr anchor="ctr"/>
          <a:lstStyle/>
          <a:p>
            <a:pPr algn="ctr">
              <a:defRPr/>
            </a:pPr>
            <a:r>
              <a:rPr lang="en-US" sz="3200" b="1" dirty="0">
                <a:solidFill>
                  <a:srgbClr val="3366CC"/>
                </a:solidFill>
                <a:effectLst>
                  <a:outerShdw blurRad="38100" dist="38100" dir="2700000" algn="tl">
                    <a:srgbClr val="C0C0C0"/>
                  </a:outerShdw>
                </a:effectLst>
                <a:latin typeface="Helvetica" pitchFamily="34" charset="0"/>
              </a:rPr>
              <a:t>High-level Architecture</a:t>
            </a:r>
            <a:br>
              <a:rPr lang="en-US" sz="3200" b="1" dirty="0">
                <a:solidFill>
                  <a:srgbClr val="3366CC"/>
                </a:solidFill>
                <a:effectLst>
                  <a:outerShdw blurRad="38100" dist="38100" dir="2700000" algn="tl">
                    <a:srgbClr val="C0C0C0"/>
                  </a:outerShdw>
                </a:effectLst>
                <a:latin typeface="Helvetica" pitchFamily="34" charset="0"/>
              </a:rPr>
            </a:br>
            <a:r>
              <a:rPr lang="en-US" sz="3200" b="1" dirty="0">
                <a:solidFill>
                  <a:srgbClr val="3366CC"/>
                </a:solidFill>
                <a:effectLst>
                  <a:outerShdw blurRad="38100" dist="38100" dir="2700000" algn="tl">
                    <a:srgbClr val="C0C0C0"/>
                  </a:outerShdw>
                </a:effectLst>
                <a:latin typeface="Helvetica" pitchFamily="34" charset="0"/>
              </a:rPr>
              <a:t>of the </a:t>
            </a:r>
            <a:r>
              <a:rPr lang="en-US" sz="3200" b="1" dirty="0" err="1">
                <a:solidFill>
                  <a:srgbClr val="3366CC"/>
                </a:solidFill>
                <a:effectLst>
                  <a:outerShdw blurRad="38100" dist="38100" dir="2700000" algn="tl">
                    <a:srgbClr val="C0C0C0"/>
                  </a:outerShdw>
                </a:effectLst>
                <a:latin typeface="Helvetica" pitchFamily="34" charset="0"/>
              </a:rPr>
              <a:t>OpenStack</a:t>
            </a:r>
            <a:r>
              <a:rPr lang="en-US" sz="3200" b="1" dirty="0">
                <a:solidFill>
                  <a:srgbClr val="3366CC"/>
                </a:solidFill>
                <a:effectLst>
                  <a:outerShdw blurRad="38100" dist="38100" dir="2700000" algn="tl">
                    <a:srgbClr val="C0C0C0"/>
                  </a:outerShdw>
                </a:effectLst>
                <a:latin typeface="Helvetica" pitchFamily="34" charset="0"/>
              </a:rPr>
              <a:t> Cloud </a:t>
            </a:r>
            <a:r>
              <a:rPr lang="en-US" sz="3200" b="1" dirty="0" err="1">
                <a:solidFill>
                  <a:srgbClr val="3366CC"/>
                </a:solidFill>
                <a:effectLst>
                  <a:outerShdw blurRad="38100" dist="38100" dir="2700000" algn="tl">
                    <a:srgbClr val="C0C0C0"/>
                  </a:outerShdw>
                </a:effectLst>
                <a:latin typeface="Helvetica" pitchFamily="34" charset="0"/>
              </a:rPr>
              <a:t>IaaS</a:t>
            </a:r>
            <a:endParaRPr lang="it-IT" sz="3200" b="1" dirty="0">
              <a:latin typeface="Helvetica" pitchFamily="34" charset="0"/>
            </a:endParaRPr>
          </a:p>
        </p:txBody>
      </p:sp>
      <p:sp>
        <p:nvSpPr>
          <p:cNvPr id="51" name="Line 6"/>
          <p:cNvSpPr>
            <a:spLocks noChangeShapeType="1"/>
          </p:cNvSpPr>
          <p:nvPr/>
        </p:nvSpPr>
        <p:spPr bwMode="auto">
          <a:xfrm>
            <a:off x="332072" y="1268760"/>
            <a:ext cx="8458200" cy="0"/>
          </a:xfrm>
          <a:prstGeom prst="line">
            <a:avLst/>
          </a:prstGeom>
          <a:noFill/>
          <a:ln w="28575">
            <a:solidFill>
              <a:srgbClr val="3366CC"/>
            </a:solidFill>
            <a:round/>
            <a:headEnd/>
            <a:tailEnd/>
          </a:ln>
        </p:spPr>
        <p:txBody>
          <a:bodyPr wrap="none" lIns="90000" tIns="46800" rIns="90000" bIns="46800" anchor="ctr">
            <a:spAutoFit/>
          </a:bodyPr>
          <a:lstStyle/>
          <a:p>
            <a:endParaRPr lang="it-IT"/>
          </a:p>
        </p:txBody>
      </p:sp>
    </p:spTree>
    <p:extLst>
      <p:ext uri="{BB962C8B-B14F-4D97-AF65-F5344CB8AC3E}">
        <p14:creationId xmlns:p14="http://schemas.microsoft.com/office/powerpoint/2010/main" val="2168853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4294967295"/>
          </p:nvPr>
        </p:nvSpPr>
        <p:spPr>
          <a:xfrm>
            <a:off x="0" y="1600200"/>
            <a:ext cx="8229600" cy="4525963"/>
          </a:xfrm>
        </p:spPr>
        <p:txBody>
          <a:bodyPr/>
          <a:lstStyle/>
          <a:p>
            <a:pPr marL="0" indent="0">
              <a:buNone/>
            </a:pPr>
            <a:r>
              <a:rPr lang="en-US" altLang="zh-TW" sz="2800" b="1" dirty="0" err="1">
                <a:solidFill>
                  <a:srgbClr val="FF0000"/>
                </a:solidFill>
                <a:latin typeface="Arial" charset="0"/>
              </a:rPr>
              <a:t>OpenStack</a:t>
            </a:r>
          </a:p>
          <a:p>
            <a:pPr lvl="1"/>
            <a:r>
              <a:rPr lang="en-US" altLang="zh-TW" sz="2400" dirty="0">
                <a:latin typeface="Arial" charset="0"/>
                <a:ea typeface="+mn-ea"/>
                <a:cs typeface="+mn-cs"/>
              </a:rPr>
              <a:t>Founded by </a:t>
            </a:r>
            <a:r>
              <a:rPr lang="en-US" altLang="zh-TW" sz="2400" b="1" dirty="0">
                <a:latin typeface="Arial" charset="0"/>
                <a:ea typeface="+mn-ea"/>
                <a:cs typeface="+mn-cs"/>
              </a:rPr>
              <a:t>NASA</a:t>
            </a:r>
            <a:r>
              <a:rPr lang="en-US" altLang="zh-TW" sz="2400" dirty="0">
                <a:latin typeface="Arial" charset="0"/>
                <a:ea typeface="+mn-ea"/>
                <a:cs typeface="+mn-cs"/>
              </a:rPr>
              <a:t> and </a:t>
            </a:r>
            <a:r>
              <a:rPr lang="en-US" altLang="zh-TW" sz="2400" b="1" dirty="0" err="1">
                <a:latin typeface="Arial" charset="0"/>
                <a:ea typeface="+mn-ea"/>
                <a:cs typeface="+mn-cs"/>
              </a:rPr>
              <a:t>Rackspace</a:t>
            </a:r>
            <a:r>
              <a:rPr lang="en-US" altLang="zh-TW" sz="2400" dirty="0">
                <a:latin typeface="Arial" charset="0"/>
                <a:ea typeface="+mn-ea"/>
                <a:cs typeface="+mn-cs"/>
              </a:rPr>
              <a:t> in 2010</a:t>
            </a:r>
          </a:p>
          <a:p>
            <a:pPr lvl="1"/>
            <a:r>
              <a:rPr lang="en-US" altLang="zh-TW" sz="2400" dirty="0">
                <a:latin typeface="Arial" charset="0"/>
                <a:ea typeface="+mn-ea"/>
                <a:cs typeface="+mn-cs"/>
              </a:rPr>
              <a:t>Currently supported by more than </a:t>
            </a:r>
            <a:r>
              <a:rPr lang="en-US" altLang="zh-TW" sz="2400" b="1" dirty="0">
                <a:latin typeface="Arial" charset="0"/>
                <a:ea typeface="+mn-ea"/>
                <a:cs typeface="+mn-cs"/>
              </a:rPr>
              <a:t>300 companies </a:t>
            </a:r>
            <a:r>
              <a:rPr lang="en-US" altLang="zh-TW" sz="2400" dirty="0">
                <a:latin typeface="Arial" charset="0"/>
                <a:ea typeface="+mn-ea"/>
                <a:cs typeface="+mn-cs"/>
              </a:rPr>
              <a:t>and </a:t>
            </a:r>
            <a:r>
              <a:rPr lang="en-US" altLang="zh-TW" sz="2400" b="1" dirty="0">
                <a:latin typeface="Arial" charset="0"/>
                <a:ea typeface="+mn-ea"/>
                <a:cs typeface="+mn-cs"/>
              </a:rPr>
              <a:t>13866 people</a:t>
            </a:r>
          </a:p>
          <a:p>
            <a:pPr lvl="1"/>
            <a:r>
              <a:rPr lang="en-US" altLang="zh-TW" sz="2400" dirty="0">
                <a:latin typeface="Arial" charset="0"/>
                <a:ea typeface="+mn-ea"/>
                <a:cs typeface="+mn-cs"/>
              </a:rPr>
              <a:t>Release slides based on: </a:t>
            </a:r>
            <a:r>
              <a:rPr lang="en-US" altLang="zh-TW" sz="2400" b="1" dirty="0">
                <a:latin typeface="Arial" charset="0"/>
                <a:ea typeface="+mn-ea"/>
                <a:cs typeface="+mn-cs"/>
              </a:rPr>
              <a:t>Juno</a:t>
            </a:r>
            <a:r>
              <a:rPr lang="en-US" altLang="zh-TW" sz="2400" dirty="0">
                <a:latin typeface="Arial" charset="0"/>
                <a:ea typeface="+mn-ea"/>
                <a:cs typeface="+mn-cs"/>
              </a:rPr>
              <a:t>, October 2014</a:t>
            </a:r>
          </a:p>
          <a:p>
            <a:pPr lvl="1"/>
            <a:r>
              <a:rPr lang="en-US" altLang="zh-TW" sz="2400" dirty="0">
                <a:latin typeface="Arial" charset="0"/>
                <a:ea typeface="+mn-ea"/>
                <a:cs typeface="+mn-cs"/>
              </a:rPr>
              <a:t>Current release: Stein, April 2019</a:t>
            </a:r>
          </a:p>
          <a:p>
            <a:r>
              <a:rPr lang="en-US" altLang="zh-TW" sz="2400" b="1" dirty="0">
                <a:latin typeface="Arial" charset="0"/>
              </a:rPr>
              <a:t>Six-month</a:t>
            </a:r>
            <a:r>
              <a:rPr lang="en-US" altLang="zh-TW" sz="2400" dirty="0">
                <a:latin typeface="Arial" charset="0"/>
              </a:rPr>
              <a:t> time-based </a:t>
            </a:r>
            <a:r>
              <a:rPr lang="en-US" altLang="zh-TW" sz="2400" b="1" dirty="0">
                <a:latin typeface="Arial" charset="0"/>
              </a:rPr>
              <a:t>release cycle </a:t>
            </a:r>
            <a:r>
              <a:rPr lang="en-US" altLang="zh-TW" sz="2400" dirty="0">
                <a:latin typeface="Arial" charset="0"/>
              </a:rPr>
              <a:t>(aligned with </a:t>
            </a:r>
            <a:r>
              <a:rPr lang="en-US" altLang="zh-TW" sz="2400" dirty="0" err="1">
                <a:latin typeface="Arial" charset="0"/>
              </a:rPr>
              <a:t>Ubuntu</a:t>
            </a:r>
            <a:r>
              <a:rPr lang="en-US" altLang="zh-TW" sz="2400" dirty="0">
                <a:latin typeface="Arial" charset="0"/>
              </a:rPr>
              <a:t> release cycle)</a:t>
            </a:r>
          </a:p>
          <a:p>
            <a:r>
              <a:rPr lang="en-US" altLang="zh-TW" sz="2400" b="1" dirty="0">
                <a:latin typeface="Arial" charset="0"/>
              </a:rPr>
              <a:t>Open-source</a:t>
            </a:r>
            <a:r>
              <a:rPr lang="en-US" altLang="zh-TW" sz="2400" dirty="0">
                <a:latin typeface="Arial" charset="0"/>
              </a:rPr>
              <a:t> vs Amazon, Microsoft, </a:t>
            </a:r>
            <a:r>
              <a:rPr lang="en-US" altLang="zh-TW" sz="2400" dirty="0" err="1">
                <a:latin typeface="Arial" charset="0"/>
              </a:rPr>
              <a:t>Vmware</a:t>
            </a:r>
            <a:r>
              <a:rPr lang="en-US" altLang="zh-TW" sz="2400" dirty="0">
                <a:latin typeface="Arial" charset="0"/>
              </a:rPr>
              <a:t>…</a:t>
            </a:r>
          </a:p>
          <a:p>
            <a:r>
              <a:rPr lang="en-US" altLang="zh-TW" sz="2400" b="1" dirty="0">
                <a:latin typeface="Arial" charset="0"/>
              </a:rPr>
              <a:t>Constantly growing</a:t>
            </a:r>
            <a:r>
              <a:rPr lang="en-US" altLang="zh-TW" sz="2400" dirty="0">
                <a:latin typeface="Arial" charset="0"/>
              </a:rPr>
              <a:t> project</a:t>
            </a:r>
            <a:endParaRPr lang="zh-TW" altLang="en-US" sz="2400" dirty="0">
              <a:latin typeface="Arial" charset="0"/>
            </a:endParaRPr>
          </a:p>
          <a:p>
            <a:endParaRPr lang="it-IT" dirty="0"/>
          </a:p>
        </p:txBody>
      </p:sp>
      <p:sp>
        <p:nvSpPr>
          <p:cNvPr id="4" name="Rectangle 5"/>
          <p:cNvSpPr>
            <a:spLocks noChangeArrowheads="1"/>
          </p:cNvSpPr>
          <p:nvPr/>
        </p:nvSpPr>
        <p:spPr bwMode="auto">
          <a:xfrm>
            <a:off x="694631" y="404664"/>
            <a:ext cx="7848600" cy="762000"/>
          </a:xfrm>
          <a:prstGeom prst="rect">
            <a:avLst/>
          </a:prstGeom>
          <a:noFill/>
          <a:ln w="9525">
            <a:noFill/>
            <a:miter lim="800000"/>
            <a:headEnd/>
            <a:tailEnd/>
          </a:ln>
          <a:effectLst/>
        </p:spPr>
        <p:txBody>
          <a:bodyPr anchor="ctr"/>
          <a:lstStyle/>
          <a:p>
            <a:pPr algn="ctr">
              <a:defRPr/>
            </a:pPr>
            <a:r>
              <a:rPr lang="en-US" sz="3200" b="1" dirty="0" err="1">
                <a:solidFill>
                  <a:srgbClr val="3366CC"/>
                </a:solidFill>
                <a:effectLst>
                  <a:outerShdw blurRad="38100" dist="38100" dir="2700000" algn="tl">
                    <a:srgbClr val="C0C0C0"/>
                  </a:outerShdw>
                </a:effectLst>
                <a:latin typeface="Helvetica" pitchFamily="34" charset="0"/>
              </a:rPr>
              <a:t>OpenStack</a:t>
            </a:r>
            <a:r>
              <a:rPr lang="en-US" sz="3200" b="1" dirty="0">
                <a:solidFill>
                  <a:srgbClr val="3366CC"/>
                </a:solidFill>
                <a:effectLst>
                  <a:outerShdw blurRad="38100" dist="38100" dir="2700000" algn="tl">
                    <a:srgbClr val="C0C0C0"/>
                  </a:outerShdw>
                </a:effectLst>
                <a:latin typeface="Helvetica" pitchFamily="34" charset="0"/>
              </a:rPr>
              <a:t> history in a nutshell </a:t>
            </a:r>
            <a:endParaRPr lang="it-IT" sz="3200" b="1" dirty="0">
              <a:latin typeface="Helvetica" pitchFamily="34" charset="0"/>
            </a:endParaRPr>
          </a:p>
        </p:txBody>
      </p:sp>
      <p:sp>
        <p:nvSpPr>
          <p:cNvPr id="5" name="Line 6"/>
          <p:cNvSpPr>
            <a:spLocks noChangeShapeType="1"/>
          </p:cNvSpPr>
          <p:nvPr/>
        </p:nvSpPr>
        <p:spPr bwMode="auto">
          <a:xfrm>
            <a:off x="378768" y="1340768"/>
            <a:ext cx="8458200" cy="0"/>
          </a:xfrm>
          <a:prstGeom prst="line">
            <a:avLst/>
          </a:prstGeom>
          <a:noFill/>
          <a:ln w="28575">
            <a:solidFill>
              <a:srgbClr val="3366CC"/>
            </a:solidFill>
            <a:round/>
            <a:headEnd/>
            <a:tailEnd/>
          </a:ln>
        </p:spPr>
        <p:txBody>
          <a:bodyPr wrap="none" lIns="90000" tIns="46800" rIns="90000" bIns="46800" anchor="ctr">
            <a:spAutoFit/>
          </a:bodyPr>
          <a:lstStyle/>
          <a:p>
            <a:endParaRPr lang="it-IT"/>
          </a:p>
        </p:txBody>
      </p:sp>
      <p:pic>
        <p:nvPicPr>
          <p:cNvPr id="57346" name="Picture 2" descr="OpenStack.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32240" y="4437112"/>
            <a:ext cx="2057400" cy="20574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34670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p:cNvSpPr>
            <a:spLocks noChangeArrowheads="1"/>
          </p:cNvSpPr>
          <p:nvPr/>
        </p:nvSpPr>
        <p:spPr bwMode="auto">
          <a:xfrm>
            <a:off x="683568" y="116632"/>
            <a:ext cx="7848600" cy="762000"/>
          </a:xfrm>
          <a:prstGeom prst="rect">
            <a:avLst/>
          </a:prstGeom>
          <a:noFill/>
          <a:ln w="9525">
            <a:noFill/>
            <a:miter lim="800000"/>
            <a:headEnd/>
            <a:tailEnd/>
          </a:ln>
          <a:effectLst/>
        </p:spPr>
        <p:txBody>
          <a:bodyPr anchor="ctr"/>
          <a:lstStyle/>
          <a:p>
            <a:pPr algn="ctr">
              <a:defRPr/>
            </a:pPr>
            <a:r>
              <a:rPr lang="en-US" sz="3200" b="1" dirty="0">
                <a:solidFill>
                  <a:srgbClr val="3366CC"/>
                </a:solidFill>
                <a:effectLst>
                  <a:outerShdw blurRad="38100" dist="38100" dir="2700000" algn="tl">
                    <a:srgbClr val="C0C0C0"/>
                  </a:outerShdw>
                </a:effectLst>
                <a:latin typeface="Helvetica" pitchFamily="34" charset="0"/>
              </a:rPr>
              <a:t>Main Functions in a Cloud</a:t>
            </a:r>
            <a:endParaRPr lang="it-IT" sz="3200" b="1" dirty="0">
              <a:latin typeface="Helvetica" pitchFamily="34" charset="0"/>
            </a:endParaRPr>
          </a:p>
        </p:txBody>
      </p:sp>
      <p:sp>
        <p:nvSpPr>
          <p:cNvPr id="5" name="Line 6"/>
          <p:cNvSpPr>
            <a:spLocks noChangeShapeType="1"/>
          </p:cNvSpPr>
          <p:nvPr/>
        </p:nvSpPr>
        <p:spPr bwMode="auto">
          <a:xfrm>
            <a:off x="378768" y="878632"/>
            <a:ext cx="8458200" cy="0"/>
          </a:xfrm>
          <a:prstGeom prst="line">
            <a:avLst/>
          </a:prstGeom>
          <a:noFill/>
          <a:ln w="28575">
            <a:solidFill>
              <a:srgbClr val="3366CC"/>
            </a:solidFill>
            <a:round/>
            <a:headEnd/>
            <a:tailEnd/>
          </a:ln>
        </p:spPr>
        <p:txBody>
          <a:bodyPr wrap="none" lIns="90000" tIns="46800" rIns="90000" bIns="46800" anchor="ctr">
            <a:spAutoFit/>
          </a:bodyPr>
          <a:lstStyle/>
          <a:p>
            <a:endParaRPr lang="it-IT"/>
          </a:p>
        </p:txBody>
      </p:sp>
      <p:pic>
        <p:nvPicPr>
          <p:cNvPr id="69634" name="Picture 2" descr="IaaS Conceptual Architectur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568" y="1124744"/>
            <a:ext cx="7992888" cy="5580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56372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p:cNvSpPr>
            <a:spLocks noChangeArrowheads="1"/>
          </p:cNvSpPr>
          <p:nvPr/>
        </p:nvSpPr>
        <p:spPr bwMode="auto">
          <a:xfrm>
            <a:off x="683568" y="116632"/>
            <a:ext cx="7848600" cy="762000"/>
          </a:xfrm>
          <a:prstGeom prst="rect">
            <a:avLst/>
          </a:prstGeom>
          <a:noFill/>
          <a:ln w="9525">
            <a:noFill/>
            <a:miter lim="800000"/>
            <a:headEnd/>
            <a:tailEnd/>
          </a:ln>
          <a:effectLst/>
        </p:spPr>
        <p:txBody>
          <a:bodyPr anchor="ctr"/>
          <a:lstStyle/>
          <a:p>
            <a:pPr algn="ctr">
              <a:defRPr/>
            </a:pPr>
            <a:r>
              <a:rPr lang="en-US" sz="3200" b="1" dirty="0">
                <a:solidFill>
                  <a:srgbClr val="3366CC"/>
                </a:solidFill>
                <a:effectLst>
                  <a:outerShdw blurRad="38100" dist="38100" dir="2700000" algn="tl">
                    <a:srgbClr val="C0C0C0"/>
                  </a:outerShdw>
                </a:effectLst>
                <a:latin typeface="Helvetica" pitchFamily="34" charset="0"/>
              </a:rPr>
              <a:t>Main Functions in a Cloud</a:t>
            </a:r>
            <a:endParaRPr lang="it-IT" sz="3200" b="1" dirty="0">
              <a:latin typeface="Helvetica" pitchFamily="34" charset="0"/>
            </a:endParaRPr>
          </a:p>
        </p:txBody>
      </p:sp>
      <p:sp>
        <p:nvSpPr>
          <p:cNvPr id="5" name="Line 6"/>
          <p:cNvSpPr>
            <a:spLocks noChangeShapeType="1"/>
          </p:cNvSpPr>
          <p:nvPr/>
        </p:nvSpPr>
        <p:spPr bwMode="auto">
          <a:xfrm>
            <a:off x="378768" y="878632"/>
            <a:ext cx="8458200" cy="0"/>
          </a:xfrm>
          <a:prstGeom prst="line">
            <a:avLst/>
          </a:prstGeom>
          <a:noFill/>
          <a:ln w="28575">
            <a:solidFill>
              <a:srgbClr val="3366CC"/>
            </a:solidFill>
            <a:round/>
            <a:headEnd/>
            <a:tailEnd/>
          </a:ln>
        </p:spPr>
        <p:txBody>
          <a:bodyPr wrap="none" lIns="90000" tIns="46800" rIns="90000" bIns="46800" anchor="ctr">
            <a:spAutoFit/>
          </a:bodyPr>
          <a:lstStyle/>
          <a:p>
            <a:endParaRPr lang="it-IT"/>
          </a:p>
        </p:txBody>
      </p:sp>
      <p:pic>
        <p:nvPicPr>
          <p:cNvPr id="70658" name="Picture 2" descr="OpenStack Nova conceptual cover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5556" y="1055655"/>
            <a:ext cx="8064624" cy="5612544"/>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arrotondato 1"/>
          <p:cNvSpPr/>
          <p:nvPr/>
        </p:nvSpPr>
        <p:spPr bwMode="auto">
          <a:xfrm>
            <a:off x="3923928" y="6070436"/>
            <a:ext cx="1296144" cy="238884"/>
          </a:xfrm>
          <a:prstGeom prst="roundRect">
            <a:avLst/>
          </a:prstGeom>
          <a:solidFill>
            <a:srgbClr val="EC8A87"/>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it-IT" sz="1300" dirty="0" err="1">
                <a:latin typeface="+mn-lt"/>
                <a:cs typeface="Times New Roman" panose="02020603050405020304" pitchFamily="18" charset="0"/>
              </a:rPr>
              <a:t>cinder</a:t>
            </a:r>
            <a:r>
              <a:rPr lang="it-IT" sz="1300" dirty="0">
                <a:latin typeface="+mn-lt"/>
                <a:cs typeface="Times New Roman" panose="02020603050405020304" pitchFamily="18" charset="0"/>
              </a:rPr>
              <a:t>-volume</a:t>
            </a:r>
            <a:endParaRPr kumimoji="0" lang="it-IT" sz="1300" i="0" u="none" strike="noStrike" cap="none" normalizeH="0" baseline="0" dirty="0">
              <a:ln>
                <a:noFill/>
              </a:ln>
              <a:solidFill>
                <a:schemeClr val="tx1"/>
              </a:solidFill>
              <a:effectLst/>
              <a:latin typeface="+mn-lt"/>
              <a:cs typeface="Times New Roman" panose="02020603050405020304" pitchFamily="18" charset="0"/>
            </a:endParaRPr>
          </a:p>
        </p:txBody>
      </p:sp>
      <p:sp>
        <p:nvSpPr>
          <p:cNvPr id="7" name="Rettangolo arrotondato 6"/>
          <p:cNvSpPr/>
          <p:nvPr/>
        </p:nvSpPr>
        <p:spPr bwMode="auto">
          <a:xfrm>
            <a:off x="5292080" y="6079070"/>
            <a:ext cx="1296144" cy="238884"/>
          </a:xfrm>
          <a:prstGeom prst="roundRect">
            <a:avLst/>
          </a:prstGeom>
          <a:solidFill>
            <a:srgbClr val="EC8A87"/>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it-IT" sz="1300" dirty="0" err="1">
                <a:latin typeface="+mn-lt"/>
                <a:cs typeface="Times New Roman" panose="02020603050405020304" pitchFamily="18" charset="0"/>
              </a:rPr>
              <a:t>neutron</a:t>
            </a:r>
            <a:endParaRPr kumimoji="0" lang="it-IT" sz="1300" i="0" u="none" strike="noStrike" cap="none" normalizeH="0" baseline="0" dirty="0">
              <a:ln>
                <a:noFill/>
              </a:ln>
              <a:solidFill>
                <a:schemeClr val="tx1"/>
              </a:solidFill>
              <a:effectLst/>
              <a:latin typeface="+mn-lt"/>
              <a:cs typeface="Times New Roman" panose="02020603050405020304" pitchFamily="18" charset="0"/>
            </a:endParaRPr>
          </a:p>
        </p:txBody>
      </p:sp>
      <p:sp>
        <p:nvSpPr>
          <p:cNvPr id="8" name="Rettangolo arrotondato 7"/>
          <p:cNvSpPr/>
          <p:nvPr/>
        </p:nvSpPr>
        <p:spPr bwMode="auto">
          <a:xfrm>
            <a:off x="7452320" y="3068960"/>
            <a:ext cx="1008112" cy="360040"/>
          </a:xfrm>
          <a:prstGeom prst="roundRect">
            <a:avLst/>
          </a:prstGeom>
          <a:solidFill>
            <a:srgbClr val="D97673"/>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it-IT" sz="1300" dirty="0" err="1">
                <a:latin typeface="+mn-lt"/>
                <a:cs typeface="Times New Roman" panose="02020603050405020304" pitchFamily="18" charset="0"/>
              </a:rPr>
              <a:t>ceilometer</a:t>
            </a:r>
            <a:endParaRPr kumimoji="0" lang="it-IT" sz="1300" i="0" u="none" strike="noStrike" cap="none" normalizeH="0" baseline="0" dirty="0">
              <a:ln>
                <a:noFill/>
              </a:ln>
              <a:solidFill>
                <a:schemeClr val="tx1"/>
              </a:solidFill>
              <a:effectLst/>
              <a:latin typeface="+mn-lt"/>
              <a:cs typeface="Times New Roman" panose="02020603050405020304" pitchFamily="18" charset="0"/>
            </a:endParaRPr>
          </a:p>
        </p:txBody>
      </p:sp>
    </p:spTree>
    <p:extLst>
      <p:ext uri="{BB962C8B-B14F-4D97-AF65-F5344CB8AC3E}">
        <p14:creationId xmlns:p14="http://schemas.microsoft.com/office/powerpoint/2010/main" val="10265116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8786" name="Picture 2" descr="http://ilearnstack.files.wordpress.com/2013/04/openstack-conceptual-arch.jpg"/>
          <p:cNvPicPr>
            <a:picLocks noChangeAspect="1" noChangeArrowheads="1"/>
          </p:cNvPicPr>
          <p:nvPr/>
        </p:nvPicPr>
        <p:blipFill>
          <a:blip r:embed="rId3" cstate="print"/>
          <a:srcRect/>
          <a:stretch>
            <a:fillRect/>
          </a:stretch>
        </p:blipFill>
        <p:spPr bwMode="auto">
          <a:xfrm>
            <a:off x="879675" y="1397697"/>
            <a:ext cx="7731890" cy="4708771"/>
          </a:xfrm>
          <a:prstGeom prst="rect">
            <a:avLst/>
          </a:prstGeom>
          <a:noFill/>
        </p:spPr>
      </p:pic>
      <p:sp>
        <p:nvSpPr>
          <p:cNvPr id="4" name="Rectangle 5"/>
          <p:cNvSpPr>
            <a:spLocks noChangeArrowheads="1"/>
          </p:cNvSpPr>
          <p:nvPr/>
        </p:nvSpPr>
        <p:spPr bwMode="auto">
          <a:xfrm>
            <a:off x="683568" y="116632"/>
            <a:ext cx="7848600" cy="762000"/>
          </a:xfrm>
          <a:prstGeom prst="rect">
            <a:avLst/>
          </a:prstGeom>
          <a:noFill/>
          <a:ln w="9525">
            <a:noFill/>
            <a:miter lim="800000"/>
            <a:headEnd/>
            <a:tailEnd/>
          </a:ln>
          <a:effectLst/>
        </p:spPr>
        <p:txBody>
          <a:bodyPr anchor="ctr"/>
          <a:lstStyle/>
          <a:p>
            <a:pPr algn="ctr">
              <a:defRPr/>
            </a:pPr>
            <a:r>
              <a:rPr lang="en-US" sz="3200" b="1" dirty="0" err="1">
                <a:solidFill>
                  <a:srgbClr val="3366CC"/>
                </a:solidFill>
                <a:effectLst>
                  <a:outerShdw blurRad="38100" dist="38100" dir="2700000" algn="tl">
                    <a:srgbClr val="C0C0C0"/>
                  </a:outerShdw>
                </a:effectLst>
                <a:latin typeface="Helvetica" pitchFamily="34" charset="0"/>
              </a:rPr>
              <a:t>OpenStack</a:t>
            </a:r>
            <a:r>
              <a:rPr lang="en-US" sz="3200" b="1" dirty="0">
                <a:solidFill>
                  <a:srgbClr val="3366CC"/>
                </a:solidFill>
                <a:effectLst>
                  <a:outerShdw blurRad="38100" dist="38100" dir="2700000" algn="tl">
                    <a:srgbClr val="C0C0C0"/>
                  </a:outerShdw>
                </a:effectLst>
                <a:latin typeface="Helvetica" pitchFamily="34" charset="0"/>
              </a:rPr>
              <a:t> main services</a:t>
            </a:r>
            <a:endParaRPr lang="it-IT" sz="3200" b="1" dirty="0">
              <a:latin typeface="Helvetica" pitchFamily="34" charset="0"/>
            </a:endParaRPr>
          </a:p>
        </p:txBody>
      </p:sp>
      <p:sp>
        <p:nvSpPr>
          <p:cNvPr id="5" name="Line 6"/>
          <p:cNvSpPr>
            <a:spLocks noChangeShapeType="1"/>
          </p:cNvSpPr>
          <p:nvPr/>
        </p:nvSpPr>
        <p:spPr bwMode="auto">
          <a:xfrm>
            <a:off x="378768" y="878632"/>
            <a:ext cx="8458200" cy="0"/>
          </a:xfrm>
          <a:prstGeom prst="line">
            <a:avLst/>
          </a:prstGeom>
          <a:noFill/>
          <a:ln w="28575">
            <a:solidFill>
              <a:srgbClr val="3366CC"/>
            </a:solidFill>
            <a:round/>
            <a:headEnd/>
            <a:tailEnd/>
          </a:ln>
        </p:spPr>
        <p:txBody>
          <a:bodyPr wrap="none" lIns="90000" tIns="46800" rIns="90000" bIns="46800" anchor="ctr">
            <a:spAutoFit/>
          </a:bodyPr>
          <a:lstStyle/>
          <a:p>
            <a:endParaRPr lang="it-IT"/>
          </a:p>
        </p:txBody>
      </p:sp>
    </p:spTree>
    <p:extLst>
      <p:ext uri="{BB962C8B-B14F-4D97-AF65-F5344CB8AC3E}">
        <p14:creationId xmlns:p14="http://schemas.microsoft.com/office/powerpoint/2010/main" val="16851666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p:cNvSpPr>
            <a:spLocks noChangeArrowheads="1"/>
          </p:cNvSpPr>
          <p:nvPr/>
        </p:nvSpPr>
        <p:spPr bwMode="auto">
          <a:xfrm>
            <a:off x="683568" y="116632"/>
            <a:ext cx="7848600" cy="762000"/>
          </a:xfrm>
          <a:prstGeom prst="rect">
            <a:avLst/>
          </a:prstGeom>
          <a:noFill/>
          <a:ln w="9525">
            <a:noFill/>
            <a:miter lim="800000"/>
            <a:headEnd/>
            <a:tailEnd/>
          </a:ln>
          <a:effectLst/>
        </p:spPr>
        <p:txBody>
          <a:bodyPr anchor="ctr"/>
          <a:lstStyle/>
          <a:p>
            <a:pPr algn="ctr">
              <a:defRPr/>
            </a:pPr>
            <a:r>
              <a:rPr lang="en-US" sz="3200" b="1" dirty="0" err="1">
                <a:solidFill>
                  <a:srgbClr val="3366CC"/>
                </a:solidFill>
                <a:effectLst>
                  <a:outerShdw blurRad="38100" dist="38100" dir="2700000" algn="tl">
                    <a:srgbClr val="C0C0C0"/>
                  </a:outerShdw>
                </a:effectLst>
                <a:latin typeface="Helvetica" pitchFamily="34" charset="0"/>
              </a:rPr>
              <a:t>OpenStack</a:t>
            </a:r>
            <a:r>
              <a:rPr lang="en-US" sz="3200" b="1" dirty="0">
                <a:solidFill>
                  <a:srgbClr val="3366CC"/>
                </a:solidFill>
                <a:effectLst>
                  <a:outerShdw blurRad="38100" dist="38100" dir="2700000" algn="tl">
                    <a:srgbClr val="C0C0C0"/>
                  </a:outerShdw>
                </a:effectLst>
                <a:latin typeface="Helvetica" pitchFamily="34" charset="0"/>
              </a:rPr>
              <a:t> main services</a:t>
            </a:r>
            <a:endParaRPr lang="it-IT" sz="3200" b="1" dirty="0">
              <a:latin typeface="Helvetica" pitchFamily="34" charset="0"/>
            </a:endParaRPr>
          </a:p>
        </p:txBody>
      </p:sp>
      <p:sp>
        <p:nvSpPr>
          <p:cNvPr id="5" name="Line 6"/>
          <p:cNvSpPr>
            <a:spLocks noChangeShapeType="1"/>
          </p:cNvSpPr>
          <p:nvPr/>
        </p:nvSpPr>
        <p:spPr bwMode="auto">
          <a:xfrm>
            <a:off x="378768" y="878632"/>
            <a:ext cx="8458200" cy="0"/>
          </a:xfrm>
          <a:prstGeom prst="line">
            <a:avLst/>
          </a:prstGeom>
          <a:noFill/>
          <a:ln w="28575">
            <a:solidFill>
              <a:srgbClr val="3366CC"/>
            </a:solidFill>
            <a:round/>
            <a:headEnd/>
            <a:tailEnd/>
          </a:ln>
        </p:spPr>
        <p:txBody>
          <a:bodyPr wrap="none" lIns="90000" tIns="46800" rIns="90000" bIns="46800" anchor="ctr">
            <a:spAutoFit/>
          </a:bodyPr>
          <a:lstStyle/>
          <a:p>
            <a:endParaRPr lang="it-IT"/>
          </a:p>
        </p:txBody>
      </p:sp>
      <p:pic>
        <p:nvPicPr>
          <p:cNvPr id="72706" name="Picture 2" descr="http://2.bp.blogspot.com/-gSptiEtpxpY/Ut1Iffn5bII/AAAAAAAAAcw/y1QNGHJLgGc/s1600/OpenStack_services.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094" y="1190545"/>
            <a:ext cx="8823548" cy="48128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22217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p:cNvSpPr>
            <a:spLocks noChangeArrowheads="1"/>
          </p:cNvSpPr>
          <p:nvPr/>
        </p:nvSpPr>
        <p:spPr bwMode="auto">
          <a:xfrm>
            <a:off x="683568" y="116632"/>
            <a:ext cx="7848600" cy="762000"/>
          </a:xfrm>
          <a:prstGeom prst="rect">
            <a:avLst/>
          </a:prstGeom>
          <a:noFill/>
          <a:ln w="9525">
            <a:noFill/>
            <a:miter lim="800000"/>
            <a:headEnd/>
            <a:tailEnd/>
          </a:ln>
          <a:effectLst/>
        </p:spPr>
        <p:txBody>
          <a:bodyPr anchor="ctr"/>
          <a:lstStyle/>
          <a:p>
            <a:pPr algn="ctr">
              <a:defRPr/>
            </a:pPr>
            <a:r>
              <a:rPr lang="en-US" sz="3200" b="1" dirty="0" err="1">
                <a:solidFill>
                  <a:srgbClr val="3366CC"/>
                </a:solidFill>
                <a:effectLst>
                  <a:outerShdw blurRad="38100" dist="38100" dir="2700000" algn="tl">
                    <a:srgbClr val="C0C0C0"/>
                  </a:outerShdw>
                </a:effectLst>
                <a:latin typeface="Helvetica" pitchFamily="34" charset="0"/>
              </a:rPr>
              <a:t>OpenStack</a:t>
            </a:r>
            <a:r>
              <a:rPr lang="en-US" sz="3200" b="1" dirty="0">
                <a:solidFill>
                  <a:srgbClr val="3366CC"/>
                </a:solidFill>
                <a:effectLst>
                  <a:outerShdw blurRad="38100" dist="38100" dir="2700000" algn="tl">
                    <a:srgbClr val="C0C0C0"/>
                  </a:outerShdw>
                </a:effectLst>
                <a:latin typeface="Helvetica" pitchFamily="34" charset="0"/>
              </a:rPr>
              <a:t> main services</a:t>
            </a:r>
            <a:endParaRPr lang="it-IT" sz="3200" b="1" dirty="0">
              <a:latin typeface="Helvetica" pitchFamily="34" charset="0"/>
            </a:endParaRPr>
          </a:p>
        </p:txBody>
      </p:sp>
      <p:sp>
        <p:nvSpPr>
          <p:cNvPr id="5" name="Line 6"/>
          <p:cNvSpPr>
            <a:spLocks noChangeShapeType="1"/>
          </p:cNvSpPr>
          <p:nvPr/>
        </p:nvSpPr>
        <p:spPr bwMode="auto">
          <a:xfrm>
            <a:off x="378768" y="878632"/>
            <a:ext cx="8458200" cy="0"/>
          </a:xfrm>
          <a:prstGeom prst="line">
            <a:avLst/>
          </a:prstGeom>
          <a:noFill/>
          <a:ln w="28575">
            <a:solidFill>
              <a:srgbClr val="3366CC"/>
            </a:solidFill>
            <a:round/>
            <a:headEnd/>
            <a:tailEnd/>
          </a:ln>
        </p:spPr>
        <p:txBody>
          <a:bodyPr wrap="none" lIns="90000" tIns="46800" rIns="90000" bIns="46800" anchor="ctr">
            <a:spAutoFit/>
          </a:bodyPr>
          <a:lstStyle/>
          <a:p>
            <a:endParaRPr lang="it-IT"/>
          </a:p>
        </p:txBody>
      </p:sp>
      <p:pic>
        <p:nvPicPr>
          <p:cNvPr id="75778" name="Picture 2" descr="OpenStack Architectur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052" y="1700808"/>
            <a:ext cx="8832497" cy="47525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65040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p:cNvSpPr>
            <a:spLocks noChangeArrowheads="1"/>
          </p:cNvSpPr>
          <p:nvPr/>
        </p:nvSpPr>
        <p:spPr bwMode="auto">
          <a:xfrm>
            <a:off x="683568" y="116632"/>
            <a:ext cx="7848600" cy="762000"/>
          </a:xfrm>
          <a:prstGeom prst="rect">
            <a:avLst/>
          </a:prstGeom>
          <a:noFill/>
          <a:ln w="9525">
            <a:noFill/>
            <a:miter lim="800000"/>
            <a:headEnd/>
            <a:tailEnd/>
          </a:ln>
          <a:effectLst/>
        </p:spPr>
        <p:txBody>
          <a:bodyPr anchor="ctr"/>
          <a:lstStyle/>
          <a:p>
            <a:pPr algn="ctr">
              <a:defRPr/>
            </a:pPr>
            <a:r>
              <a:rPr lang="en-US" sz="3200" b="1" dirty="0" err="1">
                <a:solidFill>
                  <a:srgbClr val="3366CC"/>
                </a:solidFill>
                <a:effectLst>
                  <a:outerShdw blurRad="38100" dist="38100" dir="2700000" algn="tl">
                    <a:srgbClr val="C0C0C0"/>
                  </a:outerShdw>
                </a:effectLst>
                <a:latin typeface="Helvetica" pitchFamily="34" charset="0"/>
              </a:rPr>
              <a:t>OpenStack</a:t>
            </a:r>
            <a:r>
              <a:rPr lang="en-US" sz="3200" b="1" dirty="0">
                <a:solidFill>
                  <a:srgbClr val="3366CC"/>
                </a:solidFill>
                <a:effectLst>
                  <a:outerShdw blurRad="38100" dist="38100" dir="2700000" algn="tl">
                    <a:srgbClr val="C0C0C0"/>
                  </a:outerShdw>
                </a:effectLst>
                <a:latin typeface="Helvetica" pitchFamily="34" charset="0"/>
              </a:rPr>
              <a:t> services</a:t>
            </a:r>
            <a:endParaRPr lang="it-IT" sz="3200" b="1" dirty="0">
              <a:latin typeface="Helvetica" pitchFamily="34" charset="0"/>
            </a:endParaRPr>
          </a:p>
        </p:txBody>
      </p:sp>
      <p:sp>
        <p:nvSpPr>
          <p:cNvPr id="5" name="Line 6"/>
          <p:cNvSpPr>
            <a:spLocks noChangeShapeType="1"/>
          </p:cNvSpPr>
          <p:nvPr/>
        </p:nvSpPr>
        <p:spPr bwMode="auto">
          <a:xfrm>
            <a:off x="378768" y="878632"/>
            <a:ext cx="8458200" cy="0"/>
          </a:xfrm>
          <a:prstGeom prst="line">
            <a:avLst/>
          </a:prstGeom>
          <a:noFill/>
          <a:ln w="28575">
            <a:solidFill>
              <a:srgbClr val="3366CC"/>
            </a:solidFill>
            <a:round/>
            <a:headEnd/>
            <a:tailEnd/>
          </a:ln>
        </p:spPr>
        <p:txBody>
          <a:bodyPr wrap="none" lIns="90000" tIns="46800" rIns="90000" bIns="46800" anchor="ctr">
            <a:spAutoFit/>
          </a:bodyPr>
          <a:lstStyle/>
          <a:p>
            <a:endParaRPr lang="it-IT"/>
          </a:p>
        </p:txBody>
      </p:sp>
      <p:pic>
        <p:nvPicPr>
          <p:cNvPr id="73730" name="Picture 2" descr="http://netapp.github.io/openstack-deploy-ops-guide/icehouse/content/figures/1/a/images/OpenStack%20Architectur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629" y="1556792"/>
            <a:ext cx="8945860" cy="404661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7092279" y="5673441"/>
            <a:ext cx="2067173" cy="523220"/>
          </a:xfrm>
          <a:prstGeom prst="rect">
            <a:avLst/>
          </a:prstGeom>
          <a:noFill/>
        </p:spPr>
        <p:txBody>
          <a:bodyPr wrap="square" rtlCol="0">
            <a:spAutoFit/>
          </a:bodyPr>
          <a:lstStyle/>
          <a:p>
            <a:r>
              <a:rPr lang="it-IT" sz="2800" dirty="0" err="1">
                <a:latin typeface="Arial" panose="020B0604020202020204" pitchFamily="34" charset="0"/>
                <a:cs typeface="Arial" panose="020B0604020202020204" pitchFamily="34" charset="0"/>
              </a:rPr>
              <a:t>Ceilometer</a:t>
            </a:r>
            <a:r>
              <a:rPr lang="it-IT" sz="2800" dirty="0">
                <a:latin typeface="Arial" panose="020B0604020202020204" pitchFamily="34" charset="0"/>
                <a:cs typeface="Arial" panose="020B0604020202020204" pitchFamily="34" charset="0"/>
              </a:rPr>
              <a:t>	</a:t>
            </a:r>
          </a:p>
        </p:txBody>
      </p:sp>
      <p:sp>
        <p:nvSpPr>
          <p:cNvPr id="8" name="TextBox 7"/>
          <p:cNvSpPr txBox="1"/>
          <p:nvPr/>
        </p:nvSpPr>
        <p:spPr>
          <a:xfrm>
            <a:off x="1187624" y="1556792"/>
            <a:ext cx="2067173" cy="523220"/>
          </a:xfrm>
          <a:prstGeom prst="rect">
            <a:avLst/>
          </a:prstGeom>
          <a:noFill/>
        </p:spPr>
        <p:txBody>
          <a:bodyPr wrap="square" rtlCol="0">
            <a:spAutoFit/>
          </a:bodyPr>
          <a:lstStyle/>
          <a:p>
            <a:r>
              <a:rPr lang="it-IT" sz="2800" dirty="0" err="1">
                <a:latin typeface="Arial" panose="020B0604020202020204" pitchFamily="34" charset="0"/>
                <a:cs typeface="Arial" panose="020B0604020202020204" pitchFamily="34" charset="0"/>
              </a:rPr>
              <a:t>Heat</a:t>
            </a:r>
            <a:r>
              <a:rPr lang="it-IT" sz="2800" dirty="0">
                <a:latin typeface="Arial" panose="020B0604020202020204" pitchFamily="34" charset="0"/>
                <a:cs typeface="Arial" panose="020B0604020202020204" pitchFamily="34" charset="0"/>
              </a:rPr>
              <a:t>  	</a:t>
            </a:r>
          </a:p>
        </p:txBody>
      </p:sp>
      <p:sp>
        <p:nvSpPr>
          <p:cNvPr id="2" name="TextBox 1">
            <a:extLst>
              <a:ext uri="{FF2B5EF4-FFF2-40B4-BE49-F238E27FC236}">
                <a16:creationId xmlns:a16="http://schemas.microsoft.com/office/drawing/2014/main" id="{E11197E2-0F04-984C-AD8E-5D67A382E9F7}"/>
              </a:ext>
            </a:extLst>
          </p:cNvPr>
          <p:cNvSpPr txBox="1"/>
          <p:nvPr/>
        </p:nvSpPr>
        <p:spPr>
          <a:xfrm>
            <a:off x="179512" y="5877272"/>
            <a:ext cx="5145639" cy="646331"/>
          </a:xfrm>
          <a:prstGeom prst="rect">
            <a:avLst/>
          </a:prstGeom>
          <a:noFill/>
        </p:spPr>
        <p:txBody>
          <a:bodyPr wrap="none" rtlCol="0">
            <a:spAutoFit/>
          </a:bodyPr>
          <a:lstStyle/>
          <a:p>
            <a:r>
              <a:rPr lang="en-US" sz="1200" b="1" dirty="0"/>
              <a:t>Heat: </a:t>
            </a:r>
            <a:r>
              <a:rPr lang="en-US" sz="1200" dirty="0"/>
              <a:t>main project of </a:t>
            </a:r>
            <a:r>
              <a:rPr lang="en-US" sz="1200" b="1" dirty="0"/>
              <a:t>OpenStack</a:t>
            </a:r>
            <a:r>
              <a:rPr lang="en-US" sz="1200" dirty="0"/>
              <a:t> orchestration. </a:t>
            </a:r>
          </a:p>
          <a:p>
            <a:r>
              <a:rPr lang="en-US" sz="1200" dirty="0"/>
              <a:t>Allows users to describe deployments of cloud applications in templates. </a:t>
            </a:r>
          </a:p>
          <a:p>
            <a:r>
              <a:rPr lang="en-US" sz="1200" dirty="0"/>
              <a:t>Templates parsed &amp; executed by </a:t>
            </a:r>
            <a:r>
              <a:rPr lang="en-US" sz="1200" b="1" dirty="0"/>
              <a:t>Heat</a:t>
            </a:r>
            <a:r>
              <a:rPr lang="en-US" sz="1200" dirty="0"/>
              <a:t> engine.</a:t>
            </a:r>
          </a:p>
        </p:txBody>
      </p:sp>
    </p:spTree>
    <p:extLst>
      <p:ext uri="{BB962C8B-B14F-4D97-AF65-F5344CB8AC3E}">
        <p14:creationId xmlns:p14="http://schemas.microsoft.com/office/powerpoint/2010/main" val="29651987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p:cNvSpPr>
            <a:spLocks noChangeArrowheads="1"/>
          </p:cNvSpPr>
          <p:nvPr/>
        </p:nvSpPr>
        <p:spPr bwMode="auto">
          <a:xfrm>
            <a:off x="683568" y="116632"/>
            <a:ext cx="7848600" cy="762000"/>
          </a:xfrm>
          <a:prstGeom prst="rect">
            <a:avLst/>
          </a:prstGeom>
          <a:noFill/>
          <a:ln w="9525">
            <a:noFill/>
            <a:miter lim="800000"/>
            <a:headEnd/>
            <a:tailEnd/>
          </a:ln>
          <a:effectLst/>
        </p:spPr>
        <p:txBody>
          <a:bodyPr anchor="ctr"/>
          <a:lstStyle/>
          <a:p>
            <a:pPr algn="ctr">
              <a:defRPr/>
            </a:pPr>
            <a:r>
              <a:rPr lang="en-US" sz="3200" b="1" dirty="0" err="1">
                <a:solidFill>
                  <a:srgbClr val="3366CC"/>
                </a:solidFill>
                <a:effectLst>
                  <a:outerShdw blurRad="38100" dist="38100" dir="2700000" algn="tl">
                    <a:srgbClr val="C0C0C0"/>
                  </a:outerShdw>
                </a:effectLst>
                <a:latin typeface="Helvetica" pitchFamily="34" charset="0"/>
              </a:rPr>
              <a:t>OpenStack</a:t>
            </a:r>
            <a:r>
              <a:rPr lang="en-US" sz="3200" b="1" dirty="0">
                <a:solidFill>
                  <a:srgbClr val="3366CC"/>
                </a:solidFill>
                <a:effectLst>
                  <a:outerShdw blurRad="38100" dist="38100" dir="2700000" algn="tl">
                    <a:srgbClr val="C0C0C0"/>
                  </a:outerShdw>
                </a:effectLst>
                <a:latin typeface="Helvetica" pitchFamily="34" charset="0"/>
              </a:rPr>
              <a:t> main components</a:t>
            </a:r>
            <a:endParaRPr lang="it-IT" sz="3200" b="1" dirty="0">
              <a:latin typeface="Helvetica" pitchFamily="34" charset="0"/>
            </a:endParaRPr>
          </a:p>
        </p:txBody>
      </p:sp>
      <p:sp>
        <p:nvSpPr>
          <p:cNvPr id="5" name="Line 6"/>
          <p:cNvSpPr>
            <a:spLocks noChangeShapeType="1"/>
          </p:cNvSpPr>
          <p:nvPr/>
        </p:nvSpPr>
        <p:spPr bwMode="auto">
          <a:xfrm>
            <a:off x="378768" y="878632"/>
            <a:ext cx="8458200" cy="0"/>
          </a:xfrm>
          <a:prstGeom prst="line">
            <a:avLst/>
          </a:prstGeom>
          <a:noFill/>
          <a:ln w="28575">
            <a:solidFill>
              <a:srgbClr val="3366CC"/>
            </a:solidFill>
            <a:round/>
            <a:headEnd/>
            <a:tailEnd/>
          </a:ln>
        </p:spPr>
        <p:txBody>
          <a:bodyPr wrap="none" lIns="90000" tIns="46800" rIns="90000" bIns="46800" anchor="ctr">
            <a:spAutoFit/>
          </a:bodyPr>
          <a:lstStyle/>
          <a:p>
            <a:endParaRPr lang="it-IT"/>
          </a:p>
        </p:txBody>
      </p:sp>
      <p:pic>
        <p:nvPicPr>
          <p:cNvPr id="3074" name="Picture 2" descr="https://dcxtc.files.wordpress.com/2014/04/openstack-components.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5538" y="1196752"/>
            <a:ext cx="7464660" cy="4487154"/>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683568" y="6150495"/>
            <a:ext cx="7488832" cy="523220"/>
          </a:xfrm>
          <a:prstGeom prst="rect">
            <a:avLst/>
          </a:prstGeom>
          <a:noFill/>
        </p:spPr>
        <p:txBody>
          <a:bodyPr wrap="square" rtlCol="0">
            <a:spAutoFit/>
          </a:bodyPr>
          <a:lstStyle/>
          <a:p>
            <a:r>
              <a:rPr lang="it-IT" sz="2800" dirty="0" err="1">
                <a:latin typeface="Arial" panose="020B0604020202020204" pitchFamily="34" charset="0"/>
                <a:cs typeface="Arial" panose="020B0604020202020204" pitchFamily="34" charset="0"/>
              </a:rPr>
              <a:t>Ceilometer</a:t>
            </a:r>
            <a:r>
              <a:rPr lang="it-IT" sz="2800" dirty="0">
                <a:latin typeface="Arial" panose="020B0604020202020204" pitchFamily="34" charset="0"/>
                <a:cs typeface="Arial" panose="020B0604020202020204" pitchFamily="34" charset="0"/>
              </a:rPr>
              <a:t>        				</a:t>
            </a:r>
            <a:r>
              <a:rPr lang="it-IT" sz="2800" dirty="0" err="1">
                <a:latin typeface="Arial" panose="020B0604020202020204" pitchFamily="34" charset="0"/>
                <a:cs typeface="Arial" panose="020B0604020202020204" pitchFamily="34" charset="0"/>
              </a:rPr>
              <a:t>Heat</a:t>
            </a:r>
            <a:endParaRPr lang="it-IT"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138880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p:cNvSpPr>
            <a:spLocks noChangeArrowheads="1"/>
          </p:cNvSpPr>
          <p:nvPr/>
        </p:nvSpPr>
        <p:spPr bwMode="auto">
          <a:xfrm>
            <a:off x="683568" y="116632"/>
            <a:ext cx="7848600" cy="762000"/>
          </a:xfrm>
          <a:prstGeom prst="rect">
            <a:avLst/>
          </a:prstGeom>
          <a:noFill/>
          <a:ln w="9525">
            <a:noFill/>
            <a:miter lim="800000"/>
            <a:headEnd/>
            <a:tailEnd/>
          </a:ln>
          <a:effectLst/>
        </p:spPr>
        <p:txBody>
          <a:bodyPr anchor="ctr"/>
          <a:lstStyle/>
          <a:p>
            <a:pPr algn="ctr">
              <a:defRPr/>
            </a:pPr>
            <a:r>
              <a:rPr lang="en-US" sz="3200" b="1" dirty="0" err="1">
                <a:solidFill>
                  <a:srgbClr val="3366CC"/>
                </a:solidFill>
                <a:effectLst>
                  <a:outerShdw blurRad="38100" dist="38100" dir="2700000" algn="tl">
                    <a:srgbClr val="C0C0C0"/>
                  </a:outerShdw>
                </a:effectLst>
                <a:latin typeface="Helvetica" pitchFamily="34" charset="0"/>
              </a:rPr>
              <a:t>OpenStack</a:t>
            </a:r>
            <a:r>
              <a:rPr lang="en-US" sz="3200" b="1" dirty="0">
                <a:solidFill>
                  <a:srgbClr val="3366CC"/>
                </a:solidFill>
                <a:effectLst>
                  <a:outerShdw blurRad="38100" dist="38100" dir="2700000" algn="tl">
                    <a:srgbClr val="C0C0C0"/>
                  </a:outerShdw>
                </a:effectLst>
                <a:latin typeface="Helvetica" pitchFamily="34" charset="0"/>
              </a:rPr>
              <a:t> main components</a:t>
            </a:r>
            <a:endParaRPr lang="it-IT" sz="3200" b="1" dirty="0">
              <a:latin typeface="Helvetica" pitchFamily="34" charset="0"/>
            </a:endParaRPr>
          </a:p>
        </p:txBody>
      </p:sp>
      <p:sp>
        <p:nvSpPr>
          <p:cNvPr id="5" name="Line 6"/>
          <p:cNvSpPr>
            <a:spLocks noChangeShapeType="1"/>
          </p:cNvSpPr>
          <p:nvPr/>
        </p:nvSpPr>
        <p:spPr bwMode="auto">
          <a:xfrm>
            <a:off x="378768" y="878632"/>
            <a:ext cx="8458200" cy="0"/>
          </a:xfrm>
          <a:prstGeom prst="line">
            <a:avLst/>
          </a:prstGeom>
          <a:noFill/>
          <a:ln w="28575">
            <a:solidFill>
              <a:srgbClr val="3366CC"/>
            </a:solidFill>
            <a:round/>
            <a:headEnd/>
            <a:tailEnd/>
          </a:ln>
        </p:spPr>
        <p:txBody>
          <a:bodyPr wrap="none" lIns="90000" tIns="46800" rIns="90000" bIns="46800" anchor="ctr">
            <a:spAutoFit/>
          </a:bodyPr>
          <a:lstStyle/>
          <a:p>
            <a:endParaRPr lang="it-IT"/>
          </a:p>
        </p:txBody>
      </p:sp>
      <p:pic>
        <p:nvPicPr>
          <p:cNvPr id="74754" name="Picture 2" descr="http://image.slidesharecdn.com/dellopenstackpoweredsolutionsopenstackinaction-140611150928-phpapp02/95/openstack-in-action-5-dell-openstack-powered-solutions-patrick-hamon-6-638.jpg?cb=140251744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28" y="1340768"/>
            <a:ext cx="8781240" cy="49411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66180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p:cNvSpPr>
            <a:spLocks noChangeArrowheads="1"/>
          </p:cNvSpPr>
          <p:nvPr/>
        </p:nvSpPr>
        <p:spPr bwMode="auto">
          <a:xfrm>
            <a:off x="683568" y="116632"/>
            <a:ext cx="7848600" cy="762000"/>
          </a:xfrm>
          <a:prstGeom prst="rect">
            <a:avLst/>
          </a:prstGeom>
          <a:noFill/>
          <a:ln w="9525">
            <a:noFill/>
            <a:miter lim="800000"/>
            <a:headEnd/>
            <a:tailEnd/>
          </a:ln>
          <a:effectLst/>
        </p:spPr>
        <p:txBody>
          <a:bodyPr anchor="ctr"/>
          <a:lstStyle/>
          <a:p>
            <a:pPr algn="ctr">
              <a:defRPr/>
            </a:pPr>
            <a:r>
              <a:rPr lang="en-US" sz="3200" b="1" dirty="0" err="1">
                <a:solidFill>
                  <a:srgbClr val="3366CC"/>
                </a:solidFill>
                <a:effectLst>
                  <a:outerShdw blurRad="38100" dist="38100" dir="2700000" algn="tl">
                    <a:srgbClr val="C0C0C0"/>
                  </a:outerShdw>
                </a:effectLst>
                <a:latin typeface="Helvetica" pitchFamily="34" charset="0"/>
              </a:rPr>
              <a:t>OpenStack</a:t>
            </a:r>
            <a:r>
              <a:rPr lang="en-US" sz="3200" b="1" dirty="0">
                <a:solidFill>
                  <a:srgbClr val="3366CC"/>
                </a:solidFill>
                <a:effectLst>
                  <a:outerShdw blurRad="38100" dist="38100" dir="2700000" algn="tl">
                    <a:srgbClr val="C0C0C0"/>
                  </a:outerShdw>
                </a:effectLst>
                <a:latin typeface="Helvetica" pitchFamily="34" charset="0"/>
              </a:rPr>
              <a:t> main </a:t>
            </a:r>
            <a:r>
              <a:rPr lang="en-US" sz="3200" b="1" dirty="0" err="1">
                <a:solidFill>
                  <a:srgbClr val="3366CC"/>
                </a:solidFill>
                <a:effectLst>
                  <a:outerShdw blurRad="38100" dist="38100" dir="2700000" algn="tl">
                    <a:srgbClr val="C0C0C0"/>
                  </a:outerShdw>
                </a:effectLst>
                <a:latin typeface="Helvetica" pitchFamily="34" charset="0"/>
              </a:rPr>
              <a:t>worflow</a:t>
            </a:r>
            <a:endParaRPr lang="it-IT" sz="3200" b="1" dirty="0">
              <a:latin typeface="Helvetica" pitchFamily="34" charset="0"/>
            </a:endParaRPr>
          </a:p>
        </p:txBody>
      </p:sp>
      <p:sp>
        <p:nvSpPr>
          <p:cNvPr id="5" name="Line 6"/>
          <p:cNvSpPr>
            <a:spLocks noChangeShapeType="1"/>
          </p:cNvSpPr>
          <p:nvPr/>
        </p:nvSpPr>
        <p:spPr bwMode="auto">
          <a:xfrm>
            <a:off x="378768" y="878632"/>
            <a:ext cx="8458200" cy="0"/>
          </a:xfrm>
          <a:prstGeom prst="line">
            <a:avLst/>
          </a:prstGeom>
          <a:noFill/>
          <a:ln w="28575">
            <a:solidFill>
              <a:srgbClr val="3366CC"/>
            </a:solidFill>
            <a:round/>
            <a:headEnd/>
            <a:tailEnd/>
          </a:ln>
        </p:spPr>
        <p:txBody>
          <a:bodyPr wrap="none" lIns="90000" tIns="46800" rIns="90000" bIns="46800" anchor="ctr">
            <a:spAutoFit/>
          </a:bodyPr>
          <a:lstStyle/>
          <a:p>
            <a:endParaRPr lang="it-IT"/>
          </a:p>
        </p:txBody>
      </p:sp>
      <p:pic>
        <p:nvPicPr>
          <p:cNvPr id="68610" name="Picture 2" descr="http://ilearnstack.files.wordpress.com/2013/04/request-flow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4581" y="1268760"/>
            <a:ext cx="8386182" cy="545101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2C779F9C-3CF8-3F4F-A227-2207CF2E023C}"/>
              </a:ext>
            </a:extLst>
          </p:cNvPr>
          <p:cNvSpPr txBox="1"/>
          <p:nvPr/>
        </p:nvSpPr>
        <p:spPr>
          <a:xfrm>
            <a:off x="7426351" y="4149080"/>
            <a:ext cx="1713931" cy="461665"/>
          </a:xfrm>
          <a:prstGeom prst="rect">
            <a:avLst/>
          </a:prstGeom>
          <a:noFill/>
        </p:spPr>
        <p:txBody>
          <a:bodyPr wrap="none" rtlCol="0">
            <a:spAutoFit/>
          </a:bodyPr>
          <a:lstStyle/>
          <a:p>
            <a:r>
              <a:rPr lang="en-US" sz="1200" b="1" dirty="0"/>
              <a:t>cloud networking </a:t>
            </a:r>
          </a:p>
          <a:p>
            <a:r>
              <a:rPr lang="en-US" sz="1200" b="1" dirty="0"/>
              <a:t>controller: Neutron </a:t>
            </a:r>
          </a:p>
        </p:txBody>
      </p:sp>
    </p:spTree>
    <p:extLst>
      <p:ext uri="{BB962C8B-B14F-4D97-AF65-F5344CB8AC3E}">
        <p14:creationId xmlns:p14="http://schemas.microsoft.com/office/powerpoint/2010/main" val="11558620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4294967295"/>
          </p:nvPr>
        </p:nvSpPr>
        <p:spPr>
          <a:xfrm>
            <a:off x="358775" y="3357563"/>
            <a:ext cx="8785225" cy="3024187"/>
          </a:xfrm>
        </p:spPr>
        <p:txBody>
          <a:bodyPr/>
          <a:lstStyle/>
          <a:p>
            <a:r>
              <a:rPr lang="en-US" sz="2000" b="1" dirty="0">
                <a:solidFill>
                  <a:srgbClr val="FF0000"/>
                </a:solidFill>
                <a:latin typeface="Arial" panose="020B0604020202020204" pitchFamily="34" charset="0"/>
                <a:cs typeface="Arial" panose="020B0604020202020204" pitchFamily="34" charset="0"/>
              </a:rPr>
              <a:t>Dashboard</a:t>
            </a:r>
            <a:r>
              <a:rPr lang="en-US" sz="1800" dirty="0">
                <a:latin typeface="Arial" panose="020B0604020202020204" pitchFamily="34" charset="0"/>
                <a:cs typeface="Arial" panose="020B0604020202020204" pitchFamily="34" charset="0"/>
              </a:rPr>
              <a:t>: Web application used by administrators and users to manage cloud resources</a:t>
            </a:r>
          </a:p>
          <a:p>
            <a:r>
              <a:rPr lang="en-US" sz="2000" b="1" dirty="0">
                <a:solidFill>
                  <a:srgbClr val="FF0000"/>
                </a:solidFill>
                <a:latin typeface="Arial" panose="020B0604020202020204" pitchFamily="34" charset="0"/>
                <a:cs typeface="Arial" panose="020B0604020202020204" pitchFamily="34" charset="0"/>
              </a:rPr>
              <a:t>Identity</a:t>
            </a:r>
            <a:r>
              <a:rPr lang="en-US" sz="1800" dirty="0">
                <a:latin typeface="Arial" panose="020B0604020202020204" pitchFamily="34" charset="0"/>
                <a:cs typeface="Arial" panose="020B0604020202020204" pitchFamily="34" charset="0"/>
              </a:rPr>
              <a:t>: provides unified authentication across the whole system</a:t>
            </a:r>
          </a:p>
          <a:p>
            <a:r>
              <a:rPr lang="en-US" sz="2000" b="1" dirty="0">
                <a:solidFill>
                  <a:srgbClr val="FF0000"/>
                </a:solidFill>
                <a:latin typeface="Arial" panose="020B0604020202020204" pitchFamily="34" charset="0"/>
                <a:cs typeface="Arial" panose="020B0604020202020204" pitchFamily="34" charset="0"/>
              </a:rPr>
              <a:t>Object Storage</a:t>
            </a:r>
            <a:r>
              <a:rPr lang="en-US" sz="1800" dirty="0">
                <a:latin typeface="Arial" panose="020B0604020202020204" pitchFamily="34" charset="0"/>
                <a:cs typeface="Arial" panose="020B0604020202020204" pitchFamily="34" charset="0"/>
              </a:rPr>
              <a:t>: redundant and highly scalable object storage platform</a:t>
            </a:r>
          </a:p>
          <a:p>
            <a:r>
              <a:rPr lang="en-US" sz="2000" b="1" dirty="0">
                <a:solidFill>
                  <a:srgbClr val="FF0000"/>
                </a:solidFill>
                <a:latin typeface="Arial" panose="020B0604020202020204" pitchFamily="34" charset="0"/>
                <a:cs typeface="Arial" panose="020B0604020202020204" pitchFamily="34" charset="0"/>
              </a:rPr>
              <a:t>Image Service</a:t>
            </a:r>
            <a:r>
              <a:rPr lang="en-US" sz="1800" dirty="0">
                <a:latin typeface="Arial" panose="020B0604020202020204" pitchFamily="34" charset="0"/>
                <a:cs typeface="Arial" panose="020B0604020202020204" pitchFamily="34" charset="0"/>
              </a:rPr>
              <a:t>: component to save, recover, discover, register and deliver VM images</a:t>
            </a:r>
          </a:p>
          <a:p>
            <a:r>
              <a:rPr lang="en-US" sz="2000" b="1" dirty="0">
                <a:solidFill>
                  <a:srgbClr val="FF0000"/>
                </a:solidFill>
                <a:latin typeface="Arial" panose="020B0604020202020204" pitchFamily="34" charset="0"/>
                <a:cs typeface="Arial" panose="020B0604020202020204" pitchFamily="34" charset="0"/>
              </a:rPr>
              <a:t>Compute</a:t>
            </a:r>
            <a:r>
              <a:rPr lang="en-US" sz="1800" dirty="0">
                <a:latin typeface="Arial" panose="020B0604020202020204" pitchFamily="34" charset="0"/>
                <a:cs typeface="Arial" panose="020B0604020202020204" pitchFamily="34" charset="0"/>
              </a:rPr>
              <a:t>: component to provision and manage large sets of VMs</a:t>
            </a:r>
          </a:p>
          <a:p>
            <a:r>
              <a:rPr lang="en-US" sz="2000" b="1" dirty="0">
                <a:solidFill>
                  <a:srgbClr val="FF0000"/>
                </a:solidFill>
                <a:latin typeface="Arial" panose="020B0604020202020204" pitchFamily="34" charset="0"/>
                <a:cs typeface="Arial" panose="020B0604020202020204" pitchFamily="34" charset="0"/>
              </a:rPr>
              <a:t>Networking</a:t>
            </a:r>
            <a:r>
              <a:rPr lang="en-US" sz="1800" dirty="0">
                <a:latin typeface="Arial" panose="020B0604020202020204" pitchFamily="34" charset="0"/>
                <a:cs typeface="Arial" panose="020B0604020202020204" pitchFamily="34" charset="0"/>
              </a:rPr>
              <a:t>: component to manage networks in a pluggable, scalable, and API-driven fashion  </a:t>
            </a: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p:txBody>
      </p:sp>
      <p:grpSp>
        <p:nvGrpSpPr>
          <p:cNvPr id="13" name="Gruppo 12"/>
          <p:cNvGrpSpPr/>
          <p:nvPr/>
        </p:nvGrpSpPr>
        <p:grpSpPr>
          <a:xfrm>
            <a:off x="1255415" y="1023382"/>
            <a:ext cx="6696744" cy="2226234"/>
            <a:chOff x="1009650" y="1626504"/>
            <a:chExt cx="7909319" cy="2952751"/>
          </a:xfrm>
        </p:grpSpPr>
        <p:pic>
          <p:nvPicPr>
            <p:cNvPr id="2050" name="Picture 2" descr="http://www.openstack.org/themes/openstack/images/openstack-software-diagram.png"/>
            <p:cNvPicPr>
              <a:picLocks noChangeAspect="1" noChangeArrowheads="1"/>
            </p:cNvPicPr>
            <p:nvPr/>
          </p:nvPicPr>
          <p:blipFill>
            <a:blip r:embed="rId3" cstate="print"/>
            <a:srcRect/>
            <a:stretch>
              <a:fillRect/>
            </a:stretch>
          </p:blipFill>
          <p:spPr bwMode="auto">
            <a:xfrm>
              <a:off x="1009650" y="1626504"/>
              <a:ext cx="7124700" cy="2952751"/>
            </a:xfrm>
            <a:prstGeom prst="rect">
              <a:avLst/>
            </a:prstGeom>
            <a:noFill/>
          </p:spPr>
        </p:pic>
        <p:sp>
          <p:nvSpPr>
            <p:cNvPr id="6" name="Parentesi graffa aperta 5"/>
            <p:cNvSpPr/>
            <p:nvPr/>
          </p:nvSpPr>
          <p:spPr bwMode="auto">
            <a:xfrm>
              <a:off x="6736467" y="3750198"/>
              <a:ext cx="300941" cy="381964"/>
            </a:xfrm>
            <a:prstGeom prst="leftBrace">
              <a:avLst/>
            </a:prstGeom>
            <a:ln>
              <a:solidFill>
                <a:srgbClr val="FF0000"/>
              </a:solidFill>
              <a:headEnd type="none" w="med" len="med"/>
              <a:tailEnd type="none" w="med" len="med"/>
            </a:ln>
          </p:spPr>
          <p:style>
            <a:lnRef idx="2">
              <a:schemeClr val="accent4"/>
            </a:lnRef>
            <a:fillRef idx="0">
              <a:schemeClr val="accent4"/>
            </a:fillRef>
            <a:effectRef idx="1">
              <a:schemeClr val="accent4"/>
            </a:effectRef>
            <a:fontRef idx="minor">
              <a:schemeClr val="tx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it-IT" sz="1800" b="0" i="0" u="none" strike="noStrike" cap="none" normalizeH="0" baseline="0">
                <a:ln>
                  <a:noFill/>
                </a:ln>
                <a:solidFill>
                  <a:schemeClr val="tx1"/>
                </a:solidFill>
                <a:effectLst/>
                <a:latin typeface="Arial" charset="0"/>
              </a:endParaRPr>
            </a:p>
          </p:txBody>
        </p:sp>
        <p:cxnSp>
          <p:nvCxnSpPr>
            <p:cNvPr id="8" name="Connettore 2 7"/>
            <p:cNvCxnSpPr>
              <a:stCxn id="6" idx="1"/>
            </p:cNvCxnSpPr>
            <p:nvPr/>
          </p:nvCxnSpPr>
          <p:spPr bwMode="auto">
            <a:xfrm flipH="1" flipV="1">
              <a:off x="5405377" y="3935392"/>
              <a:ext cx="1331090" cy="5788"/>
            </a:xfrm>
            <a:prstGeom prst="straightConnector1">
              <a:avLst/>
            </a:prstGeom>
            <a:ln>
              <a:solidFill>
                <a:srgbClr val="FF0000"/>
              </a:solidFill>
              <a:headEnd type="none" w="med" len="med"/>
              <a:tailEnd type="arrow"/>
            </a:ln>
          </p:spPr>
          <p:style>
            <a:lnRef idx="2">
              <a:schemeClr val="accent4"/>
            </a:lnRef>
            <a:fillRef idx="0">
              <a:schemeClr val="accent4"/>
            </a:fillRef>
            <a:effectRef idx="1">
              <a:schemeClr val="accent4"/>
            </a:effectRef>
            <a:fontRef idx="minor">
              <a:schemeClr val="tx1"/>
            </a:fontRef>
          </p:style>
        </p:cxnSp>
        <p:sp>
          <p:nvSpPr>
            <p:cNvPr id="12" name="CasellaDiTesto 11"/>
            <p:cNvSpPr txBox="1"/>
            <p:nvPr/>
          </p:nvSpPr>
          <p:spPr>
            <a:xfrm>
              <a:off x="6974072" y="3649608"/>
              <a:ext cx="1944897" cy="558165"/>
            </a:xfrm>
            <a:prstGeom prst="rect">
              <a:avLst/>
            </a:prstGeom>
            <a:noFill/>
          </p:spPr>
          <p:txBody>
            <a:bodyPr wrap="square" rtlCol="0">
              <a:spAutoFit/>
            </a:bodyPr>
            <a:lstStyle/>
            <a:p>
              <a:pPr algn="l">
                <a:buFont typeface="Arial" pitchFamily="34" charset="0"/>
                <a:buChar char="•"/>
              </a:pPr>
              <a:r>
                <a:rPr lang="it-IT" sz="1200" dirty="0">
                  <a:latin typeface="+mj-lt"/>
                </a:rPr>
                <a:t> Identity Service</a:t>
              </a:r>
            </a:p>
            <a:p>
              <a:pPr algn="l">
                <a:buFont typeface="Arial" pitchFamily="34" charset="0"/>
                <a:buChar char="•"/>
              </a:pPr>
              <a:r>
                <a:rPr lang="it-IT" sz="1200" dirty="0">
                  <a:latin typeface="+mj-lt"/>
                </a:rPr>
                <a:t> Image Service</a:t>
              </a:r>
            </a:p>
          </p:txBody>
        </p:sp>
      </p:grpSp>
      <p:sp>
        <p:nvSpPr>
          <p:cNvPr id="9" name="Rectangle 5"/>
          <p:cNvSpPr>
            <a:spLocks noChangeArrowheads="1"/>
          </p:cNvSpPr>
          <p:nvPr/>
        </p:nvSpPr>
        <p:spPr bwMode="auto">
          <a:xfrm>
            <a:off x="683568" y="116632"/>
            <a:ext cx="7848600" cy="762000"/>
          </a:xfrm>
          <a:prstGeom prst="rect">
            <a:avLst/>
          </a:prstGeom>
          <a:noFill/>
          <a:ln w="9525">
            <a:noFill/>
            <a:miter lim="800000"/>
            <a:headEnd/>
            <a:tailEnd/>
          </a:ln>
          <a:effectLst/>
        </p:spPr>
        <p:txBody>
          <a:bodyPr anchor="ctr"/>
          <a:lstStyle/>
          <a:p>
            <a:pPr algn="ctr">
              <a:defRPr/>
            </a:pPr>
            <a:r>
              <a:rPr lang="en-US" sz="3200" b="1" dirty="0" err="1">
                <a:solidFill>
                  <a:srgbClr val="3366CC"/>
                </a:solidFill>
                <a:effectLst>
                  <a:outerShdw blurRad="38100" dist="38100" dir="2700000" algn="tl">
                    <a:srgbClr val="C0C0C0"/>
                  </a:outerShdw>
                </a:effectLst>
                <a:latin typeface="Helvetica" pitchFamily="34" charset="0"/>
              </a:rPr>
              <a:t>OpenStack</a:t>
            </a:r>
            <a:r>
              <a:rPr lang="en-US" sz="3200" b="1" dirty="0">
                <a:solidFill>
                  <a:srgbClr val="3366CC"/>
                </a:solidFill>
                <a:effectLst>
                  <a:outerShdw blurRad="38100" dist="38100" dir="2700000" algn="tl">
                    <a:srgbClr val="C0C0C0"/>
                  </a:outerShdw>
                </a:effectLst>
                <a:latin typeface="Helvetica" pitchFamily="34" charset="0"/>
              </a:rPr>
              <a:t> services (detailed)</a:t>
            </a:r>
            <a:endParaRPr lang="it-IT" sz="3200" b="1" dirty="0">
              <a:latin typeface="Helvetica" pitchFamily="34" charset="0"/>
            </a:endParaRPr>
          </a:p>
        </p:txBody>
      </p:sp>
      <p:sp>
        <p:nvSpPr>
          <p:cNvPr id="10" name="Line 6"/>
          <p:cNvSpPr>
            <a:spLocks noChangeShapeType="1"/>
          </p:cNvSpPr>
          <p:nvPr/>
        </p:nvSpPr>
        <p:spPr bwMode="auto">
          <a:xfrm>
            <a:off x="378768" y="878632"/>
            <a:ext cx="8458200" cy="0"/>
          </a:xfrm>
          <a:prstGeom prst="line">
            <a:avLst/>
          </a:prstGeom>
          <a:noFill/>
          <a:ln w="28575">
            <a:solidFill>
              <a:srgbClr val="3366CC"/>
            </a:solidFill>
            <a:round/>
            <a:headEnd/>
            <a:tailEnd/>
          </a:ln>
        </p:spPr>
        <p:txBody>
          <a:bodyPr wrap="none" lIns="90000" tIns="46800" rIns="90000" bIns="46800" anchor="ctr">
            <a:spAutoFit/>
          </a:bodyPr>
          <a:lstStyle/>
          <a:p>
            <a:endParaRPr lang="it-IT"/>
          </a:p>
        </p:txBody>
      </p:sp>
    </p:spTree>
    <p:extLst>
      <p:ext uri="{BB962C8B-B14F-4D97-AF65-F5344CB8AC3E}">
        <p14:creationId xmlns:p14="http://schemas.microsoft.com/office/powerpoint/2010/main" val="19603266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contenuto 1"/>
          <p:cNvSpPr>
            <a:spLocks noGrp="1"/>
          </p:cNvSpPr>
          <p:nvPr>
            <p:ph idx="4294967295"/>
          </p:nvPr>
        </p:nvSpPr>
        <p:spPr>
          <a:xfrm>
            <a:off x="630238" y="1125538"/>
            <a:ext cx="8513762" cy="5111750"/>
          </a:xfrm>
        </p:spPr>
        <p:txBody>
          <a:bodyPr/>
          <a:lstStyle/>
          <a:p>
            <a:pPr marL="0" indent="0">
              <a:buNone/>
            </a:pPr>
            <a:r>
              <a:rPr lang="en-US" sz="2600" b="1" dirty="0">
                <a:latin typeface="Arial" panose="020B0604020202020204" pitchFamily="34" charset="0"/>
                <a:cs typeface="Arial" panose="020B0604020202020204" pitchFamily="34" charset="0"/>
              </a:rPr>
              <a:t>All OpenStack services share the same internal architecture organization that follow a few clear </a:t>
            </a:r>
            <a:r>
              <a:rPr lang="en-US" sz="2600" b="1" dirty="0">
                <a:solidFill>
                  <a:srgbClr val="FF0000"/>
                </a:solidFill>
                <a:latin typeface="Arial" panose="020B0604020202020204" pitchFamily="34" charset="0"/>
                <a:cs typeface="Arial" panose="020B0604020202020204" pitchFamily="34" charset="0"/>
              </a:rPr>
              <a:t>design and implementation guidelines:</a:t>
            </a:r>
          </a:p>
          <a:p>
            <a:r>
              <a:rPr lang="en-US" sz="2400" b="1" dirty="0">
                <a:solidFill>
                  <a:srgbClr val="FF0000"/>
                </a:solidFill>
                <a:latin typeface="Arial" panose="020B0604020202020204" pitchFamily="34" charset="0"/>
                <a:cs typeface="Arial" panose="020B0604020202020204" pitchFamily="34" charset="0"/>
              </a:rPr>
              <a:t>Scalability and elasticity</a:t>
            </a:r>
            <a:r>
              <a:rPr lang="en-US" sz="2200" b="1" dirty="0">
                <a:solidFill>
                  <a:srgbClr val="FF0000"/>
                </a:solidFill>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gained mainly through </a:t>
            </a:r>
            <a:r>
              <a:rPr lang="en-US" sz="2200" b="1" i="1" dirty="0">
                <a:latin typeface="Arial" panose="020B0604020202020204" pitchFamily="34" charset="0"/>
                <a:cs typeface="Arial" panose="020B0604020202020204" pitchFamily="34" charset="0"/>
              </a:rPr>
              <a:t>horizontal scalability</a:t>
            </a:r>
          </a:p>
          <a:p>
            <a:r>
              <a:rPr lang="en-US" sz="2400" b="1" dirty="0">
                <a:solidFill>
                  <a:srgbClr val="FF0000"/>
                </a:solidFill>
                <a:latin typeface="Arial" panose="020B0604020202020204" pitchFamily="34" charset="0"/>
                <a:cs typeface="Arial" panose="020B0604020202020204" pitchFamily="34" charset="0"/>
              </a:rPr>
              <a:t>Reliability</a:t>
            </a:r>
            <a:r>
              <a:rPr lang="en-US" sz="2200" b="1" dirty="0">
                <a:solidFill>
                  <a:srgbClr val="FF0000"/>
                </a:solidFill>
                <a:latin typeface="Arial" panose="020B0604020202020204" pitchFamily="34" charset="0"/>
                <a:cs typeface="Arial" panose="020B0604020202020204" pitchFamily="34" charset="0"/>
              </a:rPr>
              <a:t>: </a:t>
            </a:r>
            <a:r>
              <a:rPr lang="en-US" sz="2200" b="1" i="1" dirty="0">
                <a:latin typeface="Arial" panose="020B0604020202020204" pitchFamily="34" charset="0"/>
                <a:cs typeface="Arial" panose="020B0604020202020204" pitchFamily="34" charset="0"/>
              </a:rPr>
              <a:t>minimal dependencies </a:t>
            </a:r>
            <a:r>
              <a:rPr lang="en-US" sz="2200" dirty="0">
                <a:latin typeface="Arial" panose="020B0604020202020204" pitchFamily="34" charset="0"/>
                <a:cs typeface="Arial" panose="020B0604020202020204" pitchFamily="34" charset="0"/>
              </a:rPr>
              <a:t>between different services and </a:t>
            </a:r>
            <a:r>
              <a:rPr lang="en-US" sz="2200" b="1" i="1" dirty="0">
                <a:latin typeface="Arial" panose="020B0604020202020204" pitchFamily="34" charset="0"/>
                <a:cs typeface="Arial" panose="020B0604020202020204" pitchFamily="34" charset="0"/>
              </a:rPr>
              <a:t>replication </a:t>
            </a:r>
            <a:r>
              <a:rPr lang="en-US" sz="2200" dirty="0">
                <a:latin typeface="Arial" panose="020B0604020202020204" pitchFamily="34" charset="0"/>
                <a:cs typeface="Arial" panose="020B0604020202020204" pitchFamily="34" charset="0"/>
              </a:rPr>
              <a:t>of core components</a:t>
            </a:r>
          </a:p>
          <a:p>
            <a:r>
              <a:rPr lang="en-US" sz="2400" b="1" dirty="0">
                <a:solidFill>
                  <a:srgbClr val="FF0000"/>
                </a:solidFill>
                <a:latin typeface="Arial" panose="020B0604020202020204" pitchFamily="34" charset="0"/>
                <a:cs typeface="Arial" panose="020B0604020202020204" pitchFamily="34" charset="0"/>
              </a:rPr>
              <a:t>Shared nothing between different services</a:t>
            </a:r>
            <a:r>
              <a:rPr lang="en-US" sz="2200" b="1" dirty="0">
                <a:solidFill>
                  <a:srgbClr val="FF0000"/>
                </a:solidFill>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each service </a:t>
            </a:r>
            <a:r>
              <a:rPr lang="en-US" sz="2200" b="1" i="1" dirty="0">
                <a:latin typeface="Arial" panose="020B0604020202020204" pitchFamily="34" charset="0"/>
                <a:cs typeface="Arial" panose="020B0604020202020204" pitchFamily="34" charset="0"/>
              </a:rPr>
              <a:t>stores all needed information internally</a:t>
            </a:r>
          </a:p>
          <a:p>
            <a:r>
              <a:rPr lang="en-US" sz="2400" b="1" dirty="0">
                <a:solidFill>
                  <a:srgbClr val="FF0000"/>
                </a:solidFill>
                <a:latin typeface="Arial" panose="020B0604020202020204" pitchFamily="34" charset="0"/>
                <a:cs typeface="Arial" panose="020B0604020202020204" pitchFamily="34" charset="0"/>
              </a:rPr>
              <a:t>Loosely coupled asynchronous interactions</a:t>
            </a:r>
            <a:r>
              <a:rPr lang="en-US" sz="2200" b="1" dirty="0">
                <a:solidFill>
                  <a:srgbClr val="FF0000"/>
                </a:solidFill>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internally, </a:t>
            </a:r>
            <a:r>
              <a:rPr lang="en-US" sz="2200" b="1" i="1" dirty="0">
                <a:latin typeface="Arial" panose="020B0604020202020204" pitchFamily="34" charset="0"/>
                <a:cs typeface="Arial" panose="020B0604020202020204" pitchFamily="34" charset="0"/>
              </a:rPr>
              <a:t>completely decoupled pub/sub communications </a:t>
            </a:r>
            <a:r>
              <a:rPr lang="en-US" sz="2200" dirty="0">
                <a:latin typeface="Arial" panose="020B0604020202020204" pitchFamily="34" charset="0"/>
                <a:cs typeface="Arial" panose="020B0604020202020204" pitchFamily="34" charset="0"/>
              </a:rPr>
              <a:t>between core components/services are preferred, even to realize high-level synch RPC-like operations</a:t>
            </a:r>
          </a:p>
          <a:p>
            <a:endParaRPr lang="en-US" sz="2200" b="1" dirty="0">
              <a:solidFill>
                <a:srgbClr val="FF0000"/>
              </a:solidFill>
              <a:latin typeface="Arial" panose="020B0604020202020204" pitchFamily="34" charset="0"/>
              <a:cs typeface="Arial" panose="020B0604020202020204" pitchFamily="34" charset="0"/>
            </a:endParaRPr>
          </a:p>
          <a:p>
            <a:pPr marL="0" indent="0">
              <a:buNone/>
            </a:pPr>
            <a:endParaRPr lang="en-US" sz="2200" b="1" dirty="0">
              <a:latin typeface="Arial" panose="020B0604020202020204" pitchFamily="34" charset="0"/>
              <a:cs typeface="Arial" panose="020B0604020202020204" pitchFamily="34" charset="0"/>
            </a:endParaRPr>
          </a:p>
        </p:txBody>
      </p:sp>
      <p:sp>
        <p:nvSpPr>
          <p:cNvPr id="5" name="Rectangle 5"/>
          <p:cNvSpPr>
            <a:spLocks noChangeArrowheads="1"/>
          </p:cNvSpPr>
          <p:nvPr/>
        </p:nvSpPr>
        <p:spPr bwMode="auto">
          <a:xfrm>
            <a:off x="251520" y="116632"/>
            <a:ext cx="8585448" cy="762000"/>
          </a:xfrm>
          <a:prstGeom prst="rect">
            <a:avLst/>
          </a:prstGeom>
          <a:noFill/>
          <a:ln w="9525">
            <a:noFill/>
            <a:miter lim="800000"/>
            <a:headEnd/>
            <a:tailEnd/>
          </a:ln>
          <a:effectLst/>
        </p:spPr>
        <p:txBody>
          <a:bodyPr anchor="ctr"/>
          <a:lstStyle/>
          <a:p>
            <a:pPr algn="ctr">
              <a:defRPr/>
            </a:pPr>
            <a:r>
              <a:rPr lang="en-US" sz="3200" b="1" dirty="0" err="1">
                <a:solidFill>
                  <a:srgbClr val="3366CC"/>
                </a:solidFill>
                <a:effectLst>
                  <a:outerShdw blurRad="38100" dist="38100" dir="2700000" algn="tl">
                    <a:srgbClr val="C0C0C0"/>
                  </a:outerShdw>
                </a:effectLst>
                <a:latin typeface="Helvetica" pitchFamily="34" charset="0"/>
              </a:rPr>
              <a:t>OpenStack</a:t>
            </a:r>
            <a:r>
              <a:rPr lang="en-US" sz="3200" b="1" dirty="0">
                <a:solidFill>
                  <a:srgbClr val="3366CC"/>
                </a:solidFill>
                <a:effectLst>
                  <a:outerShdw blurRad="38100" dist="38100" dir="2700000" algn="tl">
                    <a:srgbClr val="C0C0C0"/>
                  </a:outerShdw>
                </a:effectLst>
                <a:latin typeface="Helvetica" pitchFamily="34" charset="0"/>
              </a:rPr>
              <a:t> Services: Design Guidelines</a:t>
            </a:r>
            <a:endParaRPr lang="it-IT" sz="3200" b="1" dirty="0">
              <a:latin typeface="Helvetica" pitchFamily="34" charset="0"/>
            </a:endParaRPr>
          </a:p>
        </p:txBody>
      </p:sp>
      <p:sp>
        <p:nvSpPr>
          <p:cNvPr id="6" name="Line 6"/>
          <p:cNvSpPr>
            <a:spLocks noChangeShapeType="1"/>
          </p:cNvSpPr>
          <p:nvPr/>
        </p:nvSpPr>
        <p:spPr bwMode="auto">
          <a:xfrm>
            <a:off x="378768" y="878632"/>
            <a:ext cx="8458200" cy="0"/>
          </a:xfrm>
          <a:prstGeom prst="line">
            <a:avLst/>
          </a:prstGeom>
          <a:noFill/>
          <a:ln w="28575">
            <a:solidFill>
              <a:srgbClr val="3366CC"/>
            </a:solidFill>
            <a:round/>
            <a:headEnd/>
            <a:tailEnd/>
          </a:ln>
        </p:spPr>
        <p:txBody>
          <a:bodyPr wrap="none" lIns="90000" tIns="46800" rIns="90000" bIns="46800" anchor="ctr">
            <a:spAutoFit/>
          </a:bodyPr>
          <a:lstStyle/>
          <a:p>
            <a:endParaRPr lang="it-IT"/>
          </a:p>
        </p:txBody>
      </p:sp>
    </p:spTree>
    <p:extLst>
      <p:ext uri="{BB962C8B-B14F-4D97-AF65-F5344CB8AC3E}">
        <p14:creationId xmlns:p14="http://schemas.microsoft.com/office/powerpoint/2010/main" val="19763271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contenuto 1"/>
          <p:cNvSpPr>
            <a:spLocks noGrp="1"/>
          </p:cNvSpPr>
          <p:nvPr>
            <p:ph idx="4294967295"/>
          </p:nvPr>
        </p:nvSpPr>
        <p:spPr>
          <a:xfrm>
            <a:off x="347663" y="1190625"/>
            <a:ext cx="8796337" cy="4706938"/>
          </a:xfrm>
        </p:spPr>
        <p:txBody>
          <a:bodyPr/>
          <a:lstStyle/>
          <a:p>
            <a:pPr marL="0" indent="0">
              <a:buNone/>
            </a:pPr>
            <a:r>
              <a:rPr lang="en-US" sz="2800" b="1" dirty="0">
                <a:latin typeface="Arial" panose="020B0604020202020204" pitchFamily="34" charset="0"/>
                <a:cs typeface="Arial" panose="020B0604020202020204" pitchFamily="34" charset="0"/>
              </a:rPr>
              <a:t>Deriving from the guidelines, every service consists of the following </a:t>
            </a:r>
            <a:r>
              <a:rPr lang="en-US" sz="2800" b="1" dirty="0">
                <a:solidFill>
                  <a:srgbClr val="FF0000"/>
                </a:solidFill>
                <a:latin typeface="Arial" panose="020B0604020202020204" pitchFamily="34" charset="0"/>
                <a:cs typeface="Arial" panose="020B0604020202020204" pitchFamily="34" charset="0"/>
              </a:rPr>
              <a:t>core components:</a:t>
            </a:r>
          </a:p>
          <a:p>
            <a:r>
              <a:rPr lang="en-US" sz="2400" b="1" dirty="0">
                <a:solidFill>
                  <a:srgbClr val="FF0000"/>
                </a:solidFill>
                <a:latin typeface="Arial" panose="020B0604020202020204" pitchFamily="34" charset="0"/>
                <a:cs typeface="Arial" panose="020B0604020202020204" pitchFamily="34" charset="0"/>
              </a:rPr>
              <a:t>pub/sub messaging service</a:t>
            </a:r>
            <a:r>
              <a:rPr lang="en-US" sz="2200" b="1" dirty="0">
                <a:solidFill>
                  <a:srgbClr val="FF0000"/>
                </a:solidFill>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Advanced Message Queuing Protocol (</a:t>
            </a:r>
            <a:r>
              <a:rPr lang="en-US" sz="2200" b="1" i="1" dirty="0">
                <a:latin typeface="Arial" panose="020B0604020202020204" pitchFamily="34" charset="0"/>
                <a:cs typeface="Arial" panose="020B0604020202020204" pitchFamily="34" charset="0"/>
              </a:rPr>
              <a:t>AMQP</a:t>
            </a:r>
            <a:r>
              <a:rPr lang="en-US" sz="2200" dirty="0">
                <a:latin typeface="Arial" panose="020B0604020202020204" pitchFamily="34" charset="0"/>
                <a:cs typeface="Arial" panose="020B0604020202020204" pitchFamily="34" charset="0"/>
              </a:rPr>
              <a:t>) standard and </a:t>
            </a:r>
            <a:r>
              <a:rPr lang="en-US" sz="2200" dirty="0" err="1">
                <a:latin typeface="Arial" panose="020B0604020202020204" pitchFamily="34" charset="0"/>
                <a:cs typeface="Arial" panose="020B0604020202020204" pitchFamily="34" charset="0"/>
              </a:rPr>
              <a:t>RabbitMQ</a:t>
            </a:r>
            <a:r>
              <a:rPr lang="en-US" sz="2200" dirty="0">
                <a:latin typeface="Arial" panose="020B0604020202020204" pitchFamily="34" charset="0"/>
                <a:cs typeface="Arial" panose="020B0604020202020204" pitchFamily="34" charset="0"/>
              </a:rPr>
              <a:t> default implementation </a:t>
            </a:r>
          </a:p>
          <a:p>
            <a:r>
              <a:rPr lang="en-US" sz="2400" b="1" dirty="0">
                <a:solidFill>
                  <a:srgbClr val="FF0000"/>
                </a:solidFill>
                <a:latin typeface="Arial" panose="020B0604020202020204" pitchFamily="34" charset="0"/>
                <a:cs typeface="Arial" panose="020B0604020202020204" pitchFamily="34" charset="0"/>
              </a:rPr>
              <a:t>an API component</a:t>
            </a:r>
            <a:r>
              <a:rPr lang="en-US" sz="2200" b="1" dirty="0">
                <a:solidFill>
                  <a:srgbClr val="FF0000"/>
                </a:solidFill>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acting as a service front-end to export service functionalities via interoperable </a:t>
            </a:r>
            <a:r>
              <a:rPr lang="en-US" sz="2200" b="1" i="1" dirty="0">
                <a:latin typeface="Arial" panose="020B0604020202020204" pitchFamily="34" charset="0"/>
                <a:cs typeface="Arial" panose="020B0604020202020204" pitchFamily="34" charset="0"/>
              </a:rPr>
              <a:t>RESTful APIs</a:t>
            </a:r>
          </a:p>
          <a:p>
            <a:r>
              <a:rPr lang="en-US" sz="2800" b="1" dirty="0">
                <a:solidFill>
                  <a:srgbClr val="FF0000"/>
                </a:solidFill>
                <a:latin typeface="Arial" panose="020B0604020202020204" pitchFamily="34" charset="0"/>
                <a:cs typeface="Arial" panose="020B0604020202020204" pitchFamily="34" charset="0"/>
              </a:rPr>
              <a:t>one/more internal core components</a:t>
            </a:r>
            <a:r>
              <a:rPr lang="en-US" sz="2400" b="1" dirty="0">
                <a:solidFill>
                  <a:srgbClr val="FF0000"/>
                </a:solidFill>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realizing the service application logic</a:t>
            </a:r>
          </a:p>
          <a:p>
            <a:r>
              <a:rPr lang="en-US" sz="2400" b="1" dirty="0">
                <a:solidFill>
                  <a:srgbClr val="FF0000"/>
                </a:solidFill>
                <a:latin typeface="Arial" panose="020B0604020202020204" pitchFamily="34" charset="0"/>
                <a:cs typeface="Arial" panose="020B0604020202020204" pitchFamily="34" charset="0"/>
              </a:rPr>
              <a:t>a local database component</a:t>
            </a:r>
            <a:r>
              <a:rPr lang="en-US" sz="2200" b="1" dirty="0">
                <a:solidFill>
                  <a:srgbClr val="FF0000"/>
                </a:solidFill>
                <a:latin typeface="Arial" panose="020B0604020202020204" pitchFamily="34" charset="0"/>
                <a:cs typeface="Arial" panose="020B0604020202020204" pitchFamily="34" charset="0"/>
              </a:rPr>
              <a:t>: </a:t>
            </a:r>
            <a:r>
              <a:rPr lang="en-US" sz="2200" b="1" i="1" dirty="0">
                <a:latin typeface="Arial" panose="020B0604020202020204" pitchFamily="34" charset="0"/>
                <a:cs typeface="Arial" panose="020B0604020202020204" pitchFamily="34" charset="0"/>
              </a:rPr>
              <a:t>storing internal service state </a:t>
            </a:r>
            <a:r>
              <a:rPr lang="en-US" sz="2200" dirty="0">
                <a:latin typeface="Arial" panose="020B0604020202020204" pitchFamily="34" charset="0"/>
                <a:cs typeface="Arial" panose="020B0604020202020204" pitchFamily="34" charset="0"/>
              </a:rPr>
              <a:t>adopting existing solutions, and making different technological choices depending on service requirements (ranging from MySQL to highly scalable </a:t>
            </a:r>
            <a:r>
              <a:rPr lang="en-US" sz="2200" dirty="0">
                <a:latin typeface="Arial" panose="020B0604020202020204" pitchFamily="34" charset="0"/>
                <a:cs typeface="Arial" panose="020B0604020202020204" pitchFamily="34" charset="0"/>
                <a:sym typeface="Wingdings" panose="05000000000000000000" pitchFamily="2" charset="2"/>
              </a:rPr>
              <a:t>MongoDB, </a:t>
            </a:r>
            <a:r>
              <a:rPr lang="en-US" sz="2200" dirty="0" err="1">
                <a:latin typeface="Arial" panose="020B0604020202020204" pitchFamily="34" charset="0"/>
                <a:cs typeface="Arial" panose="020B0604020202020204" pitchFamily="34" charset="0"/>
                <a:sym typeface="Wingdings" panose="05000000000000000000" pitchFamily="2" charset="2"/>
              </a:rPr>
              <a:t>SQLAlchemy</a:t>
            </a:r>
            <a:r>
              <a:rPr lang="en-US" sz="2200" dirty="0">
                <a:latin typeface="Arial" panose="020B0604020202020204" pitchFamily="34" charset="0"/>
                <a:cs typeface="Arial" panose="020B0604020202020204" pitchFamily="34" charset="0"/>
                <a:sym typeface="Wingdings" panose="05000000000000000000" pitchFamily="2" charset="2"/>
              </a:rPr>
              <a:t>, and HBase)</a:t>
            </a:r>
            <a:endParaRPr lang="en-US" sz="2200" dirty="0">
              <a:latin typeface="Arial" panose="020B0604020202020204" pitchFamily="34" charset="0"/>
              <a:cs typeface="Arial" panose="020B0604020202020204" pitchFamily="34" charset="0"/>
            </a:endParaRPr>
          </a:p>
          <a:p>
            <a:pPr marL="0" indent="0">
              <a:buNone/>
            </a:pPr>
            <a:endParaRPr lang="en-US" sz="2200" dirty="0">
              <a:latin typeface="Arial" panose="020B0604020202020204" pitchFamily="34" charset="0"/>
              <a:cs typeface="Arial" panose="020B0604020202020204" pitchFamily="34" charset="0"/>
            </a:endParaRPr>
          </a:p>
        </p:txBody>
      </p:sp>
      <p:sp>
        <p:nvSpPr>
          <p:cNvPr id="5" name="Rectangle 5"/>
          <p:cNvSpPr>
            <a:spLocks noChangeArrowheads="1"/>
          </p:cNvSpPr>
          <p:nvPr/>
        </p:nvSpPr>
        <p:spPr bwMode="auto">
          <a:xfrm>
            <a:off x="378768" y="116632"/>
            <a:ext cx="8458200" cy="762000"/>
          </a:xfrm>
          <a:prstGeom prst="rect">
            <a:avLst/>
          </a:prstGeom>
          <a:noFill/>
          <a:ln w="9525">
            <a:noFill/>
            <a:miter lim="800000"/>
            <a:headEnd/>
            <a:tailEnd/>
          </a:ln>
          <a:effectLst/>
        </p:spPr>
        <p:txBody>
          <a:bodyPr anchor="ctr"/>
          <a:lstStyle/>
          <a:p>
            <a:pPr algn="ctr">
              <a:defRPr/>
            </a:pPr>
            <a:r>
              <a:rPr lang="en-US" sz="3200" b="1" dirty="0">
                <a:solidFill>
                  <a:srgbClr val="3366CC"/>
                </a:solidFill>
                <a:effectLst>
                  <a:outerShdw blurRad="38100" dist="38100" dir="2700000" algn="tl">
                    <a:srgbClr val="C0C0C0"/>
                  </a:outerShdw>
                </a:effectLst>
                <a:latin typeface="Helvetica" pitchFamily="34" charset="0"/>
              </a:rPr>
              <a:t>OpenStack Services: Main Components</a:t>
            </a:r>
            <a:endParaRPr lang="it-IT" sz="3200" b="1" dirty="0">
              <a:latin typeface="Helvetica" pitchFamily="34" charset="0"/>
            </a:endParaRPr>
          </a:p>
        </p:txBody>
      </p:sp>
      <p:sp>
        <p:nvSpPr>
          <p:cNvPr id="6" name="Line 6"/>
          <p:cNvSpPr>
            <a:spLocks noChangeShapeType="1"/>
          </p:cNvSpPr>
          <p:nvPr/>
        </p:nvSpPr>
        <p:spPr bwMode="auto">
          <a:xfrm>
            <a:off x="378768" y="878632"/>
            <a:ext cx="8458200" cy="0"/>
          </a:xfrm>
          <a:prstGeom prst="line">
            <a:avLst/>
          </a:prstGeom>
          <a:noFill/>
          <a:ln w="28575">
            <a:solidFill>
              <a:srgbClr val="3366CC"/>
            </a:solidFill>
            <a:round/>
            <a:headEnd/>
            <a:tailEnd/>
          </a:ln>
        </p:spPr>
        <p:txBody>
          <a:bodyPr wrap="none" lIns="90000" tIns="46800" rIns="90000" bIns="46800" anchor="ctr">
            <a:spAutoFit/>
          </a:bodyPr>
          <a:lstStyle/>
          <a:p>
            <a:endParaRPr lang="it-IT"/>
          </a:p>
        </p:txBody>
      </p:sp>
    </p:spTree>
    <p:extLst>
      <p:ext uri="{BB962C8B-B14F-4D97-AF65-F5344CB8AC3E}">
        <p14:creationId xmlns:p14="http://schemas.microsoft.com/office/powerpoint/2010/main" val="39817022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4294967295"/>
          </p:nvPr>
        </p:nvSpPr>
        <p:spPr>
          <a:xfrm>
            <a:off x="852488" y="1268413"/>
            <a:ext cx="8291512" cy="4872037"/>
          </a:xfrm>
        </p:spPr>
        <p:txBody>
          <a:bodyPr/>
          <a:lstStyle/>
          <a:p>
            <a:r>
              <a:rPr lang="en-US" sz="2600" dirty="0">
                <a:latin typeface="Arial" panose="020B0604020202020204" pitchFamily="34" charset="0"/>
                <a:cs typeface="Arial" panose="020B0604020202020204" pitchFamily="34" charset="0"/>
              </a:rPr>
              <a:t>Provides </a:t>
            </a:r>
            <a:r>
              <a:rPr lang="en-US" sz="2600" b="1" dirty="0">
                <a:solidFill>
                  <a:srgbClr val="FF0000"/>
                </a:solidFill>
                <a:latin typeface="Arial" panose="020B0604020202020204" pitchFamily="34" charset="0"/>
                <a:cs typeface="Arial" panose="020B0604020202020204" pitchFamily="34" charset="0"/>
              </a:rPr>
              <a:t>on-demand virtual servers</a:t>
            </a:r>
          </a:p>
          <a:p>
            <a:r>
              <a:rPr lang="en-US" sz="2600" dirty="0">
                <a:latin typeface="Arial" panose="020B0604020202020204" pitchFamily="34" charset="0"/>
                <a:cs typeface="Arial" panose="020B0604020202020204" pitchFamily="34" charset="0"/>
              </a:rPr>
              <a:t>Provides and manages </a:t>
            </a:r>
            <a:r>
              <a:rPr lang="en-US" sz="2600" b="1" dirty="0">
                <a:solidFill>
                  <a:srgbClr val="FF0000"/>
                </a:solidFill>
                <a:latin typeface="Arial" panose="020B0604020202020204" pitchFamily="34" charset="0"/>
                <a:cs typeface="Arial" panose="020B0604020202020204" pitchFamily="34" charset="0"/>
              </a:rPr>
              <a:t>large networks </a:t>
            </a:r>
            <a:r>
              <a:rPr lang="en-US" sz="2600" dirty="0">
                <a:latin typeface="Arial" panose="020B0604020202020204" pitchFamily="34" charset="0"/>
                <a:cs typeface="Arial" panose="020B0604020202020204" pitchFamily="34" charset="0"/>
              </a:rPr>
              <a:t>of virtual machines (functionality moved to Neutron)</a:t>
            </a:r>
          </a:p>
          <a:p>
            <a:r>
              <a:rPr lang="en-US" sz="2600" dirty="0">
                <a:latin typeface="Arial" panose="020B0604020202020204" pitchFamily="34" charset="0"/>
                <a:cs typeface="Arial" panose="020B0604020202020204" pitchFamily="34" charset="0"/>
              </a:rPr>
              <a:t>Modular architecture designed to horizontally scale on standard hardware</a:t>
            </a:r>
          </a:p>
          <a:p>
            <a:r>
              <a:rPr lang="en-US" sz="2600" dirty="0">
                <a:latin typeface="Arial" panose="020B0604020202020204" pitchFamily="34" charset="0"/>
                <a:cs typeface="Arial" panose="020B0604020202020204" pitchFamily="34" charset="0"/>
              </a:rPr>
              <a:t>Supports several hypervisors (i.e. KVM, </a:t>
            </a:r>
            <a:r>
              <a:rPr lang="en-US" sz="2600" dirty="0" err="1">
                <a:latin typeface="Arial" panose="020B0604020202020204" pitchFamily="34" charset="0"/>
                <a:cs typeface="Arial" panose="020B0604020202020204" pitchFamily="34" charset="0"/>
              </a:rPr>
              <a:t>XenServer,VMWare</a:t>
            </a:r>
            <a:r>
              <a:rPr lang="en-US" sz="2600" dirty="0">
                <a:latin typeface="Arial" panose="020B0604020202020204" pitchFamily="34" charset="0"/>
                <a:cs typeface="Arial" panose="020B0604020202020204" pitchFamily="34" charset="0"/>
              </a:rPr>
              <a:t>, etc.) </a:t>
            </a:r>
          </a:p>
          <a:p>
            <a:r>
              <a:rPr lang="en-US" sz="2600" dirty="0">
                <a:latin typeface="Arial" panose="020B0604020202020204" pitchFamily="34" charset="0"/>
                <a:cs typeface="Arial" panose="020B0604020202020204" pitchFamily="34" charset="0"/>
              </a:rPr>
              <a:t>Developers can access computational resources through </a:t>
            </a:r>
            <a:r>
              <a:rPr lang="en-US" sz="2600" b="1" dirty="0">
                <a:solidFill>
                  <a:srgbClr val="FF0000"/>
                </a:solidFill>
                <a:latin typeface="Arial" panose="020B0604020202020204" pitchFamily="34" charset="0"/>
                <a:cs typeface="Arial" panose="020B0604020202020204" pitchFamily="34" charset="0"/>
              </a:rPr>
              <a:t>APIs</a:t>
            </a:r>
          </a:p>
          <a:p>
            <a:r>
              <a:rPr lang="en-US" sz="2600" dirty="0">
                <a:latin typeface="Arial" panose="020B0604020202020204" pitchFamily="34" charset="0"/>
                <a:cs typeface="Arial" panose="020B0604020202020204" pitchFamily="34" charset="0"/>
              </a:rPr>
              <a:t>Administrators and users can access computational resources through </a:t>
            </a:r>
            <a:r>
              <a:rPr lang="en-US" sz="2600" b="1" dirty="0">
                <a:latin typeface="Arial" panose="020B0604020202020204" pitchFamily="34" charset="0"/>
                <a:cs typeface="Arial" panose="020B0604020202020204" pitchFamily="34" charset="0"/>
              </a:rPr>
              <a:t>Web interfaces </a:t>
            </a:r>
            <a:r>
              <a:rPr lang="en-US" sz="2600" dirty="0">
                <a:latin typeface="Arial" panose="020B0604020202020204" pitchFamily="34" charset="0"/>
                <a:cs typeface="Arial" panose="020B0604020202020204" pitchFamily="34" charset="0"/>
              </a:rPr>
              <a:t>or</a:t>
            </a:r>
            <a:r>
              <a:rPr lang="en-US" sz="2600" b="1" dirty="0">
                <a:latin typeface="Arial" panose="020B0604020202020204" pitchFamily="34" charset="0"/>
                <a:cs typeface="Arial" panose="020B0604020202020204" pitchFamily="34" charset="0"/>
              </a:rPr>
              <a:t> CLI</a:t>
            </a:r>
          </a:p>
        </p:txBody>
      </p:sp>
      <p:sp>
        <p:nvSpPr>
          <p:cNvPr id="4" name="Rectangle 5"/>
          <p:cNvSpPr>
            <a:spLocks noChangeArrowheads="1"/>
          </p:cNvSpPr>
          <p:nvPr/>
        </p:nvSpPr>
        <p:spPr bwMode="auto">
          <a:xfrm>
            <a:off x="683568" y="116632"/>
            <a:ext cx="7848600" cy="762000"/>
          </a:xfrm>
          <a:prstGeom prst="rect">
            <a:avLst/>
          </a:prstGeom>
          <a:noFill/>
          <a:ln w="9525">
            <a:noFill/>
            <a:miter lim="800000"/>
            <a:headEnd/>
            <a:tailEnd/>
          </a:ln>
          <a:effectLst/>
        </p:spPr>
        <p:txBody>
          <a:bodyPr anchor="ctr"/>
          <a:lstStyle/>
          <a:p>
            <a:pPr algn="ctr">
              <a:defRPr/>
            </a:pPr>
            <a:r>
              <a:rPr lang="en-US" sz="3200" b="1" dirty="0">
                <a:solidFill>
                  <a:srgbClr val="3366CC"/>
                </a:solidFill>
                <a:effectLst>
                  <a:outerShdw blurRad="38100" dist="38100" dir="2700000" algn="tl">
                    <a:srgbClr val="C0C0C0"/>
                  </a:outerShdw>
                </a:effectLst>
                <a:latin typeface="Helvetica" pitchFamily="34" charset="0"/>
              </a:rPr>
              <a:t>Nova - Compute</a:t>
            </a:r>
            <a:endParaRPr lang="it-IT" sz="3200" b="1" dirty="0">
              <a:latin typeface="Helvetica" pitchFamily="34" charset="0"/>
            </a:endParaRPr>
          </a:p>
        </p:txBody>
      </p:sp>
      <p:sp>
        <p:nvSpPr>
          <p:cNvPr id="5" name="Line 6"/>
          <p:cNvSpPr>
            <a:spLocks noChangeShapeType="1"/>
          </p:cNvSpPr>
          <p:nvPr/>
        </p:nvSpPr>
        <p:spPr bwMode="auto">
          <a:xfrm>
            <a:off x="378768" y="1052736"/>
            <a:ext cx="8458200" cy="0"/>
          </a:xfrm>
          <a:prstGeom prst="line">
            <a:avLst/>
          </a:prstGeom>
          <a:noFill/>
          <a:ln w="28575">
            <a:solidFill>
              <a:srgbClr val="3366CC"/>
            </a:solidFill>
            <a:round/>
            <a:headEnd/>
            <a:tailEnd/>
          </a:ln>
        </p:spPr>
        <p:txBody>
          <a:bodyPr wrap="none" lIns="90000" tIns="46800" rIns="90000" bIns="46800" anchor="ctr">
            <a:spAutoFit/>
          </a:bodyPr>
          <a:lstStyle/>
          <a:p>
            <a:endParaRPr lang="it-IT"/>
          </a:p>
        </p:txBody>
      </p:sp>
    </p:spTree>
    <p:extLst>
      <p:ext uri="{BB962C8B-B14F-4D97-AF65-F5344CB8AC3E}">
        <p14:creationId xmlns:p14="http://schemas.microsoft.com/office/powerpoint/2010/main" val="22657094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6978" name="Picture 2" descr="http://ilearnstack.files.wordpress.com/2013/04/nova-compute.png"/>
          <p:cNvPicPr>
            <a:picLocks noChangeAspect="1" noChangeArrowheads="1"/>
          </p:cNvPicPr>
          <p:nvPr/>
        </p:nvPicPr>
        <p:blipFill>
          <a:blip r:embed="rId3" cstate="print"/>
          <a:srcRect/>
          <a:stretch>
            <a:fillRect/>
          </a:stretch>
        </p:blipFill>
        <p:spPr bwMode="auto">
          <a:xfrm>
            <a:off x="1907704" y="1268760"/>
            <a:ext cx="5191928" cy="4886035"/>
          </a:xfrm>
          <a:prstGeom prst="rect">
            <a:avLst/>
          </a:prstGeom>
          <a:noFill/>
        </p:spPr>
      </p:pic>
      <p:sp>
        <p:nvSpPr>
          <p:cNvPr id="4" name="Rectangle 5"/>
          <p:cNvSpPr>
            <a:spLocks noChangeArrowheads="1"/>
          </p:cNvSpPr>
          <p:nvPr/>
        </p:nvSpPr>
        <p:spPr bwMode="auto">
          <a:xfrm>
            <a:off x="639341" y="332656"/>
            <a:ext cx="7848600" cy="762000"/>
          </a:xfrm>
          <a:prstGeom prst="rect">
            <a:avLst/>
          </a:prstGeom>
          <a:noFill/>
          <a:ln w="9525">
            <a:noFill/>
            <a:miter lim="800000"/>
            <a:headEnd/>
            <a:tailEnd/>
          </a:ln>
          <a:effectLst/>
        </p:spPr>
        <p:txBody>
          <a:bodyPr anchor="ctr"/>
          <a:lstStyle/>
          <a:p>
            <a:pPr algn="ctr">
              <a:defRPr/>
            </a:pPr>
            <a:r>
              <a:rPr lang="en-US" sz="3200" b="1" dirty="0">
                <a:solidFill>
                  <a:srgbClr val="3366CC"/>
                </a:solidFill>
                <a:effectLst>
                  <a:outerShdw blurRad="38100" dist="38100" dir="2700000" algn="tl">
                    <a:srgbClr val="C0C0C0"/>
                  </a:outerShdw>
                </a:effectLst>
                <a:latin typeface="Helvetica" pitchFamily="34" charset="0"/>
              </a:rPr>
              <a:t>Nova – Components</a:t>
            </a:r>
            <a:br>
              <a:rPr lang="en-US" sz="3200" b="1" dirty="0">
                <a:solidFill>
                  <a:srgbClr val="3366CC"/>
                </a:solidFill>
                <a:effectLst>
                  <a:outerShdw blurRad="38100" dist="38100" dir="2700000" algn="tl">
                    <a:srgbClr val="C0C0C0"/>
                  </a:outerShdw>
                </a:effectLst>
                <a:latin typeface="Helvetica" pitchFamily="34" charset="0"/>
              </a:rPr>
            </a:br>
            <a:r>
              <a:rPr lang="en-US" sz="3200" b="1" dirty="0">
                <a:solidFill>
                  <a:srgbClr val="3366CC"/>
                </a:solidFill>
                <a:effectLst>
                  <a:outerShdw blurRad="38100" dist="38100" dir="2700000" algn="tl">
                    <a:srgbClr val="C0C0C0"/>
                  </a:outerShdw>
                </a:effectLst>
                <a:latin typeface="Helvetica" pitchFamily="34" charset="0"/>
              </a:rPr>
              <a:t>(a good </a:t>
            </a:r>
            <a:r>
              <a:rPr lang="en-US" sz="3200" b="1" dirty="0" err="1">
                <a:solidFill>
                  <a:srgbClr val="3366CC"/>
                </a:solidFill>
                <a:effectLst>
                  <a:outerShdw blurRad="38100" dist="38100" dir="2700000" algn="tl">
                    <a:srgbClr val="C0C0C0"/>
                  </a:outerShdw>
                </a:effectLst>
                <a:latin typeface="Helvetica" pitchFamily="34" charset="0"/>
              </a:rPr>
              <a:t>OpenStack</a:t>
            </a:r>
            <a:r>
              <a:rPr lang="en-US" sz="3200" b="1" dirty="0">
                <a:solidFill>
                  <a:srgbClr val="3366CC"/>
                </a:solidFill>
                <a:effectLst>
                  <a:outerShdw blurRad="38100" dist="38100" dir="2700000" algn="tl">
                    <a:srgbClr val="C0C0C0"/>
                  </a:outerShdw>
                </a:effectLst>
                <a:latin typeface="Helvetica" pitchFamily="34" charset="0"/>
              </a:rPr>
              <a:t> service example)</a:t>
            </a:r>
            <a:endParaRPr lang="it-IT" sz="3200" b="1" dirty="0">
              <a:latin typeface="Helvetica" pitchFamily="34" charset="0"/>
            </a:endParaRPr>
          </a:p>
        </p:txBody>
      </p:sp>
      <p:sp>
        <p:nvSpPr>
          <p:cNvPr id="5" name="Line 6"/>
          <p:cNvSpPr>
            <a:spLocks noChangeShapeType="1"/>
          </p:cNvSpPr>
          <p:nvPr/>
        </p:nvSpPr>
        <p:spPr bwMode="auto">
          <a:xfrm>
            <a:off x="378768" y="1268760"/>
            <a:ext cx="8458200" cy="0"/>
          </a:xfrm>
          <a:prstGeom prst="line">
            <a:avLst/>
          </a:prstGeom>
          <a:noFill/>
          <a:ln w="28575">
            <a:solidFill>
              <a:srgbClr val="3366CC"/>
            </a:solidFill>
            <a:round/>
            <a:headEnd/>
            <a:tailEnd/>
          </a:ln>
        </p:spPr>
        <p:txBody>
          <a:bodyPr wrap="none" lIns="90000" tIns="46800" rIns="90000" bIns="46800" anchor="ctr">
            <a:spAutoFit/>
          </a:bodyPr>
          <a:lstStyle/>
          <a:p>
            <a:endParaRPr lang="it-IT"/>
          </a:p>
        </p:txBody>
      </p:sp>
      <p:sp>
        <p:nvSpPr>
          <p:cNvPr id="2" name="TextBox 1">
            <a:extLst>
              <a:ext uri="{FF2B5EF4-FFF2-40B4-BE49-F238E27FC236}">
                <a16:creationId xmlns:a16="http://schemas.microsoft.com/office/drawing/2014/main" id="{B7F2BD92-DEF3-EC41-BA4A-00523D4E1743}"/>
              </a:ext>
            </a:extLst>
          </p:cNvPr>
          <p:cNvSpPr txBox="1"/>
          <p:nvPr/>
        </p:nvSpPr>
        <p:spPr>
          <a:xfrm>
            <a:off x="179512" y="6036511"/>
            <a:ext cx="8902052" cy="830997"/>
          </a:xfrm>
          <a:prstGeom prst="rect">
            <a:avLst/>
          </a:prstGeom>
          <a:noFill/>
        </p:spPr>
        <p:txBody>
          <a:bodyPr wrap="none" rtlCol="0">
            <a:spAutoFit/>
          </a:bodyPr>
          <a:lstStyle/>
          <a:p>
            <a:r>
              <a:rPr lang="en-US" sz="1600" dirty="0" err="1"/>
              <a:t>libvirt</a:t>
            </a:r>
            <a:r>
              <a:rPr lang="en-US" sz="1600" dirty="0"/>
              <a:t> is an open-source API from RedHat: it is a daemon and management tool for managing </a:t>
            </a:r>
          </a:p>
          <a:p>
            <a:r>
              <a:rPr lang="en-US" sz="1600" dirty="0"/>
              <a:t>platform virtualization (manage KVM, Xen, VMware </a:t>
            </a:r>
            <a:r>
              <a:rPr lang="en-US" sz="1600" dirty="0" err="1"/>
              <a:t>ESXi</a:t>
            </a:r>
            <a:r>
              <a:rPr lang="en-US" sz="1600" dirty="0"/>
              <a:t>, QEMU and other virtualization techs.) </a:t>
            </a:r>
          </a:p>
          <a:p>
            <a:r>
              <a:rPr lang="en-US" sz="1600" dirty="0"/>
              <a:t>Used in the orchestration layer of hypervisors for cloud-based solutions</a:t>
            </a:r>
          </a:p>
        </p:txBody>
      </p:sp>
    </p:spTree>
    <p:extLst>
      <p:ext uri="{BB962C8B-B14F-4D97-AF65-F5344CB8AC3E}">
        <p14:creationId xmlns:p14="http://schemas.microsoft.com/office/powerpoint/2010/main" val="16425866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4294967295"/>
          </p:nvPr>
        </p:nvSpPr>
        <p:spPr>
          <a:xfrm>
            <a:off x="628650" y="1484313"/>
            <a:ext cx="8515350" cy="4525962"/>
          </a:xfrm>
        </p:spPr>
        <p:txBody>
          <a:bodyPr/>
          <a:lstStyle/>
          <a:p>
            <a:r>
              <a:rPr lang="en-US" sz="2600" b="1" dirty="0">
                <a:solidFill>
                  <a:srgbClr val="FF0000"/>
                </a:solidFill>
                <a:latin typeface="Arial" panose="020B0604020202020204" pitchFamily="34" charset="0"/>
                <a:cs typeface="Arial" panose="020B0604020202020204" pitchFamily="34" charset="0"/>
              </a:rPr>
              <a:t>nova-API</a:t>
            </a:r>
            <a:r>
              <a:rPr lang="en-US" sz="2400" b="1"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RESTful</a:t>
            </a:r>
            <a:r>
              <a:rPr lang="en-US" sz="2400" dirty="0">
                <a:latin typeface="Arial" panose="020B0604020202020204" pitchFamily="34" charset="0"/>
                <a:cs typeface="Arial" panose="020B0604020202020204" pitchFamily="34" charset="0"/>
              </a:rPr>
              <a:t> API web service used to send commands to interact with </a:t>
            </a:r>
            <a:r>
              <a:rPr lang="en-US" sz="2400" dirty="0" err="1">
                <a:latin typeface="Arial" panose="020B0604020202020204" pitchFamily="34" charset="0"/>
                <a:cs typeface="Arial" panose="020B0604020202020204" pitchFamily="34" charset="0"/>
              </a:rPr>
              <a:t>OpenStack</a:t>
            </a:r>
            <a:r>
              <a:rPr lang="en-US" sz="2400" dirty="0">
                <a:latin typeface="Arial" panose="020B0604020202020204" pitchFamily="34" charset="0"/>
                <a:cs typeface="Arial" panose="020B0604020202020204" pitchFamily="34" charset="0"/>
              </a:rPr>
              <a:t>. It is also possible to use CLI clients to make </a:t>
            </a:r>
            <a:r>
              <a:rPr lang="en-US" sz="2400" dirty="0" err="1">
                <a:latin typeface="Arial" panose="020B0604020202020204" pitchFamily="34" charset="0"/>
                <a:cs typeface="Arial" panose="020B0604020202020204" pitchFamily="34" charset="0"/>
              </a:rPr>
              <a:t>OpenStack</a:t>
            </a:r>
            <a:r>
              <a:rPr lang="en-US" sz="2400" dirty="0">
                <a:latin typeface="Arial" panose="020B0604020202020204" pitchFamily="34" charset="0"/>
                <a:cs typeface="Arial" panose="020B0604020202020204" pitchFamily="34" charset="0"/>
              </a:rPr>
              <a:t> API calls</a:t>
            </a:r>
          </a:p>
          <a:p>
            <a:r>
              <a:rPr lang="en-US" sz="2600" b="1" dirty="0">
                <a:solidFill>
                  <a:srgbClr val="FF0000"/>
                </a:solidFill>
                <a:latin typeface="Arial" panose="020B0604020202020204" pitchFamily="34" charset="0"/>
                <a:cs typeface="Arial" panose="020B0604020202020204" pitchFamily="34" charset="0"/>
              </a:rPr>
              <a:t>nova-compute</a:t>
            </a:r>
            <a:r>
              <a:rPr lang="en-US" sz="2400" b="1"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hosts and manages VM instances by communicating with the underlying hypervisor</a:t>
            </a:r>
          </a:p>
          <a:p>
            <a:r>
              <a:rPr lang="en-US" sz="2600" b="1" dirty="0">
                <a:solidFill>
                  <a:srgbClr val="FF0000"/>
                </a:solidFill>
                <a:latin typeface="Arial" panose="020B0604020202020204" pitchFamily="34" charset="0"/>
                <a:cs typeface="Arial" panose="020B0604020202020204" pitchFamily="34" charset="0"/>
              </a:rPr>
              <a:t>nova-scheduler</a:t>
            </a:r>
            <a:r>
              <a:rPr lang="en-US" sz="2400" b="1"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coordinates all services and determines placement of new requested resources</a:t>
            </a:r>
            <a:endParaRPr lang="en-US" sz="2400" b="1" dirty="0">
              <a:solidFill>
                <a:srgbClr val="FF0000"/>
              </a:solidFill>
              <a:latin typeface="Arial" panose="020B0604020202020204" pitchFamily="34" charset="0"/>
              <a:cs typeface="Arial" panose="020B0604020202020204" pitchFamily="34" charset="0"/>
            </a:endParaRPr>
          </a:p>
          <a:p>
            <a:r>
              <a:rPr lang="en-US" sz="2600" b="1" dirty="0">
                <a:solidFill>
                  <a:srgbClr val="FF0000"/>
                </a:solidFill>
                <a:latin typeface="Arial" panose="020B0604020202020204" pitchFamily="34" charset="0"/>
                <a:cs typeface="Arial" panose="020B0604020202020204" pitchFamily="34" charset="0"/>
              </a:rPr>
              <a:t>nova database</a:t>
            </a:r>
            <a:r>
              <a:rPr lang="en-US" sz="2400" b="1"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stores build-time and run-time states of Cloud infrastructure </a:t>
            </a:r>
          </a:p>
          <a:p>
            <a:r>
              <a:rPr lang="en-US" sz="2600" b="1" dirty="0">
                <a:solidFill>
                  <a:srgbClr val="FF0000"/>
                </a:solidFill>
                <a:latin typeface="Arial" panose="020B0604020202020204" pitchFamily="34" charset="0"/>
                <a:cs typeface="Arial" panose="020B0604020202020204" pitchFamily="34" charset="0"/>
              </a:rPr>
              <a:t>queue</a:t>
            </a:r>
            <a:r>
              <a:rPr lang="en-US" sz="2400" b="1" dirty="0">
                <a:latin typeface="Arial" panose="020B0604020202020204" pitchFamily="34" charset="0"/>
                <a:cs typeface="Arial" panose="020B0604020202020204" pitchFamily="34" charset="0"/>
              </a:rPr>
              <a:t>:</a:t>
            </a:r>
            <a:r>
              <a:rPr lang="en-US" sz="2400" b="1" dirty="0">
                <a:solidFill>
                  <a:srgbClr val="FF0000"/>
                </a:solidFill>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handles interactions between other Nova services.</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By default, it is implemented by </a:t>
            </a:r>
            <a:r>
              <a:rPr lang="en-US" sz="2400" dirty="0" err="1">
                <a:latin typeface="Arial" panose="020B0604020202020204" pitchFamily="34" charset="0"/>
                <a:cs typeface="Arial" panose="020B0604020202020204" pitchFamily="34" charset="0"/>
              </a:rPr>
              <a:t>RabbitMQ</a:t>
            </a:r>
            <a:r>
              <a:rPr lang="en-US" sz="2400" dirty="0">
                <a:latin typeface="Arial" panose="020B0604020202020204" pitchFamily="34" charset="0"/>
                <a:cs typeface="Arial" panose="020B0604020202020204" pitchFamily="34" charset="0"/>
              </a:rPr>
              <a:t>, but also </a:t>
            </a:r>
            <a:r>
              <a:rPr lang="en-US" sz="2400" dirty="0" err="1">
                <a:latin typeface="Arial" panose="020B0604020202020204" pitchFamily="34" charset="0"/>
                <a:cs typeface="Arial" panose="020B0604020202020204" pitchFamily="34" charset="0"/>
              </a:rPr>
              <a:t>Qpid</a:t>
            </a:r>
            <a:r>
              <a:rPr lang="en-US" sz="2400" dirty="0">
                <a:latin typeface="Arial" panose="020B0604020202020204" pitchFamily="34" charset="0"/>
                <a:cs typeface="Arial" panose="020B0604020202020204" pitchFamily="34" charset="0"/>
              </a:rPr>
              <a:t> can be used</a:t>
            </a:r>
            <a:endParaRPr lang="en-US" sz="2400" b="1" dirty="0">
              <a:solidFill>
                <a:srgbClr val="FF0000"/>
              </a:solidFill>
              <a:latin typeface="Arial" panose="020B0604020202020204" pitchFamily="34" charset="0"/>
              <a:cs typeface="Arial" panose="020B0604020202020204" pitchFamily="34" charset="0"/>
            </a:endParaRPr>
          </a:p>
        </p:txBody>
      </p:sp>
      <p:sp>
        <p:nvSpPr>
          <p:cNvPr id="5" name="Line 6"/>
          <p:cNvSpPr>
            <a:spLocks noChangeShapeType="1"/>
          </p:cNvSpPr>
          <p:nvPr/>
        </p:nvSpPr>
        <p:spPr bwMode="auto">
          <a:xfrm>
            <a:off x="334541" y="1245940"/>
            <a:ext cx="8458200" cy="0"/>
          </a:xfrm>
          <a:prstGeom prst="line">
            <a:avLst/>
          </a:prstGeom>
          <a:noFill/>
          <a:ln w="28575">
            <a:solidFill>
              <a:srgbClr val="3366CC"/>
            </a:solidFill>
            <a:round/>
            <a:headEnd/>
            <a:tailEnd/>
          </a:ln>
        </p:spPr>
        <p:txBody>
          <a:bodyPr wrap="none" lIns="90000" tIns="46800" rIns="90000" bIns="46800" anchor="ctr">
            <a:spAutoFit/>
          </a:bodyPr>
          <a:lstStyle/>
          <a:p>
            <a:endParaRPr lang="it-IT"/>
          </a:p>
        </p:txBody>
      </p:sp>
      <p:sp>
        <p:nvSpPr>
          <p:cNvPr id="7" name="Rectangle 5"/>
          <p:cNvSpPr>
            <a:spLocks noChangeArrowheads="1"/>
          </p:cNvSpPr>
          <p:nvPr/>
        </p:nvSpPr>
        <p:spPr bwMode="auto">
          <a:xfrm>
            <a:off x="639341" y="476672"/>
            <a:ext cx="7848600" cy="762000"/>
          </a:xfrm>
          <a:prstGeom prst="rect">
            <a:avLst/>
          </a:prstGeom>
          <a:noFill/>
          <a:ln w="9525">
            <a:noFill/>
            <a:miter lim="800000"/>
            <a:headEnd/>
            <a:tailEnd/>
          </a:ln>
          <a:effectLst/>
        </p:spPr>
        <p:txBody>
          <a:bodyPr anchor="ctr"/>
          <a:lstStyle/>
          <a:p>
            <a:pPr algn="ctr">
              <a:defRPr/>
            </a:pPr>
            <a:r>
              <a:rPr lang="en-US" sz="3200" b="1" dirty="0">
                <a:solidFill>
                  <a:srgbClr val="3366CC"/>
                </a:solidFill>
                <a:effectLst>
                  <a:outerShdw blurRad="38100" dist="38100" dir="2700000" algn="tl">
                    <a:srgbClr val="C0C0C0"/>
                  </a:outerShdw>
                </a:effectLst>
                <a:latin typeface="Helvetica" pitchFamily="34" charset="0"/>
              </a:rPr>
              <a:t>Nova – Components  (1)</a:t>
            </a:r>
            <a:endParaRPr lang="it-IT" sz="3200" b="1" dirty="0">
              <a:latin typeface="Helvetica" pitchFamily="34" charset="0"/>
            </a:endParaRPr>
          </a:p>
        </p:txBody>
      </p:sp>
    </p:spTree>
    <p:extLst>
      <p:ext uri="{BB962C8B-B14F-4D97-AF65-F5344CB8AC3E}">
        <p14:creationId xmlns:p14="http://schemas.microsoft.com/office/powerpoint/2010/main" val="14291793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4294967295"/>
          </p:nvPr>
        </p:nvSpPr>
        <p:spPr>
          <a:xfrm>
            <a:off x="107505" y="980728"/>
            <a:ext cx="9036496" cy="4525962"/>
          </a:xfrm>
        </p:spPr>
        <p:txBody>
          <a:bodyPr/>
          <a:lstStyle/>
          <a:p>
            <a:r>
              <a:rPr lang="en-US" sz="2600" b="1" dirty="0">
                <a:solidFill>
                  <a:srgbClr val="FF0000"/>
                </a:solidFill>
                <a:latin typeface="Arial" panose="020B0604020202020204" pitchFamily="34" charset="0"/>
                <a:cs typeface="Arial" panose="020B0604020202020204" pitchFamily="34" charset="0"/>
              </a:rPr>
              <a:t>nova-console</a:t>
            </a:r>
            <a:r>
              <a:rPr lang="en-US" sz="2600" b="1" dirty="0">
                <a:latin typeface="Arial" panose="020B0604020202020204" pitchFamily="34" charset="0"/>
                <a:cs typeface="Arial" panose="020B0604020202020204" pitchFamily="34" charset="0"/>
              </a:rPr>
              <a:t>,</a:t>
            </a:r>
            <a:r>
              <a:rPr lang="en-US" sz="2600" b="1" dirty="0">
                <a:solidFill>
                  <a:srgbClr val="FF0000"/>
                </a:solidFill>
                <a:latin typeface="Arial" panose="020B0604020202020204" pitchFamily="34" charset="0"/>
                <a:cs typeface="Arial" panose="020B0604020202020204" pitchFamily="34" charset="0"/>
              </a:rPr>
              <a:t> nova-</a:t>
            </a:r>
            <a:r>
              <a:rPr lang="en-US" sz="2600" b="1" dirty="0" err="1">
                <a:solidFill>
                  <a:srgbClr val="FF0000"/>
                </a:solidFill>
                <a:latin typeface="Arial" panose="020B0604020202020204" pitchFamily="34" charset="0"/>
                <a:cs typeface="Arial" panose="020B0604020202020204" pitchFamily="34" charset="0"/>
              </a:rPr>
              <a:t>novncproxy</a:t>
            </a:r>
            <a:r>
              <a:rPr lang="en-US" sz="2600" b="1" dirty="0">
                <a:solidFill>
                  <a:srgbClr val="FF0000"/>
                </a:solidFill>
                <a:latin typeface="Arial" panose="020B0604020202020204" pitchFamily="34" charset="0"/>
                <a:cs typeface="Arial" panose="020B0604020202020204" pitchFamily="34" charset="0"/>
              </a:rPr>
              <a:t>, nova-</a:t>
            </a:r>
            <a:r>
              <a:rPr lang="en-US" sz="2600" b="1" dirty="0" err="1">
                <a:solidFill>
                  <a:srgbClr val="FF0000"/>
                </a:solidFill>
                <a:latin typeface="Arial" panose="020B0604020202020204" pitchFamily="34" charset="0"/>
                <a:cs typeface="Arial" panose="020B0604020202020204" pitchFamily="34" charset="0"/>
              </a:rPr>
              <a:t>consoleauth</a:t>
            </a:r>
            <a:r>
              <a:rPr lang="en-US" sz="2600" b="1" dirty="0">
                <a:latin typeface="Arial" panose="020B0604020202020204" pitchFamily="34" charset="0"/>
                <a:cs typeface="Arial" panose="020B0604020202020204" pitchFamily="34" charset="0"/>
              </a:rPr>
              <a:t>: </a:t>
            </a:r>
            <a:r>
              <a:rPr lang="en-US" sz="2600" dirty="0">
                <a:latin typeface="Arial" panose="020B0604020202020204" pitchFamily="34" charset="0"/>
                <a:cs typeface="Arial" panose="020B0604020202020204" pitchFamily="34" charset="0"/>
              </a:rPr>
              <a:t>provides, through a proxy, user access to the consoles of virtual instances</a:t>
            </a:r>
          </a:p>
          <a:p>
            <a:pPr lvl="1"/>
            <a:r>
              <a:rPr lang="en-US" sz="2200" i="1" dirty="0">
                <a:latin typeface="Arial" panose="020B0604020202020204" pitchFamily="34" charset="0"/>
                <a:cs typeface="Arial" panose="020B0604020202020204" pitchFamily="34" charset="0"/>
              </a:rPr>
              <a:t>nova-</a:t>
            </a:r>
            <a:r>
              <a:rPr lang="en-US" sz="2200" i="1" dirty="0" err="1">
                <a:latin typeface="Arial" panose="020B0604020202020204" pitchFamily="34" charset="0"/>
                <a:cs typeface="Arial" panose="020B0604020202020204" pitchFamily="34" charset="0"/>
              </a:rPr>
              <a:t>novncproxy</a:t>
            </a:r>
            <a:r>
              <a:rPr lang="en-US" sz="2200" dirty="0">
                <a:latin typeface="Arial" panose="020B0604020202020204" pitchFamily="34" charset="0"/>
                <a:cs typeface="Arial" panose="020B0604020202020204" pitchFamily="34" charset="0"/>
              </a:rPr>
              <a:t> - server daemon serving Nova </a:t>
            </a:r>
            <a:r>
              <a:rPr lang="en-US" sz="2200" dirty="0" err="1">
                <a:latin typeface="Arial" panose="020B0604020202020204" pitchFamily="34" charset="0"/>
                <a:cs typeface="Arial" panose="020B0604020202020204" pitchFamily="34" charset="0"/>
              </a:rPr>
              <a:t>noVNC</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Websocket</a:t>
            </a:r>
            <a:r>
              <a:rPr lang="en-US" sz="2200" dirty="0">
                <a:latin typeface="Arial" panose="020B0604020202020204" pitchFamily="34" charset="0"/>
                <a:cs typeface="Arial" panose="020B0604020202020204" pitchFamily="34" charset="0"/>
              </a:rPr>
              <a:t> Proxy service, compatible w/Nova </a:t>
            </a:r>
            <a:r>
              <a:rPr lang="en-US" sz="2200" dirty="0" err="1">
                <a:latin typeface="Arial" panose="020B0604020202020204" pitchFamily="34" charset="0"/>
                <a:cs typeface="Arial" panose="020B0604020202020204" pitchFamily="34" charset="0"/>
              </a:rPr>
              <a:t>noVNC</a:t>
            </a:r>
            <a:r>
              <a:rPr lang="en-US" sz="2200" dirty="0">
                <a:latin typeface="Arial" panose="020B0604020202020204" pitchFamily="34" charset="0"/>
                <a:cs typeface="Arial" panose="020B0604020202020204" pitchFamily="34" charset="0"/>
              </a:rPr>
              <a:t> consoles.</a:t>
            </a:r>
          </a:p>
          <a:p>
            <a:r>
              <a:rPr lang="en-US" sz="2600" b="1" dirty="0">
                <a:solidFill>
                  <a:srgbClr val="FF0000"/>
                </a:solidFill>
                <a:latin typeface="Arial" panose="020B0604020202020204" pitchFamily="34" charset="0"/>
                <a:cs typeface="Arial" panose="020B0604020202020204" pitchFamily="34" charset="0"/>
              </a:rPr>
              <a:t>nova-network</a:t>
            </a:r>
            <a:r>
              <a:rPr lang="en-US" sz="2600" b="1" dirty="0">
                <a:latin typeface="Arial" panose="020B0604020202020204" pitchFamily="34" charset="0"/>
                <a:cs typeface="Arial" panose="020B0604020202020204" pitchFamily="34" charset="0"/>
              </a:rPr>
              <a:t>: </a:t>
            </a:r>
            <a:r>
              <a:rPr lang="en-US" sz="2600" dirty="0">
                <a:latin typeface="Arial" panose="020B0604020202020204" pitchFamily="34" charset="0"/>
                <a:cs typeface="Arial" panose="020B0604020202020204" pitchFamily="34" charset="0"/>
              </a:rPr>
              <a:t>accepts requests coming from the queue and executes tasks to configure networks (i.e., changing </a:t>
            </a:r>
            <a:r>
              <a:rPr lang="en-US" sz="2600" dirty="0" err="1">
                <a:latin typeface="Arial" panose="020B0604020202020204" pitchFamily="34" charset="0"/>
                <a:cs typeface="Arial" panose="020B0604020202020204" pitchFamily="34" charset="0"/>
              </a:rPr>
              <a:t>IPtables</a:t>
            </a:r>
            <a:r>
              <a:rPr lang="en-US" sz="2600" dirty="0">
                <a:latin typeface="Arial" panose="020B0604020202020204" pitchFamily="34" charset="0"/>
                <a:cs typeface="Arial" panose="020B0604020202020204" pitchFamily="34" charset="0"/>
              </a:rPr>
              <a:t> rules, creating bridging interfaces, …)</a:t>
            </a:r>
            <a:br>
              <a:rPr lang="en-US" sz="2600" dirty="0">
                <a:latin typeface="Arial" panose="020B0604020202020204" pitchFamily="34" charset="0"/>
                <a:cs typeface="Arial" panose="020B0604020202020204" pitchFamily="34" charset="0"/>
              </a:rPr>
            </a:br>
            <a:r>
              <a:rPr lang="en-US" sz="2600" dirty="0">
                <a:latin typeface="Arial" panose="020B0604020202020204" pitchFamily="34" charset="0"/>
                <a:cs typeface="Arial" panose="020B0604020202020204" pitchFamily="34" charset="0"/>
              </a:rPr>
              <a:t>These functionalities are now part of Neutron service.</a:t>
            </a:r>
          </a:p>
          <a:p>
            <a:r>
              <a:rPr lang="en-US" sz="2600" b="1" dirty="0">
                <a:solidFill>
                  <a:srgbClr val="FF0000"/>
                </a:solidFill>
                <a:latin typeface="Arial" panose="020B0604020202020204" pitchFamily="34" charset="0"/>
                <a:cs typeface="Arial" panose="020B0604020202020204" pitchFamily="34" charset="0"/>
              </a:rPr>
              <a:t>nova-volume</a:t>
            </a:r>
            <a:r>
              <a:rPr lang="en-US" sz="2600" b="1" dirty="0">
                <a:latin typeface="Arial" panose="020B0604020202020204" pitchFamily="34" charset="0"/>
                <a:cs typeface="Arial" panose="020B0604020202020204" pitchFamily="34" charset="0"/>
              </a:rPr>
              <a:t>: </a:t>
            </a:r>
            <a:r>
              <a:rPr lang="en-US" sz="2600" dirty="0">
                <a:latin typeface="Arial" panose="020B0604020202020204" pitchFamily="34" charset="0"/>
                <a:cs typeface="Arial" panose="020B0604020202020204" pitchFamily="34" charset="0"/>
              </a:rPr>
              <a:t>handles persistent volumes creation and their de/attachment from/to virtual instances</a:t>
            </a:r>
            <a:br>
              <a:rPr lang="en-US" sz="2600" dirty="0">
                <a:latin typeface="Arial" panose="020B0604020202020204" pitchFamily="34" charset="0"/>
                <a:cs typeface="Arial" panose="020B0604020202020204" pitchFamily="34" charset="0"/>
              </a:rPr>
            </a:br>
            <a:r>
              <a:rPr lang="en-US" sz="2600" dirty="0">
                <a:solidFill>
                  <a:srgbClr val="000000"/>
                </a:solidFill>
                <a:latin typeface="Arial" panose="020B0604020202020204" pitchFamily="34" charset="0"/>
                <a:cs typeface="Arial" panose="020B0604020202020204" pitchFamily="34" charset="0"/>
              </a:rPr>
              <a:t>These functionalities are now part of Cinder services</a:t>
            </a:r>
            <a:r>
              <a:rPr lang="en-US" sz="2600" dirty="0">
                <a:latin typeface="Arial" panose="020B0604020202020204" pitchFamily="34" charset="0"/>
                <a:cs typeface="Arial" panose="020B0604020202020204" pitchFamily="34" charset="0"/>
              </a:rPr>
              <a:t> </a:t>
            </a:r>
          </a:p>
          <a:p>
            <a:r>
              <a:rPr lang="en-US" sz="2600" b="1" dirty="0">
                <a:solidFill>
                  <a:srgbClr val="FF0000"/>
                </a:solidFill>
                <a:latin typeface="Arial" panose="020B0604020202020204" pitchFamily="34" charset="0"/>
                <a:cs typeface="Arial" panose="020B0604020202020204" pitchFamily="34" charset="0"/>
              </a:rPr>
              <a:t>nova conductor </a:t>
            </a:r>
            <a:r>
              <a:rPr lang="en-US" sz="2600" dirty="0">
                <a:latin typeface="Arial" panose="020B0604020202020204" pitchFamily="34" charset="0"/>
                <a:cs typeface="Arial" panose="020B0604020202020204" pitchFamily="34" charset="0"/>
              </a:rPr>
              <a:t>provides coordination and database query support for Nova</a:t>
            </a:r>
            <a:r>
              <a:rPr lang="en-US" sz="2800" dirty="0"/>
              <a:t>.</a:t>
            </a:r>
            <a:endParaRPr lang="en-US" sz="2600" dirty="0">
              <a:latin typeface="Arial" panose="020B0604020202020204" pitchFamily="34" charset="0"/>
              <a:cs typeface="Arial" panose="020B0604020202020204" pitchFamily="34" charset="0"/>
            </a:endParaRPr>
          </a:p>
          <a:p>
            <a:endParaRPr lang="en-US" sz="2600" dirty="0">
              <a:latin typeface="Arial" panose="020B0604020202020204" pitchFamily="34" charset="0"/>
              <a:cs typeface="Arial" panose="020B0604020202020204" pitchFamily="34" charset="0"/>
            </a:endParaRPr>
          </a:p>
        </p:txBody>
      </p:sp>
      <p:sp>
        <p:nvSpPr>
          <p:cNvPr id="7" name="Rectangle 5"/>
          <p:cNvSpPr>
            <a:spLocks noChangeArrowheads="1"/>
          </p:cNvSpPr>
          <p:nvPr/>
        </p:nvSpPr>
        <p:spPr bwMode="auto">
          <a:xfrm>
            <a:off x="642367" y="260648"/>
            <a:ext cx="7848600" cy="762000"/>
          </a:xfrm>
          <a:prstGeom prst="rect">
            <a:avLst/>
          </a:prstGeom>
          <a:noFill/>
          <a:ln w="9525">
            <a:noFill/>
            <a:miter lim="800000"/>
            <a:headEnd/>
            <a:tailEnd/>
          </a:ln>
          <a:effectLst/>
        </p:spPr>
        <p:txBody>
          <a:bodyPr anchor="ctr"/>
          <a:lstStyle/>
          <a:p>
            <a:pPr algn="ctr">
              <a:defRPr/>
            </a:pPr>
            <a:r>
              <a:rPr lang="en-US" sz="3200" b="1" dirty="0">
                <a:solidFill>
                  <a:srgbClr val="3366CC"/>
                </a:solidFill>
                <a:effectLst>
                  <a:outerShdw blurRad="38100" dist="38100" dir="2700000" algn="tl">
                    <a:srgbClr val="C0C0C0"/>
                  </a:outerShdw>
                </a:effectLst>
                <a:latin typeface="Helvetica" pitchFamily="34" charset="0"/>
              </a:rPr>
              <a:t>Nova – Components  (2)</a:t>
            </a:r>
            <a:endParaRPr lang="it-IT" sz="3200" b="1" dirty="0">
              <a:latin typeface="Helvetica" pitchFamily="34" charset="0"/>
            </a:endParaRPr>
          </a:p>
        </p:txBody>
      </p:sp>
      <p:sp>
        <p:nvSpPr>
          <p:cNvPr id="8" name="Line 6"/>
          <p:cNvSpPr>
            <a:spLocks noChangeShapeType="1"/>
          </p:cNvSpPr>
          <p:nvPr/>
        </p:nvSpPr>
        <p:spPr bwMode="auto">
          <a:xfrm>
            <a:off x="337567" y="1022648"/>
            <a:ext cx="8458200" cy="0"/>
          </a:xfrm>
          <a:prstGeom prst="line">
            <a:avLst/>
          </a:prstGeom>
          <a:noFill/>
          <a:ln w="28575">
            <a:solidFill>
              <a:srgbClr val="3366CC"/>
            </a:solidFill>
            <a:round/>
            <a:headEnd/>
            <a:tailEnd/>
          </a:ln>
        </p:spPr>
        <p:txBody>
          <a:bodyPr wrap="none" lIns="90000" tIns="46800" rIns="90000" bIns="46800" anchor="ctr">
            <a:spAutoFit/>
          </a:bodyPr>
          <a:lstStyle/>
          <a:p>
            <a:endParaRPr lang="it-IT"/>
          </a:p>
        </p:txBody>
      </p:sp>
    </p:spTree>
    <p:extLst>
      <p:ext uri="{BB962C8B-B14F-4D97-AF65-F5344CB8AC3E}">
        <p14:creationId xmlns:p14="http://schemas.microsoft.com/office/powerpoint/2010/main" val="31795987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2098" name="Picture 2"/>
          <p:cNvPicPr>
            <a:picLocks noChangeAspect="1" noChangeArrowheads="1"/>
          </p:cNvPicPr>
          <p:nvPr/>
        </p:nvPicPr>
        <p:blipFill>
          <a:blip r:embed="rId3" cstate="print"/>
          <a:srcRect/>
          <a:stretch>
            <a:fillRect/>
          </a:stretch>
        </p:blipFill>
        <p:spPr bwMode="auto">
          <a:xfrm>
            <a:off x="852488" y="1381438"/>
            <a:ext cx="7439025" cy="4905375"/>
          </a:xfrm>
          <a:prstGeom prst="rect">
            <a:avLst/>
          </a:prstGeom>
          <a:noFill/>
          <a:ln w="9525">
            <a:noFill/>
            <a:miter lim="800000"/>
            <a:headEnd/>
            <a:tailEnd/>
          </a:ln>
        </p:spPr>
      </p:pic>
      <p:sp>
        <p:nvSpPr>
          <p:cNvPr id="4" name="Rectangle 5"/>
          <p:cNvSpPr>
            <a:spLocks noChangeArrowheads="1"/>
          </p:cNvSpPr>
          <p:nvPr/>
        </p:nvSpPr>
        <p:spPr bwMode="auto">
          <a:xfrm>
            <a:off x="683568" y="116632"/>
            <a:ext cx="7848600" cy="762000"/>
          </a:xfrm>
          <a:prstGeom prst="rect">
            <a:avLst/>
          </a:prstGeom>
          <a:noFill/>
          <a:ln w="9525">
            <a:noFill/>
            <a:miter lim="800000"/>
            <a:headEnd/>
            <a:tailEnd/>
          </a:ln>
          <a:effectLst/>
        </p:spPr>
        <p:txBody>
          <a:bodyPr anchor="ctr"/>
          <a:lstStyle/>
          <a:p>
            <a:pPr algn="ctr">
              <a:defRPr/>
            </a:pPr>
            <a:r>
              <a:rPr lang="en-US" sz="3200" b="1" dirty="0">
                <a:solidFill>
                  <a:srgbClr val="3366CC"/>
                </a:solidFill>
                <a:effectLst>
                  <a:outerShdw blurRad="38100" dist="38100" dir="2700000" algn="tl">
                    <a:srgbClr val="C0C0C0"/>
                  </a:outerShdw>
                </a:effectLst>
                <a:latin typeface="Helvetica" pitchFamily="34" charset="0"/>
              </a:rPr>
              <a:t>Nova  General interaction scheme</a:t>
            </a:r>
            <a:endParaRPr lang="it-IT" sz="3200" b="1" dirty="0">
              <a:latin typeface="Helvetica" pitchFamily="34" charset="0"/>
            </a:endParaRPr>
          </a:p>
        </p:txBody>
      </p:sp>
      <p:sp>
        <p:nvSpPr>
          <p:cNvPr id="5" name="Line 6"/>
          <p:cNvSpPr>
            <a:spLocks noChangeShapeType="1"/>
          </p:cNvSpPr>
          <p:nvPr/>
        </p:nvSpPr>
        <p:spPr bwMode="auto">
          <a:xfrm>
            <a:off x="378768" y="878632"/>
            <a:ext cx="8458200" cy="0"/>
          </a:xfrm>
          <a:prstGeom prst="line">
            <a:avLst/>
          </a:prstGeom>
          <a:noFill/>
          <a:ln w="28575">
            <a:solidFill>
              <a:srgbClr val="3366CC"/>
            </a:solidFill>
            <a:round/>
            <a:headEnd/>
            <a:tailEnd/>
          </a:ln>
        </p:spPr>
        <p:txBody>
          <a:bodyPr wrap="none" lIns="90000" tIns="46800" rIns="90000" bIns="46800" anchor="ctr">
            <a:spAutoFit/>
          </a:bodyPr>
          <a:lstStyle/>
          <a:p>
            <a:endParaRPr lang="it-IT"/>
          </a:p>
        </p:txBody>
      </p:sp>
    </p:spTree>
    <p:extLst>
      <p:ext uri="{BB962C8B-B14F-4D97-AF65-F5344CB8AC3E}">
        <p14:creationId xmlns:p14="http://schemas.microsoft.com/office/powerpoint/2010/main" val="2124381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4294967295"/>
          </p:nvPr>
        </p:nvSpPr>
        <p:spPr>
          <a:xfrm>
            <a:off x="685800" y="1268413"/>
            <a:ext cx="8458200" cy="4525962"/>
          </a:xfrm>
        </p:spPr>
        <p:txBody>
          <a:bodyPr/>
          <a:lstStyle/>
          <a:p>
            <a:pPr marL="0" indent="0">
              <a:buNone/>
            </a:pPr>
            <a:r>
              <a:rPr lang="en-US" sz="2800" b="1" dirty="0">
                <a:latin typeface="Arial" panose="020B0604020202020204" pitchFamily="34" charset="0"/>
                <a:cs typeface="Arial" panose="020B0604020202020204" pitchFamily="34" charset="0"/>
              </a:rPr>
              <a:t>Swift allows to store and recover files </a:t>
            </a:r>
          </a:p>
          <a:p>
            <a:r>
              <a:rPr lang="en-US" sz="2600" dirty="0">
                <a:latin typeface="Arial" panose="020B0604020202020204" pitchFamily="34" charset="0"/>
                <a:cs typeface="Arial" panose="020B0604020202020204" pitchFamily="34" charset="0"/>
              </a:rPr>
              <a:t>Provides a </a:t>
            </a:r>
            <a:r>
              <a:rPr lang="en-US" sz="2600" b="1" dirty="0">
                <a:solidFill>
                  <a:srgbClr val="FF0000"/>
                </a:solidFill>
                <a:latin typeface="Arial" panose="020B0604020202020204" pitchFamily="34" charset="0"/>
                <a:cs typeface="Arial" panose="020B0604020202020204" pitchFamily="34" charset="0"/>
              </a:rPr>
              <a:t>completely distributed storage </a:t>
            </a:r>
            <a:r>
              <a:rPr lang="en-US" sz="2600" dirty="0">
                <a:latin typeface="Arial" panose="020B0604020202020204" pitchFamily="34" charset="0"/>
                <a:cs typeface="Arial" panose="020B0604020202020204" pitchFamily="34" charset="0"/>
              </a:rPr>
              <a:t>platform that can be accessed by APIs and integrated inside applications or used to store and backup data</a:t>
            </a:r>
          </a:p>
          <a:p>
            <a:r>
              <a:rPr lang="en-US" sz="2600" b="1" dirty="0">
                <a:solidFill>
                  <a:srgbClr val="FF0000"/>
                </a:solidFill>
                <a:latin typeface="Arial" panose="020B0604020202020204" pitchFamily="34" charset="0"/>
                <a:cs typeface="Arial" panose="020B0604020202020204" pitchFamily="34" charset="0"/>
              </a:rPr>
              <a:t>It is not</a:t>
            </a:r>
            <a:r>
              <a:rPr lang="en-US" sz="2600" b="1" dirty="0">
                <a:latin typeface="Arial" panose="020B0604020202020204" pitchFamily="34" charset="0"/>
                <a:cs typeface="Arial" panose="020B0604020202020204" pitchFamily="34" charset="0"/>
              </a:rPr>
              <a:t> </a:t>
            </a:r>
            <a:r>
              <a:rPr lang="en-US" sz="2600" dirty="0">
                <a:latin typeface="Arial" panose="020B0604020202020204" pitchFamily="34" charset="0"/>
                <a:cs typeface="Arial" panose="020B0604020202020204" pitchFamily="34" charset="0"/>
              </a:rPr>
              <a:t>a </a:t>
            </a:r>
            <a:r>
              <a:rPr lang="en-US" sz="2600" b="1" dirty="0">
                <a:solidFill>
                  <a:srgbClr val="FF0000"/>
                </a:solidFill>
                <a:latin typeface="Arial" panose="020B0604020202020204" pitchFamily="34" charset="0"/>
                <a:cs typeface="Arial" panose="020B0604020202020204" pitchFamily="34" charset="0"/>
              </a:rPr>
              <a:t>traditional </a:t>
            </a:r>
            <a:r>
              <a:rPr lang="en-US" sz="2600" b="1" dirty="0" err="1">
                <a:solidFill>
                  <a:srgbClr val="FF0000"/>
                </a:solidFill>
                <a:latin typeface="Arial" panose="020B0604020202020204" pitchFamily="34" charset="0"/>
                <a:cs typeface="Arial" panose="020B0604020202020204" pitchFamily="34" charset="0"/>
              </a:rPr>
              <a:t>filesystem</a:t>
            </a:r>
            <a:r>
              <a:rPr lang="en-US" sz="2600" dirty="0">
                <a:latin typeface="Arial" panose="020B0604020202020204" pitchFamily="34" charset="0"/>
                <a:cs typeface="Arial" panose="020B0604020202020204" pitchFamily="34" charset="0"/>
              </a:rPr>
              <a:t>, but rather a distributed storage system for static data such as </a:t>
            </a:r>
            <a:r>
              <a:rPr lang="en-US" sz="2600" b="1" dirty="0">
                <a:latin typeface="Arial" panose="020B0604020202020204" pitchFamily="34" charset="0"/>
                <a:cs typeface="Arial" panose="020B0604020202020204" pitchFamily="34" charset="0"/>
              </a:rPr>
              <a:t>virtual machine images</a:t>
            </a:r>
            <a:r>
              <a:rPr lang="en-US" sz="2600" dirty="0">
                <a:latin typeface="Arial" panose="020B0604020202020204" pitchFamily="34" charset="0"/>
                <a:cs typeface="Arial" panose="020B0604020202020204" pitchFamily="34" charset="0"/>
              </a:rPr>
              <a:t>, photo storage, email storage, backups and archives</a:t>
            </a:r>
          </a:p>
          <a:p>
            <a:r>
              <a:rPr lang="en-US" sz="2600" dirty="0">
                <a:latin typeface="Arial" panose="020B0604020202020204" pitchFamily="34" charset="0"/>
                <a:cs typeface="Arial" panose="020B0604020202020204" pitchFamily="34" charset="0"/>
              </a:rPr>
              <a:t>It doesn’t have a central point of control, thus providing properties like </a:t>
            </a:r>
            <a:r>
              <a:rPr lang="en-US" sz="2600" b="1" dirty="0">
                <a:solidFill>
                  <a:srgbClr val="FF0000"/>
                </a:solidFill>
                <a:latin typeface="Arial" panose="020B0604020202020204" pitchFamily="34" charset="0"/>
                <a:cs typeface="Arial" panose="020B0604020202020204" pitchFamily="34" charset="0"/>
              </a:rPr>
              <a:t>scalability</a:t>
            </a:r>
            <a:r>
              <a:rPr lang="en-US" sz="2600" dirty="0">
                <a:latin typeface="Arial" panose="020B0604020202020204" pitchFamily="34" charset="0"/>
                <a:cs typeface="Arial" panose="020B0604020202020204" pitchFamily="34" charset="0"/>
              </a:rPr>
              <a:t>, </a:t>
            </a:r>
            <a:r>
              <a:rPr lang="en-US" sz="2600" b="1" dirty="0">
                <a:solidFill>
                  <a:srgbClr val="FF0000"/>
                </a:solidFill>
                <a:latin typeface="Arial" panose="020B0604020202020204" pitchFamily="34" charset="0"/>
                <a:cs typeface="Arial" panose="020B0604020202020204" pitchFamily="34" charset="0"/>
              </a:rPr>
              <a:t>redundancy</a:t>
            </a:r>
            <a:r>
              <a:rPr lang="en-US" sz="2600" dirty="0">
                <a:latin typeface="Arial" panose="020B0604020202020204" pitchFamily="34" charset="0"/>
                <a:cs typeface="Arial" panose="020B0604020202020204" pitchFamily="34" charset="0"/>
              </a:rPr>
              <a:t>, and </a:t>
            </a:r>
            <a:r>
              <a:rPr lang="en-US" sz="2600" b="1" dirty="0">
                <a:solidFill>
                  <a:srgbClr val="FF0000"/>
                </a:solidFill>
                <a:latin typeface="Arial" panose="020B0604020202020204" pitchFamily="34" charset="0"/>
                <a:cs typeface="Arial" panose="020B0604020202020204" pitchFamily="34" charset="0"/>
              </a:rPr>
              <a:t>durability</a:t>
            </a:r>
            <a:endParaRPr lang="en-US" dirty="0">
              <a:latin typeface="Arial" panose="020B0604020202020204" pitchFamily="34" charset="0"/>
              <a:cs typeface="Arial" panose="020B0604020202020204" pitchFamily="34" charset="0"/>
            </a:endParaRPr>
          </a:p>
          <a:p>
            <a:endParaRPr lang="it-IT" dirty="0">
              <a:latin typeface="Arial" panose="020B0604020202020204" pitchFamily="34" charset="0"/>
              <a:cs typeface="Arial" panose="020B0604020202020204" pitchFamily="34" charset="0"/>
            </a:endParaRPr>
          </a:p>
        </p:txBody>
      </p:sp>
      <p:sp>
        <p:nvSpPr>
          <p:cNvPr id="4" name="Rectangle 5"/>
          <p:cNvSpPr>
            <a:spLocks noChangeArrowheads="1"/>
          </p:cNvSpPr>
          <p:nvPr/>
        </p:nvSpPr>
        <p:spPr bwMode="auto">
          <a:xfrm>
            <a:off x="683568" y="332656"/>
            <a:ext cx="7848600" cy="762000"/>
          </a:xfrm>
          <a:prstGeom prst="rect">
            <a:avLst/>
          </a:prstGeom>
          <a:noFill/>
          <a:ln w="9525">
            <a:noFill/>
            <a:miter lim="800000"/>
            <a:headEnd/>
            <a:tailEnd/>
          </a:ln>
          <a:effectLst/>
        </p:spPr>
        <p:txBody>
          <a:bodyPr anchor="ctr"/>
          <a:lstStyle/>
          <a:p>
            <a:pPr algn="ctr">
              <a:defRPr/>
            </a:pPr>
            <a:r>
              <a:rPr lang="en-US" sz="3200" b="1" dirty="0">
                <a:solidFill>
                  <a:srgbClr val="3366CC"/>
                </a:solidFill>
                <a:effectLst>
                  <a:outerShdw blurRad="38100" dist="38100" dir="2700000" algn="tl">
                    <a:srgbClr val="C0C0C0"/>
                  </a:outerShdw>
                </a:effectLst>
                <a:latin typeface="Helvetica" pitchFamily="34" charset="0"/>
              </a:rPr>
              <a:t>Swift – Object Storage</a:t>
            </a:r>
            <a:endParaRPr lang="it-IT" sz="3200" b="1" dirty="0">
              <a:latin typeface="Helvetica" pitchFamily="34" charset="0"/>
            </a:endParaRPr>
          </a:p>
        </p:txBody>
      </p:sp>
      <p:sp>
        <p:nvSpPr>
          <p:cNvPr id="5" name="Line 6"/>
          <p:cNvSpPr>
            <a:spLocks noChangeShapeType="1"/>
          </p:cNvSpPr>
          <p:nvPr/>
        </p:nvSpPr>
        <p:spPr bwMode="auto">
          <a:xfrm>
            <a:off x="378768" y="1166664"/>
            <a:ext cx="8458200" cy="0"/>
          </a:xfrm>
          <a:prstGeom prst="line">
            <a:avLst/>
          </a:prstGeom>
          <a:noFill/>
          <a:ln w="28575">
            <a:solidFill>
              <a:srgbClr val="3366CC"/>
            </a:solidFill>
            <a:round/>
            <a:headEnd/>
            <a:tailEnd/>
          </a:ln>
        </p:spPr>
        <p:txBody>
          <a:bodyPr wrap="none" lIns="90000" tIns="46800" rIns="90000" bIns="46800" anchor="ctr">
            <a:spAutoFit/>
          </a:bodyPr>
          <a:lstStyle/>
          <a:p>
            <a:endParaRPr lang="it-IT"/>
          </a:p>
        </p:txBody>
      </p:sp>
    </p:spTree>
    <p:extLst>
      <p:ext uri="{BB962C8B-B14F-4D97-AF65-F5344CB8AC3E}">
        <p14:creationId xmlns:p14="http://schemas.microsoft.com/office/powerpoint/2010/main" val="1098331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4294967295"/>
          </p:nvPr>
        </p:nvSpPr>
        <p:spPr>
          <a:xfrm>
            <a:off x="0" y="1152525"/>
            <a:ext cx="5561013" cy="5372100"/>
          </a:xfrm>
        </p:spPr>
        <p:txBody>
          <a:bodyPr/>
          <a:lstStyle/>
          <a:p>
            <a:r>
              <a:rPr lang="en-US" sz="2600" b="1" dirty="0">
                <a:solidFill>
                  <a:srgbClr val="FF0000"/>
                </a:solidFill>
                <a:latin typeface="Arial" panose="020B0604020202020204" pitchFamily="34" charset="0"/>
                <a:cs typeface="Arial" panose="020B0604020202020204" pitchFamily="34" charset="0"/>
              </a:rPr>
              <a:t>Proxy Server</a:t>
            </a:r>
            <a:r>
              <a:rPr lang="en-US" sz="2600" b="1" dirty="0">
                <a:latin typeface="Arial" panose="020B0604020202020204" pitchFamily="34" charset="0"/>
                <a:cs typeface="Arial" panose="020B0604020202020204" pitchFamily="34" charset="0"/>
              </a:rPr>
              <a:t>: </a:t>
            </a:r>
            <a:r>
              <a:rPr lang="en-US" sz="2600" dirty="0">
                <a:latin typeface="Arial" panose="020B0604020202020204" pitchFamily="34" charset="0"/>
                <a:cs typeface="Arial" panose="020B0604020202020204" pitchFamily="34" charset="0"/>
              </a:rPr>
              <a:t>handles incoming requests such as files to upload, modifications to metadata or container creation </a:t>
            </a:r>
          </a:p>
          <a:p>
            <a:r>
              <a:rPr lang="en-US" sz="2600" b="1" dirty="0">
                <a:solidFill>
                  <a:srgbClr val="FF0000"/>
                </a:solidFill>
                <a:latin typeface="Arial" panose="020B0604020202020204" pitchFamily="34" charset="0"/>
                <a:cs typeface="Arial" panose="020B0604020202020204" pitchFamily="34" charset="0"/>
              </a:rPr>
              <a:t>Accounts server</a:t>
            </a:r>
            <a:r>
              <a:rPr lang="en-US" sz="2600" b="1" dirty="0">
                <a:latin typeface="Arial" panose="020B0604020202020204" pitchFamily="34" charset="0"/>
                <a:cs typeface="Arial" panose="020B0604020202020204" pitchFamily="34" charset="0"/>
              </a:rPr>
              <a:t>: </a:t>
            </a:r>
            <a:r>
              <a:rPr lang="en-US" sz="2600" dirty="0">
                <a:latin typeface="Arial" panose="020B0604020202020204" pitchFamily="34" charset="0"/>
                <a:cs typeface="Arial" panose="020B0604020202020204" pitchFamily="34" charset="0"/>
              </a:rPr>
              <a:t>manages accounts defined through the object storage service</a:t>
            </a:r>
          </a:p>
          <a:p>
            <a:r>
              <a:rPr lang="en-US" sz="2600" b="1" dirty="0">
                <a:solidFill>
                  <a:srgbClr val="FF0000"/>
                </a:solidFill>
                <a:latin typeface="Arial" panose="020B0604020202020204" pitchFamily="34" charset="0"/>
                <a:cs typeface="Arial" panose="020B0604020202020204" pitchFamily="34" charset="0"/>
              </a:rPr>
              <a:t>Container server</a:t>
            </a:r>
            <a:r>
              <a:rPr lang="en-US" sz="2600" b="1" dirty="0">
                <a:latin typeface="Arial" panose="020B0604020202020204" pitchFamily="34" charset="0"/>
                <a:cs typeface="Arial" panose="020B0604020202020204" pitchFamily="34" charset="0"/>
              </a:rPr>
              <a:t>: </a:t>
            </a:r>
            <a:r>
              <a:rPr lang="en-US" sz="2600" dirty="0">
                <a:latin typeface="Arial" panose="020B0604020202020204" pitchFamily="34" charset="0"/>
                <a:cs typeface="Arial" panose="020B0604020202020204" pitchFamily="34" charset="0"/>
              </a:rPr>
              <a:t>maps containers inside the object storage service</a:t>
            </a:r>
          </a:p>
          <a:p>
            <a:r>
              <a:rPr lang="en-US" sz="2600" b="1" dirty="0">
                <a:solidFill>
                  <a:srgbClr val="FF0000"/>
                </a:solidFill>
                <a:latin typeface="Arial" panose="020B0604020202020204" pitchFamily="34" charset="0"/>
                <a:cs typeface="Arial" panose="020B0604020202020204" pitchFamily="34" charset="0"/>
              </a:rPr>
              <a:t>Object server</a:t>
            </a:r>
            <a:r>
              <a:rPr lang="en-US" sz="2600" b="1" dirty="0">
                <a:latin typeface="Arial" panose="020B0604020202020204" pitchFamily="34" charset="0"/>
                <a:cs typeface="Arial" panose="020B0604020202020204" pitchFamily="34" charset="0"/>
              </a:rPr>
              <a:t>: </a:t>
            </a:r>
            <a:r>
              <a:rPr lang="en-US" sz="2600" dirty="0">
                <a:latin typeface="Arial" panose="020B0604020202020204" pitchFamily="34" charset="0"/>
                <a:cs typeface="Arial" panose="020B0604020202020204" pitchFamily="34" charset="0"/>
              </a:rPr>
              <a:t>manages files that are stored on various storage nodes</a:t>
            </a:r>
            <a:endParaRPr lang="en-US" sz="2600" b="1"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pic>
        <p:nvPicPr>
          <p:cNvPr id="121860" name="Picture 4" descr="http://ilearnstack.files.wordpress.com/2013/04/object-store.png"/>
          <p:cNvPicPr>
            <a:picLocks noChangeAspect="1" noChangeArrowheads="1"/>
          </p:cNvPicPr>
          <p:nvPr/>
        </p:nvPicPr>
        <p:blipFill>
          <a:blip r:embed="rId3" cstate="print"/>
          <a:srcRect l="2397" r="-1293"/>
          <a:stretch>
            <a:fillRect/>
          </a:stretch>
        </p:blipFill>
        <p:spPr bwMode="auto">
          <a:xfrm>
            <a:off x="5602147" y="1303599"/>
            <a:ext cx="3541853" cy="5000625"/>
          </a:xfrm>
          <a:prstGeom prst="rect">
            <a:avLst/>
          </a:prstGeom>
          <a:noFill/>
        </p:spPr>
      </p:pic>
      <p:sp>
        <p:nvSpPr>
          <p:cNvPr id="5" name="Rectangle 5"/>
          <p:cNvSpPr>
            <a:spLocks noChangeArrowheads="1"/>
          </p:cNvSpPr>
          <p:nvPr/>
        </p:nvSpPr>
        <p:spPr bwMode="auto">
          <a:xfrm>
            <a:off x="683568" y="116632"/>
            <a:ext cx="7848600" cy="762000"/>
          </a:xfrm>
          <a:prstGeom prst="rect">
            <a:avLst/>
          </a:prstGeom>
          <a:noFill/>
          <a:ln w="9525">
            <a:noFill/>
            <a:miter lim="800000"/>
            <a:headEnd/>
            <a:tailEnd/>
          </a:ln>
          <a:effectLst/>
        </p:spPr>
        <p:txBody>
          <a:bodyPr anchor="ctr"/>
          <a:lstStyle/>
          <a:p>
            <a:pPr algn="ctr">
              <a:defRPr/>
            </a:pPr>
            <a:r>
              <a:rPr lang="en-US" sz="3200" b="1" dirty="0">
                <a:solidFill>
                  <a:srgbClr val="3366CC"/>
                </a:solidFill>
                <a:effectLst>
                  <a:outerShdw blurRad="38100" dist="38100" dir="2700000" algn="tl">
                    <a:srgbClr val="C0C0C0"/>
                  </a:outerShdw>
                </a:effectLst>
                <a:latin typeface="Helvetica" pitchFamily="34" charset="0"/>
              </a:rPr>
              <a:t>Swift - Components</a:t>
            </a:r>
            <a:endParaRPr lang="it-IT" sz="3200" b="1" dirty="0">
              <a:latin typeface="Helvetica" pitchFamily="34" charset="0"/>
            </a:endParaRPr>
          </a:p>
        </p:txBody>
      </p:sp>
      <p:sp>
        <p:nvSpPr>
          <p:cNvPr id="6" name="Line 6"/>
          <p:cNvSpPr>
            <a:spLocks noChangeShapeType="1"/>
          </p:cNvSpPr>
          <p:nvPr/>
        </p:nvSpPr>
        <p:spPr bwMode="auto">
          <a:xfrm>
            <a:off x="378768" y="1052736"/>
            <a:ext cx="8458200" cy="0"/>
          </a:xfrm>
          <a:prstGeom prst="line">
            <a:avLst/>
          </a:prstGeom>
          <a:noFill/>
          <a:ln w="28575">
            <a:solidFill>
              <a:srgbClr val="3366CC"/>
            </a:solidFill>
            <a:round/>
            <a:headEnd/>
            <a:tailEnd/>
          </a:ln>
        </p:spPr>
        <p:txBody>
          <a:bodyPr wrap="none" lIns="90000" tIns="46800" rIns="90000" bIns="46800" anchor="ctr">
            <a:spAutoFit/>
          </a:bodyPr>
          <a:lstStyle/>
          <a:p>
            <a:endParaRPr lang="it-IT"/>
          </a:p>
        </p:txBody>
      </p:sp>
    </p:spTree>
    <p:extLst>
      <p:ext uri="{BB962C8B-B14F-4D97-AF65-F5344CB8AC3E}">
        <p14:creationId xmlns:p14="http://schemas.microsoft.com/office/powerpoint/2010/main" val="41786709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4294967295"/>
          </p:nvPr>
        </p:nvSpPr>
        <p:spPr>
          <a:xfrm>
            <a:off x="179512" y="1196975"/>
            <a:ext cx="8964488" cy="4895850"/>
          </a:xfrm>
        </p:spPr>
        <p:txBody>
          <a:bodyPr/>
          <a:lstStyle/>
          <a:p>
            <a:pPr marL="0" indent="0">
              <a:buNone/>
            </a:pPr>
            <a:r>
              <a:rPr lang="en-US" sz="2800" dirty="0">
                <a:latin typeface="Arial" panose="020B0604020202020204" pitchFamily="34" charset="0"/>
                <a:cs typeface="Arial" panose="020B0604020202020204" pitchFamily="34" charset="0"/>
              </a:rPr>
              <a:t>Cinder handles </a:t>
            </a:r>
            <a:r>
              <a:rPr lang="en-US" sz="2800" b="1" dirty="0">
                <a:solidFill>
                  <a:srgbClr val="FF0000"/>
                </a:solidFill>
                <a:latin typeface="Arial" panose="020B0604020202020204" pitchFamily="34" charset="0"/>
                <a:cs typeface="Arial" panose="020B0604020202020204" pitchFamily="34" charset="0"/>
              </a:rPr>
              <a:t>storage devices </a:t>
            </a:r>
            <a:r>
              <a:rPr lang="en-US" sz="2800" dirty="0">
                <a:latin typeface="Arial" panose="020B0604020202020204" pitchFamily="34" charset="0"/>
                <a:cs typeface="Arial" panose="020B0604020202020204" pitchFamily="34" charset="0"/>
              </a:rPr>
              <a:t>that can be attached to </a:t>
            </a:r>
            <a:r>
              <a:rPr lang="en-US" sz="2800" b="1" dirty="0">
                <a:latin typeface="Arial" panose="020B0604020202020204" pitchFamily="34" charset="0"/>
                <a:cs typeface="Arial" panose="020B0604020202020204" pitchFamily="34" charset="0"/>
              </a:rPr>
              <a:t>VM instances</a:t>
            </a:r>
          </a:p>
          <a:p>
            <a:r>
              <a:rPr lang="en-US" sz="2600" dirty="0">
                <a:latin typeface="Arial" panose="020B0604020202020204" pitchFamily="34" charset="0"/>
                <a:cs typeface="Arial" panose="020B0604020202020204" pitchFamily="34" charset="0"/>
              </a:rPr>
              <a:t>Handles the </a:t>
            </a:r>
            <a:r>
              <a:rPr lang="en-US" sz="2600" b="1" dirty="0">
                <a:solidFill>
                  <a:srgbClr val="FF0000"/>
                </a:solidFill>
                <a:latin typeface="Arial" panose="020B0604020202020204" pitchFamily="34" charset="0"/>
                <a:cs typeface="Arial" panose="020B0604020202020204" pitchFamily="34" charset="0"/>
              </a:rPr>
              <a:t>creation</a:t>
            </a:r>
            <a:r>
              <a:rPr lang="en-US" sz="2600" dirty="0">
                <a:latin typeface="Arial" panose="020B0604020202020204" pitchFamily="34" charset="0"/>
                <a:cs typeface="Arial" panose="020B0604020202020204" pitchFamily="34" charset="0"/>
              </a:rPr>
              <a:t>, </a:t>
            </a:r>
            <a:r>
              <a:rPr lang="en-US" sz="2600" b="1" dirty="0">
                <a:solidFill>
                  <a:srgbClr val="FF0000"/>
                </a:solidFill>
                <a:latin typeface="Arial" panose="020B0604020202020204" pitchFamily="34" charset="0"/>
                <a:cs typeface="Arial" panose="020B0604020202020204" pitchFamily="34" charset="0"/>
              </a:rPr>
              <a:t>attachment</a:t>
            </a:r>
            <a:r>
              <a:rPr lang="en-US" sz="2600" dirty="0">
                <a:latin typeface="Arial" panose="020B0604020202020204" pitchFamily="34" charset="0"/>
                <a:cs typeface="Arial" panose="020B0604020202020204" pitchFamily="34" charset="0"/>
              </a:rPr>
              <a:t> and </a:t>
            </a:r>
            <a:r>
              <a:rPr lang="en-US" sz="2600" b="1" dirty="0">
                <a:solidFill>
                  <a:srgbClr val="FF0000"/>
                </a:solidFill>
                <a:latin typeface="Arial" panose="020B0604020202020204" pitchFamily="34" charset="0"/>
                <a:cs typeface="Arial" panose="020B0604020202020204" pitchFamily="34" charset="0"/>
              </a:rPr>
              <a:t>detachment</a:t>
            </a:r>
            <a:r>
              <a:rPr lang="en-US" sz="2600" dirty="0">
                <a:latin typeface="Arial" panose="020B0604020202020204" pitchFamily="34" charset="0"/>
                <a:cs typeface="Arial" panose="020B0604020202020204" pitchFamily="34" charset="0"/>
              </a:rPr>
              <a:t> of volumes to/from instances  </a:t>
            </a:r>
          </a:p>
          <a:p>
            <a:r>
              <a:rPr lang="en-US" sz="2600" dirty="0">
                <a:latin typeface="Arial" panose="020B0604020202020204" pitchFamily="34" charset="0"/>
                <a:cs typeface="Arial" panose="020B0604020202020204" pitchFamily="34" charset="0"/>
              </a:rPr>
              <a:t>Supports iSCSI, NFS, </a:t>
            </a:r>
            <a:r>
              <a:rPr lang="en-US" sz="2600" dirty="0" err="1">
                <a:latin typeface="Arial" panose="020B0604020202020204" pitchFamily="34" charset="0"/>
                <a:cs typeface="Arial" panose="020B0604020202020204" pitchFamily="34" charset="0"/>
              </a:rPr>
              <a:t>Fibre</a:t>
            </a:r>
            <a:r>
              <a:rPr lang="en-US" sz="2600" dirty="0">
                <a:latin typeface="Arial" panose="020B0604020202020204" pitchFamily="34" charset="0"/>
                <a:cs typeface="Arial" panose="020B0604020202020204" pitchFamily="34" charset="0"/>
              </a:rPr>
              <a:t> Channel, Replicated Block Device (RBD), </a:t>
            </a:r>
            <a:r>
              <a:rPr lang="en-US" sz="2600" dirty="0" err="1">
                <a:latin typeface="Arial" panose="020B0604020202020204" pitchFamily="34" charset="0"/>
                <a:cs typeface="Arial" panose="020B0604020202020204" pitchFamily="34" charset="0"/>
              </a:rPr>
              <a:t>GlusterFS</a:t>
            </a:r>
            <a:r>
              <a:rPr lang="en-US" sz="2600" dirty="0">
                <a:latin typeface="Arial" panose="020B0604020202020204" pitchFamily="34" charset="0"/>
                <a:cs typeface="Arial" panose="020B0604020202020204" pitchFamily="34" charset="0"/>
              </a:rPr>
              <a:t> (cluster file storage) protocols</a:t>
            </a:r>
          </a:p>
          <a:p>
            <a:r>
              <a:rPr lang="en-US" sz="2600" dirty="0">
                <a:latin typeface="Arial" panose="020B0604020202020204" pitchFamily="34" charset="0"/>
                <a:cs typeface="Arial" panose="020B0604020202020204" pitchFamily="34" charset="0"/>
              </a:rPr>
              <a:t>Supports several storage platforms like </a:t>
            </a:r>
            <a:r>
              <a:rPr lang="en-US" sz="2600" dirty="0" err="1">
                <a:latin typeface="Arial" panose="020B0604020202020204" pitchFamily="34" charset="0"/>
                <a:cs typeface="Arial" panose="020B0604020202020204" pitchFamily="34" charset="0"/>
              </a:rPr>
              <a:t>Ceph</a:t>
            </a:r>
            <a:r>
              <a:rPr lang="en-US" sz="2600" dirty="0">
                <a:latin typeface="Arial" panose="020B0604020202020204" pitchFamily="34" charset="0"/>
                <a:cs typeface="Arial" panose="020B0604020202020204" pitchFamily="34" charset="0"/>
              </a:rPr>
              <a:t>, NetApp, </a:t>
            </a:r>
            <a:r>
              <a:rPr lang="en-US" sz="2600" dirty="0" err="1">
                <a:latin typeface="Arial" panose="020B0604020202020204" pitchFamily="34" charset="0"/>
                <a:cs typeface="Arial" panose="020B0604020202020204" pitchFamily="34" charset="0"/>
              </a:rPr>
              <a:t>Nexenta</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SolidFire</a:t>
            </a:r>
            <a:r>
              <a:rPr lang="en-US" sz="2600" dirty="0">
                <a:latin typeface="Arial" panose="020B0604020202020204" pitchFamily="34" charset="0"/>
                <a:cs typeface="Arial" panose="020B0604020202020204" pitchFamily="34" charset="0"/>
              </a:rPr>
              <a:t>, and </a:t>
            </a:r>
            <a:r>
              <a:rPr lang="en-US" sz="2600" dirty="0" err="1">
                <a:latin typeface="Arial" panose="020B0604020202020204" pitchFamily="34" charset="0"/>
                <a:cs typeface="Arial" panose="020B0604020202020204" pitchFamily="34" charset="0"/>
              </a:rPr>
              <a:t>Zadara</a:t>
            </a:r>
            <a:endParaRPr lang="en-US" sz="2600" dirty="0">
              <a:latin typeface="Arial" panose="020B0604020202020204" pitchFamily="34" charset="0"/>
              <a:cs typeface="Arial" panose="020B0604020202020204" pitchFamily="34" charset="0"/>
            </a:endParaRPr>
          </a:p>
          <a:p>
            <a:r>
              <a:rPr lang="en-US" sz="2600" dirty="0">
                <a:latin typeface="Arial" panose="020B0604020202020204" pitchFamily="34" charset="0"/>
                <a:cs typeface="Arial" panose="020B0604020202020204" pitchFamily="34" charset="0"/>
              </a:rPr>
              <a:t>Allows to </a:t>
            </a:r>
            <a:r>
              <a:rPr lang="en-US" sz="2600" b="1" dirty="0">
                <a:solidFill>
                  <a:srgbClr val="FF0000"/>
                </a:solidFill>
                <a:latin typeface="Arial" panose="020B0604020202020204" pitchFamily="34" charset="0"/>
                <a:cs typeface="Arial" panose="020B0604020202020204" pitchFamily="34" charset="0"/>
              </a:rPr>
              <a:t>create snapshots </a:t>
            </a:r>
            <a:r>
              <a:rPr lang="en-US" sz="2600" dirty="0">
                <a:latin typeface="Arial" panose="020B0604020202020204" pitchFamily="34" charset="0"/>
                <a:cs typeface="Arial" panose="020B0604020202020204" pitchFamily="34" charset="0"/>
              </a:rPr>
              <a:t>to backup data stored in volumes. Snapshots can be restored or used to create a new volume</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4" name="Rectangle 5"/>
          <p:cNvSpPr>
            <a:spLocks noChangeArrowheads="1"/>
          </p:cNvSpPr>
          <p:nvPr/>
        </p:nvSpPr>
        <p:spPr bwMode="auto">
          <a:xfrm>
            <a:off x="683568" y="116632"/>
            <a:ext cx="7848600" cy="762000"/>
          </a:xfrm>
          <a:prstGeom prst="rect">
            <a:avLst/>
          </a:prstGeom>
          <a:noFill/>
          <a:ln w="9525">
            <a:noFill/>
            <a:miter lim="800000"/>
            <a:headEnd/>
            <a:tailEnd/>
          </a:ln>
          <a:effectLst/>
        </p:spPr>
        <p:txBody>
          <a:bodyPr anchor="ctr"/>
          <a:lstStyle/>
          <a:p>
            <a:pPr algn="ctr">
              <a:defRPr/>
            </a:pPr>
            <a:r>
              <a:rPr lang="en-US" sz="3200" b="1" dirty="0">
                <a:solidFill>
                  <a:srgbClr val="3366CC"/>
                </a:solidFill>
                <a:effectLst>
                  <a:outerShdw blurRad="38100" dist="38100" dir="2700000" algn="tl">
                    <a:srgbClr val="C0C0C0"/>
                  </a:outerShdw>
                </a:effectLst>
                <a:latin typeface="Helvetica" pitchFamily="34" charset="0"/>
              </a:rPr>
              <a:t>Cinder – Block Storage</a:t>
            </a:r>
            <a:endParaRPr lang="it-IT" sz="3200" b="1" dirty="0">
              <a:latin typeface="Helvetica" pitchFamily="34" charset="0"/>
            </a:endParaRPr>
          </a:p>
        </p:txBody>
      </p:sp>
      <p:sp>
        <p:nvSpPr>
          <p:cNvPr id="5" name="Line 6"/>
          <p:cNvSpPr>
            <a:spLocks noChangeShapeType="1"/>
          </p:cNvSpPr>
          <p:nvPr/>
        </p:nvSpPr>
        <p:spPr bwMode="auto">
          <a:xfrm>
            <a:off x="378768" y="980728"/>
            <a:ext cx="8458200" cy="0"/>
          </a:xfrm>
          <a:prstGeom prst="line">
            <a:avLst/>
          </a:prstGeom>
          <a:noFill/>
          <a:ln w="28575">
            <a:solidFill>
              <a:srgbClr val="3366CC"/>
            </a:solidFill>
            <a:round/>
            <a:headEnd/>
            <a:tailEnd/>
          </a:ln>
        </p:spPr>
        <p:txBody>
          <a:bodyPr wrap="none" lIns="90000" tIns="46800" rIns="90000" bIns="46800" anchor="ctr">
            <a:spAutoFit/>
          </a:bodyPr>
          <a:lstStyle/>
          <a:p>
            <a:endParaRPr lang="it-IT"/>
          </a:p>
        </p:txBody>
      </p:sp>
    </p:spTree>
    <p:extLst>
      <p:ext uri="{BB962C8B-B14F-4D97-AF65-F5344CB8AC3E}">
        <p14:creationId xmlns:p14="http://schemas.microsoft.com/office/powerpoint/2010/main" val="14704015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4294967295"/>
          </p:nvPr>
        </p:nvSpPr>
        <p:spPr>
          <a:xfrm>
            <a:off x="0" y="1125538"/>
            <a:ext cx="5561013" cy="4787900"/>
          </a:xfrm>
        </p:spPr>
        <p:txBody>
          <a:bodyPr/>
          <a:lstStyle/>
          <a:p>
            <a:r>
              <a:rPr lang="en-US" sz="2400" b="1" dirty="0">
                <a:solidFill>
                  <a:srgbClr val="FF0000"/>
                </a:solidFill>
                <a:latin typeface="Arial" panose="020B0604020202020204" pitchFamily="34" charset="0"/>
                <a:cs typeface="Arial" panose="020B0604020202020204" pitchFamily="34" charset="0"/>
              </a:rPr>
              <a:t>cinder-API</a:t>
            </a:r>
            <a:r>
              <a:rPr lang="en-US" sz="2400" b="1"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accepts user requests and redirects them to cinder-volume in order to  be processed</a:t>
            </a:r>
          </a:p>
          <a:p>
            <a:r>
              <a:rPr lang="en-US" sz="2400" b="1" dirty="0">
                <a:solidFill>
                  <a:srgbClr val="FF0000"/>
                </a:solidFill>
                <a:latin typeface="Arial" panose="020B0604020202020204" pitchFamily="34" charset="0"/>
                <a:cs typeface="Arial" panose="020B0604020202020204" pitchFamily="34" charset="0"/>
              </a:rPr>
              <a:t>cinder-volume</a:t>
            </a:r>
            <a:r>
              <a:rPr lang="en-US" sz="2400" b="1"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handles requests by reading/writing from/to cinder database, in order to maintain the system in a consistent state</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 Interacts with the other components through a message queue </a:t>
            </a:r>
          </a:p>
          <a:p>
            <a:r>
              <a:rPr lang="en-US" sz="2400" b="1" dirty="0">
                <a:solidFill>
                  <a:srgbClr val="FF0000"/>
                </a:solidFill>
                <a:latin typeface="Arial" panose="020B0604020202020204" pitchFamily="34" charset="0"/>
                <a:cs typeface="Arial" panose="020B0604020202020204" pitchFamily="34" charset="0"/>
              </a:rPr>
              <a:t>cinder-scheduler</a:t>
            </a:r>
            <a:r>
              <a:rPr lang="en-US" sz="2400" b="1"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selects the best storage device where to create the volume</a:t>
            </a:r>
          </a:p>
          <a:p>
            <a:r>
              <a:rPr lang="en-US" sz="2400" b="1" dirty="0">
                <a:solidFill>
                  <a:srgbClr val="FF0000"/>
                </a:solidFill>
                <a:latin typeface="Arial" panose="020B0604020202020204" pitchFamily="34" charset="0"/>
                <a:cs typeface="Arial" panose="020B0604020202020204" pitchFamily="34" charset="0"/>
              </a:rPr>
              <a:t>cinder database</a:t>
            </a:r>
            <a:r>
              <a:rPr lang="en-US" sz="2400" b="1"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maintains volumes’ state</a:t>
            </a:r>
            <a:endParaRPr lang="en-US" sz="2400" b="1"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p:txBody>
      </p:sp>
      <p:pic>
        <p:nvPicPr>
          <p:cNvPr id="2052" name="Picture 4" descr="http://ilearnstack.files.wordpress.com/2013/04/cinder.png"/>
          <p:cNvPicPr>
            <a:picLocks noChangeAspect="1" noChangeArrowheads="1"/>
          </p:cNvPicPr>
          <p:nvPr/>
        </p:nvPicPr>
        <p:blipFill>
          <a:blip r:embed="rId3" cstate="print"/>
          <a:srcRect/>
          <a:stretch>
            <a:fillRect/>
          </a:stretch>
        </p:blipFill>
        <p:spPr bwMode="auto">
          <a:xfrm>
            <a:off x="5581016" y="1412240"/>
            <a:ext cx="3562984" cy="4869498"/>
          </a:xfrm>
          <a:prstGeom prst="rect">
            <a:avLst/>
          </a:prstGeom>
          <a:noFill/>
        </p:spPr>
      </p:pic>
      <p:sp>
        <p:nvSpPr>
          <p:cNvPr id="5" name="Rectangle 5"/>
          <p:cNvSpPr>
            <a:spLocks noChangeArrowheads="1"/>
          </p:cNvSpPr>
          <p:nvPr/>
        </p:nvSpPr>
        <p:spPr bwMode="auto">
          <a:xfrm>
            <a:off x="683568" y="116632"/>
            <a:ext cx="7848600" cy="762000"/>
          </a:xfrm>
          <a:prstGeom prst="rect">
            <a:avLst/>
          </a:prstGeom>
          <a:noFill/>
          <a:ln w="9525">
            <a:noFill/>
            <a:miter lim="800000"/>
            <a:headEnd/>
            <a:tailEnd/>
          </a:ln>
          <a:effectLst/>
        </p:spPr>
        <p:txBody>
          <a:bodyPr anchor="ctr"/>
          <a:lstStyle/>
          <a:p>
            <a:pPr algn="ctr">
              <a:defRPr/>
            </a:pPr>
            <a:r>
              <a:rPr lang="en-US" sz="3200" b="1" dirty="0">
                <a:solidFill>
                  <a:srgbClr val="3366CC"/>
                </a:solidFill>
                <a:effectLst>
                  <a:outerShdw blurRad="38100" dist="38100" dir="2700000" algn="tl">
                    <a:srgbClr val="C0C0C0"/>
                  </a:outerShdw>
                </a:effectLst>
                <a:latin typeface="Helvetica" pitchFamily="34" charset="0"/>
              </a:rPr>
              <a:t>Cinder – Block Storage</a:t>
            </a:r>
            <a:endParaRPr lang="it-IT" sz="3200" b="1" dirty="0">
              <a:latin typeface="Helvetica" pitchFamily="34" charset="0"/>
            </a:endParaRPr>
          </a:p>
        </p:txBody>
      </p:sp>
      <p:sp>
        <p:nvSpPr>
          <p:cNvPr id="6" name="Line 6"/>
          <p:cNvSpPr>
            <a:spLocks noChangeShapeType="1"/>
          </p:cNvSpPr>
          <p:nvPr/>
        </p:nvSpPr>
        <p:spPr bwMode="auto">
          <a:xfrm>
            <a:off x="378768" y="878632"/>
            <a:ext cx="8458200" cy="0"/>
          </a:xfrm>
          <a:prstGeom prst="line">
            <a:avLst/>
          </a:prstGeom>
          <a:noFill/>
          <a:ln w="28575">
            <a:solidFill>
              <a:srgbClr val="3366CC"/>
            </a:solidFill>
            <a:round/>
            <a:headEnd/>
            <a:tailEnd/>
          </a:ln>
        </p:spPr>
        <p:txBody>
          <a:bodyPr wrap="none" lIns="90000" tIns="46800" rIns="90000" bIns="46800" anchor="ctr">
            <a:spAutoFit/>
          </a:bodyPr>
          <a:lstStyle/>
          <a:p>
            <a:endParaRPr lang="it-IT"/>
          </a:p>
        </p:txBody>
      </p:sp>
    </p:spTree>
    <p:extLst>
      <p:ext uri="{BB962C8B-B14F-4D97-AF65-F5344CB8AC3E}">
        <p14:creationId xmlns:p14="http://schemas.microsoft.com/office/powerpoint/2010/main" val="38049963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4294967295"/>
          </p:nvPr>
        </p:nvSpPr>
        <p:spPr>
          <a:xfrm>
            <a:off x="107504" y="1412875"/>
            <a:ext cx="8928992" cy="4525963"/>
          </a:xfrm>
        </p:spPr>
        <p:txBody>
          <a:bodyPr/>
          <a:lstStyle/>
          <a:p>
            <a:pPr marL="0" indent="0">
              <a:buNone/>
            </a:pPr>
            <a:r>
              <a:rPr lang="en-US" dirty="0">
                <a:latin typeface="Arial" panose="020B0604020202020204" pitchFamily="34" charset="0"/>
                <a:cs typeface="Arial" panose="020B0604020202020204" pitchFamily="34" charset="0"/>
              </a:rPr>
              <a:t>Glance handles the </a:t>
            </a:r>
            <a:r>
              <a:rPr lang="en-US" b="1" dirty="0">
                <a:solidFill>
                  <a:srgbClr val="FF0000"/>
                </a:solidFill>
                <a:latin typeface="Arial" panose="020B0604020202020204" pitchFamily="34" charset="0"/>
                <a:cs typeface="Arial" panose="020B0604020202020204" pitchFamily="34" charset="0"/>
              </a:rPr>
              <a:t>discovery</a:t>
            </a:r>
            <a:r>
              <a:rPr lang="en-US" dirty="0">
                <a:latin typeface="Arial" panose="020B0604020202020204" pitchFamily="34" charset="0"/>
                <a:cs typeface="Arial" panose="020B0604020202020204" pitchFamily="34" charset="0"/>
              </a:rPr>
              <a:t>, </a:t>
            </a:r>
            <a:r>
              <a:rPr lang="en-US" b="1" dirty="0">
                <a:solidFill>
                  <a:srgbClr val="FF0000"/>
                </a:solidFill>
                <a:latin typeface="Arial" panose="020B0604020202020204" pitchFamily="34" charset="0"/>
                <a:cs typeface="Arial" panose="020B0604020202020204" pitchFamily="34" charset="0"/>
              </a:rPr>
              <a:t>registration</a:t>
            </a:r>
            <a:r>
              <a:rPr lang="en-US" dirty="0">
                <a:latin typeface="Arial" panose="020B0604020202020204" pitchFamily="34" charset="0"/>
                <a:cs typeface="Arial" panose="020B0604020202020204" pitchFamily="34" charset="0"/>
              </a:rPr>
              <a:t>, and </a:t>
            </a:r>
            <a:r>
              <a:rPr lang="en-US" b="1" dirty="0">
                <a:solidFill>
                  <a:srgbClr val="FF0000"/>
                </a:solidFill>
                <a:latin typeface="Arial" panose="020B0604020202020204" pitchFamily="34" charset="0"/>
                <a:cs typeface="Arial" panose="020B0604020202020204" pitchFamily="34" charset="0"/>
              </a:rPr>
              <a:t>delivery</a:t>
            </a:r>
            <a:r>
              <a:rPr lang="en-US" dirty="0">
                <a:latin typeface="Arial" panose="020B0604020202020204" pitchFamily="34" charset="0"/>
                <a:cs typeface="Arial" panose="020B0604020202020204" pitchFamily="34" charset="0"/>
              </a:rPr>
              <a:t> of disk and virtual server </a:t>
            </a:r>
            <a:r>
              <a:rPr lang="en-US" b="1" dirty="0">
                <a:solidFill>
                  <a:srgbClr val="FF0000"/>
                </a:solidFill>
                <a:latin typeface="Arial" panose="020B0604020202020204" pitchFamily="34" charset="0"/>
                <a:cs typeface="Arial" panose="020B0604020202020204" pitchFamily="34" charset="0"/>
              </a:rPr>
              <a:t>images</a:t>
            </a:r>
          </a:p>
          <a:p>
            <a:r>
              <a:rPr lang="en-US" sz="2800" dirty="0">
                <a:latin typeface="Arial" panose="020B0604020202020204" pitchFamily="34" charset="0"/>
                <a:cs typeface="Arial" panose="020B0604020202020204" pitchFamily="34" charset="0"/>
              </a:rPr>
              <a:t>Allows to store images on </a:t>
            </a:r>
            <a:r>
              <a:rPr lang="en-US" sz="2800" b="1" dirty="0">
                <a:solidFill>
                  <a:srgbClr val="FF0000"/>
                </a:solidFill>
                <a:latin typeface="Arial" panose="020B0604020202020204" pitchFamily="34" charset="0"/>
                <a:cs typeface="Arial" panose="020B0604020202020204" pitchFamily="34" charset="0"/>
              </a:rPr>
              <a:t>different storage systems</a:t>
            </a:r>
            <a:r>
              <a:rPr lang="en-US" sz="2800" dirty="0">
                <a:latin typeface="Arial" panose="020B0604020202020204" pitchFamily="34" charset="0"/>
                <a:cs typeface="Arial" panose="020B0604020202020204" pitchFamily="34" charset="0"/>
              </a:rPr>
              <a:t>, i.e., Swift</a:t>
            </a:r>
          </a:p>
          <a:p>
            <a:r>
              <a:rPr lang="en-US" sz="2800" dirty="0">
                <a:latin typeface="Arial" panose="020B0604020202020204" pitchFamily="34" charset="0"/>
                <a:cs typeface="Arial" panose="020B0604020202020204" pitchFamily="34" charset="0"/>
              </a:rPr>
              <a:t>Supports </a:t>
            </a:r>
            <a:r>
              <a:rPr lang="en-US" sz="2800" b="1" dirty="0">
                <a:solidFill>
                  <a:srgbClr val="FF0000"/>
                </a:solidFill>
                <a:latin typeface="Arial" panose="020B0604020202020204" pitchFamily="34" charset="0"/>
                <a:cs typeface="Arial" panose="020B0604020202020204" pitchFamily="34" charset="0"/>
              </a:rPr>
              <a:t>several disk formats </a:t>
            </a:r>
            <a:r>
              <a:rPr lang="en-US" sz="2800" dirty="0">
                <a:latin typeface="Arial" panose="020B0604020202020204" pitchFamily="34" charset="0"/>
                <a:cs typeface="Arial" panose="020B0604020202020204" pitchFamily="34" charset="0"/>
              </a:rPr>
              <a:t>(i.e. Raw, qcow2, VMDK, etc.)</a:t>
            </a:r>
          </a:p>
        </p:txBody>
      </p:sp>
      <p:sp>
        <p:nvSpPr>
          <p:cNvPr id="4" name="Rectangle 5"/>
          <p:cNvSpPr>
            <a:spLocks noChangeArrowheads="1"/>
          </p:cNvSpPr>
          <p:nvPr/>
        </p:nvSpPr>
        <p:spPr bwMode="auto">
          <a:xfrm>
            <a:off x="683568" y="260648"/>
            <a:ext cx="7848600" cy="762000"/>
          </a:xfrm>
          <a:prstGeom prst="rect">
            <a:avLst/>
          </a:prstGeom>
          <a:noFill/>
          <a:ln w="9525">
            <a:noFill/>
            <a:miter lim="800000"/>
            <a:headEnd/>
            <a:tailEnd/>
          </a:ln>
          <a:effectLst/>
        </p:spPr>
        <p:txBody>
          <a:bodyPr anchor="ctr"/>
          <a:lstStyle/>
          <a:p>
            <a:pPr algn="ctr">
              <a:defRPr/>
            </a:pPr>
            <a:r>
              <a:rPr lang="en-US" sz="3200" b="1" dirty="0">
                <a:solidFill>
                  <a:srgbClr val="3366CC"/>
                </a:solidFill>
                <a:effectLst>
                  <a:outerShdw blurRad="38100" dist="38100" dir="2700000" algn="tl">
                    <a:srgbClr val="C0C0C0"/>
                  </a:outerShdw>
                </a:effectLst>
                <a:latin typeface="Helvetica" pitchFamily="34" charset="0"/>
              </a:rPr>
              <a:t>Glance – Image Service</a:t>
            </a:r>
            <a:endParaRPr lang="it-IT" sz="3200" b="1" dirty="0">
              <a:latin typeface="Helvetica" pitchFamily="34" charset="0"/>
            </a:endParaRPr>
          </a:p>
        </p:txBody>
      </p:sp>
      <p:sp>
        <p:nvSpPr>
          <p:cNvPr id="5" name="Line 6"/>
          <p:cNvSpPr>
            <a:spLocks noChangeShapeType="1"/>
          </p:cNvSpPr>
          <p:nvPr/>
        </p:nvSpPr>
        <p:spPr bwMode="auto">
          <a:xfrm>
            <a:off x="378768" y="1268760"/>
            <a:ext cx="8458200" cy="0"/>
          </a:xfrm>
          <a:prstGeom prst="line">
            <a:avLst/>
          </a:prstGeom>
          <a:noFill/>
          <a:ln w="28575">
            <a:solidFill>
              <a:srgbClr val="3366CC"/>
            </a:solidFill>
            <a:round/>
            <a:headEnd/>
            <a:tailEnd/>
          </a:ln>
        </p:spPr>
        <p:txBody>
          <a:bodyPr wrap="none" lIns="90000" tIns="46800" rIns="90000" bIns="46800" anchor="ctr">
            <a:spAutoFit/>
          </a:bodyPr>
          <a:lstStyle/>
          <a:p>
            <a:endParaRPr lang="it-IT"/>
          </a:p>
        </p:txBody>
      </p:sp>
    </p:spTree>
    <p:extLst>
      <p:ext uri="{BB962C8B-B14F-4D97-AF65-F5344CB8AC3E}">
        <p14:creationId xmlns:p14="http://schemas.microsoft.com/office/powerpoint/2010/main" val="23440074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4294967295"/>
          </p:nvPr>
        </p:nvSpPr>
        <p:spPr>
          <a:xfrm>
            <a:off x="0" y="1196975"/>
            <a:ext cx="5616575" cy="4525963"/>
          </a:xfrm>
        </p:spPr>
        <p:txBody>
          <a:bodyPr/>
          <a:lstStyle/>
          <a:p>
            <a:r>
              <a:rPr lang="en-US" sz="2600" b="1" dirty="0">
                <a:solidFill>
                  <a:srgbClr val="FF0000"/>
                </a:solidFill>
                <a:latin typeface="Arial" panose="020B0604020202020204" pitchFamily="34" charset="0"/>
                <a:cs typeface="Arial" panose="020B0604020202020204" pitchFamily="34" charset="0"/>
              </a:rPr>
              <a:t>glance-API</a:t>
            </a:r>
            <a:r>
              <a:rPr lang="en-US" sz="2500" b="1" dirty="0">
                <a:latin typeface="Arial" panose="020B0604020202020204" pitchFamily="34" charset="0"/>
                <a:cs typeface="Arial" panose="020B0604020202020204" pitchFamily="34" charset="0"/>
              </a:rPr>
              <a:t>: </a:t>
            </a:r>
            <a:r>
              <a:rPr lang="en-US" sz="2500" dirty="0">
                <a:latin typeface="Arial" panose="020B0604020202020204" pitchFamily="34" charset="0"/>
                <a:cs typeface="Arial" panose="020B0604020202020204" pitchFamily="34" charset="0"/>
              </a:rPr>
              <a:t>handles API requests to discover, store and deliver images</a:t>
            </a:r>
          </a:p>
          <a:p>
            <a:r>
              <a:rPr lang="en-US" sz="2600" b="1" dirty="0">
                <a:solidFill>
                  <a:srgbClr val="FF0000"/>
                </a:solidFill>
                <a:latin typeface="Arial" panose="020B0604020202020204" pitchFamily="34" charset="0"/>
                <a:cs typeface="Arial" panose="020B0604020202020204" pitchFamily="34" charset="0"/>
              </a:rPr>
              <a:t>glance-registry</a:t>
            </a:r>
            <a:r>
              <a:rPr lang="en-US" sz="2500" b="1" dirty="0">
                <a:latin typeface="Arial" panose="020B0604020202020204" pitchFamily="34" charset="0"/>
                <a:cs typeface="Arial" panose="020B0604020202020204" pitchFamily="34" charset="0"/>
              </a:rPr>
              <a:t>: </a:t>
            </a:r>
            <a:r>
              <a:rPr lang="en-US" sz="2500" dirty="0">
                <a:latin typeface="Arial" panose="020B0604020202020204" pitchFamily="34" charset="0"/>
                <a:cs typeface="Arial" panose="020B0604020202020204" pitchFamily="34" charset="0"/>
              </a:rPr>
              <a:t>stores, processes and retrieves image metadata (dimension, format,...).</a:t>
            </a:r>
          </a:p>
          <a:p>
            <a:r>
              <a:rPr lang="en-US" sz="2600" b="1" dirty="0">
                <a:solidFill>
                  <a:srgbClr val="FF0000"/>
                </a:solidFill>
                <a:latin typeface="Arial" panose="020B0604020202020204" pitchFamily="34" charset="0"/>
                <a:cs typeface="Arial" panose="020B0604020202020204" pitchFamily="34" charset="0"/>
              </a:rPr>
              <a:t>glance database</a:t>
            </a:r>
            <a:r>
              <a:rPr lang="en-US" sz="2500" b="1" dirty="0">
                <a:latin typeface="Arial" panose="020B0604020202020204" pitchFamily="34" charset="0"/>
                <a:cs typeface="Arial" panose="020B0604020202020204" pitchFamily="34" charset="0"/>
              </a:rPr>
              <a:t>: </a:t>
            </a:r>
            <a:r>
              <a:rPr lang="en-US" sz="2500" dirty="0">
                <a:latin typeface="Arial" panose="020B0604020202020204" pitchFamily="34" charset="0"/>
                <a:cs typeface="Arial" panose="020B0604020202020204" pitchFamily="34" charset="0"/>
              </a:rPr>
              <a:t>database containing image metadata </a:t>
            </a:r>
          </a:p>
          <a:p>
            <a:r>
              <a:rPr lang="en-US" sz="2500" dirty="0">
                <a:latin typeface="Arial" panose="020B0604020202020204" pitchFamily="34" charset="0"/>
                <a:cs typeface="Arial" panose="020B0604020202020204" pitchFamily="34" charset="0"/>
              </a:rPr>
              <a:t>Glance uses an external </a:t>
            </a:r>
            <a:r>
              <a:rPr lang="en-US" sz="2600" b="1" dirty="0">
                <a:solidFill>
                  <a:srgbClr val="FF0000"/>
                </a:solidFill>
                <a:latin typeface="Arial" panose="020B0604020202020204" pitchFamily="34" charset="0"/>
                <a:cs typeface="Arial" panose="020B0604020202020204" pitchFamily="34" charset="0"/>
              </a:rPr>
              <a:t>repository</a:t>
            </a:r>
            <a:r>
              <a:rPr lang="en-US" sz="2500" dirty="0">
                <a:latin typeface="Arial" panose="020B0604020202020204" pitchFamily="34" charset="0"/>
                <a:cs typeface="Arial" panose="020B0604020202020204" pitchFamily="34" charset="0"/>
              </a:rPr>
              <a:t> to store images Currently supported repositories include </a:t>
            </a:r>
            <a:r>
              <a:rPr lang="en-US" sz="2500" dirty="0" err="1">
                <a:latin typeface="Arial" panose="020B0604020202020204" pitchFamily="34" charset="0"/>
                <a:cs typeface="Arial" panose="020B0604020202020204" pitchFamily="34" charset="0"/>
              </a:rPr>
              <a:t>filesystems</a:t>
            </a:r>
            <a:r>
              <a:rPr lang="en-US" sz="2500" dirty="0">
                <a:latin typeface="Arial" panose="020B0604020202020204" pitchFamily="34" charset="0"/>
                <a:cs typeface="Arial" panose="020B0604020202020204" pitchFamily="34" charset="0"/>
              </a:rPr>
              <a:t>, Swift, Amazon S3, and HTTP</a:t>
            </a:r>
          </a:p>
          <a:p>
            <a:endParaRPr lang="en-US" sz="2600" dirty="0">
              <a:latin typeface="Arial" panose="020B0604020202020204" pitchFamily="34" charset="0"/>
              <a:cs typeface="Arial" panose="020B0604020202020204" pitchFamily="34" charset="0"/>
            </a:endParaRPr>
          </a:p>
          <a:p>
            <a:endParaRPr lang="en-US" sz="2600" dirty="0">
              <a:latin typeface="Arial" panose="020B0604020202020204" pitchFamily="34" charset="0"/>
              <a:cs typeface="Arial" panose="020B0604020202020204" pitchFamily="34" charset="0"/>
            </a:endParaRPr>
          </a:p>
          <a:p>
            <a:endParaRPr lang="en-US" sz="2600" dirty="0">
              <a:latin typeface="Arial" panose="020B0604020202020204" pitchFamily="34" charset="0"/>
              <a:cs typeface="Arial" panose="020B0604020202020204" pitchFamily="34" charset="0"/>
            </a:endParaRPr>
          </a:p>
        </p:txBody>
      </p:sp>
      <p:pic>
        <p:nvPicPr>
          <p:cNvPr id="124930" name="Picture 2" descr="glance"/>
          <p:cNvPicPr>
            <a:picLocks noChangeAspect="1" noChangeArrowheads="1"/>
          </p:cNvPicPr>
          <p:nvPr/>
        </p:nvPicPr>
        <p:blipFill>
          <a:blip r:embed="rId3" cstate="print"/>
          <a:srcRect/>
          <a:stretch>
            <a:fillRect/>
          </a:stretch>
        </p:blipFill>
        <p:spPr bwMode="auto">
          <a:xfrm>
            <a:off x="6031857" y="2471195"/>
            <a:ext cx="2857500" cy="2857500"/>
          </a:xfrm>
          <a:prstGeom prst="rect">
            <a:avLst/>
          </a:prstGeom>
          <a:noFill/>
        </p:spPr>
      </p:pic>
      <p:sp>
        <p:nvSpPr>
          <p:cNvPr id="5" name="Rectangle 5"/>
          <p:cNvSpPr>
            <a:spLocks noChangeArrowheads="1"/>
          </p:cNvSpPr>
          <p:nvPr/>
        </p:nvSpPr>
        <p:spPr bwMode="auto">
          <a:xfrm>
            <a:off x="683568" y="116632"/>
            <a:ext cx="7848600" cy="762000"/>
          </a:xfrm>
          <a:prstGeom prst="rect">
            <a:avLst/>
          </a:prstGeom>
          <a:noFill/>
          <a:ln w="9525">
            <a:noFill/>
            <a:miter lim="800000"/>
            <a:headEnd/>
            <a:tailEnd/>
          </a:ln>
          <a:effectLst/>
        </p:spPr>
        <p:txBody>
          <a:bodyPr anchor="ctr"/>
          <a:lstStyle/>
          <a:p>
            <a:pPr algn="ctr">
              <a:defRPr/>
            </a:pPr>
            <a:r>
              <a:rPr lang="en-US" sz="3200" b="1" dirty="0">
                <a:solidFill>
                  <a:srgbClr val="3366CC"/>
                </a:solidFill>
                <a:effectLst>
                  <a:outerShdw blurRad="38100" dist="38100" dir="2700000" algn="tl">
                    <a:srgbClr val="C0C0C0"/>
                  </a:outerShdw>
                </a:effectLst>
                <a:latin typeface="Helvetica" pitchFamily="34" charset="0"/>
              </a:rPr>
              <a:t>Glance – Components</a:t>
            </a:r>
            <a:endParaRPr lang="it-IT" sz="3200" b="1" dirty="0">
              <a:latin typeface="Helvetica" pitchFamily="34" charset="0"/>
            </a:endParaRPr>
          </a:p>
        </p:txBody>
      </p:sp>
      <p:sp>
        <p:nvSpPr>
          <p:cNvPr id="6" name="Line 6"/>
          <p:cNvSpPr>
            <a:spLocks noChangeShapeType="1"/>
          </p:cNvSpPr>
          <p:nvPr/>
        </p:nvSpPr>
        <p:spPr bwMode="auto">
          <a:xfrm>
            <a:off x="431157" y="1052736"/>
            <a:ext cx="8458200" cy="0"/>
          </a:xfrm>
          <a:prstGeom prst="line">
            <a:avLst/>
          </a:prstGeom>
          <a:noFill/>
          <a:ln w="28575">
            <a:solidFill>
              <a:srgbClr val="3366CC"/>
            </a:solidFill>
            <a:round/>
            <a:headEnd/>
            <a:tailEnd/>
          </a:ln>
        </p:spPr>
        <p:txBody>
          <a:bodyPr wrap="none" lIns="90000" tIns="46800" rIns="90000" bIns="46800" anchor="ctr">
            <a:spAutoFit/>
          </a:bodyPr>
          <a:lstStyle/>
          <a:p>
            <a:endParaRPr lang="it-IT"/>
          </a:p>
        </p:txBody>
      </p:sp>
    </p:spTree>
    <p:extLst>
      <p:ext uri="{BB962C8B-B14F-4D97-AF65-F5344CB8AC3E}">
        <p14:creationId xmlns:p14="http://schemas.microsoft.com/office/powerpoint/2010/main" val="40878131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23" name="Picture 3"/>
          <p:cNvPicPr>
            <a:picLocks noChangeAspect="1" noChangeArrowheads="1"/>
          </p:cNvPicPr>
          <p:nvPr/>
        </p:nvPicPr>
        <p:blipFill>
          <a:blip r:embed="rId3" cstate="print"/>
          <a:srcRect/>
          <a:stretch>
            <a:fillRect/>
          </a:stretch>
        </p:blipFill>
        <p:spPr bwMode="auto">
          <a:xfrm>
            <a:off x="467544" y="1621110"/>
            <a:ext cx="7639050" cy="5048250"/>
          </a:xfrm>
          <a:prstGeom prst="rect">
            <a:avLst/>
          </a:prstGeom>
          <a:noFill/>
          <a:ln w="9525">
            <a:noFill/>
            <a:miter lim="800000"/>
            <a:headEnd/>
            <a:tailEnd/>
          </a:ln>
        </p:spPr>
      </p:pic>
      <p:sp>
        <p:nvSpPr>
          <p:cNvPr id="4" name="Rectangle 5"/>
          <p:cNvSpPr>
            <a:spLocks noChangeArrowheads="1"/>
          </p:cNvSpPr>
          <p:nvPr/>
        </p:nvSpPr>
        <p:spPr bwMode="auto">
          <a:xfrm>
            <a:off x="683568" y="260648"/>
            <a:ext cx="7848600" cy="762000"/>
          </a:xfrm>
          <a:prstGeom prst="rect">
            <a:avLst/>
          </a:prstGeom>
          <a:noFill/>
          <a:ln w="9525">
            <a:noFill/>
            <a:miter lim="800000"/>
            <a:headEnd/>
            <a:tailEnd/>
          </a:ln>
          <a:effectLst/>
        </p:spPr>
        <p:txBody>
          <a:bodyPr anchor="ctr"/>
          <a:lstStyle/>
          <a:p>
            <a:pPr algn="ctr">
              <a:defRPr/>
            </a:pPr>
            <a:r>
              <a:rPr lang="en-US" sz="3200" b="1" dirty="0">
                <a:solidFill>
                  <a:srgbClr val="3366CC"/>
                </a:solidFill>
                <a:effectLst>
                  <a:outerShdw blurRad="38100" dist="38100" dir="2700000" algn="tl">
                    <a:srgbClr val="C0C0C0"/>
                  </a:outerShdw>
                </a:effectLst>
                <a:latin typeface="Helvetica" pitchFamily="34" charset="0"/>
              </a:rPr>
              <a:t>Nova – Launching a VM</a:t>
            </a:r>
            <a:endParaRPr lang="it-IT" sz="3200" b="1" dirty="0">
              <a:latin typeface="Helvetica" pitchFamily="34" charset="0"/>
            </a:endParaRPr>
          </a:p>
        </p:txBody>
      </p:sp>
      <p:sp>
        <p:nvSpPr>
          <p:cNvPr id="5" name="Line 6"/>
          <p:cNvSpPr>
            <a:spLocks noChangeShapeType="1"/>
          </p:cNvSpPr>
          <p:nvPr/>
        </p:nvSpPr>
        <p:spPr bwMode="auto">
          <a:xfrm>
            <a:off x="378768" y="1022648"/>
            <a:ext cx="8458200" cy="0"/>
          </a:xfrm>
          <a:prstGeom prst="line">
            <a:avLst/>
          </a:prstGeom>
          <a:noFill/>
          <a:ln w="28575">
            <a:solidFill>
              <a:srgbClr val="3366CC"/>
            </a:solidFill>
            <a:round/>
            <a:headEnd/>
            <a:tailEnd/>
          </a:ln>
        </p:spPr>
        <p:txBody>
          <a:bodyPr wrap="none" lIns="90000" tIns="46800" rIns="90000" bIns="46800" anchor="ctr">
            <a:spAutoFit/>
          </a:bodyPr>
          <a:lstStyle/>
          <a:p>
            <a:endParaRPr lang="it-IT"/>
          </a:p>
        </p:txBody>
      </p:sp>
      <p:sp>
        <p:nvSpPr>
          <p:cNvPr id="2" name="TextBox 1">
            <a:extLst>
              <a:ext uri="{FF2B5EF4-FFF2-40B4-BE49-F238E27FC236}">
                <a16:creationId xmlns:a16="http://schemas.microsoft.com/office/drawing/2014/main" id="{FEDD9B48-C45F-8D48-A679-34711FE499EC}"/>
              </a:ext>
            </a:extLst>
          </p:cNvPr>
          <p:cNvSpPr txBox="1"/>
          <p:nvPr/>
        </p:nvSpPr>
        <p:spPr>
          <a:xfrm>
            <a:off x="251520" y="1022648"/>
            <a:ext cx="8280648" cy="584775"/>
          </a:xfrm>
          <a:prstGeom prst="rect">
            <a:avLst/>
          </a:prstGeom>
          <a:noFill/>
        </p:spPr>
        <p:txBody>
          <a:bodyPr wrap="square" rtlCol="0">
            <a:spAutoFit/>
          </a:bodyPr>
          <a:lstStyle/>
          <a:p>
            <a:r>
              <a:rPr lang="en-US" sz="1600" dirty="0"/>
              <a:t>OpenStack service provides API client authentication, service discovery &amp; distributed multi-tenant authorization by implementing Identity API.</a:t>
            </a:r>
          </a:p>
        </p:txBody>
      </p:sp>
    </p:spTree>
    <p:extLst>
      <p:ext uri="{BB962C8B-B14F-4D97-AF65-F5344CB8AC3E}">
        <p14:creationId xmlns:p14="http://schemas.microsoft.com/office/powerpoint/2010/main" val="17629552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orizon-screenshot"/>
          <p:cNvPicPr>
            <a:picLocks noChangeAspect="1" noChangeArrowheads="1"/>
          </p:cNvPicPr>
          <p:nvPr/>
        </p:nvPicPr>
        <p:blipFill>
          <a:blip r:embed="rId3" cstate="print"/>
          <a:srcRect/>
          <a:stretch>
            <a:fillRect/>
          </a:stretch>
        </p:blipFill>
        <p:spPr bwMode="auto">
          <a:xfrm>
            <a:off x="467544" y="980728"/>
            <a:ext cx="7848872" cy="3528391"/>
          </a:xfrm>
          <a:prstGeom prst="rect">
            <a:avLst/>
          </a:prstGeom>
          <a:noFill/>
        </p:spPr>
      </p:pic>
      <p:sp>
        <p:nvSpPr>
          <p:cNvPr id="7" name="CasellaDiTesto 6"/>
          <p:cNvSpPr txBox="1"/>
          <p:nvPr/>
        </p:nvSpPr>
        <p:spPr>
          <a:xfrm>
            <a:off x="467544" y="3933056"/>
            <a:ext cx="8030344" cy="2646878"/>
          </a:xfrm>
          <a:prstGeom prst="rect">
            <a:avLst/>
          </a:prstGeom>
          <a:noFill/>
        </p:spPr>
        <p:txBody>
          <a:bodyPr wrap="square" rtlCol="0">
            <a:spAutoFit/>
          </a:bodyPr>
          <a:lstStyle/>
          <a:p>
            <a:pPr>
              <a:buFont typeface="Wingdings" pitchFamily="2" charset="2"/>
              <a:buChar char="§"/>
            </a:pPr>
            <a:endParaRPr lang="en-US" sz="2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Provides a modular web-based user interface to access other </a:t>
            </a:r>
            <a:r>
              <a:rPr lang="en-US" dirty="0" err="1">
                <a:latin typeface="Arial" panose="020B0604020202020204" pitchFamily="34" charset="0"/>
                <a:cs typeface="Arial" panose="020B0604020202020204" pitchFamily="34" charset="0"/>
              </a:rPr>
              <a:t>OpenStack</a:t>
            </a:r>
            <a:r>
              <a:rPr lang="en-US" dirty="0">
                <a:latin typeface="Arial" panose="020B0604020202020204" pitchFamily="34" charset="0"/>
                <a:cs typeface="Arial" panose="020B0604020202020204" pitchFamily="34" charset="0"/>
              </a:rPr>
              <a:t> services</a:t>
            </a:r>
          </a:p>
          <a:p>
            <a:pPr algn="just"/>
            <a:r>
              <a:rPr lang="en-US" dirty="0">
                <a:latin typeface="Arial" panose="020B0604020202020204" pitchFamily="34" charset="0"/>
                <a:cs typeface="Arial" panose="020B0604020202020204" pitchFamily="34" charset="0"/>
              </a:rPr>
              <a:t>Through the dashboard it is possible to perform actions like launch an instance, to assign IP addresses, to upload VM images, to define access and security policies, etc.</a:t>
            </a:r>
          </a:p>
          <a:p>
            <a:endParaRPr lang="it-IT" dirty="0">
              <a:latin typeface="Arial" panose="020B0604020202020204" pitchFamily="34" charset="0"/>
              <a:cs typeface="Arial" panose="020B0604020202020204" pitchFamily="34" charset="0"/>
            </a:endParaRPr>
          </a:p>
        </p:txBody>
      </p:sp>
      <p:sp>
        <p:nvSpPr>
          <p:cNvPr id="5" name="Rectangle 5"/>
          <p:cNvSpPr>
            <a:spLocks noChangeArrowheads="1"/>
          </p:cNvSpPr>
          <p:nvPr/>
        </p:nvSpPr>
        <p:spPr bwMode="auto">
          <a:xfrm>
            <a:off x="649288" y="218728"/>
            <a:ext cx="7848600" cy="762000"/>
          </a:xfrm>
          <a:prstGeom prst="rect">
            <a:avLst/>
          </a:prstGeom>
          <a:noFill/>
          <a:ln w="9525">
            <a:noFill/>
            <a:miter lim="800000"/>
            <a:headEnd/>
            <a:tailEnd/>
          </a:ln>
          <a:effectLst/>
        </p:spPr>
        <p:txBody>
          <a:bodyPr anchor="ctr"/>
          <a:lstStyle/>
          <a:p>
            <a:pPr algn="ctr">
              <a:defRPr/>
            </a:pPr>
            <a:r>
              <a:rPr lang="en-US" sz="3200" b="1" dirty="0">
                <a:solidFill>
                  <a:srgbClr val="3366CC"/>
                </a:solidFill>
                <a:effectLst>
                  <a:outerShdw blurRad="38100" dist="38100" dir="2700000" algn="tl">
                    <a:srgbClr val="C0C0C0"/>
                  </a:outerShdw>
                </a:effectLst>
                <a:latin typeface="Helvetica" pitchFamily="34" charset="0"/>
              </a:rPr>
              <a:t>Horizon - Dashboard</a:t>
            </a:r>
            <a:endParaRPr lang="it-IT" sz="3200" b="1" dirty="0">
              <a:latin typeface="Helvetica" pitchFamily="34" charset="0"/>
            </a:endParaRPr>
          </a:p>
        </p:txBody>
      </p:sp>
      <p:sp>
        <p:nvSpPr>
          <p:cNvPr id="6" name="Line 6"/>
          <p:cNvSpPr>
            <a:spLocks noChangeShapeType="1"/>
          </p:cNvSpPr>
          <p:nvPr/>
        </p:nvSpPr>
        <p:spPr bwMode="auto">
          <a:xfrm>
            <a:off x="378768" y="976189"/>
            <a:ext cx="8458200" cy="0"/>
          </a:xfrm>
          <a:prstGeom prst="line">
            <a:avLst/>
          </a:prstGeom>
          <a:noFill/>
          <a:ln w="28575">
            <a:solidFill>
              <a:srgbClr val="3366CC"/>
            </a:solidFill>
            <a:round/>
            <a:headEnd/>
            <a:tailEnd/>
          </a:ln>
        </p:spPr>
        <p:txBody>
          <a:bodyPr wrap="none" lIns="90000" tIns="46800" rIns="90000" bIns="46800" anchor="ctr">
            <a:spAutoFit/>
          </a:bodyPr>
          <a:lstStyle/>
          <a:p>
            <a:endParaRPr lang="it-IT"/>
          </a:p>
        </p:txBody>
      </p:sp>
    </p:spTree>
    <p:extLst>
      <p:ext uri="{BB962C8B-B14F-4D97-AF65-F5344CB8AC3E}">
        <p14:creationId xmlns:p14="http://schemas.microsoft.com/office/powerpoint/2010/main" val="15909424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4294967295"/>
          </p:nvPr>
        </p:nvSpPr>
        <p:spPr>
          <a:xfrm>
            <a:off x="0" y="1341438"/>
            <a:ext cx="8396288" cy="5183187"/>
          </a:xfrm>
        </p:spPr>
        <p:txBody>
          <a:bodyPr/>
          <a:lstStyle/>
          <a:p>
            <a:r>
              <a:rPr lang="en-US" sz="2400" dirty="0">
                <a:latin typeface="Arial" panose="020B0604020202020204" pitchFamily="34" charset="0"/>
                <a:cs typeface="Arial" panose="020B0604020202020204" pitchFamily="34" charset="0"/>
              </a:rPr>
              <a:t>Keystone is a framework for the authentication and authorization for all the other </a:t>
            </a:r>
            <a:r>
              <a:rPr lang="en-US" sz="2400" dirty="0" err="1">
                <a:latin typeface="Arial" panose="020B0604020202020204" pitchFamily="34" charset="0"/>
                <a:cs typeface="Arial" panose="020B0604020202020204" pitchFamily="34" charset="0"/>
              </a:rPr>
              <a:t>OpenStack</a:t>
            </a:r>
            <a:r>
              <a:rPr lang="en-US" sz="2400" dirty="0">
                <a:latin typeface="Arial" panose="020B0604020202020204" pitchFamily="34" charset="0"/>
                <a:cs typeface="Arial" panose="020B0604020202020204" pitchFamily="34" charset="0"/>
              </a:rPr>
              <a:t> services</a:t>
            </a:r>
          </a:p>
          <a:p>
            <a:r>
              <a:rPr lang="en-US" sz="2400" dirty="0">
                <a:latin typeface="Arial" panose="020B0604020202020204" pitchFamily="34" charset="0"/>
                <a:cs typeface="Arial" panose="020B0604020202020204" pitchFamily="34" charset="0"/>
              </a:rPr>
              <a:t>Creates </a:t>
            </a:r>
            <a:r>
              <a:rPr lang="en-US" sz="2400" b="1" dirty="0">
                <a:solidFill>
                  <a:srgbClr val="FF0000"/>
                </a:solidFill>
                <a:latin typeface="Arial" panose="020B0604020202020204" pitchFamily="34" charset="0"/>
                <a:cs typeface="Arial" panose="020B0604020202020204" pitchFamily="34" charset="0"/>
              </a:rPr>
              <a:t>users</a:t>
            </a:r>
            <a:r>
              <a:rPr lang="en-US" sz="2400" dirty="0">
                <a:latin typeface="Arial" panose="020B0604020202020204" pitchFamily="34" charset="0"/>
                <a:cs typeface="Arial" panose="020B0604020202020204" pitchFamily="34" charset="0"/>
              </a:rPr>
              <a:t> and groups (also called </a:t>
            </a:r>
            <a:r>
              <a:rPr lang="en-US" sz="2400" b="1" dirty="0">
                <a:solidFill>
                  <a:srgbClr val="FF0000"/>
                </a:solidFill>
                <a:latin typeface="Arial" panose="020B0604020202020204" pitchFamily="34" charset="0"/>
                <a:cs typeface="Arial" panose="020B0604020202020204" pitchFamily="34" charset="0"/>
              </a:rPr>
              <a:t>tenants</a:t>
            </a:r>
            <a:r>
              <a:rPr lang="en-US" sz="2400" dirty="0">
                <a:latin typeface="Arial" panose="020B0604020202020204" pitchFamily="34" charset="0"/>
                <a:cs typeface="Arial" panose="020B0604020202020204" pitchFamily="34" charset="0"/>
              </a:rPr>
              <a:t>),  adds/removes users to/from groups, and defines </a:t>
            </a:r>
            <a:r>
              <a:rPr lang="en-US" sz="2400" b="1" dirty="0">
                <a:solidFill>
                  <a:srgbClr val="FF0000"/>
                </a:solidFill>
                <a:latin typeface="Arial" panose="020B0604020202020204" pitchFamily="34" charset="0"/>
                <a:cs typeface="Arial" panose="020B0604020202020204" pitchFamily="34" charset="0"/>
              </a:rPr>
              <a:t>permissions</a:t>
            </a:r>
            <a:r>
              <a:rPr lang="en-US" sz="2400" dirty="0">
                <a:latin typeface="Arial" panose="020B0604020202020204" pitchFamily="34" charset="0"/>
                <a:cs typeface="Arial" panose="020B0604020202020204" pitchFamily="34" charset="0"/>
              </a:rPr>
              <a:t> for cloud resources using role-based access control features. Permissions include the possibility to launch or terminate instances</a:t>
            </a:r>
          </a:p>
          <a:p>
            <a:r>
              <a:rPr lang="en-US" sz="2400" dirty="0">
                <a:latin typeface="Arial" panose="020B0604020202020204" pitchFamily="34" charset="0"/>
                <a:cs typeface="Arial" panose="020B0604020202020204" pitchFamily="34" charset="0"/>
              </a:rPr>
              <a:t>Provides 4 primary services:</a:t>
            </a:r>
          </a:p>
          <a:p>
            <a:pPr lvl="1">
              <a:buFont typeface="Times New Roman" pitchFamily="18" charset="0"/>
              <a:buChar char="–"/>
            </a:pPr>
            <a:r>
              <a:rPr lang="en-US" sz="2200" b="1" dirty="0">
                <a:solidFill>
                  <a:srgbClr val="FF0000"/>
                </a:solidFill>
                <a:latin typeface="Arial" panose="020B0604020202020204" pitchFamily="34" charset="0"/>
                <a:cs typeface="Arial" panose="020B0604020202020204" pitchFamily="34" charset="0"/>
              </a:rPr>
              <a:t>Identity</a:t>
            </a:r>
            <a:r>
              <a:rPr lang="en-US" sz="2200" dirty="0">
                <a:latin typeface="Arial" panose="020B0604020202020204" pitchFamily="34" charset="0"/>
                <a:cs typeface="Arial" panose="020B0604020202020204" pitchFamily="34" charset="0"/>
              </a:rPr>
              <a:t>: user information authentication</a:t>
            </a:r>
          </a:p>
          <a:p>
            <a:pPr lvl="1">
              <a:buFont typeface="Times New Roman" pitchFamily="18" charset="0"/>
              <a:buChar char="–"/>
            </a:pPr>
            <a:r>
              <a:rPr lang="en-US" sz="2200" b="1" dirty="0">
                <a:solidFill>
                  <a:srgbClr val="FF0000"/>
                </a:solidFill>
                <a:latin typeface="Arial" panose="020B0604020202020204" pitchFamily="34" charset="0"/>
                <a:cs typeface="Arial" panose="020B0604020202020204" pitchFamily="34" charset="0"/>
              </a:rPr>
              <a:t>Token</a:t>
            </a:r>
            <a:r>
              <a:rPr lang="en-US" sz="2200" dirty="0">
                <a:latin typeface="Arial" panose="020B0604020202020204" pitchFamily="34" charset="0"/>
                <a:cs typeface="Arial" panose="020B0604020202020204" pitchFamily="34" charset="0"/>
              </a:rPr>
              <a:t>: after logged-in, replaces password authentication</a:t>
            </a:r>
          </a:p>
          <a:p>
            <a:pPr lvl="1">
              <a:buFont typeface="Times New Roman" pitchFamily="18" charset="0"/>
              <a:buChar char="–"/>
            </a:pPr>
            <a:r>
              <a:rPr lang="en-US" sz="2200" b="1" dirty="0">
                <a:solidFill>
                  <a:srgbClr val="FF0000"/>
                </a:solidFill>
                <a:latin typeface="Arial" panose="020B0604020202020204" pitchFamily="34" charset="0"/>
                <a:cs typeface="Arial" panose="020B0604020202020204" pitchFamily="34" charset="0"/>
              </a:rPr>
              <a:t>Catalog</a:t>
            </a:r>
            <a:r>
              <a:rPr lang="en-US" sz="2200" dirty="0">
                <a:latin typeface="Arial" panose="020B0604020202020204" pitchFamily="34" charset="0"/>
                <a:cs typeface="Arial" panose="020B0604020202020204" pitchFamily="34" charset="0"/>
              </a:rPr>
              <a:t>: maintains an endpoint registry used to discover OpenStack services endpoints</a:t>
            </a:r>
          </a:p>
          <a:p>
            <a:pPr lvl="1">
              <a:buFont typeface="Times New Roman" pitchFamily="18" charset="0"/>
              <a:buChar char="–"/>
            </a:pPr>
            <a:r>
              <a:rPr lang="en-US" sz="2200" b="1" dirty="0">
                <a:solidFill>
                  <a:srgbClr val="FF0000"/>
                </a:solidFill>
                <a:latin typeface="Arial" panose="020B0604020202020204" pitchFamily="34" charset="0"/>
                <a:cs typeface="Arial" panose="020B0604020202020204" pitchFamily="34" charset="0"/>
              </a:rPr>
              <a:t>Policy</a:t>
            </a:r>
            <a:r>
              <a:rPr lang="en-US" sz="2200" dirty="0">
                <a:latin typeface="Arial" panose="020B0604020202020204" pitchFamily="34" charset="0"/>
                <a:cs typeface="Arial" panose="020B0604020202020204" pitchFamily="34" charset="0"/>
              </a:rPr>
              <a:t>: provides a rule-based authorization engine</a:t>
            </a:r>
          </a:p>
          <a:p>
            <a:endParaRPr lang="en-US" sz="2400" dirty="0">
              <a:latin typeface="Arial" panose="020B0604020202020204" pitchFamily="34" charset="0"/>
              <a:cs typeface="Arial" panose="020B0604020202020204" pitchFamily="34" charset="0"/>
            </a:endParaRPr>
          </a:p>
        </p:txBody>
      </p:sp>
      <p:sp>
        <p:nvSpPr>
          <p:cNvPr id="4" name="Rectangle 5"/>
          <p:cNvSpPr>
            <a:spLocks noChangeArrowheads="1"/>
          </p:cNvSpPr>
          <p:nvPr/>
        </p:nvSpPr>
        <p:spPr bwMode="auto">
          <a:xfrm>
            <a:off x="683568" y="332656"/>
            <a:ext cx="7848600" cy="762000"/>
          </a:xfrm>
          <a:prstGeom prst="rect">
            <a:avLst/>
          </a:prstGeom>
          <a:noFill/>
          <a:ln w="9525">
            <a:noFill/>
            <a:miter lim="800000"/>
            <a:headEnd/>
            <a:tailEnd/>
          </a:ln>
          <a:effectLst/>
        </p:spPr>
        <p:txBody>
          <a:bodyPr anchor="ctr"/>
          <a:lstStyle/>
          <a:p>
            <a:pPr algn="ctr">
              <a:defRPr/>
            </a:pPr>
            <a:r>
              <a:rPr lang="en-US" sz="3200" b="1" dirty="0">
                <a:solidFill>
                  <a:srgbClr val="3366CC"/>
                </a:solidFill>
                <a:effectLst>
                  <a:outerShdw blurRad="38100" dist="38100" dir="2700000" algn="tl">
                    <a:srgbClr val="C0C0C0"/>
                  </a:outerShdw>
                </a:effectLst>
                <a:latin typeface="Helvetica" pitchFamily="34" charset="0"/>
              </a:rPr>
              <a:t>Keystone – Authentication </a:t>
            </a:r>
            <a:br>
              <a:rPr lang="en-US" sz="3200" b="1" dirty="0">
                <a:solidFill>
                  <a:srgbClr val="3366CC"/>
                </a:solidFill>
                <a:effectLst>
                  <a:outerShdw blurRad="38100" dist="38100" dir="2700000" algn="tl">
                    <a:srgbClr val="C0C0C0"/>
                  </a:outerShdw>
                </a:effectLst>
                <a:latin typeface="Helvetica" pitchFamily="34" charset="0"/>
              </a:rPr>
            </a:br>
            <a:r>
              <a:rPr lang="en-US" sz="3200" b="1" dirty="0">
                <a:solidFill>
                  <a:srgbClr val="3366CC"/>
                </a:solidFill>
                <a:effectLst>
                  <a:outerShdw blurRad="38100" dist="38100" dir="2700000" algn="tl">
                    <a:srgbClr val="C0C0C0"/>
                  </a:outerShdw>
                </a:effectLst>
                <a:latin typeface="Helvetica" pitchFamily="34" charset="0"/>
              </a:rPr>
              <a:t>and  Authorization</a:t>
            </a:r>
            <a:endParaRPr lang="it-IT" sz="3200" b="1" dirty="0">
              <a:latin typeface="Helvetica" pitchFamily="34" charset="0"/>
            </a:endParaRPr>
          </a:p>
        </p:txBody>
      </p:sp>
      <p:sp>
        <p:nvSpPr>
          <p:cNvPr id="5" name="Line 6"/>
          <p:cNvSpPr>
            <a:spLocks noChangeShapeType="1"/>
          </p:cNvSpPr>
          <p:nvPr/>
        </p:nvSpPr>
        <p:spPr bwMode="auto">
          <a:xfrm>
            <a:off x="378768" y="1196752"/>
            <a:ext cx="8458200" cy="0"/>
          </a:xfrm>
          <a:prstGeom prst="line">
            <a:avLst/>
          </a:prstGeom>
          <a:noFill/>
          <a:ln w="28575">
            <a:solidFill>
              <a:srgbClr val="3366CC"/>
            </a:solidFill>
            <a:round/>
            <a:headEnd/>
            <a:tailEnd/>
          </a:ln>
        </p:spPr>
        <p:txBody>
          <a:bodyPr wrap="none" lIns="90000" tIns="46800" rIns="90000" bIns="46800" anchor="ctr">
            <a:spAutoFit/>
          </a:bodyPr>
          <a:lstStyle/>
          <a:p>
            <a:endParaRPr lang="it-IT"/>
          </a:p>
        </p:txBody>
      </p:sp>
    </p:spTree>
    <p:extLst>
      <p:ext uri="{BB962C8B-B14F-4D97-AF65-F5344CB8AC3E}">
        <p14:creationId xmlns:p14="http://schemas.microsoft.com/office/powerpoint/2010/main" val="41172933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0834" name="Picture 2"/>
          <p:cNvPicPr>
            <a:picLocks noChangeAspect="1" noChangeArrowheads="1"/>
          </p:cNvPicPr>
          <p:nvPr/>
        </p:nvPicPr>
        <p:blipFill>
          <a:blip r:embed="rId3" cstate="print"/>
          <a:srcRect/>
          <a:stretch>
            <a:fillRect/>
          </a:stretch>
        </p:blipFill>
        <p:spPr bwMode="auto">
          <a:xfrm>
            <a:off x="942975" y="2043113"/>
            <a:ext cx="7258050" cy="2771775"/>
          </a:xfrm>
          <a:prstGeom prst="rect">
            <a:avLst/>
          </a:prstGeom>
          <a:noFill/>
          <a:ln w="9525">
            <a:noFill/>
            <a:miter lim="800000"/>
            <a:headEnd/>
            <a:tailEnd/>
          </a:ln>
        </p:spPr>
      </p:pic>
      <p:sp>
        <p:nvSpPr>
          <p:cNvPr id="4" name="Rectangle 5"/>
          <p:cNvSpPr>
            <a:spLocks noChangeArrowheads="1"/>
          </p:cNvSpPr>
          <p:nvPr/>
        </p:nvSpPr>
        <p:spPr bwMode="auto">
          <a:xfrm>
            <a:off x="691977" y="490439"/>
            <a:ext cx="7848600" cy="762000"/>
          </a:xfrm>
          <a:prstGeom prst="rect">
            <a:avLst/>
          </a:prstGeom>
          <a:noFill/>
          <a:ln w="9525">
            <a:noFill/>
            <a:miter lim="800000"/>
            <a:headEnd/>
            <a:tailEnd/>
          </a:ln>
          <a:effectLst/>
        </p:spPr>
        <p:txBody>
          <a:bodyPr anchor="ctr"/>
          <a:lstStyle/>
          <a:p>
            <a:pPr algn="ctr">
              <a:defRPr/>
            </a:pPr>
            <a:r>
              <a:rPr lang="en-US" sz="3200" b="1" dirty="0">
                <a:solidFill>
                  <a:srgbClr val="3366CC"/>
                </a:solidFill>
                <a:effectLst>
                  <a:outerShdw blurRad="38100" dist="38100" dir="2700000" algn="tl">
                    <a:srgbClr val="C0C0C0"/>
                  </a:outerShdw>
                </a:effectLst>
                <a:latin typeface="Helvetica" pitchFamily="34" charset="0"/>
              </a:rPr>
              <a:t>Keystone </a:t>
            </a:r>
            <a:endParaRPr lang="it-IT" sz="3200" b="1" dirty="0">
              <a:latin typeface="Helvetica" pitchFamily="34" charset="0"/>
            </a:endParaRPr>
          </a:p>
        </p:txBody>
      </p:sp>
      <p:sp>
        <p:nvSpPr>
          <p:cNvPr id="5" name="Line 6"/>
          <p:cNvSpPr>
            <a:spLocks noChangeShapeType="1"/>
          </p:cNvSpPr>
          <p:nvPr/>
        </p:nvSpPr>
        <p:spPr bwMode="auto">
          <a:xfrm>
            <a:off x="387177" y="1484784"/>
            <a:ext cx="8458200" cy="0"/>
          </a:xfrm>
          <a:prstGeom prst="line">
            <a:avLst/>
          </a:prstGeom>
          <a:noFill/>
          <a:ln w="28575">
            <a:solidFill>
              <a:srgbClr val="3366CC"/>
            </a:solidFill>
            <a:round/>
            <a:headEnd/>
            <a:tailEnd/>
          </a:ln>
        </p:spPr>
        <p:txBody>
          <a:bodyPr wrap="none" lIns="90000" tIns="46800" rIns="90000" bIns="46800" anchor="ctr">
            <a:spAutoFit/>
          </a:bodyPr>
          <a:lstStyle/>
          <a:p>
            <a:endParaRPr lang="it-IT"/>
          </a:p>
        </p:txBody>
      </p:sp>
    </p:spTree>
    <p:extLst>
      <p:ext uri="{BB962C8B-B14F-4D97-AF65-F5344CB8AC3E}">
        <p14:creationId xmlns:p14="http://schemas.microsoft.com/office/powerpoint/2010/main" val="4739002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4294967295"/>
          </p:nvPr>
        </p:nvSpPr>
        <p:spPr>
          <a:xfrm>
            <a:off x="0" y="1047750"/>
            <a:ext cx="8229600" cy="5189538"/>
          </a:xfrm>
        </p:spPr>
        <p:txBody>
          <a:bodyPr/>
          <a:lstStyle/>
          <a:p>
            <a:pPr>
              <a:buFont typeface="Arial" panose="020B0604020202020204" pitchFamily="34" charset="0"/>
              <a:buChar char="•"/>
            </a:pPr>
            <a:r>
              <a:rPr lang="en-US" sz="2600" b="1" dirty="0">
                <a:solidFill>
                  <a:srgbClr val="FF0000"/>
                </a:solidFill>
                <a:latin typeface="Arial" panose="020B0604020202020204" pitchFamily="34" charset="0"/>
                <a:cs typeface="Arial" panose="020B0604020202020204" pitchFamily="34" charset="0"/>
              </a:rPr>
              <a:t>Pluggable</a:t>
            </a:r>
            <a:r>
              <a:rPr lang="en-US" sz="2600" dirty="0">
                <a:latin typeface="Arial" panose="020B0604020202020204" pitchFamily="34" charset="0"/>
                <a:cs typeface="Arial" panose="020B0604020202020204" pitchFamily="34" charset="0"/>
              </a:rPr>
              <a:t>, </a:t>
            </a:r>
            <a:r>
              <a:rPr lang="en-US" sz="2600" b="1" dirty="0">
                <a:solidFill>
                  <a:srgbClr val="FF0000"/>
                </a:solidFill>
                <a:latin typeface="Arial" panose="020B0604020202020204" pitchFamily="34" charset="0"/>
                <a:cs typeface="Arial" panose="020B0604020202020204" pitchFamily="34" charset="0"/>
              </a:rPr>
              <a:t>scalable</a:t>
            </a:r>
            <a:r>
              <a:rPr lang="en-US" sz="2600" dirty="0">
                <a:latin typeface="Arial" panose="020B0604020202020204" pitchFamily="34" charset="0"/>
                <a:cs typeface="Arial" panose="020B0604020202020204" pitchFamily="34" charset="0"/>
              </a:rPr>
              <a:t> </a:t>
            </a:r>
            <a:r>
              <a:rPr lang="en-US" sz="2600" b="1" dirty="0">
                <a:solidFill>
                  <a:srgbClr val="FF0000"/>
                </a:solidFill>
                <a:latin typeface="Arial" panose="020B0604020202020204" pitchFamily="34" charset="0"/>
                <a:cs typeface="Arial" panose="020B0604020202020204" pitchFamily="34" charset="0"/>
              </a:rPr>
              <a:t>API-driven</a:t>
            </a:r>
            <a:r>
              <a:rPr lang="en-US" sz="2600" dirty="0">
                <a:latin typeface="Arial" panose="020B0604020202020204" pitchFamily="34" charset="0"/>
                <a:cs typeface="Arial" panose="020B0604020202020204" pitchFamily="34" charset="0"/>
              </a:rPr>
              <a:t> support to manage networks and IP addresses.</a:t>
            </a:r>
          </a:p>
          <a:p>
            <a:r>
              <a:rPr lang="en-US" sz="2600" b="1" dirty="0" err="1">
                <a:solidFill>
                  <a:srgbClr val="FF0000"/>
                </a:solidFill>
                <a:latin typeface="Arial" panose="020B0604020202020204" pitchFamily="34" charset="0"/>
                <a:cs typeface="Arial" panose="020B0604020202020204" pitchFamily="34" charset="0"/>
              </a:rPr>
              <a:t>NaaS</a:t>
            </a:r>
            <a:r>
              <a:rPr lang="en-US" sz="2600" dirty="0">
                <a:latin typeface="Arial" panose="020B0604020202020204" pitchFamily="34" charset="0"/>
                <a:cs typeface="Arial" panose="020B0604020202020204" pitchFamily="34" charset="0"/>
              </a:rPr>
              <a:t> “</a:t>
            </a:r>
            <a:r>
              <a:rPr lang="en-US" sz="2600" b="1" dirty="0">
                <a:solidFill>
                  <a:srgbClr val="FF0000"/>
                </a:solidFill>
                <a:latin typeface="Arial" panose="020B0604020202020204" pitchFamily="34" charset="0"/>
                <a:cs typeface="Arial" panose="020B0604020202020204" pitchFamily="34" charset="0"/>
              </a:rPr>
              <a:t>Network as a Service</a:t>
            </a:r>
            <a:r>
              <a:rPr lang="en-US" sz="2600" dirty="0">
                <a:latin typeface="Arial" panose="020B0604020202020204" pitchFamily="34" charset="0"/>
                <a:cs typeface="Arial" panose="020B0604020202020204" pitchFamily="34" charset="0"/>
              </a:rPr>
              <a:t>”</a:t>
            </a:r>
            <a:br>
              <a:rPr lang="en-US" sz="2600" dirty="0">
                <a:latin typeface="Arial" panose="020B0604020202020204" pitchFamily="34" charset="0"/>
                <a:cs typeface="Arial" panose="020B0604020202020204" pitchFamily="34" charset="0"/>
              </a:rPr>
            </a:br>
            <a:r>
              <a:rPr lang="en-US" sz="2600" dirty="0">
                <a:latin typeface="Arial" panose="020B0604020202020204" pitchFamily="34" charset="0"/>
                <a:cs typeface="Arial" panose="020B0604020202020204" pitchFamily="34" charset="0"/>
              </a:rPr>
              <a:t>Users can create their own networks and plug virtual network interface into them</a:t>
            </a:r>
          </a:p>
          <a:p>
            <a:r>
              <a:rPr lang="en-US" sz="2600" b="1" dirty="0">
                <a:solidFill>
                  <a:srgbClr val="FF0000"/>
                </a:solidFill>
                <a:latin typeface="Arial" panose="020B0604020202020204" pitchFamily="34" charset="0"/>
                <a:cs typeface="Arial" panose="020B0604020202020204" pitchFamily="34" charset="0"/>
              </a:rPr>
              <a:t>Multi-tenancy: </a:t>
            </a:r>
            <a:r>
              <a:rPr lang="en-US" sz="2600" dirty="0">
                <a:latin typeface="Arial" panose="020B0604020202020204" pitchFamily="34" charset="0"/>
                <a:cs typeface="Arial" panose="020B0604020202020204" pitchFamily="34" charset="0"/>
              </a:rPr>
              <a:t>isolation, abstraction and full control  over virtual networks</a:t>
            </a:r>
          </a:p>
          <a:p>
            <a:r>
              <a:rPr lang="en-US" sz="2600" b="1" dirty="0">
                <a:solidFill>
                  <a:srgbClr val="FF0000"/>
                </a:solidFill>
                <a:latin typeface="Arial" panose="020B0604020202020204" pitchFamily="34" charset="0"/>
                <a:cs typeface="Arial" panose="020B0604020202020204" pitchFamily="34" charset="0"/>
              </a:rPr>
              <a:t>Technology-agnostic: </a:t>
            </a:r>
            <a:r>
              <a:rPr lang="en-US" sz="2600" dirty="0">
                <a:latin typeface="Arial" panose="020B0604020202020204" pitchFamily="34" charset="0"/>
                <a:cs typeface="Arial" panose="020B0604020202020204" pitchFamily="34" charset="0"/>
              </a:rPr>
              <a:t>APIs specify service, while vendor provides his own implementation. Extensions for vendor-specific features</a:t>
            </a:r>
          </a:p>
          <a:p>
            <a:r>
              <a:rPr lang="en-US" sz="2600" b="1" dirty="0">
                <a:solidFill>
                  <a:srgbClr val="FF0000"/>
                </a:solidFill>
                <a:latin typeface="Arial" panose="020B0604020202020204" pitchFamily="34" charset="0"/>
                <a:cs typeface="Arial" panose="020B0604020202020204" pitchFamily="34" charset="0"/>
              </a:rPr>
              <a:t>Loose coupling: </a:t>
            </a:r>
            <a:r>
              <a:rPr lang="en-US" sz="2600" dirty="0">
                <a:latin typeface="Arial" panose="020B0604020202020204" pitchFamily="34" charset="0"/>
                <a:cs typeface="Arial" panose="020B0604020202020204" pitchFamily="34" charset="0"/>
              </a:rPr>
              <a:t>standalone service, not exclusive to </a:t>
            </a:r>
            <a:r>
              <a:rPr lang="en-US" sz="2600" dirty="0" err="1">
                <a:latin typeface="Arial" panose="020B0604020202020204" pitchFamily="34" charset="0"/>
                <a:cs typeface="Arial" panose="020B0604020202020204" pitchFamily="34" charset="0"/>
              </a:rPr>
              <a:t>OpenStack</a:t>
            </a:r>
            <a:r>
              <a:rPr lang="en-US" sz="2600" dirty="0">
                <a:latin typeface="Arial" panose="020B0604020202020204" pitchFamily="34" charset="0"/>
                <a:cs typeface="Arial" panose="020B0604020202020204" pitchFamily="34" charset="0"/>
              </a:rPr>
              <a:t> </a:t>
            </a:r>
            <a:endParaRPr lang="en-US" sz="2600" b="1" dirty="0">
              <a:solidFill>
                <a:srgbClr val="FF0000"/>
              </a:solidFill>
              <a:latin typeface="Arial" panose="020B0604020202020204" pitchFamily="34" charset="0"/>
              <a:cs typeface="Arial" panose="020B0604020202020204" pitchFamily="34" charset="0"/>
            </a:endParaRPr>
          </a:p>
          <a:p>
            <a:endParaRPr lang="en-US" sz="2600"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4" name="Rectangle 5"/>
          <p:cNvSpPr>
            <a:spLocks noChangeArrowheads="1"/>
          </p:cNvSpPr>
          <p:nvPr/>
        </p:nvSpPr>
        <p:spPr bwMode="auto">
          <a:xfrm>
            <a:off x="683568" y="116632"/>
            <a:ext cx="7848600" cy="762000"/>
          </a:xfrm>
          <a:prstGeom prst="rect">
            <a:avLst/>
          </a:prstGeom>
          <a:noFill/>
          <a:ln w="9525">
            <a:noFill/>
            <a:miter lim="800000"/>
            <a:headEnd/>
            <a:tailEnd/>
          </a:ln>
          <a:effectLst/>
        </p:spPr>
        <p:txBody>
          <a:bodyPr anchor="ctr"/>
          <a:lstStyle/>
          <a:p>
            <a:pPr algn="ctr">
              <a:defRPr/>
            </a:pPr>
            <a:r>
              <a:rPr lang="en-US" sz="3200" b="1" dirty="0">
                <a:solidFill>
                  <a:srgbClr val="3366CC"/>
                </a:solidFill>
                <a:effectLst>
                  <a:outerShdw blurRad="38100" dist="38100" dir="2700000" algn="tl">
                    <a:srgbClr val="C0C0C0"/>
                  </a:outerShdw>
                </a:effectLst>
                <a:latin typeface="Helvetica" pitchFamily="34" charset="0"/>
              </a:rPr>
              <a:t>Neutron Networking</a:t>
            </a:r>
            <a:endParaRPr lang="it-IT" sz="3200" b="1" dirty="0">
              <a:latin typeface="Helvetica" pitchFamily="34" charset="0"/>
            </a:endParaRPr>
          </a:p>
        </p:txBody>
      </p:sp>
      <p:sp>
        <p:nvSpPr>
          <p:cNvPr id="5" name="Line 6"/>
          <p:cNvSpPr>
            <a:spLocks noChangeShapeType="1"/>
          </p:cNvSpPr>
          <p:nvPr/>
        </p:nvSpPr>
        <p:spPr bwMode="auto">
          <a:xfrm>
            <a:off x="378768" y="878632"/>
            <a:ext cx="8458200" cy="0"/>
          </a:xfrm>
          <a:prstGeom prst="line">
            <a:avLst/>
          </a:prstGeom>
          <a:noFill/>
          <a:ln w="28575">
            <a:solidFill>
              <a:srgbClr val="3366CC"/>
            </a:solidFill>
            <a:round/>
            <a:headEnd/>
            <a:tailEnd/>
          </a:ln>
        </p:spPr>
        <p:txBody>
          <a:bodyPr wrap="none" lIns="90000" tIns="46800" rIns="90000" bIns="46800" anchor="ctr">
            <a:spAutoFit/>
          </a:bodyPr>
          <a:lstStyle/>
          <a:p>
            <a:endParaRPr lang="it-IT"/>
          </a:p>
        </p:txBody>
      </p:sp>
    </p:spTree>
    <p:extLst>
      <p:ext uri="{BB962C8B-B14F-4D97-AF65-F5344CB8AC3E}">
        <p14:creationId xmlns:p14="http://schemas.microsoft.com/office/powerpoint/2010/main" val="6319328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4294967295"/>
          </p:nvPr>
        </p:nvSpPr>
        <p:spPr>
          <a:xfrm>
            <a:off x="0" y="1052513"/>
            <a:ext cx="5978525" cy="5256212"/>
          </a:xfrm>
        </p:spPr>
        <p:txBody>
          <a:bodyPr/>
          <a:lstStyle/>
          <a:p>
            <a:r>
              <a:rPr lang="en-US" sz="2600" b="1" dirty="0">
                <a:solidFill>
                  <a:srgbClr val="FF0000"/>
                </a:solidFill>
                <a:latin typeface="Arial" panose="020B0604020202020204" pitchFamily="34" charset="0"/>
                <a:cs typeface="Arial" panose="020B0604020202020204" pitchFamily="34" charset="0"/>
              </a:rPr>
              <a:t>neutron-server: </a:t>
            </a:r>
            <a:r>
              <a:rPr lang="en-US" sz="2600" dirty="0">
                <a:latin typeface="Arial" panose="020B0604020202020204" pitchFamily="34" charset="0"/>
                <a:cs typeface="Arial" panose="020B0604020202020204" pitchFamily="34" charset="0"/>
              </a:rPr>
              <a:t>accept request sent through APIs and forwards them to the specific plugin</a:t>
            </a:r>
          </a:p>
          <a:p>
            <a:r>
              <a:rPr lang="en-US" sz="2600" b="1" dirty="0">
                <a:solidFill>
                  <a:srgbClr val="FF0000"/>
                </a:solidFill>
                <a:latin typeface="Arial" panose="020B0604020202020204" pitchFamily="34" charset="0"/>
                <a:cs typeface="Arial" panose="020B0604020202020204" pitchFamily="34" charset="0"/>
              </a:rPr>
              <a:t>Plugins and Agents: </a:t>
            </a:r>
            <a:r>
              <a:rPr lang="en-US" sz="2600" dirty="0">
                <a:latin typeface="Arial" panose="020B0604020202020204" pitchFamily="34" charset="0"/>
                <a:cs typeface="Arial" panose="020B0604020202020204" pitchFamily="34" charset="0"/>
              </a:rPr>
              <a:t>executes real actions, such as dis/connecting ports, creating networks and subnets, creating routers, etc.</a:t>
            </a:r>
          </a:p>
          <a:p>
            <a:r>
              <a:rPr lang="en-US" sz="2600" b="1" dirty="0">
                <a:solidFill>
                  <a:srgbClr val="FF0000"/>
                </a:solidFill>
                <a:latin typeface="Arial" panose="020B0604020202020204" pitchFamily="34" charset="0"/>
                <a:cs typeface="Arial" panose="020B0604020202020204" pitchFamily="34" charset="0"/>
              </a:rPr>
              <a:t>message queue: </a:t>
            </a:r>
            <a:r>
              <a:rPr lang="en-US" sz="2600" dirty="0">
                <a:latin typeface="Arial" panose="020B0604020202020204" pitchFamily="34" charset="0"/>
                <a:cs typeface="Arial" panose="020B0604020202020204" pitchFamily="34" charset="0"/>
              </a:rPr>
              <a:t>delivers messages between neutron-server and various agents</a:t>
            </a:r>
          </a:p>
          <a:p>
            <a:r>
              <a:rPr lang="en-US" sz="2600" b="1" dirty="0">
                <a:solidFill>
                  <a:srgbClr val="FF0000"/>
                </a:solidFill>
                <a:latin typeface="Arial" panose="020B0604020202020204" pitchFamily="34" charset="0"/>
                <a:cs typeface="Arial" panose="020B0604020202020204" pitchFamily="34" charset="0"/>
              </a:rPr>
              <a:t>neutron database: </a:t>
            </a:r>
            <a:r>
              <a:rPr lang="en-US" sz="2600" dirty="0">
                <a:latin typeface="Arial" panose="020B0604020202020204" pitchFamily="34" charset="0"/>
                <a:cs typeface="Arial" panose="020B0604020202020204" pitchFamily="34" charset="0"/>
              </a:rPr>
              <a:t>maintains network state for some </a:t>
            </a:r>
            <a:r>
              <a:rPr lang="en-US" sz="2600" dirty="0" err="1">
                <a:latin typeface="Arial" panose="020B0604020202020204" pitchFamily="34" charset="0"/>
                <a:cs typeface="Arial" panose="020B0604020202020204" pitchFamily="34" charset="0"/>
              </a:rPr>
              <a:t>plugins</a:t>
            </a:r>
            <a:endParaRPr lang="en-US" sz="2600" b="1" dirty="0">
              <a:solidFill>
                <a:srgbClr val="FF0000"/>
              </a:solidFill>
              <a:latin typeface="Arial" panose="020B0604020202020204" pitchFamily="34" charset="0"/>
              <a:cs typeface="Arial" panose="020B0604020202020204" pitchFamily="34" charset="0"/>
            </a:endParaRPr>
          </a:p>
        </p:txBody>
      </p:sp>
      <p:pic>
        <p:nvPicPr>
          <p:cNvPr id="134146" name="Picture 2" descr="quantum"/>
          <p:cNvPicPr>
            <a:picLocks noChangeAspect="1" noChangeArrowheads="1"/>
          </p:cNvPicPr>
          <p:nvPr/>
        </p:nvPicPr>
        <p:blipFill>
          <a:blip r:embed="rId3" cstate="print"/>
          <a:srcRect/>
          <a:stretch>
            <a:fillRect/>
          </a:stretch>
        </p:blipFill>
        <p:spPr bwMode="auto">
          <a:xfrm>
            <a:off x="6381750" y="2436471"/>
            <a:ext cx="2762250" cy="2857500"/>
          </a:xfrm>
          <a:prstGeom prst="rect">
            <a:avLst/>
          </a:prstGeom>
          <a:noFill/>
        </p:spPr>
      </p:pic>
      <p:sp>
        <p:nvSpPr>
          <p:cNvPr id="5" name="Rectangle 5"/>
          <p:cNvSpPr>
            <a:spLocks noChangeArrowheads="1"/>
          </p:cNvSpPr>
          <p:nvPr/>
        </p:nvSpPr>
        <p:spPr bwMode="auto">
          <a:xfrm>
            <a:off x="683568" y="116632"/>
            <a:ext cx="7848600" cy="762000"/>
          </a:xfrm>
          <a:prstGeom prst="rect">
            <a:avLst/>
          </a:prstGeom>
          <a:noFill/>
          <a:ln w="9525">
            <a:noFill/>
            <a:miter lim="800000"/>
            <a:headEnd/>
            <a:tailEnd/>
          </a:ln>
          <a:effectLst/>
        </p:spPr>
        <p:txBody>
          <a:bodyPr anchor="ctr"/>
          <a:lstStyle/>
          <a:p>
            <a:pPr algn="ctr">
              <a:defRPr/>
            </a:pPr>
            <a:r>
              <a:rPr lang="en-US" sz="3200" b="1" dirty="0">
                <a:solidFill>
                  <a:srgbClr val="3366CC"/>
                </a:solidFill>
                <a:effectLst>
                  <a:outerShdw blurRad="38100" dist="38100" dir="2700000" algn="tl">
                    <a:srgbClr val="C0C0C0"/>
                  </a:outerShdw>
                </a:effectLst>
                <a:latin typeface="Helvetica" pitchFamily="34" charset="0"/>
              </a:rPr>
              <a:t>Neutron – Components</a:t>
            </a:r>
            <a:endParaRPr lang="it-IT" sz="3200" b="1" dirty="0">
              <a:latin typeface="Helvetica" pitchFamily="34" charset="0"/>
            </a:endParaRPr>
          </a:p>
        </p:txBody>
      </p:sp>
      <p:sp>
        <p:nvSpPr>
          <p:cNvPr id="6" name="Line 6"/>
          <p:cNvSpPr>
            <a:spLocks noChangeShapeType="1"/>
          </p:cNvSpPr>
          <p:nvPr/>
        </p:nvSpPr>
        <p:spPr bwMode="auto">
          <a:xfrm>
            <a:off x="378768" y="878632"/>
            <a:ext cx="8458200" cy="0"/>
          </a:xfrm>
          <a:prstGeom prst="line">
            <a:avLst/>
          </a:prstGeom>
          <a:noFill/>
          <a:ln w="28575">
            <a:solidFill>
              <a:srgbClr val="3366CC"/>
            </a:solidFill>
            <a:round/>
            <a:headEnd/>
            <a:tailEnd/>
          </a:ln>
        </p:spPr>
        <p:txBody>
          <a:bodyPr wrap="none" lIns="90000" tIns="46800" rIns="90000" bIns="46800" anchor="ctr">
            <a:spAutoFit/>
          </a:bodyPr>
          <a:lstStyle/>
          <a:p>
            <a:endParaRPr lang="it-IT"/>
          </a:p>
        </p:txBody>
      </p:sp>
    </p:spTree>
    <p:extLst>
      <p:ext uri="{BB962C8B-B14F-4D97-AF65-F5344CB8AC3E}">
        <p14:creationId xmlns:p14="http://schemas.microsoft.com/office/powerpoint/2010/main" val="26229937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4294967295"/>
          </p:nvPr>
        </p:nvSpPr>
        <p:spPr>
          <a:xfrm>
            <a:off x="0" y="1052513"/>
            <a:ext cx="8890000" cy="5256212"/>
          </a:xfrm>
        </p:spPr>
        <p:txBody>
          <a:bodyPr/>
          <a:lstStyle/>
          <a:p>
            <a:r>
              <a:rPr lang="en-US" sz="2800" b="1" dirty="0">
                <a:solidFill>
                  <a:srgbClr val="FF0000"/>
                </a:solidFill>
                <a:latin typeface="Arial" panose="020B0604020202020204" pitchFamily="34" charset="0"/>
                <a:cs typeface="Arial" panose="020B0604020202020204" pitchFamily="34" charset="0"/>
              </a:rPr>
              <a:t>dhcp agent: </a:t>
            </a:r>
            <a:r>
              <a:rPr lang="en-US" sz="2800" dirty="0">
                <a:latin typeface="Arial" panose="020B0604020202020204" pitchFamily="34" charset="0"/>
                <a:cs typeface="Arial" panose="020B0604020202020204" pitchFamily="34" charset="0"/>
              </a:rPr>
              <a:t>provides DHCP functionalities to virtual networks</a:t>
            </a:r>
          </a:p>
          <a:p>
            <a:r>
              <a:rPr lang="en-US" sz="2800" b="1" dirty="0">
                <a:solidFill>
                  <a:srgbClr val="FF0000"/>
                </a:solidFill>
                <a:latin typeface="Arial" panose="020B0604020202020204" pitchFamily="34" charset="0"/>
                <a:cs typeface="Arial" panose="020B0604020202020204" pitchFamily="34" charset="0"/>
              </a:rPr>
              <a:t>plugin agent: </a:t>
            </a:r>
            <a:r>
              <a:rPr lang="en-US" sz="2800" dirty="0">
                <a:latin typeface="Arial" panose="020B0604020202020204" pitchFamily="34" charset="0"/>
                <a:cs typeface="Arial" panose="020B0604020202020204" pitchFamily="34" charset="0"/>
              </a:rPr>
              <a:t>runs on each hypervisor to perform local </a:t>
            </a:r>
            <a:r>
              <a:rPr lang="en-US" sz="2800" dirty="0" err="1">
                <a:latin typeface="Arial" panose="020B0604020202020204" pitchFamily="34" charset="0"/>
                <a:cs typeface="Arial" panose="020B0604020202020204" pitchFamily="34" charset="0"/>
              </a:rPr>
              <a:t>vSwitch</a:t>
            </a:r>
            <a:r>
              <a:rPr lang="en-US" sz="2800" dirty="0">
                <a:latin typeface="Arial" panose="020B0604020202020204" pitchFamily="34" charset="0"/>
                <a:cs typeface="Arial" panose="020B0604020202020204" pitchFamily="34" charset="0"/>
              </a:rPr>
              <a:t> configuration. The agent that runs, depends on the plug-in used (e.g., </a:t>
            </a:r>
            <a:r>
              <a:rPr lang="en-US" sz="2800" dirty="0" err="1">
                <a:latin typeface="Arial" panose="020B0604020202020204" pitchFamily="34" charset="0"/>
                <a:cs typeface="Arial" panose="020B0604020202020204" pitchFamily="34" charset="0"/>
              </a:rPr>
              <a:t>OpenVSwitch</a:t>
            </a:r>
            <a:r>
              <a:rPr lang="en-US" sz="2800" dirty="0">
                <a:latin typeface="Arial" panose="020B0604020202020204" pitchFamily="34" charset="0"/>
                <a:cs typeface="Arial" panose="020B0604020202020204" pitchFamily="34" charset="0"/>
              </a:rPr>
              <a:t>, Cisco, Brocade, etc.).</a:t>
            </a:r>
          </a:p>
          <a:p>
            <a:r>
              <a:rPr lang="en-US" sz="2800" b="1" dirty="0">
                <a:solidFill>
                  <a:srgbClr val="FF0000"/>
                </a:solidFill>
                <a:latin typeface="Arial" panose="020B0604020202020204" pitchFamily="34" charset="0"/>
                <a:cs typeface="Arial" panose="020B0604020202020204" pitchFamily="34" charset="0"/>
              </a:rPr>
              <a:t>L3 agent: </a:t>
            </a:r>
            <a:r>
              <a:rPr lang="en-US" sz="2800" dirty="0">
                <a:latin typeface="Arial" panose="020B0604020202020204" pitchFamily="34" charset="0"/>
                <a:cs typeface="Arial" panose="020B0604020202020204" pitchFamily="34" charset="0"/>
              </a:rPr>
              <a:t>provides L3/NAT forwarding to provide external network access for VMs</a:t>
            </a:r>
          </a:p>
        </p:txBody>
      </p:sp>
      <p:sp>
        <p:nvSpPr>
          <p:cNvPr id="5" name="Rectangle 5"/>
          <p:cNvSpPr>
            <a:spLocks noChangeArrowheads="1"/>
          </p:cNvSpPr>
          <p:nvPr/>
        </p:nvSpPr>
        <p:spPr bwMode="auto">
          <a:xfrm>
            <a:off x="683568" y="116632"/>
            <a:ext cx="7848600" cy="762000"/>
          </a:xfrm>
          <a:prstGeom prst="rect">
            <a:avLst/>
          </a:prstGeom>
          <a:noFill/>
          <a:ln w="9525">
            <a:noFill/>
            <a:miter lim="800000"/>
            <a:headEnd/>
            <a:tailEnd/>
          </a:ln>
          <a:effectLst/>
        </p:spPr>
        <p:txBody>
          <a:bodyPr anchor="ctr"/>
          <a:lstStyle/>
          <a:p>
            <a:pPr algn="ctr">
              <a:defRPr/>
            </a:pPr>
            <a:r>
              <a:rPr lang="en-US" sz="3200" b="1" dirty="0">
                <a:solidFill>
                  <a:srgbClr val="3366CC"/>
                </a:solidFill>
                <a:effectLst>
                  <a:outerShdw blurRad="38100" dist="38100" dir="2700000" algn="tl">
                    <a:srgbClr val="C0C0C0"/>
                  </a:outerShdw>
                </a:effectLst>
                <a:latin typeface="Helvetica" pitchFamily="34" charset="0"/>
              </a:rPr>
              <a:t>Neutron – Agents</a:t>
            </a:r>
            <a:endParaRPr lang="it-IT" sz="3200" b="1" dirty="0">
              <a:latin typeface="Helvetica" pitchFamily="34" charset="0"/>
            </a:endParaRPr>
          </a:p>
        </p:txBody>
      </p:sp>
      <p:sp>
        <p:nvSpPr>
          <p:cNvPr id="6" name="Line 6"/>
          <p:cNvSpPr>
            <a:spLocks noChangeShapeType="1"/>
          </p:cNvSpPr>
          <p:nvPr/>
        </p:nvSpPr>
        <p:spPr bwMode="auto">
          <a:xfrm>
            <a:off x="378768" y="878632"/>
            <a:ext cx="8458200" cy="0"/>
          </a:xfrm>
          <a:prstGeom prst="line">
            <a:avLst/>
          </a:prstGeom>
          <a:noFill/>
          <a:ln w="28575">
            <a:solidFill>
              <a:srgbClr val="3366CC"/>
            </a:solidFill>
            <a:round/>
            <a:headEnd/>
            <a:tailEnd/>
          </a:ln>
        </p:spPr>
        <p:txBody>
          <a:bodyPr wrap="none" lIns="90000" tIns="46800" rIns="90000" bIns="46800" anchor="ctr">
            <a:spAutoFit/>
          </a:bodyPr>
          <a:lstStyle/>
          <a:p>
            <a:endParaRPr lang="it-IT"/>
          </a:p>
        </p:txBody>
      </p:sp>
    </p:spTree>
    <p:extLst>
      <p:ext uri="{BB962C8B-B14F-4D97-AF65-F5344CB8AC3E}">
        <p14:creationId xmlns:p14="http://schemas.microsoft.com/office/powerpoint/2010/main" val="23611484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egnaposto contenuto 4"/>
          <p:cNvSpPr>
            <a:spLocks noGrp="1"/>
          </p:cNvSpPr>
          <p:nvPr>
            <p:ph sz="half" idx="4294967295"/>
          </p:nvPr>
        </p:nvSpPr>
        <p:spPr>
          <a:xfrm>
            <a:off x="0" y="2205038"/>
            <a:ext cx="2879725" cy="3481387"/>
          </a:xfrm>
        </p:spPr>
        <p:txBody>
          <a:bodyPr/>
          <a:lstStyle/>
          <a:p>
            <a:pPr marL="0" indent="0">
              <a:buNone/>
            </a:pPr>
            <a:r>
              <a:rPr lang="en-US" sz="2200" dirty="0">
                <a:latin typeface="Arial" panose="020B0604020202020204" pitchFamily="34" charset="0"/>
                <a:cs typeface="Arial" panose="020B0604020202020204" pitchFamily="34" charset="0"/>
              </a:rPr>
              <a:t>Neutron </a:t>
            </a:r>
            <a:r>
              <a:rPr lang="en-US" sz="2200" b="1" dirty="0">
                <a:latin typeface="Arial" panose="020B0604020202020204" pitchFamily="34" charset="0"/>
                <a:cs typeface="Arial" panose="020B0604020202020204" pitchFamily="34" charset="0"/>
              </a:rPr>
              <a:t>decouples</a:t>
            </a:r>
            <a:r>
              <a:rPr lang="en-US" sz="2200" dirty="0">
                <a:latin typeface="Arial" panose="020B0604020202020204" pitchFamily="34" charset="0"/>
                <a:cs typeface="Arial" panose="020B0604020202020204" pitchFamily="34" charset="0"/>
              </a:rPr>
              <a:t> </a:t>
            </a:r>
            <a:br>
              <a:rPr lang="en-US" sz="2200" dirty="0">
                <a:latin typeface="Arial" panose="020B0604020202020204" pitchFamily="34" charset="0"/>
                <a:cs typeface="Arial" panose="020B0604020202020204" pitchFamily="34" charset="0"/>
              </a:rPr>
            </a:br>
            <a:r>
              <a:rPr lang="en-US" sz="2200" dirty="0">
                <a:latin typeface="Arial" panose="020B0604020202020204" pitchFamily="34" charset="0"/>
                <a:cs typeface="Arial" panose="020B0604020202020204" pitchFamily="34" charset="0"/>
              </a:rPr>
              <a:t>the logical view of </a:t>
            </a:r>
            <a:br>
              <a:rPr lang="en-US" sz="2200" dirty="0">
                <a:latin typeface="Arial" panose="020B0604020202020204" pitchFamily="34" charset="0"/>
                <a:cs typeface="Arial" panose="020B0604020202020204" pitchFamily="34" charset="0"/>
              </a:rPr>
            </a:br>
            <a:r>
              <a:rPr lang="en-US" sz="2200" dirty="0">
                <a:latin typeface="Arial" panose="020B0604020202020204" pitchFamily="34" charset="0"/>
                <a:cs typeface="Arial" panose="020B0604020202020204" pitchFamily="34" charset="0"/>
              </a:rPr>
              <a:t>the network from </a:t>
            </a:r>
            <a:br>
              <a:rPr lang="en-US" sz="2200" dirty="0">
                <a:latin typeface="Arial" panose="020B0604020202020204" pitchFamily="34" charset="0"/>
                <a:cs typeface="Arial" panose="020B0604020202020204" pitchFamily="34" charset="0"/>
              </a:rPr>
            </a:br>
            <a:r>
              <a:rPr lang="en-US" sz="2200" dirty="0">
                <a:latin typeface="Arial" panose="020B0604020202020204" pitchFamily="34" charset="0"/>
                <a:cs typeface="Arial" panose="020B0604020202020204" pitchFamily="34" charset="0"/>
              </a:rPr>
              <a:t>the physical view</a:t>
            </a:r>
          </a:p>
          <a:p>
            <a:pPr marL="0" indent="0">
              <a:buNone/>
            </a:pPr>
            <a:r>
              <a:rPr lang="en-US" sz="2200" dirty="0">
                <a:latin typeface="Arial" panose="020B0604020202020204" pitchFamily="34" charset="0"/>
                <a:cs typeface="Arial" panose="020B0604020202020204" pitchFamily="34" charset="0"/>
              </a:rPr>
              <a:t>It provides APIs to define, manage and connect virtual networks</a:t>
            </a:r>
          </a:p>
          <a:p>
            <a:endParaRPr lang="en-US" sz="2000" dirty="0">
              <a:latin typeface="Arial" panose="020B0604020202020204" pitchFamily="34" charset="0"/>
              <a:cs typeface="Arial" panose="020B0604020202020204" pitchFamily="34" charset="0"/>
            </a:endParaRPr>
          </a:p>
        </p:txBody>
      </p:sp>
      <p:pic>
        <p:nvPicPr>
          <p:cNvPr id="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l="4656" t="16274" r="4113"/>
          <a:stretch>
            <a:fillRect/>
          </a:stretch>
        </p:blipFill>
        <p:spPr bwMode="auto">
          <a:xfrm>
            <a:off x="2773680" y="1556792"/>
            <a:ext cx="6370320" cy="4129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a:spLocks noChangeArrowheads="1"/>
          </p:cNvSpPr>
          <p:nvPr/>
        </p:nvSpPr>
        <p:spPr bwMode="auto">
          <a:xfrm>
            <a:off x="683568" y="260648"/>
            <a:ext cx="7848600" cy="762000"/>
          </a:xfrm>
          <a:prstGeom prst="rect">
            <a:avLst/>
          </a:prstGeom>
          <a:noFill/>
          <a:ln w="9525">
            <a:noFill/>
            <a:miter lim="800000"/>
            <a:headEnd/>
            <a:tailEnd/>
          </a:ln>
          <a:effectLst/>
        </p:spPr>
        <p:txBody>
          <a:bodyPr anchor="ctr"/>
          <a:lstStyle/>
          <a:p>
            <a:pPr algn="ctr">
              <a:defRPr/>
            </a:pPr>
            <a:r>
              <a:rPr lang="en-US" sz="3200" b="1" dirty="0">
                <a:solidFill>
                  <a:srgbClr val="3366CC"/>
                </a:solidFill>
                <a:effectLst>
                  <a:outerShdw blurRad="38100" dist="38100" dir="2700000" algn="tl">
                    <a:srgbClr val="C0C0C0"/>
                  </a:outerShdw>
                </a:effectLst>
                <a:latin typeface="Helvetica" pitchFamily="34" charset="0"/>
              </a:rPr>
              <a:t>Neutron </a:t>
            </a:r>
            <a:br>
              <a:rPr lang="en-US" sz="3200" b="1" dirty="0">
                <a:solidFill>
                  <a:srgbClr val="3366CC"/>
                </a:solidFill>
                <a:effectLst>
                  <a:outerShdw blurRad="38100" dist="38100" dir="2700000" algn="tl">
                    <a:srgbClr val="C0C0C0"/>
                  </a:outerShdw>
                </a:effectLst>
                <a:latin typeface="Helvetica" pitchFamily="34" charset="0"/>
              </a:rPr>
            </a:br>
            <a:r>
              <a:rPr lang="en-US" sz="3200" b="1" dirty="0">
                <a:solidFill>
                  <a:srgbClr val="3366CC"/>
                </a:solidFill>
                <a:effectLst>
                  <a:outerShdw blurRad="38100" dist="38100" dir="2700000" algn="tl">
                    <a:srgbClr val="C0C0C0"/>
                  </a:outerShdw>
                </a:effectLst>
                <a:latin typeface="Helvetica" pitchFamily="34" charset="0"/>
              </a:rPr>
              <a:t>logical view vs. physical view</a:t>
            </a:r>
            <a:endParaRPr lang="it-IT" sz="3200" b="1" dirty="0">
              <a:latin typeface="Helvetica" pitchFamily="34" charset="0"/>
            </a:endParaRPr>
          </a:p>
        </p:txBody>
      </p:sp>
      <p:sp>
        <p:nvSpPr>
          <p:cNvPr id="7" name="Line 6"/>
          <p:cNvSpPr>
            <a:spLocks noChangeShapeType="1"/>
          </p:cNvSpPr>
          <p:nvPr/>
        </p:nvSpPr>
        <p:spPr bwMode="auto">
          <a:xfrm>
            <a:off x="378768" y="1268760"/>
            <a:ext cx="8458200" cy="0"/>
          </a:xfrm>
          <a:prstGeom prst="line">
            <a:avLst/>
          </a:prstGeom>
          <a:noFill/>
          <a:ln w="28575">
            <a:solidFill>
              <a:srgbClr val="3366CC"/>
            </a:solidFill>
            <a:round/>
            <a:headEnd/>
            <a:tailEnd/>
          </a:ln>
        </p:spPr>
        <p:txBody>
          <a:bodyPr wrap="none" lIns="90000" tIns="46800" rIns="90000" bIns="46800" anchor="ctr">
            <a:spAutoFit/>
          </a:bodyPr>
          <a:lstStyle/>
          <a:p>
            <a:endParaRPr lang="it-IT"/>
          </a:p>
        </p:txBody>
      </p:sp>
    </p:spTree>
    <p:extLst>
      <p:ext uri="{BB962C8B-B14F-4D97-AF65-F5344CB8AC3E}">
        <p14:creationId xmlns:p14="http://schemas.microsoft.com/office/powerpoint/2010/main" val="20648255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ChangeArrowheads="1"/>
          </p:cNvSpPr>
          <p:nvPr/>
        </p:nvSpPr>
        <p:spPr bwMode="auto">
          <a:xfrm>
            <a:off x="683568" y="260648"/>
            <a:ext cx="7848600" cy="762000"/>
          </a:xfrm>
          <a:prstGeom prst="rect">
            <a:avLst/>
          </a:prstGeom>
          <a:noFill/>
          <a:ln w="9525">
            <a:noFill/>
            <a:miter lim="800000"/>
            <a:headEnd/>
            <a:tailEnd/>
          </a:ln>
          <a:effectLst/>
        </p:spPr>
        <p:txBody>
          <a:bodyPr anchor="ctr"/>
          <a:lstStyle/>
          <a:p>
            <a:pPr algn="ctr">
              <a:defRPr/>
            </a:pPr>
            <a:r>
              <a:rPr lang="en-US" sz="3200" b="1" dirty="0">
                <a:solidFill>
                  <a:srgbClr val="3366CC"/>
                </a:solidFill>
                <a:effectLst>
                  <a:outerShdw blurRad="38100" dist="38100" dir="2700000" algn="tl">
                    <a:srgbClr val="C0C0C0"/>
                  </a:outerShdw>
                </a:effectLst>
                <a:latin typeface="Helvetica" pitchFamily="34" charset="0"/>
              </a:rPr>
              <a:t>Neutron - logical view</a:t>
            </a:r>
            <a:endParaRPr lang="it-IT" sz="3200" b="1" dirty="0">
              <a:latin typeface="Helvetica" pitchFamily="34" charset="0"/>
            </a:endParaRPr>
          </a:p>
        </p:txBody>
      </p:sp>
      <p:sp>
        <p:nvSpPr>
          <p:cNvPr id="7" name="Line 6"/>
          <p:cNvSpPr>
            <a:spLocks noChangeShapeType="1"/>
          </p:cNvSpPr>
          <p:nvPr/>
        </p:nvSpPr>
        <p:spPr bwMode="auto">
          <a:xfrm>
            <a:off x="378768" y="1268760"/>
            <a:ext cx="8458200" cy="0"/>
          </a:xfrm>
          <a:prstGeom prst="line">
            <a:avLst/>
          </a:prstGeom>
          <a:noFill/>
          <a:ln w="28575">
            <a:solidFill>
              <a:srgbClr val="3366CC"/>
            </a:solidFill>
            <a:round/>
            <a:headEnd/>
            <a:tailEnd/>
          </a:ln>
        </p:spPr>
        <p:txBody>
          <a:bodyPr wrap="none" lIns="90000" tIns="46800" rIns="90000" bIns="46800" anchor="ctr">
            <a:spAutoFit/>
          </a:bodyPr>
          <a:lstStyle/>
          <a:p>
            <a:endParaRPr lang="it-IT"/>
          </a:p>
        </p:txBody>
      </p:sp>
      <p:pic>
        <p:nvPicPr>
          <p:cNvPr id="1026" name="Picture 2" descr="https://ilearnstack.files.wordpress.com/2013/10/neutron_concep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7123" y="1292339"/>
            <a:ext cx="5181489" cy="2750576"/>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p:cNvSpPr txBox="1"/>
          <p:nvPr/>
        </p:nvSpPr>
        <p:spPr>
          <a:xfrm>
            <a:off x="35496" y="3933056"/>
            <a:ext cx="9001000" cy="2696123"/>
          </a:xfrm>
          <a:prstGeom prst="rect">
            <a:avLst/>
          </a:prstGeom>
          <a:noFill/>
        </p:spPr>
        <p:txBody>
          <a:bodyPr wrap="square" rtlCol="0">
            <a:spAutoFit/>
          </a:bodyPr>
          <a:lstStyle/>
          <a:p>
            <a:pPr marL="342900" indent="-342900">
              <a:spcBef>
                <a:spcPct val="20000"/>
              </a:spcBef>
              <a:buFont typeface="Arial" panose="020B0604020202020204" pitchFamily="34" charset="0"/>
              <a:buChar char="•"/>
            </a:pPr>
            <a:r>
              <a:rPr lang="en-US" sz="1800" b="1" dirty="0">
                <a:solidFill>
                  <a:srgbClr val="FF0000"/>
                </a:solidFill>
                <a:latin typeface="Arial" panose="020B0604020202020204" pitchFamily="34" charset="0"/>
                <a:cs typeface="Arial" panose="020B0604020202020204" pitchFamily="34" charset="0"/>
              </a:rPr>
              <a:t>Network</a:t>
            </a:r>
            <a:r>
              <a:rPr lang="en-US" sz="1800" dirty="0">
                <a:solidFill>
                  <a:srgbClr val="FF0000"/>
                </a:solidFill>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represents isolated virtual Layer-2 domains; a network can also be regarded as a logical switch;</a:t>
            </a:r>
          </a:p>
          <a:p>
            <a:pPr marL="342900" indent="-342900">
              <a:spcBef>
                <a:spcPct val="20000"/>
              </a:spcBef>
              <a:buFont typeface="Arial" panose="020B0604020202020204" pitchFamily="34" charset="0"/>
              <a:buChar char="•"/>
            </a:pPr>
            <a:r>
              <a:rPr lang="en-US" sz="1800" b="1" dirty="0">
                <a:solidFill>
                  <a:srgbClr val="FF0000"/>
                </a:solidFill>
                <a:latin typeface="Arial" panose="020B0604020202020204" pitchFamily="34" charset="0"/>
                <a:cs typeface="Arial" panose="020B0604020202020204" pitchFamily="34" charset="0"/>
              </a:rPr>
              <a:t>Subnet</a:t>
            </a:r>
            <a:r>
              <a:rPr lang="en-US" sz="1800" dirty="0">
                <a:solidFill>
                  <a:srgbClr val="FF0000"/>
                </a:solidFill>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represents IPv4 or IPv6 address blocks that can be assigned to VMs or router on a given network;</a:t>
            </a:r>
          </a:p>
          <a:p>
            <a:pPr marL="342900" indent="-342900">
              <a:spcBef>
                <a:spcPct val="20000"/>
              </a:spcBef>
              <a:buFont typeface="Arial" panose="020B0604020202020204" pitchFamily="34" charset="0"/>
              <a:buChar char="•"/>
            </a:pPr>
            <a:r>
              <a:rPr lang="en-US" sz="1800" b="1" dirty="0">
                <a:solidFill>
                  <a:srgbClr val="FF0000"/>
                </a:solidFill>
                <a:latin typeface="Arial" panose="020B0604020202020204" pitchFamily="34" charset="0"/>
                <a:cs typeface="Arial" panose="020B0604020202020204" pitchFamily="34" charset="0"/>
              </a:rPr>
              <a:t>Ports</a:t>
            </a:r>
            <a:r>
              <a:rPr lang="en-US" sz="1800" dirty="0">
                <a:solidFill>
                  <a:srgbClr val="FF0000"/>
                </a:solidFill>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represent logical switch ports on a given network that can be attached to the interfaces of VMs. A logical port also defines the MAC address and the IP addresses to be assigned to the interfaces plugged into them. When IP addresses are associated to a port, this also implies the port is associated with a subnet, as the IP address was taken from the allocation pool for a specific subnet.</a:t>
            </a:r>
            <a:endParaRPr lang="it-IT"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591544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ChangeArrowheads="1"/>
          </p:cNvSpPr>
          <p:nvPr/>
        </p:nvSpPr>
        <p:spPr bwMode="auto">
          <a:xfrm>
            <a:off x="683568" y="260648"/>
            <a:ext cx="7848600" cy="762000"/>
          </a:xfrm>
          <a:prstGeom prst="rect">
            <a:avLst/>
          </a:prstGeom>
          <a:noFill/>
          <a:ln w="9525">
            <a:noFill/>
            <a:miter lim="800000"/>
            <a:headEnd/>
            <a:tailEnd/>
          </a:ln>
          <a:effectLst/>
        </p:spPr>
        <p:txBody>
          <a:bodyPr anchor="ctr"/>
          <a:lstStyle/>
          <a:p>
            <a:pPr algn="ctr">
              <a:defRPr/>
            </a:pPr>
            <a:r>
              <a:rPr lang="en-US" sz="3200" b="1" dirty="0">
                <a:solidFill>
                  <a:srgbClr val="3366CC"/>
                </a:solidFill>
                <a:effectLst>
                  <a:outerShdw blurRad="38100" dist="38100" dir="2700000" algn="tl">
                    <a:srgbClr val="C0C0C0"/>
                  </a:outerShdw>
                </a:effectLst>
                <a:latin typeface="Helvetica" pitchFamily="34" charset="0"/>
              </a:rPr>
              <a:t>Neutron - tenant networks</a:t>
            </a:r>
            <a:endParaRPr lang="it-IT" sz="3200" b="1" dirty="0">
              <a:latin typeface="Helvetica" pitchFamily="34" charset="0"/>
            </a:endParaRPr>
          </a:p>
        </p:txBody>
      </p:sp>
      <p:sp>
        <p:nvSpPr>
          <p:cNvPr id="7" name="Line 6"/>
          <p:cNvSpPr>
            <a:spLocks noChangeShapeType="1"/>
          </p:cNvSpPr>
          <p:nvPr/>
        </p:nvSpPr>
        <p:spPr bwMode="auto">
          <a:xfrm>
            <a:off x="378768" y="1268760"/>
            <a:ext cx="8458200" cy="0"/>
          </a:xfrm>
          <a:prstGeom prst="line">
            <a:avLst/>
          </a:prstGeom>
          <a:noFill/>
          <a:ln w="28575">
            <a:solidFill>
              <a:srgbClr val="3366CC"/>
            </a:solidFill>
            <a:round/>
            <a:headEnd/>
            <a:tailEnd/>
          </a:ln>
        </p:spPr>
        <p:txBody>
          <a:bodyPr wrap="none" lIns="90000" tIns="46800" rIns="90000" bIns="46800" anchor="ctr">
            <a:spAutoFit/>
          </a:bodyPr>
          <a:lstStyle/>
          <a:p>
            <a:endParaRPr lang="it-IT"/>
          </a:p>
        </p:txBody>
      </p:sp>
      <p:sp>
        <p:nvSpPr>
          <p:cNvPr id="3" name="CasellaDiTesto 2"/>
          <p:cNvSpPr txBox="1"/>
          <p:nvPr/>
        </p:nvSpPr>
        <p:spPr>
          <a:xfrm>
            <a:off x="0" y="1340768"/>
            <a:ext cx="9144000" cy="3619452"/>
          </a:xfrm>
          <a:prstGeom prst="rect">
            <a:avLst/>
          </a:prstGeom>
          <a:noFill/>
        </p:spPr>
        <p:txBody>
          <a:bodyPr wrap="square" rtlCol="0">
            <a:spAutoFit/>
          </a:bodyPr>
          <a:lstStyle/>
          <a:p>
            <a:pPr>
              <a:spcBef>
                <a:spcPct val="20000"/>
              </a:spcBef>
            </a:pPr>
            <a:r>
              <a:rPr lang="en-US" sz="1400" b="1" dirty="0">
                <a:latin typeface="Arial" panose="020B0604020202020204" pitchFamily="34" charset="0"/>
                <a:cs typeface="Arial" panose="020B0604020202020204" pitchFamily="34" charset="0"/>
              </a:rPr>
              <a:t>Tenant networks can be created by users to provide connectivity within tenants</a:t>
            </a:r>
            <a:r>
              <a:rPr lang="en-US" sz="1400" dirty="0">
                <a:latin typeface="Arial" panose="020B0604020202020204" pitchFamily="34" charset="0"/>
                <a:cs typeface="Arial" panose="020B0604020202020204" pitchFamily="34" charset="0"/>
              </a:rPr>
              <a:t>. </a:t>
            </a:r>
            <a:r>
              <a:rPr lang="en-US" sz="1400" b="1" dirty="0">
                <a:latin typeface="Arial" panose="020B0604020202020204" pitchFamily="34" charset="0"/>
                <a:cs typeface="Arial" panose="020B0604020202020204" pitchFamily="34" charset="0"/>
              </a:rPr>
              <a:t>Each tenant network is fully isolated and not shared with other tenants. </a:t>
            </a:r>
          </a:p>
          <a:p>
            <a:pPr>
              <a:spcBef>
                <a:spcPct val="20000"/>
              </a:spcBef>
            </a:pPr>
            <a:r>
              <a:rPr lang="en-US" sz="1400" dirty="0">
                <a:latin typeface="Arial" panose="020B0604020202020204" pitchFamily="34" charset="0"/>
                <a:cs typeface="Arial" panose="020B0604020202020204" pitchFamily="34" charset="0"/>
              </a:rPr>
              <a:t>Neutron supports different types of tenant networks:</a:t>
            </a:r>
          </a:p>
          <a:p>
            <a:pPr marL="342900" indent="-342900">
              <a:spcBef>
                <a:spcPct val="20000"/>
              </a:spcBef>
              <a:buFont typeface="Arial" panose="020B0604020202020204" pitchFamily="34" charset="0"/>
              <a:buChar char="•"/>
            </a:pPr>
            <a:r>
              <a:rPr lang="en-US" sz="1400" b="1" dirty="0">
                <a:solidFill>
                  <a:srgbClr val="FF0000"/>
                </a:solidFill>
                <a:latin typeface="Arial" panose="020B0604020202020204" pitchFamily="34" charset="0"/>
                <a:cs typeface="Arial" panose="020B0604020202020204" pitchFamily="34" charset="0"/>
              </a:rPr>
              <a:t>Flat</a:t>
            </a:r>
            <a:r>
              <a:rPr lang="en-US" sz="1400" dirty="0">
                <a:solidFill>
                  <a:srgbClr val="FF0000"/>
                </a:solidFill>
                <a:latin typeface="Arial" panose="020B0604020202020204" pitchFamily="34" charset="0"/>
                <a:cs typeface="Arial" panose="020B0604020202020204" pitchFamily="34" charset="0"/>
              </a:rPr>
              <a:t>: </a:t>
            </a:r>
            <a:r>
              <a:rPr lang="en-US" sz="1400" b="1" dirty="0">
                <a:latin typeface="Arial" panose="020B0604020202020204" pitchFamily="34" charset="0"/>
                <a:cs typeface="Arial" panose="020B0604020202020204" pitchFamily="34" charset="0"/>
              </a:rPr>
              <a:t>no tenant support.</a:t>
            </a:r>
            <a:r>
              <a:rPr lang="en-US" sz="1400" dirty="0">
                <a:solidFill>
                  <a:srgbClr val="FF0000"/>
                </a:solidFill>
                <a:latin typeface="Arial" panose="020B0604020202020204" pitchFamily="34" charset="0"/>
                <a:cs typeface="Arial" panose="020B0604020202020204" pitchFamily="34" charset="0"/>
              </a:rPr>
              <a:t> </a:t>
            </a:r>
            <a:r>
              <a:rPr lang="en-US" sz="1400" dirty="0">
                <a:latin typeface="Arial" panose="020B0604020202020204" pitchFamily="34" charset="0"/>
                <a:cs typeface="Arial" panose="020B0604020202020204" pitchFamily="34" charset="0"/>
              </a:rPr>
              <a:t>Every instance resides on the same network, which can also be shared with the hosts. No VLAN tagging or other network segregation takes place;</a:t>
            </a:r>
          </a:p>
          <a:p>
            <a:pPr marL="342900" indent="-342900">
              <a:spcBef>
                <a:spcPct val="20000"/>
              </a:spcBef>
              <a:buFont typeface="Arial" panose="020B0604020202020204" pitchFamily="34" charset="0"/>
              <a:buChar char="•"/>
            </a:pPr>
            <a:r>
              <a:rPr lang="en-US" sz="1400" b="1" dirty="0">
                <a:solidFill>
                  <a:srgbClr val="FF0000"/>
                </a:solidFill>
                <a:latin typeface="Arial" panose="020B0604020202020204" pitchFamily="34" charset="0"/>
                <a:cs typeface="Arial" panose="020B0604020202020204" pitchFamily="34" charset="0"/>
              </a:rPr>
              <a:t>Local</a:t>
            </a:r>
            <a:r>
              <a:rPr lang="en-US" sz="1400" dirty="0">
                <a:solidFill>
                  <a:srgbClr val="FF0000"/>
                </a:solidFill>
                <a:latin typeface="Arial" panose="020B0604020202020204" pitchFamily="34" charset="0"/>
                <a:cs typeface="Arial" panose="020B0604020202020204" pitchFamily="34" charset="0"/>
              </a:rPr>
              <a:t>: </a:t>
            </a:r>
            <a:r>
              <a:rPr lang="en-US" sz="1400" b="1" dirty="0"/>
              <a:t>instances reside on the local compute host </a:t>
            </a:r>
            <a:r>
              <a:rPr lang="en-US" sz="1400" dirty="0"/>
              <a:t>and are effectively isolated from any external networks; </a:t>
            </a:r>
            <a:endParaRPr lang="en-US" sz="1400" dirty="0">
              <a:latin typeface="Arial" panose="020B0604020202020204" pitchFamily="34" charset="0"/>
              <a:cs typeface="Arial" panose="020B0604020202020204" pitchFamily="34" charset="0"/>
            </a:endParaRPr>
          </a:p>
          <a:p>
            <a:pPr marL="342900" indent="-342900">
              <a:spcBef>
                <a:spcPct val="20000"/>
              </a:spcBef>
              <a:buFont typeface="Arial" panose="020B0604020202020204" pitchFamily="34" charset="0"/>
              <a:buChar char="•"/>
            </a:pPr>
            <a:r>
              <a:rPr lang="en-US" sz="1400" b="1" dirty="0">
                <a:solidFill>
                  <a:srgbClr val="FF0000"/>
                </a:solidFill>
                <a:latin typeface="Arial" panose="020B0604020202020204" pitchFamily="34" charset="0"/>
                <a:cs typeface="Arial" panose="020B0604020202020204" pitchFamily="34" charset="0"/>
              </a:rPr>
              <a:t>VLAN</a:t>
            </a:r>
            <a:r>
              <a:rPr lang="en-US" sz="1400" dirty="0">
                <a:solidFill>
                  <a:srgbClr val="FF0000"/>
                </a:solidFill>
                <a:latin typeface="Arial" panose="020B0604020202020204" pitchFamily="34" charset="0"/>
                <a:cs typeface="Arial" panose="020B0604020202020204" pitchFamily="34" charset="0"/>
              </a:rPr>
              <a:t>: </a:t>
            </a:r>
            <a:r>
              <a:rPr lang="en-US" sz="1400" dirty="0">
                <a:latin typeface="Arial" panose="020B0604020202020204" pitchFamily="34" charset="0"/>
                <a:cs typeface="Arial" panose="020B0604020202020204" pitchFamily="34" charset="0"/>
              </a:rPr>
              <a:t>each tenant network uses VLAN IDs (802.1Q tagged) corresponding to VLANs present in the physical network. This allows instances to communicate with each other across the environment, (other than?) with dedicated servers, firewalls, load balancers and other networking infrastructure on the same layer 2 VLAN. Switch must support 802.1Q standard in order to provide connectivity between two VMs on different hosts;</a:t>
            </a:r>
          </a:p>
          <a:p>
            <a:pPr marL="342900" indent="-342900">
              <a:spcBef>
                <a:spcPct val="20000"/>
              </a:spcBef>
              <a:buFont typeface="Arial" panose="020B0604020202020204" pitchFamily="34" charset="0"/>
              <a:buChar char="•"/>
            </a:pPr>
            <a:r>
              <a:rPr lang="en-US" sz="1400" b="1" dirty="0">
                <a:solidFill>
                  <a:srgbClr val="FF0000"/>
                </a:solidFill>
                <a:latin typeface="Arial" panose="020B0604020202020204" pitchFamily="34" charset="0"/>
                <a:cs typeface="Arial" panose="020B0604020202020204" pitchFamily="34" charset="0"/>
              </a:rPr>
              <a:t>VXLAN and GRE</a:t>
            </a:r>
            <a:r>
              <a:rPr lang="en-US" sz="1400" dirty="0">
                <a:solidFill>
                  <a:srgbClr val="FF0000"/>
                </a:solidFill>
                <a:latin typeface="Arial" panose="020B0604020202020204" pitchFamily="34" charset="0"/>
                <a:cs typeface="Arial" panose="020B0604020202020204" pitchFamily="34" charset="0"/>
              </a:rPr>
              <a:t>:</a:t>
            </a:r>
            <a:r>
              <a:rPr lang="en-US" sz="1400" dirty="0">
                <a:latin typeface="Arial" panose="020B0604020202020204" pitchFamily="34" charset="0"/>
                <a:cs typeface="Arial" panose="020B0604020202020204" pitchFamily="34" charset="0"/>
              </a:rPr>
              <a:t> tenant networks use network overlays to support private communication between instances. A Networking router is required to enable traffic to traverse outside of the tenant network. A router is also required to connect directly-connected tenant networks with external networks, including the Internet.</a:t>
            </a:r>
          </a:p>
          <a:p>
            <a:pPr marL="342900" indent="-342900">
              <a:spcBef>
                <a:spcPct val="20000"/>
              </a:spcBef>
              <a:buFont typeface="Arial" panose="020B0604020202020204" pitchFamily="34" charset="0"/>
              <a:buChar char="•"/>
            </a:pPr>
            <a:endParaRPr lang="it-IT" sz="1600" dirty="0">
              <a:latin typeface="Arial" panose="020B0604020202020204" pitchFamily="34" charset="0"/>
              <a:cs typeface="Arial" panose="020B0604020202020204" pitchFamily="34" charset="0"/>
            </a:endParaRPr>
          </a:p>
        </p:txBody>
      </p:sp>
      <p:pic>
        <p:nvPicPr>
          <p:cNvPr id="2" name="Picture 2" descr="http://docs.openstack.org/admin-guide-cloud/content/figures/13/a/a/common/figures/NetworkTypes.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1680" y="4797152"/>
            <a:ext cx="6048672" cy="20608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51713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ChangeArrowheads="1"/>
          </p:cNvSpPr>
          <p:nvPr/>
        </p:nvSpPr>
        <p:spPr bwMode="auto">
          <a:xfrm>
            <a:off x="683568" y="260648"/>
            <a:ext cx="7848600" cy="762000"/>
          </a:xfrm>
          <a:prstGeom prst="rect">
            <a:avLst/>
          </a:prstGeom>
          <a:noFill/>
          <a:ln w="9525">
            <a:noFill/>
            <a:miter lim="800000"/>
            <a:headEnd/>
            <a:tailEnd/>
          </a:ln>
          <a:effectLst/>
        </p:spPr>
        <p:txBody>
          <a:bodyPr anchor="ctr"/>
          <a:lstStyle/>
          <a:p>
            <a:pPr algn="ctr">
              <a:defRPr/>
            </a:pPr>
            <a:r>
              <a:rPr lang="en-US" sz="3200" b="1" dirty="0">
                <a:solidFill>
                  <a:srgbClr val="3366CC"/>
                </a:solidFill>
                <a:effectLst>
                  <a:outerShdw blurRad="38100" dist="38100" dir="2700000" algn="tl">
                    <a:srgbClr val="C0C0C0"/>
                  </a:outerShdw>
                </a:effectLst>
                <a:latin typeface="Helvetica" pitchFamily="34" charset="0"/>
              </a:rPr>
              <a:t>Neutron – VLAN tenant network</a:t>
            </a:r>
            <a:endParaRPr lang="it-IT" sz="3200" b="1" dirty="0">
              <a:latin typeface="Helvetica" pitchFamily="34" charset="0"/>
            </a:endParaRPr>
          </a:p>
        </p:txBody>
      </p:sp>
      <p:sp>
        <p:nvSpPr>
          <p:cNvPr id="7" name="Line 6"/>
          <p:cNvSpPr>
            <a:spLocks noChangeShapeType="1"/>
          </p:cNvSpPr>
          <p:nvPr/>
        </p:nvSpPr>
        <p:spPr bwMode="auto">
          <a:xfrm>
            <a:off x="378768" y="1268760"/>
            <a:ext cx="8458200" cy="0"/>
          </a:xfrm>
          <a:prstGeom prst="line">
            <a:avLst/>
          </a:prstGeom>
          <a:noFill/>
          <a:ln w="28575">
            <a:solidFill>
              <a:srgbClr val="3366CC"/>
            </a:solidFill>
            <a:round/>
            <a:headEnd/>
            <a:tailEnd/>
          </a:ln>
        </p:spPr>
        <p:txBody>
          <a:bodyPr wrap="none" lIns="90000" tIns="46800" rIns="90000" bIns="46800" anchor="ctr">
            <a:spAutoFit/>
          </a:bodyPr>
          <a:lstStyle/>
          <a:p>
            <a:endParaRPr lang="it-IT"/>
          </a:p>
        </p:txBody>
      </p:sp>
      <p:pic>
        <p:nvPicPr>
          <p:cNvPr id="2050" name="Picture 2" descr="http://docs.openstack.org/admin-guide-cloud/content/figures/14/a/a/common/figures/under-the-hood-scenario-1-ovs-comput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8405" y="1773897"/>
            <a:ext cx="6638925" cy="4486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79300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Rectangle 5"/>
          <p:cNvSpPr>
            <a:spLocks noChangeArrowheads="1"/>
          </p:cNvSpPr>
          <p:nvPr/>
        </p:nvSpPr>
        <p:spPr bwMode="auto">
          <a:xfrm>
            <a:off x="683568" y="260648"/>
            <a:ext cx="7848600" cy="762000"/>
          </a:xfrm>
          <a:prstGeom prst="rect">
            <a:avLst/>
          </a:prstGeom>
          <a:noFill/>
          <a:ln w="9525">
            <a:noFill/>
            <a:miter lim="800000"/>
            <a:headEnd/>
            <a:tailEnd/>
          </a:ln>
          <a:effectLst/>
        </p:spPr>
        <p:txBody>
          <a:bodyPr anchor="ctr"/>
          <a:lstStyle/>
          <a:p>
            <a:pPr algn="ctr">
              <a:defRPr/>
            </a:pPr>
            <a:r>
              <a:rPr lang="en-US" sz="3200" b="1" dirty="0">
                <a:solidFill>
                  <a:srgbClr val="3366CC"/>
                </a:solidFill>
                <a:effectLst>
                  <a:outerShdw blurRad="38100" dist="38100" dir="2700000" algn="tl">
                    <a:srgbClr val="C0C0C0"/>
                  </a:outerShdw>
                </a:effectLst>
                <a:latin typeface="Helvetica" pitchFamily="34" charset="0"/>
              </a:rPr>
              <a:t>Apache Hadoop</a:t>
            </a:r>
            <a:endParaRPr lang="it-IT" sz="3200" b="1" dirty="0">
              <a:latin typeface="Helvetica" pitchFamily="34" charset="0"/>
            </a:endParaRPr>
          </a:p>
        </p:txBody>
      </p:sp>
      <p:sp>
        <p:nvSpPr>
          <p:cNvPr id="7" name="Line 6"/>
          <p:cNvSpPr>
            <a:spLocks noChangeShapeType="1"/>
          </p:cNvSpPr>
          <p:nvPr/>
        </p:nvSpPr>
        <p:spPr bwMode="auto">
          <a:xfrm>
            <a:off x="378768" y="1268760"/>
            <a:ext cx="8458200" cy="0"/>
          </a:xfrm>
          <a:prstGeom prst="line">
            <a:avLst/>
          </a:prstGeom>
          <a:noFill/>
          <a:ln w="28575">
            <a:solidFill>
              <a:srgbClr val="3366CC"/>
            </a:solidFill>
            <a:round/>
            <a:headEnd/>
            <a:tailEnd/>
          </a:ln>
        </p:spPr>
        <p:txBody>
          <a:bodyPr wrap="none" lIns="90000" tIns="46800" rIns="90000" bIns="46800" anchor="ctr">
            <a:spAutoFit/>
          </a:bodyPr>
          <a:lstStyle/>
          <a:p>
            <a:endParaRPr lang="it-IT"/>
          </a:p>
        </p:txBody>
      </p:sp>
      <p:sp>
        <p:nvSpPr>
          <p:cNvPr id="3" name="Rettangolo 2"/>
          <p:cNvSpPr/>
          <p:nvPr/>
        </p:nvSpPr>
        <p:spPr>
          <a:xfrm>
            <a:off x="467544" y="4023062"/>
            <a:ext cx="8280920" cy="2862322"/>
          </a:xfrm>
          <a:prstGeom prst="rect">
            <a:avLst/>
          </a:prstGeom>
        </p:spPr>
        <p:txBody>
          <a:bodyPr wrap="square">
            <a:spAutoFit/>
          </a:bodyPr>
          <a:lstStyle/>
          <a:p>
            <a:pPr marL="0" indent="0">
              <a:lnSpc>
                <a:spcPct val="100000"/>
              </a:lnSpc>
              <a:buFont typeface="Calibri" panose="020F0502020204030204" pitchFamily="34" charset="0"/>
              <a:buNone/>
            </a:pPr>
            <a:r>
              <a:rPr lang="it-IT" sz="2000" dirty="0">
                <a:latin typeface="Arial" panose="020B0604020202020204" pitchFamily="34" charset="0"/>
                <a:cs typeface="Arial" panose="020B0604020202020204" pitchFamily="34" charset="0"/>
              </a:rPr>
              <a:t>Open source </a:t>
            </a:r>
            <a:r>
              <a:rPr lang="it-IT" sz="2000" dirty="0" err="1">
                <a:latin typeface="Arial" panose="020B0604020202020204" pitchFamily="34" charset="0"/>
                <a:cs typeface="Arial" panose="020B0604020202020204" pitchFamily="34" charset="0"/>
              </a:rPr>
              <a:t>project</a:t>
            </a:r>
            <a:r>
              <a:rPr lang="it-IT" sz="2000" dirty="0">
                <a:latin typeface="Arial" panose="020B0604020202020204" pitchFamily="34" charset="0"/>
                <a:cs typeface="Arial" panose="020B0604020202020204" pitchFamily="34" charset="0"/>
              </a:rPr>
              <a:t> for the </a:t>
            </a:r>
            <a:r>
              <a:rPr lang="it-IT" sz="2000" dirty="0" err="1">
                <a:latin typeface="Arial" panose="020B0604020202020204" pitchFamily="34" charset="0"/>
                <a:cs typeface="Arial" panose="020B0604020202020204" pitchFamily="34" charset="0"/>
              </a:rPr>
              <a:t>development</a:t>
            </a:r>
            <a:r>
              <a:rPr lang="it-IT" sz="2000" dirty="0">
                <a:latin typeface="Arial" panose="020B0604020202020204" pitchFamily="34" charset="0"/>
                <a:cs typeface="Arial" panose="020B0604020202020204" pitchFamily="34" charset="0"/>
              </a:rPr>
              <a:t> of </a:t>
            </a:r>
            <a:r>
              <a:rPr lang="it-IT" sz="2000" b="1" dirty="0" err="1">
                <a:latin typeface="Arial" panose="020B0604020202020204" pitchFamily="34" charset="0"/>
                <a:cs typeface="Arial" panose="020B0604020202020204" pitchFamily="34" charset="0"/>
              </a:rPr>
              <a:t>distributed</a:t>
            </a:r>
            <a:r>
              <a:rPr lang="it-IT" sz="2000" dirty="0">
                <a:latin typeface="Arial" panose="020B0604020202020204" pitchFamily="34" charset="0"/>
                <a:cs typeface="Arial" panose="020B0604020202020204" pitchFamily="34" charset="0"/>
              </a:rPr>
              <a:t> and </a:t>
            </a:r>
            <a:r>
              <a:rPr lang="it-IT" sz="2000" b="1" dirty="0" err="1">
                <a:latin typeface="Arial" panose="020B0604020202020204" pitchFamily="34" charset="0"/>
                <a:cs typeface="Arial" panose="020B0604020202020204" pitchFamily="34" charset="0"/>
              </a:rPr>
              <a:t>concurrent</a:t>
            </a:r>
            <a:r>
              <a:rPr lang="it-IT" sz="2000" dirty="0">
                <a:latin typeface="Arial" panose="020B0604020202020204" pitchFamily="34" charset="0"/>
                <a:cs typeface="Arial" panose="020B0604020202020204" pitchFamily="34" charset="0"/>
              </a:rPr>
              <a:t> </a:t>
            </a:r>
            <a:r>
              <a:rPr lang="it-IT" sz="2000" dirty="0" err="1">
                <a:latin typeface="Arial" panose="020B0604020202020204" pitchFamily="34" charset="0"/>
                <a:cs typeface="Arial" panose="020B0604020202020204" pitchFamily="34" charset="0"/>
              </a:rPr>
              <a:t>applications</a:t>
            </a:r>
            <a:br>
              <a:rPr lang="it-IT" sz="2000" dirty="0">
                <a:latin typeface="Arial" panose="020B0604020202020204" pitchFamily="34" charset="0"/>
                <a:cs typeface="Arial" panose="020B0604020202020204" pitchFamily="34" charset="0"/>
              </a:rPr>
            </a:br>
            <a:endParaRPr lang="it-IT" sz="20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it-IT" sz="2000" dirty="0" err="1">
                <a:latin typeface="Arial" panose="020B0604020202020204" pitchFamily="34" charset="0"/>
                <a:cs typeface="Arial" panose="020B0604020202020204" pitchFamily="34" charset="0"/>
              </a:rPr>
              <a:t>based</a:t>
            </a:r>
            <a:r>
              <a:rPr lang="it-IT" sz="2000" dirty="0">
                <a:latin typeface="Arial" panose="020B0604020202020204" pitchFamily="34" charset="0"/>
                <a:cs typeface="Arial" panose="020B0604020202020204" pitchFamily="34" charset="0"/>
              </a:rPr>
              <a:t> on Google </a:t>
            </a:r>
            <a:r>
              <a:rPr lang="it-IT" sz="2000" b="1" dirty="0">
                <a:latin typeface="Arial" panose="020B0604020202020204" pitchFamily="34" charset="0"/>
                <a:cs typeface="Arial" panose="020B0604020202020204" pitchFamily="34" charset="0"/>
              </a:rPr>
              <a:t>MapReduce</a:t>
            </a:r>
            <a:endParaRPr lang="it-IT" sz="20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it-IT" sz="2000" dirty="0" err="1">
                <a:latin typeface="Arial" panose="020B0604020202020204" pitchFamily="34" charset="0"/>
                <a:cs typeface="Arial" panose="020B0604020202020204" pitchFamily="34" charset="0"/>
              </a:rPr>
              <a:t>designed</a:t>
            </a:r>
            <a:r>
              <a:rPr lang="it-IT" sz="2000" dirty="0">
                <a:latin typeface="Arial" panose="020B0604020202020204" pitchFamily="34" charset="0"/>
                <a:cs typeface="Arial" panose="020B0604020202020204" pitchFamily="34" charset="0"/>
              </a:rPr>
              <a:t> for </a:t>
            </a:r>
            <a:r>
              <a:rPr lang="en-US" sz="2000" dirty="0">
                <a:latin typeface="Arial" panose="020B0604020202020204" pitchFamily="34" charset="0"/>
                <a:cs typeface="Arial" panose="020B0604020202020204" pitchFamily="34" charset="0"/>
              </a:rPr>
              <a:t>distributed processing of large data sets across </a:t>
            </a:r>
            <a:r>
              <a:rPr lang="it-IT" sz="2000" b="1" dirty="0" err="1">
                <a:latin typeface="Arial" panose="020B0604020202020204" pitchFamily="34" charset="0"/>
                <a:cs typeface="Arial" panose="020B0604020202020204" pitchFamily="34" charset="0"/>
              </a:rPr>
              <a:t>very</a:t>
            </a:r>
            <a:r>
              <a:rPr lang="it-IT" sz="2000" b="1" dirty="0">
                <a:latin typeface="Arial" panose="020B0604020202020204" pitchFamily="34" charset="0"/>
                <a:cs typeface="Arial" panose="020B0604020202020204" pitchFamily="34" charset="0"/>
              </a:rPr>
              <a:t> large clusters </a:t>
            </a:r>
            <a:r>
              <a:rPr lang="it-IT" sz="2000" dirty="0">
                <a:latin typeface="Arial" panose="020B0604020202020204" pitchFamily="34" charset="0"/>
                <a:cs typeface="Arial" panose="020B0604020202020204" pitchFamily="34" charset="0"/>
              </a:rPr>
              <a:t>of </a:t>
            </a:r>
            <a:r>
              <a:rPr lang="it-IT" sz="2000" dirty="0" err="1">
                <a:latin typeface="Arial" panose="020B0604020202020204" pitchFamily="34" charset="0"/>
                <a:cs typeface="Arial" panose="020B0604020202020204" pitchFamily="34" charset="0"/>
              </a:rPr>
              <a:t>computers</a:t>
            </a:r>
            <a:endParaRPr lang="it-IT" sz="2000" b="1"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it-IT" sz="2000" dirty="0" err="1">
                <a:latin typeface="Arial" panose="020B0604020202020204" pitchFamily="34" charset="0"/>
                <a:cs typeface="Arial" panose="020B0604020202020204" pitchFamily="34" charset="0"/>
              </a:rPr>
              <a:t>highly</a:t>
            </a:r>
            <a:r>
              <a:rPr lang="it-IT" sz="2000" dirty="0">
                <a:latin typeface="Arial" panose="020B0604020202020204" pitchFamily="34" charset="0"/>
                <a:cs typeface="Arial" panose="020B0604020202020204" pitchFamily="34" charset="0"/>
              </a:rPr>
              <a:t> </a:t>
            </a:r>
            <a:r>
              <a:rPr lang="it-IT" sz="2000" b="1" dirty="0">
                <a:latin typeface="Arial" panose="020B0604020202020204" pitchFamily="34" charset="0"/>
                <a:cs typeface="Arial" panose="020B0604020202020204" pitchFamily="34" charset="0"/>
              </a:rPr>
              <a:t>fault</a:t>
            </a:r>
            <a:r>
              <a:rPr lang="it-IT" sz="2000" dirty="0">
                <a:latin typeface="Arial" panose="020B0604020202020204" pitchFamily="34" charset="0"/>
                <a:cs typeface="Arial" panose="020B0604020202020204" pitchFamily="34" charset="0"/>
              </a:rPr>
              <a:t> </a:t>
            </a:r>
            <a:r>
              <a:rPr lang="it-IT" sz="2000" b="1" dirty="0" err="1">
                <a:latin typeface="Arial" panose="020B0604020202020204" pitchFamily="34" charset="0"/>
                <a:cs typeface="Arial" panose="020B0604020202020204" pitchFamily="34" charset="0"/>
              </a:rPr>
              <a:t>tolerant</a:t>
            </a:r>
            <a:endParaRPr lang="it-IT" sz="2000" b="1"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relies</a:t>
            </a:r>
            <a:r>
              <a:rPr lang="it-IT" sz="2000" dirty="0">
                <a:latin typeface="Arial" panose="020B0604020202020204" pitchFamily="34" charset="0"/>
                <a:cs typeface="Arial" panose="020B0604020202020204" pitchFamily="34" charset="0"/>
              </a:rPr>
              <a:t> on </a:t>
            </a:r>
            <a:r>
              <a:rPr lang="it-IT" sz="2000" b="1" dirty="0">
                <a:latin typeface="Arial" panose="020B0604020202020204" pitchFamily="34" charset="0"/>
                <a:cs typeface="Arial" panose="020B0604020202020204" pitchFamily="34" charset="0"/>
              </a:rPr>
              <a:t>Hadoop Distributed File System (HDFS) </a:t>
            </a:r>
            <a:r>
              <a:rPr lang="it-IT" sz="2000" dirty="0">
                <a:latin typeface="Arial" panose="020B0604020202020204" pitchFamily="34" charset="0"/>
                <a:cs typeface="Arial" panose="020B0604020202020204" pitchFamily="34" charset="0"/>
              </a:rPr>
              <a:t>for the </a:t>
            </a:r>
            <a:r>
              <a:rPr lang="it-IT" sz="2000" dirty="0" err="1">
                <a:latin typeface="Arial" panose="020B0604020202020204" pitchFamily="34" charset="0"/>
                <a:cs typeface="Arial" panose="020B0604020202020204" pitchFamily="34" charset="0"/>
              </a:rPr>
              <a:t>distribution</a:t>
            </a:r>
            <a:r>
              <a:rPr lang="it-IT" sz="2000" dirty="0">
                <a:latin typeface="Arial" panose="020B0604020202020204" pitchFamily="34" charset="0"/>
                <a:cs typeface="Arial" panose="020B0604020202020204" pitchFamily="34" charset="0"/>
              </a:rPr>
              <a:t> of data</a:t>
            </a:r>
          </a:p>
        </p:txBody>
      </p:sp>
      <p:pic>
        <p:nvPicPr>
          <p:cNvPr id="8" name="Immagin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5073" y="1707307"/>
            <a:ext cx="1944216" cy="461661"/>
          </a:xfrm>
          <a:prstGeom prst="rect">
            <a:avLst/>
          </a:prstGeom>
        </p:spPr>
      </p:pic>
      <p:pic>
        <p:nvPicPr>
          <p:cNvPr id="2052" name="Picture 4" descr="http://mm-tom.s3.amazonaws.com/blog/MapReduc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8093" y="1463975"/>
            <a:ext cx="3519550" cy="25590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80158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Rectangle 5"/>
          <p:cNvSpPr>
            <a:spLocks noChangeArrowheads="1"/>
          </p:cNvSpPr>
          <p:nvPr/>
        </p:nvSpPr>
        <p:spPr bwMode="auto">
          <a:xfrm>
            <a:off x="683568" y="260648"/>
            <a:ext cx="7848600" cy="762000"/>
          </a:xfrm>
          <a:prstGeom prst="rect">
            <a:avLst/>
          </a:prstGeom>
          <a:noFill/>
          <a:ln w="9525">
            <a:noFill/>
            <a:miter lim="800000"/>
            <a:headEnd/>
            <a:tailEnd/>
          </a:ln>
          <a:effectLst/>
        </p:spPr>
        <p:txBody>
          <a:bodyPr anchor="ctr"/>
          <a:lstStyle/>
          <a:p>
            <a:pPr algn="ctr">
              <a:defRPr/>
            </a:pPr>
            <a:r>
              <a:rPr lang="en-US" sz="3200" b="1" dirty="0">
                <a:solidFill>
                  <a:srgbClr val="3366CC"/>
                </a:solidFill>
                <a:effectLst>
                  <a:outerShdw blurRad="38100" dist="38100" dir="2700000" algn="tl">
                    <a:srgbClr val="C0C0C0"/>
                  </a:outerShdw>
                </a:effectLst>
                <a:latin typeface="Helvetica" pitchFamily="34" charset="0"/>
              </a:rPr>
              <a:t>Hadoop for OpenStack</a:t>
            </a:r>
            <a:endParaRPr lang="it-IT" sz="3200" b="1" dirty="0">
              <a:latin typeface="Helvetica" pitchFamily="34" charset="0"/>
            </a:endParaRPr>
          </a:p>
        </p:txBody>
      </p:sp>
      <p:sp>
        <p:nvSpPr>
          <p:cNvPr id="7" name="Line 6"/>
          <p:cNvSpPr>
            <a:spLocks noChangeShapeType="1"/>
          </p:cNvSpPr>
          <p:nvPr/>
        </p:nvSpPr>
        <p:spPr bwMode="auto">
          <a:xfrm>
            <a:off x="378768" y="1268760"/>
            <a:ext cx="8458200" cy="0"/>
          </a:xfrm>
          <a:prstGeom prst="line">
            <a:avLst/>
          </a:prstGeom>
          <a:noFill/>
          <a:ln w="28575">
            <a:solidFill>
              <a:srgbClr val="3366CC"/>
            </a:solidFill>
            <a:round/>
            <a:headEnd/>
            <a:tailEnd/>
          </a:ln>
        </p:spPr>
        <p:txBody>
          <a:bodyPr wrap="none" lIns="90000" tIns="46800" rIns="90000" bIns="46800" anchor="ctr">
            <a:spAutoFit/>
          </a:bodyPr>
          <a:lstStyle/>
          <a:p>
            <a:endParaRPr lang="it-IT"/>
          </a:p>
        </p:txBody>
      </p:sp>
      <p:sp>
        <p:nvSpPr>
          <p:cNvPr id="3" name="Rettangolo 2"/>
          <p:cNvSpPr/>
          <p:nvPr/>
        </p:nvSpPr>
        <p:spPr>
          <a:xfrm>
            <a:off x="467544" y="1700808"/>
            <a:ext cx="8280920" cy="5262979"/>
          </a:xfrm>
          <a:prstGeom prst="rect">
            <a:avLst/>
          </a:prstGeom>
        </p:spPr>
        <p:txBody>
          <a:bodyPr wrap="square">
            <a:spAutoFit/>
          </a:bodyPr>
          <a:lstStyle/>
          <a:p>
            <a:pPr lvl="0" eaLnBrk="1" fontAlgn="auto" hangingPunct="1">
              <a:spcBef>
                <a:spcPts val="0"/>
              </a:spcBef>
              <a:spcAft>
                <a:spcPts val="0"/>
              </a:spcAft>
            </a:pPr>
            <a:r>
              <a:rPr lang="en-US" b="1" dirty="0">
                <a:solidFill>
                  <a:prstClr val="black">
                    <a:lumMod val="75000"/>
                    <a:lumOff val="25000"/>
                  </a:prstClr>
                </a:solidFill>
                <a:latin typeface="Arial" panose="020B0604020202020204" pitchFamily="34" charset="0"/>
                <a:cs typeface="Arial" panose="020B0604020202020204" pitchFamily="34" charset="0"/>
              </a:rPr>
              <a:t>Hadoop </a:t>
            </a:r>
            <a:r>
              <a:rPr lang="en-US" dirty="0">
                <a:solidFill>
                  <a:prstClr val="black">
                    <a:lumMod val="75000"/>
                    <a:lumOff val="25000"/>
                  </a:prstClr>
                </a:solidFill>
                <a:latin typeface="Arial" panose="020B0604020202020204" pitchFamily="34" charset="0"/>
                <a:cs typeface="Arial" panose="020B0604020202020204" pitchFamily="34" charset="0"/>
              </a:rPr>
              <a:t>can exploit the virtualization provided by </a:t>
            </a:r>
            <a:r>
              <a:rPr lang="en-US" b="1" dirty="0">
                <a:solidFill>
                  <a:prstClr val="black">
                    <a:lumMod val="75000"/>
                    <a:lumOff val="25000"/>
                  </a:prstClr>
                </a:solidFill>
                <a:latin typeface="Arial" panose="020B0604020202020204" pitchFamily="34" charset="0"/>
                <a:cs typeface="Arial" panose="020B0604020202020204" pitchFamily="34" charset="0"/>
              </a:rPr>
              <a:t>OpenStack</a:t>
            </a:r>
            <a:r>
              <a:rPr lang="en-US" dirty="0">
                <a:solidFill>
                  <a:prstClr val="black">
                    <a:lumMod val="75000"/>
                    <a:lumOff val="25000"/>
                  </a:prstClr>
                </a:solidFill>
                <a:latin typeface="Arial" panose="020B0604020202020204" pitchFamily="34" charset="0"/>
                <a:cs typeface="Arial" panose="020B0604020202020204" pitchFamily="34" charset="0"/>
              </a:rPr>
              <a:t> in order to obtain more flexible clusters and a better resource utilization</a:t>
            </a:r>
          </a:p>
          <a:p>
            <a:pPr lvl="0" eaLnBrk="1" fontAlgn="auto" hangingPunct="1">
              <a:spcBef>
                <a:spcPts val="0"/>
              </a:spcBef>
              <a:spcAft>
                <a:spcPts val="0"/>
              </a:spcAft>
            </a:pPr>
            <a:endParaRPr lang="it-IT" dirty="0">
              <a:solidFill>
                <a:prstClr val="black">
                  <a:lumMod val="75000"/>
                  <a:lumOff val="25000"/>
                </a:prstClr>
              </a:solidFill>
              <a:latin typeface="Arial" panose="020B0604020202020204" pitchFamily="34" charset="0"/>
              <a:cs typeface="Arial" panose="020B0604020202020204" pitchFamily="34" charset="0"/>
            </a:endParaRPr>
          </a:p>
          <a:p>
            <a:pPr lvl="0" eaLnBrk="1" fontAlgn="auto" hangingPunct="1">
              <a:spcBef>
                <a:spcPts val="0"/>
              </a:spcBef>
              <a:spcAft>
                <a:spcPts val="0"/>
              </a:spcAft>
            </a:pPr>
            <a:r>
              <a:rPr lang="it-IT" dirty="0">
                <a:solidFill>
                  <a:prstClr val="black">
                    <a:lumMod val="75000"/>
                    <a:lumOff val="25000"/>
                  </a:prstClr>
                </a:solidFill>
                <a:latin typeface="Arial" panose="020B0604020202020204" pitchFamily="34" charset="0"/>
                <a:cs typeface="Arial" panose="020B0604020202020204" pitchFamily="34" charset="0"/>
              </a:rPr>
              <a:t>OpenStack service </a:t>
            </a:r>
            <a:r>
              <a:rPr lang="it-IT" b="1" dirty="0">
                <a:solidFill>
                  <a:prstClr val="black">
                    <a:lumMod val="75000"/>
                    <a:lumOff val="25000"/>
                  </a:prstClr>
                </a:solidFill>
                <a:latin typeface="Arial" panose="020B0604020202020204" pitchFamily="34" charset="0"/>
                <a:cs typeface="Arial" panose="020B0604020202020204" pitchFamily="34" charset="0"/>
              </a:rPr>
              <a:t>Sahara </a:t>
            </a:r>
            <a:r>
              <a:rPr lang="it-IT" dirty="0">
                <a:solidFill>
                  <a:prstClr val="black">
                    <a:lumMod val="75000"/>
                    <a:lumOff val="25000"/>
                  </a:prstClr>
                </a:solidFill>
                <a:latin typeface="Arial" panose="020B0604020202020204" pitchFamily="34" charset="0"/>
                <a:cs typeface="Arial" panose="020B0604020202020204" pitchFamily="34" charset="0"/>
              </a:rPr>
              <a:t>can be </a:t>
            </a:r>
            <a:r>
              <a:rPr lang="it-IT" dirty="0" err="1">
                <a:solidFill>
                  <a:prstClr val="black">
                    <a:lumMod val="75000"/>
                    <a:lumOff val="25000"/>
                  </a:prstClr>
                </a:solidFill>
                <a:latin typeface="Arial" panose="020B0604020202020204" pitchFamily="34" charset="0"/>
                <a:cs typeface="Arial" panose="020B0604020202020204" pitchFamily="34" charset="0"/>
              </a:rPr>
              <a:t>used</a:t>
            </a:r>
            <a:r>
              <a:rPr lang="it-IT" dirty="0">
                <a:solidFill>
                  <a:prstClr val="black">
                    <a:lumMod val="75000"/>
                    <a:lumOff val="25000"/>
                  </a:prstClr>
                </a:solidFill>
                <a:latin typeface="Arial" panose="020B0604020202020204" pitchFamily="34" charset="0"/>
                <a:cs typeface="Arial" panose="020B0604020202020204" pitchFamily="34" charset="0"/>
              </a:rPr>
              <a:t> to </a:t>
            </a:r>
            <a:r>
              <a:rPr lang="it-IT" b="1" dirty="0" err="1">
                <a:solidFill>
                  <a:prstClr val="black">
                    <a:lumMod val="75000"/>
                    <a:lumOff val="25000"/>
                  </a:prstClr>
                </a:solidFill>
                <a:latin typeface="Arial" panose="020B0604020202020204" pitchFamily="34" charset="0"/>
                <a:cs typeface="Arial" panose="020B0604020202020204" pitchFamily="34" charset="0"/>
              </a:rPr>
              <a:t>deploy</a:t>
            </a:r>
            <a:r>
              <a:rPr lang="it-IT" b="1" dirty="0">
                <a:solidFill>
                  <a:prstClr val="black">
                    <a:lumMod val="75000"/>
                    <a:lumOff val="25000"/>
                  </a:prstClr>
                </a:solidFill>
                <a:latin typeface="Arial" panose="020B0604020202020204" pitchFamily="34" charset="0"/>
                <a:cs typeface="Arial" panose="020B0604020202020204" pitchFamily="34" charset="0"/>
              </a:rPr>
              <a:t> </a:t>
            </a:r>
            <a:r>
              <a:rPr lang="it-IT" dirty="0">
                <a:solidFill>
                  <a:prstClr val="black">
                    <a:lumMod val="75000"/>
                    <a:lumOff val="25000"/>
                  </a:prstClr>
                </a:solidFill>
                <a:latin typeface="Arial" panose="020B0604020202020204" pitchFamily="34" charset="0"/>
                <a:cs typeface="Arial" panose="020B0604020202020204" pitchFamily="34" charset="0"/>
              </a:rPr>
              <a:t>and </a:t>
            </a:r>
            <a:r>
              <a:rPr lang="it-IT" b="1" dirty="0" err="1">
                <a:solidFill>
                  <a:prstClr val="black">
                    <a:lumMod val="75000"/>
                    <a:lumOff val="25000"/>
                  </a:prstClr>
                </a:solidFill>
                <a:latin typeface="Arial" panose="020B0604020202020204" pitchFamily="34" charset="0"/>
                <a:cs typeface="Arial" panose="020B0604020202020204" pitchFamily="34" charset="0"/>
              </a:rPr>
              <a:t>configure</a:t>
            </a:r>
            <a:r>
              <a:rPr lang="it-IT" b="1" dirty="0">
                <a:solidFill>
                  <a:prstClr val="black">
                    <a:lumMod val="75000"/>
                    <a:lumOff val="25000"/>
                  </a:prstClr>
                </a:solidFill>
                <a:latin typeface="Arial" panose="020B0604020202020204" pitchFamily="34" charset="0"/>
                <a:cs typeface="Arial" panose="020B0604020202020204" pitchFamily="34" charset="0"/>
              </a:rPr>
              <a:t> Hadoop clusters </a:t>
            </a:r>
            <a:r>
              <a:rPr lang="it-IT" dirty="0">
                <a:solidFill>
                  <a:prstClr val="black">
                    <a:lumMod val="75000"/>
                    <a:lumOff val="25000"/>
                  </a:prstClr>
                </a:solidFill>
                <a:latin typeface="Arial" panose="020B0604020202020204" pitchFamily="34" charset="0"/>
                <a:cs typeface="Arial" panose="020B0604020202020204" pitchFamily="34" charset="0"/>
              </a:rPr>
              <a:t>in a </a:t>
            </a:r>
            <a:r>
              <a:rPr lang="it-IT" dirty="0" err="1">
                <a:solidFill>
                  <a:prstClr val="black">
                    <a:lumMod val="75000"/>
                    <a:lumOff val="25000"/>
                  </a:prstClr>
                </a:solidFill>
                <a:latin typeface="Arial" panose="020B0604020202020204" pitchFamily="34" charset="0"/>
                <a:cs typeface="Arial" panose="020B0604020202020204" pitchFamily="34" charset="0"/>
              </a:rPr>
              <a:t>Cloud</a:t>
            </a:r>
            <a:r>
              <a:rPr lang="it-IT" dirty="0">
                <a:solidFill>
                  <a:prstClr val="black">
                    <a:lumMod val="75000"/>
                    <a:lumOff val="25000"/>
                  </a:prstClr>
                </a:solidFill>
                <a:latin typeface="Arial" panose="020B0604020202020204" pitchFamily="34" charset="0"/>
                <a:cs typeface="Arial" panose="020B0604020202020204" pitchFamily="34" charset="0"/>
              </a:rPr>
              <a:t> </a:t>
            </a:r>
            <a:r>
              <a:rPr lang="it-IT" dirty="0" err="1">
                <a:solidFill>
                  <a:prstClr val="black">
                    <a:lumMod val="75000"/>
                    <a:lumOff val="25000"/>
                  </a:prstClr>
                </a:solidFill>
                <a:latin typeface="Arial" panose="020B0604020202020204" pitchFamily="34" charset="0"/>
                <a:cs typeface="Arial" panose="020B0604020202020204" pitchFamily="34" charset="0"/>
              </a:rPr>
              <a:t>environment</a:t>
            </a:r>
            <a:r>
              <a:rPr lang="it-IT" dirty="0">
                <a:solidFill>
                  <a:prstClr val="black">
                    <a:lumMod val="75000"/>
                    <a:lumOff val="25000"/>
                  </a:prstClr>
                </a:solidFill>
                <a:latin typeface="Arial" panose="020B0604020202020204" pitchFamily="34" charset="0"/>
                <a:cs typeface="Arial" panose="020B0604020202020204" pitchFamily="34" charset="0"/>
              </a:rPr>
              <a:t>:</a:t>
            </a:r>
          </a:p>
          <a:p>
            <a:pPr marL="342900" lvl="0" indent="-342900" eaLnBrk="1" fontAlgn="auto" hangingPunct="1">
              <a:spcBef>
                <a:spcPts val="0"/>
              </a:spcBef>
              <a:spcAft>
                <a:spcPts val="0"/>
              </a:spcAft>
              <a:buFont typeface="Arial" panose="020B0604020202020204" pitchFamily="34" charset="0"/>
              <a:buChar char="•"/>
            </a:pPr>
            <a:r>
              <a:rPr lang="it-IT" dirty="0">
                <a:solidFill>
                  <a:prstClr val="black">
                    <a:lumMod val="75000"/>
                    <a:lumOff val="25000"/>
                  </a:prstClr>
                </a:solidFill>
                <a:latin typeface="Arial" panose="020B0604020202020204" pitchFamily="34" charset="0"/>
                <a:cs typeface="Arial" panose="020B0604020202020204" pitchFamily="34" charset="0"/>
              </a:rPr>
              <a:t>cluster </a:t>
            </a:r>
            <a:r>
              <a:rPr lang="it-IT" dirty="0" err="1">
                <a:solidFill>
                  <a:prstClr val="black">
                    <a:lumMod val="75000"/>
                    <a:lumOff val="25000"/>
                  </a:prstClr>
                </a:solidFill>
                <a:latin typeface="Arial" panose="020B0604020202020204" pitchFamily="34" charset="0"/>
                <a:cs typeface="Arial" panose="020B0604020202020204" pitchFamily="34" charset="0"/>
              </a:rPr>
              <a:t>scaling</a:t>
            </a:r>
            <a:r>
              <a:rPr lang="it-IT" dirty="0">
                <a:solidFill>
                  <a:prstClr val="black">
                    <a:lumMod val="75000"/>
                    <a:lumOff val="25000"/>
                  </a:prstClr>
                </a:solidFill>
                <a:latin typeface="Arial" panose="020B0604020202020204" pitchFamily="34" charset="0"/>
                <a:cs typeface="Arial" panose="020B0604020202020204" pitchFamily="34" charset="0"/>
              </a:rPr>
              <a:t> </a:t>
            </a:r>
            <a:r>
              <a:rPr lang="it-IT" dirty="0" err="1">
                <a:solidFill>
                  <a:prstClr val="black">
                    <a:lumMod val="75000"/>
                    <a:lumOff val="25000"/>
                  </a:prstClr>
                </a:solidFill>
                <a:latin typeface="Arial" panose="020B0604020202020204" pitchFamily="34" charset="0"/>
                <a:cs typeface="Arial" panose="020B0604020202020204" pitchFamily="34" charset="0"/>
              </a:rPr>
              <a:t>functionalities</a:t>
            </a:r>
            <a:endParaRPr lang="it-IT" dirty="0">
              <a:solidFill>
                <a:prstClr val="black">
                  <a:lumMod val="75000"/>
                  <a:lumOff val="25000"/>
                </a:prstClr>
              </a:solidFill>
              <a:latin typeface="Arial" panose="020B0604020202020204" pitchFamily="34" charset="0"/>
              <a:cs typeface="Arial" panose="020B0604020202020204" pitchFamily="34" charset="0"/>
            </a:endParaRPr>
          </a:p>
          <a:p>
            <a:pPr marL="342900" lvl="0" indent="-342900" eaLnBrk="1" fontAlgn="auto" hangingPunct="1">
              <a:spcBef>
                <a:spcPts val="0"/>
              </a:spcBef>
              <a:spcAft>
                <a:spcPts val="0"/>
              </a:spcAft>
              <a:buFont typeface="Arial" panose="020B0604020202020204" pitchFamily="34" charset="0"/>
              <a:buChar char="•"/>
            </a:pPr>
            <a:r>
              <a:rPr lang="it-IT" dirty="0">
                <a:solidFill>
                  <a:prstClr val="black">
                    <a:lumMod val="75000"/>
                    <a:lumOff val="25000"/>
                  </a:prstClr>
                </a:solidFill>
                <a:latin typeface="Arial" panose="020B0604020202020204" pitchFamily="34" charset="0"/>
                <a:cs typeface="Arial" panose="020B0604020202020204" pitchFamily="34" charset="0"/>
              </a:rPr>
              <a:t>Analytics </a:t>
            </a:r>
            <a:r>
              <a:rPr lang="it-IT" dirty="0" err="1">
                <a:solidFill>
                  <a:prstClr val="black">
                    <a:lumMod val="75000"/>
                    <a:lumOff val="25000"/>
                  </a:prstClr>
                </a:solidFill>
                <a:latin typeface="Arial" panose="020B0604020202020204" pitchFamily="34" charset="0"/>
                <a:cs typeface="Arial" panose="020B0604020202020204" pitchFamily="34" charset="0"/>
              </a:rPr>
              <a:t>as</a:t>
            </a:r>
            <a:r>
              <a:rPr lang="it-IT" dirty="0">
                <a:solidFill>
                  <a:prstClr val="black">
                    <a:lumMod val="75000"/>
                    <a:lumOff val="25000"/>
                  </a:prstClr>
                </a:solidFill>
                <a:latin typeface="Arial" panose="020B0604020202020204" pitchFamily="34" charset="0"/>
                <a:cs typeface="Arial" panose="020B0604020202020204" pitchFamily="34" charset="0"/>
              </a:rPr>
              <a:t> a Service (</a:t>
            </a:r>
            <a:r>
              <a:rPr lang="it-IT" dirty="0" err="1">
                <a:solidFill>
                  <a:prstClr val="black">
                    <a:lumMod val="75000"/>
                    <a:lumOff val="25000"/>
                  </a:prstClr>
                </a:solidFill>
                <a:latin typeface="Arial" panose="020B0604020202020204" pitchFamily="34" charset="0"/>
                <a:cs typeface="Arial" panose="020B0604020202020204" pitchFamily="34" charset="0"/>
              </a:rPr>
              <a:t>AaaS</a:t>
            </a:r>
            <a:r>
              <a:rPr lang="it-IT" dirty="0">
                <a:solidFill>
                  <a:prstClr val="black">
                    <a:lumMod val="75000"/>
                    <a:lumOff val="25000"/>
                  </a:prstClr>
                </a:solidFill>
                <a:latin typeface="Arial" panose="020B0604020202020204" pitchFamily="34" charset="0"/>
                <a:cs typeface="Arial" panose="020B0604020202020204" pitchFamily="34" charset="0"/>
              </a:rPr>
              <a:t>) </a:t>
            </a:r>
            <a:r>
              <a:rPr lang="it-IT" dirty="0" err="1">
                <a:solidFill>
                  <a:prstClr val="black">
                    <a:lumMod val="75000"/>
                    <a:lumOff val="25000"/>
                  </a:prstClr>
                </a:solidFill>
                <a:latin typeface="Arial" panose="020B0604020202020204" pitchFamily="34" charset="0"/>
                <a:cs typeface="Arial" panose="020B0604020202020204" pitchFamily="34" charset="0"/>
              </a:rPr>
              <a:t>functionalities</a:t>
            </a:r>
            <a:endParaRPr lang="it-IT" dirty="0">
              <a:solidFill>
                <a:prstClr val="black">
                  <a:lumMod val="75000"/>
                  <a:lumOff val="25000"/>
                </a:prstClr>
              </a:solidFill>
              <a:latin typeface="Arial" panose="020B0604020202020204" pitchFamily="34" charset="0"/>
              <a:cs typeface="Arial" panose="020B0604020202020204" pitchFamily="34" charset="0"/>
            </a:endParaRPr>
          </a:p>
          <a:p>
            <a:pPr marL="342900" lvl="0" indent="-342900" eaLnBrk="1" fontAlgn="auto" hangingPunct="1">
              <a:spcBef>
                <a:spcPts val="0"/>
              </a:spcBef>
              <a:spcAft>
                <a:spcPts val="0"/>
              </a:spcAft>
              <a:buFont typeface="Arial" panose="020B0604020202020204" pitchFamily="34" charset="0"/>
              <a:buChar char="•"/>
            </a:pPr>
            <a:r>
              <a:rPr lang="it-IT" dirty="0" err="1">
                <a:solidFill>
                  <a:prstClr val="black">
                    <a:lumMod val="75000"/>
                    <a:lumOff val="25000"/>
                  </a:prstClr>
                </a:solidFill>
                <a:latin typeface="Arial" panose="020B0604020202020204" pitchFamily="34" charset="0"/>
                <a:cs typeface="Arial" panose="020B0604020202020204" pitchFamily="34" charset="0"/>
              </a:rPr>
              <a:t>accessible</a:t>
            </a:r>
            <a:r>
              <a:rPr lang="it-IT" dirty="0">
                <a:solidFill>
                  <a:prstClr val="black">
                    <a:lumMod val="75000"/>
                    <a:lumOff val="25000"/>
                  </a:prstClr>
                </a:solidFill>
                <a:latin typeface="Arial" panose="020B0604020202020204" pitchFamily="34" charset="0"/>
                <a:cs typeface="Arial" panose="020B0604020202020204" pitchFamily="34" charset="0"/>
              </a:rPr>
              <a:t> via OpenStack dashboard, CLI or RESTful API </a:t>
            </a:r>
          </a:p>
          <a:p>
            <a:pPr marL="342900" lvl="0" indent="-342900" eaLnBrk="1" fontAlgn="auto" hangingPunct="1">
              <a:spcBef>
                <a:spcPts val="0"/>
              </a:spcBef>
              <a:spcAft>
                <a:spcPts val="0"/>
              </a:spcAft>
              <a:buFont typeface="Arial" panose="020B0604020202020204" pitchFamily="34" charset="0"/>
              <a:buChar char="•"/>
            </a:pPr>
            <a:endParaRPr lang="it-IT" dirty="0">
              <a:solidFill>
                <a:prstClr val="black">
                  <a:lumMod val="75000"/>
                  <a:lumOff val="25000"/>
                </a:prstClr>
              </a:solidFill>
              <a:latin typeface="Arial" panose="020B0604020202020204" pitchFamily="34" charset="0"/>
              <a:cs typeface="Arial" panose="020B0604020202020204" pitchFamily="34" charset="0"/>
            </a:endParaRPr>
          </a:p>
          <a:p>
            <a:pPr lvl="0" eaLnBrk="1" fontAlgn="auto" hangingPunct="1">
              <a:spcBef>
                <a:spcPts val="0"/>
              </a:spcBef>
              <a:spcAft>
                <a:spcPts val="0"/>
              </a:spcAft>
            </a:pPr>
            <a:endParaRPr lang="it-IT" dirty="0">
              <a:solidFill>
                <a:prstClr val="black">
                  <a:lumMod val="75000"/>
                  <a:lumOff val="25000"/>
                </a:prstClr>
              </a:solidFill>
              <a:latin typeface="Arial" panose="020B0604020202020204" pitchFamily="34" charset="0"/>
              <a:cs typeface="Arial" panose="020B0604020202020204" pitchFamily="34" charset="0"/>
            </a:endParaRPr>
          </a:p>
          <a:p>
            <a:pPr lvl="0" eaLnBrk="1" fontAlgn="auto" hangingPunct="1">
              <a:spcBef>
                <a:spcPts val="0"/>
              </a:spcBef>
              <a:spcAft>
                <a:spcPts val="0"/>
              </a:spcAft>
            </a:pPr>
            <a:endParaRPr lang="it-IT" dirty="0">
              <a:solidFill>
                <a:prstClr val="black">
                  <a:lumMod val="75000"/>
                  <a:lumOff val="25000"/>
                </a:prstClr>
              </a:solidFill>
              <a:latin typeface="Arial" panose="020B0604020202020204" pitchFamily="34" charset="0"/>
              <a:cs typeface="Arial" panose="020B0604020202020204" pitchFamily="34" charset="0"/>
            </a:endParaRPr>
          </a:p>
          <a:p>
            <a:pPr lvl="0" eaLnBrk="1" fontAlgn="auto" hangingPunct="1">
              <a:spcBef>
                <a:spcPts val="0"/>
              </a:spcBef>
              <a:spcAft>
                <a:spcPts val="0"/>
              </a:spcAft>
            </a:pPr>
            <a:endParaRPr lang="it-IT" dirty="0">
              <a:solidFill>
                <a:prstClr val="black">
                  <a:lumMod val="75000"/>
                  <a:lumOff val="2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537383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Rectangle 5"/>
          <p:cNvSpPr>
            <a:spLocks noChangeArrowheads="1"/>
          </p:cNvSpPr>
          <p:nvPr/>
        </p:nvSpPr>
        <p:spPr bwMode="auto">
          <a:xfrm>
            <a:off x="683568" y="116632"/>
            <a:ext cx="7848600" cy="762000"/>
          </a:xfrm>
          <a:prstGeom prst="rect">
            <a:avLst/>
          </a:prstGeom>
          <a:noFill/>
          <a:ln w="9525">
            <a:noFill/>
            <a:miter lim="800000"/>
            <a:headEnd/>
            <a:tailEnd/>
          </a:ln>
          <a:effectLst/>
        </p:spPr>
        <p:txBody>
          <a:bodyPr anchor="ctr"/>
          <a:lstStyle/>
          <a:p>
            <a:pPr algn="ctr">
              <a:defRPr/>
            </a:pPr>
            <a:r>
              <a:rPr lang="en-US" sz="3200" b="1" dirty="0">
                <a:solidFill>
                  <a:srgbClr val="3366CC"/>
                </a:solidFill>
                <a:effectLst>
                  <a:outerShdw blurRad="38100" dist="38100" dir="2700000" algn="tl">
                    <a:srgbClr val="C0C0C0"/>
                  </a:outerShdw>
                </a:effectLst>
                <a:latin typeface="Helvetica" pitchFamily="34" charset="0"/>
              </a:rPr>
              <a:t>Sahara components</a:t>
            </a:r>
          </a:p>
        </p:txBody>
      </p:sp>
      <p:sp>
        <p:nvSpPr>
          <p:cNvPr id="7" name="Line 6"/>
          <p:cNvSpPr>
            <a:spLocks noChangeShapeType="1"/>
          </p:cNvSpPr>
          <p:nvPr/>
        </p:nvSpPr>
        <p:spPr bwMode="auto">
          <a:xfrm>
            <a:off x="378768" y="878632"/>
            <a:ext cx="8458200" cy="0"/>
          </a:xfrm>
          <a:prstGeom prst="line">
            <a:avLst/>
          </a:prstGeom>
          <a:noFill/>
          <a:ln w="28575">
            <a:solidFill>
              <a:srgbClr val="3366CC"/>
            </a:solidFill>
            <a:round/>
            <a:headEnd/>
            <a:tailEnd/>
          </a:ln>
        </p:spPr>
        <p:txBody>
          <a:bodyPr wrap="none" lIns="90000" tIns="46800" rIns="90000" bIns="46800" anchor="ctr">
            <a:spAutoFit/>
          </a:bodyPr>
          <a:lstStyle/>
          <a:p>
            <a:endParaRPr lang="it-IT"/>
          </a:p>
        </p:txBody>
      </p:sp>
      <p:pic>
        <p:nvPicPr>
          <p:cNvPr id="1026" name="Picture 2" descr="http://docs.openstack.org/developer/sahara/_images/sahara-architectur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672" y="1340768"/>
            <a:ext cx="5544616" cy="36054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416995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Segnaposto testo 2"/>
          <p:cNvSpPr txBox="1">
            <a:spLocks/>
          </p:cNvSpPr>
          <p:nvPr/>
        </p:nvSpPr>
        <p:spPr>
          <a:xfrm>
            <a:off x="303519" y="1048197"/>
            <a:ext cx="8660969" cy="4999955"/>
          </a:xfrm>
          <a:prstGeom prst="rect">
            <a:avLst/>
          </a:prstGeom>
        </p:spPr>
        <p:txBody>
          <a:bodyPr/>
          <a:lstStyle/>
          <a:p>
            <a:pPr marL="355600" lvl="0" indent="-355600" algn="l">
              <a:lnSpc>
                <a:spcPct val="90000"/>
              </a:lnSpc>
              <a:buClr>
                <a:srgbClr val="B2B2B2"/>
              </a:buClr>
              <a:buSzPct val="75000"/>
              <a:buFont typeface="Wingdings" pitchFamily="2" charset="2"/>
              <a:buChar char="§"/>
            </a:pPr>
            <a:r>
              <a:rPr lang="en-US" dirty="0">
                <a:solidFill>
                  <a:srgbClr val="000000"/>
                </a:solidFill>
                <a:latin typeface="Arial" panose="020B0604020202020204" pitchFamily="34" charset="0"/>
                <a:cs typeface="Arial" panose="020B0604020202020204" pitchFamily="34" charset="0"/>
              </a:rPr>
              <a:t>A smart city features </a:t>
            </a:r>
            <a:r>
              <a:rPr lang="en-US" b="1" dirty="0">
                <a:solidFill>
                  <a:srgbClr val="000000"/>
                </a:solidFill>
                <a:latin typeface="Arial" panose="020B0604020202020204" pitchFamily="34" charset="0"/>
                <a:cs typeface="Arial" panose="020B0604020202020204" pitchFamily="34" charset="0"/>
              </a:rPr>
              <a:t>thousands of sensors</a:t>
            </a:r>
            <a:endParaRPr lang="en-US" dirty="0">
              <a:solidFill>
                <a:srgbClr val="000000"/>
              </a:solidFill>
              <a:latin typeface="Arial" panose="020B0604020202020204" pitchFamily="34" charset="0"/>
              <a:cs typeface="Arial" panose="020B0604020202020204" pitchFamily="34" charset="0"/>
            </a:endParaRPr>
          </a:p>
          <a:p>
            <a:pPr marL="723900" lvl="0" indent="-368300" algn="l">
              <a:lnSpc>
                <a:spcPct val="90000"/>
              </a:lnSpc>
              <a:buClr>
                <a:srgbClr val="B2B2B2"/>
              </a:buClr>
              <a:buSzPct val="75000"/>
              <a:buFont typeface="Wingdings" pitchFamily="2" charset="2"/>
              <a:buChar char="Ø"/>
            </a:pPr>
            <a:r>
              <a:rPr lang="en-US" sz="1800" b="1" dirty="0">
                <a:solidFill>
                  <a:srgbClr val="000000"/>
                </a:solidFill>
                <a:latin typeface="Arial" panose="020B0604020202020204" pitchFamily="34" charset="0"/>
                <a:cs typeface="Arial" panose="020B0604020202020204" pitchFamily="34" charset="0"/>
              </a:rPr>
              <a:t>State-of-the-art mobile devices </a:t>
            </a:r>
            <a:r>
              <a:rPr lang="en-US" sz="1800" dirty="0">
                <a:solidFill>
                  <a:srgbClr val="000000"/>
                </a:solidFill>
                <a:latin typeface="Arial" panose="020B0604020202020204" pitchFamily="34" charset="0"/>
                <a:cs typeface="Arial" panose="020B0604020202020204" pitchFamily="34" charset="0"/>
              </a:rPr>
              <a:t>are equipped with </a:t>
            </a:r>
            <a:r>
              <a:rPr lang="en-US" sz="1800" b="1" dirty="0">
                <a:solidFill>
                  <a:srgbClr val="000000"/>
                </a:solidFill>
                <a:latin typeface="Arial" panose="020B0604020202020204" pitchFamily="34" charset="0"/>
                <a:cs typeface="Arial" panose="020B0604020202020204" pitchFamily="34" charset="0"/>
              </a:rPr>
              <a:t>several onboard sensors</a:t>
            </a:r>
            <a:r>
              <a:rPr lang="en-US" sz="1800" dirty="0">
                <a:solidFill>
                  <a:srgbClr val="000000"/>
                </a:solidFill>
                <a:latin typeface="Arial" panose="020B0604020202020204" pitchFamily="34" charset="0"/>
                <a:cs typeface="Arial" panose="020B0604020202020204" pitchFamily="34" charset="0"/>
              </a:rPr>
              <a:t>, e.g., camera, accelerometers, GPS, etc.</a:t>
            </a:r>
          </a:p>
          <a:p>
            <a:pPr marL="723900" lvl="0" indent="-368300" algn="l">
              <a:lnSpc>
                <a:spcPct val="90000"/>
              </a:lnSpc>
              <a:buClr>
                <a:srgbClr val="B2B2B2"/>
              </a:buClr>
              <a:buSzPct val="75000"/>
              <a:buFont typeface="Wingdings" pitchFamily="2" charset="2"/>
              <a:buChar char="Ø"/>
            </a:pPr>
            <a:r>
              <a:rPr lang="en-US" sz="1800" b="1" dirty="0">
                <a:solidFill>
                  <a:srgbClr val="000000"/>
                </a:solidFill>
                <a:latin typeface="Arial" panose="020B0604020202020204" pitchFamily="34" charset="0"/>
                <a:cs typeface="Arial" panose="020B0604020202020204" pitchFamily="34" charset="0"/>
              </a:rPr>
              <a:t>Physical environments </a:t>
            </a:r>
            <a:r>
              <a:rPr lang="en-US" sz="1800" dirty="0">
                <a:solidFill>
                  <a:srgbClr val="000000"/>
                </a:solidFill>
                <a:latin typeface="Arial" panose="020B0604020202020204" pitchFamily="34" charset="0"/>
                <a:cs typeface="Arial" panose="020B0604020202020204" pitchFamily="34" charset="0"/>
              </a:rPr>
              <a:t>will include additional sensors, e.g., temperature and lighting sensors, feeding new data directly into the system</a:t>
            </a:r>
          </a:p>
          <a:p>
            <a:pPr marL="355600" lvl="0" indent="-355600" algn="l">
              <a:lnSpc>
                <a:spcPct val="90000"/>
              </a:lnSpc>
              <a:buClr>
                <a:srgbClr val="B2B2B2"/>
              </a:buClr>
              <a:buSzPct val="75000"/>
              <a:buFont typeface="Wingdings" pitchFamily="2" charset="2"/>
              <a:buChar char="§"/>
            </a:pPr>
            <a:r>
              <a:rPr lang="en-US" dirty="0">
                <a:solidFill>
                  <a:srgbClr val="000000"/>
                </a:solidFill>
                <a:latin typeface="Arial" panose="020B0604020202020204" pitchFamily="34" charset="0"/>
                <a:cs typeface="Arial" panose="020B0604020202020204" pitchFamily="34" charset="0"/>
              </a:rPr>
              <a:t>Cloud technologies enable the </a:t>
            </a:r>
            <a:r>
              <a:rPr lang="en-US" b="1" dirty="0">
                <a:solidFill>
                  <a:srgbClr val="000000"/>
                </a:solidFill>
                <a:latin typeface="Arial" panose="020B0604020202020204" pitchFamily="34" charset="0"/>
                <a:cs typeface="Arial" panose="020B0604020202020204" pitchFamily="34" charset="0"/>
              </a:rPr>
              <a:t>rapid provisioning of scalable services </a:t>
            </a:r>
            <a:r>
              <a:rPr lang="en-US" dirty="0">
                <a:solidFill>
                  <a:srgbClr val="000000"/>
                </a:solidFill>
                <a:latin typeface="Arial" panose="020B0604020202020204" pitchFamily="34" charset="0"/>
                <a:cs typeface="Arial" panose="020B0604020202020204" pitchFamily="34" charset="0"/>
              </a:rPr>
              <a:t>through </a:t>
            </a:r>
            <a:r>
              <a:rPr lang="en-US" b="1" dirty="0">
                <a:solidFill>
                  <a:srgbClr val="000000"/>
                </a:solidFill>
                <a:latin typeface="Arial" panose="020B0604020202020204" pitchFamily="34" charset="0"/>
                <a:cs typeface="Arial" panose="020B0604020202020204" pitchFamily="34" charset="0"/>
              </a:rPr>
              <a:t>distributed </a:t>
            </a:r>
            <a:r>
              <a:rPr lang="en-US" dirty="0">
                <a:solidFill>
                  <a:srgbClr val="000000"/>
                </a:solidFill>
                <a:latin typeface="Arial" panose="020B0604020202020204" pitchFamily="34" charset="0"/>
                <a:cs typeface="Arial" panose="020B0604020202020204" pitchFamily="34" charset="0"/>
              </a:rPr>
              <a:t>and</a:t>
            </a:r>
            <a:r>
              <a:rPr lang="en-US" b="1" dirty="0">
                <a:solidFill>
                  <a:srgbClr val="000000"/>
                </a:solidFill>
                <a:latin typeface="Arial" panose="020B0604020202020204" pitchFamily="34" charset="0"/>
                <a:cs typeface="Arial" panose="020B0604020202020204" pitchFamily="34" charset="0"/>
              </a:rPr>
              <a:t> virtualized resources</a:t>
            </a:r>
          </a:p>
          <a:p>
            <a:pPr marL="723900" lvl="0" indent="-368300" algn="l">
              <a:lnSpc>
                <a:spcPct val="90000"/>
              </a:lnSpc>
              <a:buClr>
                <a:srgbClr val="B2B2B2"/>
              </a:buClr>
              <a:buSzPct val="75000"/>
              <a:buFont typeface="Wingdings" pitchFamily="2" charset="2"/>
              <a:buChar char="Ø"/>
            </a:pPr>
            <a:r>
              <a:rPr lang="en-US" sz="1800" b="1" dirty="0">
                <a:solidFill>
                  <a:srgbClr val="000000"/>
                </a:solidFill>
                <a:latin typeface="Arial" panose="020B0604020202020204" pitchFamily="34" charset="0"/>
                <a:cs typeface="Arial" panose="020B0604020202020204" pitchFamily="34" charset="0"/>
              </a:rPr>
              <a:t>On-demand computing resources </a:t>
            </a:r>
            <a:r>
              <a:rPr lang="en-US" sz="1800" dirty="0">
                <a:solidFill>
                  <a:srgbClr val="000000"/>
                </a:solidFill>
                <a:latin typeface="Arial" panose="020B0604020202020204" pitchFamily="34" charset="0"/>
                <a:cs typeface="Arial" panose="020B0604020202020204" pitchFamily="34" charset="0"/>
              </a:rPr>
              <a:t>and </a:t>
            </a:r>
            <a:r>
              <a:rPr lang="en-US" sz="1800" b="1" dirty="0">
                <a:solidFill>
                  <a:srgbClr val="000000"/>
                </a:solidFill>
                <a:latin typeface="Arial" panose="020B0604020202020204" pitchFamily="34" charset="0"/>
                <a:cs typeface="Arial" panose="020B0604020202020204" pitchFamily="34" charset="0"/>
              </a:rPr>
              <a:t>pay-per-use model</a:t>
            </a:r>
          </a:p>
          <a:p>
            <a:pPr marL="723900" indent="-355600" algn="l">
              <a:lnSpc>
                <a:spcPct val="90000"/>
              </a:lnSpc>
              <a:buClr>
                <a:srgbClr val="B2B2B2"/>
              </a:buClr>
              <a:buSzPct val="75000"/>
              <a:buFont typeface="Wingdings" pitchFamily="2" charset="2"/>
              <a:buChar char="Ø"/>
            </a:pPr>
            <a:r>
              <a:rPr lang="en-US" sz="1800" b="1" dirty="0">
                <a:solidFill>
                  <a:srgbClr val="000000"/>
                </a:solidFill>
                <a:latin typeface="Arial" panose="020B0604020202020204" pitchFamily="34" charset="0"/>
                <a:cs typeface="Arial" panose="020B0604020202020204" pitchFamily="34" charset="0"/>
              </a:rPr>
              <a:t>Dynamic resource scaling </a:t>
            </a:r>
            <a:r>
              <a:rPr lang="en-US" sz="1800" dirty="0">
                <a:solidFill>
                  <a:srgbClr val="000000"/>
                </a:solidFill>
                <a:latin typeface="Arial" panose="020B0604020202020204" pitchFamily="34" charset="0"/>
                <a:cs typeface="Arial" panose="020B0604020202020204" pitchFamily="34" charset="0"/>
              </a:rPr>
              <a:t>depending on user requests</a:t>
            </a:r>
            <a:endParaRPr lang="en-US" sz="1800" b="1" dirty="0">
              <a:solidFill>
                <a:srgbClr val="000000"/>
              </a:solidFill>
              <a:latin typeface="Arial" panose="020B0604020202020204" pitchFamily="34" charset="0"/>
              <a:cs typeface="Arial" panose="020B0604020202020204" pitchFamily="34" charset="0"/>
            </a:endParaRPr>
          </a:p>
          <a:p>
            <a:pPr marL="355600" lvl="0" indent="-355600" algn="l">
              <a:lnSpc>
                <a:spcPct val="90000"/>
              </a:lnSpc>
              <a:buClr>
                <a:srgbClr val="B2B2B2"/>
              </a:buClr>
              <a:buSzPct val="75000"/>
              <a:buFont typeface="Wingdings" pitchFamily="2" charset="2"/>
              <a:buChar char="§"/>
            </a:pPr>
            <a:r>
              <a:rPr lang="en-US" b="1" dirty="0">
                <a:solidFill>
                  <a:srgbClr val="000000"/>
                </a:solidFill>
                <a:latin typeface="Arial" panose="020B0604020202020204" pitchFamily="34" charset="0"/>
                <a:cs typeface="Arial" panose="020B0604020202020204" pitchFamily="34" charset="0"/>
              </a:rPr>
              <a:t>Cloud solutions for CDDI</a:t>
            </a:r>
          </a:p>
          <a:p>
            <a:pPr marL="723900" lvl="1" indent="-368300" algn="l">
              <a:lnSpc>
                <a:spcPct val="90000"/>
              </a:lnSpc>
              <a:buClr>
                <a:srgbClr val="B2B2B2"/>
              </a:buClr>
              <a:buSzPct val="75000"/>
              <a:buFont typeface="Wingdings" pitchFamily="2" charset="2"/>
              <a:buChar char="Ø"/>
            </a:pPr>
            <a:r>
              <a:rPr lang="en-US" sz="1800" b="1" dirty="0">
                <a:solidFill>
                  <a:srgbClr val="000000"/>
                </a:solidFill>
                <a:latin typeface="Arial" panose="020B0604020202020204" pitchFamily="34" charset="0"/>
                <a:cs typeface="Arial" panose="020B0604020202020204" pitchFamily="34" charset="0"/>
              </a:rPr>
              <a:t>High scalability </a:t>
            </a:r>
            <a:r>
              <a:rPr lang="en-US" sz="1800" dirty="0">
                <a:solidFill>
                  <a:srgbClr val="000000"/>
                </a:solidFill>
                <a:latin typeface="Arial" panose="020B0604020202020204" pitchFamily="34" charset="0"/>
                <a:cs typeface="Arial" panose="020B0604020202020204" pitchFamily="34" charset="0"/>
              </a:rPr>
              <a:t>to address </a:t>
            </a:r>
            <a:r>
              <a:rPr lang="en-US" sz="1800" b="1" dirty="0">
                <a:solidFill>
                  <a:srgbClr val="000000"/>
                </a:solidFill>
                <a:latin typeface="Arial" panose="020B0604020202020204" pitchFamily="34" charset="0"/>
                <a:cs typeface="Arial" panose="020B0604020202020204" pitchFamily="34" charset="0"/>
              </a:rPr>
              <a:t>context data storage and processing</a:t>
            </a:r>
          </a:p>
          <a:p>
            <a:pPr marL="723900" lvl="1" indent="-368300" algn="l">
              <a:lnSpc>
                <a:spcPct val="90000"/>
              </a:lnSpc>
              <a:buClr>
                <a:srgbClr val="B2B2B2"/>
              </a:buClr>
              <a:buSzPct val="75000"/>
              <a:buFont typeface="Wingdings" pitchFamily="2" charset="2"/>
              <a:buChar char="Ø"/>
            </a:pPr>
            <a:r>
              <a:rPr lang="en-US" sz="1800" b="1" dirty="0">
                <a:solidFill>
                  <a:srgbClr val="000000"/>
                </a:solidFill>
                <a:latin typeface="Arial" panose="020B0604020202020204" pitchFamily="34" charset="0"/>
                <a:cs typeface="Arial" panose="020B0604020202020204" pitchFamily="34" charset="0"/>
              </a:rPr>
              <a:t>Dynamic resource scaling </a:t>
            </a:r>
            <a:r>
              <a:rPr lang="en-US" sz="1800" dirty="0">
                <a:solidFill>
                  <a:srgbClr val="000000"/>
                </a:solidFill>
                <a:latin typeface="Arial" panose="020B0604020202020204" pitchFamily="34" charset="0"/>
                <a:cs typeface="Arial" panose="020B0604020202020204" pitchFamily="34" charset="0"/>
              </a:rPr>
              <a:t>lets the CDDI require new computing resources when the data to be processed increase (due to conference events, etc.) </a:t>
            </a:r>
          </a:p>
          <a:p>
            <a:pPr lvl="0" algn="l">
              <a:lnSpc>
                <a:spcPct val="90000"/>
              </a:lnSpc>
              <a:buClr>
                <a:srgbClr val="B2B2B2"/>
              </a:buClr>
              <a:buSzPct val="75000"/>
            </a:pPr>
            <a:endParaRPr lang="en-US" dirty="0">
              <a:solidFill>
                <a:srgbClr val="000000"/>
              </a:solidFill>
              <a:latin typeface="Arial" panose="020B0604020202020204" pitchFamily="34" charset="0"/>
              <a:cs typeface="Arial" panose="020B0604020202020204" pitchFamily="34" charset="0"/>
            </a:endParaRPr>
          </a:p>
          <a:p>
            <a:pPr lvl="0" algn="l">
              <a:lnSpc>
                <a:spcPct val="90000"/>
              </a:lnSpc>
              <a:buClr>
                <a:srgbClr val="B2B2B2"/>
              </a:buClr>
              <a:buSzPct val="75000"/>
            </a:pPr>
            <a:r>
              <a:rPr lang="en-US" b="1" i="1" dirty="0">
                <a:solidFill>
                  <a:srgbClr val="000000"/>
                </a:solidFill>
                <a:latin typeface="Arial" panose="020B0604020202020204" pitchFamily="34" charset="0"/>
                <a:cs typeface="Arial" panose="020B0604020202020204" pitchFamily="34" charset="0"/>
              </a:rPr>
              <a:t>Cloud solutions need VM placement algorithms to decide which VMs should be co-located on the same physical host</a:t>
            </a:r>
          </a:p>
        </p:txBody>
      </p:sp>
      <p:sp>
        <p:nvSpPr>
          <p:cNvPr id="4" name="Rectangle 5"/>
          <p:cNvSpPr>
            <a:spLocks noChangeArrowheads="1"/>
          </p:cNvSpPr>
          <p:nvPr/>
        </p:nvSpPr>
        <p:spPr bwMode="auto">
          <a:xfrm>
            <a:off x="378768" y="116632"/>
            <a:ext cx="8458200" cy="762000"/>
          </a:xfrm>
          <a:prstGeom prst="rect">
            <a:avLst/>
          </a:prstGeom>
          <a:noFill/>
          <a:ln w="9525">
            <a:noFill/>
            <a:miter lim="800000"/>
            <a:headEnd/>
            <a:tailEnd/>
          </a:ln>
          <a:effectLst/>
        </p:spPr>
        <p:txBody>
          <a:bodyPr anchor="ctr"/>
          <a:lstStyle/>
          <a:p>
            <a:pPr algn="ctr">
              <a:defRPr/>
            </a:pPr>
            <a:r>
              <a:rPr lang="en-US" sz="3200" b="1" dirty="0">
                <a:solidFill>
                  <a:srgbClr val="3366CC"/>
                </a:solidFill>
                <a:effectLst>
                  <a:outerShdw blurRad="38100" dist="38100" dir="2700000" algn="tl">
                    <a:srgbClr val="C0C0C0"/>
                  </a:outerShdw>
                </a:effectLst>
                <a:latin typeface="Helvetica" pitchFamily="34" charset="0"/>
              </a:rPr>
              <a:t>Cloud-based  Context Data Handling</a:t>
            </a:r>
          </a:p>
        </p:txBody>
      </p:sp>
      <p:sp>
        <p:nvSpPr>
          <p:cNvPr id="5" name="Line 6"/>
          <p:cNvSpPr>
            <a:spLocks noChangeShapeType="1"/>
          </p:cNvSpPr>
          <p:nvPr/>
        </p:nvSpPr>
        <p:spPr bwMode="auto">
          <a:xfrm>
            <a:off x="326000" y="898476"/>
            <a:ext cx="8458200" cy="0"/>
          </a:xfrm>
          <a:prstGeom prst="line">
            <a:avLst/>
          </a:prstGeom>
          <a:noFill/>
          <a:ln w="28575">
            <a:solidFill>
              <a:srgbClr val="3366CC"/>
            </a:solidFill>
            <a:round/>
            <a:headEnd/>
            <a:tailEnd/>
          </a:ln>
        </p:spPr>
        <p:txBody>
          <a:bodyPr wrap="none" lIns="90000" tIns="46800" rIns="90000" bIns="46800" anchor="ctr">
            <a:spAutoFit/>
          </a:bodyPr>
          <a:lstStyle/>
          <a:p>
            <a:endParaRPr lang="it-IT"/>
          </a:p>
        </p:txBody>
      </p:sp>
    </p:spTree>
    <p:extLst>
      <p:ext uri="{BB962C8B-B14F-4D97-AF65-F5344CB8AC3E}">
        <p14:creationId xmlns:p14="http://schemas.microsoft.com/office/powerpoint/2010/main" val="2753870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7" name="Segnaposto testo 2"/>
          <p:cNvSpPr txBox="1">
            <a:spLocks/>
          </p:cNvSpPr>
          <p:nvPr/>
        </p:nvSpPr>
        <p:spPr>
          <a:xfrm>
            <a:off x="144000" y="887810"/>
            <a:ext cx="8822200" cy="3255591"/>
          </a:xfrm>
          <a:prstGeom prst="rect">
            <a:avLst/>
          </a:prstGeom>
        </p:spPr>
        <p:txBody>
          <a:bodyPr/>
          <a:lstStyle/>
          <a:p>
            <a:pPr marL="355600" lvl="0" indent="-355600" algn="l" eaLnBrk="0" hangingPunct="0">
              <a:lnSpc>
                <a:spcPct val="90000"/>
              </a:lnSpc>
              <a:spcBef>
                <a:spcPct val="20000"/>
              </a:spcBef>
              <a:buClr>
                <a:srgbClr val="B2B2B2"/>
              </a:buClr>
              <a:buSzPct val="75000"/>
              <a:buFont typeface="Wingdings" pitchFamily="2" charset="2"/>
              <a:buChar char="§"/>
              <a:tabLst>
                <a:tab pos="266700" algn="l"/>
              </a:tabLst>
            </a:pPr>
            <a:r>
              <a:rPr lang="en-US" b="1" kern="0" dirty="0">
                <a:solidFill>
                  <a:srgbClr val="000000"/>
                </a:solidFill>
                <a:latin typeface="Arial" panose="020B0604020202020204" pitchFamily="34" charset="0"/>
                <a:cs typeface="Arial" panose="020B0604020202020204" pitchFamily="34" charset="0"/>
              </a:rPr>
              <a:t>Modern Data Centers (DCs) for Cloud computing </a:t>
            </a:r>
          </a:p>
          <a:p>
            <a:pPr marL="755650" lvl="1" indent="-355600" algn="l" eaLnBrk="0" hangingPunct="0">
              <a:lnSpc>
                <a:spcPct val="90000"/>
              </a:lnSpc>
              <a:spcBef>
                <a:spcPct val="20000"/>
              </a:spcBef>
              <a:buClr>
                <a:srgbClr val="B2B2B2"/>
              </a:buClr>
              <a:buSzPct val="75000"/>
              <a:buFont typeface="Wingdings" pitchFamily="2" charset="2"/>
              <a:buChar char="Ø"/>
              <a:tabLst>
                <a:tab pos="266700" algn="l"/>
              </a:tabLst>
            </a:pPr>
            <a:r>
              <a:rPr lang="en-US" sz="1800" kern="0" dirty="0">
                <a:solidFill>
                  <a:srgbClr val="000000"/>
                </a:solidFill>
                <a:latin typeface="Arial" panose="020B0604020202020204" pitchFamily="34" charset="0"/>
                <a:cs typeface="Arial" panose="020B0604020202020204" pitchFamily="34" charset="0"/>
              </a:rPr>
              <a:t>large-scale scale systems with </a:t>
            </a:r>
            <a:r>
              <a:rPr lang="en-US" sz="1800" b="1" kern="0" dirty="0">
                <a:solidFill>
                  <a:srgbClr val="000000"/>
                </a:solidFill>
                <a:latin typeface="Arial" panose="020B0604020202020204" pitchFamily="34" charset="0"/>
                <a:cs typeface="Arial" panose="020B0604020202020204" pitchFamily="34" charset="0"/>
              </a:rPr>
              <a:t>hundreds of servers</a:t>
            </a:r>
            <a:r>
              <a:rPr lang="en-US" sz="1800" kern="0" dirty="0">
                <a:solidFill>
                  <a:srgbClr val="000000"/>
                </a:solidFill>
                <a:latin typeface="Arial" panose="020B0604020202020204" pitchFamily="34" charset="0"/>
                <a:cs typeface="Arial" panose="020B0604020202020204" pitchFamily="34" charset="0"/>
              </a:rPr>
              <a:t> and </a:t>
            </a:r>
            <a:r>
              <a:rPr lang="en-US" sz="1800" b="1" kern="0" dirty="0">
                <a:solidFill>
                  <a:srgbClr val="000000"/>
                </a:solidFill>
                <a:latin typeface="Arial" panose="020B0604020202020204" pitchFamily="34" charset="0"/>
                <a:cs typeface="Arial" panose="020B0604020202020204" pitchFamily="34" charset="0"/>
              </a:rPr>
              <a:t>thousands of Virtual Machines (VMs)</a:t>
            </a:r>
          </a:p>
          <a:p>
            <a:pPr marL="755650" lvl="1" indent="-355600" algn="l" eaLnBrk="0" hangingPunct="0">
              <a:lnSpc>
                <a:spcPct val="90000"/>
              </a:lnSpc>
              <a:spcBef>
                <a:spcPct val="20000"/>
              </a:spcBef>
              <a:buClr>
                <a:srgbClr val="B2B2B2"/>
              </a:buClr>
              <a:buSzPct val="75000"/>
              <a:buFont typeface="Wingdings" pitchFamily="2" charset="2"/>
              <a:buChar char="Ø"/>
              <a:tabLst>
                <a:tab pos="266700" algn="l"/>
              </a:tabLst>
            </a:pPr>
            <a:r>
              <a:rPr lang="en-US" sz="1800" b="1" kern="0" dirty="0">
                <a:solidFill>
                  <a:srgbClr val="000000"/>
                </a:solidFill>
                <a:latin typeface="Arial" panose="020B0604020202020204" pitchFamily="34" charset="0"/>
                <a:cs typeface="Arial" panose="020B0604020202020204" pitchFamily="34" charset="0"/>
              </a:rPr>
              <a:t>virtualization solutions </a:t>
            </a:r>
            <a:r>
              <a:rPr lang="en-US" sz="1800" kern="0" dirty="0">
                <a:solidFill>
                  <a:srgbClr val="000000"/>
                </a:solidFill>
                <a:latin typeface="Arial" panose="020B0604020202020204" pitchFamily="34" charset="0"/>
                <a:cs typeface="Arial" panose="020B0604020202020204" pitchFamily="34" charset="0"/>
              </a:rPr>
              <a:t>to improve </a:t>
            </a:r>
            <a:r>
              <a:rPr lang="en-US" sz="1800" b="1" kern="0" dirty="0">
                <a:solidFill>
                  <a:srgbClr val="000000"/>
                </a:solidFill>
                <a:latin typeface="Arial" panose="020B0604020202020204" pitchFamily="34" charset="0"/>
                <a:cs typeface="Arial" panose="020B0604020202020204" pitchFamily="34" charset="0"/>
              </a:rPr>
              <a:t>resource utilization </a:t>
            </a:r>
            <a:r>
              <a:rPr lang="en-US" sz="1800" kern="0" dirty="0">
                <a:solidFill>
                  <a:srgbClr val="000000"/>
                </a:solidFill>
                <a:latin typeface="Arial" panose="020B0604020202020204" pitchFamily="34" charset="0"/>
                <a:cs typeface="Arial" panose="020B0604020202020204" pitchFamily="34" charset="0"/>
              </a:rPr>
              <a:t>by </a:t>
            </a:r>
            <a:r>
              <a:rPr lang="en-US" sz="1800" b="1" kern="0" dirty="0">
                <a:solidFill>
                  <a:srgbClr val="000000"/>
                </a:solidFill>
                <a:latin typeface="Arial" panose="020B0604020202020204" pitchFamily="34" charset="0"/>
                <a:cs typeface="Arial" panose="020B0604020202020204" pitchFamily="34" charset="0"/>
              </a:rPr>
              <a:t>VM consolidation</a:t>
            </a:r>
          </a:p>
          <a:p>
            <a:pPr marL="355600" lvl="0" indent="-355600" algn="l" eaLnBrk="0" hangingPunct="0">
              <a:lnSpc>
                <a:spcPct val="90000"/>
              </a:lnSpc>
              <a:spcBef>
                <a:spcPct val="20000"/>
              </a:spcBef>
              <a:buClr>
                <a:srgbClr val="B2B2B2"/>
              </a:buClr>
              <a:buSzPct val="75000"/>
              <a:buFont typeface="Wingdings" pitchFamily="2" charset="2"/>
              <a:buChar char="§"/>
              <a:tabLst>
                <a:tab pos="266700" algn="l"/>
              </a:tabLst>
            </a:pPr>
            <a:endParaRPr lang="en-US" sz="1200" b="1" kern="0" dirty="0">
              <a:solidFill>
                <a:srgbClr val="000000"/>
              </a:solidFill>
              <a:latin typeface="Arial" panose="020B0604020202020204" pitchFamily="34" charset="0"/>
              <a:cs typeface="Arial" panose="020B0604020202020204" pitchFamily="34" charset="0"/>
            </a:endParaRPr>
          </a:p>
          <a:p>
            <a:pPr marL="355600" lvl="0" indent="-355600" algn="l" eaLnBrk="0" hangingPunct="0">
              <a:lnSpc>
                <a:spcPct val="90000"/>
              </a:lnSpc>
              <a:spcBef>
                <a:spcPct val="20000"/>
              </a:spcBef>
              <a:buClr>
                <a:srgbClr val="B2B2B2"/>
              </a:buClr>
              <a:buSzPct val="75000"/>
              <a:buFont typeface="Wingdings" pitchFamily="2" charset="2"/>
              <a:buChar char="§"/>
              <a:tabLst>
                <a:tab pos="266700" algn="l"/>
              </a:tabLst>
            </a:pPr>
            <a:r>
              <a:rPr lang="en-US" b="1" kern="0" dirty="0">
                <a:solidFill>
                  <a:srgbClr val="000000"/>
                </a:solidFill>
                <a:latin typeface="Arial" panose="020B0604020202020204" pitchFamily="34" charset="0"/>
                <a:cs typeface="Arial" panose="020B0604020202020204" pitchFamily="34" charset="0"/>
              </a:rPr>
              <a:t>VM placement must consider network requirements and constraints</a:t>
            </a:r>
          </a:p>
          <a:p>
            <a:pPr marL="755650" lvl="1" indent="-355600" algn="l" eaLnBrk="0" hangingPunct="0">
              <a:lnSpc>
                <a:spcPct val="90000"/>
              </a:lnSpc>
              <a:spcBef>
                <a:spcPct val="20000"/>
              </a:spcBef>
              <a:buClr>
                <a:srgbClr val="B2B2B2"/>
              </a:buClr>
              <a:buSzPct val="75000"/>
              <a:buFont typeface="Wingdings" pitchFamily="2" charset="2"/>
              <a:buChar char="Ø"/>
            </a:pPr>
            <a:r>
              <a:rPr lang="en-US" sz="1800" kern="0" dirty="0">
                <a:solidFill>
                  <a:srgbClr val="000000"/>
                </a:solidFill>
                <a:latin typeface="Arial" panose="020B0604020202020204" pitchFamily="34" charset="0"/>
                <a:cs typeface="Arial" panose="020B0604020202020204" pitchFamily="34" charset="0"/>
              </a:rPr>
              <a:t>useful to </a:t>
            </a:r>
            <a:r>
              <a:rPr lang="en-US" sz="1800" b="1" kern="0" dirty="0">
                <a:solidFill>
                  <a:srgbClr val="000000"/>
                </a:solidFill>
                <a:latin typeface="Arial" panose="020B0604020202020204" pitchFamily="34" charset="0"/>
                <a:cs typeface="Arial" panose="020B0604020202020204" pitchFamily="34" charset="0"/>
              </a:rPr>
              <a:t>prevent reduced network performance</a:t>
            </a:r>
            <a:endParaRPr lang="en-US" sz="1800" kern="0" dirty="0">
              <a:solidFill>
                <a:srgbClr val="000000"/>
              </a:solidFill>
              <a:latin typeface="Arial" panose="020B0604020202020204" pitchFamily="34" charset="0"/>
              <a:cs typeface="Arial" panose="020B0604020202020204" pitchFamily="34" charset="0"/>
            </a:endParaRPr>
          </a:p>
          <a:p>
            <a:pPr marL="755650" lvl="1" indent="-355600" algn="l" eaLnBrk="0" hangingPunct="0">
              <a:lnSpc>
                <a:spcPct val="90000"/>
              </a:lnSpc>
              <a:spcBef>
                <a:spcPct val="20000"/>
              </a:spcBef>
              <a:buClr>
                <a:srgbClr val="B2B2B2"/>
              </a:buClr>
              <a:buSzPct val="75000"/>
              <a:buFont typeface="Wingdings" pitchFamily="2" charset="2"/>
              <a:buChar char="Ø"/>
            </a:pPr>
            <a:r>
              <a:rPr lang="en-US" sz="1800" kern="0" dirty="0">
                <a:solidFill>
                  <a:srgbClr val="000000"/>
                </a:solidFill>
                <a:latin typeface="Arial" panose="020B0604020202020204" pitchFamily="34" charset="0"/>
                <a:cs typeface="Arial" panose="020B0604020202020204" pitchFamily="34" charset="0"/>
              </a:rPr>
              <a:t>hard to enforce at run-time due to </a:t>
            </a:r>
            <a:r>
              <a:rPr lang="en-US" sz="1800" b="1" kern="0" dirty="0">
                <a:solidFill>
                  <a:srgbClr val="000000"/>
                </a:solidFill>
                <a:latin typeface="Arial" panose="020B0604020202020204" pitchFamily="34" charset="0"/>
                <a:cs typeface="Arial" panose="020B0604020202020204" pitchFamily="34" charset="0"/>
              </a:rPr>
              <a:t>time-varying traffic demands</a:t>
            </a:r>
            <a:endParaRPr lang="en-US" sz="1800" kern="0" dirty="0">
              <a:solidFill>
                <a:srgbClr val="000000"/>
              </a:solidFill>
              <a:latin typeface="Arial" panose="020B0604020202020204" pitchFamily="34" charset="0"/>
              <a:cs typeface="Arial" panose="020B0604020202020204" pitchFamily="34" charset="0"/>
            </a:endParaRPr>
          </a:p>
          <a:p>
            <a:pPr marL="755650" lvl="1" indent="-355600" algn="l" eaLnBrk="0" hangingPunct="0">
              <a:lnSpc>
                <a:spcPct val="90000"/>
              </a:lnSpc>
              <a:spcBef>
                <a:spcPct val="20000"/>
              </a:spcBef>
              <a:buClr>
                <a:srgbClr val="B2B2B2"/>
              </a:buClr>
              <a:buSzPct val="75000"/>
              <a:buFont typeface="Wingdings" pitchFamily="2" charset="2"/>
              <a:buChar char="Ø"/>
            </a:pPr>
            <a:r>
              <a:rPr lang="en-US" sz="1800" kern="0" dirty="0">
                <a:solidFill>
                  <a:srgbClr val="000000"/>
                </a:solidFill>
                <a:latin typeface="Arial" panose="020B0604020202020204" pitchFamily="34" charset="0"/>
                <a:cs typeface="Arial" panose="020B0604020202020204" pitchFamily="34" charset="0"/>
              </a:rPr>
              <a:t>difficult to apply due to many entangled aspects, including </a:t>
            </a:r>
            <a:r>
              <a:rPr lang="en-US" sz="1800" b="1" kern="0" dirty="0">
                <a:solidFill>
                  <a:srgbClr val="000000"/>
                </a:solidFill>
                <a:latin typeface="Arial" panose="020B0604020202020204" pitchFamily="34" charset="0"/>
                <a:cs typeface="Arial" panose="020B0604020202020204" pitchFamily="34" charset="0"/>
              </a:rPr>
              <a:t>network architecture</a:t>
            </a:r>
            <a:r>
              <a:rPr lang="en-US" sz="1800" kern="0" dirty="0">
                <a:solidFill>
                  <a:srgbClr val="000000"/>
                </a:solidFill>
                <a:latin typeface="Arial" panose="020B0604020202020204" pitchFamily="34" charset="0"/>
                <a:cs typeface="Arial" panose="020B0604020202020204" pitchFamily="34" charset="0"/>
              </a:rPr>
              <a:t>, </a:t>
            </a:r>
            <a:r>
              <a:rPr lang="en-US" sz="1800" b="1" kern="0" dirty="0">
                <a:solidFill>
                  <a:srgbClr val="000000"/>
                </a:solidFill>
                <a:latin typeface="Arial" panose="020B0604020202020204" pitchFamily="34" charset="0"/>
                <a:cs typeface="Arial" panose="020B0604020202020204" pitchFamily="34" charset="0"/>
              </a:rPr>
              <a:t>competing traffic demands</a:t>
            </a:r>
            <a:r>
              <a:rPr lang="en-US" sz="1800" kern="0" dirty="0">
                <a:solidFill>
                  <a:srgbClr val="000000"/>
                </a:solidFill>
                <a:latin typeface="Arial" panose="020B0604020202020204" pitchFamily="34" charset="0"/>
                <a:cs typeface="Arial" panose="020B0604020202020204" pitchFamily="34" charset="0"/>
              </a:rPr>
              <a:t>, and so forth</a:t>
            </a:r>
          </a:p>
        </p:txBody>
      </p:sp>
      <p:grpSp>
        <p:nvGrpSpPr>
          <p:cNvPr id="2" name="Group 2"/>
          <p:cNvGrpSpPr>
            <a:grpSpLocks noChangeAspect="1"/>
          </p:cNvGrpSpPr>
          <p:nvPr/>
        </p:nvGrpSpPr>
        <p:grpSpPr bwMode="auto">
          <a:xfrm>
            <a:off x="784618" y="4475991"/>
            <a:ext cx="7606922" cy="1883297"/>
            <a:chOff x="1449" y="11571"/>
            <a:chExt cx="9524" cy="2357"/>
          </a:xfrm>
        </p:grpSpPr>
        <p:sp>
          <p:nvSpPr>
            <p:cNvPr id="11" name="AutoShape 4"/>
            <p:cNvSpPr>
              <a:spLocks noChangeArrowheads="1"/>
            </p:cNvSpPr>
            <p:nvPr/>
          </p:nvSpPr>
          <p:spPr bwMode="auto">
            <a:xfrm>
              <a:off x="6284" y="12500"/>
              <a:ext cx="1277" cy="835"/>
            </a:xfrm>
            <a:prstGeom prst="roundRect">
              <a:avLst>
                <a:gd name="adj" fmla="val 16667"/>
              </a:avLst>
            </a:prstGeom>
            <a:solidFill>
              <a:srgbClr val="FFFFFF"/>
            </a:solidFill>
            <a:ln w="9525">
              <a:solidFill>
                <a:srgbClr val="000000"/>
              </a:solidFill>
              <a:prstDash val="sysDot"/>
              <a:round/>
              <a:headEnd/>
              <a:tailEnd/>
            </a:ln>
            <a:effectLst/>
          </p:spPr>
          <p:txBody>
            <a:bodyPr vert="horz" wrap="square" lIns="91440" tIns="45720" rIns="91440" bIns="45720" numCol="1" anchor="t" anchorCtr="0" compatLnSpc="1">
              <a:prstTxWarp prst="textNoShape">
                <a:avLst/>
              </a:prstTxWarp>
            </a:bodyPr>
            <a:lstStyle/>
            <a:p>
              <a:pPr algn="ctr"/>
              <a:endParaRPr lang="it-IT" sz="3200" b="1"/>
            </a:p>
          </p:txBody>
        </p:sp>
        <p:sp>
          <p:nvSpPr>
            <p:cNvPr id="12" name="AutoShape 5"/>
            <p:cNvSpPr>
              <a:spLocks noChangeArrowheads="1"/>
            </p:cNvSpPr>
            <p:nvPr/>
          </p:nvSpPr>
          <p:spPr bwMode="auto">
            <a:xfrm>
              <a:off x="4764" y="12500"/>
              <a:ext cx="1277" cy="835"/>
            </a:xfrm>
            <a:prstGeom prst="roundRect">
              <a:avLst>
                <a:gd name="adj" fmla="val 16667"/>
              </a:avLst>
            </a:prstGeom>
            <a:solidFill>
              <a:srgbClr val="FFFFFF"/>
            </a:solidFill>
            <a:ln w="9525">
              <a:solidFill>
                <a:srgbClr val="000000"/>
              </a:solidFill>
              <a:prstDash val="sysDot"/>
              <a:round/>
              <a:headEnd/>
              <a:tailEnd/>
            </a:ln>
            <a:effectLst/>
          </p:spPr>
          <p:txBody>
            <a:bodyPr vert="horz" wrap="square" lIns="91440" tIns="45720" rIns="91440" bIns="45720" numCol="1" anchor="t" anchorCtr="0" compatLnSpc="1">
              <a:prstTxWarp prst="textNoShape">
                <a:avLst/>
              </a:prstTxWarp>
            </a:bodyPr>
            <a:lstStyle/>
            <a:p>
              <a:pPr algn="ctr"/>
              <a:endParaRPr lang="it-IT" sz="3200" b="1"/>
            </a:p>
          </p:txBody>
        </p:sp>
        <p:cxnSp>
          <p:nvCxnSpPr>
            <p:cNvPr id="13" name="AutoShape 6"/>
            <p:cNvCxnSpPr>
              <a:cxnSpLocks noChangeShapeType="1"/>
            </p:cNvCxnSpPr>
            <p:nvPr/>
          </p:nvCxnSpPr>
          <p:spPr bwMode="auto">
            <a:xfrm flipH="1">
              <a:off x="1611" y="13349"/>
              <a:ext cx="170" cy="148"/>
            </a:xfrm>
            <a:prstGeom prst="straightConnector1">
              <a:avLst/>
            </a:prstGeom>
            <a:noFill/>
            <a:ln w="9525">
              <a:solidFill>
                <a:srgbClr val="000000"/>
              </a:solidFill>
              <a:round/>
              <a:headEnd/>
              <a:tailEnd/>
            </a:ln>
          </p:spPr>
        </p:cxnSp>
        <p:cxnSp>
          <p:nvCxnSpPr>
            <p:cNvPr id="14" name="AutoShape 7"/>
            <p:cNvCxnSpPr>
              <a:cxnSpLocks noChangeShapeType="1"/>
            </p:cNvCxnSpPr>
            <p:nvPr/>
          </p:nvCxnSpPr>
          <p:spPr bwMode="auto">
            <a:xfrm>
              <a:off x="1781" y="13349"/>
              <a:ext cx="168" cy="148"/>
            </a:xfrm>
            <a:prstGeom prst="straightConnector1">
              <a:avLst/>
            </a:prstGeom>
            <a:noFill/>
            <a:ln w="9525">
              <a:solidFill>
                <a:srgbClr val="000000"/>
              </a:solidFill>
              <a:round/>
              <a:headEnd/>
              <a:tailEnd/>
            </a:ln>
          </p:spPr>
        </p:cxnSp>
        <p:cxnSp>
          <p:nvCxnSpPr>
            <p:cNvPr id="15" name="AutoShape 8"/>
            <p:cNvCxnSpPr>
              <a:cxnSpLocks noChangeShapeType="1"/>
            </p:cNvCxnSpPr>
            <p:nvPr/>
          </p:nvCxnSpPr>
          <p:spPr bwMode="auto">
            <a:xfrm flipH="1">
              <a:off x="2321" y="13325"/>
              <a:ext cx="172" cy="170"/>
            </a:xfrm>
            <a:prstGeom prst="straightConnector1">
              <a:avLst/>
            </a:prstGeom>
            <a:noFill/>
            <a:ln w="9525">
              <a:solidFill>
                <a:srgbClr val="000000"/>
              </a:solidFill>
              <a:round/>
              <a:headEnd/>
              <a:tailEnd/>
            </a:ln>
          </p:spPr>
        </p:cxnSp>
        <p:cxnSp>
          <p:nvCxnSpPr>
            <p:cNvPr id="16" name="AutoShape 9"/>
            <p:cNvCxnSpPr>
              <a:cxnSpLocks noChangeShapeType="1"/>
            </p:cNvCxnSpPr>
            <p:nvPr/>
          </p:nvCxnSpPr>
          <p:spPr bwMode="auto">
            <a:xfrm>
              <a:off x="2493" y="13325"/>
              <a:ext cx="166" cy="170"/>
            </a:xfrm>
            <a:prstGeom prst="straightConnector1">
              <a:avLst/>
            </a:prstGeom>
            <a:noFill/>
            <a:ln w="9525">
              <a:solidFill>
                <a:srgbClr val="000000"/>
              </a:solidFill>
              <a:round/>
              <a:headEnd/>
              <a:tailEnd/>
            </a:ln>
          </p:spPr>
        </p:cxnSp>
        <p:cxnSp>
          <p:nvCxnSpPr>
            <p:cNvPr id="22" name="AutoShape 10"/>
            <p:cNvCxnSpPr>
              <a:cxnSpLocks noChangeShapeType="1"/>
            </p:cNvCxnSpPr>
            <p:nvPr/>
          </p:nvCxnSpPr>
          <p:spPr bwMode="auto">
            <a:xfrm flipH="1">
              <a:off x="3001" y="13349"/>
              <a:ext cx="170" cy="148"/>
            </a:xfrm>
            <a:prstGeom prst="straightConnector1">
              <a:avLst/>
            </a:prstGeom>
            <a:noFill/>
            <a:ln w="9525">
              <a:solidFill>
                <a:srgbClr val="000000"/>
              </a:solidFill>
              <a:round/>
              <a:headEnd/>
              <a:tailEnd/>
            </a:ln>
          </p:spPr>
        </p:cxnSp>
        <p:cxnSp>
          <p:nvCxnSpPr>
            <p:cNvPr id="23" name="AutoShape 11"/>
            <p:cNvCxnSpPr>
              <a:cxnSpLocks noChangeShapeType="1"/>
            </p:cNvCxnSpPr>
            <p:nvPr/>
          </p:nvCxnSpPr>
          <p:spPr bwMode="auto">
            <a:xfrm>
              <a:off x="3171" y="13349"/>
              <a:ext cx="168" cy="148"/>
            </a:xfrm>
            <a:prstGeom prst="straightConnector1">
              <a:avLst/>
            </a:prstGeom>
            <a:noFill/>
            <a:ln w="9525">
              <a:solidFill>
                <a:srgbClr val="000000"/>
              </a:solidFill>
              <a:round/>
              <a:headEnd/>
              <a:tailEnd/>
            </a:ln>
          </p:spPr>
        </p:cxnSp>
        <p:cxnSp>
          <p:nvCxnSpPr>
            <p:cNvPr id="24" name="AutoShape 12"/>
            <p:cNvCxnSpPr>
              <a:cxnSpLocks noChangeShapeType="1"/>
            </p:cNvCxnSpPr>
            <p:nvPr/>
          </p:nvCxnSpPr>
          <p:spPr bwMode="auto">
            <a:xfrm flipH="1">
              <a:off x="3711" y="13325"/>
              <a:ext cx="172" cy="170"/>
            </a:xfrm>
            <a:prstGeom prst="straightConnector1">
              <a:avLst/>
            </a:prstGeom>
            <a:noFill/>
            <a:ln w="9525">
              <a:solidFill>
                <a:srgbClr val="000000"/>
              </a:solidFill>
              <a:round/>
              <a:headEnd/>
              <a:tailEnd/>
            </a:ln>
          </p:spPr>
        </p:cxnSp>
        <p:cxnSp>
          <p:nvCxnSpPr>
            <p:cNvPr id="25" name="AutoShape 13"/>
            <p:cNvCxnSpPr>
              <a:cxnSpLocks noChangeShapeType="1"/>
            </p:cNvCxnSpPr>
            <p:nvPr/>
          </p:nvCxnSpPr>
          <p:spPr bwMode="auto">
            <a:xfrm>
              <a:off x="3883" y="13325"/>
              <a:ext cx="166" cy="170"/>
            </a:xfrm>
            <a:prstGeom prst="straightConnector1">
              <a:avLst/>
            </a:prstGeom>
            <a:noFill/>
            <a:ln w="9525">
              <a:solidFill>
                <a:srgbClr val="000000"/>
              </a:solidFill>
              <a:round/>
              <a:headEnd/>
              <a:tailEnd/>
            </a:ln>
          </p:spPr>
        </p:cxnSp>
        <p:cxnSp>
          <p:nvCxnSpPr>
            <p:cNvPr id="26" name="AutoShape 14"/>
            <p:cNvCxnSpPr>
              <a:cxnSpLocks noChangeShapeType="1"/>
            </p:cNvCxnSpPr>
            <p:nvPr/>
          </p:nvCxnSpPr>
          <p:spPr bwMode="auto">
            <a:xfrm flipV="1">
              <a:off x="1781" y="12764"/>
              <a:ext cx="352" cy="300"/>
            </a:xfrm>
            <a:prstGeom prst="straightConnector1">
              <a:avLst/>
            </a:prstGeom>
            <a:noFill/>
            <a:ln w="9525">
              <a:solidFill>
                <a:srgbClr val="000000"/>
              </a:solidFill>
              <a:round/>
              <a:headEnd/>
              <a:tailEnd/>
            </a:ln>
          </p:spPr>
        </p:cxnSp>
        <p:cxnSp>
          <p:nvCxnSpPr>
            <p:cNvPr id="27" name="AutoShape 15"/>
            <p:cNvCxnSpPr>
              <a:cxnSpLocks noChangeShapeType="1"/>
            </p:cNvCxnSpPr>
            <p:nvPr/>
          </p:nvCxnSpPr>
          <p:spPr bwMode="auto">
            <a:xfrm flipH="1" flipV="1">
              <a:off x="2133" y="12764"/>
              <a:ext cx="358" cy="300"/>
            </a:xfrm>
            <a:prstGeom prst="straightConnector1">
              <a:avLst/>
            </a:prstGeom>
            <a:noFill/>
            <a:ln w="9525">
              <a:solidFill>
                <a:srgbClr val="000000"/>
              </a:solidFill>
              <a:round/>
              <a:headEnd/>
              <a:tailEnd/>
            </a:ln>
          </p:spPr>
        </p:cxnSp>
        <p:cxnSp>
          <p:nvCxnSpPr>
            <p:cNvPr id="28" name="AutoShape 16"/>
            <p:cNvCxnSpPr>
              <a:cxnSpLocks noChangeShapeType="1"/>
            </p:cNvCxnSpPr>
            <p:nvPr/>
          </p:nvCxnSpPr>
          <p:spPr bwMode="auto">
            <a:xfrm flipV="1">
              <a:off x="3171" y="12764"/>
              <a:ext cx="356" cy="300"/>
            </a:xfrm>
            <a:prstGeom prst="straightConnector1">
              <a:avLst/>
            </a:prstGeom>
            <a:noFill/>
            <a:ln w="9525">
              <a:solidFill>
                <a:srgbClr val="000000"/>
              </a:solidFill>
              <a:round/>
              <a:headEnd/>
              <a:tailEnd/>
            </a:ln>
          </p:spPr>
        </p:cxnSp>
        <p:cxnSp>
          <p:nvCxnSpPr>
            <p:cNvPr id="29" name="AutoShape 17"/>
            <p:cNvCxnSpPr>
              <a:cxnSpLocks noChangeShapeType="1"/>
            </p:cNvCxnSpPr>
            <p:nvPr/>
          </p:nvCxnSpPr>
          <p:spPr bwMode="auto">
            <a:xfrm flipH="1" flipV="1">
              <a:off x="3527" y="12764"/>
              <a:ext cx="354" cy="300"/>
            </a:xfrm>
            <a:prstGeom prst="straightConnector1">
              <a:avLst/>
            </a:prstGeom>
            <a:noFill/>
            <a:ln w="9525">
              <a:solidFill>
                <a:srgbClr val="000000"/>
              </a:solidFill>
              <a:round/>
              <a:headEnd/>
              <a:tailEnd/>
            </a:ln>
          </p:spPr>
        </p:cxnSp>
        <p:cxnSp>
          <p:nvCxnSpPr>
            <p:cNvPr id="30" name="AutoShape 18"/>
            <p:cNvCxnSpPr>
              <a:cxnSpLocks noChangeShapeType="1"/>
            </p:cNvCxnSpPr>
            <p:nvPr/>
          </p:nvCxnSpPr>
          <p:spPr bwMode="auto">
            <a:xfrm flipV="1">
              <a:off x="2133" y="12180"/>
              <a:ext cx="697" cy="299"/>
            </a:xfrm>
            <a:prstGeom prst="straightConnector1">
              <a:avLst/>
            </a:prstGeom>
            <a:noFill/>
            <a:ln w="9525">
              <a:solidFill>
                <a:srgbClr val="000000"/>
              </a:solidFill>
              <a:round/>
              <a:headEnd/>
              <a:tailEnd/>
            </a:ln>
          </p:spPr>
        </p:cxnSp>
        <p:cxnSp>
          <p:nvCxnSpPr>
            <p:cNvPr id="31" name="AutoShape 19"/>
            <p:cNvCxnSpPr>
              <a:cxnSpLocks noChangeShapeType="1"/>
            </p:cNvCxnSpPr>
            <p:nvPr/>
          </p:nvCxnSpPr>
          <p:spPr bwMode="auto">
            <a:xfrm flipH="1" flipV="1">
              <a:off x="2830" y="12180"/>
              <a:ext cx="697" cy="299"/>
            </a:xfrm>
            <a:prstGeom prst="straightConnector1">
              <a:avLst/>
            </a:prstGeom>
            <a:noFill/>
            <a:ln w="9525">
              <a:solidFill>
                <a:srgbClr val="000000"/>
              </a:solidFill>
              <a:round/>
              <a:headEnd/>
              <a:tailEnd/>
            </a:ln>
          </p:spPr>
        </p:cxnSp>
        <p:cxnSp>
          <p:nvCxnSpPr>
            <p:cNvPr id="32" name="AutoShape 20"/>
            <p:cNvCxnSpPr>
              <a:cxnSpLocks noChangeShapeType="1"/>
            </p:cNvCxnSpPr>
            <p:nvPr/>
          </p:nvCxnSpPr>
          <p:spPr bwMode="auto">
            <a:xfrm flipH="1">
              <a:off x="4878" y="13349"/>
              <a:ext cx="170" cy="148"/>
            </a:xfrm>
            <a:prstGeom prst="straightConnector1">
              <a:avLst/>
            </a:prstGeom>
            <a:noFill/>
            <a:ln w="9525">
              <a:solidFill>
                <a:srgbClr val="000000"/>
              </a:solidFill>
              <a:round/>
              <a:headEnd/>
              <a:tailEnd/>
            </a:ln>
          </p:spPr>
        </p:cxnSp>
        <p:cxnSp>
          <p:nvCxnSpPr>
            <p:cNvPr id="33" name="AutoShape 21"/>
            <p:cNvCxnSpPr>
              <a:cxnSpLocks noChangeShapeType="1"/>
            </p:cNvCxnSpPr>
            <p:nvPr/>
          </p:nvCxnSpPr>
          <p:spPr bwMode="auto">
            <a:xfrm>
              <a:off x="5048" y="13349"/>
              <a:ext cx="168" cy="148"/>
            </a:xfrm>
            <a:prstGeom prst="straightConnector1">
              <a:avLst/>
            </a:prstGeom>
            <a:noFill/>
            <a:ln w="9525">
              <a:solidFill>
                <a:srgbClr val="000000"/>
              </a:solidFill>
              <a:round/>
              <a:headEnd/>
              <a:tailEnd/>
            </a:ln>
          </p:spPr>
        </p:cxnSp>
        <p:cxnSp>
          <p:nvCxnSpPr>
            <p:cNvPr id="34" name="AutoShape 22"/>
            <p:cNvCxnSpPr>
              <a:cxnSpLocks noChangeShapeType="1"/>
            </p:cNvCxnSpPr>
            <p:nvPr/>
          </p:nvCxnSpPr>
          <p:spPr bwMode="auto">
            <a:xfrm flipH="1">
              <a:off x="5588" y="13349"/>
              <a:ext cx="170" cy="148"/>
            </a:xfrm>
            <a:prstGeom prst="straightConnector1">
              <a:avLst/>
            </a:prstGeom>
            <a:noFill/>
            <a:ln w="9525">
              <a:solidFill>
                <a:srgbClr val="000000"/>
              </a:solidFill>
              <a:round/>
              <a:headEnd/>
              <a:tailEnd/>
            </a:ln>
          </p:spPr>
        </p:cxnSp>
        <p:cxnSp>
          <p:nvCxnSpPr>
            <p:cNvPr id="35" name="AutoShape 23"/>
            <p:cNvCxnSpPr>
              <a:cxnSpLocks noChangeShapeType="1"/>
            </p:cNvCxnSpPr>
            <p:nvPr/>
          </p:nvCxnSpPr>
          <p:spPr bwMode="auto">
            <a:xfrm>
              <a:off x="5758" y="13349"/>
              <a:ext cx="168" cy="148"/>
            </a:xfrm>
            <a:prstGeom prst="straightConnector1">
              <a:avLst/>
            </a:prstGeom>
            <a:noFill/>
            <a:ln w="9525">
              <a:solidFill>
                <a:srgbClr val="000000"/>
              </a:solidFill>
              <a:round/>
              <a:headEnd/>
              <a:tailEnd/>
            </a:ln>
          </p:spPr>
        </p:cxnSp>
        <p:cxnSp>
          <p:nvCxnSpPr>
            <p:cNvPr id="36" name="AutoShape 24"/>
            <p:cNvCxnSpPr>
              <a:cxnSpLocks noChangeShapeType="1"/>
            </p:cNvCxnSpPr>
            <p:nvPr/>
          </p:nvCxnSpPr>
          <p:spPr bwMode="auto">
            <a:xfrm flipH="1">
              <a:off x="6408" y="13349"/>
              <a:ext cx="170" cy="148"/>
            </a:xfrm>
            <a:prstGeom prst="straightConnector1">
              <a:avLst/>
            </a:prstGeom>
            <a:noFill/>
            <a:ln w="9525">
              <a:solidFill>
                <a:srgbClr val="000000"/>
              </a:solidFill>
              <a:round/>
              <a:headEnd/>
              <a:tailEnd/>
            </a:ln>
          </p:spPr>
        </p:cxnSp>
        <p:cxnSp>
          <p:nvCxnSpPr>
            <p:cNvPr id="37" name="AutoShape 25"/>
            <p:cNvCxnSpPr>
              <a:cxnSpLocks noChangeShapeType="1"/>
            </p:cNvCxnSpPr>
            <p:nvPr/>
          </p:nvCxnSpPr>
          <p:spPr bwMode="auto">
            <a:xfrm>
              <a:off x="6578" y="13349"/>
              <a:ext cx="168" cy="148"/>
            </a:xfrm>
            <a:prstGeom prst="straightConnector1">
              <a:avLst/>
            </a:prstGeom>
            <a:noFill/>
            <a:ln w="9525">
              <a:solidFill>
                <a:srgbClr val="000000"/>
              </a:solidFill>
              <a:round/>
              <a:headEnd/>
              <a:tailEnd/>
            </a:ln>
          </p:spPr>
        </p:cxnSp>
        <p:cxnSp>
          <p:nvCxnSpPr>
            <p:cNvPr id="38" name="AutoShape 26"/>
            <p:cNvCxnSpPr>
              <a:cxnSpLocks noChangeShapeType="1"/>
            </p:cNvCxnSpPr>
            <p:nvPr/>
          </p:nvCxnSpPr>
          <p:spPr bwMode="auto">
            <a:xfrm flipH="1">
              <a:off x="7118" y="13325"/>
              <a:ext cx="172" cy="170"/>
            </a:xfrm>
            <a:prstGeom prst="straightConnector1">
              <a:avLst/>
            </a:prstGeom>
            <a:noFill/>
            <a:ln w="9525">
              <a:solidFill>
                <a:srgbClr val="000000"/>
              </a:solidFill>
              <a:round/>
              <a:headEnd/>
              <a:tailEnd/>
            </a:ln>
          </p:spPr>
        </p:cxnSp>
        <p:cxnSp>
          <p:nvCxnSpPr>
            <p:cNvPr id="39" name="AutoShape 27"/>
            <p:cNvCxnSpPr>
              <a:cxnSpLocks noChangeShapeType="1"/>
            </p:cNvCxnSpPr>
            <p:nvPr/>
          </p:nvCxnSpPr>
          <p:spPr bwMode="auto">
            <a:xfrm>
              <a:off x="7290" y="13325"/>
              <a:ext cx="166" cy="170"/>
            </a:xfrm>
            <a:prstGeom prst="straightConnector1">
              <a:avLst/>
            </a:prstGeom>
            <a:noFill/>
            <a:ln w="9525">
              <a:solidFill>
                <a:srgbClr val="000000"/>
              </a:solidFill>
              <a:round/>
              <a:headEnd/>
              <a:tailEnd/>
            </a:ln>
          </p:spPr>
        </p:cxnSp>
        <p:cxnSp>
          <p:nvCxnSpPr>
            <p:cNvPr id="40" name="AutoShape 28"/>
            <p:cNvCxnSpPr>
              <a:cxnSpLocks noChangeShapeType="1"/>
            </p:cNvCxnSpPr>
            <p:nvPr/>
          </p:nvCxnSpPr>
          <p:spPr bwMode="auto">
            <a:xfrm flipV="1">
              <a:off x="5048" y="12765"/>
              <a:ext cx="1" cy="299"/>
            </a:xfrm>
            <a:prstGeom prst="straightConnector1">
              <a:avLst/>
            </a:prstGeom>
            <a:noFill/>
            <a:ln w="9525">
              <a:solidFill>
                <a:srgbClr val="000000"/>
              </a:solidFill>
              <a:round/>
              <a:headEnd/>
              <a:tailEnd/>
            </a:ln>
          </p:spPr>
        </p:cxnSp>
        <p:cxnSp>
          <p:nvCxnSpPr>
            <p:cNvPr id="41" name="AutoShape 29"/>
            <p:cNvCxnSpPr>
              <a:cxnSpLocks noChangeShapeType="1"/>
            </p:cNvCxnSpPr>
            <p:nvPr/>
          </p:nvCxnSpPr>
          <p:spPr bwMode="auto">
            <a:xfrm flipH="1">
              <a:off x="5048" y="12765"/>
              <a:ext cx="710" cy="299"/>
            </a:xfrm>
            <a:prstGeom prst="straightConnector1">
              <a:avLst/>
            </a:prstGeom>
            <a:noFill/>
            <a:ln w="9525">
              <a:solidFill>
                <a:srgbClr val="000000"/>
              </a:solidFill>
              <a:round/>
              <a:headEnd/>
              <a:tailEnd/>
            </a:ln>
          </p:spPr>
        </p:cxnSp>
        <p:cxnSp>
          <p:nvCxnSpPr>
            <p:cNvPr id="42" name="AutoShape 30"/>
            <p:cNvCxnSpPr>
              <a:cxnSpLocks noChangeShapeType="1"/>
            </p:cNvCxnSpPr>
            <p:nvPr/>
          </p:nvCxnSpPr>
          <p:spPr bwMode="auto">
            <a:xfrm flipV="1">
              <a:off x="6578" y="12765"/>
              <a:ext cx="1" cy="299"/>
            </a:xfrm>
            <a:prstGeom prst="straightConnector1">
              <a:avLst/>
            </a:prstGeom>
            <a:noFill/>
            <a:ln w="9525">
              <a:solidFill>
                <a:srgbClr val="000000"/>
              </a:solidFill>
              <a:round/>
              <a:headEnd/>
              <a:tailEnd/>
            </a:ln>
          </p:spPr>
        </p:cxnSp>
        <p:cxnSp>
          <p:nvCxnSpPr>
            <p:cNvPr id="43" name="AutoShape 31"/>
            <p:cNvCxnSpPr>
              <a:cxnSpLocks noChangeShapeType="1"/>
            </p:cNvCxnSpPr>
            <p:nvPr/>
          </p:nvCxnSpPr>
          <p:spPr bwMode="auto">
            <a:xfrm flipV="1">
              <a:off x="7288" y="12765"/>
              <a:ext cx="1" cy="299"/>
            </a:xfrm>
            <a:prstGeom prst="straightConnector1">
              <a:avLst/>
            </a:prstGeom>
            <a:noFill/>
            <a:ln w="9525">
              <a:solidFill>
                <a:srgbClr val="000000"/>
              </a:solidFill>
              <a:round/>
              <a:headEnd/>
              <a:tailEnd/>
            </a:ln>
          </p:spPr>
        </p:cxnSp>
        <p:cxnSp>
          <p:nvCxnSpPr>
            <p:cNvPr id="44" name="AutoShape 32"/>
            <p:cNvCxnSpPr>
              <a:cxnSpLocks noChangeShapeType="1"/>
            </p:cNvCxnSpPr>
            <p:nvPr/>
          </p:nvCxnSpPr>
          <p:spPr bwMode="auto">
            <a:xfrm flipV="1">
              <a:off x="5048" y="12180"/>
              <a:ext cx="247" cy="300"/>
            </a:xfrm>
            <a:prstGeom prst="straightConnector1">
              <a:avLst/>
            </a:prstGeom>
            <a:noFill/>
            <a:ln w="9525">
              <a:solidFill>
                <a:srgbClr val="000000"/>
              </a:solidFill>
              <a:round/>
              <a:headEnd/>
              <a:tailEnd/>
            </a:ln>
          </p:spPr>
        </p:cxnSp>
        <p:cxnSp>
          <p:nvCxnSpPr>
            <p:cNvPr id="45" name="AutoShape 33"/>
            <p:cNvCxnSpPr>
              <a:cxnSpLocks noChangeShapeType="1"/>
            </p:cNvCxnSpPr>
            <p:nvPr/>
          </p:nvCxnSpPr>
          <p:spPr bwMode="auto">
            <a:xfrm flipV="1">
              <a:off x="5048" y="12180"/>
              <a:ext cx="827" cy="300"/>
            </a:xfrm>
            <a:prstGeom prst="straightConnector1">
              <a:avLst/>
            </a:prstGeom>
            <a:noFill/>
            <a:ln w="9525">
              <a:solidFill>
                <a:srgbClr val="000000"/>
              </a:solidFill>
              <a:round/>
              <a:headEnd/>
              <a:tailEnd/>
            </a:ln>
          </p:spPr>
        </p:cxnSp>
        <p:cxnSp>
          <p:nvCxnSpPr>
            <p:cNvPr id="46" name="AutoShape 34"/>
            <p:cNvCxnSpPr>
              <a:cxnSpLocks noChangeShapeType="1"/>
            </p:cNvCxnSpPr>
            <p:nvPr/>
          </p:nvCxnSpPr>
          <p:spPr bwMode="auto">
            <a:xfrm flipH="1" flipV="1">
              <a:off x="5048" y="12765"/>
              <a:ext cx="710" cy="299"/>
            </a:xfrm>
            <a:prstGeom prst="straightConnector1">
              <a:avLst/>
            </a:prstGeom>
            <a:noFill/>
            <a:ln w="9525">
              <a:solidFill>
                <a:srgbClr val="000000"/>
              </a:solidFill>
              <a:round/>
              <a:headEnd/>
              <a:tailEnd/>
            </a:ln>
          </p:spPr>
        </p:cxnSp>
        <p:cxnSp>
          <p:nvCxnSpPr>
            <p:cNvPr id="47" name="AutoShape 35"/>
            <p:cNvCxnSpPr>
              <a:cxnSpLocks noChangeShapeType="1"/>
            </p:cNvCxnSpPr>
            <p:nvPr/>
          </p:nvCxnSpPr>
          <p:spPr bwMode="auto">
            <a:xfrm flipV="1">
              <a:off x="5758" y="12765"/>
              <a:ext cx="1" cy="299"/>
            </a:xfrm>
            <a:prstGeom prst="straightConnector1">
              <a:avLst/>
            </a:prstGeom>
            <a:noFill/>
            <a:ln w="9525">
              <a:solidFill>
                <a:srgbClr val="000000"/>
              </a:solidFill>
              <a:round/>
              <a:headEnd/>
              <a:tailEnd/>
            </a:ln>
          </p:spPr>
        </p:cxnSp>
        <p:cxnSp>
          <p:nvCxnSpPr>
            <p:cNvPr id="48" name="AutoShape 36"/>
            <p:cNvCxnSpPr>
              <a:cxnSpLocks noChangeShapeType="1"/>
            </p:cNvCxnSpPr>
            <p:nvPr/>
          </p:nvCxnSpPr>
          <p:spPr bwMode="auto">
            <a:xfrm flipV="1">
              <a:off x="5758" y="12180"/>
              <a:ext cx="697" cy="300"/>
            </a:xfrm>
            <a:prstGeom prst="straightConnector1">
              <a:avLst/>
            </a:prstGeom>
            <a:noFill/>
            <a:ln w="9525">
              <a:solidFill>
                <a:srgbClr val="000000"/>
              </a:solidFill>
              <a:round/>
              <a:headEnd/>
              <a:tailEnd/>
            </a:ln>
          </p:spPr>
        </p:cxnSp>
        <p:cxnSp>
          <p:nvCxnSpPr>
            <p:cNvPr id="49" name="AutoShape 37"/>
            <p:cNvCxnSpPr>
              <a:cxnSpLocks noChangeShapeType="1"/>
            </p:cNvCxnSpPr>
            <p:nvPr/>
          </p:nvCxnSpPr>
          <p:spPr bwMode="auto">
            <a:xfrm flipV="1">
              <a:off x="5758" y="12180"/>
              <a:ext cx="1277" cy="300"/>
            </a:xfrm>
            <a:prstGeom prst="straightConnector1">
              <a:avLst/>
            </a:prstGeom>
            <a:noFill/>
            <a:ln w="9525">
              <a:solidFill>
                <a:srgbClr val="000000"/>
              </a:solidFill>
              <a:round/>
              <a:headEnd/>
              <a:tailEnd/>
            </a:ln>
          </p:spPr>
        </p:cxnSp>
        <p:cxnSp>
          <p:nvCxnSpPr>
            <p:cNvPr id="50" name="AutoShape 38"/>
            <p:cNvCxnSpPr>
              <a:cxnSpLocks noChangeShapeType="1"/>
            </p:cNvCxnSpPr>
            <p:nvPr/>
          </p:nvCxnSpPr>
          <p:spPr bwMode="auto">
            <a:xfrm flipH="1" flipV="1">
              <a:off x="5295" y="12180"/>
              <a:ext cx="1283" cy="300"/>
            </a:xfrm>
            <a:prstGeom prst="straightConnector1">
              <a:avLst/>
            </a:prstGeom>
            <a:noFill/>
            <a:ln w="9525">
              <a:solidFill>
                <a:srgbClr val="000000"/>
              </a:solidFill>
              <a:round/>
              <a:headEnd/>
              <a:tailEnd/>
            </a:ln>
          </p:spPr>
        </p:cxnSp>
        <p:cxnSp>
          <p:nvCxnSpPr>
            <p:cNvPr id="51" name="AutoShape 39"/>
            <p:cNvCxnSpPr>
              <a:cxnSpLocks noChangeShapeType="1"/>
            </p:cNvCxnSpPr>
            <p:nvPr/>
          </p:nvCxnSpPr>
          <p:spPr bwMode="auto">
            <a:xfrm flipH="1" flipV="1">
              <a:off x="5875" y="12180"/>
              <a:ext cx="703" cy="300"/>
            </a:xfrm>
            <a:prstGeom prst="straightConnector1">
              <a:avLst/>
            </a:prstGeom>
            <a:noFill/>
            <a:ln w="9525">
              <a:solidFill>
                <a:srgbClr val="000000"/>
              </a:solidFill>
              <a:round/>
              <a:headEnd/>
              <a:tailEnd/>
            </a:ln>
          </p:spPr>
        </p:cxnSp>
        <p:cxnSp>
          <p:nvCxnSpPr>
            <p:cNvPr id="52" name="AutoShape 40"/>
            <p:cNvCxnSpPr>
              <a:cxnSpLocks noChangeShapeType="1"/>
            </p:cNvCxnSpPr>
            <p:nvPr/>
          </p:nvCxnSpPr>
          <p:spPr bwMode="auto">
            <a:xfrm flipH="1" flipV="1">
              <a:off x="6455" y="12180"/>
              <a:ext cx="833" cy="300"/>
            </a:xfrm>
            <a:prstGeom prst="straightConnector1">
              <a:avLst/>
            </a:prstGeom>
            <a:noFill/>
            <a:ln w="9525">
              <a:solidFill>
                <a:srgbClr val="000000"/>
              </a:solidFill>
              <a:round/>
              <a:headEnd/>
              <a:tailEnd/>
            </a:ln>
          </p:spPr>
        </p:cxnSp>
        <p:cxnSp>
          <p:nvCxnSpPr>
            <p:cNvPr id="53" name="AutoShape 41"/>
            <p:cNvCxnSpPr>
              <a:cxnSpLocks noChangeShapeType="1"/>
            </p:cNvCxnSpPr>
            <p:nvPr/>
          </p:nvCxnSpPr>
          <p:spPr bwMode="auto">
            <a:xfrm flipH="1" flipV="1">
              <a:off x="7035" y="12180"/>
              <a:ext cx="253" cy="300"/>
            </a:xfrm>
            <a:prstGeom prst="straightConnector1">
              <a:avLst/>
            </a:prstGeom>
            <a:noFill/>
            <a:ln w="9525">
              <a:solidFill>
                <a:srgbClr val="000000"/>
              </a:solidFill>
              <a:round/>
              <a:headEnd/>
              <a:tailEnd/>
            </a:ln>
          </p:spPr>
        </p:cxnSp>
        <p:cxnSp>
          <p:nvCxnSpPr>
            <p:cNvPr id="54" name="AutoShape 42"/>
            <p:cNvCxnSpPr>
              <a:cxnSpLocks noChangeShapeType="1"/>
            </p:cNvCxnSpPr>
            <p:nvPr/>
          </p:nvCxnSpPr>
          <p:spPr bwMode="auto">
            <a:xfrm flipV="1">
              <a:off x="6578" y="12765"/>
              <a:ext cx="710" cy="299"/>
            </a:xfrm>
            <a:prstGeom prst="straightConnector1">
              <a:avLst/>
            </a:prstGeom>
            <a:noFill/>
            <a:ln w="9525">
              <a:solidFill>
                <a:srgbClr val="000000"/>
              </a:solidFill>
              <a:round/>
              <a:headEnd/>
              <a:tailEnd/>
            </a:ln>
          </p:spPr>
        </p:cxnSp>
        <p:cxnSp>
          <p:nvCxnSpPr>
            <p:cNvPr id="55" name="AutoShape 43"/>
            <p:cNvCxnSpPr>
              <a:cxnSpLocks noChangeShapeType="1"/>
            </p:cNvCxnSpPr>
            <p:nvPr/>
          </p:nvCxnSpPr>
          <p:spPr bwMode="auto">
            <a:xfrm>
              <a:off x="6578" y="12765"/>
              <a:ext cx="710" cy="299"/>
            </a:xfrm>
            <a:prstGeom prst="straightConnector1">
              <a:avLst/>
            </a:prstGeom>
            <a:noFill/>
            <a:ln w="9525">
              <a:solidFill>
                <a:srgbClr val="000000"/>
              </a:solidFill>
              <a:round/>
              <a:headEnd/>
              <a:tailEnd/>
            </a:ln>
          </p:spPr>
        </p:cxnSp>
        <p:cxnSp>
          <p:nvCxnSpPr>
            <p:cNvPr id="56" name="AutoShape 44"/>
            <p:cNvCxnSpPr>
              <a:cxnSpLocks noChangeShapeType="1"/>
              <a:stCxn id="12" idx="3"/>
              <a:endCxn id="11" idx="1"/>
            </p:cNvCxnSpPr>
            <p:nvPr/>
          </p:nvCxnSpPr>
          <p:spPr bwMode="auto">
            <a:xfrm>
              <a:off x="6041" y="12918"/>
              <a:ext cx="243" cy="1"/>
            </a:xfrm>
            <a:prstGeom prst="straightConnector1">
              <a:avLst/>
            </a:prstGeom>
            <a:noFill/>
            <a:ln w="28575">
              <a:solidFill>
                <a:srgbClr val="000000"/>
              </a:solidFill>
              <a:prstDash val="sysDot"/>
              <a:round/>
              <a:headEnd/>
              <a:tailEnd/>
            </a:ln>
          </p:spPr>
        </p:cxnSp>
        <p:cxnSp>
          <p:nvCxnSpPr>
            <p:cNvPr id="57" name="AutoShape 45"/>
            <p:cNvCxnSpPr>
              <a:cxnSpLocks noChangeShapeType="1"/>
            </p:cNvCxnSpPr>
            <p:nvPr/>
          </p:nvCxnSpPr>
          <p:spPr bwMode="auto">
            <a:xfrm flipH="1">
              <a:off x="8233" y="13310"/>
              <a:ext cx="170" cy="190"/>
            </a:xfrm>
            <a:prstGeom prst="straightConnector1">
              <a:avLst/>
            </a:prstGeom>
            <a:noFill/>
            <a:ln w="9525">
              <a:solidFill>
                <a:srgbClr val="000000"/>
              </a:solidFill>
              <a:round/>
              <a:headEnd/>
              <a:tailEnd/>
            </a:ln>
          </p:spPr>
        </p:cxnSp>
        <p:cxnSp>
          <p:nvCxnSpPr>
            <p:cNvPr id="58" name="AutoShape 46"/>
            <p:cNvCxnSpPr>
              <a:cxnSpLocks noChangeShapeType="1"/>
            </p:cNvCxnSpPr>
            <p:nvPr/>
          </p:nvCxnSpPr>
          <p:spPr bwMode="auto">
            <a:xfrm>
              <a:off x="8403" y="13310"/>
              <a:ext cx="168" cy="190"/>
            </a:xfrm>
            <a:prstGeom prst="straightConnector1">
              <a:avLst/>
            </a:prstGeom>
            <a:noFill/>
            <a:ln w="9525">
              <a:solidFill>
                <a:srgbClr val="000000"/>
              </a:solidFill>
              <a:round/>
              <a:headEnd/>
              <a:tailEnd/>
            </a:ln>
          </p:spPr>
        </p:cxnSp>
        <p:cxnSp>
          <p:nvCxnSpPr>
            <p:cNvPr id="59" name="AutoShape 47"/>
            <p:cNvCxnSpPr>
              <a:cxnSpLocks noChangeShapeType="1"/>
            </p:cNvCxnSpPr>
            <p:nvPr/>
          </p:nvCxnSpPr>
          <p:spPr bwMode="auto">
            <a:xfrm flipH="1">
              <a:off x="8943" y="13310"/>
              <a:ext cx="170" cy="190"/>
            </a:xfrm>
            <a:prstGeom prst="straightConnector1">
              <a:avLst/>
            </a:prstGeom>
            <a:noFill/>
            <a:ln w="9525">
              <a:solidFill>
                <a:srgbClr val="000000"/>
              </a:solidFill>
              <a:round/>
              <a:headEnd/>
              <a:tailEnd/>
            </a:ln>
          </p:spPr>
        </p:cxnSp>
        <p:cxnSp>
          <p:nvCxnSpPr>
            <p:cNvPr id="60" name="AutoShape 48"/>
            <p:cNvCxnSpPr>
              <a:cxnSpLocks noChangeShapeType="1"/>
            </p:cNvCxnSpPr>
            <p:nvPr/>
          </p:nvCxnSpPr>
          <p:spPr bwMode="auto">
            <a:xfrm>
              <a:off x="9113" y="13310"/>
              <a:ext cx="168" cy="190"/>
            </a:xfrm>
            <a:prstGeom prst="straightConnector1">
              <a:avLst/>
            </a:prstGeom>
            <a:noFill/>
            <a:ln w="9525">
              <a:solidFill>
                <a:srgbClr val="000000"/>
              </a:solidFill>
              <a:round/>
              <a:headEnd/>
              <a:tailEnd/>
            </a:ln>
          </p:spPr>
        </p:cxnSp>
        <p:cxnSp>
          <p:nvCxnSpPr>
            <p:cNvPr id="61" name="AutoShape 49"/>
            <p:cNvCxnSpPr>
              <a:cxnSpLocks noChangeShapeType="1"/>
            </p:cNvCxnSpPr>
            <p:nvPr/>
          </p:nvCxnSpPr>
          <p:spPr bwMode="auto">
            <a:xfrm flipH="1">
              <a:off x="9763" y="13310"/>
              <a:ext cx="170" cy="190"/>
            </a:xfrm>
            <a:prstGeom prst="straightConnector1">
              <a:avLst/>
            </a:prstGeom>
            <a:noFill/>
            <a:ln w="9525">
              <a:solidFill>
                <a:srgbClr val="000000"/>
              </a:solidFill>
              <a:round/>
              <a:headEnd/>
              <a:tailEnd/>
            </a:ln>
          </p:spPr>
        </p:cxnSp>
        <p:cxnSp>
          <p:nvCxnSpPr>
            <p:cNvPr id="62" name="AutoShape 50"/>
            <p:cNvCxnSpPr>
              <a:cxnSpLocks noChangeShapeType="1"/>
            </p:cNvCxnSpPr>
            <p:nvPr/>
          </p:nvCxnSpPr>
          <p:spPr bwMode="auto">
            <a:xfrm>
              <a:off x="9933" y="13310"/>
              <a:ext cx="168" cy="190"/>
            </a:xfrm>
            <a:prstGeom prst="straightConnector1">
              <a:avLst/>
            </a:prstGeom>
            <a:noFill/>
            <a:ln w="9525">
              <a:solidFill>
                <a:srgbClr val="000000"/>
              </a:solidFill>
              <a:round/>
              <a:headEnd/>
              <a:tailEnd/>
            </a:ln>
          </p:spPr>
        </p:cxnSp>
        <p:pic>
          <p:nvPicPr>
            <p:cNvPr id="63" name="Picture 51"/>
            <p:cNvPicPr>
              <a:picLocks noChangeAspect="1" noChangeArrowheads="1"/>
            </p:cNvPicPr>
            <p:nvPr/>
          </p:nvPicPr>
          <p:blipFill>
            <a:blip r:embed="rId3" cstate="print"/>
            <a:srcRect/>
            <a:stretch>
              <a:fillRect/>
            </a:stretch>
          </p:blipFill>
          <p:spPr bwMode="auto">
            <a:xfrm>
              <a:off x="1449" y="13497"/>
              <a:ext cx="324" cy="430"/>
            </a:xfrm>
            <a:prstGeom prst="rect">
              <a:avLst/>
            </a:prstGeom>
            <a:noFill/>
          </p:spPr>
        </p:pic>
        <p:pic>
          <p:nvPicPr>
            <p:cNvPr id="64" name="Picture 52"/>
            <p:cNvPicPr>
              <a:picLocks noChangeAspect="1" noChangeArrowheads="1"/>
            </p:cNvPicPr>
            <p:nvPr/>
          </p:nvPicPr>
          <p:blipFill>
            <a:blip r:embed="rId3" cstate="print"/>
            <a:srcRect/>
            <a:stretch>
              <a:fillRect/>
            </a:stretch>
          </p:blipFill>
          <p:spPr bwMode="auto">
            <a:xfrm>
              <a:off x="1787" y="13497"/>
              <a:ext cx="324" cy="430"/>
            </a:xfrm>
            <a:prstGeom prst="rect">
              <a:avLst/>
            </a:prstGeom>
            <a:noFill/>
          </p:spPr>
        </p:pic>
        <p:pic>
          <p:nvPicPr>
            <p:cNvPr id="65" name="Picture 53"/>
            <p:cNvPicPr>
              <a:picLocks noChangeAspect="1" noChangeArrowheads="1"/>
            </p:cNvPicPr>
            <p:nvPr/>
          </p:nvPicPr>
          <p:blipFill>
            <a:blip r:embed="rId3" cstate="print"/>
            <a:srcRect/>
            <a:stretch>
              <a:fillRect/>
            </a:stretch>
          </p:blipFill>
          <p:spPr bwMode="auto">
            <a:xfrm>
              <a:off x="2159" y="13497"/>
              <a:ext cx="324" cy="430"/>
            </a:xfrm>
            <a:prstGeom prst="rect">
              <a:avLst/>
            </a:prstGeom>
            <a:noFill/>
          </p:spPr>
        </p:pic>
        <p:pic>
          <p:nvPicPr>
            <p:cNvPr id="66" name="Picture 54"/>
            <p:cNvPicPr>
              <a:picLocks noChangeAspect="1" noChangeArrowheads="1"/>
            </p:cNvPicPr>
            <p:nvPr/>
          </p:nvPicPr>
          <p:blipFill>
            <a:blip r:embed="rId3" cstate="print"/>
            <a:srcRect/>
            <a:stretch>
              <a:fillRect/>
            </a:stretch>
          </p:blipFill>
          <p:spPr bwMode="auto">
            <a:xfrm>
              <a:off x="2497" y="13497"/>
              <a:ext cx="324" cy="430"/>
            </a:xfrm>
            <a:prstGeom prst="rect">
              <a:avLst/>
            </a:prstGeom>
            <a:noFill/>
          </p:spPr>
        </p:pic>
        <p:pic>
          <p:nvPicPr>
            <p:cNvPr id="67" name="Picture 55"/>
            <p:cNvPicPr>
              <a:picLocks noChangeAspect="1" noChangeArrowheads="1"/>
            </p:cNvPicPr>
            <p:nvPr/>
          </p:nvPicPr>
          <p:blipFill>
            <a:blip r:embed="rId3" cstate="print"/>
            <a:srcRect/>
            <a:stretch>
              <a:fillRect/>
            </a:stretch>
          </p:blipFill>
          <p:spPr bwMode="auto">
            <a:xfrm>
              <a:off x="2839" y="13497"/>
              <a:ext cx="324" cy="430"/>
            </a:xfrm>
            <a:prstGeom prst="rect">
              <a:avLst/>
            </a:prstGeom>
            <a:noFill/>
          </p:spPr>
        </p:pic>
        <p:pic>
          <p:nvPicPr>
            <p:cNvPr id="68" name="Picture 56"/>
            <p:cNvPicPr>
              <a:picLocks noChangeAspect="1" noChangeArrowheads="1"/>
            </p:cNvPicPr>
            <p:nvPr/>
          </p:nvPicPr>
          <p:blipFill>
            <a:blip r:embed="rId3" cstate="print"/>
            <a:srcRect/>
            <a:stretch>
              <a:fillRect/>
            </a:stretch>
          </p:blipFill>
          <p:spPr bwMode="auto">
            <a:xfrm>
              <a:off x="3177" y="13497"/>
              <a:ext cx="324" cy="430"/>
            </a:xfrm>
            <a:prstGeom prst="rect">
              <a:avLst/>
            </a:prstGeom>
            <a:noFill/>
          </p:spPr>
        </p:pic>
        <p:pic>
          <p:nvPicPr>
            <p:cNvPr id="69" name="Picture 57"/>
            <p:cNvPicPr>
              <a:picLocks noChangeAspect="1" noChangeArrowheads="1"/>
            </p:cNvPicPr>
            <p:nvPr/>
          </p:nvPicPr>
          <p:blipFill>
            <a:blip r:embed="rId3" cstate="print"/>
            <a:srcRect/>
            <a:stretch>
              <a:fillRect/>
            </a:stretch>
          </p:blipFill>
          <p:spPr bwMode="auto">
            <a:xfrm>
              <a:off x="3549" y="13497"/>
              <a:ext cx="324" cy="430"/>
            </a:xfrm>
            <a:prstGeom prst="rect">
              <a:avLst/>
            </a:prstGeom>
            <a:noFill/>
          </p:spPr>
        </p:pic>
        <p:pic>
          <p:nvPicPr>
            <p:cNvPr id="70" name="Picture 58"/>
            <p:cNvPicPr>
              <a:picLocks noChangeAspect="1" noChangeArrowheads="1"/>
            </p:cNvPicPr>
            <p:nvPr/>
          </p:nvPicPr>
          <p:blipFill>
            <a:blip r:embed="rId3" cstate="print"/>
            <a:srcRect/>
            <a:stretch>
              <a:fillRect/>
            </a:stretch>
          </p:blipFill>
          <p:spPr bwMode="auto">
            <a:xfrm>
              <a:off x="3887" y="13497"/>
              <a:ext cx="324" cy="430"/>
            </a:xfrm>
            <a:prstGeom prst="rect">
              <a:avLst/>
            </a:prstGeom>
            <a:noFill/>
          </p:spPr>
        </p:pic>
        <p:pic>
          <p:nvPicPr>
            <p:cNvPr id="71" name="Picture 59"/>
            <p:cNvPicPr>
              <a:picLocks noChangeAspect="1" noChangeArrowheads="1"/>
            </p:cNvPicPr>
            <p:nvPr/>
          </p:nvPicPr>
          <p:blipFill>
            <a:blip r:embed="rId3" cstate="print"/>
            <a:srcRect/>
            <a:stretch>
              <a:fillRect/>
            </a:stretch>
          </p:blipFill>
          <p:spPr bwMode="auto">
            <a:xfrm>
              <a:off x="4716" y="13497"/>
              <a:ext cx="324" cy="430"/>
            </a:xfrm>
            <a:prstGeom prst="rect">
              <a:avLst/>
            </a:prstGeom>
            <a:noFill/>
          </p:spPr>
        </p:pic>
        <p:pic>
          <p:nvPicPr>
            <p:cNvPr id="72" name="Picture 60"/>
            <p:cNvPicPr>
              <a:picLocks noChangeAspect="1" noChangeArrowheads="1"/>
            </p:cNvPicPr>
            <p:nvPr/>
          </p:nvPicPr>
          <p:blipFill>
            <a:blip r:embed="rId3" cstate="print"/>
            <a:srcRect/>
            <a:stretch>
              <a:fillRect/>
            </a:stretch>
          </p:blipFill>
          <p:spPr bwMode="auto">
            <a:xfrm>
              <a:off x="5054" y="13497"/>
              <a:ext cx="324" cy="430"/>
            </a:xfrm>
            <a:prstGeom prst="rect">
              <a:avLst/>
            </a:prstGeom>
            <a:noFill/>
          </p:spPr>
        </p:pic>
        <p:pic>
          <p:nvPicPr>
            <p:cNvPr id="73" name="Picture 61"/>
            <p:cNvPicPr>
              <a:picLocks noChangeAspect="1" noChangeArrowheads="1"/>
            </p:cNvPicPr>
            <p:nvPr/>
          </p:nvPicPr>
          <p:blipFill>
            <a:blip r:embed="rId3" cstate="print"/>
            <a:srcRect/>
            <a:stretch>
              <a:fillRect/>
            </a:stretch>
          </p:blipFill>
          <p:spPr bwMode="auto">
            <a:xfrm>
              <a:off x="5426" y="13497"/>
              <a:ext cx="324" cy="430"/>
            </a:xfrm>
            <a:prstGeom prst="rect">
              <a:avLst/>
            </a:prstGeom>
            <a:noFill/>
          </p:spPr>
        </p:pic>
        <p:pic>
          <p:nvPicPr>
            <p:cNvPr id="74" name="Picture 62"/>
            <p:cNvPicPr>
              <a:picLocks noChangeAspect="1" noChangeArrowheads="1"/>
            </p:cNvPicPr>
            <p:nvPr/>
          </p:nvPicPr>
          <p:blipFill>
            <a:blip r:embed="rId3" cstate="print"/>
            <a:srcRect/>
            <a:stretch>
              <a:fillRect/>
            </a:stretch>
          </p:blipFill>
          <p:spPr bwMode="auto">
            <a:xfrm>
              <a:off x="5764" y="13497"/>
              <a:ext cx="324" cy="430"/>
            </a:xfrm>
            <a:prstGeom prst="rect">
              <a:avLst/>
            </a:prstGeom>
            <a:noFill/>
          </p:spPr>
        </p:pic>
        <p:pic>
          <p:nvPicPr>
            <p:cNvPr id="75" name="Picture 63"/>
            <p:cNvPicPr>
              <a:picLocks noChangeAspect="1" noChangeArrowheads="1"/>
            </p:cNvPicPr>
            <p:nvPr/>
          </p:nvPicPr>
          <p:blipFill>
            <a:blip r:embed="rId3" cstate="print"/>
            <a:srcRect/>
            <a:stretch>
              <a:fillRect/>
            </a:stretch>
          </p:blipFill>
          <p:spPr bwMode="auto">
            <a:xfrm>
              <a:off x="6246" y="13497"/>
              <a:ext cx="324" cy="430"/>
            </a:xfrm>
            <a:prstGeom prst="rect">
              <a:avLst/>
            </a:prstGeom>
            <a:noFill/>
          </p:spPr>
        </p:pic>
        <p:pic>
          <p:nvPicPr>
            <p:cNvPr id="76" name="Picture 64"/>
            <p:cNvPicPr>
              <a:picLocks noChangeAspect="1" noChangeArrowheads="1"/>
            </p:cNvPicPr>
            <p:nvPr/>
          </p:nvPicPr>
          <p:blipFill>
            <a:blip r:embed="rId3" cstate="print"/>
            <a:srcRect/>
            <a:stretch>
              <a:fillRect/>
            </a:stretch>
          </p:blipFill>
          <p:spPr bwMode="auto">
            <a:xfrm>
              <a:off x="6584" y="13497"/>
              <a:ext cx="324" cy="430"/>
            </a:xfrm>
            <a:prstGeom prst="rect">
              <a:avLst/>
            </a:prstGeom>
            <a:noFill/>
          </p:spPr>
        </p:pic>
        <p:pic>
          <p:nvPicPr>
            <p:cNvPr id="77" name="Picture 65"/>
            <p:cNvPicPr>
              <a:picLocks noChangeAspect="1" noChangeArrowheads="1"/>
            </p:cNvPicPr>
            <p:nvPr/>
          </p:nvPicPr>
          <p:blipFill>
            <a:blip r:embed="rId3" cstate="print"/>
            <a:srcRect/>
            <a:stretch>
              <a:fillRect/>
            </a:stretch>
          </p:blipFill>
          <p:spPr bwMode="auto">
            <a:xfrm>
              <a:off x="6956" y="13497"/>
              <a:ext cx="324" cy="430"/>
            </a:xfrm>
            <a:prstGeom prst="rect">
              <a:avLst/>
            </a:prstGeom>
            <a:noFill/>
          </p:spPr>
        </p:pic>
        <p:pic>
          <p:nvPicPr>
            <p:cNvPr id="78" name="Picture 66"/>
            <p:cNvPicPr>
              <a:picLocks noChangeAspect="1" noChangeArrowheads="1"/>
            </p:cNvPicPr>
            <p:nvPr/>
          </p:nvPicPr>
          <p:blipFill>
            <a:blip r:embed="rId3" cstate="print"/>
            <a:srcRect/>
            <a:stretch>
              <a:fillRect/>
            </a:stretch>
          </p:blipFill>
          <p:spPr bwMode="auto">
            <a:xfrm>
              <a:off x="7294" y="13497"/>
              <a:ext cx="324" cy="430"/>
            </a:xfrm>
            <a:prstGeom prst="rect">
              <a:avLst/>
            </a:prstGeom>
            <a:noFill/>
          </p:spPr>
        </p:pic>
        <p:pic>
          <p:nvPicPr>
            <p:cNvPr id="79" name="Picture 67"/>
            <p:cNvPicPr>
              <a:picLocks noChangeAspect="1" noChangeArrowheads="1"/>
            </p:cNvPicPr>
            <p:nvPr/>
          </p:nvPicPr>
          <p:blipFill>
            <a:blip r:embed="rId3" cstate="print"/>
            <a:srcRect/>
            <a:stretch>
              <a:fillRect/>
            </a:stretch>
          </p:blipFill>
          <p:spPr bwMode="auto">
            <a:xfrm>
              <a:off x="8071" y="13498"/>
              <a:ext cx="324" cy="430"/>
            </a:xfrm>
            <a:prstGeom prst="rect">
              <a:avLst/>
            </a:prstGeom>
            <a:noFill/>
          </p:spPr>
        </p:pic>
        <p:pic>
          <p:nvPicPr>
            <p:cNvPr id="80" name="Picture 68"/>
            <p:cNvPicPr>
              <a:picLocks noChangeAspect="1" noChangeArrowheads="1"/>
            </p:cNvPicPr>
            <p:nvPr/>
          </p:nvPicPr>
          <p:blipFill>
            <a:blip r:embed="rId3" cstate="print"/>
            <a:srcRect/>
            <a:stretch>
              <a:fillRect/>
            </a:stretch>
          </p:blipFill>
          <p:spPr bwMode="auto">
            <a:xfrm>
              <a:off x="8409" y="13498"/>
              <a:ext cx="324" cy="430"/>
            </a:xfrm>
            <a:prstGeom prst="rect">
              <a:avLst/>
            </a:prstGeom>
            <a:noFill/>
          </p:spPr>
        </p:pic>
        <p:pic>
          <p:nvPicPr>
            <p:cNvPr id="81" name="Picture 69"/>
            <p:cNvPicPr>
              <a:picLocks noChangeAspect="1" noChangeArrowheads="1"/>
            </p:cNvPicPr>
            <p:nvPr/>
          </p:nvPicPr>
          <p:blipFill>
            <a:blip r:embed="rId3" cstate="print"/>
            <a:srcRect/>
            <a:stretch>
              <a:fillRect/>
            </a:stretch>
          </p:blipFill>
          <p:spPr bwMode="auto">
            <a:xfrm>
              <a:off x="8781" y="13498"/>
              <a:ext cx="324" cy="430"/>
            </a:xfrm>
            <a:prstGeom prst="rect">
              <a:avLst/>
            </a:prstGeom>
            <a:noFill/>
          </p:spPr>
        </p:pic>
        <p:pic>
          <p:nvPicPr>
            <p:cNvPr id="82" name="Picture 70"/>
            <p:cNvPicPr>
              <a:picLocks noChangeAspect="1" noChangeArrowheads="1"/>
            </p:cNvPicPr>
            <p:nvPr/>
          </p:nvPicPr>
          <p:blipFill>
            <a:blip r:embed="rId3" cstate="print"/>
            <a:srcRect/>
            <a:stretch>
              <a:fillRect/>
            </a:stretch>
          </p:blipFill>
          <p:spPr bwMode="auto">
            <a:xfrm>
              <a:off x="9119" y="13498"/>
              <a:ext cx="324" cy="430"/>
            </a:xfrm>
            <a:prstGeom prst="rect">
              <a:avLst/>
            </a:prstGeom>
            <a:noFill/>
          </p:spPr>
        </p:pic>
        <p:pic>
          <p:nvPicPr>
            <p:cNvPr id="83" name="Picture 71"/>
            <p:cNvPicPr>
              <a:picLocks noChangeAspect="1" noChangeArrowheads="1"/>
            </p:cNvPicPr>
            <p:nvPr/>
          </p:nvPicPr>
          <p:blipFill>
            <a:blip r:embed="rId3" cstate="print"/>
            <a:srcRect/>
            <a:stretch>
              <a:fillRect/>
            </a:stretch>
          </p:blipFill>
          <p:spPr bwMode="auto">
            <a:xfrm>
              <a:off x="9601" y="13498"/>
              <a:ext cx="324" cy="430"/>
            </a:xfrm>
            <a:prstGeom prst="rect">
              <a:avLst/>
            </a:prstGeom>
            <a:noFill/>
          </p:spPr>
        </p:pic>
        <p:pic>
          <p:nvPicPr>
            <p:cNvPr id="84" name="Picture 72"/>
            <p:cNvPicPr>
              <a:picLocks noChangeAspect="1" noChangeArrowheads="1"/>
            </p:cNvPicPr>
            <p:nvPr/>
          </p:nvPicPr>
          <p:blipFill>
            <a:blip r:embed="rId3" cstate="print"/>
            <a:srcRect/>
            <a:stretch>
              <a:fillRect/>
            </a:stretch>
          </p:blipFill>
          <p:spPr bwMode="auto">
            <a:xfrm>
              <a:off x="9939" y="13498"/>
              <a:ext cx="324" cy="430"/>
            </a:xfrm>
            <a:prstGeom prst="rect">
              <a:avLst/>
            </a:prstGeom>
            <a:noFill/>
          </p:spPr>
        </p:pic>
        <p:pic>
          <p:nvPicPr>
            <p:cNvPr id="85" name="Picture 73"/>
            <p:cNvPicPr>
              <a:picLocks noChangeAspect="1" noChangeArrowheads="1"/>
            </p:cNvPicPr>
            <p:nvPr/>
          </p:nvPicPr>
          <p:blipFill>
            <a:blip r:embed="rId3" cstate="print"/>
            <a:srcRect/>
            <a:stretch>
              <a:fillRect/>
            </a:stretch>
          </p:blipFill>
          <p:spPr bwMode="auto">
            <a:xfrm>
              <a:off x="10311" y="13498"/>
              <a:ext cx="324" cy="430"/>
            </a:xfrm>
            <a:prstGeom prst="rect">
              <a:avLst/>
            </a:prstGeom>
            <a:noFill/>
          </p:spPr>
        </p:pic>
        <p:pic>
          <p:nvPicPr>
            <p:cNvPr id="86" name="Picture 74"/>
            <p:cNvPicPr>
              <a:picLocks noChangeAspect="1" noChangeArrowheads="1"/>
            </p:cNvPicPr>
            <p:nvPr/>
          </p:nvPicPr>
          <p:blipFill>
            <a:blip r:embed="rId3" cstate="print"/>
            <a:srcRect/>
            <a:stretch>
              <a:fillRect/>
            </a:stretch>
          </p:blipFill>
          <p:spPr bwMode="auto">
            <a:xfrm>
              <a:off x="10649" y="13498"/>
              <a:ext cx="324" cy="430"/>
            </a:xfrm>
            <a:prstGeom prst="rect">
              <a:avLst/>
            </a:prstGeom>
            <a:noFill/>
          </p:spPr>
        </p:pic>
        <p:pic>
          <p:nvPicPr>
            <p:cNvPr id="87" name="Picture 75"/>
            <p:cNvPicPr>
              <a:picLocks noChangeAspect="1" noChangeArrowheads="1"/>
            </p:cNvPicPr>
            <p:nvPr/>
          </p:nvPicPr>
          <p:blipFill>
            <a:blip r:embed="rId4" cstate="print"/>
            <a:srcRect/>
            <a:stretch>
              <a:fillRect/>
            </a:stretch>
          </p:blipFill>
          <p:spPr bwMode="auto">
            <a:xfrm>
              <a:off x="1497" y="13064"/>
              <a:ext cx="567" cy="285"/>
            </a:xfrm>
            <a:prstGeom prst="rect">
              <a:avLst/>
            </a:prstGeom>
            <a:noFill/>
          </p:spPr>
        </p:pic>
        <p:pic>
          <p:nvPicPr>
            <p:cNvPr id="88" name="Picture 76"/>
            <p:cNvPicPr>
              <a:picLocks noChangeAspect="1" noChangeArrowheads="1"/>
            </p:cNvPicPr>
            <p:nvPr/>
          </p:nvPicPr>
          <p:blipFill>
            <a:blip r:embed="rId4" cstate="print"/>
            <a:srcRect/>
            <a:stretch>
              <a:fillRect/>
            </a:stretch>
          </p:blipFill>
          <p:spPr bwMode="auto">
            <a:xfrm>
              <a:off x="2207" y="13064"/>
              <a:ext cx="567" cy="285"/>
            </a:xfrm>
            <a:prstGeom prst="rect">
              <a:avLst/>
            </a:prstGeom>
            <a:noFill/>
          </p:spPr>
        </p:pic>
        <p:pic>
          <p:nvPicPr>
            <p:cNvPr id="89" name="Picture 77"/>
            <p:cNvPicPr>
              <a:picLocks noChangeAspect="1" noChangeArrowheads="1"/>
            </p:cNvPicPr>
            <p:nvPr/>
          </p:nvPicPr>
          <p:blipFill>
            <a:blip r:embed="rId4" cstate="print"/>
            <a:srcRect/>
            <a:stretch>
              <a:fillRect/>
            </a:stretch>
          </p:blipFill>
          <p:spPr bwMode="auto">
            <a:xfrm>
              <a:off x="2887" y="13064"/>
              <a:ext cx="567" cy="285"/>
            </a:xfrm>
            <a:prstGeom prst="rect">
              <a:avLst/>
            </a:prstGeom>
            <a:noFill/>
          </p:spPr>
        </p:pic>
        <p:pic>
          <p:nvPicPr>
            <p:cNvPr id="90" name="Picture 78"/>
            <p:cNvPicPr>
              <a:picLocks noChangeAspect="1" noChangeArrowheads="1"/>
            </p:cNvPicPr>
            <p:nvPr/>
          </p:nvPicPr>
          <p:blipFill>
            <a:blip r:embed="rId4" cstate="print"/>
            <a:srcRect/>
            <a:stretch>
              <a:fillRect/>
            </a:stretch>
          </p:blipFill>
          <p:spPr bwMode="auto">
            <a:xfrm>
              <a:off x="3597" y="13064"/>
              <a:ext cx="567" cy="285"/>
            </a:xfrm>
            <a:prstGeom prst="rect">
              <a:avLst/>
            </a:prstGeom>
            <a:noFill/>
          </p:spPr>
        </p:pic>
        <p:pic>
          <p:nvPicPr>
            <p:cNvPr id="91" name="Picture 79"/>
            <p:cNvPicPr>
              <a:picLocks noChangeAspect="1" noChangeArrowheads="1"/>
            </p:cNvPicPr>
            <p:nvPr/>
          </p:nvPicPr>
          <p:blipFill>
            <a:blip r:embed="rId4" cstate="print"/>
            <a:srcRect/>
            <a:stretch>
              <a:fillRect/>
            </a:stretch>
          </p:blipFill>
          <p:spPr bwMode="auto">
            <a:xfrm>
              <a:off x="4764" y="13064"/>
              <a:ext cx="567" cy="285"/>
            </a:xfrm>
            <a:prstGeom prst="rect">
              <a:avLst/>
            </a:prstGeom>
            <a:noFill/>
          </p:spPr>
        </p:pic>
        <p:pic>
          <p:nvPicPr>
            <p:cNvPr id="92" name="Picture 80"/>
            <p:cNvPicPr>
              <a:picLocks noChangeAspect="1" noChangeArrowheads="1"/>
            </p:cNvPicPr>
            <p:nvPr/>
          </p:nvPicPr>
          <p:blipFill>
            <a:blip r:embed="rId4" cstate="print"/>
            <a:srcRect/>
            <a:stretch>
              <a:fillRect/>
            </a:stretch>
          </p:blipFill>
          <p:spPr bwMode="auto">
            <a:xfrm>
              <a:off x="5474" y="13064"/>
              <a:ext cx="567" cy="285"/>
            </a:xfrm>
            <a:prstGeom prst="rect">
              <a:avLst/>
            </a:prstGeom>
            <a:noFill/>
          </p:spPr>
        </p:pic>
        <p:pic>
          <p:nvPicPr>
            <p:cNvPr id="93" name="Picture 81"/>
            <p:cNvPicPr>
              <a:picLocks noChangeAspect="1" noChangeArrowheads="1"/>
            </p:cNvPicPr>
            <p:nvPr/>
          </p:nvPicPr>
          <p:blipFill>
            <a:blip r:embed="rId4" cstate="print"/>
            <a:srcRect/>
            <a:stretch>
              <a:fillRect/>
            </a:stretch>
          </p:blipFill>
          <p:spPr bwMode="auto">
            <a:xfrm>
              <a:off x="6294" y="13064"/>
              <a:ext cx="567" cy="285"/>
            </a:xfrm>
            <a:prstGeom prst="rect">
              <a:avLst/>
            </a:prstGeom>
            <a:noFill/>
          </p:spPr>
        </p:pic>
        <p:pic>
          <p:nvPicPr>
            <p:cNvPr id="94" name="Picture 82"/>
            <p:cNvPicPr>
              <a:picLocks noChangeAspect="1" noChangeArrowheads="1"/>
            </p:cNvPicPr>
            <p:nvPr/>
          </p:nvPicPr>
          <p:blipFill>
            <a:blip r:embed="rId4" cstate="print"/>
            <a:srcRect/>
            <a:stretch>
              <a:fillRect/>
            </a:stretch>
          </p:blipFill>
          <p:spPr bwMode="auto">
            <a:xfrm>
              <a:off x="7004" y="13064"/>
              <a:ext cx="567" cy="285"/>
            </a:xfrm>
            <a:prstGeom prst="rect">
              <a:avLst/>
            </a:prstGeom>
            <a:noFill/>
          </p:spPr>
        </p:pic>
        <p:pic>
          <p:nvPicPr>
            <p:cNvPr id="95" name="Picture 83"/>
            <p:cNvPicPr>
              <a:picLocks noChangeAspect="1" noChangeArrowheads="1"/>
            </p:cNvPicPr>
            <p:nvPr/>
          </p:nvPicPr>
          <p:blipFill>
            <a:blip r:embed="rId4" cstate="print"/>
            <a:srcRect/>
            <a:stretch>
              <a:fillRect/>
            </a:stretch>
          </p:blipFill>
          <p:spPr bwMode="auto">
            <a:xfrm>
              <a:off x="8119" y="13064"/>
              <a:ext cx="567" cy="285"/>
            </a:xfrm>
            <a:prstGeom prst="rect">
              <a:avLst/>
            </a:prstGeom>
            <a:noFill/>
          </p:spPr>
        </p:pic>
        <p:pic>
          <p:nvPicPr>
            <p:cNvPr id="96" name="Picture 84"/>
            <p:cNvPicPr>
              <a:picLocks noChangeAspect="1" noChangeArrowheads="1"/>
            </p:cNvPicPr>
            <p:nvPr/>
          </p:nvPicPr>
          <p:blipFill>
            <a:blip r:embed="rId4" cstate="print"/>
            <a:srcRect/>
            <a:stretch>
              <a:fillRect/>
            </a:stretch>
          </p:blipFill>
          <p:spPr bwMode="auto">
            <a:xfrm>
              <a:off x="8829" y="13064"/>
              <a:ext cx="567" cy="285"/>
            </a:xfrm>
            <a:prstGeom prst="rect">
              <a:avLst/>
            </a:prstGeom>
            <a:noFill/>
          </p:spPr>
        </p:pic>
        <p:pic>
          <p:nvPicPr>
            <p:cNvPr id="97" name="Picture 85"/>
            <p:cNvPicPr>
              <a:picLocks noChangeAspect="1" noChangeArrowheads="1"/>
            </p:cNvPicPr>
            <p:nvPr/>
          </p:nvPicPr>
          <p:blipFill>
            <a:blip r:embed="rId4" cstate="print"/>
            <a:srcRect/>
            <a:stretch>
              <a:fillRect/>
            </a:stretch>
          </p:blipFill>
          <p:spPr bwMode="auto">
            <a:xfrm>
              <a:off x="9649" y="13064"/>
              <a:ext cx="567" cy="285"/>
            </a:xfrm>
            <a:prstGeom prst="rect">
              <a:avLst/>
            </a:prstGeom>
            <a:noFill/>
          </p:spPr>
        </p:pic>
        <p:pic>
          <p:nvPicPr>
            <p:cNvPr id="98" name="Picture 86"/>
            <p:cNvPicPr>
              <a:picLocks noChangeAspect="1" noChangeArrowheads="1"/>
            </p:cNvPicPr>
            <p:nvPr/>
          </p:nvPicPr>
          <p:blipFill>
            <a:blip r:embed="rId4" cstate="print"/>
            <a:srcRect/>
            <a:stretch>
              <a:fillRect/>
            </a:stretch>
          </p:blipFill>
          <p:spPr bwMode="auto">
            <a:xfrm>
              <a:off x="10359" y="13064"/>
              <a:ext cx="567" cy="285"/>
            </a:xfrm>
            <a:prstGeom prst="rect">
              <a:avLst/>
            </a:prstGeom>
            <a:noFill/>
          </p:spPr>
        </p:pic>
        <p:cxnSp>
          <p:nvCxnSpPr>
            <p:cNvPr id="99" name="AutoShape 87"/>
            <p:cNvCxnSpPr>
              <a:cxnSpLocks noChangeShapeType="1"/>
            </p:cNvCxnSpPr>
            <p:nvPr/>
          </p:nvCxnSpPr>
          <p:spPr bwMode="auto">
            <a:xfrm flipH="1">
              <a:off x="10473" y="13330"/>
              <a:ext cx="172" cy="170"/>
            </a:xfrm>
            <a:prstGeom prst="straightConnector1">
              <a:avLst/>
            </a:prstGeom>
            <a:noFill/>
            <a:ln w="9525">
              <a:solidFill>
                <a:srgbClr val="000000"/>
              </a:solidFill>
              <a:round/>
              <a:headEnd/>
              <a:tailEnd/>
            </a:ln>
          </p:spPr>
        </p:cxnSp>
        <p:cxnSp>
          <p:nvCxnSpPr>
            <p:cNvPr id="100" name="AutoShape 88"/>
            <p:cNvCxnSpPr>
              <a:cxnSpLocks noChangeShapeType="1"/>
            </p:cNvCxnSpPr>
            <p:nvPr/>
          </p:nvCxnSpPr>
          <p:spPr bwMode="auto">
            <a:xfrm>
              <a:off x="10645" y="13330"/>
              <a:ext cx="166" cy="170"/>
            </a:xfrm>
            <a:prstGeom prst="straightConnector1">
              <a:avLst/>
            </a:prstGeom>
            <a:noFill/>
            <a:ln w="9525">
              <a:solidFill>
                <a:srgbClr val="000000"/>
              </a:solidFill>
              <a:round/>
              <a:headEnd/>
              <a:tailEnd/>
            </a:ln>
          </p:spPr>
        </p:cxnSp>
        <p:cxnSp>
          <p:nvCxnSpPr>
            <p:cNvPr id="101" name="AutoShape 89"/>
            <p:cNvCxnSpPr>
              <a:cxnSpLocks noChangeShapeType="1"/>
            </p:cNvCxnSpPr>
            <p:nvPr/>
          </p:nvCxnSpPr>
          <p:spPr bwMode="auto">
            <a:xfrm flipV="1">
              <a:off x="8403" y="12765"/>
              <a:ext cx="1" cy="299"/>
            </a:xfrm>
            <a:prstGeom prst="straightConnector1">
              <a:avLst/>
            </a:prstGeom>
            <a:noFill/>
            <a:ln w="9525">
              <a:solidFill>
                <a:srgbClr val="000000"/>
              </a:solidFill>
              <a:round/>
              <a:headEnd/>
              <a:tailEnd/>
            </a:ln>
          </p:spPr>
        </p:cxnSp>
        <p:cxnSp>
          <p:nvCxnSpPr>
            <p:cNvPr id="102" name="AutoShape 90"/>
            <p:cNvCxnSpPr>
              <a:cxnSpLocks noChangeShapeType="1"/>
            </p:cNvCxnSpPr>
            <p:nvPr/>
          </p:nvCxnSpPr>
          <p:spPr bwMode="auto">
            <a:xfrm flipH="1">
              <a:off x="8403" y="12765"/>
              <a:ext cx="710" cy="299"/>
            </a:xfrm>
            <a:prstGeom prst="straightConnector1">
              <a:avLst/>
            </a:prstGeom>
            <a:noFill/>
            <a:ln w="9525">
              <a:solidFill>
                <a:srgbClr val="000000"/>
              </a:solidFill>
              <a:round/>
              <a:headEnd/>
              <a:tailEnd/>
            </a:ln>
          </p:spPr>
        </p:cxnSp>
        <p:cxnSp>
          <p:nvCxnSpPr>
            <p:cNvPr id="103" name="AutoShape 91"/>
            <p:cNvCxnSpPr>
              <a:cxnSpLocks noChangeShapeType="1"/>
            </p:cNvCxnSpPr>
            <p:nvPr/>
          </p:nvCxnSpPr>
          <p:spPr bwMode="auto">
            <a:xfrm flipV="1">
              <a:off x="9933" y="12765"/>
              <a:ext cx="1" cy="299"/>
            </a:xfrm>
            <a:prstGeom prst="straightConnector1">
              <a:avLst/>
            </a:prstGeom>
            <a:noFill/>
            <a:ln w="9525">
              <a:solidFill>
                <a:srgbClr val="000000"/>
              </a:solidFill>
              <a:round/>
              <a:headEnd/>
              <a:tailEnd/>
            </a:ln>
          </p:spPr>
        </p:cxnSp>
        <p:cxnSp>
          <p:nvCxnSpPr>
            <p:cNvPr id="104" name="AutoShape 92"/>
            <p:cNvCxnSpPr>
              <a:cxnSpLocks noChangeShapeType="1"/>
            </p:cNvCxnSpPr>
            <p:nvPr/>
          </p:nvCxnSpPr>
          <p:spPr bwMode="auto">
            <a:xfrm flipV="1">
              <a:off x="10643" y="12765"/>
              <a:ext cx="1" cy="299"/>
            </a:xfrm>
            <a:prstGeom prst="straightConnector1">
              <a:avLst/>
            </a:prstGeom>
            <a:noFill/>
            <a:ln w="9525">
              <a:solidFill>
                <a:srgbClr val="000000"/>
              </a:solidFill>
              <a:round/>
              <a:headEnd/>
              <a:tailEnd/>
            </a:ln>
          </p:spPr>
        </p:cxnSp>
        <p:cxnSp>
          <p:nvCxnSpPr>
            <p:cNvPr id="105" name="AutoShape 93"/>
            <p:cNvCxnSpPr>
              <a:cxnSpLocks noChangeShapeType="1"/>
            </p:cNvCxnSpPr>
            <p:nvPr/>
          </p:nvCxnSpPr>
          <p:spPr bwMode="auto">
            <a:xfrm flipV="1">
              <a:off x="8403" y="12180"/>
              <a:ext cx="1" cy="300"/>
            </a:xfrm>
            <a:prstGeom prst="straightConnector1">
              <a:avLst/>
            </a:prstGeom>
            <a:noFill/>
            <a:ln w="9525">
              <a:solidFill>
                <a:srgbClr val="000000"/>
              </a:solidFill>
              <a:round/>
              <a:headEnd/>
              <a:tailEnd/>
            </a:ln>
          </p:spPr>
        </p:cxnSp>
        <p:cxnSp>
          <p:nvCxnSpPr>
            <p:cNvPr id="106" name="AutoShape 94"/>
            <p:cNvCxnSpPr>
              <a:cxnSpLocks noChangeShapeType="1"/>
            </p:cNvCxnSpPr>
            <p:nvPr/>
          </p:nvCxnSpPr>
          <p:spPr bwMode="auto">
            <a:xfrm flipV="1">
              <a:off x="8403" y="12180"/>
              <a:ext cx="710" cy="300"/>
            </a:xfrm>
            <a:prstGeom prst="straightConnector1">
              <a:avLst/>
            </a:prstGeom>
            <a:noFill/>
            <a:ln w="9525">
              <a:solidFill>
                <a:srgbClr val="000000"/>
              </a:solidFill>
              <a:round/>
              <a:headEnd/>
              <a:tailEnd/>
            </a:ln>
          </p:spPr>
        </p:cxnSp>
        <p:pic>
          <p:nvPicPr>
            <p:cNvPr id="107" name="Picture 95"/>
            <p:cNvPicPr>
              <a:picLocks noChangeAspect="1" noChangeArrowheads="1"/>
            </p:cNvPicPr>
            <p:nvPr/>
          </p:nvPicPr>
          <p:blipFill>
            <a:blip r:embed="rId4" cstate="print"/>
            <a:srcRect/>
            <a:stretch>
              <a:fillRect/>
            </a:stretch>
          </p:blipFill>
          <p:spPr bwMode="auto">
            <a:xfrm>
              <a:off x="1849" y="12479"/>
              <a:ext cx="567" cy="285"/>
            </a:xfrm>
            <a:prstGeom prst="rect">
              <a:avLst/>
            </a:prstGeom>
            <a:noFill/>
          </p:spPr>
        </p:pic>
        <p:pic>
          <p:nvPicPr>
            <p:cNvPr id="108" name="Picture 96"/>
            <p:cNvPicPr>
              <a:picLocks noChangeAspect="1" noChangeArrowheads="1"/>
            </p:cNvPicPr>
            <p:nvPr/>
          </p:nvPicPr>
          <p:blipFill>
            <a:blip r:embed="rId4" cstate="print"/>
            <a:srcRect/>
            <a:stretch>
              <a:fillRect/>
            </a:stretch>
          </p:blipFill>
          <p:spPr bwMode="auto">
            <a:xfrm>
              <a:off x="3243" y="12479"/>
              <a:ext cx="567" cy="285"/>
            </a:xfrm>
            <a:prstGeom prst="rect">
              <a:avLst/>
            </a:prstGeom>
            <a:noFill/>
          </p:spPr>
        </p:pic>
        <p:pic>
          <p:nvPicPr>
            <p:cNvPr id="109" name="Picture 97"/>
            <p:cNvPicPr>
              <a:picLocks noChangeAspect="1" noChangeArrowheads="1"/>
            </p:cNvPicPr>
            <p:nvPr/>
          </p:nvPicPr>
          <p:blipFill>
            <a:blip r:embed="rId4" cstate="print"/>
            <a:srcRect/>
            <a:stretch>
              <a:fillRect/>
            </a:stretch>
          </p:blipFill>
          <p:spPr bwMode="auto">
            <a:xfrm>
              <a:off x="4764" y="12480"/>
              <a:ext cx="567" cy="285"/>
            </a:xfrm>
            <a:prstGeom prst="rect">
              <a:avLst/>
            </a:prstGeom>
            <a:noFill/>
          </p:spPr>
        </p:pic>
        <p:pic>
          <p:nvPicPr>
            <p:cNvPr id="110" name="Picture 98"/>
            <p:cNvPicPr>
              <a:picLocks noChangeAspect="1" noChangeArrowheads="1"/>
            </p:cNvPicPr>
            <p:nvPr/>
          </p:nvPicPr>
          <p:blipFill>
            <a:blip r:embed="rId4" cstate="print"/>
            <a:srcRect/>
            <a:stretch>
              <a:fillRect/>
            </a:stretch>
          </p:blipFill>
          <p:spPr bwMode="auto">
            <a:xfrm>
              <a:off x="5474" y="12480"/>
              <a:ext cx="567" cy="285"/>
            </a:xfrm>
            <a:prstGeom prst="rect">
              <a:avLst/>
            </a:prstGeom>
            <a:noFill/>
          </p:spPr>
        </p:pic>
        <p:pic>
          <p:nvPicPr>
            <p:cNvPr id="111" name="Picture 99"/>
            <p:cNvPicPr>
              <a:picLocks noChangeAspect="1" noChangeArrowheads="1"/>
            </p:cNvPicPr>
            <p:nvPr/>
          </p:nvPicPr>
          <p:blipFill>
            <a:blip r:embed="rId4" cstate="print"/>
            <a:srcRect/>
            <a:stretch>
              <a:fillRect/>
            </a:stretch>
          </p:blipFill>
          <p:spPr bwMode="auto">
            <a:xfrm>
              <a:off x="6294" y="12480"/>
              <a:ext cx="567" cy="285"/>
            </a:xfrm>
            <a:prstGeom prst="rect">
              <a:avLst/>
            </a:prstGeom>
            <a:noFill/>
          </p:spPr>
        </p:pic>
        <p:pic>
          <p:nvPicPr>
            <p:cNvPr id="112" name="Picture 100"/>
            <p:cNvPicPr>
              <a:picLocks noChangeAspect="1" noChangeArrowheads="1"/>
            </p:cNvPicPr>
            <p:nvPr/>
          </p:nvPicPr>
          <p:blipFill>
            <a:blip r:embed="rId4" cstate="print"/>
            <a:srcRect/>
            <a:stretch>
              <a:fillRect/>
            </a:stretch>
          </p:blipFill>
          <p:spPr bwMode="auto">
            <a:xfrm>
              <a:off x="7004" y="12480"/>
              <a:ext cx="567" cy="285"/>
            </a:xfrm>
            <a:prstGeom prst="rect">
              <a:avLst/>
            </a:prstGeom>
            <a:noFill/>
          </p:spPr>
        </p:pic>
        <p:pic>
          <p:nvPicPr>
            <p:cNvPr id="113" name="Picture 101"/>
            <p:cNvPicPr>
              <a:picLocks noChangeAspect="1" noChangeArrowheads="1"/>
            </p:cNvPicPr>
            <p:nvPr/>
          </p:nvPicPr>
          <p:blipFill>
            <a:blip r:embed="rId4" cstate="print"/>
            <a:srcRect/>
            <a:stretch>
              <a:fillRect/>
            </a:stretch>
          </p:blipFill>
          <p:spPr bwMode="auto">
            <a:xfrm>
              <a:off x="8119" y="12480"/>
              <a:ext cx="567" cy="285"/>
            </a:xfrm>
            <a:prstGeom prst="rect">
              <a:avLst/>
            </a:prstGeom>
            <a:noFill/>
          </p:spPr>
        </p:pic>
        <p:pic>
          <p:nvPicPr>
            <p:cNvPr id="114" name="Picture 102"/>
            <p:cNvPicPr>
              <a:picLocks noChangeAspect="1" noChangeArrowheads="1"/>
            </p:cNvPicPr>
            <p:nvPr/>
          </p:nvPicPr>
          <p:blipFill>
            <a:blip r:embed="rId4" cstate="print"/>
            <a:srcRect/>
            <a:stretch>
              <a:fillRect/>
            </a:stretch>
          </p:blipFill>
          <p:spPr bwMode="auto">
            <a:xfrm>
              <a:off x="8829" y="12480"/>
              <a:ext cx="567" cy="285"/>
            </a:xfrm>
            <a:prstGeom prst="rect">
              <a:avLst/>
            </a:prstGeom>
            <a:noFill/>
          </p:spPr>
        </p:pic>
        <p:pic>
          <p:nvPicPr>
            <p:cNvPr id="115" name="Picture 103"/>
            <p:cNvPicPr>
              <a:picLocks noChangeAspect="1" noChangeArrowheads="1"/>
            </p:cNvPicPr>
            <p:nvPr/>
          </p:nvPicPr>
          <p:blipFill>
            <a:blip r:embed="rId4" cstate="print"/>
            <a:srcRect/>
            <a:stretch>
              <a:fillRect/>
            </a:stretch>
          </p:blipFill>
          <p:spPr bwMode="auto">
            <a:xfrm>
              <a:off x="9649" y="12480"/>
              <a:ext cx="567" cy="285"/>
            </a:xfrm>
            <a:prstGeom prst="rect">
              <a:avLst/>
            </a:prstGeom>
            <a:noFill/>
          </p:spPr>
        </p:pic>
        <p:pic>
          <p:nvPicPr>
            <p:cNvPr id="116" name="Picture 104"/>
            <p:cNvPicPr>
              <a:picLocks noChangeAspect="1" noChangeArrowheads="1"/>
            </p:cNvPicPr>
            <p:nvPr/>
          </p:nvPicPr>
          <p:blipFill>
            <a:blip r:embed="rId4" cstate="print"/>
            <a:srcRect/>
            <a:stretch>
              <a:fillRect/>
            </a:stretch>
          </p:blipFill>
          <p:spPr bwMode="auto">
            <a:xfrm>
              <a:off x="10359" y="12480"/>
              <a:ext cx="567" cy="285"/>
            </a:xfrm>
            <a:prstGeom prst="rect">
              <a:avLst/>
            </a:prstGeom>
            <a:noFill/>
          </p:spPr>
        </p:pic>
        <p:cxnSp>
          <p:nvCxnSpPr>
            <p:cNvPr id="117" name="AutoShape 105"/>
            <p:cNvCxnSpPr>
              <a:cxnSpLocks noChangeShapeType="1"/>
            </p:cNvCxnSpPr>
            <p:nvPr/>
          </p:nvCxnSpPr>
          <p:spPr bwMode="auto">
            <a:xfrm flipH="1" flipV="1">
              <a:off x="8403" y="12765"/>
              <a:ext cx="710" cy="299"/>
            </a:xfrm>
            <a:prstGeom prst="straightConnector1">
              <a:avLst/>
            </a:prstGeom>
            <a:noFill/>
            <a:ln w="9525">
              <a:solidFill>
                <a:srgbClr val="000000"/>
              </a:solidFill>
              <a:round/>
              <a:headEnd/>
              <a:tailEnd/>
            </a:ln>
          </p:spPr>
        </p:cxnSp>
        <p:cxnSp>
          <p:nvCxnSpPr>
            <p:cNvPr id="118" name="AutoShape 106"/>
            <p:cNvCxnSpPr>
              <a:cxnSpLocks noChangeShapeType="1"/>
            </p:cNvCxnSpPr>
            <p:nvPr/>
          </p:nvCxnSpPr>
          <p:spPr bwMode="auto">
            <a:xfrm flipV="1">
              <a:off x="9113" y="12765"/>
              <a:ext cx="1" cy="299"/>
            </a:xfrm>
            <a:prstGeom prst="straightConnector1">
              <a:avLst/>
            </a:prstGeom>
            <a:noFill/>
            <a:ln w="9525">
              <a:solidFill>
                <a:srgbClr val="000000"/>
              </a:solidFill>
              <a:round/>
              <a:headEnd/>
              <a:tailEnd/>
            </a:ln>
          </p:spPr>
        </p:cxnSp>
        <p:cxnSp>
          <p:nvCxnSpPr>
            <p:cNvPr id="119" name="AutoShape 107"/>
            <p:cNvCxnSpPr>
              <a:cxnSpLocks noChangeShapeType="1"/>
            </p:cNvCxnSpPr>
            <p:nvPr/>
          </p:nvCxnSpPr>
          <p:spPr bwMode="auto">
            <a:xfrm flipV="1">
              <a:off x="8403" y="12180"/>
              <a:ext cx="2240" cy="300"/>
            </a:xfrm>
            <a:prstGeom prst="straightConnector1">
              <a:avLst/>
            </a:prstGeom>
            <a:noFill/>
            <a:ln w="9525">
              <a:solidFill>
                <a:srgbClr val="000000"/>
              </a:solidFill>
              <a:round/>
              <a:headEnd/>
              <a:tailEnd/>
            </a:ln>
          </p:spPr>
        </p:cxnSp>
        <p:cxnSp>
          <p:nvCxnSpPr>
            <p:cNvPr id="120" name="AutoShape 108"/>
            <p:cNvCxnSpPr>
              <a:cxnSpLocks noChangeShapeType="1"/>
            </p:cNvCxnSpPr>
            <p:nvPr/>
          </p:nvCxnSpPr>
          <p:spPr bwMode="auto">
            <a:xfrm>
              <a:off x="8403" y="12180"/>
              <a:ext cx="710" cy="300"/>
            </a:xfrm>
            <a:prstGeom prst="straightConnector1">
              <a:avLst/>
            </a:prstGeom>
            <a:noFill/>
            <a:ln w="9525">
              <a:solidFill>
                <a:srgbClr val="000000"/>
              </a:solidFill>
              <a:round/>
              <a:headEnd/>
              <a:tailEnd/>
            </a:ln>
          </p:spPr>
        </p:cxnSp>
        <p:cxnSp>
          <p:nvCxnSpPr>
            <p:cNvPr id="121" name="AutoShape 109"/>
            <p:cNvCxnSpPr>
              <a:cxnSpLocks noChangeShapeType="1"/>
            </p:cNvCxnSpPr>
            <p:nvPr/>
          </p:nvCxnSpPr>
          <p:spPr bwMode="auto">
            <a:xfrm flipH="1">
              <a:off x="8403" y="12180"/>
              <a:ext cx="1530" cy="300"/>
            </a:xfrm>
            <a:prstGeom prst="straightConnector1">
              <a:avLst/>
            </a:prstGeom>
            <a:noFill/>
            <a:ln w="9525">
              <a:solidFill>
                <a:srgbClr val="000000"/>
              </a:solidFill>
              <a:round/>
              <a:headEnd/>
              <a:tailEnd/>
            </a:ln>
          </p:spPr>
        </p:cxnSp>
        <p:cxnSp>
          <p:nvCxnSpPr>
            <p:cNvPr id="122" name="AutoShape 110"/>
            <p:cNvCxnSpPr>
              <a:cxnSpLocks noChangeShapeType="1"/>
            </p:cNvCxnSpPr>
            <p:nvPr/>
          </p:nvCxnSpPr>
          <p:spPr bwMode="auto">
            <a:xfrm flipV="1">
              <a:off x="9113" y="12180"/>
              <a:ext cx="1" cy="300"/>
            </a:xfrm>
            <a:prstGeom prst="straightConnector1">
              <a:avLst/>
            </a:prstGeom>
            <a:noFill/>
            <a:ln w="9525">
              <a:solidFill>
                <a:srgbClr val="000000"/>
              </a:solidFill>
              <a:round/>
              <a:headEnd/>
              <a:tailEnd/>
            </a:ln>
          </p:spPr>
        </p:cxnSp>
        <p:cxnSp>
          <p:nvCxnSpPr>
            <p:cNvPr id="123" name="AutoShape 111"/>
            <p:cNvCxnSpPr>
              <a:cxnSpLocks noChangeShapeType="1"/>
            </p:cNvCxnSpPr>
            <p:nvPr/>
          </p:nvCxnSpPr>
          <p:spPr bwMode="auto">
            <a:xfrm flipH="1">
              <a:off x="9113" y="12180"/>
              <a:ext cx="820" cy="300"/>
            </a:xfrm>
            <a:prstGeom prst="straightConnector1">
              <a:avLst/>
            </a:prstGeom>
            <a:noFill/>
            <a:ln w="9525">
              <a:solidFill>
                <a:srgbClr val="000000"/>
              </a:solidFill>
              <a:round/>
              <a:headEnd/>
              <a:tailEnd/>
            </a:ln>
          </p:spPr>
        </p:cxnSp>
        <p:cxnSp>
          <p:nvCxnSpPr>
            <p:cNvPr id="124" name="AutoShape 112"/>
            <p:cNvCxnSpPr>
              <a:cxnSpLocks noChangeShapeType="1"/>
            </p:cNvCxnSpPr>
            <p:nvPr/>
          </p:nvCxnSpPr>
          <p:spPr bwMode="auto">
            <a:xfrm flipV="1">
              <a:off x="9933" y="12765"/>
              <a:ext cx="710" cy="299"/>
            </a:xfrm>
            <a:prstGeom prst="straightConnector1">
              <a:avLst/>
            </a:prstGeom>
            <a:noFill/>
            <a:ln w="9525">
              <a:solidFill>
                <a:srgbClr val="000000"/>
              </a:solidFill>
              <a:round/>
              <a:headEnd/>
              <a:tailEnd/>
            </a:ln>
          </p:spPr>
        </p:cxnSp>
        <p:cxnSp>
          <p:nvCxnSpPr>
            <p:cNvPr id="125" name="AutoShape 113"/>
            <p:cNvCxnSpPr>
              <a:cxnSpLocks noChangeShapeType="1"/>
            </p:cNvCxnSpPr>
            <p:nvPr/>
          </p:nvCxnSpPr>
          <p:spPr bwMode="auto">
            <a:xfrm>
              <a:off x="9933" y="12765"/>
              <a:ext cx="710" cy="299"/>
            </a:xfrm>
            <a:prstGeom prst="straightConnector1">
              <a:avLst/>
            </a:prstGeom>
            <a:noFill/>
            <a:ln w="9525">
              <a:solidFill>
                <a:srgbClr val="000000"/>
              </a:solidFill>
              <a:round/>
              <a:headEnd/>
              <a:tailEnd/>
            </a:ln>
          </p:spPr>
        </p:cxnSp>
        <p:pic>
          <p:nvPicPr>
            <p:cNvPr id="126" name="Picture 114"/>
            <p:cNvPicPr>
              <a:picLocks noChangeAspect="1" noChangeArrowheads="1"/>
            </p:cNvPicPr>
            <p:nvPr/>
          </p:nvPicPr>
          <p:blipFill>
            <a:blip r:embed="rId4" cstate="print"/>
            <a:srcRect/>
            <a:stretch>
              <a:fillRect/>
            </a:stretch>
          </p:blipFill>
          <p:spPr bwMode="auto">
            <a:xfrm>
              <a:off x="2546" y="11895"/>
              <a:ext cx="567" cy="285"/>
            </a:xfrm>
            <a:prstGeom prst="rect">
              <a:avLst/>
            </a:prstGeom>
            <a:noFill/>
          </p:spPr>
        </p:pic>
        <p:pic>
          <p:nvPicPr>
            <p:cNvPr id="127" name="Picture 115"/>
            <p:cNvPicPr>
              <a:picLocks noChangeAspect="1" noChangeArrowheads="1"/>
            </p:cNvPicPr>
            <p:nvPr/>
          </p:nvPicPr>
          <p:blipFill>
            <a:blip r:embed="rId4" cstate="print"/>
            <a:srcRect/>
            <a:stretch>
              <a:fillRect/>
            </a:stretch>
          </p:blipFill>
          <p:spPr bwMode="auto">
            <a:xfrm>
              <a:off x="5011" y="11895"/>
              <a:ext cx="567" cy="285"/>
            </a:xfrm>
            <a:prstGeom prst="rect">
              <a:avLst/>
            </a:prstGeom>
            <a:noFill/>
          </p:spPr>
        </p:pic>
        <p:pic>
          <p:nvPicPr>
            <p:cNvPr id="128" name="Picture 116"/>
            <p:cNvPicPr>
              <a:picLocks noChangeAspect="1" noChangeArrowheads="1"/>
            </p:cNvPicPr>
            <p:nvPr/>
          </p:nvPicPr>
          <p:blipFill>
            <a:blip r:embed="rId4" cstate="print"/>
            <a:srcRect/>
            <a:stretch>
              <a:fillRect/>
            </a:stretch>
          </p:blipFill>
          <p:spPr bwMode="auto">
            <a:xfrm>
              <a:off x="5591" y="11895"/>
              <a:ext cx="567" cy="285"/>
            </a:xfrm>
            <a:prstGeom prst="rect">
              <a:avLst/>
            </a:prstGeom>
            <a:noFill/>
          </p:spPr>
        </p:pic>
        <p:pic>
          <p:nvPicPr>
            <p:cNvPr id="129" name="Picture 117"/>
            <p:cNvPicPr>
              <a:picLocks noChangeAspect="1" noChangeArrowheads="1"/>
            </p:cNvPicPr>
            <p:nvPr/>
          </p:nvPicPr>
          <p:blipFill>
            <a:blip r:embed="rId4" cstate="print"/>
            <a:srcRect/>
            <a:stretch>
              <a:fillRect/>
            </a:stretch>
          </p:blipFill>
          <p:spPr bwMode="auto">
            <a:xfrm>
              <a:off x="6171" y="11895"/>
              <a:ext cx="567" cy="285"/>
            </a:xfrm>
            <a:prstGeom prst="rect">
              <a:avLst/>
            </a:prstGeom>
            <a:noFill/>
          </p:spPr>
        </p:pic>
        <p:pic>
          <p:nvPicPr>
            <p:cNvPr id="130" name="Picture 118"/>
            <p:cNvPicPr>
              <a:picLocks noChangeAspect="1" noChangeArrowheads="1"/>
            </p:cNvPicPr>
            <p:nvPr/>
          </p:nvPicPr>
          <p:blipFill>
            <a:blip r:embed="rId4" cstate="print"/>
            <a:srcRect/>
            <a:stretch>
              <a:fillRect/>
            </a:stretch>
          </p:blipFill>
          <p:spPr bwMode="auto">
            <a:xfrm>
              <a:off x="6751" y="11895"/>
              <a:ext cx="567" cy="285"/>
            </a:xfrm>
            <a:prstGeom prst="rect">
              <a:avLst/>
            </a:prstGeom>
            <a:noFill/>
          </p:spPr>
        </p:pic>
        <p:pic>
          <p:nvPicPr>
            <p:cNvPr id="131" name="Picture 119"/>
            <p:cNvPicPr>
              <a:picLocks noChangeAspect="1" noChangeArrowheads="1"/>
            </p:cNvPicPr>
            <p:nvPr/>
          </p:nvPicPr>
          <p:blipFill>
            <a:blip r:embed="rId4" cstate="print"/>
            <a:srcRect/>
            <a:stretch>
              <a:fillRect/>
            </a:stretch>
          </p:blipFill>
          <p:spPr bwMode="auto">
            <a:xfrm>
              <a:off x="8119" y="11895"/>
              <a:ext cx="567" cy="285"/>
            </a:xfrm>
            <a:prstGeom prst="rect">
              <a:avLst/>
            </a:prstGeom>
            <a:noFill/>
          </p:spPr>
        </p:pic>
        <p:pic>
          <p:nvPicPr>
            <p:cNvPr id="132" name="Picture 120"/>
            <p:cNvPicPr>
              <a:picLocks noChangeAspect="1" noChangeArrowheads="1"/>
            </p:cNvPicPr>
            <p:nvPr/>
          </p:nvPicPr>
          <p:blipFill>
            <a:blip r:embed="rId4" cstate="print"/>
            <a:srcRect/>
            <a:stretch>
              <a:fillRect/>
            </a:stretch>
          </p:blipFill>
          <p:spPr bwMode="auto">
            <a:xfrm>
              <a:off x="8829" y="11895"/>
              <a:ext cx="567" cy="285"/>
            </a:xfrm>
            <a:prstGeom prst="rect">
              <a:avLst/>
            </a:prstGeom>
            <a:noFill/>
          </p:spPr>
        </p:pic>
        <p:pic>
          <p:nvPicPr>
            <p:cNvPr id="133" name="Picture 121"/>
            <p:cNvPicPr>
              <a:picLocks noChangeAspect="1" noChangeArrowheads="1"/>
            </p:cNvPicPr>
            <p:nvPr/>
          </p:nvPicPr>
          <p:blipFill>
            <a:blip r:embed="rId4" cstate="print"/>
            <a:srcRect/>
            <a:stretch>
              <a:fillRect/>
            </a:stretch>
          </p:blipFill>
          <p:spPr bwMode="auto">
            <a:xfrm>
              <a:off x="9649" y="11895"/>
              <a:ext cx="567" cy="285"/>
            </a:xfrm>
            <a:prstGeom prst="rect">
              <a:avLst/>
            </a:prstGeom>
            <a:noFill/>
          </p:spPr>
        </p:pic>
        <p:pic>
          <p:nvPicPr>
            <p:cNvPr id="134" name="Picture 122"/>
            <p:cNvPicPr>
              <a:picLocks noChangeAspect="1" noChangeArrowheads="1"/>
            </p:cNvPicPr>
            <p:nvPr/>
          </p:nvPicPr>
          <p:blipFill>
            <a:blip r:embed="rId4" cstate="print"/>
            <a:srcRect/>
            <a:stretch>
              <a:fillRect/>
            </a:stretch>
          </p:blipFill>
          <p:spPr bwMode="auto">
            <a:xfrm>
              <a:off x="10359" y="11895"/>
              <a:ext cx="567" cy="285"/>
            </a:xfrm>
            <a:prstGeom prst="rect">
              <a:avLst/>
            </a:prstGeom>
            <a:noFill/>
          </p:spPr>
        </p:pic>
        <p:cxnSp>
          <p:nvCxnSpPr>
            <p:cNvPr id="135" name="AutoShape 123"/>
            <p:cNvCxnSpPr>
              <a:cxnSpLocks noChangeShapeType="1"/>
            </p:cNvCxnSpPr>
            <p:nvPr/>
          </p:nvCxnSpPr>
          <p:spPr bwMode="auto">
            <a:xfrm flipH="1">
              <a:off x="9113" y="12180"/>
              <a:ext cx="1530" cy="300"/>
            </a:xfrm>
            <a:prstGeom prst="straightConnector1">
              <a:avLst/>
            </a:prstGeom>
            <a:noFill/>
            <a:ln w="9525">
              <a:solidFill>
                <a:srgbClr val="000000"/>
              </a:solidFill>
              <a:round/>
              <a:headEnd/>
              <a:tailEnd/>
            </a:ln>
          </p:spPr>
        </p:cxnSp>
        <p:cxnSp>
          <p:nvCxnSpPr>
            <p:cNvPr id="136" name="AutoShape 124"/>
            <p:cNvCxnSpPr>
              <a:cxnSpLocks noChangeShapeType="1"/>
            </p:cNvCxnSpPr>
            <p:nvPr/>
          </p:nvCxnSpPr>
          <p:spPr bwMode="auto">
            <a:xfrm flipH="1" flipV="1">
              <a:off x="8403" y="12180"/>
              <a:ext cx="1530" cy="300"/>
            </a:xfrm>
            <a:prstGeom prst="straightConnector1">
              <a:avLst/>
            </a:prstGeom>
            <a:noFill/>
            <a:ln w="9525">
              <a:solidFill>
                <a:srgbClr val="000000"/>
              </a:solidFill>
              <a:round/>
              <a:headEnd/>
              <a:tailEnd/>
            </a:ln>
          </p:spPr>
        </p:cxnSp>
        <p:cxnSp>
          <p:nvCxnSpPr>
            <p:cNvPr id="137" name="AutoShape 125"/>
            <p:cNvCxnSpPr>
              <a:cxnSpLocks noChangeShapeType="1"/>
            </p:cNvCxnSpPr>
            <p:nvPr/>
          </p:nvCxnSpPr>
          <p:spPr bwMode="auto">
            <a:xfrm>
              <a:off x="9933" y="12180"/>
              <a:ext cx="1" cy="300"/>
            </a:xfrm>
            <a:prstGeom prst="straightConnector1">
              <a:avLst/>
            </a:prstGeom>
            <a:noFill/>
            <a:ln w="9525">
              <a:solidFill>
                <a:srgbClr val="000000"/>
              </a:solidFill>
              <a:round/>
              <a:headEnd/>
              <a:tailEnd/>
            </a:ln>
          </p:spPr>
        </p:cxnSp>
        <p:cxnSp>
          <p:nvCxnSpPr>
            <p:cNvPr id="138" name="AutoShape 126"/>
            <p:cNvCxnSpPr>
              <a:cxnSpLocks noChangeShapeType="1"/>
            </p:cNvCxnSpPr>
            <p:nvPr/>
          </p:nvCxnSpPr>
          <p:spPr bwMode="auto">
            <a:xfrm>
              <a:off x="8403" y="12180"/>
              <a:ext cx="2240" cy="300"/>
            </a:xfrm>
            <a:prstGeom prst="straightConnector1">
              <a:avLst/>
            </a:prstGeom>
            <a:noFill/>
            <a:ln w="9525">
              <a:solidFill>
                <a:srgbClr val="000000"/>
              </a:solidFill>
              <a:round/>
              <a:headEnd/>
              <a:tailEnd/>
            </a:ln>
          </p:spPr>
        </p:cxnSp>
        <p:cxnSp>
          <p:nvCxnSpPr>
            <p:cNvPr id="139" name="AutoShape 127"/>
            <p:cNvCxnSpPr>
              <a:cxnSpLocks noChangeShapeType="1"/>
            </p:cNvCxnSpPr>
            <p:nvPr/>
          </p:nvCxnSpPr>
          <p:spPr bwMode="auto">
            <a:xfrm>
              <a:off x="9113" y="12180"/>
              <a:ext cx="820" cy="300"/>
            </a:xfrm>
            <a:prstGeom prst="straightConnector1">
              <a:avLst/>
            </a:prstGeom>
            <a:noFill/>
            <a:ln w="9525">
              <a:solidFill>
                <a:srgbClr val="000000"/>
              </a:solidFill>
              <a:round/>
              <a:headEnd/>
              <a:tailEnd/>
            </a:ln>
          </p:spPr>
        </p:cxnSp>
        <p:cxnSp>
          <p:nvCxnSpPr>
            <p:cNvPr id="140" name="AutoShape 128"/>
            <p:cNvCxnSpPr>
              <a:cxnSpLocks noChangeShapeType="1"/>
            </p:cNvCxnSpPr>
            <p:nvPr/>
          </p:nvCxnSpPr>
          <p:spPr bwMode="auto">
            <a:xfrm flipH="1">
              <a:off x="9933" y="12180"/>
              <a:ext cx="710" cy="300"/>
            </a:xfrm>
            <a:prstGeom prst="straightConnector1">
              <a:avLst/>
            </a:prstGeom>
            <a:noFill/>
            <a:ln w="9525">
              <a:solidFill>
                <a:srgbClr val="000000"/>
              </a:solidFill>
              <a:round/>
              <a:headEnd/>
              <a:tailEnd/>
            </a:ln>
          </p:spPr>
        </p:cxnSp>
        <p:cxnSp>
          <p:nvCxnSpPr>
            <p:cNvPr id="141" name="AutoShape 129"/>
            <p:cNvCxnSpPr>
              <a:cxnSpLocks noChangeShapeType="1"/>
            </p:cNvCxnSpPr>
            <p:nvPr/>
          </p:nvCxnSpPr>
          <p:spPr bwMode="auto">
            <a:xfrm flipH="1" flipV="1">
              <a:off x="9113" y="12180"/>
              <a:ext cx="1530" cy="300"/>
            </a:xfrm>
            <a:prstGeom prst="straightConnector1">
              <a:avLst/>
            </a:prstGeom>
            <a:noFill/>
            <a:ln w="9525">
              <a:solidFill>
                <a:srgbClr val="000000"/>
              </a:solidFill>
              <a:round/>
              <a:headEnd/>
              <a:tailEnd/>
            </a:ln>
          </p:spPr>
        </p:cxnSp>
        <p:cxnSp>
          <p:nvCxnSpPr>
            <p:cNvPr id="142" name="AutoShape 130"/>
            <p:cNvCxnSpPr>
              <a:cxnSpLocks noChangeShapeType="1"/>
            </p:cNvCxnSpPr>
            <p:nvPr/>
          </p:nvCxnSpPr>
          <p:spPr bwMode="auto">
            <a:xfrm flipH="1" flipV="1">
              <a:off x="9933" y="12180"/>
              <a:ext cx="710" cy="300"/>
            </a:xfrm>
            <a:prstGeom prst="straightConnector1">
              <a:avLst/>
            </a:prstGeom>
            <a:noFill/>
            <a:ln w="9525">
              <a:solidFill>
                <a:srgbClr val="000000"/>
              </a:solidFill>
              <a:round/>
              <a:headEnd/>
              <a:tailEnd/>
            </a:ln>
          </p:spPr>
        </p:cxnSp>
        <p:cxnSp>
          <p:nvCxnSpPr>
            <p:cNvPr id="143" name="AutoShape 131"/>
            <p:cNvCxnSpPr>
              <a:cxnSpLocks noChangeShapeType="1"/>
            </p:cNvCxnSpPr>
            <p:nvPr/>
          </p:nvCxnSpPr>
          <p:spPr bwMode="auto">
            <a:xfrm>
              <a:off x="10643" y="12180"/>
              <a:ext cx="1" cy="300"/>
            </a:xfrm>
            <a:prstGeom prst="straightConnector1">
              <a:avLst/>
            </a:prstGeom>
            <a:noFill/>
            <a:ln w="9525">
              <a:solidFill>
                <a:srgbClr val="000000"/>
              </a:solidFill>
              <a:round/>
              <a:headEnd/>
              <a:tailEnd/>
            </a:ln>
          </p:spPr>
        </p:cxnSp>
        <p:sp>
          <p:nvSpPr>
            <p:cNvPr id="144" name="Text Box 132"/>
            <p:cNvSpPr txBox="1">
              <a:spLocks noChangeArrowheads="1"/>
            </p:cNvSpPr>
            <p:nvPr/>
          </p:nvSpPr>
          <p:spPr bwMode="auto">
            <a:xfrm>
              <a:off x="2272" y="11571"/>
              <a:ext cx="1182" cy="26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it-IT" sz="1200" b="1" i="0" u="none" strike="noStrike" cap="none" normalizeH="0" baseline="0" dirty="0">
                  <a:ln>
                    <a:noFill/>
                  </a:ln>
                  <a:solidFill>
                    <a:schemeClr val="tx1"/>
                  </a:solidFill>
                  <a:effectLst/>
                  <a:latin typeface="Arial" pitchFamily="34" charset="0"/>
                  <a:cs typeface="Arial" pitchFamily="34" charset="0"/>
                </a:rPr>
                <a:t>TREE</a:t>
              </a:r>
              <a:endParaRPr kumimoji="0" lang="it-IT" sz="4400" b="1" i="0" u="none" strike="noStrike" cap="none" normalizeH="0" baseline="0" dirty="0">
                <a:ln>
                  <a:noFill/>
                </a:ln>
                <a:solidFill>
                  <a:schemeClr val="tx1"/>
                </a:solidFill>
                <a:effectLst/>
                <a:latin typeface="Arial" pitchFamily="34" charset="0"/>
                <a:cs typeface="Arial" pitchFamily="34" charset="0"/>
              </a:endParaRPr>
            </a:p>
          </p:txBody>
        </p:sp>
        <p:sp>
          <p:nvSpPr>
            <p:cNvPr id="145" name="Text Box 133"/>
            <p:cNvSpPr txBox="1">
              <a:spLocks noChangeArrowheads="1"/>
            </p:cNvSpPr>
            <p:nvPr/>
          </p:nvSpPr>
          <p:spPr bwMode="auto">
            <a:xfrm>
              <a:off x="5550" y="11571"/>
              <a:ext cx="1182" cy="26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it-IT" sz="1200" b="1" i="0" u="none" strike="noStrike" cap="none" normalizeH="0" baseline="0" dirty="0">
                  <a:ln>
                    <a:noFill/>
                  </a:ln>
                  <a:solidFill>
                    <a:schemeClr val="tx1"/>
                  </a:solidFill>
                  <a:effectLst/>
                  <a:latin typeface="Arial" pitchFamily="34" charset="0"/>
                  <a:cs typeface="Arial" pitchFamily="34" charset="0"/>
                </a:rPr>
                <a:t>FAT-TREE</a:t>
              </a:r>
              <a:endParaRPr kumimoji="0" lang="it-IT" sz="4400" b="1" i="0" u="none" strike="noStrike" cap="none" normalizeH="0" baseline="0" dirty="0">
                <a:ln>
                  <a:noFill/>
                </a:ln>
                <a:solidFill>
                  <a:schemeClr val="tx1"/>
                </a:solidFill>
                <a:effectLst/>
                <a:latin typeface="Arial" pitchFamily="34" charset="0"/>
                <a:cs typeface="Arial" pitchFamily="34" charset="0"/>
              </a:endParaRPr>
            </a:p>
          </p:txBody>
        </p:sp>
        <p:sp>
          <p:nvSpPr>
            <p:cNvPr id="146" name="Text Box 134"/>
            <p:cNvSpPr txBox="1">
              <a:spLocks noChangeArrowheads="1"/>
            </p:cNvSpPr>
            <p:nvPr/>
          </p:nvSpPr>
          <p:spPr bwMode="auto">
            <a:xfrm>
              <a:off x="8943" y="11571"/>
              <a:ext cx="1182" cy="26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it-IT" sz="1200" b="1" i="0" u="none" strike="noStrike" cap="none" normalizeH="0" baseline="0" dirty="0">
                  <a:ln>
                    <a:noFill/>
                  </a:ln>
                  <a:solidFill>
                    <a:schemeClr val="tx1"/>
                  </a:solidFill>
                  <a:effectLst/>
                  <a:latin typeface="Arial" pitchFamily="34" charset="0"/>
                  <a:cs typeface="Arial" pitchFamily="34" charset="0"/>
                </a:rPr>
                <a:t>VL2</a:t>
              </a:r>
              <a:endParaRPr kumimoji="0" lang="it-IT" sz="4400" b="1" i="0" u="none" strike="noStrike" cap="none" normalizeH="0" baseline="0" dirty="0">
                <a:ln>
                  <a:noFill/>
                </a:ln>
                <a:solidFill>
                  <a:schemeClr val="tx1"/>
                </a:solidFill>
                <a:effectLst/>
                <a:latin typeface="Arial" pitchFamily="34" charset="0"/>
                <a:cs typeface="Arial" pitchFamily="34" charset="0"/>
              </a:endParaRPr>
            </a:p>
          </p:txBody>
        </p:sp>
      </p:grpSp>
      <p:sp>
        <p:nvSpPr>
          <p:cNvPr id="148" name="Rectangle 5"/>
          <p:cNvSpPr>
            <a:spLocks noChangeArrowheads="1"/>
          </p:cNvSpPr>
          <p:nvPr/>
        </p:nvSpPr>
        <p:spPr bwMode="auto">
          <a:xfrm>
            <a:off x="683568" y="116632"/>
            <a:ext cx="7848600" cy="762000"/>
          </a:xfrm>
          <a:prstGeom prst="rect">
            <a:avLst/>
          </a:prstGeom>
          <a:noFill/>
          <a:ln w="9525">
            <a:noFill/>
            <a:miter lim="800000"/>
            <a:headEnd/>
            <a:tailEnd/>
          </a:ln>
          <a:effectLst/>
        </p:spPr>
        <p:txBody>
          <a:bodyPr anchor="ctr"/>
          <a:lstStyle/>
          <a:p>
            <a:pPr algn="ctr">
              <a:defRPr/>
            </a:pPr>
            <a:r>
              <a:rPr lang="en-US" sz="3200" b="1" dirty="0">
                <a:solidFill>
                  <a:srgbClr val="3366CC"/>
                </a:solidFill>
                <a:effectLst>
                  <a:outerShdw blurRad="38100" dist="38100" dir="2700000" algn="tl">
                    <a:srgbClr val="C0C0C0"/>
                  </a:outerShdw>
                </a:effectLst>
                <a:latin typeface="Helvetica" pitchFamily="34" charset="0"/>
              </a:rPr>
              <a:t>Network-aware  VM Placement</a:t>
            </a:r>
          </a:p>
        </p:txBody>
      </p:sp>
      <p:sp>
        <p:nvSpPr>
          <p:cNvPr id="150" name="Line 6"/>
          <p:cNvSpPr>
            <a:spLocks noChangeShapeType="1"/>
          </p:cNvSpPr>
          <p:nvPr/>
        </p:nvSpPr>
        <p:spPr bwMode="auto">
          <a:xfrm>
            <a:off x="378768" y="878632"/>
            <a:ext cx="8458200" cy="0"/>
          </a:xfrm>
          <a:prstGeom prst="line">
            <a:avLst/>
          </a:prstGeom>
          <a:noFill/>
          <a:ln w="28575">
            <a:solidFill>
              <a:srgbClr val="3366CC"/>
            </a:solidFill>
            <a:round/>
            <a:headEnd/>
            <a:tailEnd/>
          </a:ln>
        </p:spPr>
        <p:txBody>
          <a:bodyPr wrap="none" lIns="90000" tIns="46800" rIns="90000" bIns="46800" anchor="ctr">
            <a:spAutoFit/>
          </a:bodyPr>
          <a:lstStyle/>
          <a:p>
            <a:endParaRPr lang="it-IT"/>
          </a:p>
        </p:txBody>
      </p:sp>
    </p:spTree>
    <p:extLst>
      <p:ext uri="{BB962C8B-B14F-4D97-AF65-F5344CB8AC3E}">
        <p14:creationId xmlns:p14="http://schemas.microsoft.com/office/powerpoint/2010/main" val="14550629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Segnaposto testo 2"/>
          <p:cNvSpPr txBox="1">
            <a:spLocks/>
          </p:cNvSpPr>
          <p:nvPr/>
        </p:nvSpPr>
        <p:spPr>
          <a:xfrm>
            <a:off x="196768" y="1052736"/>
            <a:ext cx="8822200" cy="4999955"/>
          </a:xfrm>
          <a:prstGeom prst="rect">
            <a:avLst/>
          </a:prstGeom>
        </p:spPr>
        <p:txBody>
          <a:bodyPr/>
          <a:lstStyle/>
          <a:p>
            <a:pPr marL="355600" lvl="0" indent="-355600" algn="l" eaLnBrk="0" hangingPunct="0">
              <a:lnSpc>
                <a:spcPct val="90000"/>
              </a:lnSpc>
              <a:spcBef>
                <a:spcPct val="20000"/>
              </a:spcBef>
              <a:buClr>
                <a:srgbClr val="B2B2B2"/>
              </a:buClr>
              <a:buSzPct val="75000"/>
              <a:buFont typeface="Wingdings" pitchFamily="2" charset="2"/>
              <a:buChar char="§"/>
            </a:pPr>
            <a:r>
              <a:rPr lang="en-US" b="1" kern="0" dirty="0">
                <a:solidFill>
                  <a:srgbClr val="000000"/>
                </a:solidFill>
                <a:latin typeface="Arial" panose="020B0604020202020204" pitchFamily="34" charset="0"/>
                <a:cs typeface="Arial" panose="020B0604020202020204" pitchFamily="34" charset="0"/>
              </a:rPr>
              <a:t>Virtualized DC</a:t>
            </a:r>
          </a:p>
          <a:p>
            <a:pPr marL="755650" lvl="1" indent="-355600" algn="l" eaLnBrk="0" hangingPunct="0">
              <a:lnSpc>
                <a:spcPct val="90000"/>
              </a:lnSpc>
              <a:spcBef>
                <a:spcPct val="20000"/>
              </a:spcBef>
              <a:buClr>
                <a:srgbClr val="B2B2B2"/>
              </a:buClr>
              <a:buSzPct val="75000"/>
              <a:buFont typeface="Wingdings" pitchFamily="2" charset="2"/>
              <a:buChar char="Ø"/>
            </a:pPr>
            <a:r>
              <a:rPr lang="en-US" sz="1800" b="1" kern="0" dirty="0">
                <a:solidFill>
                  <a:srgbClr val="000000"/>
                </a:solidFill>
                <a:latin typeface="Arial" panose="020B0604020202020204" pitchFamily="34" charset="0"/>
                <a:cs typeface="Arial" panose="020B0604020202020204" pitchFamily="34" charset="0"/>
              </a:rPr>
              <a:t>Co-location choices greatly affect the final traffic </a:t>
            </a:r>
            <a:r>
              <a:rPr lang="en-US" sz="1800" kern="0" dirty="0">
                <a:solidFill>
                  <a:srgbClr val="000000"/>
                </a:solidFill>
                <a:latin typeface="Arial" panose="020B0604020202020204" pitchFamily="34" charset="0"/>
                <a:cs typeface="Arial" panose="020B0604020202020204" pitchFamily="34" charset="0"/>
              </a:rPr>
              <a:t>in the DC network</a:t>
            </a:r>
          </a:p>
          <a:p>
            <a:pPr marL="755650" lvl="1" indent="-355600" algn="l" eaLnBrk="0" hangingPunct="0">
              <a:lnSpc>
                <a:spcPct val="90000"/>
              </a:lnSpc>
              <a:spcBef>
                <a:spcPct val="20000"/>
              </a:spcBef>
              <a:buClr>
                <a:srgbClr val="B2B2B2"/>
              </a:buClr>
              <a:buSzPct val="75000"/>
              <a:buFont typeface="Wingdings" pitchFamily="2" charset="2"/>
              <a:buChar char="Ø"/>
            </a:pPr>
            <a:r>
              <a:rPr lang="en-US" sz="1800" b="1" kern="0" dirty="0">
                <a:solidFill>
                  <a:srgbClr val="000000"/>
                </a:solidFill>
                <a:latin typeface="Arial" panose="020B0604020202020204" pitchFamily="34" charset="0"/>
                <a:cs typeface="Arial" panose="020B0604020202020204" pitchFamily="34" charset="0"/>
              </a:rPr>
              <a:t>In-memory message passing mechanisms </a:t>
            </a:r>
            <a:r>
              <a:rPr lang="en-US" sz="1800" kern="0" dirty="0">
                <a:solidFill>
                  <a:srgbClr val="000000"/>
                </a:solidFill>
                <a:latin typeface="Arial" panose="020B0604020202020204" pitchFamily="34" charset="0"/>
                <a:cs typeface="Arial" panose="020B0604020202020204" pitchFamily="34" charset="0"/>
              </a:rPr>
              <a:t>much faster than real network communications</a:t>
            </a:r>
          </a:p>
          <a:p>
            <a:pPr marL="355600" lvl="0" indent="-355600" algn="l" eaLnBrk="0" hangingPunct="0">
              <a:lnSpc>
                <a:spcPct val="90000"/>
              </a:lnSpc>
              <a:spcBef>
                <a:spcPct val="20000"/>
              </a:spcBef>
              <a:buClr>
                <a:srgbClr val="B2B2B2"/>
              </a:buClr>
              <a:buSzPct val="75000"/>
              <a:buFont typeface="Wingdings" pitchFamily="2" charset="2"/>
              <a:buChar char="§"/>
              <a:tabLst>
                <a:tab pos="266700" algn="l"/>
              </a:tabLst>
            </a:pPr>
            <a:endParaRPr lang="en-US" b="1" kern="0" dirty="0">
              <a:solidFill>
                <a:srgbClr val="000000"/>
              </a:solidFill>
              <a:latin typeface="Arial" panose="020B0604020202020204" pitchFamily="34" charset="0"/>
              <a:cs typeface="Arial" panose="020B0604020202020204" pitchFamily="34" charset="0"/>
            </a:endParaRPr>
          </a:p>
          <a:p>
            <a:pPr marL="355600" lvl="0" indent="-355600" algn="l" eaLnBrk="0" hangingPunct="0">
              <a:lnSpc>
                <a:spcPct val="90000"/>
              </a:lnSpc>
              <a:spcBef>
                <a:spcPct val="20000"/>
              </a:spcBef>
              <a:buClr>
                <a:srgbClr val="B2B2B2"/>
              </a:buClr>
              <a:buSzPct val="75000"/>
              <a:buFont typeface="Wingdings" pitchFamily="2" charset="2"/>
              <a:buChar char="§"/>
              <a:tabLst>
                <a:tab pos="266700" algn="l"/>
              </a:tabLst>
            </a:pPr>
            <a:r>
              <a:rPr lang="en-US" b="1" kern="0" dirty="0">
                <a:solidFill>
                  <a:srgbClr val="000000"/>
                </a:solidFill>
                <a:latin typeface="Arial" panose="020B0604020202020204" pitchFamily="34" charset="0"/>
                <a:cs typeface="Arial" panose="020B0604020202020204" pitchFamily="34" charset="0"/>
              </a:rPr>
              <a:t>Network fabric </a:t>
            </a:r>
            <a:r>
              <a:rPr lang="en-US" kern="0" dirty="0">
                <a:solidFill>
                  <a:srgbClr val="000000"/>
                </a:solidFill>
                <a:latin typeface="Arial" panose="020B0604020202020204" pitchFamily="34" charset="0"/>
                <a:cs typeface="Arial" panose="020B0604020202020204" pitchFamily="34" charset="0"/>
              </a:rPr>
              <a:t>of modern DC employs </a:t>
            </a:r>
            <a:r>
              <a:rPr lang="en-US" b="1" kern="0" dirty="0">
                <a:solidFill>
                  <a:srgbClr val="000000"/>
                </a:solidFill>
                <a:latin typeface="Arial" panose="020B0604020202020204" pitchFamily="34" charset="0"/>
                <a:cs typeface="Arial" panose="020B0604020202020204" pitchFamily="34" charset="0"/>
              </a:rPr>
              <a:t>graph-based topology </a:t>
            </a:r>
            <a:r>
              <a:rPr lang="en-US" kern="0" dirty="0">
                <a:solidFill>
                  <a:srgbClr val="000000"/>
                </a:solidFill>
                <a:latin typeface="Arial" panose="020B0604020202020204" pitchFamily="34" charset="0"/>
                <a:cs typeface="Arial" panose="020B0604020202020204" pitchFamily="34" charset="0"/>
              </a:rPr>
              <a:t>and </a:t>
            </a:r>
            <a:r>
              <a:rPr lang="en-US" b="1" kern="0" dirty="0">
                <a:solidFill>
                  <a:srgbClr val="000000"/>
                </a:solidFill>
                <a:latin typeface="Arial" panose="020B0604020202020204" pitchFamily="34" charset="0"/>
                <a:cs typeface="Arial" panose="020B0604020202020204" pitchFamily="34" charset="0"/>
              </a:rPr>
              <a:t>dynamic multi-path routing</a:t>
            </a:r>
          </a:p>
          <a:p>
            <a:pPr marL="755650" lvl="1" indent="-355600" algn="l" eaLnBrk="0" hangingPunct="0">
              <a:lnSpc>
                <a:spcPct val="90000"/>
              </a:lnSpc>
              <a:spcBef>
                <a:spcPct val="20000"/>
              </a:spcBef>
              <a:buClr>
                <a:srgbClr val="B2B2B2"/>
              </a:buClr>
              <a:buSzPct val="75000"/>
              <a:buFont typeface="Wingdings" pitchFamily="2" charset="2"/>
              <a:buChar char="Ø"/>
            </a:pPr>
            <a:r>
              <a:rPr lang="en-US" sz="1800" b="1" kern="0" dirty="0">
                <a:solidFill>
                  <a:srgbClr val="000000"/>
                </a:solidFill>
                <a:latin typeface="Arial" panose="020B0604020202020204" pitchFamily="34" charset="0"/>
                <a:cs typeface="Arial" panose="020B0604020202020204" pitchFamily="34" charset="0"/>
              </a:rPr>
              <a:t>No knowledge </a:t>
            </a:r>
            <a:r>
              <a:rPr lang="en-US" sz="1800" kern="0" dirty="0">
                <a:solidFill>
                  <a:srgbClr val="000000"/>
                </a:solidFill>
                <a:latin typeface="Arial" panose="020B0604020202020204" pitchFamily="34" charset="0"/>
                <a:cs typeface="Arial" panose="020B0604020202020204" pitchFamily="34" charset="0"/>
              </a:rPr>
              <a:t>of which </a:t>
            </a:r>
            <a:r>
              <a:rPr lang="en-US" sz="1800" b="1" kern="0" dirty="0">
                <a:solidFill>
                  <a:srgbClr val="000000"/>
                </a:solidFill>
                <a:latin typeface="Arial" panose="020B0604020202020204" pitchFamily="34" charset="0"/>
                <a:cs typeface="Arial" panose="020B0604020202020204" pitchFamily="34" charset="0"/>
              </a:rPr>
              <a:t>traffic flows will be routed on a specific link</a:t>
            </a:r>
            <a:endParaRPr lang="en-US" sz="1800" kern="0" dirty="0">
              <a:solidFill>
                <a:srgbClr val="000000"/>
              </a:solidFill>
              <a:latin typeface="Arial" panose="020B0604020202020204" pitchFamily="34" charset="0"/>
              <a:cs typeface="Arial" panose="020B0604020202020204" pitchFamily="34" charset="0"/>
            </a:endParaRPr>
          </a:p>
          <a:p>
            <a:pPr marL="755650" lvl="1" indent="-355600" algn="l" eaLnBrk="0" hangingPunct="0">
              <a:lnSpc>
                <a:spcPct val="90000"/>
              </a:lnSpc>
              <a:spcBef>
                <a:spcPct val="20000"/>
              </a:spcBef>
              <a:buClr>
                <a:srgbClr val="B2B2B2"/>
              </a:buClr>
              <a:buSzPct val="75000"/>
              <a:buFont typeface="Wingdings" pitchFamily="2" charset="2"/>
              <a:buChar char="Ø"/>
            </a:pPr>
            <a:r>
              <a:rPr lang="en-US" sz="1800" b="1" kern="0" dirty="0">
                <a:solidFill>
                  <a:srgbClr val="000000"/>
                </a:solidFill>
                <a:latin typeface="Arial" panose="020B0604020202020204" pitchFamily="34" charset="0"/>
                <a:cs typeface="Arial" panose="020B0604020202020204" pitchFamily="34" charset="0"/>
              </a:rPr>
              <a:t>Limited networking resources </a:t>
            </a:r>
            <a:r>
              <a:rPr lang="en-US" sz="1800" kern="0" dirty="0">
                <a:solidFill>
                  <a:srgbClr val="000000"/>
                </a:solidFill>
                <a:latin typeface="Arial" panose="020B0604020202020204" pitchFamily="34" charset="0"/>
                <a:cs typeface="Arial" panose="020B0604020202020204" pitchFamily="34" charset="0"/>
              </a:rPr>
              <a:t>have to be considered to avoid unfeasible solutions</a:t>
            </a:r>
          </a:p>
          <a:p>
            <a:pPr marL="520700" lvl="0" indent="-406400" algn="l" eaLnBrk="0" hangingPunct="0">
              <a:lnSpc>
                <a:spcPct val="90000"/>
              </a:lnSpc>
              <a:spcBef>
                <a:spcPct val="20000"/>
              </a:spcBef>
              <a:buClr>
                <a:srgbClr val="B2B2B2"/>
              </a:buClr>
              <a:buSzPct val="75000"/>
              <a:buFont typeface="Arial" charset="0"/>
              <a:buAutoNum type="arabicPeriod"/>
            </a:pPr>
            <a:endParaRPr lang="en-US" kern="0" dirty="0">
              <a:solidFill>
                <a:srgbClr val="000000"/>
              </a:solidFill>
              <a:latin typeface="Arial" panose="020B0604020202020204" pitchFamily="34" charset="0"/>
              <a:cs typeface="Arial" panose="020B0604020202020204" pitchFamily="34" charset="0"/>
            </a:endParaRPr>
          </a:p>
          <a:p>
            <a:pPr marL="355600" lvl="0" indent="-355600" algn="l" eaLnBrk="0" hangingPunct="0">
              <a:lnSpc>
                <a:spcPct val="90000"/>
              </a:lnSpc>
              <a:spcBef>
                <a:spcPct val="20000"/>
              </a:spcBef>
              <a:buClr>
                <a:srgbClr val="B2B2B2"/>
              </a:buClr>
              <a:buSzPct val="75000"/>
              <a:buFont typeface="Wingdings" pitchFamily="2" charset="2"/>
              <a:buChar char="§"/>
            </a:pPr>
            <a:r>
              <a:rPr lang="en-US" b="1" kern="0" dirty="0">
                <a:solidFill>
                  <a:srgbClr val="000000"/>
                </a:solidFill>
                <a:latin typeface="Arial" panose="020B0604020202020204" pitchFamily="34" charset="0"/>
                <a:cs typeface="Arial" panose="020B0604020202020204" pitchFamily="34" charset="0"/>
              </a:rPr>
              <a:t>Network-aware VM placement </a:t>
            </a:r>
            <a:r>
              <a:rPr lang="en-US" kern="0" dirty="0">
                <a:solidFill>
                  <a:srgbClr val="000000"/>
                </a:solidFill>
                <a:latin typeface="Arial" panose="020B0604020202020204" pitchFamily="34" charset="0"/>
                <a:cs typeface="Arial" panose="020B0604020202020204" pitchFamily="34" charset="0"/>
              </a:rPr>
              <a:t>addressed in the past with different objectives, but</a:t>
            </a:r>
          </a:p>
          <a:p>
            <a:pPr marL="755650" lvl="1" indent="-355600" algn="l" eaLnBrk="0" hangingPunct="0">
              <a:lnSpc>
                <a:spcPct val="90000"/>
              </a:lnSpc>
              <a:spcBef>
                <a:spcPct val="20000"/>
              </a:spcBef>
              <a:buClr>
                <a:srgbClr val="B2B2B2"/>
              </a:buClr>
              <a:buSzPct val="75000"/>
              <a:buFont typeface="Wingdings" pitchFamily="2" charset="2"/>
              <a:buChar char="Ø"/>
            </a:pPr>
            <a:r>
              <a:rPr lang="en-US" sz="1800" b="1" kern="0" dirty="0">
                <a:solidFill>
                  <a:srgbClr val="000000"/>
                </a:solidFill>
                <a:latin typeface="Arial" panose="020B0604020202020204" pitchFamily="34" charset="0"/>
                <a:cs typeface="Arial" panose="020B0604020202020204" pitchFamily="34" charset="0"/>
              </a:rPr>
              <a:t>Traffic demands are time-varying</a:t>
            </a:r>
            <a:r>
              <a:rPr lang="en-US" sz="1800" kern="0" dirty="0">
                <a:solidFill>
                  <a:srgbClr val="000000"/>
                </a:solidFill>
                <a:latin typeface="Arial" panose="020B0604020202020204" pitchFamily="34" charset="0"/>
                <a:cs typeface="Arial" panose="020B0604020202020204" pitchFamily="34" charset="0"/>
              </a:rPr>
              <a:t> and </a:t>
            </a:r>
            <a:r>
              <a:rPr lang="en-US" sz="1800" b="1" kern="0" dirty="0">
                <a:solidFill>
                  <a:srgbClr val="000000"/>
                </a:solidFill>
                <a:latin typeface="Arial" panose="020B0604020202020204" pitchFamily="34" charset="0"/>
                <a:cs typeface="Arial" panose="020B0604020202020204" pitchFamily="34" charset="0"/>
              </a:rPr>
              <a:t>traffic bursts can mine network performance</a:t>
            </a:r>
          </a:p>
          <a:p>
            <a:pPr marL="755650" lvl="1" indent="-355600" algn="l" eaLnBrk="0" hangingPunct="0">
              <a:lnSpc>
                <a:spcPct val="90000"/>
              </a:lnSpc>
              <a:spcBef>
                <a:spcPct val="20000"/>
              </a:spcBef>
              <a:buClr>
                <a:srgbClr val="B2B2B2"/>
              </a:buClr>
              <a:buSzPct val="75000"/>
              <a:buFont typeface="Wingdings" pitchFamily="2" charset="2"/>
              <a:buChar char="Ø"/>
            </a:pPr>
            <a:r>
              <a:rPr lang="en-US" sz="1800" b="1" kern="0" dirty="0">
                <a:solidFill>
                  <a:srgbClr val="000000"/>
                </a:solidFill>
                <a:latin typeface="Arial" panose="020B0604020202020204" pitchFamily="34" charset="0"/>
                <a:cs typeface="Arial" panose="020B0604020202020204" pitchFamily="34" charset="0"/>
              </a:rPr>
              <a:t>Placement stability </a:t>
            </a:r>
            <a:r>
              <a:rPr lang="en-US" sz="1800" kern="0" dirty="0">
                <a:solidFill>
                  <a:srgbClr val="000000"/>
                </a:solidFill>
                <a:latin typeface="Arial" panose="020B0604020202020204" pitchFamily="34" charset="0"/>
                <a:cs typeface="Arial" panose="020B0604020202020204" pitchFamily="34" charset="0"/>
              </a:rPr>
              <a:t>has to be increased by ensuring spare capacities</a:t>
            </a:r>
            <a:endParaRPr lang="en-US" kern="0" dirty="0">
              <a:solidFill>
                <a:srgbClr val="000000"/>
              </a:solidFill>
              <a:latin typeface="Arial" panose="020B0604020202020204" pitchFamily="34" charset="0"/>
              <a:cs typeface="Arial" panose="020B0604020202020204" pitchFamily="34" charset="0"/>
            </a:endParaRPr>
          </a:p>
        </p:txBody>
      </p:sp>
      <p:sp>
        <p:nvSpPr>
          <p:cNvPr id="4" name="Rectangle 5"/>
          <p:cNvSpPr>
            <a:spLocks noChangeArrowheads="1"/>
          </p:cNvSpPr>
          <p:nvPr/>
        </p:nvSpPr>
        <p:spPr bwMode="auto">
          <a:xfrm>
            <a:off x="683568" y="116632"/>
            <a:ext cx="7848600" cy="762000"/>
          </a:xfrm>
          <a:prstGeom prst="rect">
            <a:avLst/>
          </a:prstGeom>
          <a:noFill/>
          <a:ln w="9525">
            <a:noFill/>
            <a:miter lim="800000"/>
            <a:headEnd/>
            <a:tailEnd/>
          </a:ln>
          <a:effectLst/>
        </p:spPr>
        <p:txBody>
          <a:bodyPr anchor="ctr"/>
          <a:lstStyle/>
          <a:p>
            <a:pPr algn="ctr">
              <a:defRPr/>
            </a:pPr>
            <a:r>
              <a:rPr lang="en-US" sz="3200" b="1" dirty="0">
                <a:solidFill>
                  <a:srgbClr val="3366CC"/>
                </a:solidFill>
                <a:effectLst>
                  <a:outerShdw blurRad="38100" dist="38100" dir="2700000" algn="tl">
                    <a:srgbClr val="C0C0C0"/>
                  </a:outerShdw>
                </a:effectLst>
                <a:latin typeface="Helvetica" pitchFamily="34" charset="0"/>
              </a:rPr>
              <a:t>Network-aware  VM Placement</a:t>
            </a:r>
          </a:p>
        </p:txBody>
      </p:sp>
      <p:sp>
        <p:nvSpPr>
          <p:cNvPr id="5" name="Line 6"/>
          <p:cNvSpPr>
            <a:spLocks noChangeShapeType="1"/>
          </p:cNvSpPr>
          <p:nvPr/>
        </p:nvSpPr>
        <p:spPr bwMode="auto">
          <a:xfrm>
            <a:off x="378768" y="878632"/>
            <a:ext cx="8458200" cy="0"/>
          </a:xfrm>
          <a:prstGeom prst="line">
            <a:avLst/>
          </a:prstGeom>
          <a:noFill/>
          <a:ln w="28575">
            <a:solidFill>
              <a:srgbClr val="3366CC"/>
            </a:solidFill>
            <a:round/>
            <a:headEnd/>
            <a:tailEnd/>
          </a:ln>
        </p:spPr>
        <p:txBody>
          <a:bodyPr wrap="none" lIns="90000" tIns="46800" rIns="90000" bIns="46800" anchor="ctr">
            <a:spAutoFit/>
          </a:bodyPr>
          <a:lstStyle/>
          <a:p>
            <a:endParaRPr lang="it-IT"/>
          </a:p>
        </p:txBody>
      </p:sp>
    </p:spTree>
    <p:extLst>
      <p:ext uri="{BB962C8B-B14F-4D97-AF65-F5344CB8AC3E}">
        <p14:creationId xmlns:p14="http://schemas.microsoft.com/office/powerpoint/2010/main" val="40190359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6868" name="TextBox 4"/>
          <p:cNvSpPr txBox="1">
            <a:spLocks noChangeArrowheads="1"/>
          </p:cNvSpPr>
          <p:nvPr/>
        </p:nvSpPr>
        <p:spPr bwMode="auto">
          <a:xfrm>
            <a:off x="1638300" y="5600700"/>
            <a:ext cx="4762500" cy="369888"/>
          </a:xfrm>
          <a:prstGeom prst="rect">
            <a:avLst/>
          </a:prstGeom>
          <a:noFill/>
          <a:ln w="9525">
            <a:noFill/>
            <a:miter lim="800000"/>
            <a:headEnd/>
            <a:tailEnd/>
          </a:ln>
        </p:spPr>
        <p:txBody>
          <a:bodyPr>
            <a:spAutoFit/>
          </a:bodyPr>
          <a:lstStyle/>
          <a:p>
            <a:endParaRPr lang="it-IT"/>
          </a:p>
        </p:txBody>
      </p:sp>
      <p:pic>
        <p:nvPicPr>
          <p:cNvPr id="36869" name="Picture 2"/>
          <p:cNvPicPr>
            <a:picLocks noChangeAspect="1" noChangeArrowheads="1"/>
          </p:cNvPicPr>
          <p:nvPr/>
        </p:nvPicPr>
        <p:blipFill>
          <a:blip r:embed="rId3" cstate="print"/>
          <a:srcRect/>
          <a:stretch>
            <a:fillRect/>
          </a:stretch>
        </p:blipFill>
        <p:spPr bwMode="auto">
          <a:xfrm>
            <a:off x="378768" y="1231900"/>
            <a:ext cx="7937648" cy="5238750"/>
          </a:xfrm>
          <a:prstGeom prst="rect">
            <a:avLst/>
          </a:prstGeom>
          <a:noFill/>
          <a:ln w="9525" algn="ctr">
            <a:noFill/>
            <a:miter lim="800000"/>
            <a:headEnd/>
            <a:tailEnd/>
          </a:ln>
        </p:spPr>
      </p:pic>
      <p:sp>
        <p:nvSpPr>
          <p:cNvPr id="10" name="Rectangle 10"/>
          <p:cNvSpPr>
            <a:spLocks noChangeArrowheads="1"/>
          </p:cNvSpPr>
          <p:nvPr/>
        </p:nvSpPr>
        <p:spPr bwMode="auto">
          <a:xfrm>
            <a:off x="981075" y="4649788"/>
            <a:ext cx="5508625" cy="496887"/>
          </a:xfrm>
          <a:prstGeom prst="rect">
            <a:avLst/>
          </a:prstGeom>
          <a:solidFill>
            <a:srgbClr val="3366CC">
              <a:alpha val="49001"/>
            </a:srgbClr>
          </a:solidFill>
          <a:ln w="9525" algn="ctr">
            <a:noFill/>
            <a:miter lim="800000"/>
            <a:headEnd/>
            <a:tailEnd/>
          </a:ln>
          <a:effectLst/>
        </p:spPr>
        <p:txBody>
          <a:bodyPr wrap="none" lIns="92075" tIns="46038" rIns="92075" bIns="46038" anchor="ctr"/>
          <a:lstStyle/>
          <a:p>
            <a:pPr>
              <a:defRPr/>
            </a:pPr>
            <a:endParaRPr lang="it-IT">
              <a:latin typeface="+mj-lt"/>
            </a:endParaRPr>
          </a:p>
        </p:txBody>
      </p:sp>
      <p:sp>
        <p:nvSpPr>
          <p:cNvPr id="6" name="Rectangle 5"/>
          <p:cNvSpPr>
            <a:spLocks noChangeArrowheads="1"/>
          </p:cNvSpPr>
          <p:nvPr/>
        </p:nvSpPr>
        <p:spPr bwMode="auto">
          <a:xfrm>
            <a:off x="571550" y="116632"/>
            <a:ext cx="7848600" cy="762000"/>
          </a:xfrm>
          <a:prstGeom prst="rect">
            <a:avLst/>
          </a:prstGeom>
          <a:noFill/>
          <a:ln w="9525">
            <a:noFill/>
            <a:miter lim="800000"/>
            <a:headEnd/>
            <a:tailEnd/>
          </a:ln>
          <a:effectLst/>
        </p:spPr>
        <p:txBody>
          <a:bodyPr anchor="ctr"/>
          <a:lstStyle/>
          <a:p>
            <a:pPr algn="ctr">
              <a:defRPr/>
            </a:pPr>
            <a:r>
              <a:rPr lang="en-US" sz="3200" b="1" dirty="0">
                <a:solidFill>
                  <a:srgbClr val="3366CC"/>
                </a:solidFill>
                <a:effectLst>
                  <a:outerShdw blurRad="38100" dist="38100" dir="2700000" algn="tl">
                    <a:srgbClr val="C0C0C0"/>
                  </a:outerShdw>
                </a:effectLst>
                <a:latin typeface="Helvetica" pitchFamily="34" charset="0"/>
              </a:rPr>
              <a:t>Cloud computing: reality check</a:t>
            </a:r>
            <a:endParaRPr lang="it-IT" sz="3200" b="1" dirty="0">
              <a:latin typeface="Helvetica" pitchFamily="34" charset="0"/>
            </a:endParaRPr>
          </a:p>
        </p:txBody>
      </p:sp>
      <p:sp>
        <p:nvSpPr>
          <p:cNvPr id="7" name="Line 6"/>
          <p:cNvSpPr>
            <a:spLocks noChangeShapeType="1"/>
          </p:cNvSpPr>
          <p:nvPr/>
        </p:nvSpPr>
        <p:spPr bwMode="auto">
          <a:xfrm>
            <a:off x="378768" y="878632"/>
            <a:ext cx="8458200" cy="0"/>
          </a:xfrm>
          <a:prstGeom prst="line">
            <a:avLst/>
          </a:prstGeom>
          <a:noFill/>
          <a:ln w="28575">
            <a:solidFill>
              <a:srgbClr val="3366CC"/>
            </a:solidFill>
            <a:round/>
            <a:headEnd/>
            <a:tailEnd/>
          </a:ln>
        </p:spPr>
        <p:txBody>
          <a:bodyPr wrap="none" lIns="90000" tIns="46800" rIns="90000" bIns="46800" anchor="ctr">
            <a:spAutoFit/>
          </a:bodyPr>
          <a:lstStyle/>
          <a:p>
            <a:endParaRPr lang="it-IT"/>
          </a:p>
        </p:txBody>
      </p:sp>
    </p:spTree>
    <p:extLst>
      <p:ext uri="{BB962C8B-B14F-4D97-AF65-F5344CB8AC3E}">
        <p14:creationId xmlns:p14="http://schemas.microsoft.com/office/powerpoint/2010/main" val="4192285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7892" name="TextBox 4"/>
          <p:cNvSpPr txBox="1">
            <a:spLocks noChangeArrowheads="1"/>
          </p:cNvSpPr>
          <p:nvPr/>
        </p:nvSpPr>
        <p:spPr bwMode="auto">
          <a:xfrm>
            <a:off x="2362200" y="5600700"/>
            <a:ext cx="4762500" cy="369888"/>
          </a:xfrm>
          <a:prstGeom prst="rect">
            <a:avLst/>
          </a:prstGeom>
          <a:noFill/>
          <a:ln w="9525">
            <a:noFill/>
            <a:miter lim="800000"/>
            <a:headEnd/>
            <a:tailEnd/>
          </a:ln>
        </p:spPr>
        <p:txBody>
          <a:bodyPr>
            <a:spAutoFit/>
          </a:bodyPr>
          <a:lstStyle/>
          <a:p>
            <a:endParaRPr lang="it-IT"/>
          </a:p>
        </p:txBody>
      </p:sp>
      <p:pic>
        <p:nvPicPr>
          <p:cNvPr id="37893" name="Picture 2"/>
          <p:cNvPicPr>
            <a:picLocks noChangeAspect="1" noChangeArrowheads="1"/>
          </p:cNvPicPr>
          <p:nvPr/>
        </p:nvPicPr>
        <p:blipFill>
          <a:blip r:embed="rId3" cstate="print"/>
          <a:srcRect/>
          <a:stretch>
            <a:fillRect/>
          </a:stretch>
        </p:blipFill>
        <p:spPr bwMode="auto">
          <a:xfrm>
            <a:off x="2123728" y="804863"/>
            <a:ext cx="6423372" cy="5710237"/>
          </a:xfrm>
          <a:prstGeom prst="rect">
            <a:avLst/>
          </a:prstGeom>
          <a:noFill/>
          <a:ln w="9525" algn="ctr">
            <a:noFill/>
            <a:miter lim="800000"/>
            <a:headEnd/>
            <a:tailEnd/>
          </a:ln>
        </p:spPr>
      </p:pic>
      <p:sp>
        <p:nvSpPr>
          <p:cNvPr id="9" name="Rectangle 10"/>
          <p:cNvSpPr>
            <a:spLocks noChangeArrowheads="1"/>
          </p:cNvSpPr>
          <p:nvPr/>
        </p:nvSpPr>
        <p:spPr bwMode="auto">
          <a:xfrm>
            <a:off x="2123729" y="2173288"/>
            <a:ext cx="6486872" cy="887412"/>
          </a:xfrm>
          <a:prstGeom prst="rect">
            <a:avLst/>
          </a:prstGeom>
          <a:solidFill>
            <a:srgbClr val="3366CC">
              <a:alpha val="49001"/>
            </a:srgbClr>
          </a:solidFill>
          <a:ln w="9525" algn="ctr">
            <a:noFill/>
            <a:miter lim="800000"/>
            <a:headEnd/>
            <a:tailEnd/>
          </a:ln>
          <a:effectLst/>
        </p:spPr>
        <p:txBody>
          <a:bodyPr wrap="none" lIns="92075" tIns="46038" rIns="92075" bIns="46038" anchor="ctr"/>
          <a:lstStyle/>
          <a:p>
            <a:pPr>
              <a:defRPr/>
            </a:pPr>
            <a:endParaRPr lang="it-IT">
              <a:latin typeface="+mj-lt"/>
            </a:endParaRPr>
          </a:p>
        </p:txBody>
      </p:sp>
      <p:sp>
        <p:nvSpPr>
          <p:cNvPr id="10" name="Rectangle 10"/>
          <p:cNvSpPr>
            <a:spLocks noChangeArrowheads="1"/>
          </p:cNvSpPr>
          <p:nvPr/>
        </p:nvSpPr>
        <p:spPr bwMode="auto">
          <a:xfrm>
            <a:off x="3131841" y="3695700"/>
            <a:ext cx="5478760" cy="660400"/>
          </a:xfrm>
          <a:prstGeom prst="rect">
            <a:avLst/>
          </a:prstGeom>
          <a:solidFill>
            <a:srgbClr val="3366CC">
              <a:alpha val="49001"/>
            </a:srgbClr>
          </a:solidFill>
          <a:ln w="9525" algn="ctr">
            <a:noFill/>
            <a:miter lim="800000"/>
            <a:headEnd/>
            <a:tailEnd/>
          </a:ln>
          <a:effectLst/>
        </p:spPr>
        <p:txBody>
          <a:bodyPr wrap="none" lIns="92075" tIns="46038" rIns="92075" bIns="46038" anchor="ctr"/>
          <a:lstStyle/>
          <a:p>
            <a:pPr>
              <a:defRPr/>
            </a:pPr>
            <a:endParaRPr lang="it-IT">
              <a:latin typeface="+mj-lt"/>
            </a:endParaRPr>
          </a:p>
        </p:txBody>
      </p:sp>
      <p:sp>
        <p:nvSpPr>
          <p:cNvPr id="14" name="TextBox 13"/>
          <p:cNvSpPr txBox="1">
            <a:spLocks noChangeArrowheads="1"/>
          </p:cNvSpPr>
          <p:nvPr/>
        </p:nvSpPr>
        <p:spPr bwMode="auto">
          <a:xfrm>
            <a:off x="228600" y="3327400"/>
            <a:ext cx="2794000" cy="584200"/>
          </a:xfrm>
          <a:prstGeom prst="rect">
            <a:avLst/>
          </a:prstGeom>
          <a:noFill/>
          <a:ln w="9525">
            <a:noFill/>
            <a:miter lim="800000"/>
            <a:headEnd/>
            <a:tailEnd/>
          </a:ln>
        </p:spPr>
        <p:txBody>
          <a:bodyPr>
            <a:spAutoFit/>
          </a:bodyPr>
          <a:lstStyle/>
          <a:p>
            <a:r>
              <a:rPr lang="it-IT" sz="3200" b="1" dirty="0" err="1">
                <a:solidFill>
                  <a:srgbClr val="FF0000"/>
                </a:solidFill>
              </a:rPr>
              <a:t>Integration</a:t>
            </a:r>
            <a:endParaRPr lang="it-IT" b="1" dirty="0">
              <a:solidFill>
                <a:srgbClr val="FF0000"/>
              </a:solidFill>
            </a:endParaRPr>
          </a:p>
        </p:txBody>
      </p:sp>
      <p:sp>
        <p:nvSpPr>
          <p:cNvPr id="8" name="Rectangle 5"/>
          <p:cNvSpPr>
            <a:spLocks noChangeArrowheads="1"/>
          </p:cNvSpPr>
          <p:nvPr/>
        </p:nvSpPr>
        <p:spPr bwMode="auto">
          <a:xfrm>
            <a:off x="683568" y="116632"/>
            <a:ext cx="7848600" cy="762000"/>
          </a:xfrm>
          <a:prstGeom prst="rect">
            <a:avLst/>
          </a:prstGeom>
          <a:noFill/>
          <a:ln w="9525">
            <a:noFill/>
            <a:miter lim="800000"/>
            <a:headEnd/>
            <a:tailEnd/>
          </a:ln>
          <a:effectLst/>
        </p:spPr>
        <p:txBody>
          <a:bodyPr anchor="ctr"/>
          <a:lstStyle/>
          <a:p>
            <a:pPr algn="ctr">
              <a:defRPr/>
            </a:pPr>
            <a:r>
              <a:rPr lang="en-US" sz="3200" b="1" dirty="0">
                <a:solidFill>
                  <a:srgbClr val="3366CC"/>
                </a:solidFill>
                <a:effectLst>
                  <a:outerShdw blurRad="38100" dist="38100" dir="2700000" algn="tl">
                    <a:srgbClr val="C0C0C0"/>
                  </a:outerShdw>
                </a:effectLst>
                <a:latin typeface="Helvetica" pitchFamily="34" charset="0"/>
              </a:rPr>
              <a:t>Cloud emerging challenges</a:t>
            </a:r>
            <a:endParaRPr lang="it-IT" sz="3200" b="1" dirty="0">
              <a:latin typeface="Helvetica" pitchFamily="34" charset="0"/>
            </a:endParaRPr>
          </a:p>
        </p:txBody>
      </p:sp>
      <p:sp>
        <p:nvSpPr>
          <p:cNvPr id="11" name="Line 6"/>
          <p:cNvSpPr>
            <a:spLocks noChangeShapeType="1"/>
          </p:cNvSpPr>
          <p:nvPr/>
        </p:nvSpPr>
        <p:spPr bwMode="auto">
          <a:xfrm>
            <a:off x="378768" y="878632"/>
            <a:ext cx="8458200" cy="0"/>
          </a:xfrm>
          <a:prstGeom prst="line">
            <a:avLst/>
          </a:prstGeom>
          <a:noFill/>
          <a:ln w="28575">
            <a:solidFill>
              <a:srgbClr val="3366CC"/>
            </a:solidFill>
            <a:round/>
            <a:headEnd/>
            <a:tailEnd/>
          </a:ln>
        </p:spPr>
        <p:txBody>
          <a:bodyPr wrap="none" lIns="90000" tIns="46800" rIns="90000" bIns="46800" anchor="ctr">
            <a:spAutoFit/>
          </a:bodyPr>
          <a:lstStyle/>
          <a:p>
            <a:endParaRPr lang="it-IT"/>
          </a:p>
        </p:txBody>
      </p:sp>
    </p:spTree>
    <p:extLst>
      <p:ext uri="{BB962C8B-B14F-4D97-AF65-F5344CB8AC3E}">
        <p14:creationId xmlns:p14="http://schemas.microsoft.com/office/powerpoint/2010/main" val="3781526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10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4" grpId="0"/>
    </p:bldLst>
  </p:timing>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Rectangle 3"/>
          <p:cNvSpPr txBox="1">
            <a:spLocks noChangeArrowheads="1"/>
          </p:cNvSpPr>
          <p:nvPr/>
        </p:nvSpPr>
        <p:spPr bwMode="auto">
          <a:xfrm>
            <a:off x="323850" y="980728"/>
            <a:ext cx="8658225" cy="5238750"/>
          </a:xfrm>
          <a:prstGeom prst="rect">
            <a:avLst/>
          </a:prstGeom>
          <a:noFill/>
          <a:ln>
            <a:miter lim="800000"/>
            <a:headEnd/>
            <a:tailEnd/>
          </a:ln>
        </p:spPr>
        <p:txBody>
          <a:bodyPr/>
          <a:lstStyle/>
          <a:p>
            <a:pPr marL="342900" indent="-342900" algn="l" eaLnBrk="0" hangingPunct="0">
              <a:lnSpc>
                <a:spcPct val="80000"/>
              </a:lnSpc>
              <a:spcBef>
                <a:spcPct val="20000"/>
              </a:spcBef>
              <a:buClr>
                <a:schemeClr val="bg2"/>
              </a:buClr>
              <a:buSzPct val="75000"/>
              <a:defRPr/>
            </a:pPr>
            <a:r>
              <a:rPr lang="en-US" sz="2800" b="1" kern="0" dirty="0">
                <a:latin typeface="Arial" charset="0"/>
              </a:rPr>
              <a:t>Conclusions</a:t>
            </a:r>
          </a:p>
          <a:p>
            <a:pPr marL="342900" indent="-342900" algn="l" eaLnBrk="0" hangingPunct="0">
              <a:lnSpc>
                <a:spcPct val="80000"/>
              </a:lnSpc>
              <a:spcBef>
                <a:spcPct val="20000"/>
              </a:spcBef>
              <a:buClr>
                <a:schemeClr val="bg2"/>
              </a:buClr>
              <a:buSzPct val="75000"/>
              <a:buFont typeface="Monotype Sorts" charset="2"/>
              <a:buChar char="n"/>
              <a:defRPr/>
            </a:pPr>
            <a:r>
              <a:rPr lang="en-US" sz="2400" kern="0" dirty="0">
                <a:latin typeface="Arial" charset="0"/>
              </a:rPr>
              <a:t>Cloud computing is a new computational paradigm that we are </a:t>
            </a:r>
            <a:r>
              <a:rPr lang="en-US" sz="2400" b="1" kern="0" dirty="0">
                <a:latin typeface="Arial" charset="0"/>
              </a:rPr>
              <a:t>already dealing with and we have to deal with</a:t>
            </a:r>
          </a:p>
          <a:p>
            <a:pPr marL="342900" indent="-342900" algn="l" eaLnBrk="0" hangingPunct="0">
              <a:lnSpc>
                <a:spcPct val="80000"/>
              </a:lnSpc>
              <a:spcBef>
                <a:spcPct val="20000"/>
              </a:spcBef>
              <a:buClr>
                <a:schemeClr val="bg2"/>
              </a:buClr>
              <a:buSzPct val="75000"/>
              <a:buFont typeface="Monotype Sorts" charset="2"/>
              <a:buChar char="n"/>
              <a:defRPr/>
            </a:pPr>
            <a:r>
              <a:rPr lang="en-US" sz="2400" kern="0" dirty="0">
                <a:latin typeface="Arial" charset="0"/>
              </a:rPr>
              <a:t>Cloud computing is a new emerging </a:t>
            </a:r>
            <a:r>
              <a:rPr lang="en-US" sz="2400" b="1" kern="0" dirty="0">
                <a:latin typeface="Arial" charset="0"/>
              </a:rPr>
              <a:t>distributed architectural model</a:t>
            </a:r>
          </a:p>
          <a:p>
            <a:pPr marL="800100" lvl="1" indent="-342900" algn="l" eaLnBrk="0" hangingPunct="0">
              <a:lnSpc>
                <a:spcPct val="80000"/>
              </a:lnSpc>
              <a:spcBef>
                <a:spcPct val="20000"/>
              </a:spcBef>
              <a:buClr>
                <a:schemeClr val="bg2"/>
              </a:buClr>
              <a:buSzPct val="100000"/>
              <a:buFont typeface="Arial" pitchFamily="34" charset="0"/>
              <a:buChar char="-"/>
              <a:defRPr/>
            </a:pPr>
            <a:r>
              <a:rPr lang="en-US" sz="2000" kern="0" dirty="0">
                <a:latin typeface="Arial" charset="0"/>
              </a:rPr>
              <a:t>It doesn’t exist a </a:t>
            </a:r>
            <a:r>
              <a:rPr lang="en-US" sz="2000" b="1" kern="0" dirty="0">
                <a:latin typeface="Arial" charset="0"/>
              </a:rPr>
              <a:t>common definition</a:t>
            </a:r>
          </a:p>
          <a:p>
            <a:pPr marL="800100" lvl="1" indent="-342900" algn="l" eaLnBrk="0" hangingPunct="0">
              <a:lnSpc>
                <a:spcPct val="80000"/>
              </a:lnSpc>
              <a:spcBef>
                <a:spcPct val="20000"/>
              </a:spcBef>
              <a:buClr>
                <a:schemeClr val="bg2"/>
              </a:buClr>
              <a:buSzPct val="100000"/>
              <a:buFont typeface="Arial" pitchFamily="34" charset="0"/>
              <a:buChar char="-"/>
              <a:defRPr/>
            </a:pPr>
            <a:r>
              <a:rPr lang="en-US" sz="2000" b="1" kern="0" dirty="0">
                <a:latin typeface="Arial" charset="0"/>
              </a:rPr>
              <a:t>but</a:t>
            </a:r>
            <a:r>
              <a:rPr lang="en-US" sz="2000" kern="0" dirty="0">
                <a:latin typeface="Arial" charset="0"/>
              </a:rPr>
              <a:t> it is </a:t>
            </a:r>
            <a:r>
              <a:rPr lang="en-US" sz="2000" b="1" kern="0" dirty="0">
                <a:latin typeface="Arial" charset="0"/>
              </a:rPr>
              <a:t>well described</a:t>
            </a:r>
            <a:r>
              <a:rPr lang="en-US" sz="2000" kern="0" dirty="0">
                <a:latin typeface="Arial" charset="0"/>
              </a:rPr>
              <a:t> </a:t>
            </a:r>
            <a:r>
              <a:rPr lang="en-US" sz="2000" b="1" kern="0" dirty="0">
                <a:latin typeface="Arial" charset="0"/>
              </a:rPr>
              <a:t>from the technological point of view </a:t>
            </a:r>
            <a:r>
              <a:rPr lang="en-US" sz="2000" kern="0" dirty="0">
                <a:latin typeface="Arial" charset="0"/>
              </a:rPr>
              <a:t>(stack and main components)</a:t>
            </a:r>
          </a:p>
          <a:p>
            <a:pPr marL="342900" indent="-342900" algn="l" eaLnBrk="0" hangingPunct="0">
              <a:lnSpc>
                <a:spcPct val="80000"/>
              </a:lnSpc>
              <a:spcBef>
                <a:spcPct val="20000"/>
              </a:spcBef>
              <a:buClr>
                <a:schemeClr val="bg2"/>
              </a:buClr>
              <a:buSzPct val="75000"/>
              <a:defRPr/>
            </a:pPr>
            <a:r>
              <a:rPr lang="en-US" sz="2800" b="1" kern="0" dirty="0">
                <a:latin typeface="Arial" charset="0"/>
              </a:rPr>
              <a:t>Challenges</a:t>
            </a:r>
          </a:p>
          <a:p>
            <a:pPr marL="342900" indent="-342900" algn="l" eaLnBrk="0" hangingPunct="0">
              <a:lnSpc>
                <a:spcPct val="80000"/>
              </a:lnSpc>
              <a:spcBef>
                <a:spcPct val="20000"/>
              </a:spcBef>
              <a:buClr>
                <a:schemeClr val="bg2"/>
              </a:buClr>
              <a:buSzPct val="75000"/>
              <a:buFont typeface="Monotype Sorts" charset="2"/>
              <a:buChar char="n"/>
              <a:defRPr/>
            </a:pPr>
            <a:r>
              <a:rPr lang="en-US" sz="2400" kern="0" dirty="0">
                <a:latin typeface="Arial" charset="0"/>
              </a:rPr>
              <a:t>Cloud computing and </a:t>
            </a:r>
            <a:r>
              <a:rPr lang="en-US" sz="2400" b="1" kern="0" dirty="0">
                <a:latin typeface="Arial" charset="0"/>
              </a:rPr>
              <a:t>economic model</a:t>
            </a:r>
          </a:p>
          <a:p>
            <a:pPr marL="800100" lvl="1" indent="-342900" algn="l" eaLnBrk="0" hangingPunct="0">
              <a:lnSpc>
                <a:spcPct val="80000"/>
              </a:lnSpc>
              <a:spcBef>
                <a:spcPct val="20000"/>
              </a:spcBef>
              <a:buClr>
                <a:schemeClr val="bg2"/>
              </a:buClr>
              <a:buSzPct val="100000"/>
              <a:defRPr/>
            </a:pPr>
            <a:r>
              <a:rPr lang="en-US" sz="2000" i="1" kern="0" dirty="0">
                <a:latin typeface="Arial" charset="0"/>
              </a:rPr>
              <a:t>	“It is worth to rent external Cloud resources or to buy a private Cloud infrastructure?”  </a:t>
            </a:r>
            <a:r>
              <a:rPr lang="en-US" kern="0" dirty="0">
                <a:latin typeface="Arial" charset="0"/>
                <a:sym typeface="Wingdings" pitchFamily="2" charset="2"/>
              </a:rPr>
              <a:t> It depends, there are a lot of works dealing with this question</a:t>
            </a:r>
            <a:endParaRPr lang="en-US" kern="0" dirty="0">
              <a:latin typeface="Arial" charset="0"/>
            </a:endParaRPr>
          </a:p>
          <a:p>
            <a:pPr marL="342900" indent="-342900" algn="l" eaLnBrk="0" hangingPunct="0">
              <a:lnSpc>
                <a:spcPct val="80000"/>
              </a:lnSpc>
              <a:spcBef>
                <a:spcPct val="20000"/>
              </a:spcBef>
              <a:buClr>
                <a:schemeClr val="bg2"/>
              </a:buClr>
              <a:buSzPct val="75000"/>
              <a:buFont typeface="Monotype Sorts" charset="2"/>
              <a:buChar char="n"/>
              <a:defRPr/>
            </a:pPr>
            <a:r>
              <a:rPr lang="en-US" sz="2400" kern="0" dirty="0">
                <a:latin typeface="Arial" charset="0"/>
              </a:rPr>
              <a:t>Security and data outsourcing</a:t>
            </a:r>
            <a:br>
              <a:rPr lang="en-US" sz="2400" kern="0" dirty="0">
                <a:latin typeface="Arial" charset="0"/>
              </a:rPr>
            </a:br>
            <a:r>
              <a:rPr lang="en-US" sz="2400" b="1" i="1" kern="0" dirty="0">
                <a:latin typeface="Arial" charset="0"/>
                <a:sym typeface="Wingdings" pitchFamily="2" charset="2"/>
              </a:rPr>
              <a:t> need of new trust models</a:t>
            </a:r>
          </a:p>
          <a:p>
            <a:pPr marL="342900" indent="-342900" algn="l" eaLnBrk="0" hangingPunct="0">
              <a:lnSpc>
                <a:spcPct val="80000"/>
              </a:lnSpc>
              <a:spcBef>
                <a:spcPct val="20000"/>
              </a:spcBef>
              <a:buClr>
                <a:schemeClr val="bg2"/>
              </a:buClr>
              <a:buSzPct val="75000"/>
              <a:buFont typeface="Monotype Sorts" charset="2"/>
              <a:buChar char="n"/>
              <a:defRPr/>
            </a:pPr>
            <a:r>
              <a:rPr lang="en-US" sz="2400" kern="0" dirty="0">
                <a:latin typeface="Arial" charset="0"/>
              </a:rPr>
              <a:t>Integration between Cloud and </a:t>
            </a:r>
            <a:r>
              <a:rPr lang="en-US" sz="2400" kern="0" dirty="0" err="1">
                <a:latin typeface="Arial" charset="0"/>
              </a:rPr>
              <a:t>SaaS</a:t>
            </a:r>
            <a:r>
              <a:rPr lang="en-US" sz="2400" kern="0" dirty="0">
                <a:latin typeface="Arial" charset="0"/>
              </a:rPr>
              <a:t> services</a:t>
            </a:r>
            <a:endParaRPr lang="en-US" sz="2400" b="1" i="1" kern="0" dirty="0">
              <a:latin typeface="Arial" charset="0"/>
            </a:endParaRPr>
          </a:p>
        </p:txBody>
      </p:sp>
      <p:sp>
        <p:nvSpPr>
          <p:cNvPr id="4" name="Rectangle 5"/>
          <p:cNvSpPr>
            <a:spLocks noChangeArrowheads="1"/>
          </p:cNvSpPr>
          <p:nvPr/>
        </p:nvSpPr>
        <p:spPr bwMode="auto">
          <a:xfrm>
            <a:off x="683568" y="116632"/>
            <a:ext cx="7848600" cy="762000"/>
          </a:xfrm>
          <a:prstGeom prst="rect">
            <a:avLst/>
          </a:prstGeom>
          <a:noFill/>
          <a:ln w="9525">
            <a:noFill/>
            <a:miter lim="800000"/>
            <a:headEnd/>
            <a:tailEnd/>
          </a:ln>
          <a:effectLst/>
        </p:spPr>
        <p:txBody>
          <a:bodyPr anchor="ctr"/>
          <a:lstStyle/>
          <a:p>
            <a:pPr algn="ctr">
              <a:defRPr/>
            </a:pPr>
            <a:r>
              <a:rPr lang="en-US" sz="3200" b="1" dirty="0">
                <a:solidFill>
                  <a:srgbClr val="3366CC"/>
                </a:solidFill>
                <a:effectLst>
                  <a:outerShdw blurRad="38100" dist="38100" dir="2700000" algn="tl">
                    <a:srgbClr val="C0C0C0"/>
                  </a:outerShdw>
                </a:effectLst>
                <a:latin typeface="Helvetica" pitchFamily="34" charset="0"/>
              </a:rPr>
              <a:t>Conclusions and open problems</a:t>
            </a:r>
            <a:endParaRPr lang="it-IT" sz="3200" b="1" dirty="0">
              <a:latin typeface="Helvetica" pitchFamily="34" charset="0"/>
            </a:endParaRPr>
          </a:p>
        </p:txBody>
      </p:sp>
      <p:sp>
        <p:nvSpPr>
          <p:cNvPr id="5" name="Line 6"/>
          <p:cNvSpPr>
            <a:spLocks noChangeShapeType="1"/>
          </p:cNvSpPr>
          <p:nvPr/>
        </p:nvSpPr>
        <p:spPr bwMode="auto">
          <a:xfrm>
            <a:off x="378768" y="878632"/>
            <a:ext cx="8458200" cy="0"/>
          </a:xfrm>
          <a:prstGeom prst="line">
            <a:avLst/>
          </a:prstGeom>
          <a:noFill/>
          <a:ln w="28575">
            <a:solidFill>
              <a:srgbClr val="3366CC"/>
            </a:solidFill>
            <a:round/>
            <a:headEnd/>
            <a:tailEnd/>
          </a:ln>
        </p:spPr>
        <p:txBody>
          <a:bodyPr wrap="none" lIns="90000" tIns="46800" rIns="90000" bIns="46800" anchor="ctr">
            <a:spAutoFit/>
          </a:bodyPr>
          <a:lstStyle/>
          <a:p>
            <a:endParaRPr lang="it-IT"/>
          </a:p>
        </p:txBody>
      </p:sp>
    </p:spTree>
    <p:extLst>
      <p:ext uri="{BB962C8B-B14F-4D97-AF65-F5344CB8AC3E}">
        <p14:creationId xmlns:p14="http://schemas.microsoft.com/office/powerpoint/2010/main" val="3940646592"/>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2771" name="Picture 4" descr="cloud-computing-advice"/>
          <p:cNvPicPr>
            <a:picLocks noChangeAspect="1" noChangeArrowheads="1"/>
          </p:cNvPicPr>
          <p:nvPr/>
        </p:nvPicPr>
        <p:blipFill>
          <a:blip r:embed="rId3" cstate="print"/>
          <a:srcRect b="51901"/>
          <a:stretch>
            <a:fillRect/>
          </a:stretch>
        </p:blipFill>
        <p:spPr bwMode="auto">
          <a:xfrm>
            <a:off x="3938588" y="142875"/>
            <a:ext cx="4645025" cy="2990850"/>
          </a:xfrm>
          <a:prstGeom prst="rect">
            <a:avLst/>
          </a:prstGeom>
          <a:noFill/>
          <a:ln w="9525">
            <a:noFill/>
            <a:miter lim="800000"/>
            <a:headEnd/>
            <a:tailEnd/>
          </a:ln>
        </p:spPr>
      </p:pic>
      <p:pic>
        <p:nvPicPr>
          <p:cNvPr id="4" name="Picture 4" descr="cloud-computing-advice"/>
          <p:cNvPicPr>
            <a:picLocks noChangeAspect="1" noChangeArrowheads="1"/>
          </p:cNvPicPr>
          <p:nvPr/>
        </p:nvPicPr>
        <p:blipFill>
          <a:blip r:embed="rId3" cstate="print"/>
          <a:srcRect t="48099" b="29079"/>
          <a:stretch>
            <a:fillRect/>
          </a:stretch>
        </p:blipFill>
        <p:spPr bwMode="auto">
          <a:xfrm>
            <a:off x="3938588" y="3133725"/>
            <a:ext cx="4645025" cy="1419225"/>
          </a:xfrm>
          <a:prstGeom prst="rect">
            <a:avLst/>
          </a:prstGeom>
          <a:noFill/>
          <a:ln w="9525">
            <a:noFill/>
            <a:miter lim="800000"/>
            <a:headEnd/>
            <a:tailEnd/>
          </a:ln>
        </p:spPr>
      </p:pic>
      <p:pic>
        <p:nvPicPr>
          <p:cNvPr id="5" name="Picture 4" descr="cloud-computing-advice"/>
          <p:cNvPicPr>
            <a:picLocks noChangeAspect="1" noChangeArrowheads="1"/>
          </p:cNvPicPr>
          <p:nvPr/>
        </p:nvPicPr>
        <p:blipFill>
          <a:blip r:embed="rId3" cstate="print"/>
          <a:srcRect t="70921"/>
          <a:stretch>
            <a:fillRect/>
          </a:stretch>
        </p:blipFill>
        <p:spPr bwMode="auto">
          <a:xfrm>
            <a:off x="3938588" y="4552950"/>
            <a:ext cx="4645025" cy="1808163"/>
          </a:xfrm>
          <a:prstGeom prst="rect">
            <a:avLst/>
          </a:prstGeom>
          <a:noFill/>
          <a:ln w="9525">
            <a:noFill/>
            <a:miter lim="800000"/>
            <a:headEnd/>
            <a:tailEnd/>
          </a:ln>
        </p:spPr>
      </p:pic>
      <p:sp>
        <p:nvSpPr>
          <p:cNvPr id="6" name="Rectangle 7"/>
          <p:cNvSpPr>
            <a:spLocks noChangeArrowheads="1"/>
          </p:cNvSpPr>
          <p:nvPr/>
        </p:nvSpPr>
        <p:spPr bwMode="auto">
          <a:xfrm>
            <a:off x="211138" y="1851025"/>
            <a:ext cx="4017962" cy="498475"/>
          </a:xfrm>
          <a:prstGeom prst="rect">
            <a:avLst/>
          </a:prstGeom>
          <a:noFill/>
          <a:ln w="9525" algn="ctr">
            <a:noFill/>
            <a:miter lim="800000"/>
            <a:headEnd/>
            <a:tailEnd/>
          </a:ln>
        </p:spPr>
        <p:txBody>
          <a:bodyPr anchor="b"/>
          <a:lstStyle/>
          <a:p>
            <a:pPr>
              <a:defRPr/>
            </a:pPr>
            <a:r>
              <a:rPr lang="en-US" sz="3600" b="1" dirty="0">
                <a:solidFill>
                  <a:schemeClr val="tx1">
                    <a:lumMod val="95000"/>
                    <a:lumOff val="5000"/>
                  </a:schemeClr>
                </a:solidFill>
                <a:latin typeface="Arial" charset="0"/>
              </a:rPr>
              <a:t>Cloud for everything</a:t>
            </a:r>
          </a:p>
        </p:txBody>
      </p:sp>
      <p:sp>
        <p:nvSpPr>
          <p:cNvPr id="7" name="TextBox 6"/>
          <p:cNvSpPr txBox="1">
            <a:spLocks noChangeArrowheads="1"/>
          </p:cNvSpPr>
          <p:nvPr/>
        </p:nvSpPr>
        <p:spPr bwMode="auto">
          <a:xfrm>
            <a:off x="547688" y="3833813"/>
            <a:ext cx="2652712" cy="1338828"/>
          </a:xfrm>
          <a:prstGeom prst="rect">
            <a:avLst/>
          </a:prstGeom>
          <a:noFill/>
          <a:ln w="9525">
            <a:noFill/>
            <a:miter lim="800000"/>
            <a:headEnd/>
            <a:tailEnd/>
          </a:ln>
        </p:spPr>
        <p:txBody>
          <a:bodyPr wrap="square">
            <a:spAutoFit/>
          </a:bodyPr>
          <a:lstStyle/>
          <a:p>
            <a:pPr marL="182563" indent="-182563" algn="ctr"/>
            <a:r>
              <a:rPr lang="en-US" sz="2700" b="1" dirty="0">
                <a:solidFill>
                  <a:srgbClr val="FF0000"/>
                </a:solidFill>
                <a:cs typeface="Arial" pitchFamily="34" charset="0"/>
              </a:rPr>
              <a:t>Not exactly for</a:t>
            </a:r>
          </a:p>
          <a:p>
            <a:pPr marL="182563" indent="-182563"/>
            <a:r>
              <a:rPr lang="en-US" sz="2700" b="1" dirty="0">
                <a:solidFill>
                  <a:srgbClr val="FF0000"/>
                </a:solidFill>
                <a:cs typeface="Arial" pitchFamily="34" charset="0"/>
              </a:rPr>
              <a:t>everything </a:t>
            </a:r>
            <a:r>
              <a:rPr lang="en-US" sz="2700" dirty="0">
                <a:solidFill>
                  <a:srgbClr val="FF0000"/>
                </a:solidFill>
                <a:cs typeface="Arial" pitchFamily="34" charset="0"/>
                <a:sym typeface="Wingdings" pitchFamily="2" charset="2"/>
              </a:rPr>
              <a:t></a:t>
            </a:r>
            <a:endParaRPr lang="en-US" sz="2700" dirty="0">
              <a:solidFill>
                <a:srgbClr val="FF0000"/>
              </a:solidFill>
              <a:cs typeface="Arial" pitchFamily="34" charset="0"/>
            </a:endParaRPr>
          </a:p>
        </p:txBody>
      </p:sp>
    </p:spTree>
    <p:extLst>
      <p:ext uri="{BB962C8B-B14F-4D97-AF65-F5344CB8AC3E}">
        <p14:creationId xmlns:p14="http://schemas.microsoft.com/office/powerpoint/2010/main" val="52199646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2771"/>
                                        </p:tgtEl>
                                        <p:attrNameLst>
                                          <p:attrName>style.visibility</p:attrName>
                                        </p:attrNameLst>
                                      </p:cBhvr>
                                      <p:to>
                                        <p:strVal val="visible"/>
                                      </p:to>
                                    </p:set>
                                    <p:animEffect transition="in" filter="fade">
                                      <p:cBhvr>
                                        <p:cTn id="12" dur="1000"/>
                                        <p:tgtEl>
                                          <p:spTgt spid="3277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10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Rectangle 3"/>
          <p:cNvSpPr txBox="1">
            <a:spLocks noChangeArrowheads="1"/>
          </p:cNvSpPr>
          <p:nvPr/>
        </p:nvSpPr>
        <p:spPr bwMode="auto">
          <a:xfrm>
            <a:off x="0" y="1219200"/>
            <a:ext cx="9144000" cy="5238750"/>
          </a:xfrm>
          <a:prstGeom prst="rect">
            <a:avLst/>
          </a:prstGeom>
          <a:noFill/>
          <a:ln>
            <a:miter lim="800000"/>
            <a:headEnd/>
            <a:tailEnd/>
          </a:ln>
        </p:spPr>
        <p:txBody>
          <a:bodyPr/>
          <a:lstStyle/>
          <a:p>
            <a:pPr marL="342900" indent="-342900" algn="l" eaLnBrk="0" hangingPunct="0">
              <a:lnSpc>
                <a:spcPct val="80000"/>
              </a:lnSpc>
              <a:spcBef>
                <a:spcPct val="20000"/>
              </a:spcBef>
              <a:buClr>
                <a:schemeClr val="bg2"/>
              </a:buClr>
              <a:buSzPct val="75000"/>
              <a:buFont typeface="Monotype Sorts" charset="2"/>
              <a:buChar char="n"/>
              <a:defRPr/>
            </a:pPr>
            <a:r>
              <a:rPr lang="it-IT" sz="2000" kern="0" dirty="0" err="1">
                <a:latin typeface="Arial" charset="0"/>
              </a:rPr>
              <a:t>Creeger</a:t>
            </a:r>
            <a:r>
              <a:rPr lang="it-IT" sz="2000" kern="0" dirty="0">
                <a:latin typeface="Arial" charset="0"/>
              </a:rPr>
              <a:t> M. </a:t>
            </a:r>
          </a:p>
          <a:p>
            <a:pPr marL="342900" indent="-342900" algn="l" eaLnBrk="0" hangingPunct="0">
              <a:lnSpc>
                <a:spcPct val="80000"/>
              </a:lnSpc>
              <a:spcBef>
                <a:spcPct val="20000"/>
              </a:spcBef>
              <a:buClr>
                <a:schemeClr val="bg2"/>
              </a:buClr>
              <a:buSzPct val="75000"/>
              <a:defRPr/>
            </a:pPr>
            <a:r>
              <a:rPr lang="it-IT" sz="2000" i="1" kern="0" dirty="0">
                <a:latin typeface="Arial" charset="0"/>
              </a:rPr>
              <a:t>	</a:t>
            </a:r>
            <a:r>
              <a:rPr lang="it-IT" sz="2000" b="1" i="1" kern="0" dirty="0" err="1">
                <a:latin typeface="Arial" charset="0"/>
              </a:rPr>
              <a:t>Cloud</a:t>
            </a:r>
            <a:r>
              <a:rPr lang="it-IT" sz="2000" b="1" i="1" kern="0" dirty="0">
                <a:latin typeface="Arial" charset="0"/>
              </a:rPr>
              <a:t> </a:t>
            </a:r>
            <a:r>
              <a:rPr lang="it-IT" sz="2000" b="1" i="1" kern="0" dirty="0" err="1">
                <a:latin typeface="Arial" charset="0"/>
              </a:rPr>
              <a:t>Computing</a:t>
            </a:r>
            <a:r>
              <a:rPr lang="it-IT" sz="2000" b="1" i="1" kern="0" dirty="0">
                <a:latin typeface="Arial" charset="0"/>
              </a:rPr>
              <a:t>: An </a:t>
            </a:r>
            <a:r>
              <a:rPr lang="it-IT" sz="2000" b="1" i="1" kern="0" dirty="0" err="1">
                <a:latin typeface="Arial" charset="0"/>
              </a:rPr>
              <a:t>Overview</a:t>
            </a:r>
            <a:endParaRPr lang="it-IT" sz="2000" b="1" kern="0" dirty="0">
              <a:latin typeface="Arial" charset="0"/>
            </a:endParaRPr>
          </a:p>
          <a:p>
            <a:pPr marL="342900" indent="-342900" algn="l" eaLnBrk="0" hangingPunct="0">
              <a:lnSpc>
                <a:spcPct val="80000"/>
              </a:lnSpc>
              <a:spcBef>
                <a:spcPct val="20000"/>
              </a:spcBef>
              <a:buClr>
                <a:schemeClr val="bg2"/>
              </a:buClr>
              <a:buSzPct val="75000"/>
              <a:defRPr/>
            </a:pPr>
            <a:r>
              <a:rPr lang="it-IT" sz="2000" kern="0" dirty="0">
                <a:latin typeface="Arial" charset="0"/>
              </a:rPr>
              <a:t>	ACM </a:t>
            </a:r>
            <a:r>
              <a:rPr lang="it-IT" sz="2000" kern="0" dirty="0" err="1">
                <a:latin typeface="Arial" charset="0"/>
              </a:rPr>
              <a:t>Queue</a:t>
            </a:r>
            <a:r>
              <a:rPr lang="it-IT" sz="2000" kern="0" dirty="0">
                <a:latin typeface="Arial" charset="0"/>
              </a:rPr>
              <a:t>, vol. 7, no. 5, pp. 3-4 (2009)</a:t>
            </a:r>
          </a:p>
          <a:p>
            <a:pPr marL="342900" indent="-342900" algn="l" eaLnBrk="0" hangingPunct="0">
              <a:lnSpc>
                <a:spcPct val="80000"/>
              </a:lnSpc>
              <a:spcBef>
                <a:spcPct val="20000"/>
              </a:spcBef>
              <a:buClr>
                <a:schemeClr val="bg2"/>
              </a:buClr>
              <a:buSzPct val="75000"/>
              <a:buFont typeface="Monotype Sorts" charset="2"/>
              <a:buChar char="n"/>
              <a:defRPr/>
            </a:pPr>
            <a:r>
              <a:rPr lang="en-US" sz="2000" kern="0" dirty="0" err="1">
                <a:latin typeface="Arial" charset="0"/>
              </a:rPr>
              <a:t>Lenk</a:t>
            </a:r>
            <a:r>
              <a:rPr lang="en-US" sz="2000" kern="0" dirty="0">
                <a:latin typeface="Arial" charset="0"/>
              </a:rPr>
              <a:t>, A., </a:t>
            </a:r>
            <a:r>
              <a:rPr lang="en-US" sz="2000" kern="0" dirty="0" err="1">
                <a:latin typeface="Arial" charset="0"/>
              </a:rPr>
              <a:t>Klems</a:t>
            </a:r>
            <a:r>
              <a:rPr lang="en-US" sz="2000" kern="0" dirty="0">
                <a:latin typeface="Arial" charset="0"/>
              </a:rPr>
              <a:t>, M., </a:t>
            </a:r>
            <a:r>
              <a:rPr lang="en-US" sz="2000" kern="0" dirty="0" err="1">
                <a:latin typeface="Arial" charset="0"/>
              </a:rPr>
              <a:t>Nimis</a:t>
            </a:r>
            <a:r>
              <a:rPr lang="en-US" sz="2000" kern="0" dirty="0">
                <a:latin typeface="Arial" charset="0"/>
              </a:rPr>
              <a:t>, J. et al. </a:t>
            </a:r>
          </a:p>
          <a:p>
            <a:pPr marL="342900" indent="-342900" algn="l" eaLnBrk="0" hangingPunct="0">
              <a:lnSpc>
                <a:spcPct val="80000"/>
              </a:lnSpc>
              <a:spcBef>
                <a:spcPct val="20000"/>
              </a:spcBef>
              <a:buClr>
                <a:schemeClr val="bg2"/>
              </a:buClr>
              <a:buSzPct val="75000"/>
              <a:defRPr/>
            </a:pPr>
            <a:r>
              <a:rPr lang="en-US" sz="2000" i="1" kern="0" dirty="0">
                <a:latin typeface="Arial" charset="0"/>
              </a:rPr>
              <a:t>	</a:t>
            </a:r>
            <a:r>
              <a:rPr lang="en-US" sz="2000" b="1" i="1" kern="0" dirty="0">
                <a:latin typeface="Arial" charset="0"/>
              </a:rPr>
              <a:t>What's inside the Cloud? </a:t>
            </a:r>
            <a:r>
              <a:rPr lang="en-US" b="1" i="1" kern="0" dirty="0">
                <a:latin typeface="Arial" charset="0"/>
              </a:rPr>
              <a:t>An architectural map of the Cloud landscape</a:t>
            </a:r>
            <a:endParaRPr lang="en-US" sz="2000" b="1" i="1" kern="0" dirty="0">
              <a:latin typeface="Arial" charset="0"/>
            </a:endParaRPr>
          </a:p>
          <a:p>
            <a:pPr marL="342900" indent="-342900" algn="l" eaLnBrk="0" hangingPunct="0">
              <a:lnSpc>
                <a:spcPct val="80000"/>
              </a:lnSpc>
              <a:spcBef>
                <a:spcPct val="20000"/>
              </a:spcBef>
              <a:buClr>
                <a:schemeClr val="bg2"/>
              </a:buClr>
              <a:buSzPct val="75000"/>
              <a:defRPr/>
            </a:pPr>
            <a:r>
              <a:rPr lang="en-US" sz="2000" i="1" kern="0" dirty="0">
                <a:latin typeface="Arial" charset="0"/>
              </a:rPr>
              <a:t>	</a:t>
            </a:r>
            <a:r>
              <a:rPr lang="en-US" sz="2000" kern="0" dirty="0">
                <a:latin typeface="Arial" charset="0"/>
              </a:rPr>
              <a:t>In ICSE Workshop on Software Engineering Challenges of Cloud Computing (2009)</a:t>
            </a:r>
          </a:p>
          <a:p>
            <a:pPr marL="342900" indent="-342900" algn="l" eaLnBrk="0" hangingPunct="0">
              <a:lnSpc>
                <a:spcPct val="80000"/>
              </a:lnSpc>
              <a:spcBef>
                <a:spcPct val="20000"/>
              </a:spcBef>
              <a:buClr>
                <a:schemeClr val="bg2"/>
              </a:buClr>
              <a:buSzPct val="75000"/>
              <a:buFont typeface="Monotype Sorts" charset="2"/>
              <a:buChar char="n"/>
              <a:defRPr/>
            </a:pPr>
            <a:r>
              <a:rPr lang="en-US" sz="2000" kern="0" dirty="0" err="1">
                <a:latin typeface="Arial" charset="0"/>
              </a:rPr>
              <a:t>Vogels</a:t>
            </a:r>
            <a:r>
              <a:rPr lang="en-US" sz="2000" kern="0" dirty="0">
                <a:latin typeface="Arial" charset="0"/>
              </a:rPr>
              <a:t>, W.</a:t>
            </a:r>
          </a:p>
          <a:p>
            <a:pPr marL="342900" indent="-342900" algn="l" eaLnBrk="0" hangingPunct="0">
              <a:lnSpc>
                <a:spcPct val="80000"/>
              </a:lnSpc>
              <a:spcBef>
                <a:spcPct val="20000"/>
              </a:spcBef>
              <a:buClr>
                <a:schemeClr val="bg2"/>
              </a:buClr>
              <a:buSzPct val="75000"/>
              <a:defRPr/>
            </a:pPr>
            <a:r>
              <a:rPr lang="en-US" sz="2000" i="1" kern="0" dirty="0">
                <a:latin typeface="Arial" charset="0"/>
              </a:rPr>
              <a:t>	</a:t>
            </a:r>
            <a:r>
              <a:rPr lang="en-US" sz="2000" b="1" i="1" kern="0" dirty="0">
                <a:latin typeface="Arial" charset="0"/>
              </a:rPr>
              <a:t>Eventually consistent</a:t>
            </a:r>
          </a:p>
          <a:p>
            <a:pPr marL="342900" indent="-342900" algn="l" eaLnBrk="0" hangingPunct="0">
              <a:lnSpc>
                <a:spcPct val="80000"/>
              </a:lnSpc>
              <a:spcBef>
                <a:spcPct val="20000"/>
              </a:spcBef>
              <a:buClr>
                <a:schemeClr val="bg2"/>
              </a:buClr>
              <a:buSzPct val="75000"/>
              <a:defRPr/>
            </a:pPr>
            <a:r>
              <a:rPr lang="en-US" sz="2000" i="1" kern="0" dirty="0">
                <a:latin typeface="Arial" charset="0"/>
              </a:rPr>
              <a:t>	</a:t>
            </a:r>
            <a:r>
              <a:rPr lang="en-US" sz="2000" kern="0" dirty="0">
                <a:latin typeface="Arial" charset="0"/>
              </a:rPr>
              <a:t>Communications of the ACM, vol. 52, no. 1, pp. 40-44 (2009)</a:t>
            </a:r>
          </a:p>
          <a:p>
            <a:pPr marL="342900" indent="-342900" algn="l" eaLnBrk="0" hangingPunct="0">
              <a:lnSpc>
                <a:spcPct val="80000"/>
              </a:lnSpc>
              <a:spcBef>
                <a:spcPct val="20000"/>
              </a:spcBef>
              <a:buClr>
                <a:schemeClr val="bg2"/>
              </a:buClr>
              <a:buSzPct val="75000"/>
              <a:buFont typeface="Monotype Sorts" charset="2"/>
              <a:buChar char="n"/>
              <a:defRPr/>
            </a:pPr>
            <a:r>
              <a:rPr lang="en-US" sz="2000" kern="0" dirty="0" err="1">
                <a:latin typeface="Arial" charset="0"/>
              </a:rPr>
              <a:t>Vogels</a:t>
            </a:r>
            <a:r>
              <a:rPr lang="en-US" sz="2000" kern="0" dirty="0">
                <a:latin typeface="Arial" charset="0"/>
              </a:rPr>
              <a:t>, W.</a:t>
            </a:r>
          </a:p>
          <a:p>
            <a:pPr marL="342900" indent="-342900" algn="l" eaLnBrk="0" hangingPunct="0">
              <a:lnSpc>
                <a:spcPct val="80000"/>
              </a:lnSpc>
              <a:spcBef>
                <a:spcPct val="20000"/>
              </a:spcBef>
              <a:buClr>
                <a:schemeClr val="bg2"/>
              </a:buClr>
              <a:buSzPct val="75000"/>
              <a:defRPr/>
            </a:pPr>
            <a:r>
              <a:rPr lang="en-US" sz="2000" i="1" kern="0" dirty="0">
                <a:latin typeface="Arial" charset="0"/>
              </a:rPr>
              <a:t>	</a:t>
            </a:r>
            <a:r>
              <a:rPr lang="en-US" sz="2000" b="1" i="1" kern="0" dirty="0">
                <a:latin typeface="Arial" charset="0"/>
              </a:rPr>
              <a:t>Ahead in the Cloud - The Power of Infrastructure as a Service</a:t>
            </a:r>
          </a:p>
          <a:p>
            <a:pPr marL="342900" indent="-342900" algn="l" eaLnBrk="0" hangingPunct="0">
              <a:lnSpc>
                <a:spcPct val="80000"/>
              </a:lnSpc>
              <a:spcBef>
                <a:spcPct val="20000"/>
              </a:spcBef>
              <a:buClr>
                <a:schemeClr val="bg2"/>
              </a:buClr>
              <a:buSzPct val="75000"/>
              <a:defRPr/>
            </a:pPr>
            <a:r>
              <a:rPr lang="en-US" sz="2000" kern="0" dirty="0">
                <a:latin typeface="Arial" charset="0"/>
              </a:rPr>
              <a:t>	http://blip.tv/file/981534 (2010)</a:t>
            </a:r>
          </a:p>
          <a:p>
            <a:pPr marL="342900" indent="-342900" algn="l" eaLnBrk="0" hangingPunct="0">
              <a:lnSpc>
                <a:spcPct val="80000"/>
              </a:lnSpc>
              <a:spcBef>
                <a:spcPct val="20000"/>
              </a:spcBef>
              <a:buClr>
                <a:schemeClr val="bg2"/>
              </a:buClr>
              <a:buSzPct val="75000"/>
              <a:buFont typeface="Monotype Sorts" charset="2"/>
              <a:buChar char="n"/>
              <a:defRPr/>
            </a:pPr>
            <a:r>
              <a:rPr lang="en-US" sz="2000" kern="0" dirty="0" err="1">
                <a:latin typeface="Arial" charset="0"/>
              </a:rPr>
              <a:t>Narasimhan</a:t>
            </a:r>
            <a:r>
              <a:rPr lang="en-US" sz="2000" kern="0" dirty="0">
                <a:latin typeface="Arial" charset="0"/>
              </a:rPr>
              <a:t>, B.;   Nichols, R.; </a:t>
            </a:r>
          </a:p>
          <a:p>
            <a:pPr marL="342900" indent="-342900" algn="l" eaLnBrk="0" hangingPunct="0">
              <a:lnSpc>
                <a:spcPct val="80000"/>
              </a:lnSpc>
              <a:spcBef>
                <a:spcPct val="20000"/>
              </a:spcBef>
              <a:buClr>
                <a:schemeClr val="bg2"/>
              </a:buClr>
              <a:buSzPct val="75000"/>
              <a:defRPr/>
            </a:pPr>
            <a:r>
              <a:rPr lang="en-US" sz="2000" b="1" i="1" kern="0" dirty="0">
                <a:latin typeface="Arial" charset="0"/>
              </a:rPr>
              <a:t>	State of Cloud Applications and Platforms: The Cloud Adopters’ View </a:t>
            </a:r>
            <a:br>
              <a:rPr lang="en-US" sz="2000" b="1" i="1" kern="0" dirty="0">
                <a:latin typeface="Arial" charset="0"/>
              </a:rPr>
            </a:br>
            <a:r>
              <a:rPr lang="en-US" sz="2000" kern="0" dirty="0">
                <a:latin typeface="Arial" charset="0"/>
              </a:rPr>
              <a:t>IEEE Computer, vol. 44, no. 3, pp. 24-28 (</a:t>
            </a:r>
            <a:r>
              <a:rPr lang="en-US" sz="2000" kern="0" dirty="0" err="1">
                <a:latin typeface="Arial" charset="0"/>
              </a:rPr>
              <a:t>Marzo</a:t>
            </a:r>
            <a:r>
              <a:rPr lang="en-US" sz="2000" kern="0" dirty="0">
                <a:latin typeface="Arial" charset="0"/>
              </a:rPr>
              <a:t> 2011)</a:t>
            </a:r>
          </a:p>
        </p:txBody>
      </p:sp>
      <p:sp>
        <p:nvSpPr>
          <p:cNvPr id="4" name="Rectangle 5"/>
          <p:cNvSpPr>
            <a:spLocks noChangeArrowheads="1"/>
          </p:cNvSpPr>
          <p:nvPr/>
        </p:nvSpPr>
        <p:spPr bwMode="auto">
          <a:xfrm>
            <a:off x="683568" y="116632"/>
            <a:ext cx="7848600" cy="762000"/>
          </a:xfrm>
          <a:prstGeom prst="rect">
            <a:avLst/>
          </a:prstGeom>
          <a:noFill/>
          <a:ln w="9525">
            <a:noFill/>
            <a:miter lim="800000"/>
            <a:headEnd/>
            <a:tailEnd/>
          </a:ln>
          <a:effectLst/>
        </p:spPr>
        <p:txBody>
          <a:bodyPr anchor="ctr"/>
          <a:lstStyle/>
          <a:p>
            <a:pPr algn="ctr">
              <a:defRPr/>
            </a:pPr>
            <a:r>
              <a:rPr lang="en-US" sz="3200" b="1" dirty="0">
                <a:solidFill>
                  <a:srgbClr val="3366CC"/>
                </a:solidFill>
                <a:effectLst>
                  <a:outerShdw blurRad="38100" dist="38100" dir="2700000" algn="tl">
                    <a:srgbClr val="C0C0C0"/>
                  </a:outerShdw>
                </a:effectLst>
                <a:latin typeface="Helvetica" pitchFamily="34" charset="0"/>
              </a:rPr>
              <a:t>Bibliography</a:t>
            </a:r>
            <a:endParaRPr lang="it-IT" sz="3200" b="1" dirty="0">
              <a:latin typeface="Helvetica" pitchFamily="34" charset="0"/>
            </a:endParaRPr>
          </a:p>
        </p:txBody>
      </p:sp>
      <p:sp>
        <p:nvSpPr>
          <p:cNvPr id="5" name="Line 6"/>
          <p:cNvSpPr>
            <a:spLocks noChangeShapeType="1"/>
          </p:cNvSpPr>
          <p:nvPr/>
        </p:nvSpPr>
        <p:spPr bwMode="auto">
          <a:xfrm>
            <a:off x="378768" y="878632"/>
            <a:ext cx="8458200" cy="0"/>
          </a:xfrm>
          <a:prstGeom prst="line">
            <a:avLst/>
          </a:prstGeom>
          <a:noFill/>
          <a:ln w="28575">
            <a:solidFill>
              <a:srgbClr val="3366CC"/>
            </a:solidFill>
            <a:round/>
            <a:headEnd/>
            <a:tailEnd/>
          </a:ln>
        </p:spPr>
        <p:txBody>
          <a:bodyPr wrap="none" lIns="90000" tIns="46800" rIns="90000" bIns="46800" anchor="ctr">
            <a:spAutoFit/>
          </a:bodyPr>
          <a:lstStyle/>
          <a:p>
            <a:endParaRPr lang="it-IT"/>
          </a:p>
        </p:txBody>
      </p:sp>
    </p:spTree>
    <p:extLst>
      <p:ext uri="{BB962C8B-B14F-4D97-AF65-F5344CB8AC3E}">
        <p14:creationId xmlns:p14="http://schemas.microsoft.com/office/powerpoint/2010/main" val="2305211127"/>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Rectangle 3"/>
          <p:cNvSpPr txBox="1">
            <a:spLocks noChangeArrowheads="1"/>
          </p:cNvSpPr>
          <p:nvPr/>
        </p:nvSpPr>
        <p:spPr bwMode="auto">
          <a:xfrm>
            <a:off x="0" y="1219200"/>
            <a:ext cx="9144000" cy="5238750"/>
          </a:xfrm>
          <a:prstGeom prst="rect">
            <a:avLst/>
          </a:prstGeom>
          <a:noFill/>
          <a:ln>
            <a:miter lim="800000"/>
            <a:headEnd/>
            <a:tailEnd/>
          </a:ln>
        </p:spPr>
        <p:txBody>
          <a:bodyPr/>
          <a:lstStyle/>
          <a:p>
            <a:pPr marL="342900" indent="-342900" algn="l" eaLnBrk="0" hangingPunct="0">
              <a:lnSpc>
                <a:spcPct val="80000"/>
              </a:lnSpc>
              <a:spcBef>
                <a:spcPct val="20000"/>
              </a:spcBef>
              <a:buClr>
                <a:schemeClr val="bg2"/>
              </a:buClr>
              <a:buSzPct val="75000"/>
              <a:buFont typeface="Monotype Sorts" charset="2"/>
              <a:buChar char="n"/>
              <a:defRPr/>
            </a:pPr>
            <a:r>
              <a:rPr lang="it-IT" sz="2000" b="1" i="1" kern="0" dirty="0" err="1">
                <a:latin typeface="Arial" charset="0"/>
              </a:rPr>
              <a:t>OpenStack</a:t>
            </a:r>
            <a:r>
              <a:rPr lang="it-IT" sz="2000" b="1" i="1" kern="0" dirty="0">
                <a:latin typeface="Arial" charset="0"/>
              </a:rPr>
              <a:t> </a:t>
            </a:r>
            <a:r>
              <a:rPr lang="it-IT" sz="2000" b="1" i="1" kern="0" dirty="0" err="1">
                <a:latin typeface="Arial" charset="0"/>
              </a:rPr>
              <a:t>documentation</a:t>
            </a:r>
            <a:endParaRPr lang="it-IT" sz="2000" b="1" kern="0" dirty="0">
              <a:latin typeface="Arial" charset="0"/>
            </a:endParaRPr>
          </a:p>
          <a:p>
            <a:pPr marL="342900" indent="-342900" algn="l" eaLnBrk="0" hangingPunct="0">
              <a:lnSpc>
                <a:spcPct val="80000"/>
              </a:lnSpc>
              <a:spcBef>
                <a:spcPct val="20000"/>
              </a:spcBef>
              <a:buClr>
                <a:schemeClr val="bg2"/>
              </a:buClr>
              <a:buSzPct val="75000"/>
              <a:defRPr/>
            </a:pPr>
            <a:r>
              <a:rPr lang="it-IT" sz="2000" kern="0" dirty="0">
                <a:latin typeface="Arial" charset="0"/>
              </a:rPr>
              <a:t>	 </a:t>
            </a:r>
            <a:r>
              <a:rPr lang="it-IT" sz="2000" kern="0" dirty="0">
                <a:latin typeface="Arial" charset="0"/>
                <a:hlinkClick r:id="rId3"/>
              </a:rPr>
              <a:t>http://docs.openstack.org/</a:t>
            </a:r>
            <a:endParaRPr lang="it-IT" sz="2000" kern="0" dirty="0">
              <a:latin typeface="Arial" charset="0"/>
            </a:endParaRPr>
          </a:p>
          <a:p>
            <a:pPr marL="342900" indent="-342900" algn="l" eaLnBrk="0" hangingPunct="0">
              <a:lnSpc>
                <a:spcPct val="80000"/>
              </a:lnSpc>
              <a:spcBef>
                <a:spcPct val="20000"/>
              </a:spcBef>
              <a:buClr>
                <a:schemeClr val="bg2"/>
              </a:buClr>
              <a:buSzPct val="75000"/>
              <a:buFont typeface="Monotype Sorts" charset="2"/>
              <a:buChar char="n"/>
              <a:defRPr/>
            </a:pPr>
            <a:r>
              <a:rPr lang="en-US" sz="2000" b="1" i="1" kern="0" dirty="0" err="1">
                <a:latin typeface="Arial" charset="0"/>
              </a:rPr>
              <a:t>OpenStack</a:t>
            </a:r>
            <a:r>
              <a:rPr lang="en-US" sz="2000" b="1" i="1" kern="0" dirty="0">
                <a:latin typeface="Arial" charset="0"/>
              </a:rPr>
              <a:t> Wiki</a:t>
            </a:r>
          </a:p>
          <a:p>
            <a:pPr marL="342900" indent="-342900" algn="l" eaLnBrk="0" hangingPunct="0">
              <a:lnSpc>
                <a:spcPct val="80000"/>
              </a:lnSpc>
              <a:spcBef>
                <a:spcPct val="20000"/>
              </a:spcBef>
              <a:buClr>
                <a:schemeClr val="bg2"/>
              </a:buClr>
              <a:buSzPct val="75000"/>
              <a:defRPr/>
            </a:pPr>
            <a:r>
              <a:rPr lang="en-US" sz="2000" i="1" kern="0" dirty="0">
                <a:latin typeface="Arial" charset="0"/>
              </a:rPr>
              <a:t>	</a:t>
            </a:r>
            <a:r>
              <a:rPr lang="en-US" sz="2000" i="1" kern="0" dirty="0">
                <a:latin typeface="Arial" charset="0"/>
                <a:hlinkClick r:id="rId4"/>
              </a:rPr>
              <a:t>https://wiki.openstack.org/wiki/Main_Page</a:t>
            </a:r>
            <a:endParaRPr lang="en-US" sz="2000" kern="0" dirty="0">
              <a:latin typeface="Arial" charset="0"/>
            </a:endParaRPr>
          </a:p>
          <a:p>
            <a:pPr marL="342900" indent="-342900" algn="l" eaLnBrk="0" hangingPunct="0">
              <a:lnSpc>
                <a:spcPct val="80000"/>
              </a:lnSpc>
              <a:spcBef>
                <a:spcPct val="20000"/>
              </a:spcBef>
              <a:buClr>
                <a:schemeClr val="bg2"/>
              </a:buClr>
              <a:buSzPct val="75000"/>
              <a:buFont typeface="Monotype Sorts" charset="2"/>
              <a:buChar char="n"/>
              <a:defRPr/>
            </a:pPr>
            <a:r>
              <a:rPr lang="en-US" sz="2000" b="1" i="1" kern="0" dirty="0" err="1">
                <a:latin typeface="Arial" charset="0"/>
              </a:rPr>
              <a:t>DevStack</a:t>
            </a:r>
            <a:r>
              <a:rPr lang="en-US" sz="2000" b="1" i="1" kern="0" dirty="0">
                <a:latin typeface="Arial" charset="0"/>
              </a:rPr>
              <a:t> </a:t>
            </a:r>
          </a:p>
          <a:p>
            <a:pPr marL="342900" indent="-342900" algn="l" eaLnBrk="0" hangingPunct="0">
              <a:lnSpc>
                <a:spcPct val="80000"/>
              </a:lnSpc>
              <a:spcBef>
                <a:spcPct val="20000"/>
              </a:spcBef>
              <a:buClr>
                <a:schemeClr val="bg2"/>
              </a:buClr>
              <a:buSzPct val="75000"/>
              <a:defRPr/>
            </a:pPr>
            <a:r>
              <a:rPr lang="en-US" sz="2000" i="1" kern="0" dirty="0">
                <a:latin typeface="Arial" charset="0"/>
              </a:rPr>
              <a:t>	</a:t>
            </a:r>
            <a:r>
              <a:rPr lang="en-US" sz="2000" kern="0" dirty="0">
                <a:latin typeface="Arial" charset="0"/>
              </a:rPr>
              <a:t> </a:t>
            </a:r>
            <a:r>
              <a:rPr lang="en-US" sz="2000" kern="0" dirty="0">
                <a:latin typeface="Arial" charset="0"/>
                <a:hlinkClick r:id="rId5"/>
              </a:rPr>
              <a:t>http://devstack.org/</a:t>
            </a:r>
            <a:endParaRPr lang="en-US" sz="2000" kern="0" dirty="0">
              <a:latin typeface="Arial" charset="0"/>
            </a:endParaRPr>
          </a:p>
          <a:p>
            <a:pPr marL="342900" indent="-342900" algn="l" eaLnBrk="0" hangingPunct="0">
              <a:lnSpc>
                <a:spcPct val="80000"/>
              </a:lnSpc>
              <a:spcBef>
                <a:spcPct val="20000"/>
              </a:spcBef>
              <a:buClr>
                <a:schemeClr val="bg2"/>
              </a:buClr>
              <a:buSzPct val="75000"/>
              <a:buFont typeface="Monotype Sorts" charset="2"/>
              <a:buChar char="n"/>
              <a:defRPr/>
            </a:pPr>
            <a:r>
              <a:rPr lang="en-US" altLang="zh-TW" sz="2000" dirty="0">
                <a:solidFill>
                  <a:prstClr val="black">
                    <a:lumMod val="65000"/>
                    <a:lumOff val="35000"/>
                  </a:prstClr>
                </a:solidFill>
              </a:rPr>
              <a:t>HOU J. T. C.; Liao W. </a:t>
            </a:r>
          </a:p>
          <a:p>
            <a:pPr marL="342900" indent="-342900" algn="l" eaLnBrk="0" hangingPunct="0">
              <a:lnSpc>
                <a:spcPct val="80000"/>
              </a:lnSpc>
              <a:spcBef>
                <a:spcPct val="20000"/>
              </a:spcBef>
              <a:buClr>
                <a:schemeClr val="bg2"/>
              </a:buClr>
              <a:buSzPct val="75000"/>
              <a:defRPr/>
            </a:pPr>
            <a:r>
              <a:rPr lang="en-US" sz="2000" b="1" i="1" kern="0" dirty="0">
                <a:solidFill>
                  <a:prstClr val="black">
                    <a:lumMod val="65000"/>
                    <a:lumOff val="35000"/>
                  </a:prstClr>
                </a:solidFill>
                <a:latin typeface="Arial" charset="0"/>
              </a:rPr>
              <a:t>	</a:t>
            </a:r>
            <a:r>
              <a:rPr lang="en-US" sz="2000" b="1" i="1" kern="0" dirty="0" err="1">
                <a:latin typeface="Arial" charset="0"/>
              </a:rPr>
              <a:t>OpenStack</a:t>
            </a:r>
            <a:r>
              <a:rPr lang="en-US" sz="2000" b="1" i="1" kern="0" dirty="0">
                <a:latin typeface="Arial" charset="0"/>
              </a:rPr>
              <a:t> Introduction</a:t>
            </a:r>
          </a:p>
          <a:p>
            <a:pPr marL="342900" indent="-342900" algn="l" eaLnBrk="0" hangingPunct="0">
              <a:lnSpc>
                <a:spcPct val="80000"/>
              </a:lnSpc>
              <a:spcBef>
                <a:spcPct val="20000"/>
              </a:spcBef>
              <a:buClr>
                <a:schemeClr val="bg2"/>
              </a:buClr>
              <a:buSzPct val="75000"/>
              <a:defRPr/>
            </a:pPr>
            <a:r>
              <a:rPr lang="en-US" sz="2000" b="1" i="1" kern="0" dirty="0">
                <a:latin typeface="Arial" charset="0"/>
              </a:rPr>
              <a:t>	</a:t>
            </a:r>
            <a:r>
              <a:rPr lang="en-US" sz="2000" i="1" kern="0" dirty="0">
                <a:latin typeface="Arial" charset="0"/>
                <a:hlinkClick r:id="rId6"/>
              </a:rPr>
              <a:t>http://www.slideshare.net/jasonhoutw/openstack-introduction</a:t>
            </a:r>
            <a:endParaRPr lang="en-US" sz="2000" i="1" kern="0" dirty="0">
              <a:latin typeface="Arial" charset="0"/>
              <a:hlinkClick r:id="rId4"/>
            </a:endParaRPr>
          </a:p>
          <a:p>
            <a:pPr marL="342900" indent="-342900" algn="l" eaLnBrk="0" hangingPunct="0">
              <a:lnSpc>
                <a:spcPct val="80000"/>
              </a:lnSpc>
              <a:spcBef>
                <a:spcPct val="20000"/>
              </a:spcBef>
              <a:buClr>
                <a:schemeClr val="bg2"/>
              </a:buClr>
              <a:buSzPct val="75000"/>
              <a:defRPr/>
            </a:pPr>
            <a:r>
              <a:rPr lang="en-US" sz="2000" kern="0" dirty="0">
                <a:latin typeface="Arial" charset="0"/>
              </a:rPr>
              <a:t>	(</a:t>
            </a:r>
            <a:r>
              <a:rPr lang="en-US" sz="2000" kern="0" dirty="0" err="1">
                <a:latin typeface="Arial" charset="0"/>
              </a:rPr>
              <a:t>Giugno</a:t>
            </a:r>
            <a:r>
              <a:rPr lang="en-US" sz="2000" kern="0" dirty="0">
                <a:latin typeface="Arial" charset="0"/>
              </a:rPr>
              <a:t> 2012)</a:t>
            </a:r>
          </a:p>
        </p:txBody>
      </p:sp>
      <p:sp>
        <p:nvSpPr>
          <p:cNvPr id="5" name="Line 6"/>
          <p:cNvSpPr>
            <a:spLocks noChangeShapeType="1"/>
          </p:cNvSpPr>
          <p:nvPr/>
        </p:nvSpPr>
        <p:spPr bwMode="auto">
          <a:xfrm>
            <a:off x="378768" y="878632"/>
            <a:ext cx="8458200" cy="0"/>
          </a:xfrm>
          <a:prstGeom prst="line">
            <a:avLst/>
          </a:prstGeom>
          <a:noFill/>
          <a:ln w="28575">
            <a:solidFill>
              <a:srgbClr val="3366CC"/>
            </a:solidFill>
            <a:round/>
            <a:headEnd/>
            <a:tailEnd/>
          </a:ln>
        </p:spPr>
        <p:txBody>
          <a:bodyPr wrap="none" lIns="90000" tIns="46800" rIns="90000" bIns="46800" anchor="ctr">
            <a:spAutoFit/>
          </a:bodyPr>
          <a:lstStyle/>
          <a:p>
            <a:endParaRPr lang="it-IT"/>
          </a:p>
        </p:txBody>
      </p:sp>
      <p:sp>
        <p:nvSpPr>
          <p:cNvPr id="8" name="Rectangle 5"/>
          <p:cNvSpPr>
            <a:spLocks noChangeArrowheads="1"/>
          </p:cNvSpPr>
          <p:nvPr/>
        </p:nvSpPr>
        <p:spPr bwMode="auto">
          <a:xfrm>
            <a:off x="683568" y="116632"/>
            <a:ext cx="7848600" cy="762000"/>
          </a:xfrm>
          <a:prstGeom prst="rect">
            <a:avLst/>
          </a:prstGeom>
          <a:noFill/>
          <a:ln w="9525">
            <a:noFill/>
            <a:miter lim="800000"/>
            <a:headEnd/>
            <a:tailEnd/>
          </a:ln>
          <a:effectLst/>
        </p:spPr>
        <p:txBody>
          <a:bodyPr anchor="ctr"/>
          <a:lstStyle/>
          <a:p>
            <a:pPr algn="ctr">
              <a:defRPr/>
            </a:pPr>
            <a:r>
              <a:rPr lang="en-US" sz="3200" b="1" dirty="0">
                <a:solidFill>
                  <a:srgbClr val="3366CC"/>
                </a:solidFill>
                <a:effectLst>
                  <a:outerShdw blurRad="38100" dist="38100" dir="2700000" algn="tl">
                    <a:srgbClr val="C0C0C0"/>
                  </a:outerShdw>
                </a:effectLst>
                <a:latin typeface="Helvetica" pitchFamily="34" charset="0"/>
              </a:rPr>
              <a:t>More documents …</a:t>
            </a:r>
            <a:endParaRPr lang="it-IT" sz="3200" b="1" dirty="0">
              <a:latin typeface="Helvetica" pitchFamily="34" charset="0"/>
            </a:endParaRPr>
          </a:p>
        </p:txBody>
      </p:sp>
    </p:spTree>
    <p:extLst>
      <p:ext uri="{BB962C8B-B14F-4D97-AF65-F5344CB8AC3E}">
        <p14:creationId xmlns:p14="http://schemas.microsoft.com/office/powerpoint/2010/main" val="845337940"/>
      </p:ext>
    </p:extLst>
  </p:cSld>
  <p:clrMapOvr>
    <a:masterClrMapping/>
  </p:clrMapOvr>
  <p:transition/>
</p:sld>
</file>

<file path=ppt/theme/theme1.xml><?xml version="1.0" encoding="utf-8"?>
<a:theme xmlns:a="http://schemas.openxmlformats.org/drawingml/2006/main" name="Presentazione vuota">
  <a:themeElements>
    <a:clrScheme name="Presentazione vuota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Presentazione vuota">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Presentazione vuota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Presentazione vuota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Presentazione vuota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Presentazione vuota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Presentazione vuot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Presentazione vuot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Presentazione vuot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i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i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C:\Programmi\Microsoft Office\Modelli\Presentazione vuota.pot</Template>
  <TotalTime>42161</TotalTime>
  <Words>2853</Words>
  <Application>Microsoft Macintosh PowerPoint</Application>
  <PresentationFormat>On-screen Show (4:3)</PresentationFormat>
  <Paragraphs>289</Paragraphs>
  <Slides>53</Slides>
  <Notes>52</Notes>
  <HiddenSlides>15</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53</vt:i4>
      </vt:variant>
    </vt:vector>
  </HeadingPairs>
  <TitlesOfParts>
    <vt:vector size="63" baseType="lpstr">
      <vt:lpstr>Myriad Pro Bold</vt:lpstr>
      <vt:lpstr>Arial</vt:lpstr>
      <vt:lpstr>Calibri</vt:lpstr>
      <vt:lpstr>Gill Sans</vt:lpstr>
      <vt:lpstr>Helvetica</vt:lpstr>
      <vt:lpstr>Monotype Sorts</vt:lpstr>
      <vt:lpstr>Tahoma</vt:lpstr>
      <vt:lpstr>Times New Roman</vt:lpstr>
      <vt:lpstr>Wingdings</vt:lpstr>
      <vt:lpstr>Presentazione vuota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DEIS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Reti LS</dc:title>
  <dc:creator>Antonio Corradi</dc:creator>
  <cp:lastModifiedBy>Kadangode K Ramakrishnan</cp:lastModifiedBy>
  <cp:revision>740</cp:revision>
  <cp:lastPrinted>2015-02-09T14:01:34Z</cp:lastPrinted>
  <dcterms:created xsi:type="dcterms:W3CDTF">1999-09-20T13:38:22Z</dcterms:created>
  <dcterms:modified xsi:type="dcterms:W3CDTF">2025-02-20T05:43:29Z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1</vt:i4>
  </property>
  <property fmtid="{D5CDD505-2E9C-101B-9397-08002B2CF9AE}" pid="3" name="GraphicType">
    <vt:i4>1</vt:i4>
  </property>
  <property fmtid="{D5CDD505-2E9C-101B-9397-08002B2CF9AE}" pid="4" name="Compression">
    <vt:i4>100</vt:i4>
  </property>
  <property fmtid="{D5CDD505-2E9C-101B-9397-08002B2CF9AE}" pid="5" name="ScreenSize">
    <vt:i4>1</vt:i4>
  </property>
  <property fmtid="{D5CDD505-2E9C-101B-9397-08002B2CF9AE}" pid="6" name="ScreenUsage">
    <vt:i4>2</vt:i4>
  </property>
  <property fmtid="{D5CDD505-2E9C-101B-9397-08002B2CF9AE}" pid="7" name="MailAddress">
    <vt:lpwstr>edenti@deis.unibo.it</vt:lpwstr>
  </property>
  <property fmtid="{D5CDD505-2E9C-101B-9397-08002B2CF9AE}" pid="8" name="HomePage">
    <vt:lpwstr/>
  </property>
  <property fmtid="{D5CDD505-2E9C-101B-9397-08002B2CF9AE}" pid="9" name="Other">
    <vt:lpwstr/>
  </property>
  <property fmtid="{D5CDD505-2E9C-101B-9397-08002B2CF9AE}" pid="10" name="DownloadOriginal">
    <vt:bool>false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i4>15132390</vt:i4>
  </property>
  <property fmtid="{D5CDD505-2E9C-101B-9397-08002B2CF9AE}" pid="14" name="TextColor">
    <vt:i4>0</vt:i4>
  </property>
  <property fmtid="{D5CDD505-2E9C-101B-9397-08002B2CF9AE}" pid="15" name="LinkColor">
    <vt:i4>16711782</vt:i4>
  </property>
  <property fmtid="{D5CDD505-2E9C-101B-9397-08002B2CF9AE}" pid="16" name="VisitedColor">
    <vt:i4>10040268</vt:i4>
  </property>
  <property fmtid="{D5CDD505-2E9C-101B-9397-08002B2CF9AE}" pid="17" name="TransparentButton">
    <vt:i4>0</vt:i4>
  </property>
  <property fmtid="{D5CDD505-2E9C-101B-9397-08002B2CF9AE}" pid="18" name="ButtonType">
    <vt:i4>3</vt:i4>
  </property>
  <property fmtid="{D5CDD505-2E9C-101B-9397-08002B2CF9AE}" pid="19" name="ShowNotes">
    <vt:bool>false</vt:bool>
  </property>
  <property fmtid="{D5CDD505-2E9C-101B-9397-08002B2CF9AE}" pid="20" name="NavBtnPos">
    <vt:i4>3</vt:i4>
  </property>
  <property fmtid="{D5CDD505-2E9C-101B-9397-08002B2CF9AE}" pid="21" name="OutputDir">
    <vt:lpwstr>C:\HOME\Didattica\Bologna\2000-2001\web</vt:lpwstr>
  </property>
</Properties>
</file>