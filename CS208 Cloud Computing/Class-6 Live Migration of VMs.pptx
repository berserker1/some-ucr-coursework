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tags/tag9.xml" ContentType="application/vnd.openxmlformats-officedocument.presentationml.tags+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1.xml" ContentType="application/vnd.openxmlformats-officedocument.presentationml.tags+xml"/>
  <Override PartName="/ppt/notesSlides/notesSlide22.xml" ContentType="application/vnd.openxmlformats-officedocument.presentationml.notesSlide+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4" r:id="rId1"/>
    <p:sldMasterId id="2147483996" r:id="rId2"/>
    <p:sldMasterId id="2147484011" r:id="rId3"/>
    <p:sldMasterId id="2147484025" r:id="rId4"/>
    <p:sldMasterId id="2147484039" r:id="rId5"/>
    <p:sldMasterId id="2147484044" r:id="rId6"/>
  </p:sldMasterIdLst>
  <p:notesMasterIdLst>
    <p:notesMasterId r:id="rId87"/>
  </p:notesMasterIdLst>
  <p:sldIdLst>
    <p:sldId id="336" r:id="rId7"/>
    <p:sldId id="256" r:id="rId8"/>
    <p:sldId id="283" r:id="rId9"/>
    <p:sldId id="326" r:id="rId10"/>
    <p:sldId id="327" r:id="rId11"/>
    <p:sldId id="328" r:id="rId12"/>
    <p:sldId id="329" r:id="rId13"/>
    <p:sldId id="330" r:id="rId14"/>
    <p:sldId id="331" r:id="rId15"/>
    <p:sldId id="332" r:id="rId16"/>
    <p:sldId id="257" r:id="rId17"/>
    <p:sldId id="258" r:id="rId18"/>
    <p:sldId id="291" r:id="rId19"/>
    <p:sldId id="292" r:id="rId20"/>
    <p:sldId id="293" r:id="rId21"/>
    <p:sldId id="333" r:id="rId22"/>
    <p:sldId id="294" r:id="rId23"/>
    <p:sldId id="264" r:id="rId24"/>
    <p:sldId id="259" r:id="rId25"/>
    <p:sldId id="260" r:id="rId26"/>
    <p:sldId id="295" r:id="rId27"/>
    <p:sldId id="262" r:id="rId28"/>
    <p:sldId id="265" r:id="rId29"/>
    <p:sldId id="266" r:id="rId30"/>
    <p:sldId id="261" r:id="rId31"/>
    <p:sldId id="284" r:id="rId32"/>
    <p:sldId id="263" r:id="rId33"/>
    <p:sldId id="267" r:id="rId34"/>
    <p:sldId id="285" r:id="rId35"/>
    <p:sldId id="286" r:id="rId36"/>
    <p:sldId id="335" r:id="rId37"/>
    <p:sldId id="287" r:id="rId38"/>
    <p:sldId id="268" r:id="rId39"/>
    <p:sldId id="269" r:id="rId40"/>
    <p:sldId id="270" r:id="rId41"/>
    <p:sldId id="272" r:id="rId42"/>
    <p:sldId id="271" r:id="rId43"/>
    <p:sldId id="274" r:id="rId44"/>
    <p:sldId id="275" r:id="rId45"/>
    <p:sldId id="276" r:id="rId46"/>
    <p:sldId id="277" r:id="rId47"/>
    <p:sldId id="288" r:id="rId48"/>
    <p:sldId id="289" r:id="rId49"/>
    <p:sldId id="278" r:id="rId50"/>
    <p:sldId id="290" r:id="rId51"/>
    <p:sldId id="334"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273" r:id="rId77"/>
    <p:sldId id="320" r:id="rId78"/>
    <p:sldId id="321" r:id="rId79"/>
    <p:sldId id="325" r:id="rId80"/>
    <p:sldId id="322" r:id="rId81"/>
    <p:sldId id="323" r:id="rId82"/>
    <p:sldId id="280" r:id="rId83"/>
    <p:sldId id="279" r:id="rId84"/>
    <p:sldId id="281" r:id="rId85"/>
    <p:sldId id="282" r:id="rId8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0"/>
    <p:restoredTop sz="96058"/>
  </p:normalViewPr>
  <p:slideViewPr>
    <p:cSldViewPr>
      <p:cViewPr varScale="1">
        <p:scale>
          <a:sx n="119" d="100"/>
          <a:sy n="119" d="100"/>
        </p:scale>
        <p:origin x="1448"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90" Type="http://schemas.openxmlformats.org/officeDocument/2006/relationships/theme" Target="theme/theme1.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92"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notesMaster" Target="notesMasters/notesMaster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angode K Ramakrishnan" userId="4323c311-26bb-4891-a6f8-617f455f2e62" providerId="ADAL" clId="{E72A5542-CFFB-4346-98A0-324DFC982259}"/>
    <pc:docChg chg="modSld">
      <pc:chgData name="Kadangode K Ramakrishnan" userId="4323c311-26bb-4891-a6f8-617f455f2e62" providerId="ADAL" clId="{E72A5542-CFFB-4346-98A0-324DFC982259}" dt="2025-01-23T21:49:52.926" v="99" actId="20577"/>
      <pc:docMkLst>
        <pc:docMk/>
      </pc:docMkLst>
      <pc:sldChg chg="modSp mod">
        <pc:chgData name="Kadangode K Ramakrishnan" userId="4323c311-26bb-4891-a6f8-617f455f2e62" providerId="ADAL" clId="{E72A5542-CFFB-4346-98A0-324DFC982259}" dt="2025-01-23T21:49:52.926" v="99" actId="20577"/>
        <pc:sldMkLst>
          <pc:docMk/>
          <pc:sldMk cId="0" sldId="257"/>
        </pc:sldMkLst>
        <pc:spChg chg="mod">
          <ac:chgData name="Kadangode K Ramakrishnan" userId="4323c311-26bb-4891-a6f8-617f455f2e62" providerId="ADAL" clId="{E72A5542-CFFB-4346-98A0-324DFC982259}" dt="2025-01-23T21:49:52.926" v="99" actId="20577"/>
          <ac:spMkLst>
            <pc:docMk/>
            <pc:sldMk cId="0" sldId="257"/>
            <ac:spMk id="2" creationId="{00000000-0000-0000-0000-000000000000}"/>
          </ac:spMkLst>
        </pc:spChg>
      </pc:sldChg>
      <pc:sldChg chg="modSp mod">
        <pc:chgData name="Kadangode K Ramakrishnan" userId="4323c311-26bb-4891-a6f8-617f455f2e62" providerId="ADAL" clId="{E72A5542-CFFB-4346-98A0-324DFC982259}" dt="2025-01-23T21:46:01.051" v="84" actId="20577"/>
        <pc:sldMkLst>
          <pc:docMk/>
          <pc:sldMk cId="2353532914" sldId="326"/>
        </pc:sldMkLst>
        <pc:spChg chg="mod">
          <ac:chgData name="Kadangode K Ramakrishnan" userId="4323c311-26bb-4891-a6f8-617f455f2e62" providerId="ADAL" clId="{E72A5542-CFFB-4346-98A0-324DFC982259}" dt="2025-01-23T21:46:01.051" v="84" actId="20577"/>
          <ac:spMkLst>
            <pc:docMk/>
            <pc:sldMk cId="2353532914" sldId="326"/>
            <ac:spMk id="12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83CD3C-E201-4EB2-AD86-B575A4857F9D}" type="datetimeFigureOut">
              <a:rPr lang="zh-TW" altLang="en-US" smtClean="0"/>
              <a:t>2025/1/23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170106-2423-44EF-A6CA-78A2B8324CA3}"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040950D1-D79B-7F48-A2EE-376E52D7453F}"/>
              </a:ext>
            </a:extLst>
          </p:cNvPr>
          <p:cNvSpPr>
            <a:spLocks noGrp="1" noRot="1" noChangeAspect="1" noTextEdit="1"/>
          </p:cNvSpPr>
          <p:nvPr>
            <p:ph type="sldImg"/>
          </p:nvPr>
        </p:nvSpPr>
        <p:spPr>
          <a:ln/>
        </p:spPr>
      </p:sp>
      <p:sp>
        <p:nvSpPr>
          <p:cNvPr id="50179" name="备注占位符 2">
            <a:extLst>
              <a:ext uri="{FF2B5EF4-FFF2-40B4-BE49-F238E27FC236}">
                <a16:creationId xmlns:a16="http://schemas.microsoft.com/office/drawing/2014/main" id="{E291AD1F-0637-874E-9BAE-0B1C38497D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0180" name="灯片编号占位符 3">
            <a:extLst>
              <a:ext uri="{FF2B5EF4-FFF2-40B4-BE49-F238E27FC236}">
                <a16:creationId xmlns:a16="http://schemas.microsoft.com/office/drawing/2014/main" id="{1D06E48C-D483-F546-BDEC-F66DB0B889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CBD2B80-FEB5-4944-8E64-6EDDF06C9774}"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072800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BB95D14-A5A4-434F-A859-9063E39E5B24}"/>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C6B9C022-83F4-2B4D-9D10-957CDE18FD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7406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53EFF7C-2014-A342-8356-15F70D9F9C96}"/>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64F803B3-9C09-5542-9815-1A8B9E520C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732674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AEDAB900-1C22-6C45-A6DC-528A0A6B5C30}"/>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B0CC1981-34C2-9A41-9AE5-D22C5A8FA905}"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53</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0658" name="Text Box 2">
            <a:extLst>
              <a:ext uri="{FF2B5EF4-FFF2-40B4-BE49-F238E27FC236}">
                <a16:creationId xmlns:a16="http://schemas.microsoft.com/office/drawing/2014/main" id="{82B23DBA-DDC3-B840-942B-3C03F9D5749B}"/>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70659" name="Text Box 3">
            <a:extLst>
              <a:ext uri="{FF2B5EF4-FFF2-40B4-BE49-F238E27FC236}">
                <a16:creationId xmlns:a16="http://schemas.microsoft.com/office/drawing/2014/main" id="{75F6DB14-B186-B941-8875-CA768E515F56}"/>
              </a:ext>
            </a:extLst>
          </p:cNvPr>
          <p:cNvSpPr txBox="1">
            <a:spLocks noGrp="1" noChangeArrowheads="1"/>
          </p:cNvSpPr>
          <p:nvPr>
            <p:ph type="body"/>
          </p:nvPr>
        </p:nvSpPr>
        <p:spPr>
          <a:xfrm>
            <a:off x="731838" y="4559300"/>
            <a:ext cx="5849937" cy="4321175"/>
          </a:xfrm>
          <a:noFill/>
          <a:ln/>
        </p:spPr>
        <p:txBody>
          <a:bodyPr wrap="none" anchor="ctr"/>
          <a:lstStyle/>
          <a:p>
            <a:endParaRPr lang="en-US" altLang="en-US"/>
          </a:p>
        </p:txBody>
      </p:sp>
    </p:spTree>
    <p:extLst>
      <p:ext uri="{BB962C8B-B14F-4D97-AF65-F5344CB8AC3E}">
        <p14:creationId xmlns:p14="http://schemas.microsoft.com/office/powerpoint/2010/main" val="272931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23ED3E01-BBAD-774C-9F8C-35CFCA339987}"/>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E9EEE991-8B5D-5941-B575-317F367AB34E}"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54</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0898" name="Rectangle 2">
            <a:extLst>
              <a:ext uri="{FF2B5EF4-FFF2-40B4-BE49-F238E27FC236}">
                <a16:creationId xmlns:a16="http://schemas.microsoft.com/office/drawing/2014/main" id="{F57F5735-F6DC-F74C-B42A-069360C77C69}"/>
              </a:ext>
            </a:extLst>
          </p:cNvPr>
          <p:cNvSpPr>
            <a:spLocks noGrp="1" noRot="1" noChangeAspect="1" noChangeArrowheads="1" noTextEdit="1"/>
          </p:cNvSpPr>
          <p:nvPr>
            <p:ph type="sldImg"/>
          </p:nvPr>
        </p:nvSpPr>
        <p:spPr/>
      </p:sp>
      <p:sp>
        <p:nvSpPr>
          <p:cNvPr id="80899" name="Rectangle 3">
            <a:extLst>
              <a:ext uri="{FF2B5EF4-FFF2-40B4-BE49-F238E27FC236}">
                <a16:creationId xmlns:a16="http://schemas.microsoft.com/office/drawing/2014/main" id="{CFFEE9E2-3F55-314A-BE90-C42AC619706C}"/>
              </a:ext>
            </a:extLst>
          </p:cNvPr>
          <p:cNvSpPr>
            <a:spLocks noGrp="1" noChangeArrowheads="1"/>
          </p:cNvSpPr>
          <p:nvPr>
            <p:ph type="body" idx="1"/>
          </p:nvPr>
        </p:nvSpPr>
        <p:spPr/>
        <p:txBody>
          <a:bodyPr/>
          <a:lstStyle/>
          <a:p>
            <a:r>
              <a:rPr lang="en-US" altLang="en-US" dirty="0"/>
              <a:t>The environment that I’m going to talk about today is an Enterprise data center.  These data centers are composed of large clusters of servers, there could be hundreds of them, typically connected by high speed networks and using some kind of network attached storage.  </a:t>
            </a:r>
          </a:p>
          <a:p>
            <a:endParaRPr lang="en-US" altLang="en-US" dirty="0"/>
          </a:p>
          <a:p>
            <a:r>
              <a:rPr lang="en-US" altLang="en-US" dirty="0"/>
              <a:t>For this project we are mainly interested in shared hosting environments where each server runs several applications and shares resources by some kind of time slicing.  Each of the applications may be multi-tier, with components on several different servers</a:t>
            </a:r>
          </a:p>
          <a:p>
            <a:endParaRPr lang="en-US" altLang="en-US" dirty="0"/>
          </a:p>
          <a:p>
            <a:r>
              <a:rPr lang="en-US" altLang="en-US" dirty="0"/>
              <a:t>The data center hosts these applications for clients, and its job is to meet their Service Level agreements which might specify something like the maximum web server response time is 1 second  and  95% of requests will be serviced in less than 200 milliseconds</a:t>
            </a:r>
          </a:p>
          <a:p>
            <a:endParaRPr lang="en-US" altLang="en-US" dirty="0"/>
          </a:p>
          <a:p>
            <a:r>
              <a:rPr lang="en-US" altLang="en-US" dirty="0"/>
              <a:t>They also could have reliability and uptime guarantees</a:t>
            </a:r>
          </a:p>
          <a:p>
            <a:endParaRPr lang="en-US" altLang="en-US" dirty="0"/>
          </a:p>
          <a:p>
            <a:r>
              <a:rPr lang="en-US" altLang="en-US" dirty="0"/>
              <a:t>One important aspects of data centers which is beginning to change is that virtualization is increasingly being used so that customer applications are not </a:t>
            </a:r>
            <a:r>
              <a:rPr lang="en-US" altLang="en-US" dirty="0" err="1"/>
              <a:t>direclty</a:t>
            </a:r>
            <a:r>
              <a:rPr lang="en-US" altLang="en-US" dirty="0"/>
              <a:t> tied to specific hardware, and this is done for a variety of performance maintenance, and security reasons.</a:t>
            </a:r>
          </a:p>
        </p:txBody>
      </p:sp>
    </p:spTree>
    <p:extLst>
      <p:ext uri="{BB962C8B-B14F-4D97-AF65-F5344CB8AC3E}">
        <p14:creationId xmlns:p14="http://schemas.microsoft.com/office/powerpoint/2010/main" val="175581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569C6AE4-592D-FC4B-8C76-47138D5DC69D}"/>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EA0D0695-0BB3-104E-A539-6F4116479C8A}"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55</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3793" name="Text Box 1">
            <a:extLst>
              <a:ext uri="{FF2B5EF4-FFF2-40B4-BE49-F238E27FC236}">
                <a16:creationId xmlns:a16="http://schemas.microsoft.com/office/drawing/2014/main" id="{59E36F21-5634-C644-B962-EBC4A79C8958}"/>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3794" name="Text Box 2">
            <a:extLst>
              <a:ext uri="{FF2B5EF4-FFF2-40B4-BE49-F238E27FC236}">
                <a16:creationId xmlns:a16="http://schemas.microsoft.com/office/drawing/2014/main" id="{15F1281B-7F0D-DA43-9CF9-3DBFFA96C7C9}"/>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Here are some of the benefits of using virtualiztion in data centers.  </a:t>
            </a:r>
          </a:p>
          <a:p>
            <a:endParaRPr lang="en-US" altLang="en-US"/>
          </a:p>
          <a:p>
            <a:r>
              <a:rPr lang="en-US" altLang="en-US"/>
              <a:t>Basically, what we get from using virtual machines in data centers is an easy and clean way to run multiple applications on one physical server and still keep them isolated so that we can easily adjust the resource share given to a virtual machine.  In addition, another major benefit which is the enabling technology for our whole project, is the ability to do live migration transparently to applications running in VMs.  Although this kind of live migration does not cause any downtime for the applications, there typically is some level of overhead incurred during the migration period which could take from a few seconds to a minute depending on the VM being migrated.</a:t>
            </a:r>
          </a:p>
        </p:txBody>
      </p:sp>
    </p:spTree>
    <p:extLst>
      <p:ext uri="{BB962C8B-B14F-4D97-AF65-F5344CB8AC3E}">
        <p14:creationId xmlns:p14="http://schemas.microsoft.com/office/powerpoint/2010/main" val="3485782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0960B84E-9700-7841-B112-C9E487150B1F}"/>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556A1E88-13B7-C148-89E4-BBFD23152C9F}"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56</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5" name="Text Box 1">
            <a:extLst>
              <a:ext uri="{FF2B5EF4-FFF2-40B4-BE49-F238E27FC236}">
                <a16:creationId xmlns:a16="http://schemas.microsoft.com/office/drawing/2014/main" id="{0FD80739-D6DE-8A4F-B8AD-56065D557F89}"/>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1746" name="Text Box 2">
            <a:extLst>
              <a:ext uri="{FF2B5EF4-FFF2-40B4-BE49-F238E27FC236}">
                <a16:creationId xmlns:a16="http://schemas.microsoft.com/office/drawing/2014/main" id="{C72492E4-32C7-4E42-99FA-85379213747F}"/>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Virtualization makes management and maintenance easier in data centers, but there are still big problems with resource allocation.  Since these are web applications, they may see highly dynamic and unpredictable workload due to time of day effects, transient spikes, or flash crowds.</a:t>
            </a:r>
          </a:p>
          <a:p>
            <a:r>
              <a:rPr lang="en-US" altLang="en-US"/>
              <a:t>If applications don’t have access to sufficient resources, then performance suffers.  We say that a hotspot forms on a server when the aggregate demand from its applications exceeds the server’s resource capacity.</a:t>
            </a:r>
          </a:p>
        </p:txBody>
      </p:sp>
    </p:spTree>
    <p:extLst>
      <p:ext uri="{BB962C8B-B14F-4D97-AF65-F5344CB8AC3E}">
        <p14:creationId xmlns:p14="http://schemas.microsoft.com/office/powerpoint/2010/main" val="79913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CA5584E9-FA95-7748-B503-7CD1718C31D0}"/>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D2C3BF6B-CCBE-F641-A745-597991E2E1CA}"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57</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2769" name="Text Box 1">
            <a:extLst>
              <a:ext uri="{FF2B5EF4-FFF2-40B4-BE49-F238E27FC236}">
                <a16:creationId xmlns:a16="http://schemas.microsoft.com/office/drawing/2014/main" id="{2220189A-16E2-C54C-9DCB-E8F7657AFC25}"/>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2770" name="Text Box 2">
            <a:extLst>
              <a:ext uri="{FF2B5EF4-FFF2-40B4-BE49-F238E27FC236}">
                <a16:creationId xmlns:a16="http://schemas.microsoft.com/office/drawing/2014/main" id="{77BF2159-00E9-BE46-9C59-855C5989C32F}"/>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So in order to minimize the chance of hotspots, data centers need to provision resources for each application running in the center.  </a:t>
            </a:r>
          </a:p>
          <a:p>
            <a:r>
              <a:rPr lang="en-US" altLang="en-US"/>
              <a:t>This can be done statically which is not very effective for these dynamic workloads.</a:t>
            </a:r>
          </a:p>
          <a:p>
            <a:r>
              <a:rPr lang="en-US" altLang="en-US"/>
              <a:t>More common is over-provisioning, but this is wasteful of resources since you must provision to meet peak demand.  In addition, is not trivial to predict an application’s maximum resource requirements.</a:t>
            </a:r>
          </a:p>
          <a:p>
            <a:r>
              <a:rPr lang="en-US" altLang="en-US"/>
              <a:t>Finally, dynamic provisioning is becoming easier with virtualization technology and allows for more flexibility, but it still can be difficult because you either need to be able to adjust resources very quickly or be able to predict peak load.</a:t>
            </a:r>
          </a:p>
        </p:txBody>
      </p:sp>
    </p:spTree>
    <p:extLst>
      <p:ext uri="{BB962C8B-B14F-4D97-AF65-F5344CB8AC3E}">
        <p14:creationId xmlns:p14="http://schemas.microsoft.com/office/powerpoint/2010/main" val="2727518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A9EEB656-0BA8-1041-A55B-2D73E863AC19}"/>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F9AC1C5B-D4CD-4D4E-8D99-B31E508B6423}"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58</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83970" name="Rectangle 2">
            <a:extLst>
              <a:ext uri="{FF2B5EF4-FFF2-40B4-BE49-F238E27FC236}">
                <a16:creationId xmlns:a16="http://schemas.microsoft.com/office/drawing/2014/main" id="{2F265003-111D-5046-A6F0-4B5205171655}"/>
              </a:ext>
            </a:extLst>
          </p:cNvPr>
          <p:cNvSpPr>
            <a:spLocks noGrp="1" noRot="1" noChangeAspect="1" noChangeArrowheads="1" noTextEdit="1"/>
          </p:cNvSpPr>
          <p:nvPr>
            <p:ph type="sldImg"/>
          </p:nvPr>
        </p:nvSpPr>
        <p:spPr/>
      </p:sp>
      <p:sp>
        <p:nvSpPr>
          <p:cNvPr id="83971" name="Rectangle 3">
            <a:extLst>
              <a:ext uri="{FF2B5EF4-FFF2-40B4-BE49-F238E27FC236}">
                <a16:creationId xmlns:a16="http://schemas.microsoft.com/office/drawing/2014/main" id="{1AA8CA9B-0A6E-674C-B679-DDAEB1C67DB0}"/>
              </a:ext>
            </a:extLst>
          </p:cNvPr>
          <p:cNvSpPr>
            <a:spLocks noGrp="1" noChangeArrowheads="1"/>
          </p:cNvSpPr>
          <p:nvPr>
            <p:ph type="body" idx="1"/>
          </p:nvPr>
        </p:nvSpPr>
        <p:spPr/>
        <p:txBody>
          <a:bodyPr/>
          <a:lstStyle/>
          <a:p>
            <a:r>
              <a:rPr lang="en-US" altLang="en-US"/>
              <a:t>The problem which we are looking at in this project is how can we effectively detect and eliminate hotspots in a data center environment.  As I’m sure you’ve guessed, our approach tries to leverage the benefits of virtualization technology, so we try to use VM migration and dynamic resource allocation to mitigate hotspots as they arise.</a:t>
            </a:r>
          </a:p>
        </p:txBody>
      </p:sp>
    </p:spTree>
    <p:extLst>
      <p:ext uri="{BB962C8B-B14F-4D97-AF65-F5344CB8AC3E}">
        <p14:creationId xmlns:p14="http://schemas.microsoft.com/office/powerpoint/2010/main" val="28196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92C9A0F3-DA21-C74D-AE5B-802CE0AF4E6C}"/>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6B934180-468F-6E4B-A681-F66434EA3A6C}"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59</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4817" name="Text Box 1">
            <a:extLst>
              <a:ext uri="{FF2B5EF4-FFF2-40B4-BE49-F238E27FC236}">
                <a16:creationId xmlns:a16="http://schemas.microsoft.com/office/drawing/2014/main" id="{B0BB19FC-BD1B-6941-B00A-3EB8EEA7ED72}"/>
              </a:ext>
            </a:extLst>
          </p:cNvPr>
          <p:cNvSpPr txBox="1">
            <a:spLocks noGrp="1" noRot="1" noChangeAspect="1" noChangeArrowheads="1"/>
          </p:cNvSpPr>
          <p:nvPr>
            <p:ph type="sldImg"/>
          </p:nvPr>
        </p:nvSpPr>
        <p:spPr bwMode="auto">
          <a:xfrm>
            <a:off x="1257300" y="728663"/>
            <a:ext cx="4799013" cy="35988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8" name="Text Box 2">
            <a:extLst>
              <a:ext uri="{FF2B5EF4-FFF2-40B4-BE49-F238E27FC236}">
                <a16:creationId xmlns:a16="http://schemas.microsoft.com/office/drawing/2014/main" id="{4949010A-58F4-284A-817A-B250DEF011AE}"/>
              </a:ext>
            </a:extLst>
          </p:cNvPr>
          <p:cNvSpPr txBox="1">
            <a:spLocks noGrp="1" noChangeArrowheads="1"/>
          </p:cNvSpPr>
          <p:nvPr>
            <p:ph type="body" idx="1"/>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Now that I’ve given you some introduction, let me outline my talk.  Next I’ll give you an overview of our system as well as describe some of the challenges which we needed to face.  Then I’ll describe our implementation and evaluation and finish up with some conclusions.</a:t>
            </a:r>
          </a:p>
        </p:txBody>
      </p:sp>
    </p:spTree>
    <p:extLst>
      <p:ext uri="{BB962C8B-B14F-4D97-AF65-F5344CB8AC3E}">
        <p14:creationId xmlns:p14="http://schemas.microsoft.com/office/powerpoint/2010/main" val="3195497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6BC35B1F-E36E-A448-A870-13E8AB2801E2}"/>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62EFCFDD-CDC7-C448-A835-6A63489FF772}"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60</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6865" name="Text Box 1">
            <a:extLst>
              <a:ext uri="{FF2B5EF4-FFF2-40B4-BE49-F238E27FC236}">
                <a16:creationId xmlns:a16="http://schemas.microsoft.com/office/drawing/2014/main" id="{D8E9A874-5C82-CF42-8134-6085DA935F55}"/>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6866" name="Text Box 2">
            <a:extLst>
              <a:ext uri="{FF2B5EF4-FFF2-40B4-BE49-F238E27FC236}">
                <a16:creationId xmlns:a16="http://schemas.microsoft.com/office/drawing/2014/main" id="{FA666D6C-3962-2947-B187-71F5FDBCB2EF}"/>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In order to better deal with hotspots in data centers, we propose a system called Sandpiper which is designed to automatically detect and mitigate hotspots through virtual machine migration.</a:t>
            </a:r>
          </a:p>
          <a:p>
            <a:endParaRPr lang="en-US" altLang="en-US" dirty="0"/>
          </a:p>
          <a:p>
            <a:r>
              <a:rPr lang="en-US" altLang="en-US" dirty="0"/>
              <a:t>To do this, Sandpiper needs to answer some questions:  It needs to know how to detect hotspot formation so that it knows when to initiate migrations.  It needs to have some clever algorithm for determining where to place the VMs which need to be moved.  And it needs to know how much of each resource it should allocate to the virtual machine to ensure that it will have good performance.  </a:t>
            </a:r>
          </a:p>
          <a:p>
            <a:endParaRPr lang="en-US" altLang="en-US" dirty="0"/>
          </a:p>
          <a:p>
            <a:r>
              <a:rPr lang="en-US" altLang="en-US" dirty="0"/>
              <a:t>Finally, we are also interested in learning about how much information is necessary to make these decisions.  We look at two levels of knowledge, “black-box” where you only have very high level resource utilization information, and “gray-box” where you have access to application logs or OS level data. </a:t>
            </a:r>
          </a:p>
        </p:txBody>
      </p:sp>
    </p:spTree>
    <p:extLst>
      <p:ext uri="{BB962C8B-B14F-4D97-AF65-F5344CB8AC3E}">
        <p14:creationId xmlns:p14="http://schemas.microsoft.com/office/powerpoint/2010/main" val="833934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A3240203-B732-CD41-B7F5-99B5CB84D857}"/>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2BD4CD4C-C828-BA4C-A148-25E47A300004}"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61</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8913" name="Text Box 1">
            <a:extLst>
              <a:ext uri="{FF2B5EF4-FFF2-40B4-BE49-F238E27FC236}">
                <a16:creationId xmlns:a16="http://schemas.microsoft.com/office/drawing/2014/main" id="{8216FEE1-0D16-6548-9FB2-2003732860F9}"/>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8914" name="Text Box 2">
            <a:extLst>
              <a:ext uri="{FF2B5EF4-FFF2-40B4-BE49-F238E27FC236}">
                <a16:creationId xmlns:a16="http://schemas.microsoft.com/office/drawing/2014/main" id="{1BD211A1-A81D-B14A-9C68-5AEAAC72BD9E}"/>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Here you can see Sandpiper’s basic architecture.  Within each physical machine we run a Nucleus component which gathers resource utilization data and sends it to the Sandpiper Control Plane.  The control plane is composed of three modules which answer the 3 questions presented previously. The hotspot detector detects when a server is becoming overloaded, the Profiling Engine determines how much of each resource a VM needs, and the Migration Manger decides where to migrate VMs in order to resolve hotspots.  </a:t>
            </a:r>
          </a:p>
          <a:p>
            <a:endParaRPr lang="en-US" altLang="en-US"/>
          </a:p>
          <a:p>
            <a:r>
              <a:rPr lang="en-US" altLang="en-US"/>
              <a:t>In addition, these components can be extended by Gray-box modules such as the Apache modeling module I mentioned which would fit into the Profiling Engine.</a:t>
            </a:r>
          </a:p>
        </p:txBody>
      </p:sp>
    </p:spTree>
    <p:extLst>
      <p:ext uri="{BB962C8B-B14F-4D97-AF65-F5344CB8AC3E}">
        <p14:creationId xmlns:p14="http://schemas.microsoft.com/office/powerpoint/2010/main" val="840975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2FA5137E-105E-E24B-934E-EF17671D7AE2}"/>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DCCCE7CE-C10C-E34B-B68B-6ACC57C17D19}"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62</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7889" name="Text Box 1">
            <a:extLst>
              <a:ext uri="{FF2B5EF4-FFF2-40B4-BE49-F238E27FC236}">
                <a16:creationId xmlns:a16="http://schemas.microsoft.com/office/drawing/2014/main" id="{F533F7FE-01ED-374B-BA55-20C1204D5451}"/>
              </a:ext>
            </a:extLst>
          </p:cNvPr>
          <p:cNvSpPr txBox="1">
            <a:spLocks noChangeArrowheads="1"/>
          </p:cNvSpPr>
          <p:nvPr/>
        </p:nvSpPr>
        <p:spPr bwMode="auto">
          <a:xfrm>
            <a:off x="1290638" y="728663"/>
            <a:ext cx="4732337" cy="35988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7890" name="Text Box 2">
            <a:extLst>
              <a:ext uri="{FF2B5EF4-FFF2-40B4-BE49-F238E27FC236}">
                <a16:creationId xmlns:a16="http://schemas.microsoft.com/office/drawing/2014/main" id="{8696688A-323F-D041-B47F-F8E7D130F947}"/>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As I said, a “black-box” scheme is one where you can only gather data from outside of the virtual machine where applications are running.  This sounds difficult, but you can actually get a substantial amount of data from the hypervisor which controls the VM or perhaps from a driver domain.  We use the Xen virtualization software which utilizes a special “driver domain” which all other VMs send their data through.  By placing monitors in that VM, we can gather information about network utilization and even indirectly measure memory usage.</a:t>
            </a:r>
          </a:p>
          <a:p>
            <a:endParaRPr lang="en-US" altLang="en-US" dirty="0"/>
          </a:p>
          <a:p>
            <a:r>
              <a:rPr lang="en-US" altLang="en-US" dirty="0"/>
              <a:t>The “gray-box” scheme goes a step deeper and includes statistics gathered inside the VM from the operating system as well as application logs.  For example we have built an Apache “gray-box” module which examines server logs in order to estimate the amount of CPU required by the application.  It seems like you would always want to use a “gray-box” scheme, but in some data centers customers install their own operating systems and fully manage their own virtual servers.  In those cases it may be impossible to install a monitoring tool.  </a:t>
            </a:r>
          </a:p>
          <a:p>
            <a:endParaRPr lang="en-US" altLang="en-US" dirty="0"/>
          </a:p>
          <a:p>
            <a:r>
              <a:rPr lang="en-US" altLang="en-US" dirty="0"/>
              <a:t>We’ve built Sandpiper to support both of these and different virtual machines in the data center might have mixed levels of information.</a:t>
            </a:r>
          </a:p>
        </p:txBody>
      </p:sp>
    </p:spTree>
    <p:extLst>
      <p:ext uri="{BB962C8B-B14F-4D97-AF65-F5344CB8AC3E}">
        <p14:creationId xmlns:p14="http://schemas.microsoft.com/office/powerpoint/2010/main" val="2110229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7AB51C21-CF06-0548-A0C2-851A7E15FEE8}"/>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C43E4F4D-8DF5-BB4D-9CC6-F96EAEDB3506}"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63</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2706" name="Text Box 2">
            <a:extLst>
              <a:ext uri="{FF2B5EF4-FFF2-40B4-BE49-F238E27FC236}">
                <a16:creationId xmlns:a16="http://schemas.microsoft.com/office/drawing/2014/main" id="{F8A2F9A5-74D2-CF42-8033-541284B304A7}"/>
              </a:ext>
            </a:extLst>
          </p:cNvPr>
          <p:cNvSpPr txBox="1">
            <a:spLocks noGrp="1" noRot="1" noChangeAspect="1" noChangeArrowheads="1" noTextEdit="1"/>
          </p:cNvSpPr>
          <p:nvPr>
            <p:ph type="sldImg"/>
          </p:nvPr>
        </p:nvSpPr>
        <p:spPr>
          <a:xfrm>
            <a:off x="1257300" y="728663"/>
            <a:ext cx="4799013" cy="3598862"/>
          </a:xfrm>
        </p:spPr>
      </p:sp>
      <p:sp>
        <p:nvSpPr>
          <p:cNvPr id="72707" name="Text Box 3">
            <a:extLst>
              <a:ext uri="{FF2B5EF4-FFF2-40B4-BE49-F238E27FC236}">
                <a16:creationId xmlns:a16="http://schemas.microsoft.com/office/drawing/2014/main" id="{07BDAC27-FFAA-944B-8A8F-ABDA1235AA89}"/>
              </a:ext>
            </a:extLst>
          </p:cNvPr>
          <p:cNvSpPr txBox="1">
            <a:spLocks noGrp="1" noChangeArrowheads="1"/>
          </p:cNvSpPr>
          <p:nvPr>
            <p:ph type="body" idx="1"/>
          </p:nvPr>
        </p:nvSpPr>
        <p:spPr>
          <a:xfrm>
            <a:off x="731838" y="4559300"/>
            <a:ext cx="5849937" cy="4321175"/>
          </a:xfrm>
          <a:noFill/>
          <a:ln/>
        </p:spPr>
        <p:txBody>
          <a:bodyPr wrap="none" anchor="ctr"/>
          <a:lstStyle/>
          <a:p>
            <a:endParaRPr lang="en-US" altLang="en-US"/>
          </a:p>
        </p:txBody>
      </p:sp>
    </p:spTree>
    <p:extLst>
      <p:ext uri="{BB962C8B-B14F-4D97-AF65-F5344CB8AC3E}">
        <p14:creationId xmlns:p14="http://schemas.microsoft.com/office/powerpoint/2010/main" val="3234818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826B8210-0CA1-FF44-80AF-A7F79E7BD048}"/>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36560611-5EEC-4446-94F9-9C5BD02E943D}"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64</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9937" name="Text Box 1">
            <a:extLst>
              <a:ext uri="{FF2B5EF4-FFF2-40B4-BE49-F238E27FC236}">
                <a16:creationId xmlns:a16="http://schemas.microsoft.com/office/drawing/2014/main" id="{4FE67FA6-6A8F-2D41-9F22-09CA1797F2E7}"/>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9938" name="Text Box 2">
            <a:extLst>
              <a:ext uri="{FF2B5EF4-FFF2-40B4-BE49-F238E27FC236}">
                <a16:creationId xmlns:a16="http://schemas.microsoft.com/office/drawing/2014/main" id="{3525DEDE-AC64-6749-821D-5B0BC76841C2}"/>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Sandpiper is able to monitor </a:t>
            </a:r>
            <a:r>
              <a:rPr lang="en-US" altLang="en-US" dirty="0" err="1"/>
              <a:t>cpu</a:t>
            </a:r>
            <a:r>
              <a:rPr lang="en-US" altLang="en-US" dirty="0"/>
              <a:t>, network and memory utilization with only black-box means.  The CPU data we gather from scheduler statistics exposed from the Xen hypervisor.  The networking information is accessible from within the driver domain because it instantiates a virtual network interface for each virtual machine which provides statistics like a typical networking card in Linux.  Finally we are able to get memory information by watching disk I/O in the driver domain destined for the VM’s swap partition.  This means that our memory information is not as accurate as the others and only gives us knowledge of when performance is already poor.</a:t>
            </a:r>
          </a:p>
          <a:p>
            <a:endParaRPr lang="en-US" altLang="en-US" dirty="0"/>
          </a:p>
          <a:p>
            <a:r>
              <a:rPr lang="en-US" altLang="en-US" dirty="0"/>
              <a:t>We take all of this data and feed it into an autoregressive modeling system which we use to predict future values and also to limit the impact of transient spikes.</a:t>
            </a:r>
          </a:p>
          <a:p>
            <a:endParaRPr lang="en-US" altLang="en-US" dirty="0"/>
          </a:p>
          <a:p>
            <a:r>
              <a:rPr lang="en-US" altLang="en-US" dirty="0"/>
              <a:t>For the “gray-box” case, we also have access to a variety of information from within the virtual machine.  This means that we can directly monitor measure whether SLAs are being met and it also allows for better memory statistics since we can get an idea from the OS about how many pages of memory are currently being used.</a:t>
            </a:r>
          </a:p>
        </p:txBody>
      </p:sp>
    </p:spTree>
    <p:extLst>
      <p:ext uri="{BB962C8B-B14F-4D97-AF65-F5344CB8AC3E}">
        <p14:creationId xmlns:p14="http://schemas.microsoft.com/office/powerpoint/2010/main" val="2584944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F83A4D28-563F-544A-B519-B8A67DE83137}"/>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B8980E74-0C8C-E346-B01A-8496C7DA2037}"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65</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61" name="Text Box 1">
            <a:extLst>
              <a:ext uri="{FF2B5EF4-FFF2-40B4-BE49-F238E27FC236}">
                <a16:creationId xmlns:a16="http://schemas.microsoft.com/office/drawing/2014/main" id="{3C9A0C68-07E6-994D-B4C5-16FD4E3F3DF6}"/>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0962" name="Text Box 2">
            <a:extLst>
              <a:ext uri="{FF2B5EF4-FFF2-40B4-BE49-F238E27FC236}">
                <a16:creationId xmlns:a16="http://schemas.microsoft.com/office/drawing/2014/main" id="{66DE073D-F2D4-8F4A-82BE-1D1BAF5A76BA}"/>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Once we have gathered some data from the virtual machines about their resource consumption, we still need to know when a hotspot is forming.  We use thresholds on each resource and say that if, for example, greater than 80% of the physical server’s CPU is being used, then that server is becoming overloaded.  For memory usage it is a little bit trickier since in the black-box case we don’t have detailed utilization information so instead we make a threshold based on the rate at which pages are being swapped to disk.</a:t>
            </a:r>
          </a:p>
          <a:p>
            <a:endParaRPr lang="en-US" altLang="en-US" dirty="0"/>
          </a:p>
          <a:p>
            <a:r>
              <a:rPr lang="en-US" altLang="en-US" dirty="0"/>
              <a:t>With a gray-box system we can do more precise detection and could base it off of Apache response times or in the memory case, on how much memory is marked as free by the operating system.</a:t>
            </a:r>
          </a:p>
          <a:p>
            <a:endParaRPr lang="en-US" altLang="en-US" dirty="0"/>
          </a:p>
          <a:p>
            <a:r>
              <a:rPr lang="en-US" altLang="en-US" dirty="0"/>
              <a:t>In all cases I should note that we are using the outputs of the autoregressive models which eliminates some of the jitter in measurements.  We also require the thresholds to be violated for a sustained period, for example CPU usage must exceed 75% for 3 out of the past 5 measurement intervals, where each interval is 10 or 20 seconds long.  These are all configurable parameters and we provide some guidelines on how to set them in the paper.</a:t>
            </a:r>
          </a:p>
        </p:txBody>
      </p:sp>
    </p:spTree>
    <p:extLst>
      <p:ext uri="{BB962C8B-B14F-4D97-AF65-F5344CB8AC3E}">
        <p14:creationId xmlns:p14="http://schemas.microsoft.com/office/powerpoint/2010/main" val="2231724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020345E6-8DF4-C442-8B65-D5D22B06A7ED}"/>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69178C7B-C40A-8244-9CBA-23E4AF1E2B19}"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66</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1985" name="Text Box 1">
            <a:extLst>
              <a:ext uri="{FF2B5EF4-FFF2-40B4-BE49-F238E27FC236}">
                <a16:creationId xmlns:a16="http://schemas.microsoft.com/office/drawing/2014/main" id="{58158671-42EF-E446-B03D-1F6B4D3FC434}"/>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1986" name="Text Box 2">
            <a:extLst>
              <a:ext uri="{FF2B5EF4-FFF2-40B4-BE49-F238E27FC236}">
                <a16:creationId xmlns:a16="http://schemas.microsoft.com/office/drawing/2014/main" id="{5C99EE8E-57D1-7C44-991F-052BD075336B}"/>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A hotspot is triggered because the utilization of one or more of the virtual machines running on a server is increasing.  As a result, we need to compute a new resource profile for those virtual machines which tells how much of each resource the VMs need.  We do this by creating a distribution of resource utilizations based on historical data, by default we look at the previous 2 hours to compute the distribution.  We then provision the virtual machine based on the 90</a:t>
            </a:r>
            <a:r>
              <a:rPr lang="en-US" altLang="en-US" baseline="30000"/>
              <a:t>th</a:t>
            </a:r>
            <a:r>
              <a:rPr lang="en-US" altLang="en-US"/>
              <a:t> percentile of the observed utilization.  </a:t>
            </a:r>
          </a:p>
          <a:p>
            <a:endParaRPr lang="en-US" altLang="en-US"/>
          </a:p>
          <a:p>
            <a:r>
              <a:rPr lang="en-US" altLang="en-US"/>
              <a:t>In the graybox scheme, we can sometimes use knowledge about the application to do better than this.  By looking at the incoming requests it may be possible to model the expected resource requirements.  As I’ll show later, this is particularly useful when resource utilization is saturated – in the black-box case you only know that you don’t have enough, but you don’t know how much more of the resource you require.  With an application model you might be able to more accurately predict the requirement.</a:t>
            </a:r>
          </a:p>
        </p:txBody>
      </p:sp>
    </p:spTree>
    <p:extLst>
      <p:ext uri="{BB962C8B-B14F-4D97-AF65-F5344CB8AC3E}">
        <p14:creationId xmlns:p14="http://schemas.microsoft.com/office/powerpoint/2010/main" val="2619394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7E2F6442-5BA9-7B41-AB1B-8962CF8A2827}"/>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BCB4780A-A5D4-6440-9654-18AF387D5232}"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67</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009" name="Text Box 1">
            <a:extLst>
              <a:ext uri="{FF2B5EF4-FFF2-40B4-BE49-F238E27FC236}">
                <a16:creationId xmlns:a16="http://schemas.microsoft.com/office/drawing/2014/main" id="{EF11080E-083F-4240-9715-61E92D41E029}"/>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3010" name="Text Box 2">
            <a:extLst>
              <a:ext uri="{FF2B5EF4-FFF2-40B4-BE49-F238E27FC236}">
                <a16:creationId xmlns:a16="http://schemas.microsoft.com/office/drawing/2014/main" id="{2739F24B-E394-7A48-9E6B-A31D212FC690}"/>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Once we have computed the amount of resources required by each VM, we know need to determine a new placement for them so that they can actually obtain those resources.  The basic idea is that we want to migrate virtual machines from the most overloaded servers to the least loaded servers. We need a metric which captures “load” along multiple resource dimensions.  To do this, we propose the notion of the virtual machine’s volume which is computed as shown here.  CPU, Net and Mem are the total resource utilizations on the server.  The idea is that any server which has very high utilization for one or more resources will have a high Volume.  Further, as utilization approaches saturation, its volume increases even faster.</a:t>
            </a:r>
          </a:p>
          <a:p>
            <a:endParaRPr lang="en-US" altLang="en-US" dirty="0"/>
          </a:p>
          <a:p>
            <a:r>
              <a:rPr lang="en-US" altLang="en-US" dirty="0"/>
              <a:t>We can define Volume for both a physical machine and for a virtual machine in which case CPU, net and ram are the respective utilizations for that VM.  </a:t>
            </a:r>
          </a:p>
          <a:p>
            <a:endParaRPr lang="en-US" altLang="en-US" dirty="0"/>
          </a:p>
          <a:p>
            <a:r>
              <a:rPr lang="en-US" altLang="en-US" dirty="0"/>
              <a:t>The goal of our algorithm then is to take the set of physical servers which are considered to be overloaded based on the hotspot detection module and sort them by the volume metric.  We then take the highest volume physical machine and migrate the virtual machine with the highest Volume/RAM ratio. We have found that the length of a migration is dependent on the amount of memory allocated to the virtual machine, so moving VMs with lower memory footprints incurs less overhead.  The idea is that by using this ratio we are maximizing the amount of load displaced per megabyte of data transferred.  </a:t>
            </a:r>
          </a:p>
        </p:txBody>
      </p:sp>
    </p:spTree>
    <p:extLst>
      <p:ext uri="{BB962C8B-B14F-4D97-AF65-F5344CB8AC3E}">
        <p14:creationId xmlns:p14="http://schemas.microsoft.com/office/powerpoint/2010/main" val="681105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AF38F324-04BC-484F-8A45-87CFDE0C4E5A}"/>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D742A65D-A403-7C4B-91B0-08F2B19EAE43}"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68</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4033" name="Text Box 1">
            <a:extLst>
              <a:ext uri="{FF2B5EF4-FFF2-40B4-BE49-F238E27FC236}">
                <a16:creationId xmlns:a16="http://schemas.microsoft.com/office/drawing/2014/main" id="{B6F2AEB7-3E02-624C-84C4-CACABD2CFD15}"/>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4034" name="Text Box 2">
            <a:extLst>
              <a:ext uri="{FF2B5EF4-FFF2-40B4-BE49-F238E27FC236}">
                <a16:creationId xmlns:a16="http://schemas.microsoft.com/office/drawing/2014/main" id="{A4978165-BD04-2B49-9BF8-519F0FF5F8F4}"/>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First we try to do migrations as I’ve just described, but depending on the current mapping of virtual to physical servers, it may not always be possible to resolve all hotspots with just migrations.  If there are still overloaded physical machines after all migrations have been examined, then we try to swap a VM from a heavily loaded server with one from a lightly loaded server.  Swaps have an extra cost because generally they actually require 3 migrations since an intermediate node must be used to ensure that both VMs aren’t running on one server at a time.</a:t>
            </a:r>
          </a:p>
          <a:p>
            <a:endParaRPr lang="en-US" altLang="en-US"/>
          </a:p>
          <a:p>
            <a:r>
              <a:rPr lang="en-US" altLang="en-US"/>
              <a:t>Also, we never initiate a migration or a swap if the destination of the migration might become overloaded based on our predicted resource utilizations.</a:t>
            </a:r>
          </a:p>
        </p:txBody>
      </p:sp>
    </p:spTree>
    <p:extLst>
      <p:ext uri="{BB962C8B-B14F-4D97-AF65-F5344CB8AC3E}">
        <p14:creationId xmlns:p14="http://schemas.microsoft.com/office/powerpoint/2010/main" val="1743761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F55A6D44-4846-DF43-BAEB-4383AF7CAA86}"/>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BE9D7614-1670-2846-A236-2BDF043894EE}"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69</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4754" name="Text Box 2">
            <a:extLst>
              <a:ext uri="{FF2B5EF4-FFF2-40B4-BE49-F238E27FC236}">
                <a16:creationId xmlns:a16="http://schemas.microsoft.com/office/drawing/2014/main" id="{CE075FF2-1D58-7B41-A9BD-E736601D9CEF}"/>
              </a:ext>
            </a:extLst>
          </p:cNvPr>
          <p:cNvSpPr txBox="1">
            <a:spLocks noGrp="1" noRot="1" noChangeAspect="1" noChangeArrowheads="1" noTextEdit="1"/>
          </p:cNvSpPr>
          <p:nvPr>
            <p:ph type="sldImg"/>
          </p:nvPr>
        </p:nvSpPr>
        <p:spPr>
          <a:xfrm>
            <a:off x="1257300" y="728663"/>
            <a:ext cx="4799013" cy="3598862"/>
          </a:xfrm>
        </p:spPr>
      </p:sp>
      <p:sp>
        <p:nvSpPr>
          <p:cNvPr id="74755" name="Text Box 3">
            <a:extLst>
              <a:ext uri="{FF2B5EF4-FFF2-40B4-BE49-F238E27FC236}">
                <a16:creationId xmlns:a16="http://schemas.microsoft.com/office/drawing/2014/main" id="{C3439312-03B3-0D44-857B-116DB4E10280}"/>
              </a:ext>
            </a:extLst>
          </p:cNvPr>
          <p:cNvSpPr txBox="1">
            <a:spLocks noGrp="1" noChangeArrowheads="1"/>
          </p:cNvSpPr>
          <p:nvPr>
            <p:ph type="body" idx="1"/>
          </p:nvPr>
        </p:nvSpPr>
        <p:spPr>
          <a:xfrm>
            <a:off x="731838" y="4559300"/>
            <a:ext cx="5849937" cy="4321175"/>
          </a:xfrm>
          <a:noFill/>
          <a:ln/>
        </p:spPr>
        <p:txBody>
          <a:bodyPr wrap="none" anchor="ctr"/>
          <a:lstStyle/>
          <a:p>
            <a:endParaRPr lang="en-US" altLang="en-US"/>
          </a:p>
        </p:txBody>
      </p:sp>
    </p:spTree>
    <p:extLst>
      <p:ext uri="{BB962C8B-B14F-4D97-AF65-F5344CB8AC3E}">
        <p14:creationId xmlns:p14="http://schemas.microsoft.com/office/powerpoint/2010/main" val="821908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3CD4ECF8-5FBE-6347-A5CB-131FD9EBAE28}"/>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68DB362C-81B3-5743-BA7D-2B32480122F8}"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70</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5057" name="Text Box 1">
            <a:extLst>
              <a:ext uri="{FF2B5EF4-FFF2-40B4-BE49-F238E27FC236}">
                <a16:creationId xmlns:a16="http://schemas.microsoft.com/office/drawing/2014/main" id="{205ECB3A-E116-0F4E-AC9D-3C9272EC6249}"/>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5058" name="Text Box 2">
            <a:extLst>
              <a:ext uri="{FF2B5EF4-FFF2-40B4-BE49-F238E27FC236}">
                <a16:creationId xmlns:a16="http://schemas.microsoft.com/office/drawing/2014/main" id="{181BB973-C69A-B342-A12C-3A22C57D2113}"/>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We have implemented Sandpiper using the Xen virtualization software and have tested it on a prototype data center composed of twenty Pentium 4 class servers.  We have used a mixture of synthetic PHP applications driven by httperf workloads and some realistic data center applications like RUBiS, which is an ebay-like web application.</a:t>
            </a:r>
          </a:p>
        </p:txBody>
      </p:sp>
    </p:spTree>
    <p:extLst>
      <p:ext uri="{BB962C8B-B14F-4D97-AF65-F5344CB8AC3E}">
        <p14:creationId xmlns:p14="http://schemas.microsoft.com/office/powerpoint/2010/main" val="1251511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FB803EBB-1AB7-4C4D-829B-B531D87F18C9}"/>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AFBBF88E-9C32-E142-BE47-1D2AE2964BC9}"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71</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7105" name="Text Box 1">
            <a:extLst>
              <a:ext uri="{FF2B5EF4-FFF2-40B4-BE49-F238E27FC236}">
                <a16:creationId xmlns:a16="http://schemas.microsoft.com/office/drawing/2014/main" id="{AB5419B8-881A-D340-B488-C3C584715D4C}"/>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7106" name="Text Box 2">
            <a:extLst>
              <a:ext uri="{FF2B5EF4-FFF2-40B4-BE49-F238E27FC236}">
                <a16:creationId xmlns:a16="http://schemas.microsoft.com/office/drawing/2014/main" id="{CC07E8C5-B66E-9B45-933F-57B93D72B37A}"/>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Here we see an example of Sandpiper in action.  There are three physical servers represented by each of the axis, and 5 virtual machines which are each a different color in the graph.  The plot shows the CPU utilization of each virtual machine, and they are stacked so that the top line in each plot is the total utilization for that physical machine. </a:t>
            </a:r>
          </a:p>
          <a:p>
            <a:endParaRPr lang="en-US" altLang="en-US"/>
          </a:p>
          <a:p>
            <a:r>
              <a:rPr lang="en-US" altLang="en-US"/>
              <a:t>You can see that Sandpiper is able to detect 3 different hotspots during the experiment and that it successfully migrates a VM in each case to balance the load.</a:t>
            </a:r>
          </a:p>
        </p:txBody>
      </p:sp>
    </p:spTree>
    <p:extLst>
      <p:ext uri="{BB962C8B-B14F-4D97-AF65-F5344CB8AC3E}">
        <p14:creationId xmlns:p14="http://schemas.microsoft.com/office/powerpoint/2010/main" val="1077252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6E871361-E86D-F640-9D10-075E7B222259}"/>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2260B2A4-03E4-674F-A9FE-1D9A6867AE19}"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72</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8129" name="Text Box 1">
            <a:extLst>
              <a:ext uri="{FF2B5EF4-FFF2-40B4-BE49-F238E27FC236}">
                <a16:creationId xmlns:a16="http://schemas.microsoft.com/office/drawing/2014/main" id="{FFA364A9-0039-1248-996C-4425A08CA042}"/>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48130" name="Text Box 2">
            <a:extLst>
              <a:ext uri="{FF2B5EF4-FFF2-40B4-BE49-F238E27FC236}">
                <a16:creationId xmlns:a16="http://schemas.microsoft.com/office/drawing/2014/main" id="{8FC5F824-1329-3A47-AA44-34DD542D9398}"/>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Here we compare the ability of the black and gray systems to deal with memory hotspots.  The black-box system responds to swapping by increasing the VM’s memory allocation by 32MB.  The gray-box system gets data from the OS and tries to always maintain a buffer of 32MB free at all times.</a:t>
            </a:r>
          </a:p>
          <a:p>
            <a:endParaRPr lang="en-US" altLang="en-US" dirty="0"/>
          </a:p>
          <a:p>
            <a:r>
              <a:rPr lang="en-US" altLang="en-US" dirty="0"/>
              <a:t>We run the </a:t>
            </a:r>
            <a:r>
              <a:rPr lang="en-US" altLang="en-US" dirty="0" err="1"/>
              <a:t>SpecJBB</a:t>
            </a:r>
            <a:r>
              <a:rPr lang="en-US" altLang="en-US" dirty="0"/>
              <a:t> benchmark which is a very memory intensive application.  As the benchmark proceeds it requires increasingly large amounts of memory.  The first plot shows the amount of memory allocated to the VM running the application in each system and you can see that the gray approach generally leads the black approach in allocating memory.  The second plot shows when swapping occurs in the two systems.  Since the black-box system is reactive, there is swapping throughout the experiment.  In the gray-box approach there is only one time when any swapping occurs, and in fact, if the buffer of free memory was increased, the gray-box system could be made to cause no swapping at all.</a:t>
            </a:r>
          </a:p>
          <a:p>
            <a:endParaRPr lang="en-US" altLang="en-US" dirty="0"/>
          </a:p>
          <a:p>
            <a:r>
              <a:rPr lang="en-US" altLang="en-US" dirty="0"/>
              <a:t>This shows one of the benefits of having gray-box data – it allows for proactive resource adjustments which are not always possible with only black-box information.</a:t>
            </a:r>
          </a:p>
        </p:txBody>
      </p:sp>
    </p:spTree>
    <p:extLst>
      <p:ext uri="{BB962C8B-B14F-4D97-AF65-F5344CB8AC3E}">
        <p14:creationId xmlns:p14="http://schemas.microsoft.com/office/powerpoint/2010/main" val="4047224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55CD511C-7228-A04B-B105-D85745850EA8}"/>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35D81569-25C9-294D-A0AF-FDFCB1D6F9C2}"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73</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0177" name="Text Box 1">
            <a:extLst>
              <a:ext uri="{FF2B5EF4-FFF2-40B4-BE49-F238E27FC236}">
                <a16:creationId xmlns:a16="http://schemas.microsoft.com/office/drawing/2014/main" id="{493AB22C-9B0B-F244-953A-A4818A66F5E5}"/>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50178" name="Text Box 2">
            <a:extLst>
              <a:ext uri="{FF2B5EF4-FFF2-40B4-BE49-F238E27FC236}">
                <a16:creationId xmlns:a16="http://schemas.microsoft.com/office/drawing/2014/main" id="{0F01FBBE-8887-0144-9A62-4A6C3F3B31F6}"/>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In this experiment we have a much larger deployment of virtual machines – we use 16 physical servers running a total of 35 virtual machines.  The VMs run a mix of synthetic benchmark applications and RUBiS e-commerce sites.  In this scenario we emulate a large overload scenario where the load on 14 VMs increases enough to overload 6 of the physical machines with a mix of CPU and network hotspots.</a:t>
            </a:r>
          </a:p>
          <a:p>
            <a:endParaRPr lang="en-US" altLang="en-US"/>
          </a:p>
          <a:p>
            <a:r>
              <a:rPr lang="en-US" altLang="en-US"/>
              <a:t>Sandpiper is able to detect these simultaneous hotspots and resolve them through a total of 7 migrations and 2 swaps, taking a bit less than 4 minutes including the detection time.  The plot here shows the number of overloaded servers with Sandpiper running, as well as with a static allocation.  It shows that during the resolution period the overhead caused by migrations can actually make Sandpiper have brief periods where there are more overloaded servers than in the static case, but also that by the 60</a:t>
            </a:r>
            <a:r>
              <a:rPr lang="en-US" altLang="en-US" baseline="30000"/>
              <a:t>th</a:t>
            </a:r>
            <a:r>
              <a:rPr lang="en-US" altLang="en-US"/>
              <a:t> time interval Sandpiper has balanced the load so that no servers are overloaded.  The second chart shows that even during the overload resolution period, despite the brief load spikes due to migration overhead, there are significantly fewer periods spent overloaded.  Particularly, the amount of sustained overload, that is when a physical server spends 3 consecutive intervals overloaded, is significantly reduced.</a:t>
            </a:r>
          </a:p>
        </p:txBody>
      </p:sp>
    </p:spTree>
    <p:extLst>
      <p:ext uri="{BB962C8B-B14F-4D97-AF65-F5344CB8AC3E}">
        <p14:creationId xmlns:p14="http://schemas.microsoft.com/office/powerpoint/2010/main" val="3270872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BF2CA23D-6F7E-E140-AFF7-04BB96D89313}"/>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BB3E995D-E0D0-9C4A-BBB1-8A2713D20C76}"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74</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2225" name="Text Box 1">
            <a:extLst>
              <a:ext uri="{FF2B5EF4-FFF2-40B4-BE49-F238E27FC236}">
                <a16:creationId xmlns:a16="http://schemas.microsoft.com/office/drawing/2014/main" id="{2C3F3873-FF77-C542-8306-CF5CC2D0A58E}"/>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52226" name="Text Box 2">
            <a:extLst>
              <a:ext uri="{FF2B5EF4-FFF2-40B4-BE49-F238E27FC236}">
                <a16:creationId xmlns:a16="http://schemas.microsoft.com/office/drawing/2014/main" id="{921120A0-7580-B144-AECD-6BD1FAC7A492}"/>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dirty="0"/>
              <a:t>Finally, I’ll describe two of the ways which Sandpiper tries to remain stable even during periods of high overload.  In our design we were careful to prevent Sandpiper from initiating migrations which would cause subsequent migrations or could lead to thrashing where a VM keeps being moved from server to server.</a:t>
            </a:r>
          </a:p>
          <a:p>
            <a:endParaRPr lang="en-US" altLang="en-US" dirty="0"/>
          </a:p>
          <a:p>
            <a:r>
              <a:rPr lang="en-US" altLang="en-US" dirty="0"/>
              <a:t>The first step is that we use prediction techniques to extrapolate what the resource usage of a server is likely to be a few minutes in the future.  This means that in the example I show here, if we are trying to select the least loaded physical machine as a destination for a migration, we will pick PM2, since our forecasting data predicts that the load on PM1 is increasing.  We try to be conservative about where we place virtual machines, and we will never initiate a migration if we think the destination might become overloaded as a result.  If the load on all servers is high and there is no viable migration destination, then we don’t start any migrations because the overhead would only make the situation worse.</a:t>
            </a:r>
          </a:p>
          <a:p>
            <a:endParaRPr lang="en-US" altLang="en-US" dirty="0"/>
          </a:p>
          <a:p>
            <a:r>
              <a:rPr lang="en-US" altLang="en-US" dirty="0"/>
              <a:t>We also will only initiate a set of migrations if it will eliminate the hotspot on the source server.  Combined with our previous rule, this means that there is a bounded number of migrations which we will attempt.  The second chart shows a simulation where the number of overloaded servers was varied and the number of migrations which Sandpiper will attempt before giving up is plotted.  You can see that the number of migrations only increases up to a certain point, and that after the average load on all servers passes some threshold, the number of migrations which will be initiated decreases.</a:t>
            </a:r>
          </a:p>
        </p:txBody>
      </p:sp>
    </p:spTree>
    <p:extLst>
      <p:ext uri="{BB962C8B-B14F-4D97-AF65-F5344CB8AC3E}">
        <p14:creationId xmlns:p14="http://schemas.microsoft.com/office/powerpoint/2010/main" val="1248073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2249070D-E0C0-0D43-8182-8A5BB2ABB6CA}"/>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A70DC827-CE39-444C-B9AC-389DF4E630E2}"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75</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4273" name="Text Box 1">
            <a:extLst>
              <a:ext uri="{FF2B5EF4-FFF2-40B4-BE49-F238E27FC236}">
                <a16:creationId xmlns:a16="http://schemas.microsoft.com/office/drawing/2014/main" id="{0476B617-94C7-1941-B5F3-3E7CB7767052}"/>
              </a:ext>
            </a:extLst>
          </p:cNvPr>
          <p:cNvSpPr txBox="1">
            <a:spLocks noChangeArrowheads="1"/>
          </p:cNvSpPr>
          <p:nvPr/>
        </p:nvSpPr>
        <p:spPr bwMode="auto">
          <a:xfrm>
            <a:off x="1290638" y="728663"/>
            <a:ext cx="4732337" cy="35988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54274" name="Text Box 2">
            <a:extLst>
              <a:ext uri="{FF2B5EF4-FFF2-40B4-BE49-F238E27FC236}">
                <a16:creationId xmlns:a16="http://schemas.microsoft.com/office/drawing/2014/main" id="{5CB0BAA0-F76C-D84F-8CA5-387DB1D7BF55}"/>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Before I conclude I want to mention some related systems which are working in this area.  There has been some work on resource management, particularly CPU scheduling, for virtual machines running on a single physical server.</a:t>
            </a:r>
          </a:p>
          <a:p>
            <a:endParaRPr lang="en-US" altLang="en-US"/>
          </a:p>
          <a:p>
            <a:r>
              <a:rPr lang="en-US" altLang="en-US"/>
              <a:t>There is also the Shirako system out of Duke which provides a dynamic resource control plane for grid computing environments where users lease resources from providers.</a:t>
            </a:r>
          </a:p>
          <a:p>
            <a:endParaRPr lang="en-US" altLang="en-US"/>
          </a:p>
          <a:p>
            <a:r>
              <a:rPr lang="en-US" altLang="en-US"/>
              <a:t>VMware has a product called the Distributed Resource Scheduler which uses automated VM migration to ensure that each virtual machine receives the resources which it has been allocated.</a:t>
            </a:r>
          </a:p>
        </p:txBody>
      </p:sp>
    </p:spTree>
    <p:extLst>
      <p:ext uri="{BB962C8B-B14F-4D97-AF65-F5344CB8AC3E}">
        <p14:creationId xmlns:p14="http://schemas.microsoft.com/office/powerpoint/2010/main" val="226321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34A2D34C-F3B1-C341-BABE-E2873865CD8C}"/>
              </a:ext>
            </a:extLst>
          </p:cNvPr>
          <p:cNvSpPr>
            <a:spLocks noGrp="1" noChangeArrowheads="1"/>
          </p:cNvSpPr>
          <p:nvPr>
            <p:ph type="sldNum"/>
          </p:nvPr>
        </p:nvSpPr>
        <p:spPr>
          <a:ln/>
        </p:spPr>
        <p:txBody>
          <a:bodyPr/>
          <a:lstStyle/>
          <a:p>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fld id="{C6866F83-5287-384C-8E0F-85AB05575A88}" type="slidenum">
              <a:rPr kumimoji="0" lang="en-GB" altLang="en-US" sz="13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433388" rtl="0" eaLnBrk="1" fontAlgn="base" latinLnBrk="0" hangingPunct="1">
                <a:lnSpc>
                  <a:spcPct val="93000"/>
                </a:lnSpc>
                <a:spcBef>
                  <a:spcPct val="0"/>
                </a:spcBef>
                <a:spcAft>
                  <a:spcPct val="0"/>
                </a:spcAft>
                <a:buClr>
                  <a:srgbClr val="000000"/>
                </a:buClr>
                <a:buSzPct val="45000"/>
                <a:buFont typeface="Wingdings" pitchFamily="2" charset="2"/>
                <a:buNone/>
                <a:tabLst>
                  <a:tab pos="0" algn="l"/>
                  <a:tab pos="433388" algn="l"/>
                  <a:tab pos="866775" algn="l"/>
                  <a:tab pos="1301750" algn="l"/>
                  <a:tab pos="1735138" algn="l"/>
                  <a:tab pos="2168525" algn="l"/>
                  <a:tab pos="2601913" algn="l"/>
                  <a:tab pos="3036888" algn="l"/>
                  <a:tab pos="3470275" algn="l"/>
                  <a:tab pos="3903663" algn="l"/>
                  <a:tab pos="4337050" algn="l"/>
                  <a:tab pos="4770438" algn="l"/>
                  <a:tab pos="5205413" algn="l"/>
                  <a:tab pos="5638800" algn="l"/>
                  <a:tab pos="6072188" algn="l"/>
                  <a:tab pos="6505575" algn="l"/>
                  <a:tab pos="6940550" algn="l"/>
                  <a:tab pos="7373938" algn="l"/>
                  <a:tab pos="7807325" algn="l"/>
                  <a:tab pos="8240713" algn="l"/>
                  <a:tab pos="8675688" algn="l"/>
                </a:tabLst>
                <a:defRPr/>
              </a:pPr>
              <a:t>76</a:t>
            </a:fld>
            <a:endParaRPr kumimoji="0" lang="en-GB" altLang="en-US" sz="13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3249" name="Text Box 1">
            <a:extLst>
              <a:ext uri="{FF2B5EF4-FFF2-40B4-BE49-F238E27FC236}">
                <a16:creationId xmlns:a16="http://schemas.microsoft.com/office/drawing/2014/main" id="{33B2F383-7393-AE40-AC2C-A44C0E78F0A6}"/>
              </a:ext>
            </a:extLst>
          </p:cNvPr>
          <p:cNvSpPr txBox="1">
            <a:spLocks noChangeArrowheads="1"/>
          </p:cNvSpPr>
          <p:nvPr/>
        </p:nvSpPr>
        <p:spPr bwMode="auto">
          <a:xfrm>
            <a:off x="1290638" y="728663"/>
            <a:ext cx="4733925"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457200" rtl="0" eaLnBrk="1" fontAlgn="base" latinLnBrk="0" hangingPunct="1">
              <a:lnSpc>
                <a:spcPct val="80000"/>
              </a:lnSpc>
              <a:spcBef>
                <a:spcPct val="20000"/>
              </a:spcBef>
              <a:spcAft>
                <a:spcPct val="0"/>
              </a:spcAft>
              <a:buClr>
                <a:srgbClr val="FFFFFF"/>
              </a:buClr>
              <a:buSzPct val="100000"/>
              <a:buFont typeface="Wingdings" pitchFamily="2" charset="2"/>
              <a:buNone/>
              <a:tabLst/>
              <a:defRPr/>
            </a:pPr>
            <a:endParaRPr kumimoji="0" lang="en-US" sz="21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53250" name="Text Box 2">
            <a:extLst>
              <a:ext uri="{FF2B5EF4-FFF2-40B4-BE49-F238E27FC236}">
                <a16:creationId xmlns:a16="http://schemas.microsoft.com/office/drawing/2014/main" id="{0EED9B95-AE20-9846-AD1C-C9DB3C4BBAF3}"/>
              </a:ext>
            </a:extLst>
          </p:cNvPr>
          <p:cNvSpPr txBox="1">
            <a:spLocks noGrp="1" noChangeArrowheads="1"/>
          </p:cNvSpPr>
          <p:nvPr>
            <p:ph type="body"/>
          </p:nvPr>
        </p:nvSpPr>
        <p:spPr bwMode="auto">
          <a:xfrm>
            <a:off x="731838" y="4559300"/>
            <a:ext cx="5849937" cy="43211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6749" tIns="43375" rIns="86749" bIns="43375" anchor="ctr"/>
          <a:lstStyle/>
          <a:p>
            <a:r>
              <a:rPr lang="en-US" altLang="en-US"/>
              <a:t>To summarize this project, we’ve shown that migration is a viable tool for dynamic provisioning.  We’ve demonstrated that even with pretty basic resource utilization information, you can still effectively detect and eliminate hotspots. </a:t>
            </a:r>
          </a:p>
          <a:p>
            <a:endParaRPr lang="en-US" altLang="en-US"/>
          </a:p>
          <a:p>
            <a:r>
              <a:rPr lang="en-US" altLang="en-US"/>
              <a:t>Finally, we’ve shown some of the benefits that you get from having extra inside information.  Mainly that it allows for more proactive memory allocation and also has benefits when a server becomes severely overloaded and utilization becomes saturated.</a:t>
            </a:r>
          </a:p>
        </p:txBody>
      </p:sp>
    </p:spTree>
    <p:extLst>
      <p:ext uri="{BB962C8B-B14F-4D97-AF65-F5344CB8AC3E}">
        <p14:creationId xmlns:p14="http://schemas.microsoft.com/office/powerpoint/2010/main" val="1942862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7.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14" name="標題 13"/>
          <p:cNvSpPr>
            <a:spLocks noGrp="1"/>
          </p:cNvSpPr>
          <p:nvPr>
            <p:ph type="ctrTitle"/>
          </p:nvPr>
        </p:nvSpPr>
        <p:spPr>
          <a:xfrm>
            <a:off x="1432560" y="359898"/>
            <a:ext cx="7406640" cy="1472184"/>
          </a:xfrm>
        </p:spPr>
        <p:txBody>
          <a:bodyPr anchor="b"/>
          <a:lstStyle>
            <a:lvl1pPr algn="l">
              <a:defRPr/>
            </a:lvl1pPr>
            <a:extLst/>
          </a:lstStyle>
          <a:p>
            <a:r>
              <a:rPr kumimoji="0" lang="zh-TW" altLang="en-US"/>
              <a:t>按一下以編輯母片標題樣式</a:t>
            </a:r>
            <a:endParaRPr kumimoji="0" lang="en-US"/>
          </a:p>
        </p:txBody>
      </p:sp>
      <p:sp>
        <p:nvSpPr>
          <p:cNvPr id="22" name="副標題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a:t>按一下以編輯母片副標題樣式</a:t>
            </a:r>
            <a:endParaRPr kumimoji="0" lang="en-US"/>
          </a:p>
        </p:txBody>
      </p:sp>
      <p:sp>
        <p:nvSpPr>
          <p:cNvPr id="7" name="日期版面配置區 6"/>
          <p:cNvSpPr>
            <a:spLocks noGrp="1"/>
          </p:cNvSpPr>
          <p:nvPr>
            <p:ph type="dt" sz="half" idx="10"/>
          </p:nvPr>
        </p:nvSpPr>
        <p:spPr/>
        <p:txBody>
          <a:bodyPr/>
          <a:lstStyle/>
          <a:p>
            <a:fld id="{BC70E605-E35D-4845-A401-4BA9480AF103}" type="datetime1">
              <a:rPr lang="zh-TW" altLang="en-US" smtClean="0"/>
              <a:t>2025/1/23</a:t>
            </a:fld>
            <a:endParaRPr lang="zh-TW" altLang="en-US"/>
          </a:p>
        </p:txBody>
      </p:sp>
      <p:sp>
        <p:nvSpPr>
          <p:cNvPr id="20" name="頁尾版面配置區 19"/>
          <p:cNvSpPr>
            <a:spLocks noGrp="1"/>
          </p:cNvSpPr>
          <p:nvPr>
            <p:ph type="ftr" sz="quarter" idx="11"/>
          </p:nvPr>
        </p:nvSpPr>
        <p:spPr/>
        <p:txBody>
          <a:bodyPr/>
          <a:lstStyle/>
          <a:p>
            <a:endParaRPr lang="zh-TW" altLang="en-US"/>
          </a:p>
        </p:txBody>
      </p: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8" name="橢圓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橢圓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idx="1"/>
          </p:nvPr>
        </p:nvSpPr>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26DF210D-8B55-425D-97C8-E57B7A335A93}" type="datetime1">
              <a:rPr lang="zh-TW" altLang="en-US" smtClean="0"/>
              <a:t>2025/1/23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fld id="{C857FF58-7910-4F19-A4CC-3F2F0F0BFD08}" type="datetime1">
              <a:rPr lang="zh-TW" altLang="en-US" smtClean="0"/>
              <a:t>2025/1/23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橢圓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橢圓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lstStyle/>
          <a:p>
            <a:r>
              <a:rPr kumimoji="0" lang="zh-TW" altLang="en-US"/>
              <a:t>按一下以編輯母片標題樣式</a:t>
            </a:r>
            <a:endParaRPr kumimoji="0" lang="en-US"/>
          </a:p>
        </p:txBody>
      </p:sp>
      <p:sp>
        <p:nvSpPr>
          <p:cNvPr id="3" name="內容版面配置區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149B9FF9-F812-4007-97A4-B39D8CC699DA}" type="datetime1">
              <a:rPr lang="zh-TW" altLang="en-US" smtClean="0"/>
              <a:t>2025/1/23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7" name="日期版面配置區 6"/>
          <p:cNvSpPr>
            <a:spLocks noGrp="1"/>
          </p:cNvSpPr>
          <p:nvPr>
            <p:ph type="dt" sz="half" idx="10"/>
          </p:nvPr>
        </p:nvSpPr>
        <p:spPr/>
        <p:txBody>
          <a:bodyPr/>
          <a:lstStyle/>
          <a:p>
            <a:fld id="{815C3C98-6E17-4216-821E-E54E97A53BC2}" type="datetime1">
              <a:rPr lang="zh-TW" altLang="en-US" smtClean="0"/>
              <a:t>2025/1/23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nchor="ct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1A5B5AEF-5A4A-4678-B3CC-8611811B0398}" type="datetime1">
              <a:rPr lang="zh-TW" altLang="en-US" smtClean="0"/>
              <a:t>2025/1/23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版面配置區 1"/>
          <p:cNvSpPr>
            <a:spLocks noGrp="1"/>
          </p:cNvSpPr>
          <p:nvPr>
            <p:ph type="dt" sz="half" idx="10"/>
          </p:nvPr>
        </p:nvSpPr>
        <p:spPr/>
        <p:txBody>
          <a:bodyPr/>
          <a:lstStyle/>
          <a:p>
            <a:fld id="{EA29D2F4-70C5-4B7B-A9A2-962D6577D3EC}" type="datetime1">
              <a:rPr lang="zh-TW" altLang="en-US" smtClean="0"/>
              <a:t>2025/1/23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CAB07A5F-17BD-47F9-B9E7-ED8C618656F9}" type="datetime1">
              <a:rPr lang="zh-TW" altLang="en-US" smtClean="0"/>
              <a:t>2025/1/23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TW" altLang="en-US"/>
              <a:t>按一下以編輯母片標題樣式</a:t>
            </a:r>
            <a:endParaRPr kumimoji="0" lang="en-US"/>
          </a:p>
        </p:txBody>
      </p:sp>
      <p:sp>
        <p:nvSpPr>
          <p:cNvPr id="5" name="日期版面配置區 4"/>
          <p:cNvSpPr>
            <a:spLocks noGrp="1"/>
          </p:cNvSpPr>
          <p:nvPr>
            <p:ph type="dt" sz="half" idx="10"/>
          </p:nvPr>
        </p:nvSpPr>
        <p:spPr/>
        <p:txBody>
          <a:bodyPr/>
          <a:lstStyle/>
          <a:p>
            <a:fld id="{FDB24830-A960-4C3C-B0AF-15C724EC13C3}" type="datetime1">
              <a:rPr lang="zh-TW" altLang="en-US" smtClean="0"/>
              <a:t>2025/1/23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圖片版面配置區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TW" altLang="en-US"/>
              <a:t>按一下圖示以新增圖片</a:t>
            </a:r>
            <a:endParaRPr kumimoji="0" lang="en-US" dirty="0"/>
          </a:p>
        </p:txBody>
      </p:sp>
      <p:sp>
        <p:nvSpPr>
          <p:cNvPr id="9" name="流程圖: 程序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圖: 程序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字版面配置區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TW" altLang="en-US"/>
              <a:t>按一下以編輯母片文字樣式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2A35B2E7-7A6F-4733-A4E3-CCFBAFEF09B6}" type="datetime1">
              <a:rPr lang="zh-TW" altLang="en-US" smtClean="0"/>
              <a:t>2025/1/23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58000" y="274639"/>
            <a:ext cx="1828800" cy="5851525"/>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1143000" y="274640"/>
            <a:ext cx="5562600" cy="5851525"/>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FA6A7352-1A72-4655-82DB-A39BEEBA54E8}" type="datetime1">
              <a:rPr lang="zh-TW" altLang="en-US" smtClean="0"/>
              <a:t>2025/1/23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892969" y="1151930"/>
            <a:ext cx="7358063" cy="2321719"/>
          </a:xfrm>
          <a:prstGeom prst="rect">
            <a:avLst/>
          </a:prstGeom>
        </p:spPr>
        <p:txBody>
          <a:bodyPr anchor="b"/>
          <a:lstStyle/>
          <a:p>
            <a:r>
              <a:t>Title Text</a:t>
            </a:r>
          </a:p>
        </p:txBody>
      </p:sp>
      <p:sp>
        <p:nvSpPr>
          <p:cNvPr id="12" name="Body Level One…"/>
          <p:cNvSpPr txBox="1">
            <a:spLocks noGrp="1"/>
          </p:cNvSpPr>
          <p:nvPr>
            <p:ph type="body" sz="quarter" idx="1"/>
          </p:nvPr>
        </p:nvSpPr>
        <p:spPr>
          <a:xfrm>
            <a:off x="892969" y="3545086"/>
            <a:ext cx="7358063" cy="794742"/>
          </a:xfrm>
          <a:prstGeom prst="rect">
            <a:avLst/>
          </a:prstGeom>
        </p:spPr>
        <p:txBody>
          <a:bodyPr anchor="t"/>
          <a:lstStyle>
            <a:lvl1pPr marL="0" indent="0" algn="ctr">
              <a:spcBef>
                <a:spcPts val="0"/>
              </a:spcBef>
              <a:buSzTx/>
              <a:buNone/>
              <a:defRPr sz="2601"/>
            </a:lvl1pPr>
            <a:lvl2pPr marL="0" indent="0" algn="ctr">
              <a:spcBef>
                <a:spcPts val="0"/>
              </a:spcBef>
              <a:buSzTx/>
              <a:buNone/>
              <a:defRPr sz="2601"/>
            </a:lvl2pPr>
            <a:lvl3pPr marL="0" indent="0" algn="ctr">
              <a:spcBef>
                <a:spcPts val="0"/>
              </a:spcBef>
              <a:buSzTx/>
              <a:buNone/>
              <a:defRPr sz="2601"/>
            </a:lvl3pPr>
            <a:lvl4pPr marL="0" indent="0" algn="ctr">
              <a:spcBef>
                <a:spcPts val="0"/>
              </a:spcBef>
              <a:buSzTx/>
              <a:buNone/>
              <a:defRPr sz="2601"/>
            </a:lvl4pPr>
            <a:lvl5pPr marL="0" indent="0" algn="ctr">
              <a:spcBef>
                <a:spcPts val="0"/>
              </a:spcBef>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extLst>
      <p:ext uri="{BB962C8B-B14F-4D97-AF65-F5344CB8AC3E}">
        <p14:creationId xmlns:p14="http://schemas.microsoft.com/office/powerpoint/2010/main" val="403339540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143000" y="473273"/>
            <a:ext cx="6858000" cy="4152305"/>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892969" y="4723805"/>
            <a:ext cx="7358063" cy="1000125"/>
          </a:xfrm>
          <a:prstGeom prst="rect">
            <a:avLst/>
          </a:prstGeom>
        </p:spPr>
        <p:txBody>
          <a:bodyPr anchor="b"/>
          <a:lstStyle/>
          <a:p>
            <a:r>
              <a:t>Title Text</a:t>
            </a:r>
          </a:p>
        </p:txBody>
      </p:sp>
      <p:sp>
        <p:nvSpPr>
          <p:cNvPr id="22" name="Body Level One…"/>
          <p:cNvSpPr txBox="1">
            <a:spLocks noGrp="1"/>
          </p:cNvSpPr>
          <p:nvPr>
            <p:ph type="body" sz="quarter" idx="1"/>
          </p:nvPr>
        </p:nvSpPr>
        <p:spPr>
          <a:xfrm>
            <a:off x="892969" y="5732859"/>
            <a:ext cx="7358063" cy="794742"/>
          </a:xfrm>
          <a:prstGeom prst="rect">
            <a:avLst/>
          </a:prstGeom>
        </p:spPr>
        <p:txBody>
          <a:bodyPr anchor="t"/>
          <a:lstStyle>
            <a:lvl1pPr marL="0" indent="0" algn="ctr">
              <a:spcBef>
                <a:spcPts val="0"/>
              </a:spcBef>
              <a:buSzTx/>
              <a:buNone/>
              <a:defRPr sz="2601"/>
            </a:lvl1pPr>
            <a:lvl2pPr marL="0" indent="0" algn="ctr">
              <a:spcBef>
                <a:spcPts val="0"/>
              </a:spcBef>
              <a:buSzTx/>
              <a:buNone/>
              <a:defRPr sz="2601"/>
            </a:lvl2pPr>
            <a:lvl3pPr marL="0" indent="0" algn="ctr">
              <a:spcBef>
                <a:spcPts val="0"/>
              </a:spcBef>
              <a:buSzTx/>
              <a:buNone/>
              <a:defRPr sz="2601"/>
            </a:lvl3pPr>
            <a:lvl4pPr marL="0" indent="0" algn="ctr">
              <a:spcBef>
                <a:spcPts val="0"/>
              </a:spcBef>
              <a:buSzTx/>
              <a:buNone/>
              <a:defRPr sz="2601"/>
            </a:lvl4pPr>
            <a:lvl5pPr marL="0" indent="0" algn="ctr">
              <a:spcBef>
                <a:spcPts val="0"/>
              </a:spcBef>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77510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92969" y="2268141"/>
            <a:ext cx="7358063" cy="2321719"/>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196699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4723805" y="446484"/>
            <a:ext cx="3750469" cy="5777508"/>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669726" y="446484"/>
            <a:ext cx="3750469" cy="2803922"/>
          </a:xfrm>
          <a:prstGeom prst="rect">
            <a:avLst/>
          </a:prstGeom>
        </p:spPr>
        <p:txBody>
          <a:bodyPr anchor="b"/>
          <a:lstStyle>
            <a:lvl1pPr>
              <a:defRPr sz="4219"/>
            </a:lvl1pPr>
          </a:lstStyle>
          <a:p>
            <a:r>
              <a:t>Title Text</a:t>
            </a:r>
          </a:p>
        </p:txBody>
      </p:sp>
      <p:sp>
        <p:nvSpPr>
          <p:cNvPr id="40" name="Body Level One…"/>
          <p:cNvSpPr txBox="1">
            <a:spLocks noGrp="1"/>
          </p:cNvSpPr>
          <p:nvPr>
            <p:ph type="body" sz="quarter" idx="1"/>
          </p:nvPr>
        </p:nvSpPr>
        <p:spPr>
          <a:xfrm>
            <a:off x="669726" y="3321844"/>
            <a:ext cx="3750469" cy="2893219"/>
          </a:xfrm>
          <a:prstGeom prst="rect">
            <a:avLst/>
          </a:prstGeom>
        </p:spPr>
        <p:txBody>
          <a:bodyPr anchor="t"/>
          <a:lstStyle>
            <a:lvl1pPr marL="0" indent="0" algn="ctr">
              <a:spcBef>
                <a:spcPts val="0"/>
              </a:spcBef>
              <a:buSzTx/>
              <a:buNone/>
              <a:defRPr sz="2601"/>
            </a:lvl1pPr>
            <a:lvl2pPr marL="0" indent="0" algn="ctr">
              <a:spcBef>
                <a:spcPts val="0"/>
              </a:spcBef>
              <a:buSzTx/>
              <a:buNone/>
              <a:defRPr sz="2601"/>
            </a:lvl2pPr>
            <a:lvl3pPr marL="0" indent="0" algn="ctr">
              <a:spcBef>
                <a:spcPts val="0"/>
              </a:spcBef>
              <a:buSzTx/>
              <a:buNone/>
              <a:defRPr sz="2601"/>
            </a:lvl3pPr>
            <a:lvl4pPr marL="0" indent="0" algn="ctr">
              <a:spcBef>
                <a:spcPts val="0"/>
              </a:spcBef>
              <a:buSzTx/>
              <a:buNone/>
              <a:defRPr sz="2601"/>
            </a:lvl4pPr>
            <a:lvl5pPr marL="0" indent="0" algn="ctr">
              <a:spcBef>
                <a:spcPts val="0"/>
              </a:spcBef>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9129571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661215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9865376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4723805" y="1821656"/>
            <a:ext cx="3750469" cy="4420195"/>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669726" y="1821656"/>
            <a:ext cx="3750469" cy="4420195"/>
          </a:xfrm>
          <a:prstGeom prst="rect">
            <a:avLst/>
          </a:prstGeom>
        </p:spPr>
        <p:txBody>
          <a:bodyPr/>
          <a:lstStyle>
            <a:lvl1pPr marL="241093" indent="-241093">
              <a:spcBef>
                <a:spcPts val="2250"/>
              </a:spcBef>
              <a:defRPr sz="1969"/>
            </a:lvl1pPr>
            <a:lvl2pPr marL="482186" indent="-241093">
              <a:spcBef>
                <a:spcPts val="2250"/>
              </a:spcBef>
              <a:defRPr sz="1969"/>
            </a:lvl2pPr>
            <a:lvl3pPr marL="723279" indent="-241093">
              <a:spcBef>
                <a:spcPts val="2250"/>
              </a:spcBef>
              <a:defRPr sz="1969"/>
            </a:lvl3pPr>
            <a:lvl4pPr marL="964372" indent="-241093">
              <a:spcBef>
                <a:spcPts val="2250"/>
              </a:spcBef>
              <a:defRPr sz="1969"/>
            </a:lvl4pPr>
            <a:lvl5pPr marL="1205465" indent="-241093">
              <a:spcBef>
                <a:spcPts val="2250"/>
              </a:spcBef>
              <a:defRPr sz="1969"/>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xfrm>
            <a:off x="4449997" y="6536531"/>
            <a:ext cx="294953" cy="275717"/>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55803311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669727" y="892969"/>
            <a:ext cx="7804547" cy="50720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2567059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4723805" y="3580805"/>
            <a:ext cx="3750469" cy="2652117"/>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4723805" y="625078"/>
            <a:ext cx="3750469" cy="2652117"/>
          </a:xfrm>
          <a:prstGeom prst="rect">
            <a:avLst/>
          </a:prstGeom>
        </p:spPr>
        <p:txBody>
          <a:bodyPr lIns="91439" tIns="45719" rIns="91439" bIns="45719" anchor="t">
            <a:noAutofit/>
          </a:bodyPr>
          <a:lstStyle/>
          <a:p>
            <a:endParaRPr/>
          </a:p>
        </p:txBody>
      </p:sp>
      <p:sp>
        <p:nvSpPr>
          <p:cNvPr id="85" name="Image"/>
          <p:cNvSpPr>
            <a:spLocks noGrp="1"/>
          </p:cNvSpPr>
          <p:nvPr>
            <p:ph type="pic" sz="half" idx="15"/>
          </p:nvPr>
        </p:nvSpPr>
        <p:spPr>
          <a:xfrm>
            <a:off x="669726" y="625078"/>
            <a:ext cx="3750469" cy="5607844"/>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1029827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892969" y="4473773"/>
            <a:ext cx="7358063" cy="362215"/>
          </a:xfrm>
          <a:prstGeom prst="rect">
            <a:avLst/>
          </a:prstGeom>
        </p:spPr>
        <p:txBody>
          <a:bodyPr anchor="t">
            <a:spAutoFit/>
          </a:bodyPr>
          <a:lstStyle>
            <a:lvl1pPr marL="0" indent="0" algn="ctr">
              <a:spcBef>
                <a:spcPts val="0"/>
              </a:spcBef>
              <a:buSzTx/>
              <a:buNone/>
              <a:defRPr sz="1687" i="1"/>
            </a:lvl1pPr>
          </a:lstStyle>
          <a:p>
            <a:r>
              <a:t>–Johnny Appleseed</a:t>
            </a:r>
          </a:p>
        </p:txBody>
      </p:sp>
      <p:sp>
        <p:nvSpPr>
          <p:cNvPr id="94" name="“Type a quote here.”"/>
          <p:cNvSpPr txBox="1">
            <a:spLocks noGrp="1"/>
          </p:cNvSpPr>
          <p:nvPr>
            <p:ph type="body" sz="quarter" idx="14"/>
          </p:nvPr>
        </p:nvSpPr>
        <p:spPr>
          <a:xfrm>
            <a:off x="892969" y="2979431"/>
            <a:ext cx="7358063" cy="470513"/>
          </a:xfrm>
          <a:prstGeom prst="rect">
            <a:avLst/>
          </a:prstGeom>
        </p:spPr>
        <p:txBody>
          <a:bodyPr>
            <a:spAutoFit/>
          </a:bodyPr>
          <a:lstStyle>
            <a:lvl1pPr marL="0" indent="0" algn="ctr">
              <a:spcBef>
                <a:spcPts val="0"/>
              </a:spcBef>
              <a:buSzTx/>
              <a:buNone/>
              <a:defRPr sz="2391">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961114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9144000" cy="6858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95974066"/>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4297830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457200" y="92076"/>
            <a:ext cx="8229601" cy="1508124"/>
          </a:xfrm>
          <a:prstGeom prst="rect">
            <a:avLst/>
          </a:prstGeom>
        </p:spPr>
        <p:txBody>
          <a:bodyPr lIns="65023" tIns="65023" rIns="65023" bIns="65023"/>
          <a:lstStyle>
            <a:lvl1pPr defTabSz="914367">
              <a:defRPr sz="4359">
                <a:latin typeface="Calibri"/>
                <a:ea typeface="Calibri"/>
                <a:cs typeface="Calibri"/>
                <a:sym typeface="Calibri"/>
              </a:defRPr>
            </a:lvl1pPr>
          </a:lstStyle>
          <a:p>
            <a:r>
              <a:t>Title Text</a:t>
            </a:r>
          </a:p>
        </p:txBody>
      </p:sp>
      <p:sp>
        <p:nvSpPr>
          <p:cNvPr id="118" name="Body Level One…"/>
          <p:cNvSpPr txBox="1">
            <a:spLocks noGrp="1"/>
          </p:cNvSpPr>
          <p:nvPr>
            <p:ph type="body" idx="1"/>
          </p:nvPr>
        </p:nvSpPr>
        <p:spPr>
          <a:xfrm>
            <a:off x="457200" y="1600200"/>
            <a:ext cx="8229601" cy="5257801"/>
          </a:xfrm>
          <a:prstGeom prst="rect">
            <a:avLst/>
          </a:prstGeom>
        </p:spPr>
        <p:txBody>
          <a:bodyPr lIns="65023" tIns="65023" rIns="65023" bIns="65023" anchor="t"/>
          <a:lstStyle>
            <a:lvl1pPr marL="331503" indent="-331503" defTabSz="914367">
              <a:spcBef>
                <a:spcPts val="703"/>
              </a:spcBef>
              <a:buSzPct val="100000"/>
              <a:buFont typeface="Arial"/>
              <a:defRPr sz="3094">
                <a:latin typeface="Calibri"/>
                <a:ea typeface="Calibri"/>
                <a:cs typeface="Calibri"/>
                <a:sym typeface="Calibri"/>
              </a:defRPr>
            </a:lvl1pPr>
            <a:lvl2pPr marL="637174" indent="-315717" defTabSz="914367">
              <a:spcBef>
                <a:spcPts val="703"/>
              </a:spcBef>
              <a:buSzPct val="100000"/>
              <a:buFont typeface="Arial"/>
              <a:buChar char="–"/>
              <a:defRPr sz="3094">
                <a:latin typeface="Calibri"/>
                <a:ea typeface="Calibri"/>
                <a:cs typeface="Calibri"/>
                <a:sym typeface="Calibri"/>
              </a:defRPr>
            </a:lvl2pPr>
            <a:lvl3pPr indent="-294669" defTabSz="914367">
              <a:spcBef>
                <a:spcPts val="703"/>
              </a:spcBef>
              <a:buSzPct val="100000"/>
              <a:buFont typeface="Arial"/>
              <a:defRPr sz="3094">
                <a:latin typeface="Calibri"/>
                <a:ea typeface="Calibri"/>
                <a:cs typeface="Calibri"/>
                <a:sym typeface="Calibri"/>
              </a:defRPr>
            </a:lvl3pPr>
            <a:lvl4pPr marL="1317975" indent="-353603" defTabSz="914367">
              <a:spcBef>
                <a:spcPts val="703"/>
              </a:spcBef>
              <a:buSzPct val="100000"/>
              <a:buFont typeface="Arial"/>
              <a:buChar char="–"/>
              <a:defRPr sz="3094">
                <a:latin typeface="Calibri"/>
                <a:ea typeface="Calibri"/>
                <a:cs typeface="Calibri"/>
                <a:sym typeface="Calibri"/>
              </a:defRPr>
            </a:lvl4pPr>
            <a:lvl5pPr marL="1639432" indent="-353603" defTabSz="914367">
              <a:spcBef>
                <a:spcPts val="703"/>
              </a:spcBef>
              <a:buSzPct val="100000"/>
              <a:buFont typeface="Arial"/>
              <a:buChar char="»"/>
              <a:defRPr sz="3094">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7010400" y="6425820"/>
            <a:ext cx="2133601" cy="499237"/>
          </a:xfrm>
          <a:prstGeom prst="rect">
            <a:avLst/>
          </a:prstGeom>
          <a:solidFill>
            <a:srgbClr val="FFFFFF"/>
          </a:solidFill>
        </p:spPr>
        <p:txBody>
          <a:bodyPr wrap="square" lIns="65023" tIns="65023" rIns="65023" bIns="65023" anchor="ctr"/>
          <a:lstStyle>
            <a:lvl1pPr algn="r" defTabSz="914367">
              <a:defRPr sz="2391">
                <a:solidFill>
                  <a:srgbClr val="1F497D"/>
                </a:solidFill>
                <a:latin typeface="Calibri"/>
                <a:ea typeface="Calibri"/>
                <a:cs typeface="Calibri"/>
                <a:sym typeface="Calibri"/>
              </a:defRPr>
            </a:lvl1pPr>
          </a:lstStyle>
          <a:p>
            <a:fld id="{86CB4B4D-7CA3-9044-876B-883B54F8677D}" type="slidenum">
              <a:t>‹#›</a:t>
            </a:fld>
            <a:endParaRPr/>
          </a:p>
        </p:txBody>
      </p:sp>
    </p:spTree>
    <p:extLst>
      <p:ext uri="{BB962C8B-B14F-4D97-AF65-F5344CB8AC3E}">
        <p14:creationId xmlns:p14="http://schemas.microsoft.com/office/powerpoint/2010/main" val="1399295265"/>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26" name="Title Text"/>
          <p:cNvSpPr txBox="1">
            <a:spLocks noGrp="1"/>
          </p:cNvSpPr>
          <p:nvPr>
            <p:ph type="title"/>
          </p:nvPr>
        </p:nvSpPr>
        <p:spPr>
          <a:xfrm>
            <a:off x="457200" y="92074"/>
            <a:ext cx="8229601" cy="1508126"/>
          </a:xfrm>
          <a:prstGeom prst="rect">
            <a:avLst/>
          </a:prstGeom>
        </p:spPr>
        <p:txBody>
          <a:bodyPr lIns="65022" tIns="65022" rIns="65022" bIns="65022"/>
          <a:lstStyle>
            <a:lvl1pPr defTabSz="914367">
              <a:defRPr sz="4359">
                <a:latin typeface="Arial"/>
                <a:ea typeface="Arial"/>
                <a:cs typeface="Arial"/>
                <a:sym typeface="Arial"/>
              </a:defRPr>
            </a:lvl1pPr>
          </a:lstStyle>
          <a:p>
            <a:r>
              <a:t>Title Text</a:t>
            </a:r>
          </a:p>
        </p:txBody>
      </p:sp>
      <p:sp>
        <p:nvSpPr>
          <p:cNvPr id="127" name="Body Level One…"/>
          <p:cNvSpPr txBox="1">
            <a:spLocks noGrp="1"/>
          </p:cNvSpPr>
          <p:nvPr>
            <p:ph type="body" idx="1"/>
          </p:nvPr>
        </p:nvSpPr>
        <p:spPr>
          <a:xfrm>
            <a:off x="457200" y="1600200"/>
            <a:ext cx="8229601" cy="5257801"/>
          </a:xfrm>
          <a:prstGeom prst="rect">
            <a:avLst/>
          </a:prstGeom>
        </p:spPr>
        <p:txBody>
          <a:bodyPr lIns="65022" tIns="65022" rIns="65022" bIns="65022" anchor="t"/>
          <a:lstStyle>
            <a:lvl1pPr marL="331503" indent="-331503" defTabSz="914367">
              <a:spcBef>
                <a:spcPts val="633"/>
              </a:spcBef>
              <a:buSzPct val="100000"/>
              <a:buChar char="»"/>
              <a:defRPr sz="3094">
                <a:latin typeface="Arial"/>
                <a:ea typeface="Arial"/>
                <a:cs typeface="Arial"/>
                <a:sym typeface="Arial"/>
              </a:defRPr>
            </a:lvl1pPr>
            <a:lvl2pPr marL="637174" indent="-315717" defTabSz="914367">
              <a:spcBef>
                <a:spcPts val="633"/>
              </a:spcBef>
              <a:buSzPct val="100000"/>
              <a:buChar char="–"/>
              <a:defRPr sz="3094">
                <a:latin typeface="Arial"/>
                <a:ea typeface="Arial"/>
                <a:cs typeface="Arial"/>
                <a:sym typeface="Arial"/>
              </a:defRPr>
            </a:lvl2pPr>
            <a:lvl3pPr indent="-294669" defTabSz="914367">
              <a:spcBef>
                <a:spcPts val="633"/>
              </a:spcBef>
              <a:buSzPct val="100000"/>
              <a:defRPr sz="3094">
                <a:latin typeface="Arial"/>
                <a:ea typeface="Arial"/>
                <a:cs typeface="Arial"/>
                <a:sym typeface="Arial"/>
              </a:defRPr>
            </a:lvl3pPr>
            <a:lvl4pPr marL="1317975" indent="-353603" defTabSz="914367">
              <a:spcBef>
                <a:spcPts val="633"/>
              </a:spcBef>
              <a:buSzPct val="100000"/>
              <a:buChar char="–"/>
              <a:defRPr sz="3094">
                <a:latin typeface="Arial"/>
                <a:ea typeface="Arial"/>
                <a:cs typeface="Arial"/>
                <a:sym typeface="Arial"/>
              </a:defRPr>
            </a:lvl4pPr>
            <a:lvl5pPr marL="1678722" indent="-392892" defTabSz="914367">
              <a:spcBef>
                <a:spcPts val="633"/>
              </a:spcBef>
              <a:buSzPct val="100000"/>
              <a:buChar char="»"/>
              <a:defRPr sz="3094">
                <a:latin typeface="Arial"/>
                <a:ea typeface="Arial"/>
                <a:cs typeface="Arial"/>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28" name="Slide Number"/>
          <p:cNvSpPr txBox="1">
            <a:spLocks noGrp="1"/>
          </p:cNvSpPr>
          <p:nvPr>
            <p:ph type="sldNum" sz="quarter" idx="2"/>
          </p:nvPr>
        </p:nvSpPr>
        <p:spPr>
          <a:xfrm>
            <a:off x="8356714" y="6245224"/>
            <a:ext cx="330087" cy="326111"/>
          </a:xfrm>
          <a:prstGeom prst="rect">
            <a:avLst/>
          </a:prstGeom>
        </p:spPr>
        <p:txBody>
          <a:bodyPr lIns="65022" tIns="65022" rIns="65022" bIns="65022"/>
          <a:lstStyle>
            <a:lvl1pPr algn="r" defTabSz="914367">
              <a:defRPr sz="1266">
                <a:latin typeface="Arial"/>
                <a:ea typeface="Arial"/>
                <a:cs typeface="Arial"/>
                <a:sym typeface="Arial"/>
              </a:defRPr>
            </a:lvl1pPr>
          </a:lstStyle>
          <a:p>
            <a:fld id="{86CB4B4D-7CA3-9044-876B-883B54F8677D}" type="slidenum">
              <a:t>‹#›</a:t>
            </a:fld>
            <a:endParaRPr/>
          </a:p>
        </p:txBody>
      </p:sp>
    </p:spTree>
    <p:extLst>
      <p:ext uri="{BB962C8B-B14F-4D97-AF65-F5344CB8AC3E}">
        <p14:creationId xmlns:p14="http://schemas.microsoft.com/office/powerpoint/2010/main" val="288739518"/>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8745A5A-BE81-ED44-B484-48DA358F384D}"/>
              </a:ext>
            </a:extLst>
          </p:cNvPr>
          <p:cNvSpPr>
            <a:spLocks noChangeArrowheads="1"/>
          </p:cNvSpPr>
          <p:nvPr/>
        </p:nvSpPr>
        <p:spPr bwMode="auto">
          <a:xfrm>
            <a:off x="0" y="6562770"/>
            <a:ext cx="9144000" cy="319714"/>
          </a:xfrm>
          <a:prstGeom prst="rect">
            <a:avLst/>
          </a:prstGeom>
          <a:gradFill rotWithShape="0">
            <a:gsLst>
              <a:gs pos="0">
                <a:srgbClr val="000000">
                  <a:alpha val="55000"/>
                </a:srgbClr>
              </a:gs>
              <a:gs pos="100000">
                <a:srgbClr val="FF0000">
                  <a:alpha val="35001"/>
                </a:srgb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33"/>
          </a:p>
        </p:txBody>
      </p:sp>
      <p:sp>
        <p:nvSpPr>
          <p:cNvPr id="58371" name="Rectangle 3">
            <a:extLst>
              <a:ext uri="{FF2B5EF4-FFF2-40B4-BE49-F238E27FC236}">
                <a16:creationId xmlns:a16="http://schemas.microsoft.com/office/drawing/2014/main" id="{E516E0F6-35FF-BA42-950D-726C4D5BF358}"/>
              </a:ext>
            </a:extLst>
          </p:cNvPr>
          <p:cNvSpPr>
            <a:spLocks noGrp="1" noChangeArrowheads="1"/>
          </p:cNvSpPr>
          <p:nvPr>
            <p:ph type="ctrTitle"/>
          </p:nvPr>
        </p:nvSpPr>
        <p:spPr>
          <a:xfrm>
            <a:off x="685440" y="2131424"/>
            <a:ext cx="7773120" cy="1468954"/>
          </a:xfrm>
        </p:spPr>
        <p:txBody>
          <a:bodyPr lIns="100704" tIns="50349" rIns="100704" bIns="50349" anchorCtr="1"/>
          <a:lstStyle>
            <a:lvl1pPr algn="ctr">
              <a:defRPr sz="3628" i="1">
                <a:solidFill>
                  <a:srgbClr val="881C1C"/>
                </a:solidFill>
              </a:defRPr>
            </a:lvl1pPr>
          </a:lstStyle>
          <a:p>
            <a:pPr lvl="0"/>
            <a:r>
              <a:rPr lang="en-US" altLang="en-US" noProof="0"/>
              <a:t>Click to edit Master title style</a:t>
            </a:r>
          </a:p>
        </p:txBody>
      </p:sp>
      <p:sp>
        <p:nvSpPr>
          <p:cNvPr id="58372" name="Rectangle 4">
            <a:extLst>
              <a:ext uri="{FF2B5EF4-FFF2-40B4-BE49-F238E27FC236}">
                <a16:creationId xmlns:a16="http://schemas.microsoft.com/office/drawing/2014/main" id="{51376F17-9254-0D4E-82C5-8823EE0227F0}"/>
              </a:ext>
            </a:extLst>
          </p:cNvPr>
          <p:cNvSpPr>
            <a:spLocks noGrp="1" noChangeArrowheads="1"/>
          </p:cNvSpPr>
          <p:nvPr>
            <p:ph type="subTitle" idx="1"/>
          </p:nvPr>
        </p:nvSpPr>
        <p:spPr>
          <a:xfrm>
            <a:off x="1372321" y="3885528"/>
            <a:ext cx="6400800" cy="1752664"/>
          </a:xfrm>
        </p:spPr>
        <p:txBody>
          <a:bodyPr lIns="100704" tIns="50349" rIns="100704" bIns="50349"/>
          <a:lstStyle>
            <a:lvl1pPr marL="0" indent="0" algn="ctr">
              <a:buFont typeface="Wingdings" pitchFamily="2" charset="2"/>
              <a:buNone/>
              <a:defRPr sz="2358"/>
            </a:lvl1pPr>
          </a:lstStyle>
          <a:p>
            <a:pPr lvl="0"/>
            <a:r>
              <a:rPr lang="en-US" altLang="en-US" noProof="0"/>
              <a:t>Click to edit Master subtitle style</a:t>
            </a:r>
          </a:p>
        </p:txBody>
      </p:sp>
      <p:sp>
        <p:nvSpPr>
          <p:cNvPr id="58373" name="Text Box 5">
            <a:extLst>
              <a:ext uri="{FF2B5EF4-FFF2-40B4-BE49-F238E27FC236}">
                <a16:creationId xmlns:a16="http://schemas.microsoft.com/office/drawing/2014/main" id="{7DD215FE-DA84-5D4B-A1A7-0A7C45358836}"/>
              </a:ext>
            </a:extLst>
          </p:cNvPr>
          <p:cNvSpPr txBox="1">
            <a:spLocks noChangeArrowheads="1"/>
          </p:cNvSpPr>
          <p:nvPr/>
        </p:nvSpPr>
        <p:spPr bwMode="auto">
          <a:xfrm>
            <a:off x="0" y="6564209"/>
            <a:ext cx="9227520" cy="296344"/>
          </a:xfrm>
          <a:prstGeom prst="rect">
            <a:avLst/>
          </a:prstGeom>
          <a:gradFill rotWithShape="1">
            <a:gsLst>
              <a:gs pos="0">
                <a:srgbClr val="760000">
                  <a:alpha val="39999"/>
                </a:srgbClr>
              </a:gs>
              <a:gs pos="100000">
                <a:srgbClr val="FF0000">
                  <a:alpha val="39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930" tIns="49965" rIns="99930" bIns="49965">
            <a:spAutoFit/>
          </a:bodyPr>
          <a:lstStyle>
            <a:lvl1pPr algn="l" defTabSz="1101725">
              <a:lnSpc>
                <a:spcPct val="81000"/>
              </a:lnSpc>
              <a:spcBef>
                <a:spcPct val="0"/>
              </a:spcBef>
              <a:buClr>
                <a:srgbClr val="000000"/>
              </a:buClr>
              <a:buSzPct val="45000"/>
              <a:defRPr>
                <a:solidFill>
                  <a:srgbClr val="000000"/>
                </a:solidFill>
                <a:latin typeface="Arial" panose="020B0604020202020204" pitchFamily="34" charset="0"/>
              </a:defRPr>
            </a:lvl1pPr>
            <a:lvl2pPr marL="550863" algn="l" defTabSz="1101725">
              <a:lnSpc>
                <a:spcPct val="81000"/>
              </a:lnSpc>
              <a:spcBef>
                <a:spcPct val="0"/>
              </a:spcBef>
              <a:buClr>
                <a:srgbClr val="000000"/>
              </a:buClr>
              <a:buSzPct val="45000"/>
              <a:defRPr>
                <a:solidFill>
                  <a:srgbClr val="000000"/>
                </a:solidFill>
                <a:latin typeface="Arial" panose="020B0604020202020204" pitchFamily="34" charset="0"/>
              </a:defRPr>
            </a:lvl2pPr>
            <a:lvl3pPr marL="1101725" algn="l" defTabSz="1101725">
              <a:lnSpc>
                <a:spcPct val="81000"/>
              </a:lnSpc>
              <a:spcBef>
                <a:spcPct val="0"/>
              </a:spcBef>
              <a:buClr>
                <a:srgbClr val="000000"/>
              </a:buClr>
              <a:buSzPct val="45000"/>
              <a:defRPr>
                <a:solidFill>
                  <a:srgbClr val="000000"/>
                </a:solidFill>
                <a:latin typeface="Arial" panose="020B0604020202020204" pitchFamily="34" charset="0"/>
              </a:defRPr>
            </a:lvl3pPr>
            <a:lvl4pPr marL="1654175" algn="l" defTabSz="1101725">
              <a:lnSpc>
                <a:spcPct val="81000"/>
              </a:lnSpc>
              <a:spcBef>
                <a:spcPct val="0"/>
              </a:spcBef>
              <a:buClr>
                <a:srgbClr val="000000"/>
              </a:buClr>
              <a:buSzPct val="45000"/>
              <a:defRPr>
                <a:solidFill>
                  <a:srgbClr val="000000"/>
                </a:solidFill>
                <a:latin typeface="Arial" panose="020B0604020202020204" pitchFamily="34" charset="0"/>
              </a:defRPr>
            </a:lvl4pPr>
            <a:lvl5pPr marL="2205038" algn="l" defTabSz="1101725">
              <a:lnSpc>
                <a:spcPct val="81000"/>
              </a:lnSpc>
              <a:spcBef>
                <a:spcPct val="0"/>
              </a:spcBef>
              <a:buClr>
                <a:srgbClr val="000000"/>
              </a:buClr>
              <a:buSzPct val="45000"/>
              <a:defRPr>
                <a:solidFill>
                  <a:srgbClr val="000000"/>
                </a:solidFill>
                <a:latin typeface="Arial" panose="020B0604020202020204" pitchFamily="34" charset="0"/>
              </a:defRPr>
            </a:lvl5pPr>
            <a:lvl6pPr marL="26622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31194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35766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40338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a:lnSpc>
                <a:spcPct val="100000"/>
              </a:lnSpc>
              <a:spcBef>
                <a:spcPct val="50000"/>
              </a:spcBef>
              <a:buClrTx/>
              <a:buSzTx/>
              <a:buFontTx/>
              <a:buNone/>
            </a:pPr>
            <a:r>
              <a:rPr lang="en-US" altLang="en-US" sz="1270">
                <a:solidFill>
                  <a:schemeClr val="bg1"/>
                </a:solidFill>
                <a:effectLst>
                  <a:outerShdw blurRad="38100" dist="38100" dir="2700000" algn="tl">
                    <a:srgbClr val="000000"/>
                  </a:outerShdw>
                </a:effectLst>
                <a:latin typeface="Frutiger Linotype" pitchFamily="34" charset="0"/>
              </a:rPr>
              <a:t>U</a:t>
            </a:r>
            <a:r>
              <a:rPr lang="en-US" altLang="en-US" sz="1089">
                <a:solidFill>
                  <a:schemeClr val="bg1"/>
                </a:solidFill>
                <a:effectLst>
                  <a:outerShdw blurRad="38100" dist="38100" dir="2700000" algn="tl">
                    <a:srgbClr val="000000"/>
                  </a:outerShdw>
                </a:effectLst>
                <a:latin typeface="Frutiger Linotype" pitchFamily="34" charset="0"/>
              </a:rPr>
              <a:t>NIVERSITY OF </a:t>
            </a:r>
            <a:r>
              <a:rPr lang="en-US" altLang="en-US" sz="1270">
                <a:solidFill>
                  <a:schemeClr val="bg1"/>
                </a:solidFill>
                <a:effectLst>
                  <a:outerShdw blurRad="38100" dist="38100" dir="2700000" algn="tl">
                    <a:srgbClr val="000000"/>
                  </a:outerShdw>
                </a:effectLst>
                <a:latin typeface="Frutiger Linotype" pitchFamily="34" charset="0"/>
              </a:rPr>
              <a:t>M</a:t>
            </a:r>
            <a:r>
              <a:rPr lang="en-US" altLang="en-US" sz="1089">
                <a:solidFill>
                  <a:schemeClr val="bg1"/>
                </a:solidFill>
                <a:effectLst>
                  <a:outerShdw blurRad="38100" dist="38100" dir="2700000" algn="tl">
                    <a:srgbClr val="000000"/>
                  </a:outerShdw>
                </a:effectLst>
                <a:latin typeface="Frutiger Linotype" pitchFamily="34" charset="0"/>
              </a:rPr>
              <a:t>ASSACHUSETTS</a:t>
            </a:r>
            <a:r>
              <a:rPr lang="en-US" altLang="en-US" sz="1270">
                <a:solidFill>
                  <a:schemeClr val="bg1"/>
                </a:solidFill>
                <a:effectLst>
                  <a:outerShdw blurRad="38100" dist="38100" dir="2700000" algn="tl">
                    <a:srgbClr val="000000"/>
                  </a:outerShdw>
                </a:effectLst>
                <a:latin typeface="Frutiger Linotype" pitchFamily="34" charset="0"/>
              </a:rPr>
              <a:t>, A</a:t>
            </a:r>
            <a:r>
              <a:rPr lang="en-US" altLang="en-US" sz="1089">
                <a:solidFill>
                  <a:schemeClr val="bg1"/>
                </a:solidFill>
                <a:effectLst>
                  <a:outerShdw blurRad="38100" dist="38100" dir="2700000" algn="tl">
                    <a:srgbClr val="000000"/>
                  </a:outerShdw>
                </a:effectLst>
                <a:latin typeface="Frutiger Linotype" pitchFamily="34" charset="0"/>
              </a:rPr>
              <a:t>MHERST  • </a:t>
            </a:r>
            <a:r>
              <a:rPr lang="en-US" altLang="en-US" sz="1270">
                <a:solidFill>
                  <a:schemeClr val="bg1"/>
                </a:solidFill>
                <a:effectLst>
                  <a:outerShdw blurRad="38100" dist="38100" dir="2700000" algn="tl">
                    <a:srgbClr val="000000"/>
                  </a:outerShdw>
                </a:effectLst>
                <a:latin typeface="Frutiger Linotype" pitchFamily="34" charset="0"/>
              </a:rPr>
              <a:t> Department of Computer Science</a:t>
            </a:r>
          </a:p>
        </p:txBody>
      </p:sp>
      <p:pic>
        <p:nvPicPr>
          <p:cNvPr id="58374" name="Picture 6" descr="newseal200">
            <a:extLst>
              <a:ext uri="{FF2B5EF4-FFF2-40B4-BE49-F238E27FC236}">
                <a16:creationId xmlns:a16="http://schemas.microsoft.com/office/drawing/2014/main" id="{9B0C3A66-3B4E-6B4A-B6E6-6561373455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0" y="6205612"/>
            <a:ext cx="675360" cy="652388"/>
          </a:xfrm>
          <a:prstGeom prst="rect">
            <a:avLst/>
          </a:prstGeom>
          <a:noFill/>
          <a:extLst>
            <a:ext uri="{909E8E84-426E-40DD-AFC4-6F175D3DCCD1}">
              <a14:hiddenFill xmlns:a14="http://schemas.microsoft.com/office/drawing/2010/main">
                <a:solidFill>
                  <a:srgbClr val="FFFFFF"/>
                </a:solidFill>
              </a14:hiddenFill>
            </a:ext>
          </a:extLst>
        </p:spPr>
      </p:pic>
      <p:pic>
        <p:nvPicPr>
          <p:cNvPr id="58375" name="Picture 7">
            <a:extLst>
              <a:ext uri="{FF2B5EF4-FFF2-40B4-BE49-F238E27FC236}">
                <a16:creationId xmlns:a16="http://schemas.microsoft.com/office/drawing/2014/main" id="{3A784C55-9C4D-3548-8A30-2FB81F498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52389"/>
          </a:xfrm>
          <a:prstGeom prst="rect">
            <a:avLst/>
          </a:prstGeom>
          <a:noFill/>
          <a:extLst>
            <a:ext uri="{909E8E84-426E-40DD-AFC4-6F175D3DCCD1}">
              <a14:hiddenFill xmlns:a14="http://schemas.microsoft.com/office/drawing/2010/main">
                <a:solidFill>
                  <a:srgbClr val="FFFFFF"/>
                </a:solidFill>
              </a14:hiddenFill>
            </a:ext>
          </a:extLst>
        </p:spPr>
      </p:pic>
      <p:pic>
        <p:nvPicPr>
          <p:cNvPr id="58376" name="Picture 8">
            <a:extLst>
              <a:ext uri="{FF2B5EF4-FFF2-40B4-BE49-F238E27FC236}">
                <a16:creationId xmlns:a16="http://schemas.microsoft.com/office/drawing/2014/main" id="{657D99A5-7101-E646-94DF-46754B37BA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001" y="164177"/>
            <a:ext cx="3049920" cy="432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7676"/>
      </p:ext>
    </p:extLst>
  </p:cSld>
  <p:clrMapOvr>
    <a:masterClrMapping/>
  </p:clrMapOvr>
  <p:transition spd="med">
    <p:fade thruBlk="1"/>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FCF3A-BDAB-B84F-AD5E-7E3F0CD2E4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95708B-79E1-194C-82A4-C71B0CADE09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5DB76F68-C844-544A-AC22-6BEA5D928902}"/>
              </a:ext>
            </a:extLst>
          </p:cNvPr>
          <p:cNvSpPr>
            <a:spLocks noGrp="1"/>
          </p:cNvSpPr>
          <p:nvPr>
            <p:ph type="sldNum" sz="quarter" idx="10"/>
          </p:nvPr>
        </p:nvSpPr>
        <p:spPr/>
        <p:txBody>
          <a:bodyPr/>
          <a:lstStyle>
            <a:lvl1pPr>
              <a:defRPr/>
            </a:lvl1pPr>
          </a:lstStyle>
          <a:p>
            <a:fld id="{C1D37554-30EA-1643-AC31-45B37CF01164}" type="slidenum">
              <a:rPr lang="en-US" altLang="en-US"/>
              <a:pPr/>
              <a:t>‹#›</a:t>
            </a:fld>
            <a:endParaRPr lang="en-US" altLang="en-US"/>
          </a:p>
        </p:txBody>
      </p:sp>
    </p:spTree>
    <p:extLst>
      <p:ext uri="{BB962C8B-B14F-4D97-AF65-F5344CB8AC3E}">
        <p14:creationId xmlns:p14="http://schemas.microsoft.com/office/powerpoint/2010/main" val="2096824474"/>
      </p:ext>
    </p:extLst>
  </p:cSld>
  <p:clrMapOvr>
    <a:masterClrMapping/>
  </p:clrMapOvr>
  <p:transition spd="med">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1568-300A-D64A-8486-0DCFDA908916}"/>
              </a:ext>
            </a:extLst>
          </p:cNvPr>
          <p:cNvSpPr>
            <a:spLocks noGrp="1"/>
          </p:cNvSpPr>
          <p:nvPr>
            <p:ph type="title"/>
          </p:nvPr>
        </p:nvSpPr>
        <p:spPr>
          <a:xfrm>
            <a:off x="623521" y="1709460"/>
            <a:ext cx="7886880" cy="2852939"/>
          </a:xfrm>
        </p:spPr>
        <p:txBody>
          <a:bodyPr anchor="b"/>
          <a:lstStyle>
            <a:lvl1pPr>
              <a:defRPr sz="5443"/>
            </a:lvl1pPr>
          </a:lstStyle>
          <a:p>
            <a:r>
              <a:rPr lang="en-US"/>
              <a:t>Click to edit Master title style</a:t>
            </a:r>
          </a:p>
        </p:txBody>
      </p:sp>
      <p:sp>
        <p:nvSpPr>
          <p:cNvPr id="3" name="Text Placeholder 2">
            <a:extLst>
              <a:ext uri="{FF2B5EF4-FFF2-40B4-BE49-F238E27FC236}">
                <a16:creationId xmlns:a16="http://schemas.microsoft.com/office/drawing/2014/main" id="{B1F58C6D-56ED-2C44-80E0-EA2CFAEAEB72}"/>
              </a:ext>
            </a:extLst>
          </p:cNvPr>
          <p:cNvSpPr>
            <a:spLocks noGrp="1"/>
          </p:cNvSpPr>
          <p:nvPr>
            <p:ph type="body" idx="1"/>
          </p:nvPr>
        </p:nvSpPr>
        <p:spPr>
          <a:xfrm>
            <a:off x="623521" y="4589763"/>
            <a:ext cx="7886880" cy="1499197"/>
          </a:xfrm>
        </p:spPr>
        <p:txBody>
          <a:bodyPr/>
          <a:lstStyle>
            <a:lvl1pPr marL="0" indent="0">
              <a:buNone/>
              <a:defRPr sz="2177"/>
            </a:lvl1pPr>
            <a:lvl2pPr marL="414726" indent="0">
              <a:buNone/>
              <a:defRPr sz="1814"/>
            </a:lvl2pPr>
            <a:lvl3pPr marL="829452" indent="0">
              <a:buNone/>
              <a:defRPr sz="1633"/>
            </a:lvl3pPr>
            <a:lvl4pPr marL="1244178" indent="0">
              <a:buNone/>
              <a:defRPr sz="1451"/>
            </a:lvl4pPr>
            <a:lvl5pPr marL="1658904" indent="0">
              <a:buNone/>
              <a:defRPr sz="1451"/>
            </a:lvl5pPr>
            <a:lvl6pPr marL="2073631" indent="0">
              <a:buNone/>
              <a:defRPr sz="1451"/>
            </a:lvl6pPr>
            <a:lvl7pPr marL="2488357" indent="0">
              <a:buNone/>
              <a:defRPr sz="1451"/>
            </a:lvl7pPr>
            <a:lvl8pPr marL="2903083" indent="0">
              <a:buNone/>
              <a:defRPr sz="1451"/>
            </a:lvl8pPr>
            <a:lvl9pPr marL="3317809" indent="0">
              <a:buNone/>
              <a:defRPr sz="1451"/>
            </a:lvl9pPr>
          </a:lstStyle>
          <a:p>
            <a:pPr lvl="0"/>
            <a:r>
              <a:rPr lang="en-US"/>
              <a:t>Edit Master text styles</a:t>
            </a:r>
          </a:p>
        </p:txBody>
      </p:sp>
      <p:sp>
        <p:nvSpPr>
          <p:cNvPr id="4" name="Slide Number Placeholder 3">
            <a:extLst>
              <a:ext uri="{FF2B5EF4-FFF2-40B4-BE49-F238E27FC236}">
                <a16:creationId xmlns:a16="http://schemas.microsoft.com/office/drawing/2014/main" id="{4DF73D99-8F47-8A4D-B901-4FFBA50AA4C0}"/>
              </a:ext>
            </a:extLst>
          </p:cNvPr>
          <p:cNvSpPr>
            <a:spLocks noGrp="1"/>
          </p:cNvSpPr>
          <p:nvPr>
            <p:ph type="sldNum" sz="quarter" idx="10"/>
          </p:nvPr>
        </p:nvSpPr>
        <p:spPr/>
        <p:txBody>
          <a:bodyPr/>
          <a:lstStyle>
            <a:lvl1pPr>
              <a:defRPr/>
            </a:lvl1pPr>
          </a:lstStyle>
          <a:p>
            <a:fld id="{B475A53A-10D8-904C-A5ED-2FB7A9DE576C}" type="slidenum">
              <a:rPr lang="en-US" altLang="en-US"/>
              <a:pPr/>
              <a:t>‹#›</a:t>
            </a:fld>
            <a:endParaRPr lang="en-US" altLang="en-US"/>
          </a:p>
        </p:txBody>
      </p:sp>
    </p:spTree>
    <p:extLst>
      <p:ext uri="{BB962C8B-B14F-4D97-AF65-F5344CB8AC3E}">
        <p14:creationId xmlns:p14="http://schemas.microsoft.com/office/powerpoint/2010/main" val="2549559848"/>
      </p:ext>
    </p:extLst>
  </p:cSld>
  <p:clrMapOvr>
    <a:masterClrMapping/>
  </p:clrMapOvr>
  <p:transition spd="med">
    <p:fade thruBlk="1"/>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9D2F-FDF5-594D-B3B6-8A9D6CF01C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DFEA82-673C-EB46-BD58-F36071DE81CC}"/>
              </a:ext>
            </a:extLst>
          </p:cNvPr>
          <p:cNvSpPr>
            <a:spLocks noGrp="1"/>
          </p:cNvSpPr>
          <p:nvPr>
            <p:ph sz="half" idx="1"/>
          </p:nvPr>
        </p:nvSpPr>
        <p:spPr>
          <a:xfrm>
            <a:off x="381600" y="1143480"/>
            <a:ext cx="4083840" cy="4982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276AEA-9D73-CD4E-AFB3-99629F1F01CB}"/>
              </a:ext>
            </a:extLst>
          </p:cNvPr>
          <p:cNvSpPr>
            <a:spLocks noGrp="1"/>
          </p:cNvSpPr>
          <p:nvPr>
            <p:ph sz="half" idx="2"/>
          </p:nvPr>
        </p:nvSpPr>
        <p:spPr>
          <a:xfrm>
            <a:off x="4603680" y="1143480"/>
            <a:ext cx="4083840" cy="4982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8B82F45-97B1-3742-AB26-76ACD7813CDB}"/>
              </a:ext>
            </a:extLst>
          </p:cNvPr>
          <p:cNvSpPr>
            <a:spLocks noGrp="1"/>
          </p:cNvSpPr>
          <p:nvPr>
            <p:ph type="sldNum" sz="quarter" idx="10"/>
          </p:nvPr>
        </p:nvSpPr>
        <p:spPr/>
        <p:txBody>
          <a:bodyPr/>
          <a:lstStyle>
            <a:lvl1pPr>
              <a:defRPr/>
            </a:lvl1pPr>
          </a:lstStyle>
          <a:p>
            <a:fld id="{36A84661-6E8A-FB48-B308-9AB43E3A0F0B}" type="slidenum">
              <a:rPr lang="en-US" altLang="en-US"/>
              <a:pPr/>
              <a:t>‹#›</a:t>
            </a:fld>
            <a:endParaRPr lang="en-US" altLang="en-US"/>
          </a:p>
        </p:txBody>
      </p:sp>
    </p:spTree>
    <p:extLst>
      <p:ext uri="{BB962C8B-B14F-4D97-AF65-F5344CB8AC3E}">
        <p14:creationId xmlns:p14="http://schemas.microsoft.com/office/powerpoint/2010/main" val="1743827293"/>
      </p:ext>
    </p:extLst>
  </p:cSld>
  <p:clrMapOvr>
    <a:masterClrMapping/>
  </p:clrMapOvr>
  <p:transition spd="med">
    <p:fade thruBlk="1"/>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1539-F515-C145-ADC3-ED145B2D8975}"/>
              </a:ext>
            </a:extLst>
          </p:cNvPr>
          <p:cNvSpPr>
            <a:spLocks noGrp="1"/>
          </p:cNvSpPr>
          <p:nvPr>
            <p:ph type="title"/>
          </p:nvPr>
        </p:nvSpPr>
        <p:spPr>
          <a:xfrm>
            <a:off x="629281" y="365798"/>
            <a:ext cx="7886880" cy="1324939"/>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0DB008-DBB5-0544-A814-6CEECEFC93F6}"/>
              </a:ext>
            </a:extLst>
          </p:cNvPr>
          <p:cNvSpPr>
            <a:spLocks noGrp="1"/>
          </p:cNvSpPr>
          <p:nvPr>
            <p:ph type="body" idx="1"/>
          </p:nvPr>
        </p:nvSpPr>
        <p:spPr>
          <a:xfrm>
            <a:off x="629280" y="1680657"/>
            <a:ext cx="3869280" cy="823766"/>
          </a:xfrm>
        </p:spPr>
        <p:txBody>
          <a:bodyPr anchor="b"/>
          <a:lstStyle>
            <a:lvl1pPr marL="0" indent="0">
              <a:buNone/>
              <a:defRPr sz="2177" b="1"/>
            </a:lvl1pPr>
            <a:lvl2pPr marL="414726" indent="0">
              <a:buNone/>
              <a:defRPr sz="1814" b="1"/>
            </a:lvl2pPr>
            <a:lvl3pPr marL="829452" indent="0">
              <a:buNone/>
              <a:defRPr sz="1633" b="1"/>
            </a:lvl3pPr>
            <a:lvl4pPr marL="1244178" indent="0">
              <a:buNone/>
              <a:defRPr sz="1451" b="1"/>
            </a:lvl4pPr>
            <a:lvl5pPr marL="1658904" indent="0">
              <a:buNone/>
              <a:defRPr sz="1451" b="1"/>
            </a:lvl5pPr>
            <a:lvl6pPr marL="2073631" indent="0">
              <a:buNone/>
              <a:defRPr sz="1451" b="1"/>
            </a:lvl6pPr>
            <a:lvl7pPr marL="2488357" indent="0">
              <a:buNone/>
              <a:defRPr sz="1451" b="1"/>
            </a:lvl7pPr>
            <a:lvl8pPr marL="2903083" indent="0">
              <a:buNone/>
              <a:defRPr sz="1451" b="1"/>
            </a:lvl8pPr>
            <a:lvl9pPr marL="3317809" indent="0">
              <a:buNone/>
              <a:defRPr sz="1451" b="1"/>
            </a:lvl9pPr>
          </a:lstStyle>
          <a:p>
            <a:pPr lvl="0"/>
            <a:r>
              <a:rPr lang="en-US"/>
              <a:t>Edit Master text styles</a:t>
            </a:r>
          </a:p>
        </p:txBody>
      </p:sp>
      <p:sp>
        <p:nvSpPr>
          <p:cNvPr id="4" name="Content Placeholder 3">
            <a:extLst>
              <a:ext uri="{FF2B5EF4-FFF2-40B4-BE49-F238E27FC236}">
                <a16:creationId xmlns:a16="http://schemas.microsoft.com/office/drawing/2014/main" id="{3AB8EFB2-E8C3-0847-8E37-DD6DEE3FA029}"/>
              </a:ext>
            </a:extLst>
          </p:cNvPr>
          <p:cNvSpPr>
            <a:spLocks noGrp="1"/>
          </p:cNvSpPr>
          <p:nvPr>
            <p:ph sz="half" idx="2"/>
          </p:nvPr>
        </p:nvSpPr>
        <p:spPr>
          <a:xfrm>
            <a:off x="629280" y="2504424"/>
            <a:ext cx="3869280" cy="36853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60B93C-EA3A-594B-8E02-C74DA6A628E7}"/>
              </a:ext>
            </a:extLst>
          </p:cNvPr>
          <p:cNvSpPr>
            <a:spLocks noGrp="1"/>
          </p:cNvSpPr>
          <p:nvPr>
            <p:ph type="body" sz="quarter" idx="3"/>
          </p:nvPr>
        </p:nvSpPr>
        <p:spPr>
          <a:xfrm>
            <a:off x="4629600" y="1680657"/>
            <a:ext cx="3886560" cy="823766"/>
          </a:xfrm>
        </p:spPr>
        <p:txBody>
          <a:bodyPr anchor="b"/>
          <a:lstStyle>
            <a:lvl1pPr marL="0" indent="0">
              <a:buNone/>
              <a:defRPr sz="2177" b="1"/>
            </a:lvl1pPr>
            <a:lvl2pPr marL="414726" indent="0">
              <a:buNone/>
              <a:defRPr sz="1814" b="1"/>
            </a:lvl2pPr>
            <a:lvl3pPr marL="829452" indent="0">
              <a:buNone/>
              <a:defRPr sz="1633" b="1"/>
            </a:lvl3pPr>
            <a:lvl4pPr marL="1244178" indent="0">
              <a:buNone/>
              <a:defRPr sz="1451" b="1"/>
            </a:lvl4pPr>
            <a:lvl5pPr marL="1658904" indent="0">
              <a:buNone/>
              <a:defRPr sz="1451" b="1"/>
            </a:lvl5pPr>
            <a:lvl6pPr marL="2073631" indent="0">
              <a:buNone/>
              <a:defRPr sz="1451" b="1"/>
            </a:lvl6pPr>
            <a:lvl7pPr marL="2488357" indent="0">
              <a:buNone/>
              <a:defRPr sz="1451" b="1"/>
            </a:lvl7pPr>
            <a:lvl8pPr marL="2903083" indent="0">
              <a:buNone/>
              <a:defRPr sz="1451" b="1"/>
            </a:lvl8pPr>
            <a:lvl9pPr marL="3317809" indent="0">
              <a:buNone/>
              <a:defRPr sz="1451" b="1"/>
            </a:lvl9pPr>
          </a:lstStyle>
          <a:p>
            <a:pPr lvl="0"/>
            <a:r>
              <a:rPr lang="en-US"/>
              <a:t>Edit Master text styles</a:t>
            </a:r>
          </a:p>
        </p:txBody>
      </p:sp>
      <p:sp>
        <p:nvSpPr>
          <p:cNvPr id="6" name="Content Placeholder 5">
            <a:extLst>
              <a:ext uri="{FF2B5EF4-FFF2-40B4-BE49-F238E27FC236}">
                <a16:creationId xmlns:a16="http://schemas.microsoft.com/office/drawing/2014/main" id="{96E9B041-D6B6-DA4F-A709-18788DD22AB8}"/>
              </a:ext>
            </a:extLst>
          </p:cNvPr>
          <p:cNvSpPr>
            <a:spLocks noGrp="1"/>
          </p:cNvSpPr>
          <p:nvPr>
            <p:ph sz="quarter" idx="4"/>
          </p:nvPr>
        </p:nvSpPr>
        <p:spPr>
          <a:xfrm>
            <a:off x="4629600" y="2504424"/>
            <a:ext cx="3886560" cy="36853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AEDDDA3-A683-EE41-9763-1B3119BB2FBB}"/>
              </a:ext>
            </a:extLst>
          </p:cNvPr>
          <p:cNvSpPr>
            <a:spLocks noGrp="1"/>
          </p:cNvSpPr>
          <p:nvPr>
            <p:ph type="sldNum" sz="quarter" idx="10"/>
          </p:nvPr>
        </p:nvSpPr>
        <p:spPr/>
        <p:txBody>
          <a:bodyPr/>
          <a:lstStyle>
            <a:lvl1pPr>
              <a:defRPr/>
            </a:lvl1pPr>
          </a:lstStyle>
          <a:p>
            <a:fld id="{AB2C863D-2FF7-C244-9A4A-1C6F2A63F835}" type="slidenum">
              <a:rPr lang="en-US" altLang="en-US"/>
              <a:pPr/>
              <a:t>‹#›</a:t>
            </a:fld>
            <a:endParaRPr lang="en-US" altLang="en-US"/>
          </a:p>
        </p:txBody>
      </p:sp>
    </p:spTree>
    <p:extLst>
      <p:ext uri="{BB962C8B-B14F-4D97-AF65-F5344CB8AC3E}">
        <p14:creationId xmlns:p14="http://schemas.microsoft.com/office/powerpoint/2010/main" val="3816343038"/>
      </p:ext>
    </p:extLst>
  </p:cSld>
  <p:clrMapOvr>
    <a:masterClrMapping/>
  </p:clrMapOvr>
  <p:transition spd="med">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1F67-A4EE-D041-B430-670B31376867}"/>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19D8BDF-7C93-6849-98AA-CA1E113F9C1C}"/>
              </a:ext>
            </a:extLst>
          </p:cNvPr>
          <p:cNvSpPr>
            <a:spLocks noGrp="1"/>
          </p:cNvSpPr>
          <p:nvPr>
            <p:ph type="sldNum" sz="quarter" idx="10"/>
          </p:nvPr>
        </p:nvSpPr>
        <p:spPr/>
        <p:txBody>
          <a:bodyPr/>
          <a:lstStyle>
            <a:lvl1pPr>
              <a:defRPr/>
            </a:lvl1pPr>
          </a:lstStyle>
          <a:p>
            <a:fld id="{2EFD8EC9-FD66-F645-9373-5D2B410C3669}" type="slidenum">
              <a:rPr lang="en-US" altLang="en-US"/>
              <a:pPr/>
              <a:t>‹#›</a:t>
            </a:fld>
            <a:endParaRPr lang="en-US" altLang="en-US"/>
          </a:p>
        </p:txBody>
      </p:sp>
    </p:spTree>
    <p:extLst>
      <p:ext uri="{BB962C8B-B14F-4D97-AF65-F5344CB8AC3E}">
        <p14:creationId xmlns:p14="http://schemas.microsoft.com/office/powerpoint/2010/main" val="613268930"/>
      </p:ext>
    </p:extLst>
  </p:cSld>
  <p:clrMapOvr>
    <a:masterClrMapping/>
  </p:clrMapOvr>
  <p:transition spd="med">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FE0678-ABEC-CA46-9787-1B46C5688095}"/>
              </a:ext>
            </a:extLst>
          </p:cNvPr>
          <p:cNvSpPr>
            <a:spLocks noGrp="1"/>
          </p:cNvSpPr>
          <p:nvPr>
            <p:ph type="sldNum" sz="quarter" idx="10"/>
          </p:nvPr>
        </p:nvSpPr>
        <p:spPr/>
        <p:txBody>
          <a:bodyPr/>
          <a:lstStyle>
            <a:lvl1pPr>
              <a:defRPr/>
            </a:lvl1pPr>
          </a:lstStyle>
          <a:p>
            <a:fld id="{C350D56C-4C87-DC40-B138-6B76B5405C59}" type="slidenum">
              <a:rPr lang="en-US" altLang="en-US"/>
              <a:pPr/>
              <a:t>‹#›</a:t>
            </a:fld>
            <a:endParaRPr lang="en-US" altLang="en-US"/>
          </a:p>
        </p:txBody>
      </p:sp>
    </p:spTree>
    <p:extLst>
      <p:ext uri="{BB962C8B-B14F-4D97-AF65-F5344CB8AC3E}">
        <p14:creationId xmlns:p14="http://schemas.microsoft.com/office/powerpoint/2010/main" val="3585300285"/>
      </p:ext>
    </p:extLst>
  </p:cSld>
  <p:clrMapOvr>
    <a:masterClrMapping/>
  </p:clrMapOvr>
  <p:transition spd="med">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24F1-A7D8-1D40-87E6-BAE5D092F662}"/>
              </a:ext>
            </a:extLst>
          </p:cNvPr>
          <p:cNvSpPr>
            <a:spLocks noGrp="1"/>
          </p:cNvSpPr>
          <p:nvPr>
            <p:ph type="title"/>
          </p:nvPr>
        </p:nvSpPr>
        <p:spPr>
          <a:xfrm>
            <a:off x="629280" y="456528"/>
            <a:ext cx="2949120" cy="1601448"/>
          </a:xfrm>
        </p:spPr>
        <p:txBody>
          <a:bodyPr anchor="b"/>
          <a:lstStyle>
            <a:lvl1pPr>
              <a:defRPr sz="2903"/>
            </a:lvl1pPr>
          </a:lstStyle>
          <a:p>
            <a:r>
              <a:rPr lang="en-US"/>
              <a:t>Click to edit Master title style</a:t>
            </a:r>
          </a:p>
        </p:txBody>
      </p:sp>
      <p:sp>
        <p:nvSpPr>
          <p:cNvPr id="3" name="Content Placeholder 2">
            <a:extLst>
              <a:ext uri="{FF2B5EF4-FFF2-40B4-BE49-F238E27FC236}">
                <a16:creationId xmlns:a16="http://schemas.microsoft.com/office/drawing/2014/main" id="{5F317510-0BF5-4C4A-87B0-8BCEC6DA25CB}"/>
              </a:ext>
            </a:extLst>
          </p:cNvPr>
          <p:cNvSpPr>
            <a:spLocks noGrp="1"/>
          </p:cNvSpPr>
          <p:nvPr>
            <p:ph idx="1"/>
          </p:nvPr>
        </p:nvSpPr>
        <p:spPr>
          <a:xfrm>
            <a:off x="3888000" y="987944"/>
            <a:ext cx="4628160" cy="4873472"/>
          </a:xfrm>
        </p:spPr>
        <p:txBody>
          <a:bodyPr/>
          <a:lstStyle>
            <a:lvl1pPr>
              <a:defRPr sz="2903"/>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061F3C-AEA6-B046-AD38-D3A9C8988BA1}"/>
              </a:ext>
            </a:extLst>
          </p:cNvPr>
          <p:cNvSpPr>
            <a:spLocks noGrp="1"/>
          </p:cNvSpPr>
          <p:nvPr>
            <p:ph type="body" sz="half" idx="2"/>
          </p:nvPr>
        </p:nvSpPr>
        <p:spPr>
          <a:xfrm>
            <a:off x="629280" y="2057977"/>
            <a:ext cx="2949120" cy="3810640"/>
          </a:xfrm>
        </p:spPr>
        <p:txBody>
          <a:bodyPr/>
          <a:lstStyle>
            <a:lvl1pPr marL="0" indent="0">
              <a:buNone/>
              <a:defRPr sz="1451"/>
            </a:lvl1pPr>
            <a:lvl2pPr marL="414726" indent="0">
              <a:buNone/>
              <a:defRPr sz="1270"/>
            </a:lvl2pPr>
            <a:lvl3pPr marL="829452" indent="0">
              <a:buNone/>
              <a:defRPr sz="1089"/>
            </a:lvl3pPr>
            <a:lvl4pPr marL="1244178" indent="0">
              <a:buNone/>
              <a:defRPr sz="907"/>
            </a:lvl4pPr>
            <a:lvl5pPr marL="1658904" indent="0">
              <a:buNone/>
              <a:defRPr sz="907"/>
            </a:lvl5pPr>
            <a:lvl6pPr marL="2073631" indent="0">
              <a:buNone/>
              <a:defRPr sz="907"/>
            </a:lvl6pPr>
            <a:lvl7pPr marL="2488357" indent="0">
              <a:buNone/>
              <a:defRPr sz="907"/>
            </a:lvl7pPr>
            <a:lvl8pPr marL="2903083" indent="0">
              <a:buNone/>
              <a:defRPr sz="907"/>
            </a:lvl8pPr>
            <a:lvl9pPr marL="3317809" indent="0">
              <a:buNone/>
              <a:defRPr sz="907"/>
            </a:lvl9pPr>
          </a:lstStyle>
          <a:p>
            <a:pPr lvl="0"/>
            <a:r>
              <a:rPr lang="en-US"/>
              <a:t>Edit Master text styles</a:t>
            </a:r>
          </a:p>
        </p:txBody>
      </p:sp>
      <p:sp>
        <p:nvSpPr>
          <p:cNvPr id="5" name="Slide Number Placeholder 4">
            <a:extLst>
              <a:ext uri="{FF2B5EF4-FFF2-40B4-BE49-F238E27FC236}">
                <a16:creationId xmlns:a16="http://schemas.microsoft.com/office/drawing/2014/main" id="{66032E0B-BC09-8244-BF87-257A278023C2}"/>
              </a:ext>
            </a:extLst>
          </p:cNvPr>
          <p:cNvSpPr>
            <a:spLocks noGrp="1"/>
          </p:cNvSpPr>
          <p:nvPr>
            <p:ph type="sldNum" sz="quarter" idx="10"/>
          </p:nvPr>
        </p:nvSpPr>
        <p:spPr/>
        <p:txBody>
          <a:bodyPr/>
          <a:lstStyle>
            <a:lvl1pPr>
              <a:defRPr/>
            </a:lvl1pPr>
          </a:lstStyle>
          <a:p>
            <a:fld id="{4C93F5AB-994C-C043-A5F9-49420BD36466}" type="slidenum">
              <a:rPr lang="en-US" altLang="en-US"/>
              <a:pPr/>
              <a:t>‹#›</a:t>
            </a:fld>
            <a:endParaRPr lang="en-US" altLang="en-US"/>
          </a:p>
        </p:txBody>
      </p:sp>
    </p:spTree>
    <p:extLst>
      <p:ext uri="{BB962C8B-B14F-4D97-AF65-F5344CB8AC3E}">
        <p14:creationId xmlns:p14="http://schemas.microsoft.com/office/powerpoint/2010/main" val="2422258290"/>
      </p:ext>
    </p:extLst>
  </p:cSld>
  <p:clrMapOvr>
    <a:masterClrMapping/>
  </p:clrMapOvr>
  <p:transition spd="med">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7DBC0-06EC-CE4E-9762-BEE94BA5D5A7}"/>
              </a:ext>
            </a:extLst>
          </p:cNvPr>
          <p:cNvSpPr>
            <a:spLocks noGrp="1"/>
          </p:cNvSpPr>
          <p:nvPr>
            <p:ph type="title"/>
          </p:nvPr>
        </p:nvSpPr>
        <p:spPr>
          <a:xfrm>
            <a:off x="629280" y="456528"/>
            <a:ext cx="2949120" cy="1601448"/>
          </a:xfrm>
        </p:spPr>
        <p:txBody>
          <a:bodyPr anchor="b"/>
          <a:lstStyle>
            <a:lvl1pPr>
              <a:defRPr sz="2903"/>
            </a:lvl1pPr>
          </a:lstStyle>
          <a:p>
            <a:r>
              <a:rPr lang="en-US"/>
              <a:t>Click to edit Master title style</a:t>
            </a:r>
          </a:p>
        </p:txBody>
      </p:sp>
      <p:sp>
        <p:nvSpPr>
          <p:cNvPr id="3" name="Picture Placeholder 2">
            <a:extLst>
              <a:ext uri="{FF2B5EF4-FFF2-40B4-BE49-F238E27FC236}">
                <a16:creationId xmlns:a16="http://schemas.microsoft.com/office/drawing/2014/main" id="{5AE45834-0C5F-5D41-B070-3DC8EE53A73D}"/>
              </a:ext>
            </a:extLst>
          </p:cNvPr>
          <p:cNvSpPr>
            <a:spLocks noGrp="1"/>
          </p:cNvSpPr>
          <p:nvPr>
            <p:ph type="pic" idx="1"/>
          </p:nvPr>
        </p:nvSpPr>
        <p:spPr>
          <a:xfrm>
            <a:off x="3888000" y="987944"/>
            <a:ext cx="4628160" cy="4873472"/>
          </a:xfrm>
        </p:spPr>
        <p:txBody>
          <a:bodyPr/>
          <a:lstStyle>
            <a:lvl1pPr marL="0" indent="0">
              <a:buNone/>
              <a:defRPr sz="2903"/>
            </a:lvl1pPr>
            <a:lvl2pPr marL="414726" indent="0">
              <a:buNone/>
              <a:defRPr sz="2540"/>
            </a:lvl2pPr>
            <a:lvl3pPr marL="829452" indent="0">
              <a:buNone/>
              <a:defRPr sz="2177"/>
            </a:lvl3pPr>
            <a:lvl4pPr marL="1244178" indent="0">
              <a:buNone/>
              <a:defRPr sz="1814"/>
            </a:lvl4pPr>
            <a:lvl5pPr marL="1658904" indent="0">
              <a:buNone/>
              <a:defRPr sz="1814"/>
            </a:lvl5pPr>
            <a:lvl6pPr marL="2073631" indent="0">
              <a:buNone/>
              <a:defRPr sz="1814"/>
            </a:lvl6pPr>
            <a:lvl7pPr marL="2488357" indent="0">
              <a:buNone/>
              <a:defRPr sz="1814"/>
            </a:lvl7pPr>
            <a:lvl8pPr marL="2903083" indent="0">
              <a:buNone/>
              <a:defRPr sz="1814"/>
            </a:lvl8pPr>
            <a:lvl9pPr marL="3317809" indent="0">
              <a:buNone/>
              <a:defRPr sz="1814"/>
            </a:lvl9pPr>
          </a:lstStyle>
          <a:p>
            <a:endParaRPr lang="en-US"/>
          </a:p>
        </p:txBody>
      </p:sp>
      <p:sp>
        <p:nvSpPr>
          <p:cNvPr id="4" name="Text Placeholder 3">
            <a:extLst>
              <a:ext uri="{FF2B5EF4-FFF2-40B4-BE49-F238E27FC236}">
                <a16:creationId xmlns:a16="http://schemas.microsoft.com/office/drawing/2014/main" id="{079474A1-B3E6-AB41-ABFC-37FA0BEF9BC5}"/>
              </a:ext>
            </a:extLst>
          </p:cNvPr>
          <p:cNvSpPr>
            <a:spLocks noGrp="1"/>
          </p:cNvSpPr>
          <p:nvPr>
            <p:ph type="body" sz="half" idx="2"/>
          </p:nvPr>
        </p:nvSpPr>
        <p:spPr>
          <a:xfrm>
            <a:off x="629280" y="2057977"/>
            <a:ext cx="2949120" cy="3810640"/>
          </a:xfrm>
        </p:spPr>
        <p:txBody>
          <a:bodyPr/>
          <a:lstStyle>
            <a:lvl1pPr marL="0" indent="0">
              <a:buNone/>
              <a:defRPr sz="1451"/>
            </a:lvl1pPr>
            <a:lvl2pPr marL="414726" indent="0">
              <a:buNone/>
              <a:defRPr sz="1270"/>
            </a:lvl2pPr>
            <a:lvl3pPr marL="829452" indent="0">
              <a:buNone/>
              <a:defRPr sz="1089"/>
            </a:lvl3pPr>
            <a:lvl4pPr marL="1244178" indent="0">
              <a:buNone/>
              <a:defRPr sz="907"/>
            </a:lvl4pPr>
            <a:lvl5pPr marL="1658904" indent="0">
              <a:buNone/>
              <a:defRPr sz="907"/>
            </a:lvl5pPr>
            <a:lvl6pPr marL="2073631" indent="0">
              <a:buNone/>
              <a:defRPr sz="907"/>
            </a:lvl6pPr>
            <a:lvl7pPr marL="2488357" indent="0">
              <a:buNone/>
              <a:defRPr sz="907"/>
            </a:lvl7pPr>
            <a:lvl8pPr marL="2903083" indent="0">
              <a:buNone/>
              <a:defRPr sz="907"/>
            </a:lvl8pPr>
            <a:lvl9pPr marL="3317809" indent="0">
              <a:buNone/>
              <a:defRPr sz="907"/>
            </a:lvl9pPr>
          </a:lstStyle>
          <a:p>
            <a:pPr lvl="0"/>
            <a:r>
              <a:rPr lang="en-US"/>
              <a:t>Edit Master text styles</a:t>
            </a:r>
          </a:p>
        </p:txBody>
      </p:sp>
      <p:sp>
        <p:nvSpPr>
          <p:cNvPr id="5" name="Slide Number Placeholder 4">
            <a:extLst>
              <a:ext uri="{FF2B5EF4-FFF2-40B4-BE49-F238E27FC236}">
                <a16:creationId xmlns:a16="http://schemas.microsoft.com/office/drawing/2014/main" id="{55A83E9D-4A5E-B545-837C-2BE51728EE1E}"/>
              </a:ext>
            </a:extLst>
          </p:cNvPr>
          <p:cNvSpPr>
            <a:spLocks noGrp="1"/>
          </p:cNvSpPr>
          <p:nvPr>
            <p:ph type="sldNum" sz="quarter" idx="10"/>
          </p:nvPr>
        </p:nvSpPr>
        <p:spPr/>
        <p:txBody>
          <a:bodyPr/>
          <a:lstStyle>
            <a:lvl1pPr>
              <a:defRPr/>
            </a:lvl1pPr>
          </a:lstStyle>
          <a:p>
            <a:fld id="{58FAF93C-BB45-C947-944D-DEF28A020F65}" type="slidenum">
              <a:rPr lang="en-US" altLang="en-US"/>
              <a:pPr/>
              <a:t>‹#›</a:t>
            </a:fld>
            <a:endParaRPr lang="en-US" altLang="en-US"/>
          </a:p>
        </p:txBody>
      </p:sp>
    </p:spTree>
    <p:extLst>
      <p:ext uri="{BB962C8B-B14F-4D97-AF65-F5344CB8AC3E}">
        <p14:creationId xmlns:p14="http://schemas.microsoft.com/office/powerpoint/2010/main" val="3474134150"/>
      </p:ext>
    </p:extLst>
  </p:cSld>
  <p:clrMapOvr>
    <a:masterClrMapping/>
  </p:clrMapOvr>
  <p:transition spd="med">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80083-55AF-9545-A1C2-3D4D2BB5EE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354CF9-C5EB-1C4B-A21D-AA476823679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9CAE0FE-ADB3-E34B-91BE-012A44CEB61E}"/>
              </a:ext>
            </a:extLst>
          </p:cNvPr>
          <p:cNvSpPr>
            <a:spLocks noGrp="1"/>
          </p:cNvSpPr>
          <p:nvPr>
            <p:ph type="sldNum" sz="quarter" idx="10"/>
          </p:nvPr>
        </p:nvSpPr>
        <p:spPr/>
        <p:txBody>
          <a:bodyPr/>
          <a:lstStyle>
            <a:lvl1pPr>
              <a:defRPr/>
            </a:lvl1pPr>
          </a:lstStyle>
          <a:p>
            <a:fld id="{92D89590-88FD-E940-BEC2-F6B2B2C865BD}" type="slidenum">
              <a:rPr lang="en-US" altLang="en-US"/>
              <a:pPr/>
              <a:t>‹#›</a:t>
            </a:fld>
            <a:endParaRPr lang="en-US" altLang="en-US"/>
          </a:p>
        </p:txBody>
      </p:sp>
    </p:spTree>
    <p:extLst>
      <p:ext uri="{BB962C8B-B14F-4D97-AF65-F5344CB8AC3E}">
        <p14:creationId xmlns:p14="http://schemas.microsoft.com/office/powerpoint/2010/main" val="4249384088"/>
      </p:ext>
    </p:extLst>
  </p:cSld>
  <p:clrMapOvr>
    <a:masterClrMapping/>
  </p:clrMapOvr>
  <p:transition spd="med">
    <p:fade thruBlk="1"/>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2CA532-AF5E-4945-86ED-81626F433544}"/>
              </a:ext>
            </a:extLst>
          </p:cNvPr>
          <p:cNvSpPr>
            <a:spLocks noGrp="1"/>
          </p:cNvSpPr>
          <p:nvPr>
            <p:ph type="title" orient="vert"/>
          </p:nvPr>
        </p:nvSpPr>
        <p:spPr>
          <a:xfrm>
            <a:off x="6611041" y="152656"/>
            <a:ext cx="2076480" cy="597374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3F371E-327B-C54F-8F00-4FA352BB5ADE}"/>
              </a:ext>
            </a:extLst>
          </p:cNvPr>
          <p:cNvSpPr>
            <a:spLocks noGrp="1"/>
          </p:cNvSpPr>
          <p:nvPr>
            <p:ph type="body" orient="vert" idx="1"/>
          </p:nvPr>
        </p:nvSpPr>
        <p:spPr>
          <a:xfrm>
            <a:off x="381601" y="152656"/>
            <a:ext cx="6091200" cy="597374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CF5ECC65-68DF-F642-853A-72E8822BDB9B}"/>
              </a:ext>
            </a:extLst>
          </p:cNvPr>
          <p:cNvSpPr>
            <a:spLocks noGrp="1"/>
          </p:cNvSpPr>
          <p:nvPr>
            <p:ph type="sldNum" sz="quarter" idx="10"/>
          </p:nvPr>
        </p:nvSpPr>
        <p:spPr/>
        <p:txBody>
          <a:bodyPr/>
          <a:lstStyle>
            <a:lvl1pPr>
              <a:defRPr/>
            </a:lvl1pPr>
          </a:lstStyle>
          <a:p>
            <a:fld id="{67892033-1E0C-D649-A84F-7D82F553A1C8}" type="slidenum">
              <a:rPr lang="en-US" altLang="en-US"/>
              <a:pPr/>
              <a:t>‹#›</a:t>
            </a:fld>
            <a:endParaRPr lang="en-US" altLang="en-US"/>
          </a:p>
        </p:txBody>
      </p:sp>
    </p:spTree>
    <p:extLst>
      <p:ext uri="{BB962C8B-B14F-4D97-AF65-F5344CB8AC3E}">
        <p14:creationId xmlns:p14="http://schemas.microsoft.com/office/powerpoint/2010/main" val="3878998651"/>
      </p:ext>
    </p:extLst>
  </p:cSld>
  <p:clrMapOvr>
    <a:masterClrMapping/>
  </p:clrMapOvr>
  <p:transition spd="med">
    <p:fade thruBlk="1"/>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9B28-908D-D54C-BC08-5A01E7BBF840}"/>
              </a:ext>
            </a:extLst>
          </p:cNvPr>
          <p:cNvSpPr>
            <a:spLocks noGrp="1"/>
          </p:cNvSpPr>
          <p:nvPr>
            <p:ph type="title"/>
          </p:nvPr>
        </p:nvSpPr>
        <p:spPr>
          <a:xfrm>
            <a:off x="457921" y="152656"/>
            <a:ext cx="8229600" cy="990824"/>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918BFA-770B-3441-A06C-421B8CD24956}"/>
              </a:ext>
            </a:extLst>
          </p:cNvPr>
          <p:cNvSpPr>
            <a:spLocks noGrp="1"/>
          </p:cNvSpPr>
          <p:nvPr>
            <p:ph type="body" sz="half" idx="1"/>
          </p:nvPr>
        </p:nvSpPr>
        <p:spPr>
          <a:xfrm>
            <a:off x="381600" y="1143480"/>
            <a:ext cx="4083840" cy="4982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96967C-BBFE-9C49-AA24-DC4620CF5ACE}"/>
              </a:ext>
            </a:extLst>
          </p:cNvPr>
          <p:cNvSpPr>
            <a:spLocks noGrp="1"/>
          </p:cNvSpPr>
          <p:nvPr>
            <p:ph sz="quarter" idx="2"/>
          </p:nvPr>
        </p:nvSpPr>
        <p:spPr>
          <a:xfrm>
            <a:off x="4603680" y="1143481"/>
            <a:ext cx="4083840" cy="24223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BD19443-6A0F-524C-AD65-A1B14C05108F}"/>
              </a:ext>
            </a:extLst>
          </p:cNvPr>
          <p:cNvSpPr>
            <a:spLocks noGrp="1"/>
          </p:cNvSpPr>
          <p:nvPr>
            <p:ph sz="quarter" idx="3"/>
          </p:nvPr>
        </p:nvSpPr>
        <p:spPr>
          <a:xfrm>
            <a:off x="4603680" y="3704069"/>
            <a:ext cx="4083840" cy="24223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12D0DA3-2327-B043-A5D7-7222EB04F405}"/>
              </a:ext>
            </a:extLst>
          </p:cNvPr>
          <p:cNvSpPr>
            <a:spLocks noGrp="1"/>
          </p:cNvSpPr>
          <p:nvPr>
            <p:ph type="sldNum" sz="quarter" idx="10"/>
          </p:nvPr>
        </p:nvSpPr>
        <p:spPr>
          <a:xfrm>
            <a:off x="8382240" y="6531086"/>
            <a:ext cx="678240" cy="326914"/>
          </a:xfrm>
        </p:spPr>
        <p:txBody>
          <a:bodyPr/>
          <a:lstStyle>
            <a:lvl1pPr>
              <a:defRPr/>
            </a:lvl1pPr>
          </a:lstStyle>
          <a:p>
            <a:fld id="{482ED175-F3BA-4742-A020-C9C61DABA934}" type="slidenum">
              <a:rPr lang="en-US" altLang="en-US"/>
              <a:pPr/>
              <a:t>‹#›</a:t>
            </a:fld>
            <a:endParaRPr lang="en-US" altLang="en-US"/>
          </a:p>
        </p:txBody>
      </p:sp>
    </p:spTree>
    <p:extLst>
      <p:ext uri="{BB962C8B-B14F-4D97-AF65-F5344CB8AC3E}">
        <p14:creationId xmlns:p14="http://schemas.microsoft.com/office/powerpoint/2010/main" val="2582211157"/>
      </p:ext>
    </p:extLst>
  </p:cSld>
  <p:clrMapOvr>
    <a:masterClrMapping/>
  </p:clrMapOvr>
  <p:transition spd="med">
    <p:fade thruBlk="1"/>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EEB98-75A9-4940-AC1C-C1410DD653D5}"/>
              </a:ext>
            </a:extLst>
          </p:cNvPr>
          <p:cNvSpPr>
            <a:spLocks noGrp="1"/>
          </p:cNvSpPr>
          <p:nvPr>
            <p:ph type="title"/>
          </p:nvPr>
        </p:nvSpPr>
        <p:spPr>
          <a:xfrm>
            <a:off x="457921" y="152656"/>
            <a:ext cx="8229600" cy="990824"/>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074290-922F-584A-BA4A-6BD24A366739}"/>
              </a:ext>
            </a:extLst>
          </p:cNvPr>
          <p:cNvSpPr>
            <a:spLocks noGrp="1"/>
          </p:cNvSpPr>
          <p:nvPr>
            <p:ph type="body" sz="half" idx="1"/>
          </p:nvPr>
        </p:nvSpPr>
        <p:spPr>
          <a:xfrm>
            <a:off x="381600" y="1143480"/>
            <a:ext cx="4083840" cy="4982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02A908-7954-1D4D-941C-499EABC1C16C}"/>
              </a:ext>
            </a:extLst>
          </p:cNvPr>
          <p:cNvSpPr>
            <a:spLocks noGrp="1"/>
          </p:cNvSpPr>
          <p:nvPr>
            <p:ph sz="half" idx="2"/>
          </p:nvPr>
        </p:nvSpPr>
        <p:spPr>
          <a:xfrm>
            <a:off x="4603680" y="1143480"/>
            <a:ext cx="4083840" cy="4982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57B7C2EC-3DEA-FA43-B28E-2C30D1477F88}"/>
              </a:ext>
            </a:extLst>
          </p:cNvPr>
          <p:cNvSpPr>
            <a:spLocks noGrp="1"/>
          </p:cNvSpPr>
          <p:nvPr>
            <p:ph type="sldNum" sz="quarter" idx="10"/>
          </p:nvPr>
        </p:nvSpPr>
        <p:spPr>
          <a:xfrm>
            <a:off x="8382240" y="6531086"/>
            <a:ext cx="678240" cy="326914"/>
          </a:xfrm>
        </p:spPr>
        <p:txBody>
          <a:bodyPr/>
          <a:lstStyle>
            <a:lvl1pPr>
              <a:defRPr/>
            </a:lvl1pPr>
          </a:lstStyle>
          <a:p>
            <a:fld id="{127A12BB-AB22-9D48-B1A5-C5F7A1CA0667}" type="slidenum">
              <a:rPr lang="en-US" altLang="en-US"/>
              <a:pPr/>
              <a:t>‹#›</a:t>
            </a:fld>
            <a:endParaRPr lang="en-US" altLang="en-US"/>
          </a:p>
        </p:txBody>
      </p:sp>
    </p:spTree>
    <p:extLst>
      <p:ext uri="{BB962C8B-B14F-4D97-AF65-F5344CB8AC3E}">
        <p14:creationId xmlns:p14="http://schemas.microsoft.com/office/powerpoint/2010/main" val="3804450704"/>
      </p:ext>
    </p:extLst>
  </p:cSld>
  <p:clrMapOvr>
    <a:masterClrMapping/>
  </p:clrMapOvr>
  <p:transition spd="med">
    <p:fade thruBlk="1"/>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892969" y="1151930"/>
            <a:ext cx="7358063" cy="2321719"/>
          </a:xfrm>
          <a:prstGeom prst="rect">
            <a:avLst/>
          </a:prstGeom>
        </p:spPr>
        <p:txBody>
          <a:bodyPr anchor="b"/>
          <a:lstStyle/>
          <a:p>
            <a:r>
              <a:t>Title Text</a:t>
            </a:r>
          </a:p>
        </p:txBody>
      </p:sp>
      <p:sp>
        <p:nvSpPr>
          <p:cNvPr id="12" name="Body Level One…"/>
          <p:cNvSpPr txBox="1">
            <a:spLocks noGrp="1"/>
          </p:cNvSpPr>
          <p:nvPr>
            <p:ph type="body" sz="quarter" idx="1"/>
          </p:nvPr>
        </p:nvSpPr>
        <p:spPr>
          <a:xfrm>
            <a:off x="892969" y="3536156"/>
            <a:ext cx="7358063" cy="794742"/>
          </a:xfrm>
          <a:prstGeom prst="rect">
            <a:avLst/>
          </a:prstGeom>
        </p:spPr>
        <p:txBody>
          <a:bodyPr anchor="t"/>
          <a:lstStyle>
            <a:lvl1pPr marL="0" indent="0" algn="ctr">
              <a:spcBef>
                <a:spcPts val="0"/>
              </a:spcBef>
              <a:buClrTx/>
              <a:buSzTx/>
              <a:buNone/>
              <a:defRPr sz="2601"/>
            </a:lvl1pPr>
            <a:lvl2pPr marL="0" indent="0" algn="ctr">
              <a:spcBef>
                <a:spcPts val="0"/>
              </a:spcBef>
              <a:buClrTx/>
              <a:buSzTx/>
              <a:buNone/>
              <a:defRPr sz="2601"/>
            </a:lvl2pPr>
            <a:lvl3pPr marL="0" indent="0" algn="ctr">
              <a:spcBef>
                <a:spcPts val="0"/>
              </a:spcBef>
              <a:buClrTx/>
              <a:buSzTx/>
              <a:buNone/>
              <a:defRPr sz="2601"/>
            </a:lvl3pPr>
            <a:lvl4pPr marL="0" indent="0" algn="ctr">
              <a:spcBef>
                <a:spcPts val="0"/>
              </a:spcBef>
              <a:buClrTx/>
              <a:buSzTx/>
              <a:buNone/>
              <a:defRPr sz="2601"/>
            </a:lvl4pPr>
            <a:lvl5pPr marL="0" indent="0" algn="ctr">
              <a:spcBef>
                <a:spcPts val="0"/>
              </a:spcBef>
              <a:buClrTx/>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86871803"/>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138535" y="473273"/>
            <a:ext cx="6861105" cy="4152305"/>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892969" y="4723805"/>
            <a:ext cx="7358063" cy="1000125"/>
          </a:xfrm>
          <a:prstGeom prst="rect">
            <a:avLst/>
          </a:prstGeom>
        </p:spPr>
        <p:txBody>
          <a:bodyPr/>
          <a:lstStyle/>
          <a:p>
            <a:r>
              <a:t>Title Text</a:t>
            </a:r>
          </a:p>
        </p:txBody>
      </p:sp>
      <p:sp>
        <p:nvSpPr>
          <p:cNvPr id="22" name="Body Level One…"/>
          <p:cNvSpPr txBox="1">
            <a:spLocks noGrp="1"/>
          </p:cNvSpPr>
          <p:nvPr>
            <p:ph type="body" sz="quarter" idx="1"/>
          </p:nvPr>
        </p:nvSpPr>
        <p:spPr>
          <a:xfrm>
            <a:off x="892969" y="5732859"/>
            <a:ext cx="7358063" cy="794742"/>
          </a:xfrm>
          <a:prstGeom prst="rect">
            <a:avLst/>
          </a:prstGeom>
        </p:spPr>
        <p:txBody>
          <a:bodyPr anchor="t"/>
          <a:lstStyle>
            <a:lvl1pPr marL="0" indent="0" algn="ctr">
              <a:spcBef>
                <a:spcPts val="0"/>
              </a:spcBef>
              <a:buClrTx/>
              <a:buSzTx/>
              <a:buNone/>
              <a:defRPr sz="2601"/>
            </a:lvl1pPr>
            <a:lvl2pPr marL="0" indent="0" algn="ctr">
              <a:spcBef>
                <a:spcPts val="0"/>
              </a:spcBef>
              <a:buClrTx/>
              <a:buSzTx/>
              <a:buNone/>
              <a:defRPr sz="2601"/>
            </a:lvl2pPr>
            <a:lvl3pPr marL="0" indent="0" algn="ctr">
              <a:spcBef>
                <a:spcPts val="0"/>
              </a:spcBef>
              <a:buClrTx/>
              <a:buSzTx/>
              <a:buNone/>
              <a:defRPr sz="2601"/>
            </a:lvl3pPr>
            <a:lvl4pPr marL="0" indent="0" algn="ctr">
              <a:spcBef>
                <a:spcPts val="0"/>
              </a:spcBef>
              <a:buClrTx/>
              <a:buSzTx/>
              <a:buNone/>
              <a:defRPr sz="2601"/>
            </a:lvl4pPr>
            <a:lvl5pPr marL="0" indent="0" algn="ctr">
              <a:spcBef>
                <a:spcPts val="0"/>
              </a:spcBef>
              <a:buClrTx/>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96207358"/>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92969" y="2268141"/>
            <a:ext cx="7358063" cy="2321719"/>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23492125"/>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4723805" y="449240"/>
            <a:ext cx="3750469" cy="5777509"/>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669726" y="446484"/>
            <a:ext cx="3750469" cy="2803922"/>
          </a:xfrm>
          <a:prstGeom prst="rect">
            <a:avLst/>
          </a:prstGeom>
        </p:spPr>
        <p:txBody>
          <a:bodyPr anchor="b"/>
          <a:lstStyle>
            <a:lvl1pPr>
              <a:defRPr sz="4219"/>
            </a:lvl1pPr>
          </a:lstStyle>
          <a:p>
            <a:r>
              <a:t>Title Text</a:t>
            </a:r>
          </a:p>
        </p:txBody>
      </p:sp>
      <p:sp>
        <p:nvSpPr>
          <p:cNvPr id="40" name="Body Level One…"/>
          <p:cNvSpPr txBox="1">
            <a:spLocks noGrp="1"/>
          </p:cNvSpPr>
          <p:nvPr>
            <p:ph type="body" sz="quarter" idx="1"/>
          </p:nvPr>
        </p:nvSpPr>
        <p:spPr>
          <a:xfrm>
            <a:off x="669726" y="3321844"/>
            <a:ext cx="3750469" cy="2893219"/>
          </a:xfrm>
          <a:prstGeom prst="rect">
            <a:avLst/>
          </a:prstGeom>
        </p:spPr>
        <p:txBody>
          <a:bodyPr anchor="t"/>
          <a:lstStyle>
            <a:lvl1pPr marL="0" indent="0" algn="ctr">
              <a:spcBef>
                <a:spcPts val="0"/>
              </a:spcBef>
              <a:buClrTx/>
              <a:buSzTx/>
              <a:buNone/>
              <a:defRPr sz="2601"/>
            </a:lvl1pPr>
            <a:lvl2pPr marL="0" indent="0" algn="ctr">
              <a:spcBef>
                <a:spcPts val="0"/>
              </a:spcBef>
              <a:buClrTx/>
              <a:buSzTx/>
              <a:buNone/>
              <a:defRPr sz="2601"/>
            </a:lvl2pPr>
            <a:lvl3pPr marL="0" indent="0" algn="ctr">
              <a:spcBef>
                <a:spcPts val="0"/>
              </a:spcBef>
              <a:buClrTx/>
              <a:buSzTx/>
              <a:buNone/>
              <a:defRPr sz="2601"/>
            </a:lvl3pPr>
            <a:lvl4pPr marL="0" indent="0" algn="ctr">
              <a:spcBef>
                <a:spcPts val="0"/>
              </a:spcBef>
              <a:buClrTx/>
              <a:buSzTx/>
              <a:buNone/>
              <a:defRPr sz="2601"/>
            </a:lvl4pPr>
            <a:lvl5pPr marL="0" indent="0" algn="ctr">
              <a:spcBef>
                <a:spcPts val="0"/>
              </a:spcBef>
              <a:buClrTx/>
              <a:buSzTx/>
              <a:buNone/>
              <a:defRPr sz="2601"/>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64579396"/>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36914408"/>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83069544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4723805" y="1821656"/>
            <a:ext cx="3750469" cy="4420195"/>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669726" y="1821656"/>
            <a:ext cx="3750469" cy="4420195"/>
          </a:xfrm>
          <a:prstGeom prst="rect">
            <a:avLst/>
          </a:prstGeom>
        </p:spPr>
        <p:txBody>
          <a:bodyPr/>
          <a:lstStyle>
            <a:lvl1pPr marL="241093" indent="-241093">
              <a:spcBef>
                <a:spcPts val="2250"/>
              </a:spcBef>
              <a:buClrTx/>
              <a:defRPr sz="1969"/>
            </a:lvl1pPr>
            <a:lvl2pPr marL="482186" indent="-241093">
              <a:spcBef>
                <a:spcPts val="2250"/>
              </a:spcBef>
              <a:buClrTx/>
              <a:defRPr sz="1969"/>
            </a:lvl2pPr>
            <a:lvl3pPr marL="723279" indent="-241093">
              <a:spcBef>
                <a:spcPts val="2250"/>
              </a:spcBef>
              <a:buClrTx/>
              <a:defRPr sz="1969"/>
            </a:lvl3pPr>
            <a:lvl4pPr marL="964372" indent="-241093">
              <a:spcBef>
                <a:spcPts val="2250"/>
              </a:spcBef>
              <a:buClrTx/>
              <a:defRPr sz="1969"/>
            </a:lvl4pPr>
            <a:lvl5pPr marL="1205465" indent="-241093">
              <a:spcBef>
                <a:spcPts val="2250"/>
              </a:spcBef>
              <a:buClrTx/>
              <a:defRPr sz="1969"/>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9029221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669727" y="892969"/>
            <a:ext cx="7804547" cy="5072063"/>
          </a:xfrm>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78925071"/>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4732734" y="3491508"/>
            <a:ext cx="3750469" cy="2741414"/>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4732734" y="446484"/>
            <a:ext cx="3750469" cy="2741414"/>
          </a:xfrm>
          <a:prstGeom prst="rect">
            <a:avLst/>
          </a:prstGeom>
        </p:spPr>
        <p:txBody>
          <a:bodyPr lIns="91439" tIns="45719" rIns="91439" bIns="45719" anchor="t">
            <a:noAutofit/>
          </a:bodyPr>
          <a:lstStyle/>
          <a:p>
            <a:endParaRPr/>
          </a:p>
        </p:txBody>
      </p:sp>
      <p:sp>
        <p:nvSpPr>
          <p:cNvPr id="85" name="Image"/>
          <p:cNvSpPr>
            <a:spLocks noGrp="1"/>
          </p:cNvSpPr>
          <p:nvPr>
            <p:ph type="pic" sz="half" idx="15"/>
          </p:nvPr>
        </p:nvSpPr>
        <p:spPr>
          <a:xfrm>
            <a:off x="669726" y="446484"/>
            <a:ext cx="3750469" cy="5786438"/>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5682820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892969" y="4473773"/>
            <a:ext cx="7358063" cy="362215"/>
          </a:xfrm>
          <a:prstGeom prst="rect">
            <a:avLst/>
          </a:prstGeom>
        </p:spPr>
        <p:txBody>
          <a:bodyPr anchor="t">
            <a:spAutoFit/>
          </a:bodyPr>
          <a:lstStyle>
            <a:lvl1pPr marL="0" indent="0" algn="ctr">
              <a:spcBef>
                <a:spcPts val="0"/>
              </a:spcBef>
              <a:buClrTx/>
              <a:buSzTx/>
              <a:buNone/>
              <a:defRPr sz="1687" i="1"/>
            </a:lvl1pPr>
          </a:lstStyle>
          <a:p>
            <a:r>
              <a:t>–Johnny Appleseed</a:t>
            </a:r>
          </a:p>
        </p:txBody>
      </p:sp>
      <p:sp>
        <p:nvSpPr>
          <p:cNvPr id="94" name="“Type a quote here.”"/>
          <p:cNvSpPr txBox="1">
            <a:spLocks noGrp="1"/>
          </p:cNvSpPr>
          <p:nvPr>
            <p:ph type="body" sz="quarter" idx="14"/>
          </p:nvPr>
        </p:nvSpPr>
        <p:spPr>
          <a:xfrm>
            <a:off x="892969" y="3008602"/>
            <a:ext cx="7358063" cy="470513"/>
          </a:xfrm>
          <a:prstGeom prst="rect">
            <a:avLst/>
          </a:prstGeom>
        </p:spPr>
        <p:txBody>
          <a:bodyPr>
            <a:spAutoFit/>
          </a:bodyPr>
          <a:lstStyle>
            <a:lvl1pPr marL="0" indent="0" algn="ctr">
              <a:spcBef>
                <a:spcPts val="0"/>
              </a:spcBef>
              <a:buClrTx/>
              <a:buSzTx/>
              <a:buNone/>
              <a:defRPr sz="2391">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0464524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9144000" cy="6858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66303647"/>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3000951"/>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light">
    <p:bg>
      <p:bgPr>
        <a:solidFill>
          <a:srgbClr val="FFFFFF"/>
        </a:solidFill>
        <a:effectLst/>
      </p:bgPr>
    </p:bg>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214312" y="178594"/>
            <a:ext cx="8688586" cy="910828"/>
          </a:xfrm>
          <a:prstGeom prst="rect">
            <a:avLst/>
          </a:prstGeom>
          <a:effectLst>
            <a:outerShdw blurRad="38100" dist="12700" dir="5400000" rotWithShape="0">
              <a:srgbClr val="000000">
                <a:alpha val="50000"/>
              </a:srgbClr>
            </a:outerShdw>
          </a:effectLst>
        </p:spPr>
        <p:txBody>
          <a:bodyPr>
            <a:noAutofit/>
          </a:bodyPr>
          <a:lstStyle>
            <a:lvl1pPr>
              <a:defRPr sz="5906">
                <a:solidFill>
                  <a:srgbClr val="006893"/>
                </a:solidFill>
                <a:latin typeface="Times New Roman"/>
                <a:ea typeface="Times New Roman"/>
                <a:cs typeface="Times New Roman"/>
                <a:sym typeface="Times New Roman"/>
              </a:defRPr>
            </a:lvl1pPr>
          </a:lstStyle>
          <a:p>
            <a:r>
              <a:t>Title Text</a:t>
            </a:r>
          </a:p>
        </p:txBody>
      </p:sp>
      <p:sp>
        <p:nvSpPr>
          <p:cNvPr id="118" name="Body Level One…"/>
          <p:cNvSpPr txBox="1">
            <a:spLocks noGrp="1"/>
          </p:cNvSpPr>
          <p:nvPr>
            <p:ph type="body" idx="1"/>
          </p:nvPr>
        </p:nvSpPr>
        <p:spPr>
          <a:xfrm>
            <a:off x="214312" y="1098351"/>
            <a:ext cx="8688586" cy="5357813"/>
          </a:xfrm>
          <a:prstGeom prst="rect">
            <a:avLst/>
          </a:prstGeom>
        </p:spPr>
        <p:txBody>
          <a:bodyPr anchor="t">
            <a:noAutofit/>
          </a:bodyPr>
          <a:lstStyle>
            <a:lvl1pPr marL="473257" indent="-250022">
              <a:spcBef>
                <a:spcPts val="562"/>
              </a:spcBef>
              <a:buClrTx/>
              <a:buSzPct val="100000"/>
              <a:defRPr sz="2883">
                <a:solidFill>
                  <a:srgbClr val="000000"/>
                </a:solidFill>
                <a:latin typeface="Helvetica"/>
                <a:ea typeface="Helvetica"/>
                <a:cs typeface="Helvetica"/>
                <a:sym typeface="Helvetica"/>
              </a:defRPr>
            </a:lvl1pPr>
            <a:lvl2pPr marL="785785" indent="-250022">
              <a:lnSpc>
                <a:spcPct val="90000"/>
              </a:lnSpc>
              <a:spcBef>
                <a:spcPts val="562"/>
              </a:spcBef>
              <a:buClrTx/>
              <a:buSzPct val="100000"/>
              <a:defRPr>
                <a:solidFill>
                  <a:srgbClr val="232323"/>
                </a:solidFill>
                <a:latin typeface="Helvetica"/>
                <a:ea typeface="Helvetica"/>
                <a:cs typeface="Helvetica"/>
                <a:sym typeface="Helvetica"/>
              </a:defRPr>
            </a:lvl2pPr>
            <a:lvl3pPr marL="1098313" indent="-250022">
              <a:lnSpc>
                <a:spcPct val="90000"/>
              </a:lnSpc>
              <a:spcBef>
                <a:spcPts val="562"/>
              </a:spcBef>
              <a:buClrTx/>
              <a:buSzPct val="100000"/>
              <a:defRPr sz="2109">
                <a:solidFill>
                  <a:srgbClr val="232323"/>
                </a:solidFill>
                <a:latin typeface="Helvetica"/>
                <a:ea typeface="Helvetica"/>
                <a:cs typeface="Helvetica"/>
                <a:sym typeface="Helvetica"/>
              </a:defRPr>
            </a:lvl3pPr>
            <a:lvl4pPr marL="1410840" indent="-250022">
              <a:lnSpc>
                <a:spcPct val="70000"/>
              </a:lnSpc>
              <a:spcBef>
                <a:spcPts val="422"/>
              </a:spcBef>
              <a:buClrTx/>
              <a:buSzPct val="100000"/>
              <a:defRPr sz="1969">
                <a:solidFill>
                  <a:srgbClr val="232323"/>
                </a:solidFill>
                <a:latin typeface="Helvetica"/>
                <a:ea typeface="Helvetica"/>
                <a:cs typeface="Helvetica"/>
                <a:sym typeface="Helvetica"/>
              </a:defRPr>
            </a:lvl4pPr>
            <a:lvl5pPr marL="1723368" indent="-250022">
              <a:lnSpc>
                <a:spcPct val="60000"/>
              </a:lnSpc>
              <a:spcBef>
                <a:spcPts val="422"/>
              </a:spcBef>
              <a:buClrTx/>
              <a:buSzPct val="100000"/>
              <a:defRPr sz="1828">
                <a:solidFill>
                  <a:srgbClr val="232323"/>
                </a:solidFill>
                <a:latin typeface="Helvetica"/>
                <a:ea typeface="Helvetica"/>
                <a:cs typeface="Helvetica"/>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8670630" y="6507033"/>
            <a:ext cx="301365" cy="297389"/>
          </a:xfrm>
          <a:prstGeom prst="rect">
            <a:avLst/>
          </a:prstGeom>
        </p:spPr>
        <p:txBody>
          <a:bodyPr anchor="b"/>
          <a:lstStyle>
            <a:lvl1pPr>
              <a:defRPr sz="1266">
                <a:solidFill>
                  <a:srgbClr val="606060"/>
                </a:solidFill>
                <a:latin typeface="Helvetica"/>
                <a:ea typeface="Helvetica"/>
                <a:cs typeface="Helvetica"/>
                <a:sym typeface="Helvetica"/>
              </a:defRPr>
            </a:lvl1pPr>
          </a:lstStyle>
          <a:p>
            <a:fld id="{86CB4B4D-7CA3-9044-876B-883B54F8677D}" type="slidenum">
              <a:t>‹#›</a:t>
            </a:fld>
            <a:endParaRPr/>
          </a:p>
        </p:txBody>
      </p:sp>
    </p:spTree>
    <p:extLst>
      <p:ext uri="{BB962C8B-B14F-4D97-AF65-F5344CB8AC3E}">
        <p14:creationId xmlns:p14="http://schemas.microsoft.com/office/powerpoint/2010/main" val="166720418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74CC7205-93DE-494D-8DF1-6A5CEAB031C0}"/>
              </a:ext>
            </a:extLst>
          </p:cNvPr>
          <p:cNvSpPr>
            <a:spLocks noChangeArrowheads="1"/>
          </p:cNvSpPr>
          <p:nvPr/>
        </p:nvSpPr>
        <p:spPr bwMode="auto">
          <a:xfrm>
            <a:off x="685800" y="3243263"/>
            <a:ext cx="7772400" cy="109537"/>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gradFill rotWithShape="0">
            <a:gsLst>
              <a:gs pos="0">
                <a:srgbClr val="5E0000"/>
              </a:gs>
              <a:gs pos="50000">
                <a:schemeClr val="accent2"/>
              </a:gs>
              <a:gs pos="100000">
                <a:srgbClr val="5E0000"/>
              </a:gs>
            </a:gsLst>
            <a:lin ang="5400000" scaled="1"/>
          </a:gradFill>
          <a:ln w="9525">
            <a:solidFill>
              <a:srgbClr val="CC0000"/>
            </a:solidFill>
            <a:round/>
            <a:headEnd/>
            <a:tailEnd/>
          </a:ln>
        </p:spPr>
        <p:txBody>
          <a:bodyPr/>
          <a:lstStyle/>
          <a:p>
            <a:pPr>
              <a:defRPr/>
            </a:pPr>
            <a:endParaRPr lang="zh-CN" altLang="zh-CN">
              <a:latin typeface="Times New Roman" pitchFamily="18" charset="0"/>
              <a:ea typeface="ＭＳ Ｐゴシック" pitchFamily="34" charset="-128"/>
            </a:endParaRPr>
          </a:p>
        </p:txBody>
      </p:sp>
      <p:pic>
        <p:nvPicPr>
          <p:cNvPr id="5" name="图片 10">
            <a:extLst>
              <a:ext uri="{FF2B5EF4-FFF2-40B4-BE49-F238E27FC236}">
                <a16:creationId xmlns:a16="http://schemas.microsoft.com/office/drawing/2014/main" id="{2BCD73FA-DC11-9045-87C7-4C5C2F44D0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657600"/>
            <a:ext cx="1608138"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2066" name="Rectangle 2"/>
          <p:cNvSpPr>
            <a:spLocks noGrp="1" noChangeArrowheads="1"/>
          </p:cNvSpPr>
          <p:nvPr>
            <p:ph type="ctrTitle"/>
          </p:nvPr>
        </p:nvSpPr>
        <p:spPr>
          <a:xfrm>
            <a:off x="685800" y="1905000"/>
            <a:ext cx="7772400" cy="1371600"/>
          </a:xfrm>
        </p:spPr>
        <p:txBody>
          <a:bodyPr/>
          <a:lstStyle>
            <a:lvl1pPr algn="l">
              <a:defRPr sz="4000"/>
            </a:lvl1pPr>
          </a:lstStyle>
          <a:p>
            <a:r>
              <a:rPr lang="zh-CN" altLang="en-US"/>
              <a:t>单击此处编辑母版标题样式</a:t>
            </a:r>
            <a:endParaRPr lang="en-US" dirty="0"/>
          </a:p>
        </p:txBody>
      </p:sp>
      <p:sp>
        <p:nvSpPr>
          <p:cNvPr id="472067" name="Rectangle 3"/>
          <p:cNvSpPr>
            <a:spLocks noGrp="1" noChangeArrowheads="1"/>
          </p:cNvSpPr>
          <p:nvPr>
            <p:ph type="subTitle" idx="1"/>
          </p:nvPr>
        </p:nvSpPr>
        <p:spPr>
          <a:xfrm>
            <a:off x="2590800" y="3733800"/>
            <a:ext cx="5638800" cy="1600200"/>
          </a:xfrm>
          <a:ln w="9525"/>
        </p:spPr>
        <p:txBody>
          <a:bodyPr/>
          <a:lstStyle>
            <a:lvl1pPr marL="342900" indent="-342900">
              <a:buFont typeface="Wingdings" pitchFamily="2" charset="2"/>
              <a:buChar char="Ø"/>
              <a:defRPr sz="2100"/>
            </a:lvl1pPr>
          </a:lstStyle>
          <a:p>
            <a:r>
              <a:rPr lang="zh-CN" altLang="en-US" dirty="0"/>
              <a:t>单击此处编辑母版副标题样式</a:t>
            </a:r>
            <a:endParaRPr lang="en-US" dirty="0"/>
          </a:p>
        </p:txBody>
      </p:sp>
      <p:sp>
        <p:nvSpPr>
          <p:cNvPr id="6" name="Rectangle 10">
            <a:extLst>
              <a:ext uri="{FF2B5EF4-FFF2-40B4-BE49-F238E27FC236}">
                <a16:creationId xmlns:a16="http://schemas.microsoft.com/office/drawing/2014/main" id="{EE034585-E8E5-9C46-8161-28A5D19885EB}"/>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zh-CN"/>
          </a:p>
        </p:txBody>
      </p:sp>
      <p:sp>
        <p:nvSpPr>
          <p:cNvPr id="7" name="Rectangle 11">
            <a:extLst>
              <a:ext uri="{FF2B5EF4-FFF2-40B4-BE49-F238E27FC236}">
                <a16:creationId xmlns:a16="http://schemas.microsoft.com/office/drawing/2014/main" id="{ECBA9DA0-F136-0248-9622-6003A67CD850}"/>
              </a:ext>
            </a:extLst>
          </p:cNvPr>
          <p:cNvSpPr>
            <a:spLocks noGrp="1" noChangeArrowheads="1"/>
          </p:cNvSpPr>
          <p:nvPr>
            <p:ph type="ftr" sz="quarter" idx="11"/>
          </p:nvPr>
        </p:nvSpPr>
        <p:spPr>
          <a:xfrm>
            <a:off x="3124200" y="6248400"/>
            <a:ext cx="2895600" cy="457200"/>
          </a:xfrm>
        </p:spPr>
        <p:txBody>
          <a:bodyPr/>
          <a:lstStyle>
            <a:lvl1pPr>
              <a:defRPr>
                <a:latin typeface="Arial" pitchFamily="34" charset="0"/>
                <a:ea typeface="MS PGothic" pitchFamily="34" charset="-128"/>
              </a:defRPr>
            </a:lvl1pPr>
          </a:lstStyle>
          <a:p>
            <a:pPr>
              <a:defRPr/>
            </a:pPr>
            <a:endParaRPr lang="zh-CN"/>
          </a:p>
        </p:txBody>
      </p:sp>
      <p:sp>
        <p:nvSpPr>
          <p:cNvPr id="8" name="Rectangle 12">
            <a:extLst>
              <a:ext uri="{FF2B5EF4-FFF2-40B4-BE49-F238E27FC236}">
                <a16:creationId xmlns:a16="http://schemas.microsoft.com/office/drawing/2014/main" id="{7EA3E459-8ED6-274F-A2C3-FAF86CF9528D}"/>
              </a:ext>
            </a:extLst>
          </p:cNvPr>
          <p:cNvSpPr>
            <a:spLocks noGrp="1" noChangeArrowheads="1"/>
          </p:cNvSpPr>
          <p:nvPr>
            <p:ph type="sldNum" sz="quarter" idx="12"/>
          </p:nvPr>
        </p:nvSpPr>
        <p:spPr>
          <a:xfrm>
            <a:off x="6553200" y="6248400"/>
            <a:ext cx="1905000" cy="457200"/>
          </a:xfrm>
        </p:spPr>
        <p:txBody>
          <a:bodyPr/>
          <a:lstStyle>
            <a:lvl1pPr>
              <a:defRPr/>
            </a:lvl1pPr>
          </a:lstStyle>
          <a:p>
            <a:fld id="{4FF4269B-3573-7641-A35D-BAA335628A22}" type="slidenum">
              <a:rPr lang="en-US" altLang="zh-CN"/>
              <a:pPr/>
              <a:t>‹#›</a:t>
            </a:fld>
            <a:endParaRPr lang="en-US" altLang="zh-CN"/>
          </a:p>
        </p:txBody>
      </p:sp>
    </p:spTree>
    <p:extLst>
      <p:ext uri="{BB962C8B-B14F-4D97-AF65-F5344CB8AC3E}">
        <p14:creationId xmlns:p14="http://schemas.microsoft.com/office/powerpoint/2010/main" val="3976141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lvl1pPr marL="342900" indent="-342900">
              <a:buFont typeface="Wingdings" pitchFamily="2" charset="2"/>
              <a:buChar char="Ø"/>
              <a:defRPr/>
            </a:lvl1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Footer Placeholder 4">
            <a:extLst>
              <a:ext uri="{FF2B5EF4-FFF2-40B4-BE49-F238E27FC236}">
                <a16:creationId xmlns:a16="http://schemas.microsoft.com/office/drawing/2014/main" id="{93395886-5C99-C94A-A568-0048F225814D}"/>
              </a:ext>
            </a:extLst>
          </p:cNvPr>
          <p:cNvSpPr>
            <a:spLocks noGrp="1"/>
          </p:cNvSpPr>
          <p:nvPr>
            <p:ph type="ftr" sz="quarter" idx="10"/>
          </p:nvPr>
        </p:nvSpPr>
        <p:spPr/>
        <p:txBody>
          <a:bodyPr/>
          <a:lstStyle>
            <a:lvl1pPr>
              <a:defRPr/>
            </a:lvl1pPr>
          </a:lstStyle>
          <a:p>
            <a:pPr>
              <a:defRPr/>
            </a:pPr>
            <a:r>
              <a:rPr lang="en-US"/>
              <a:t>afsdfsdfsdafasd</a:t>
            </a:r>
          </a:p>
        </p:txBody>
      </p:sp>
      <p:sp>
        <p:nvSpPr>
          <p:cNvPr id="5" name="Slide Number Placeholder 5">
            <a:extLst>
              <a:ext uri="{FF2B5EF4-FFF2-40B4-BE49-F238E27FC236}">
                <a16:creationId xmlns:a16="http://schemas.microsoft.com/office/drawing/2014/main" id="{D20A4B40-7381-1C43-87BE-6C7517236E1F}"/>
              </a:ext>
            </a:extLst>
          </p:cNvPr>
          <p:cNvSpPr>
            <a:spLocks noGrp="1"/>
          </p:cNvSpPr>
          <p:nvPr>
            <p:ph type="sldNum" sz="quarter" idx="11"/>
          </p:nvPr>
        </p:nvSpPr>
        <p:spPr/>
        <p:txBody>
          <a:bodyPr/>
          <a:lstStyle>
            <a:lvl1pPr>
              <a:defRPr/>
            </a:lvl1pPr>
          </a:lstStyle>
          <a:p>
            <a:fld id="{5809BFF0-9017-9340-8E16-DCF542B81CF1}" type="slidenum">
              <a:rPr lang="en-US" altLang="zh-CN"/>
              <a:pPr/>
              <a:t>‹#›</a:t>
            </a:fld>
            <a:endParaRPr lang="en-US" altLang="zh-CN"/>
          </a:p>
        </p:txBody>
      </p:sp>
    </p:spTree>
    <p:extLst>
      <p:ext uri="{BB962C8B-B14F-4D97-AF65-F5344CB8AC3E}">
        <p14:creationId xmlns:p14="http://schemas.microsoft.com/office/powerpoint/2010/main" val="30837526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093306EA-52E8-9545-AA97-9B2D39C83961}"/>
              </a:ext>
            </a:extLst>
          </p:cNvPr>
          <p:cNvSpPr>
            <a:spLocks noGrp="1"/>
          </p:cNvSpPr>
          <p:nvPr>
            <p:ph type="dt" sz="half" idx="10"/>
          </p:nvPr>
        </p:nvSpPr>
        <p:spPr/>
        <p:txBody>
          <a:bodyPr/>
          <a:lstStyle>
            <a:lvl1pPr>
              <a:defRPr/>
            </a:lvl1pPr>
          </a:lstStyle>
          <a:p>
            <a:pPr>
              <a:defRPr/>
            </a:pPr>
            <a:endParaRPr lang="zh-CN"/>
          </a:p>
        </p:txBody>
      </p:sp>
      <p:sp>
        <p:nvSpPr>
          <p:cNvPr id="5" name="Footer Placeholder 4">
            <a:extLst>
              <a:ext uri="{FF2B5EF4-FFF2-40B4-BE49-F238E27FC236}">
                <a16:creationId xmlns:a16="http://schemas.microsoft.com/office/drawing/2014/main" id="{616F1260-7B96-2A47-8A7A-72F4B132D788}"/>
              </a:ext>
            </a:extLst>
          </p:cNvPr>
          <p:cNvSpPr>
            <a:spLocks noGrp="1"/>
          </p:cNvSpPr>
          <p:nvPr>
            <p:ph type="ftr" sz="quarter" idx="11"/>
          </p:nvPr>
        </p:nvSpPr>
        <p:spPr/>
        <p:txBody>
          <a:bodyPr/>
          <a:lstStyle>
            <a:lvl1pPr>
              <a:defRPr>
                <a:latin typeface="Arial" pitchFamily="34" charset="0"/>
                <a:ea typeface="MS PGothic" pitchFamily="34" charset="-128"/>
              </a:defRPr>
            </a:lvl1pPr>
          </a:lstStyle>
          <a:p>
            <a:pPr>
              <a:defRPr/>
            </a:pPr>
            <a:endParaRPr lang="zh-CN"/>
          </a:p>
        </p:txBody>
      </p:sp>
      <p:sp>
        <p:nvSpPr>
          <p:cNvPr id="6" name="Slide Number Placeholder 5">
            <a:extLst>
              <a:ext uri="{FF2B5EF4-FFF2-40B4-BE49-F238E27FC236}">
                <a16:creationId xmlns:a16="http://schemas.microsoft.com/office/drawing/2014/main" id="{415783E4-B379-844E-BAFC-B2005A0DF41E}"/>
              </a:ext>
            </a:extLst>
          </p:cNvPr>
          <p:cNvSpPr>
            <a:spLocks noGrp="1"/>
          </p:cNvSpPr>
          <p:nvPr>
            <p:ph type="sldNum" sz="quarter" idx="12"/>
          </p:nvPr>
        </p:nvSpPr>
        <p:spPr/>
        <p:txBody>
          <a:bodyPr/>
          <a:lstStyle>
            <a:lvl1pPr>
              <a:defRPr/>
            </a:lvl1pPr>
          </a:lstStyle>
          <a:p>
            <a:fld id="{CC674D28-2C05-524F-A380-9F4348E306D8}" type="slidenum">
              <a:rPr lang="en-US" altLang="zh-CN"/>
              <a:pPr/>
              <a:t>‹#›</a:t>
            </a:fld>
            <a:endParaRPr lang="en-US" altLang="zh-CN"/>
          </a:p>
        </p:txBody>
      </p:sp>
    </p:spTree>
    <p:extLst>
      <p:ext uri="{BB962C8B-B14F-4D97-AF65-F5344CB8AC3E}">
        <p14:creationId xmlns:p14="http://schemas.microsoft.com/office/powerpoint/2010/main" val="7090335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标题及内容">
    <p:spTree>
      <p:nvGrpSpPr>
        <p:cNvPr id="1" name=""/>
        <p:cNvGrpSpPr/>
        <p:nvPr/>
      </p:nvGrpSpPr>
      <p:grpSpPr>
        <a:xfrm>
          <a:off x="0" y="0"/>
          <a:ext cx="0" cy="0"/>
          <a:chOff x="0" y="0"/>
          <a:chExt cx="0" cy="0"/>
        </a:xfrm>
      </p:grpSpPr>
      <p:pic>
        <p:nvPicPr>
          <p:cNvPr id="4" name="图片 6">
            <a:extLst>
              <a:ext uri="{FF2B5EF4-FFF2-40B4-BE49-F238E27FC236}">
                <a16:creationId xmlns:a16="http://schemas.microsoft.com/office/drawing/2014/main" id="{E16C6FF0-0D99-1446-BDF4-FCEC051A4F3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1925" y="30163"/>
            <a:ext cx="738188"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43608" y="116632"/>
            <a:ext cx="7748016" cy="648072"/>
          </a:xfrm>
        </p:spPr>
        <p:txBody>
          <a:bodyPr/>
          <a:lstStyle>
            <a:lvl1pPr>
              <a:defRPr sz="4000"/>
            </a:lvl1pPr>
          </a:lstStyle>
          <a:p>
            <a:r>
              <a:rPr lang="en-US" altLang="zh-CN" dirty="0"/>
              <a:t>Click to edit Master title style</a:t>
            </a:r>
            <a:endParaRPr lang="en-US" dirty="0"/>
          </a:p>
        </p:txBody>
      </p:sp>
      <p:sp>
        <p:nvSpPr>
          <p:cNvPr id="3" name="Content Placeholder 2"/>
          <p:cNvSpPr>
            <a:spLocks noGrp="1"/>
          </p:cNvSpPr>
          <p:nvPr>
            <p:ph idx="1"/>
          </p:nvPr>
        </p:nvSpPr>
        <p:spPr>
          <a:xfrm>
            <a:off x="457200" y="908720"/>
            <a:ext cx="8229600" cy="5217443"/>
          </a:xfrm>
        </p:spPr>
        <p:txBody>
          <a:bodyPr/>
          <a:lstStyle>
            <a:lvl1pPr>
              <a:defRPr b="1"/>
            </a:lvl1pPr>
          </a:lstStyle>
          <a:p>
            <a:r>
              <a:rPr lang="en-US" altLang="zh-CN" dirty="0"/>
              <a:t>Click to edit Master text styles
</a:t>
            </a:r>
            <a:r>
              <a:rPr lang="zh-CN" altLang="en-US" dirty="0"/>
              <a:t>第二等级
第三等级
第四等级
第五等级</a:t>
            </a:r>
            <a:endParaRPr lang="en-US" dirty="0"/>
          </a:p>
        </p:txBody>
      </p:sp>
      <p:sp>
        <p:nvSpPr>
          <p:cNvPr id="5" name="Date Placeholder 3">
            <a:extLst>
              <a:ext uri="{FF2B5EF4-FFF2-40B4-BE49-F238E27FC236}">
                <a16:creationId xmlns:a16="http://schemas.microsoft.com/office/drawing/2014/main" id="{3469897A-2F17-2B4F-BFDB-4AB1AE9995C3}"/>
              </a:ext>
            </a:extLst>
          </p:cNvPr>
          <p:cNvSpPr>
            <a:spLocks noGrp="1"/>
          </p:cNvSpPr>
          <p:nvPr>
            <p:ph type="dt" sz="half" idx="10"/>
          </p:nvPr>
        </p:nvSpPr>
        <p:spPr/>
        <p:txBody>
          <a:bodyPr/>
          <a:lstStyle>
            <a:lvl1pPr>
              <a:defRPr/>
            </a:lvl1pPr>
          </a:lstStyle>
          <a:p>
            <a:pPr>
              <a:defRPr/>
            </a:pPr>
            <a:fld id="{A088681B-D5D9-6449-AF5D-4811E38A06A4}" type="datetimeFigureOut">
              <a:rPr lang="en-US" altLang="zh-CN"/>
              <a:pPr>
                <a:defRPr/>
              </a:pPr>
              <a:t>1/23/25</a:t>
            </a:fld>
            <a:endParaRPr lang="en-US" altLang="zh-CN"/>
          </a:p>
        </p:txBody>
      </p:sp>
      <p:sp>
        <p:nvSpPr>
          <p:cNvPr id="6" name="Footer Placeholder 4">
            <a:extLst>
              <a:ext uri="{FF2B5EF4-FFF2-40B4-BE49-F238E27FC236}">
                <a16:creationId xmlns:a16="http://schemas.microsoft.com/office/drawing/2014/main" id="{D258BDF2-A0DC-0C49-BC8A-8933961FCBAE}"/>
              </a:ext>
            </a:extLst>
          </p:cNvPr>
          <p:cNvSpPr>
            <a:spLocks noGrp="1"/>
          </p:cNvSpPr>
          <p:nvPr>
            <p:ph type="ftr" sz="quarter" idx="11"/>
          </p:nvPr>
        </p:nvSpPr>
        <p:spPr/>
        <p:txBody>
          <a:bodyPr/>
          <a:lstStyle>
            <a:lvl1pPr>
              <a:defRPr>
                <a:latin typeface="Arial" pitchFamily="34" charset="0"/>
                <a:ea typeface="MS PGothic" pitchFamily="34" charset="-128"/>
              </a:defRPr>
            </a:lvl1pPr>
          </a:lstStyle>
          <a:p>
            <a:pPr>
              <a:defRPr/>
            </a:pPr>
            <a:endParaRPr lang="en-US" altLang="zh-CN"/>
          </a:p>
        </p:txBody>
      </p:sp>
      <p:sp>
        <p:nvSpPr>
          <p:cNvPr id="7" name="Slide Number Placeholder 5">
            <a:extLst>
              <a:ext uri="{FF2B5EF4-FFF2-40B4-BE49-F238E27FC236}">
                <a16:creationId xmlns:a16="http://schemas.microsoft.com/office/drawing/2014/main" id="{3B904322-B7DB-E34A-A629-A6BDFA3533CB}"/>
              </a:ext>
            </a:extLst>
          </p:cNvPr>
          <p:cNvSpPr>
            <a:spLocks noGrp="1"/>
          </p:cNvSpPr>
          <p:nvPr>
            <p:ph type="sldNum" sz="quarter" idx="12"/>
          </p:nvPr>
        </p:nvSpPr>
        <p:spPr/>
        <p:txBody>
          <a:bodyPr/>
          <a:lstStyle>
            <a:lvl1pPr>
              <a:defRPr/>
            </a:lvl1pPr>
          </a:lstStyle>
          <a:p>
            <a:fld id="{9C268E4A-18BA-6248-9CFB-E4D4221368D5}" type="slidenum">
              <a:rPr lang="en-US" altLang="zh-CN"/>
              <a:pPr/>
              <a:t>‹#›</a:t>
            </a:fld>
            <a:endParaRPr lang="en-US" altLang="zh-CN"/>
          </a:p>
        </p:txBody>
      </p:sp>
    </p:spTree>
    <p:extLst>
      <p:ext uri="{BB962C8B-B14F-4D97-AF65-F5344CB8AC3E}">
        <p14:creationId xmlns:p14="http://schemas.microsoft.com/office/powerpoint/2010/main" val="25635995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187" indent="0" algn="ctr">
              <a:buNone/>
              <a:defRPr/>
            </a:lvl2pPr>
            <a:lvl3pPr marL="914373" indent="0" algn="ctr">
              <a:buNone/>
              <a:defRPr/>
            </a:lvl3pPr>
            <a:lvl4pPr marL="1371560" indent="0" algn="ctr">
              <a:buNone/>
              <a:defRPr/>
            </a:lvl4pPr>
            <a:lvl5pPr marL="1828746" indent="0" algn="ctr">
              <a:buNone/>
              <a:defRPr/>
            </a:lvl5pPr>
            <a:lvl6pPr marL="2285933" indent="0" algn="ctr">
              <a:buNone/>
              <a:defRPr/>
            </a:lvl6pPr>
            <a:lvl7pPr marL="2743119" indent="0" algn="ctr">
              <a:buNone/>
              <a:defRPr/>
            </a:lvl7pPr>
            <a:lvl8pPr marL="3200304" indent="0" algn="ctr">
              <a:buNone/>
              <a:defRPr/>
            </a:lvl8pPr>
            <a:lvl9pPr marL="365748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7E6E5836-59E0-4171-A839-FDF83D36B5CF}" type="datetime1">
              <a:rPr lang="en-US" altLang="en-US">
                <a:solidFill>
                  <a:srgbClr val="000000"/>
                </a:solidFill>
              </a:rPr>
              <a:pPr/>
              <a:t>1/23/25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073C53EB-CE5A-4687-B480-2EC7B33C28B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4568400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FE26DC40-5BAE-4790-8293-5A9F4E9DFFE2}" type="datetime1">
              <a:rPr lang="en-US" altLang="en-US">
                <a:solidFill>
                  <a:srgbClr val="000000"/>
                </a:solidFill>
              </a:rPr>
              <a:pPr/>
              <a:t>1/23/25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7B57F852-2704-4E86-A2AE-59F9E3637F4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972017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lvl1pPr>
            <a:lvl2pPr marL="457187" indent="0">
              <a:buNone/>
              <a:defRPr sz="1800"/>
            </a:lvl2pPr>
            <a:lvl3pPr marL="914373" indent="0">
              <a:buNone/>
              <a:defRPr sz="1600"/>
            </a:lvl3pPr>
            <a:lvl4pPr marL="1371560" indent="0">
              <a:buNone/>
              <a:defRPr sz="1400"/>
            </a:lvl4pPr>
            <a:lvl5pPr marL="1828746" indent="0">
              <a:buNone/>
              <a:defRPr sz="1400"/>
            </a:lvl5pPr>
            <a:lvl6pPr marL="2285933" indent="0">
              <a:buNone/>
              <a:defRPr sz="1400"/>
            </a:lvl6pPr>
            <a:lvl7pPr marL="2743119" indent="0">
              <a:buNone/>
              <a:defRPr sz="1400"/>
            </a:lvl7pPr>
            <a:lvl8pPr marL="3200304" indent="0">
              <a:buNone/>
              <a:defRPr sz="1400"/>
            </a:lvl8pPr>
            <a:lvl9pPr marL="365748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FA40466-3CCF-418B-9836-A274CF194698}" type="datetime1">
              <a:rPr lang="en-US" altLang="en-US">
                <a:solidFill>
                  <a:srgbClr val="000000"/>
                </a:solidFill>
              </a:rPr>
              <a:pPr/>
              <a:t>1/23/25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8CB22825-8CF5-46B7-B8A8-7656483C804E}"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286616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47215619-F6E2-475D-8660-D647ECD63277}" type="datetime1">
              <a:rPr lang="en-US" altLang="en-US">
                <a:solidFill>
                  <a:srgbClr val="000000"/>
                </a:solidFill>
              </a:rPr>
              <a:pPr/>
              <a:t>1/23/25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B4B91E3B-60E9-484B-BA78-6C1786A8FD1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9854091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989BCABE-8A97-4B8C-BB5D-162D4005935C}" type="datetime1">
              <a:rPr lang="en-US" altLang="en-US">
                <a:solidFill>
                  <a:srgbClr val="000000"/>
                </a:solidFill>
              </a:rPr>
              <a:pPr/>
              <a:t>1/23/25</a:t>
            </a:fld>
            <a:endParaRPr lang="en-US"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9"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94E882EF-EE3A-4F5D-BE78-AACA70FC0D1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8617818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31421911-776B-419D-8814-943EDC3821D8}" type="datetime1">
              <a:rPr lang="en-US" altLang="en-US">
                <a:solidFill>
                  <a:srgbClr val="000000"/>
                </a:solidFill>
              </a:rPr>
              <a:pPr/>
              <a:t>1/23/25</a:t>
            </a:fld>
            <a:endParaRPr lang="en-US"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5"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10CD6BF4-D29D-41B3-B8FB-C5677FFAC72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602319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B9B61F8-7E64-4059-8E0F-5CB94B7DF7DC}" type="datetime1">
              <a:rPr lang="en-US" altLang="en-US">
                <a:solidFill>
                  <a:srgbClr val="000000"/>
                </a:solidFill>
              </a:rPr>
              <a:pPr/>
              <a:t>1/23/25</a:t>
            </a:fld>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4" name="Slide Number Placeholder 3"/>
          <p:cNvSpPr>
            <a:spLocks noGrp="1"/>
          </p:cNvSpPr>
          <p:nvPr>
            <p:ph type="sldNum" sz="quarter" idx="12"/>
          </p:nvPr>
        </p:nvSpPr>
        <p:spPr/>
        <p:txBody>
          <a:bodyPr/>
          <a:lstStyle>
            <a:lvl1pPr>
              <a:defRPr/>
            </a:lvl1pPr>
          </a:lstStyle>
          <a:p>
            <a:r>
              <a:rPr lang="en-US" altLang="en-US">
                <a:solidFill>
                  <a:srgbClr val="000000"/>
                </a:solidFill>
              </a:rPr>
              <a:t>1-</a:t>
            </a:r>
            <a:fld id="{14363131-8D3F-441C-AF54-0C6A0F614F8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4873923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3"/>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0"/>
            <a:ext cx="3008313" cy="4691063"/>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D86CB8F9-4204-4A3E-9A6F-F61482B2D8A6}" type="datetime1">
              <a:rPr lang="en-US" altLang="en-US">
                <a:solidFill>
                  <a:srgbClr val="000000"/>
                </a:solidFill>
              </a:rPr>
              <a:pPr/>
              <a:t>1/23/25</a:t>
            </a:fld>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7" name="Slide Number Placeholder 6"/>
          <p:cNvSpPr>
            <a:spLocks noGrp="1"/>
          </p:cNvSpPr>
          <p:nvPr>
            <p:ph type="sldNum" sz="quarter" idx="12"/>
          </p:nvPr>
        </p:nvSpPr>
        <p:spPr/>
        <p:txBody>
          <a:bodyPr/>
          <a:lstStyle>
            <a:lvl1pPr>
              <a:defRPr/>
            </a:lvl1pPr>
          </a:lstStyle>
          <a:p>
            <a:r>
              <a:rPr lang="en-US" altLang="en-US">
                <a:solidFill>
                  <a:srgbClr val="000000"/>
                </a:solidFill>
              </a:rPr>
              <a:t>1-</a:t>
            </a:r>
            <a:fld id="{92D9BC90-3623-4F14-B220-ACE13663C83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85406199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7" indent="0">
              <a:buNone/>
              <a:defRPr sz="2800"/>
            </a:lvl2pPr>
            <a:lvl3pPr marL="914373" indent="0">
              <a:buNone/>
              <a:defRPr sz="2400"/>
            </a:lvl3pPr>
            <a:lvl4pPr marL="1371560" indent="0">
              <a:buNone/>
              <a:defRPr sz="2000"/>
            </a:lvl4pPr>
            <a:lvl5pPr marL="1828746" indent="0">
              <a:buNone/>
              <a:defRPr sz="2000"/>
            </a:lvl5pPr>
            <a:lvl6pPr marL="2285933" indent="0">
              <a:buNone/>
              <a:defRPr sz="2000"/>
            </a:lvl6pPr>
            <a:lvl7pPr marL="2743119" indent="0">
              <a:buNone/>
              <a:defRPr sz="2000"/>
            </a:lvl7pPr>
            <a:lvl8pPr marL="3200304" indent="0">
              <a:buNone/>
              <a:defRPr sz="2000"/>
            </a:lvl8pPr>
            <a:lvl9pPr marL="3657489"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D32E380-5DAA-41F7-ADDC-9396FD25F398}" type="datetime1">
              <a:rPr lang="en-US" altLang="en-US">
                <a:solidFill>
                  <a:srgbClr val="000000"/>
                </a:solidFill>
              </a:rPr>
              <a:pPr/>
              <a:t>1/23/25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E2D2F090-07E5-4060-BD76-BF2CC642FA0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7485278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2ACD37-2538-4D76-8293-FEBE9003A5A9}" type="datetime1">
              <a:rPr lang="en-US" altLang="en-US">
                <a:solidFill>
                  <a:srgbClr val="000000"/>
                </a:solidFill>
              </a:rPr>
              <a:pPr/>
              <a:t>1/23/25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6115EDD7-2835-402C-A56F-99BAF74A552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283914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3"/>
            <a:ext cx="19431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3" y="228603"/>
            <a:ext cx="56769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8F1A2C0-B6B8-48B5-872E-E7A3CEC2B3A2}" type="datetime1">
              <a:rPr lang="en-US" altLang="en-US">
                <a:solidFill>
                  <a:srgbClr val="000000"/>
                </a:solidFill>
              </a:rPr>
              <a:pPr/>
              <a:t>1/23/25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2526A1F3-A62D-4416-AD29-0286EBEE939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8554918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3" y="16113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3" y="40116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lvl1pPr>
              <a:defRPr/>
            </a:lvl1pPr>
          </a:lstStyle>
          <a:p>
            <a:fld id="{93DEC4EE-1610-4D4F-A651-720D97FFC8FC}" type="datetime1">
              <a:rPr lang="en-US" altLang="en-US">
                <a:solidFill>
                  <a:srgbClr val="000000"/>
                </a:solidFill>
              </a:rPr>
              <a:pPr/>
              <a:t>1/23/25</a:t>
            </a:fld>
            <a:endParaRPr lang="en-US" altLang="en-US">
              <a:solidFill>
                <a:srgbClr val="000000"/>
              </a:solidFill>
            </a:endParaRPr>
          </a:p>
        </p:txBody>
      </p:sp>
      <p:sp>
        <p:nvSpPr>
          <p:cNvPr id="7" name="Footer Placeholder 6"/>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8" name="Slide Number Placeholder 7"/>
          <p:cNvSpPr>
            <a:spLocks noGrp="1"/>
          </p:cNvSpPr>
          <p:nvPr>
            <p:ph type="sldNum" sz="quarter" idx="12"/>
          </p:nvPr>
        </p:nvSpPr>
        <p:spPr/>
        <p:txBody>
          <a:bodyPr/>
          <a:lstStyle>
            <a:lvl1pPr>
              <a:defRPr/>
            </a:lvl1pPr>
          </a:lstStyle>
          <a:p>
            <a:r>
              <a:rPr lang="en-US" altLang="en-US">
                <a:solidFill>
                  <a:srgbClr val="000000"/>
                </a:solidFill>
              </a:rPr>
              <a:t>1</a:t>
            </a:r>
            <a:fld id="{7E205F02-5D9D-48E5-A3E2-6328A815456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174741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8891EDBE-6097-43A8-983B-C33686176061}" type="datetime1">
              <a:rPr lang="en-US" altLang="en-US"/>
              <a:pPr/>
              <a:t>1/23/25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8B82D872-44A0-41D7-B84E-8753956EFFF2}" type="slidenum">
              <a:rPr lang="en-US" altLang="en-US"/>
              <a:pPr/>
              <a:t>‹#›</a:t>
            </a:fld>
            <a:endParaRPr lang="en-US" altLang="en-US"/>
          </a:p>
        </p:txBody>
      </p:sp>
    </p:spTree>
    <p:extLst>
      <p:ext uri="{BB962C8B-B14F-4D97-AF65-F5344CB8AC3E}">
        <p14:creationId xmlns:p14="http://schemas.microsoft.com/office/powerpoint/2010/main" val="188907652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3" y="1600201"/>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fld id="{1A6D2697-C926-4CDD-A45C-D8BEE4AABD33}" type="datetime1">
              <a:rPr lang="en-US" altLang="en-US"/>
              <a:pPr/>
              <a:t>1/23/25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42BF4790-0D82-4DB6-9287-DC4166B70394}" type="slidenum">
              <a:rPr lang="en-US" altLang="en-US"/>
              <a:pPr/>
              <a:t>‹#›</a:t>
            </a:fld>
            <a:endParaRPr lang="en-US" altLang="en-US"/>
          </a:p>
        </p:txBody>
      </p:sp>
    </p:spTree>
    <p:extLst>
      <p:ext uri="{BB962C8B-B14F-4D97-AF65-F5344CB8AC3E}">
        <p14:creationId xmlns:p14="http://schemas.microsoft.com/office/powerpoint/2010/main" val="8057103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C17BA8DE-CAE3-488D-B13C-DECCCFCA66E7}" type="datetime1">
              <a:rPr lang="en-US" altLang="en-US"/>
              <a:pPr/>
              <a:t>1/23/25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DD25942D-568D-4C1B-8A8C-A75F252B2F1C}" type="slidenum">
              <a:rPr lang="en-US" altLang="en-US"/>
              <a:pPr/>
              <a:t>‹#›</a:t>
            </a:fld>
            <a:endParaRPr lang="en-US" altLang="en-US"/>
          </a:p>
        </p:txBody>
      </p:sp>
    </p:spTree>
    <p:extLst>
      <p:ext uri="{BB962C8B-B14F-4D97-AF65-F5344CB8AC3E}">
        <p14:creationId xmlns:p14="http://schemas.microsoft.com/office/powerpoint/2010/main" val="172616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image" Target="../media/image5.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4.png"/><Relationship Id="rId2" Type="http://schemas.openxmlformats.org/officeDocument/2006/relationships/slideLayout" Target="../slideLayouts/slideLayout27.xml"/><Relationship Id="rId16" Type="http://schemas.openxmlformats.org/officeDocument/2006/relationships/image" Target="../media/image3.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2.pn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4.xml"/><Relationship Id="rId2" Type="http://schemas.openxmlformats.org/officeDocument/2006/relationships/slideLayout" Target="../slideLayouts/slideLayout53.xml"/><Relationship Id="rId1" Type="http://schemas.openxmlformats.org/officeDocument/2006/relationships/slideLayout" Target="../slideLayouts/slideLayout52.xml"/><Relationship Id="rId5" Type="http://schemas.openxmlformats.org/officeDocument/2006/relationships/theme" Target="../theme/theme5.xml"/><Relationship Id="rId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6" Type="http://schemas.openxmlformats.org/officeDocument/2006/relationships/theme" Target="../theme/theme6.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圓形圖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橢圓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甜甜圈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標題版面配置區 4"/>
          <p:cNvSpPr>
            <a:spLocks noGrp="1"/>
          </p:cNvSpPr>
          <p:nvPr>
            <p:ph type="title"/>
          </p:nvPr>
        </p:nvSpPr>
        <p:spPr>
          <a:xfrm>
            <a:off x="1435608" y="274638"/>
            <a:ext cx="7498080" cy="1143000"/>
          </a:xfrm>
          <a:prstGeom prst="rect">
            <a:avLst/>
          </a:prstGeom>
        </p:spPr>
        <p:txBody>
          <a:bodyPr anchor="ctr">
            <a:normAutofit/>
          </a:bodyPr>
          <a:lstStyle/>
          <a:p>
            <a:r>
              <a:rPr kumimoji="0" lang="zh-TW" altLang="en-US"/>
              <a:t>按一下以編輯母片標題樣式</a:t>
            </a:r>
            <a:endParaRPr kumimoji="0" lang="en-US"/>
          </a:p>
        </p:txBody>
      </p:sp>
      <p:sp>
        <p:nvSpPr>
          <p:cNvPr id="9" name="文字版面配置區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24" name="日期版面配置區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F7F571EB-8D01-4B64-838E-CA7E822EEDC6}" type="datetime1">
              <a:rPr lang="zh-TW" altLang="en-US" smtClean="0"/>
              <a:t>2025/1/23</a:t>
            </a:fld>
            <a:endParaRPr lang="zh-TW" altLang="en-US"/>
          </a:p>
        </p:txBody>
      </p:sp>
      <p:sp>
        <p:nvSpPr>
          <p:cNvPr id="10" name="頁尾版面配置區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TW" altLang="en-US"/>
          </a:p>
        </p:txBody>
      </p:sp>
      <p:sp>
        <p:nvSpPr>
          <p:cNvPr id="22" name="投影片編號版面配置區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73DA0BB7-265A-403C-9275-D587AB510EDC}" type="slidenum">
              <a:rPr lang="zh-TW" altLang="en-US" smtClean="0"/>
              <a:pPr/>
              <a:t>‹#›</a:t>
            </a:fld>
            <a:endParaRPr lang="zh-TW"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69727" y="178594"/>
            <a:ext cx="7804547" cy="15180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669727" y="1821656"/>
            <a:ext cx="7804547" cy="442019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49997" y="6536531"/>
            <a:ext cx="256480" cy="275717"/>
          </a:xfrm>
          <a:prstGeom prst="rect">
            <a:avLst/>
          </a:prstGeom>
          <a:ln w="12700">
            <a:miter lim="400000"/>
          </a:ln>
        </p:spPr>
        <p:txBody>
          <a:bodyPr wrap="none" lIns="50800" tIns="50800" rIns="50800" bIns="50800">
            <a:spAutoFit/>
          </a:bodyPr>
          <a:lstStyle>
            <a:lvl1pPr>
              <a:defRPr sz="1125" b="0">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3515284493"/>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Lst>
  <p:transition spd="med"/>
  <p:txStyles>
    <p:titleStyle>
      <a:lvl1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1pPr>
      <a:lvl2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2pPr>
      <a:lvl3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3pPr>
      <a:lvl4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4pPr>
      <a:lvl5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5pPr>
      <a:lvl6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6pPr>
      <a:lvl7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7pPr>
      <a:lvl8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8pPr>
      <a:lvl9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Neue Medium"/>
        </a:defRPr>
      </a:lvl9pPr>
    </p:titleStyle>
    <p:bodyStyle>
      <a:lvl1pPr marL="312528"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1pPr>
      <a:lvl2pPr marL="625056"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2pPr>
      <a:lvl3pPr marL="937584"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3pPr>
      <a:lvl4pPr marL="1250112"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4pPr>
      <a:lvl5pPr marL="1562640"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5pPr>
      <a:lvl6pPr marL="1875168"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6pPr>
      <a:lvl7pPr marL="2187696"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7pPr>
      <a:lvl8pPr marL="2500224"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8pPr>
      <a:lvl9pPr marL="2812752" marR="0" indent="-312528" algn="l" defTabSz="410751" rtl="0" latinLnBrk="0">
        <a:lnSpc>
          <a:spcPct val="100000"/>
        </a:lnSpc>
        <a:spcBef>
          <a:spcPts val="2953"/>
        </a:spcBef>
        <a:spcAft>
          <a:spcPts val="0"/>
        </a:spcAft>
        <a:buClrTx/>
        <a:buSzPct val="145000"/>
        <a:buFontTx/>
        <a:buChar char="•"/>
        <a:tabLst/>
        <a:defRPr sz="225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1pPr>
      <a:lvl2pPr marL="0" marR="0" indent="160729"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2pPr>
      <a:lvl3pPr marL="0" marR="0" indent="321457"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3pPr>
      <a:lvl4pPr marL="0" marR="0" indent="482186"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4pPr>
      <a:lvl5pPr marL="0" marR="0" indent="642915"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5pPr>
      <a:lvl6pPr marL="0" marR="0" indent="803643"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6pPr>
      <a:lvl7pPr marL="0" marR="0" indent="964372"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7pPr>
      <a:lvl8pPr marL="0" marR="0" indent="1125101"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8pPr>
      <a:lvl9pPr marL="0" marR="0" indent="1285829"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3AED9463-3D92-2D49-AACD-036368876E2D}"/>
              </a:ext>
            </a:extLst>
          </p:cNvPr>
          <p:cNvSpPr>
            <a:spLocks noChangeArrowheads="1"/>
          </p:cNvSpPr>
          <p:nvPr/>
        </p:nvSpPr>
        <p:spPr bwMode="auto">
          <a:xfrm>
            <a:off x="0" y="1"/>
            <a:ext cx="9144000" cy="6531086"/>
          </a:xfrm>
          <a:prstGeom prst="rect">
            <a:avLst/>
          </a:prstGeom>
          <a:solidFill>
            <a:srgbClr val="FFFFFF">
              <a:alpha val="60001"/>
            </a:srgbClr>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33"/>
          </a:p>
        </p:txBody>
      </p:sp>
      <p:sp>
        <p:nvSpPr>
          <p:cNvPr id="57347" name="Rectangle 3">
            <a:extLst>
              <a:ext uri="{FF2B5EF4-FFF2-40B4-BE49-F238E27FC236}">
                <a16:creationId xmlns:a16="http://schemas.microsoft.com/office/drawing/2014/main" id="{6D2F8A97-8EC4-F648-8A68-F680E3C74038}"/>
              </a:ext>
            </a:extLst>
          </p:cNvPr>
          <p:cNvSpPr>
            <a:spLocks noChangeArrowheads="1"/>
          </p:cNvSpPr>
          <p:nvPr/>
        </p:nvSpPr>
        <p:spPr bwMode="auto">
          <a:xfrm>
            <a:off x="0" y="6562770"/>
            <a:ext cx="9144000" cy="319714"/>
          </a:xfrm>
          <a:prstGeom prst="rect">
            <a:avLst/>
          </a:prstGeom>
          <a:gradFill rotWithShape="0">
            <a:gsLst>
              <a:gs pos="0">
                <a:srgbClr val="000000">
                  <a:alpha val="55000"/>
                </a:srgbClr>
              </a:gs>
              <a:gs pos="100000">
                <a:srgbClr val="FF0000">
                  <a:alpha val="35001"/>
                </a:srgbClr>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633"/>
          </a:p>
        </p:txBody>
      </p:sp>
      <p:sp>
        <p:nvSpPr>
          <p:cNvPr id="57348" name="Text Box 4">
            <a:extLst>
              <a:ext uri="{FF2B5EF4-FFF2-40B4-BE49-F238E27FC236}">
                <a16:creationId xmlns:a16="http://schemas.microsoft.com/office/drawing/2014/main" id="{4687BE78-21C2-D747-910D-B39AEE125BFB}"/>
              </a:ext>
            </a:extLst>
          </p:cNvPr>
          <p:cNvSpPr txBox="1">
            <a:spLocks noChangeArrowheads="1"/>
          </p:cNvSpPr>
          <p:nvPr/>
        </p:nvSpPr>
        <p:spPr bwMode="auto">
          <a:xfrm>
            <a:off x="0" y="6564209"/>
            <a:ext cx="9144000" cy="296344"/>
          </a:xfrm>
          <a:prstGeom prst="rect">
            <a:avLst/>
          </a:prstGeom>
          <a:gradFill rotWithShape="1">
            <a:gsLst>
              <a:gs pos="0">
                <a:srgbClr val="760000">
                  <a:alpha val="39999"/>
                </a:srgbClr>
              </a:gs>
              <a:gs pos="100000">
                <a:srgbClr val="FF0000">
                  <a:alpha val="39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9930" tIns="49965" rIns="99930" bIns="49965">
            <a:spAutoFit/>
          </a:bodyPr>
          <a:lstStyle>
            <a:lvl1pPr algn="l" defTabSz="1101725">
              <a:lnSpc>
                <a:spcPct val="81000"/>
              </a:lnSpc>
              <a:spcBef>
                <a:spcPct val="0"/>
              </a:spcBef>
              <a:buClr>
                <a:srgbClr val="000000"/>
              </a:buClr>
              <a:buSzPct val="45000"/>
              <a:defRPr>
                <a:solidFill>
                  <a:srgbClr val="000000"/>
                </a:solidFill>
                <a:latin typeface="Arial" panose="020B0604020202020204" pitchFamily="34" charset="0"/>
              </a:defRPr>
            </a:lvl1pPr>
            <a:lvl2pPr marL="550863" algn="l" defTabSz="1101725">
              <a:lnSpc>
                <a:spcPct val="81000"/>
              </a:lnSpc>
              <a:spcBef>
                <a:spcPct val="0"/>
              </a:spcBef>
              <a:buClr>
                <a:srgbClr val="000000"/>
              </a:buClr>
              <a:buSzPct val="45000"/>
              <a:defRPr>
                <a:solidFill>
                  <a:srgbClr val="000000"/>
                </a:solidFill>
                <a:latin typeface="Arial" panose="020B0604020202020204" pitchFamily="34" charset="0"/>
              </a:defRPr>
            </a:lvl2pPr>
            <a:lvl3pPr marL="1101725" algn="l" defTabSz="1101725">
              <a:lnSpc>
                <a:spcPct val="81000"/>
              </a:lnSpc>
              <a:spcBef>
                <a:spcPct val="0"/>
              </a:spcBef>
              <a:buClr>
                <a:srgbClr val="000000"/>
              </a:buClr>
              <a:buSzPct val="45000"/>
              <a:defRPr>
                <a:solidFill>
                  <a:srgbClr val="000000"/>
                </a:solidFill>
                <a:latin typeface="Arial" panose="020B0604020202020204" pitchFamily="34" charset="0"/>
              </a:defRPr>
            </a:lvl3pPr>
            <a:lvl4pPr marL="1654175" algn="l" defTabSz="1101725">
              <a:lnSpc>
                <a:spcPct val="81000"/>
              </a:lnSpc>
              <a:spcBef>
                <a:spcPct val="0"/>
              </a:spcBef>
              <a:buClr>
                <a:srgbClr val="000000"/>
              </a:buClr>
              <a:buSzPct val="45000"/>
              <a:defRPr>
                <a:solidFill>
                  <a:srgbClr val="000000"/>
                </a:solidFill>
                <a:latin typeface="Arial" panose="020B0604020202020204" pitchFamily="34" charset="0"/>
              </a:defRPr>
            </a:lvl4pPr>
            <a:lvl5pPr marL="2205038" algn="l" defTabSz="1101725">
              <a:lnSpc>
                <a:spcPct val="81000"/>
              </a:lnSpc>
              <a:spcBef>
                <a:spcPct val="0"/>
              </a:spcBef>
              <a:buClr>
                <a:srgbClr val="000000"/>
              </a:buClr>
              <a:buSzPct val="45000"/>
              <a:defRPr>
                <a:solidFill>
                  <a:srgbClr val="000000"/>
                </a:solidFill>
                <a:latin typeface="Arial" panose="020B0604020202020204" pitchFamily="34" charset="0"/>
              </a:defRPr>
            </a:lvl5pPr>
            <a:lvl6pPr marL="26622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31194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35766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4033838" defTabSz="1101725"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a:lnSpc>
                <a:spcPct val="100000"/>
              </a:lnSpc>
              <a:spcBef>
                <a:spcPct val="50000"/>
              </a:spcBef>
              <a:buClrTx/>
              <a:buSzTx/>
              <a:buFontTx/>
              <a:buNone/>
            </a:pPr>
            <a:r>
              <a:rPr lang="en-US" altLang="en-US" sz="1270">
                <a:solidFill>
                  <a:schemeClr val="bg1"/>
                </a:solidFill>
                <a:effectLst>
                  <a:outerShdw blurRad="38100" dist="38100" dir="2700000" algn="tl">
                    <a:srgbClr val="000000"/>
                  </a:outerShdw>
                </a:effectLst>
                <a:latin typeface="Frutiger Linotype" pitchFamily="34" charset="0"/>
              </a:rPr>
              <a:t>U</a:t>
            </a:r>
            <a:r>
              <a:rPr lang="en-US" altLang="en-US" sz="1089">
                <a:solidFill>
                  <a:schemeClr val="bg1"/>
                </a:solidFill>
                <a:effectLst>
                  <a:outerShdw blurRad="38100" dist="38100" dir="2700000" algn="tl">
                    <a:srgbClr val="000000"/>
                  </a:outerShdw>
                </a:effectLst>
                <a:latin typeface="Frutiger Linotype" pitchFamily="34" charset="0"/>
              </a:rPr>
              <a:t>NIVERSITY OF </a:t>
            </a:r>
            <a:r>
              <a:rPr lang="en-US" altLang="en-US" sz="1270">
                <a:solidFill>
                  <a:schemeClr val="bg1"/>
                </a:solidFill>
                <a:effectLst>
                  <a:outerShdw blurRad="38100" dist="38100" dir="2700000" algn="tl">
                    <a:srgbClr val="000000"/>
                  </a:outerShdw>
                </a:effectLst>
                <a:latin typeface="Frutiger Linotype" pitchFamily="34" charset="0"/>
              </a:rPr>
              <a:t>M</a:t>
            </a:r>
            <a:r>
              <a:rPr lang="en-US" altLang="en-US" sz="1089">
                <a:solidFill>
                  <a:schemeClr val="bg1"/>
                </a:solidFill>
                <a:effectLst>
                  <a:outerShdw blurRad="38100" dist="38100" dir="2700000" algn="tl">
                    <a:srgbClr val="000000"/>
                  </a:outerShdw>
                </a:effectLst>
                <a:latin typeface="Frutiger Linotype" pitchFamily="34" charset="0"/>
              </a:rPr>
              <a:t>ASSACHUSETTS</a:t>
            </a:r>
            <a:r>
              <a:rPr lang="en-US" altLang="en-US" sz="1270">
                <a:solidFill>
                  <a:schemeClr val="bg1"/>
                </a:solidFill>
                <a:effectLst>
                  <a:outerShdw blurRad="38100" dist="38100" dir="2700000" algn="tl">
                    <a:srgbClr val="000000"/>
                  </a:outerShdw>
                </a:effectLst>
                <a:latin typeface="Frutiger Linotype" pitchFamily="34" charset="0"/>
              </a:rPr>
              <a:t>, A</a:t>
            </a:r>
            <a:r>
              <a:rPr lang="en-US" altLang="en-US" sz="1089">
                <a:solidFill>
                  <a:schemeClr val="bg1"/>
                </a:solidFill>
                <a:effectLst>
                  <a:outerShdw blurRad="38100" dist="38100" dir="2700000" algn="tl">
                    <a:srgbClr val="000000"/>
                  </a:outerShdw>
                </a:effectLst>
                <a:latin typeface="Frutiger Linotype" pitchFamily="34" charset="0"/>
              </a:rPr>
              <a:t>MHERST  • </a:t>
            </a:r>
            <a:r>
              <a:rPr lang="en-US" altLang="en-US" sz="1270">
                <a:solidFill>
                  <a:schemeClr val="bg1"/>
                </a:solidFill>
                <a:effectLst>
                  <a:outerShdw blurRad="38100" dist="38100" dir="2700000" algn="tl">
                    <a:srgbClr val="000000"/>
                  </a:outerShdw>
                </a:effectLst>
                <a:latin typeface="Frutiger Linotype" pitchFamily="34" charset="0"/>
              </a:rPr>
              <a:t> Department of Computer Science</a:t>
            </a:r>
            <a:endParaRPr lang="en-US" altLang="en-US" sz="1089">
              <a:solidFill>
                <a:schemeClr val="bg1"/>
              </a:solidFill>
              <a:effectLst>
                <a:outerShdw blurRad="38100" dist="38100" dir="2700000" algn="tl">
                  <a:srgbClr val="000000"/>
                </a:outerShdw>
              </a:effectLst>
              <a:latin typeface="Frutiger Linotype" pitchFamily="34" charset="0"/>
            </a:endParaRPr>
          </a:p>
        </p:txBody>
      </p:sp>
      <p:sp>
        <p:nvSpPr>
          <p:cNvPr id="57349" name="Rectangle 5">
            <a:extLst>
              <a:ext uri="{FF2B5EF4-FFF2-40B4-BE49-F238E27FC236}">
                <a16:creationId xmlns:a16="http://schemas.microsoft.com/office/drawing/2014/main" id="{3DE1A994-ACBA-6D44-ACB2-00473B2E84A4}"/>
              </a:ext>
            </a:extLst>
          </p:cNvPr>
          <p:cNvSpPr>
            <a:spLocks noGrp="1" noChangeArrowheads="1"/>
          </p:cNvSpPr>
          <p:nvPr>
            <p:ph type="sldNum" sz="quarter" idx="4"/>
          </p:nvPr>
        </p:nvSpPr>
        <p:spPr bwMode="auto">
          <a:xfrm>
            <a:off x="8382240" y="6531086"/>
            <a:ext cx="678240" cy="32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0166" tIns="55083" rIns="110166" bIns="55083" numCol="1" anchor="ctr" anchorCtr="0" compatLnSpc="1">
            <a:prstTxWarp prst="textNoShape">
              <a:avLst/>
            </a:prstTxWarp>
          </a:bodyPr>
          <a:lstStyle>
            <a:lvl1pPr algn="r" defTabSz="999375" eaLnBrk="0" hangingPunct="0">
              <a:lnSpc>
                <a:spcPct val="100000"/>
              </a:lnSpc>
              <a:spcBef>
                <a:spcPct val="0"/>
              </a:spcBef>
              <a:buClrTx/>
              <a:buSzTx/>
              <a:buFontTx/>
              <a:buNone/>
              <a:defRPr sz="998">
                <a:solidFill>
                  <a:schemeClr val="bg1"/>
                </a:solidFill>
                <a:latin typeface="Gill Sans MT" panose="020B0502020104020203" pitchFamily="34" charset="77"/>
              </a:defRPr>
            </a:lvl1pPr>
          </a:lstStyle>
          <a:p>
            <a:fld id="{7BFAE26D-32DC-504F-8A43-984866D0C03A}" type="slidenum">
              <a:rPr lang="en-US" altLang="en-US"/>
              <a:pPr/>
              <a:t>‹#›</a:t>
            </a:fld>
            <a:endParaRPr lang="en-US" altLang="en-US"/>
          </a:p>
        </p:txBody>
      </p:sp>
      <p:pic>
        <p:nvPicPr>
          <p:cNvPr id="57350" name="Picture 6" descr="newseal200">
            <a:extLst>
              <a:ext uri="{FF2B5EF4-FFF2-40B4-BE49-F238E27FC236}">
                <a16:creationId xmlns:a16="http://schemas.microsoft.com/office/drawing/2014/main" id="{65D6D199-450B-8340-B8D5-AC1F5B02827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960" y="6286261"/>
            <a:ext cx="588960" cy="571740"/>
          </a:xfrm>
          <a:prstGeom prst="rect">
            <a:avLst/>
          </a:prstGeom>
          <a:noFill/>
          <a:extLst>
            <a:ext uri="{909E8E84-426E-40DD-AFC4-6F175D3DCCD1}">
              <a14:hiddenFill xmlns:a14="http://schemas.microsoft.com/office/drawing/2010/main">
                <a:solidFill>
                  <a:srgbClr val="FFFFFF"/>
                </a:solidFill>
              </a14:hiddenFill>
            </a:ext>
          </a:extLst>
        </p:spPr>
      </p:pic>
      <p:sp>
        <p:nvSpPr>
          <p:cNvPr id="57351" name="Rectangle 7">
            <a:extLst>
              <a:ext uri="{FF2B5EF4-FFF2-40B4-BE49-F238E27FC236}">
                <a16:creationId xmlns:a16="http://schemas.microsoft.com/office/drawing/2014/main" id="{DAA7E3B5-4236-F642-88D8-D6E4780927BC}"/>
              </a:ext>
            </a:extLst>
          </p:cNvPr>
          <p:cNvSpPr>
            <a:spLocks noGrp="1" noChangeArrowheads="1"/>
          </p:cNvSpPr>
          <p:nvPr>
            <p:ph type="title"/>
          </p:nvPr>
        </p:nvSpPr>
        <p:spPr bwMode="auto">
          <a:xfrm>
            <a:off x="457921" y="152656"/>
            <a:ext cx="8229600" cy="99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783" tIns="50392" rIns="100783" bIns="50392" numCol="1" anchor="ctr" anchorCtr="0" compatLnSpc="1">
            <a:prstTxWarp prst="textNoShape">
              <a:avLst/>
            </a:prstTxWarp>
          </a:bodyPr>
          <a:lstStyle/>
          <a:p>
            <a:pPr lvl="0"/>
            <a:r>
              <a:rPr lang="en-US" altLang="zh-CN"/>
              <a:t>Click to edit Master title style</a:t>
            </a:r>
          </a:p>
        </p:txBody>
      </p:sp>
      <p:sp>
        <p:nvSpPr>
          <p:cNvPr id="57352" name="Rectangle 8">
            <a:extLst>
              <a:ext uri="{FF2B5EF4-FFF2-40B4-BE49-F238E27FC236}">
                <a16:creationId xmlns:a16="http://schemas.microsoft.com/office/drawing/2014/main" id="{8AEDEFA4-2524-A845-A7A4-189C5589F095}"/>
              </a:ext>
            </a:extLst>
          </p:cNvPr>
          <p:cNvSpPr>
            <a:spLocks noGrp="1" noChangeArrowheads="1"/>
          </p:cNvSpPr>
          <p:nvPr>
            <p:ph type="body" idx="1"/>
          </p:nvPr>
        </p:nvSpPr>
        <p:spPr bwMode="auto">
          <a:xfrm>
            <a:off x="381600" y="1143480"/>
            <a:ext cx="8305920" cy="4982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0783" tIns="50392" rIns="100783" bIns="50392"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57353" name="Line 9">
            <a:extLst>
              <a:ext uri="{FF2B5EF4-FFF2-40B4-BE49-F238E27FC236}">
                <a16:creationId xmlns:a16="http://schemas.microsoft.com/office/drawing/2014/main" id="{45C83186-4FAD-B04E-B512-E654107A9C2B}"/>
              </a:ext>
            </a:extLst>
          </p:cNvPr>
          <p:cNvSpPr>
            <a:spLocks noChangeShapeType="1"/>
          </p:cNvSpPr>
          <p:nvPr/>
        </p:nvSpPr>
        <p:spPr bwMode="auto">
          <a:xfrm>
            <a:off x="152640" y="914496"/>
            <a:ext cx="876240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33"/>
          </a:p>
        </p:txBody>
      </p:sp>
    </p:spTree>
    <p:extLst>
      <p:ext uri="{BB962C8B-B14F-4D97-AF65-F5344CB8AC3E}">
        <p14:creationId xmlns:p14="http://schemas.microsoft.com/office/powerpoint/2010/main" val="3615952952"/>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Lst>
  <p:transition spd="med">
    <p:fade thruBlk="1"/>
  </p:transition>
  <p:hf hdr="0" ftr="0" dt="0"/>
  <p:txStyles>
    <p:titleStyle>
      <a:lvl1pPr algn="l" defTabSz="914414" rtl="0" fontAlgn="base">
        <a:spcBef>
          <a:spcPct val="0"/>
        </a:spcBef>
        <a:spcAft>
          <a:spcPct val="0"/>
        </a:spcAft>
        <a:defRPr sz="3175" b="1" kern="1200">
          <a:solidFill>
            <a:schemeClr val="folHlink"/>
          </a:solidFill>
          <a:latin typeface="+mj-lt"/>
          <a:ea typeface="+mj-ea"/>
          <a:cs typeface="+mj-cs"/>
        </a:defRPr>
      </a:lvl1pPr>
      <a:lvl2pPr algn="l" defTabSz="914414" rtl="0" fontAlgn="base">
        <a:spcBef>
          <a:spcPct val="0"/>
        </a:spcBef>
        <a:spcAft>
          <a:spcPct val="0"/>
        </a:spcAft>
        <a:defRPr sz="3175" b="1">
          <a:solidFill>
            <a:schemeClr val="folHlink"/>
          </a:solidFill>
          <a:latin typeface="Verdana" panose="020B0604030504040204" pitchFamily="34" charset="0"/>
        </a:defRPr>
      </a:lvl2pPr>
      <a:lvl3pPr algn="l" defTabSz="914414" rtl="0" fontAlgn="base">
        <a:spcBef>
          <a:spcPct val="0"/>
        </a:spcBef>
        <a:spcAft>
          <a:spcPct val="0"/>
        </a:spcAft>
        <a:defRPr sz="3175" b="1">
          <a:solidFill>
            <a:schemeClr val="folHlink"/>
          </a:solidFill>
          <a:latin typeface="Verdana" panose="020B0604030504040204" pitchFamily="34" charset="0"/>
        </a:defRPr>
      </a:lvl3pPr>
      <a:lvl4pPr algn="l" defTabSz="914414" rtl="0" fontAlgn="base">
        <a:spcBef>
          <a:spcPct val="0"/>
        </a:spcBef>
        <a:spcAft>
          <a:spcPct val="0"/>
        </a:spcAft>
        <a:defRPr sz="3175" b="1">
          <a:solidFill>
            <a:schemeClr val="folHlink"/>
          </a:solidFill>
          <a:latin typeface="Verdana" panose="020B0604030504040204" pitchFamily="34" charset="0"/>
        </a:defRPr>
      </a:lvl4pPr>
      <a:lvl5pPr algn="l" defTabSz="914414" rtl="0" fontAlgn="base">
        <a:spcBef>
          <a:spcPct val="0"/>
        </a:spcBef>
        <a:spcAft>
          <a:spcPct val="0"/>
        </a:spcAft>
        <a:defRPr sz="3175" b="1">
          <a:solidFill>
            <a:schemeClr val="folHlink"/>
          </a:solidFill>
          <a:latin typeface="Verdana" panose="020B0604030504040204" pitchFamily="34" charset="0"/>
        </a:defRPr>
      </a:lvl5pPr>
      <a:lvl6pPr marL="414726" algn="l" defTabSz="914414" rtl="0" fontAlgn="base">
        <a:spcBef>
          <a:spcPct val="0"/>
        </a:spcBef>
        <a:spcAft>
          <a:spcPct val="0"/>
        </a:spcAft>
        <a:defRPr sz="3175" b="1">
          <a:solidFill>
            <a:schemeClr val="folHlink"/>
          </a:solidFill>
          <a:latin typeface="Verdana" panose="020B0604030504040204" pitchFamily="34" charset="0"/>
        </a:defRPr>
      </a:lvl6pPr>
      <a:lvl7pPr marL="829452" algn="l" defTabSz="914414" rtl="0" fontAlgn="base">
        <a:spcBef>
          <a:spcPct val="0"/>
        </a:spcBef>
        <a:spcAft>
          <a:spcPct val="0"/>
        </a:spcAft>
        <a:defRPr sz="3175" b="1">
          <a:solidFill>
            <a:schemeClr val="folHlink"/>
          </a:solidFill>
          <a:latin typeface="Verdana" panose="020B0604030504040204" pitchFamily="34" charset="0"/>
        </a:defRPr>
      </a:lvl7pPr>
      <a:lvl8pPr marL="1244178" algn="l" defTabSz="914414" rtl="0" fontAlgn="base">
        <a:spcBef>
          <a:spcPct val="0"/>
        </a:spcBef>
        <a:spcAft>
          <a:spcPct val="0"/>
        </a:spcAft>
        <a:defRPr sz="3175" b="1">
          <a:solidFill>
            <a:schemeClr val="folHlink"/>
          </a:solidFill>
          <a:latin typeface="Verdana" panose="020B0604030504040204" pitchFamily="34" charset="0"/>
        </a:defRPr>
      </a:lvl8pPr>
      <a:lvl9pPr marL="1658904" algn="l" defTabSz="914414" rtl="0" fontAlgn="base">
        <a:spcBef>
          <a:spcPct val="0"/>
        </a:spcBef>
        <a:spcAft>
          <a:spcPct val="0"/>
        </a:spcAft>
        <a:defRPr sz="3175" b="1">
          <a:solidFill>
            <a:schemeClr val="folHlink"/>
          </a:solidFill>
          <a:latin typeface="Verdana" panose="020B0604030504040204" pitchFamily="34" charset="0"/>
        </a:defRPr>
      </a:lvl9pPr>
    </p:titleStyle>
    <p:bodyStyle>
      <a:lvl1pPr marL="341285" indent="-341285" algn="l" defTabSz="914414" rtl="0" fontAlgn="base">
        <a:spcBef>
          <a:spcPct val="20000"/>
        </a:spcBef>
        <a:spcAft>
          <a:spcPct val="0"/>
        </a:spcAft>
        <a:buClr>
          <a:schemeClr val="folHlink"/>
        </a:buClr>
        <a:buSzPct val="60000"/>
        <a:buFont typeface="Wingdings" pitchFamily="2" charset="2"/>
        <a:buBlip>
          <a:blip r:embed="rId17"/>
        </a:buBlip>
        <a:defRPr sz="2812" kern="1200">
          <a:solidFill>
            <a:schemeClr val="tx1"/>
          </a:solidFill>
          <a:latin typeface="+mn-lt"/>
          <a:ea typeface="+mn-ea"/>
          <a:cs typeface="+mn-cs"/>
        </a:defRPr>
      </a:lvl1pPr>
      <a:lvl2pPr marL="743051" indent="-286565" algn="l" defTabSz="914414" rtl="0" fontAlgn="base">
        <a:spcBef>
          <a:spcPct val="20000"/>
        </a:spcBef>
        <a:spcAft>
          <a:spcPct val="0"/>
        </a:spcAft>
        <a:buClr>
          <a:schemeClr val="hlink"/>
        </a:buClr>
        <a:buSzPct val="55000"/>
        <a:buFont typeface="Wingdings" pitchFamily="2" charset="2"/>
        <a:buBlip>
          <a:blip r:embed="rId18"/>
        </a:buBlip>
        <a:defRPr sz="2358" kern="1200">
          <a:solidFill>
            <a:schemeClr val="tx1"/>
          </a:solidFill>
          <a:latin typeface="+mn-lt"/>
          <a:ea typeface="+mn-ea"/>
          <a:cs typeface="+mn-cs"/>
        </a:defRPr>
      </a:lvl2pPr>
      <a:lvl3pPr marL="1143377" indent="-228964" algn="l" defTabSz="914414" rtl="0" fontAlgn="base">
        <a:spcBef>
          <a:spcPct val="20000"/>
        </a:spcBef>
        <a:spcAft>
          <a:spcPct val="0"/>
        </a:spcAft>
        <a:buClr>
          <a:schemeClr val="folHlink"/>
        </a:buClr>
        <a:buSzPct val="50000"/>
        <a:buFont typeface="Wingdings" pitchFamily="2" charset="2"/>
        <a:buBlip>
          <a:blip r:embed="rId17"/>
        </a:buBlip>
        <a:defRPr sz="2358" kern="1200">
          <a:solidFill>
            <a:schemeClr val="tx1"/>
          </a:solidFill>
          <a:latin typeface="+mn-lt"/>
          <a:ea typeface="+mn-ea"/>
          <a:cs typeface="+mn-cs"/>
        </a:defRPr>
      </a:lvl3pPr>
      <a:lvl4pPr marL="1599864" indent="-228964" algn="l" defTabSz="914414" rtl="0" fontAlgn="base">
        <a:spcBef>
          <a:spcPct val="20000"/>
        </a:spcBef>
        <a:spcAft>
          <a:spcPct val="0"/>
        </a:spcAft>
        <a:buClr>
          <a:schemeClr val="accent2"/>
        </a:buClr>
        <a:buSzPct val="55000"/>
        <a:buFont typeface="Wingdings" pitchFamily="2" charset="2"/>
        <a:buBlip>
          <a:blip r:embed="rId18"/>
        </a:buBlip>
        <a:defRPr sz="1996" kern="1200">
          <a:solidFill>
            <a:schemeClr val="tx1"/>
          </a:solidFill>
          <a:latin typeface="+mn-lt"/>
          <a:ea typeface="+mn-ea"/>
          <a:cs typeface="+mn-cs"/>
        </a:defRPr>
      </a:lvl4pPr>
      <a:lvl5pPr marL="2057791" indent="-228964" algn="l" defTabSz="914414" rtl="0" fontAlgn="base">
        <a:spcBef>
          <a:spcPct val="20000"/>
        </a:spcBef>
        <a:spcAft>
          <a:spcPct val="0"/>
        </a:spcAft>
        <a:buClr>
          <a:schemeClr val="accent1"/>
        </a:buClr>
        <a:buSzPct val="50000"/>
        <a:buFont typeface="Wingdings" pitchFamily="2" charset="2"/>
        <a:buBlip>
          <a:blip r:embed="rId17"/>
        </a:buBlip>
        <a:defRPr sz="1996" kern="1200">
          <a:solidFill>
            <a:schemeClr val="tx1"/>
          </a:solidFill>
          <a:latin typeface="+mn-lt"/>
          <a:ea typeface="+mn-ea"/>
          <a:cs typeface="+mn-cs"/>
        </a:defRPr>
      </a:lvl5pPr>
      <a:lvl6pPr marL="2280994" indent="-207363" algn="l" defTabSz="829452"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6pPr>
      <a:lvl7pPr marL="2695720" indent="-207363" algn="l" defTabSz="829452"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7pPr>
      <a:lvl8pPr marL="3110446" indent="-207363" algn="l" defTabSz="829452"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8pPr>
      <a:lvl9pPr marL="3525172" indent="-207363" algn="l" defTabSz="829452" rtl="0" eaLnBrk="1" latinLnBrk="0" hangingPunct="1">
        <a:lnSpc>
          <a:spcPct val="90000"/>
        </a:lnSpc>
        <a:spcBef>
          <a:spcPts val="454"/>
        </a:spcBef>
        <a:buFont typeface="Arial" panose="020B0604020202020204" pitchFamily="34" charset="0"/>
        <a:buChar char="•"/>
        <a:defRPr sz="1633" kern="1200">
          <a:solidFill>
            <a:schemeClr val="tx1"/>
          </a:solidFill>
          <a:latin typeface="+mn-lt"/>
          <a:ea typeface="+mn-ea"/>
          <a:cs typeface="+mn-cs"/>
        </a:defRPr>
      </a:lvl9pPr>
    </p:bodyStyle>
    <p:otherStyle>
      <a:defPPr>
        <a:defRPr lang="en-US"/>
      </a:defPPr>
      <a:lvl1pPr marL="0" algn="l" defTabSz="829452" rtl="0" eaLnBrk="1" latinLnBrk="0" hangingPunct="1">
        <a:defRPr sz="1633" kern="1200">
          <a:solidFill>
            <a:schemeClr val="tx1"/>
          </a:solidFill>
          <a:latin typeface="+mn-lt"/>
          <a:ea typeface="+mn-ea"/>
          <a:cs typeface="+mn-cs"/>
        </a:defRPr>
      </a:lvl1pPr>
      <a:lvl2pPr marL="414726" algn="l" defTabSz="829452" rtl="0" eaLnBrk="1" latinLnBrk="0" hangingPunct="1">
        <a:defRPr sz="1633" kern="1200">
          <a:solidFill>
            <a:schemeClr val="tx1"/>
          </a:solidFill>
          <a:latin typeface="+mn-lt"/>
          <a:ea typeface="+mn-ea"/>
          <a:cs typeface="+mn-cs"/>
        </a:defRPr>
      </a:lvl2pPr>
      <a:lvl3pPr marL="829452" algn="l" defTabSz="829452" rtl="0" eaLnBrk="1" latinLnBrk="0" hangingPunct="1">
        <a:defRPr sz="1633" kern="1200">
          <a:solidFill>
            <a:schemeClr val="tx1"/>
          </a:solidFill>
          <a:latin typeface="+mn-lt"/>
          <a:ea typeface="+mn-ea"/>
          <a:cs typeface="+mn-cs"/>
        </a:defRPr>
      </a:lvl3pPr>
      <a:lvl4pPr marL="1244178" algn="l" defTabSz="829452" rtl="0" eaLnBrk="1" latinLnBrk="0" hangingPunct="1">
        <a:defRPr sz="1633" kern="1200">
          <a:solidFill>
            <a:schemeClr val="tx1"/>
          </a:solidFill>
          <a:latin typeface="+mn-lt"/>
          <a:ea typeface="+mn-ea"/>
          <a:cs typeface="+mn-cs"/>
        </a:defRPr>
      </a:lvl4pPr>
      <a:lvl5pPr marL="1658904" algn="l" defTabSz="829452" rtl="0" eaLnBrk="1" latinLnBrk="0" hangingPunct="1">
        <a:defRPr sz="1633" kern="1200">
          <a:solidFill>
            <a:schemeClr val="tx1"/>
          </a:solidFill>
          <a:latin typeface="+mn-lt"/>
          <a:ea typeface="+mn-ea"/>
          <a:cs typeface="+mn-cs"/>
        </a:defRPr>
      </a:lvl5pPr>
      <a:lvl6pPr marL="2073631" algn="l" defTabSz="829452" rtl="0" eaLnBrk="1" latinLnBrk="0" hangingPunct="1">
        <a:defRPr sz="1633" kern="1200">
          <a:solidFill>
            <a:schemeClr val="tx1"/>
          </a:solidFill>
          <a:latin typeface="+mn-lt"/>
          <a:ea typeface="+mn-ea"/>
          <a:cs typeface="+mn-cs"/>
        </a:defRPr>
      </a:lvl6pPr>
      <a:lvl7pPr marL="2488357" algn="l" defTabSz="829452" rtl="0" eaLnBrk="1" latinLnBrk="0" hangingPunct="1">
        <a:defRPr sz="1633" kern="1200">
          <a:solidFill>
            <a:schemeClr val="tx1"/>
          </a:solidFill>
          <a:latin typeface="+mn-lt"/>
          <a:ea typeface="+mn-ea"/>
          <a:cs typeface="+mn-cs"/>
        </a:defRPr>
      </a:lvl7pPr>
      <a:lvl8pPr marL="2903083" algn="l" defTabSz="829452" rtl="0" eaLnBrk="1" latinLnBrk="0" hangingPunct="1">
        <a:defRPr sz="1633" kern="1200">
          <a:solidFill>
            <a:schemeClr val="tx1"/>
          </a:solidFill>
          <a:latin typeface="+mn-lt"/>
          <a:ea typeface="+mn-ea"/>
          <a:cs typeface="+mn-cs"/>
        </a:defRPr>
      </a:lvl8pPr>
      <a:lvl9pPr marL="3317809" algn="l" defTabSz="829452" rtl="0" eaLnBrk="1" latinLnBrk="0" hangingPunct="1">
        <a:defRPr sz="16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69727" y="178594"/>
            <a:ext cx="7804547" cy="151804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669727" y="1821656"/>
            <a:ext cx="7804547" cy="442019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49997" y="6536531"/>
            <a:ext cx="256480" cy="275717"/>
          </a:xfrm>
          <a:prstGeom prst="rect">
            <a:avLst/>
          </a:prstGeom>
          <a:ln w="12700">
            <a:miter lim="400000"/>
          </a:ln>
        </p:spPr>
        <p:txBody>
          <a:bodyPr wrap="none" lIns="50800" tIns="50800" rIns="50800" bIns="50800">
            <a:spAutoFit/>
          </a:bodyPr>
          <a:lstStyle>
            <a:lvl1pPr>
              <a:defRPr sz="1125" b="0">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3132736715"/>
      </p:ext>
    </p:extLst>
  </p:cSld>
  <p:clrMap bg1="dk1" tx1="lt1" bg2="dk2" tx2="lt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Lst>
  <p:transition spd="med"/>
  <p:txStyles>
    <p:titleStyle>
      <a:lvl1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1pPr>
      <a:lvl2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2pPr>
      <a:lvl3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3pPr>
      <a:lvl4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4pPr>
      <a:lvl5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5pPr>
      <a:lvl6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6pPr>
      <a:lvl7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7pPr>
      <a:lvl8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8pPr>
      <a:lvl9pPr marL="0" marR="0" indent="0" algn="ctr" defTabSz="410751" rtl="0" latinLnBrk="0">
        <a:lnSpc>
          <a:spcPct val="100000"/>
        </a:lnSpc>
        <a:spcBef>
          <a:spcPts val="0"/>
        </a:spcBef>
        <a:spcAft>
          <a:spcPts val="0"/>
        </a:spcAft>
        <a:buClrTx/>
        <a:buSzTx/>
        <a:buFontTx/>
        <a:buNone/>
        <a:tabLst/>
        <a:defRPr sz="5625" b="0" i="0" u="none" strike="noStrike" cap="none" spc="0" baseline="0">
          <a:ln>
            <a:noFill/>
          </a:ln>
          <a:solidFill>
            <a:srgbClr val="FFFFFF"/>
          </a:solidFill>
          <a:uFillTx/>
          <a:latin typeface="+mn-lt"/>
          <a:ea typeface="+mn-ea"/>
          <a:cs typeface="+mn-cs"/>
          <a:sym typeface="Helvetica Neue Medium"/>
        </a:defRPr>
      </a:lvl9pPr>
    </p:titleStyle>
    <p:bodyStyle>
      <a:lvl1pPr marL="312528"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1pPr>
      <a:lvl2pPr marL="625056"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2pPr>
      <a:lvl3pPr marL="937584"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3pPr>
      <a:lvl4pPr marL="1250112"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4pPr>
      <a:lvl5pPr marL="1562640"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5pPr>
      <a:lvl6pPr marL="1875168"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6pPr>
      <a:lvl7pPr marL="2187696"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7pPr>
      <a:lvl8pPr marL="2500224"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8pPr>
      <a:lvl9pPr marL="2812752" marR="0" indent="-312528" algn="l" defTabSz="410751" rtl="0" latinLnBrk="0">
        <a:lnSpc>
          <a:spcPct val="100000"/>
        </a:lnSpc>
        <a:spcBef>
          <a:spcPts val="2953"/>
        </a:spcBef>
        <a:spcAft>
          <a:spcPts val="0"/>
        </a:spcAft>
        <a:buClr>
          <a:srgbClr val="FFFFFF"/>
        </a:buClr>
        <a:buSzPct val="145000"/>
        <a:buFontTx/>
        <a:buChar char="•"/>
        <a:tabLst/>
        <a:defRPr sz="2250" b="0" i="0" u="none" strike="noStrike" cap="none" spc="0" baseline="0">
          <a:ln>
            <a:noFill/>
          </a:ln>
          <a:solidFill>
            <a:srgbClr val="FFFFFF"/>
          </a:solidFill>
          <a:uFillTx/>
          <a:latin typeface="Helvetica Neue"/>
          <a:ea typeface="Helvetica Neue"/>
          <a:cs typeface="Helvetica Neue"/>
          <a:sym typeface="Helvetica Neue"/>
        </a:defRPr>
      </a:lvl9pPr>
    </p:bodyStyle>
    <p:otherStyle>
      <a:lvl1pPr marL="0" marR="0" indent="0"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1pPr>
      <a:lvl2pPr marL="0" marR="0" indent="160729"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2pPr>
      <a:lvl3pPr marL="0" marR="0" indent="321457"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3pPr>
      <a:lvl4pPr marL="0" marR="0" indent="482186"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4pPr>
      <a:lvl5pPr marL="0" marR="0" indent="642915"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5pPr>
      <a:lvl6pPr marL="0" marR="0" indent="803643"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6pPr>
      <a:lvl7pPr marL="0" marR="0" indent="964372"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7pPr>
      <a:lvl8pPr marL="0" marR="0" indent="1125101"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8pPr>
      <a:lvl9pPr marL="0" marR="0" indent="1285829" algn="ctr" defTabSz="410751" latinLnBrk="0">
        <a:lnSpc>
          <a:spcPct val="100000"/>
        </a:lnSpc>
        <a:spcBef>
          <a:spcPts val="0"/>
        </a:spcBef>
        <a:spcAft>
          <a:spcPts val="0"/>
        </a:spcAft>
        <a:buClrTx/>
        <a:buSzTx/>
        <a:buFontTx/>
        <a:buNone/>
        <a:tabLst/>
        <a:defRPr sz="1125" b="0" i="0" u="none" strike="noStrike" cap="none" spc="0" baseline="0">
          <a:ln>
            <a:noFill/>
          </a:ln>
          <a:solidFill>
            <a:schemeClr val="tx1"/>
          </a:solidFill>
          <a:uFillTx/>
          <a:latin typeface="+mn-lt"/>
          <a:ea typeface="+mn-ea"/>
          <a:cs typeface="+mn-cs"/>
          <a:sym typeface="Helvetica Neue Ligh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3CA3030-A107-F944-AE38-93E004FFAC67}"/>
              </a:ext>
            </a:extLst>
          </p:cNvPr>
          <p:cNvSpPr>
            <a:spLocks noGrp="1" noChangeArrowheads="1"/>
          </p:cNvSpPr>
          <p:nvPr>
            <p:ph type="title"/>
          </p:nvPr>
        </p:nvSpPr>
        <p:spPr bwMode="auto">
          <a:xfrm>
            <a:off x="304800" y="152400"/>
            <a:ext cx="8458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471043" name="Rectangle 3">
            <a:extLst>
              <a:ext uri="{FF2B5EF4-FFF2-40B4-BE49-F238E27FC236}">
                <a16:creationId xmlns:a16="http://schemas.microsoft.com/office/drawing/2014/main" id="{025FC5BE-B8AB-4F41-8D96-54E8F9FA2497}"/>
              </a:ext>
            </a:extLst>
          </p:cNvPr>
          <p:cNvSpPr>
            <a:spLocks noGrp="1" noChangeArrowheads="1"/>
          </p:cNvSpPr>
          <p:nvPr>
            <p:ph type="dt" sz="half" idx="2"/>
          </p:nvPr>
        </p:nvSpPr>
        <p:spPr bwMode="auto">
          <a:xfrm>
            <a:off x="304800" y="6477000"/>
            <a:ext cx="19812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S PGothic" pitchFamily="34" charset="-128"/>
              </a:defRPr>
            </a:lvl1pPr>
          </a:lstStyle>
          <a:p>
            <a:pPr>
              <a:defRPr/>
            </a:pPr>
            <a:endParaRPr lang="zh-CN"/>
          </a:p>
        </p:txBody>
      </p:sp>
      <p:sp>
        <p:nvSpPr>
          <p:cNvPr id="471044" name="Rectangle 4">
            <a:extLst>
              <a:ext uri="{FF2B5EF4-FFF2-40B4-BE49-F238E27FC236}">
                <a16:creationId xmlns:a16="http://schemas.microsoft.com/office/drawing/2014/main" id="{928C23DA-B808-A54A-B3BF-6A3297B312DD}"/>
              </a:ext>
            </a:extLst>
          </p:cNvPr>
          <p:cNvSpPr>
            <a:spLocks noGrp="1" noChangeArrowheads="1"/>
          </p:cNvSpPr>
          <p:nvPr>
            <p:ph type="ftr" sz="quarter" idx="3"/>
          </p:nvPr>
        </p:nvSpPr>
        <p:spPr bwMode="auto">
          <a:xfrm>
            <a:off x="3124200" y="6473825"/>
            <a:ext cx="2895600" cy="231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Arial" charset="0"/>
                <a:ea typeface="ＭＳ Ｐゴシック" pitchFamily="-96" charset="-128"/>
                <a:cs typeface="+mn-cs"/>
              </a:defRPr>
            </a:lvl1pPr>
          </a:lstStyle>
          <a:p>
            <a:pPr>
              <a:defRPr/>
            </a:pPr>
            <a:r>
              <a:rPr lang="en-US"/>
              <a:t>dfdsfsdfsdfsdfsdf</a:t>
            </a:r>
          </a:p>
        </p:txBody>
      </p:sp>
      <p:sp>
        <p:nvSpPr>
          <p:cNvPr id="471045" name="Rectangle 5">
            <a:extLst>
              <a:ext uri="{FF2B5EF4-FFF2-40B4-BE49-F238E27FC236}">
                <a16:creationId xmlns:a16="http://schemas.microsoft.com/office/drawing/2014/main" id="{B578E49C-1532-0D47-92A5-C186526569C6}"/>
              </a:ext>
            </a:extLst>
          </p:cNvPr>
          <p:cNvSpPr>
            <a:spLocks noGrp="1" noChangeArrowheads="1"/>
          </p:cNvSpPr>
          <p:nvPr>
            <p:ph type="sldNum" sz="quarter" idx="4"/>
          </p:nvPr>
        </p:nvSpPr>
        <p:spPr bwMode="auto">
          <a:xfrm>
            <a:off x="6781800" y="6473825"/>
            <a:ext cx="1981200" cy="231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S PGothic" panose="020B0600070205080204" pitchFamily="34" charset="-128"/>
              </a:defRPr>
            </a:lvl1pPr>
          </a:lstStyle>
          <a:p>
            <a:fld id="{2735007C-4563-F64F-AC78-907E75C25740}" type="slidenum">
              <a:rPr lang="en-US" altLang="zh-CN"/>
              <a:pPr/>
              <a:t>‹#›</a:t>
            </a:fld>
            <a:endParaRPr lang="en-US" altLang="zh-CN"/>
          </a:p>
        </p:txBody>
      </p:sp>
      <p:sp>
        <p:nvSpPr>
          <p:cNvPr id="471046" name="AutoShape 6">
            <a:extLst>
              <a:ext uri="{FF2B5EF4-FFF2-40B4-BE49-F238E27FC236}">
                <a16:creationId xmlns:a16="http://schemas.microsoft.com/office/drawing/2014/main" id="{DE26E0A1-6470-444E-AAB5-78D6431F12E3}"/>
              </a:ext>
            </a:extLst>
          </p:cNvPr>
          <p:cNvSpPr>
            <a:spLocks noChangeArrowheads="1"/>
          </p:cNvSpPr>
          <p:nvPr/>
        </p:nvSpPr>
        <p:spPr bwMode="auto">
          <a:xfrm flipH="1">
            <a:off x="381000" y="762000"/>
            <a:ext cx="8391525" cy="76200"/>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gradFill rotWithShape="0">
            <a:gsLst>
              <a:gs pos="0">
                <a:srgbClr val="5E0000"/>
              </a:gs>
              <a:gs pos="50000">
                <a:schemeClr val="accent2"/>
              </a:gs>
              <a:gs pos="100000">
                <a:srgbClr val="5E0000"/>
              </a:gs>
            </a:gsLst>
            <a:lin ang="5400000" scaled="1"/>
          </a:gradFill>
          <a:ln w="9525">
            <a:solidFill>
              <a:srgbClr val="CC0000"/>
            </a:solidFill>
            <a:round/>
            <a:headEnd/>
            <a:tailEnd/>
          </a:ln>
        </p:spPr>
        <p:txBody>
          <a:bodyPr/>
          <a:lstStyle/>
          <a:p>
            <a:pPr>
              <a:defRPr/>
            </a:pPr>
            <a:endParaRPr lang="zh-CN" altLang="zh-CN">
              <a:latin typeface="Times New Roman" pitchFamily="18" charset="0"/>
              <a:ea typeface="ＭＳ Ｐゴシック" pitchFamily="34" charset="-128"/>
            </a:endParaRPr>
          </a:p>
        </p:txBody>
      </p:sp>
      <p:sp>
        <p:nvSpPr>
          <p:cNvPr id="1031" name="Line 7">
            <a:extLst>
              <a:ext uri="{FF2B5EF4-FFF2-40B4-BE49-F238E27FC236}">
                <a16:creationId xmlns:a16="http://schemas.microsoft.com/office/drawing/2014/main" id="{0DD2BADC-C859-F241-8748-36860E698FFE}"/>
              </a:ext>
            </a:extLst>
          </p:cNvPr>
          <p:cNvSpPr>
            <a:spLocks noChangeShapeType="1"/>
          </p:cNvSpPr>
          <p:nvPr/>
        </p:nvSpPr>
        <p:spPr bwMode="auto">
          <a:xfrm>
            <a:off x="304800" y="6438900"/>
            <a:ext cx="8458200" cy="0"/>
          </a:xfrm>
          <a:prstGeom prst="line">
            <a:avLst/>
          </a:prstGeom>
          <a:noFill/>
          <a:ln w="25400">
            <a:solidFill>
              <a:srgbClr val="7E0614"/>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2" name="Rectangle 8">
            <a:extLst>
              <a:ext uri="{FF2B5EF4-FFF2-40B4-BE49-F238E27FC236}">
                <a16:creationId xmlns:a16="http://schemas.microsoft.com/office/drawing/2014/main" id="{ECD9B3D2-0B68-2542-97F9-7948432EC3E4}"/>
              </a:ext>
            </a:extLst>
          </p:cNvPr>
          <p:cNvSpPr>
            <a:spLocks noChangeArrowheads="1"/>
          </p:cNvSpPr>
          <p:nvPr/>
        </p:nvSpPr>
        <p:spPr bwMode="auto">
          <a:xfrm>
            <a:off x="4325938" y="1897063"/>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endParaRPr lang="zh-CN" altLang="zh-CN" b="1" baseline="-25000">
              <a:ea typeface="MS PGothic" panose="020B0600070205080204" pitchFamily="34" charset="-128"/>
            </a:endParaRPr>
          </a:p>
        </p:txBody>
      </p:sp>
      <p:sp>
        <p:nvSpPr>
          <p:cNvPr id="1033" name="Rectangle 9">
            <a:extLst>
              <a:ext uri="{FF2B5EF4-FFF2-40B4-BE49-F238E27FC236}">
                <a16:creationId xmlns:a16="http://schemas.microsoft.com/office/drawing/2014/main" id="{2BF02C65-6C18-9D43-98E9-519C18789FD1}"/>
              </a:ext>
            </a:extLst>
          </p:cNvPr>
          <p:cNvSpPr>
            <a:spLocks noGrp="1" noChangeArrowheads="1"/>
          </p:cNvSpPr>
          <p:nvPr>
            <p:ph type="body" idx="1"/>
          </p:nvPr>
        </p:nvSpPr>
        <p:spPr bwMode="auto">
          <a:xfrm>
            <a:off x="304800" y="914400"/>
            <a:ext cx="8458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Tree>
    <p:extLst>
      <p:ext uri="{BB962C8B-B14F-4D97-AF65-F5344CB8AC3E}">
        <p14:creationId xmlns:p14="http://schemas.microsoft.com/office/powerpoint/2010/main" val="1488749649"/>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Lst>
  <p:hf hdr="0" ftr="0" dt="0"/>
  <p:txStyles>
    <p:titleStyle>
      <a:lvl1pPr algn="r" rtl="0" eaLnBrk="0" fontAlgn="base" hangingPunct="0">
        <a:spcBef>
          <a:spcPct val="0"/>
        </a:spcBef>
        <a:spcAft>
          <a:spcPct val="0"/>
        </a:spcAft>
        <a:defRPr sz="3800">
          <a:solidFill>
            <a:schemeClr val="tx2"/>
          </a:solidFill>
          <a:latin typeface="+mj-lt"/>
          <a:ea typeface="MS PGothic" pitchFamily="34" charset="-128"/>
          <a:cs typeface="ＭＳ Ｐゴシック" charset="0"/>
        </a:defRPr>
      </a:lvl1pPr>
      <a:lvl2pPr algn="r" rtl="0" eaLnBrk="0" fontAlgn="base" hangingPunct="0">
        <a:spcBef>
          <a:spcPct val="0"/>
        </a:spcBef>
        <a:spcAft>
          <a:spcPct val="0"/>
        </a:spcAft>
        <a:defRPr sz="3800">
          <a:solidFill>
            <a:schemeClr val="tx2"/>
          </a:solidFill>
          <a:latin typeface="Arial" charset="0"/>
          <a:ea typeface="MS PGothic" pitchFamily="34" charset="-128"/>
          <a:cs typeface="ＭＳ Ｐゴシック" charset="0"/>
        </a:defRPr>
      </a:lvl2pPr>
      <a:lvl3pPr algn="r" rtl="0" eaLnBrk="0" fontAlgn="base" hangingPunct="0">
        <a:spcBef>
          <a:spcPct val="0"/>
        </a:spcBef>
        <a:spcAft>
          <a:spcPct val="0"/>
        </a:spcAft>
        <a:defRPr sz="3800">
          <a:solidFill>
            <a:schemeClr val="tx2"/>
          </a:solidFill>
          <a:latin typeface="Arial" charset="0"/>
          <a:ea typeface="MS PGothic" pitchFamily="34" charset="-128"/>
          <a:cs typeface="ＭＳ Ｐゴシック" charset="0"/>
        </a:defRPr>
      </a:lvl3pPr>
      <a:lvl4pPr algn="r" rtl="0" eaLnBrk="0" fontAlgn="base" hangingPunct="0">
        <a:spcBef>
          <a:spcPct val="0"/>
        </a:spcBef>
        <a:spcAft>
          <a:spcPct val="0"/>
        </a:spcAft>
        <a:defRPr sz="3800">
          <a:solidFill>
            <a:schemeClr val="tx2"/>
          </a:solidFill>
          <a:latin typeface="Arial" charset="0"/>
          <a:ea typeface="MS PGothic" pitchFamily="34" charset="-128"/>
          <a:cs typeface="ＭＳ Ｐゴシック" charset="0"/>
        </a:defRPr>
      </a:lvl4pPr>
      <a:lvl5pPr algn="r" rtl="0" eaLnBrk="0" fontAlgn="base" hangingPunct="0">
        <a:spcBef>
          <a:spcPct val="0"/>
        </a:spcBef>
        <a:spcAft>
          <a:spcPct val="0"/>
        </a:spcAft>
        <a:defRPr sz="3800">
          <a:solidFill>
            <a:schemeClr val="tx2"/>
          </a:solidFill>
          <a:latin typeface="Arial" charset="0"/>
          <a:ea typeface="MS PGothic" pitchFamily="34" charset="-128"/>
          <a:cs typeface="ＭＳ Ｐゴシック" charset="0"/>
        </a:defRPr>
      </a:lvl5pPr>
      <a:lvl6pPr marL="457200" algn="r" rtl="0" eaLnBrk="1" fontAlgn="base" hangingPunct="1">
        <a:spcBef>
          <a:spcPct val="0"/>
        </a:spcBef>
        <a:spcAft>
          <a:spcPct val="0"/>
        </a:spcAft>
        <a:defRPr sz="3800">
          <a:solidFill>
            <a:schemeClr val="tx2"/>
          </a:solidFill>
          <a:latin typeface="Arial" charset="0"/>
        </a:defRPr>
      </a:lvl6pPr>
      <a:lvl7pPr marL="914400" algn="r" rtl="0" eaLnBrk="1" fontAlgn="base" hangingPunct="1">
        <a:spcBef>
          <a:spcPct val="0"/>
        </a:spcBef>
        <a:spcAft>
          <a:spcPct val="0"/>
        </a:spcAft>
        <a:defRPr sz="3800">
          <a:solidFill>
            <a:schemeClr val="tx2"/>
          </a:solidFill>
          <a:latin typeface="Arial" charset="0"/>
        </a:defRPr>
      </a:lvl7pPr>
      <a:lvl8pPr marL="1371600" algn="r" rtl="0" eaLnBrk="1" fontAlgn="base" hangingPunct="1">
        <a:spcBef>
          <a:spcPct val="0"/>
        </a:spcBef>
        <a:spcAft>
          <a:spcPct val="0"/>
        </a:spcAft>
        <a:defRPr sz="3800">
          <a:solidFill>
            <a:schemeClr val="tx2"/>
          </a:solidFill>
          <a:latin typeface="Arial" charset="0"/>
        </a:defRPr>
      </a:lvl8pPr>
      <a:lvl9pPr marL="1828800" algn="r" rtl="0" eaLnBrk="1" fontAlgn="base" hangingPunct="1">
        <a:spcBef>
          <a:spcPct val="0"/>
        </a:spcBef>
        <a:spcAft>
          <a:spcPct val="0"/>
        </a:spcAft>
        <a:defRPr sz="38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Ø"/>
        <a:defRPr sz="2400">
          <a:solidFill>
            <a:schemeClr val="tx1"/>
          </a:solidFill>
          <a:latin typeface="+mn-lt"/>
          <a:ea typeface="MS PGothic" pitchFamily="34" charset="-128"/>
          <a:cs typeface="ＭＳ Ｐゴシック" charset="0"/>
        </a:defRPr>
      </a:lvl1pPr>
      <a:lvl2pPr marL="517525" indent="-233363" algn="l" rtl="0" eaLnBrk="0" fontAlgn="base" hangingPunct="0">
        <a:spcBef>
          <a:spcPct val="20000"/>
        </a:spcBef>
        <a:spcAft>
          <a:spcPct val="0"/>
        </a:spcAft>
        <a:buClr>
          <a:srgbClr val="AA0101"/>
        </a:buClr>
        <a:buSzPct val="75000"/>
        <a:buFont typeface="Wingdings" pitchFamily="2" charset="2"/>
        <a:buChar char="l"/>
        <a:defRPr sz="2000">
          <a:solidFill>
            <a:schemeClr val="tx1"/>
          </a:solidFill>
          <a:latin typeface="+mn-lt"/>
          <a:ea typeface="MS PGothic" pitchFamily="34" charset="-128"/>
        </a:defRPr>
      </a:lvl2pPr>
      <a:lvl3pPr marL="1025525" indent="-269875" algn="l" rtl="0" eaLnBrk="0" fontAlgn="base" hangingPunct="0">
        <a:spcBef>
          <a:spcPct val="35000"/>
        </a:spcBef>
        <a:spcAft>
          <a:spcPct val="0"/>
        </a:spcAft>
        <a:buClr>
          <a:schemeClr val="accent2"/>
        </a:buClr>
        <a:buFont typeface="Wingdings" pitchFamily="2" charset="2"/>
        <a:buChar char="ü"/>
        <a:defRPr sz="2000">
          <a:solidFill>
            <a:schemeClr val="tx1"/>
          </a:solidFill>
          <a:latin typeface="+mn-lt"/>
          <a:ea typeface="MS PGothic" pitchFamily="34" charset="-128"/>
        </a:defRPr>
      </a:lvl3pPr>
      <a:lvl4pPr marL="2047875"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ea typeface="MS PGothic" pitchFamily="34" charset="-128"/>
        </a:defRPr>
      </a:lvl4pPr>
      <a:lvl5pPr marL="2560638"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ea typeface="MS PGothic" pitchFamily="34" charset="-128"/>
        </a:defRPr>
      </a:lvl5pPr>
      <a:lvl6pPr marL="3017838" indent="-398463" algn="l" rtl="0" eaLnBrk="1" fontAlgn="base" hangingPunct="1">
        <a:spcBef>
          <a:spcPct val="25000"/>
        </a:spcBef>
        <a:spcAft>
          <a:spcPct val="0"/>
        </a:spcAft>
        <a:buClr>
          <a:schemeClr val="accent2"/>
        </a:buClr>
        <a:buFont typeface="Wingdings" pitchFamily="32" charset="2"/>
        <a:buChar char="§"/>
        <a:defRPr>
          <a:solidFill>
            <a:schemeClr val="tx1"/>
          </a:solidFill>
          <a:latin typeface="+mn-lt"/>
        </a:defRPr>
      </a:lvl6pPr>
      <a:lvl7pPr marL="3475038" indent="-398463" algn="l" rtl="0" eaLnBrk="1" fontAlgn="base" hangingPunct="1">
        <a:spcBef>
          <a:spcPct val="25000"/>
        </a:spcBef>
        <a:spcAft>
          <a:spcPct val="0"/>
        </a:spcAft>
        <a:buClr>
          <a:schemeClr val="accent2"/>
        </a:buClr>
        <a:buFont typeface="Wingdings" pitchFamily="32" charset="2"/>
        <a:buChar char="§"/>
        <a:defRPr>
          <a:solidFill>
            <a:schemeClr val="tx1"/>
          </a:solidFill>
          <a:latin typeface="+mn-lt"/>
        </a:defRPr>
      </a:lvl7pPr>
      <a:lvl8pPr marL="3932238" indent="-398463" algn="l" rtl="0" eaLnBrk="1" fontAlgn="base" hangingPunct="1">
        <a:spcBef>
          <a:spcPct val="25000"/>
        </a:spcBef>
        <a:spcAft>
          <a:spcPct val="0"/>
        </a:spcAft>
        <a:buClr>
          <a:schemeClr val="accent2"/>
        </a:buClr>
        <a:buFont typeface="Wingdings" pitchFamily="32" charset="2"/>
        <a:buChar char="§"/>
        <a:defRPr>
          <a:solidFill>
            <a:schemeClr val="tx1"/>
          </a:solidFill>
          <a:latin typeface="+mn-lt"/>
        </a:defRPr>
      </a:lvl8pPr>
      <a:lvl9pPr marL="4389438" indent="-398463" algn="l" rtl="0" eaLnBrk="1" fontAlgn="base" hangingPunct="1">
        <a:spcBef>
          <a:spcPct val="25000"/>
        </a:spcBef>
        <a:spcAft>
          <a:spcPct val="0"/>
        </a:spcAft>
        <a:buClr>
          <a:schemeClr val="accent2"/>
        </a:buClr>
        <a:buFont typeface="Wingdings" pitchFamily="3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7" tIns="45717" rIns="91437" bIns="45717"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33400" y="1611316"/>
            <a:ext cx="77724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7" tIns="45717" rIns="91437" bIns="457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2" y="6248400"/>
            <a:ext cx="1905000" cy="457200"/>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400">
                <a:latin typeface="Times New Roman" pitchFamily="18" charset="0"/>
              </a:defRPr>
            </a:lvl1pPr>
          </a:lstStyle>
          <a:p>
            <a:pPr eaLnBrk="0" fontAlgn="base" hangingPunct="0">
              <a:spcBef>
                <a:spcPct val="0"/>
              </a:spcBef>
              <a:spcAft>
                <a:spcPct val="0"/>
              </a:spcAft>
            </a:pPr>
            <a:fld id="{B1CEA366-81BC-45F4-9380-274A2B799574}" type="datetime1">
              <a:rPr lang="en-US" altLang="en-US">
                <a:solidFill>
                  <a:srgbClr val="000000"/>
                </a:solidFill>
                <a:ea typeface="ＭＳ Ｐゴシック" pitchFamily="34" charset="-128"/>
              </a:rPr>
              <a:pPr eaLnBrk="0" fontAlgn="base" hangingPunct="0">
                <a:spcBef>
                  <a:spcPct val="0"/>
                </a:spcBef>
                <a:spcAft>
                  <a:spcPct val="0"/>
                </a:spcAft>
              </a:pPr>
              <a:t>1/23/25</a:t>
            </a:fld>
            <a:endParaRPr lang="en-US" altLang="en-US">
              <a:solidFill>
                <a:srgbClr val="000000"/>
              </a:solidFill>
              <a:ea typeface="ＭＳ Ｐゴシック" pitchFamily="34" charset="-128"/>
            </a:endParaRPr>
          </a:p>
        </p:txBody>
      </p:sp>
      <p:sp>
        <p:nvSpPr>
          <p:cNvPr id="195589" name="Rectangle 5"/>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lgn="r">
              <a:defRPr sz="1200">
                <a:latin typeface="Tahoma" pitchFamily="34" charset="0"/>
                <a:ea typeface="+mn-ea"/>
                <a:cs typeface="+mn-cs"/>
              </a:defRPr>
            </a:lvl1pPr>
          </a:lstStyle>
          <a:p>
            <a:pPr eaLnBrk="0" fontAlgn="base" hangingPunct="0">
              <a:spcBef>
                <a:spcPct val="0"/>
              </a:spcBef>
              <a:spcAft>
                <a:spcPct val="0"/>
              </a:spcAft>
              <a:defRPr/>
            </a:pPr>
            <a:r>
              <a:rPr lang="en-US">
                <a:solidFill>
                  <a:srgbClr val="000000"/>
                </a:solidFill>
              </a:rPr>
              <a:t>Introduction</a:t>
            </a:r>
          </a:p>
        </p:txBody>
      </p:sp>
      <p:sp>
        <p:nvSpPr>
          <p:cNvPr id="195590" name="Rectangle 6"/>
          <p:cNvSpPr>
            <a:spLocks noGrp="1" noChangeArrowheads="1"/>
          </p:cNvSpPr>
          <p:nvPr>
            <p:ph type="sldNum" sz="quarter" idx="4"/>
          </p:nvPr>
        </p:nvSpPr>
        <p:spPr bwMode="auto">
          <a:xfrm>
            <a:off x="8324853" y="6462716"/>
            <a:ext cx="676275" cy="276225"/>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200">
                <a:latin typeface="Tahoma" pitchFamily="34" charset="0"/>
              </a:defRPr>
            </a:lvl1pPr>
          </a:lstStyle>
          <a:p>
            <a:pPr eaLnBrk="0" fontAlgn="base" hangingPunct="0">
              <a:spcBef>
                <a:spcPct val="0"/>
              </a:spcBef>
              <a:spcAft>
                <a:spcPct val="0"/>
              </a:spcAft>
            </a:pPr>
            <a:r>
              <a:rPr lang="en-US" altLang="en-US">
                <a:solidFill>
                  <a:srgbClr val="000000"/>
                </a:solidFill>
                <a:ea typeface="ＭＳ Ｐゴシック" pitchFamily="34" charset="-128"/>
              </a:rPr>
              <a:t>2-</a:t>
            </a:r>
            <a:fld id="{4456EA28-5B73-451B-8E74-50C687511E4B}" type="slidenum">
              <a:rPr lang="en-US" altLang="en-US">
                <a:solidFill>
                  <a:srgbClr val="000000"/>
                </a:solidFill>
                <a:ea typeface="ＭＳ Ｐゴシック" pitchFamily="34" charset="-128"/>
              </a:rPr>
              <a:pPr eaLnBrk="0" fontAlgn="base" hangingPunct="0">
                <a:spcBef>
                  <a:spcPct val="0"/>
                </a:spcBef>
                <a:spcAft>
                  <a:spcPct val="0"/>
                </a:spcAft>
              </a:pPr>
              <a:t>‹#›</a:t>
            </a:fld>
            <a:endParaRPr lang="en-US" altLang="en-US">
              <a:solidFill>
                <a:srgbClr val="000000"/>
              </a:solidFill>
              <a:ea typeface="ＭＳ Ｐゴシック" pitchFamily="34" charset="-128"/>
            </a:endParaRPr>
          </a:p>
        </p:txBody>
      </p:sp>
    </p:spTree>
    <p:extLst>
      <p:ext uri="{BB962C8B-B14F-4D97-AF65-F5344CB8AC3E}">
        <p14:creationId xmlns:p14="http://schemas.microsoft.com/office/powerpoint/2010/main" val="3257185560"/>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187" algn="l" rtl="0" fontAlgn="base">
        <a:spcBef>
          <a:spcPct val="0"/>
        </a:spcBef>
        <a:spcAft>
          <a:spcPct val="0"/>
        </a:spcAft>
        <a:defRPr sz="4400">
          <a:solidFill>
            <a:srgbClr val="000099"/>
          </a:solidFill>
          <a:latin typeface="Gill Sans MT" pitchFamily="34" charset="0"/>
          <a:cs typeface="Arial" charset="0"/>
        </a:defRPr>
      </a:lvl6pPr>
      <a:lvl7pPr marL="914373" algn="l" rtl="0" fontAlgn="base">
        <a:spcBef>
          <a:spcPct val="0"/>
        </a:spcBef>
        <a:spcAft>
          <a:spcPct val="0"/>
        </a:spcAft>
        <a:defRPr sz="4400">
          <a:solidFill>
            <a:srgbClr val="000099"/>
          </a:solidFill>
          <a:latin typeface="Gill Sans MT" pitchFamily="34" charset="0"/>
          <a:cs typeface="Arial" charset="0"/>
        </a:defRPr>
      </a:lvl7pPr>
      <a:lvl8pPr marL="1371560" algn="l" rtl="0" fontAlgn="base">
        <a:spcBef>
          <a:spcPct val="0"/>
        </a:spcBef>
        <a:spcAft>
          <a:spcPct val="0"/>
        </a:spcAft>
        <a:defRPr sz="4400">
          <a:solidFill>
            <a:srgbClr val="000099"/>
          </a:solidFill>
          <a:latin typeface="Gill Sans MT" pitchFamily="34" charset="0"/>
          <a:cs typeface="Arial" charset="0"/>
        </a:defRPr>
      </a:lvl8pPr>
      <a:lvl9pPr marL="1828746" algn="l" rtl="0" fontAlgn="base">
        <a:spcBef>
          <a:spcPct val="0"/>
        </a:spcBef>
        <a:spcAft>
          <a:spcPct val="0"/>
        </a:spcAft>
        <a:defRPr sz="4400">
          <a:solidFill>
            <a:srgbClr val="000099"/>
          </a:solidFill>
          <a:latin typeface="Gill Sans MT" pitchFamily="34" charset="0"/>
          <a:cs typeface="Arial" charset="0"/>
        </a:defRPr>
      </a:lvl9pPr>
    </p:titleStyle>
    <p:bodyStyle>
      <a:lvl1pPr marL="342889" indent="-342889"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28" indent="-285741"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2966" indent="-228593"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152"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339"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525" indent="-228593" algn="l" rtl="0" fontAlgn="base">
        <a:spcBef>
          <a:spcPct val="20000"/>
        </a:spcBef>
        <a:spcAft>
          <a:spcPct val="0"/>
        </a:spcAft>
        <a:buChar char="»"/>
        <a:defRPr sz="2000">
          <a:solidFill>
            <a:schemeClr val="tx1"/>
          </a:solidFill>
          <a:latin typeface="Times New Roman" pitchFamily="18" charset="0"/>
          <a:cs typeface="+mn-cs"/>
        </a:defRPr>
      </a:lvl6pPr>
      <a:lvl7pPr marL="2971711" indent="-228593" algn="l" rtl="0" fontAlgn="base">
        <a:spcBef>
          <a:spcPct val="20000"/>
        </a:spcBef>
        <a:spcAft>
          <a:spcPct val="0"/>
        </a:spcAft>
        <a:buChar char="»"/>
        <a:defRPr sz="2000">
          <a:solidFill>
            <a:schemeClr val="tx1"/>
          </a:solidFill>
          <a:latin typeface="Times New Roman" pitchFamily="18" charset="0"/>
          <a:cs typeface="+mn-cs"/>
        </a:defRPr>
      </a:lvl7pPr>
      <a:lvl8pPr marL="3428897" indent="-228593" algn="l" rtl="0" fontAlgn="base">
        <a:spcBef>
          <a:spcPct val="20000"/>
        </a:spcBef>
        <a:spcAft>
          <a:spcPct val="0"/>
        </a:spcAft>
        <a:buChar char="»"/>
        <a:defRPr sz="2000">
          <a:solidFill>
            <a:schemeClr val="tx1"/>
          </a:solidFill>
          <a:latin typeface="Times New Roman" pitchFamily="18" charset="0"/>
          <a:cs typeface="+mn-cs"/>
        </a:defRPr>
      </a:lvl8pPr>
      <a:lvl9pPr marL="3886083" indent="-228593"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373" rtl="0" eaLnBrk="1" latinLnBrk="0" hangingPunct="1">
        <a:defRPr sz="1800" kern="1200">
          <a:solidFill>
            <a:schemeClr val="tx1"/>
          </a:solidFill>
          <a:latin typeface="+mn-lt"/>
          <a:ea typeface="+mn-ea"/>
          <a:cs typeface="+mn-cs"/>
        </a:defRPr>
      </a:lvl1pPr>
      <a:lvl2pPr marL="457187" algn="l" defTabSz="914373" rtl="0" eaLnBrk="1" latinLnBrk="0" hangingPunct="1">
        <a:defRPr sz="1800" kern="1200">
          <a:solidFill>
            <a:schemeClr val="tx1"/>
          </a:solidFill>
          <a:latin typeface="+mn-lt"/>
          <a:ea typeface="+mn-ea"/>
          <a:cs typeface="+mn-cs"/>
        </a:defRPr>
      </a:lvl2pPr>
      <a:lvl3pPr marL="914373" algn="l" defTabSz="914373" rtl="0" eaLnBrk="1" latinLnBrk="0" hangingPunct="1">
        <a:defRPr sz="1800" kern="1200">
          <a:solidFill>
            <a:schemeClr val="tx1"/>
          </a:solidFill>
          <a:latin typeface="+mn-lt"/>
          <a:ea typeface="+mn-ea"/>
          <a:cs typeface="+mn-cs"/>
        </a:defRPr>
      </a:lvl3pPr>
      <a:lvl4pPr marL="1371560" algn="l" defTabSz="914373" rtl="0" eaLnBrk="1" latinLnBrk="0" hangingPunct="1">
        <a:defRPr sz="1800" kern="1200">
          <a:solidFill>
            <a:schemeClr val="tx1"/>
          </a:solidFill>
          <a:latin typeface="+mn-lt"/>
          <a:ea typeface="+mn-ea"/>
          <a:cs typeface="+mn-cs"/>
        </a:defRPr>
      </a:lvl4pPr>
      <a:lvl5pPr marL="1828746" algn="l" defTabSz="914373" rtl="0" eaLnBrk="1" latinLnBrk="0" hangingPunct="1">
        <a:defRPr sz="1800" kern="1200">
          <a:solidFill>
            <a:schemeClr val="tx1"/>
          </a:solidFill>
          <a:latin typeface="+mn-lt"/>
          <a:ea typeface="+mn-ea"/>
          <a:cs typeface="+mn-cs"/>
        </a:defRPr>
      </a:lvl5pPr>
      <a:lvl6pPr marL="2285933" algn="l" defTabSz="914373" rtl="0" eaLnBrk="1" latinLnBrk="0" hangingPunct="1">
        <a:defRPr sz="1800" kern="1200">
          <a:solidFill>
            <a:schemeClr val="tx1"/>
          </a:solidFill>
          <a:latin typeface="+mn-lt"/>
          <a:ea typeface="+mn-ea"/>
          <a:cs typeface="+mn-cs"/>
        </a:defRPr>
      </a:lvl6pPr>
      <a:lvl7pPr marL="2743119" algn="l" defTabSz="914373" rtl="0" eaLnBrk="1" latinLnBrk="0" hangingPunct="1">
        <a:defRPr sz="1800" kern="1200">
          <a:solidFill>
            <a:schemeClr val="tx1"/>
          </a:solidFill>
          <a:latin typeface="+mn-lt"/>
          <a:ea typeface="+mn-ea"/>
          <a:cs typeface="+mn-cs"/>
        </a:defRPr>
      </a:lvl7pPr>
      <a:lvl8pPr marL="3200304" algn="l" defTabSz="914373" rtl="0" eaLnBrk="1" latinLnBrk="0" hangingPunct="1">
        <a:defRPr sz="1800" kern="1200">
          <a:solidFill>
            <a:schemeClr val="tx1"/>
          </a:solidFill>
          <a:latin typeface="+mn-lt"/>
          <a:ea typeface="+mn-ea"/>
          <a:cs typeface="+mn-cs"/>
        </a:defRPr>
      </a:lvl8pPr>
      <a:lvl9pPr marL="3657489" algn="l" defTabSz="91437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7.xml"/><Relationship Id="rId1" Type="http://schemas.openxmlformats.org/officeDocument/2006/relationships/tags" Target="../tags/tag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xml"/><Relationship Id="rId1" Type="http://schemas.openxmlformats.org/officeDocument/2006/relationships/tags" Target="../tags/tag2.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7.xml"/><Relationship Id="rId1" Type="http://schemas.openxmlformats.org/officeDocument/2006/relationships/tags" Target="../tags/tag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7.xml"/><Relationship Id="rId1" Type="http://schemas.openxmlformats.org/officeDocument/2006/relationships/tags" Target="../tags/tag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7.xml"/><Relationship Id="rId1" Type="http://schemas.openxmlformats.org/officeDocument/2006/relationships/tags" Target="../tags/tag5.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7.xml"/><Relationship Id="rId1" Type="http://schemas.openxmlformats.org/officeDocument/2006/relationships/tags" Target="../tags/tag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7.xml"/><Relationship Id="rId1" Type="http://schemas.openxmlformats.org/officeDocument/2006/relationships/tags" Target="../tags/tag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7.xml"/><Relationship Id="rId5" Type="http://schemas.openxmlformats.org/officeDocument/2006/relationships/image" Target="../media/image35.png"/><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8.emf"/><Relationship Id="rId2" Type="http://schemas.openxmlformats.org/officeDocument/2006/relationships/slideLayout" Target="../slideLayouts/slideLayout37.xml"/><Relationship Id="rId1" Type="http://schemas.openxmlformats.org/officeDocument/2006/relationships/tags" Target="../tags/tag8.xml"/><Relationship Id="rId6" Type="http://schemas.openxmlformats.org/officeDocument/2006/relationships/oleObject" Target="../embeddings/oleObject1.bin"/><Relationship Id="rId5" Type="http://schemas.openxmlformats.org/officeDocument/2006/relationships/image" Target="../media/image37.png"/><Relationship Id="rId4" Type="http://schemas.openxmlformats.org/officeDocument/2006/relationships/image" Target="../media/image36.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7.xml"/><Relationship Id="rId1" Type="http://schemas.openxmlformats.org/officeDocument/2006/relationships/tags" Target="../tags/tag9.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7.xml"/><Relationship Id="rId1" Type="http://schemas.openxmlformats.org/officeDocument/2006/relationships/tags" Target="../tags/tag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7.xml"/><Relationship Id="rId1" Type="http://schemas.openxmlformats.org/officeDocument/2006/relationships/tags" Target="../tags/tag11.xml"/><Relationship Id="rId5" Type="http://schemas.openxmlformats.org/officeDocument/2006/relationships/image" Target="../media/image39.png"/><Relationship Id="rId4" Type="http://schemas.openxmlformats.org/officeDocument/2006/relationships/oleObject" Target="../embeddings/oleObject2.bin"/></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8.xml"/><Relationship Id="rId1" Type="http://schemas.openxmlformats.org/officeDocument/2006/relationships/tags" Target="../tags/tag12.xml"/><Relationship Id="rId6" Type="http://schemas.openxmlformats.org/officeDocument/2006/relationships/image" Target="../media/image41.png"/><Relationship Id="rId5" Type="http://schemas.openxmlformats.org/officeDocument/2006/relationships/image" Target="../media/image40.emf"/><Relationship Id="rId4" Type="http://schemas.openxmlformats.org/officeDocument/2006/relationships/oleObject" Target="../embeddings/oleObject3.bin"/></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4.xml"/><Relationship Id="rId1" Type="http://schemas.openxmlformats.org/officeDocument/2006/relationships/slideLayout" Target="../slideLayouts/slideLayout37.xml"/><Relationship Id="rId6" Type="http://schemas.openxmlformats.org/officeDocument/2006/relationships/image" Target="../media/image43.emf"/><Relationship Id="rId5" Type="http://schemas.openxmlformats.org/officeDocument/2006/relationships/oleObject" Target="../embeddings/oleObject5.bin"/><Relationship Id="rId4" Type="http://schemas.openxmlformats.org/officeDocument/2006/relationships/image" Target="../media/image42.emf"/></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38.xml"/><Relationship Id="rId5" Type="http://schemas.openxmlformats.org/officeDocument/2006/relationships/image" Target="../media/image45.emf"/><Relationship Id="rId4" Type="http://schemas.openxmlformats.org/officeDocument/2006/relationships/oleObject" Target="../embeddings/oleObject6.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Cloud Computing and </a:t>
            </a:r>
            <a:br>
              <a:rPr lang="en-US" dirty="0"/>
            </a:br>
            <a:r>
              <a:rPr lang="en-US" dirty="0"/>
              <a:t>Cloud Networking</a:t>
            </a:r>
          </a:p>
        </p:txBody>
      </p:sp>
      <p:sp>
        <p:nvSpPr>
          <p:cNvPr id="5" name="Subtitle 4"/>
          <p:cNvSpPr>
            <a:spLocks noGrp="1"/>
          </p:cNvSpPr>
          <p:nvPr>
            <p:ph type="subTitle" idx="1"/>
          </p:nvPr>
        </p:nvSpPr>
        <p:spPr>
          <a:xfrm>
            <a:off x="1143000" y="3886200"/>
            <a:ext cx="7010400" cy="1752600"/>
          </a:xfrm>
        </p:spPr>
        <p:txBody>
          <a:bodyPr/>
          <a:lstStyle/>
          <a:p>
            <a:r>
              <a:rPr lang="en-US" dirty="0"/>
              <a:t>Winter 2025</a:t>
            </a:r>
          </a:p>
          <a:p>
            <a:r>
              <a:rPr lang="en-US" dirty="0"/>
              <a:t>K. K. Ramakrishnan</a:t>
            </a:r>
          </a:p>
          <a:p>
            <a:r>
              <a:rPr lang="en-US" dirty="0">
                <a:solidFill>
                  <a:srgbClr val="FF0000"/>
                </a:solidFill>
              </a:rPr>
              <a:t>kk@cs.ucr.edu</a:t>
            </a:r>
          </a:p>
          <a:p>
            <a:r>
              <a:rPr lang="en-US" dirty="0"/>
              <a:t>SSC 308</a:t>
            </a:r>
          </a:p>
          <a:p>
            <a:r>
              <a:rPr lang="en-US" dirty="0"/>
              <a:t>Tue-</a:t>
            </a:r>
            <a:r>
              <a:rPr lang="en-US" dirty="0" err="1"/>
              <a:t>Thur</a:t>
            </a:r>
            <a:r>
              <a:rPr lang="en-US" dirty="0"/>
              <a:t> 2:00 pm - 3:20 pm</a:t>
            </a:r>
          </a:p>
          <a:p>
            <a:endParaRPr lang="en-US" dirty="0"/>
          </a:p>
        </p:txBody>
      </p:sp>
    </p:spTree>
    <p:extLst>
      <p:ext uri="{BB962C8B-B14F-4D97-AF65-F5344CB8AC3E}">
        <p14:creationId xmlns:p14="http://schemas.microsoft.com/office/powerpoint/2010/main" val="2471823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25800" y="332656"/>
            <a:ext cx="7766680" cy="1368152"/>
          </a:xfrm>
        </p:spPr>
        <p:txBody>
          <a:bodyPr>
            <a:normAutofit/>
          </a:bodyPr>
          <a:lstStyle/>
          <a:p>
            <a:pPr algn="ctr"/>
            <a:r>
              <a:rPr lang="en-US" altLang="zh-TW" sz="4000" dirty="0"/>
              <a:t>CS 208: Class 6</a:t>
            </a:r>
            <a:br>
              <a:rPr lang="en-US" altLang="zh-TW" sz="4000" dirty="0"/>
            </a:br>
            <a:r>
              <a:rPr lang="en-US" altLang="zh-TW" sz="4000" dirty="0"/>
              <a:t>Live Migration of Virtual Machines</a:t>
            </a:r>
            <a:endParaRPr lang="zh-TW" altLang="en-US" sz="4000" dirty="0"/>
          </a:p>
        </p:txBody>
      </p:sp>
      <p:sp>
        <p:nvSpPr>
          <p:cNvPr id="3" name="副標題 2"/>
          <p:cNvSpPr>
            <a:spLocks noGrp="1"/>
          </p:cNvSpPr>
          <p:nvPr>
            <p:ph type="subTitle" idx="1"/>
          </p:nvPr>
        </p:nvSpPr>
        <p:spPr>
          <a:xfrm>
            <a:off x="1125800" y="2280642"/>
            <a:ext cx="7945048" cy="4460726"/>
          </a:xfrm>
        </p:spPr>
        <p:txBody>
          <a:bodyPr>
            <a:normAutofit fontScale="70000" lnSpcReduction="20000"/>
          </a:bodyPr>
          <a:lstStyle/>
          <a:p>
            <a:r>
              <a:rPr lang="en-US" altLang="zh-TW" sz="3800" b="1" dirty="0"/>
              <a:t>Slides from a number of papers &amp; presentations:</a:t>
            </a:r>
          </a:p>
          <a:p>
            <a:r>
              <a:rPr lang="en-US" altLang="zh-TW" sz="2900" dirty="0">
                <a:solidFill>
                  <a:srgbClr val="FF0000"/>
                </a:solidFill>
              </a:rPr>
              <a:t>1) Christopher Clark, Keir Fraser, Steven Hand,  Jacob </a:t>
            </a:r>
            <a:r>
              <a:rPr lang="en-US" altLang="zh-TW" sz="2900" dirty="0" err="1">
                <a:solidFill>
                  <a:srgbClr val="FF0000"/>
                </a:solidFill>
              </a:rPr>
              <a:t>Gorm</a:t>
            </a:r>
            <a:r>
              <a:rPr lang="en-US" altLang="zh-TW" sz="2900" dirty="0">
                <a:solidFill>
                  <a:srgbClr val="FF0000"/>
                </a:solidFill>
              </a:rPr>
              <a:t> Hansen, Eric Jul, Christian </a:t>
            </a:r>
            <a:r>
              <a:rPr lang="en-US" altLang="zh-TW" sz="2900" dirty="0" err="1">
                <a:solidFill>
                  <a:srgbClr val="FF0000"/>
                </a:solidFill>
              </a:rPr>
              <a:t>Limpach</a:t>
            </a:r>
            <a:r>
              <a:rPr lang="en-US" altLang="zh-TW" sz="2900" dirty="0">
                <a:solidFill>
                  <a:srgbClr val="FF0000"/>
                </a:solidFill>
              </a:rPr>
              <a:t>, Ian Pratt, Andrew Warfield</a:t>
            </a:r>
          </a:p>
          <a:p>
            <a:r>
              <a:rPr lang="en-US" altLang="zh-TW" i="1" dirty="0">
                <a:solidFill>
                  <a:srgbClr val="FF0000"/>
                </a:solidFill>
              </a:rPr>
              <a:t>University of Cambridge Computer Laboratory UK &amp; Department of Computer Science University of Copenhagen</a:t>
            </a:r>
          </a:p>
          <a:p>
            <a:r>
              <a:rPr lang="en-US" b="1" dirty="0">
                <a:solidFill>
                  <a:srgbClr val="FF0000"/>
                </a:solidFill>
              </a:rPr>
              <a:t>Live migration of virtual machines</a:t>
            </a:r>
          </a:p>
          <a:p>
            <a:r>
              <a:rPr lang="en-US" altLang="zh-TW" i="1" dirty="0">
                <a:solidFill>
                  <a:srgbClr val="FF0000"/>
                </a:solidFill>
              </a:rPr>
              <a:t>NSDI 2005 (https://</a:t>
            </a:r>
            <a:r>
              <a:rPr lang="en-US" altLang="zh-TW" i="1" dirty="0" err="1">
                <a:solidFill>
                  <a:srgbClr val="FF0000"/>
                </a:solidFill>
              </a:rPr>
              <a:t>www.usenix.org</a:t>
            </a:r>
            <a:r>
              <a:rPr lang="en-US" altLang="zh-TW" i="1" dirty="0">
                <a:solidFill>
                  <a:srgbClr val="FF0000"/>
                </a:solidFill>
              </a:rPr>
              <a:t>/legacy/events/nsdi05/tech/</a:t>
            </a:r>
            <a:r>
              <a:rPr lang="en-US" altLang="zh-TW" i="1" dirty="0" err="1">
                <a:solidFill>
                  <a:srgbClr val="FF0000"/>
                </a:solidFill>
              </a:rPr>
              <a:t>full_papers</a:t>
            </a:r>
            <a:r>
              <a:rPr lang="en-US" altLang="zh-TW" i="1" dirty="0">
                <a:solidFill>
                  <a:srgbClr val="FF0000"/>
                </a:solidFill>
              </a:rPr>
              <a:t>/</a:t>
            </a:r>
            <a:r>
              <a:rPr lang="en-US" altLang="zh-TW" i="1" dirty="0" err="1">
                <a:solidFill>
                  <a:srgbClr val="FF0000"/>
                </a:solidFill>
              </a:rPr>
              <a:t>clark</a:t>
            </a:r>
            <a:r>
              <a:rPr lang="en-US" altLang="zh-TW" i="1" dirty="0">
                <a:solidFill>
                  <a:srgbClr val="FF0000"/>
                </a:solidFill>
              </a:rPr>
              <a:t>/</a:t>
            </a:r>
            <a:r>
              <a:rPr lang="en-US" altLang="zh-TW" i="1" dirty="0" err="1">
                <a:solidFill>
                  <a:srgbClr val="FF0000"/>
                </a:solidFill>
              </a:rPr>
              <a:t>clark.pdf</a:t>
            </a:r>
            <a:r>
              <a:rPr lang="en-US" altLang="zh-TW" i="1" dirty="0">
                <a:solidFill>
                  <a:srgbClr val="FF0000"/>
                </a:solidFill>
              </a:rPr>
              <a:t>)</a:t>
            </a:r>
          </a:p>
          <a:p>
            <a:endParaRPr lang="en-US" altLang="zh-TW" i="1" dirty="0"/>
          </a:p>
          <a:p>
            <a:pPr defTabSz="455675">
              <a:defRPr sz="2885"/>
            </a:pPr>
            <a:r>
              <a:rPr lang="en-US" altLang="zh-TW" i="1" dirty="0"/>
              <a:t>2) </a:t>
            </a:r>
            <a:r>
              <a:rPr lang="en-US" dirty="0">
                <a:solidFill>
                  <a:srgbClr val="FF0000"/>
                </a:solidFill>
              </a:rPr>
              <a:t>Post-copy Live Migration of Virtual Machines by Michael Hines, </a:t>
            </a:r>
            <a:r>
              <a:rPr lang="en-US" dirty="0" err="1">
                <a:solidFill>
                  <a:srgbClr val="FF0000"/>
                </a:solidFill>
              </a:rPr>
              <a:t>Umesh</a:t>
            </a:r>
            <a:r>
              <a:rPr lang="en-US" dirty="0">
                <a:solidFill>
                  <a:srgbClr val="FF0000"/>
                </a:solidFill>
              </a:rPr>
              <a:t> Deshpande, and  </a:t>
            </a:r>
            <a:r>
              <a:rPr lang="en-US" dirty="0" err="1">
                <a:solidFill>
                  <a:srgbClr val="FF0000"/>
                </a:solidFill>
              </a:rPr>
              <a:t>Kartik</a:t>
            </a:r>
            <a:r>
              <a:rPr lang="en-US" dirty="0">
                <a:solidFill>
                  <a:srgbClr val="FF0000"/>
                </a:solidFill>
              </a:rPr>
              <a:t> </a:t>
            </a:r>
            <a:r>
              <a:rPr lang="en-US" dirty="0" err="1">
                <a:solidFill>
                  <a:srgbClr val="FF0000"/>
                </a:solidFill>
              </a:rPr>
              <a:t>Gopalan</a:t>
            </a:r>
            <a:r>
              <a:rPr lang="en-US" dirty="0">
                <a:solidFill>
                  <a:srgbClr val="FF0000"/>
                </a:solidFill>
              </a:rPr>
              <a:t> from Binghamton University: [VEE 2009]</a:t>
            </a:r>
          </a:p>
          <a:p>
            <a:pPr>
              <a:lnSpc>
                <a:spcPct val="90000"/>
              </a:lnSpc>
            </a:pPr>
            <a:endParaRPr lang="en-US" altLang="zh-TW" dirty="0"/>
          </a:p>
          <a:p>
            <a:pPr>
              <a:lnSpc>
                <a:spcPct val="90000"/>
              </a:lnSpc>
            </a:pPr>
            <a:r>
              <a:rPr lang="en-US" altLang="zh-TW" dirty="0"/>
              <a:t>3) </a:t>
            </a:r>
            <a:r>
              <a:rPr lang="en-GB" altLang="en-US" sz="3200" dirty="0">
                <a:solidFill>
                  <a:srgbClr val="FF0000"/>
                </a:solidFill>
              </a:rPr>
              <a:t>Black-box and </a:t>
            </a:r>
            <a:r>
              <a:rPr lang="en-GB" altLang="en-US" sz="3200" dirty="0" err="1">
                <a:solidFill>
                  <a:srgbClr val="FF0000"/>
                </a:solidFill>
              </a:rPr>
              <a:t>Gray</a:t>
            </a:r>
            <a:r>
              <a:rPr lang="en-GB" altLang="en-US" sz="3200" dirty="0">
                <a:solidFill>
                  <a:srgbClr val="FF0000"/>
                </a:solidFill>
              </a:rPr>
              <a:t>-box Strategies for Virtual Machine Migration by </a:t>
            </a:r>
            <a:r>
              <a:rPr lang="en-US" altLang="en-US" sz="3200" dirty="0">
                <a:solidFill>
                  <a:srgbClr val="FF0000"/>
                </a:solidFill>
              </a:rPr>
              <a:t>Timothy Wood, Prashant </a:t>
            </a:r>
            <a:r>
              <a:rPr lang="en-US" altLang="en-US" sz="3200" dirty="0" err="1">
                <a:solidFill>
                  <a:srgbClr val="FF0000"/>
                </a:solidFill>
              </a:rPr>
              <a:t>Shenoy</a:t>
            </a:r>
            <a:r>
              <a:rPr lang="en-US" altLang="en-US" sz="3200" dirty="0">
                <a:solidFill>
                  <a:srgbClr val="FF0000"/>
                </a:solidFill>
              </a:rPr>
              <a:t>,  </a:t>
            </a:r>
            <a:r>
              <a:rPr lang="en-US" altLang="en-US" sz="3200" dirty="0" err="1">
                <a:solidFill>
                  <a:srgbClr val="FF0000"/>
                </a:solidFill>
              </a:rPr>
              <a:t>Arun</a:t>
            </a:r>
            <a:r>
              <a:rPr lang="en-US" altLang="en-US" sz="3200" dirty="0">
                <a:solidFill>
                  <a:srgbClr val="FF0000"/>
                </a:solidFill>
              </a:rPr>
              <a:t> </a:t>
            </a:r>
            <a:r>
              <a:rPr lang="en-US" altLang="en-US" sz="3200" dirty="0" err="1">
                <a:solidFill>
                  <a:srgbClr val="FF0000"/>
                </a:solidFill>
              </a:rPr>
              <a:t>Venkataramani</a:t>
            </a:r>
            <a:r>
              <a:rPr lang="en-US" altLang="en-US" sz="3200" dirty="0">
                <a:solidFill>
                  <a:srgbClr val="FF0000"/>
                </a:solidFill>
              </a:rPr>
              <a:t>, and </a:t>
            </a:r>
            <a:r>
              <a:rPr lang="en-US" altLang="en-US" sz="3200" dirty="0" err="1">
                <a:solidFill>
                  <a:srgbClr val="FF0000"/>
                </a:solidFill>
              </a:rPr>
              <a:t>Mazin</a:t>
            </a:r>
            <a:r>
              <a:rPr lang="en-US" altLang="en-US" sz="3200" dirty="0">
                <a:solidFill>
                  <a:srgbClr val="FF0000"/>
                </a:solidFill>
              </a:rPr>
              <a:t> </a:t>
            </a:r>
            <a:r>
              <a:rPr lang="en-US" altLang="en-US" sz="3200" dirty="0" err="1">
                <a:solidFill>
                  <a:srgbClr val="FF0000"/>
                </a:solidFill>
              </a:rPr>
              <a:t>Yousif</a:t>
            </a:r>
            <a:r>
              <a:rPr lang="en-US" altLang="en-US" sz="3200" dirty="0">
                <a:solidFill>
                  <a:srgbClr val="FF0000"/>
                </a:solidFill>
              </a:rPr>
              <a:t>, NSDI 2007</a:t>
            </a:r>
            <a:endParaRPr lang="en-US" altLang="zh-TW" dirty="0">
              <a:solidFill>
                <a:srgbClr val="FF0000"/>
              </a:solidFill>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Motivation</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a:t>Why do we need live migration?</a:t>
            </a:r>
          </a:p>
          <a:p>
            <a:pPr>
              <a:buNone/>
            </a:pPr>
            <a:r>
              <a:rPr lang="en-US" altLang="zh-TW" dirty="0"/>
              <a:t>    We want to move a VM without interrupting the VM’s service.</a:t>
            </a:r>
          </a:p>
          <a:p>
            <a:pPr>
              <a:buNone/>
            </a:pPr>
            <a:endParaRPr lang="en-US" altLang="zh-TW" dirty="0"/>
          </a:p>
          <a:p>
            <a:pPr>
              <a:buNone/>
            </a:pPr>
            <a:r>
              <a:rPr lang="en-US" altLang="zh-TW" dirty="0"/>
              <a:t>Products (some from many years ago):</a:t>
            </a:r>
          </a:p>
          <a:p>
            <a:r>
              <a:rPr lang="en-US" altLang="zh-TW" dirty="0" err="1"/>
              <a:t>Xen</a:t>
            </a:r>
            <a:r>
              <a:rPr lang="en-US" altLang="zh-TW" dirty="0"/>
              <a:t> 2.0 : live migration</a:t>
            </a:r>
          </a:p>
          <a:p>
            <a:r>
              <a:rPr lang="en-US" altLang="zh-TW" dirty="0" err="1"/>
              <a:t>VMware:Vmotion</a:t>
            </a:r>
            <a:endParaRPr lang="en-US" altLang="zh-TW" dirty="0"/>
          </a:p>
          <a:p>
            <a:r>
              <a:rPr lang="en-US" altLang="zh-TW" dirty="0"/>
              <a:t>Container migration: Docker CRIU (‘live’ is still a ‘work in progress’)</a:t>
            </a:r>
          </a:p>
          <a:p>
            <a:pPr lvl="1"/>
            <a:r>
              <a:rPr lang="en-US" dirty="0"/>
              <a:t>Checkpoint/Restore In </a:t>
            </a:r>
            <a:r>
              <a:rPr lang="en-US" dirty="0" err="1"/>
              <a:t>Userspace</a:t>
            </a:r>
            <a:r>
              <a:rPr lang="en-US" dirty="0"/>
              <a:t> (CRIU)</a:t>
            </a:r>
            <a:endParaRPr lang="en-US" altLang="zh-TW" dirty="0"/>
          </a:p>
          <a:p>
            <a:pPr>
              <a:buNone/>
            </a:pPr>
            <a:endParaRPr lang="zh-TW" altLang="en-US" dirty="0"/>
          </a:p>
        </p:txBody>
      </p:sp>
    </p:spTree>
    <p:extLst>
      <p:ext uri="{BB962C8B-B14F-4D97-AF65-F5344CB8AC3E}">
        <p14:creationId xmlns:p14="http://schemas.microsoft.com/office/powerpoint/2010/main" val="790701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erver Consolidation"/>
          <p:cNvSpPr txBox="1">
            <a:spLocks noGrp="1"/>
          </p:cNvSpPr>
          <p:nvPr>
            <p:ph type="title"/>
          </p:nvPr>
        </p:nvSpPr>
        <p:spPr>
          <a:prstGeom prst="rect">
            <a:avLst/>
          </a:prstGeom>
        </p:spPr>
        <p:txBody>
          <a:bodyPr/>
          <a:lstStyle/>
          <a:p>
            <a:r>
              <a:t>Server Consolidation</a:t>
            </a:r>
          </a:p>
        </p:txBody>
      </p:sp>
      <p:sp>
        <p:nvSpPr>
          <p:cNvPr id="129" name="Can pack lots of VMs onto a server…"/>
          <p:cNvSpPr txBox="1">
            <a:spLocks noGrp="1"/>
          </p:cNvSpPr>
          <p:nvPr>
            <p:ph type="body" idx="1"/>
          </p:nvPr>
        </p:nvSpPr>
        <p:spPr>
          <a:xfrm>
            <a:off x="214313" y="1098351"/>
            <a:ext cx="6616898" cy="5357813"/>
          </a:xfrm>
          <a:prstGeom prst="rect">
            <a:avLst/>
          </a:prstGeom>
        </p:spPr>
        <p:txBody>
          <a:bodyPr/>
          <a:lstStyle/>
          <a:p>
            <a:r>
              <a:rPr dirty="0"/>
              <a:t>Can pack lots of VMs onto a server</a:t>
            </a:r>
          </a:p>
          <a:p>
            <a:pPr lvl="1"/>
            <a:r>
              <a:rPr dirty="0"/>
              <a:t>e.g., different websites have workload peaks at different times, so </a:t>
            </a:r>
            <a:r>
              <a:rPr lang="en-US" dirty="0"/>
              <a:t>we </a:t>
            </a:r>
            <a:r>
              <a:rPr dirty="0"/>
              <a:t>can share resources</a:t>
            </a:r>
            <a:r>
              <a:rPr lang="en-US" dirty="0"/>
              <a:t> in a datacenter’s server(s)</a:t>
            </a:r>
            <a:endParaRPr dirty="0"/>
          </a:p>
          <a:p>
            <a:pPr lvl="1"/>
            <a:endParaRPr dirty="0"/>
          </a:p>
          <a:p>
            <a:r>
              <a:rPr dirty="0"/>
              <a:t>Placement problem:</a:t>
            </a:r>
          </a:p>
          <a:p>
            <a:pPr lvl="1"/>
            <a:r>
              <a:rPr dirty="0"/>
              <a:t>Data center has 10,000</a:t>
            </a:r>
            <a:r>
              <a:rPr lang="en-US" dirty="0"/>
              <a:t> - 1,000,000</a:t>
            </a:r>
            <a:r>
              <a:rPr dirty="0"/>
              <a:t> servers</a:t>
            </a:r>
          </a:p>
          <a:p>
            <a:pPr lvl="1"/>
            <a:r>
              <a:rPr dirty="0"/>
              <a:t>Customers have 100,000</a:t>
            </a:r>
            <a:r>
              <a:rPr lang="en-US" dirty="0"/>
              <a:t>s</a:t>
            </a:r>
            <a:r>
              <a:rPr dirty="0"/>
              <a:t> VMs</a:t>
            </a:r>
          </a:p>
          <a:p>
            <a:pPr lvl="2"/>
            <a:r>
              <a:rPr dirty="0"/>
              <a:t>Each with different CPU and RAM needs</a:t>
            </a:r>
          </a:p>
          <a:p>
            <a:pPr lvl="1"/>
            <a:r>
              <a:rPr dirty="0"/>
              <a:t>Which VMs should go where?</a:t>
            </a:r>
          </a:p>
          <a:p>
            <a:pPr lvl="1"/>
            <a:r>
              <a:rPr dirty="0"/>
              <a:t>How hard is this problem?</a:t>
            </a:r>
          </a:p>
          <a:p>
            <a:pPr lvl="2"/>
            <a:r>
              <a:rPr lang="en-US" dirty="0"/>
              <a:t>Often use b</a:t>
            </a:r>
            <a:r>
              <a:rPr dirty="0"/>
              <a:t>in packing algorithms</a:t>
            </a:r>
            <a:endParaRPr lang="en-US" dirty="0"/>
          </a:p>
          <a:p>
            <a:r>
              <a:rPr lang="en-US" dirty="0"/>
              <a:t>But imbalance may result from imperfect predictions, variability</a:t>
            </a:r>
            <a:endParaRPr dirty="0"/>
          </a:p>
        </p:txBody>
      </p:sp>
      <p:sp>
        <p:nvSpPr>
          <p:cNvPr id="130" name="Slide Number"/>
          <p:cNvSpPr txBox="1">
            <a:spLocks noGrp="1"/>
          </p:cNvSpPr>
          <p:nvPr>
            <p:ph type="sldNum" sz="quarter" idx="2"/>
          </p:nvPr>
        </p:nvSpPr>
        <p:spPr>
          <a:xfrm>
            <a:off x="8902898" y="6530711"/>
            <a:ext cx="192361" cy="297389"/>
          </a:xfrm>
          <a:prstGeom prst="rect">
            <a:avLst/>
          </a:prstGeom>
          <a:extLst>
            <a:ext uri="{C572A759-6A51-4108-AA02-DFA0A04FC94B}">
              <ma14:wrappingTextBoxFlag xmlns:ma14="http://schemas.microsoft.com/office/mac/drawingml/2011/main" xmlns="" val="1"/>
            </a:ext>
          </a:extLst>
        </p:spPr>
        <p:txBody>
          <a:bodyPr/>
          <a:lstStyle/>
          <a:p>
            <a:pPr algn="ctr" defTabSz="410751" hangingPunct="0"/>
            <a:fld id="{86CB4B4D-7CA3-9044-876B-883B54F8677D}" type="slidenum">
              <a:rPr kern="0"/>
              <a:pPr algn="ctr" defTabSz="410751" hangingPunct="0"/>
              <a:t>4</a:t>
            </a:fld>
            <a:endParaRPr kern="0" dirty="0"/>
          </a:p>
        </p:txBody>
      </p:sp>
      <p:pic>
        <p:nvPicPr>
          <p:cNvPr id="131" name="ICON_Datacenter_1_R2_Q308.png" descr="ICON_Datacenter_1_R2_Q308.png"/>
          <p:cNvPicPr>
            <a:picLocks/>
          </p:cNvPicPr>
          <p:nvPr/>
        </p:nvPicPr>
        <p:blipFill>
          <a:blip r:embed="rId2"/>
          <a:stretch>
            <a:fillRect/>
          </a:stretch>
        </p:blipFill>
        <p:spPr>
          <a:xfrm>
            <a:off x="7120309" y="1314897"/>
            <a:ext cx="1000126" cy="1910953"/>
          </a:xfrm>
          <a:prstGeom prst="rect">
            <a:avLst/>
          </a:prstGeom>
          <a:ln w="12700">
            <a:miter lim="400000"/>
          </a:ln>
        </p:spPr>
      </p:pic>
      <p:grpSp>
        <p:nvGrpSpPr>
          <p:cNvPr id="134" name="Group"/>
          <p:cNvGrpSpPr/>
          <p:nvPr/>
        </p:nvGrpSpPr>
        <p:grpSpPr>
          <a:xfrm>
            <a:off x="6875860" y="4250531"/>
            <a:ext cx="1902023" cy="2062758"/>
            <a:chOff x="0" y="0"/>
            <a:chExt cx="2705100" cy="2933700"/>
          </a:xfrm>
        </p:grpSpPr>
        <p:pic>
          <p:nvPicPr>
            <p:cNvPr id="132" name="DGRM_Server_VMs_detail_6_VMware_Q408.png" descr="DGRM_Server_VMs_detail_6_VMware_Q408.png"/>
            <p:cNvPicPr>
              <a:picLocks/>
            </p:cNvPicPr>
            <p:nvPr/>
          </p:nvPicPr>
          <p:blipFill>
            <a:blip r:embed="rId3"/>
            <a:stretch>
              <a:fillRect/>
            </a:stretch>
          </p:blipFill>
          <p:spPr>
            <a:xfrm>
              <a:off x="0" y="0"/>
              <a:ext cx="2705100" cy="2933700"/>
            </a:xfrm>
            <a:prstGeom prst="rect">
              <a:avLst/>
            </a:prstGeom>
            <a:ln w="12700" cap="flat">
              <a:noFill/>
              <a:miter lim="400000"/>
            </a:ln>
            <a:effectLst/>
          </p:spPr>
        </p:pic>
        <p:sp>
          <p:nvSpPr>
            <p:cNvPr id="133" name="Oval"/>
            <p:cNvSpPr/>
            <p:nvPr/>
          </p:nvSpPr>
          <p:spPr>
            <a:xfrm rot="1828466">
              <a:off x="101997" y="1561624"/>
              <a:ext cx="1219201" cy="317501"/>
            </a:xfrm>
            <a:prstGeom prst="ellipse">
              <a:avLst/>
            </a:prstGeom>
            <a:solidFill>
              <a:srgbClr val="2FC2E4">
                <a:alpha val="90000"/>
              </a:srgbClr>
            </a:solidFill>
            <a:ln w="12700" cap="flat">
              <a:noFill/>
              <a:miter lim="400000"/>
            </a:ln>
            <a:effectLst/>
          </p:spPr>
          <p:txBody>
            <a:bodyPr wrap="square" lIns="35719" tIns="35719" rIns="35719" bIns="35719" numCol="1" anchor="ctr">
              <a:noAutofit/>
            </a:bodyPr>
            <a:lstStyle/>
            <a:p>
              <a:pPr algn="ctr" defTabSz="410751" hangingPunct="0">
                <a:defRPr sz="4000" b="0">
                  <a:solidFill>
                    <a:srgbClr val="000000"/>
                  </a:solidFill>
                  <a:latin typeface="Gill Sans"/>
                  <a:ea typeface="Gill Sans"/>
                  <a:cs typeface="Gill Sans"/>
                  <a:sym typeface="Gill Sans"/>
                </a:defRPr>
              </a:pPr>
              <a:endParaRPr sz="2812" kern="0">
                <a:solidFill>
                  <a:srgbClr val="000000"/>
                </a:solidFill>
                <a:latin typeface="Gill Sans"/>
                <a:cs typeface="Gill Sans"/>
                <a:sym typeface="Gill Sans"/>
              </a:endParaRPr>
            </a:p>
          </p:txBody>
        </p:sp>
      </p:grpSp>
      <p:sp>
        <p:nvSpPr>
          <p:cNvPr id="135" name="Line"/>
          <p:cNvSpPr/>
          <p:nvPr/>
        </p:nvSpPr>
        <p:spPr>
          <a:xfrm flipH="1" flipV="1">
            <a:off x="7527726" y="2446735"/>
            <a:ext cx="98227" cy="1964531"/>
          </a:xfrm>
          <a:prstGeom prst="line">
            <a:avLst/>
          </a:prstGeom>
          <a:ln w="101600">
            <a:solidFill>
              <a:srgbClr val="E32400"/>
            </a:solidFill>
            <a:miter lim="400000"/>
            <a:headEnd type="stealth"/>
          </a:ln>
        </p:spPr>
        <p:txBody>
          <a:bodyPr lIns="0" tIns="0" rIns="0" bIns="0"/>
          <a:lstStyle/>
          <a:p>
            <a:pPr defTabSz="321457" hangingPunct="0">
              <a:defRPr sz="1200" b="0">
                <a:solidFill>
                  <a:srgbClr val="000000"/>
                </a:solidFill>
                <a:latin typeface="Helvetica"/>
                <a:ea typeface="Helvetica"/>
                <a:cs typeface="Helvetica"/>
                <a:sym typeface="Helvetica"/>
              </a:defRPr>
            </a:pPr>
            <a:endParaRPr sz="844" kern="0">
              <a:solidFill>
                <a:srgbClr val="000000"/>
              </a:solidFill>
              <a:latin typeface="Helvetica"/>
              <a:sym typeface="Helvetica"/>
            </a:endParaRPr>
          </a:p>
        </p:txBody>
      </p:sp>
    </p:spTree>
    <p:extLst>
      <p:ext uri="{BB962C8B-B14F-4D97-AF65-F5344CB8AC3E}">
        <p14:creationId xmlns:p14="http://schemas.microsoft.com/office/powerpoint/2010/main" val="235353291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VM Checkpointing"/>
          <p:cNvSpPr txBox="1">
            <a:spLocks noGrp="1"/>
          </p:cNvSpPr>
          <p:nvPr>
            <p:ph type="title"/>
          </p:nvPr>
        </p:nvSpPr>
        <p:spPr>
          <a:prstGeom prst="rect">
            <a:avLst/>
          </a:prstGeom>
        </p:spPr>
        <p:txBody>
          <a:bodyPr/>
          <a:lstStyle/>
          <a:p>
            <a:r>
              <a:t>VM Checkpointing</a:t>
            </a:r>
          </a:p>
        </p:txBody>
      </p:sp>
      <p:sp>
        <p:nvSpPr>
          <p:cNvPr id="138" name="What is a computer?…"/>
          <p:cNvSpPr txBox="1">
            <a:spLocks noGrp="1"/>
          </p:cNvSpPr>
          <p:nvPr>
            <p:ph type="body" idx="1"/>
          </p:nvPr>
        </p:nvSpPr>
        <p:spPr>
          <a:prstGeom prst="rect">
            <a:avLst/>
          </a:prstGeom>
        </p:spPr>
        <p:txBody>
          <a:bodyPr/>
          <a:lstStyle/>
          <a:p>
            <a:r>
              <a:t>What is a computer? </a:t>
            </a:r>
          </a:p>
          <a:p>
            <a:pPr lvl="1"/>
            <a:r>
              <a:t>What is its "state"?</a:t>
            </a:r>
          </a:p>
          <a:p>
            <a:pPr marL="2473435" lvl="7" indent="-250022">
              <a:lnSpc>
                <a:spcPct val="60000"/>
              </a:lnSpc>
              <a:spcBef>
                <a:spcPts val="422"/>
              </a:spcBef>
              <a:buClrTx/>
              <a:buSzPct val="100000"/>
              <a:defRPr sz="2600">
                <a:solidFill>
                  <a:srgbClr val="232323"/>
                </a:solidFill>
                <a:latin typeface="Helvetica"/>
                <a:ea typeface="Helvetica"/>
                <a:cs typeface="Helvetica"/>
                <a:sym typeface="Helvetica"/>
              </a:defRPr>
            </a:pPr>
            <a:endParaRPr/>
          </a:p>
          <a:p>
            <a:r>
              <a:t>How can we save a computer to disk?</a:t>
            </a:r>
          </a:p>
          <a:p>
            <a:pPr lvl="1"/>
            <a:r>
              <a:t>Why would we want to?</a:t>
            </a:r>
          </a:p>
        </p:txBody>
      </p:sp>
      <p:sp>
        <p:nvSpPr>
          <p:cNvPr id="139" name="Slide Number"/>
          <p:cNvSpPr txBox="1">
            <a:spLocks noGrp="1"/>
          </p:cNvSpPr>
          <p:nvPr>
            <p:ph type="sldNum" sz="quarter" idx="2"/>
          </p:nvPr>
        </p:nvSpPr>
        <p:spPr>
          <a:xfrm>
            <a:off x="8806717" y="6469908"/>
            <a:ext cx="192361" cy="297389"/>
          </a:xfrm>
          <a:prstGeom prst="rect">
            <a:avLst/>
          </a:prstGeom>
          <a:extLst>
            <a:ext uri="{C572A759-6A51-4108-AA02-DFA0A04FC94B}">
              <ma14:wrappingTextBoxFlag xmlns:ma14="http://schemas.microsoft.com/office/mac/drawingml/2011/main" xmlns="" val="1"/>
            </a:ext>
          </a:extLst>
        </p:spPr>
        <p:txBody>
          <a:bodyPr/>
          <a:lstStyle/>
          <a:p>
            <a:pPr algn="ctr" defTabSz="410751" hangingPunct="0"/>
            <a:fld id="{86CB4B4D-7CA3-9044-876B-883B54F8677D}" type="slidenum">
              <a:rPr kern="0"/>
              <a:pPr algn="ctr" defTabSz="410751" hangingPunct="0"/>
              <a:t>5</a:t>
            </a:fld>
            <a:endParaRPr kern="0" dirty="0"/>
          </a:p>
        </p:txBody>
      </p:sp>
    </p:spTree>
    <p:extLst>
      <p:ext uri="{BB962C8B-B14F-4D97-AF65-F5344CB8AC3E}">
        <p14:creationId xmlns:p14="http://schemas.microsoft.com/office/powerpoint/2010/main" val="41714951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VM Checkpointing"/>
          <p:cNvSpPr txBox="1">
            <a:spLocks noGrp="1"/>
          </p:cNvSpPr>
          <p:nvPr>
            <p:ph type="title"/>
          </p:nvPr>
        </p:nvSpPr>
        <p:spPr>
          <a:prstGeom prst="rect">
            <a:avLst/>
          </a:prstGeom>
        </p:spPr>
        <p:txBody>
          <a:bodyPr/>
          <a:lstStyle/>
          <a:p>
            <a:r>
              <a:t>VM Checkpointing</a:t>
            </a:r>
          </a:p>
        </p:txBody>
      </p:sp>
      <p:sp>
        <p:nvSpPr>
          <p:cNvPr id="142" name="A VM is really just memory + CPU + disk state…"/>
          <p:cNvSpPr txBox="1">
            <a:spLocks noGrp="1"/>
          </p:cNvSpPr>
          <p:nvPr>
            <p:ph type="body" idx="1"/>
          </p:nvPr>
        </p:nvSpPr>
        <p:spPr>
          <a:xfrm>
            <a:off x="35496" y="1340768"/>
            <a:ext cx="8688586" cy="5357813"/>
          </a:xfrm>
          <a:prstGeom prst="rect">
            <a:avLst/>
          </a:prstGeom>
        </p:spPr>
        <p:txBody>
          <a:bodyPr/>
          <a:lstStyle/>
          <a:p>
            <a:r>
              <a:rPr dirty="0"/>
              <a:t>A VM is really just </a:t>
            </a:r>
            <a:r>
              <a:rPr lang="en-US" dirty="0"/>
              <a:t>(</a:t>
            </a:r>
            <a:r>
              <a:rPr dirty="0"/>
              <a:t>memory + CPU + disk</a:t>
            </a:r>
            <a:r>
              <a:rPr lang="en-US" dirty="0"/>
              <a:t>)</a:t>
            </a:r>
            <a:r>
              <a:rPr dirty="0"/>
              <a:t> state</a:t>
            </a:r>
          </a:p>
          <a:p>
            <a:pPr lvl="4"/>
            <a:endParaRPr dirty="0"/>
          </a:p>
          <a:p>
            <a:r>
              <a:rPr dirty="0"/>
              <a:t>Save a copy of a VM:</a:t>
            </a:r>
          </a:p>
          <a:p>
            <a:pPr lvl="1"/>
            <a:r>
              <a:rPr b="1" dirty="0"/>
              <a:t>Pause VM</a:t>
            </a:r>
          </a:p>
          <a:p>
            <a:pPr lvl="1"/>
            <a:r>
              <a:rPr dirty="0"/>
              <a:t>Write out all of its memory pages to disk</a:t>
            </a:r>
          </a:p>
          <a:p>
            <a:pPr lvl="1"/>
            <a:r>
              <a:rPr dirty="0"/>
              <a:t>Write out processor (</a:t>
            </a:r>
            <a:r>
              <a:rPr lang="en-US" dirty="0"/>
              <a:t>e.g., </a:t>
            </a:r>
            <a:r>
              <a:rPr dirty="0"/>
              <a:t>register</a:t>
            </a:r>
            <a:r>
              <a:rPr lang="en-US" dirty="0"/>
              <a:t>s</a:t>
            </a:r>
            <a:r>
              <a:rPr dirty="0"/>
              <a:t>) state</a:t>
            </a:r>
          </a:p>
          <a:p>
            <a:pPr lvl="1"/>
            <a:r>
              <a:rPr dirty="0"/>
              <a:t>Make a copy of its disk data</a:t>
            </a:r>
          </a:p>
          <a:p>
            <a:pPr lvl="1"/>
            <a:endParaRPr dirty="0"/>
          </a:p>
          <a:p>
            <a:r>
              <a:rPr dirty="0"/>
              <a:t>Can restore it later, </a:t>
            </a:r>
            <a:r>
              <a:rPr lang="en-US" dirty="0"/>
              <a:t>at </a:t>
            </a:r>
            <a:r>
              <a:rPr dirty="0"/>
              <a:t>exactly</a:t>
            </a:r>
            <a:r>
              <a:rPr lang="en-US" dirty="0"/>
              <a:t> the </a:t>
            </a:r>
            <a:br>
              <a:rPr lang="en-US" dirty="0"/>
            </a:br>
            <a:r>
              <a:rPr lang="en-US" dirty="0"/>
              <a:t>point</a:t>
            </a:r>
            <a:r>
              <a:rPr dirty="0"/>
              <a:t> where it was</a:t>
            </a:r>
            <a:r>
              <a:rPr lang="en-US" dirty="0"/>
              <a:t> paused</a:t>
            </a:r>
            <a:endParaRPr dirty="0"/>
          </a:p>
          <a:p>
            <a:r>
              <a:rPr dirty="0"/>
              <a:t>Or create multiple clones based</a:t>
            </a:r>
            <a:br>
              <a:rPr dirty="0"/>
            </a:br>
            <a:r>
              <a:rPr dirty="0"/>
              <a:t>on this saved state</a:t>
            </a:r>
          </a:p>
        </p:txBody>
      </p:sp>
      <p:sp>
        <p:nvSpPr>
          <p:cNvPr id="143" name="Slide Number"/>
          <p:cNvSpPr txBox="1">
            <a:spLocks noGrp="1"/>
          </p:cNvSpPr>
          <p:nvPr>
            <p:ph type="sldNum" sz="quarter" idx="2"/>
          </p:nvPr>
        </p:nvSpPr>
        <p:spPr>
          <a:xfrm>
            <a:off x="8916143" y="6515987"/>
            <a:ext cx="192361" cy="297389"/>
          </a:xfrm>
          <a:prstGeom prst="rect">
            <a:avLst/>
          </a:prstGeom>
          <a:extLst>
            <a:ext uri="{C572A759-6A51-4108-AA02-DFA0A04FC94B}">
              <ma14:wrappingTextBoxFlag xmlns:ma14="http://schemas.microsoft.com/office/mac/drawingml/2011/main" xmlns="" val="1"/>
            </a:ext>
          </a:extLst>
        </p:spPr>
        <p:txBody>
          <a:bodyPr/>
          <a:lstStyle/>
          <a:p>
            <a:pPr algn="ctr" defTabSz="410751" hangingPunct="0"/>
            <a:fld id="{86CB4B4D-7CA3-9044-876B-883B54F8677D}" type="slidenum">
              <a:rPr kern="0"/>
              <a:pPr algn="ctr" defTabSz="410751" hangingPunct="0"/>
              <a:t>6</a:t>
            </a:fld>
            <a:endParaRPr kern="0" dirty="0"/>
          </a:p>
        </p:txBody>
      </p:sp>
      <p:grpSp>
        <p:nvGrpSpPr>
          <p:cNvPr id="147" name="Group"/>
          <p:cNvGrpSpPr/>
          <p:nvPr/>
        </p:nvGrpSpPr>
        <p:grpSpPr>
          <a:xfrm>
            <a:off x="6527601" y="2598539"/>
            <a:ext cx="2357438" cy="2428875"/>
            <a:chOff x="0" y="0"/>
            <a:chExt cx="3352800" cy="3454400"/>
          </a:xfrm>
        </p:grpSpPr>
        <p:sp>
          <p:nvSpPr>
            <p:cNvPr id="144" name="VM"/>
            <p:cNvSpPr/>
            <p:nvPr/>
          </p:nvSpPr>
          <p:spPr>
            <a:xfrm>
              <a:off x="0" y="0"/>
              <a:ext cx="3352800" cy="3454400"/>
            </a:xfrm>
            <a:prstGeom prst="roundRect">
              <a:avLst>
                <a:gd name="adj" fmla="val 5682"/>
              </a:avLst>
            </a:prstGeom>
            <a:solidFill>
              <a:srgbClr val="F2F7B7"/>
            </a:solidFill>
            <a:ln w="254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t">
              <a:noAutofit/>
            </a:bodyPr>
            <a:lstStyle>
              <a:lvl1pPr>
                <a:defRPr sz="4000" b="0">
                  <a:solidFill>
                    <a:srgbClr val="000000"/>
                  </a:solidFill>
                  <a:latin typeface="Gill Sans"/>
                  <a:ea typeface="Gill Sans"/>
                  <a:cs typeface="Gill Sans"/>
                  <a:sym typeface="Gill Sans"/>
                </a:defRPr>
              </a:lvl1pPr>
            </a:lstStyle>
            <a:p>
              <a:pPr algn="ctr" defTabSz="410751" hangingPunct="0"/>
              <a:r>
                <a:rPr sz="2812" kern="0"/>
                <a:t>VM</a:t>
              </a:r>
            </a:p>
          </p:txBody>
        </p:sp>
        <p:sp>
          <p:nvSpPr>
            <p:cNvPr id="145" name="Memory state"/>
            <p:cNvSpPr/>
            <p:nvPr/>
          </p:nvSpPr>
          <p:spPr>
            <a:xfrm>
              <a:off x="306541" y="811863"/>
              <a:ext cx="2758876" cy="1337187"/>
            </a:xfrm>
            <a:prstGeom prst="roundRect">
              <a:avLst>
                <a:gd name="adj" fmla="val 10764"/>
              </a:avLst>
            </a:prstGeom>
            <a:solidFill>
              <a:srgbClr val="D4E3FE"/>
            </a:solidFill>
            <a:ln w="254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700" b="0">
                  <a:solidFill>
                    <a:srgbClr val="000000"/>
                  </a:solidFill>
                  <a:latin typeface="Gill Sans"/>
                  <a:ea typeface="Gill Sans"/>
                  <a:cs typeface="Gill Sans"/>
                  <a:sym typeface="Gill Sans"/>
                </a:defRPr>
              </a:lvl1pPr>
            </a:lstStyle>
            <a:p>
              <a:pPr algn="ctr" defTabSz="410751" hangingPunct="0"/>
              <a:r>
                <a:rPr sz="1898" kern="0"/>
                <a:t>Memory state</a:t>
              </a:r>
            </a:p>
          </p:txBody>
        </p:sp>
        <p:sp>
          <p:nvSpPr>
            <p:cNvPr id="146" name="CPU state"/>
            <p:cNvSpPr/>
            <p:nvPr/>
          </p:nvSpPr>
          <p:spPr>
            <a:xfrm>
              <a:off x="306541" y="2324158"/>
              <a:ext cx="2758876" cy="811865"/>
            </a:xfrm>
            <a:prstGeom prst="roundRect">
              <a:avLst>
                <a:gd name="adj" fmla="val 17729"/>
              </a:avLst>
            </a:prstGeom>
            <a:solidFill>
              <a:srgbClr val="D4E3FE"/>
            </a:solidFill>
            <a:ln w="254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700" b="0">
                  <a:solidFill>
                    <a:srgbClr val="000000"/>
                  </a:solidFill>
                  <a:latin typeface="Gill Sans"/>
                  <a:ea typeface="Gill Sans"/>
                  <a:cs typeface="Gill Sans"/>
                  <a:sym typeface="Gill Sans"/>
                </a:defRPr>
              </a:lvl1pPr>
            </a:lstStyle>
            <a:p>
              <a:pPr algn="ctr" defTabSz="410751" hangingPunct="0"/>
              <a:r>
                <a:rPr sz="1898" kern="0"/>
                <a:t>CPU state</a:t>
              </a:r>
            </a:p>
          </p:txBody>
        </p:sp>
      </p:grpSp>
    </p:spTree>
    <p:extLst>
      <p:ext uri="{BB962C8B-B14F-4D97-AF65-F5344CB8AC3E}">
        <p14:creationId xmlns:p14="http://schemas.microsoft.com/office/powerpoint/2010/main" val="3318490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VM Migration"/>
          <p:cNvSpPr txBox="1">
            <a:spLocks noGrp="1"/>
          </p:cNvSpPr>
          <p:nvPr>
            <p:ph type="title"/>
          </p:nvPr>
        </p:nvSpPr>
        <p:spPr>
          <a:prstGeom prst="rect">
            <a:avLst/>
          </a:prstGeom>
        </p:spPr>
        <p:txBody>
          <a:bodyPr/>
          <a:lstStyle/>
          <a:p>
            <a:r>
              <a:t>VM Migration</a:t>
            </a:r>
          </a:p>
        </p:txBody>
      </p:sp>
      <p:sp>
        <p:nvSpPr>
          <p:cNvPr id="150" name="Virtualization abstracts the VM from the underlying hardware...…"/>
          <p:cNvSpPr txBox="1">
            <a:spLocks noGrp="1"/>
          </p:cNvSpPr>
          <p:nvPr>
            <p:ph type="body" idx="1"/>
          </p:nvPr>
        </p:nvSpPr>
        <p:spPr>
          <a:prstGeom prst="rect">
            <a:avLst/>
          </a:prstGeom>
        </p:spPr>
        <p:txBody>
          <a:bodyPr/>
          <a:lstStyle/>
          <a:p>
            <a:r>
              <a:rPr dirty="0"/>
              <a:t>Virtualization abstracts the VM from the underlying hardware...</a:t>
            </a:r>
          </a:p>
          <a:p>
            <a:r>
              <a:rPr dirty="0"/>
              <a:t>So we can change the hardware completely without affecting the VM</a:t>
            </a:r>
          </a:p>
          <a:p>
            <a:endParaRPr dirty="0"/>
          </a:p>
          <a:p>
            <a:r>
              <a:rPr lang="en-US" dirty="0"/>
              <a:t>Live </a:t>
            </a:r>
            <a:r>
              <a:rPr dirty="0"/>
              <a:t>VM Migration: transferring a live VM from one computer to another</a:t>
            </a:r>
          </a:p>
          <a:p>
            <a:pPr lvl="1"/>
            <a:r>
              <a:rPr dirty="0"/>
              <a:t>VM doesn't realize it is being moved</a:t>
            </a:r>
          </a:p>
          <a:p>
            <a:pPr lvl="1"/>
            <a:r>
              <a:rPr dirty="0"/>
              <a:t>Network connections to the VM aren't interrupted</a:t>
            </a:r>
          </a:p>
          <a:p>
            <a:pPr lvl="1"/>
            <a:r>
              <a:rPr lang="en-US" dirty="0"/>
              <a:t>Users and applications should be able to continue (mostly) unaffected</a:t>
            </a:r>
            <a:endParaRPr dirty="0"/>
          </a:p>
        </p:txBody>
      </p:sp>
      <p:sp>
        <p:nvSpPr>
          <p:cNvPr id="151" name="Slide Number"/>
          <p:cNvSpPr txBox="1">
            <a:spLocks noGrp="1"/>
          </p:cNvSpPr>
          <p:nvPr>
            <p:ph type="sldNum" sz="quarter" idx="2"/>
          </p:nvPr>
        </p:nvSpPr>
        <p:spPr>
          <a:xfrm>
            <a:off x="8916143" y="6515987"/>
            <a:ext cx="192361" cy="297389"/>
          </a:xfrm>
          <a:prstGeom prst="rect">
            <a:avLst/>
          </a:prstGeom>
          <a:extLst>
            <a:ext uri="{C572A759-6A51-4108-AA02-DFA0A04FC94B}">
              <ma14:wrappingTextBoxFlag xmlns:ma14="http://schemas.microsoft.com/office/mac/drawingml/2011/main" xmlns="" val="1"/>
            </a:ext>
          </a:extLst>
        </p:spPr>
        <p:txBody>
          <a:bodyPr/>
          <a:lstStyle/>
          <a:p>
            <a:pPr algn="ctr" defTabSz="410751" hangingPunct="0"/>
            <a:fld id="{86CB4B4D-7CA3-9044-876B-883B54F8677D}" type="slidenum">
              <a:rPr kern="0"/>
              <a:pPr algn="ctr" defTabSz="410751" hangingPunct="0"/>
              <a:t>7</a:t>
            </a:fld>
            <a:endParaRPr kern="0" dirty="0"/>
          </a:p>
        </p:txBody>
      </p:sp>
    </p:spTree>
    <p:extLst>
      <p:ext uri="{BB962C8B-B14F-4D97-AF65-F5344CB8AC3E}">
        <p14:creationId xmlns:p14="http://schemas.microsoft.com/office/powerpoint/2010/main" val="188779635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VM Migration"/>
          <p:cNvSpPr txBox="1">
            <a:spLocks noGrp="1"/>
          </p:cNvSpPr>
          <p:nvPr>
            <p:ph type="title"/>
          </p:nvPr>
        </p:nvSpPr>
        <p:spPr>
          <a:xfrm>
            <a:off x="214312" y="178594"/>
            <a:ext cx="8688586" cy="601381"/>
          </a:xfrm>
          <a:prstGeom prst="rect">
            <a:avLst/>
          </a:prstGeom>
        </p:spPr>
        <p:txBody>
          <a:bodyPr/>
          <a:lstStyle/>
          <a:p>
            <a:r>
              <a:rPr dirty="0"/>
              <a:t>VM Migration</a:t>
            </a:r>
          </a:p>
        </p:txBody>
      </p:sp>
      <p:sp>
        <p:nvSpPr>
          <p:cNvPr id="154" name="Line"/>
          <p:cNvSpPr/>
          <p:nvPr/>
        </p:nvSpPr>
        <p:spPr>
          <a:xfrm>
            <a:off x="2283057" y="4518434"/>
            <a:ext cx="4396432" cy="1"/>
          </a:xfrm>
          <a:prstGeom prst="line">
            <a:avLst/>
          </a:prstGeom>
          <a:ln w="63500">
            <a:solidFill>
              <a:srgbClr val="232323"/>
            </a:solidFill>
            <a:miter lim="400000"/>
            <a:tailEnd type="triangle"/>
          </a:ln>
        </p:spPr>
        <p:txBody>
          <a:bodyPr lIns="0" tIns="0" rIns="0" bIns="0"/>
          <a:lstStyle/>
          <a:p>
            <a:pPr defTabSz="321457" hangingPunct="0">
              <a:defRPr sz="1200" b="0">
                <a:solidFill>
                  <a:srgbClr val="000000"/>
                </a:solidFill>
                <a:latin typeface="Helvetica"/>
                <a:ea typeface="Helvetica"/>
                <a:cs typeface="Helvetica"/>
                <a:sym typeface="Helvetica"/>
              </a:defRPr>
            </a:pPr>
            <a:endParaRPr sz="844" kern="0">
              <a:solidFill>
                <a:srgbClr val="000000"/>
              </a:solidFill>
              <a:latin typeface="Helvetica"/>
              <a:sym typeface="Helvetica"/>
            </a:endParaRPr>
          </a:p>
        </p:txBody>
      </p:sp>
      <p:sp>
        <p:nvSpPr>
          <p:cNvPr id="155" name="Copy All Pages"/>
          <p:cNvSpPr/>
          <p:nvPr/>
        </p:nvSpPr>
        <p:spPr>
          <a:xfrm>
            <a:off x="2312789" y="4697015"/>
            <a:ext cx="2000250" cy="437555"/>
          </a:xfrm>
          <a:prstGeom prst="rect">
            <a:avLst/>
          </a:prstGeom>
          <a:solidFill>
            <a:srgbClr val="FFC677"/>
          </a:solidFill>
          <a:ln w="25400">
            <a:solidFill>
              <a:srgbClr val="000000"/>
            </a:solidFill>
            <a:miter lim="400000"/>
          </a:ln>
          <a:extLst>
            <a:ext uri="{C572A759-6A51-4108-AA02-DFA0A04FC94B}">
              <ma14:wrappingTextBoxFlag xmlns:ma14="http://schemas.microsoft.com/office/mac/drawingml/2011/main" xmlns="" val="1"/>
            </a:ext>
          </a:extLst>
        </p:spPr>
        <p:txBody>
          <a:bodyPr lIns="35719" tIns="35719" rIns="35719" bIns="35719" anchor="ctr"/>
          <a:lstStyle>
            <a:lvl1pPr>
              <a:defRPr sz="2700" b="0">
                <a:solidFill>
                  <a:srgbClr val="000000"/>
                </a:solidFill>
                <a:latin typeface="Gill Sans"/>
                <a:ea typeface="Gill Sans"/>
                <a:cs typeface="Gill Sans"/>
                <a:sym typeface="Gill Sans"/>
              </a:defRPr>
            </a:lvl1pPr>
          </a:lstStyle>
          <a:p>
            <a:pPr algn="ctr" defTabSz="410751" hangingPunct="0"/>
            <a:r>
              <a:rPr sz="1898" kern="0"/>
              <a:t>Copy All Pages</a:t>
            </a:r>
          </a:p>
        </p:txBody>
      </p:sp>
      <p:sp>
        <p:nvSpPr>
          <p:cNvPr id="156" name="Rectangle"/>
          <p:cNvSpPr/>
          <p:nvPr/>
        </p:nvSpPr>
        <p:spPr>
          <a:xfrm>
            <a:off x="6500812" y="4697015"/>
            <a:ext cx="125016" cy="437555"/>
          </a:xfrm>
          <a:prstGeom prst="rect">
            <a:avLst/>
          </a:prstGeom>
          <a:solidFill>
            <a:srgbClr val="831100"/>
          </a:solidFill>
          <a:ln w="25400">
            <a:solidFill>
              <a:srgbClr val="000000"/>
            </a:solidFill>
            <a:miter lim="400000"/>
          </a:ln>
        </p:spPr>
        <p:txBody>
          <a:bodyPr lIns="35719" tIns="35719" rIns="35719" bIns="35719" anchor="ctr"/>
          <a:lstStyle/>
          <a:p>
            <a:pPr algn="ctr" defTabSz="410751" hangingPunct="0">
              <a:defRPr sz="4000" b="0">
                <a:solidFill>
                  <a:srgbClr val="000000"/>
                </a:solidFill>
                <a:latin typeface="Gill Sans"/>
                <a:ea typeface="Gill Sans"/>
                <a:cs typeface="Gill Sans"/>
                <a:sym typeface="Gill Sans"/>
              </a:defRPr>
            </a:pPr>
            <a:endParaRPr sz="2812" kern="0">
              <a:solidFill>
                <a:srgbClr val="000000"/>
              </a:solidFill>
              <a:latin typeface="Gill Sans"/>
              <a:cs typeface="Gill Sans"/>
              <a:sym typeface="Gill Sans"/>
            </a:endParaRPr>
          </a:p>
        </p:txBody>
      </p:sp>
      <p:sp>
        <p:nvSpPr>
          <p:cNvPr id="157" name="Slide Number"/>
          <p:cNvSpPr txBox="1">
            <a:spLocks noGrp="1"/>
          </p:cNvSpPr>
          <p:nvPr>
            <p:ph type="sldNum" sz="quarter" idx="2"/>
          </p:nvPr>
        </p:nvSpPr>
        <p:spPr>
          <a:xfrm>
            <a:off x="8772127" y="6515987"/>
            <a:ext cx="192361" cy="297389"/>
          </a:xfrm>
          <a:prstGeom prst="rect">
            <a:avLst/>
          </a:prstGeom>
          <a:extLst>
            <a:ext uri="{C572A759-6A51-4108-AA02-DFA0A04FC94B}">
              <ma14:wrappingTextBoxFlag xmlns:ma14="http://schemas.microsoft.com/office/mac/drawingml/2011/main" xmlns="" val="1"/>
            </a:ext>
          </a:extLst>
        </p:spPr>
        <p:txBody>
          <a:bodyPr/>
          <a:lstStyle/>
          <a:p>
            <a:pPr algn="ctr" defTabSz="410751" hangingPunct="0"/>
            <a:fld id="{86CB4B4D-7CA3-9044-876B-883B54F8677D}" type="slidenum">
              <a:rPr kern="0"/>
              <a:pPr algn="ctr" defTabSz="410751" hangingPunct="0"/>
              <a:t>8</a:t>
            </a:fld>
            <a:endParaRPr kern="0"/>
          </a:p>
        </p:txBody>
      </p:sp>
      <p:sp>
        <p:nvSpPr>
          <p:cNvPr id="158" name="Rounded Rectangle"/>
          <p:cNvSpPr/>
          <p:nvPr/>
        </p:nvSpPr>
        <p:spPr>
          <a:xfrm>
            <a:off x="394972" y="4214090"/>
            <a:ext cx="1786636" cy="1107283"/>
          </a:xfrm>
          <a:prstGeom prst="roundRect">
            <a:avLst>
              <a:gd name="adj" fmla="val 2419"/>
            </a:avLst>
          </a:prstGeom>
          <a:gradFill>
            <a:gsLst>
              <a:gs pos="0">
                <a:srgbClr val="D6D6D6"/>
              </a:gs>
              <a:gs pos="100000">
                <a:srgbClr val="9B9B9B"/>
              </a:gs>
            </a:gsLst>
            <a:lin ang="5400000"/>
          </a:gradFill>
          <a:ln>
            <a:solidFill>
              <a:srgbClr val="797979"/>
            </a:solidFill>
          </a:ln>
        </p:spPr>
        <p:txBody>
          <a:bodyPr lIns="35719" tIns="35719" rIns="35719" bIns="35719" anchor="ctr"/>
          <a:lstStyle/>
          <a:p>
            <a:pPr algn="ctr" defTabSz="410751" hangingPunct="0">
              <a:defRPr sz="1200" b="0">
                <a:uFill>
                  <a:solidFill>
                    <a:srgbClr val="FFFFFF"/>
                  </a:solidFill>
                </a:uFill>
                <a:latin typeface="Gill Sans"/>
                <a:ea typeface="Gill Sans"/>
                <a:cs typeface="Gill Sans"/>
                <a:sym typeface="Gill Sans"/>
              </a:defRPr>
            </a:pPr>
            <a:endParaRPr sz="844" kern="0">
              <a:solidFill>
                <a:srgbClr val="FFFFFF"/>
              </a:solidFill>
              <a:uFill>
                <a:solidFill>
                  <a:srgbClr val="FFFFFF"/>
                </a:solidFill>
              </a:uFill>
              <a:latin typeface="Gill Sans"/>
              <a:cs typeface="Gill Sans"/>
              <a:sym typeface="Gill Sans"/>
            </a:endParaRPr>
          </a:p>
        </p:txBody>
      </p:sp>
      <p:sp>
        <p:nvSpPr>
          <p:cNvPr id="159" name="VM  Memory"/>
          <p:cNvSpPr/>
          <p:nvPr/>
        </p:nvSpPr>
        <p:spPr>
          <a:xfrm>
            <a:off x="480790" y="4331767"/>
            <a:ext cx="1612935" cy="894344"/>
          </a:xfrm>
          <a:prstGeom prst="roundRect">
            <a:avLst>
              <a:gd name="adj" fmla="val 7988"/>
            </a:avLst>
          </a:prstGeom>
          <a:solidFill>
            <a:srgbClr val="96D35F"/>
          </a:solidFill>
          <a:ln>
            <a:solidFill>
              <a:srgbClr val="EBEBEB"/>
            </a:solidFill>
          </a:ln>
          <a:extLst>
            <a:ext uri="{C572A759-6A51-4108-AA02-DFA0A04FC94B}">
              <ma14:wrappingTextBoxFlag xmlns:ma14="http://schemas.microsoft.com/office/mac/drawingml/2011/main" xmlns="" val="1"/>
            </a:ext>
          </a:extLst>
        </p:spPr>
        <p:txBody>
          <a:bodyPr lIns="0" tIns="0" rIns="0" bIns="0" anchor="ctr"/>
          <a:lstStyle/>
          <a:p>
            <a:pPr algn="ctr" defTabSz="410751" hangingPunct="0">
              <a:defRPr sz="3200">
                <a:uFill>
                  <a:solidFill>
                    <a:srgbClr val="FFFFFF"/>
                  </a:solidFill>
                </a:uFill>
                <a:latin typeface="Gill Sans"/>
                <a:ea typeface="Gill Sans"/>
                <a:cs typeface="Gill Sans"/>
                <a:sym typeface="Gill Sans"/>
              </a:defRPr>
            </a:pPr>
            <a:r>
              <a:rPr sz="2250" b="1" kern="0">
                <a:solidFill>
                  <a:srgbClr val="FFFFFF"/>
                </a:solidFill>
                <a:uFill>
                  <a:solidFill>
                    <a:srgbClr val="FFFFFF"/>
                  </a:solidFill>
                </a:uFill>
                <a:latin typeface="Gill Sans"/>
                <a:cs typeface="Gill Sans"/>
                <a:sym typeface="Gill Sans"/>
              </a:rPr>
              <a:t>VM </a:t>
            </a:r>
            <a:br>
              <a:rPr sz="2250" b="1" kern="0">
                <a:solidFill>
                  <a:srgbClr val="FFFFFF"/>
                </a:solidFill>
                <a:uFill>
                  <a:solidFill>
                    <a:srgbClr val="FFFFFF"/>
                  </a:solidFill>
                </a:uFill>
                <a:latin typeface="Gill Sans"/>
                <a:cs typeface="Gill Sans"/>
                <a:sym typeface="Gill Sans"/>
              </a:rPr>
            </a:br>
            <a:r>
              <a:rPr sz="2250" b="1" kern="0">
                <a:solidFill>
                  <a:srgbClr val="FFFFFF"/>
                </a:solidFill>
                <a:uFill>
                  <a:solidFill>
                    <a:srgbClr val="FFFFFF"/>
                  </a:solidFill>
                </a:uFill>
                <a:latin typeface="Gill Sans"/>
                <a:cs typeface="Gill Sans"/>
                <a:sym typeface="Gill Sans"/>
              </a:rPr>
              <a:t>Memory</a:t>
            </a:r>
          </a:p>
        </p:txBody>
      </p:sp>
      <p:grpSp>
        <p:nvGrpSpPr>
          <p:cNvPr id="164" name="Group"/>
          <p:cNvGrpSpPr/>
          <p:nvPr/>
        </p:nvGrpSpPr>
        <p:grpSpPr>
          <a:xfrm>
            <a:off x="303609" y="5357813"/>
            <a:ext cx="1973461" cy="678656"/>
            <a:chOff x="0" y="0"/>
            <a:chExt cx="2806700" cy="965200"/>
          </a:xfrm>
        </p:grpSpPr>
        <p:pic>
          <p:nvPicPr>
            <p:cNvPr id="160" name="ICON_Server_flat_Q408.png" descr="ICON_Server_flat_Q408.png"/>
            <p:cNvPicPr>
              <a:picLocks/>
            </p:cNvPicPr>
            <p:nvPr/>
          </p:nvPicPr>
          <p:blipFill>
            <a:blip r:embed="rId2"/>
            <a:stretch>
              <a:fillRect/>
            </a:stretch>
          </p:blipFill>
          <p:spPr>
            <a:xfrm>
              <a:off x="0" y="254000"/>
              <a:ext cx="2806700" cy="711200"/>
            </a:xfrm>
            <a:prstGeom prst="rect">
              <a:avLst/>
            </a:prstGeom>
            <a:ln w="12700" cap="flat">
              <a:noFill/>
              <a:miter lim="400000"/>
            </a:ln>
            <a:effectLst/>
          </p:spPr>
        </p:pic>
        <p:grpSp>
          <p:nvGrpSpPr>
            <p:cNvPr id="163" name="Group"/>
            <p:cNvGrpSpPr/>
            <p:nvPr/>
          </p:nvGrpSpPr>
          <p:grpSpPr>
            <a:xfrm>
              <a:off x="0" y="0"/>
              <a:ext cx="2806700" cy="228601"/>
              <a:chOff x="0" y="0"/>
              <a:chExt cx="2806700" cy="228600"/>
            </a:xfrm>
          </p:grpSpPr>
          <p:pic>
            <p:nvPicPr>
              <p:cNvPr id="161" name="image.png" descr="image.png"/>
              <p:cNvPicPr>
                <a:picLocks/>
              </p:cNvPicPr>
              <p:nvPr/>
            </p:nvPicPr>
            <p:blipFill>
              <a:blip r:embed="rId3"/>
              <a:stretch>
                <a:fillRect/>
              </a:stretch>
            </p:blipFill>
            <p:spPr>
              <a:xfrm>
                <a:off x="0" y="0"/>
                <a:ext cx="2806700" cy="228601"/>
              </a:xfrm>
              <a:prstGeom prst="rect">
                <a:avLst/>
              </a:prstGeom>
              <a:ln w="12700" cap="flat">
                <a:noFill/>
                <a:miter lim="400000"/>
              </a:ln>
              <a:effectLst/>
            </p:spPr>
          </p:pic>
          <p:pic>
            <p:nvPicPr>
              <p:cNvPr id="162" name="image.png" descr="image.png"/>
              <p:cNvPicPr>
                <a:picLocks/>
              </p:cNvPicPr>
              <p:nvPr/>
            </p:nvPicPr>
            <p:blipFill>
              <a:blip r:embed="rId4"/>
              <a:stretch>
                <a:fillRect/>
              </a:stretch>
            </p:blipFill>
            <p:spPr>
              <a:xfrm>
                <a:off x="14418" y="6578"/>
                <a:ext cx="2749029" cy="106900"/>
              </a:xfrm>
              <a:prstGeom prst="rect">
                <a:avLst/>
              </a:prstGeom>
              <a:ln w="12700" cap="flat">
                <a:noFill/>
                <a:miter lim="400000"/>
              </a:ln>
              <a:effectLst/>
            </p:spPr>
          </p:pic>
        </p:grpSp>
      </p:grpSp>
      <p:grpSp>
        <p:nvGrpSpPr>
          <p:cNvPr id="169" name="Group"/>
          <p:cNvGrpSpPr/>
          <p:nvPr/>
        </p:nvGrpSpPr>
        <p:grpSpPr>
          <a:xfrm>
            <a:off x="6625828" y="5384602"/>
            <a:ext cx="1973461" cy="678656"/>
            <a:chOff x="0" y="0"/>
            <a:chExt cx="2806700" cy="965200"/>
          </a:xfrm>
        </p:grpSpPr>
        <p:pic>
          <p:nvPicPr>
            <p:cNvPr id="165" name="ICON_Server_flat_Q408.png" descr="ICON_Server_flat_Q408.png"/>
            <p:cNvPicPr>
              <a:picLocks/>
            </p:cNvPicPr>
            <p:nvPr/>
          </p:nvPicPr>
          <p:blipFill>
            <a:blip r:embed="rId2"/>
            <a:stretch>
              <a:fillRect/>
            </a:stretch>
          </p:blipFill>
          <p:spPr>
            <a:xfrm>
              <a:off x="0" y="254000"/>
              <a:ext cx="2806700" cy="711200"/>
            </a:xfrm>
            <a:prstGeom prst="rect">
              <a:avLst/>
            </a:prstGeom>
            <a:ln w="12700" cap="flat">
              <a:noFill/>
              <a:miter lim="400000"/>
            </a:ln>
            <a:effectLst/>
          </p:spPr>
        </p:pic>
        <p:grpSp>
          <p:nvGrpSpPr>
            <p:cNvPr id="168" name="Group"/>
            <p:cNvGrpSpPr/>
            <p:nvPr/>
          </p:nvGrpSpPr>
          <p:grpSpPr>
            <a:xfrm>
              <a:off x="0" y="0"/>
              <a:ext cx="2806700" cy="228601"/>
              <a:chOff x="0" y="0"/>
              <a:chExt cx="2806700" cy="228600"/>
            </a:xfrm>
          </p:grpSpPr>
          <p:pic>
            <p:nvPicPr>
              <p:cNvPr id="166" name="image.png" descr="image.png"/>
              <p:cNvPicPr>
                <a:picLocks/>
              </p:cNvPicPr>
              <p:nvPr/>
            </p:nvPicPr>
            <p:blipFill>
              <a:blip r:embed="rId3"/>
              <a:stretch>
                <a:fillRect/>
              </a:stretch>
            </p:blipFill>
            <p:spPr>
              <a:xfrm>
                <a:off x="0" y="0"/>
                <a:ext cx="2806700" cy="228601"/>
              </a:xfrm>
              <a:prstGeom prst="rect">
                <a:avLst/>
              </a:prstGeom>
              <a:ln w="12700" cap="flat">
                <a:noFill/>
                <a:miter lim="400000"/>
              </a:ln>
              <a:effectLst/>
            </p:spPr>
          </p:pic>
          <p:pic>
            <p:nvPicPr>
              <p:cNvPr id="167" name="image.png" descr="image.png"/>
              <p:cNvPicPr>
                <a:picLocks/>
              </p:cNvPicPr>
              <p:nvPr/>
            </p:nvPicPr>
            <p:blipFill>
              <a:blip r:embed="rId4"/>
              <a:stretch>
                <a:fillRect/>
              </a:stretch>
            </p:blipFill>
            <p:spPr>
              <a:xfrm>
                <a:off x="14418" y="6578"/>
                <a:ext cx="2749029" cy="106900"/>
              </a:xfrm>
              <a:prstGeom prst="rect">
                <a:avLst/>
              </a:prstGeom>
              <a:ln w="12700" cap="flat">
                <a:noFill/>
                <a:miter lim="400000"/>
              </a:ln>
              <a:effectLst/>
            </p:spPr>
          </p:pic>
        </p:grpSp>
      </p:grpSp>
      <p:sp>
        <p:nvSpPr>
          <p:cNvPr id="170" name="Host 1"/>
          <p:cNvSpPr/>
          <p:nvPr/>
        </p:nvSpPr>
        <p:spPr>
          <a:xfrm>
            <a:off x="729276" y="6063406"/>
            <a:ext cx="1123707" cy="526555"/>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4200" b="0">
                <a:solidFill>
                  <a:srgbClr val="000000"/>
                </a:solidFill>
                <a:latin typeface="Gill Sans"/>
                <a:ea typeface="Gill Sans"/>
                <a:cs typeface="Gill Sans"/>
                <a:sym typeface="Gill Sans"/>
              </a:defRPr>
            </a:lvl1pPr>
          </a:lstStyle>
          <a:p>
            <a:pPr algn="ctr" defTabSz="410751" hangingPunct="0"/>
            <a:r>
              <a:rPr sz="2953" kern="0"/>
              <a:t>Host 1</a:t>
            </a:r>
          </a:p>
        </p:txBody>
      </p:sp>
      <p:sp>
        <p:nvSpPr>
          <p:cNvPr id="171" name="Host 2"/>
          <p:cNvSpPr/>
          <p:nvPr/>
        </p:nvSpPr>
        <p:spPr>
          <a:xfrm>
            <a:off x="7063673" y="6099125"/>
            <a:ext cx="1123707" cy="526555"/>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4200" b="0">
                <a:solidFill>
                  <a:srgbClr val="000000"/>
                </a:solidFill>
                <a:latin typeface="Gill Sans"/>
                <a:ea typeface="Gill Sans"/>
                <a:cs typeface="Gill Sans"/>
                <a:sym typeface="Gill Sans"/>
              </a:defRPr>
            </a:lvl1pPr>
          </a:lstStyle>
          <a:p>
            <a:pPr algn="ctr" defTabSz="410751" hangingPunct="0"/>
            <a:r>
              <a:rPr sz="2953" kern="0"/>
              <a:t>Host 2</a:t>
            </a:r>
          </a:p>
        </p:txBody>
      </p:sp>
      <p:sp>
        <p:nvSpPr>
          <p:cNvPr id="172" name="Rounded Rectangle"/>
          <p:cNvSpPr/>
          <p:nvPr/>
        </p:nvSpPr>
        <p:spPr>
          <a:xfrm>
            <a:off x="6724055" y="4250532"/>
            <a:ext cx="1786636" cy="1107283"/>
          </a:xfrm>
          <a:prstGeom prst="roundRect">
            <a:avLst>
              <a:gd name="adj" fmla="val 2419"/>
            </a:avLst>
          </a:prstGeom>
          <a:gradFill>
            <a:gsLst>
              <a:gs pos="0">
                <a:srgbClr val="D6D6D6"/>
              </a:gs>
              <a:gs pos="100000">
                <a:srgbClr val="9B9B9B"/>
              </a:gs>
            </a:gsLst>
            <a:lin ang="5400000"/>
          </a:gradFill>
          <a:ln>
            <a:solidFill>
              <a:srgbClr val="797979"/>
            </a:solidFill>
          </a:ln>
        </p:spPr>
        <p:txBody>
          <a:bodyPr lIns="35719" tIns="35719" rIns="35719" bIns="35719" anchor="ctr"/>
          <a:lstStyle/>
          <a:p>
            <a:pPr algn="ctr" defTabSz="410751" hangingPunct="0">
              <a:defRPr sz="1200" b="0">
                <a:uFill>
                  <a:solidFill>
                    <a:srgbClr val="FFFFFF"/>
                  </a:solidFill>
                </a:uFill>
                <a:latin typeface="Gill Sans"/>
                <a:ea typeface="Gill Sans"/>
                <a:cs typeface="Gill Sans"/>
                <a:sym typeface="Gill Sans"/>
              </a:defRPr>
            </a:pPr>
            <a:endParaRPr sz="844" kern="0">
              <a:solidFill>
                <a:srgbClr val="FFFFFF"/>
              </a:solidFill>
              <a:uFill>
                <a:solidFill>
                  <a:srgbClr val="FFFFFF"/>
                </a:solidFill>
              </a:uFill>
              <a:latin typeface="Gill Sans"/>
              <a:cs typeface="Gill Sans"/>
              <a:sym typeface="Gill Sans"/>
            </a:endParaRPr>
          </a:p>
        </p:txBody>
      </p:sp>
      <p:sp>
        <p:nvSpPr>
          <p:cNvPr id="173" name="VM  Memory"/>
          <p:cNvSpPr/>
          <p:nvPr/>
        </p:nvSpPr>
        <p:spPr>
          <a:xfrm>
            <a:off x="6809874" y="4368209"/>
            <a:ext cx="1612934" cy="894344"/>
          </a:xfrm>
          <a:prstGeom prst="roundRect">
            <a:avLst>
              <a:gd name="adj" fmla="val 7988"/>
            </a:avLst>
          </a:prstGeom>
          <a:solidFill>
            <a:srgbClr val="7B6268"/>
          </a:solidFill>
          <a:ln>
            <a:solidFill>
              <a:srgbClr val="EBEBEB"/>
            </a:solidFill>
          </a:ln>
          <a:extLst>
            <a:ext uri="{C572A759-6A51-4108-AA02-DFA0A04FC94B}">
              <ma14:wrappingTextBoxFlag xmlns:ma14="http://schemas.microsoft.com/office/mac/drawingml/2011/main" xmlns="" val="1"/>
            </a:ext>
          </a:extLst>
        </p:spPr>
        <p:txBody>
          <a:bodyPr lIns="0" tIns="0" rIns="0" bIns="0" anchor="ctr"/>
          <a:lstStyle/>
          <a:p>
            <a:pPr algn="ctr" defTabSz="410751" hangingPunct="0">
              <a:defRPr sz="3200">
                <a:uFill>
                  <a:solidFill>
                    <a:srgbClr val="FFFFFF"/>
                  </a:solidFill>
                </a:uFill>
                <a:latin typeface="Gill Sans"/>
                <a:ea typeface="Gill Sans"/>
                <a:cs typeface="Gill Sans"/>
                <a:sym typeface="Gill Sans"/>
              </a:defRPr>
            </a:pPr>
            <a:r>
              <a:rPr sz="2250" b="1" kern="0">
                <a:solidFill>
                  <a:srgbClr val="FFFFFF"/>
                </a:solidFill>
                <a:uFill>
                  <a:solidFill>
                    <a:srgbClr val="FFFFFF"/>
                  </a:solidFill>
                </a:uFill>
                <a:latin typeface="Gill Sans"/>
                <a:cs typeface="Gill Sans"/>
                <a:sym typeface="Gill Sans"/>
              </a:rPr>
              <a:t>VM </a:t>
            </a:r>
            <a:br>
              <a:rPr sz="2250" b="1" kern="0">
                <a:solidFill>
                  <a:srgbClr val="FFFFFF"/>
                </a:solidFill>
                <a:uFill>
                  <a:solidFill>
                    <a:srgbClr val="FFFFFF"/>
                  </a:solidFill>
                </a:uFill>
                <a:latin typeface="Gill Sans"/>
                <a:cs typeface="Gill Sans"/>
                <a:sym typeface="Gill Sans"/>
              </a:rPr>
            </a:br>
            <a:r>
              <a:rPr sz="2250" b="1" kern="0">
                <a:solidFill>
                  <a:srgbClr val="FFFFFF"/>
                </a:solidFill>
                <a:uFill>
                  <a:solidFill>
                    <a:srgbClr val="FFFFFF"/>
                  </a:solidFill>
                </a:uFill>
                <a:latin typeface="Gill Sans"/>
                <a:cs typeface="Gill Sans"/>
                <a:sym typeface="Gill Sans"/>
              </a:rPr>
              <a:t>Memory</a:t>
            </a:r>
          </a:p>
        </p:txBody>
      </p:sp>
      <p:sp>
        <p:nvSpPr>
          <p:cNvPr id="174" name="Rectangle"/>
          <p:cNvSpPr/>
          <p:nvPr/>
        </p:nvSpPr>
        <p:spPr>
          <a:xfrm>
            <a:off x="4339828" y="4697015"/>
            <a:ext cx="651867"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75" name="Rectangle"/>
          <p:cNvSpPr/>
          <p:nvPr/>
        </p:nvSpPr>
        <p:spPr>
          <a:xfrm>
            <a:off x="5018484" y="4697015"/>
            <a:ext cx="375047"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76" name="Rectangle"/>
          <p:cNvSpPr/>
          <p:nvPr/>
        </p:nvSpPr>
        <p:spPr>
          <a:xfrm>
            <a:off x="5420321" y="4697015"/>
            <a:ext cx="187523"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77" name="Rectangle"/>
          <p:cNvSpPr/>
          <p:nvPr/>
        </p:nvSpPr>
        <p:spPr>
          <a:xfrm>
            <a:off x="5634633" y="4697015"/>
            <a:ext cx="410766"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78" name="Rectangle"/>
          <p:cNvSpPr/>
          <p:nvPr/>
        </p:nvSpPr>
        <p:spPr>
          <a:xfrm>
            <a:off x="6072188" y="4697015"/>
            <a:ext cx="187523"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79" name="Rectangle"/>
          <p:cNvSpPr/>
          <p:nvPr/>
        </p:nvSpPr>
        <p:spPr>
          <a:xfrm>
            <a:off x="6286500" y="4697015"/>
            <a:ext cx="187523" cy="437555"/>
          </a:xfrm>
          <a:prstGeom prst="rect">
            <a:avLst/>
          </a:prstGeom>
          <a:solidFill>
            <a:srgbClr val="FFC677"/>
          </a:solidFill>
          <a:ln w="25400">
            <a:solidFill>
              <a:srgbClr val="000000"/>
            </a:solidFill>
            <a:miter lim="400000"/>
          </a:ln>
        </p:spPr>
        <p:txBody>
          <a:bodyPr lIns="35719" tIns="35719" rIns="35719" bIns="35719" anchor="ctr"/>
          <a:lstStyle/>
          <a:p>
            <a:pPr algn="ctr" defTabSz="410751" hangingPunct="0">
              <a:defRPr sz="2700" b="0">
                <a:solidFill>
                  <a:srgbClr val="000000"/>
                </a:solidFill>
                <a:latin typeface="Gill Sans"/>
                <a:ea typeface="Gill Sans"/>
                <a:cs typeface="Gill Sans"/>
                <a:sym typeface="Gill Sans"/>
              </a:defRPr>
            </a:pPr>
            <a:endParaRPr sz="1898" kern="0">
              <a:solidFill>
                <a:srgbClr val="000000"/>
              </a:solidFill>
              <a:latin typeface="Gill Sans"/>
              <a:cs typeface="Gill Sans"/>
              <a:sym typeface="Gill Sans"/>
            </a:endParaRPr>
          </a:p>
        </p:txBody>
      </p:sp>
      <p:sp>
        <p:nvSpPr>
          <p:cNvPr id="180" name="Iterate: Copy dirtied pages"/>
          <p:cNvSpPr/>
          <p:nvPr/>
        </p:nvSpPr>
        <p:spPr>
          <a:xfrm>
            <a:off x="2957165" y="5488665"/>
            <a:ext cx="3579507" cy="461601"/>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3600" b="0">
                <a:solidFill>
                  <a:srgbClr val="000000"/>
                </a:solidFill>
                <a:latin typeface="Gill Sans"/>
                <a:ea typeface="Gill Sans"/>
                <a:cs typeface="Gill Sans"/>
                <a:sym typeface="Gill Sans"/>
              </a:defRPr>
            </a:lvl1pPr>
          </a:lstStyle>
          <a:p>
            <a:pPr algn="ctr" defTabSz="410751" hangingPunct="0"/>
            <a:r>
              <a:rPr sz="2531" kern="0"/>
              <a:t>Iterate: Copy dirtied pages</a:t>
            </a:r>
          </a:p>
        </p:txBody>
      </p:sp>
      <p:sp>
        <p:nvSpPr>
          <p:cNvPr id="181" name="Line"/>
          <p:cNvSpPr/>
          <p:nvPr/>
        </p:nvSpPr>
        <p:spPr>
          <a:xfrm flipH="1" flipV="1">
            <a:off x="4572000" y="4941093"/>
            <a:ext cx="285750" cy="583407"/>
          </a:xfrm>
          <a:prstGeom prst="line">
            <a:avLst/>
          </a:prstGeom>
          <a:ln w="38100">
            <a:solidFill>
              <a:srgbClr val="000000"/>
            </a:solidFill>
            <a:miter lim="400000"/>
            <a:tailEnd type="stealth"/>
          </a:ln>
        </p:spPr>
        <p:txBody>
          <a:bodyPr lIns="0" tIns="0" rIns="0" bIns="0"/>
          <a:lstStyle/>
          <a:p>
            <a:pPr defTabSz="321457" hangingPunct="0">
              <a:defRPr sz="1200" b="0">
                <a:solidFill>
                  <a:srgbClr val="000000"/>
                </a:solidFill>
                <a:latin typeface="Helvetica"/>
                <a:ea typeface="Helvetica"/>
                <a:cs typeface="Helvetica"/>
                <a:sym typeface="Helvetica"/>
              </a:defRPr>
            </a:pPr>
            <a:endParaRPr sz="844" kern="0">
              <a:solidFill>
                <a:srgbClr val="000000"/>
              </a:solidFill>
              <a:latin typeface="Helvetica"/>
              <a:sym typeface="Helvetica"/>
            </a:endParaRPr>
          </a:p>
        </p:txBody>
      </p:sp>
      <p:sp>
        <p:nvSpPr>
          <p:cNvPr id="182" name="Line"/>
          <p:cNvSpPr/>
          <p:nvPr/>
        </p:nvSpPr>
        <p:spPr>
          <a:xfrm flipH="1">
            <a:off x="6048375" y="4953000"/>
            <a:ext cx="381001" cy="559594"/>
          </a:xfrm>
          <a:prstGeom prst="line">
            <a:avLst/>
          </a:prstGeom>
          <a:ln w="38100">
            <a:solidFill>
              <a:srgbClr val="000000"/>
            </a:solidFill>
            <a:miter lim="400000"/>
            <a:headEnd type="stealth"/>
          </a:ln>
        </p:spPr>
        <p:txBody>
          <a:bodyPr lIns="0" tIns="0" rIns="0" bIns="0"/>
          <a:lstStyle/>
          <a:p>
            <a:pPr defTabSz="321457" hangingPunct="0">
              <a:defRPr sz="1200" b="0">
                <a:solidFill>
                  <a:srgbClr val="000000"/>
                </a:solidFill>
                <a:latin typeface="Helvetica"/>
                <a:ea typeface="Helvetica"/>
                <a:cs typeface="Helvetica"/>
                <a:sym typeface="Helvetica"/>
              </a:defRPr>
            </a:pPr>
            <a:endParaRPr sz="844" kern="0">
              <a:solidFill>
                <a:srgbClr val="000000"/>
              </a:solidFill>
              <a:latin typeface="Helvetica"/>
              <a:sym typeface="Helvetica"/>
            </a:endParaRPr>
          </a:p>
        </p:txBody>
      </p:sp>
      <p:sp>
        <p:nvSpPr>
          <p:cNvPr id="183" name="..."/>
          <p:cNvSpPr/>
          <p:nvPr/>
        </p:nvSpPr>
        <p:spPr>
          <a:xfrm>
            <a:off x="5157316" y="5107930"/>
            <a:ext cx="322204" cy="526555"/>
          </a:xfrm>
          <a:prstGeom prst="rect">
            <a:avLst/>
          </a:prstGeom>
          <a:ln w="12700">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lvl1pPr>
              <a:defRPr sz="4200" b="0">
                <a:solidFill>
                  <a:srgbClr val="000000"/>
                </a:solidFill>
                <a:latin typeface="Gill Sans"/>
                <a:ea typeface="Gill Sans"/>
                <a:cs typeface="Gill Sans"/>
                <a:sym typeface="Gill Sans"/>
              </a:defRPr>
            </a:lvl1pPr>
          </a:lstStyle>
          <a:p>
            <a:pPr algn="ctr" defTabSz="410751" hangingPunct="0"/>
            <a:r>
              <a:rPr sz="2953" kern="0"/>
              <a:t>...</a:t>
            </a:r>
          </a:p>
        </p:txBody>
      </p:sp>
      <p:sp>
        <p:nvSpPr>
          <p:cNvPr id="184" name="Assumes disk is accessible to both hosts over network…"/>
          <p:cNvSpPr txBox="1">
            <a:spLocks noGrp="1"/>
          </p:cNvSpPr>
          <p:nvPr>
            <p:ph type="body" idx="1"/>
          </p:nvPr>
        </p:nvSpPr>
        <p:spPr>
          <a:xfrm>
            <a:off x="107504" y="836712"/>
            <a:ext cx="9036496" cy="3071813"/>
          </a:xfrm>
          <a:prstGeom prst="rect">
            <a:avLst/>
          </a:prstGeom>
        </p:spPr>
        <p:txBody>
          <a:bodyPr/>
          <a:lstStyle/>
          <a:p>
            <a:pPr marL="448864" indent="-225630">
              <a:defRPr sz="3700"/>
            </a:pPr>
            <a:r>
              <a:rPr sz="2800" dirty="0"/>
              <a:t>Assume disk is accessible to both hosts over network</a:t>
            </a:r>
          </a:p>
          <a:p>
            <a:pPr marL="754532" lvl="1" indent="-218770">
              <a:defRPr sz="2800"/>
            </a:pPr>
            <a:r>
              <a:rPr sz="1800" dirty="0"/>
              <a:t>Only need to migrate memory and CPU state</a:t>
            </a:r>
          </a:p>
          <a:p>
            <a:pPr marL="448864" indent="-225630">
              <a:defRPr sz="3700"/>
            </a:pPr>
            <a:r>
              <a:rPr sz="2800" dirty="0"/>
              <a:t>Basic idea</a:t>
            </a:r>
            <a:r>
              <a:rPr lang="en-US" sz="2800" dirty="0"/>
              <a:t> for Live Migration</a:t>
            </a:r>
            <a:r>
              <a:rPr sz="2800" dirty="0"/>
              <a:t>:</a:t>
            </a:r>
          </a:p>
          <a:p>
            <a:pPr marL="754532" lvl="1" indent="-218770">
              <a:defRPr sz="2800"/>
            </a:pPr>
            <a:r>
              <a:rPr sz="1800" dirty="0"/>
              <a:t>Copy all memory pages as the VM is running</a:t>
            </a:r>
          </a:p>
          <a:p>
            <a:pPr marL="754532" lvl="1" indent="-218770">
              <a:defRPr sz="2800"/>
            </a:pPr>
            <a:r>
              <a:rPr sz="1800" dirty="0"/>
              <a:t>Track what memory pages are written to by the VM during transfer</a:t>
            </a:r>
          </a:p>
          <a:p>
            <a:pPr marL="754532" lvl="1" indent="-218770">
              <a:defRPr sz="2800"/>
            </a:pPr>
            <a:r>
              <a:rPr sz="1800" dirty="0"/>
              <a:t>Resend all dirty pages.</a:t>
            </a:r>
          </a:p>
          <a:p>
            <a:pPr marL="754532" lvl="1" indent="-218770">
              <a:defRPr sz="2800"/>
            </a:pPr>
            <a:r>
              <a:rPr sz="1800" dirty="0"/>
              <a:t>Repeat until there are very few pages left. </a:t>
            </a:r>
          </a:p>
          <a:p>
            <a:pPr marL="754532" lvl="1" indent="-218770">
              <a:defRPr sz="2800"/>
            </a:pPr>
            <a:r>
              <a:rPr sz="1800" b="1" dirty="0"/>
              <a:t>Pause</a:t>
            </a:r>
            <a:r>
              <a:rPr sz="1800" dirty="0"/>
              <a:t> and send the final set of pages</a:t>
            </a:r>
          </a:p>
        </p:txBody>
      </p:sp>
      <p:sp>
        <p:nvSpPr>
          <p:cNvPr id="2" name="TextBox 1">
            <a:extLst>
              <a:ext uri="{FF2B5EF4-FFF2-40B4-BE49-F238E27FC236}">
                <a16:creationId xmlns:a16="http://schemas.microsoft.com/office/drawing/2014/main" id="{3326559E-2CB0-A84C-AAF1-8A83CB30C538}"/>
              </a:ext>
            </a:extLst>
          </p:cNvPr>
          <p:cNvSpPr txBox="1"/>
          <p:nvPr/>
        </p:nvSpPr>
        <p:spPr>
          <a:xfrm>
            <a:off x="5685293" y="4087105"/>
            <a:ext cx="7470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rgbClr val="FF0000"/>
                </a:solidFill>
                <a:effectLst/>
                <a:uFillTx/>
                <a:latin typeface="Helvetica Neue"/>
                <a:ea typeface="Helvetica Neue"/>
                <a:cs typeface="Helvetica Neue"/>
                <a:sym typeface="Helvetica Neue"/>
              </a:rPr>
              <a:t>time</a:t>
            </a:r>
          </a:p>
        </p:txBody>
      </p:sp>
    </p:spTree>
    <p:extLst>
      <p:ext uri="{BB962C8B-B14F-4D97-AF65-F5344CB8AC3E}">
        <p14:creationId xmlns:p14="http://schemas.microsoft.com/office/powerpoint/2010/main" val="209366534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2F8AE09-9F16-F042-849B-864AA618622E}"/>
              </a:ext>
            </a:extLst>
          </p:cNvPr>
          <p:cNvSpPr>
            <a:spLocks noGrp="1"/>
          </p:cNvSpPr>
          <p:nvPr>
            <p:ph type="title"/>
          </p:nvPr>
        </p:nvSpPr>
        <p:spPr>
          <a:xfrm>
            <a:off x="1042988" y="1687"/>
            <a:ext cx="7748587" cy="835025"/>
          </a:xfrm>
        </p:spPr>
        <p:txBody>
          <a:bodyPr/>
          <a:lstStyle/>
          <a:p>
            <a:pPr algn="ctr" eaLnBrk="1" hangingPunct="1"/>
            <a:r>
              <a:rPr lang="en-US" altLang="zh-CN" dirty="0">
                <a:ea typeface="宋体" panose="02010600030101010101" pitchFamily="2" charset="-122"/>
              </a:rPr>
              <a:t>Significance of Live Migration</a:t>
            </a:r>
          </a:p>
        </p:txBody>
      </p:sp>
      <p:sp>
        <p:nvSpPr>
          <p:cNvPr id="9219" name="Content Placeholder 2">
            <a:extLst>
              <a:ext uri="{FF2B5EF4-FFF2-40B4-BE49-F238E27FC236}">
                <a16:creationId xmlns:a16="http://schemas.microsoft.com/office/drawing/2014/main" id="{B42348E7-FF85-F34D-905A-9F468A38869A}"/>
              </a:ext>
            </a:extLst>
          </p:cNvPr>
          <p:cNvSpPr>
            <a:spLocks noGrp="1"/>
          </p:cNvSpPr>
          <p:nvPr>
            <p:ph idx="1"/>
          </p:nvPr>
        </p:nvSpPr>
        <p:spPr>
          <a:xfrm>
            <a:off x="457200" y="908050"/>
            <a:ext cx="8229600" cy="5218113"/>
          </a:xfrm>
        </p:spPr>
        <p:txBody>
          <a:bodyPr/>
          <a:lstStyle/>
          <a:p>
            <a:pPr eaLnBrk="1" hangingPunct="1"/>
            <a:r>
              <a:rPr lang="en-US" altLang="zh-CN" sz="2800" dirty="0">
                <a:ea typeface="Hiragino Sans GB W3" panose="020B0300000000000000" pitchFamily="34" charset="-128"/>
              </a:rPr>
              <a:t>Concept: </a:t>
            </a:r>
          </a:p>
          <a:p>
            <a:pPr lvl="1" eaLnBrk="1" hangingPunct="1"/>
            <a:r>
              <a:rPr lang="en-US" altLang="zh-CN" dirty="0">
                <a:ea typeface="Hiragino Sans GB W3" panose="020B0300000000000000" pitchFamily="34" charset="-128"/>
              </a:rPr>
              <a:t>Migration: </a:t>
            </a:r>
            <a:r>
              <a:rPr lang="en-US" altLang="zh-CN" sz="1600" dirty="0">
                <a:ea typeface="Hiragino Sans GB W3" panose="020B0300000000000000" pitchFamily="34" charset="-128"/>
              </a:rPr>
              <a:t>Move VM between different physical machines</a:t>
            </a:r>
          </a:p>
          <a:p>
            <a:pPr lvl="1" eaLnBrk="1" hangingPunct="1"/>
            <a:r>
              <a:rPr lang="en-US" altLang="zh-CN" dirty="0">
                <a:ea typeface="Hiragino Sans GB W3" panose="020B0300000000000000" pitchFamily="34" charset="-128"/>
              </a:rPr>
              <a:t>Live: </a:t>
            </a:r>
            <a:r>
              <a:rPr lang="en-US" altLang="zh-CN" sz="1600" dirty="0">
                <a:ea typeface="Hiragino Sans GB W3" panose="020B0300000000000000" pitchFamily="34" charset="-128"/>
              </a:rPr>
              <a:t>Without disconnecting client or application (invisible)</a:t>
            </a:r>
            <a:endParaRPr lang="en-US" altLang="zh-CN" dirty="0">
              <a:ea typeface="Hiragino Sans GB W3" panose="020B0300000000000000" pitchFamily="34" charset="-128"/>
            </a:endParaRPr>
          </a:p>
          <a:p>
            <a:pPr eaLnBrk="1" hangingPunct="1"/>
            <a:r>
              <a:rPr lang="zh-CN" altLang="zh-CN" dirty="0">
                <a:ea typeface="Hiragino Sans GB W3" panose="020B0300000000000000" pitchFamily="34" charset="-128"/>
              </a:rPr>
              <a:t>R</a:t>
            </a:r>
            <a:r>
              <a:rPr lang="en-US" altLang="zh-CN" dirty="0">
                <a:ea typeface="Hiragino Sans GB W3" panose="020B0300000000000000" pitchFamily="34" charset="-128"/>
              </a:rPr>
              <a:t>elation to Cloud Computing and </a:t>
            </a:r>
            <a:r>
              <a:rPr lang="zh-CN" altLang="zh-CN" dirty="0">
                <a:ea typeface="Hiragino Sans GB W3" panose="020B0300000000000000" pitchFamily="34" charset="-128"/>
              </a:rPr>
              <a:t>D</a:t>
            </a:r>
            <a:r>
              <a:rPr lang="en-US" altLang="zh-CN" dirty="0" err="1">
                <a:ea typeface="Hiragino Sans GB W3" panose="020B0300000000000000" pitchFamily="34" charset="-128"/>
              </a:rPr>
              <a:t>ata</a:t>
            </a:r>
            <a:r>
              <a:rPr lang="en-US" altLang="zh-CN" dirty="0">
                <a:ea typeface="Hiragino Sans GB W3" panose="020B0300000000000000" pitchFamily="34" charset="-128"/>
              </a:rPr>
              <a:t> Centers:</a:t>
            </a:r>
          </a:p>
          <a:p>
            <a:pPr lvl="1" eaLnBrk="1" hangingPunct="1"/>
            <a:r>
              <a:rPr lang="en-US" altLang="zh-CN" sz="1800" dirty="0">
                <a:ea typeface="Hiragino Sans GB W3" panose="020B0300000000000000" pitchFamily="34" charset="-128"/>
              </a:rPr>
              <a:t>Cloud Infrastructures and data </a:t>
            </a:r>
            <a:r>
              <a:rPr lang="zh-CN" altLang="zh-CN" sz="1800" dirty="0">
                <a:ea typeface="Hiragino Sans GB W3" panose="020B0300000000000000" pitchFamily="34" charset="-128"/>
              </a:rPr>
              <a:t>c</a:t>
            </a:r>
            <a:r>
              <a:rPr lang="en-US" altLang="zh-CN" sz="1800" dirty="0">
                <a:ea typeface="Hiragino Sans GB W3" panose="020B0300000000000000" pitchFamily="34" charset="-128"/>
              </a:rPr>
              <a:t>enters have to efficiently use their huge scale of hardware resources. </a:t>
            </a:r>
          </a:p>
          <a:p>
            <a:pPr lvl="1" eaLnBrk="1" hangingPunct="1"/>
            <a:r>
              <a:rPr lang="en-US" altLang="zh-CN" sz="1800" dirty="0">
                <a:ea typeface="Hiragino Sans GB W3" panose="020B0300000000000000" pitchFamily="34" charset="-128"/>
              </a:rPr>
              <a:t>Virtualization Technology helps in two approaches:</a:t>
            </a:r>
          </a:p>
          <a:p>
            <a:pPr lvl="2" eaLnBrk="1" hangingPunct="1"/>
            <a:r>
              <a:rPr lang="en-US" altLang="zh-CN" sz="1600" dirty="0">
                <a:ea typeface="Hiragino Sans GB W3" panose="020B0300000000000000" pitchFamily="34" charset="-128"/>
              </a:rPr>
              <a:t>Server Consolidation</a:t>
            </a:r>
          </a:p>
          <a:p>
            <a:pPr lvl="2" eaLnBrk="1" hangingPunct="1"/>
            <a:r>
              <a:rPr lang="en-US" altLang="zh-CN" sz="1600" dirty="0">
                <a:ea typeface="Hiragino Sans GB W3" panose="020B0300000000000000" pitchFamily="34" charset="-128"/>
              </a:rPr>
              <a:t>Live Migration (e.g., for load balancing)</a:t>
            </a:r>
            <a:endParaRPr lang="en-US" altLang="zh-CN" dirty="0">
              <a:ea typeface="Hiragino Sans GB W3" panose="020B0300000000000000" pitchFamily="34" charset="-128"/>
            </a:endParaRPr>
          </a:p>
          <a:p>
            <a:pPr eaLnBrk="1" hangingPunct="1"/>
            <a:r>
              <a:rPr lang="en-US" altLang="zh-CN" sz="2800" dirty="0">
                <a:ea typeface="Hiragino Sans GB W3" panose="020B0300000000000000" pitchFamily="34" charset="-128"/>
              </a:rPr>
              <a:t>Roles in a Data Center:</a:t>
            </a:r>
          </a:p>
          <a:p>
            <a:pPr lvl="1" eaLnBrk="1" hangingPunct="1"/>
            <a:r>
              <a:rPr lang="en-US" altLang="zh-CN" dirty="0">
                <a:ea typeface="Hiragino Sans GB W3" panose="020B0300000000000000" pitchFamily="34" charset="-128"/>
              </a:rPr>
              <a:t>Flexibly remap hardware among VMs.</a:t>
            </a:r>
          </a:p>
          <a:p>
            <a:pPr lvl="1" eaLnBrk="1" hangingPunct="1"/>
            <a:r>
              <a:rPr lang="en-US" altLang="zh-CN" dirty="0">
                <a:ea typeface="Hiragino Sans GB W3" panose="020B0300000000000000" pitchFamily="34" charset="-128"/>
              </a:rPr>
              <a:t>Balance workload</a:t>
            </a:r>
          </a:p>
          <a:p>
            <a:pPr lvl="1" eaLnBrk="1" hangingPunct="1"/>
            <a:r>
              <a:rPr lang="zh-CN" altLang="zh-CN" dirty="0">
                <a:ea typeface="Hiragino Sans GB W3" panose="020B0300000000000000" pitchFamily="34" charset="-128"/>
              </a:rPr>
              <a:t>S</a:t>
            </a:r>
            <a:r>
              <a:rPr lang="en-US" altLang="zh-CN" dirty="0" err="1">
                <a:ea typeface="Hiragino Sans GB W3" panose="020B0300000000000000" pitchFamily="34" charset="-128"/>
              </a:rPr>
              <a:t>ave</a:t>
            </a:r>
            <a:r>
              <a:rPr lang="en-US" altLang="zh-CN" dirty="0">
                <a:ea typeface="Hiragino Sans GB W3" panose="020B0300000000000000" pitchFamily="34" charset="-128"/>
              </a:rPr>
              <a:t> energy</a:t>
            </a:r>
          </a:p>
          <a:p>
            <a:pPr lvl="1" eaLnBrk="1" hangingPunct="1"/>
            <a:r>
              <a:rPr lang="en-US" altLang="zh-CN" dirty="0">
                <a:ea typeface="Hiragino Sans GB W3" panose="020B0300000000000000" pitchFamily="34" charset="-128"/>
              </a:rPr>
              <a:t>Enhance service availability and fault tolerance</a:t>
            </a:r>
          </a:p>
          <a:p>
            <a:pPr eaLnBrk="1" hangingPunct="1"/>
            <a:endParaRPr lang="en-US" altLang="zh-CN" sz="2800" dirty="0">
              <a:ea typeface="Hiragino Sans GB W3" panose="020B0300000000000000" pitchFamily="34" charset="-128"/>
            </a:endParaRPr>
          </a:p>
        </p:txBody>
      </p:sp>
    </p:spTree>
    <p:extLst>
      <p:ext uri="{BB962C8B-B14F-4D97-AF65-F5344CB8AC3E}">
        <p14:creationId xmlns:p14="http://schemas.microsoft.com/office/powerpoint/2010/main" val="1341845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F6FF99AF-50F2-F04A-92FA-8DE3B4BD107E}"/>
              </a:ext>
            </a:extLst>
          </p:cNvPr>
          <p:cNvSpPr>
            <a:spLocks noGrp="1"/>
          </p:cNvSpPr>
          <p:nvPr>
            <p:ph type="title"/>
          </p:nvPr>
        </p:nvSpPr>
        <p:spPr>
          <a:xfrm>
            <a:off x="733425" y="258763"/>
            <a:ext cx="7748587" cy="649287"/>
          </a:xfrm>
        </p:spPr>
        <p:txBody>
          <a:bodyPr/>
          <a:lstStyle/>
          <a:p>
            <a:pPr algn="ctr" eaLnBrk="1" hangingPunct="1"/>
            <a:r>
              <a:rPr lang="en-US" altLang="zh-CN" dirty="0">
                <a:ea typeface="宋体" panose="02010600030101010101" pitchFamily="2" charset="-122"/>
              </a:rPr>
              <a:t>Considerations for Live Migration</a:t>
            </a:r>
          </a:p>
        </p:txBody>
      </p:sp>
      <p:sp>
        <p:nvSpPr>
          <p:cNvPr id="10243" name="Content Placeholder 2">
            <a:extLst>
              <a:ext uri="{FF2B5EF4-FFF2-40B4-BE49-F238E27FC236}">
                <a16:creationId xmlns:a16="http://schemas.microsoft.com/office/drawing/2014/main" id="{FF81E87C-CADA-5046-AF2C-8665DCE68E04}"/>
              </a:ext>
            </a:extLst>
          </p:cNvPr>
          <p:cNvSpPr>
            <a:spLocks noGrp="1"/>
          </p:cNvSpPr>
          <p:nvPr>
            <p:ph idx="1"/>
          </p:nvPr>
        </p:nvSpPr>
        <p:spPr>
          <a:xfrm>
            <a:off x="179388" y="908050"/>
            <a:ext cx="8856662" cy="5218113"/>
          </a:xfrm>
        </p:spPr>
        <p:txBody>
          <a:bodyPr/>
          <a:lstStyle/>
          <a:p>
            <a:pPr eaLnBrk="1" hangingPunct="1"/>
            <a:r>
              <a:rPr lang="en-US" altLang="zh-CN" dirty="0">
                <a:ea typeface="Hiragino Sans GB W3" panose="020B0300000000000000" pitchFamily="34" charset="-128"/>
              </a:rPr>
              <a:t>Scale and frequency leads to a significant Live Migration cost</a:t>
            </a:r>
          </a:p>
          <a:p>
            <a:pPr lvl="1" eaLnBrk="1" hangingPunct="1"/>
            <a:r>
              <a:rPr lang="en-US" altLang="zh-CN" dirty="0">
                <a:ea typeface="Hiragino Sans GB W3" panose="020B0300000000000000" pitchFamily="34" charset="-128"/>
              </a:rPr>
              <a:t>Cost is a function of Scale, Frequency and Cost.</a:t>
            </a:r>
          </a:p>
          <a:p>
            <a:pPr lvl="1" eaLnBrk="1" hangingPunct="1"/>
            <a:endParaRPr lang="en-US" altLang="zh-CN" dirty="0">
              <a:ea typeface="Hiragino Sans GB W3" panose="020B0300000000000000" pitchFamily="34" charset="-128"/>
            </a:endParaRPr>
          </a:p>
          <a:p>
            <a:pPr lvl="1" eaLnBrk="1" hangingPunct="1"/>
            <a:r>
              <a:rPr lang="en-US" altLang="zh-CN" dirty="0">
                <a:ea typeface="Hiragino Sans GB W3" panose="020B0300000000000000" pitchFamily="34" charset="-128"/>
              </a:rPr>
              <a:t>S(</a:t>
            </a:r>
            <a:r>
              <a:rPr lang="zh-CN" altLang="zh-CN" b="1" dirty="0">
                <a:ea typeface="Hiragino Sans GB W3" panose="020B0300000000000000" pitchFamily="34" charset="-128"/>
              </a:rPr>
              <a:t>S</a:t>
            </a:r>
            <a:r>
              <a:rPr lang="en-US" altLang="zh-CN" b="1" dirty="0" err="1">
                <a:ea typeface="Hiragino Sans GB W3" panose="020B0300000000000000" pitchFamily="34" charset="-128"/>
              </a:rPr>
              <a:t>cale</a:t>
            </a:r>
            <a:r>
              <a:rPr lang="en-US" altLang="zh-CN" dirty="0">
                <a:ea typeface="Hiragino Sans GB W3" panose="020B0300000000000000" pitchFamily="34" charset="-128"/>
              </a:rPr>
              <a:t>): How many servers? (very old numbers)</a:t>
            </a:r>
          </a:p>
          <a:p>
            <a:pPr lvl="2" eaLnBrk="1" hangingPunct="1"/>
            <a:r>
              <a:rPr lang="en-US" altLang="zh-CN" sz="1600" dirty="0">
                <a:ea typeface="Hiragino Sans GB W3" panose="020B0300000000000000" pitchFamily="34" charset="-128"/>
              </a:rPr>
              <a:t>Google: Estimated 200,000 to 500,000 servers, included in 36 data centers in 2008</a:t>
            </a:r>
          </a:p>
          <a:p>
            <a:pPr lvl="2" eaLnBrk="1" hangingPunct="1"/>
            <a:r>
              <a:rPr lang="en-US" altLang="zh-CN" sz="1600" dirty="0">
                <a:ea typeface="Hiragino Sans GB W3" panose="020B0300000000000000" pitchFamily="34" charset="-128"/>
              </a:rPr>
              <a:t>MS: Added 10,000 servers per month in 2008</a:t>
            </a:r>
          </a:p>
          <a:p>
            <a:pPr lvl="2" eaLnBrk="1" hangingPunct="1"/>
            <a:r>
              <a:rPr lang="en-US" altLang="zh-CN" sz="1600" dirty="0" err="1">
                <a:ea typeface="Hiragino Sans GB W3" panose="020B0300000000000000" pitchFamily="34" charset="-128"/>
              </a:rPr>
              <a:t>FaceBook</a:t>
            </a:r>
            <a:r>
              <a:rPr lang="en-US" altLang="zh-CN" sz="1600" dirty="0">
                <a:ea typeface="Hiragino Sans GB W3" panose="020B0300000000000000" pitchFamily="34" charset="-128"/>
              </a:rPr>
              <a:t>:  More than 30,000 servers in its data center in 2008</a:t>
            </a:r>
          </a:p>
          <a:p>
            <a:pPr lvl="2" eaLnBrk="1" hangingPunct="1"/>
            <a:r>
              <a:rPr lang="en-US" altLang="zh-CN" sz="1600" dirty="0">
                <a:ea typeface="Hiragino Sans GB W3" panose="020B0300000000000000" pitchFamily="34" charset="-128"/>
              </a:rPr>
              <a:t>All of these have likely grown by an order of magnitude in the last 10 years.</a:t>
            </a:r>
            <a:endParaRPr lang="en-US" altLang="zh-CN" dirty="0">
              <a:ea typeface="Hiragino Sans GB W3" panose="020B0300000000000000" pitchFamily="34" charset="-128"/>
            </a:endParaRPr>
          </a:p>
          <a:p>
            <a:pPr lvl="1" eaLnBrk="1" hangingPunct="1"/>
            <a:r>
              <a:rPr lang="en-US" altLang="zh-CN" dirty="0">
                <a:ea typeface="Hiragino Sans GB W3" panose="020B0300000000000000" pitchFamily="34" charset="-128"/>
              </a:rPr>
              <a:t>F(</a:t>
            </a:r>
            <a:r>
              <a:rPr lang="zh-CN" altLang="zh-CN" b="1" dirty="0">
                <a:ea typeface="Hiragino Sans GB W3" panose="020B0300000000000000" pitchFamily="34" charset="-128"/>
              </a:rPr>
              <a:t>F</a:t>
            </a:r>
            <a:r>
              <a:rPr lang="en-US" altLang="zh-CN" b="1" dirty="0" err="1">
                <a:ea typeface="Hiragino Sans GB W3" panose="020B0300000000000000" pitchFamily="34" charset="-128"/>
              </a:rPr>
              <a:t>requency</a:t>
            </a:r>
            <a:r>
              <a:rPr lang="en-US" altLang="zh-CN" dirty="0">
                <a:ea typeface="Hiragino Sans GB W3" panose="020B0300000000000000" pitchFamily="34" charset="-128"/>
              </a:rPr>
              <a:t>): How often does it happen?</a:t>
            </a:r>
          </a:p>
          <a:p>
            <a:pPr lvl="2" eaLnBrk="1" hangingPunct="1"/>
            <a:r>
              <a:rPr lang="en-US" altLang="zh-CN" sz="1600" dirty="0">
                <a:ea typeface="Hiragino Sans GB W3" panose="020B0300000000000000" pitchFamily="34" charset="-128"/>
              </a:rPr>
              <a:t>Load balancing</a:t>
            </a:r>
          </a:p>
          <a:p>
            <a:pPr lvl="2" eaLnBrk="1" hangingPunct="1"/>
            <a:r>
              <a:rPr lang="en-US" altLang="zh-CN" sz="1600" dirty="0">
                <a:ea typeface="Hiragino Sans GB W3" panose="020B0300000000000000" pitchFamily="34" charset="-128"/>
              </a:rPr>
              <a:t>Online maintenance and proactive fault tolerance</a:t>
            </a:r>
          </a:p>
          <a:p>
            <a:pPr lvl="2" eaLnBrk="1" hangingPunct="1"/>
            <a:r>
              <a:rPr lang="en-US" altLang="zh-CN" sz="1600" dirty="0">
                <a:ea typeface="Hiragino Sans GB W3" panose="020B0300000000000000" pitchFamily="34" charset="-128"/>
              </a:rPr>
              <a:t>Power management</a:t>
            </a:r>
          </a:p>
          <a:p>
            <a:pPr lvl="1" eaLnBrk="1" hangingPunct="1"/>
            <a:r>
              <a:rPr lang="en-US" altLang="zh-CN" dirty="0">
                <a:ea typeface="Hiragino Sans GB W3" panose="020B0300000000000000" pitchFamily="34" charset="-128"/>
              </a:rPr>
              <a:t>C(</a:t>
            </a:r>
            <a:r>
              <a:rPr lang="en-US" altLang="zh-CN" b="1" dirty="0">
                <a:ea typeface="Hiragino Sans GB W3" panose="020B0300000000000000" pitchFamily="34" charset="-128"/>
              </a:rPr>
              <a:t>Cost</a:t>
            </a:r>
            <a:r>
              <a:rPr lang="en-US" altLang="zh-CN" dirty="0">
                <a:ea typeface="Hiragino Sans GB W3" panose="020B0300000000000000" pitchFamily="34" charset="-128"/>
              </a:rPr>
              <a:t> of Live Migration):</a:t>
            </a:r>
          </a:p>
          <a:p>
            <a:pPr lvl="2" eaLnBrk="1" hangingPunct="1"/>
            <a:r>
              <a:rPr lang="zh-CN" altLang="zh-CN" sz="1600" dirty="0">
                <a:ea typeface="Hiragino Sans GB W3" panose="020B0300000000000000" pitchFamily="34" charset="-128"/>
              </a:rPr>
              <a:t>H</a:t>
            </a:r>
            <a:r>
              <a:rPr lang="en-US" altLang="zh-CN" sz="1600" dirty="0" err="1">
                <a:ea typeface="Hiragino Sans GB W3" panose="020B0300000000000000" pitchFamily="34" charset="-128"/>
              </a:rPr>
              <a:t>ardware</a:t>
            </a:r>
            <a:r>
              <a:rPr lang="en-US" altLang="zh-CN" sz="1600" dirty="0">
                <a:ea typeface="Hiragino Sans GB W3" panose="020B0300000000000000" pitchFamily="34" charset="-128"/>
              </a:rPr>
              <a:t> and network bandwidth</a:t>
            </a:r>
            <a:r>
              <a:rPr lang="zh-CN" altLang="en-US" sz="1600" dirty="0">
                <a:ea typeface="Hiragino Sans GB W3" panose="020B0300000000000000" pitchFamily="34" charset="-128"/>
              </a:rPr>
              <a:t>：</a:t>
            </a:r>
            <a:r>
              <a:rPr lang="en-US" altLang="zh-CN" sz="1600" dirty="0">
                <a:ea typeface="Hiragino Sans GB W3" panose="020B0300000000000000" pitchFamily="34" charset="-128"/>
              </a:rPr>
              <a:t>save and transfer VM state</a:t>
            </a:r>
          </a:p>
          <a:p>
            <a:pPr lvl="2" eaLnBrk="1" hangingPunct="1"/>
            <a:r>
              <a:rPr lang="zh-CN" altLang="zh-CN" sz="1600" dirty="0">
                <a:ea typeface="Hiragino Sans GB W3" panose="020B0300000000000000" pitchFamily="34" charset="-128"/>
              </a:rPr>
              <a:t>W</a:t>
            </a:r>
            <a:r>
              <a:rPr lang="en-US" altLang="zh-CN" sz="1600" dirty="0" err="1">
                <a:ea typeface="Hiragino Sans GB W3" panose="020B0300000000000000" pitchFamily="34" charset="-128"/>
              </a:rPr>
              <a:t>orkload</a:t>
            </a:r>
            <a:r>
              <a:rPr lang="en-US" altLang="zh-CN" sz="1600" dirty="0">
                <a:ea typeface="Hiragino Sans GB W3" panose="020B0300000000000000" pitchFamily="34" charset="-128"/>
              </a:rPr>
              <a:t> performance: share hardware</a:t>
            </a:r>
          </a:p>
          <a:p>
            <a:pPr lvl="2" eaLnBrk="1" hangingPunct="1"/>
            <a:r>
              <a:rPr lang="en-US" altLang="zh-CN" sz="1600" dirty="0">
                <a:ea typeface="Hiragino Sans GB W3" panose="020B0300000000000000" pitchFamily="34" charset="-128"/>
              </a:rPr>
              <a:t>Service availability: downtime</a:t>
            </a:r>
            <a:endParaRPr lang="en-US" altLang="zh-CN" dirty="0">
              <a:ea typeface="Hiragino Sans GB W3" panose="020B0300000000000000" pitchFamily="34" charset="-128"/>
            </a:endParaRPr>
          </a:p>
        </p:txBody>
      </p:sp>
    </p:spTree>
    <p:extLst>
      <p:ext uri="{BB962C8B-B14F-4D97-AF65-F5344CB8AC3E}">
        <p14:creationId xmlns:p14="http://schemas.microsoft.com/office/powerpoint/2010/main" val="157666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Introduction</a:t>
            </a:r>
            <a:r>
              <a:rPr lang="en-US" altLang="zh-TW"/>
              <a:t>: Original Idea</a:t>
            </a:r>
            <a:endParaRPr lang="zh-TW" altLang="en-US" dirty="0"/>
          </a:p>
        </p:txBody>
      </p:sp>
      <p:sp>
        <p:nvSpPr>
          <p:cNvPr id="3" name="內容版面配置區 2"/>
          <p:cNvSpPr>
            <a:spLocks noGrp="1"/>
          </p:cNvSpPr>
          <p:nvPr>
            <p:ph idx="1"/>
          </p:nvPr>
        </p:nvSpPr>
        <p:spPr>
          <a:xfrm>
            <a:off x="1115616" y="1628800"/>
            <a:ext cx="7818072" cy="4619600"/>
          </a:xfrm>
        </p:spPr>
        <p:txBody>
          <a:bodyPr/>
          <a:lstStyle/>
          <a:p>
            <a:r>
              <a:rPr lang="en-US" altLang="zh-TW" dirty="0"/>
              <a:t>Fundamental Idea: Live OS migration</a:t>
            </a:r>
          </a:p>
          <a:p>
            <a:pPr lvl="1"/>
            <a:r>
              <a:rPr lang="en-US" altLang="zh-TW" sz="2400" dirty="0"/>
              <a:t>Migrating an entire OS and all of its applications as a unit </a:t>
            </a:r>
          </a:p>
          <a:p>
            <a:pPr lvl="1"/>
            <a:r>
              <a:rPr lang="en-US" altLang="zh-TW" sz="2400" dirty="0"/>
              <a:t>Memory state can be transferred in a consistent and efficient fashion</a:t>
            </a:r>
          </a:p>
          <a:p>
            <a:pPr lvl="1"/>
            <a:r>
              <a:rPr lang="en-US" altLang="zh-TW" sz="2400" dirty="0"/>
              <a:t>Allow a separation of  concerns between the users and operator</a:t>
            </a:r>
          </a:p>
          <a:p>
            <a:pPr lvl="1"/>
            <a:r>
              <a:rPr lang="en-US" altLang="zh-TW" sz="2400" dirty="0"/>
              <a:t>Minimize the downtime and total migration time</a:t>
            </a:r>
          </a:p>
          <a:p>
            <a:pPr lvl="1"/>
            <a:r>
              <a:rPr lang="en-US" altLang="zh-TW" sz="2400" dirty="0"/>
              <a:t>Example: Pre-copy approach</a:t>
            </a:r>
            <a:endParaRPr lang="zh-TW" altLang="en-US" sz="24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Related Work (in addition to Xen’s)</a:t>
            </a:r>
            <a:endParaRPr lang="zh-TW" altLang="en-US" dirty="0"/>
          </a:p>
        </p:txBody>
      </p:sp>
      <p:sp>
        <p:nvSpPr>
          <p:cNvPr id="3" name="內容版面配置區 2"/>
          <p:cNvSpPr>
            <a:spLocks noGrp="1"/>
          </p:cNvSpPr>
          <p:nvPr>
            <p:ph idx="1"/>
          </p:nvPr>
        </p:nvSpPr>
        <p:spPr/>
        <p:txBody>
          <a:bodyPr/>
          <a:lstStyle/>
          <a:p>
            <a:r>
              <a:rPr lang="en-US" altLang="zh-TW" dirty="0" err="1"/>
              <a:t>Vmotion</a:t>
            </a:r>
            <a:endParaRPr lang="en-US" altLang="zh-TW" dirty="0"/>
          </a:p>
          <a:p>
            <a:r>
              <a:rPr lang="en-US" altLang="zh-TW" dirty="0"/>
              <a:t>Process Migration</a:t>
            </a:r>
          </a:p>
          <a:p>
            <a:pPr lvl="1"/>
            <a:r>
              <a:rPr lang="en-US" altLang="zh-TW" dirty="0"/>
              <a:t>Residual dependency </a:t>
            </a:r>
          </a:p>
          <a:p>
            <a:pPr lvl="2"/>
            <a:r>
              <a:rPr lang="en-US" altLang="zh-TW" i="1" dirty="0"/>
              <a:t>an ongoing need for a host to maintain data structures or provide functionality for a process even after the process migrates away from the host</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0" name="Live VM Migration"/>
          <p:cNvSpPr txBox="1">
            <a:spLocks noGrp="1"/>
          </p:cNvSpPr>
          <p:nvPr>
            <p:ph type="title"/>
          </p:nvPr>
        </p:nvSpPr>
        <p:spPr>
          <a:xfrm>
            <a:off x="457200" y="274638"/>
            <a:ext cx="8229601" cy="944563"/>
          </a:xfrm>
          <a:prstGeom prst="rect">
            <a:avLst/>
          </a:prstGeom>
          <a:solidFill>
            <a:srgbClr val="8EB4E3"/>
          </a:solidFill>
        </p:spPr>
        <p:txBody>
          <a:bodyPr/>
          <a:lstStyle/>
          <a:p>
            <a:r>
              <a:t>Live VM Migration</a:t>
            </a:r>
          </a:p>
        </p:txBody>
      </p:sp>
      <p:sp>
        <p:nvSpPr>
          <p:cNvPr id="141" name="Slide Number"/>
          <p:cNvSpPr txBox="1">
            <a:spLocks noGrp="1"/>
          </p:cNvSpPr>
          <p:nvPr>
            <p:ph type="sldNum" sz="quarter" idx="2"/>
          </p:nvPr>
        </p:nvSpPr>
        <p:spPr>
          <a:xfrm>
            <a:off x="7010400" y="6268562"/>
            <a:ext cx="2133601" cy="448628"/>
          </a:xfrm>
          <a:prstGeom prst="rect">
            <a:avLst/>
          </a:prstGeom>
          <a:extLst>
            <a:ext uri="{C572A759-6A51-4108-AA02-DFA0A04FC94B}">
              <ma14:wrappingTextBoxFlag xmlns:ma14="http://schemas.microsoft.com/office/mac/drawingml/2011/main" xmlns="" val="1"/>
            </a:ext>
          </a:extLst>
        </p:spPr>
        <p:txBody>
          <a:bodyPr>
            <a:normAutofit fontScale="92500" lnSpcReduction="10000"/>
          </a:bodyPr>
          <a:lstStyle/>
          <a:p>
            <a:pPr hangingPunct="0"/>
            <a:fld id="{86CB4B4D-7CA3-9044-876B-883B54F8677D}" type="slidenum">
              <a:rPr kern="0"/>
              <a:pPr hangingPunct="0"/>
              <a:t>13</a:t>
            </a:fld>
            <a:endParaRPr kern="0"/>
          </a:p>
        </p:txBody>
      </p:sp>
      <p:sp>
        <p:nvSpPr>
          <p:cNvPr id="142" name="Migration of a running Virtual Machine between physical hosts…"/>
          <p:cNvSpPr txBox="1"/>
          <p:nvPr/>
        </p:nvSpPr>
        <p:spPr>
          <a:xfrm>
            <a:off x="457200" y="1371599"/>
            <a:ext cx="8229601" cy="3839382"/>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marL="458990" indent="-390141" defTabSz="914367" hangingPunct="0">
              <a:lnSpc>
                <a:spcPct val="80000"/>
              </a:lnSpc>
              <a:spcBef>
                <a:spcPts val="562"/>
              </a:spcBef>
              <a:buSzPct val="45000"/>
              <a:buFontTx/>
              <a:buChar char="●"/>
              <a:tabLst>
                <a:tab pos="642915" algn="l"/>
                <a:tab pos="1303688" algn="l"/>
                <a:tab pos="1964461" algn="l"/>
                <a:tab pos="2607376" algn="l"/>
                <a:tab pos="3268149" algn="l"/>
                <a:tab pos="3928923" algn="l"/>
                <a:tab pos="4580767" algn="l"/>
                <a:tab pos="5241540" algn="l"/>
                <a:tab pos="5902314" algn="l"/>
                <a:tab pos="6563087" algn="l"/>
                <a:tab pos="7206002" algn="l"/>
                <a:tab pos="7866775" algn="l"/>
              </a:tabLst>
              <a:defRPr b="0">
                <a:latin typeface="Calibri"/>
                <a:ea typeface="Calibri"/>
                <a:cs typeface="Calibri"/>
                <a:sym typeface="Calibri"/>
              </a:defRPr>
            </a:pPr>
            <a:r>
              <a:rPr sz="2391" kern="0">
                <a:solidFill>
                  <a:srgbClr val="000000"/>
                </a:solidFill>
                <a:latin typeface="Calibri"/>
                <a:cs typeface="Calibri"/>
                <a:sym typeface="Calibri"/>
              </a:rPr>
              <a:t>Migration of a running Virtual Machine between physical hosts</a:t>
            </a:r>
          </a:p>
          <a:p>
            <a:pPr defTabSz="642915" hangingPunct="0">
              <a:lnSpc>
                <a:spcPct val="90000"/>
              </a:lnSpc>
              <a:spcBef>
                <a:spcPts val="492"/>
              </a:spcBef>
              <a:defRPr sz="3200" b="0">
                <a:latin typeface="Arial"/>
                <a:ea typeface="Arial"/>
                <a:cs typeface="Arial"/>
                <a:sym typeface="Arial"/>
              </a:defRPr>
            </a:pPr>
            <a:endParaRPr sz="2391" kern="0">
              <a:solidFill>
                <a:srgbClr val="000000"/>
              </a:solidFill>
              <a:latin typeface="Arial"/>
              <a:cs typeface="Arial"/>
              <a:sym typeface="Arial"/>
            </a:endParaRPr>
          </a:p>
          <a:p>
            <a:pPr marL="241093" indent="-241093" defTabSz="642915" hangingPunct="0">
              <a:lnSpc>
                <a:spcPct val="90000"/>
              </a:lnSpc>
              <a:spcBef>
                <a:spcPts val="492"/>
              </a:spcBef>
              <a:buSzPct val="100000"/>
              <a:buFontTx/>
              <a:buChar char="•"/>
              <a:defRPr sz="3200" b="0">
                <a:latin typeface="Arial"/>
                <a:ea typeface="Arial"/>
                <a:cs typeface="Arial"/>
                <a:sym typeface="Arial"/>
              </a:defRPr>
            </a:pPr>
            <a:r>
              <a:rPr sz="2250" kern="0">
                <a:solidFill>
                  <a:srgbClr val="000000"/>
                </a:solidFill>
                <a:latin typeface="Arial"/>
                <a:cs typeface="Arial"/>
                <a:sym typeface="Arial"/>
              </a:rPr>
              <a:t>Live VM migration usually involves</a:t>
            </a:r>
          </a:p>
          <a:p>
            <a:pPr marL="522368" lvl="1" indent="-200911" defTabSz="642915" hangingPunct="0">
              <a:lnSpc>
                <a:spcPct val="90000"/>
              </a:lnSpc>
              <a:spcBef>
                <a:spcPts val="422"/>
              </a:spcBef>
              <a:buSzPct val="100000"/>
              <a:buFontTx/>
              <a:buChar char="–"/>
              <a:defRPr sz="2800" b="0">
                <a:latin typeface="Arial"/>
                <a:ea typeface="Arial"/>
                <a:cs typeface="Arial"/>
                <a:sym typeface="Arial"/>
              </a:defRPr>
            </a:pPr>
            <a:r>
              <a:rPr sz="1969" kern="0">
                <a:solidFill>
                  <a:srgbClr val="000000"/>
                </a:solidFill>
                <a:latin typeface="Arial"/>
                <a:cs typeface="Arial"/>
                <a:sym typeface="Arial"/>
              </a:rPr>
              <a:t>Migrating memory state</a:t>
            </a:r>
          </a:p>
          <a:p>
            <a:pPr marL="522368" lvl="1" indent="-200911" defTabSz="642915" hangingPunct="0">
              <a:lnSpc>
                <a:spcPct val="90000"/>
              </a:lnSpc>
              <a:spcBef>
                <a:spcPts val="422"/>
              </a:spcBef>
              <a:buSzPct val="100000"/>
              <a:buFontTx/>
              <a:buChar char="–"/>
              <a:defRPr sz="2800" b="0">
                <a:latin typeface="Arial"/>
                <a:ea typeface="Arial"/>
                <a:cs typeface="Arial"/>
                <a:sym typeface="Arial"/>
              </a:defRPr>
            </a:pPr>
            <a:r>
              <a:rPr sz="1969" kern="0">
                <a:solidFill>
                  <a:srgbClr val="000000"/>
                </a:solidFill>
                <a:latin typeface="Arial"/>
                <a:cs typeface="Arial"/>
                <a:sym typeface="Arial"/>
              </a:rPr>
              <a:t>Migrating CPU state</a:t>
            </a:r>
          </a:p>
          <a:p>
            <a:pPr marL="522368" lvl="1" indent="-200911" defTabSz="642915" hangingPunct="0">
              <a:lnSpc>
                <a:spcPct val="90000"/>
              </a:lnSpc>
              <a:spcBef>
                <a:spcPts val="422"/>
              </a:spcBef>
              <a:buSzPct val="100000"/>
              <a:buFontTx/>
              <a:buChar char="–"/>
              <a:defRPr sz="2800" b="0">
                <a:latin typeface="Arial"/>
                <a:ea typeface="Arial"/>
                <a:cs typeface="Arial"/>
                <a:sym typeface="Arial"/>
              </a:defRPr>
            </a:pPr>
            <a:r>
              <a:rPr sz="1969" kern="0">
                <a:solidFill>
                  <a:srgbClr val="000000"/>
                </a:solidFill>
                <a:latin typeface="Arial"/>
                <a:cs typeface="Arial"/>
                <a:sym typeface="Arial"/>
              </a:rPr>
              <a:t>Optionally, migrating virtual disk state</a:t>
            </a:r>
            <a:endParaRPr sz="2391" kern="0">
              <a:solidFill>
                <a:srgbClr val="000000"/>
              </a:solidFill>
              <a:latin typeface="Arial"/>
              <a:cs typeface="Arial"/>
              <a:sym typeface="Arial"/>
            </a:endParaRPr>
          </a:p>
          <a:p>
            <a:pPr defTabSz="914367" hangingPunct="0">
              <a:lnSpc>
                <a:spcPct val="80000"/>
              </a:lnSpc>
              <a:spcBef>
                <a:spcPts val="422"/>
              </a:spcBef>
              <a:tabLst>
                <a:tab pos="642915" algn="l"/>
                <a:tab pos="1303688" algn="l"/>
                <a:tab pos="1964461" algn="l"/>
                <a:tab pos="2607376" algn="l"/>
                <a:tab pos="3268149" algn="l"/>
                <a:tab pos="3928923" algn="l"/>
                <a:tab pos="4580767" algn="l"/>
                <a:tab pos="5241540" algn="l"/>
                <a:tab pos="5902314" algn="l"/>
                <a:tab pos="6563087" algn="l"/>
                <a:tab pos="7206002" algn="l"/>
                <a:tab pos="7866775" algn="l"/>
              </a:tabLst>
              <a:defRPr b="0">
                <a:latin typeface="Calibri"/>
                <a:ea typeface="Calibri"/>
                <a:cs typeface="Calibri"/>
                <a:sym typeface="Calibri"/>
              </a:defRPr>
            </a:pPr>
            <a:endParaRPr sz="2391" b="1" kern="0">
              <a:solidFill>
                <a:srgbClr val="1F497D"/>
              </a:solidFill>
              <a:latin typeface="Calibri"/>
              <a:cs typeface="Calibri"/>
              <a:sym typeface="Calibri"/>
            </a:endParaRPr>
          </a:p>
          <a:p>
            <a:pPr marL="344243" indent="-275394" defTabSz="914367" hangingPunct="0">
              <a:lnSpc>
                <a:spcPct val="80000"/>
              </a:lnSpc>
              <a:spcBef>
                <a:spcPts val="422"/>
              </a:spcBef>
              <a:buClr>
                <a:srgbClr val="1F497D"/>
              </a:buClr>
              <a:buSzPct val="45000"/>
              <a:buFontTx/>
              <a:buChar char="●"/>
              <a:tabLst>
                <a:tab pos="642915" algn="l"/>
                <a:tab pos="1303688" algn="l"/>
                <a:tab pos="1964461" algn="l"/>
                <a:tab pos="2607376" algn="l"/>
                <a:tab pos="3268149" algn="l"/>
                <a:tab pos="3928923" algn="l"/>
                <a:tab pos="4580767" algn="l"/>
                <a:tab pos="5241540" algn="l"/>
                <a:tab pos="5902314" algn="l"/>
                <a:tab pos="6563087" algn="l"/>
                <a:tab pos="7206002" algn="l"/>
                <a:tab pos="7866775" algn="l"/>
              </a:tabLst>
              <a:defRPr b="0">
                <a:latin typeface="Calibri"/>
                <a:ea typeface="Calibri"/>
                <a:cs typeface="Calibri"/>
                <a:sym typeface="Calibri"/>
              </a:defRPr>
            </a:pPr>
            <a:endParaRPr sz="2391" b="1" kern="0">
              <a:solidFill>
                <a:srgbClr val="1F497D"/>
              </a:solidFill>
              <a:latin typeface="Calibri"/>
              <a:cs typeface="Calibri"/>
              <a:sym typeface="Calibri"/>
            </a:endParaRPr>
          </a:p>
          <a:p>
            <a:pPr marL="344243" indent="-275394" defTabSz="914367" hangingPunct="0">
              <a:lnSpc>
                <a:spcPct val="80000"/>
              </a:lnSpc>
              <a:spcBef>
                <a:spcPts val="562"/>
              </a:spcBef>
              <a:buClr>
                <a:srgbClr val="1F497D"/>
              </a:buClr>
              <a:buSzPct val="45000"/>
              <a:buFontTx/>
              <a:buChar char="●"/>
              <a:tabLst>
                <a:tab pos="642915" algn="l"/>
                <a:tab pos="1303688" algn="l"/>
                <a:tab pos="1964461" algn="l"/>
                <a:tab pos="2607376" algn="l"/>
                <a:tab pos="3268149" algn="l"/>
                <a:tab pos="3928923" algn="l"/>
                <a:tab pos="4580767" algn="l"/>
                <a:tab pos="5241540" algn="l"/>
                <a:tab pos="5902314" algn="l"/>
                <a:tab pos="6563087" algn="l"/>
                <a:tab pos="7206002" algn="l"/>
                <a:tab pos="7866775" algn="l"/>
              </a:tabLst>
              <a:defRPr b="0">
                <a:latin typeface="Calibri"/>
                <a:ea typeface="Calibri"/>
                <a:cs typeface="Calibri"/>
                <a:sym typeface="Calibri"/>
              </a:defRPr>
            </a:pPr>
            <a:endParaRPr sz="2391" kern="0">
              <a:solidFill>
                <a:srgbClr val="000000"/>
              </a:solidFill>
              <a:latin typeface="Calibri"/>
              <a:cs typeface="Calibri"/>
              <a:sym typeface="Calibri"/>
            </a:endParaRPr>
          </a:p>
          <a:p>
            <a:pPr marL="293753" indent="-224904" defTabSz="914367" hangingPunct="0">
              <a:lnSpc>
                <a:spcPct val="80000"/>
              </a:lnSpc>
              <a:spcBef>
                <a:spcPts val="422"/>
              </a:spcBef>
              <a:tabLst>
                <a:tab pos="642915" algn="l"/>
                <a:tab pos="1303688" algn="l"/>
                <a:tab pos="1964461" algn="l"/>
                <a:tab pos="2607376" algn="l"/>
                <a:tab pos="3268149" algn="l"/>
                <a:tab pos="3928923" algn="l"/>
                <a:tab pos="4580767" algn="l"/>
                <a:tab pos="5241540" algn="l"/>
                <a:tab pos="5902314" algn="l"/>
                <a:tab pos="6563087" algn="l"/>
                <a:tab pos="7206002" algn="l"/>
                <a:tab pos="7866775" algn="l"/>
              </a:tabLst>
              <a:defRPr b="0">
                <a:latin typeface="Calibri"/>
                <a:ea typeface="Calibri"/>
                <a:cs typeface="Calibri"/>
                <a:sym typeface="Calibri"/>
              </a:defRPr>
            </a:pPr>
            <a:endParaRPr sz="2391" kern="0">
              <a:solidFill>
                <a:srgbClr val="000000"/>
              </a:solidFill>
              <a:latin typeface="Calibri"/>
              <a:cs typeface="Calibri"/>
              <a:sym typeface="Calibri"/>
            </a:endParaRPr>
          </a:p>
        </p:txBody>
      </p:sp>
      <p:grpSp>
        <p:nvGrpSpPr>
          <p:cNvPr id="149" name="Group"/>
          <p:cNvGrpSpPr/>
          <p:nvPr/>
        </p:nvGrpSpPr>
        <p:grpSpPr>
          <a:xfrm>
            <a:off x="2567657" y="4182665"/>
            <a:ext cx="3950527" cy="1266355"/>
            <a:chOff x="0" y="0"/>
            <a:chExt cx="5618525" cy="1801036"/>
          </a:xfrm>
        </p:grpSpPr>
        <p:pic>
          <p:nvPicPr>
            <p:cNvPr id="143" name="cpu.jpg" descr="cpu.jpg"/>
            <p:cNvPicPr>
              <a:picLocks noChangeAspect="1"/>
            </p:cNvPicPr>
            <p:nvPr/>
          </p:nvPicPr>
          <p:blipFill>
            <a:blip r:embed="rId2"/>
            <a:stretch>
              <a:fillRect/>
            </a:stretch>
          </p:blipFill>
          <p:spPr>
            <a:xfrm>
              <a:off x="0" y="0"/>
              <a:ext cx="1517227" cy="1517227"/>
            </a:xfrm>
            <a:prstGeom prst="rect">
              <a:avLst/>
            </a:prstGeom>
            <a:ln w="12700" cap="flat">
              <a:noFill/>
              <a:miter lim="400000"/>
            </a:ln>
            <a:effectLst/>
          </p:spPr>
        </p:pic>
        <p:pic>
          <p:nvPicPr>
            <p:cNvPr id="144" name="ram.jpg" descr="ram.jpg"/>
            <p:cNvPicPr>
              <a:picLocks noChangeAspect="1"/>
            </p:cNvPicPr>
            <p:nvPr/>
          </p:nvPicPr>
          <p:blipFill>
            <a:blip r:embed="rId3"/>
            <a:stretch>
              <a:fillRect/>
            </a:stretch>
          </p:blipFill>
          <p:spPr>
            <a:xfrm>
              <a:off x="1746631" y="23928"/>
              <a:ext cx="1993922" cy="1425623"/>
            </a:xfrm>
            <a:prstGeom prst="rect">
              <a:avLst/>
            </a:prstGeom>
            <a:ln w="12700" cap="flat">
              <a:noFill/>
              <a:miter lim="400000"/>
            </a:ln>
            <a:effectLst/>
          </p:spPr>
        </p:pic>
        <p:pic>
          <p:nvPicPr>
            <p:cNvPr id="145" name="disk.png" descr="disk.png"/>
            <p:cNvPicPr>
              <a:picLocks noChangeAspect="1"/>
            </p:cNvPicPr>
            <p:nvPr/>
          </p:nvPicPr>
          <p:blipFill>
            <a:blip r:embed="rId4"/>
            <a:stretch>
              <a:fillRect/>
            </a:stretch>
          </p:blipFill>
          <p:spPr>
            <a:xfrm>
              <a:off x="4318044" y="108373"/>
              <a:ext cx="1300481" cy="1194817"/>
            </a:xfrm>
            <a:prstGeom prst="rect">
              <a:avLst/>
            </a:prstGeom>
            <a:ln w="12700" cap="flat">
              <a:noFill/>
              <a:miter lim="400000"/>
            </a:ln>
            <a:effectLst/>
          </p:spPr>
        </p:pic>
        <p:sp>
          <p:nvSpPr>
            <p:cNvPr id="146" name="CPU states"/>
            <p:cNvSpPr txBox="1"/>
            <p:nvPr/>
          </p:nvSpPr>
          <p:spPr>
            <a:xfrm>
              <a:off x="21120" y="1300480"/>
              <a:ext cx="1471853"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CPU states</a:t>
              </a:r>
            </a:p>
          </p:txBody>
        </p:sp>
        <p:sp>
          <p:nvSpPr>
            <p:cNvPr id="147" name="Memory"/>
            <p:cNvSpPr txBox="1"/>
            <p:nvPr/>
          </p:nvSpPr>
          <p:spPr>
            <a:xfrm>
              <a:off x="2167466" y="1249813"/>
              <a:ext cx="1200554"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Memory</a:t>
              </a:r>
            </a:p>
          </p:txBody>
        </p:sp>
        <p:sp>
          <p:nvSpPr>
            <p:cNvPr id="148" name="Disk Image"/>
            <p:cNvSpPr txBox="1"/>
            <p:nvPr/>
          </p:nvSpPr>
          <p:spPr>
            <a:xfrm>
              <a:off x="4098489" y="1266702"/>
              <a:ext cx="1492371"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Disk Image</a:t>
              </a:r>
            </a:p>
          </p:txBody>
        </p:sp>
      </p:grpSp>
    </p:spTree>
    <p:extLst>
      <p:ext uri="{BB962C8B-B14F-4D97-AF65-F5344CB8AC3E}">
        <p14:creationId xmlns:p14="http://schemas.microsoft.com/office/powerpoint/2010/main" val="72929825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hape 38"/>
          <p:cNvSpPr txBox="1">
            <a:spLocks noGrp="1"/>
          </p:cNvSpPr>
          <p:nvPr>
            <p:ph type="body" idx="1"/>
          </p:nvPr>
        </p:nvSpPr>
        <p:spPr>
          <a:xfrm>
            <a:off x="457200" y="1600200"/>
            <a:ext cx="8229601" cy="4525964"/>
          </a:xfrm>
          <a:prstGeom prst="rect">
            <a:avLst/>
          </a:prstGeom>
        </p:spPr>
        <p:txBody>
          <a:bodyPr>
            <a:normAutofit fontScale="85000" lnSpcReduction="20000"/>
          </a:bodyPr>
          <a:lstStyle/>
          <a:p>
            <a:pPr marL="229038" indent="-229038" defTabSz="731494">
              <a:spcBef>
                <a:spcPts val="422"/>
              </a:spcBef>
              <a:buChar char="•"/>
              <a:defRPr sz="3040"/>
            </a:pPr>
            <a:r>
              <a:rPr dirty="0"/>
              <a:t>Load Balancing</a:t>
            </a:r>
          </a:p>
          <a:p>
            <a:pPr marL="229038" indent="-229038" defTabSz="731494">
              <a:spcBef>
                <a:spcPts val="422"/>
              </a:spcBef>
              <a:buChar char="•"/>
              <a:defRPr sz="3040"/>
            </a:pPr>
            <a:endParaRPr dirty="0"/>
          </a:p>
          <a:p>
            <a:pPr marL="229038" indent="-229038" defTabSz="731494">
              <a:spcBef>
                <a:spcPts val="422"/>
              </a:spcBef>
              <a:buChar char="•"/>
              <a:defRPr sz="3040"/>
            </a:pPr>
            <a:r>
              <a:rPr dirty="0"/>
              <a:t>System Maintenance</a:t>
            </a:r>
          </a:p>
          <a:p>
            <a:pPr marL="261758" indent="-261758" defTabSz="731494">
              <a:spcBef>
                <a:spcPts val="492"/>
              </a:spcBef>
              <a:buChar char="•"/>
              <a:defRPr sz="3040"/>
            </a:pPr>
            <a:endParaRPr dirty="0"/>
          </a:p>
          <a:p>
            <a:pPr marL="261758" indent="-261758" defTabSz="731494">
              <a:spcBef>
                <a:spcPts val="492"/>
              </a:spcBef>
              <a:buChar char="•"/>
              <a:defRPr sz="3040"/>
            </a:pPr>
            <a:r>
              <a:rPr dirty="0"/>
              <a:t>In anticipation of hardware failure or natural disaster</a:t>
            </a:r>
          </a:p>
          <a:p>
            <a:pPr marL="229038" indent="-229038" defTabSz="731494">
              <a:spcBef>
                <a:spcPts val="422"/>
              </a:spcBef>
              <a:buChar char="•"/>
              <a:defRPr sz="3040"/>
            </a:pPr>
            <a:endParaRPr dirty="0"/>
          </a:p>
          <a:p>
            <a:pPr marL="229038" indent="-229038" defTabSz="731494">
              <a:spcBef>
                <a:spcPts val="422"/>
              </a:spcBef>
              <a:buChar char="•"/>
              <a:defRPr sz="3040"/>
            </a:pPr>
            <a:r>
              <a:rPr dirty="0"/>
              <a:t>Edge computing</a:t>
            </a:r>
          </a:p>
          <a:p>
            <a:pPr marL="486203" lvl="1" indent="-229038" defTabSz="731494">
              <a:spcBef>
                <a:spcPts val="422"/>
              </a:spcBef>
              <a:buChar char="•"/>
              <a:defRPr sz="3040"/>
            </a:pPr>
            <a:r>
              <a:rPr dirty="0"/>
              <a:t>To move computation closer to the data sources</a:t>
            </a:r>
          </a:p>
          <a:p>
            <a:pPr marL="229038" indent="-229038" defTabSz="731494">
              <a:spcBef>
                <a:spcPts val="422"/>
              </a:spcBef>
              <a:buChar char="•"/>
              <a:defRPr sz="3040"/>
            </a:pPr>
            <a:endParaRPr dirty="0"/>
          </a:p>
          <a:p>
            <a:pPr marL="229038" indent="-229038" defTabSz="731494">
              <a:spcBef>
                <a:spcPts val="422"/>
              </a:spcBef>
              <a:buChar char="•"/>
              <a:defRPr sz="3040"/>
            </a:pPr>
            <a:r>
              <a:rPr i="1" dirty="0"/>
              <a:t>Avoiding residual dependencies </a:t>
            </a:r>
            <a:r>
              <a:rPr dirty="0"/>
              <a:t>at source host which occurs with </a:t>
            </a:r>
            <a:r>
              <a:rPr lang="en-US" dirty="0"/>
              <a:t>a </a:t>
            </a:r>
            <a:r>
              <a:rPr dirty="0"/>
              <a:t>process migratin</a:t>
            </a:r>
            <a:r>
              <a:rPr lang="en-US" dirty="0"/>
              <a:t>g to another node</a:t>
            </a:r>
            <a:endParaRPr dirty="0"/>
          </a:p>
          <a:p>
            <a:pPr marL="452336" lvl="1" indent="-195170" defTabSz="731494">
              <a:spcBef>
                <a:spcPts val="352"/>
              </a:spcBef>
              <a:defRPr sz="2720"/>
            </a:pPr>
            <a:r>
              <a:rPr dirty="0"/>
              <a:t>E.g. system call redirection, shared memory</a:t>
            </a:r>
          </a:p>
        </p:txBody>
      </p:sp>
      <p:sp>
        <p:nvSpPr>
          <p:cNvPr id="152" name="Shape 37"/>
          <p:cNvSpPr txBox="1">
            <a:spLocks noGrp="1"/>
          </p:cNvSpPr>
          <p:nvPr>
            <p:ph type="title"/>
          </p:nvPr>
        </p:nvSpPr>
        <p:spPr>
          <a:xfrm>
            <a:off x="457200" y="274638"/>
            <a:ext cx="8229601" cy="944563"/>
          </a:xfrm>
          <a:prstGeom prst="rect">
            <a:avLst/>
          </a:prstGeom>
          <a:solidFill>
            <a:srgbClr val="8EB4E3"/>
          </a:solidFill>
        </p:spPr>
        <p:txBody>
          <a:bodyPr lIns="45719" tIns="45719" rIns="45719" bIns="45719" anchor="ctr">
            <a:normAutofit/>
          </a:bodyPr>
          <a:lstStyle/>
          <a:p>
            <a:r>
              <a:t>Why Live Migrate VMs?</a:t>
            </a:r>
          </a:p>
        </p:txBody>
      </p:sp>
    </p:spTree>
    <p:extLst>
      <p:ext uri="{BB962C8B-B14F-4D97-AF65-F5344CB8AC3E}">
        <p14:creationId xmlns:p14="http://schemas.microsoft.com/office/powerpoint/2010/main" val="276872183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41"/>
          <p:cNvSpPr txBox="1">
            <a:spLocks noGrp="1"/>
          </p:cNvSpPr>
          <p:nvPr>
            <p:ph type="body" idx="1"/>
          </p:nvPr>
        </p:nvSpPr>
        <p:spPr>
          <a:xfrm>
            <a:off x="457200" y="1600200"/>
            <a:ext cx="8229601" cy="4525964"/>
          </a:xfrm>
          <a:prstGeom prst="rect">
            <a:avLst/>
          </a:prstGeom>
        </p:spPr>
        <p:txBody>
          <a:bodyPr/>
          <a:lstStyle/>
          <a:p>
            <a:pPr marL="589338" indent="-589338">
              <a:lnSpc>
                <a:spcPct val="90000"/>
              </a:lnSpc>
              <a:buChar char="•"/>
            </a:pPr>
            <a:r>
              <a:rPr dirty="0"/>
              <a:t>Minimizing Downtime</a:t>
            </a:r>
          </a:p>
          <a:p>
            <a:pPr marL="589338" indent="-589338">
              <a:lnSpc>
                <a:spcPct val="90000"/>
              </a:lnSpc>
              <a:buChar char="•"/>
            </a:pPr>
            <a:endParaRPr dirty="0"/>
          </a:p>
          <a:p>
            <a:pPr marL="589338" indent="-589338">
              <a:lnSpc>
                <a:spcPct val="90000"/>
              </a:lnSpc>
              <a:buChar char="•"/>
            </a:pPr>
            <a:r>
              <a:rPr dirty="0"/>
              <a:t>Reducing total migration time</a:t>
            </a:r>
          </a:p>
          <a:p>
            <a:pPr marL="589338" indent="-589338">
              <a:lnSpc>
                <a:spcPct val="90000"/>
              </a:lnSpc>
              <a:buChar char="•"/>
            </a:pPr>
            <a:endParaRPr dirty="0"/>
          </a:p>
          <a:p>
            <a:pPr marL="589338" indent="-589338">
              <a:lnSpc>
                <a:spcPct val="90000"/>
              </a:lnSpc>
              <a:buChar char="•"/>
            </a:pPr>
            <a:r>
              <a:rPr dirty="0"/>
              <a:t>Avoiding interference with normal system activity</a:t>
            </a:r>
          </a:p>
          <a:p>
            <a:pPr marL="589338" indent="-589338">
              <a:lnSpc>
                <a:spcPct val="90000"/>
              </a:lnSpc>
              <a:buChar char="•"/>
            </a:pPr>
            <a:endParaRPr dirty="0"/>
          </a:p>
          <a:p>
            <a:pPr marL="589338" indent="-589338">
              <a:lnSpc>
                <a:spcPct val="90000"/>
              </a:lnSpc>
              <a:buChar char="•"/>
            </a:pPr>
            <a:r>
              <a:rPr dirty="0"/>
              <a:t>Minimizing network activity</a:t>
            </a:r>
          </a:p>
        </p:txBody>
      </p:sp>
      <p:sp>
        <p:nvSpPr>
          <p:cNvPr id="155" name="Shape 40"/>
          <p:cNvSpPr txBox="1">
            <a:spLocks noGrp="1"/>
          </p:cNvSpPr>
          <p:nvPr>
            <p:ph type="title"/>
          </p:nvPr>
        </p:nvSpPr>
        <p:spPr>
          <a:xfrm>
            <a:off x="457200" y="274638"/>
            <a:ext cx="8229601" cy="1138138"/>
          </a:xfrm>
          <a:prstGeom prst="rect">
            <a:avLst/>
          </a:prstGeom>
          <a:solidFill>
            <a:srgbClr val="8EB4E3"/>
          </a:solidFill>
        </p:spPr>
        <p:txBody>
          <a:bodyPr lIns="45719" tIns="45719" rIns="45719" bIns="45719" anchor="ctr">
            <a:noAutofit/>
          </a:bodyPr>
          <a:lstStyle>
            <a:lvl1pPr defTabSz="1287473">
              <a:defRPr sz="5400"/>
            </a:lvl1pPr>
          </a:lstStyle>
          <a:p>
            <a:r>
              <a:rPr sz="4000" dirty="0"/>
              <a:t>Performance metrics of Live Migration</a:t>
            </a:r>
          </a:p>
        </p:txBody>
      </p:sp>
    </p:spTree>
    <p:extLst>
      <p:ext uri="{BB962C8B-B14F-4D97-AF65-F5344CB8AC3E}">
        <p14:creationId xmlns:p14="http://schemas.microsoft.com/office/powerpoint/2010/main" val="344899791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6844C5BE-EC18-2D4F-B872-C7B7467BDF13}"/>
              </a:ext>
            </a:extLst>
          </p:cNvPr>
          <p:cNvSpPr>
            <a:spLocks noGrp="1"/>
          </p:cNvSpPr>
          <p:nvPr>
            <p:ph type="title"/>
          </p:nvPr>
        </p:nvSpPr>
        <p:spPr>
          <a:xfrm>
            <a:off x="1042988" y="115888"/>
            <a:ext cx="7748587" cy="649287"/>
          </a:xfrm>
        </p:spPr>
        <p:txBody>
          <a:bodyPr/>
          <a:lstStyle/>
          <a:p>
            <a:pPr algn="ctr" eaLnBrk="1" hangingPunct="1"/>
            <a:r>
              <a:rPr lang="en-US" altLang="zh-CN" dirty="0">
                <a:ea typeface="宋体" panose="02010600030101010101" pitchFamily="2" charset="-122"/>
              </a:rPr>
              <a:t>Metrics</a:t>
            </a:r>
            <a:endParaRPr lang="zh-CN" altLang="en-US" dirty="0">
              <a:ea typeface="宋体" panose="02010600030101010101" pitchFamily="2" charset="-122"/>
            </a:endParaRPr>
          </a:p>
        </p:txBody>
      </p:sp>
      <p:sp>
        <p:nvSpPr>
          <p:cNvPr id="15363" name="内容占位符 2">
            <a:extLst>
              <a:ext uri="{FF2B5EF4-FFF2-40B4-BE49-F238E27FC236}">
                <a16:creationId xmlns:a16="http://schemas.microsoft.com/office/drawing/2014/main" id="{A496E8F9-76CC-D04F-9189-4D3AF1E00F98}"/>
              </a:ext>
            </a:extLst>
          </p:cNvPr>
          <p:cNvSpPr>
            <a:spLocks noGrp="1"/>
          </p:cNvSpPr>
          <p:nvPr>
            <p:ph idx="1"/>
          </p:nvPr>
        </p:nvSpPr>
        <p:spPr>
          <a:xfrm>
            <a:off x="179388" y="908050"/>
            <a:ext cx="5483225" cy="5218113"/>
          </a:xfrm>
        </p:spPr>
        <p:txBody>
          <a:bodyPr/>
          <a:lstStyle/>
          <a:p>
            <a:pPr eaLnBrk="1" hangingPunct="1"/>
            <a:r>
              <a:rPr lang="en-US" altLang="zh-CN" dirty="0">
                <a:ea typeface="Hiragino Sans GB W3" panose="020B0300000000000000" pitchFamily="34" charset="-128"/>
              </a:rPr>
              <a:t>Metrics and Measurement: </a:t>
            </a:r>
          </a:p>
          <a:p>
            <a:pPr lvl="1" eaLnBrk="1" hangingPunct="1"/>
            <a:r>
              <a:rPr lang="en-US" altLang="zh-CN" b="1" dirty="0">
                <a:ea typeface="Hiragino Sans GB W3" panose="020B0300000000000000" pitchFamily="34" charset="-128"/>
              </a:rPr>
              <a:t>Downtime</a:t>
            </a:r>
          </a:p>
          <a:p>
            <a:pPr lvl="2" eaLnBrk="1" hangingPunct="1"/>
            <a:r>
              <a:rPr lang="en-US" altLang="zh-CN" sz="1600" dirty="0">
                <a:ea typeface="Hiragino Sans GB W3" panose="020B0300000000000000" pitchFamily="34" charset="-128"/>
              </a:rPr>
              <a:t>Def: how long the VM is suspended</a:t>
            </a:r>
          </a:p>
          <a:p>
            <a:pPr lvl="2" eaLnBrk="1" hangingPunct="1"/>
            <a:r>
              <a:rPr lang="en-US" altLang="zh-CN" sz="1600" dirty="0">
                <a:ea typeface="Hiragino Sans GB W3" panose="020B0300000000000000" pitchFamily="34" charset="-128"/>
              </a:rPr>
              <a:t>Measure: ping</a:t>
            </a:r>
          </a:p>
          <a:p>
            <a:pPr lvl="1" eaLnBrk="1" hangingPunct="1"/>
            <a:r>
              <a:rPr lang="zh-CN" altLang="zh-CN" b="1" dirty="0">
                <a:ea typeface="Hiragino Sans GB W3" panose="020B0300000000000000" pitchFamily="34" charset="-128"/>
              </a:rPr>
              <a:t>T</a:t>
            </a:r>
            <a:r>
              <a:rPr lang="en-US" altLang="zh-CN" b="1" dirty="0" err="1">
                <a:ea typeface="Hiragino Sans GB W3" panose="020B0300000000000000" pitchFamily="34" charset="-128"/>
              </a:rPr>
              <a:t>otal</a:t>
            </a:r>
            <a:r>
              <a:rPr lang="en-US" altLang="zh-CN" b="1" dirty="0">
                <a:ea typeface="Hiragino Sans GB W3" panose="020B0300000000000000" pitchFamily="34" charset="-128"/>
              </a:rPr>
              <a:t> migration time</a:t>
            </a:r>
          </a:p>
          <a:p>
            <a:pPr lvl="2" eaLnBrk="1" hangingPunct="1"/>
            <a:r>
              <a:rPr lang="en-US" altLang="zh-CN" sz="1600" dirty="0">
                <a:ea typeface="Hiragino Sans GB W3" panose="020B0300000000000000" pitchFamily="34" charset="-128"/>
              </a:rPr>
              <a:t>Def: how long a Live Migration(LM) lasts</a:t>
            </a:r>
          </a:p>
          <a:p>
            <a:pPr lvl="2" eaLnBrk="1" hangingPunct="1"/>
            <a:r>
              <a:rPr lang="en-US" altLang="zh-CN" sz="1600" dirty="0">
                <a:ea typeface="Hiragino Sans GB W3" panose="020B0300000000000000" pitchFamily="34" charset="-128"/>
              </a:rPr>
              <a:t>Measure: timing the LM command</a:t>
            </a:r>
          </a:p>
          <a:p>
            <a:pPr lvl="1" eaLnBrk="1" hangingPunct="1"/>
            <a:r>
              <a:rPr lang="zh-CN" altLang="zh-CN" b="1" dirty="0">
                <a:ea typeface="Hiragino Sans GB W3" panose="020B0300000000000000" pitchFamily="34" charset="-128"/>
              </a:rPr>
              <a:t>A</a:t>
            </a:r>
            <a:r>
              <a:rPr lang="en-US" altLang="zh-CN" b="1" dirty="0">
                <a:ea typeface="Hiragino Sans GB W3" panose="020B0300000000000000" pitchFamily="34" charset="-128"/>
              </a:rPr>
              <a:t>mount of migrated data</a:t>
            </a:r>
          </a:p>
          <a:p>
            <a:pPr lvl="2" eaLnBrk="1" hangingPunct="1"/>
            <a:r>
              <a:rPr lang="en-US" altLang="zh-CN" sz="1600" dirty="0">
                <a:ea typeface="Hiragino Sans GB W3" panose="020B0300000000000000" pitchFamily="34" charset="-128"/>
              </a:rPr>
              <a:t>Def: how much data is transferred</a:t>
            </a:r>
          </a:p>
          <a:p>
            <a:pPr lvl="2" eaLnBrk="1" hangingPunct="1"/>
            <a:r>
              <a:rPr lang="en-US" altLang="zh-CN" sz="1600" dirty="0">
                <a:ea typeface="Hiragino Sans GB W3" panose="020B0300000000000000" pitchFamily="34" charset="-128"/>
              </a:rPr>
              <a:t>Measure: transferred data on its exclusive TCP port </a:t>
            </a:r>
          </a:p>
          <a:p>
            <a:pPr lvl="1" eaLnBrk="1" hangingPunct="1"/>
            <a:r>
              <a:rPr lang="zh-CN" altLang="zh-CN" b="1" dirty="0">
                <a:ea typeface="Hiragino Sans GB W3" panose="020B0300000000000000" pitchFamily="34" charset="-128"/>
              </a:rPr>
              <a:t>M</a:t>
            </a:r>
            <a:r>
              <a:rPr lang="en-US" altLang="zh-CN" b="1" dirty="0" err="1">
                <a:ea typeface="Hiragino Sans GB W3" panose="020B0300000000000000" pitchFamily="34" charset="-128"/>
              </a:rPr>
              <a:t>igration</a:t>
            </a:r>
            <a:r>
              <a:rPr lang="en-US" altLang="zh-CN" b="1" dirty="0">
                <a:ea typeface="Hiragino Sans GB W3" panose="020B0300000000000000" pitchFamily="34" charset="-128"/>
              </a:rPr>
              <a:t> overhead</a:t>
            </a:r>
          </a:p>
          <a:p>
            <a:pPr lvl="2" eaLnBrk="1" hangingPunct="1"/>
            <a:r>
              <a:rPr lang="en-US" altLang="zh-CN" sz="1600" dirty="0">
                <a:ea typeface="Hiragino Sans GB W3" panose="020B0300000000000000" pitchFamily="34" charset="-128"/>
              </a:rPr>
              <a:t>Def: How much LM impairs performance of the normal workload</a:t>
            </a:r>
          </a:p>
          <a:p>
            <a:pPr lvl="2" eaLnBrk="1" hangingPunct="1"/>
            <a:r>
              <a:rPr lang="en-US" altLang="zh-CN" sz="1600" dirty="0">
                <a:ea typeface="Hiragino Sans GB W3" panose="020B0300000000000000" pitchFamily="34" charset="-128"/>
              </a:rPr>
              <a:t>Measure: Reduced percentage of the </a:t>
            </a:r>
            <a:r>
              <a:rPr lang="en-US" altLang="zh-CN" sz="1600" dirty="0" err="1">
                <a:ea typeface="Hiragino Sans GB W3" panose="020B0300000000000000" pitchFamily="34" charset="-128"/>
              </a:rPr>
              <a:t>workloads’s</a:t>
            </a:r>
            <a:r>
              <a:rPr lang="en-US" altLang="zh-CN" sz="1600" dirty="0">
                <a:ea typeface="Hiragino Sans GB W3" panose="020B0300000000000000" pitchFamily="34" charset="-128"/>
              </a:rPr>
              <a:t> score in a benchmark</a:t>
            </a:r>
          </a:p>
          <a:p>
            <a:pPr eaLnBrk="1" hangingPunct="1"/>
            <a:endParaRPr lang="zh-CN" altLang="en-US" dirty="0">
              <a:ea typeface="宋体" panose="02010600030101010101" pitchFamily="2" charset="-122"/>
            </a:endParaRPr>
          </a:p>
        </p:txBody>
      </p:sp>
      <p:sp>
        <p:nvSpPr>
          <p:cNvPr id="15364" name="灯片编号占位符 3">
            <a:extLst>
              <a:ext uri="{FF2B5EF4-FFF2-40B4-BE49-F238E27FC236}">
                <a16:creationId xmlns:a16="http://schemas.microsoft.com/office/drawing/2014/main" id="{12640CFD-21FE-9A48-89CD-EADCC3297E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F49B87-2880-FE4A-9651-FF4EE0532204}"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15365" name="内容占位符 2">
            <a:extLst>
              <a:ext uri="{FF2B5EF4-FFF2-40B4-BE49-F238E27FC236}">
                <a16:creationId xmlns:a16="http://schemas.microsoft.com/office/drawing/2014/main" id="{EA85ABDD-466E-7F48-A61C-D0281E26FB49}"/>
              </a:ext>
            </a:extLst>
          </p:cNvPr>
          <p:cNvSpPr txBox="1">
            <a:spLocks/>
          </p:cNvSpPr>
          <p:nvPr/>
        </p:nvSpPr>
        <p:spPr bwMode="auto">
          <a:xfrm>
            <a:off x="4716463" y="908050"/>
            <a:ext cx="4186237" cy="521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宋体" panose="02010600030101010101" pitchFamily="2" charset="-122"/>
              </a:defRPr>
            </a:lvl1pPr>
            <a:lvl2pPr marL="517525" indent="-233363" eaLnBrk="0" hangingPunct="0">
              <a:defRPr sz="2400">
                <a:solidFill>
                  <a:schemeClr val="tx1"/>
                </a:solidFill>
                <a:latin typeface="Arial" panose="020B0604020202020204" pitchFamily="34" charset="0"/>
                <a:ea typeface="宋体" panose="02010600030101010101" pitchFamily="2" charset="-122"/>
              </a:defRPr>
            </a:lvl2pPr>
            <a:lvl3pPr marL="1025525" indent="-269875"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rgbClr val="CC0000"/>
              </a:buClr>
              <a:buSzTx/>
              <a:buFont typeface="Wingdings" pitchFamily="2" charset="2"/>
              <a:buChar char="Ø"/>
              <a:tabLst/>
              <a:defRPr/>
            </a:pPr>
            <a:r>
              <a:rPr kumimoji="0" lang="en-US" altLang="zh-CN" sz="2400" b="1"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Metrics Sufficiency:</a:t>
            </a:r>
          </a:p>
          <a:p>
            <a:pPr marL="517525" marR="0" lvl="1" indent="-233363" algn="l" defTabSz="914400" rtl="0" eaLnBrk="1" fontAlgn="base" latinLnBrk="0" hangingPunct="1">
              <a:lnSpc>
                <a:spcPct val="100000"/>
              </a:lnSpc>
              <a:spcBef>
                <a:spcPct val="20000"/>
              </a:spcBef>
              <a:spcAft>
                <a:spcPct val="0"/>
              </a:spcAft>
              <a:buClr>
                <a:srgbClr val="AA0101"/>
              </a:buClr>
              <a:buSzPct val="75000"/>
              <a:buFont typeface="Wingdings" pitchFamily="2" charset="2"/>
              <a:buChar char="l"/>
              <a:tabLst/>
              <a:defRPr/>
            </a:pPr>
            <a:r>
              <a:rPr kumimoji="0" lang="en-US" altLang="zh-CN" sz="2000" b="1"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Cost </a:t>
            </a:r>
            <a:r>
              <a:rPr kumimoji="0" lang="en-US" altLang="zh-CN" sz="20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 </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migration overhead, </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amount of migrated data (burden on network)</a:t>
            </a:r>
          </a:p>
          <a:p>
            <a:pPr marL="517525" marR="0" lvl="1" indent="-233363" algn="l" defTabSz="914400" rtl="0" eaLnBrk="1" fontAlgn="base" latinLnBrk="0" hangingPunct="1">
              <a:lnSpc>
                <a:spcPct val="100000"/>
              </a:lnSpc>
              <a:spcBef>
                <a:spcPct val="20000"/>
              </a:spcBef>
              <a:spcAft>
                <a:spcPct val="0"/>
              </a:spcAft>
              <a:buClr>
                <a:srgbClr val="AA0101"/>
              </a:buClr>
              <a:buSzPct val="75000"/>
              <a:buFont typeface="Wingdings" pitchFamily="2" charset="2"/>
              <a:buChar char="l"/>
              <a:tabLst/>
              <a:defRPr/>
            </a:pPr>
            <a:r>
              <a:rPr kumimoji="0" lang="en-US" altLang="zh-CN" sz="2000" b="1"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QoS</a:t>
            </a:r>
            <a:r>
              <a:rPr kumimoji="0" lang="en-US" altLang="zh-CN" sz="20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 </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downtime, </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total migration time</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r>
              <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rPr>
              <a:t>migration overhead, </a:t>
            </a:r>
          </a:p>
          <a:p>
            <a:pPr marL="1025525" marR="0" lvl="2" indent="-269875" algn="l" defTabSz="914400" rtl="0" eaLnBrk="1" fontAlgn="base" latinLnBrk="0" hangingPunct="1">
              <a:lnSpc>
                <a:spcPct val="100000"/>
              </a:lnSpc>
              <a:spcBef>
                <a:spcPct val="35000"/>
              </a:spcBef>
              <a:spcAft>
                <a:spcPct val="0"/>
              </a:spcAft>
              <a:buClr>
                <a:srgbClr val="CC0000"/>
              </a:buClr>
              <a:buSzTx/>
              <a:buFont typeface="Wingdings" pitchFamily="2" charset="2"/>
              <a:buChar char="ü"/>
              <a:tabLst/>
              <a:defRPr/>
            </a:pPr>
            <a:endParaRPr kumimoji="0" lang="en-US" altLang="zh-CN" sz="1800" b="0" i="0" u="none" strike="noStrike" kern="1200" cap="none" spc="0" normalizeH="0" baseline="0" noProof="0">
              <a:ln>
                <a:noFill/>
              </a:ln>
              <a:solidFill>
                <a:srgbClr val="000000"/>
              </a:solidFill>
              <a:effectLst/>
              <a:uLnTx/>
              <a:uFillTx/>
              <a:latin typeface="Arial" panose="020B0604020202020204" pitchFamily="34" charset="0"/>
              <a:ea typeface="Hiragino Sans GB W3" panose="020B0300000000000000" pitchFamily="34" charset="-128"/>
              <a:cs typeface="+mn-cs"/>
            </a:endParaRPr>
          </a:p>
        </p:txBody>
      </p:sp>
    </p:spTree>
    <p:extLst>
      <p:ext uri="{BB962C8B-B14F-4D97-AF65-F5344CB8AC3E}">
        <p14:creationId xmlns:p14="http://schemas.microsoft.com/office/powerpoint/2010/main" val="3439114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44"/>
          <p:cNvSpPr txBox="1">
            <a:spLocks noGrp="1"/>
          </p:cNvSpPr>
          <p:nvPr>
            <p:ph type="body" idx="1"/>
          </p:nvPr>
        </p:nvSpPr>
        <p:spPr>
          <a:xfrm>
            <a:off x="457200" y="1340768"/>
            <a:ext cx="8229601" cy="5400600"/>
          </a:xfrm>
          <a:prstGeom prst="rect">
            <a:avLst/>
          </a:prstGeom>
        </p:spPr>
        <p:txBody>
          <a:bodyPr>
            <a:normAutofit fontScale="85000" lnSpcReduction="20000"/>
          </a:bodyPr>
          <a:lstStyle/>
          <a:p>
            <a:pPr marL="256161" indent="-256161">
              <a:lnSpc>
                <a:spcPct val="80000"/>
              </a:lnSpc>
              <a:spcBef>
                <a:spcPts val="492"/>
              </a:spcBef>
              <a:spcAft>
                <a:spcPts val="200"/>
              </a:spcAft>
              <a:buChar char="•"/>
              <a:defRPr sz="3400" b="1"/>
            </a:pPr>
            <a:r>
              <a:rPr dirty="0"/>
              <a:t>Pure stop-and-copy</a:t>
            </a:r>
          </a:p>
          <a:p>
            <a:pPr marL="522367" lvl="1" indent="-200910">
              <a:lnSpc>
                <a:spcPct val="80000"/>
              </a:lnSpc>
              <a:spcBef>
                <a:spcPts val="352"/>
              </a:spcBef>
              <a:spcAft>
                <a:spcPts val="200"/>
              </a:spcAft>
              <a:defRPr sz="2800"/>
            </a:pPr>
            <a:r>
              <a:rPr dirty="0"/>
              <a:t>Freeze VM at source, </a:t>
            </a:r>
          </a:p>
          <a:p>
            <a:pPr marL="522367" lvl="1" indent="-200910">
              <a:lnSpc>
                <a:spcPct val="80000"/>
              </a:lnSpc>
              <a:spcBef>
                <a:spcPts val="352"/>
              </a:spcBef>
              <a:spcAft>
                <a:spcPts val="200"/>
              </a:spcAft>
              <a:defRPr sz="2800"/>
            </a:pPr>
            <a:r>
              <a:rPr dirty="0"/>
              <a:t>Copy the VM’s pseudo-physical memory contents to target, </a:t>
            </a:r>
          </a:p>
          <a:p>
            <a:pPr marL="522367" lvl="1" indent="-200910">
              <a:lnSpc>
                <a:spcPct val="80000"/>
              </a:lnSpc>
              <a:spcBef>
                <a:spcPts val="352"/>
              </a:spcBef>
              <a:spcAft>
                <a:spcPts val="200"/>
              </a:spcAft>
              <a:defRPr sz="2800"/>
            </a:pPr>
            <a:r>
              <a:rPr dirty="0"/>
              <a:t>Restart VM at target</a:t>
            </a:r>
          </a:p>
          <a:p>
            <a:pPr marL="522367" lvl="1" indent="-200910">
              <a:lnSpc>
                <a:spcPct val="80000"/>
              </a:lnSpc>
              <a:spcBef>
                <a:spcPts val="352"/>
              </a:spcBef>
              <a:spcAft>
                <a:spcPts val="200"/>
              </a:spcAft>
              <a:defRPr sz="2800"/>
            </a:pPr>
            <a:r>
              <a:rPr dirty="0"/>
              <a:t>Long downtime.</a:t>
            </a:r>
          </a:p>
          <a:p>
            <a:pPr marL="522367" lvl="1" indent="-200910">
              <a:lnSpc>
                <a:spcPct val="80000"/>
              </a:lnSpc>
              <a:spcBef>
                <a:spcPts val="352"/>
              </a:spcBef>
              <a:spcAft>
                <a:spcPts val="200"/>
              </a:spcAft>
              <a:defRPr sz="2800"/>
            </a:pPr>
            <a:r>
              <a:rPr lang="en-US" dirty="0"/>
              <a:t>T</a:t>
            </a:r>
            <a:r>
              <a:rPr dirty="0"/>
              <a:t>otal migration time = downtime</a:t>
            </a:r>
          </a:p>
          <a:p>
            <a:pPr marL="602732" lvl="1" indent="-281275">
              <a:lnSpc>
                <a:spcPct val="80000"/>
              </a:lnSpc>
              <a:spcBef>
                <a:spcPts val="562"/>
              </a:spcBef>
              <a:defRPr sz="2800"/>
            </a:pPr>
            <a:endParaRPr dirty="0"/>
          </a:p>
          <a:p>
            <a:pPr marL="256161" indent="-256161">
              <a:lnSpc>
                <a:spcPct val="80000"/>
              </a:lnSpc>
              <a:spcBef>
                <a:spcPts val="492"/>
              </a:spcBef>
              <a:spcAft>
                <a:spcPts val="200"/>
              </a:spcAft>
              <a:buFontTx/>
              <a:buChar char="•"/>
              <a:defRPr sz="3400" b="1"/>
            </a:pPr>
            <a:r>
              <a:rPr sz="3400" b="1" dirty="0"/>
              <a:t>Pure Demand Paging </a:t>
            </a:r>
          </a:p>
          <a:p>
            <a:pPr marL="522367" lvl="1" indent="-200910">
              <a:lnSpc>
                <a:spcPct val="80000"/>
              </a:lnSpc>
              <a:spcBef>
                <a:spcPts val="352"/>
              </a:spcBef>
              <a:spcAft>
                <a:spcPts val="200"/>
              </a:spcAft>
              <a:defRPr sz="2800"/>
            </a:pPr>
            <a:r>
              <a:rPr dirty="0"/>
              <a:t>Freeze VM at source, </a:t>
            </a:r>
          </a:p>
          <a:p>
            <a:pPr marL="522367" lvl="1" indent="-200910">
              <a:lnSpc>
                <a:spcPct val="80000"/>
              </a:lnSpc>
              <a:spcBef>
                <a:spcPts val="352"/>
              </a:spcBef>
              <a:spcAft>
                <a:spcPts val="200"/>
              </a:spcAft>
              <a:defRPr sz="2800"/>
            </a:pPr>
            <a:r>
              <a:rPr dirty="0"/>
              <a:t>Copy minimal execution context to target </a:t>
            </a:r>
          </a:p>
          <a:p>
            <a:pPr marL="803643" lvl="2" indent="-160729">
              <a:lnSpc>
                <a:spcPct val="80000"/>
              </a:lnSpc>
              <a:spcBef>
                <a:spcPts val="352"/>
              </a:spcBef>
              <a:spcAft>
                <a:spcPts val="200"/>
              </a:spcAft>
              <a:defRPr sz="2400"/>
            </a:pPr>
            <a:r>
              <a:rPr dirty="0"/>
              <a:t>PC, Registers,  non-pageable memory</a:t>
            </a:r>
          </a:p>
          <a:p>
            <a:pPr marL="522367" lvl="1" indent="-200910">
              <a:lnSpc>
                <a:spcPct val="80000"/>
              </a:lnSpc>
              <a:spcBef>
                <a:spcPts val="352"/>
              </a:spcBef>
              <a:spcAft>
                <a:spcPts val="200"/>
              </a:spcAft>
              <a:defRPr sz="2800"/>
            </a:pPr>
            <a:r>
              <a:rPr dirty="0"/>
              <a:t>Restart VM at target, </a:t>
            </a:r>
          </a:p>
          <a:p>
            <a:pPr marL="522367" lvl="1" indent="-200910">
              <a:lnSpc>
                <a:spcPct val="80000"/>
              </a:lnSpc>
              <a:spcBef>
                <a:spcPts val="352"/>
              </a:spcBef>
              <a:spcAft>
                <a:spcPts val="200"/>
              </a:spcAft>
              <a:defRPr sz="2800"/>
            </a:pPr>
            <a:r>
              <a:rPr dirty="0"/>
              <a:t>Pull memory contents fr</a:t>
            </a:r>
            <a:r>
              <a:rPr lang="en-US" dirty="0"/>
              <a:t>o</a:t>
            </a:r>
            <a:r>
              <a:rPr dirty="0"/>
              <a:t>m source as and when needed</a:t>
            </a:r>
          </a:p>
          <a:p>
            <a:pPr marL="522367" lvl="1" indent="-200910">
              <a:lnSpc>
                <a:spcPct val="80000"/>
              </a:lnSpc>
              <a:spcBef>
                <a:spcPts val="352"/>
              </a:spcBef>
              <a:spcAft>
                <a:spcPts val="200"/>
              </a:spcAft>
              <a:defRPr sz="2800"/>
            </a:pPr>
            <a:r>
              <a:rPr dirty="0"/>
              <a:t>Smaller downtime </a:t>
            </a:r>
          </a:p>
          <a:p>
            <a:pPr marL="522367" lvl="1" indent="-200910">
              <a:lnSpc>
                <a:spcPct val="120000"/>
              </a:lnSpc>
              <a:spcBef>
                <a:spcPts val="352"/>
              </a:spcBef>
              <a:spcAft>
                <a:spcPts val="200"/>
              </a:spcAft>
              <a:defRPr sz="2800"/>
            </a:pPr>
            <a:r>
              <a:rPr dirty="0" err="1"/>
              <a:t>Sloooow</a:t>
            </a:r>
            <a:r>
              <a:rPr dirty="0"/>
              <a:t> warm-up phase at target during page-faults across network</a:t>
            </a:r>
          </a:p>
        </p:txBody>
      </p:sp>
      <p:sp>
        <p:nvSpPr>
          <p:cNvPr id="158" name="Shape 40"/>
          <p:cNvSpPr txBox="1"/>
          <p:nvPr/>
        </p:nvSpPr>
        <p:spPr>
          <a:xfrm>
            <a:off x="457200" y="274638"/>
            <a:ext cx="8229601" cy="944563"/>
          </a:xfrm>
          <a:prstGeom prst="rect">
            <a:avLst/>
          </a:prstGeom>
          <a:solidFill>
            <a:srgbClr val="8EB4E3"/>
          </a:solidFill>
          <a:ln w="12700">
            <a:miter lim="400000"/>
          </a:ln>
          <a:extLst>
            <a:ext uri="{C572A759-6A51-4108-AA02-DFA0A04FC94B}">
              <ma14:wrappingTextBoxFlag xmlns:ma14="http://schemas.microsoft.com/office/mac/drawingml/2011/main" xmlns="" val="1"/>
            </a:ext>
          </a:extLst>
        </p:spPr>
        <p:txBody>
          <a:bodyPr lIns="45719" tIns="45719" rIns="45719" bIns="45719" anchor="ctr">
            <a:normAutofit/>
          </a:bodyPr>
          <a:lstStyle>
            <a:lvl1pPr defTabSz="1287473">
              <a:defRPr sz="5400" b="0">
                <a:latin typeface="Arial"/>
                <a:ea typeface="Arial"/>
                <a:cs typeface="Arial"/>
                <a:sym typeface="Arial"/>
              </a:defRPr>
            </a:lvl1pPr>
          </a:lstStyle>
          <a:p>
            <a:pPr algn="ctr" defTabSz="905222" hangingPunct="0"/>
            <a:r>
              <a:rPr sz="3797" kern="0">
                <a:solidFill>
                  <a:srgbClr val="000000"/>
                </a:solidFill>
              </a:rPr>
              <a:t>Migrate VM’s memory first or last?</a:t>
            </a:r>
          </a:p>
        </p:txBody>
      </p:sp>
    </p:spTree>
    <p:extLst>
      <p:ext uri="{BB962C8B-B14F-4D97-AF65-F5344CB8AC3E}">
        <p14:creationId xmlns:p14="http://schemas.microsoft.com/office/powerpoint/2010/main" val="383752467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Design(1)  - Migrating Memory</a:t>
            </a:r>
            <a:endParaRPr lang="zh-TW" altLang="en-US" dirty="0"/>
          </a:p>
        </p:txBody>
      </p:sp>
      <p:sp>
        <p:nvSpPr>
          <p:cNvPr id="3" name="內容版面配置區 2"/>
          <p:cNvSpPr>
            <a:spLocks noGrp="1"/>
          </p:cNvSpPr>
          <p:nvPr>
            <p:ph idx="1"/>
          </p:nvPr>
        </p:nvSpPr>
        <p:spPr/>
        <p:txBody>
          <a:bodyPr/>
          <a:lstStyle/>
          <a:p>
            <a:pPr marL="365760" lvl="1" indent="-283464">
              <a:spcBef>
                <a:spcPts val="600"/>
              </a:spcBef>
              <a:buSzPct val="80000"/>
              <a:buFont typeface="Wingdings 2"/>
              <a:buChar char=""/>
            </a:pPr>
            <a:r>
              <a:rPr lang="en-US" altLang="zh-TW" sz="2800" dirty="0"/>
              <a:t>Steps for Pre-Copy and Post-Copy based Live Migration Approaches</a:t>
            </a:r>
          </a:p>
          <a:p>
            <a:pPr marL="365760" lvl="1" indent="-283464">
              <a:spcBef>
                <a:spcPts val="600"/>
              </a:spcBef>
              <a:buSzPct val="80000"/>
              <a:buFont typeface="Wingdings 2"/>
              <a:buChar char=""/>
            </a:pPr>
            <a:r>
              <a:rPr lang="en-US" altLang="zh-TW" sz="2800" dirty="0"/>
              <a:t>Minimize both downtime and total migration time</a:t>
            </a:r>
          </a:p>
          <a:p>
            <a:pPr lvl="1"/>
            <a:r>
              <a:rPr lang="en-US" altLang="zh-TW" sz="2400" dirty="0"/>
              <a:t>Downtime – the period during which the service is unavailable</a:t>
            </a:r>
          </a:p>
          <a:p>
            <a:pPr lvl="1"/>
            <a:r>
              <a:rPr lang="en-US" altLang="zh-TW" sz="2400" dirty="0"/>
              <a:t>Total Migration Time – the duration between when migration is initiated and when the original VM can be discarded</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Design(2)  - Migrating Memory</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Three phases of memory transfer</a:t>
            </a:r>
          </a:p>
          <a:p>
            <a:pPr lvl="1"/>
            <a:r>
              <a:rPr lang="en-US" altLang="zh-TW" b="1" dirty="0"/>
              <a:t>Push phase</a:t>
            </a:r>
          </a:p>
          <a:p>
            <a:pPr lvl="2"/>
            <a:r>
              <a:rPr lang="en-US" altLang="zh-TW" dirty="0"/>
              <a:t>Source VM continues running</a:t>
            </a:r>
          </a:p>
          <a:p>
            <a:pPr lvl="2"/>
            <a:r>
              <a:rPr lang="en-US" altLang="zh-TW" dirty="0"/>
              <a:t>Pages are pushed across the network to destination</a:t>
            </a:r>
          </a:p>
          <a:p>
            <a:pPr lvl="1"/>
            <a:r>
              <a:rPr lang="en-US" altLang="zh-TW" b="1" dirty="0"/>
              <a:t>Stop and copy phase</a:t>
            </a:r>
          </a:p>
          <a:p>
            <a:pPr lvl="2"/>
            <a:r>
              <a:rPr lang="en-US" altLang="zh-TW" dirty="0"/>
              <a:t>The source VM stopped, pages are copied across to the destination VM</a:t>
            </a:r>
          </a:p>
          <a:p>
            <a:pPr lvl="1"/>
            <a:r>
              <a:rPr lang="en-US" altLang="zh-TW" b="1" dirty="0"/>
              <a:t>Pull phase</a:t>
            </a:r>
          </a:p>
          <a:p>
            <a:pPr lvl="2"/>
            <a:r>
              <a:rPr lang="en-US" altLang="zh-TW" dirty="0"/>
              <a:t>New VM executes and find faults</a:t>
            </a:r>
          </a:p>
          <a:p>
            <a:pPr lvl="2"/>
            <a:r>
              <a:rPr lang="en-US" altLang="zh-TW" dirty="0"/>
              <a:t>“Pull” pages from the source</a:t>
            </a:r>
          </a:p>
          <a:p>
            <a:r>
              <a:rPr lang="en-US" altLang="zh-TW" dirty="0"/>
              <a:t>Pre- copy</a:t>
            </a:r>
          </a:p>
          <a:p>
            <a:pPr lvl="1"/>
            <a:r>
              <a:rPr lang="en-US" altLang="zh-TW" dirty="0"/>
              <a:t>A bounded </a:t>
            </a:r>
            <a:r>
              <a:rPr lang="en-US" altLang="zh-TW" b="1" dirty="0">
                <a:solidFill>
                  <a:srgbClr val="FF0000"/>
                </a:solidFill>
              </a:rPr>
              <a:t>iterative push phase </a:t>
            </a:r>
            <a:r>
              <a:rPr lang="en-US" altLang="zh-TW" dirty="0"/>
              <a:t>with a very short </a:t>
            </a:r>
            <a:r>
              <a:rPr lang="en-US" altLang="zh-TW" b="1" dirty="0">
                <a:solidFill>
                  <a:srgbClr val="FF0000"/>
                </a:solidFill>
              </a:rPr>
              <a:t>stop and copy phase</a:t>
            </a:r>
          </a:p>
          <a:p>
            <a:pPr lvl="1"/>
            <a:r>
              <a:rPr lang="en-US" altLang="zh-TW" dirty="0"/>
              <a:t>Avoids Pull phase</a:t>
            </a:r>
            <a:endParaRPr lang="zh-TW" altLang="en-US" dirty="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Design(3) – Network &amp; Disk</a:t>
            </a:r>
            <a:endParaRPr lang="zh-TW" altLang="en-US" dirty="0"/>
          </a:p>
        </p:txBody>
      </p:sp>
      <p:sp>
        <p:nvSpPr>
          <p:cNvPr id="3" name="內容版面配置區 2"/>
          <p:cNvSpPr>
            <a:spLocks noGrp="1"/>
          </p:cNvSpPr>
          <p:nvPr>
            <p:ph idx="1"/>
          </p:nvPr>
        </p:nvSpPr>
        <p:spPr/>
        <p:txBody>
          <a:bodyPr/>
          <a:lstStyle/>
          <a:p>
            <a:r>
              <a:rPr lang="en-US" altLang="zh-TW" dirty="0"/>
              <a:t>Network</a:t>
            </a:r>
          </a:p>
          <a:p>
            <a:pPr lvl="1"/>
            <a:r>
              <a:rPr lang="en-US" altLang="zh-TW" dirty="0"/>
              <a:t>Generate an unsolicited </a:t>
            </a:r>
            <a:r>
              <a:rPr lang="en-US" altLang="zh-TW" b="1" dirty="0">
                <a:solidFill>
                  <a:srgbClr val="FF0000"/>
                </a:solidFill>
              </a:rPr>
              <a:t>ARP reply </a:t>
            </a:r>
            <a:r>
              <a:rPr lang="en-US" altLang="zh-TW" dirty="0"/>
              <a:t>from the migrated host, advertising the IP has moved to a new location</a:t>
            </a:r>
          </a:p>
          <a:p>
            <a:pPr lvl="1"/>
            <a:r>
              <a:rPr lang="en-US" altLang="zh-TW" dirty="0"/>
              <a:t>A small number of in-flight packets maybe lost</a:t>
            </a:r>
          </a:p>
          <a:p>
            <a:r>
              <a:rPr lang="en-US" altLang="zh-TW" dirty="0"/>
              <a:t>Disk</a:t>
            </a:r>
          </a:p>
          <a:p>
            <a:pPr lvl="1"/>
            <a:r>
              <a:rPr lang="en-US" altLang="zh-TW" dirty="0"/>
              <a:t>Network-attached Storage(NAS)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re-copy Live VM Migration"/>
          <p:cNvSpPr txBox="1">
            <a:spLocks noGrp="1"/>
          </p:cNvSpPr>
          <p:nvPr>
            <p:ph type="title"/>
          </p:nvPr>
        </p:nvSpPr>
        <p:spPr>
          <a:xfrm>
            <a:off x="457200" y="274638"/>
            <a:ext cx="8229601" cy="944563"/>
          </a:xfrm>
          <a:prstGeom prst="rect">
            <a:avLst/>
          </a:prstGeom>
          <a:solidFill>
            <a:srgbClr val="8EB4E3"/>
          </a:solidFill>
        </p:spPr>
        <p:txBody>
          <a:bodyPr/>
          <a:lstStyle/>
          <a:p>
            <a:r>
              <a:t>Pre-copy Live VM Migration</a:t>
            </a:r>
          </a:p>
        </p:txBody>
      </p:sp>
      <p:grpSp>
        <p:nvGrpSpPr>
          <p:cNvPr id="175" name="Group"/>
          <p:cNvGrpSpPr/>
          <p:nvPr/>
        </p:nvGrpSpPr>
        <p:grpSpPr>
          <a:xfrm>
            <a:off x="829865" y="1934156"/>
            <a:ext cx="7696202" cy="1222165"/>
            <a:chOff x="0" y="9433"/>
            <a:chExt cx="10945707" cy="1738190"/>
          </a:xfrm>
        </p:grpSpPr>
        <p:grpSp>
          <p:nvGrpSpPr>
            <p:cNvPr id="163" name="Group"/>
            <p:cNvGrpSpPr/>
            <p:nvPr/>
          </p:nvGrpSpPr>
          <p:grpSpPr>
            <a:xfrm>
              <a:off x="0" y="9433"/>
              <a:ext cx="4334935" cy="869796"/>
              <a:chOff x="0" y="9433"/>
              <a:chExt cx="4334934" cy="869794"/>
            </a:xfrm>
          </p:grpSpPr>
          <p:sp>
            <p:nvSpPr>
              <p:cNvPr id="161" name="Rectangle"/>
              <p:cNvSpPr/>
              <p:nvPr/>
            </p:nvSpPr>
            <p:spPr>
              <a:xfrm>
                <a:off x="0" y="10837"/>
                <a:ext cx="4334934" cy="866988"/>
              </a:xfrm>
              <a:prstGeom prst="rect">
                <a:avLst/>
              </a:prstGeom>
              <a:solidFill>
                <a:srgbClr val="EBF1DE"/>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a:solidFill>
                      <a:srgbClr val="17375E"/>
                    </a:solidFill>
                    <a:latin typeface="Calibri"/>
                    <a:ea typeface="Calibri"/>
                    <a:cs typeface="Calibri"/>
                    <a:sym typeface="Calibri"/>
                  </a:defRPr>
                </a:pPr>
                <a:endParaRPr sz="1687" b="1" kern="0">
                  <a:solidFill>
                    <a:srgbClr val="17375E"/>
                  </a:solidFill>
                  <a:latin typeface="Calibri"/>
                  <a:cs typeface="Calibri"/>
                  <a:sym typeface="Calibri"/>
                </a:endParaRPr>
              </a:p>
            </p:txBody>
          </p:sp>
          <p:sp>
            <p:nvSpPr>
              <p:cNvPr id="162" name="1st Iteration…"/>
              <p:cNvSpPr txBox="1"/>
              <p:nvPr/>
            </p:nvSpPr>
            <p:spPr>
              <a:xfrm>
                <a:off x="0" y="9433"/>
                <a:ext cx="4334934" cy="8697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p>
                <a:pPr algn="ctr" defTabSz="914367" hangingPunct="0">
                  <a:defRPr b="0">
                    <a:solidFill>
                      <a:srgbClr val="FFFFFF"/>
                    </a:solidFill>
                    <a:latin typeface="Calibri"/>
                    <a:ea typeface="Calibri"/>
                    <a:cs typeface="Calibri"/>
                    <a:sym typeface="Calibri"/>
                  </a:defRPr>
                </a:pPr>
                <a:r>
                  <a:rPr sz="1687" b="1" kern="0">
                    <a:solidFill>
                      <a:srgbClr val="0D0D0D"/>
                    </a:solidFill>
                    <a:latin typeface="Calibri"/>
                    <a:cs typeface="Calibri"/>
                    <a:sym typeface="Calibri"/>
                  </a:rPr>
                  <a:t>1</a:t>
                </a:r>
                <a:r>
                  <a:rPr sz="1687" b="1" kern="0" baseline="30500">
                    <a:solidFill>
                      <a:srgbClr val="0D0D0D"/>
                    </a:solidFill>
                    <a:latin typeface="Calibri"/>
                    <a:cs typeface="Calibri"/>
                    <a:sym typeface="Calibri"/>
                  </a:rPr>
                  <a:t>st</a:t>
                </a:r>
                <a:r>
                  <a:rPr sz="1687" b="1" kern="0">
                    <a:solidFill>
                      <a:srgbClr val="0D0D0D"/>
                    </a:solidFill>
                    <a:latin typeface="Calibri"/>
                    <a:cs typeface="Calibri"/>
                    <a:sym typeface="Calibri"/>
                  </a:rPr>
                  <a:t> Iteration</a:t>
                </a:r>
              </a:p>
              <a:p>
                <a:pPr algn="ctr" defTabSz="914367" hangingPunct="0">
                  <a:defRPr b="0">
                    <a:solidFill>
                      <a:srgbClr val="FFFFFF"/>
                    </a:solidFill>
                    <a:latin typeface="Calibri"/>
                    <a:ea typeface="Calibri"/>
                    <a:cs typeface="Calibri"/>
                    <a:sym typeface="Calibri"/>
                  </a:defRPr>
                </a:pPr>
                <a:r>
                  <a:rPr sz="1687" b="1" kern="0">
                    <a:solidFill>
                      <a:srgbClr val="17375E"/>
                    </a:solidFill>
                    <a:latin typeface="Calibri"/>
                    <a:cs typeface="Calibri"/>
                    <a:sym typeface="Calibri"/>
                  </a:rPr>
                  <a:t>Transfers entire memory</a:t>
                </a:r>
              </a:p>
            </p:txBody>
          </p:sp>
        </p:grpSp>
        <p:grpSp>
          <p:nvGrpSpPr>
            <p:cNvPr id="166" name="Group"/>
            <p:cNvGrpSpPr/>
            <p:nvPr/>
          </p:nvGrpSpPr>
          <p:grpSpPr>
            <a:xfrm>
              <a:off x="4226560" y="9433"/>
              <a:ext cx="2116135" cy="869796"/>
              <a:chOff x="0" y="9433"/>
              <a:chExt cx="2116134" cy="869794"/>
            </a:xfrm>
          </p:grpSpPr>
          <p:sp>
            <p:nvSpPr>
              <p:cNvPr id="164" name="Rectangle"/>
              <p:cNvSpPr/>
              <p:nvPr/>
            </p:nvSpPr>
            <p:spPr>
              <a:xfrm>
                <a:off x="0" y="10837"/>
                <a:ext cx="2116134" cy="866988"/>
              </a:xfrm>
              <a:prstGeom prst="rect">
                <a:avLst/>
              </a:prstGeom>
              <a:solidFill>
                <a:srgbClr val="EBF1DE"/>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a:solidFill>
                      <a:srgbClr val="17375E"/>
                    </a:solidFill>
                    <a:latin typeface="Calibri"/>
                    <a:ea typeface="Calibri"/>
                    <a:cs typeface="Calibri"/>
                    <a:sym typeface="Calibri"/>
                  </a:defRPr>
                </a:pPr>
                <a:endParaRPr sz="1687" b="1" kern="0">
                  <a:solidFill>
                    <a:srgbClr val="17375E"/>
                  </a:solidFill>
                  <a:latin typeface="Calibri"/>
                  <a:cs typeface="Calibri"/>
                  <a:sym typeface="Calibri"/>
                </a:endParaRPr>
              </a:p>
            </p:txBody>
          </p:sp>
          <p:sp>
            <p:nvSpPr>
              <p:cNvPr id="165" name="2nd Iteration…"/>
              <p:cNvSpPr txBox="1"/>
              <p:nvPr/>
            </p:nvSpPr>
            <p:spPr>
              <a:xfrm>
                <a:off x="0" y="9433"/>
                <a:ext cx="2116134" cy="86979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p>
                <a:pPr algn="ctr" defTabSz="914367" hangingPunct="0">
                  <a:defRPr b="0">
                    <a:solidFill>
                      <a:srgbClr val="FFFFFF"/>
                    </a:solidFill>
                    <a:latin typeface="Calibri"/>
                    <a:ea typeface="Calibri"/>
                    <a:cs typeface="Calibri"/>
                    <a:sym typeface="Calibri"/>
                  </a:defRPr>
                </a:pPr>
                <a:r>
                  <a:rPr sz="1687" b="1" kern="0">
                    <a:solidFill>
                      <a:srgbClr val="0D0D0D"/>
                    </a:solidFill>
                    <a:latin typeface="Calibri"/>
                    <a:cs typeface="Calibri"/>
                    <a:sym typeface="Calibri"/>
                  </a:rPr>
                  <a:t>2</a:t>
                </a:r>
                <a:r>
                  <a:rPr sz="1687" b="1" kern="0" baseline="30500">
                    <a:solidFill>
                      <a:srgbClr val="0D0D0D"/>
                    </a:solidFill>
                    <a:latin typeface="Calibri"/>
                    <a:cs typeface="Calibri"/>
                    <a:sym typeface="Calibri"/>
                  </a:rPr>
                  <a:t>nd</a:t>
                </a:r>
                <a:r>
                  <a:rPr sz="1687" b="1" kern="0">
                    <a:solidFill>
                      <a:srgbClr val="0D0D0D"/>
                    </a:solidFill>
                    <a:latin typeface="Calibri"/>
                    <a:cs typeface="Calibri"/>
                    <a:sym typeface="Calibri"/>
                  </a:rPr>
                  <a:t> Iteration</a:t>
                </a:r>
              </a:p>
              <a:p>
                <a:pPr algn="ctr" defTabSz="914367" hangingPunct="0">
                  <a:defRPr b="0">
                    <a:solidFill>
                      <a:srgbClr val="FFFFFF"/>
                    </a:solidFill>
                    <a:latin typeface="Calibri"/>
                    <a:ea typeface="Calibri"/>
                    <a:cs typeface="Calibri"/>
                    <a:sym typeface="Calibri"/>
                  </a:defRPr>
                </a:pPr>
                <a:r>
                  <a:rPr sz="1687" b="1" kern="0">
                    <a:solidFill>
                      <a:srgbClr val="17375E"/>
                    </a:solidFill>
                    <a:latin typeface="Calibri"/>
                    <a:cs typeface="Calibri"/>
                    <a:sym typeface="Calibri"/>
                  </a:rPr>
                  <a:t>Dirty Pages</a:t>
                </a:r>
              </a:p>
            </p:txBody>
          </p:sp>
        </p:grpSp>
        <p:sp>
          <p:nvSpPr>
            <p:cNvPr id="167" name="Rectangle"/>
            <p:cNvSpPr/>
            <p:nvPr/>
          </p:nvSpPr>
          <p:spPr>
            <a:xfrm>
              <a:off x="7586133" y="10837"/>
              <a:ext cx="1517228" cy="866988"/>
            </a:xfrm>
            <a:prstGeom prst="rect">
              <a:avLst/>
            </a:prstGeom>
            <a:solidFill>
              <a:srgbClr val="376092"/>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168" name="Downtime"/>
            <p:cNvSpPr txBox="1"/>
            <p:nvPr/>
          </p:nvSpPr>
          <p:spPr>
            <a:xfrm>
              <a:off x="7586133" y="877826"/>
              <a:ext cx="1653606" cy="86979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lvl1pPr defTabSz="1300480">
                <a:defRPr b="0">
                  <a:latin typeface="Calibri"/>
                  <a:ea typeface="Calibri"/>
                  <a:cs typeface="Calibri"/>
                  <a:sym typeface="Calibri"/>
                </a:defRPr>
              </a:lvl1pPr>
            </a:lstStyle>
            <a:p>
              <a:pPr algn="ctr" defTabSz="914367" hangingPunct="0"/>
              <a:r>
                <a:rPr lang="en-US" sz="1687" kern="0" dirty="0">
                  <a:solidFill>
                    <a:srgbClr val="000000"/>
                  </a:solidFill>
                </a:rPr>
                <a:t>Stop &amp; copy </a:t>
              </a:r>
              <a:r>
                <a:rPr sz="1687" kern="0" dirty="0">
                  <a:solidFill>
                    <a:srgbClr val="000000"/>
                  </a:solidFill>
                </a:rPr>
                <a:t>Downtime</a:t>
              </a:r>
            </a:p>
          </p:txBody>
        </p:sp>
        <p:sp>
          <p:nvSpPr>
            <p:cNvPr id="169" name="Rectangle"/>
            <p:cNvSpPr/>
            <p:nvPr/>
          </p:nvSpPr>
          <p:spPr>
            <a:xfrm>
              <a:off x="6285653" y="10837"/>
              <a:ext cx="1408854" cy="866988"/>
            </a:xfrm>
            <a:prstGeom prst="rect">
              <a:avLst/>
            </a:prstGeom>
            <a:solidFill>
              <a:srgbClr val="EBF1DE"/>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170" name="Rectangle"/>
            <p:cNvSpPr/>
            <p:nvPr/>
          </p:nvSpPr>
          <p:spPr>
            <a:xfrm>
              <a:off x="9103359" y="10837"/>
              <a:ext cx="325121" cy="866988"/>
            </a:xfrm>
            <a:prstGeom prst="rect">
              <a:avLst/>
            </a:prstGeom>
            <a:solidFill>
              <a:srgbClr val="EBF1DE"/>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171" name="Line"/>
            <p:cNvSpPr/>
            <p:nvPr/>
          </p:nvSpPr>
          <p:spPr>
            <a:xfrm rot="5400000">
              <a:off x="3630506" y="-2732985"/>
              <a:ext cx="433495" cy="769450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5965" y="0"/>
                    <a:pt x="10800" y="442"/>
                    <a:pt x="10800" y="986"/>
                  </a:cubicBezTo>
                  <a:lnTo>
                    <a:pt x="10800" y="9814"/>
                  </a:lnTo>
                  <a:cubicBezTo>
                    <a:pt x="10800" y="10358"/>
                    <a:pt x="15635" y="10800"/>
                    <a:pt x="21600" y="10800"/>
                  </a:cubicBezTo>
                  <a:cubicBezTo>
                    <a:pt x="15635" y="10800"/>
                    <a:pt x="10800" y="11242"/>
                    <a:pt x="10800" y="11786"/>
                  </a:cubicBezTo>
                  <a:lnTo>
                    <a:pt x="10800" y="20614"/>
                  </a:lnTo>
                  <a:cubicBezTo>
                    <a:pt x="10800" y="21158"/>
                    <a:pt x="5965" y="21600"/>
                    <a:pt x="0" y="21600"/>
                  </a:cubicBezTo>
                </a:path>
              </a:pathLst>
            </a:custGeom>
            <a:noFill/>
            <a:ln w="25400" cap="flat">
              <a:solidFill>
                <a:srgbClr val="000000"/>
              </a:solidFill>
              <a:prstDash val="solid"/>
              <a:bevel/>
            </a:ln>
            <a:effectLst>
              <a:outerShdw blurRad="50800" dist="25400" dir="5400000" rotWithShape="0">
                <a:srgbClr val="000000">
                  <a:alpha val="38000"/>
                </a:srgbClr>
              </a:outerShdw>
            </a:effectLst>
          </p:spPr>
          <p:txBody>
            <a:bodyPr wrap="square" lIns="45719" tIns="45719" rIns="45719" bIns="45719" numCol="1" anchor="ctr">
              <a:noAutofit/>
            </a:bodyPr>
            <a:lstStyle/>
            <a:p>
              <a:pPr algn="ctr" defTabSz="914367" hangingPunct="0">
                <a:defRPr b="0">
                  <a:latin typeface="Calibri"/>
                  <a:ea typeface="Calibri"/>
                  <a:cs typeface="Calibri"/>
                  <a:sym typeface="Calibri"/>
                </a:defRPr>
              </a:pPr>
              <a:endParaRPr sz="1687" kern="0">
                <a:solidFill>
                  <a:srgbClr val="000000"/>
                </a:solidFill>
                <a:latin typeface="Calibri"/>
                <a:cs typeface="Calibri"/>
                <a:sym typeface="Calibri"/>
              </a:endParaRPr>
            </a:p>
          </p:txBody>
        </p:sp>
        <p:sp>
          <p:nvSpPr>
            <p:cNvPr id="172" name="Preparation (live)"/>
            <p:cNvSpPr txBox="1"/>
            <p:nvPr/>
          </p:nvSpPr>
          <p:spPr>
            <a:xfrm>
              <a:off x="2384213" y="1202944"/>
              <a:ext cx="4016138"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dirty="0">
                  <a:solidFill>
                    <a:srgbClr val="000000"/>
                  </a:solidFill>
                </a:rPr>
                <a:t>Preparation (live)</a:t>
              </a:r>
              <a:r>
                <a:rPr lang="en-US" sz="1687" kern="0" dirty="0">
                  <a:solidFill>
                    <a:srgbClr val="000000"/>
                  </a:solidFill>
                </a:rPr>
                <a:t> – Push Phase</a:t>
              </a:r>
              <a:endParaRPr sz="1687" kern="0" dirty="0">
                <a:solidFill>
                  <a:srgbClr val="000000"/>
                </a:solidFill>
              </a:endParaRPr>
            </a:p>
          </p:txBody>
        </p:sp>
        <p:sp>
          <p:nvSpPr>
            <p:cNvPr id="173" name="Line"/>
            <p:cNvSpPr/>
            <p:nvPr/>
          </p:nvSpPr>
          <p:spPr>
            <a:xfrm flipH="1" flipV="1">
              <a:off x="9265920" y="877823"/>
              <a:ext cx="487681" cy="433495"/>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174" name="Resume time"/>
            <p:cNvSpPr txBox="1"/>
            <p:nvPr/>
          </p:nvSpPr>
          <p:spPr>
            <a:xfrm>
              <a:off x="8994986" y="1202944"/>
              <a:ext cx="1950721"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lvl1pPr defTabSz="1300480">
                <a:defRPr b="0">
                  <a:latin typeface="Calibri"/>
                  <a:ea typeface="Calibri"/>
                  <a:cs typeface="Calibri"/>
                  <a:sym typeface="Calibri"/>
                </a:defRPr>
              </a:lvl1pPr>
            </a:lstStyle>
            <a:p>
              <a:pPr algn="ctr" defTabSz="914367" hangingPunct="0"/>
              <a:r>
                <a:rPr sz="1687" kern="0">
                  <a:solidFill>
                    <a:srgbClr val="000000"/>
                  </a:solidFill>
                </a:rPr>
                <a:t>Resume time</a:t>
              </a:r>
            </a:p>
          </p:txBody>
        </p:sp>
      </p:grpSp>
      <p:sp>
        <p:nvSpPr>
          <p:cNvPr id="176" name="DON’T freeze VM at source ➔Let it continue to run…"/>
          <p:cNvSpPr txBox="1"/>
          <p:nvPr/>
        </p:nvSpPr>
        <p:spPr>
          <a:xfrm>
            <a:off x="755103" y="3235275"/>
            <a:ext cx="7845725" cy="3334247"/>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nchor="ctr">
            <a:spAutoFit/>
          </a:bodyPr>
          <a:lstStyle/>
          <a:p>
            <a:pPr marL="150682" indent="-150682" defTabSz="642915" hangingPunct="0">
              <a:lnSpc>
                <a:spcPct val="80000"/>
              </a:lnSpc>
              <a:spcBef>
                <a:spcPts val="281"/>
              </a:spcBef>
              <a:buSzPct val="100000"/>
              <a:buFontTx/>
              <a:buChar char="•"/>
              <a:defRPr sz="2600" b="0">
                <a:latin typeface="Arial"/>
                <a:ea typeface="Arial"/>
                <a:cs typeface="Arial"/>
                <a:sym typeface="Arial"/>
              </a:defRPr>
            </a:pPr>
            <a:r>
              <a:rPr sz="1828" kern="0" dirty="0">
                <a:solidFill>
                  <a:srgbClr val="000000"/>
                </a:solidFill>
                <a:latin typeface="Arial"/>
                <a:cs typeface="Arial"/>
                <a:sym typeface="Arial"/>
              </a:rPr>
              <a:t>DON’T freeze VM at source </a:t>
            </a:r>
            <a:r>
              <a:rPr sz="1828" kern="0" dirty="0">
                <a:solidFill>
                  <a:srgbClr val="000000"/>
                </a:solidFill>
                <a:latin typeface="Wingdings"/>
                <a:ea typeface="Wingdings"/>
                <a:cs typeface="Wingdings"/>
                <a:sym typeface="Wingdings"/>
              </a:rPr>
              <a:t>➔</a:t>
            </a:r>
            <a:r>
              <a:rPr sz="1828" kern="0" dirty="0">
                <a:solidFill>
                  <a:srgbClr val="000000"/>
                </a:solidFill>
                <a:latin typeface="Arial"/>
                <a:cs typeface="Arial"/>
                <a:sym typeface="Arial"/>
              </a:rPr>
              <a:t>Let it continue to run</a:t>
            </a:r>
          </a:p>
          <a:p>
            <a:pPr marL="241093" indent="-241093" defTabSz="642915" hangingPunct="0">
              <a:lnSpc>
                <a:spcPct val="80000"/>
              </a:lnSpc>
              <a:spcBef>
                <a:spcPts val="492"/>
              </a:spcBef>
              <a:buSzPct val="100000"/>
              <a:buFontTx/>
              <a:buChar char="•"/>
              <a:defRPr sz="2600" b="0">
                <a:latin typeface="Arial"/>
                <a:ea typeface="Arial"/>
                <a:cs typeface="Arial"/>
                <a:sym typeface="Arial"/>
              </a:defRPr>
            </a:pPr>
            <a:endParaRPr sz="1828" kern="0" dirty="0">
              <a:solidFill>
                <a:srgbClr val="000000"/>
              </a:solidFill>
              <a:latin typeface="Arial"/>
              <a:cs typeface="Arial"/>
              <a:sym typeface="Arial"/>
            </a:endParaRPr>
          </a:p>
          <a:p>
            <a:pPr marL="150682" indent="-150682" defTabSz="642915" hangingPunct="0">
              <a:lnSpc>
                <a:spcPct val="80000"/>
              </a:lnSpc>
              <a:spcBef>
                <a:spcPts val="281"/>
              </a:spcBef>
              <a:buSzPct val="100000"/>
              <a:buFontTx/>
              <a:buChar char="•"/>
              <a:defRPr sz="2600" b="0">
                <a:latin typeface="Arial"/>
                <a:ea typeface="Arial"/>
                <a:cs typeface="Arial"/>
                <a:sym typeface="Arial"/>
              </a:defRPr>
            </a:pPr>
            <a:r>
              <a:rPr sz="1828" kern="0" dirty="0">
                <a:solidFill>
                  <a:srgbClr val="000000"/>
                </a:solidFill>
                <a:latin typeface="Arial"/>
                <a:cs typeface="Arial"/>
                <a:sym typeface="Arial"/>
              </a:rPr>
              <a:t>Copy VM’s memory contents to target over multiple iterations</a:t>
            </a:r>
          </a:p>
          <a:p>
            <a:pPr marL="450614" lvl="1" indent="-129157" defTabSz="642915" hangingPunct="0">
              <a:lnSpc>
                <a:spcPct val="80000"/>
              </a:lnSpc>
              <a:spcBef>
                <a:spcPts val="281"/>
              </a:spcBef>
              <a:buSzPct val="100000"/>
              <a:buFontTx/>
              <a:buChar char="–"/>
              <a:defRPr b="0">
                <a:latin typeface="Arial"/>
                <a:ea typeface="Arial"/>
                <a:cs typeface="Arial"/>
                <a:sym typeface="Arial"/>
              </a:defRPr>
            </a:pPr>
            <a:r>
              <a:rPr sz="1687" kern="0" dirty="0">
                <a:solidFill>
                  <a:srgbClr val="000000"/>
                </a:solidFill>
                <a:latin typeface="Arial"/>
                <a:cs typeface="Arial"/>
                <a:sym typeface="Arial"/>
              </a:rPr>
              <a:t>First iteration </a:t>
            </a:r>
            <a:r>
              <a:rPr sz="1687" kern="0" dirty="0">
                <a:solidFill>
                  <a:srgbClr val="000000"/>
                </a:solidFill>
                <a:latin typeface="Wingdings"/>
                <a:ea typeface="Wingdings"/>
                <a:cs typeface="Wingdings"/>
                <a:sym typeface="Wingdings"/>
              </a:rPr>
              <a:t>➔ </a:t>
            </a:r>
            <a:r>
              <a:rPr sz="1687" kern="0" dirty="0">
                <a:solidFill>
                  <a:srgbClr val="000000"/>
                </a:solidFill>
                <a:latin typeface="Arial"/>
                <a:cs typeface="Arial"/>
                <a:sym typeface="Arial"/>
              </a:rPr>
              <a:t>copy all pages.</a:t>
            </a:r>
            <a:r>
              <a:rPr lang="en-US" sz="1687" kern="0" dirty="0">
                <a:solidFill>
                  <a:srgbClr val="000000"/>
                </a:solidFill>
                <a:latin typeface="Arial"/>
                <a:cs typeface="Arial"/>
                <a:sym typeface="Arial"/>
              </a:rPr>
              <a:t> </a:t>
            </a:r>
            <a:r>
              <a:rPr lang="en-US" sz="1687" b="1" kern="0" dirty="0">
                <a:solidFill>
                  <a:srgbClr val="000000"/>
                </a:solidFill>
                <a:latin typeface="Arial"/>
                <a:cs typeface="Arial"/>
                <a:sym typeface="Arial"/>
              </a:rPr>
              <a:t>(original Xen: pause and take snapshot; later QEMU improved it - mark all pages ‘dirty’ to begin with).</a:t>
            </a:r>
            <a:endParaRPr sz="1687" b="1" kern="0" dirty="0">
              <a:solidFill>
                <a:srgbClr val="000000"/>
              </a:solidFill>
              <a:latin typeface="Arial"/>
              <a:cs typeface="Arial"/>
              <a:sym typeface="Arial"/>
            </a:endParaRPr>
          </a:p>
          <a:p>
            <a:pPr marL="450614" lvl="1" indent="-129157" defTabSz="642915" hangingPunct="0">
              <a:lnSpc>
                <a:spcPct val="80000"/>
              </a:lnSpc>
              <a:spcBef>
                <a:spcPts val="281"/>
              </a:spcBef>
              <a:buSzPct val="100000"/>
              <a:buFontTx/>
              <a:buChar char="–"/>
              <a:defRPr b="0">
                <a:latin typeface="Arial"/>
                <a:ea typeface="Arial"/>
                <a:cs typeface="Arial"/>
                <a:sym typeface="Arial"/>
              </a:defRPr>
            </a:pPr>
            <a:r>
              <a:rPr sz="1687" kern="0" dirty="0">
                <a:solidFill>
                  <a:srgbClr val="000000"/>
                </a:solidFill>
                <a:latin typeface="Arial"/>
                <a:cs typeface="Arial"/>
                <a:sym typeface="Arial"/>
              </a:rPr>
              <a:t>Each subsequent iteration </a:t>
            </a:r>
            <a:r>
              <a:rPr sz="1687" kern="0" dirty="0">
                <a:solidFill>
                  <a:srgbClr val="000000"/>
                </a:solidFill>
                <a:latin typeface="Wingdings"/>
                <a:ea typeface="Wingdings"/>
                <a:cs typeface="Wingdings"/>
                <a:sym typeface="Wingdings"/>
              </a:rPr>
              <a:t>➔ </a:t>
            </a:r>
            <a:r>
              <a:rPr sz="1687" kern="0" dirty="0">
                <a:solidFill>
                  <a:srgbClr val="000000"/>
                </a:solidFill>
                <a:latin typeface="Arial"/>
                <a:cs typeface="Arial"/>
                <a:sym typeface="Arial"/>
              </a:rPr>
              <a:t>copy pages that were dirtied by the VM during the previous iteration</a:t>
            </a:r>
          </a:p>
          <a:p>
            <a:pPr defTabSz="642915" hangingPunct="0">
              <a:lnSpc>
                <a:spcPct val="80000"/>
              </a:lnSpc>
              <a:spcBef>
                <a:spcPts val="492"/>
              </a:spcBef>
              <a:defRPr sz="2600" b="0">
                <a:latin typeface="Arial"/>
                <a:ea typeface="Arial"/>
                <a:cs typeface="Arial"/>
                <a:sym typeface="Arial"/>
              </a:defRPr>
            </a:pPr>
            <a:endParaRPr sz="1828" kern="0" dirty="0">
              <a:solidFill>
                <a:srgbClr val="000000"/>
              </a:solidFill>
              <a:latin typeface="Arial"/>
              <a:cs typeface="Arial"/>
              <a:sym typeface="Arial"/>
            </a:endParaRPr>
          </a:p>
          <a:p>
            <a:pPr marL="150682" indent="-150682" defTabSz="642915" hangingPunct="0">
              <a:lnSpc>
                <a:spcPct val="80000"/>
              </a:lnSpc>
              <a:spcBef>
                <a:spcPts val="281"/>
              </a:spcBef>
              <a:buSzPct val="100000"/>
              <a:buFontTx/>
              <a:buChar char="•"/>
              <a:defRPr sz="2600" b="0">
                <a:latin typeface="Arial"/>
                <a:ea typeface="Arial"/>
                <a:cs typeface="Arial"/>
                <a:sym typeface="Arial"/>
              </a:defRPr>
            </a:pPr>
            <a:r>
              <a:rPr sz="1828" kern="0" dirty="0">
                <a:solidFill>
                  <a:srgbClr val="000000"/>
                </a:solidFill>
                <a:latin typeface="Arial"/>
                <a:cs typeface="Arial"/>
                <a:sym typeface="Arial"/>
              </a:rPr>
              <a:t>Do a short stop-and-copy when number of dirty pages is “small enough”.</a:t>
            </a:r>
          </a:p>
          <a:p>
            <a:pPr marL="241093" indent="-241093" defTabSz="642915" hangingPunct="0">
              <a:lnSpc>
                <a:spcPct val="80000"/>
              </a:lnSpc>
              <a:spcBef>
                <a:spcPts val="492"/>
              </a:spcBef>
              <a:buSzPct val="100000"/>
              <a:buFontTx/>
              <a:buChar char="•"/>
              <a:defRPr sz="2600" b="0">
                <a:latin typeface="Arial"/>
                <a:ea typeface="Arial"/>
                <a:cs typeface="Arial"/>
                <a:sym typeface="Arial"/>
              </a:defRPr>
            </a:pPr>
            <a:endParaRPr sz="1828" kern="0" dirty="0">
              <a:solidFill>
                <a:srgbClr val="000000"/>
              </a:solidFill>
              <a:latin typeface="Arial"/>
              <a:cs typeface="Arial"/>
              <a:sym typeface="Arial"/>
            </a:endParaRPr>
          </a:p>
          <a:p>
            <a:pPr marL="150682" indent="-150682" defTabSz="642915" hangingPunct="0">
              <a:lnSpc>
                <a:spcPct val="80000"/>
              </a:lnSpc>
              <a:spcBef>
                <a:spcPts val="281"/>
              </a:spcBef>
              <a:buSzPct val="100000"/>
              <a:buFontTx/>
              <a:buChar char="•"/>
              <a:defRPr sz="2600" b="0">
                <a:latin typeface="Arial"/>
                <a:ea typeface="Arial"/>
                <a:cs typeface="Arial"/>
                <a:sym typeface="Arial"/>
              </a:defRPr>
            </a:pPr>
            <a:r>
              <a:rPr sz="1828" kern="0" dirty="0">
                <a:solidFill>
                  <a:srgbClr val="000000"/>
                </a:solidFill>
                <a:latin typeface="Arial"/>
                <a:cs typeface="Arial"/>
                <a:sym typeface="Arial"/>
              </a:rPr>
              <a:t>But what if number of dirty pages never converges to a small enough number?</a:t>
            </a:r>
          </a:p>
          <a:p>
            <a:pPr marL="450614" lvl="1" indent="-129157" defTabSz="642915" hangingPunct="0">
              <a:lnSpc>
                <a:spcPct val="80000"/>
              </a:lnSpc>
              <a:spcBef>
                <a:spcPts val="281"/>
              </a:spcBef>
              <a:buSzPct val="100000"/>
              <a:buFontTx/>
              <a:buChar char="–"/>
              <a:defRPr b="0">
                <a:latin typeface="Arial"/>
                <a:ea typeface="Arial"/>
                <a:cs typeface="Arial"/>
                <a:sym typeface="Arial"/>
              </a:defRPr>
            </a:pPr>
            <a:r>
              <a:rPr sz="1687" kern="0" dirty="0">
                <a:solidFill>
                  <a:srgbClr val="000000"/>
                </a:solidFill>
                <a:latin typeface="Arial"/>
                <a:cs typeface="Arial"/>
                <a:sym typeface="Arial"/>
              </a:rPr>
              <a:t>After a fixed number of iterations, give up and do a long stop-and-copy.</a:t>
            </a:r>
          </a:p>
        </p:txBody>
      </p:sp>
    </p:spTree>
    <p:extLst>
      <p:ext uri="{BB962C8B-B14F-4D97-AF65-F5344CB8AC3E}">
        <p14:creationId xmlns:p14="http://schemas.microsoft.com/office/powerpoint/2010/main" val="86227112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圓角矩形 27"/>
          <p:cNvSpPr/>
          <p:nvPr/>
        </p:nvSpPr>
        <p:spPr>
          <a:xfrm>
            <a:off x="2411760" y="1268760"/>
            <a:ext cx="2160240" cy="5400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r>
              <a:rPr lang="en-US" altLang="zh-TW" b="1" dirty="0"/>
              <a:t>Overhead Due to copying</a:t>
            </a:r>
            <a:endParaRPr lang="zh-TW" altLang="en-US" b="1" dirty="0"/>
          </a:p>
        </p:txBody>
      </p:sp>
      <p:sp>
        <p:nvSpPr>
          <p:cNvPr id="29" name="圓角矩形 28"/>
          <p:cNvSpPr/>
          <p:nvPr/>
        </p:nvSpPr>
        <p:spPr>
          <a:xfrm>
            <a:off x="4644008" y="1268760"/>
            <a:ext cx="2160240" cy="5400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r>
              <a:rPr lang="en-US" altLang="zh-TW" b="1" dirty="0"/>
              <a:t>Downtime </a:t>
            </a:r>
          </a:p>
          <a:p>
            <a:pPr algn="ctr"/>
            <a:r>
              <a:rPr lang="en-US" altLang="zh-TW" b="1" dirty="0"/>
              <a:t>(VM out of service)</a:t>
            </a:r>
            <a:endParaRPr lang="zh-TW" altLang="en-US" b="1" dirty="0"/>
          </a:p>
        </p:txBody>
      </p:sp>
      <p:sp>
        <p:nvSpPr>
          <p:cNvPr id="30" name="圓角矩形 29"/>
          <p:cNvSpPr/>
          <p:nvPr/>
        </p:nvSpPr>
        <p:spPr>
          <a:xfrm>
            <a:off x="6876256" y="1268760"/>
            <a:ext cx="2160240" cy="5400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r>
              <a:rPr lang="en-US" altLang="zh-TW" b="1" dirty="0"/>
              <a:t>VM running normally on Destination Host</a:t>
            </a:r>
            <a:endParaRPr lang="zh-TW" altLang="en-US" b="1" dirty="0"/>
          </a:p>
        </p:txBody>
      </p:sp>
      <p:sp>
        <p:nvSpPr>
          <p:cNvPr id="27" name="圓角矩形 26"/>
          <p:cNvSpPr/>
          <p:nvPr/>
        </p:nvSpPr>
        <p:spPr>
          <a:xfrm>
            <a:off x="179512" y="1268760"/>
            <a:ext cx="2160240" cy="5400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r>
              <a:rPr lang="en-US" altLang="zh-TW" b="1" dirty="0"/>
              <a:t>VM running normally on Source Host</a:t>
            </a:r>
            <a:endParaRPr lang="zh-TW" altLang="en-US" b="1" dirty="0"/>
          </a:p>
        </p:txBody>
      </p:sp>
      <p:sp>
        <p:nvSpPr>
          <p:cNvPr id="2" name="標題 1"/>
          <p:cNvSpPr>
            <a:spLocks noGrp="1"/>
          </p:cNvSpPr>
          <p:nvPr>
            <p:ph type="title"/>
          </p:nvPr>
        </p:nvSpPr>
        <p:spPr/>
        <p:txBody>
          <a:bodyPr/>
          <a:lstStyle/>
          <a:p>
            <a:r>
              <a:rPr lang="en-US" altLang="zh-TW" dirty="0"/>
              <a:t>Design(4) – Logical Steps</a:t>
            </a:r>
            <a:endParaRPr lang="zh-TW" altLang="en-US" dirty="0"/>
          </a:p>
        </p:txBody>
      </p:sp>
      <p:sp>
        <p:nvSpPr>
          <p:cNvPr id="4" name="圓角矩形 3"/>
          <p:cNvSpPr/>
          <p:nvPr/>
        </p:nvSpPr>
        <p:spPr>
          <a:xfrm>
            <a:off x="323528" y="1628800"/>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0: </a:t>
            </a:r>
          </a:p>
          <a:p>
            <a:pPr algn="ctr"/>
            <a:r>
              <a:rPr lang="en-US" altLang="zh-TW" sz="2000" b="1" dirty="0"/>
              <a:t>Pre-Migration</a:t>
            </a:r>
            <a:endParaRPr lang="zh-TW" altLang="en-US" sz="2000" b="1" dirty="0"/>
          </a:p>
        </p:txBody>
      </p:sp>
      <p:sp>
        <p:nvSpPr>
          <p:cNvPr id="5" name="圓角矩形 4"/>
          <p:cNvSpPr/>
          <p:nvPr/>
        </p:nvSpPr>
        <p:spPr>
          <a:xfrm>
            <a:off x="323528" y="3212976"/>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1: </a:t>
            </a:r>
          </a:p>
          <a:p>
            <a:pPr algn="ctr"/>
            <a:r>
              <a:rPr lang="en-US" altLang="zh-TW" sz="2000" b="1" dirty="0"/>
              <a:t>Reservation</a:t>
            </a:r>
            <a:endParaRPr lang="zh-TW" altLang="en-US" sz="2000" b="1" dirty="0"/>
          </a:p>
        </p:txBody>
      </p:sp>
      <p:sp>
        <p:nvSpPr>
          <p:cNvPr id="6" name="圓角矩形 5"/>
          <p:cNvSpPr/>
          <p:nvPr/>
        </p:nvSpPr>
        <p:spPr>
          <a:xfrm>
            <a:off x="2555776" y="3212976"/>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2: </a:t>
            </a:r>
          </a:p>
          <a:p>
            <a:pPr algn="ctr"/>
            <a:r>
              <a:rPr lang="en-US" altLang="zh-TW" sz="2000" b="1" dirty="0"/>
              <a:t>Iterative </a:t>
            </a:r>
          </a:p>
          <a:p>
            <a:pPr algn="ctr"/>
            <a:r>
              <a:rPr lang="en-US" altLang="zh-TW" sz="2000" b="1" dirty="0"/>
              <a:t>Pre-copy</a:t>
            </a:r>
            <a:endParaRPr lang="zh-TW" altLang="en-US" sz="2000" b="1" dirty="0"/>
          </a:p>
        </p:txBody>
      </p:sp>
      <p:sp>
        <p:nvSpPr>
          <p:cNvPr id="7" name="圓角矩形 6"/>
          <p:cNvSpPr/>
          <p:nvPr/>
        </p:nvSpPr>
        <p:spPr>
          <a:xfrm>
            <a:off x="4788024" y="1628800"/>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3: </a:t>
            </a:r>
          </a:p>
          <a:p>
            <a:pPr algn="ctr"/>
            <a:r>
              <a:rPr lang="en-US" altLang="zh-TW" sz="2000" b="1" dirty="0"/>
              <a:t>Stop and copy</a:t>
            </a:r>
            <a:endParaRPr lang="zh-TW" altLang="en-US" sz="2000" b="1" dirty="0"/>
          </a:p>
        </p:txBody>
      </p:sp>
      <p:sp>
        <p:nvSpPr>
          <p:cNvPr id="8" name="圓角矩形 7"/>
          <p:cNvSpPr/>
          <p:nvPr/>
        </p:nvSpPr>
        <p:spPr>
          <a:xfrm>
            <a:off x="7020272" y="3212976"/>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5: </a:t>
            </a:r>
          </a:p>
          <a:p>
            <a:pPr algn="ctr"/>
            <a:r>
              <a:rPr lang="en-US" altLang="zh-TW" sz="2000" b="1" dirty="0"/>
              <a:t>Activation</a:t>
            </a:r>
            <a:endParaRPr lang="zh-TW" altLang="en-US" sz="2000" b="1" dirty="0"/>
          </a:p>
        </p:txBody>
      </p:sp>
      <p:sp>
        <p:nvSpPr>
          <p:cNvPr id="9" name="圓角矩形 8"/>
          <p:cNvSpPr/>
          <p:nvPr/>
        </p:nvSpPr>
        <p:spPr>
          <a:xfrm>
            <a:off x="4788024" y="3212976"/>
            <a:ext cx="1872208" cy="864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000" b="1" dirty="0"/>
              <a:t>Stage 4: </a:t>
            </a:r>
          </a:p>
          <a:p>
            <a:pPr algn="ctr"/>
            <a:r>
              <a:rPr lang="en-US" altLang="zh-TW" b="1" dirty="0"/>
              <a:t>Commitment</a:t>
            </a:r>
            <a:endParaRPr lang="zh-TW" altLang="en-US" sz="2000" b="1" dirty="0"/>
          </a:p>
        </p:txBody>
      </p:sp>
      <p:cxnSp>
        <p:nvCxnSpPr>
          <p:cNvPr id="11" name="直線單箭頭接點 10"/>
          <p:cNvCxnSpPr>
            <a:stCxn id="4" idx="2"/>
            <a:endCxn id="5" idx="0"/>
          </p:cNvCxnSpPr>
          <p:nvPr/>
        </p:nvCxnSpPr>
        <p:spPr>
          <a:xfrm rot="5400000">
            <a:off x="899592" y="2852936"/>
            <a:ext cx="72008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7" idx="2"/>
            <a:endCxn id="9" idx="0"/>
          </p:cNvCxnSpPr>
          <p:nvPr/>
        </p:nvCxnSpPr>
        <p:spPr>
          <a:xfrm rot="5400000">
            <a:off x="5364088" y="2852936"/>
            <a:ext cx="72008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6" idx="3"/>
            <a:endCxn id="7" idx="1"/>
          </p:cNvCxnSpPr>
          <p:nvPr/>
        </p:nvCxnSpPr>
        <p:spPr>
          <a:xfrm flipV="1">
            <a:off x="4427984" y="2060848"/>
            <a:ext cx="360040" cy="158417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5" idx="3"/>
            <a:endCxn id="6" idx="1"/>
          </p:cNvCxnSpPr>
          <p:nvPr/>
        </p:nvCxnSpPr>
        <p:spPr>
          <a:xfrm>
            <a:off x="2195736" y="3645024"/>
            <a:ext cx="36004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9" idx="3"/>
            <a:endCxn id="8" idx="1"/>
          </p:cNvCxnSpPr>
          <p:nvPr/>
        </p:nvCxnSpPr>
        <p:spPr>
          <a:xfrm>
            <a:off x="6660232" y="3645024"/>
            <a:ext cx="36004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圖案 25"/>
          <p:cNvCxnSpPr>
            <a:stCxn id="6" idx="2"/>
            <a:endCxn id="6" idx="3"/>
          </p:cNvCxnSpPr>
          <p:nvPr/>
        </p:nvCxnSpPr>
        <p:spPr>
          <a:xfrm rot="5400000" flipH="1" flipV="1">
            <a:off x="3743908" y="3392996"/>
            <a:ext cx="432048" cy="936104"/>
          </a:xfrm>
          <a:prstGeom prst="curvedConnector4">
            <a:avLst>
              <a:gd name="adj1" fmla="val -52911"/>
              <a:gd name="adj2" fmla="val 124420"/>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9" name="投影片編號版面配置區 18"/>
          <p:cNvSpPr>
            <a:spLocks noGrp="1"/>
          </p:cNvSpPr>
          <p:nvPr>
            <p:ph type="sldNum" sz="quarter" idx="12"/>
          </p:nvPr>
        </p:nvSpPr>
        <p:spPr/>
        <p:txBody>
          <a:bodyPr/>
          <a:lstStyle/>
          <a:p>
            <a:fld id="{73DA0BB7-265A-403C-9275-D587AB510EDC}"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Design(5) – Logical Steps</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b="1" dirty="0"/>
              <a:t>Stage 0: Pre-Migration </a:t>
            </a:r>
          </a:p>
          <a:p>
            <a:pPr lvl="1"/>
            <a:r>
              <a:rPr lang="en-US" altLang="zh-TW" dirty="0"/>
              <a:t>Preselect target host</a:t>
            </a:r>
          </a:p>
          <a:p>
            <a:r>
              <a:rPr lang="en-US" altLang="zh-TW" b="1" dirty="0"/>
              <a:t>Stage 1: Reservation</a:t>
            </a:r>
          </a:p>
          <a:p>
            <a:pPr lvl="1"/>
            <a:r>
              <a:rPr lang="en-US" altLang="zh-TW" dirty="0"/>
              <a:t>Confirm the resources are available on destination host</a:t>
            </a:r>
          </a:p>
          <a:p>
            <a:r>
              <a:rPr lang="en-US" altLang="zh-TW" b="1" dirty="0"/>
              <a:t>Stage 2: Iterative Pre- copy</a:t>
            </a:r>
          </a:p>
          <a:p>
            <a:pPr lvl="1"/>
            <a:r>
              <a:rPr lang="en-US" altLang="zh-TW" dirty="0"/>
              <a:t>First iteration, </a:t>
            </a:r>
            <a:r>
              <a:rPr lang="en-US" altLang="zh-TW" b="1" dirty="0"/>
              <a:t>all</a:t>
            </a:r>
            <a:r>
              <a:rPr lang="en-US" altLang="zh-TW" dirty="0"/>
              <a:t> pages are transferred from source to destination</a:t>
            </a:r>
          </a:p>
          <a:p>
            <a:pPr lvl="1"/>
            <a:r>
              <a:rPr lang="en-US" altLang="zh-TW" dirty="0"/>
              <a:t>Subsequent iteration, copy </a:t>
            </a:r>
            <a:r>
              <a:rPr lang="en-US" altLang="zh-TW" b="1" dirty="0">
                <a:solidFill>
                  <a:srgbClr val="FF0000"/>
                </a:solidFill>
              </a:rPr>
              <a:t>dirty pages </a:t>
            </a:r>
            <a:r>
              <a:rPr lang="en-US" altLang="zh-TW" dirty="0"/>
              <a:t>during the </a:t>
            </a:r>
            <a:r>
              <a:rPr lang="en-US" altLang="zh-TW" b="1" dirty="0">
                <a:solidFill>
                  <a:srgbClr val="FF0000"/>
                </a:solidFill>
              </a:rPr>
              <a:t>previous transfer phase </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Design(6) – Logical Steps</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b="1" dirty="0"/>
              <a:t>Stage 3: Stop and copy </a:t>
            </a:r>
          </a:p>
          <a:p>
            <a:pPr lvl="1"/>
            <a:r>
              <a:rPr lang="en-US" altLang="zh-TW" dirty="0"/>
              <a:t>Stop the running Guest OS at source host</a:t>
            </a:r>
          </a:p>
          <a:p>
            <a:pPr lvl="1"/>
            <a:r>
              <a:rPr lang="en-US" altLang="zh-TW" dirty="0"/>
              <a:t>Redirect the network flow to destination host</a:t>
            </a:r>
          </a:p>
          <a:p>
            <a:pPr lvl="1"/>
            <a:r>
              <a:rPr lang="en-US" altLang="zh-TW" dirty="0"/>
              <a:t>CPU state and remaining memory pages are transferred</a:t>
            </a:r>
          </a:p>
          <a:p>
            <a:r>
              <a:rPr lang="en-US" altLang="zh-TW" b="1" dirty="0"/>
              <a:t>Stage 4: Commitment</a:t>
            </a:r>
          </a:p>
          <a:p>
            <a:pPr lvl="1"/>
            <a:r>
              <a:rPr lang="en-US" altLang="zh-TW" dirty="0"/>
              <a:t>Destination host indicates to source it has successfully received a consistent OS image</a:t>
            </a:r>
          </a:p>
          <a:p>
            <a:pPr lvl="1"/>
            <a:r>
              <a:rPr lang="en-US" altLang="zh-TW" dirty="0"/>
              <a:t>Source Host acknowledges and VM @ source now can be discarded</a:t>
            </a:r>
          </a:p>
          <a:p>
            <a:r>
              <a:rPr lang="en-US" altLang="zh-TW" b="1" dirty="0"/>
              <a:t>Stage 5: Activation</a:t>
            </a:r>
          </a:p>
          <a:p>
            <a:pPr lvl="1"/>
            <a:r>
              <a:rPr lang="en-US" altLang="zh-TW" dirty="0"/>
              <a:t>VM starts on Destination host</a:t>
            </a:r>
            <a:r>
              <a:rPr lang="en-US" altLang="zh-TW" b="1" dirty="0">
                <a:solidFill>
                  <a:srgbClr val="FF0000"/>
                </a:solidFill>
              </a:rPr>
              <a:t> </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Pre-copy migration</a:t>
            </a:r>
            <a:endParaRPr lang="zh-TW" alt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745360" y="1600200"/>
            <a:ext cx="5653279" cy="4525963"/>
          </a:xfrm>
          <a:prstGeom prst="rect">
            <a:avLst/>
          </a:prstGeom>
          <a:noFill/>
          <a:ln w="9525">
            <a:noFill/>
            <a:miter lim="800000"/>
            <a:headEnd/>
            <a:tailEnd/>
          </a:ln>
          <a:effectLst/>
        </p:spPr>
      </p:pic>
    </p:spTree>
    <p:extLst>
      <p:ext uri="{BB962C8B-B14F-4D97-AF65-F5344CB8AC3E}">
        <p14:creationId xmlns:p14="http://schemas.microsoft.com/office/powerpoint/2010/main" val="2843780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Challenge in Pre-copy</a:t>
            </a:r>
            <a:endParaRPr lang="zh-TW" altLang="en-US" dirty="0"/>
          </a:p>
        </p:txBody>
      </p:sp>
      <p:sp>
        <p:nvSpPr>
          <p:cNvPr id="3" name="內容版面配置區 2"/>
          <p:cNvSpPr>
            <a:spLocks noGrp="1"/>
          </p:cNvSpPr>
          <p:nvPr>
            <p:ph idx="1"/>
          </p:nvPr>
        </p:nvSpPr>
        <p:spPr/>
        <p:txBody>
          <a:bodyPr/>
          <a:lstStyle/>
          <a:p>
            <a:r>
              <a:rPr lang="en-US" altLang="zh-TW" dirty="0"/>
              <a:t>Every VM has some set of pages which it updates very frequently.</a:t>
            </a:r>
          </a:p>
          <a:p>
            <a:r>
              <a:rPr lang="en-US" altLang="zh-TW" dirty="0"/>
              <a:t>And this ‘Working Set’ size would influence downtime of the migration.</a:t>
            </a:r>
          </a:p>
          <a:p>
            <a:pPr>
              <a:buFont typeface="Symbol"/>
              <a:buChar char="Þ"/>
            </a:pPr>
            <a:r>
              <a:rPr lang="en-US" altLang="zh-TW" i="1" dirty="0"/>
              <a:t>Writable Working Set</a:t>
            </a:r>
          </a:p>
          <a:p>
            <a:pPr>
              <a:buFont typeface="Symbol"/>
              <a:buChar char="Þ"/>
            </a:pPr>
            <a:endParaRPr lang="en-US" altLang="zh-TW" dirty="0"/>
          </a:p>
          <a:p>
            <a:r>
              <a:rPr lang="en-US" altLang="zh-TW" dirty="0"/>
              <a:t>The bandwidth of network also impacts the migration time.</a:t>
            </a:r>
            <a:endParaRPr lang="zh-TW" altLang="en-US" dirty="0"/>
          </a:p>
        </p:txBody>
      </p:sp>
    </p:spTree>
    <p:extLst>
      <p:ext uri="{BB962C8B-B14F-4D97-AF65-F5344CB8AC3E}">
        <p14:creationId xmlns:p14="http://schemas.microsoft.com/office/powerpoint/2010/main" val="4111262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Writable Working Set (WWS)</a:t>
            </a:r>
            <a:endParaRPr lang="zh-TW" altLang="en-US" dirty="0"/>
          </a:p>
        </p:txBody>
      </p:sp>
      <p:sp>
        <p:nvSpPr>
          <p:cNvPr id="3" name="內容版面配置區 2"/>
          <p:cNvSpPr>
            <a:spLocks noGrp="1"/>
          </p:cNvSpPr>
          <p:nvPr>
            <p:ph idx="1"/>
          </p:nvPr>
        </p:nvSpPr>
        <p:spPr/>
        <p:txBody>
          <a:bodyPr/>
          <a:lstStyle/>
          <a:p>
            <a:r>
              <a:rPr lang="en-US" altLang="zh-TW" b="1" dirty="0"/>
              <a:t>WWS</a:t>
            </a:r>
          </a:p>
          <a:p>
            <a:pPr lvl="1"/>
            <a:r>
              <a:rPr lang="en-US" altLang="zh-TW" dirty="0"/>
              <a:t>A certain set of pages will be written often</a:t>
            </a:r>
          </a:p>
          <a:p>
            <a:pPr lvl="2"/>
            <a:r>
              <a:rPr lang="en-US" altLang="zh-TW" dirty="0"/>
              <a:t>Based on the iteration time window </a:t>
            </a:r>
          </a:p>
          <a:p>
            <a:pPr lvl="1"/>
            <a:r>
              <a:rPr lang="en-US" altLang="zh-TW" dirty="0"/>
              <a:t>Should be transferred on every iteration of the  ‘stop and copy’ phase (actually the iterative pre-copy phase)</a:t>
            </a:r>
          </a:p>
          <a:p>
            <a:pPr lvl="1"/>
            <a:r>
              <a:rPr lang="en-US" altLang="zh-TW" dirty="0"/>
              <a:t>Use Xen’s shadow page tables to track</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WWS.JPG"/>
          <p:cNvPicPr>
            <a:picLocks noGrp="1" noChangeAspect="1"/>
          </p:cNvPicPr>
          <p:nvPr>
            <p:ph idx="1"/>
          </p:nvPr>
        </p:nvPicPr>
        <p:blipFill>
          <a:blip r:embed="rId2" cstate="print"/>
          <a:stretch>
            <a:fillRect/>
          </a:stretch>
        </p:blipFill>
        <p:spPr>
          <a:xfrm>
            <a:off x="827584" y="764704"/>
            <a:ext cx="8221284" cy="4929411"/>
          </a:xfrm>
        </p:spPr>
      </p:pic>
      <p:sp>
        <p:nvSpPr>
          <p:cNvPr id="5" name="圓角矩形 4"/>
          <p:cNvSpPr/>
          <p:nvPr/>
        </p:nvSpPr>
        <p:spPr>
          <a:xfrm>
            <a:off x="3995936" y="1340768"/>
            <a:ext cx="1584176" cy="39604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p:nvSpPr>
        <p:spPr>
          <a:xfrm>
            <a:off x="1475656" y="1340768"/>
            <a:ext cx="648072" cy="39604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28</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Implementation</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a:t>There are two kinds of implementations of migration: for initiating and managing state transfer</a:t>
            </a:r>
          </a:p>
          <a:p>
            <a:pPr marL="914400" lvl="1" indent="-514350"/>
            <a:r>
              <a:rPr lang="en-US" altLang="zh-TW" dirty="0"/>
              <a:t>Managed Migration</a:t>
            </a:r>
          </a:p>
          <a:p>
            <a:pPr marL="1314450" lvl="2" indent="-514350"/>
            <a:r>
              <a:rPr lang="en-US" altLang="zh-TW" dirty="0"/>
              <a:t>The physical machine has a management VM. (Xen)</a:t>
            </a:r>
          </a:p>
          <a:p>
            <a:pPr marL="1314450" lvl="2" indent="-514350"/>
            <a:r>
              <a:rPr lang="en-US" altLang="zh-TW" dirty="0"/>
              <a:t>A migration daemon running in the management VM</a:t>
            </a:r>
          </a:p>
          <a:p>
            <a:pPr marL="914400" lvl="1" indent="-514350"/>
            <a:r>
              <a:rPr lang="en-US" altLang="zh-TW" dirty="0"/>
              <a:t>Self Migration</a:t>
            </a:r>
          </a:p>
          <a:p>
            <a:pPr lvl="2"/>
            <a:r>
              <a:rPr lang="en-US" altLang="zh-TW" dirty="0"/>
              <a:t>Implemented within the migrating (guest) OS</a:t>
            </a:r>
          </a:p>
          <a:p>
            <a:pPr lvl="2"/>
            <a:r>
              <a:rPr lang="en-US" altLang="zh-TW" dirty="0"/>
              <a:t>A small stub required on the destination machine</a:t>
            </a:r>
          </a:p>
          <a:p>
            <a:pPr marL="514350" indent="-514350"/>
            <a:r>
              <a:rPr lang="en-US" altLang="zh-TW" dirty="0"/>
              <a:t>There are three conditions for changing to the stop-and-copy (iterative pre-copy) phase.</a:t>
            </a:r>
          </a:p>
          <a:p>
            <a:pPr marL="914400" lvl="1" indent="-514350"/>
            <a:r>
              <a:rPr lang="en-US" altLang="zh-TW" dirty="0"/>
              <a:t>The dirty rate is bigger than an upper bound.</a:t>
            </a:r>
          </a:p>
          <a:p>
            <a:pPr marL="914400" lvl="1" indent="-514350"/>
            <a:r>
              <a:rPr lang="en-US" altLang="zh-TW" dirty="0"/>
              <a:t>The size of working set is small enough.</a:t>
            </a:r>
          </a:p>
          <a:p>
            <a:pPr marL="914400" lvl="1" indent="-514350"/>
            <a:r>
              <a:rPr lang="en-US" altLang="zh-TW" dirty="0"/>
              <a:t>A limit on the rounds.</a:t>
            </a:r>
          </a:p>
          <a:p>
            <a:pPr marL="914400" lvl="1" indent="-514350"/>
            <a:endParaRPr lang="en-US" altLang="zh-TW" dirty="0"/>
          </a:p>
          <a:p>
            <a:pPr marL="914400" lvl="1" indent="-514350"/>
            <a:r>
              <a:rPr lang="en-US" altLang="zh-TW" dirty="0"/>
              <a:t>Dirty Rate = (# Previous dirty pages) / (#duration of previous round)</a:t>
            </a:r>
          </a:p>
          <a:p>
            <a:pPr marL="514350" indent="-514350">
              <a:buNone/>
            </a:pPr>
            <a:endParaRPr lang="zh-TW" altLang="en-US" dirty="0"/>
          </a:p>
        </p:txBody>
      </p:sp>
    </p:spTree>
    <p:extLst>
      <p:ext uri="{BB962C8B-B14F-4D97-AF65-F5344CB8AC3E}">
        <p14:creationId xmlns:p14="http://schemas.microsoft.com/office/powerpoint/2010/main" val="2350042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Managed Migration(</a:t>
            </a:r>
            <a:r>
              <a:rPr lang="en-US" altLang="zh-TW" dirty="0" err="1"/>
              <a:t>Xen</a:t>
            </a:r>
            <a:r>
              <a:rPr lang="en-US" altLang="zh-TW" dirty="0"/>
              <a:t>)</a:t>
            </a:r>
            <a:endParaRPr lang="zh-TW" altLang="en-US" dirty="0"/>
          </a:p>
        </p:txBody>
      </p:sp>
      <p:sp>
        <p:nvSpPr>
          <p:cNvPr id="3" name="內容版面配置區 2"/>
          <p:cNvSpPr>
            <a:spLocks noGrp="1"/>
          </p:cNvSpPr>
          <p:nvPr>
            <p:ph idx="1"/>
          </p:nvPr>
        </p:nvSpPr>
        <p:spPr/>
        <p:txBody>
          <a:bodyPr>
            <a:normAutofit fontScale="77500" lnSpcReduction="20000"/>
          </a:bodyPr>
          <a:lstStyle/>
          <a:p>
            <a:pPr marL="514350" indent="-514350">
              <a:buFont typeface="+mj-lt"/>
              <a:buAutoNum type="arabicPeriod"/>
            </a:pPr>
            <a:r>
              <a:rPr lang="en-US" altLang="zh-TW" dirty="0">
                <a:solidFill>
                  <a:srgbClr val="0070C0"/>
                </a:solidFill>
              </a:rPr>
              <a:t>1st round</a:t>
            </a:r>
            <a:r>
              <a:rPr lang="en-US" altLang="zh-TW" dirty="0"/>
              <a:t>: </a:t>
            </a:r>
          </a:p>
          <a:p>
            <a:pPr marL="914400" lvl="1" indent="-514350"/>
            <a:r>
              <a:rPr lang="en-US" altLang="zh-TW" dirty="0"/>
              <a:t>Copy all memory pages to destination machine. </a:t>
            </a:r>
          </a:p>
          <a:p>
            <a:pPr marL="914400" lvl="1" indent="-514350"/>
            <a:r>
              <a:rPr lang="en-US" altLang="zh-TW" dirty="0"/>
              <a:t>Replace original page table with </a:t>
            </a:r>
            <a:r>
              <a:rPr lang="en-US" altLang="zh-TW" b="1" dirty="0"/>
              <a:t>shadow page table, all of whose</a:t>
            </a:r>
            <a:r>
              <a:rPr lang="en-US" altLang="zh-TW" dirty="0"/>
              <a:t> </a:t>
            </a:r>
            <a:r>
              <a:rPr lang="en-US" altLang="zh-TW" b="1" dirty="0"/>
              <a:t>pages are marked read-only</a:t>
            </a:r>
            <a:r>
              <a:rPr lang="en-US" altLang="zh-TW" dirty="0"/>
              <a:t>. </a:t>
            </a:r>
          </a:p>
          <a:p>
            <a:pPr marL="914400" lvl="1" indent="-514350"/>
            <a:r>
              <a:rPr lang="en-US" altLang="zh-TW" dirty="0"/>
              <a:t>Create a dirty bit map for the VM.</a:t>
            </a:r>
          </a:p>
          <a:p>
            <a:pPr marL="514350" indent="-514350">
              <a:buFont typeface="+mj-lt"/>
              <a:buAutoNum type="arabicPeriod"/>
            </a:pPr>
            <a:r>
              <a:rPr lang="en-US" altLang="zh-TW" dirty="0">
                <a:solidFill>
                  <a:srgbClr val="0070C0"/>
                </a:solidFill>
              </a:rPr>
              <a:t>2</a:t>
            </a:r>
            <a:r>
              <a:rPr lang="en-US" altLang="zh-TW" baseline="30000" dirty="0">
                <a:solidFill>
                  <a:srgbClr val="0070C0"/>
                </a:solidFill>
              </a:rPr>
              <a:t>nd</a:t>
            </a:r>
            <a:r>
              <a:rPr lang="en-US" altLang="zh-TW" dirty="0">
                <a:solidFill>
                  <a:srgbClr val="0070C0"/>
                </a:solidFill>
              </a:rPr>
              <a:t>-(n-1)</a:t>
            </a:r>
            <a:r>
              <a:rPr lang="en-US" altLang="zh-TW" dirty="0" err="1">
                <a:solidFill>
                  <a:srgbClr val="0070C0"/>
                </a:solidFill>
              </a:rPr>
              <a:t>th</a:t>
            </a:r>
            <a:r>
              <a:rPr lang="en-US" altLang="zh-TW" dirty="0">
                <a:solidFill>
                  <a:srgbClr val="0070C0"/>
                </a:solidFill>
              </a:rPr>
              <a:t> round</a:t>
            </a:r>
            <a:r>
              <a:rPr lang="en-US" altLang="zh-TW" dirty="0"/>
              <a:t>: </a:t>
            </a:r>
          </a:p>
          <a:p>
            <a:pPr marL="914400" lvl="1" indent="-514350"/>
            <a:r>
              <a:rPr lang="en-US" altLang="zh-TW" dirty="0"/>
              <a:t>During the page transfers, if  VM wants to modify a page, it will invoke Xen to set the appropriate bit in the dirty bit map. </a:t>
            </a:r>
          </a:p>
          <a:p>
            <a:pPr marL="914400" lvl="1" indent="-514350"/>
            <a:r>
              <a:rPr lang="en-US" altLang="zh-TW" dirty="0"/>
              <a:t>Dirty pages will be resent again.</a:t>
            </a:r>
          </a:p>
          <a:p>
            <a:pPr marL="914400" lvl="1" indent="-514350"/>
            <a:r>
              <a:rPr lang="en-US" altLang="zh-TW" dirty="0"/>
              <a:t>Reset dirty bit map for the next round.</a:t>
            </a:r>
          </a:p>
          <a:p>
            <a:pPr marL="514350" indent="-514350">
              <a:buFont typeface="+mj-lt"/>
              <a:buAutoNum type="arabicPeriod"/>
            </a:pPr>
            <a:r>
              <a:rPr lang="en-US" altLang="zh-TW" dirty="0">
                <a:solidFill>
                  <a:srgbClr val="0070C0"/>
                </a:solidFill>
              </a:rPr>
              <a:t>nth round</a:t>
            </a:r>
            <a:r>
              <a:rPr lang="en-US" altLang="zh-TW" dirty="0"/>
              <a:t>: </a:t>
            </a:r>
          </a:p>
          <a:p>
            <a:pPr marL="914400" lvl="1" indent="-514350"/>
            <a:r>
              <a:rPr lang="en-US" altLang="zh-TW" dirty="0"/>
              <a:t>When the Dirty rate is bigger than upper bound, begin to do stop-and-copy.</a:t>
            </a:r>
          </a:p>
          <a:p>
            <a:pPr marL="514350" indent="-514350">
              <a:buFont typeface="+mj-lt"/>
              <a:buAutoNum type="arabicPeriod"/>
            </a:pPr>
            <a:endParaRPr lang="en-US" altLang="zh-TW" dirty="0"/>
          </a:p>
          <a:p>
            <a:pPr marL="514350" indent="-514350">
              <a:buFont typeface="+mj-lt"/>
              <a:buAutoNum type="arabicPeriod"/>
            </a:pPr>
            <a:endParaRPr lang="en-US" altLang="zh-TW" dirty="0"/>
          </a:p>
        </p:txBody>
      </p:sp>
    </p:spTree>
    <p:extLst>
      <p:ext uri="{BB962C8B-B14F-4D97-AF65-F5344CB8AC3E}">
        <p14:creationId xmlns:p14="http://schemas.microsoft.com/office/powerpoint/2010/main" val="31714938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7336-1EC9-0048-AD7E-08989C6F3DEE}"/>
              </a:ext>
            </a:extLst>
          </p:cNvPr>
          <p:cNvSpPr>
            <a:spLocks noGrp="1"/>
          </p:cNvSpPr>
          <p:nvPr>
            <p:ph type="title"/>
          </p:nvPr>
        </p:nvSpPr>
        <p:spPr>
          <a:xfrm>
            <a:off x="179512" y="92076"/>
            <a:ext cx="8229601" cy="312588"/>
          </a:xfrm>
        </p:spPr>
        <p:txBody>
          <a:bodyPr>
            <a:normAutofit fontScale="90000"/>
          </a:bodyPr>
          <a:lstStyle/>
          <a:p>
            <a:r>
              <a:rPr lang="en-US" dirty="0"/>
              <a:t>Tracking dirty pages </a:t>
            </a:r>
          </a:p>
        </p:txBody>
      </p:sp>
      <p:sp>
        <p:nvSpPr>
          <p:cNvPr id="3" name="Text Placeholder 2">
            <a:extLst>
              <a:ext uri="{FF2B5EF4-FFF2-40B4-BE49-F238E27FC236}">
                <a16:creationId xmlns:a16="http://schemas.microsoft.com/office/drawing/2014/main" id="{57529373-F22F-4F43-B789-4E1093B6F11C}"/>
              </a:ext>
            </a:extLst>
          </p:cNvPr>
          <p:cNvSpPr>
            <a:spLocks noGrp="1"/>
          </p:cNvSpPr>
          <p:nvPr>
            <p:ph type="body" idx="1"/>
          </p:nvPr>
        </p:nvSpPr>
        <p:spPr>
          <a:xfrm>
            <a:off x="107504" y="692696"/>
            <a:ext cx="7451600" cy="6165305"/>
          </a:xfrm>
        </p:spPr>
        <p:txBody>
          <a:bodyPr>
            <a:normAutofit fontScale="92500" lnSpcReduction="20000"/>
          </a:bodyPr>
          <a:lstStyle/>
          <a:p>
            <a:pPr marL="0" indent="-457200">
              <a:buNone/>
            </a:pPr>
            <a:r>
              <a:rPr lang="en-US" dirty="0"/>
              <a:t>• Xen-based implementation</a:t>
            </a:r>
            <a:br>
              <a:rPr lang="en-US" dirty="0"/>
            </a:br>
            <a:r>
              <a:rPr lang="en-US" sz="2800" dirty="0"/>
              <a:t>  </a:t>
            </a:r>
            <a:r>
              <a:rPr lang="en-US" sz="2400" dirty="0"/>
              <a:t>• Page tables in Xen maintained by guest</a:t>
            </a:r>
            <a:br>
              <a:rPr lang="en-US" sz="2400" dirty="0"/>
            </a:br>
            <a:r>
              <a:rPr lang="en-US" sz="2400" dirty="0"/>
              <a:t>  • Move to </a:t>
            </a:r>
            <a:r>
              <a:rPr lang="en-US" sz="2400" b="1" dirty="0"/>
              <a:t>shadow page tables </a:t>
            </a:r>
            <a:r>
              <a:rPr lang="en-US" sz="2400" dirty="0"/>
              <a:t>for migration</a:t>
            </a:r>
            <a:br>
              <a:rPr lang="en-US" sz="2400" dirty="0"/>
            </a:br>
            <a:r>
              <a:rPr lang="en-US" sz="2400" dirty="0"/>
              <a:t>  • Migration managed by control software in domain0</a:t>
            </a:r>
            <a:br>
              <a:rPr lang="en-US" sz="2800" dirty="0"/>
            </a:br>
            <a:r>
              <a:rPr lang="en-US" dirty="0"/>
              <a:t>• Shadow page table constructed on demand for every round</a:t>
            </a:r>
            <a:br>
              <a:rPr lang="en-US" dirty="0"/>
            </a:br>
            <a:r>
              <a:rPr lang="en-US" dirty="0"/>
              <a:t>  </a:t>
            </a:r>
            <a:r>
              <a:rPr lang="en-US" sz="2400" dirty="0"/>
              <a:t>• </a:t>
            </a:r>
            <a:r>
              <a:rPr lang="en-US" sz="2400" b="1" dirty="0"/>
              <a:t>Dirty bitmap </a:t>
            </a:r>
            <a:r>
              <a:rPr lang="en-US" sz="2400" dirty="0"/>
              <a:t>maintained for every round</a:t>
            </a:r>
            <a:br>
              <a:rPr lang="en-US" sz="2400" dirty="0"/>
            </a:br>
            <a:r>
              <a:rPr lang="en-US" sz="2400" dirty="0"/>
              <a:t>  • Any page access by guest -&gt; page fault to Xen, shadow page table updated</a:t>
            </a:r>
            <a:br>
              <a:rPr lang="en-US" sz="2400" dirty="0"/>
            </a:br>
            <a:r>
              <a:rPr lang="en-US" sz="2400" dirty="0"/>
              <a:t>  • PTE marked as read-only by default in shadow</a:t>
            </a:r>
            <a:br>
              <a:rPr lang="en-US" sz="2400" dirty="0"/>
            </a:br>
            <a:r>
              <a:rPr lang="en-US" sz="2400" dirty="0"/>
              <a:t>  • If valid write access, shadow PTE marked writeable, page  marked dirty in bitmap</a:t>
            </a:r>
            <a:br>
              <a:rPr lang="en-US" sz="2400" dirty="0"/>
            </a:br>
            <a:r>
              <a:rPr lang="en-US" sz="2400" dirty="0"/>
              <a:t>  • At end of round, dirty pages are marked for transfer in control software</a:t>
            </a:r>
            <a:br>
              <a:rPr lang="en-US" sz="2400" dirty="0"/>
            </a:br>
            <a:r>
              <a:rPr lang="en-US" sz="2400" dirty="0"/>
              <a:t>  • Shadow page table and dirty bitmap reinitialized after every round</a:t>
            </a:r>
            <a:br>
              <a:rPr lang="en-US" sz="2400" dirty="0"/>
            </a:br>
            <a:r>
              <a:rPr lang="en-US" sz="2400" dirty="0"/>
              <a:t>  • Last set of dirty pages copied in stop-and-copy</a:t>
            </a:r>
            <a:br>
              <a:rPr lang="en-US" dirty="0"/>
            </a:br>
            <a:r>
              <a:rPr lang="en-US" dirty="0"/>
              <a:t>• Guest page table in target host is changed based on new physical addresses</a:t>
            </a:r>
          </a:p>
        </p:txBody>
      </p:sp>
      <p:pic>
        <p:nvPicPr>
          <p:cNvPr id="106497" name="Picture 1" descr="page8image7085504">
            <a:extLst>
              <a:ext uri="{FF2B5EF4-FFF2-40B4-BE49-F238E27FC236}">
                <a16:creationId xmlns:a16="http://schemas.microsoft.com/office/drawing/2014/main" id="{B204DCC9-8A22-D748-A268-DC8F6AA11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999" y="248370"/>
            <a:ext cx="2527300" cy="1117600"/>
          </a:xfrm>
          <a:prstGeom prst="rect">
            <a:avLst/>
          </a:prstGeom>
          <a:noFill/>
          <a:extLst>
            <a:ext uri="{909E8E84-426E-40DD-AFC4-6F175D3DCCD1}">
              <a14:hiddenFill xmlns:a14="http://schemas.microsoft.com/office/drawing/2010/main">
                <a:solidFill>
                  <a:srgbClr val="FFFFFF"/>
                </a:solidFill>
              </a14:hiddenFill>
            </a:ext>
          </a:extLst>
        </p:spPr>
      </p:pic>
      <p:pic>
        <p:nvPicPr>
          <p:cNvPr id="106499" name="Picture 3" descr="page8image2977776">
            <a:extLst>
              <a:ext uri="{FF2B5EF4-FFF2-40B4-BE49-F238E27FC236}">
                <a16:creationId xmlns:a16="http://schemas.microsoft.com/office/drawing/2014/main" id="{D72B47F1-B009-7544-A9FB-4D1360388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104" y="1782068"/>
            <a:ext cx="1549400" cy="13589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357DC227-3BA4-974E-A11D-F5D55C33AE59}"/>
              </a:ext>
            </a:extLst>
          </p:cNvPr>
          <p:cNvCxnSpPr/>
          <p:nvPr/>
        </p:nvCxnSpPr>
        <p:spPr>
          <a:xfrm>
            <a:off x="6580999" y="1484784"/>
            <a:ext cx="2527300"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C701FC85-1CD7-844C-A045-160B1C31F8A2}"/>
              </a:ext>
            </a:extLst>
          </p:cNvPr>
          <p:cNvSpPr txBox="1"/>
          <p:nvPr/>
        </p:nvSpPr>
        <p:spPr>
          <a:xfrm>
            <a:off x="5940152" y="927922"/>
            <a:ext cx="18046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Guest Page Table</a:t>
            </a:r>
          </a:p>
        </p:txBody>
      </p:sp>
      <p:sp>
        <p:nvSpPr>
          <p:cNvPr id="10" name="TextBox 9">
            <a:extLst>
              <a:ext uri="{FF2B5EF4-FFF2-40B4-BE49-F238E27FC236}">
                <a16:creationId xmlns:a16="http://schemas.microsoft.com/office/drawing/2014/main" id="{E0200C45-5802-CE43-923F-50D56B68A32A}"/>
              </a:ext>
            </a:extLst>
          </p:cNvPr>
          <p:cNvSpPr txBox="1"/>
          <p:nvPr/>
        </p:nvSpPr>
        <p:spPr>
          <a:xfrm>
            <a:off x="6338410" y="2425347"/>
            <a:ext cx="201625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1600" b="1" dirty="0">
                <a:solidFill>
                  <a:srgbClr val="000000"/>
                </a:solidFill>
                <a:latin typeface="Helvetica Neue"/>
                <a:ea typeface="Helvetica Neue"/>
                <a:cs typeface="Helvetica Neue"/>
                <a:sym typeface="Helvetica Neue"/>
              </a:rPr>
              <a:t>Shadow</a:t>
            </a: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 Page Table</a:t>
            </a:r>
          </a:p>
          <a:p>
            <a:pPr marL="0" marR="0" indent="0" algn="ctr" defTabSz="584200"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in Xen</a:t>
            </a:r>
          </a:p>
        </p:txBody>
      </p:sp>
    </p:spTree>
    <p:extLst>
      <p:ext uri="{BB962C8B-B14F-4D97-AF65-F5344CB8AC3E}">
        <p14:creationId xmlns:p14="http://schemas.microsoft.com/office/powerpoint/2010/main" val="34001060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Self Migration</a:t>
            </a:r>
            <a:endParaRPr lang="zh-TW" altLang="en-US" dirty="0"/>
          </a:p>
        </p:txBody>
      </p:sp>
      <p:sp>
        <p:nvSpPr>
          <p:cNvPr id="3" name="內容版面配置區 2"/>
          <p:cNvSpPr>
            <a:spLocks noGrp="1"/>
          </p:cNvSpPr>
          <p:nvPr>
            <p:ph idx="1"/>
          </p:nvPr>
        </p:nvSpPr>
        <p:spPr/>
        <p:txBody>
          <a:bodyPr>
            <a:normAutofit fontScale="62500" lnSpcReduction="20000"/>
          </a:bodyPr>
          <a:lstStyle/>
          <a:p>
            <a:pPr marL="514350" indent="-514350">
              <a:buFont typeface="+mj-lt"/>
              <a:buAutoNum type="arabicPeriod"/>
            </a:pPr>
            <a:r>
              <a:rPr lang="en-US" altLang="zh-TW" dirty="0">
                <a:solidFill>
                  <a:srgbClr val="0070C0"/>
                </a:solidFill>
              </a:rPr>
              <a:t>1st round</a:t>
            </a:r>
            <a:r>
              <a:rPr lang="en-US" altLang="zh-TW" dirty="0"/>
              <a:t>: </a:t>
            </a:r>
          </a:p>
          <a:p>
            <a:pPr marL="914400" lvl="1" indent="-514350"/>
            <a:r>
              <a:rPr lang="en-US" altLang="zh-TW" dirty="0"/>
              <a:t>Copy all memory pages to destination machine. </a:t>
            </a:r>
          </a:p>
          <a:p>
            <a:pPr marL="914400" lvl="1" indent="-514350"/>
            <a:r>
              <a:rPr lang="en-US" altLang="zh-TW" dirty="0"/>
              <a:t>Mark all virtual addresses as write-protect. </a:t>
            </a:r>
          </a:p>
          <a:p>
            <a:pPr marL="914400" lvl="1" indent="-514350"/>
            <a:r>
              <a:rPr lang="en-US" altLang="zh-TW" dirty="0"/>
              <a:t>The guest OS creates a </a:t>
            </a:r>
            <a:r>
              <a:rPr lang="en-US" altLang="zh-TW" i="1" dirty="0"/>
              <a:t>dirty bit map </a:t>
            </a:r>
            <a:r>
              <a:rPr lang="en-US" altLang="zh-TW" dirty="0"/>
              <a:t>(used in tracking physical pages) to track and remember the modified pages.</a:t>
            </a:r>
          </a:p>
          <a:p>
            <a:pPr marL="514350" indent="-514350">
              <a:buFont typeface="+mj-lt"/>
              <a:buAutoNum type="arabicPeriod"/>
            </a:pPr>
            <a:r>
              <a:rPr lang="en-US" altLang="zh-TW" dirty="0">
                <a:solidFill>
                  <a:srgbClr val="0070C0"/>
                </a:solidFill>
              </a:rPr>
              <a:t>2</a:t>
            </a:r>
            <a:r>
              <a:rPr lang="en-US" altLang="zh-TW" baseline="30000" dirty="0">
                <a:solidFill>
                  <a:srgbClr val="0070C0"/>
                </a:solidFill>
              </a:rPr>
              <a:t>nd</a:t>
            </a:r>
            <a:r>
              <a:rPr lang="en-US" altLang="zh-TW" dirty="0">
                <a:solidFill>
                  <a:srgbClr val="0070C0"/>
                </a:solidFill>
              </a:rPr>
              <a:t>-(n-1)</a:t>
            </a:r>
            <a:r>
              <a:rPr lang="en-US" altLang="zh-TW" dirty="0" err="1">
                <a:solidFill>
                  <a:srgbClr val="0070C0"/>
                </a:solidFill>
              </a:rPr>
              <a:t>th</a:t>
            </a:r>
            <a:r>
              <a:rPr lang="en-US" altLang="zh-TW" dirty="0">
                <a:solidFill>
                  <a:srgbClr val="0070C0"/>
                </a:solidFill>
              </a:rPr>
              <a:t> round</a:t>
            </a:r>
            <a:r>
              <a:rPr lang="en-US" altLang="zh-TW" dirty="0"/>
              <a:t>: </a:t>
            </a:r>
          </a:p>
          <a:p>
            <a:pPr marL="914400" lvl="1" indent="-514350"/>
            <a:r>
              <a:rPr lang="en-US" altLang="zh-TW" dirty="0"/>
              <a:t>During the page transfers, if write faults occur, the guest OS will set the appropriate bit in the dirty map. </a:t>
            </a:r>
          </a:p>
          <a:p>
            <a:pPr marL="914400" lvl="1" indent="-514350"/>
            <a:r>
              <a:rPr lang="en-US" altLang="zh-TW" dirty="0"/>
              <a:t>Dirty pages will resent again. </a:t>
            </a:r>
          </a:p>
          <a:p>
            <a:pPr marL="914400" lvl="1" indent="-514350"/>
            <a:r>
              <a:rPr lang="en-US" altLang="zh-TW" dirty="0"/>
              <a:t>Reset dirty bit map for the next round.</a:t>
            </a:r>
          </a:p>
          <a:p>
            <a:pPr marL="514350" indent="-514350">
              <a:buFont typeface="+mj-lt"/>
              <a:buAutoNum type="arabicPeriod"/>
            </a:pPr>
            <a:r>
              <a:rPr lang="en-US" altLang="zh-TW" dirty="0">
                <a:solidFill>
                  <a:srgbClr val="0070C0"/>
                </a:solidFill>
              </a:rPr>
              <a:t>nth round</a:t>
            </a:r>
            <a:r>
              <a:rPr lang="en-US" altLang="zh-TW" dirty="0"/>
              <a:t>: </a:t>
            </a:r>
          </a:p>
          <a:p>
            <a:pPr marL="914400" lvl="1" indent="-514350"/>
            <a:r>
              <a:rPr lang="en-US" altLang="zh-TW" dirty="0"/>
              <a:t>When the dirty rate is bigger than the upper bound, OS would disable all activities.</a:t>
            </a:r>
          </a:p>
          <a:p>
            <a:pPr marL="514350" indent="-514350">
              <a:buFont typeface="+mj-lt"/>
              <a:buAutoNum type="arabicPeriod"/>
            </a:pPr>
            <a:r>
              <a:rPr lang="en-US" altLang="zh-TW" dirty="0">
                <a:solidFill>
                  <a:srgbClr val="0070C0"/>
                </a:solidFill>
              </a:rPr>
              <a:t>Copy all dirty pages to shadow buffer.</a:t>
            </a:r>
          </a:p>
          <a:p>
            <a:pPr marL="514350" indent="-514350">
              <a:buFont typeface="+mj-lt"/>
              <a:buAutoNum type="arabicPeriod"/>
            </a:pPr>
            <a:endParaRPr lang="en-US" altLang="zh-TW" dirty="0">
              <a:solidFill>
                <a:srgbClr val="0070C0"/>
              </a:solidFill>
            </a:endParaRPr>
          </a:p>
          <a:p>
            <a:pPr marL="514350" indent="-514350">
              <a:buFont typeface="+mj-lt"/>
              <a:buAutoNum type="arabicPeriod"/>
            </a:pPr>
            <a:r>
              <a:rPr lang="en-US" altLang="zh-TW" dirty="0">
                <a:solidFill>
                  <a:srgbClr val="0070C0"/>
                </a:solidFill>
              </a:rPr>
              <a:t>Transfer the shadow buffer and ignore new page updates. </a:t>
            </a:r>
          </a:p>
        </p:txBody>
      </p:sp>
    </p:spTree>
    <p:extLst>
      <p:ext uri="{BB962C8B-B14F-4D97-AF65-F5344CB8AC3E}">
        <p14:creationId xmlns:p14="http://schemas.microsoft.com/office/powerpoint/2010/main" val="3558319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Implementation Issues(1)</a:t>
            </a:r>
            <a:endParaRPr lang="zh-TW" altLang="en-US" dirty="0"/>
          </a:p>
        </p:txBody>
      </p:sp>
      <p:sp>
        <p:nvSpPr>
          <p:cNvPr id="3" name="內容版面配置區 2"/>
          <p:cNvSpPr>
            <a:spLocks noGrp="1"/>
          </p:cNvSpPr>
          <p:nvPr>
            <p:ph idx="1"/>
          </p:nvPr>
        </p:nvSpPr>
        <p:spPr/>
        <p:txBody>
          <a:bodyPr/>
          <a:lstStyle/>
          <a:p>
            <a:r>
              <a:rPr lang="en-US" altLang="zh-TW" b="1" dirty="0"/>
              <a:t>Dynamic Rate - Limiting </a:t>
            </a:r>
          </a:p>
          <a:p>
            <a:pPr lvl="1"/>
            <a:r>
              <a:rPr lang="en-US" altLang="zh-TW" dirty="0"/>
              <a:t>Administrator decides a minimum(</a:t>
            </a:r>
            <a:r>
              <a:rPr lang="en-US" altLang="zh-TW" dirty="0">
                <a:solidFill>
                  <a:srgbClr val="FF0000"/>
                </a:solidFill>
              </a:rPr>
              <a:t>m</a:t>
            </a:r>
            <a:r>
              <a:rPr lang="en-US" altLang="zh-TW" dirty="0"/>
              <a:t>) and a maximum(</a:t>
            </a:r>
            <a:r>
              <a:rPr lang="en-US" altLang="zh-TW" dirty="0">
                <a:solidFill>
                  <a:srgbClr val="FF0000"/>
                </a:solidFill>
              </a:rPr>
              <a:t>M</a:t>
            </a:r>
            <a:r>
              <a:rPr lang="en-US" altLang="zh-TW" dirty="0"/>
              <a:t>) bandwidth limit</a:t>
            </a:r>
          </a:p>
          <a:p>
            <a:pPr lvl="1"/>
            <a:r>
              <a:rPr lang="en-US" altLang="zh-TW" dirty="0"/>
              <a:t>Transfer speed (</a:t>
            </a:r>
            <a:r>
              <a:rPr lang="en-US" altLang="zh-TW" dirty="0">
                <a:solidFill>
                  <a:srgbClr val="FF0000"/>
                </a:solidFill>
              </a:rPr>
              <a:t>v</a:t>
            </a:r>
            <a:r>
              <a:rPr lang="en-US" altLang="zh-TW" dirty="0"/>
              <a:t>)</a:t>
            </a:r>
          </a:p>
          <a:p>
            <a:pPr lvl="1"/>
            <a:r>
              <a:rPr lang="en-US" altLang="zh-TW" dirty="0"/>
              <a:t> Every subsequent round calculate the </a:t>
            </a:r>
            <a:r>
              <a:rPr lang="en-US" altLang="zh-TW" b="1" dirty="0"/>
              <a:t>dirtying rate</a:t>
            </a:r>
            <a:r>
              <a:rPr lang="en-US" altLang="zh-TW" dirty="0"/>
              <a:t> (</a:t>
            </a:r>
            <a:r>
              <a:rPr lang="en-US" altLang="zh-TW" dirty="0">
                <a:solidFill>
                  <a:srgbClr val="FF0000"/>
                </a:solidFill>
              </a:rPr>
              <a:t>r</a:t>
            </a:r>
            <a:r>
              <a:rPr lang="en-US" altLang="zh-TW" dirty="0"/>
              <a:t>)</a:t>
            </a:r>
          </a:p>
          <a:p>
            <a:pPr lvl="2"/>
            <a:r>
              <a:rPr lang="en-US" altLang="zh-TW" dirty="0">
                <a:solidFill>
                  <a:srgbClr val="FF0000"/>
                </a:solidFill>
              </a:rPr>
              <a:t>r</a:t>
            </a:r>
            <a:r>
              <a:rPr lang="en-US" altLang="zh-TW" dirty="0">
                <a:solidFill>
                  <a:srgbClr val="00B0F0"/>
                </a:solidFill>
              </a:rPr>
              <a:t> </a:t>
            </a:r>
            <a:r>
              <a:rPr lang="en-US" altLang="zh-TW" dirty="0"/>
              <a:t>= dirty pages / duration of previous round</a:t>
            </a:r>
          </a:p>
          <a:p>
            <a:pPr lvl="1"/>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Implementation Issues(2)</a:t>
            </a:r>
            <a:endParaRPr lang="zh-TW" altLang="en-US" dirty="0"/>
          </a:p>
        </p:txBody>
      </p:sp>
      <p:sp>
        <p:nvSpPr>
          <p:cNvPr id="3" name="內容版面配置區 2"/>
          <p:cNvSpPr>
            <a:spLocks noGrp="1"/>
          </p:cNvSpPr>
          <p:nvPr>
            <p:ph idx="1"/>
          </p:nvPr>
        </p:nvSpPr>
        <p:spPr/>
        <p:txBody>
          <a:bodyPr/>
          <a:lstStyle/>
          <a:p>
            <a:r>
              <a:rPr lang="en-US" altLang="zh-TW" b="1" dirty="0"/>
              <a:t>Dynamic Rate - Limiting </a:t>
            </a:r>
          </a:p>
          <a:p>
            <a:pPr lvl="1"/>
            <a:r>
              <a:rPr lang="en-US" altLang="zh-TW" dirty="0"/>
              <a:t>The first round </a:t>
            </a:r>
            <a:r>
              <a:rPr lang="en-US" altLang="zh-TW" dirty="0">
                <a:solidFill>
                  <a:srgbClr val="00B0F0"/>
                </a:solidFill>
              </a:rPr>
              <a:t>v = m </a:t>
            </a:r>
            <a:r>
              <a:rPr lang="en-US" altLang="zh-TW" sz="2400" dirty="0">
                <a:solidFill>
                  <a:srgbClr val="00B0F0"/>
                </a:solidFill>
              </a:rPr>
              <a:t>(transfer rate = min. b/w)</a:t>
            </a:r>
            <a:endParaRPr lang="en-US" altLang="zh-TW" dirty="0">
              <a:solidFill>
                <a:srgbClr val="00B0F0"/>
              </a:solidFill>
            </a:endParaRPr>
          </a:p>
          <a:p>
            <a:pPr lvl="1"/>
            <a:r>
              <a:rPr lang="en-US" altLang="zh-TW" dirty="0"/>
              <a:t>Next round  </a:t>
            </a:r>
            <a:r>
              <a:rPr lang="en-US" altLang="zh-TW" dirty="0">
                <a:solidFill>
                  <a:srgbClr val="00B0F0"/>
                </a:solidFill>
              </a:rPr>
              <a:t>v = v*r </a:t>
            </a:r>
            <a:r>
              <a:rPr lang="en-US" altLang="zh-TW" sz="2400" dirty="0">
                <a:solidFill>
                  <a:srgbClr val="00B0F0"/>
                </a:solidFill>
              </a:rPr>
              <a:t>(adjust transfer rate)</a:t>
            </a:r>
            <a:endParaRPr lang="en-US" altLang="zh-TW" dirty="0">
              <a:solidFill>
                <a:srgbClr val="00B0F0"/>
              </a:solidFill>
            </a:endParaRPr>
          </a:p>
          <a:p>
            <a:pPr lvl="1"/>
            <a:r>
              <a:rPr lang="en-US" altLang="zh-TW" dirty="0"/>
              <a:t>Pre-copy will be terminated when </a:t>
            </a:r>
            <a:r>
              <a:rPr lang="en-US" altLang="zh-TW" dirty="0">
                <a:solidFill>
                  <a:srgbClr val="00B0F0"/>
                </a:solidFill>
              </a:rPr>
              <a:t>v &gt; M </a:t>
            </a:r>
            <a:r>
              <a:rPr lang="en-US" altLang="zh-TW" dirty="0"/>
              <a:t>or remaining pages less than </a:t>
            </a:r>
            <a:r>
              <a:rPr lang="en-US" altLang="zh-TW" dirty="0">
                <a:solidFill>
                  <a:srgbClr val="FF0000"/>
                </a:solidFill>
              </a:rPr>
              <a:t>256KB</a:t>
            </a:r>
            <a:endParaRPr lang="zh-TW" altLang="en-US" dirty="0">
              <a:solidFill>
                <a:srgbClr val="FF0000"/>
              </a:solidFill>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72768" y="76200"/>
            <a:ext cx="7498080" cy="1143000"/>
          </a:xfrm>
        </p:spPr>
        <p:txBody>
          <a:bodyPr/>
          <a:lstStyle/>
          <a:p>
            <a:r>
              <a:rPr lang="en-US" altLang="zh-TW" dirty="0"/>
              <a:t>Implementation Issues(3)</a:t>
            </a:r>
            <a:endParaRPr lang="zh-TW" altLang="en-US" dirty="0"/>
          </a:p>
        </p:txBody>
      </p:sp>
      <p:sp>
        <p:nvSpPr>
          <p:cNvPr id="3" name="內容版面配置區 2"/>
          <p:cNvSpPr>
            <a:spLocks noGrp="1"/>
          </p:cNvSpPr>
          <p:nvPr>
            <p:ph idx="1"/>
          </p:nvPr>
        </p:nvSpPr>
        <p:spPr>
          <a:xfrm>
            <a:off x="1043608" y="1124744"/>
            <a:ext cx="8027240" cy="5458618"/>
          </a:xfrm>
        </p:spPr>
        <p:txBody>
          <a:bodyPr>
            <a:normAutofit fontScale="70000" lnSpcReduction="20000"/>
          </a:bodyPr>
          <a:lstStyle/>
          <a:p>
            <a:r>
              <a:rPr lang="en-US" altLang="zh-TW" b="1" dirty="0"/>
              <a:t>Rapid Page Dirtying</a:t>
            </a:r>
          </a:p>
          <a:p>
            <a:pPr lvl="1"/>
            <a:r>
              <a:rPr lang="en-US" altLang="zh-TW" dirty="0"/>
              <a:t>The page dirtying is often </a:t>
            </a:r>
            <a:r>
              <a:rPr lang="en-US" altLang="zh-TW" dirty="0">
                <a:solidFill>
                  <a:srgbClr val="FF0000"/>
                </a:solidFill>
              </a:rPr>
              <a:t>physically clustered</a:t>
            </a:r>
          </a:p>
          <a:p>
            <a:pPr lvl="1"/>
            <a:r>
              <a:rPr lang="en-US" altLang="zh-TW" dirty="0"/>
              <a:t>“Peek” those pages dirtied in the previous round </a:t>
            </a:r>
          </a:p>
          <a:p>
            <a:pPr lvl="1"/>
            <a:r>
              <a:rPr lang="en-US" dirty="0"/>
              <a:t>Avoid transferring page multiple times</a:t>
            </a:r>
            <a:br>
              <a:rPr lang="en-US" dirty="0"/>
            </a:br>
            <a:r>
              <a:rPr lang="en-US" dirty="0"/>
              <a:t>• Before transmitting page, peek into the current round's dirty bitmap</a:t>
            </a:r>
            <a:br>
              <a:rPr lang="en-US" dirty="0"/>
            </a:br>
            <a:r>
              <a:rPr lang="en-US" dirty="0"/>
              <a:t>• Skip transmission if page is already dirtied in ongoing round</a:t>
            </a:r>
            <a:endParaRPr lang="en-US" altLang="zh-TW" dirty="0"/>
          </a:p>
          <a:p>
            <a:r>
              <a:rPr lang="en-US" altLang="zh-TW" b="1" dirty="0"/>
              <a:t>Stunning Rogue Process</a:t>
            </a:r>
          </a:p>
          <a:p>
            <a:pPr lvl="1"/>
            <a:r>
              <a:rPr lang="en-US" altLang="zh-TW" dirty="0"/>
              <a:t>Some processes may produce dirty memory at a fast rate</a:t>
            </a:r>
          </a:p>
          <a:p>
            <a:pPr lvl="1"/>
            <a:r>
              <a:rPr lang="en-US" altLang="zh-TW" dirty="0"/>
              <a:t>Ex. A test program which writes one word in every page was able to dirty memory at a rate of 320Gbit/sec</a:t>
            </a:r>
          </a:p>
          <a:p>
            <a:pPr lvl="1"/>
            <a:r>
              <a:rPr lang="en-US" altLang="zh-TW" dirty="0"/>
              <a:t>Forking a </a:t>
            </a:r>
            <a:r>
              <a:rPr lang="en-US" altLang="zh-TW" dirty="0">
                <a:solidFill>
                  <a:srgbClr val="FF0000"/>
                </a:solidFill>
              </a:rPr>
              <a:t>monitoring thread </a:t>
            </a:r>
            <a:r>
              <a:rPr lang="en-US" altLang="zh-TW" dirty="0"/>
              <a:t>within the OS kernel when migrating begins</a:t>
            </a:r>
          </a:p>
          <a:p>
            <a:pPr lvl="1"/>
            <a:r>
              <a:rPr lang="en-US" altLang="zh-TW" dirty="0"/>
              <a:t>Monitor the Writeable WS of individual processes </a:t>
            </a:r>
          </a:p>
          <a:p>
            <a:pPr lvl="1"/>
            <a:r>
              <a:rPr lang="en-US" altLang="zh-TW" dirty="0"/>
              <a:t>If the process dirties memory too fast, then “</a:t>
            </a:r>
            <a:r>
              <a:rPr lang="en-US" altLang="zh-TW" dirty="0">
                <a:solidFill>
                  <a:srgbClr val="FF0000"/>
                </a:solidFill>
              </a:rPr>
              <a:t>stun</a:t>
            </a:r>
            <a:r>
              <a:rPr lang="en-US" altLang="zh-TW" dirty="0"/>
              <a:t>” it</a:t>
            </a:r>
          </a:p>
          <a:p>
            <a:r>
              <a:rPr lang="en-US" dirty="0"/>
              <a:t>Move non-interactive processes generating dirty pages to wait queue</a:t>
            </a:r>
            <a:br>
              <a:rPr lang="en-US" dirty="0"/>
            </a:br>
            <a:r>
              <a:rPr lang="en-US" dirty="0"/>
              <a:t>• Execution paused until migration completes</a:t>
            </a:r>
            <a:endParaRPr lang="en-US" altLang="zh-TW"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stun.JPG"/>
          <p:cNvPicPr>
            <a:picLocks noGrp="1" noChangeAspect="1"/>
          </p:cNvPicPr>
          <p:nvPr>
            <p:ph idx="1"/>
          </p:nvPr>
        </p:nvPicPr>
        <p:blipFill>
          <a:blip r:embed="rId2" cstate="print"/>
          <a:stretch>
            <a:fillRect/>
          </a:stretch>
        </p:blipFill>
        <p:spPr>
          <a:xfrm>
            <a:off x="1547664" y="1484784"/>
            <a:ext cx="6177483" cy="4486309"/>
          </a:xfrm>
        </p:spPr>
      </p:pic>
      <p:sp>
        <p:nvSpPr>
          <p:cNvPr id="5" name="圓角矩形 4"/>
          <p:cNvSpPr/>
          <p:nvPr/>
        </p:nvSpPr>
        <p:spPr>
          <a:xfrm>
            <a:off x="5724128" y="1844824"/>
            <a:ext cx="1080120" cy="424847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Implementation Issues(4)</a:t>
            </a:r>
            <a:endParaRPr lang="zh-TW" altLang="en-US" dirty="0"/>
          </a:p>
        </p:txBody>
      </p:sp>
      <p:sp>
        <p:nvSpPr>
          <p:cNvPr id="3" name="內容版面配置區 2"/>
          <p:cNvSpPr>
            <a:spLocks noGrp="1"/>
          </p:cNvSpPr>
          <p:nvPr>
            <p:ph idx="1"/>
          </p:nvPr>
        </p:nvSpPr>
        <p:spPr/>
        <p:txBody>
          <a:bodyPr/>
          <a:lstStyle/>
          <a:p>
            <a:r>
              <a:rPr lang="en-US" altLang="zh-TW" b="1" dirty="0"/>
              <a:t>Freeing Page Cache Pages</a:t>
            </a:r>
          </a:p>
          <a:p>
            <a:pPr lvl="1"/>
            <a:r>
              <a:rPr lang="en-US" altLang="zh-TW" dirty="0"/>
              <a:t>OS can tell some or all of the free pages to not be transferred</a:t>
            </a:r>
          </a:p>
          <a:p>
            <a:pPr lvl="1"/>
            <a:r>
              <a:rPr lang="en-US" b="1" dirty="0"/>
              <a:t>Page Cache</a:t>
            </a:r>
            <a:r>
              <a:rPr lang="en-US" dirty="0"/>
              <a:t>: transparent </a:t>
            </a:r>
            <a:r>
              <a:rPr lang="en-US" b="1" dirty="0"/>
              <a:t>cache</a:t>
            </a:r>
            <a:r>
              <a:rPr lang="en-US" dirty="0"/>
              <a:t> for the pages originating from a secondary storage device - disk.</a:t>
            </a:r>
            <a:endParaRPr lang="en-US" altLang="zh-TW" dirty="0"/>
          </a:p>
          <a:p>
            <a:pPr lvl="1"/>
            <a:r>
              <a:rPr lang="en-US" altLang="zh-TW" dirty="0"/>
              <a:t>Do not transfer these pages in </a:t>
            </a:r>
            <a:r>
              <a:rPr lang="en-US" altLang="zh-TW" dirty="0">
                <a:solidFill>
                  <a:srgbClr val="FF0000"/>
                </a:solidFill>
              </a:rPr>
              <a:t>the first iteration</a:t>
            </a:r>
          </a:p>
          <a:p>
            <a:pPr lvl="1"/>
            <a:r>
              <a:rPr lang="en-US" altLang="zh-TW" dirty="0"/>
              <a:t>Reduce transferred time</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Evaluation(1)</a:t>
            </a:r>
            <a:endParaRPr lang="zh-TW" altLang="en-US" dirty="0"/>
          </a:p>
        </p:txBody>
      </p:sp>
      <p:sp>
        <p:nvSpPr>
          <p:cNvPr id="3" name="內容版面配置區 2"/>
          <p:cNvSpPr>
            <a:spLocks noGrp="1"/>
          </p:cNvSpPr>
          <p:nvPr>
            <p:ph idx="1"/>
          </p:nvPr>
        </p:nvSpPr>
        <p:spPr/>
        <p:txBody>
          <a:bodyPr/>
          <a:lstStyle/>
          <a:p>
            <a:r>
              <a:rPr lang="en-US" altLang="zh-TW" dirty="0"/>
              <a:t>Dell PE-2650 server-class machine</a:t>
            </a:r>
          </a:p>
          <a:p>
            <a:r>
              <a:rPr lang="en-US" altLang="zh-TW" dirty="0"/>
              <a:t>Dual Xeon 2Ghz CPUs</a:t>
            </a:r>
          </a:p>
          <a:p>
            <a:r>
              <a:rPr lang="en-US" altLang="zh-TW" dirty="0"/>
              <a:t>2GB memory</a:t>
            </a:r>
          </a:p>
          <a:p>
            <a:r>
              <a:rPr lang="en-US" altLang="zh-TW" dirty="0"/>
              <a:t>Broadcom TG3 network interface</a:t>
            </a:r>
          </a:p>
          <a:p>
            <a:r>
              <a:rPr lang="en-US" altLang="zh-TW" dirty="0"/>
              <a:t>Gigabit Ethernet</a:t>
            </a:r>
          </a:p>
          <a:p>
            <a:r>
              <a:rPr lang="en-US" altLang="zh-TW" dirty="0" err="1"/>
              <a:t>Netapp</a:t>
            </a:r>
            <a:r>
              <a:rPr lang="en-US" altLang="zh-TW" dirty="0"/>
              <a:t> F840 NAS</a:t>
            </a:r>
          </a:p>
          <a:p>
            <a:r>
              <a:rPr lang="en-US" altLang="zh-TW" dirty="0" err="1"/>
              <a:t>XenLinux</a:t>
            </a:r>
            <a:r>
              <a:rPr lang="en-US" altLang="zh-TW" dirty="0"/>
              <a:t> 2.4.27</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Evaluation(2)- Simple Web Server</a:t>
            </a:r>
            <a:endParaRPr lang="zh-TW" altLang="en-US" dirty="0"/>
          </a:p>
        </p:txBody>
      </p:sp>
      <p:sp>
        <p:nvSpPr>
          <p:cNvPr id="3" name="內容版面配置區 2"/>
          <p:cNvSpPr>
            <a:spLocks noGrp="1"/>
          </p:cNvSpPr>
          <p:nvPr>
            <p:ph idx="1"/>
          </p:nvPr>
        </p:nvSpPr>
        <p:spPr/>
        <p:txBody>
          <a:bodyPr/>
          <a:lstStyle/>
          <a:p>
            <a:r>
              <a:rPr lang="en-US" altLang="zh-TW" dirty="0"/>
              <a:t>Continuously serving a single 512KB file to a set of 100 clients</a:t>
            </a:r>
            <a:endParaRPr lang="zh-TW" altLang="en-US" dirty="0"/>
          </a:p>
        </p:txBody>
      </p:sp>
      <p:pic>
        <p:nvPicPr>
          <p:cNvPr id="4" name="圖片 3" descr="single.JPG"/>
          <p:cNvPicPr>
            <a:picLocks noChangeAspect="1"/>
          </p:cNvPicPr>
          <p:nvPr/>
        </p:nvPicPr>
        <p:blipFill>
          <a:blip r:embed="rId2" cstate="print"/>
          <a:stretch>
            <a:fillRect/>
          </a:stretch>
        </p:blipFill>
        <p:spPr>
          <a:xfrm>
            <a:off x="0" y="2811735"/>
            <a:ext cx="9144000" cy="3857625"/>
          </a:xfrm>
          <a:prstGeom prst="rect">
            <a:avLst/>
          </a:prstGeom>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Evaluation(3)- SPECweb99</a:t>
            </a:r>
            <a:endParaRPr lang="zh-TW" altLang="en-US" dirty="0"/>
          </a:p>
        </p:txBody>
      </p:sp>
      <p:sp>
        <p:nvSpPr>
          <p:cNvPr id="3" name="內容版面配置區 2"/>
          <p:cNvSpPr>
            <a:spLocks noGrp="1"/>
          </p:cNvSpPr>
          <p:nvPr>
            <p:ph idx="1"/>
          </p:nvPr>
        </p:nvSpPr>
        <p:spPr/>
        <p:txBody>
          <a:bodyPr/>
          <a:lstStyle/>
          <a:p>
            <a:r>
              <a:rPr lang="en-US" altLang="zh-TW" dirty="0"/>
              <a:t>SPECweb99 – a application-level benchmark for evaluating web server </a:t>
            </a:r>
            <a:endParaRPr lang="zh-TW" altLang="en-US" dirty="0"/>
          </a:p>
        </p:txBody>
      </p:sp>
      <p:pic>
        <p:nvPicPr>
          <p:cNvPr id="4" name="圖片 3" descr="SPEC.JPG"/>
          <p:cNvPicPr>
            <a:picLocks noChangeAspect="1"/>
          </p:cNvPicPr>
          <p:nvPr/>
        </p:nvPicPr>
        <p:blipFill>
          <a:blip r:embed="rId2" cstate="print"/>
          <a:stretch>
            <a:fillRect/>
          </a:stretch>
        </p:blipFill>
        <p:spPr>
          <a:xfrm>
            <a:off x="0" y="2661438"/>
            <a:ext cx="9144000" cy="4196562"/>
          </a:xfrm>
          <a:prstGeom prst="rect">
            <a:avLst/>
          </a:prstGeom>
        </p:spPr>
      </p:pic>
      <p:sp>
        <p:nvSpPr>
          <p:cNvPr id="5" name="投影片編號版面配置區 4"/>
          <p:cNvSpPr>
            <a:spLocks noGrp="1"/>
          </p:cNvSpPr>
          <p:nvPr>
            <p:ph type="sldNum" sz="quarter" idx="12"/>
          </p:nvPr>
        </p:nvSpPr>
        <p:spPr/>
        <p:txBody>
          <a:bodyPr/>
          <a:lstStyle/>
          <a:p>
            <a:fld id="{73DA0BB7-265A-403C-9275-D587AB510EDC}"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Evaluation(4)</a:t>
            </a:r>
            <a:endParaRPr lang="zh-TW" altLang="en-US" dirty="0"/>
          </a:p>
        </p:txBody>
      </p:sp>
      <p:sp>
        <p:nvSpPr>
          <p:cNvPr id="3" name="內容版面配置區 2"/>
          <p:cNvSpPr>
            <a:spLocks noGrp="1"/>
          </p:cNvSpPr>
          <p:nvPr>
            <p:ph idx="1"/>
          </p:nvPr>
        </p:nvSpPr>
        <p:spPr/>
        <p:txBody>
          <a:bodyPr>
            <a:normAutofit/>
          </a:bodyPr>
          <a:lstStyle/>
          <a:p>
            <a:r>
              <a:rPr lang="en-US" altLang="zh-TW" b="1" dirty="0"/>
              <a:t>Quake 3 server </a:t>
            </a:r>
            <a:r>
              <a:rPr lang="en-US" altLang="zh-TW" dirty="0"/>
              <a:t>– an online game server with 6  players</a:t>
            </a:r>
          </a:p>
          <a:p>
            <a:pPr lvl="1"/>
            <a:r>
              <a:rPr lang="en-US" altLang="zh-TW" dirty="0"/>
              <a:t>Downtime: 50ms</a:t>
            </a:r>
          </a:p>
          <a:p>
            <a:r>
              <a:rPr lang="en-US" altLang="zh-TW" b="1" dirty="0"/>
              <a:t>Diabolical Workload</a:t>
            </a:r>
          </a:p>
          <a:p>
            <a:pPr lvl="1"/>
            <a:r>
              <a:rPr lang="en-US" altLang="zh-TW" dirty="0"/>
              <a:t>Running a 512MB host and use a simple program that writes constantly to a 256MB region of memory</a:t>
            </a:r>
          </a:p>
          <a:p>
            <a:pPr lvl="1"/>
            <a:r>
              <a:rPr lang="en-US" altLang="zh-TW" dirty="0"/>
              <a:t>Downtime : 3.5sec</a:t>
            </a:r>
          </a:p>
          <a:p>
            <a:pPr lvl="1"/>
            <a:r>
              <a:rPr lang="en-US" altLang="zh-TW" dirty="0"/>
              <a:t>Rare in real world</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414366" y="198288"/>
            <a:ext cx="8229600" cy="280208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142844" y="3102752"/>
            <a:ext cx="8929750" cy="3755248"/>
          </a:xfrm>
          <a:prstGeom prst="rect">
            <a:avLst/>
          </a:prstGeom>
          <a:noFill/>
          <a:ln w="9525">
            <a:noFill/>
            <a:miter lim="800000"/>
            <a:headEnd/>
            <a:tailEnd/>
          </a:ln>
          <a:effectLst/>
        </p:spPr>
      </p:pic>
    </p:spTree>
    <p:extLst>
      <p:ext uri="{BB962C8B-B14F-4D97-AF65-F5344CB8AC3E}">
        <p14:creationId xmlns:p14="http://schemas.microsoft.com/office/powerpoint/2010/main" val="23862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 worst case example</a:t>
            </a:r>
            <a:endParaRPr lang="zh-TW" alt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1500187" y="2005806"/>
            <a:ext cx="6143625" cy="3714750"/>
          </a:xfrm>
          <a:prstGeom prst="rect">
            <a:avLst/>
          </a:prstGeom>
          <a:noFill/>
          <a:ln w="9525">
            <a:noFill/>
            <a:miter lim="800000"/>
            <a:headEnd/>
            <a:tailEnd/>
          </a:ln>
          <a:effectLst/>
        </p:spPr>
      </p:pic>
    </p:spTree>
    <p:extLst>
      <p:ext uri="{BB962C8B-B14F-4D97-AF65-F5344CB8AC3E}">
        <p14:creationId xmlns:p14="http://schemas.microsoft.com/office/powerpoint/2010/main" val="880084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Summary</a:t>
            </a:r>
            <a:endParaRPr lang="zh-TW" altLang="en-US" dirty="0"/>
          </a:p>
        </p:txBody>
      </p:sp>
      <p:sp>
        <p:nvSpPr>
          <p:cNvPr id="3" name="內容版面配置區 2"/>
          <p:cNvSpPr>
            <a:spLocks noGrp="1"/>
          </p:cNvSpPr>
          <p:nvPr>
            <p:ph idx="1"/>
          </p:nvPr>
        </p:nvSpPr>
        <p:spPr/>
        <p:txBody>
          <a:bodyPr/>
          <a:lstStyle/>
          <a:p>
            <a:r>
              <a:rPr lang="en-US" altLang="zh-TW" dirty="0"/>
              <a:t>Minimal impact on running services</a:t>
            </a:r>
          </a:p>
          <a:p>
            <a:r>
              <a:rPr lang="en-US" altLang="zh-TW" dirty="0"/>
              <a:t>Small downtime with realistic server</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Optimization</a:t>
            </a:r>
            <a:endParaRPr lang="zh-TW" altLang="en-US" dirty="0"/>
          </a:p>
        </p:txBody>
      </p:sp>
      <p:sp>
        <p:nvSpPr>
          <p:cNvPr id="3" name="內容版面配置區 2"/>
          <p:cNvSpPr>
            <a:spLocks noGrp="1"/>
          </p:cNvSpPr>
          <p:nvPr>
            <p:ph idx="1"/>
          </p:nvPr>
        </p:nvSpPr>
        <p:spPr/>
        <p:txBody>
          <a:bodyPr>
            <a:normAutofit fontScale="55000" lnSpcReduction="20000"/>
          </a:bodyPr>
          <a:lstStyle/>
          <a:p>
            <a:r>
              <a:rPr lang="en-US" altLang="zh-TW" dirty="0"/>
              <a:t>Dynamic Rate-Limiting</a:t>
            </a:r>
          </a:p>
          <a:p>
            <a:r>
              <a:rPr lang="en-US" altLang="zh-TW" dirty="0"/>
              <a:t>Rapid Page Dirtying</a:t>
            </a:r>
          </a:p>
          <a:p>
            <a:r>
              <a:rPr lang="en-US" altLang="zh-TW" dirty="0"/>
              <a:t>Para-virtualized Optimization</a:t>
            </a:r>
          </a:p>
          <a:p>
            <a:pPr marL="514350" indent="-514350">
              <a:buNone/>
            </a:pPr>
            <a:r>
              <a:rPr lang="en-US" altLang="zh-TW" dirty="0"/>
              <a:t>    1. Ballooning mechanism</a:t>
            </a:r>
          </a:p>
          <a:p>
            <a:pPr marL="514350" indent="-514350">
              <a:buNone/>
            </a:pPr>
            <a:r>
              <a:rPr lang="en-US" dirty="0"/>
              <a:t>technique to dynamically adjust physical memory of guest. </a:t>
            </a:r>
          </a:p>
          <a:p>
            <a:pPr marL="514350" indent="0">
              <a:buNone/>
            </a:pPr>
            <a:r>
              <a:rPr lang="en-US" dirty="0"/>
              <a:t>driver in the guest OS, called a </a:t>
            </a:r>
            <a:r>
              <a:rPr lang="en-US" i="1" dirty="0"/>
              <a:t>balloon driver</a:t>
            </a:r>
            <a:r>
              <a:rPr lang="en-US" dirty="0"/>
              <a:t>, allocate pages from the guest OS and then hand those pages back to Xen. </a:t>
            </a:r>
          </a:p>
          <a:p>
            <a:pPr marL="514350" indent="-514350">
              <a:buNone/>
            </a:pPr>
            <a:r>
              <a:rPr lang="en-US" dirty="0"/>
              <a:t>From the guest OS perspective: has all memory that it started with; only there is a device driver - memory hog. But from Xen’s perspective, the memory which the device driver asked for is no longer real memory — it’s just empty space (hence “balloon”). </a:t>
            </a:r>
          </a:p>
          <a:p>
            <a:pPr marL="514350" indent="-514350">
              <a:buNone/>
            </a:pPr>
            <a:r>
              <a:rPr lang="en-US" dirty="0"/>
              <a:t>When the administrator wants to give memory back to VM, balloon driver asks Xen to fill the empty space with memory again (shrinking or “deflating” the balloon), and then “free” the resulting pages back to the guest OS (memory available for use again).</a:t>
            </a:r>
          </a:p>
          <a:p>
            <a:pPr marL="514350" indent="-514350">
              <a:buNone/>
            </a:pPr>
            <a:br>
              <a:rPr lang="en-US" dirty="0"/>
            </a:br>
            <a:r>
              <a:rPr lang="en-US" altLang="zh-TW" dirty="0"/>
              <a:t>2. Stunning rogue Process</a:t>
            </a:r>
            <a:endParaRPr lang="zh-TW" altLang="en-US" dirty="0"/>
          </a:p>
        </p:txBody>
      </p:sp>
    </p:spTree>
    <p:extLst>
      <p:ext uri="{BB962C8B-B14F-4D97-AF65-F5344CB8AC3E}">
        <p14:creationId xmlns:p14="http://schemas.microsoft.com/office/powerpoint/2010/main" val="8613870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F0B0F7-86DB-2245-8AA9-044FC612FD0F}"/>
              </a:ext>
            </a:extLst>
          </p:cNvPr>
          <p:cNvSpPr>
            <a:spLocks noGrp="1"/>
          </p:cNvSpPr>
          <p:nvPr>
            <p:ph type="title"/>
          </p:nvPr>
        </p:nvSpPr>
        <p:spPr/>
        <p:txBody>
          <a:bodyPr/>
          <a:lstStyle/>
          <a:p>
            <a:r>
              <a:rPr lang="en-US" dirty="0" err="1"/>
              <a:t>Postcopy</a:t>
            </a:r>
            <a:endParaRPr lang="en-US" dirty="0"/>
          </a:p>
        </p:txBody>
      </p:sp>
      <p:sp>
        <p:nvSpPr>
          <p:cNvPr id="4" name="Slide Number Placeholder 3">
            <a:extLst>
              <a:ext uri="{FF2B5EF4-FFF2-40B4-BE49-F238E27FC236}">
                <a16:creationId xmlns:a16="http://schemas.microsoft.com/office/drawing/2014/main" id="{32724A14-CCCA-F840-B985-7BE7E0B32683}"/>
              </a:ext>
            </a:extLst>
          </p:cNvPr>
          <p:cNvSpPr>
            <a:spLocks noGrp="1"/>
          </p:cNvSpPr>
          <p:nvPr>
            <p:ph type="sldNum" sz="quarter" idx="2"/>
          </p:nvPr>
        </p:nvSpPr>
        <p:spPr/>
        <p:txBody>
          <a:bodyPr/>
          <a:lstStyle/>
          <a:p>
            <a:fld id="{73DA0BB7-265A-403C-9275-D587AB510EDC}" type="slidenum">
              <a:rPr lang="zh-TW" altLang="en-US" smtClean="0"/>
              <a:pPr/>
              <a:t>46</a:t>
            </a:fld>
            <a:endParaRPr lang="zh-TW" altLang="en-US"/>
          </a:p>
        </p:txBody>
      </p:sp>
    </p:spTree>
    <p:extLst>
      <p:ext uri="{BB962C8B-B14F-4D97-AF65-F5344CB8AC3E}">
        <p14:creationId xmlns:p14="http://schemas.microsoft.com/office/powerpoint/2010/main" val="4088922358"/>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hape 53"/>
          <p:cNvSpPr txBox="1">
            <a:spLocks noGrp="1"/>
          </p:cNvSpPr>
          <p:nvPr>
            <p:ph type="body" idx="1"/>
          </p:nvPr>
        </p:nvSpPr>
        <p:spPr>
          <a:xfrm>
            <a:off x="457200" y="1510484"/>
            <a:ext cx="8229601" cy="4856781"/>
          </a:xfrm>
          <a:prstGeom prst="rect">
            <a:avLst/>
          </a:prstGeom>
        </p:spPr>
        <p:txBody>
          <a:bodyPr>
            <a:normAutofit fontScale="70000" lnSpcReduction="20000"/>
          </a:bodyPr>
          <a:lstStyle/>
          <a:p>
            <a:pPr marL="260530" indent="-260530" defTabSz="832074">
              <a:spcBef>
                <a:spcPts val="492"/>
              </a:spcBef>
              <a:buChar char="•"/>
              <a:defRPr sz="3458"/>
            </a:pPr>
            <a:r>
              <a:t>Mark the VM’s memory pages as read-only after each iteration.</a:t>
            </a:r>
          </a:p>
          <a:p>
            <a:pPr marL="297749" indent="-297749" defTabSz="832074">
              <a:buChar char="•"/>
              <a:defRPr sz="3458"/>
            </a:pPr>
            <a:endParaRPr/>
          </a:p>
          <a:p>
            <a:pPr marL="260530" indent="-260530" defTabSz="832074">
              <a:spcBef>
                <a:spcPts val="492"/>
              </a:spcBef>
              <a:buChar char="•"/>
              <a:defRPr sz="3458"/>
            </a:pPr>
            <a:r>
              <a:t>Trap write operations via hypervisor to track dirtied pages.</a:t>
            </a:r>
          </a:p>
          <a:p>
            <a:pPr marL="297749" indent="-297749" defTabSz="832074">
              <a:buChar char="•"/>
              <a:defRPr sz="3458"/>
            </a:pPr>
            <a:endParaRPr/>
          </a:p>
          <a:p>
            <a:pPr marL="260530" indent="-260530" defTabSz="832074">
              <a:spcBef>
                <a:spcPts val="492"/>
              </a:spcBef>
              <a:buChar char="•"/>
              <a:defRPr sz="3458"/>
            </a:pPr>
            <a:r>
              <a:t>Reset after each iteration</a:t>
            </a:r>
          </a:p>
          <a:p>
            <a:pPr marL="297749" indent="-297749" defTabSz="832074">
              <a:buChar char="•"/>
              <a:defRPr sz="3458"/>
            </a:pPr>
            <a:endParaRPr/>
          </a:p>
          <a:p>
            <a:pPr marL="260530" indent="-260530" defTabSz="832074">
              <a:spcBef>
                <a:spcPts val="492"/>
              </a:spcBef>
              <a:buChar char="•"/>
              <a:defRPr sz="3458"/>
            </a:pPr>
            <a:r>
              <a:t>Pre-copy works well as long as writes are infrequent</a:t>
            </a:r>
          </a:p>
          <a:p>
            <a:pPr marL="260530" indent="-260530" defTabSz="832074">
              <a:spcBef>
                <a:spcPts val="492"/>
              </a:spcBef>
              <a:buChar char="•"/>
              <a:defRPr sz="3458"/>
            </a:pPr>
            <a:endParaRPr/>
          </a:p>
          <a:p>
            <a:pPr marL="260530" indent="-260530" defTabSz="832074">
              <a:spcBef>
                <a:spcPts val="492"/>
              </a:spcBef>
              <a:buChar char="•"/>
              <a:defRPr sz="3458" i="1"/>
            </a:pPr>
            <a:r>
              <a:t>But for write-intensive workloads, copying iterations may never converge.</a:t>
            </a:r>
          </a:p>
        </p:txBody>
      </p:sp>
      <p:sp>
        <p:nvSpPr>
          <p:cNvPr id="179" name="The catch in Pre-copy:…"/>
          <p:cNvSpPr txBox="1"/>
          <p:nvPr/>
        </p:nvSpPr>
        <p:spPr>
          <a:xfrm>
            <a:off x="457200" y="274638"/>
            <a:ext cx="8229601" cy="944563"/>
          </a:xfrm>
          <a:prstGeom prst="rect">
            <a:avLst/>
          </a:prstGeom>
          <a:solidFill>
            <a:srgbClr val="8EB4E3"/>
          </a:solidFill>
          <a:ln w="12700">
            <a:miter lim="400000"/>
          </a:ln>
          <a:extLst>
            <a:ext uri="{C572A759-6A51-4108-AA02-DFA0A04FC94B}">
              <ma14:wrappingTextBoxFlag xmlns:ma14="http://schemas.microsoft.com/office/mac/drawingml/2011/main" xmlns="" val="1"/>
            </a:ext>
          </a:extLst>
        </p:spPr>
        <p:txBody>
          <a:bodyPr lIns="45719" tIns="45719" rIns="45719" bIns="45719" anchor="ctr">
            <a:normAutofit lnSpcReduction="10000"/>
          </a:bodyPr>
          <a:lstStyle/>
          <a:p>
            <a:pPr algn="ctr" defTabSz="576051" hangingPunct="0">
              <a:defRPr sz="4095">
                <a:latin typeface="Calibri"/>
                <a:ea typeface="Calibri"/>
                <a:cs typeface="Calibri"/>
                <a:sym typeface="Calibri"/>
              </a:defRPr>
            </a:pPr>
            <a:r>
              <a:rPr sz="2879" b="1" kern="0">
                <a:solidFill>
                  <a:srgbClr val="000000"/>
                </a:solidFill>
                <a:latin typeface="Calibri"/>
                <a:cs typeface="Calibri"/>
                <a:sym typeface="Calibri"/>
              </a:rPr>
              <a:t>The catch in Pre-copy:</a:t>
            </a:r>
          </a:p>
          <a:p>
            <a:pPr algn="ctr" defTabSz="576051" hangingPunct="0">
              <a:defRPr sz="4095">
                <a:latin typeface="Calibri"/>
                <a:ea typeface="Calibri"/>
                <a:cs typeface="Calibri"/>
                <a:sym typeface="Calibri"/>
              </a:defRPr>
            </a:pPr>
            <a:r>
              <a:rPr sz="2879" b="1" kern="0">
                <a:solidFill>
                  <a:srgbClr val="000000"/>
                </a:solidFill>
                <a:latin typeface="Calibri"/>
                <a:cs typeface="Calibri"/>
                <a:sym typeface="Calibri"/>
              </a:rPr>
              <a:t>Dirty page tracking</a:t>
            </a:r>
          </a:p>
        </p:txBody>
      </p:sp>
    </p:spTree>
    <p:extLst>
      <p:ext uri="{BB962C8B-B14F-4D97-AF65-F5344CB8AC3E}">
        <p14:creationId xmlns:p14="http://schemas.microsoft.com/office/powerpoint/2010/main" val="361416906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7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78">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78">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1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78">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178">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178">
                                            <p:txEl>
                                              <p:pRg st="5" end="5"/>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178">
                                            <p:txEl>
                                              <p:pRg st="6" end="6"/>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178">
                                            <p:txEl>
                                              <p:pRg st="7" end="7"/>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iterate>
                                    <p:tmAbs val="0"/>
                                  </p:iterate>
                                  <p:childTnLst>
                                    <p:set>
                                      <p:cBhvr>
                                        <p:cTn id="34" fill="hold"/>
                                        <p:tgtEl>
                                          <p:spTgt spid="17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build="p" bldLvl="5"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postcopy-tmt.jpg" descr="postcopy-tmt.jpg"/>
          <p:cNvPicPr>
            <a:picLocks noChangeAspect="1"/>
          </p:cNvPicPr>
          <p:nvPr/>
        </p:nvPicPr>
        <p:blipFill>
          <a:blip r:embed="rId2"/>
          <a:stretch>
            <a:fillRect/>
          </a:stretch>
        </p:blipFill>
        <p:spPr>
          <a:xfrm>
            <a:off x="4724399" y="3285499"/>
            <a:ext cx="4372099" cy="3505200"/>
          </a:xfrm>
          <a:prstGeom prst="rect">
            <a:avLst/>
          </a:prstGeom>
          <a:ln w="12700">
            <a:miter lim="400000"/>
          </a:ln>
        </p:spPr>
      </p:pic>
      <p:sp>
        <p:nvSpPr>
          <p:cNvPr id="182" name="Better for write-intensive workloads"/>
          <p:cNvSpPr txBox="1">
            <a:spLocks noGrp="1"/>
          </p:cNvSpPr>
          <p:nvPr>
            <p:ph type="body" sz="quarter" idx="1"/>
          </p:nvPr>
        </p:nvSpPr>
        <p:spPr>
          <a:xfrm>
            <a:off x="457200" y="1217225"/>
            <a:ext cx="8229601" cy="430475"/>
          </a:xfrm>
          <a:prstGeom prst="rect">
            <a:avLst/>
          </a:prstGeom>
        </p:spPr>
        <p:txBody>
          <a:bodyPr>
            <a:normAutofit lnSpcReduction="10000"/>
          </a:bodyPr>
          <a:lstStyle>
            <a:lvl1pPr marL="346114" indent="-346114" defTabSz="1235455">
              <a:lnSpc>
                <a:spcPct val="90000"/>
              </a:lnSpc>
              <a:spcBef>
                <a:spcPts val="700"/>
              </a:spcBef>
              <a:buClr>
                <a:srgbClr val="262626"/>
              </a:buClr>
              <a:defRPr sz="3230">
                <a:solidFill>
                  <a:srgbClr val="262626"/>
                </a:solidFill>
              </a:defRPr>
            </a:lvl1pPr>
          </a:lstStyle>
          <a:p>
            <a:pPr>
              <a:defRPr sz="4180">
                <a:solidFill>
                  <a:srgbClr val="000000"/>
                </a:solidFill>
              </a:defRPr>
            </a:pPr>
            <a:r>
              <a:rPr sz="2271"/>
              <a:t>Better for write-intensive workloads</a:t>
            </a:r>
          </a:p>
        </p:txBody>
      </p:sp>
      <p:sp>
        <p:nvSpPr>
          <p:cNvPr id="183" name="Slide Number"/>
          <p:cNvSpPr txBox="1">
            <a:spLocks noGrp="1"/>
          </p:cNvSpPr>
          <p:nvPr>
            <p:ph type="sldNum" sz="quarter" idx="2"/>
          </p:nvPr>
        </p:nvSpPr>
        <p:spPr>
          <a:xfrm>
            <a:off x="8534400" y="6268562"/>
            <a:ext cx="609601" cy="448628"/>
          </a:xfrm>
          <a:prstGeom prst="rect">
            <a:avLst/>
          </a:prstGeom>
          <a:extLst>
            <a:ext uri="{C572A759-6A51-4108-AA02-DFA0A04FC94B}">
              <ma14:wrappingTextBoxFlag xmlns:ma14="http://schemas.microsoft.com/office/mac/drawingml/2011/main" xmlns="" val="1"/>
            </a:ext>
          </a:extLst>
        </p:spPr>
        <p:txBody>
          <a:bodyPr>
            <a:normAutofit fontScale="92500" lnSpcReduction="10000"/>
          </a:bodyPr>
          <a:lstStyle/>
          <a:p>
            <a:pPr hangingPunct="0"/>
            <a:fld id="{86CB4B4D-7CA3-9044-876B-883B54F8677D}" type="slidenum">
              <a:rPr kern="0"/>
              <a:pPr hangingPunct="0"/>
              <a:t>48</a:t>
            </a:fld>
            <a:endParaRPr kern="0"/>
          </a:p>
        </p:txBody>
      </p:sp>
      <p:sp>
        <p:nvSpPr>
          <p:cNvPr id="184" name="Postcopy Live Migration"/>
          <p:cNvSpPr txBox="1">
            <a:spLocks noGrp="1"/>
          </p:cNvSpPr>
          <p:nvPr>
            <p:ph type="title"/>
          </p:nvPr>
        </p:nvSpPr>
        <p:spPr>
          <a:xfrm>
            <a:off x="457200" y="274638"/>
            <a:ext cx="8229601" cy="792162"/>
          </a:xfrm>
          <a:prstGeom prst="rect">
            <a:avLst/>
          </a:prstGeom>
          <a:solidFill>
            <a:srgbClr val="8EB4E3"/>
          </a:solidFill>
        </p:spPr>
        <p:txBody>
          <a:bodyPr>
            <a:normAutofit fontScale="90000"/>
          </a:bodyPr>
          <a:lstStyle/>
          <a:p>
            <a:r>
              <a:t>Postcopy Live Migration</a:t>
            </a:r>
          </a:p>
        </p:txBody>
      </p:sp>
      <p:sp>
        <p:nvSpPr>
          <p:cNvPr id="185" name="Advantage…"/>
          <p:cNvSpPr txBox="1"/>
          <p:nvPr/>
        </p:nvSpPr>
        <p:spPr>
          <a:xfrm>
            <a:off x="267009" y="3328264"/>
            <a:ext cx="4472812" cy="3030543"/>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normAutofit/>
          </a:bodyPr>
          <a:lstStyle/>
          <a:p>
            <a:pPr marL="215376" indent="-215376" defTabSz="612626" hangingPunct="0">
              <a:spcBef>
                <a:spcPts val="352"/>
              </a:spcBef>
              <a:buSzPct val="100000"/>
              <a:buFont typeface="Arial"/>
              <a:buChar char="•"/>
              <a:defRPr sz="2546" b="0">
                <a:latin typeface="Calibri"/>
                <a:ea typeface="Calibri"/>
                <a:cs typeface="Calibri"/>
                <a:sym typeface="Calibri"/>
              </a:defRPr>
            </a:pPr>
            <a:r>
              <a:rPr kern="0" dirty="0">
                <a:solidFill>
                  <a:srgbClr val="000000"/>
                </a:solidFill>
                <a:latin typeface="Calibri"/>
                <a:cs typeface="Calibri"/>
                <a:sym typeface="Calibri"/>
              </a:rPr>
              <a:t>Advantage</a:t>
            </a:r>
          </a:p>
          <a:p>
            <a:pPr marL="538441" lvl="1" indent="-323065" defTabSz="612626" hangingPunct="0">
              <a:spcBef>
                <a:spcPts val="352"/>
              </a:spcBef>
              <a:buSzPct val="100000"/>
              <a:buFont typeface="Arial"/>
              <a:buChar char="•"/>
              <a:defRPr sz="1340" b="0">
                <a:latin typeface="Calibri"/>
                <a:ea typeface="Calibri"/>
                <a:cs typeface="Calibri"/>
                <a:sym typeface="Calibri"/>
              </a:defRPr>
            </a:pPr>
            <a:r>
              <a:rPr sz="1600" kern="0" dirty="0">
                <a:solidFill>
                  <a:srgbClr val="000000"/>
                </a:solidFill>
                <a:latin typeface="Calibri"/>
                <a:cs typeface="Calibri"/>
                <a:sym typeface="Calibri"/>
              </a:rPr>
              <a:t>Lower network overhead</a:t>
            </a:r>
          </a:p>
          <a:p>
            <a:pPr marL="753817" lvl="2" indent="-323065" defTabSz="612626" hangingPunct="0">
              <a:spcBef>
                <a:spcPts val="352"/>
              </a:spcBef>
              <a:buClr>
                <a:srgbClr val="262626"/>
              </a:buClr>
              <a:buSzPct val="100000"/>
              <a:buFont typeface="Arial"/>
              <a:buChar char="•"/>
              <a:defRPr sz="1340" b="0">
                <a:latin typeface="Calibri"/>
                <a:ea typeface="Calibri"/>
                <a:cs typeface="Calibri"/>
                <a:sym typeface="Calibri"/>
              </a:defRPr>
            </a:pPr>
            <a:r>
              <a:rPr sz="1600" kern="0" dirty="0">
                <a:solidFill>
                  <a:srgbClr val="000000"/>
                </a:solidFill>
                <a:latin typeface="Calibri"/>
                <a:cs typeface="Calibri"/>
                <a:sym typeface="Calibri"/>
              </a:rPr>
              <a:t>Each page sent only once over the network</a:t>
            </a:r>
          </a:p>
          <a:p>
            <a:pPr marL="538441" lvl="1" indent="-323065" defTabSz="612626" hangingPunct="0">
              <a:spcBef>
                <a:spcPts val="352"/>
              </a:spcBef>
              <a:buClr>
                <a:srgbClr val="262626"/>
              </a:buClr>
              <a:buSzPct val="100000"/>
              <a:buFont typeface="Arial"/>
              <a:buChar char="•"/>
              <a:defRPr sz="1340" b="0">
                <a:latin typeface="Calibri"/>
                <a:ea typeface="Calibri"/>
                <a:cs typeface="Calibri"/>
                <a:sym typeface="Calibri"/>
              </a:defRPr>
            </a:pPr>
            <a:r>
              <a:rPr sz="1600" kern="0" dirty="0">
                <a:solidFill>
                  <a:srgbClr val="262626"/>
                </a:solidFill>
                <a:latin typeface="Calibri"/>
                <a:cs typeface="Calibri"/>
                <a:sym typeface="Calibri"/>
              </a:rPr>
              <a:t>Total migration time lower for </a:t>
            </a:r>
            <a:r>
              <a:rPr sz="1600" b="1" kern="0" dirty="0">
                <a:solidFill>
                  <a:srgbClr val="262626"/>
                </a:solidFill>
                <a:latin typeface="Calibri"/>
                <a:cs typeface="Calibri"/>
                <a:sym typeface="Calibri"/>
              </a:rPr>
              <a:t>write-intensive workloads.</a:t>
            </a:r>
          </a:p>
          <a:p>
            <a:pPr marL="215376" indent="-215376" defTabSz="612626" hangingPunct="0">
              <a:spcBef>
                <a:spcPts val="422"/>
              </a:spcBef>
              <a:buSzPct val="100000"/>
              <a:buFontTx/>
              <a:buChar char="»"/>
              <a:defRPr sz="1876" b="0">
                <a:latin typeface="Arial"/>
                <a:ea typeface="Arial"/>
                <a:cs typeface="Arial"/>
                <a:sym typeface="Arial"/>
              </a:defRPr>
            </a:pPr>
            <a:endParaRPr sz="1600" kern="0" dirty="0">
              <a:solidFill>
                <a:srgbClr val="262626"/>
              </a:solidFill>
              <a:latin typeface="Arial"/>
              <a:cs typeface="Arial"/>
              <a:sym typeface="Arial"/>
            </a:endParaRPr>
          </a:p>
          <a:p>
            <a:pPr marL="215937" indent="-215937" defTabSz="612626" hangingPunct="0">
              <a:spcBef>
                <a:spcPts val="422"/>
              </a:spcBef>
              <a:buSzPct val="145000"/>
              <a:buFontTx/>
              <a:buChar char="•"/>
              <a:defRPr sz="2345" b="0">
                <a:latin typeface="Arial"/>
                <a:ea typeface="Arial"/>
                <a:cs typeface="Arial"/>
                <a:sym typeface="Arial"/>
              </a:defRPr>
            </a:pPr>
            <a:r>
              <a:rPr kern="0" dirty="0">
                <a:solidFill>
                  <a:srgbClr val="000000"/>
                </a:solidFill>
                <a:latin typeface="Arial"/>
                <a:cs typeface="Arial"/>
                <a:sym typeface="Arial"/>
              </a:rPr>
              <a:t>Disadvantage</a:t>
            </a:r>
          </a:p>
          <a:p>
            <a:pPr marL="392613" lvl="1" indent="-183219" defTabSz="612626" hangingPunct="0">
              <a:spcBef>
                <a:spcPts val="422"/>
              </a:spcBef>
              <a:buSzPct val="145000"/>
              <a:buFontTx/>
              <a:buChar char="•"/>
              <a:defRPr sz="1876" b="0">
                <a:latin typeface="Arial"/>
                <a:ea typeface="Arial"/>
                <a:cs typeface="Arial"/>
                <a:sym typeface="Arial"/>
              </a:defRPr>
            </a:pPr>
            <a:r>
              <a:rPr sz="1400" kern="0" dirty="0">
                <a:solidFill>
                  <a:srgbClr val="000000"/>
                </a:solidFill>
                <a:latin typeface="Arial"/>
                <a:cs typeface="Arial"/>
                <a:sym typeface="Arial"/>
              </a:rPr>
              <a:t>Cold start penalty at the destination till working set is fetched over the network</a:t>
            </a:r>
            <a:endParaRPr kern="0" dirty="0">
              <a:solidFill>
                <a:srgbClr val="000000"/>
              </a:solidFill>
              <a:latin typeface="Arial"/>
              <a:cs typeface="Arial"/>
              <a:sym typeface="Arial"/>
            </a:endParaRPr>
          </a:p>
          <a:p>
            <a:pPr marL="215376" indent="-215376" defTabSz="612626" hangingPunct="0">
              <a:spcBef>
                <a:spcPts val="281"/>
              </a:spcBef>
              <a:buSzPct val="100000"/>
              <a:buFont typeface="Arial"/>
              <a:buChar char="•"/>
              <a:defRPr sz="1608" b="0">
                <a:latin typeface="Calibri"/>
                <a:ea typeface="Calibri"/>
                <a:cs typeface="Calibri"/>
                <a:sym typeface="Calibri"/>
              </a:defRPr>
            </a:pPr>
            <a:endParaRPr sz="1602" kern="0" dirty="0">
              <a:solidFill>
                <a:srgbClr val="000000"/>
              </a:solidFill>
              <a:latin typeface="Calibri"/>
              <a:cs typeface="Calibri"/>
              <a:sym typeface="Calibri"/>
            </a:endParaRPr>
          </a:p>
        </p:txBody>
      </p:sp>
      <p:grpSp>
        <p:nvGrpSpPr>
          <p:cNvPr id="197" name="Group"/>
          <p:cNvGrpSpPr/>
          <p:nvPr/>
        </p:nvGrpSpPr>
        <p:grpSpPr>
          <a:xfrm>
            <a:off x="609600" y="1676400"/>
            <a:ext cx="7086602" cy="1949565"/>
            <a:chOff x="0" y="0"/>
            <a:chExt cx="10078722" cy="2772715"/>
          </a:xfrm>
        </p:grpSpPr>
        <p:grpSp>
          <p:nvGrpSpPr>
            <p:cNvPr id="188" name="Group"/>
            <p:cNvGrpSpPr/>
            <p:nvPr/>
          </p:nvGrpSpPr>
          <p:grpSpPr>
            <a:xfrm>
              <a:off x="3901440" y="866986"/>
              <a:ext cx="6177282" cy="650242"/>
              <a:chOff x="0" y="0"/>
              <a:chExt cx="6177281" cy="650241"/>
            </a:xfrm>
          </p:grpSpPr>
          <p:sp>
            <p:nvSpPr>
              <p:cNvPr id="186" name="Rectangle"/>
              <p:cNvSpPr/>
              <p:nvPr/>
            </p:nvSpPr>
            <p:spPr>
              <a:xfrm>
                <a:off x="0" y="0"/>
                <a:ext cx="6177281" cy="650241"/>
              </a:xfrm>
              <a:prstGeom prst="rect">
                <a:avLst/>
              </a:prstGeom>
              <a:solidFill>
                <a:srgbClr val="B9CDE5"/>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a:solidFill>
                      <a:srgbClr val="17375E"/>
                    </a:solidFill>
                    <a:latin typeface="Calibri"/>
                    <a:ea typeface="Calibri"/>
                    <a:cs typeface="Calibri"/>
                    <a:sym typeface="Calibri"/>
                  </a:defRPr>
                </a:pPr>
                <a:endParaRPr sz="1687" b="1" kern="0">
                  <a:solidFill>
                    <a:srgbClr val="17375E"/>
                  </a:solidFill>
                  <a:latin typeface="Calibri"/>
                  <a:cs typeface="Calibri"/>
                  <a:sym typeface="Calibri"/>
                </a:endParaRPr>
              </a:p>
            </p:txBody>
          </p:sp>
          <p:sp>
            <p:nvSpPr>
              <p:cNvPr id="187" name="Active Push  + Demand Paging"/>
              <p:cNvSpPr txBox="1"/>
              <p:nvPr/>
            </p:nvSpPr>
            <p:spPr>
              <a:xfrm>
                <a:off x="0" y="74842"/>
                <a:ext cx="6177281"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lvl1pPr defTabSz="1300480">
                  <a:defRPr>
                    <a:solidFill>
                      <a:srgbClr val="0D0D0D"/>
                    </a:solidFill>
                    <a:latin typeface="Calibri"/>
                    <a:ea typeface="Calibri"/>
                    <a:cs typeface="Calibri"/>
                    <a:sym typeface="Calibri"/>
                  </a:defRPr>
                </a:lvl1pPr>
              </a:lstStyle>
              <a:p>
                <a:pPr algn="ctr" defTabSz="914367" hangingPunct="0">
                  <a:defRPr b="0">
                    <a:solidFill>
                      <a:srgbClr val="FFFFFF"/>
                    </a:solidFill>
                  </a:defRPr>
                </a:pPr>
                <a:r>
                  <a:rPr sz="1687" b="1" kern="0"/>
                  <a:t>Active Push  + Demand Paging</a:t>
                </a:r>
              </a:p>
            </p:txBody>
          </p:sp>
        </p:grpSp>
        <p:sp>
          <p:nvSpPr>
            <p:cNvPr id="189" name="Rectangle"/>
            <p:cNvSpPr/>
            <p:nvPr/>
          </p:nvSpPr>
          <p:spPr>
            <a:xfrm>
              <a:off x="2167466" y="866986"/>
              <a:ext cx="1733975" cy="650241"/>
            </a:xfrm>
            <a:prstGeom prst="rect">
              <a:avLst/>
            </a:prstGeom>
            <a:solidFill>
              <a:srgbClr val="376092"/>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190" name="Downtime"/>
            <p:cNvSpPr txBox="1"/>
            <p:nvPr/>
          </p:nvSpPr>
          <p:spPr>
            <a:xfrm>
              <a:off x="2167466" y="325120"/>
              <a:ext cx="1653606"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lvl1pPr defTabSz="1300480">
                <a:defRPr b="0">
                  <a:latin typeface="Calibri"/>
                  <a:ea typeface="Calibri"/>
                  <a:cs typeface="Calibri"/>
                  <a:sym typeface="Calibri"/>
                </a:defRPr>
              </a:lvl1pPr>
            </a:lstStyle>
            <a:p>
              <a:pPr algn="ctr" defTabSz="914367" hangingPunct="0"/>
              <a:r>
                <a:rPr sz="1687" kern="0">
                  <a:solidFill>
                    <a:srgbClr val="000000"/>
                  </a:solidFill>
                </a:rPr>
                <a:t>Downtime</a:t>
              </a:r>
            </a:p>
          </p:txBody>
        </p:sp>
        <p:sp>
          <p:nvSpPr>
            <p:cNvPr id="191" name="Rectangle"/>
            <p:cNvSpPr/>
            <p:nvPr/>
          </p:nvSpPr>
          <p:spPr>
            <a:xfrm>
              <a:off x="1950720" y="866986"/>
              <a:ext cx="216747" cy="650241"/>
            </a:xfrm>
            <a:prstGeom prst="rect">
              <a:avLst/>
            </a:prstGeom>
            <a:solidFill>
              <a:srgbClr val="B9CDE5"/>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192" name="Resume Time (live)"/>
            <p:cNvSpPr txBox="1"/>
            <p:nvPr/>
          </p:nvSpPr>
          <p:spPr>
            <a:xfrm>
              <a:off x="4876800" y="0"/>
              <a:ext cx="2513735"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Resume Time (live)</a:t>
              </a:r>
            </a:p>
          </p:txBody>
        </p:sp>
        <p:sp>
          <p:nvSpPr>
            <p:cNvPr id="193" name="Line"/>
            <p:cNvSpPr/>
            <p:nvPr/>
          </p:nvSpPr>
          <p:spPr>
            <a:xfrm>
              <a:off x="1408853" y="541866"/>
              <a:ext cx="650241" cy="325121"/>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194" name="Preparation…"/>
            <p:cNvSpPr txBox="1"/>
            <p:nvPr/>
          </p:nvSpPr>
          <p:spPr>
            <a:xfrm>
              <a:off x="0" y="0"/>
              <a:ext cx="1950721" cy="86979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p>
              <a:pPr algn="ctr" defTabSz="914367" hangingPunct="0">
                <a:defRPr b="0">
                  <a:latin typeface="Calibri"/>
                  <a:ea typeface="Calibri"/>
                  <a:cs typeface="Calibri"/>
                  <a:sym typeface="Calibri"/>
                </a:defRPr>
              </a:pPr>
              <a:r>
                <a:rPr sz="1687" kern="0">
                  <a:solidFill>
                    <a:srgbClr val="000000"/>
                  </a:solidFill>
                  <a:latin typeface="Calibri"/>
                  <a:cs typeface="Calibri"/>
                  <a:sym typeface="Calibri"/>
                </a:rPr>
                <a:t>Preparation</a:t>
              </a:r>
            </a:p>
            <a:p>
              <a:pPr algn="ctr" defTabSz="914367" hangingPunct="0">
                <a:defRPr b="0">
                  <a:latin typeface="Calibri"/>
                  <a:ea typeface="Calibri"/>
                  <a:cs typeface="Calibri"/>
                  <a:sym typeface="Calibri"/>
                </a:defRPr>
              </a:pPr>
              <a:r>
                <a:rPr sz="1687" kern="0">
                  <a:solidFill>
                    <a:srgbClr val="000000"/>
                  </a:solidFill>
                  <a:latin typeface="Calibri"/>
                  <a:cs typeface="Calibri"/>
                  <a:sym typeface="Calibri"/>
                </a:rPr>
                <a:t>(live)</a:t>
              </a:r>
            </a:p>
          </p:txBody>
        </p:sp>
        <p:sp>
          <p:nvSpPr>
            <p:cNvPr id="195" name="(Non-pageable…"/>
            <p:cNvSpPr txBox="1"/>
            <p:nvPr/>
          </p:nvSpPr>
          <p:spPr>
            <a:xfrm>
              <a:off x="1893261" y="1625600"/>
              <a:ext cx="2345027" cy="114711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p>
              <a:pPr algn="ctr" defTabSz="914367" hangingPunct="0">
                <a:defRPr b="0">
                  <a:latin typeface="Calibri"/>
                  <a:ea typeface="Calibri"/>
                  <a:cs typeface="Calibri"/>
                  <a:sym typeface="Calibri"/>
                </a:defRPr>
              </a:pPr>
              <a:r>
                <a:rPr sz="1547" kern="0" dirty="0">
                  <a:solidFill>
                    <a:srgbClr val="000000"/>
                  </a:solidFill>
                  <a:latin typeface="Calibri"/>
                  <a:cs typeface="Calibri"/>
                  <a:sym typeface="Calibri"/>
                </a:rPr>
                <a:t>(Non-pageable</a:t>
              </a:r>
            </a:p>
            <a:p>
              <a:pPr algn="ctr" defTabSz="914367" hangingPunct="0">
                <a:defRPr b="0">
                  <a:latin typeface="Calibri"/>
                  <a:ea typeface="Calibri"/>
                  <a:cs typeface="Calibri"/>
                  <a:sym typeface="Calibri"/>
                </a:defRPr>
              </a:pPr>
              <a:r>
                <a:rPr sz="1547" kern="0" dirty="0">
                  <a:solidFill>
                    <a:srgbClr val="000000"/>
                  </a:solidFill>
                  <a:latin typeface="Calibri"/>
                  <a:cs typeface="Calibri"/>
                  <a:sym typeface="Calibri"/>
                </a:rPr>
                <a:t>Memory</a:t>
              </a:r>
              <a:r>
                <a:rPr lang="en-US" sz="1547" kern="0" dirty="0">
                  <a:solidFill>
                    <a:srgbClr val="000000"/>
                  </a:solidFill>
                  <a:latin typeface="Calibri"/>
                  <a:cs typeface="Calibri"/>
                  <a:sym typeface="Calibri"/>
                </a:rPr>
                <a:t> e.g. guest </a:t>
              </a:r>
            </a:p>
            <a:p>
              <a:pPr algn="ctr" defTabSz="914367" hangingPunct="0">
                <a:defRPr b="0">
                  <a:latin typeface="Calibri"/>
                  <a:ea typeface="Calibri"/>
                  <a:cs typeface="Calibri"/>
                  <a:sym typeface="Calibri"/>
                </a:defRPr>
              </a:pPr>
              <a:r>
                <a:rPr lang="en-US" sz="1547" kern="0" dirty="0">
                  <a:solidFill>
                    <a:srgbClr val="000000"/>
                  </a:solidFill>
                  <a:latin typeface="Calibri"/>
                  <a:cs typeface="Calibri"/>
                  <a:sym typeface="Calibri"/>
                </a:rPr>
                <a:t>Kernel memory</a:t>
              </a:r>
              <a:r>
                <a:rPr sz="1547" kern="0" dirty="0">
                  <a:solidFill>
                    <a:srgbClr val="000000"/>
                  </a:solidFill>
                  <a:latin typeface="Calibri"/>
                  <a:cs typeface="Calibri"/>
                  <a:sym typeface="Calibri"/>
                </a:rPr>
                <a:t>)</a:t>
              </a:r>
            </a:p>
          </p:txBody>
        </p:sp>
        <p:sp>
          <p:nvSpPr>
            <p:cNvPr id="196" name="Line"/>
            <p:cNvSpPr/>
            <p:nvPr/>
          </p:nvSpPr>
          <p:spPr>
            <a:xfrm>
              <a:off x="6275793" y="525272"/>
              <a:ext cx="714288" cy="341715"/>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grpSp>
    </p:spTree>
    <p:extLst>
      <p:ext uri="{BB962C8B-B14F-4D97-AF65-F5344CB8AC3E}">
        <p14:creationId xmlns:p14="http://schemas.microsoft.com/office/powerpoint/2010/main" val="404870909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58"/>
          <p:cNvSpPr txBox="1">
            <a:spLocks noGrp="1"/>
          </p:cNvSpPr>
          <p:nvPr>
            <p:ph type="sldNum" sz="quarter" idx="4294967295"/>
          </p:nvPr>
        </p:nvSpPr>
        <p:spPr>
          <a:xfrm>
            <a:off x="8504702" y="6245225"/>
            <a:ext cx="182099" cy="287128"/>
          </a:xfrm>
          <a:prstGeom prst="rect">
            <a:avLst/>
          </a:prstGeom>
          <a:extLst>
            <a:ext uri="{C572A759-6A51-4108-AA02-DFA0A04FC94B}">
              <ma14:wrappingTextBoxFlag xmlns:ma14="http://schemas.microsoft.com/office/mac/drawingml/2011/main" xmlns="" val="1"/>
            </a:ext>
          </a:extLst>
        </p:spPr>
        <p:txBody>
          <a:bodyPr wrap="none" lIns="45719" tIns="45719" rIns="45719" bIns="45719">
            <a:spAutoFit/>
          </a:bodyPr>
          <a:lstStyle>
            <a:lvl1pPr algn="r" defTabSz="914367">
              <a:defRPr sz="1266">
                <a:latin typeface="Arial"/>
                <a:ea typeface="Arial"/>
                <a:cs typeface="Arial"/>
                <a:sym typeface="Arial"/>
              </a:defRPr>
            </a:lvl1pPr>
          </a:lstStyle>
          <a:p>
            <a:pPr hangingPunct="0"/>
            <a:fld id="{86CB4B4D-7CA3-9044-876B-883B54F8677D}" type="slidenum">
              <a:rPr kern="0">
                <a:solidFill>
                  <a:srgbClr val="000000"/>
                </a:solidFill>
              </a:rPr>
              <a:pPr hangingPunct="0"/>
              <a:t>49</a:t>
            </a:fld>
            <a:endParaRPr kern="0">
              <a:solidFill>
                <a:srgbClr val="000000"/>
              </a:solidFill>
            </a:endParaRPr>
          </a:p>
        </p:txBody>
      </p:sp>
      <p:sp>
        <p:nvSpPr>
          <p:cNvPr id="200" name="Shape 60"/>
          <p:cNvSpPr txBox="1">
            <a:spLocks noGrp="1"/>
          </p:cNvSpPr>
          <p:nvPr>
            <p:ph type="body" idx="1"/>
          </p:nvPr>
        </p:nvSpPr>
        <p:spPr>
          <a:prstGeom prst="rect">
            <a:avLst/>
          </a:prstGeom>
        </p:spPr>
        <p:txBody>
          <a:bodyPr>
            <a:normAutofit fontScale="92500" lnSpcReduction="20000"/>
          </a:bodyPr>
          <a:lstStyle/>
          <a:p>
            <a:pPr marL="390660" indent="-390660">
              <a:buAutoNum type="arabicPeriod"/>
              <a:defRPr sz="2800"/>
            </a:pPr>
            <a:r>
              <a:rPr dirty="0"/>
              <a:t>First, freeze the VM at the source</a:t>
            </a:r>
          </a:p>
          <a:p>
            <a:pPr marL="390660" indent="-390660">
              <a:buAutoNum type="arabicPeriod"/>
              <a:defRPr sz="2800"/>
            </a:pPr>
            <a:r>
              <a:rPr dirty="0"/>
              <a:t>Migrate CPU state and minimum state to destination</a:t>
            </a:r>
          </a:p>
          <a:p>
            <a:pPr marL="390660" indent="-390660">
              <a:buAutoNum type="arabicPeriod"/>
              <a:defRPr sz="2800"/>
            </a:pPr>
            <a:r>
              <a:rPr dirty="0"/>
              <a:t>Start VM at the target </a:t>
            </a:r>
          </a:p>
          <a:p>
            <a:pPr marL="585990" lvl="1" indent="-273462">
              <a:buSzPct val="145000"/>
              <a:buChar char="•"/>
              <a:defRPr sz="2800"/>
            </a:pPr>
            <a:r>
              <a:rPr dirty="0"/>
              <a:t>but without its memory!</a:t>
            </a:r>
          </a:p>
          <a:p>
            <a:pPr marL="390660" indent="-390660">
              <a:buAutoNum type="arabicPeriod"/>
              <a:defRPr sz="2800"/>
            </a:pPr>
            <a:endParaRPr dirty="0"/>
          </a:p>
          <a:p>
            <a:pPr marL="390660" indent="-390660">
              <a:buAutoNum type="arabicPeriod" startAt="5"/>
              <a:defRPr sz="2800"/>
            </a:pPr>
            <a:r>
              <a:rPr dirty="0"/>
              <a:t>Fetch memory by one of two ways</a:t>
            </a:r>
          </a:p>
          <a:p>
            <a:pPr marL="585990" lvl="1" indent="-273462">
              <a:buSzPct val="145000"/>
              <a:buChar char="•"/>
              <a:defRPr sz="2800"/>
            </a:pPr>
            <a:r>
              <a:rPr dirty="0"/>
              <a:t>Demand paging over network</a:t>
            </a:r>
          </a:p>
          <a:p>
            <a:pPr marL="585990" lvl="1" indent="-273462">
              <a:buSzPct val="145000"/>
              <a:buChar char="•"/>
              <a:defRPr sz="2800"/>
            </a:pPr>
            <a:r>
              <a:rPr dirty="0"/>
              <a:t>Actively pushing from source</a:t>
            </a:r>
          </a:p>
          <a:p>
            <a:pPr marL="390660" indent="-390660">
              <a:buAutoNum type="arabicPeriod" startAt="5"/>
              <a:defRPr sz="2800"/>
            </a:pPr>
            <a:endParaRPr dirty="0"/>
          </a:p>
          <a:p>
            <a:pPr marL="390660" indent="-390660">
              <a:buAutoNum type="arabicPeriod" startAt="7"/>
              <a:defRPr sz="2800"/>
            </a:pPr>
            <a:r>
              <a:rPr i="1" dirty="0"/>
              <a:t>Hopefully</a:t>
            </a:r>
            <a:r>
              <a:rPr dirty="0"/>
              <a:t> pages will be pushed BEFORE they are demand paged </a:t>
            </a:r>
          </a:p>
          <a:p>
            <a:pPr marL="585990" lvl="1" indent="-273462">
              <a:buSzPct val="145000"/>
              <a:buChar char="•"/>
              <a:defRPr sz="2800"/>
            </a:pPr>
            <a:r>
              <a:rPr dirty="0"/>
              <a:t>Causing few network-bound page faults from destination</a:t>
            </a:r>
          </a:p>
        </p:txBody>
      </p:sp>
      <p:sp>
        <p:nvSpPr>
          <p:cNvPr id="201" name="Shape 59"/>
          <p:cNvSpPr txBox="1">
            <a:spLocks noGrp="1"/>
          </p:cNvSpPr>
          <p:nvPr>
            <p:ph type="title"/>
          </p:nvPr>
        </p:nvSpPr>
        <p:spPr>
          <a:xfrm>
            <a:off x="457200" y="274638"/>
            <a:ext cx="8229601" cy="792162"/>
          </a:xfrm>
          <a:prstGeom prst="rect">
            <a:avLst/>
          </a:prstGeom>
          <a:solidFill>
            <a:srgbClr val="8EB4E3"/>
          </a:solidFill>
        </p:spPr>
        <p:txBody>
          <a:bodyPr lIns="45719" tIns="45719" rIns="45719" bIns="45719" anchor="ctr">
            <a:normAutofit/>
          </a:bodyPr>
          <a:lstStyle/>
          <a:p>
            <a:r>
              <a:t>Stages of Postcopy Migration</a:t>
            </a:r>
          </a:p>
        </p:txBody>
      </p:sp>
    </p:spTree>
    <p:extLst>
      <p:ext uri="{BB962C8B-B14F-4D97-AF65-F5344CB8AC3E}">
        <p14:creationId xmlns:p14="http://schemas.microsoft.com/office/powerpoint/2010/main" val="126793184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repaging strategies for Post-copy"/>
          <p:cNvSpPr txBox="1">
            <a:spLocks noGrp="1"/>
          </p:cNvSpPr>
          <p:nvPr>
            <p:ph type="title"/>
          </p:nvPr>
        </p:nvSpPr>
        <p:spPr>
          <a:xfrm>
            <a:off x="457200" y="274638"/>
            <a:ext cx="8229601" cy="1143001"/>
          </a:xfrm>
          <a:prstGeom prst="rect">
            <a:avLst/>
          </a:prstGeom>
          <a:solidFill>
            <a:srgbClr val="8EB4E3"/>
          </a:solidFill>
        </p:spPr>
        <p:txBody>
          <a:bodyPr/>
          <a:lstStyle>
            <a:lvl1pPr>
              <a:defRPr sz="5000"/>
            </a:lvl1pPr>
          </a:lstStyle>
          <a:p>
            <a:pPr>
              <a:defRPr sz="7000"/>
            </a:pPr>
            <a:r>
              <a:rPr sz="3516"/>
              <a:t>Prepaging strategies for Post-copy</a:t>
            </a:r>
          </a:p>
        </p:txBody>
      </p:sp>
      <p:sp>
        <p:nvSpPr>
          <p:cNvPr id="204" name="Slide Number"/>
          <p:cNvSpPr txBox="1">
            <a:spLocks noGrp="1"/>
          </p:cNvSpPr>
          <p:nvPr>
            <p:ph type="sldNum" sz="quarter" idx="2"/>
          </p:nvPr>
        </p:nvSpPr>
        <p:spPr>
          <a:xfrm>
            <a:off x="7010400" y="6268562"/>
            <a:ext cx="2133601" cy="448628"/>
          </a:xfrm>
          <a:prstGeom prst="rect">
            <a:avLst/>
          </a:prstGeom>
          <a:extLst>
            <a:ext uri="{C572A759-6A51-4108-AA02-DFA0A04FC94B}">
              <ma14:wrappingTextBoxFlag xmlns:ma14="http://schemas.microsoft.com/office/mac/drawingml/2011/main" xmlns="" val="1"/>
            </a:ext>
          </a:extLst>
        </p:spPr>
        <p:txBody>
          <a:bodyPr>
            <a:normAutofit fontScale="92500" lnSpcReduction="10000"/>
          </a:bodyPr>
          <a:lstStyle/>
          <a:p>
            <a:pPr hangingPunct="0"/>
            <a:fld id="{86CB4B4D-7CA3-9044-876B-883B54F8677D}" type="slidenum">
              <a:rPr kern="0"/>
              <a:pPr hangingPunct="0"/>
              <a:t>50</a:t>
            </a:fld>
            <a:endParaRPr kern="0"/>
          </a:p>
        </p:txBody>
      </p:sp>
      <p:sp>
        <p:nvSpPr>
          <p:cNvPr id="205" name="Reduce number of network-bound demand paging faults.…"/>
          <p:cNvSpPr txBox="1">
            <a:spLocks noGrp="1"/>
          </p:cNvSpPr>
          <p:nvPr>
            <p:ph type="body" sz="half" idx="1"/>
          </p:nvPr>
        </p:nvSpPr>
        <p:spPr>
          <a:xfrm>
            <a:off x="457200" y="1600201"/>
            <a:ext cx="8229601" cy="2362200"/>
          </a:xfrm>
          <a:prstGeom prst="rect">
            <a:avLst/>
          </a:prstGeom>
        </p:spPr>
        <p:txBody>
          <a:bodyPr/>
          <a:lstStyle/>
          <a:p>
            <a:endParaRPr sz="2953" dirty="0"/>
          </a:p>
          <a:p>
            <a:pPr marL="274100" indent="-258313">
              <a:spcBef>
                <a:spcPts val="562"/>
              </a:spcBef>
              <a:defRPr sz="3800"/>
            </a:pPr>
            <a:r>
              <a:rPr lang="en-US" sz="2531" dirty="0"/>
              <a:t>Goal: </a:t>
            </a:r>
            <a:r>
              <a:rPr sz="2531" dirty="0"/>
              <a:t>Reduce number of network-bound demand paging faults.</a:t>
            </a:r>
          </a:p>
          <a:p>
            <a:pPr marL="579771" lvl="1" indent="-258313">
              <a:spcBef>
                <a:spcPts val="562"/>
              </a:spcBef>
              <a:buClr>
                <a:srgbClr val="00B050"/>
              </a:buClr>
              <a:defRPr sz="3800"/>
            </a:pPr>
            <a:r>
              <a:rPr sz="2531" b="1" dirty="0">
                <a:solidFill>
                  <a:srgbClr val="00B050"/>
                </a:solidFill>
              </a:rPr>
              <a:t>Bubbling</a:t>
            </a:r>
            <a:r>
              <a:rPr sz="2531" dirty="0"/>
              <a:t>: To proactively push pages around the faulted page</a:t>
            </a:r>
          </a:p>
        </p:txBody>
      </p:sp>
      <p:grpSp>
        <p:nvGrpSpPr>
          <p:cNvPr id="208" name="Group"/>
          <p:cNvGrpSpPr/>
          <p:nvPr/>
        </p:nvGrpSpPr>
        <p:grpSpPr>
          <a:xfrm>
            <a:off x="1676400" y="4419600"/>
            <a:ext cx="6248401" cy="457201"/>
            <a:chOff x="0" y="0"/>
            <a:chExt cx="8886614" cy="650241"/>
          </a:xfrm>
        </p:grpSpPr>
        <p:sp>
          <p:nvSpPr>
            <p:cNvPr id="206" name="Rectangle"/>
            <p:cNvSpPr/>
            <p:nvPr/>
          </p:nvSpPr>
          <p:spPr>
            <a:xfrm>
              <a:off x="0" y="0"/>
              <a:ext cx="8886614" cy="650241"/>
            </a:xfrm>
            <a:prstGeom prst="rect">
              <a:avLst/>
            </a:prstGeom>
            <a:solidFill>
              <a:srgbClr val="4F81BD"/>
            </a:solidFill>
            <a:ln w="12700" cap="flat">
              <a:noFill/>
              <a:miter lim="400000"/>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207" name="VM Memory Pages"/>
            <p:cNvSpPr txBox="1"/>
            <p:nvPr/>
          </p:nvSpPr>
          <p:spPr>
            <a:xfrm>
              <a:off x="0" y="74842"/>
              <a:ext cx="8886614"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lvl1pPr defTabSz="1300480">
                <a:defRPr b="0">
                  <a:solidFill>
                    <a:srgbClr val="FFFFFF"/>
                  </a:solidFill>
                  <a:latin typeface="Calibri"/>
                  <a:ea typeface="Calibri"/>
                  <a:cs typeface="Calibri"/>
                  <a:sym typeface="Calibri"/>
                </a:defRPr>
              </a:lvl1pPr>
            </a:lstStyle>
            <a:p>
              <a:pPr algn="ctr" defTabSz="914367" hangingPunct="0"/>
              <a:r>
                <a:rPr sz="1687" kern="0"/>
                <a:t>VM Memory Pages</a:t>
              </a:r>
            </a:p>
          </p:txBody>
        </p:sp>
      </p:grpSp>
      <p:sp>
        <p:nvSpPr>
          <p:cNvPr id="209" name="Line"/>
          <p:cNvSpPr/>
          <p:nvPr/>
        </p:nvSpPr>
        <p:spPr>
          <a:xfrm>
            <a:off x="3200400" y="4419600"/>
            <a:ext cx="1" cy="457201"/>
          </a:xfrm>
          <a:prstGeom prst="line">
            <a:avLst/>
          </a:prstGeom>
          <a:ln w="25400">
            <a:solidFill>
              <a:srgbClr val="000000"/>
            </a:solidFill>
            <a:bevel/>
          </a:ln>
          <a:effectLst>
            <a:outerShdw blurRad="50800" dist="25400" dir="5400000" rotWithShape="0">
              <a:srgbClr val="000000">
                <a:alpha val="38000"/>
              </a:srgbClr>
            </a:outerShdw>
          </a:effectLst>
        </p:spPr>
        <p:txBody>
          <a:bodyPr lIns="45719" tIns="45719" rIns="45719" bIns="45719"/>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10" name="Max"/>
          <p:cNvSpPr txBox="1"/>
          <p:nvPr/>
        </p:nvSpPr>
        <p:spPr>
          <a:xfrm>
            <a:off x="7543800" y="4876800"/>
            <a:ext cx="523539" cy="351954"/>
          </a:xfrm>
          <a:prstGeom prst="rect">
            <a:avLst/>
          </a:prstGeom>
          <a:ln w="12700">
            <a:miter lim="400000"/>
          </a:ln>
          <a:extLst>
            <a:ext uri="{C572A759-6A51-4108-AA02-DFA0A04FC94B}">
              <ma14:wrappingTextBoxFlag xmlns:ma14="http://schemas.microsoft.com/office/mac/drawingml/2011/main" xmlns="" val="1"/>
            </a:ext>
          </a:extLst>
        </p:spPr>
        <p:txBody>
          <a:bodyPr wrap="none" lIns="45719" tIns="45719" rIns="45719" bIns="45719">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 Max</a:t>
            </a:r>
          </a:p>
        </p:txBody>
      </p:sp>
      <p:sp>
        <p:nvSpPr>
          <p:cNvPr id="211" name="0"/>
          <p:cNvSpPr txBox="1"/>
          <p:nvPr/>
        </p:nvSpPr>
        <p:spPr>
          <a:xfrm>
            <a:off x="1524000" y="4876800"/>
            <a:ext cx="201335" cy="351954"/>
          </a:xfrm>
          <a:prstGeom prst="rect">
            <a:avLst/>
          </a:prstGeom>
          <a:ln w="12700">
            <a:miter lim="400000"/>
          </a:ln>
          <a:extLst>
            <a:ext uri="{C572A759-6A51-4108-AA02-DFA0A04FC94B}">
              <ma14:wrappingTextBoxFlag xmlns:ma14="http://schemas.microsoft.com/office/mac/drawingml/2011/main" xmlns="" val="1"/>
            </a:ext>
          </a:extLst>
        </p:spPr>
        <p:txBody>
          <a:bodyPr wrap="none" lIns="45719" tIns="45719" rIns="45719" bIns="45719">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0</a:t>
            </a:r>
          </a:p>
        </p:txBody>
      </p:sp>
      <p:sp>
        <p:nvSpPr>
          <p:cNvPr id="212" name="Pivot"/>
          <p:cNvSpPr txBox="1"/>
          <p:nvPr/>
        </p:nvSpPr>
        <p:spPr>
          <a:xfrm>
            <a:off x="2895600" y="4038600"/>
            <a:ext cx="537966" cy="351954"/>
          </a:xfrm>
          <a:prstGeom prst="rect">
            <a:avLst/>
          </a:prstGeom>
          <a:ln w="12700">
            <a:miter lim="400000"/>
          </a:ln>
          <a:extLst>
            <a:ext uri="{C572A759-6A51-4108-AA02-DFA0A04FC94B}">
              <ma14:wrappingTextBoxFlag xmlns:ma14="http://schemas.microsoft.com/office/mac/drawingml/2011/main" xmlns="" val="1"/>
            </a:ext>
          </a:extLst>
        </p:spPr>
        <p:txBody>
          <a:bodyPr wrap="none" lIns="45719" tIns="45719" rIns="45719" bIns="45719">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Pivot</a:t>
            </a:r>
          </a:p>
        </p:txBody>
      </p:sp>
    </p:spTree>
    <p:extLst>
      <p:ext uri="{BB962C8B-B14F-4D97-AF65-F5344CB8AC3E}">
        <p14:creationId xmlns:p14="http://schemas.microsoft.com/office/powerpoint/2010/main" val="33284106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repaging strategies for Post-copy"/>
          <p:cNvSpPr txBox="1">
            <a:spLocks noGrp="1"/>
          </p:cNvSpPr>
          <p:nvPr>
            <p:ph type="title"/>
          </p:nvPr>
        </p:nvSpPr>
        <p:spPr>
          <a:xfrm>
            <a:off x="457200" y="274638"/>
            <a:ext cx="8229601" cy="1143001"/>
          </a:xfrm>
          <a:prstGeom prst="rect">
            <a:avLst/>
          </a:prstGeom>
          <a:solidFill>
            <a:srgbClr val="8EB4E3"/>
          </a:solidFill>
        </p:spPr>
        <p:txBody>
          <a:bodyPr/>
          <a:lstStyle>
            <a:lvl1pPr>
              <a:defRPr sz="5000"/>
            </a:lvl1pPr>
          </a:lstStyle>
          <a:p>
            <a:pPr>
              <a:defRPr sz="6200"/>
            </a:pPr>
            <a:r>
              <a:rPr sz="3516"/>
              <a:t>Prepaging strategies for Post-copy</a:t>
            </a:r>
          </a:p>
        </p:txBody>
      </p:sp>
      <p:sp>
        <p:nvSpPr>
          <p:cNvPr id="215" name="Slide Number"/>
          <p:cNvSpPr txBox="1">
            <a:spLocks noGrp="1"/>
          </p:cNvSpPr>
          <p:nvPr>
            <p:ph type="sldNum" sz="quarter" idx="2"/>
          </p:nvPr>
        </p:nvSpPr>
        <p:spPr>
          <a:xfrm>
            <a:off x="7010400" y="6268562"/>
            <a:ext cx="2133601" cy="448628"/>
          </a:xfrm>
          <a:prstGeom prst="rect">
            <a:avLst/>
          </a:prstGeom>
          <a:extLst>
            <a:ext uri="{C572A759-6A51-4108-AA02-DFA0A04FC94B}">
              <ma14:wrappingTextBoxFlag xmlns:ma14="http://schemas.microsoft.com/office/mac/drawingml/2011/main" xmlns="" val="1"/>
            </a:ext>
          </a:extLst>
        </p:spPr>
        <p:txBody>
          <a:bodyPr>
            <a:normAutofit fontScale="92500" lnSpcReduction="10000"/>
          </a:bodyPr>
          <a:lstStyle/>
          <a:p>
            <a:pPr hangingPunct="0"/>
            <a:fld id="{86CB4B4D-7CA3-9044-876B-883B54F8677D}" type="slidenum">
              <a:rPr kern="0"/>
              <a:pPr hangingPunct="0"/>
              <a:t>51</a:t>
            </a:fld>
            <a:endParaRPr kern="0"/>
          </a:p>
        </p:txBody>
      </p:sp>
      <p:sp>
        <p:nvSpPr>
          <p:cNvPr id="216" name="Reduce number of network-bound demand paging faults.…"/>
          <p:cNvSpPr txBox="1">
            <a:spLocks noGrp="1"/>
          </p:cNvSpPr>
          <p:nvPr>
            <p:ph type="body" sz="half" idx="1"/>
          </p:nvPr>
        </p:nvSpPr>
        <p:spPr>
          <a:xfrm>
            <a:off x="457200" y="1600201"/>
            <a:ext cx="8229601" cy="2362200"/>
          </a:xfrm>
          <a:prstGeom prst="rect">
            <a:avLst/>
          </a:prstGeom>
        </p:spPr>
        <p:txBody>
          <a:bodyPr/>
          <a:lstStyle/>
          <a:p>
            <a:endParaRPr sz="2953" dirty="0"/>
          </a:p>
          <a:p>
            <a:pPr marL="274100" indent="-258313">
              <a:spcBef>
                <a:spcPts val="562"/>
              </a:spcBef>
              <a:defRPr sz="3800"/>
            </a:pPr>
            <a:r>
              <a:rPr lang="en-US" sz="2531" dirty="0"/>
              <a:t>Goal: </a:t>
            </a:r>
            <a:r>
              <a:rPr sz="2531" dirty="0"/>
              <a:t>Reduce number of network-bound demand paging faults.</a:t>
            </a:r>
          </a:p>
          <a:p>
            <a:pPr marL="579771" lvl="1" indent="-258313">
              <a:spcBef>
                <a:spcPts val="562"/>
              </a:spcBef>
              <a:buClr>
                <a:srgbClr val="00B050"/>
              </a:buClr>
              <a:defRPr sz="3800"/>
            </a:pPr>
            <a:r>
              <a:rPr sz="2531" b="1" dirty="0">
                <a:solidFill>
                  <a:srgbClr val="00B050"/>
                </a:solidFill>
              </a:rPr>
              <a:t>Bubbling</a:t>
            </a:r>
            <a:r>
              <a:rPr sz="2531" dirty="0"/>
              <a:t>: To proactively push pages from source around the most recent page fault.</a:t>
            </a:r>
          </a:p>
        </p:txBody>
      </p:sp>
      <p:sp>
        <p:nvSpPr>
          <p:cNvPr id="217" name="Rectangle"/>
          <p:cNvSpPr/>
          <p:nvPr/>
        </p:nvSpPr>
        <p:spPr>
          <a:xfrm>
            <a:off x="1676400" y="4419600"/>
            <a:ext cx="6248400" cy="457201"/>
          </a:xfrm>
          <a:prstGeom prst="rect">
            <a:avLst/>
          </a:prstGeom>
          <a:solidFill>
            <a:srgbClr val="4F81BD"/>
          </a:solidFill>
          <a:ln w="12700">
            <a:miter lim="400000"/>
          </a:ln>
        </p:spPr>
        <p:txBody>
          <a:bodyPr lIns="45719" tIns="45719" rIns="45719" bIns="45719" anchor="ct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218" name="Rectangle"/>
          <p:cNvSpPr/>
          <p:nvPr/>
        </p:nvSpPr>
        <p:spPr>
          <a:xfrm>
            <a:off x="2667000" y="4419600"/>
            <a:ext cx="1066801" cy="457201"/>
          </a:xfrm>
          <a:prstGeom prst="rect">
            <a:avLst/>
          </a:prstGeom>
          <a:gradFill>
            <a:gsLst>
              <a:gs pos="20000">
                <a:srgbClr val="FFA78B"/>
              </a:gs>
              <a:gs pos="50000">
                <a:srgbClr val="FFC7B8"/>
              </a:gs>
              <a:gs pos="100000">
                <a:srgbClr val="FFE3DC"/>
              </a:gs>
            </a:gsLst>
            <a:path path="circle">
              <a:fillToRect l="37721" t="-19636" r="62278" b="119636"/>
            </a:path>
          </a:gradFill>
          <a:ln w="12700">
            <a:miter lim="400000"/>
          </a:ln>
        </p:spPr>
        <p:txBody>
          <a:bodyPr lIns="45719" tIns="45719" rIns="45719" bIns="45719" anchor="ctr"/>
          <a:lstStyle/>
          <a:p>
            <a:pPr algn="ctr" defTabSz="914367" hangingPunct="0">
              <a:defRPr b="0">
                <a:solidFill>
                  <a:srgbClr val="4F81BD"/>
                </a:solidFill>
                <a:latin typeface="Calibri"/>
                <a:ea typeface="Calibri"/>
                <a:cs typeface="Calibri"/>
                <a:sym typeface="Calibri"/>
              </a:defRPr>
            </a:pPr>
            <a:endParaRPr sz="1687" kern="0">
              <a:solidFill>
                <a:srgbClr val="4F81BD"/>
              </a:solidFill>
              <a:latin typeface="Calibri"/>
              <a:cs typeface="Calibri"/>
              <a:sym typeface="Calibri"/>
            </a:endParaRPr>
          </a:p>
        </p:txBody>
      </p:sp>
      <p:sp>
        <p:nvSpPr>
          <p:cNvPr id="219" name="Line"/>
          <p:cNvSpPr/>
          <p:nvPr/>
        </p:nvSpPr>
        <p:spPr>
          <a:xfrm>
            <a:off x="3200400" y="4419600"/>
            <a:ext cx="1" cy="457201"/>
          </a:xfrm>
          <a:prstGeom prst="line">
            <a:avLst/>
          </a:prstGeom>
          <a:ln w="25400">
            <a:solidFill>
              <a:srgbClr val="000000"/>
            </a:solidFill>
            <a:bevel/>
          </a:ln>
          <a:effectLst>
            <a:outerShdw blurRad="50800" dist="25400" dir="5400000" rotWithShape="0">
              <a:srgbClr val="000000">
                <a:alpha val="38000"/>
              </a:srgbClr>
            </a:outerShdw>
          </a:effectLst>
        </p:spPr>
        <p:txBody>
          <a:bodyPr lIns="45719" tIns="45719" rIns="45719" bIns="45719"/>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20" name="Max"/>
          <p:cNvSpPr txBox="1"/>
          <p:nvPr/>
        </p:nvSpPr>
        <p:spPr>
          <a:xfrm>
            <a:off x="7543800" y="4876800"/>
            <a:ext cx="523539" cy="351954"/>
          </a:xfrm>
          <a:prstGeom prst="rect">
            <a:avLst/>
          </a:prstGeom>
          <a:ln w="12700">
            <a:miter lim="400000"/>
          </a:ln>
          <a:extLst>
            <a:ext uri="{C572A759-6A51-4108-AA02-DFA0A04FC94B}">
              <ma14:wrappingTextBoxFlag xmlns:ma14="http://schemas.microsoft.com/office/mac/drawingml/2011/main" xmlns="" val="1"/>
            </a:ext>
          </a:extLst>
        </p:spPr>
        <p:txBody>
          <a:bodyPr wrap="none" lIns="45719" tIns="45719" rIns="45719" bIns="45719">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 Max</a:t>
            </a:r>
          </a:p>
        </p:txBody>
      </p:sp>
      <p:sp>
        <p:nvSpPr>
          <p:cNvPr id="221" name="0"/>
          <p:cNvSpPr txBox="1"/>
          <p:nvPr/>
        </p:nvSpPr>
        <p:spPr>
          <a:xfrm>
            <a:off x="1524000" y="4876800"/>
            <a:ext cx="201335" cy="351954"/>
          </a:xfrm>
          <a:prstGeom prst="rect">
            <a:avLst/>
          </a:prstGeom>
          <a:ln w="12700">
            <a:miter lim="400000"/>
          </a:ln>
          <a:extLst>
            <a:ext uri="{C572A759-6A51-4108-AA02-DFA0A04FC94B}">
              <ma14:wrappingTextBoxFlag xmlns:ma14="http://schemas.microsoft.com/office/mac/drawingml/2011/main" xmlns="" val="1"/>
            </a:ext>
          </a:extLst>
        </p:spPr>
        <p:txBody>
          <a:bodyPr wrap="none" lIns="45719" tIns="45719" rIns="45719" bIns="45719">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0</a:t>
            </a:r>
          </a:p>
        </p:txBody>
      </p:sp>
      <p:grpSp>
        <p:nvGrpSpPr>
          <p:cNvPr id="224" name="Group"/>
          <p:cNvGrpSpPr/>
          <p:nvPr/>
        </p:nvGrpSpPr>
        <p:grpSpPr>
          <a:xfrm>
            <a:off x="4038600" y="5105400"/>
            <a:ext cx="1600202" cy="351954"/>
            <a:chOff x="0" y="0"/>
            <a:chExt cx="2275841" cy="500554"/>
          </a:xfrm>
        </p:grpSpPr>
        <p:sp>
          <p:nvSpPr>
            <p:cNvPr id="222" name="Line"/>
            <p:cNvSpPr/>
            <p:nvPr/>
          </p:nvSpPr>
          <p:spPr>
            <a:xfrm>
              <a:off x="0" y="0"/>
              <a:ext cx="2275841" cy="1"/>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23" name="LRU Ordering"/>
            <p:cNvSpPr txBox="1"/>
            <p:nvPr/>
          </p:nvSpPr>
          <p:spPr>
            <a:xfrm>
              <a:off x="108373" y="0"/>
              <a:ext cx="1806987" cy="50055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LRU Ordering</a:t>
              </a:r>
            </a:p>
          </p:txBody>
        </p:sp>
      </p:grpSp>
      <p:grpSp>
        <p:nvGrpSpPr>
          <p:cNvPr id="229" name="Group"/>
          <p:cNvGrpSpPr/>
          <p:nvPr/>
        </p:nvGrpSpPr>
        <p:grpSpPr>
          <a:xfrm>
            <a:off x="2666999" y="4953000"/>
            <a:ext cx="1066802" cy="504354"/>
            <a:chOff x="-1" y="0"/>
            <a:chExt cx="1517228" cy="717301"/>
          </a:xfrm>
        </p:grpSpPr>
        <p:sp>
          <p:nvSpPr>
            <p:cNvPr id="225" name="Line"/>
            <p:cNvSpPr/>
            <p:nvPr/>
          </p:nvSpPr>
          <p:spPr>
            <a:xfrm flipH="1">
              <a:off x="-1" y="0"/>
              <a:ext cx="2" cy="433494"/>
            </a:xfrm>
            <a:prstGeom prst="line">
              <a:avLst/>
            </a:prstGeom>
            <a:noFill/>
            <a:ln w="25400" cap="flat">
              <a:solidFill>
                <a:srgbClr val="000000"/>
              </a:solidFill>
              <a:prstDash val="sysDot"/>
              <a:bevel/>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26" name="Line"/>
            <p:cNvSpPr/>
            <p:nvPr/>
          </p:nvSpPr>
          <p:spPr>
            <a:xfrm>
              <a:off x="1517226" y="0"/>
              <a:ext cx="1" cy="433494"/>
            </a:xfrm>
            <a:prstGeom prst="line">
              <a:avLst/>
            </a:prstGeom>
            <a:noFill/>
            <a:ln w="25400" cap="flat">
              <a:solidFill>
                <a:srgbClr val="000000"/>
              </a:solidFill>
              <a:prstDash val="sysDot"/>
              <a:bevel/>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27" name="Line"/>
            <p:cNvSpPr/>
            <p:nvPr/>
          </p:nvSpPr>
          <p:spPr>
            <a:xfrm>
              <a:off x="0" y="216746"/>
              <a:ext cx="1517227" cy="1"/>
            </a:xfrm>
            <a:prstGeom prst="line">
              <a:avLst/>
            </a:prstGeom>
            <a:noFill/>
            <a:ln w="25400" cap="flat">
              <a:solidFill>
                <a:srgbClr val="000000"/>
              </a:solidFill>
              <a:prstDash val="solid"/>
              <a:bevel/>
              <a:headEnd type="triangle" w="med" len="med"/>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28" name="Size"/>
            <p:cNvSpPr txBox="1"/>
            <p:nvPr/>
          </p:nvSpPr>
          <p:spPr>
            <a:xfrm>
              <a:off x="325120" y="216746"/>
              <a:ext cx="616918" cy="50055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Size</a:t>
              </a:r>
            </a:p>
          </p:txBody>
        </p:sp>
      </p:grpSp>
      <p:grpSp>
        <p:nvGrpSpPr>
          <p:cNvPr id="235" name="Group"/>
          <p:cNvGrpSpPr/>
          <p:nvPr/>
        </p:nvGrpSpPr>
        <p:grpSpPr>
          <a:xfrm>
            <a:off x="4114799" y="3886199"/>
            <a:ext cx="3581402" cy="990602"/>
            <a:chOff x="-1" y="-1"/>
            <a:chExt cx="5093548" cy="1408855"/>
          </a:xfrm>
        </p:grpSpPr>
        <p:sp>
          <p:nvSpPr>
            <p:cNvPr id="230" name="Rectangle"/>
            <p:cNvSpPr/>
            <p:nvPr/>
          </p:nvSpPr>
          <p:spPr>
            <a:xfrm>
              <a:off x="-1" y="758613"/>
              <a:ext cx="1517228" cy="650241"/>
            </a:xfrm>
            <a:prstGeom prst="rect">
              <a:avLst/>
            </a:prstGeom>
            <a:gradFill flip="none" rotWithShape="1">
              <a:gsLst>
                <a:gs pos="26000">
                  <a:srgbClr val="FFA78B"/>
                </a:gs>
                <a:gs pos="50000">
                  <a:srgbClr val="FFC7B8"/>
                </a:gs>
                <a:gs pos="100000">
                  <a:srgbClr val="FFE3DC"/>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231" name="Line"/>
            <p:cNvSpPr/>
            <p:nvPr/>
          </p:nvSpPr>
          <p:spPr>
            <a:xfrm flipH="1">
              <a:off x="758613" y="758613"/>
              <a:ext cx="1" cy="650241"/>
            </a:xfrm>
            <a:prstGeom prst="line">
              <a:avLst/>
            </a:prstGeom>
            <a:noFill/>
            <a:ln w="25400" cap="flat">
              <a:solidFill>
                <a:srgbClr val="000000"/>
              </a:solidFill>
              <a:prstDash val="solid"/>
              <a:bevel/>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32" name="Rectangle"/>
            <p:cNvSpPr/>
            <p:nvPr/>
          </p:nvSpPr>
          <p:spPr>
            <a:xfrm>
              <a:off x="3576320" y="758613"/>
              <a:ext cx="1517227" cy="650241"/>
            </a:xfrm>
            <a:prstGeom prst="rect">
              <a:avLst/>
            </a:prstGeom>
            <a:gradFill flip="none" rotWithShape="1">
              <a:gsLst>
                <a:gs pos="26000">
                  <a:srgbClr val="FFA78B"/>
                </a:gs>
                <a:gs pos="50000">
                  <a:srgbClr val="FFC7B8"/>
                </a:gs>
                <a:gs pos="100000">
                  <a:srgbClr val="FFE3DC"/>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233" name="Line"/>
            <p:cNvSpPr/>
            <p:nvPr/>
          </p:nvSpPr>
          <p:spPr>
            <a:xfrm>
              <a:off x="4334933" y="758613"/>
              <a:ext cx="1" cy="650241"/>
            </a:xfrm>
            <a:prstGeom prst="line">
              <a:avLst/>
            </a:prstGeom>
            <a:noFill/>
            <a:ln w="25400" cap="flat">
              <a:solidFill>
                <a:srgbClr val="000000"/>
              </a:solidFill>
              <a:prstDash val="solid"/>
              <a:bevel/>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34" name="Number of pivots"/>
            <p:cNvSpPr txBox="1"/>
            <p:nvPr/>
          </p:nvSpPr>
          <p:spPr>
            <a:xfrm>
              <a:off x="1300480" y="-1"/>
              <a:ext cx="2313109"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Number of pivots</a:t>
              </a:r>
            </a:p>
          </p:txBody>
        </p:sp>
      </p:grpSp>
      <p:sp>
        <p:nvSpPr>
          <p:cNvPr id="236" name="50% reduction in network-bound page faults"/>
          <p:cNvSpPr txBox="1"/>
          <p:nvPr/>
        </p:nvSpPr>
        <p:spPr>
          <a:xfrm>
            <a:off x="609600" y="5638800"/>
            <a:ext cx="8229601" cy="609601"/>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normAutofit/>
          </a:bodyPr>
          <a:lstStyle>
            <a:lvl1pPr marL="800100" indent="-800100" algn="l" defTabSz="1300480">
              <a:spcBef>
                <a:spcPts val="1000"/>
              </a:spcBef>
              <a:buSzPct val="100000"/>
              <a:buFont typeface="Arial"/>
              <a:buChar char="•"/>
              <a:defRPr sz="4200" b="0">
                <a:latin typeface="Calibri"/>
                <a:ea typeface="Calibri"/>
                <a:cs typeface="Calibri"/>
                <a:sym typeface="Calibri"/>
              </a:defRPr>
            </a:lvl1pPr>
          </a:lstStyle>
          <a:p>
            <a:pPr marL="562550" indent="-562550" defTabSz="914367" hangingPunct="0">
              <a:spcBef>
                <a:spcPts val="703"/>
              </a:spcBef>
              <a:defRPr sz="2400"/>
            </a:pPr>
            <a:r>
              <a:rPr sz="2953" kern="0">
                <a:solidFill>
                  <a:srgbClr val="000000"/>
                </a:solidFill>
              </a:rPr>
              <a:t>50% reduction in network-bound page faults</a:t>
            </a:r>
          </a:p>
        </p:txBody>
      </p:sp>
      <p:grpSp>
        <p:nvGrpSpPr>
          <p:cNvPr id="240" name="Group"/>
          <p:cNvGrpSpPr/>
          <p:nvPr/>
        </p:nvGrpSpPr>
        <p:grpSpPr>
          <a:xfrm>
            <a:off x="2362200" y="3886200"/>
            <a:ext cx="1603963" cy="417097"/>
            <a:chOff x="0" y="0"/>
            <a:chExt cx="2281191" cy="593204"/>
          </a:xfrm>
        </p:grpSpPr>
        <p:sp>
          <p:nvSpPr>
            <p:cNvPr id="237" name="Line"/>
            <p:cNvSpPr/>
            <p:nvPr/>
          </p:nvSpPr>
          <p:spPr>
            <a:xfrm>
              <a:off x="541866" y="541866"/>
              <a:ext cx="1192108" cy="1"/>
            </a:xfrm>
            <a:prstGeom prst="line">
              <a:avLst/>
            </a:prstGeom>
            <a:noFill/>
            <a:ln w="25400" cap="flat">
              <a:solidFill>
                <a:srgbClr val="000000"/>
              </a:solidFill>
              <a:prstDash val="solid"/>
              <a:bevel/>
              <a:headEnd type="triangle" w="med" len="med"/>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38" name="Direction (uni/bi)"/>
            <p:cNvSpPr txBox="1"/>
            <p:nvPr/>
          </p:nvSpPr>
          <p:spPr>
            <a:xfrm>
              <a:off x="0" y="0"/>
              <a:ext cx="2281191"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Direction (uni/bi)</a:t>
              </a:r>
            </a:p>
          </p:txBody>
        </p:sp>
        <p:sp>
          <p:nvSpPr>
            <p:cNvPr id="239" name="Circle"/>
            <p:cNvSpPr/>
            <p:nvPr/>
          </p:nvSpPr>
          <p:spPr>
            <a:xfrm>
              <a:off x="1117957" y="484829"/>
              <a:ext cx="108375" cy="108375"/>
            </a:xfrm>
            <a:prstGeom prst="ellipse">
              <a:avLst/>
            </a:prstGeom>
            <a:solidFill>
              <a:srgbClr val="000000"/>
            </a:solidFill>
            <a:ln w="25400" cap="flat">
              <a:solidFill>
                <a:srgbClr val="000000"/>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grpSp>
    </p:spTree>
    <p:extLst>
      <p:ext uri="{BB962C8B-B14F-4D97-AF65-F5344CB8AC3E}">
        <p14:creationId xmlns:p14="http://schemas.microsoft.com/office/powerpoint/2010/main" val="220399369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24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22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2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23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animBg="1" advAuto="0"/>
      <p:bldP spid="224" grpId="0" animBg="1" advAuto="0"/>
      <p:bldP spid="229" grpId="0" animBg="1" advAuto="0"/>
      <p:bldP spid="235" grpId="0" animBg="1" advAuto="0"/>
      <p:bldP spid="236" grpId="0" animBg="1" advAuto="0"/>
      <p:bldP spid="240" grpId="0"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Balance between read-intensive and write-intensive workloads"/>
          <p:cNvSpPr txBox="1">
            <a:spLocks noGrp="1"/>
          </p:cNvSpPr>
          <p:nvPr>
            <p:ph type="body" sz="quarter" idx="1"/>
          </p:nvPr>
        </p:nvSpPr>
        <p:spPr>
          <a:xfrm>
            <a:off x="457200" y="1229410"/>
            <a:ext cx="8229601" cy="528140"/>
          </a:xfrm>
          <a:prstGeom prst="rect">
            <a:avLst/>
          </a:prstGeom>
        </p:spPr>
        <p:txBody>
          <a:bodyPr/>
          <a:lstStyle>
            <a:lvl1pPr marL="331541" indent="-331541" defTabSz="1183436">
              <a:spcBef>
                <a:spcPts val="700"/>
              </a:spcBef>
              <a:defRPr sz="3094"/>
            </a:lvl1pPr>
          </a:lstStyle>
          <a:p>
            <a:pPr>
              <a:defRPr sz="4004"/>
            </a:pPr>
            <a:r>
              <a:rPr sz="2175"/>
              <a:t>Balance between read-intensive and write-intensive workloads</a:t>
            </a:r>
          </a:p>
        </p:txBody>
      </p:sp>
      <p:sp>
        <p:nvSpPr>
          <p:cNvPr id="243" name="Slide Number"/>
          <p:cNvSpPr txBox="1">
            <a:spLocks noGrp="1"/>
          </p:cNvSpPr>
          <p:nvPr>
            <p:ph type="sldNum" sz="quarter" idx="2"/>
          </p:nvPr>
        </p:nvSpPr>
        <p:spPr>
          <a:xfrm>
            <a:off x="7010400" y="6268562"/>
            <a:ext cx="2133601" cy="448628"/>
          </a:xfrm>
          <a:prstGeom prst="rect">
            <a:avLst/>
          </a:prstGeom>
          <a:extLst>
            <a:ext uri="{C572A759-6A51-4108-AA02-DFA0A04FC94B}">
              <ma14:wrappingTextBoxFlag xmlns:ma14="http://schemas.microsoft.com/office/mac/drawingml/2011/main" xmlns="" val="1"/>
            </a:ext>
          </a:extLst>
        </p:spPr>
        <p:txBody>
          <a:bodyPr>
            <a:normAutofit fontScale="92500" lnSpcReduction="10000"/>
          </a:bodyPr>
          <a:lstStyle/>
          <a:p>
            <a:pPr hangingPunct="0"/>
            <a:fld id="{86CB4B4D-7CA3-9044-876B-883B54F8677D}" type="slidenum">
              <a:rPr kern="0"/>
              <a:pPr hangingPunct="0"/>
              <a:t>52</a:t>
            </a:fld>
            <a:endParaRPr kern="0"/>
          </a:p>
        </p:txBody>
      </p:sp>
      <p:sp>
        <p:nvSpPr>
          <p:cNvPr id="244" name="Hybrid Live Migration"/>
          <p:cNvSpPr txBox="1">
            <a:spLocks noGrp="1"/>
          </p:cNvSpPr>
          <p:nvPr>
            <p:ph type="title"/>
          </p:nvPr>
        </p:nvSpPr>
        <p:spPr>
          <a:xfrm>
            <a:off x="457200" y="274638"/>
            <a:ext cx="8229601" cy="792162"/>
          </a:xfrm>
          <a:prstGeom prst="rect">
            <a:avLst/>
          </a:prstGeom>
          <a:solidFill>
            <a:srgbClr val="8EB4E3"/>
          </a:solidFill>
        </p:spPr>
        <p:txBody>
          <a:bodyPr>
            <a:normAutofit fontScale="90000"/>
          </a:bodyPr>
          <a:lstStyle/>
          <a:p>
            <a:r>
              <a:t>Hybrid Live Migration</a:t>
            </a:r>
          </a:p>
        </p:txBody>
      </p:sp>
      <p:grpSp>
        <p:nvGrpSpPr>
          <p:cNvPr id="258" name="Group"/>
          <p:cNvGrpSpPr/>
          <p:nvPr/>
        </p:nvGrpSpPr>
        <p:grpSpPr>
          <a:xfrm>
            <a:off x="914399" y="1676398"/>
            <a:ext cx="7467602" cy="1663987"/>
            <a:chOff x="0" y="0"/>
            <a:chExt cx="10620588" cy="2366559"/>
          </a:xfrm>
        </p:grpSpPr>
        <p:grpSp>
          <p:nvGrpSpPr>
            <p:cNvPr id="247" name="Group"/>
            <p:cNvGrpSpPr/>
            <p:nvPr/>
          </p:nvGrpSpPr>
          <p:grpSpPr>
            <a:xfrm>
              <a:off x="5801930" y="948717"/>
              <a:ext cx="4818658" cy="676894"/>
              <a:chOff x="0" y="-1"/>
              <a:chExt cx="4818657" cy="676893"/>
            </a:xfrm>
          </p:grpSpPr>
          <p:sp>
            <p:nvSpPr>
              <p:cNvPr id="245" name="Rectangle"/>
              <p:cNvSpPr/>
              <p:nvPr/>
            </p:nvSpPr>
            <p:spPr>
              <a:xfrm>
                <a:off x="0" y="-1"/>
                <a:ext cx="4818657" cy="676893"/>
              </a:xfrm>
              <a:prstGeom prst="rect">
                <a:avLst/>
              </a:prstGeom>
              <a:solidFill>
                <a:srgbClr val="B9CDE5"/>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a:solidFill>
                      <a:srgbClr val="17375E"/>
                    </a:solidFill>
                    <a:latin typeface="Calibri"/>
                    <a:ea typeface="Calibri"/>
                    <a:cs typeface="Calibri"/>
                    <a:sym typeface="Calibri"/>
                  </a:defRPr>
                </a:pPr>
                <a:endParaRPr sz="1687" b="1" kern="0">
                  <a:solidFill>
                    <a:srgbClr val="17375E"/>
                  </a:solidFill>
                  <a:latin typeface="Calibri"/>
                  <a:cs typeface="Calibri"/>
                  <a:sym typeface="Calibri"/>
                </a:endParaRPr>
              </a:p>
            </p:txBody>
          </p:sp>
          <p:sp>
            <p:nvSpPr>
              <p:cNvPr id="246" name="Active Push + Demand Paging"/>
              <p:cNvSpPr txBox="1"/>
              <p:nvPr/>
            </p:nvSpPr>
            <p:spPr>
              <a:xfrm>
                <a:off x="0" y="88168"/>
                <a:ext cx="4818657" cy="50055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lvl1pPr defTabSz="1300480">
                  <a:defRPr>
                    <a:solidFill>
                      <a:srgbClr val="0D0D0D"/>
                    </a:solidFill>
                    <a:latin typeface="Calibri"/>
                    <a:ea typeface="Calibri"/>
                    <a:cs typeface="Calibri"/>
                    <a:sym typeface="Calibri"/>
                  </a:defRPr>
                </a:lvl1pPr>
              </a:lstStyle>
              <a:p>
                <a:pPr algn="ctr" defTabSz="914367" hangingPunct="0">
                  <a:defRPr b="0">
                    <a:solidFill>
                      <a:srgbClr val="FFFFFF"/>
                    </a:solidFill>
                  </a:defRPr>
                </a:pPr>
                <a:r>
                  <a:rPr sz="1687" b="1" kern="0"/>
                  <a:t>Active Push + Demand Paging</a:t>
                </a:r>
              </a:p>
            </p:txBody>
          </p:sp>
        </p:grpSp>
        <p:sp>
          <p:nvSpPr>
            <p:cNvPr id="248" name="Rectangle"/>
            <p:cNvSpPr/>
            <p:nvPr/>
          </p:nvSpPr>
          <p:spPr>
            <a:xfrm>
              <a:off x="3867953" y="948716"/>
              <a:ext cx="2017159" cy="676892"/>
            </a:xfrm>
            <a:prstGeom prst="rect">
              <a:avLst/>
            </a:prstGeom>
            <a:solidFill>
              <a:srgbClr val="376092"/>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b="0">
                  <a:solidFill>
                    <a:srgbClr val="FFFFFF"/>
                  </a:solidFill>
                  <a:latin typeface="Calibri"/>
                  <a:ea typeface="Calibri"/>
                  <a:cs typeface="Calibri"/>
                  <a:sym typeface="Calibri"/>
                </a:defRPr>
              </a:pPr>
              <a:endParaRPr sz="1687" kern="0">
                <a:solidFill>
                  <a:srgbClr val="FFFFFF"/>
                </a:solidFill>
                <a:latin typeface="Calibri"/>
                <a:cs typeface="Calibri"/>
                <a:sym typeface="Calibri"/>
              </a:endParaRPr>
            </a:p>
          </p:txBody>
        </p:sp>
        <p:sp>
          <p:nvSpPr>
            <p:cNvPr id="249" name="Downtime"/>
            <p:cNvSpPr txBox="1"/>
            <p:nvPr/>
          </p:nvSpPr>
          <p:spPr>
            <a:xfrm>
              <a:off x="3867953" y="421656"/>
              <a:ext cx="1923663"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lvl1pPr defTabSz="1300480">
                <a:defRPr b="0">
                  <a:latin typeface="Calibri"/>
                  <a:ea typeface="Calibri"/>
                  <a:cs typeface="Calibri"/>
                  <a:sym typeface="Calibri"/>
                </a:defRPr>
              </a:lvl1pPr>
            </a:lstStyle>
            <a:p>
              <a:pPr algn="ctr" defTabSz="914367" hangingPunct="0"/>
              <a:r>
                <a:rPr sz="1687" kern="0">
                  <a:solidFill>
                    <a:srgbClr val="000000"/>
                  </a:solidFill>
                </a:rPr>
                <a:t>Downtime</a:t>
              </a:r>
            </a:p>
          </p:txBody>
        </p:sp>
        <p:grpSp>
          <p:nvGrpSpPr>
            <p:cNvPr id="252" name="Group"/>
            <p:cNvGrpSpPr/>
            <p:nvPr/>
          </p:nvGrpSpPr>
          <p:grpSpPr>
            <a:xfrm>
              <a:off x="0" y="948715"/>
              <a:ext cx="3867954" cy="676893"/>
              <a:chOff x="0" y="-1"/>
              <a:chExt cx="3867953" cy="676891"/>
            </a:xfrm>
          </p:grpSpPr>
          <p:sp>
            <p:nvSpPr>
              <p:cNvPr id="250" name="Rectangle"/>
              <p:cNvSpPr/>
              <p:nvPr/>
            </p:nvSpPr>
            <p:spPr>
              <a:xfrm>
                <a:off x="0" y="-1"/>
                <a:ext cx="3867953" cy="676891"/>
              </a:xfrm>
              <a:prstGeom prst="rect">
                <a:avLst/>
              </a:prstGeom>
              <a:solidFill>
                <a:srgbClr val="B9CDE5"/>
              </a:solidFill>
              <a:ln w="25400" cap="flat">
                <a:solidFill>
                  <a:srgbClr val="3A5E8A"/>
                </a:solidFill>
                <a:prstDash val="solid"/>
                <a:bevel/>
              </a:ln>
              <a:effectLst/>
            </p:spPr>
            <p:txBody>
              <a:bodyPr wrap="square" lIns="45719" tIns="45719" rIns="45719" bIns="45719" numCol="1" anchor="ctr">
                <a:noAutofit/>
              </a:bodyPr>
              <a:lstStyle/>
              <a:p>
                <a:pPr algn="ctr" defTabSz="914367" hangingPunct="0">
                  <a:defRPr>
                    <a:latin typeface="Calibri"/>
                    <a:ea typeface="Calibri"/>
                    <a:cs typeface="Calibri"/>
                    <a:sym typeface="Calibri"/>
                  </a:defRPr>
                </a:pPr>
                <a:endParaRPr sz="1687" b="1" kern="0">
                  <a:solidFill>
                    <a:srgbClr val="000000"/>
                  </a:solidFill>
                  <a:latin typeface="Calibri"/>
                  <a:cs typeface="Calibri"/>
                  <a:sym typeface="Calibri"/>
                </a:endParaRPr>
              </a:p>
            </p:txBody>
          </p:sp>
          <p:sp>
            <p:nvSpPr>
              <p:cNvPr id="251" name="1st Iteration Pre-copy"/>
              <p:cNvSpPr txBox="1"/>
              <p:nvPr/>
            </p:nvSpPr>
            <p:spPr>
              <a:xfrm>
                <a:off x="0" y="88166"/>
                <a:ext cx="3867953" cy="50055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ctr">
                <a:spAutoFit/>
              </a:bodyPr>
              <a:lstStyle/>
              <a:p>
                <a:pPr algn="ctr" defTabSz="914367" hangingPunct="0">
                  <a:defRPr b="0">
                    <a:solidFill>
                      <a:srgbClr val="FFFFFF"/>
                    </a:solidFill>
                    <a:latin typeface="Calibri"/>
                    <a:ea typeface="Calibri"/>
                    <a:cs typeface="Calibri"/>
                    <a:sym typeface="Calibri"/>
                  </a:defRPr>
                </a:pPr>
                <a:r>
                  <a:rPr sz="1687" b="1" kern="0">
                    <a:solidFill>
                      <a:srgbClr val="000000"/>
                    </a:solidFill>
                    <a:latin typeface="Calibri"/>
                    <a:cs typeface="Calibri"/>
                    <a:sym typeface="Calibri"/>
                  </a:rPr>
                  <a:t>1</a:t>
                </a:r>
                <a:r>
                  <a:rPr sz="1687" b="1" kern="0" baseline="30500">
                    <a:solidFill>
                      <a:srgbClr val="000000"/>
                    </a:solidFill>
                    <a:latin typeface="Calibri"/>
                    <a:cs typeface="Calibri"/>
                    <a:sym typeface="Calibri"/>
                  </a:rPr>
                  <a:t>st</a:t>
                </a:r>
                <a:r>
                  <a:rPr sz="1687" b="1" kern="0">
                    <a:solidFill>
                      <a:srgbClr val="000000"/>
                    </a:solidFill>
                    <a:latin typeface="Calibri"/>
                    <a:cs typeface="Calibri"/>
                    <a:sym typeface="Calibri"/>
                  </a:rPr>
                  <a:t> Iteration Pre-copy</a:t>
                </a:r>
              </a:p>
            </p:txBody>
          </p:sp>
        </p:grpSp>
        <p:sp>
          <p:nvSpPr>
            <p:cNvPr id="253" name="Resume Time (live)"/>
            <p:cNvSpPr txBox="1"/>
            <p:nvPr/>
          </p:nvSpPr>
          <p:spPr>
            <a:xfrm>
              <a:off x="5801931" y="156079"/>
              <a:ext cx="2513735" cy="50055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45719" tIns="45719" rIns="45719" bIns="45719" numCol="1" anchor="t">
              <a:spAutoFit/>
            </a:bodyPr>
            <a:lstStyle>
              <a:lvl1pPr algn="l" defTabSz="1300480">
                <a:defRPr b="0">
                  <a:latin typeface="Calibri"/>
                  <a:ea typeface="Calibri"/>
                  <a:cs typeface="Calibri"/>
                  <a:sym typeface="Calibri"/>
                </a:defRPr>
              </a:lvl1pPr>
            </a:lstStyle>
            <a:p>
              <a:pPr defTabSz="914367" hangingPunct="0"/>
              <a:r>
                <a:rPr sz="1687" kern="0">
                  <a:solidFill>
                    <a:srgbClr val="000000"/>
                  </a:solidFill>
                </a:rPr>
                <a:t>Resume Time (live)</a:t>
              </a:r>
            </a:p>
          </p:txBody>
        </p:sp>
        <p:sp>
          <p:nvSpPr>
            <p:cNvPr id="254" name="Line"/>
            <p:cNvSpPr/>
            <p:nvPr/>
          </p:nvSpPr>
          <p:spPr>
            <a:xfrm>
              <a:off x="1656192" y="632472"/>
              <a:ext cx="843433" cy="310516"/>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sp>
          <p:nvSpPr>
            <p:cNvPr id="255" name="Preparation…"/>
            <p:cNvSpPr txBox="1"/>
            <p:nvPr/>
          </p:nvSpPr>
          <p:spPr>
            <a:xfrm>
              <a:off x="17250" y="0"/>
              <a:ext cx="2269305" cy="86979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p>
              <a:pPr algn="ctr" defTabSz="914367" hangingPunct="0">
                <a:defRPr b="0">
                  <a:latin typeface="Calibri"/>
                  <a:ea typeface="Calibri"/>
                  <a:cs typeface="Calibri"/>
                  <a:sym typeface="Calibri"/>
                </a:defRPr>
              </a:pPr>
              <a:r>
                <a:rPr sz="1687" kern="0">
                  <a:solidFill>
                    <a:srgbClr val="000000"/>
                  </a:solidFill>
                  <a:latin typeface="Calibri"/>
                  <a:cs typeface="Calibri"/>
                  <a:sym typeface="Calibri"/>
                </a:rPr>
                <a:t>Preparation</a:t>
              </a:r>
            </a:p>
            <a:p>
              <a:pPr algn="ctr" defTabSz="914367" hangingPunct="0">
                <a:defRPr b="0">
                  <a:latin typeface="Calibri"/>
                  <a:ea typeface="Calibri"/>
                  <a:cs typeface="Calibri"/>
                  <a:sym typeface="Calibri"/>
                </a:defRPr>
              </a:pPr>
              <a:r>
                <a:rPr sz="1687" kern="0">
                  <a:solidFill>
                    <a:srgbClr val="000000"/>
                  </a:solidFill>
                  <a:latin typeface="Calibri"/>
                  <a:cs typeface="Calibri"/>
                  <a:sym typeface="Calibri"/>
                </a:rPr>
                <a:t>(live)</a:t>
              </a:r>
            </a:p>
          </p:txBody>
        </p:sp>
        <p:sp>
          <p:nvSpPr>
            <p:cNvPr id="256" name="(Non-pageable…"/>
            <p:cNvSpPr txBox="1"/>
            <p:nvPr/>
          </p:nvSpPr>
          <p:spPr>
            <a:xfrm>
              <a:off x="3684693" y="1558044"/>
              <a:ext cx="2296598" cy="80851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19" tIns="45719" rIns="45719" bIns="45719" numCol="1" anchor="t">
              <a:spAutoFit/>
            </a:bodyPr>
            <a:lstStyle/>
            <a:p>
              <a:pPr algn="ctr" defTabSz="914367" hangingPunct="0">
                <a:defRPr b="0">
                  <a:latin typeface="Calibri"/>
                  <a:ea typeface="Calibri"/>
                  <a:cs typeface="Calibri"/>
                  <a:sym typeface="Calibri"/>
                </a:defRPr>
              </a:pPr>
              <a:r>
                <a:rPr sz="1547" kern="0" dirty="0">
                  <a:solidFill>
                    <a:srgbClr val="000000"/>
                  </a:solidFill>
                  <a:latin typeface="Calibri"/>
                  <a:cs typeface="Calibri"/>
                  <a:sym typeface="Calibri"/>
                </a:rPr>
                <a:t>(Non-pageable</a:t>
              </a:r>
            </a:p>
            <a:p>
              <a:pPr algn="ctr" defTabSz="914367" hangingPunct="0">
                <a:defRPr b="0">
                  <a:latin typeface="Calibri"/>
                  <a:ea typeface="Calibri"/>
                  <a:cs typeface="Calibri"/>
                  <a:sym typeface="Calibri"/>
                </a:defRPr>
              </a:pPr>
              <a:r>
                <a:rPr sz="1547" kern="0" dirty="0">
                  <a:solidFill>
                    <a:srgbClr val="000000"/>
                  </a:solidFill>
                  <a:latin typeface="Calibri"/>
                  <a:cs typeface="Calibri"/>
                  <a:sym typeface="Calibri"/>
                </a:rPr>
                <a:t>Dirty Memory)</a:t>
              </a:r>
            </a:p>
          </p:txBody>
        </p:sp>
        <p:sp>
          <p:nvSpPr>
            <p:cNvPr id="257" name="Line"/>
            <p:cNvSpPr/>
            <p:nvPr/>
          </p:nvSpPr>
          <p:spPr>
            <a:xfrm>
              <a:off x="7429400" y="666998"/>
              <a:ext cx="781859" cy="281710"/>
            </a:xfrm>
            <a:prstGeom prst="line">
              <a:avLst/>
            </a:prstGeom>
            <a:noFill/>
            <a:ln w="25400" cap="flat">
              <a:solidFill>
                <a:srgbClr val="000000"/>
              </a:solidFill>
              <a:prstDash val="solid"/>
              <a:bevel/>
              <a:tailEnd type="triangle" w="med" len="med"/>
            </a:ln>
            <a:effectLst>
              <a:outerShdw blurRad="50800" dist="25400" dir="5400000" rotWithShape="0">
                <a:srgbClr val="000000">
                  <a:alpha val="38000"/>
                </a:srgbClr>
              </a:outerShdw>
            </a:effectLst>
          </p:spPr>
          <p:txBody>
            <a:bodyPr wrap="square" lIns="45719" tIns="45719" rIns="45719" bIns="45719" numCol="1" anchor="t">
              <a:noAutofit/>
            </a:bodyPr>
            <a:lstStyle/>
            <a:p>
              <a:pPr defTabSz="457184" hangingPunct="0">
                <a:defRPr sz="1600" b="0">
                  <a:latin typeface="Helvetica"/>
                  <a:ea typeface="Helvetica"/>
                  <a:cs typeface="Helvetica"/>
                  <a:sym typeface="Helvetica"/>
                </a:defRPr>
              </a:pPr>
              <a:endParaRPr sz="1125" kern="0">
                <a:solidFill>
                  <a:srgbClr val="000000"/>
                </a:solidFill>
                <a:latin typeface="Helvetica"/>
                <a:sym typeface="Helvetica"/>
              </a:endParaRPr>
            </a:p>
          </p:txBody>
        </p:sp>
      </p:grpSp>
      <p:sp>
        <p:nvSpPr>
          <p:cNvPr id="259" name="Versus Precopy…"/>
          <p:cNvSpPr txBox="1"/>
          <p:nvPr/>
        </p:nvSpPr>
        <p:spPr>
          <a:xfrm>
            <a:off x="585542" y="3937280"/>
            <a:ext cx="7687415" cy="1498806"/>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defTabSz="914367" hangingPunct="0">
              <a:buSzPct val="100000"/>
              <a:buFont typeface="Arial"/>
              <a:buChar char="•"/>
              <a:defRPr sz="1600" b="0">
                <a:latin typeface="Calibri"/>
                <a:ea typeface="Calibri"/>
                <a:cs typeface="Calibri"/>
                <a:sym typeface="Calibri"/>
              </a:defRPr>
            </a:pPr>
            <a:r>
              <a:rPr sz="1828" kern="0">
                <a:solidFill>
                  <a:srgbClr val="000000"/>
                </a:solidFill>
                <a:latin typeface="Calibri"/>
                <a:cs typeface="Calibri"/>
                <a:sym typeface="Calibri"/>
              </a:rPr>
              <a:t> Versus Precopy</a:t>
            </a:r>
          </a:p>
          <a:p>
            <a:pPr marL="321457" lvl="1" defTabSz="914367" hangingPunct="0">
              <a:buSzPct val="100000"/>
              <a:buFont typeface="Arial"/>
              <a:buChar char="•"/>
              <a:defRPr sz="1600" b="0">
                <a:latin typeface="Calibri"/>
                <a:ea typeface="Calibri"/>
                <a:cs typeface="Calibri"/>
                <a:sym typeface="Calibri"/>
              </a:defRPr>
            </a:pPr>
            <a:r>
              <a:rPr sz="1828" kern="0">
                <a:solidFill>
                  <a:srgbClr val="000000"/>
                </a:solidFill>
                <a:latin typeface="Calibri"/>
                <a:cs typeface="Calibri"/>
                <a:sym typeface="Calibri"/>
              </a:rPr>
              <a:t> Lower total migration time</a:t>
            </a:r>
          </a:p>
          <a:p>
            <a:pPr defTabSz="914367" hangingPunct="0">
              <a:defRPr sz="1600" b="0">
                <a:latin typeface="Calibri"/>
                <a:ea typeface="Calibri"/>
                <a:cs typeface="Calibri"/>
                <a:sym typeface="Calibri"/>
              </a:defRPr>
            </a:pPr>
            <a:endParaRPr sz="1828" kern="0">
              <a:solidFill>
                <a:srgbClr val="000000"/>
              </a:solidFill>
              <a:latin typeface="Calibri"/>
              <a:cs typeface="Calibri"/>
              <a:sym typeface="Calibri"/>
            </a:endParaRPr>
          </a:p>
          <a:p>
            <a:pPr defTabSz="914367" hangingPunct="0">
              <a:buSzPct val="100000"/>
              <a:buFont typeface="Arial"/>
              <a:buChar char="•"/>
              <a:defRPr sz="1600" b="0">
                <a:latin typeface="Calibri"/>
                <a:ea typeface="Calibri"/>
                <a:cs typeface="Calibri"/>
                <a:sym typeface="Calibri"/>
              </a:defRPr>
            </a:pPr>
            <a:r>
              <a:rPr sz="1828" kern="0">
                <a:solidFill>
                  <a:srgbClr val="000000"/>
                </a:solidFill>
                <a:latin typeface="Calibri"/>
                <a:cs typeface="Calibri"/>
                <a:sym typeface="Calibri"/>
              </a:rPr>
              <a:t>Versus Postcopy</a:t>
            </a:r>
          </a:p>
          <a:p>
            <a:pPr marL="321457" lvl="1" defTabSz="914367" hangingPunct="0">
              <a:buSzPct val="100000"/>
              <a:buFont typeface="Arial"/>
              <a:buChar char="•"/>
              <a:defRPr sz="1600" b="0">
                <a:latin typeface="Calibri"/>
                <a:ea typeface="Calibri"/>
                <a:cs typeface="Calibri"/>
                <a:sym typeface="Calibri"/>
              </a:defRPr>
            </a:pPr>
            <a:r>
              <a:rPr sz="1828" kern="0">
                <a:solidFill>
                  <a:srgbClr val="000000"/>
                </a:solidFill>
                <a:latin typeface="Calibri"/>
                <a:cs typeface="Calibri"/>
                <a:sym typeface="Calibri"/>
              </a:rPr>
              <a:t> Smaller cold-start penalty due to fewer network-bound page faults</a:t>
            </a:r>
          </a:p>
        </p:txBody>
      </p:sp>
    </p:spTree>
    <p:extLst>
      <p:ext uri="{BB962C8B-B14F-4D97-AF65-F5344CB8AC3E}">
        <p14:creationId xmlns:p14="http://schemas.microsoft.com/office/powerpoint/2010/main" val="192558209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76F622FB-61A1-3C45-821B-B4CC0E599932}"/>
              </a:ext>
            </a:extLst>
          </p:cNvPr>
          <p:cNvSpPr>
            <a:spLocks noGrp="1" noChangeArrowheads="1"/>
          </p:cNvSpPr>
          <p:nvPr>
            <p:ph type="ctrTitle"/>
          </p:nvPr>
        </p:nvSpPr>
        <p:spPr>
          <a:xfrm>
            <a:off x="1" y="2131560"/>
            <a:ext cx="9144000" cy="146880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sz="3266"/>
              <a:t>Black-box and Gray-box Strategies</a:t>
            </a:r>
            <a:br>
              <a:rPr lang="en-GB" altLang="en-US" sz="3266"/>
            </a:br>
            <a:r>
              <a:rPr lang="en-GB" altLang="en-US" sz="3266"/>
              <a:t> for Virtual Machine Migration</a:t>
            </a:r>
          </a:p>
        </p:txBody>
      </p:sp>
      <p:sp>
        <p:nvSpPr>
          <p:cNvPr id="69635" name="Rectangle 3">
            <a:extLst>
              <a:ext uri="{FF2B5EF4-FFF2-40B4-BE49-F238E27FC236}">
                <a16:creationId xmlns:a16="http://schemas.microsoft.com/office/drawing/2014/main" id="{ECB6EDE2-95FF-D14F-BA94-1930B25D0173}"/>
              </a:ext>
            </a:extLst>
          </p:cNvPr>
          <p:cNvSpPr>
            <a:spLocks noGrp="1" noChangeArrowheads="1"/>
          </p:cNvSpPr>
          <p:nvPr>
            <p:ph type="subTitle" idx="1"/>
          </p:nvPr>
        </p:nvSpPr>
        <p:spPr/>
        <p:txBody>
          <a:bodyPr/>
          <a:lstStyle/>
          <a:p>
            <a:pPr>
              <a:lnSpc>
                <a:spcPct val="90000"/>
              </a:lnSpc>
            </a:pPr>
            <a:r>
              <a:rPr lang="en-US" altLang="en-US" sz="1996"/>
              <a:t>Timothy Wood, Prashant Shenoy, </a:t>
            </a:r>
          </a:p>
          <a:p>
            <a:pPr>
              <a:lnSpc>
                <a:spcPct val="90000"/>
              </a:lnSpc>
            </a:pPr>
            <a:r>
              <a:rPr lang="en-US" altLang="en-US" sz="1996"/>
              <a:t>Arun Venkataramani, and Mazin Yousif</a:t>
            </a:r>
            <a:r>
              <a:rPr lang="en-US" altLang="en-US" sz="2177" baseline="30000"/>
              <a:t>*</a:t>
            </a:r>
          </a:p>
          <a:p>
            <a:pPr>
              <a:lnSpc>
                <a:spcPct val="90000"/>
              </a:lnSpc>
            </a:pPr>
            <a:endParaRPr lang="en-US" altLang="en-US" sz="1996"/>
          </a:p>
          <a:p>
            <a:pPr>
              <a:lnSpc>
                <a:spcPct val="90000"/>
              </a:lnSpc>
            </a:pPr>
            <a:r>
              <a:rPr lang="en-US" altLang="en-US" sz="1996"/>
              <a:t>University of Massachusetts Amherst</a:t>
            </a:r>
          </a:p>
          <a:p>
            <a:pPr>
              <a:lnSpc>
                <a:spcPct val="90000"/>
              </a:lnSpc>
            </a:pPr>
            <a:r>
              <a:rPr lang="en-US" altLang="en-US" sz="2177" baseline="30000"/>
              <a:t>*</a:t>
            </a:r>
            <a:r>
              <a:rPr lang="en-US" altLang="en-US" sz="1996"/>
              <a:t>Intel, Portland</a:t>
            </a:r>
          </a:p>
        </p:txBody>
      </p:sp>
      <p:sp>
        <p:nvSpPr>
          <p:cNvPr id="69636" name="Rectangle 4">
            <a:extLst>
              <a:ext uri="{FF2B5EF4-FFF2-40B4-BE49-F238E27FC236}">
                <a16:creationId xmlns:a16="http://schemas.microsoft.com/office/drawing/2014/main" id="{CE7AB144-CFF4-6D43-8ECF-3FA567EEE831}"/>
              </a:ext>
            </a:extLst>
          </p:cNvPr>
          <p:cNvSpPr>
            <a:spLocks noChangeArrowheads="1"/>
          </p:cNvSpPr>
          <p:nvPr/>
        </p:nvSpPr>
        <p:spPr bwMode="auto">
          <a:xfrm>
            <a:off x="1" y="871561"/>
            <a:ext cx="9144000" cy="345600"/>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Tree>
    <p:extLst>
      <p:ext uri="{BB962C8B-B14F-4D97-AF65-F5344CB8AC3E}">
        <p14:creationId xmlns:p14="http://schemas.microsoft.com/office/powerpoint/2010/main" val="137774528"/>
      </p:ext>
    </p:extLst>
  </p:cSld>
  <p:clrMapOvr>
    <a:masterClrMapping/>
  </p:clrMapOvr>
  <p:transition spd="med" advTm="25800">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3895B67-C50B-1440-B87E-92E88E1280B0}"/>
              </a:ext>
            </a:extLst>
          </p:cNvPr>
          <p:cNvSpPr>
            <a:spLocks noGrp="1" noChangeArrowheads="1"/>
          </p:cNvSpPr>
          <p:nvPr>
            <p:ph type="title"/>
          </p:nvPr>
        </p:nvSpPr>
        <p:spPr/>
        <p:txBody>
          <a:bodyPr/>
          <a:lstStyle/>
          <a:p>
            <a:r>
              <a:rPr lang="en-GB" altLang="en-US"/>
              <a:t>Enterprise Data Centers</a:t>
            </a:r>
            <a:endParaRPr lang="en-US" altLang="en-US"/>
          </a:p>
        </p:txBody>
      </p:sp>
      <p:sp>
        <p:nvSpPr>
          <p:cNvPr id="68611" name="Rectangle 3">
            <a:extLst>
              <a:ext uri="{FF2B5EF4-FFF2-40B4-BE49-F238E27FC236}">
                <a16:creationId xmlns:a16="http://schemas.microsoft.com/office/drawing/2014/main" id="{AFA4F6C6-34E8-CF47-81F0-8A57C1EDF677}"/>
              </a:ext>
            </a:extLst>
          </p:cNvPr>
          <p:cNvSpPr>
            <a:spLocks noGrp="1" noChangeArrowheads="1"/>
          </p:cNvSpPr>
          <p:nvPr>
            <p:ph type="body" idx="1"/>
          </p:nvPr>
        </p:nvSpPr>
        <p:spPr>
          <a:xfrm>
            <a:off x="381601" y="1143720"/>
            <a:ext cx="6402240" cy="4982400"/>
          </a:xfrm>
        </p:spPr>
        <p:txBody>
          <a:bodyPr/>
          <a:lstStyle/>
          <a:p>
            <a:r>
              <a:rPr lang="en-GB" altLang="en-US" sz="2540"/>
              <a:t>Data Centers are composed of:</a:t>
            </a:r>
          </a:p>
          <a:p>
            <a:pPr lvl="1"/>
            <a:r>
              <a:rPr lang="en-GB" altLang="en-US" sz="2177"/>
              <a:t>Large clusters of servers</a:t>
            </a:r>
          </a:p>
          <a:p>
            <a:pPr lvl="1"/>
            <a:r>
              <a:rPr lang="en-GB" altLang="en-US" sz="2177"/>
              <a:t>Network attached storage devices</a:t>
            </a:r>
          </a:p>
          <a:p>
            <a:endParaRPr lang="en-GB" altLang="en-US" sz="1451"/>
          </a:p>
          <a:p>
            <a:r>
              <a:rPr lang="en-GB" altLang="en-US" sz="2540"/>
              <a:t>Multiple applications per server</a:t>
            </a:r>
          </a:p>
          <a:p>
            <a:pPr lvl="1"/>
            <a:r>
              <a:rPr lang="en-GB" altLang="en-US" sz="2177"/>
              <a:t>Shared hosting environment</a:t>
            </a:r>
          </a:p>
          <a:p>
            <a:pPr lvl="1"/>
            <a:r>
              <a:rPr lang="en-GB" altLang="en-US" sz="2177"/>
              <a:t>Multi-tier, may span multiple servers</a:t>
            </a:r>
          </a:p>
          <a:p>
            <a:endParaRPr lang="en-GB" altLang="en-US" sz="1633"/>
          </a:p>
          <a:p>
            <a:r>
              <a:rPr lang="en-GB" altLang="en-US" sz="2540"/>
              <a:t>Allocates resources to meet </a:t>
            </a:r>
            <a:br>
              <a:rPr lang="en-GB" altLang="en-US" sz="2540"/>
            </a:br>
            <a:r>
              <a:rPr lang="en-GB" altLang="en-US" sz="2540"/>
              <a:t>Service Level Agreements (SLAs)</a:t>
            </a:r>
          </a:p>
          <a:p>
            <a:endParaRPr lang="en-GB" altLang="en-US" sz="1451"/>
          </a:p>
          <a:p>
            <a:r>
              <a:rPr lang="en-GB" altLang="en-US" sz="2540"/>
              <a:t>Virtualization increasingly common</a:t>
            </a:r>
            <a:endParaRPr lang="en-US" altLang="en-US" sz="2540"/>
          </a:p>
        </p:txBody>
      </p:sp>
      <p:pic>
        <p:nvPicPr>
          <p:cNvPr id="68612" name="Picture 4">
            <a:extLst>
              <a:ext uri="{FF2B5EF4-FFF2-40B4-BE49-F238E27FC236}">
                <a16:creationId xmlns:a16="http://schemas.microsoft.com/office/drawing/2014/main" id="{7835D736-EB3E-0443-BF15-631B672DFD83}"/>
              </a:ext>
            </a:extLst>
          </p:cNvPr>
          <p:cNvPicPr>
            <a:picLocks noChangeAspect="1" noChangeArrowheads="1"/>
          </p:cNvPicPr>
          <p:nvPr/>
        </p:nvPicPr>
        <p:blipFill>
          <a:blip r:embed="rId3">
            <a:lum bright="18000" contrast="24000"/>
            <a:extLst>
              <a:ext uri="{28A0092B-C50C-407E-A947-70E740481C1C}">
                <a14:useLocalDpi xmlns:a14="http://schemas.microsoft.com/office/drawing/2010/main" val="0"/>
              </a:ext>
            </a:extLst>
          </a:blip>
          <a:srcRect/>
          <a:stretch>
            <a:fillRect/>
          </a:stretch>
        </p:blipFill>
        <p:spPr bwMode="auto">
          <a:xfrm>
            <a:off x="6783841" y="1286281"/>
            <a:ext cx="2208960" cy="1730880"/>
          </a:xfrm>
          <a:prstGeom prst="rect">
            <a:avLst/>
          </a:prstGeom>
          <a:noFill/>
          <a:ln>
            <a:noFill/>
          </a:ln>
          <a:effectLst>
            <a:outerShdw dist="35921" dir="8100000" algn="ctr" rotWithShape="0">
              <a:srgbClr val="808080">
                <a:alpha val="50000"/>
              </a:srgbClr>
            </a:outerShdw>
          </a:effectLst>
          <a:extLst>
            <a:ext uri="{909E8E84-426E-40DD-AFC4-6F175D3DCCD1}">
              <a14:hiddenFill xmlns:a14="http://schemas.microsoft.com/office/drawing/2010/main">
                <a:blipFill dpi="0" rotWithShape="0">
                  <a:blip>
                    <a:lum bright="18000" contrast="24000"/>
                  </a:blip>
                  <a:srcRect/>
                  <a:stretch>
                    <a:fillRect/>
                  </a:stretch>
                </a:blipFill>
              </a14:hiddenFill>
            </a:ext>
            <a:ext uri="{91240B29-F687-4F45-9708-019B960494DF}">
              <a14:hiddenLine xmlns:a14="http://schemas.microsoft.com/office/drawing/2010/main" w="9525">
                <a:solidFill>
                  <a:srgbClr val="000000"/>
                </a:solidFill>
                <a:round/>
                <a:headEnd/>
                <a:tailEnd/>
              </a14:hiddenLine>
            </a:ext>
          </a:extLst>
        </p:spPr>
      </p:pic>
      <p:pic>
        <p:nvPicPr>
          <p:cNvPr id="68613" name="Picture 5">
            <a:extLst>
              <a:ext uri="{FF2B5EF4-FFF2-40B4-BE49-F238E27FC236}">
                <a16:creationId xmlns:a16="http://schemas.microsoft.com/office/drawing/2014/main" id="{04DA5B37-28EF-374F-8FCB-3F95E5255E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4999"/>
          <a:stretch>
            <a:fillRect/>
          </a:stretch>
        </p:blipFill>
        <p:spPr bwMode="auto">
          <a:xfrm>
            <a:off x="6783841" y="3796201"/>
            <a:ext cx="2211840" cy="1804320"/>
          </a:xfrm>
          <a:prstGeom prst="rect">
            <a:avLst/>
          </a:prstGeom>
          <a:noFill/>
          <a:ln>
            <a:noFill/>
          </a:ln>
          <a:effectLst>
            <a:outerShdw dist="35921" dir="8100000" algn="ctr" rotWithShape="0">
              <a:srgbClr val="808080">
                <a:alpha val="50000"/>
              </a:srgbClr>
            </a:outerShdw>
          </a:effectLst>
          <a:extLst>
            <a:ext uri="{909E8E84-426E-40DD-AFC4-6F175D3DCCD1}">
              <a14:hiddenFill xmlns:a14="http://schemas.microsoft.com/office/drawing/2010/main">
                <a:blipFill dpi="0" rotWithShape="0">
                  <a:blip/>
                  <a:srcRect r="14999"/>
                  <a:stretch>
                    <a:fillRect/>
                  </a:stretch>
                </a:blip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701230684"/>
      </p:ext>
    </p:extLst>
  </p:cSld>
  <p:clrMapOvr>
    <a:masterClrMapping/>
  </p:clrMapOvr>
  <p:transition spd="med" advTm="59700">
    <p:fade thruBlk="1"/>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7BA66BD3-2248-7248-870A-6BD476022F7C}"/>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Benefits of Virtualization</a:t>
            </a:r>
          </a:p>
        </p:txBody>
      </p:sp>
      <p:sp>
        <p:nvSpPr>
          <p:cNvPr id="7170" name="Rectangle 2">
            <a:extLst>
              <a:ext uri="{FF2B5EF4-FFF2-40B4-BE49-F238E27FC236}">
                <a16:creationId xmlns:a16="http://schemas.microsoft.com/office/drawing/2014/main" id="{DA543C21-E782-1543-A8F6-5A32F66A3DCC}"/>
              </a:ext>
            </a:extLst>
          </p:cNvPr>
          <p:cNvSpPr>
            <a:spLocks noGrp="1" noChangeArrowheads="1"/>
          </p:cNvSpPr>
          <p:nvPr>
            <p:ph type="body" idx="1"/>
          </p:nvPr>
        </p:nvSpPr>
        <p:spPr>
          <a:xfrm>
            <a:off x="381601" y="1143721"/>
            <a:ext cx="831024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Run multiple applications on one server</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Each application runs in its own virtual machine</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Maintains isolation</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Provides security</a:t>
            </a:r>
            <a:endParaRPr lang="en-GB" altLang="en-US" sz="726"/>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Rapidly adjust resource allocations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CPU priority, memory allocation</a:t>
            </a:r>
            <a:endParaRPr lang="en-GB" altLang="en-US" sz="726"/>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VM migration</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“Transparent” to application</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No downtime, but incurs overhead</a:t>
            </a:r>
          </a:p>
        </p:txBody>
      </p:sp>
      <p:sp>
        <p:nvSpPr>
          <p:cNvPr id="7173" name="Rectangle 5">
            <a:extLst>
              <a:ext uri="{FF2B5EF4-FFF2-40B4-BE49-F238E27FC236}">
                <a16:creationId xmlns:a16="http://schemas.microsoft.com/office/drawing/2014/main" id="{448403B9-1B5D-9046-B17C-194895DA6DFB}"/>
              </a:ext>
            </a:extLst>
          </p:cNvPr>
          <p:cNvSpPr>
            <a:spLocks noChangeArrowheads="1"/>
          </p:cNvSpPr>
          <p:nvPr/>
        </p:nvSpPr>
        <p:spPr bwMode="auto">
          <a:xfrm>
            <a:off x="1392481" y="5433481"/>
            <a:ext cx="6359040" cy="898560"/>
          </a:xfrm>
          <a:prstGeom prst="rect">
            <a:avLst/>
          </a:prstGeom>
          <a:solidFill>
            <a:srgbClr val="CCECFF"/>
          </a:solidFill>
          <a:ln w="12700"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ct val="20000"/>
              </a:spcBef>
              <a:spcAft>
                <a:spcPct val="0"/>
              </a:spcAft>
              <a:buClr>
                <a:srgbClr val="3333CC"/>
              </a:buClr>
              <a:buSzPct val="60000"/>
            </a:pPr>
            <a:r>
              <a:rPr lang="en-GB" altLang="en-US" sz="2268">
                <a:solidFill>
                  <a:srgbClr val="3333CC"/>
                </a:solidFill>
                <a:latin typeface="Verdana" panose="020B0604030504040204" pitchFamily="34" charset="0"/>
              </a:rPr>
              <a:t>How can we use virtualization to more </a:t>
            </a:r>
            <a:br>
              <a:rPr lang="en-GB" altLang="en-US" sz="2268">
                <a:solidFill>
                  <a:srgbClr val="3333CC"/>
                </a:solidFill>
                <a:latin typeface="Verdana" panose="020B0604030504040204" pitchFamily="34" charset="0"/>
              </a:rPr>
            </a:br>
            <a:r>
              <a:rPr lang="en-GB" altLang="en-US" sz="2268">
                <a:solidFill>
                  <a:srgbClr val="3333CC"/>
                </a:solidFill>
                <a:latin typeface="Verdana" panose="020B0604030504040204" pitchFamily="34" charset="0"/>
              </a:rPr>
              <a:t>efficiently utilize data center resources?</a:t>
            </a:r>
            <a:endParaRPr lang="en-US" altLang="en-US" sz="2268">
              <a:solidFill>
                <a:srgbClr val="3333CC"/>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53468512"/>
      </p:ext>
    </p:extLst>
  </p:cSld>
  <p:clrMapOvr>
    <a:masterClrMapping/>
  </p:clrMapOvr>
  <p:transition spd="med" advTm="6590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additive="base">
                                        <p:cTn id="7" dur="500" fill="hold"/>
                                        <p:tgtEl>
                                          <p:spTgt spid="7173"/>
                                        </p:tgtEl>
                                        <p:attrNameLst>
                                          <p:attrName>ppt_x</p:attrName>
                                        </p:attrNameLst>
                                      </p:cBhvr>
                                      <p:tavLst>
                                        <p:tav tm="0">
                                          <p:val>
                                            <p:strVal val="#ppt_x"/>
                                          </p:val>
                                        </p:tav>
                                        <p:tav tm="100000">
                                          <p:val>
                                            <p:strVal val="#ppt_x"/>
                                          </p:val>
                                        </p:tav>
                                      </p:tavLst>
                                    </p:anim>
                                    <p:anim calcmode="lin" valueType="num">
                                      <p:cBhvr additive="base">
                                        <p:cTn id="8"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4EDCAF2D-3150-3C40-B505-F536C6AC8909}"/>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Data Center Workloads</a:t>
            </a:r>
          </a:p>
        </p:txBody>
      </p:sp>
      <p:sp>
        <p:nvSpPr>
          <p:cNvPr id="5122" name="Rectangle 2">
            <a:extLst>
              <a:ext uri="{FF2B5EF4-FFF2-40B4-BE49-F238E27FC236}">
                <a16:creationId xmlns:a16="http://schemas.microsoft.com/office/drawing/2014/main" id="{4EEC322C-F732-4E4C-85C0-5DC416E5BC21}"/>
              </a:ext>
            </a:extLst>
          </p:cNvPr>
          <p:cNvSpPr>
            <a:spLocks noGrp="1" noChangeArrowheads="1"/>
          </p:cNvSpPr>
          <p:nvPr>
            <p:ph type="body" idx="1"/>
          </p:nvPr>
        </p:nvSpPr>
        <p:spPr>
          <a:xfrm>
            <a:off x="381601" y="1009801"/>
            <a:ext cx="854496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903"/>
              <a:t>Web applications see highly dynamic workloads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Multi-time-scale variations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Transient spikes and flash crowds</a:t>
            </a:r>
            <a:endParaRPr lang="en-GB" altLang="en-US" sz="2449">
              <a:solidFill>
                <a:schemeClr val="folHlink"/>
              </a:solidFill>
            </a:endParaRPr>
          </a:p>
        </p:txBody>
      </p:sp>
      <p:grpSp>
        <p:nvGrpSpPr>
          <p:cNvPr id="5124" name="Group 4">
            <a:extLst>
              <a:ext uri="{FF2B5EF4-FFF2-40B4-BE49-F238E27FC236}">
                <a16:creationId xmlns:a16="http://schemas.microsoft.com/office/drawing/2014/main" id="{95E30B15-F4CF-5143-A97C-AAAAA1D8B3D0}"/>
              </a:ext>
            </a:extLst>
          </p:cNvPr>
          <p:cNvGrpSpPr>
            <a:grpSpLocks/>
          </p:cNvGrpSpPr>
          <p:nvPr/>
        </p:nvGrpSpPr>
        <p:grpSpPr bwMode="auto">
          <a:xfrm>
            <a:off x="404795" y="3221641"/>
            <a:ext cx="3804175" cy="1943850"/>
            <a:chOff x="2957" y="935"/>
            <a:chExt cx="2790" cy="1424"/>
          </a:xfrm>
        </p:grpSpPr>
        <p:pic>
          <p:nvPicPr>
            <p:cNvPr id="5125" name="Picture 5">
              <a:extLst>
                <a:ext uri="{FF2B5EF4-FFF2-40B4-BE49-F238E27FC236}">
                  <a16:creationId xmlns:a16="http://schemas.microsoft.com/office/drawing/2014/main" id="{19214CB5-48CC-B145-BE27-1AAD643669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 y="1029"/>
              <a:ext cx="2366" cy="87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6" name="Text Box 6">
              <a:extLst>
                <a:ext uri="{FF2B5EF4-FFF2-40B4-BE49-F238E27FC236}">
                  <a16:creationId xmlns:a16="http://schemas.microsoft.com/office/drawing/2014/main" id="{472988AC-B14D-8D43-A6DA-474D8787D320}"/>
                </a:ext>
              </a:extLst>
            </p:cNvPr>
            <p:cNvSpPr txBox="1">
              <a:spLocks noChangeArrowheads="1"/>
            </p:cNvSpPr>
            <p:nvPr/>
          </p:nvSpPr>
          <p:spPr bwMode="auto">
            <a:xfrm>
              <a:off x="3957" y="2087"/>
              <a:ext cx="108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b="1">
                  <a:latin typeface="Helvetica" pitchFamily="2" charset="0"/>
                  <a:cs typeface="Arial" panose="020B0604020202020204" pitchFamily="34" charset="0"/>
                </a:rPr>
                <a:t>Time (days)</a:t>
              </a:r>
            </a:p>
          </p:txBody>
        </p:sp>
        <p:sp>
          <p:nvSpPr>
            <p:cNvPr id="5127" name="Text Box 7">
              <a:extLst>
                <a:ext uri="{FF2B5EF4-FFF2-40B4-BE49-F238E27FC236}">
                  <a16:creationId xmlns:a16="http://schemas.microsoft.com/office/drawing/2014/main" id="{341E2251-0435-0145-8FB7-D9D14F975BBE}"/>
                </a:ext>
              </a:extLst>
            </p:cNvPr>
            <p:cNvSpPr txBox="1">
              <a:spLocks noChangeArrowheads="1"/>
            </p:cNvSpPr>
            <p:nvPr/>
          </p:nvSpPr>
          <p:spPr bwMode="auto">
            <a:xfrm>
              <a:off x="3246" y="1902"/>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0</a:t>
              </a:r>
            </a:p>
          </p:txBody>
        </p:sp>
        <p:sp>
          <p:nvSpPr>
            <p:cNvPr id="5128" name="Text Box 8">
              <a:extLst>
                <a:ext uri="{FF2B5EF4-FFF2-40B4-BE49-F238E27FC236}">
                  <a16:creationId xmlns:a16="http://schemas.microsoft.com/office/drawing/2014/main" id="{D4D65B44-9353-3D4C-AF2E-FFE5BBC1E039}"/>
                </a:ext>
              </a:extLst>
            </p:cNvPr>
            <p:cNvSpPr txBox="1">
              <a:spLocks noChangeArrowheads="1"/>
            </p:cNvSpPr>
            <p:nvPr/>
          </p:nvSpPr>
          <p:spPr bwMode="auto">
            <a:xfrm>
              <a:off x="3742" y="1904"/>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1</a:t>
              </a:r>
            </a:p>
          </p:txBody>
        </p:sp>
        <p:sp>
          <p:nvSpPr>
            <p:cNvPr id="5129" name="Text Box 9">
              <a:extLst>
                <a:ext uri="{FF2B5EF4-FFF2-40B4-BE49-F238E27FC236}">
                  <a16:creationId xmlns:a16="http://schemas.microsoft.com/office/drawing/2014/main" id="{17F30D08-6EBE-4941-8BC6-7D9DBFE480D1}"/>
                </a:ext>
              </a:extLst>
            </p:cNvPr>
            <p:cNvSpPr txBox="1">
              <a:spLocks noChangeArrowheads="1"/>
            </p:cNvSpPr>
            <p:nvPr/>
          </p:nvSpPr>
          <p:spPr bwMode="auto">
            <a:xfrm>
              <a:off x="4172" y="1904"/>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2</a:t>
              </a:r>
            </a:p>
          </p:txBody>
        </p:sp>
        <p:sp>
          <p:nvSpPr>
            <p:cNvPr id="5130" name="Text Box 10">
              <a:extLst>
                <a:ext uri="{FF2B5EF4-FFF2-40B4-BE49-F238E27FC236}">
                  <a16:creationId xmlns:a16="http://schemas.microsoft.com/office/drawing/2014/main" id="{33331294-71B9-B848-9EC0-10780EABD45C}"/>
                </a:ext>
              </a:extLst>
            </p:cNvPr>
            <p:cNvSpPr txBox="1">
              <a:spLocks noChangeArrowheads="1"/>
            </p:cNvSpPr>
            <p:nvPr/>
          </p:nvSpPr>
          <p:spPr bwMode="auto">
            <a:xfrm>
              <a:off x="4653" y="1904"/>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3</a:t>
              </a:r>
            </a:p>
          </p:txBody>
        </p:sp>
        <p:sp>
          <p:nvSpPr>
            <p:cNvPr id="5131" name="Text Box 11">
              <a:extLst>
                <a:ext uri="{FF2B5EF4-FFF2-40B4-BE49-F238E27FC236}">
                  <a16:creationId xmlns:a16="http://schemas.microsoft.com/office/drawing/2014/main" id="{2C8B7637-585D-D540-A094-439B54E362AC}"/>
                </a:ext>
              </a:extLst>
            </p:cNvPr>
            <p:cNvSpPr txBox="1">
              <a:spLocks noChangeArrowheads="1"/>
            </p:cNvSpPr>
            <p:nvPr/>
          </p:nvSpPr>
          <p:spPr bwMode="auto">
            <a:xfrm>
              <a:off x="5128" y="1904"/>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4</a:t>
              </a:r>
            </a:p>
          </p:txBody>
        </p:sp>
        <p:sp>
          <p:nvSpPr>
            <p:cNvPr id="5132" name="Text Box 12">
              <a:extLst>
                <a:ext uri="{FF2B5EF4-FFF2-40B4-BE49-F238E27FC236}">
                  <a16:creationId xmlns:a16="http://schemas.microsoft.com/office/drawing/2014/main" id="{5C16639F-9AD8-EC42-998B-210771AF76B9}"/>
                </a:ext>
              </a:extLst>
            </p:cNvPr>
            <p:cNvSpPr txBox="1">
              <a:spLocks noChangeArrowheads="1"/>
            </p:cNvSpPr>
            <p:nvPr/>
          </p:nvSpPr>
          <p:spPr bwMode="auto">
            <a:xfrm>
              <a:off x="5556" y="1904"/>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5</a:t>
              </a:r>
            </a:p>
          </p:txBody>
        </p:sp>
        <p:sp>
          <p:nvSpPr>
            <p:cNvPr id="5133" name="Text Box 13">
              <a:extLst>
                <a:ext uri="{FF2B5EF4-FFF2-40B4-BE49-F238E27FC236}">
                  <a16:creationId xmlns:a16="http://schemas.microsoft.com/office/drawing/2014/main" id="{E8066A45-6098-BD4F-9DCA-B12A63B215EF}"/>
                </a:ext>
              </a:extLst>
            </p:cNvPr>
            <p:cNvSpPr txBox="1">
              <a:spLocks noChangeArrowheads="1"/>
            </p:cNvSpPr>
            <p:nvPr/>
          </p:nvSpPr>
          <p:spPr bwMode="auto">
            <a:xfrm>
              <a:off x="3107" y="1757"/>
              <a:ext cx="191"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089" b="1">
                  <a:latin typeface="Helvetica" pitchFamily="2" charset="0"/>
                  <a:cs typeface="Arial" panose="020B0604020202020204" pitchFamily="34" charset="0"/>
                </a:rPr>
                <a:t>0</a:t>
              </a:r>
            </a:p>
          </p:txBody>
        </p:sp>
        <p:sp>
          <p:nvSpPr>
            <p:cNvPr id="5134" name="Text Box 14">
              <a:extLst>
                <a:ext uri="{FF2B5EF4-FFF2-40B4-BE49-F238E27FC236}">
                  <a16:creationId xmlns:a16="http://schemas.microsoft.com/office/drawing/2014/main" id="{D77CDD28-6E72-194E-9CD7-AE205EDB41C6}"/>
                </a:ext>
              </a:extLst>
            </p:cNvPr>
            <p:cNvSpPr txBox="1">
              <a:spLocks noChangeArrowheads="1"/>
            </p:cNvSpPr>
            <p:nvPr/>
          </p:nvSpPr>
          <p:spPr bwMode="auto">
            <a:xfrm>
              <a:off x="2957" y="935"/>
              <a:ext cx="323"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81" tIns="45391" rIns="90781" bIns="45391">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907" b="1">
                  <a:latin typeface="Helvetica" pitchFamily="2" charset="0"/>
                  <a:cs typeface="Arial" panose="020B0604020202020204" pitchFamily="34" charset="0"/>
                </a:rPr>
                <a:t>1200</a:t>
              </a:r>
            </a:p>
          </p:txBody>
        </p:sp>
      </p:grpSp>
      <p:sp>
        <p:nvSpPr>
          <p:cNvPr id="5135" name="Text Box 15">
            <a:extLst>
              <a:ext uri="{FF2B5EF4-FFF2-40B4-BE49-F238E27FC236}">
                <a16:creationId xmlns:a16="http://schemas.microsoft.com/office/drawing/2014/main" id="{16F34ACF-1F90-B242-9BBD-00430049E676}"/>
              </a:ext>
            </a:extLst>
          </p:cNvPr>
          <p:cNvSpPr txBox="1">
            <a:spLocks noChangeArrowheads="1"/>
          </p:cNvSpPr>
          <p:nvPr/>
        </p:nvSpPr>
        <p:spPr bwMode="auto">
          <a:xfrm rot="16200000">
            <a:off x="-643876" y="3854144"/>
            <a:ext cx="1953032" cy="370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72" tIns="45385" rIns="90772" bIns="45385">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814" b="1">
                <a:latin typeface="Helvetica" pitchFamily="2" charset="0"/>
                <a:cs typeface="Arial" panose="020B0604020202020204" pitchFamily="34" charset="0"/>
              </a:rPr>
              <a:t>Arrivals per min</a:t>
            </a:r>
          </a:p>
        </p:txBody>
      </p:sp>
      <p:grpSp>
        <p:nvGrpSpPr>
          <p:cNvPr id="5138" name="Group 18">
            <a:extLst>
              <a:ext uri="{FF2B5EF4-FFF2-40B4-BE49-F238E27FC236}">
                <a16:creationId xmlns:a16="http://schemas.microsoft.com/office/drawing/2014/main" id="{0FD4F2FF-A769-5C4A-B582-4813DE263112}"/>
              </a:ext>
            </a:extLst>
          </p:cNvPr>
          <p:cNvGrpSpPr>
            <a:grpSpLocks/>
          </p:cNvGrpSpPr>
          <p:nvPr/>
        </p:nvGrpSpPr>
        <p:grpSpPr bwMode="auto">
          <a:xfrm>
            <a:off x="4364641" y="3287880"/>
            <a:ext cx="4631040" cy="1630949"/>
            <a:chOff x="1591" y="3388"/>
            <a:chExt cx="3553" cy="1412"/>
          </a:xfrm>
        </p:grpSpPr>
        <p:sp>
          <p:nvSpPr>
            <p:cNvPr id="5139" name="AutoShape 19">
              <a:extLst>
                <a:ext uri="{FF2B5EF4-FFF2-40B4-BE49-F238E27FC236}">
                  <a16:creationId xmlns:a16="http://schemas.microsoft.com/office/drawing/2014/main" id="{2DF6BA90-82C0-A94F-A99A-588E932ECE9F}"/>
                </a:ext>
              </a:extLst>
            </p:cNvPr>
            <p:cNvSpPr>
              <a:spLocks noChangeArrowheads="1"/>
            </p:cNvSpPr>
            <p:nvPr/>
          </p:nvSpPr>
          <p:spPr bwMode="auto">
            <a:xfrm>
              <a:off x="1591" y="3388"/>
              <a:ext cx="3553" cy="1345"/>
            </a:xfrm>
            <a:prstGeom prst="roundRect">
              <a:avLst>
                <a:gd name="adj" fmla="val 88"/>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0" name="Rectangle 20">
              <a:extLst>
                <a:ext uri="{FF2B5EF4-FFF2-40B4-BE49-F238E27FC236}">
                  <a16:creationId xmlns:a16="http://schemas.microsoft.com/office/drawing/2014/main" id="{9FE110F5-30A4-2A45-A8F0-7E5B1384A50B}"/>
                </a:ext>
              </a:extLst>
            </p:cNvPr>
            <p:cNvSpPr>
              <a:spLocks noChangeArrowheads="1"/>
            </p:cNvSpPr>
            <p:nvPr/>
          </p:nvSpPr>
          <p:spPr bwMode="auto">
            <a:xfrm>
              <a:off x="2214" y="3508"/>
              <a:ext cx="2762" cy="9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1" name="Rectangle 21">
              <a:extLst>
                <a:ext uri="{FF2B5EF4-FFF2-40B4-BE49-F238E27FC236}">
                  <a16:creationId xmlns:a16="http://schemas.microsoft.com/office/drawing/2014/main" id="{4F40105A-3732-4246-B7D4-2B7B7F5F9A56}"/>
                </a:ext>
              </a:extLst>
            </p:cNvPr>
            <p:cNvSpPr>
              <a:spLocks noChangeArrowheads="1"/>
            </p:cNvSpPr>
            <p:nvPr/>
          </p:nvSpPr>
          <p:spPr bwMode="auto">
            <a:xfrm>
              <a:off x="2214" y="3508"/>
              <a:ext cx="2762" cy="902"/>
            </a:xfrm>
            <a:prstGeom prst="rect">
              <a:avLst/>
            </a:prstGeom>
            <a:noFill/>
            <a:ln w="4680">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2" name="Freeform 22">
              <a:extLst>
                <a:ext uri="{FF2B5EF4-FFF2-40B4-BE49-F238E27FC236}">
                  <a16:creationId xmlns:a16="http://schemas.microsoft.com/office/drawing/2014/main" id="{830F36CB-1559-DE42-A361-B7807D228976}"/>
                </a:ext>
              </a:extLst>
            </p:cNvPr>
            <p:cNvSpPr>
              <a:spLocks noChangeArrowheads="1"/>
            </p:cNvSpPr>
            <p:nvPr/>
          </p:nvSpPr>
          <p:spPr bwMode="auto">
            <a:xfrm>
              <a:off x="2214" y="4310"/>
              <a:ext cx="956" cy="101"/>
            </a:xfrm>
            <a:custGeom>
              <a:avLst/>
              <a:gdLst>
                <a:gd name="T0" fmla="*/ 14 w 452"/>
                <a:gd name="T1" fmla="*/ 8 h 86"/>
                <a:gd name="T2" fmla="*/ 27 w 452"/>
                <a:gd name="T3" fmla="*/ 12 h 86"/>
                <a:gd name="T4" fmla="*/ 41 w 452"/>
                <a:gd name="T5" fmla="*/ 16 h 86"/>
                <a:gd name="T6" fmla="*/ 55 w 452"/>
                <a:gd name="T7" fmla="*/ 12 h 86"/>
                <a:gd name="T8" fmla="*/ 72 w 452"/>
                <a:gd name="T9" fmla="*/ 16 h 86"/>
                <a:gd name="T10" fmla="*/ 86 w 452"/>
                <a:gd name="T11" fmla="*/ 16 h 86"/>
                <a:gd name="T12" fmla="*/ 99 w 452"/>
                <a:gd name="T13" fmla="*/ 20 h 86"/>
                <a:gd name="T14" fmla="*/ 113 w 452"/>
                <a:gd name="T15" fmla="*/ 12 h 86"/>
                <a:gd name="T16" fmla="*/ 130 w 452"/>
                <a:gd name="T17" fmla="*/ 8 h 86"/>
                <a:gd name="T18" fmla="*/ 144 w 452"/>
                <a:gd name="T19" fmla="*/ 12 h 86"/>
                <a:gd name="T20" fmla="*/ 158 w 452"/>
                <a:gd name="T21" fmla="*/ 12 h 86"/>
                <a:gd name="T22" fmla="*/ 171 w 452"/>
                <a:gd name="T23" fmla="*/ 16 h 86"/>
                <a:gd name="T24" fmla="*/ 188 w 452"/>
                <a:gd name="T25" fmla="*/ 4 h 86"/>
                <a:gd name="T26" fmla="*/ 202 w 452"/>
                <a:gd name="T27" fmla="*/ 12 h 86"/>
                <a:gd name="T28" fmla="*/ 216 w 452"/>
                <a:gd name="T29" fmla="*/ 12 h 86"/>
                <a:gd name="T30" fmla="*/ 230 w 452"/>
                <a:gd name="T31" fmla="*/ 12 h 86"/>
                <a:gd name="T32" fmla="*/ 247 w 452"/>
                <a:gd name="T33" fmla="*/ 8 h 86"/>
                <a:gd name="T34" fmla="*/ 260 w 452"/>
                <a:gd name="T35" fmla="*/ 16 h 86"/>
                <a:gd name="T36" fmla="*/ 274 w 452"/>
                <a:gd name="T37" fmla="*/ 20 h 86"/>
                <a:gd name="T38" fmla="*/ 288 w 452"/>
                <a:gd name="T39" fmla="*/ 12 h 86"/>
                <a:gd name="T40" fmla="*/ 302 w 452"/>
                <a:gd name="T41" fmla="*/ 8 h 86"/>
                <a:gd name="T42" fmla="*/ 319 w 452"/>
                <a:gd name="T43" fmla="*/ 4 h 86"/>
                <a:gd name="T44" fmla="*/ 332 w 452"/>
                <a:gd name="T45" fmla="*/ 16 h 86"/>
                <a:gd name="T46" fmla="*/ 346 w 452"/>
                <a:gd name="T47" fmla="*/ 16 h 86"/>
                <a:gd name="T48" fmla="*/ 360 w 452"/>
                <a:gd name="T49" fmla="*/ 12 h 86"/>
                <a:gd name="T50" fmla="*/ 377 w 452"/>
                <a:gd name="T51" fmla="*/ 16 h 86"/>
                <a:gd name="T52" fmla="*/ 391 w 452"/>
                <a:gd name="T53" fmla="*/ 20 h 86"/>
                <a:gd name="T54" fmla="*/ 404 w 452"/>
                <a:gd name="T55" fmla="*/ 16 h 86"/>
                <a:gd name="T56" fmla="*/ 418 w 452"/>
                <a:gd name="T57" fmla="*/ 12 h 86"/>
                <a:gd name="T58" fmla="*/ 435 w 452"/>
                <a:gd name="T59" fmla="*/ 12 h 86"/>
                <a:gd name="T60" fmla="*/ 449 w 452"/>
                <a:gd name="T61" fmla="*/ 12 h 86"/>
                <a:gd name="T62" fmla="*/ 446 w 452"/>
                <a:gd name="T63" fmla="*/ 86 h 86"/>
                <a:gd name="T64" fmla="*/ 428 w 452"/>
                <a:gd name="T65" fmla="*/ 86 h 86"/>
                <a:gd name="T66" fmla="*/ 415 w 452"/>
                <a:gd name="T67" fmla="*/ 86 h 86"/>
                <a:gd name="T68" fmla="*/ 401 w 452"/>
                <a:gd name="T69" fmla="*/ 86 h 86"/>
                <a:gd name="T70" fmla="*/ 387 w 452"/>
                <a:gd name="T71" fmla="*/ 86 h 86"/>
                <a:gd name="T72" fmla="*/ 370 w 452"/>
                <a:gd name="T73" fmla="*/ 86 h 86"/>
                <a:gd name="T74" fmla="*/ 356 w 452"/>
                <a:gd name="T75" fmla="*/ 86 h 86"/>
                <a:gd name="T76" fmla="*/ 343 w 452"/>
                <a:gd name="T77" fmla="*/ 86 h 86"/>
                <a:gd name="T78" fmla="*/ 329 w 452"/>
                <a:gd name="T79" fmla="*/ 86 h 86"/>
                <a:gd name="T80" fmla="*/ 312 w 452"/>
                <a:gd name="T81" fmla="*/ 86 h 86"/>
                <a:gd name="T82" fmla="*/ 298 w 452"/>
                <a:gd name="T83" fmla="*/ 86 h 86"/>
                <a:gd name="T84" fmla="*/ 284 w 452"/>
                <a:gd name="T85" fmla="*/ 86 h 86"/>
                <a:gd name="T86" fmla="*/ 271 w 452"/>
                <a:gd name="T87" fmla="*/ 86 h 86"/>
                <a:gd name="T88" fmla="*/ 254 w 452"/>
                <a:gd name="T89" fmla="*/ 86 h 86"/>
                <a:gd name="T90" fmla="*/ 240 w 452"/>
                <a:gd name="T91" fmla="*/ 86 h 86"/>
                <a:gd name="T92" fmla="*/ 226 w 452"/>
                <a:gd name="T93" fmla="*/ 86 h 86"/>
                <a:gd name="T94" fmla="*/ 212 w 452"/>
                <a:gd name="T95" fmla="*/ 86 h 86"/>
                <a:gd name="T96" fmla="*/ 195 w 452"/>
                <a:gd name="T97" fmla="*/ 86 h 86"/>
                <a:gd name="T98" fmla="*/ 182 w 452"/>
                <a:gd name="T99" fmla="*/ 86 h 86"/>
                <a:gd name="T100" fmla="*/ 168 w 452"/>
                <a:gd name="T101" fmla="*/ 86 h 86"/>
                <a:gd name="T102" fmla="*/ 154 w 452"/>
                <a:gd name="T103" fmla="*/ 86 h 86"/>
                <a:gd name="T104" fmla="*/ 140 w 452"/>
                <a:gd name="T105" fmla="*/ 86 h 86"/>
                <a:gd name="T106" fmla="*/ 123 w 452"/>
                <a:gd name="T107" fmla="*/ 86 h 86"/>
                <a:gd name="T108" fmla="*/ 110 w 452"/>
                <a:gd name="T109" fmla="*/ 86 h 86"/>
                <a:gd name="T110" fmla="*/ 96 w 452"/>
                <a:gd name="T111" fmla="*/ 86 h 86"/>
                <a:gd name="T112" fmla="*/ 82 w 452"/>
                <a:gd name="T113" fmla="*/ 86 h 86"/>
                <a:gd name="T114" fmla="*/ 65 w 452"/>
                <a:gd name="T115" fmla="*/ 86 h 86"/>
                <a:gd name="T116" fmla="*/ 51 w 452"/>
                <a:gd name="T117" fmla="*/ 86 h 86"/>
                <a:gd name="T118" fmla="*/ 38 w 452"/>
                <a:gd name="T119" fmla="*/ 86 h 86"/>
                <a:gd name="T120" fmla="*/ 24 w 452"/>
                <a:gd name="T121" fmla="*/ 86 h 86"/>
                <a:gd name="T122" fmla="*/ 7 w 452"/>
                <a:gd name="T123"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2" h="86">
                  <a:moveTo>
                    <a:pt x="0" y="86"/>
                  </a:moveTo>
                  <a:lnTo>
                    <a:pt x="0" y="29"/>
                  </a:lnTo>
                  <a:lnTo>
                    <a:pt x="0" y="8"/>
                  </a:lnTo>
                  <a:lnTo>
                    <a:pt x="3" y="12"/>
                  </a:lnTo>
                  <a:lnTo>
                    <a:pt x="3" y="12"/>
                  </a:lnTo>
                  <a:lnTo>
                    <a:pt x="3" y="12"/>
                  </a:lnTo>
                  <a:lnTo>
                    <a:pt x="3" y="8"/>
                  </a:lnTo>
                  <a:lnTo>
                    <a:pt x="7" y="4"/>
                  </a:lnTo>
                  <a:lnTo>
                    <a:pt x="7" y="4"/>
                  </a:lnTo>
                  <a:lnTo>
                    <a:pt x="7" y="4"/>
                  </a:lnTo>
                  <a:lnTo>
                    <a:pt x="7" y="4"/>
                  </a:lnTo>
                  <a:lnTo>
                    <a:pt x="10" y="8"/>
                  </a:lnTo>
                  <a:lnTo>
                    <a:pt x="10" y="8"/>
                  </a:lnTo>
                  <a:lnTo>
                    <a:pt x="10" y="8"/>
                  </a:lnTo>
                  <a:lnTo>
                    <a:pt x="10" y="8"/>
                  </a:lnTo>
                  <a:lnTo>
                    <a:pt x="14" y="8"/>
                  </a:lnTo>
                  <a:lnTo>
                    <a:pt x="14" y="8"/>
                  </a:lnTo>
                  <a:lnTo>
                    <a:pt x="14" y="12"/>
                  </a:lnTo>
                  <a:lnTo>
                    <a:pt x="17" y="12"/>
                  </a:lnTo>
                  <a:lnTo>
                    <a:pt x="17" y="12"/>
                  </a:lnTo>
                  <a:lnTo>
                    <a:pt x="17" y="16"/>
                  </a:lnTo>
                  <a:lnTo>
                    <a:pt x="17" y="12"/>
                  </a:lnTo>
                  <a:lnTo>
                    <a:pt x="20" y="4"/>
                  </a:lnTo>
                  <a:lnTo>
                    <a:pt x="20" y="8"/>
                  </a:lnTo>
                  <a:lnTo>
                    <a:pt x="20" y="4"/>
                  </a:lnTo>
                  <a:lnTo>
                    <a:pt x="20" y="8"/>
                  </a:lnTo>
                  <a:lnTo>
                    <a:pt x="24" y="8"/>
                  </a:lnTo>
                  <a:lnTo>
                    <a:pt x="24" y="12"/>
                  </a:lnTo>
                  <a:lnTo>
                    <a:pt x="24" y="20"/>
                  </a:lnTo>
                  <a:lnTo>
                    <a:pt x="24" y="16"/>
                  </a:lnTo>
                  <a:lnTo>
                    <a:pt x="27" y="16"/>
                  </a:lnTo>
                  <a:lnTo>
                    <a:pt x="27" y="12"/>
                  </a:lnTo>
                  <a:lnTo>
                    <a:pt x="27" y="4"/>
                  </a:lnTo>
                  <a:lnTo>
                    <a:pt x="27" y="8"/>
                  </a:lnTo>
                  <a:lnTo>
                    <a:pt x="31" y="12"/>
                  </a:lnTo>
                  <a:lnTo>
                    <a:pt x="31" y="8"/>
                  </a:lnTo>
                  <a:lnTo>
                    <a:pt x="31" y="8"/>
                  </a:lnTo>
                  <a:lnTo>
                    <a:pt x="34" y="16"/>
                  </a:lnTo>
                  <a:lnTo>
                    <a:pt x="34" y="20"/>
                  </a:lnTo>
                  <a:lnTo>
                    <a:pt x="34" y="16"/>
                  </a:lnTo>
                  <a:lnTo>
                    <a:pt x="34" y="8"/>
                  </a:lnTo>
                  <a:lnTo>
                    <a:pt x="38" y="20"/>
                  </a:lnTo>
                  <a:lnTo>
                    <a:pt x="38" y="12"/>
                  </a:lnTo>
                  <a:lnTo>
                    <a:pt x="38" y="16"/>
                  </a:lnTo>
                  <a:lnTo>
                    <a:pt x="38" y="16"/>
                  </a:lnTo>
                  <a:lnTo>
                    <a:pt x="41" y="16"/>
                  </a:lnTo>
                  <a:lnTo>
                    <a:pt x="41" y="16"/>
                  </a:lnTo>
                  <a:lnTo>
                    <a:pt x="41" y="16"/>
                  </a:lnTo>
                  <a:lnTo>
                    <a:pt x="41" y="20"/>
                  </a:lnTo>
                  <a:lnTo>
                    <a:pt x="44" y="20"/>
                  </a:lnTo>
                  <a:lnTo>
                    <a:pt x="44" y="16"/>
                  </a:lnTo>
                  <a:lnTo>
                    <a:pt x="44" y="24"/>
                  </a:lnTo>
                  <a:lnTo>
                    <a:pt x="48" y="20"/>
                  </a:lnTo>
                  <a:lnTo>
                    <a:pt x="48" y="16"/>
                  </a:lnTo>
                  <a:lnTo>
                    <a:pt x="48" y="16"/>
                  </a:lnTo>
                  <a:lnTo>
                    <a:pt x="48" y="16"/>
                  </a:lnTo>
                  <a:lnTo>
                    <a:pt x="51" y="12"/>
                  </a:lnTo>
                  <a:lnTo>
                    <a:pt x="51" y="16"/>
                  </a:lnTo>
                  <a:lnTo>
                    <a:pt x="51" y="20"/>
                  </a:lnTo>
                  <a:lnTo>
                    <a:pt x="51" y="20"/>
                  </a:lnTo>
                  <a:lnTo>
                    <a:pt x="55" y="16"/>
                  </a:lnTo>
                  <a:lnTo>
                    <a:pt x="55" y="20"/>
                  </a:lnTo>
                  <a:lnTo>
                    <a:pt x="55" y="20"/>
                  </a:lnTo>
                  <a:lnTo>
                    <a:pt x="55" y="12"/>
                  </a:lnTo>
                  <a:lnTo>
                    <a:pt x="58" y="12"/>
                  </a:lnTo>
                  <a:lnTo>
                    <a:pt x="58" y="12"/>
                  </a:lnTo>
                  <a:lnTo>
                    <a:pt x="58" y="12"/>
                  </a:lnTo>
                  <a:lnTo>
                    <a:pt x="58" y="20"/>
                  </a:lnTo>
                  <a:lnTo>
                    <a:pt x="62" y="20"/>
                  </a:lnTo>
                  <a:lnTo>
                    <a:pt x="62" y="16"/>
                  </a:lnTo>
                  <a:lnTo>
                    <a:pt x="62" y="20"/>
                  </a:lnTo>
                  <a:lnTo>
                    <a:pt x="65" y="20"/>
                  </a:lnTo>
                  <a:lnTo>
                    <a:pt x="65" y="16"/>
                  </a:lnTo>
                  <a:lnTo>
                    <a:pt x="65" y="20"/>
                  </a:lnTo>
                  <a:lnTo>
                    <a:pt x="65" y="20"/>
                  </a:lnTo>
                  <a:lnTo>
                    <a:pt x="68" y="20"/>
                  </a:lnTo>
                  <a:lnTo>
                    <a:pt x="68" y="16"/>
                  </a:lnTo>
                  <a:lnTo>
                    <a:pt x="68" y="16"/>
                  </a:lnTo>
                  <a:lnTo>
                    <a:pt x="68" y="16"/>
                  </a:lnTo>
                  <a:lnTo>
                    <a:pt x="72" y="16"/>
                  </a:lnTo>
                  <a:lnTo>
                    <a:pt x="72" y="16"/>
                  </a:lnTo>
                  <a:lnTo>
                    <a:pt x="72" y="12"/>
                  </a:lnTo>
                  <a:lnTo>
                    <a:pt x="72" y="16"/>
                  </a:lnTo>
                  <a:lnTo>
                    <a:pt x="75" y="12"/>
                  </a:lnTo>
                  <a:lnTo>
                    <a:pt x="75" y="16"/>
                  </a:lnTo>
                  <a:lnTo>
                    <a:pt x="75" y="16"/>
                  </a:lnTo>
                  <a:lnTo>
                    <a:pt x="79" y="16"/>
                  </a:lnTo>
                  <a:lnTo>
                    <a:pt x="79" y="12"/>
                  </a:lnTo>
                  <a:lnTo>
                    <a:pt x="79" y="12"/>
                  </a:lnTo>
                  <a:lnTo>
                    <a:pt x="79" y="12"/>
                  </a:lnTo>
                  <a:lnTo>
                    <a:pt x="82" y="12"/>
                  </a:lnTo>
                  <a:lnTo>
                    <a:pt x="82" y="16"/>
                  </a:lnTo>
                  <a:lnTo>
                    <a:pt x="82" y="16"/>
                  </a:lnTo>
                  <a:lnTo>
                    <a:pt x="82" y="12"/>
                  </a:lnTo>
                  <a:lnTo>
                    <a:pt x="86" y="16"/>
                  </a:lnTo>
                  <a:lnTo>
                    <a:pt x="86" y="16"/>
                  </a:lnTo>
                  <a:lnTo>
                    <a:pt x="86" y="16"/>
                  </a:lnTo>
                  <a:lnTo>
                    <a:pt x="86" y="16"/>
                  </a:lnTo>
                  <a:lnTo>
                    <a:pt x="89" y="16"/>
                  </a:lnTo>
                  <a:lnTo>
                    <a:pt x="89" y="16"/>
                  </a:lnTo>
                  <a:lnTo>
                    <a:pt x="89" y="20"/>
                  </a:lnTo>
                  <a:lnTo>
                    <a:pt x="89" y="12"/>
                  </a:lnTo>
                  <a:lnTo>
                    <a:pt x="92" y="12"/>
                  </a:lnTo>
                  <a:lnTo>
                    <a:pt x="92" y="16"/>
                  </a:lnTo>
                  <a:lnTo>
                    <a:pt x="92" y="12"/>
                  </a:lnTo>
                  <a:lnTo>
                    <a:pt x="96" y="12"/>
                  </a:lnTo>
                  <a:lnTo>
                    <a:pt x="96" y="12"/>
                  </a:lnTo>
                  <a:lnTo>
                    <a:pt x="96" y="16"/>
                  </a:lnTo>
                  <a:lnTo>
                    <a:pt x="96" y="12"/>
                  </a:lnTo>
                  <a:lnTo>
                    <a:pt x="99" y="16"/>
                  </a:lnTo>
                  <a:lnTo>
                    <a:pt x="99" y="16"/>
                  </a:lnTo>
                  <a:lnTo>
                    <a:pt x="99" y="20"/>
                  </a:lnTo>
                  <a:lnTo>
                    <a:pt x="99" y="12"/>
                  </a:lnTo>
                  <a:lnTo>
                    <a:pt x="103" y="12"/>
                  </a:lnTo>
                  <a:lnTo>
                    <a:pt x="103" y="8"/>
                  </a:lnTo>
                  <a:lnTo>
                    <a:pt x="103" y="12"/>
                  </a:lnTo>
                  <a:lnTo>
                    <a:pt x="103" y="20"/>
                  </a:lnTo>
                  <a:lnTo>
                    <a:pt x="106" y="16"/>
                  </a:lnTo>
                  <a:lnTo>
                    <a:pt x="106" y="12"/>
                  </a:lnTo>
                  <a:lnTo>
                    <a:pt x="106" y="12"/>
                  </a:lnTo>
                  <a:lnTo>
                    <a:pt x="110" y="12"/>
                  </a:lnTo>
                  <a:lnTo>
                    <a:pt x="110" y="12"/>
                  </a:lnTo>
                  <a:lnTo>
                    <a:pt x="110" y="16"/>
                  </a:lnTo>
                  <a:lnTo>
                    <a:pt x="110" y="16"/>
                  </a:lnTo>
                  <a:lnTo>
                    <a:pt x="113" y="16"/>
                  </a:lnTo>
                  <a:lnTo>
                    <a:pt x="113" y="16"/>
                  </a:lnTo>
                  <a:lnTo>
                    <a:pt x="113" y="12"/>
                  </a:lnTo>
                  <a:lnTo>
                    <a:pt x="113" y="12"/>
                  </a:lnTo>
                  <a:lnTo>
                    <a:pt x="116" y="20"/>
                  </a:lnTo>
                  <a:lnTo>
                    <a:pt x="116" y="16"/>
                  </a:lnTo>
                  <a:lnTo>
                    <a:pt x="116" y="12"/>
                  </a:lnTo>
                  <a:lnTo>
                    <a:pt x="116" y="12"/>
                  </a:lnTo>
                  <a:lnTo>
                    <a:pt x="120" y="12"/>
                  </a:lnTo>
                  <a:lnTo>
                    <a:pt x="120" y="12"/>
                  </a:lnTo>
                  <a:lnTo>
                    <a:pt x="120" y="12"/>
                  </a:lnTo>
                  <a:lnTo>
                    <a:pt x="123" y="16"/>
                  </a:lnTo>
                  <a:lnTo>
                    <a:pt x="123" y="12"/>
                  </a:lnTo>
                  <a:lnTo>
                    <a:pt x="123" y="8"/>
                  </a:lnTo>
                  <a:lnTo>
                    <a:pt x="123" y="12"/>
                  </a:lnTo>
                  <a:lnTo>
                    <a:pt x="127" y="12"/>
                  </a:lnTo>
                  <a:lnTo>
                    <a:pt x="127" y="8"/>
                  </a:lnTo>
                  <a:lnTo>
                    <a:pt x="127" y="12"/>
                  </a:lnTo>
                  <a:lnTo>
                    <a:pt x="127" y="8"/>
                  </a:lnTo>
                  <a:lnTo>
                    <a:pt x="130" y="8"/>
                  </a:lnTo>
                  <a:lnTo>
                    <a:pt x="130" y="12"/>
                  </a:lnTo>
                  <a:lnTo>
                    <a:pt x="130" y="8"/>
                  </a:lnTo>
                  <a:lnTo>
                    <a:pt x="130" y="8"/>
                  </a:lnTo>
                  <a:lnTo>
                    <a:pt x="134" y="12"/>
                  </a:lnTo>
                  <a:lnTo>
                    <a:pt x="134" y="12"/>
                  </a:lnTo>
                  <a:lnTo>
                    <a:pt x="134" y="16"/>
                  </a:lnTo>
                  <a:lnTo>
                    <a:pt x="134" y="12"/>
                  </a:lnTo>
                  <a:lnTo>
                    <a:pt x="137" y="12"/>
                  </a:lnTo>
                  <a:lnTo>
                    <a:pt x="137" y="12"/>
                  </a:lnTo>
                  <a:lnTo>
                    <a:pt x="137" y="12"/>
                  </a:lnTo>
                  <a:lnTo>
                    <a:pt x="140" y="12"/>
                  </a:lnTo>
                  <a:lnTo>
                    <a:pt x="140" y="20"/>
                  </a:lnTo>
                  <a:lnTo>
                    <a:pt x="140" y="12"/>
                  </a:lnTo>
                  <a:lnTo>
                    <a:pt x="140" y="16"/>
                  </a:lnTo>
                  <a:lnTo>
                    <a:pt x="144" y="16"/>
                  </a:lnTo>
                  <a:lnTo>
                    <a:pt x="144" y="12"/>
                  </a:lnTo>
                  <a:lnTo>
                    <a:pt x="144" y="16"/>
                  </a:lnTo>
                  <a:lnTo>
                    <a:pt x="144" y="16"/>
                  </a:lnTo>
                  <a:lnTo>
                    <a:pt x="147" y="12"/>
                  </a:lnTo>
                  <a:lnTo>
                    <a:pt x="147" y="12"/>
                  </a:lnTo>
                  <a:lnTo>
                    <a:pt x="147" y="12"/>
                  </a:lnTo>
                  <a:lnTo>
                    <a:pt x="147" y="12"/>
                  </a:lnTo>
                  <a:lnTo>
                    <a:pt x="151" y="16"/>
                  </a:lnTo>
                  <a:lnTo>
                    <a:pt x="151" y="16"/>
                  </a:lnTo>
                  <a:lnTo>
                    <a:pt x="151" y="16"/>
                  </a:lnTo>
                  <a:lnTo>
                    <a:pt x="154" y="20"/>
                  </a:lnTo>
                  <a:lnTo>
                    <a:pt x="154" y="16"/>
                  </a:lnTo>
                  <a:lnTo>
                    <a:pt x="154" y="12"/>
                  </a:lnTo>
                  <a:lnTo>
                    <a:pt x="154" y="16"/>
                  </a:lnTo>
                  <a:lnTo>
                    <a:pt x="158" y="8"/>
                  </a:lnTo>
                  <a:lnTo>
                    <a:pt x="158" y="12"/>
                  </a:lnTo>
                  <a:lnTo>
                    <a:pt x="158" y="12"/>
                  </a:lnTo>
                  <a:lnTo>
                    <a:pt x="158" y="12"/>
                  </a:lnTo>
                  <a:lnTo>
                    <a:pt x="161" y="12"/>
                  </a:lnTo>
                  <a:lnTo>
                    <a:pt x="161" y="16"/>
                  </a:lnTo>
                  <a:lnTo>
                    <a:pt x="161" y="12"/>
                  </a:lnTo>
                  <a:lnTo>
                    <a:pt x="161" y="16"/>
                  </a:lnTo>
                  <a:lnTo>
                    <a:pt x="164" y="12"/>
                  </a:lnTo>
                  <a:lnTo>
                    <a:pt x="164" y="0"/>
                  </a:lnTo>
                  <a:lnTo>
                    <a:pt x="164" y="4"/>
                  </a:lnTo>
                  <a:lnTo>
                    <a:pt x="164" y="8"/>
                  </a:lnTo>
                  <a:lnTo>
                    <a:pt x="168" y="12"/>
                  </a:lnTo>
                  <a:lnTo>
                    <a:pt x="168" y="8"/>
                  </a:lnTo>
                  <a:lnTo>
                    <a:pt x="168" y="16"/>
                  </a:lnTo>
                  <a:lnTo>
                    <a:pt x="171" y="16"/>
                  </a:lnTo>
                  <a:lnTo>
                    <a:pt x="171" y="12"/>
                  </a:lnTo>
                  <a:lnTo>
                    <a:pt x="171" y="12"/>
                  </a:lnTo>
                  <a:lnTo>
                    <a:pt x="171" y="16"/>
                  </a:lnTo>
                  <a:lnTo>
                    <a:pt x="175" y="20"/>
                  </a:lnTo>
                  <a:lnTo>
                    <a:pt x="175" y="16"/>
                  </a:lnTo>
                  <a:lnTo>
                    <a:pt x="175" y="12"/>
                  </a:lnTo>
                  <a:lnTo>
                    <a:pt x="175" y="12"/>
                  </a:lnTo>
                  <a:lnTo>
                    <a:pt x="178" y="12"/>
                  </a:lnTo>
                  <a:lnTo>
                    <a:pt x="178" y="8"/>
                  </a:lnTo>
                  <a:lnTo>
                    <a:pt x="178" y="8"/>
                  </a:lnTo>
                  <a:lnTo>
                    <a:pt x="178" y="4"/>
                  </a:lnTo>
                  <a:lnTo>
                    <a:pt x="182" y="4"/>
                  </a:lnTo>
                  <a:lnTo>
                    <a:pt x="182" y="8"/>
                  </a:lnTo>
                  <a:lnTo>
                    <a:pt x="182" y="8"/>
                  </a:lnTo>
                  <a:lnTo>
                    <a:pt x="185" y="8"/>
                  </a:lnTo>
                  <a:lnTo>
                    <a:pt x="185" y="8"/>
                  </a:lnTo>
                  <a:lnTo>
                    <a:pt x="185" y="12"/>
                  </a:lnTo>
                  <a:lnTo>
                    <a:pt x="185" y="8"/>
                  </a:lnTo>
                  <a:lnTo>
                    <a:pt x="188" y="4"/>
                  </a:lnTo>
                  <a:lnTo>
                    <a:pt x="188" y="8"/>
                  </a:lnTo>
                  <a:lnTo>
                    <a:pt x="188" y="16"/>
                  </a:lnTo>
                  <a:lnTo>
                    <a:pt x="188" y="12"/>
                  </a:lnTo>
                  <a:lnTo>
                    <a:pt x="192" y="12"/>
                  </a:lnTo>
                  <a:lnTo>
                    <a:pt x="192" y="8"/>
                  </a:lnTo>
                  <a:lnTo>
                    <a:pt x="192" y="8"/>
                  </a:lnTo>
                  <a:lnTo>
                    <a:pt x="192" y="16"/>
                  </a:lnTo>
                  <a:lnTo>
                    <a:pt x="195" y="12"/>
                  </a:lnTo>
                  <a:lnTo>
                    <a:pt x="195" y="8"/>
                  </a:lnTo>
                  <a:lnTo>
                    <a:pt x="195" y="12"/>
                  </a:lnTo>
                  <a:lnTo>
                    <a:pt x="195" y="12"/>
                  </a:lnTo>
                  <a:lnTo>
                    <a:pt x="199" y="12"/>
                  </a:lnTo>
                  <a:lnTo>
                    <a:pt x="199" y="12"/>
                  </a:lnTo>
                  <a:lnTo>
                    <a:pt x="199" y="8"/>
                  </a:lnTo>
                  <a:lnTo>
                    <a:pt x="202" y="12"/>
                  </a:lnTo>
                  <a:lnTo>
                    <a:pt x="202" y="12"/>
                  </a:lnTo>
                  <a:lnTo>
                    <a:pt x="202" y="12"/>
                  </a:lnTo>
                  <a:lnTo>
                    <a:pt x="202" y="8"/>
                  </a:lnTo>
                  <a:lnTo>
                    <a:pt x="206" y="12"/>
                  </a:lnTo>
                  <a:lnTo>
                    <a:pt x="206" y="16"/>
                  </a:lnTo>
                  <a:lnTo>
                    <a:pt x="206" y="12"/>
                  </a:lnTo>
                  <a:lnTo>
                    <a:pt x="206" y="16"/>
                  </a:lnTo>
                  <a:lnTo>
                    <a:pt x="209" y="16"/>
                  </a:lnTo>
                  <a:lnTo>
                    <a:pt x="209" y="12"/>
                  </a:lnTo>
                  <a:lnTo>
                    <a:pt x="209" y="4"/>
                  </a:lnTo>
                  <a:lnTo>
                    <a:pt x="209" y="8"/>
                  </a:lnTo>
                  <a:lnTo>
                    <a:pt x="212" y="12"/>
                  </a:lnTo>
                  <a:lnTo>
                    <a:pt x="212" y="12"/>
                  </a:lnTo>
                  <a:lnTo>
                    <a:pt x="212" y="12"/>
                  </a:lnTo>
                  <a:lnTo>
                    <a:pt x="216" y="12"/>
                  </a:lnTo>
                  <a:lnTo>
                    <a:pt x="216" y="8"/>
                  </a:lnTo>
                  <a:lnTo>
                    <a:pt x="216" y="12"/>
                  </a:lnTo>
                  <a:lnTo>
                    <a:pt x="216" y="12"/>
                  </a:lnTo>
                  <a:lnTo>
                    <a:pt x="219" y="8"/>
                  </a:lnTo>
                  <a:lnTo>
                    <a:pt x="219" y="12"/>
                  </a:lnTo>
                  <a:lnTo>
                    <a:pt x="219" y="8"/>
                  </a:lnTo>
                  <a:lnTo>
                    <a:pt x="219" y="8"/>
                  </a:lnTo>
                  <a:lnTo>
                    <a:pt x="223" y="12"/>
                  </a:lnTo>
                  <a:lnTo>
                    <a:pt x="223" y="12"/>
                  </a:lnTo>
                  <a:lnTo>
                    <a:pt x="223" y="8"/>
                  </a:lnTo>
                  <a:lnTo>
                    <a:pt x="223" y="8"/>
                  </a:lnTo>
                  <a:lnTo>
                    <a:pt x="226" y="16"/>
                  </a:lnTo>
                  <a:lnTo>
                    <a:pt x="226" y="16"/>
                  </a:lnTo>
                  <a:lnTo>
                    <a:pt x="226" y="12"/>
                  </a:lnTo>
                  <a:lnTo>
                    <a:pt x="230" y="16"/>
                  </a:lnTo>
                  <a:lnTo>
                    <a:pt x="230" y="12"/>
                  </a:lnTo>
                  <a:lnTo>
                    <a:pt x="230" y="12"/>
                  </a:lnTo>
                  <a:lnTo>
                    <a:pt x="230" y="12"/>
                  </a:lnTo>
                  <a:lnTo>
                    <a:pt x="233" y="8"/>
                  </a:lnTo>
                  <a:lnTo>
                    <a:pt x="233" y="16"/>
                  </a:lnTo>
                  <a:lnTo>
                    <a:pt x="233" y="12"/>
                  </a:lnTo>
                  <a:lnTo>
                    <a:pt x="233" y="12"/>
                  </a:lnTo>
                  <a:lnTo>
                    <a:pt x="236" y="12"/>
                  </a:lnTo>
                  <a:lnTo>
                    <a:pt x="236" y="12"/>
                  </a:lnTo>
                  <a:lnTo>
                    <a:pt x="236" y="12"/>
                  </a:lnTo>
                  <a:lnTo>
                    <a:pt x="236" y="8"/>
                  </a:lnTo>
                  <a:lnTo>
                    <a:pt x="240" y="12"/>
                  </a:lnTo>
                  <a:lnTo>
                    <a:pt x="240" y="12"/>
                  </a:lnTo>
                  <a:lnTo>
                    <a:pt x="240" y="4"/>
                  </a:lnTo>
                  <a:lnTo>
                    <a:pt x="240" y="8"/>
                  </a:lnTo>
                  <a:lnTo>
                    <a:pt x="243" y="16"/>
                  </a:lnTo>
                  <a:lnTo>
                    <a:pt x="243" y="16"/>
                  </a:lnTo>
                  <a:lnTo>
                    <a:pt x="243" y="12"/>
                  </a:lnTo>
                  <a:lnTo>
                    <a:pt x="247" y="8"/>
                  </a:lnTo>
                  <a:lnTo>
                    <a:pt x="247" y="8"/>
                  </a:lnTo>
                  <a:lnTo>
                    <a:pt x="247" y="12"/>
                  </a:lnTo>
                  <a:lnTo>
                    <a:pt x="247" y="12"/>
                  </a:lnTo>
                  <a:lnTo>
                    <a:pt x="250" y="8"/>
                  </a:lnTo>
                  <a:lnTo>
                    <a:pt x="250" y="16"/>
                  </a:lnTo>
                  <a:lnTo>
                    <a:pt x="250" y="16"/>
                  </a:lnTo>
                  <a:lnTo>
                    <a:pt x="250" y="16"/>
                  </a:lnTo>
                  <a:lnTo>
                    <a:pt x="254" y="12"/>
                  </a:lnTo>
                  <a:lnTo>
                    <a:pt x="254" y="4"/>
                  </a:lnTo>
                  <a:lnTo>
                    <a:pt x="254" y="12"/>
                  </a:lnTo>
                  <a:lnTo>
                    <a:pt x="254" y="16"/>
                  </a:lnTo>
                  <a:lnTo>
                    <a:pt x="257" y="12"/>
                  </a:lnTo>
                  <a:lnTo>
                    <a:pt x="257" y="16"/>
                  </a:lnTo>
                  <a:lnTo>
                    <a:pt x="257" y="12"/>
                  </a:lnTo>
                  <a:lnTo>
                    <a:pt x="260" y="16"/>
                  </a:lnTo>
                  <a:lnTo>
                    <a:pt x="260" y="16"/>
                  </a:lnTo>
                  <a:lnTo>
                    <a:pt x="260" y="16"/>
                  </a:lnTo>
                  <a:lnTo>
                    <a:pt x="260" y="16"/>
                  </a:lnTo>
                  <a:lnTo>
                    <a:pt x="264" y="20"/>
                  </a:lnTo>
                  <a:lnTo>
                    <a:pt x="264" y="20"/>
                  </a:lnTo>
                  <a:lnTo>
                    <a:pt x="264" y="16"/>
                  </a:lnTo>
                  <a:lnTo>
                    <a:pt x="264" y="20"/>
                  </a:lnTo>
                  <a:lnTo>
                    <a:pt x="267" y="20"/>
                  </a:lnTo>
                  <a:lnTo>
                    <a:pt x="267" y="16"/>
                  </a:lnTo>
                  <a:lnTo>
                    <a:pt x="267" y="16"/>
                  </a:lnTo>
                  <a:lnTo>
                    <a:pt x="267" y="16"/>
                  </a:lnTo>
                  <a:lnTo>
                    <a:pt x="271" y="20"/>
                  </a:lnTo>
                  <a:lnTo>
                    <a:pt x="271" y="12"/>
                  </a:lnTo>
                  <a:lnTo>
                    <a:pt x="271" y="16"/>
                  </a:lnTo>
                  <a:lnTo>
                    <a:pt x="271" y="16"/>
                  </a:lnTo>
                  <a:lnTo>
                    <a:pt x="274" y="16"/>
                  </a:lnTo>
                  <a:lnTo>
                    <a:pt x="274" y="20"/>
                  </a:lnTo>
                  <a:lnTo>
                    <a:pt x="274" y="16"/>
                  </a:lnTo>
                  <a:lnTo>
                    <a:pt x="278" y="16"/>
                  </a:lnTo>
                  <a:lnTo>
                    <a:pt x="278" y="12"/>
                  </a:lnTo>
                  <a:lnTo>
                    <a:pt x="278" y="16"/>
                  </a:lnTo>
                  <a:lnTo>
                    <a:pt x="278" y="8"/>
                  </a:lnTo>
                  <a:lnTo>
                    <a:pt x="281" y="8"/>
                  </a:lnTo>
                  <a:lnTo>
                    <a:pt x="281" y="12"/>
                  </a:lnTo>
                  <a:lnTo>
                    <a:pt x="281" y="12"/>
                  </a:lnTo>
                  <a:lnTo>
                    <a:pt x="281" y="16"/>
                  </a:lnTo>
                  <a:lnTo>
                    <a:pt x="284" y="8"/>
                  </a:lnTo>
                  <a:lnTo>
                    <a:pt x="284" y="8"/>
                  </a:lnTo>
                  <a:lnTo>
                    <a:pt x="284" y="8"/>
                  </a:lnTo>
                  <a:lnTo>
                    <a:pt x="284" y="4"/>
                  </a:lnTo>
                  <a:lnTo>
                    <a:pt x="288" y="8"/>
                  </a:lnTo>
                  <a:lnTo>
                    <a:pt x="288" y="12"/>
                  </a:lnTo>
                  <a:lnTo>
                    <a:pt x="288" y="12"/>
                  </a:lnTo>
                  <a:lnTo>
                    <a:pt x="291" y="4"/>
                  </a:lnTo>
                  <a:lnTo>
                    <a:pt x="291" y="4"/>
                  </a:lnTo>
                  <a:lnTo>
                    <a:pt x="291" y="0"/>
                  </a:lnTo>
                  <a:lnTo>
                    <a:pt x="291" y="4"/>
                  </a:lnTo>
                  <a:lnTo>
                    <a:pt x="295" y="8"/>
                  </a:lnTo>
                  <a:lnTo>
                    <a:pt x="295" y="12"/>
                  </a:lnTo>
                  <a:lnTo>
                    <a:pt x="295" y="8"/>
                  </a:lnTo>
                  <a:lnTo>
                    <a:pt x="295" y="16"/>
                  </a:lnTo>
                  <a:lnTo>
                    <a:pt x="298" y="16"/>
                  </a:lnTo>
                  <a:lnTo>
                    <a:pt x="298" y="20"/>
                  </a:lnTo>
                  <a:lnTo>
                    <a:pt x="298" y="12"/>
                  </a:lnTo>
                  <a:lnTo>
                    <a:pt x="298" y="8"/>
                  </a:lnTo>
                  <a:lnTo>
                    <a:pt x="302" y="12"/>
                  </a:lnTo>
                  <a:lnTo>
                    <a:pt x="302" y="12"/>
                  </a:lnTo>
                  <a:lnTo>
                    <a:pt x="302" y="12"/>
                  </a:lnTo>
                  <a:lnTo>
                    <a:pt x="302" y="8"/>
                  </a:lnTo>
                  <a:lnTo>
                    <a:pt x="305" y="8"/>
                  </a:lnTo>
                  <a:lnTo>
                    <a:pt x="305" y="8"/>
                  </a:lnTo>
                  <a:lnTo>
                    <a:pt x="305" y="0"/>
                  </a:lnTo>
                  <a:lnTo>
                    <a:pt x="308" y="8"/>
                  </a:lnTo>
                  <a:lnTo>
                    <a:pt x="308" y="4"/>
                  </a:lnTo>
                  <a:lnTo>
                    <a:pt x="308" y="4"/>
                  </a:lnTo>
                  <a:lnTo>
                    <a:pt x="308" y="4"/>
                  </a:lnTo>
                  <a:lnTo>
                    <a:pt x="312" y="4"/>
                  </a:lnTo>
                  <a:lnTo>
                    <a:pt x="312" y="8"/>
                  </a:lnTo>
                  <a:lnTo>
                    <a:pt x="312" y="4"/>
                  </a:lnTo>
                  <a:lnTo>
                    <a:pt x="312" y="4"/>
                  </a:lnTo>
                  <a:lnTo>
                    <a:pt x="315" y="8"/>
                  </a:lnTo>
                  <a:lnTo>
                    <a:pt x="315" y="4"/>
                  </a:lnTo>
                  <a:lnTo>
                    <a:pt x="315" y="0"/>
                  </a:lnTo>
                  <a:lnTo>
                    <a:pt x="315" y="8"/>
                  </a:lnTo>
                  <a:lnTo>
                    <a:pt x="319" y="4"/>
                  </a:lnTo>
                  <a:lnTo>
                    <a:pt x="319" y="8"/>
                  </a:lnTo>
                  <a:lnTo>
                    <a:pt x="319" y="8"/>
                  </a:lnTo>
                  <a:lnTo>
                    <a:pt x="322" y="0"/>
                  </a:lnTo>
                  <a:lnTo>
                    <a:pt x="322" y="4"/>
                  </a:lnTo>
                  <a:lnTo>
                    <a:pt x="322" y="8"/>
                  </a:lnTo>
                  <a:lnTo>
                    <a:pt x="322" y="8"/>
                  </a:lnTo>
                  <a:lnTo>
                    <a:pt x="326" y="8"/>
                  </a:lnTo>
                  <a:lnTo>
                    <a:pt x="326" y="12"/>
                  </a:lnTo>
                  <a:lnTo>
                    <a:pt x="326" y="16"/>
                  </a:lnTo>
                  <a:lnTo>
                    <a:pt x="326" y="16"/>
                  </a:lnTo>
                  <a:lnTo>
                    <a:pt x="329" y="8"/>
                  </a:lnTo>
                  <a:lnTo>
                    <a:pt x="329" y="12"/>
                  </a:lnTo>
                  <a:lnTo>
                    <a:pt x="329" y="12"/>
                  </a:lnTo>
                  <a:lnTo>
                    <a:pt x="329" y="12"/>
                  </a:lnTo>
                  <a:lnTo>
                    <a:pt x="332" y="16"/>
                  </a:lnTo>
                  <a:lnTo>
                    <a:pt x="332" y="16"/>
                  </a:lnTo>
                  <a:lnTo>
                    <a:pt x="332" y="20"/>
                  </a:lnTo>
                  <a:lnTo>
                    <a:pt x="336" y="16"/>
                  </a:lnTo>
                  <a:lnTo>
                    <a:pt x="336" y="16"/>
                  </a:lnTo>
                  <a:lnTo>
                    <a:pt x="336" y="20"/>
                  </a:lnTo>
                  <a:lnTo>
                    <a:pt x="336" y="12"/>
                  </a:lnTo>
                  <a:lnTo>
                    <a:pt x="339" y="12"/>
                  </a:lnTo>
                  <a:lnTo>
                    <a:pt x="339" y="12"/>
                  </a:lnTo>
                  <a:lnTo>
                    <a:pt x="339" y="8"/>
                  </a:lnTo>
                  <a:lnTo>
                    <a:pt x="339" y="8"/>
                  </a:lnTo>
                  <a:lnTo>
                    <a:pt x="343" y="16"/>
                  </a:lnTo>
                  <a:lnTo>
                    <a:pt x="343" y="20"/>
                  </a:lnTo>
                  <a:lnTo>
                    <a:pt x="343" y="24"/>
                  </a:lnTo>
                  <a:lnTo>
                    <a:pt x="343" y="16"/>
                  </a:lnTo>
                  <a:lnTo>
                    <a:pt x="346" y="24"/>
                  </a:lnTo>
                  <a:lnTo>
                    <a:pt x="346" y="20"/>
                  </a:lnTo>
                  <a:lnTo>
                    <a:pt x="346" y="16"/>
                  </a:lnTo>
                  <a:lnTo>
                    <a:pt x="346" y="20"/>
                  </a:lnTo>
                  <a:lnTo>
                    <a:pt x="350" y="20"/>
                  </a:lnTo>
                  <a:lnTo>
                    <a:pt x="350" y="20"/>
                  </a:lnTo>
                  <a:lnTo>
                    <a:pt x="350" y="16"/>
                  </a:lnTo>
                  <a:lnTo>
                    <a:pt x="353" y="12"/>
                  </a:lnTo>
                  <a:lnTo>
                    <a:pt x="353" y="16"/>
                  </a:lnTo>
                  <a:lnTo>
                    <a:pt x="353" y="12"/>
                  </a:lnTo>
                  <a:lnTo>
                    <a:pt x="353" y="12"/>
                  </a:lnTo>
                  <a:lnTo>
                    <a:pt x="356" y="16"/>
                  </a:lnTo>
                  <a:lnTo>
                    <a:pt x="356" y="16"/>
                  </a:lnTo>
                  <a:lnTo>
                    <a:pt x="356" y="12"/>
                  </a:lnTo>
                  <a:lnTo>
                    <a:pt x="356" y="16"/>
                  </a:lnTo>
                  <a:lnTo>
                    <a:pt x="360" y="16"/>
                  </a:lnTo>
                  <a:lnTo>
                    <a:pt x="360" y="20"/>
                  </a:lnTo>
                  <a:lnTo>
                    <a:pt x="360" y="20"/>
                  </a:lnTo>
                  <a:lnTo>
                    <a:pt x="360" y="12"/>
                  </a:lnTo>
                  <a:lnTo>
                    <a:pt x="363" y="12"/>
                  </a:lnTo>
                  <a:lnTo>
                    <a:pt x="363" y="16"/>
                  </a:lnTo>
                  <a:lnTo>
                    <a:pt x="363" y="16"/>
                  </a:lnTo>
                  <a:lnTo>
                    <a:pt x="367" y="8"/>
                  </a:lnTo>
                  <a:lnTo>
                    <a:pt x="367" y="12"/>
                  </a:lnTo>
                  <a:lnTo>
                    <a:pt x="367" y="12"/>
                  </a:lnTo>
                  <a:lnTo>
                    <a:pt x="367" y="12"/>
                  </a:lnTo>
                  <a:lnTo>
                    <a:pt x="370" y="8"/>
                  </a:lnTo>
                  <a:lnTo>
                    <a:pt x="370" y="12"/>
                  </a:lnTo>
                  <a:lnTo>
                    <a:pt x="370" y="16"/>
                  </a:lnTo>
                  <a:lnTo>
                    <a:pt x="370" y="20"/>
                  </a:lnTo>
                  <a:lnTo>
                    <a:pt x="374" y="16"/>
                  </a:lnTo>
                  <a:lnTo>
                    <a:pt x="374" y="20"/>
                  </a:lnTo>
                  <a:lnTo>
                    <a:pt x="374" y="16"/>
                  </a:lnTo>
                  <a:lnTo>
                    <a:pt x="374" y="16"/>
                  </a:lnTo>
                  <a:lnTo>
                    <a:pt x="377" y="16"/>
                  </a:lnTo>
                  <a:lnTo>
                    <a:pt x="377" y="24"/>
                  </a:lnTo>
                  <a:lnTo>
                    <a:pt x="377" y="24"/>
                  </a:lnTo>
                  <a:lnTo>
                    <a:pt x="377" y="24"/>
                  </a:lnTo>
                  <a:lnTo>
                    <a:pt x="380" y="20"/>
                  </a:lnTo>
                  <a:lnTo>
                    <a:pt x="380" y="20"/>
                  </a:lnTo>
                  <a:lnTo>
                    <a:pt x="380" y="20"/>
                  </a:lnTo>
                  <a:lnTo>
                    <a:pt x="384" y="20"/>
                  </a:lnTo>
                  <a:lnTo>
                    <a:pt x="384" y="16"/>
                  </a:lnTo>
                  <a:lnTo>
                    <a:pt x="384" y="20"/>
                  </a:lnTo>
                  <a:lnTo>
                    <a:pt x="384" y="12"/>
                  </a:lnTo>
                  <a:lnTo>
                    <a:pt x="387" y="16"/>
                  </a:lnTo>
                  <a:lnTo>
                    <a:pt x="387" y="20"/>
                  </a:lnTo>
                  <a:lnTo>
                    <a:pt x="387" y="16"/>
                  </a:lnTo>
                  <a:lnTo>
                    <a:pt x="387" y="16"/>
                  </a:lnTo>
                  <a:lnTo>
                    <a:pt x="391" y="16"/>
                  </a:lnTo>
                  <a:lnTo>
                    <a:pt x="391" y="20"/>
                  </a:lnTo>
                  <a:lnTo>
                    <a:pt x="391" y="20"/>
                  </a:lnTo>
                  <a:lnTo>
                    <a:pt x="391" y="16"/>
                  </a:lnTo>
                  <a:lnTo>
                    <a:pt x="394" y="8"/>
                  </a:lnTo>
                  <a:lnTo>
                    <a:pt x="394" y="12"/>
                  </a:lnTo>
                  <a:lnTo>
                    <a:pt x="394" y="20"/>
                  </a:lnTo>
                  <a:lnTo>
                    <a:pt x="398" y="20"/>
                  </a:lnTo>
                  <a:lnTo>
                    <a:pt x="398" y="16"/>
                  </a:lnTo>
                  <a:lnTo>
                    <a:pt x="398" y="16"/>
                  </a:lnTo>
                  <a:lnTo>
                    <a:pt x="398" y="16"/>
                  </a:lnTo>
                  <a:lnTo>
                    <a:pt x="401" y="20"/>
                  </a:lnTo>
                  <a:lnTo>
                    <a:pt x="401" y="20"/>
                  </a:lnTo>
                  <a:lnTo>
                    <a:pt x="401" y="20"/>
                  </a:lnTo>
                  <a:lnTo>
                    <a:pt x="401" y="20"/>
                  </a:lnTo>
                  <a:lnTo>
                    <a:pt x="404" y="24"/>
                  </a:lnTo>
                  <a:lnTo>
                    <a:pt x="404" y="20"/>
                  </a:lnTo>
                  <a:lnTo>
                    <a:pt x="404" y="16"/>
                  </a:lnTo>
                  <a:lnTo>
                    <a:pt x="404" y="16"/>
                  </a:lnTo>
                  <a:lnTo>
                    <a:pt x="408" y="12"/>
                  </a:lnTo>
                  <a:lnTo>
                    <a:pt x="408" y="16"/>
                  </a:lnTo>
                  <a:lnTo>
                    <a:pt x="408" y="12"/>
                  </a:lnTo>
                  <a:lnTo>
                    <a:pt x="408" y="16"/>
                  </a:lnTo>
                  <a:lnTo>
                    <a:pt x="411" y="16"/>
                  </a:lnTo>
                  <a:lnTo>
                    <a:pt x="411" y="12"/>
                  </a:lnTo>
                  <a:lnTo>
                    <a:pt x="411" y="12"/>
                  </a:lnTo>
                  <a:lnTo>
                    <a:pt x="415" y="12"/>
                  </a:lnTo>
                  <a:lnTo>
                    <a:pt x="415" y="8"/>
                  </a:lnTo>
                  <a:lnTo>
                    <a:pt x="415" y="12"/>
                  </a:lnTo>
                  <a:lnTo>
                    <a:pt x="415" y="8"/>
                  </a:lnTo>
                  <a:lnTo>
                    <a:pt x="418" y="16"/>
                  </a:lnTo>
                  <a:lnTo>
                    <a:pt x="418" y="12"/>
                  </a:lnTo>
                  <a:lnTo>
                    <a:pt x="418" y="12"/>
                  </a:lnTo>
                  <a:lnTo>
                    <a:pt x="418" y="12"/>
                  </a:lnTo>
                  <a:lnTo>
                    <a:pt x="422" y="16"/>
                  </a:lnTo>
                  <a:lnTo>
                    <a:pt x="422" y="16"/>
                  </a:lnTo>
                  <a:lnTo>
                    <a:pt x="422" y="16"/>
                  </a:lnTo>
                  <a:lnTo>
                    <a:pt x="422" y="16"/>
                  </a:lnTo>
                  <a:lnTo>
                    <a:pt x="425" y="16"/>
                  </a:lnTo>
                  <a:lnTo>
                    <a:pt x="425" y="12"/>
                  </a:lnTo>
                  <a:lnTo>
                    <a:pt x="425" y="12"/>
                  </a:lnTo>
                  <a:lnTo>
                    <a:pt x="428" y="12"/>
                  </a:lnTo>
                  <a:lnTo>
                    <a:pt x="428" y="16"/>
                  </a:lnTo>
                  <a:lnTo>
                    <a:pt x="428" y="16"/>
                  </a:lnTo>
                  <a:lnTo>
                    <a:pt x="428" y="12"/>
                  </a:lnTo>
                  <a:lnTo>
                    <a:pt x="432" y="12"/>
                  </a:lnTo>
                  <a:lnTo>
                    <a:pt x="432" y="12"/>
                  </a:lnTo>
                  <a:lnTo>
                    <a:pt x="432" y="16"/>
                  </a:lnTo>
                  <a:lnTo>
                    <a:pt x="432" y="12"/>
                  </a:lnTo>
                  <a:lnTo>
                    <a:pt x="435" y="12"/>
                  </a:lnTo>
                  <a:lnTo>
                    <a:pt x="435" y="12"/>
                  </a:lnTo>
                  <a:lnTo>
                    <a:pt x="435" y="0"/>
                  </a:lnTo>
                  <a:lnTo>
                    <a:pt x="435" y="8"/>
                  </a:lnTo>
                  <a:lnTo>
                    <a:pt x="439" y="12"/>
                  </a:lnTo>
                  <a:lnTo>
                    <a:pt x="439" y="8"/>
                  </a:lnTo>
                  <a:lnTo>
                    <a:pt x="439" y="8"/>
                  </a:lnTo>
                  <a:lnTo>
                    <a:pt x="442" y="8"/>
                  </a:lnTo>
                  <a:lnTo>
                    <a:pt x="442" y="8"/>
                  </a:lnTo>
                  <a:lnTo>
                    <a:pt x="442" y="12"/>
                  </a:lnTo>
                  <a:lnTo>
                    <a:pt x="442" y="4"/>
                  </a:lnTo>
                  <a:lnTo>
                    <a:pt x="446" y="12"/>
                  </a:lnTo>
                  <a:lnTo>
                    <a:pt x="446" y="12"/>
                  </a:lnTo>
                  <a:lnTo>
                    <a:pt x="446" y="12"/>
                  </a:lnTo>
                  <a:lnTo>
                    <a:pt x="446" y="4"/>
                  </a:lnTo>
                  <a:lnTo>
                    <a:pt x="449" y="4"/>
                  </a:lnTo>
                  <a:lnTo>
                    <a:pt x="449" y="12"/>
                  </a:lnTo>
                  <a:lnTo>
                    <a:pt x="449" y="8"/>
                  </a:lnTo>
                  <a:lnTo>
                    <a:pt x="449" y="4"/>
                  </a:lnTo>
                  <a:lnTo>
                    <a:pt x="452" y="0"/>
                  </a:lnTo>
                  <a:lnTo>
                    <a:pt x="452" y="4"/>
                  </a:lnTo>
                  <a:lnTo>
                    <a:pt x="452" y="8"/>
                  </a:lnTo>
                  <a:lnTo>
                    <a:pt x="452" y="86"/>
                  </a:lnTo>
                  <a:lnTo>
                    <a:pt x="452" y="86"/>
                  </a:lnTo>
                  <a:lnTo>
                    <a:pt x="452" y="86"/>
                  </a:lnTo>
                  <a:lnTo>
                    <a:pt x="449" y="86"/>
                  </a:lnTo>
                  <a:lnTo>
                    <a:pt x="449" y="86"/>
                  </a:lnTo>
                  <a:lnTo>
                    <a:pt x="449" y="86"/>
                  </a:lnTo>
                  <a:lnTo>
                    <a:pt x="449" y="86"/>
                  </a:lnTo>
                  <a:lnTo>
                    <a:pt x="446" y="86"/>
                  </a:lnTo>
                  <a:lnTo>
                    <a:pt x="446" y="86"/>
                  </a:lnTo>
                  <a:lnTo>
                    <a:pt x="446" y="86"/>
                  </a:lnTo>
                  <a:lnTo>
                    <a:pt x="446" y="86"/>
                  </a:lnTo>
                  <a:lnTo>
                    <a:pt x="442" y="86"/>
                  </a:lnTo>
                  <a:lnTo>
                    <a:pt x="442" y="86"/>
                  </a:lnTo>
                  <a:lnTo>
                    <a:pt x="442" y="86"/>
                  </a:lnTo>
                  <a:lnTo>
                    <a:pt x="442" y="86"/>
                  </a:lnTo>
                  <a:lnTo>
                    <a:pt x="439" y="86"/>
                  </a:lnTo>
                  <a:lnTo>
                    <a:pt x="439" y="86"/>
                  </a:lnTo>
                  <a:lnTo>
                    <a:pt x="439" y="86"/>
                  </a:lnTo>
                  <a:lnTo>
                    <a:pt x="435" y="86"/>
                  </a:lnTo>
                  <a:lnTo>
                    <a:pt x="435" y="86"/>
                  </a:lnTo>
                  <a:lnTo>
                    <a:pt x="435" y="86"/>
                  </a:lnTo>
                  <a:lnTo>
                    <a:pt x="435" y="86"/>
                  </a:lnTo>
                  <a:lnTo>
                    <a:pt x="432" y="86"/>
                  </a:lnTo>
                  <a:lnTo>
                    <a:pt x="432" y="86"/>
                  </a:lnTo>
                  <a:lnTo>
                    <a:pt x="432" y="86"/>
                  </a:lnTo>
                  <a:lnTo>
                    <a:pt x="432" y="86"/>
                  </a:lnTo>
                  <a:lnTo>
                    <a:pt x="428" y="86"/>
                  </a:lnTo>
                  <a:lnTo>
                    <a:pt x="428" y="86"/>
                  </a:lnTo>
                  <a:lnTo>
                    <a:pt x="428" y="86"/>
                  </a:lnTo>
                  <a:lnTo>
                    <a:pt x="428" y="86"/>
                  </a:lnTo>
                  <a:lnTo>
                    <a:pt x="425" y="86"/>
                  </a:lnTo>
                  <a:lnTo>
                    <a:pt x="425" y="86"/>
                  </a:lnTo>
                  <a:lnTo>
                    <a:pt x="425" y="86"/>
                  </a:lnTo>
                  <a:lnTo>
                    <a:pt x="422" y="86"/>
                  </a:lnTo>
                  <a:lnTo>
                    <a:pt x="422" y="86"/>
                  </a:lnTo>
                  <a:lnTo>
                    <a:pt x="422" y="86"/>
                  </a:lnTo>
                  <a:lnTo>
                    <a:pt x="422" y="86"/>
                  </a:lnTo>
                  <a:lnTo>
                    <a:pt x="418" y="86"/>
                  </a:lnTo>
                  <a:lnTo>
                    <a:pt x="418" y="86"/>
                  </a:lnTo>
                  <a:lnTo>
                    <a:pt x="418" y="86"/>
                  </a:lnTo>
                  <a:lnTo>
                    <a:pt x="418" y="86"/>
                  </a:lnTo>
                  <a:lnTo>
                    <a:pt x="415" y="86"/>
                  </a:lnTo>
                  <a:lnTo>
                    <a:pt x="415" y="86"/>
                  </a:lnTo>
                  <a:lnTo>
                    <a:pt x="415" y="86"/>
                  </a:lnTo>
                  <a:lnTo>
                    <a:pt x="415" y="86"/>
                  </a:lnTo>
                  <a:lnTo>
                    <a:pt x="411" y="86"/>
                  </a:lnTo>
                  <a:lnTo>
                    <a:pt x="411" y="86"/>
                  </a:lnTo>
                  <a:lnTo>
                    <a:pt x="411" y="86"/>
                  </a:lnTo>
                  <a:lnTo>
                    <a:pt x="408" y="86"/>
                  </a:lnTo>
                  <a:lnTo>
                    <a:pt x="408" y="86"/>
                  </a:lnTo>
                  <a:lnTo>
                    <a:pt x="408" y="86"/>
                  </a:lnTo>
                  <a:lnTo>
                    <a:pt x="408" y="86"/>
                  </a:lnTo>
                  <a:lnTo>
                    <a:pt x="404" y="86"/>
                  </a:lnTo>
                  <a:lnTo>
                    <a:pt x="404" y="86"/>
                  </a:lnTo>
                  <a:lnTo>
                    <a:pt x="404" y="86"/>
                  </a:lnTo>
                  <a:lnTo>
                    <a:pt x="404" y="86"/>
                  </a:lnTo>
                  <a:lnTo>
                    <a:pt x="401" y="86"/>
                  </a:lnTo>
                  <a:lnTo>
                    <a:pt x="401" y="86"/>
                  </a:lnTo>
                  <a:lnTo>
                    <a:pt x="401" y="86"/>
                  </a:lnTo>
                  <a:lnTo>
                    <a:pt x="401" y="86"/>
                  </a:lnTo>
                  <a:lnTo>
                    <a:pt x="398" y="86"/>
                  </a:lnTo>
                  <a:lnTo>
                    <a:pt x="398" y="86"/>
                  </a:lnTo>
                  <a:lnTo>
                    <a:pt x="398" y="86"/>
                  </a:lnTo>
                  <a:lnTo>
                    <a:pt x="398" y="86"/>
                  </a:lnTo>
                  <a:lnTo>
                    <a:pt x="394" y="86"/>
                  </a:lnTo>
                  <a:lnTo>
                    <a:pt x="394" y="86"/>
                  </a:lnTo>
                  <a:lnTo>
                    <a:pt x="394" y="86"/>
                  </a:lnTo>
                  <a:lnTo>
                    <a:pt x="391" y="86"/>
                  </a:lnTo>
                  <a:lnTo>
                    <a:pt x="391" y="86"/>
                  </a:lnTo>
                  <a:lnTo>
                    <a:pt x="391" y="86"/>
                  </a:lnTo>
                  <a:lnTo>
                    <a:pt x="391" y="86"/>
                  </a:lnTo>
                  <a:lnTo>
                    <a:pt x="387" y="86"/>
                  </a:lnTo>
                  <a:lnTo>
                    <a:pt x="387" y="86"/>
                  </a:lnTo>
                  <a:lnTo>
                    <a:pt x="387" y="86"/>
                  </a:lnTo>
                  <a:lnTo>
                    <a:pt x="387" y="86"/>
                  </a:lnTo>
                  <a:lnTo>
                    <a:pt x="384" y="86"/>
                  </a:lnTo>
                  <a:lnTo>
                    <a:pt x="384" y="86"/>
                  </a:lnTo>
                  <a:lnTo>
                    <a:pt x="384" y="86"/>
                  </a:lnTo>
                  <a:lnTo>
                    <a:pt x="384" y="86"/>
                  </a:lnTo>
                  <a:lnTo>
                    <a:pt x="380" y="86"/>
                  </a:lnTo>
                  <a:lnTo>
                    <a:pt x="380" y="86"/>
                  </a:lnTo>
                  <a:lnTo>
                    <a:pt x="380" y="86"/>
                  </a:lnTo>
                  <a:lnTo>
                    <a:pt x="377" y="86"/>
                  </a:lnTo>
                  <a:lnTo>
                    <a:pt x="377" y="86"/>
                  </a:lnTo>
                  <a:lnTo>
                    <a:pt x="377" y="86"/>
                  </a:lnTo>
                  <a:lnTo>
                    <a:pt x="377" y="86"/>
                  </a:lnTo>
                  <a:lnTo>
                    <a:pt x="374" y="86"/>
                  </a:lnTo>
                  <a:lnTo>
                    <a:pt x="374" y="86"/>
                  </a:lnTo>
                  <a:lnTo>
                    <a:pt x="374" y="86"/>
                  </a:lnTo>
                  <a:lnTo>
                    <a:pt x="374" y="86"/>
                  </a:lnTo>
                  <a:lnTo>
                    <a:pt x="370" y="86"/>
                  </a:lnTo>
                  <a:lnTo>
                    <a:pt x="370" y="86"/>
                  </a:lnTo>
                  <a:lnTo>
                    <a:pt x="370" y="86"/>
                  </a:lnTo>
                  <a:lnTo>
                    <a:pt x="370" y="86"/>
                  </a:lnTo>
                  <a:lnTo>
                    <a:pt x="367" y="86"/>
                  </a:lnTo>
                  <a:lnTo>
                    <a:pt x="367" y="86"/>
                  </a:lnTo>
                  <a:lnTo>
                    <a:pt x="367" y="86"/>
                  </a:lnTo>
                  <a:lnTo>
                    <a:pt x="367" y="86"/>
                  </a:lnTo>
                  <a:lnTo>
                    <a:pt x="363" y="86"/>
                  </a:lnTo>
                  <a:lnTo>
                    <a:pt x="363" y="86"/>
                  </a:lnTo>
                  <a:lnTo>
                    <a:pt x="363" y="86"/>
                  </a:lnTo>
                  <a:lnTo>
                    <a:pt x="360" y="86"/>
                  </a:lnTo>
                  <a:lnTo>
                    <a:pt x="360" y="86"/>
                  </a:lnTo>
                  <a:lnTo>
                    <a:pt x="360" y="86"/>
                  </a:lnTo>
                  <a:lnTo>
                    <a:pt x="360" y="86"/>
                  </a:lnTo>
                  <a:lnTo>
                    <a:pt x="356" y="86"/>
                  </a:lnTo>
                  <a:lnTo>
                    <a:pt x="356" y="86"/>
                  </a:lnTo>
                  <a:lnTo>
                    <a:pt x="356" y="86"/>
                  </a:lnTo>
                  <a:lnTo>
                    <a:pt x="356" y="86"/>
                  </a:lnTo>
                  <a:lnTo>
                    <a:pt x="353" y="86"/>
                  </a:lnTo>
                  <a:lnTo>
                    <a:pt x="353" y="86"/>
                  </a:lnTo>
                  <a:lnTo>
                    <a:pt x="353" y="86"/>
                  </a:lnTo>
                  <a:lnTo>
                    <a:pt x="353" y="86"/>
                  </a:lnTo>
                  <a:lnTo>
                    <a:pt x="350" y="86"/>
                  </a:lnTo>
                  <a:lnTo>
                    <a:pt x="350" y="86"/>
                  </a:lnTo>
                  <a:lnTo>
                    <a:pt x="350" y="86"/>
                  </a:lnTo>
                  <a:lnTo>
                    <a:pt x="346" y="86"/>
                  </a:lnTo>
                  <a:lnTo>
                    <a:pt x="346" y="86"/>
                  </a:lnTo>
                  <a:lnTo>
                    <a:pt x="346" y="86"/>
                  </a:lnTo>
                  <a:lnTo>
                    <a:pt x="346" y="86"/>
                  </a:lnTo>
                  <a:lnTo>
                    <a:pt x="343" y="86"/>
                  </a:lnTo>
                  <a:lnTo>
                    <a:pt x="343" y="86"/>
                  </a:lnTo>
                  <a:lnTo>
                    <a:pt x="343" y="86"/>
                  </a:lnTo>
                  <a:lnTo>
                    <a:pt x="343" y="86"/>
                  </a:lnTo>
                  <a:lnTo>
                    <a:pt x="339" y="86"/>
                  </a:lnTo>
                  <a:lnTo>
                    <a:pt x="339" y="86"/>
                  </a:lnTo>
                  <a:lnTo>
                    <a:pt x="339" y="86"/>
                  </a:lnTo>
                  <a:lnTo>
                    <a:pt x="339" y="86"/>
                  </a:lnTo>
                  <a:lnTo>
                    <a:pt x="336" y="86"/>
                  </a:lnTo>
                  <a:lnTo>
                    <a:pt x="336" y="86"/>
                  </a:lnTo>
                  <a:lnTo>
                    <a:pt x="336" y="86"/>
                  </a:lnTo>
                  <a:lnTo>
                    <a:pt x="336" y="86"/>
                  </a:lnTo>
                  <a:lnTo>
                    <a:pt x="332" y="86"/>
                  </a:lnTo>
                  <a:lnTo>
                    <a:pt x="332" y="86"/>
                  </a:lnTo>
                  <a:lnTo>
                    <a:pt x="332" y="86"/>
                  </a:lnTo>
                  <a:lnTo>
                    <a:pt x="329" y="86"/>
                  </a:lnTo>
                  <a:lnTo>
                    <a:pt x="329" y="86"/>
                  </a:lnTo>
                  <a:lnTo>
                    <a:pt x="329" y="86"/>
                  </a:lnTo>
                  <a:lnTo>
                    <a:pt x="329" y="86"/>
                  </a:lnTo>
                  <a:lnTo>
                    <a:pt x="326" y="86"/>
                  </a:lnTo>
                  <a:lnTo>
                    <a:pt x="326" y="86"/>
                  </a:lnTo>
                  <a:lnTo>
                    <a:pt x="326" y="86"/>
                  </a:lnTo>
                  <a:lnTo>
                    <a:pt x="326" y="86"/>
                  </a:lnTo>
                  <a:lnTo>
                    <a:pt x="322" y="86"/>
                  </a:lnTo>
                  <a:lnTo>
                    <a:pt x="322" y="86"/>
                  </a:lnTo>
                  <a:lnTo>
                    <a:pt x="322" y="86"/>
                  </a:lnTo>
                  <a:lnTo>
                    <a:pt x="322" y="86"/>
                  </a:lnTo>
                  <a:lnTo>
                    <a:pt x="319" y="86"/>
                  </a:lnTo>
                  <a:lnTo>
                    <a:pt x="319" y="86"/>
                  </a:lnTo>
                  <a:lnTo>
                    <a:pt x="319" y="86"/>
                  </a:lnTo>
                  <a:lnTo>
                    <a:pt x="315" y="86"/>
                  </a:lnTo>
                  <a:lnTo>
                    <a:pt x="315" y="86"/>
                  </a:lnTo>
                  <a:lnTo>
                    <a:pt x="315" y="86"/>
                  </a:lnTo>
                  <a:lnTo>
                    <a:pt x="315" y="86"/>
                  </a:lnTo>
                  <a:lnTo>
                    <a:pt x="312" y="86"/>
                  </a:lnTo>
                  <a:lnTo>
                    <a:pt x="312" y="86"/>
                  </a:lnTo>
                  <a:lnTo>
                    <a:pt x="312" y="86"/>
                  </a:lnTo>
                  <a:lnTo>
                    <a:pt x="312" y="86"/>
                  </a:lnTo>
                  <a:lnTo>
                    <a:pt x="308" y="86"/>
                  </a:lnTo>
                  <a:lnTo>
                    <a:pt x="308" y="86"/>
                  </a:lnTo>
                  <a:lnTo>
                    <a:pt x="308" y="86"/>
                  </a:lnTo>
                  <a:lnTo>
                    <a:pt x="308" y="86"/>
                  </a:lnTo>
                  <a:lnTo>
                    <a:pt x="305" y="86"/>
                  </a:lnTo>
                  <a:lnTo>
                    <a:pt x="305" y="86"/>
                  </a:lnTo>
                  <a:lnTo>
                    <a:pt x="305" y="86"/>
                  </a:lnTo>
                  <a:lnTo>
                    <a:pt x="302" y="86"/>
                  </a:lnTo>
                  <a:lnTo>
                    <a:pt x="302" y="86"/>
                  </a:lnTo>
                  <a:lnTo>
                    <a:pt x="302" y="86"/>
                  </a:lnTo>
                  <a:lnTo>
                    <a:pt x="302" y="86"/>
                  </a:lnTo>
                  <a:lnTo>
                    <a:pt x="298" y="86"/>
                  </a:lnTo>
                  <a:lnTo>
                    <a:pt x="298" y="86"/>
                  </a:lnTo>
                  <a:lnTo>
                    <a:pt x="298" y="86"/>
                  </a:lnTo>
                  <a:lnTo>
                    <a:pt x="298" y="86"/>
                  </a:lnTo>
                  <a:lnTo>
                    <a:pt x="295" y="86"/>
                  </a:lnTo>
                  <a:lnTo>
                    <a:pt x="295" y="86"/>
                  </a:lnTo>
                  <a:lnTo>
                    <a:pt x="295" y="86"/>
                  </a:lnTo>
                  <a:lnTo>
                    <a:pt x="295" y="86"/>
                  </a:lnTo>
                  <a:lnTo>
                    <a:pt x="291" y="86"/>
                  </a:lnTo>
                  <a:lnTo>
                    <a:pt x="291" y="86"/>
                  </a:lnTo>
                  <a:lnTo>
                    <a:pt x="291" y="86"/>
                  </a:lnTo>
                  <a:lnTo>
                    <a:pt x="291" y="86"/>
                  </a:lnTo>
                  <a:lnTo>
                    <a:pt x="288" y="86"/>
                  </a:lnTo>
                  <a:lnTo>
                    <a:pt x="288" y="86"/>
                  </a:lnTo>
                  <a:lnTo>
                    <a:pt x="288" y="86"/>
                  </a:lnTo>
                  <a:lnTo>
                    <a:pt x="284" y="86"/>
                  </a:lnTo>
                  <a:lnTo>
                    <a:pt x="284" y="86"/>
                  </a:lnTo>
                  <a:lnTo>
                    <a:pt x="284" y="86"/>
                  </a:lnTo>
                  <a:lnTo>
                    <a:pt x="284" y="86"/>
                  </a:lnTo>
                  <a:lnTo>
                    <a:pt x="281" y="86"/>
                  </a:lnTo>
                  <a:lnTo>
                    <a:pt x="281" y="86"/>
                  </a:lnTo>
                  <a:lnTo>
                    <a:pt x="281" y="86"/>
                  </a:lnTo>
                  <a:lnTo>
                    <a:pt x="281" y="86"/>
                  </a:lnTo>
                  <a:lnTo>
                    <a:pt x="278" y="86"/>
                  </a:lnTo>
                  <a:lnTo>
                    <a:pt x="278" y="86"/>
                  </a:lnTo>
                  <a:lnTo>
                    <a:pt x="278" y="86"/>
                  </a:lnTo>
                  <a:lnTo>
                    <a:pt x="278" y="86"/>
                  </a:lnTo>
                  <a:lnTo>
                    <a:pt x="274" y="86"/>
                  </a:lnTo>
                  <a:lnTo>
                    <a:pt x="274" y="86"/>
                  </a:lnTo>
                  <a:lnTo>
                    <a:pt x="274" y="86"/>
                  </a:lnTo>
                  <a:lnTo>
                    <a:pt x="271" y="86"/>
                  </a:lnTo>
                  <a:lnTo>
                    <a:pt x="271" y="86"/>
                  </a:lnTo>
                  <a:lnTo>
                    <a:pt x="271" y="86"/>
                  </a:lnTo>
                  <a:lnTo>
                    <a:pt x="271" y="86"/>
                  </a:lnTo>
                  <a:lnTo>
                    <a:pt x="267" y="86"/>
                  </a:lnTo>
                  <a:lnTo>
                    <a:pt x="267" y="86"/>
                  </a:lnTo>
                  <a:lnTo>
                    <a:pt x="267" y="86"/>
                  </a:lnTo>
                  <a:lnTo>
                    <a:pt x="267" y="86"/>
                  </a:lnTo>
                  <a:lnTo>
                    <a:pt x="264" y="86"/>
                  </a:lnTo>
                  <a:lnTo>
                    <a:pt x="264" y="86"/>
                  </a:lnTo>
                  <a:lnTo>
                    <a:pt x="264" y="86"/>
                  </a:lnTo>
                  <a:lnTo>
                    <a:pt x="264" y="86"/>
                  </a:lnTo>
                  <a:lnTo>
                    <a:pt x="260" y="86"/>
                  </a:lnTo>
                  <a:lnTo>
                    <a:pt x="260" y="86"/>
                  </a:lnTo>
                  <a:lnTo>
                    <a:pt x="260" y="86"/>
                  </a:lnTo>
                  <a:lnTo>
                    <a:pt x="260" y="86"/>
                  </a:lnTo>
                  <a:lnTo>
                    <a:pt x="257" y="86"/>
                  </a:lnTo>
                  <a:lnTo>
                    <a:pt x="257" y="86"/>
                  </a:lnTo>
                  <a:lnTo>
                    <a:pt x="257" y="86"/>
                  </a:lnTo>
                  <a:lnTo>
                    <a:pt x="254" y="86"/>
                  </a:lnTo>
                  <a:lnTo>
                    <a:pt x="254" y="86"/>
                  </a:lnTo>
                  <a:lnTo>
                    <a:pt x="254" y="86"/>
                  </a:lnTo>
                  <a:lnTo>
                    <a:pt x="254" y="86"/>
                  </a:lnTo>
                  <a:lnTo>
                    <a:pt x="250" y="86"/>
                  </a:lnTo>
                  <a:lnTo>
                    <a:pt x="250" y="86"/>
                  </a:lnTo>
                  <a:lnTo>
                    <a:pt x="250" y="86"/>
                  </a:lnTo>
                  <a:lnTo>
                    <a:pt x="250" y="86"/>
                  </a:lnTo>
                  <a:lnTo>
                    <a:pt x="247" y="86"/>
                  </a:lnTo>
                  <a:lnTo>
                    <a:pt x="247" y="86"/>
                  </a:lnTo>
                  <a:lnTo>
                    <a:pt x="247" y="86"/>
                  </a:lnTo>
                  <a:lnTo>
                    <a:pt x="247" y="86"/>
                  </a:lnTo>
                  <a:lnTo>
                    <a:pt x="243" y="86"/>
                  </a:lnTo>
                  <a:lnTo>
                    <a:pt x="243" y="86"/>
                  </a:lnTo>
                  <a:lnTo>
                    <a:pt x="243" y="86"/>
                  </a:lnTo>
                  <a:lnTo>
                    <a:pt x="240" y="86"/>
                  </a:lnTo>
                  <a:lnTo>
                    <a:pt x="240" y="86"/>
                  </a:lnTo>
                  <a:lnTo>
                    <a:pt x="240" y="86"/>
                  </a:lnTo>
                  <a:lnTo>
                    <a:pt x="240" y="86"/>
                  </a:lnTo>
                  <a:lnTo>
                    <a:pt x="236" y="86"/>
                  </a:lnTo>
                  <a:lnTo>
                    <a:pt x="236" y="86"/>
                  </a:lnTo>
                  <a:lnTo>
                    <a:pt x="236" y="86"/>
                  </a:lnTo>
                  <a:lnTo>
                    <a:pt x="236" y="86"/>
                  </a:lnTo>
                  <a:lnTo>
                    <a:pt x="233" y="86"/>
                  </a:lnTo>
                  <a:lnTo>
                    <a:pt x="233" y="86"/>
                  </a:lnTo>
                  <a:lnTo>
                    <a:pt x="233" y="86"/>
                  </a:lnTo>
                  <a:lnTo>
                    <a:pt x="233" y="86"/>
                  </a:lnTo>
                  <a:lnTo>
                    <a:pt x="230" y="86"/>
                  </a:lnTo>
                  <a:lnTo>
                    <a:pt x="230" y="86"/>
                  </a:lnTo>
                  <a:lnTo>
                    <a:pt x="230" y="86"/>
                  </a:lnTo>
                  <a:lnTo>
                    <a:pt x="230" y="86"/>
                  </a:lnTo>
                  <a:lnTo>
                    <a:pt x="226" y="86"/>
                  </a:lnTo>
                  <a:lnTo>
                    <a:pt x="226" y="86"/>
                  </a:lnTo>
                  <a:lnTo>
                    <a:pt x="226" y="86"/>
                  </a:lnTo>
                  <a:lnTo>
                    <a:pt x="223" y="86"/>
                  </a:lnTo>
                  <a:lnTo>
                    <a:pt x="223" y="86"/>
                  </a:lnTo>
                  <a:lnTo>
                    <a:pt x="223" y="86"/>
                  </a:lnTo>
                  <a:lnTo>
                    <a:pt x="223" y="86"/>
                  </a:lnTo>
                  <a:lnTo>
                    <a:pt x="219" y="86"/>
                  </a:lnTo>
                  <a:lnTo>
                    <a:pt x="219" y="86"/>
                  </a:lnTo>
                  <a:lnTo>
                    <a:pt x="219" y="86"/>
                  </a:lnTo>
                  <a:lnTo>
                    <a:pt x="219" y="86"/>
                  </a:lnTo>
                  <a:lnTo>
                    <a:pt x="216" y="86"/>
                  </a:lnTo>
                  <a:lnTo>
                    <a:pt x="216" y="86"/>
                  </a:lnTo>
                  <a:lnTo>
                    <a:pt x="216" y="86"/>
                  </a:lnTo>
                  <a:lnTo>
                    <a:pt x="216" y="86"/>
                  </a:lnTo>
                  <a:lnTo>
                    <a:pt x="212" y="86"/>
                  </a:lnTo>
                  <a:lnTo>
                    <a:pt x="212" y="86"/>
                  </a:lnTo>
                  <a:lnTo>
                    <a:pt x="212" y="86"/>
                  </a:lnTo>
                  <a:lnTo>
                    <a:pt x="209" y="86"/>
                  </a:lnTo>
                  <a:lnTo>
                    <a:pt x="209" y="86"/>
                  </a:lnTo>
                  <a:lnTo>
                    <a:pt x="209" y="86"/>
                  </a:lnTo>
                  <a:lnTo>
                    <a:pt x="209" y="86"/>
                  </a:lnTo>
                  <a:lnTo>
                    <a:pt x="206" y="86"/>
                  </a:lnTo>
                  <a:lnTo>
                    <a:pt x="206" y="86"/>
                  </a:lnTo>
                  <a:lnTo>
                    <a:pt x="206" y="86"/>
                  </a:lnTo>
                  <a:lnTo>
                    <a:pt x="206" y="86"/>
                  </a:lnTo>
                  <a:lnTo>
                    <a:pt x="202" y="86"/>
                  </a:lnTo>
                  <a:lnTo>
                    <a:pt x="202" y="86"/>
                  </a:lnTo>
                  <a:lnTo>
                    <a:pt x="202" y="86"/>
                  </a:lnTo>
                  <a:lnTo>
                    <a:pt x="202" y="86"/>
                  </a:lnTo>
                  <a:lnTo>
                    <a:pt x="199" y="86"/>
                  </a:lnTo>
                  <a:lnTo>
                    <a:pt x="199" y="86"/>
                  </a:lnTo>
                  <a:lnTo>
                    <a:pt x="199" y="86"/>
                  </a:lnTo>
                  <a:lnTo>
                    <a:pt x="195" y="86"/>
                  </a:lnTo>
                  <a:lnTo>
                    <a:pt x="195" y="86"/>
                  </a:lnTo>
                  <a:lnTo>
                    <a:pt x="195" y="86"/>
                  </a:lnTo>
                  <a:lnTo>
                    <a:pt x="195" y="86"/>
                  </a:lnTo>
                  <a:lnTo>
                    <a:pt x="192" y="86"/>
                  </a:lnTo>
                  <a:lnTo>
                    <a:pt x="192" y="86"/>
                  </a:lnTo>
                  <a:lnTo>
                    <a:pt x="192" y="86"/>
                  </a:lnTo>
                  <a:lnTo>
                    <a:pt x="192" y="86"/>
                  </a:lnTo>
                  <a:lnTo>
                    <a:pt x="188" y="86"/>
                  </a:lnTo>
                  <a:lnTo>
                    <a:pt x="188" y="86"/>
                  </a:lnTo>
                  <a:lnTo>
                    <a:pt x="188" y="86"/>
                  </a:lnTo>
                  <a:lnTo>
                    <a:pt x="188" y="86"/>
                  </a:lnTo>
                  <a:lnTo>
                    <a:pt x="185" y="86"/>
                  </a:lnTo>
                  <a:lnTo>
                    <a:pt x="185" y="86"/>
                  </a:lnTo>
                  <a:lnTo>
                    <a:pt x="185" y="86"/>
                  </a:lnTo>
                  <a:lnTo>
                    <a:pt x="185" y="86"/>
                  </a:lnTo>
                  <a:lnTo>
                    <a:pt x="182" y="86"/>
                  </a:lnTo>
                  <a:lnTo>
                    <a:pt x="182" y="86"/>
                  </a:lnTo>
                  <a:lnTo>
                    <a:pt x="182" y="86"/>
                  </a:lnTo>
                  <a:lnTo>
                    <a:pt x="178" y="86"/>
                  </a:lnTo>
                  <a:lnTo>
                    <a:pt x="178" y="86"/>
                  </a:lnTo>
                  <a:lnTo>
                    <a:pt x="178" y="86"/>
                  </a:lnTo>
                  <a:lnTo>
                    <a:pt x="178" y="86"/>
                  </a:lnTo>
                  <a:lnTo>
                    <a:pt x="175" y="86"/>
                  </a:lnTo>
                  <a:lnTo>
                    <a:pt x="175" y="86"/>
                  </a:lnTo>
                  <a:lnTo>
                    <a:pt x="175" y="86"/>
                  </a:lnTo>
                  <a:lnTo>
                    <a:pt x="175" y="86"/>
                  </a:lnTo>
                  <a:lnTo>
                    <a:pt x="171" y="86"/>
                  </a:lnTo>
                  <a:lnTo>
                    <a:pt x="171" y="86"/>
                  </a:lnTo>
                  <a:lnTo>
                    <a:pt x="171" y="86"/>
                  </a:lnTo>
                  <a:lnTo>
                    <a:pt x="171" y="86"/>
                  </a:lnTo>
                  <a:lnTo>
                    <a:pt x="168" y="86"/>
                  </a:lnTo>
                  <a:lnTo>
                    <a:pt x="168" y="86"/>
                  </a:lnTo>
                  <a:lnTo>
                    <a:pt x="168" y="86"/>
                  </a:lnTo>
                  <a:lnTo>
                    <a:pt x="164" y="86"/>
                  </a:lnTo>
                  <a:lnTo>
                    <a:pt x="164" y="86"/>
                  </a:lnTo>
                  <a:lnTo>
                    <a:pt x="164" y="86"/>
                  </a:lnTo>
                  <a:lnTo>
                    <a:pt x="164" y="86"/>
                  </a:lnTo>
                  <a:lnTo>
                    <a:pt x="161" y="86"/>
                  </a:lnTo>
                  <a:lnTo>
                    <a:pt x="161" y="86"/>
                  </a:lnTo>
                  <a:lnTo>
                    <a:pt x="161" y="86"/>
                  </a:lnTo>
                  <a:lnTo>
                    <a:pt x="161" y="86"/>
                  </a:lnTo>
                  <a:lnTo>
                    <a:pt x="158" y="86"/>
                  </a:lnTo>
                  <a:lnTo>
                    <a:pt x="158" y="86"/>
                  </a:lnTo>
                  <a:lnTo>
                    <a:pt x="158" y="86"/>
                  </a:lnTo>
                  <a:lnTo>
                    <a:pt x="158" y="86"/>
                  </a:lnTo>
                  <a:lnTo>
                    <a:pt x="154" y="86"/>
                  </a:lnTo>
                  <a:lnTo>
                    <a:pt x="154" y="86"/>
                  </a:lnTo>
                  <a:lnTo>
                    <a:pt x="154" y="86"/>
                  </a:lnTo>
                  <a:lnTo>
                    <a:pt x="154" y="86"/>
                  </a:lnTo>
                  <a:lnTo>
                    <a:pt x="151" y="86"/>
                  </a:lnTo>
                  <a:lnTo>
                    <a:pt x="151" y="86"/>
                  </a:lnTo>
                  <a:lnTo>
                    <a:pt x="151" y="86"/>
                  </a:lnTo>
                  <a:lnTo>
                    <a:pt x="147" y="86"/>
                  </a:lnTo>
                  <a:lnTo>
                    <a:pt x="147" y="86"/>
                  </a:lnTo>
                  <a:lnTo>
                    <a:pt x="147" y="86"/>
                  </a:lnTo>
                  <a:lnTo>
                    <a:pt x="147" y="86"/>
                  </a:lnTo>
                  <a:lnTo>
                    <a:pt x="144" y="86"/>
                  </a:lnTo>
                  <a:lnTo>
                    <a:pt x="144" y="86"/>
                  </a:lnTo>
                  <a:lnTo>
                    <a:pt x="144" y="86"/>
                  </a:lnTo>
                  <a:lnTo>
                    <a:pt x="144" y="86"/>
                  </a:lnTo>
                  <a:lnTo>
                    <a:pt x="140" y="86"/>
                  </a:lnTo>
                  <a:lnTo>
                    <a:pt x="140" y="86"/>
                  </a:lnTo>
                  <a:lnTo>
                    <a:pt x="140" y="86"/>
                  </a:lnTo>
                  <a:lnTo>
                    <a:pt x="140" y="86"/>
                  </a:lnTo>
                  <a:lnTo>
                    <a:pt x="137" y="86"/>
                  </a:lnTo>
                  <a:lnTo>
                    <a:pt x="137" y="86"/>
                  </a:lnTo>
                  <a:lnTo>
                    <a:pt x="137" y="86"/>
                  </a:lnTo>
                  <a:lnTo>
                    <a:pt x="134" y="86"/>
                  </a:lnTo>
                  <a:lnTo>
                    <a:pt x="134" y="86"/>
                  </a:lnTo>
                  <a:lnTo>
                    <a:pt x="134" y="86"/>
                  </a:lnTo>
                  <a:lnTo>
                    <a:pt x="134" y="86"/>
                  </a:lnTo>
                  <a:lnTo>
                    <a:pt x="130" y="86"/>
                  </a:lnTo>
                  <a:lnTo>
                    <a:pt x="130" y="86"/>
                  </a:lnTo>
                  <a:lnTo>
                    <a:pt x="130" y="86"/>
                  </a:lnTo>
                  <a:lnTo>
                    <a:pt x="130" y="86"/>
                  </a:lnTo>
                  <a:lnTo>
                    <a:pt x="127" y="86"/>
                  </a:lnTo>
                  <a:lnTo>
                    <a:pt x="127" y="86"/>
                  </a:lnTo>
                  <a:lnTo>
                    <a:pt x="127" y="86"/>
                  </a:lnTo>
                  <a:lnTo>
                    <a:pt x="127" y="86"/>
                  </a:lnTo>
                  <a:lnTo>
                    <a:pt x="123" y="86"/>
                  </a:lnTo>
                  <a:lnTo>
                    <a:pt x="123" y="86"/>
                  </a:lnTo>
                  <a:lnTo>
                    <a:pt x="123" y="86"/>
                  </a:lnTo>
                  <a:lnTo>
                    <a:pt x="123" y="86"/>
                  </a:lnTo>
                  <a:lnTo>
                    <a:pt x="120" y="86"/>
                  </a:lnTo>
                  <a:lnTo>
                    <a:pt x="120" y="86"/>
                  </a:lnTo>
                  <a:lnTo>
                    <a:pt x="120" y="86"/>
                  </a:lnTo>
                  <a:lnTo>
                    <a:pt x="116" y="86"/>
                  </a:lnTo>
                  <a:lnTo>
                    <a:pt x="116" y="86"/>
                  </a:lnTo>
                  <a:lnTo>
                    <a:pt x="116" y="86"/>
                  </a:lnTo>
                  <a:lnTo>
                    <a:pt x="116" y="86"/>
                  </a:lnTo>
                  <a:lnTo>
                    <a:pt x="113" y="86"/>
                  </a:lnTo>
                  <a:lnTo>
                    <a:pt x="113" y="86"/>
                  </a:lnTo>
                  <a:lnTo>
                    <a:pt x="113" y="86"/>
                  </a:lnTo>
                  <a:lnTo>
                    <a:pt x="113" y="86"/>
                  </a:lnTo>
                  <a:lnTo>
                    <a:pt x="110" y="86"/>
                  </a:lnTo>
                  <a:lnTo>
                    <a:pt x="110" y="86"/>
                  </a:lnTo>
                  <a:lnTo>
                    <a:pt x="110" y="86"/>
                  </a:lnTo>
                  <a:lnTo>
                    <a:pt x="110" y="86"/>
                  </a:lnTo>
                  <a:lnTo>
                    <a:pt x="106" y="86"/>
                  </a:lnTo>
                  <a:lnTo>
                    <a:pt x="106" y="86"/>
                  </a:lnTo>
                  <a:lnTo>
                    <a:pt x="106" y="86"/>
                  </a:lnTo>
                  <a:lnTo>
                    <a:pt x="103" y="86"/>
                  </a:lnTo>
                  <a:lnTo>
                    <a:pt x="103" y="86"/>
                  </a:lnTo>
                  <a:lnTo>
                    <a:pt x="103" y="86"/>
                  </a:lnTo>
                  <a:lnTo>
                    <a:pt x="103" y="86"/>
                  </a:lnTo>
                  <a:lnTo>
                    <a:pt x="99" y="86"/>
                  </a:lnTo>
                  <a:lnTo>
                    <a:pt x="99" y="86"/>
                  </a:lnTo>
                  <a:lnTo>
                    <a:pt x="99" y="86"/>
                  </a:lnTo>
                  <a:lnTo>
                    <a:pt x="99" y="86"/>
                  </a:lnTo>
                  <a:lnTo>
                    <a:pt x="96" y="86"/>
                  </a:lnTo>
                  <a:lnTo>
                    <a:pt x="96" y="86"/>
                  </a:lnTo>
                  <a:lnTo>
                    <a:pt x="96" y="86"/>
                  </a:lnTo>
                  <a:lnTo>
                    <a:pt x="96" y="86"/>
                  </a:lnTo>
                  <a:lnTo>
                    <a:pt x="92" y="86"/>
                  </a:lnTo>
                  <a:lnTo>
                    <a:pt x="92" y="86"/>
                  </a:lnTo>
                  <a:lnTo>
                    <a:pt x="92" y="86"/>
                  </a:lnTo>
                  <a:lnTo>
                    <a:pt x="89" y="86"/>
                  </a:lnTo>
                  <a:lnTo>
                    <a:pt x="89" y="86"/>
                  </a:lnTo>
                  <a:lnTo>
                    <a:pt x="89" y="86"/>
                  </a:lnTo>
                  <a:lnTo>
                    <a:pt x="89" y="86"/>
                  </a:lnTo>
                  <a:lnTo>
                    <a:pt x="86" y="86"/>
                  </a:lnTo>
                  <a:lnTo>
                    <a:pt x="86" y="86"/>
                  </a:lnTo>
                  <a:lnTo>
                    <a:pt x="86" y="86"/>
                  </a:lnTo>
                  <a:lnTo>
                    <a:pt x="86" y="86"/>
                  </a:lnTo>
                  <a:lnTo>
                    <a:pt x="82" y="86"/>
                  </a:lnTo>
                  <a:lnTo>
                    <a:pt x="82" y="86"/>
                  </a:lnTo>
                  <a:lnTo>
                    <a:pt x="82" y="86"/>
                  </a:lnTo>
                  <a:lnTo>
                    <a:pt x="82" y="86"/>
                  </a:lnTo>
                  <a:lnTo>
                    <a:pt x="79" y="86"/>
                  </a:lnTo>
                  <a:lnTo>
                    <a:pt x="79" y="86"/>
                  </a:lnTo>
                  <a:lnTo>
                    <a:pt x="79" y="86"/>
                  </a:lnTo>
                  <a:lnTo>
                    <a:pt x="79" y="86"/>
                  </a:lnTo>
                  <a:lnTo>
                    <a:pt x="75" y="86"/>
                  </a:lnTo>
                  <a:lnTo>
                    <a:pt x="75" y="86"/>
                  </a:lnTo>
                  <a:lnTo>
                    <a:pt x="75" y="86"/>
                  </a:lnTo>
                  <a:lnTo>
                    <a:pt x="72" y="86"/>
                  </a:lnTo>
                  <a:lnTo>
                    <a:pt x="72" y="86"/>
                  </a:lnTo>
                  <a:lnTo>
                    <a:pt x="72" y="86"/>
                  </a:lnTo>
                  <a:lnTo>
                    <a:pt x="72" y="86"/>
                  </a:lnTo>
                  <a:lnTo>
                    <a:pt x="68" y="86"/>
                  </a:lnTo>
                  <a:lnTo>
                    <a:pt x="68" y="86"/>
                  </a:lnTo>
                  <a:lnTo>
                    <a:pt x="68" y="86"/>
                  </a:lnTo>
                  <a:lnTo>
                    <a:pt x="68" y="86"/>
                  </a:lnTo>
                  <a:lnTo>
                    <a:pt x="65" y="86"/>
                  </a:lnTo>
                  <a:lnTo>
                    <a:pt x="65" y="86"/>
                  </a:lnTo>
                  <a:lnTo>
                    <a:pt x="65" y="86"/>
                  </a:lnTo>
                  <a:lnTo>
                    <a:pt x="65" y="86"/>
                  </a:lnTo>
                  <a:lnTo>
                    <a:pt x="62" y="86"/>
                  </a:lnTo>
                  <a:lnTo>
                    <a:pt x="62" y="86"/>
                  </a:lnTo>
                  <a:lnTo>
                    <a:pt x="62" y="86"/>
                  </a:lnTo>
                  <a:lnTo>
                    <a:pt x="58" y="86"/>
                  </a:lnTo>
                  <a:lnTo>
                    <a:pt x="58" y="86"/>
                  </a:lnTo>
                  <a:lnTo>
                    <a:pt x="58" y="86"/>
                  </a:lnTo>
                  <a:lnTo>
                    <a:pt x="58" y="86"/>
                  </a:lnTo>
                  <a:lnTo>
                    <a:pt x="55" y="86"/>
                  </a:lnTo>
                  <a:lnTo>
                    <a:pt x="55" y="86"/>
                  </a:lnTo>
                  <a:lnTo>
                    <a:pt x="55" y="86"/>
                  </a:lnTo>
                  <a:lnTo>
                    <a:pt x="55" y="86"/>
                  </a:lnTo>
                  <a:lnTo>
                    <a:pt x="51" y="86"/>
                  </a:lnTo>
                  <a:lnTo>
                    <a:pt x="51" y="86"/>
                  </a:lnTo>
                  <a:lnTo>
                    <a:pt x="51" y="86"/>
                  </a:lnTo>
                  <a:lnTo>
                    <a:pt x="51" y="86"/>
                  </a:lnTo>
                  <a:lnTo>
                    <a:pt x="48" y="86"/>
                  </a:lnTo>
                  <a:lnTo>
                    <a:pt x="48" y="86"/>
                  </a:lnTo>
                  <a:lnTo>
                    <a:pt x="48" y="86"/>
                  </a:lnTo>
                  <a:lnTo>
                    <a:pt x="48" y="86"/>
                  </a:lnTo>
                  <a:lnTo>
                    <a:pt x="44" y="86"/>
                  </a:lnTo>
                  <a:lnTo>
                    <a:pt x="44" y="86"/>
                  </a:lnTo>
                  <a:lnTo>
                    <a:pt x="44" y="86"/>
                  </a:lnTo>
                  <a:lnTo>
                    <a:pt x="41" y="86"/>
                  </a:lnTo>
                  <a:lnTo>
                    <a:pt x="41" y="86"/>
                  </a:lnTo>
                  <a:lnTo>
                    <a:pt x="41" y="86"/>
                  </a:lnTo>
                  <a:lnTo>
                    <a:pt x="41" y="86"/>
                  </a:lnTo>
                  <a:lnTo>
                    <a:pt x="38" y="86"/>
                  </a:lnTo>
                  <a:lnTo>
                    <a:pt x="38" y="86"/>
                  </a:lnTo>
                  <a:lnTo>
                    <a:pt x="38" y="86"/>
                  </a:lnTo>
                  <a:lnTo>
                    <a:pt x="38" y="86"/>
                  </a:lnTo>
                  <a:lnTo>
                    <a:pt x="34" y="86"/>
                  </a:lnTo>
                  <a:lnTo>
                    <a:pt x="34" y="86"/>
                  </a:lnTo>
                  <a:lnTo>
                    <a:pt x="34" y="86"/>
                  </a:lnTo>
                  <a:lnTo>
                    <a:pt x="34" y="86"/>
                  </a:lnTo>
                  <a:lnTo>
                    <a:pt x="31" y="86"/>
                  </a:lnTo>
                  <a:lnTo>
                    <a:pt x="31" y="86"/>
                  </a:lnTo>
                  <a:lnTo>
                    <a:pt x="31" y="86"/>
                  </a:lnTo>
                  <a:lnTo>
                    <a:pt x="27" y="86"/>
                  </a:lnTo>
                  <a:lnTo>
                    <a:pt x="27" y="86"/>
                  </a:lnTo>
                  <a:lnTo>
                    <a:pt x="27" y="86"/>
                  </a:lnTo>
                  <a:lnTo>
                    <a:pt x="27" y="86"/>
                  </a:lnTo>
                  <a:lnTo>
                    <a:pt x="24" y="86"/>
                  </a:lnTo>
                  <a:lnTo>
                    <a:pt x="24" y="86"/>
                  </a:lnTo>
                  <a:lnTo>
                    <a:pt x="24" y="86"/>
                  </a:lnTo>
                  <a:lnTo>
                    <a:pt x="24" y="86"/>
                  </a:lnTo>
                  <a:lnTo>
                    <a:pt x="20" y="86"/>
                  </a:lnTo>
                  <a:lnTo>
                    <a:pt x="20" y="86"/>
                  </a:lnTo>
                  <a:lnTo>
                    <a:pt x="20" y="86"/>
                  </a:lnTo>
                  <a:lnTo>
                    <a:pt x="20" y="86"/>
                  </a:lnTo>
                  <a:lnTo>
                    <a:pt x="17" y="86"/>
                  </a:lnTo>
                  <a:lnTo>
                    <a:pt x="17" y="86"/>
                  </a:lnTo>
                  <a:lnTo>
                    <a:pt x="17" y="86"/>
                  </a:lnTo>
                  <a:lnTo>
                    <a:pt x="17" y="86"/>
                  </a:lnTo>
                  <a:lnTo>
                    <a:pt x="14" y="86"/>
                  </a:lnTo>
                  <a:lnTo>
                    <a:pt x="14" y="86"/>
                  </a:lnTo>
                  <a:lnTo>
                    <a:pt x="14" y="86"/>
                  </a:lnTo>
                  <a:lnTo>
                    <a:pt x="10" y="86"/>
                  </a:lnTo>
                  <a:lnTo>
                    <a:pt x="10" y="86"/>
                  </a:lnTo>
                  <a:lnTo>
                    <a:pt x="10" y="86"/>
                  </a:lnTo>
                  <a:lnTo>
                    <a:pt x="10" y="86"/>
                  </a:lnTo>
                  <a:lnTo>
                    <a:pt x="7" y="86"/>
                  </a:lnTo>
                  <a:lnTo>
                    <a:pt x="7" y="86"/>
                  </a:lnTo>
                  <a:lnTo>
                    <a:pt x="7" y="86"/>
                  </a:lnTo>
                  <a:lnTo>
                    <a:pt x="7" y="86"/>
                  </a:lnTo>
                  <a:lnTo>
                    <a:pt x="3" y="86"/>
                  </a:lnTo>
                  <a:lnTo>
                    <a:pt x="3" y="86"/>
                  </a:lnTo>
                  <a:lnTo>
                    <a:pt x="3" y="86"/>
                  </a:lnTo>
                  <a:lnTo>
                    <a:pt x="3" y="86"/>
                  </a:lnTo>
                  <a:lnTo>
                    <a:pt x="0" y="86"/>
                  </a:lnTo>
                  <a:lnTo>
                    <a:pt x="0" y="86"/>
                  </a:lnTo>
                  <a:close/>
                </a:path>
              </a:pathLst>
            </a:custGeom>
            <a:solidFill>
              <a:srgbClr val="9999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3" name="Freeform 23">
              <a:extLst>
                <a:ext uri="{FF2B5EF4-FFF2-40B4-BE49-F238E27FC236}">
                  <a16:creationId xmlns:a16="http://schemas.microsoft.com/office/drawing/2014/main" id="{CEBA96B4-06BF-6B4A-9875-C0CDCE96CA7E}"/>
                </a:ext>
              </a:extLst>
            </p:cNvPr>
            <p:cNvSpPr>
              <a:spLocks noChangeArrowheads="1"/>
            </p:cNvSpPr>
            <p:nvPr/>
          </p:nvSpPr>
          <p:spPr bwMode="auto">
            <a:xfrm>
              <a:off x="2214" y="4310"/>
              <a:ext cx="956" cy="101"/>
            </a:xfrm>
            <a:custGeom>
              <a:avLst/>
              <a:gdLst>
                <a:gd name="T0" fmla="*/ 7 w 452"/>
                <a:gd name="T1" fmla="*/ 4 h 86"/>
                <a:gd name="T2" fmla="*/ 14 w 452"/>
                <a:gd name="T3" fmla="*/ 8 h 86"/>
                <a:gd name="T4" fmla="*/ 20 w 452"/>
                <a:gd name="T5" fmla="*/ 8 h 86"/>
                <a:gd name="T6" fmla="*/ 27 w 452"/>
                <a:gd name="T7" fmla="*/ 12 h 86"/>
                <a:gd name="T8" fmla="*/ 34 w 452"/>
                <a:gd name="T9" fmla="*/ 16 h 86"/>
                <a:gd name="T10" fmla="*/ 41 w 452"/>
                <a:gd name="T11" fmla="*/ 16 h 86"/>
                <a:gd name="T12" fmla="*/ 48 w 452"/>
                <a:gd name="T13" fmla="*/ 16 h 86"/>
                <a:gd name="T14" fmla="*/ 55 w 452"/>
                <a:gd name="T15" fmla="*/ 12 h 86"/>
                <a:gd name="T16" fmla="*/ 65 w 452"/>
                <a:gd name="T17" fmla="*/ 20 h 86"/>
                <a:gd name="T18" fmla="*/ 72 w 452"/>
                <a:gd name="T19" fmla="*/ 16 h 86"/>
                <a:gd name="T20" fmla="*/ 79 w 452"/>
                <a:gd name="T21" fmla="*/ 12 h 86"/>
                <a:gd name="T22" fmla="*/ 86 w 452"/>
                <a:gd name="T23" fmla="*/ 16 h 86"/>
                <a:gd name="T24" fmla="*/ 92 w 452"/>
                <a:gd name="T25" fmla="*/ 16 h 86"/>
                <a:gd name="T26" fmla="*/ 99 w 452"/>
                <a:gd name="T27" fmla="*/ 20 h 86"/>
                <a:gd name="T28" fmla="*/ 106 w 452"/>
                <a:gd name="T29" fmla="*/ 12 h 86"/>
                <a:gd name="T30" fmla="*/ 113 w 452"/>
                <a:gd name="T31" fmla="*/ 12 h 86"/>
                <a:gd name="T32" fmla="*/ 123 w 452"/>
                <a:gd name="T33" fmla="*/ 16 h 86"/>
                <a:gd name="T34" fmla="*/ 130 w 452"/>
                <a:gd name="T35" fmla="*/ 8 h 86"/>
                <a:gd name="T36" fmla="*/ 137 w 452"/>
                <a:gd name="T37" fmla="*/ 12 h 86"/>
                <a:gd name="T38" fmla="*/ 144 w 452"/>
                <a:gd name="T39" fmla="*/ 12 h 86"/>
                <a:gd name="T40" fmla="*/ 151 w 452"/>
                <a:gd name="T41" fmla="*/ 16 h 86"/>
                <a:gd name="T42" fmla="*/ 158 w 452"/>
                <a:gd name="T43" fmla="*/ 12 h 86"/>
                <a:gd name="T44" fmla="*/ 164 w 452"/>
                <a:gd name="T45" fmla="*/ 4 h 86"/>
                <a:gd name="T46" fmla="*/ 171 w 452"/>
                <a:gd name="T47" fmla="*/ 16 h 86"/>
                <a:gd name="T48" fmla="*/ 178 w 452"/>
                <a:gd name="T49" fmla="*/ 4 h 86"/>
                <a:gd name="T50" fmla="*/ 188 w 452"/>
                <a:gd name="T51" fmla="*/ 4 h 86"/>
                <a:gd name="T52" fmla="*/ 195 w 452"/>
                <a:gd name="T53" fmla="*/ 12 h 86"/>
                <a:gd name="T54" fmla="*/ 202 w 452"/>
                <a:gd name="T55" fmla="*/ 12 h 86"/>
                <a:gd name="T56" fmla="*/ 209 w 452"/>
                <a:gd name="T57" fmla="*/ 12 h 86"/>
                <a:gd name="T58" fmla="*/ 216 w 452"/>
                <a:gd name="T59" fmla="*/ 12 h 86"/>
                <a:gd name="T60" fmla="*/ 223 w 452"/>
                <a:gd name="T61" fmla="*/ 8 h 86"/>
                <a:gd name="T62" fmla="*/ 230 w 452"/>
                <a:gd name="T63" fmla="*/ 12 h 86"/>
                <a:gd name="T64" fmla="*/ 236 w 452"/>
                <a:gd name="T65" fmla="*/ 8 h 86"/>
                <a:gd name="T66" fmla="*/ 247 w 452"/>
                <a:gd name="T67" fmla="*/ 8 h 86"/>
                <a:gd name="T68" fmla="*/ 254 w 452"/>
                <a:gd name="T69" fmla="*/ 12 h 86"/>
                <a:gd name="T70" fmla="*/ 260 w 452"/>
                <a:gd name="T71" fmla="*/ 16 h 86"/>
                <a:gd name="T72" fmla="*/ 267 w 452"/>
                <a:gd name="T73" fmla="*/ 16 h 86"/>
                <a:gd name="T74" fmla="*/ 274 w 452"/>
                <a:gd name="T75" fmla="*/ 20 h 86"/>
                <a:gd name="T76" fmla="*/ 281 w 452"/>
                <a:gd name="T77" fmla="*/ 12 h 86"/>
                <a:gd name="T78" fmla="*/ 288 w 452"/>
                <a:gd name="T79" fmla="*/ 12 h 86"/>
                <a:gd name="T80" fmla="*/ 295 w 452"/>
                <a:gd name="T81" fmla="*/ 16 h 86"/>
                <a:gd name="T82" fmla="*/ 302 w 452"/>
                <a:gd name="T83" fmla="*/ 8 h 86"/>
                <a:gd name="T84" fmla="*/ 312 w 452"/>
                <a:gd name="T85" fmla="*/ 4 h 86"/>
                <a:gd name="T86" fmla="*/ 319 w 452"/>
                <a:gd name="T87" fmla="*/ 4 h 86"/>
                <a:gd name="T88" fmla="*/ 326 w 452"/>
                <a:gd name="T89" fmla="*/ 12 h 86"/>
                <a:gd name="T90" fmla="*/ 332 w 452"/>
                <a:gd name="T91" fmla="*/ 16 h 86"/>
                <a:gd name="T92" fmla="*/ 339 w 452"/>
                <a:gd name="T93" fmla="*/ 8 h 86"/>
                <a:gd name="T94" fmla="*/ 346 w 452"/>
                <a:gd name="T95" fmla="*/ 16 h 86"/>
                <a:gd name="T96" fmla="*/ 353 w 452"/>
                <a:gd name="T97" fmla="*/ 12 h 86"/>
                <a:gd name="T98" fmla="*/ 360 w 452"/>
                <a:gd name="T99" fmla="*/ 12 h 86"/>
                <a:gd name="T100" fmla="*/ 370 w 452"/>
                <a:gd name="T101" fmla="*/ 8 h 86"/>
                <a:gd name="T102" fmla="*/ 377 w 452"/>
                <a:gd name="T103" fmla="*/ 16 h 86"/>
                <a:gd name="T104" fmla="*/ 384 w 452"/>
                <a:gd name="T105" fmla="*/ 16 h 86"/>
                <a:gd name="T106" fmla="*/ 391 w 452"/>
                <a:gd name="T107" fmla="*/ 20 h 86"/>
                <a:gd name="T108" fmla="*/ 398 w 452"/>
                <a:gd name="T109" fmla="*/ 16 h 86"/>
                <a:gd name="T110" fmla="*/ 404 w 452"/>
                <a:gd name="T111" fmla="*/ 16 h 86"/>
                <a:gd name="T112" fmla="*/ 411 w 452"/>
                <a:gd name="T113" fmla="*/ 12 h 86"/>
                <a:gd name="T114" fmla="*/ 418 w 452"/>
                <a:gd name="T115" fmla="*/ 12 h 86"/>
                <a:gd name="T116" fmla="*/ 428 w 452"/>
                <a:gd name="T117" fmla="*/ 12 h 86"/>
                <a:gd name="T118" fmla="*/ 435 w 452"/>
                <a:gd name="T119" fmla="*/ 12 h 86"/>
                <a:gd name="T120" fmla="*/ 442 w 452"/>
                <a:gd name="T121" fmla="*/ 8 h 86"/>
                <a:gd name="T122" fmla="*/ 449 w 452"/>
                <a:gd name="T123" fmla="*/ 1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2" h="86">
                  <a:moveTo>
                    <a:pt x="0" y="86"/>
                  </a:moveTo>
                  <a:lnTo>
                    <a:pt x="0" y="29"/>
                  </a:lnTo>
                  <a:lnTo>
                    <a:pt x="0" y="8"/>
                  </a:lnTo>
                  <a:lnTo>
                    <a:pt x="3" y="12"/>
                  </a:lnTo>
                  <a:lnTo>
                    <a:pt x="3" y="12"/>
                  </a:lnTo>
                  <a:lnTo>
                    <a:pt x="3" y="12"/>
                  </a:lnTo>
                  <a:lnTo>
                    <a:pt x="3" y="8"/>
                  </a:lnTo>
                  <a:lnTo>
                    <a:pt x="7" y="4"/>
                  </a:lnTo>
                  <a:lnTo>
                    <a:pt x="7" y="4"/>
                  </a:lnTo>
                  <a:lnTo>
                    <a:pt x="7" y="4"/>
                  </a:lnTo>
                  <a:lnTo>
                    <a:pt x="7" y="4"/>
                  </a:lnTo>
                  <a:lnTo>
                    <a:pt x="10" y="8"/>
                  </a:lnTo>
                  <a:lnTo>
                    <a:pt x="10" y="8"/>
                  </a:lnTo>
                  <a:lnTo>
                    <a:pt x="10" y="8"/>
                  </a:lnTo>
                  <a:lnTo>
                    <a:pt x="10" y="8"/>
                  </a:lnTo>
                  <a:lnTo>
                    <a:pt x="14" y="8"/>
                  </a:lnTo>
                  <a:lnTo>
                    <a:pt x="14" y="8"/>
                  </a:lnTo>
                  <a:lnTo>
                    <a:pt x="14" y="12"/>
                  </a:lnTo>
                  <a:lnTo>
                    <a:pt x="17" y="12"/>
                  </a:lnTo>
                  <a:lnTo>
                    <a:pt x="17" y="12"/>
                  </a:lnTo>
                  <a:lnTo>
                    <a:pt x="17" y="16"/>
                  </a:lnTo>
                  <a:lnTo>
                    <a:pt x="17" y="12"/>
                  </a:lnTo>
                  <a:lnTo>
                    <a:pt x="20" y="4"/>
                  </a:lnTo>
                  <a:lnTo>
                    <a:pt x="20" y="8"/>
                  </a:lnTo>
                  <a:lnTo>
                    <a:pt x="20" y="4"/>
                  </a:lnTo>
                  <a:lnTo>
                    <a:pt x="20" y="8"/>
                  </a:lnTo>
                  <a:lnTo>
                    <a:pt x="24" y="8"/>
                  </a:lnTo>
                  <a:lnTo>
                    <a:pt x="24" y="12"/>
                  </a:lnTo>
                  <a:lnTo>
                    <a:pt x="24" y="20"/>
                  </a:lnTo>
                  <a:lnTo>
                    <a:pt x="24" y="16"/>
                  </a:lnTo>
                  <a:lnTo>
                    <a:pt x="27" y="16"/>
                  </a:lnTo>
                  <a:lnTo>
                    <a:pt x="27" y="12"/>
                  </a:lnTo>
                  <a:lnTo>
                    <a:pt x="27" y="4"/>
                  </a:lnTo>
                  <a:lnTo>
                    <a:pt x="27" y="8"/>
                  </a:lnTo>
                  <a:lnTo>
                    <a:pt x="31" y="12"/>
                  </a:lnTo>
                  <a:lnTo>
                    <a:pt x="31" y="8"/>
                  </a:lnTo>
                  <a:lnTo>
                    <a:pt x="31" y="8"/>
                  </a:lnTo>
                  <a:lnTo>
                    <a:pt x="34" y="16"/>
                  </a:lnTo>
                  <a:lnTo>
                    <a:pt x="34" y="20"/>
                  </a:lnTo>
                  <a:lnTo>
                    <a:pt x="34" y="16"/>
                  </a:lnTo>
                  <a:lnTo>
                    <a:pt x="34" y="8"/>
                  </a:lnTo>
                  <a:lnTo>
                    <a:pt x="38" y="20"/>
                  </a:lnTo>
                  <a:lnTo>
                    <a:pt x="38" y="12"/>
                  </a:lnTo>
                  <a:lnTo>
                    <a:pt x="38" y="16"/>
                  </a:lnTo>
                  <a:lnTo>
                    <a:pt x="38" y="16"/>
                  </a:lnTo>
                  <a:lnTo>
                    <a:pt x="41" y="16"/>
                  </a:lnTo>
                  <a:lnTo>
                    <a:pt x="41" y="16"/>
                  </a:lnTo>
                  <a:lnTo>
                    <a:pt x="41" y="16"/>
                  </a:lnTo>
                  <a:lnTo>
                    <a:pt x="41" y="20"/>
                  </a:lnTo>
                  <a:lnTo>
                    <a:pt x="44" y="20"/>
                  </a:lnTo>
                  <a:lnTo>
                    <a:pt x="44" y="16"/>
                  </a:lnTo>
                  <a:lnTo>
                    <a:pt x="44" y="24"/>
                  </a:lnTo>
                  <a:lnTo>
                    <a:pt x="48" y="20"/>
                  </a:lnTo>
                  <a:lnTo>
                    <a:pt x="48" y="16"/>
                  </a:lnTo>
                  <a:lnTo>
                    <a:pt x="48" y="16"/>
                  </a:lnTo>
                  <a:lnTo>
                    <a:pt x="48" y="16"/>
                  </a:lnTo>
                  <a:lnTo>
                    <a:pt x="51" y="12"/>
                  </a:lnTo>
                  <a:lnTo>
                    <a:pt x="51" y="16"/>
                  </a:lnTo>
                  <a:lnTo>
                    <a:pt x="51" y="20"/>
                  </a:lnTo>
                  <a:lnTo>
                    <a:pt x="51" y="20"/>
                  </a:lnTo>
                  <a:lnTo>
                    <a:pt x="55" y="16"/>
                  </a:lnTo>
                  <a:lnTo>
                    <a:pt x="55" y="20"/>
                  </a:lnTo>
                  <a:lnTo>
                    <a:pt x="55" y="20"/>
                  </a:lnTo>
                  <a:lnTo>
                    <a:pt x="55" y="12"/>
                  </a:lnTo>
                  <a:lnTo>
                    <a:pt x="58" y="12"/>
                  </a:lnTo>
                  <a:lnTo>
                    <a:pt x="58" y="12"/>
                  </a:lnTo>
                  <a:lnTo>
                    <a:pt x="58" y="12"/>
                  </a:lnTo>
                  <a:lnTo>
                    <a:pt x="58" y="20"/>
                  </a:lnTo>
                  <a:lnTo>
                    <a:pt x="62" y="20"/>
                  </a:lnTo>
                  <a:lnTo>
                    <a:pt x="62" y="16"/>
                  </a:lnTo>
                  <a:lnTo>
                    <a:pt x="62" y="20"/>
                  </a:lnTo>
                  <a:lnTo>
                    <a:pt x="65" y="20"/>
                  </a:lnTo>
                  <a:lnTo>
                    <a:pt x="65" y="16"/>
                  </a:lnTo>
                  <a:lnTo>
                    <a:pt x="65" y="20"/>
                  </a:lnTo>
                  <a:lnTo>
                    <a:pt x="65" y="20"/>
                  </a:lnTo>
                  <a:lnTo>
                    <a:pt x="68" y="20"/>
                  </a:lnTo>
                  <a:lnTo>
                    <a:pt x="68" y="16"/>
                  </a:lnTo>
                  <a:lnTo>
                    <a:pt x="68" y="16"/>
                  </a:lnTo>
                  <a:lnTo>
                    <a:pt x="68" y="16"/>
                  </a:lnTo>
                  <a:lnTo>
                    <a:pt x="72" y="16"/>
                  </a:lnTo>
                  <a:lnTo>
                    <a:pt x="72" y="16"/>
                  </a:lnTo>
                  <a:lnTo>
                    <a:pt x="72" y="12"/>
                  </a:lnTo>
                  <a:lnTo>
                    <a:pt x="72" y="16"/>
                  </a:lnTo>
                  <a:lnTo>
                    <a:pt x="75" y="12"/>
                  </a:lnTo>
                  <a:lnTo>
                    <a:pt x="75" y="16"/>
                  </a:lnTo>
                  <a:lnTo>
                    <a:pt x="75" y="16"/>
                  </a:lnTo>
                  <a:lnTo>
                    <a:pt x="79" y="16"/>
                  </a:lnTo>
                  <a:lnTo>
                    <a:pt x="79" y="12"/>
                  </a:lnTo>
                  <a:lnTo>
                    <a:pt x="79" y="12"/>
                  </a:lnTo>
                  <a:lnTo>
                    <a:pt x="79" y="12"/>
                  </a:lnTo>
                  <a:lnTo>
                    <a:pt x="82" y="12"/>
                  </a:lnTo>
                  <a:lnTo>
                    <a:pt x="82" y="16"/>
                  </a:lnTo>
                  <a:lnTo>
                    <a:pt x="82" y="16"/>
                  </a:lnTo>
                  <a:lnTo>
                    <a:pt x="82" y="12"/>
                  </a:lnTo>
                  <a:lnTo>
                    <a:pt x="86" y="16"/>
                  </a:lnTo>
                  <a:lnTo>
                    <a:pt x="86" y="16"/>
                  </a:lnTo>
                  <a:lnTo>
                    <a:pt x="86" y="16"/>
                  </a:lnTo>
                  <a:lnTo>
                    <a:pt x="86" y="16"/>
                  </a:lnTo>
                  <a:lnTo>
                    <a:pt x="89" y="16"/>
                  </a:lnTo>
                  <a:lnTo>
                    <a:pt x="89" y="16"/>
                  </a:lnTo>
                  <a:lnTo>
                    <a:pt x="89" y="20"/>
                  </a:lnTo>
                  <a:lnTo>
                    <a:pt x="89" y="12"/>
                  </a:lnTo>
                  <a:lnTo>
                    <a:pt x="92" y="12"/>
                  </a:lnTo>
                  <a:lnTo>
                    <a:pt x="92" y="16"/>
                  </a:lnTo>
                  <a:lnTo>
                    <a:pt x="92" y="12"/>
                  </a:lnTo>
                  <a:lnTo>
                    <a:pt x="96" y="12"/>
                  </a:lnTo>
                  <a:lnTo>
                    <a:pt x="96" y="12"/>
                  </a:lnTo>
                  <a:lnTo>
                    <a:pt x="96" y="16"/>
                  </a:lnTo>
                  <a:lnTo>
                    <a:pt x="96" y="12"/>
                  </a:lnTo>
                  <a:lnTo>
                    <a:pt x="99" y="16"/>
                  </a:lnTo>
                  <a:lnTo>
                    <a:pt x="99" y="16"/>
                  </a:lnTo>
                  <a:lnTo>
                    <a:pt x="99" y="20"/>
                  </a:lnTo>
                  <a:lnTo>
                    <a:pt x="99" y="12"/>
                  </a:lnTo>
                  <a:lnTo>
                    <a:pt x="103" y="12"/>
                  </a:lnTo>
                  <a:lnTo>
                    <a:pt x="103" y="8"/>
                  </a:lnTo>
                  <a:lnTo>
                    <a:pt x="103" y="12"/>
                  </a:lnTo>
                  <a:lnTo>
                    <a:pt x="103" y="20"/>
                  </a:lnTo>
                  <a:lnTo>
                    <a:pt x="106" y="16"/>
                  </a:lnTo>
                  <a:lnTo>
                    <a:pt x="106" y="12"/>
                  </a:lnTo>
                  <a:lnTo>
                    <a:pt x="106" y="12"/>
                  </a:lnTo>
                  <a:lnTo>
                    <a:pt x="110" y="12"/>
                  </a:lnTo>
                  <a:lnTo>
                    <a:pt x="110" y="12"/>
                  </a:lnTo>
                  <a:lnTo>
                    <a:pt x="110" y="16"/>
                  </a:lnTo>
                  <a:lnTo>
                    <a:pt x="110" y="16"/>
                  </a:lnTo>
                  <a:lnTo>
                    <a:pt x="113" y="16"/>
                  </a:lnTo>
                  <a:lnTo>
                    <a:pt x="113" y="16"/>
                  </a:lnTo>
                  <a:lnTo>
                    <a:pt x="113" y="12"/>
                  </a:lnTo>
                  <a:lnTo>
                    <a:pt x="113" y="12"/>
                  </a:lnTo>
                  <a:lnTo>
                    <a:pt x="116" y="20"/>
                  </a:lnTo>
                  <a:lnTo>
                    <a:pt x="116" y="16"/>
                  </a:lnTo>
                  <a:lnTo>
                    <a:pt x="116" y="12"/>
                  </a:lnTo>
                  <a:lnTo>
                    <a:pt x="116" y="12"/>
                  </a:lnTo>
                  <a:lnTo>
                    <a:pt x="120" y="12"/>
                  </a:lnTo>
                  <a:lnTo>
                    <a:pt x="120" y="12"/>
                  </a:lnTo>
                  <a:lnTo>
                    <a:pt x="120" y="12"/>
                  </a:lnTo>
                  <a:lnTo>
                    <a:pt x="123" y="16"/>
                  </a:lnTo>
                  <a:lnTo>
                    <a:pt x="123" y="12"/>
                  </a:lnTo>
                  <a:lnTo>
                    <a:pt x="123" y="8"/>
                  </a:lnTo>
                  <a:lnTo>
                    <a:pt x="123" y="12"/>
                  </a:lnTo>
                  <a:lnTo>
                    <a:pt x="127" y="12"/>
                  </a:lnTo>
                  <a:lnTo>
                    <a:pt x="127" y="8"/>
                  </a:lnTo>
                  <a:lnTo>
                    <a:pt x="127" y="12"/>
                  </a:lnTo>
                  <a:lnTo>
                    <a:pt x="127" y="8"/>
                  </a:lnTo>
                  <a:lnTo>
                    <a:pt x="130" y="8"/>
                  </a:lnTo>
                  <a:lnTo>
                    <a:pt x="130" y="12"/>
                  </a:lnTo>
                  <a:lnTo>
                    <a:pt x="130" y="8"/>
                  </a:lnTo>
                  <a:lnTo>
                    <a:pt x="130" y="8"/>
                  </a:lnTo>
                  <a:lnTo>
                    <a:pt x="134" y="12"/>
                  </a:lnTo>
                  <a:lnTo>
                    <a:pt x="134" y="12"/>
                  </a:lnTo>
                  <a:lnTo>
                    <a:pt x="134" y="16"/>
                  </a:lnTo>
                  <a:lnTo>
                    <a:pt x="134" y="12"/>
                  </a:lnTo>
                  <a:lnTo>
                    <a:pt x="137" y="12"/>
                  </a:lnTo>
                  <a:lnTo>
                    <a:pt x="137" y="12"/>
                  </a:lnTo>
                  <a:lnTo>
                    <a:pt x="137" y="12"/>
                  </a:lnTo>
                  <a:lnTo>
                    <a:pt x="140" y="12"/>
                  </a:lnTo>
                  <a:lnTo>
                    <a:pt x="140" y="20"/>
                  </a:lnTo>
                  <a:lnTo>
                    <a:pt x="140" y="12"/>
                  </a:lnTo>
                  <a:lnTo>
                    <a:pt x="140" y="16"/>
                  </a:lnTo>
                  <a:lnTo>
                    <a:pt x="144" y="16"/>
                  </a:lnTo>
                  <a:lnTo>
                    <a:pt x="144" y="12"/>
                  </a:lnTo>
                  <a:lnTo>
                    <a:pt x="144" y="16"/>
                  </a:lnTo>
                  <a:lnTo>
                    <a:pt x="144" y="16"/>
                  </a:lnTo>
                  <a:lnTo>
                    <a:pt x="147" y="12"/>
                  </a:lnTo>
                  <a:lnTo>
                    <a:pt x="147" y="12"/>
                  </a:lnTo>
                  <a:lnTo>
                    <a:pt x="147" y="12"/>
                  </a:lnTo>
                  <a:lnTo>
                    <a:pt x="147" y="12"/>
                  </a:lnTo>
                  <a:lnTo>
                    <a:pt x="151" y="16"/>
                  </a:lnTo>
                  <a:lnTo>
                    <a:pt x="151" y="16"/>
                  </a:lnTo>
                  <a:lnTo>
                    <a:pt x="151" y="16"/>
                  </a:lnTo>
                  <a:lnTo>
                    <a:pt x="154" y="20"/>
                  </a:lnTo>
                  <a:lnTo>
                    <a:pt x="154" y="16"/>
                  </a:lnTo>
                  <a:lnTo>
                    <a:pt x="154" y="12"/>
                  </a:lnTo>
                  <a:lnTo>
                    <a:pt x="154" y="16"/>
                  </a:lnTo>
                  <a:lnTo>
                    <a:pt x="158" y="8"/>
                  </a:lnTo>
                  <a:lnTo>
                    <a:pt x="158" y="12"/>
                  </a:lnTo>
                  <a:lnTo>
                    <a:pt x="158" y="12"/>
                  </a:lnTo>
                  <a:lnTo>
                    <a:pt x="158" y="12"/>
                  </a:lnTo>
                  <a:lnTo>
                    <a:pt x="161" y="12"/>
                  </a:lnTo>
                  <a:lnTo>
                    <a:pt x="161" y="16"/>
                  </a:lnTo>
                  <a:lnTo>
                    <a:pt x="161" y="12"/>
                  </a:lnTo>
                  <a:lnTo>
                    <a:pt x="161" y="16"/>
                  </a:lnTo>
                  <a:lnTo>
                    <a:pt x="164" y="12"/>
                  </a:lnTo>
                  <a:lnTo>
                    <a:pt x="164" y="0"/>
                  </a:lnTo>
                  <a:lnTo>
                    <a:pt x="164" y="4"/>
                  </a:lnTo>
                  <a:lnTo>
                    <a:pt x="164" y="8"/>
                  </a:lnTo>
                  <a:lnTo>
                    <a:pt x="168" y="12"/>
                  </a:lnTo>
                  <a:lnTo>
                    <a:pt x="168" y="8"/>
                  </a:lnTo>
                  <a:lnTo>
                    <a:pt x="168" y="16"/>
                  </a:lnTo>
                  <a:lnTo>
                    <a:pt x="171" y="16"/>
                  </a:lnTo>
                  <a:lnTo>
                    <a:pt x="171" y="12"/>
                  </a:lnTo>
                  <a:lnTo>
                    <a:pt x="171" y="12"/>
                  </a:lnTo>
                  <a:lnTo>
                    <a:pt x="171" y="16"/>
                  </a:lnTo>
                  <a:lnTo>
                    <a:pt x="175" y="20"/>
                  </a:lnTo>
                  <a:lnTo>
                    <a:pt x="175" y="16"/>
                  </a:lnTo>
                  <a:lnTo>
                    <a:pt x="175" y="12"/>
                  </a:lnTo>
                  <a:lnTo>
                    <a:pt x="175" y="12"/>
                  </a:lnTo>
                  <a:lnTo>
                    <a:pt x="178" y="12"/>
                  </a:lnTo>
                  <a:lnTo>
                    <a:pt x="178" y="8"/>
                  </a:lnTo>
                  <a:lnTo>
                    <a:pt x="178" y="8"/>
                  </a:lnTo>
                  <a:lnTo>
                    <a:pt x="178" y="4"/>
                  </a:lnTo>
                  <a:lnTo>
                    <a:pt x="182" y="4"/>
                  </a:lnTo>
                  <a:lnTo>
                    <a:pt x="182" y="8"/>
                  </a:lnTo>
                  <a:lnTo>
                    <a:pt x="182" y="8"/>
                  </a:lnTo>
                  <a:lnTo>
                    <a:pt x="185" y="8"/>
                  </a:lnTo>
                  <a:lnTo>
                    <a:pt x="185" y="8"/>
                  </a:lnTo>
                  <a:lnTo>
                    <a:pt x="185" y="12"/>
                  </a:lnTo>
                  <a:lnTo>
                    <a:pt x="185" y="8"/>
                  </a:lnTo>
                  <a:lnTo>
                    <a:pt x="188" y="4"/>
                  </a:lnTo>
                  <a:lnTo>
                    <a:pt x="188" y="8"/>
                  </a:lnTo>
                  <a:lnTo>
                    <a:pt x="188" y="16"/>
                  </a:lnTo>
                  <a:lnTo>
                    <a:pt x="188" y="12"/>
                  </a:lnTo>
                  <a:lnTo>
                    <a:pt x="192" y="12"/>
                  </a:lnTo>
                  <a:lnTo>
                    <a:pt x="192" y="8"/>
                  </a:lnTo>
                  <a:lnTo>
                    <a:pt x="192" y="8"/>
                  </a:lnTo>
                  <a:lnTo>
                    <a:pt x="192" y="16"/>
                  </a:lnTo>
                  <a:lnTo>
                    <a:pt x="195" y="12"/>
                  </a:lnTo>
                  <a:lnTo>
                    <a:pt x="195" y="8"/>
                  </a:lnTo>
                  <a:lnTo>
                    <a:pt x="195" y="12"/>
                  </a:lnTo>
                  <a:lnTo>
                    <a:pt x="195" y="12"/>
                  </a:lnTo>
                  <a:lnTo>
                    <a:pt x="199" y="12"/>
                  </a:lnTo>
                  <a:lnTo>
                    <a:pt x="199" y="12"/>
                  </a:lnTo>
                  <a:lnTo>
                    <a:pt x="199" y="8"/>
                  </a:lnTo>
                  <a:lnTo>
                    <a:pt x="202" y="12"/>
                  </a:lnTo>
                  <a:lnTo>
                    <a:pt x="202" y="12"/>
                  </a:lnTo>
                  <a:lnTo>
                    <a:pt x="202" y="12"/>
                  </a:lnTo>
                  <a:lnTo>
                    <a:pt x="202" y="8"/>
                  </a:lnTo>
                  <a:lnTo>
                    <a:pt x="206" y="12"/>
                  </a:lnTo>
                  <a:lnTo>
                    <a:pt x="206" y="16"/>
                  </a:lnTo>
                  <a:lnTo>
                    <a:pt x="206" y="12"/>
                  </a:lnTo>
                  <a:lnTo>
                    <a:pt x="206" y="16"/>
                  </a:lnTo>
                  <a:lnTo>
                    <a:pt x="209" y="16"/>
                  </a:lnTo>
                  <a:lnTo>
                    <a:pt x="209" y="12"/>
                  </a:lnTo>
                  <a:lnTo>
                    <a:pt x="209" y="4"/>
                  </a:lnTo>
                  <a:lnTo>
                    <a:pt x="209" y="8"/>
                  </a:lnTo>
                  <a:lnTo>
                    <a:pt x="212" y="12"/>
                  </a:lnTo>
                  <a:lnTo>
                    <a:pt x="212" y="12"/>
                  </a:lnTo>
                  <a:lnTo>
                    <a:pt x="212" y="12"/>
                  </a:lnTo>
                  <a:lnTo>
                    <a:pt x="216" y="12"/>
                  </a:lnTo>
                  <a:lnTo>
                    <a:pt x="216" y="8"/>
                  </a:lnTo>
                  <a:lnTo>
                    <a:pt x="216" y="12"/>
                  </a:lnTo>
                  <a:lnTo>
                    <a:pt x="216" y="12"/>
                  </a:lnTo>
                  <a:lnTo>
                    <a:pt x="219" y="8"/>
                  </a:lnTo>
                  <a:lnTo>
                    <a:pt x="219" y="12"/>
                  </a:lnTo>
                  <a:lnTo>
                    <a:pt x="219" y="8"/>
                  </a:lnTo>
                  <a:lnTo>
                    <a:pt x="219" y="8"/>
                  </a:lnTo>
                  <a:lnTo>
                    <a:pt x="223" y="12"/>
                  </a:lnTo>
                  <a:lnTo>
                    <a:pt x="223" y="12"/>
                  </a:lnTo>
                  <a:lnTo>
                    <a:pt x="223" y="8"/>
                  </a:lnTo>
                  <a:lnTo>
                    <a:pt x="223" y="8"/>
                  </a:lnTo>
                  <a:lnTo>
                    <a:pt x="226" y="16"/>
                  </a:lnTo>
                  <a:lnTo>
                    <a:pt x="226" y="16"/>
                  </a:lnTo>
                  <a:lnTo>
                    <a:pt x="226" y="12"/>
                  </a:lnTo>
                  <a:lnTo>
                    <a:pt x="230" y="16"/>
                  </a:lnTo>
                  <a:lnTo>
                    <a:pt x="230" y="12"/>
                  </a:lnTo>
                  <a:lnTo>
                    <a:pt x="230" y="12"/>
                  </a:lnTo>
                  <a:lnTo>
                    <a:pt x="230" y="12"/>
                  </a:lnTo>
                  <a:lnTo>
                    <a:pt x="233" y="8"/>
                  </a:lnTo>
                  <a:lnTo>
                    <a:pt x="233" y="16"/>
                  </a:lnTo>
                  <a:lnTo>
                    <a:pt x="233" y="12"/>
                  </a:lnTo>
                  <a:lnTo>
                    <a:pt x="233" y="12"/>
                  </a:lnTo>
                  <a:lnTo>
                    <a:pt x="236" y="12"/>
                  </a:lnTo>
                  <a:lnTo>
                    <a:pt x="236" y="12"/>
                  </a:lnTo>
                  <a:lnTo>
                    <a:pt x="236" y="12"/>
                  </a:lnTo>
                  <a:lnTo>
                    <a:pt x="236" y="8"/>
                  </a:lnTo>
                  <a:lnTo>
                    <a:pt x="240" y="12"/>
                  </a:lnTo>
                  <a:lnTo>
                    <a:pt x="240" y="12"/>
                  </a:lnTo>
                  <a:lnTo>
                    <a:pt x="240" y="4"/>
                  </a:lnTo>
                  <a:lnTo>
                    <a:pt x="240" y="8"/>
                  </a:lnTo>
                  <a:lnTo>
                    <a:pt x="243" y="16"/>
                  </a:lnTo>
                  <a:lnTo>
                    <a:pt x="243" y="16"/>
                  </a:lnTo>
                  <a:lnTo>
                    <a:pt x="243" y="12"/>
                  </a:lnTo>
                  <a:lnTo>
                    <a:pt x="247" y="8"/>
                  </a:lnTo>
                  <a:lnTo>
                    <a:pt x="247" y="8"/>
                  </a:lnTo>
                  <a:lnTo>
                    <a:pt x="247" y="12"/>
                  </a:lnTo>
                  <a:lnTo>
                    <a:pt x="247" y="12"/>
                  </a:lnTo>
                  <a:lnTo>
                    <a:pt x="250" y="8"/>
                  </a:lnTo>
                  <a:lnTo>
                    <a:pt x="250" y="16"/>
                  </a:lnTo>
                  <a:lnTo>
                    <a:pt x="250" y="16"/>
                  </a:lnTo>
                  <a:lnTo>
                    <a:pt x="250" y="16"/>
                  </a:lnTo>
                  <a:lnTo>
                    <a:pt x="254" y="12"/>
                  </a:lnTo>
                  <a:lnTo>
                    <a:pt x="254" y="4"/>
                  </a:lnTo>
                  <a:lnTo>
                    <a:pt x="254" y="12"/>
                  </a:lnTo>
                  <a:lnTo>
                    <a:pt x="254" y="16"/>
                  </a:lnTo>
                  <a:lnTo>
                    <a:pt x="257" y="12"/>
                  </a:lnTo>
                  <a:lnTo>
                    <a:pt x="257" y="16"/>
                  </a:lnTo>
                  <a:lnTo>
                    <a:pt x="257" y="12"/>
                  </a:lnTo>
                  <a:lnTo>
                    <a:pt x="260" y="16"/>
                  </a:lnTo>
                  <a:lnTo>
                    <a:pt x="260" y="16"/>
                  </a:lnTo>
                  <a:lnTo>
                    <a:pt x="260" y="16"/>
                  </a:lnTo>
                  <a:lnTo>
                    <a:pt x="260" y="16"/>
                  </a:lnTo>
                  <a:lnTo>
                    <a:pt x="264" y="20"/>
                  </a:lnTo>
                  <a:lnTo>
                    <a:pt x="264" y="20"/>
                  </a:lnTo>
                  <a:lnTo>
                    <a:pt x="264" y="16"/>
                  </a:lnTo>
                  <a:lnTo>
                    <a:pt x="264" y="20"/>
                  </a:lnTo>
                  <a:lnTo>
                    <a:pt x="267" y="20"/>
                  </a:lnTo>
                  <a:lnTo>
                    <a:pt x="267" y="16"/>
                  </a:lnTo>
                  <a:lnTo>
                    <a:pt x="267" y="16"/>
                  </a:lnTo>
                  <a:lnTo>
                    <a:pt x="267" y="16"/>
                  </a:lnTo>
                  <a:lnTo>
                    <a:pt x="271" y="20"/>
                  </a:lnTo>
                  <a:lnTo>
                    <a:pt x="271" y="12"/>
                  </a:lnTo>
                  <a:lnTo>
                    <a:pt x="271" y="16"/>
                  </a:lnTo>
                  <a:lnTo>
                    <a:pt x="271" y="16"/>
                  </a:lnTo>
                  <a:lnTo>
                    <a:pt x="274" y="16"/>
                  </a:lnTo>
                  <a:lnTo>
                    <a:pt x="274" y="20"/>
                  </a:lnTo>
                  <a:lnTo>
                    <a:pt x="274" y="16"/>
                  </a:lnTo>
                  <a:lnTo>
                    <a:pt x="278" y="16"/>
                  </a:lnTo>
                  <a:lnTo>
                    <a:pt x="278" y="12"/>
                  </a:lnTo>
                  <a:lnTo>
                    <a:pt x="278" y="16"/>
                  </a:lnTo>
                  <a:lnTo>
                    <a:pt x="278" y="8"/>
                  </a:lnTo>
                  <a:lnTo>
                    <a:pt x="281" y="8"/>
                  </a:lnTo>
                  <a:lnTo>
                    <a:pt x="281" y="12"/>
                  </a:lnTo>
                  <a:lnTo>
                    <a:pt x="281" y="12"/>
                  </a:lnTo>
                  <a:lnTo>
                    <a:pt x="281" y="16"/>
                  </a:lnTo>
                  <a:lnTo>
                    <a:pt x="284" y="8"/>
                  </a:lnTo>
                  <a:lnTo>
                    <a:pt x="284" y="8"/>
                  </a:lnTo>
                  <a:lnTo>
                    <a:pt x="284" y="8"/>
                  </a:lnTo>
                  <a:lnTo>
                    <a:pt x="284" y="4"/>
                  </a:lnTo>
                  <a:lnTo>
                    <a:pt x="288" y="8"/>
                  </a:lnTo>
                  <a:lnTo>
                    <a:pt x="288" y="12"/>
                  </a:lnTo>
                  <a:lnTo>
                    <a:pt x="288" y="12"/>
                  </a:lnTo>
                  <a:lnTo>
                    <a:pt x="291" y="4"/>
                  </a:lnTo>
                  <a:lnTo>
                    <a:pt x="291" y="4"/>
                  </a:lnTo>
                  <a:lnTo>
                    <a:pt x="291" y="0"/>
                  </a:lnTo>
                  <a:lnTo>
                    <a:pt x="291" y="4"/>
                  </a:lnTo>
                  <a:lnTo>
                    <a:pt x="295" y="8"/>
                  </a:lnTo>
                  <a:lnTo>
                    <a:pt x="295" y="12"/>
                  </a:lnTo>
                  <a:lnTo>
                    <a:pt x="295" y="8"/>
                  </a:lnTo>
                  <a:lnTo>
                    <a:pt x="295" y="16"/>
                  </a:lnTo>
                  <a:lnTo>
                    <a:pt x="298" y="16"/>
                  </a:lnTo>
                  <a:lnTo>
                    <a:pt x="298" y="20"/>
                  </a:lnTo>
                  <a:lnTo>
                    <a:pt x="298" y="12"/>
                  </a:lnTo>
                  <a:lnTo>
                    <a:pt x="298" y="8"/>
                  </a:lnTo>
                  <a:lnTo>
                    <a:pt x="302" y="12"/>
                  </a:lnTo>
                  <a:lnTo>
                    <a:pt x="302" y="12"/>
                  </a:lnTo>
                  <a:lnTo>
                    <a:pt x="302" y="12"/>
                  </a:lnTo>
                  <a:lnTo>
                    <a:pt x="302" y="8"/>
                  </a:lnTo>
                  <a:lnTo>
                    <a:pt x="305" y="8"/>
                  </a:lnTo>
                  <a:lnTo>
                    <a:pt x="305" y="8"/>
                  </a:lnTo>
                  <a:lnTo>
                    <a:pt x="305" y="0"/>
                  </a:lnTo>
                  <a:lnTo>
                    <a:pt x="308" y="8"/>
                  </a:lnTo>
                  <a:lnTo>
                    <a:pt x="308" y="4"/>
                  </a:lnTo>
                  <a:lnTo>
                    <a:pt x="308" y="4"/>
                  </a:lnTo>
                  <a:lnTo>
                    <a:pt x="308" y="4"/>
                  </a:lnTo>
                  <a:lnTo>
                    <a:pt x="312" y="4"/>
                  </a:lnTo>
                  <a:lnTo>
                    <a:pt x="312" y="8"/>
                  </a:lnTo>
                  <a:lnTo>
                    <a:pt x="312" y="4"/>
                  </a:lnTo>
                  <a:lnTo>
                    <a:pt x="312" y="4"/>
                  </a:lnTo>
                  <a:lnTo>
                    <a:pt x="315" y="8"/>
                  </a:lnTo>
                  <a:lnTo>
                    <a:pt x="315" y="4"/>
                  </a:lnTo>
                  <a:lnTo>
                    <a:pt x="315" y="0"/>
                  </a:lnTo>
                  <a:lnTo>
                    <a:pt x="315" y="8"/>
                  </a:lnTo>
                  <a:lnTo>
                    <a:pt x="319" y="4"/>
                  </a:lnTo>
                  <a:lnTo>
                    <a:pt x="319" y="8"/>
                  </a:lnTo>
                  <a:lnTo>
                    <a:pt x="319" y="8"/>
                  </a:lnTo>
                  <a:lnTo>
                    <a:pt x="322" y="0"/>
                  </a:lnTo>
                  <a:lnTo>
                    <a:pt x="322" y="4"/>
                  </a:lnTo>
                  <a:lnTo>
                    <a:pt x="322" y="8"/>
                  </a:lnTo>
                  <a:lnTo>
                    <a:pt x="322" y="8"/>
                  </a:lnTo>
                  <a:lnTo>
                    <a:pt x="326" y="8"/>
                  </a:lnTo>
                  <a:lnTo>
                    <a:pt x="326" y="12"/>
                  </a:lnTo>
                  <a:lnTo>
                    <a:pt x="326" y="16"/>
                  </a:lnTo>
                  <a:lnTo>
                    <a:pt x="326" y="16"/>
                  </a:lnTo>
                  <a:lnTo>
                    <a:pt x="329" y="8"/>
                  </a:lnTo>
                  <a:lnTo>
                    <a:pt x="329" y="12"/>
                  </a:lnTo>
                  <a:lnTo>
                    <a:pt x="329" y="12"/>
                  </a:lnTo>
                  <a:lnTo>
                    <a:pt x="329" y="12"/>
                  </a:lnTo>
                  <a:lnTo>
                    <a:pt x="332" y="16"/>
                  </a:lnTo>
                  <a:lnTo>
                    <a:pt x="332" y="16"/>
                  </a:lnTo>
                  <a:lnTo>
                    <a:pt x="332" y="20"/>
                  </a:lnTo>
                  <a:lnTo>
                    <a:pt x="336" y="16"/>
                  </a:lnTo>
                  <a:lnTo>
                    <a:pt x="336" y="16"/>
                  </a:lnTo>
                  <a:lnTo>
                    <a:pt x="336" y="20"/>
                  </a:lnTo>
                  <a:lnTo>
                    <a:pt x="336" y="12"/>
                  </a:lnTo>
                  <a:lnTo>
                    <a:pt x="339" y="12"/>
                  </a:lnTo>
                  <a:lnTo>
                    <a:pt x="339" y="12"/>
                  </a:lnTo>
                  <a:lnTo>
                    <a:pt x="339" y="8"/>
                  </a:lnTo>
                  <a:lnTo>
                    <a:pt x="339" y="8"/>
                  </a:lnTo>
                  <a:lnTo>
                    <a:pt x="343" y="16"/>
                  </a:lnTo>
                  <a:lnTo>
                    <a:pt x="343" y="20"/>
                  </a:lnTo>
                  <a:lnTo>
                    <a:pt x="343" y="24"/>
                  </a:lnTo>
                  <a:lnTo>
                    <a:pt x="343" y="16"/>
                  </a:lnTo>
                  <a:lnTo>
                    <a:pt x="346" y="24"/>
                  </a:lnTo>
                  <a:lnTo>
                    <a:pt x="346" y="20"/>
                  </a:lnTo>
                  <a:lnTo>
                    <a:pt x="346" y="16"/>
                  </a:lnTo>
                  <a:lnTo>
                    <a:pt x="346" y="20"/>
                  </a:lnTo>
                  <a:lnTo>
                    <a:pt x="350" y="20"/>
                  </a:lnTo>
                  <a:lnTo>
                    <a:pt x="350" y="20"/>
                  </a:lnTo>
                  <a:lnTo>
                    <a:pt x="350" y="16"/>
                  </a:lnTo>
                  <a:lnTo>
                    <a:pt x="353" y="12"/>
                  </a:lnTo>
                  <a:lnTo>
                    <a:pt x="353" y="16"/>
                  </a:lnTo>
                  <a:lnTo>
                    <a:pt x="353" y="12"/>
                  </a:lnTo>
                  <a:lnTo>
                    <a:pt x="353" y="12"/>
                  </a:lnTo>
                  <a:lnTo>
                    <a:pt x="356" y="16"/>
                  </a:lnTo>
                  <a:lnTo>
                    <a:pt x="356" y="16"/>
                  </a:lnTo>
                  <a:lnTo>
                    <a:pt x="356" y="12"/>
                  </a:lnTo>
                  <a:lnTo>
                    <a:pt x="356" y="16"/>
                  </a:lnTo>
                  <a:lnTo>
                    <a:pt x="360" y="16"/>
                  </a:lnTo>
                  <a:lnTo>
                    <a:pt x="360" y="20"/>
                  </a:lnTo>
                  <a:lnTo>
                    <a:pt x="360" y="20"/>
                  </a:lnTo>
                  <a:lnTo>
                    <a:pt x="360" y="12"/>
                  </a:lnTo>
                  <a:lnTo>
                    <a:pt x="363" y="12"/>
                  </a:lnTo>
                  <a:lnTo>
                    <a:pt x="363" y="16"/>
                  </a:lnTo>
                  <a:lnTo>
                    <a:pt x="363" y="16"/>
                  </a:lnTo>
                  <a:lnTo>
                    <a:pt x="367" y="8"/>
                  </a:lnTo>
                  <a:lnTo>
                    <a:pt x="367" y="12"/>
                  </a:lnTo>
                  <a:lnTo>
                    <a:pt x="367" y="12"/>
                  </a:lnTo>
                  <a:lnTo>
                    <a:pt x="367" y="12"/>
                  </a:lnTo>
                  <a:lnTo>
                    <a:pt x="370" y="8"/>
                  </a:lnTo>
                  <a:lnTo>
                    <a:pt x="370" y="12"/>
                  </a:lnTo>
                  <a:lnTo>
                    <a:pt x="370" y="16"/>
                  </a:lnTo>
                  <a:lnTo>
                    <a:pt x="370" y="20"/>
                  </a:lnTo>
                  <a:lnTo>
                    <a:pt x="374" y="16"/>
                  </a:lnTo>
                  <a:lnTo>
                    <a:pt x="374" y="20"/>
                  </a:lnTo>
                  <a:lnTo>
                    <a:pt x="374" y="16"/>
                  </a:lnTo>
                  <a:lnTo>
                    <a:pt x="374" y="16"/>
                  </a:lnTo>
                  <a:lnTo>
                    <a:pt x="377" y="16"/>
                  </a:lnTo>
                  <a:lnTo>
                    <a:pt x="377" y="24"/>
                  </a:lnTo>
                  <a:lnTo>
                    <a:pt x="377" y="24"/>
                  </a:lnTo>
                  <a:lnTo>
                    <a:pt x="377" y="24"/>
                  </a:lnTo>
                  <a:lnTo>
                    <a:pt x="380" y="20"/>
                  </a:lnTo>
                  <a:lnTo>
                    <a:pt x="380" y="20"/>
                  </a:lnTo>
                  <a:lnTo>
                    <a:pt x="380" y="20"/>
                  </a:lnTo>
                  <a:lnTo>
                    <a:pt x="384" y="20"/>
                  </a:lnTo>
                  <a:lnTo>
                    <a:pt x="384" y="16"/>
                  </a:lnTo>
                  <a:lnTo>
                    <a:pt x="384" y="20"/>
                  </a:lnTo>
                  <a:lnTo>
                    <a:pt x="384" y="12"/>
                  </a:lnTo>
                  <a:lnTo>
                    <a:pt x="387" y="16"/>
                  </a:lnTo>
                  <a:lnTo>
                    <a:pt x="387" y="20"/>
                  </a:lnTo>
                  <a:lnTo>
                    <a:pt x="387" y="16"/>
                  </a:lnTo>
                  <a:lnTo>
                    <a:pt x="387" y="16"/>
                  </a:lnTo>
                  <a:lnTo>
                    <a:pt x="391" y="16"/>
                  </a:lnTo>
                  <a:lnTo>
                    <a:pt x="391" y="20"/>
                  </a:lnTo>
                  <a:lnTo>
                    <a:pt x="391" y="20"/>
                  </a:lnTo>
                  <a:lnTo>
                    <a:pt x="391" y="16"/>
                  </a:lnTo>
                  <a:lnTo>
                    <a:pt x="394" y="8"/>
                  </a:lnTo>
                  <a:lnTo>
                    <a:pt x="394" y="12"/>
                  </a:lnTo>
                  <a:lnTo>
                    <a:pt x="394" y="20"/>
                  </a:lnTo>
                  <a:lnTo>
                    <a:pt x="398" y="20"/>
                  </a:lnTo>
                  <a:lnTo>
                    <a:pt x="398" y="16"/>
                  </a:lnTo>
                  <a:lnTo>
                    <a:pt x="398" y="16"/>
                  </a:lnTo>
                  <a:lnTo>
                    <a:pt x="398" y="16"/>
                  </a:lnTo>
                  <a:lnTo>
                    <a:pt x="401" y="20"/>
                  </a:lnTo>
                  <a:lnTo>
                    <a:pt x="401" y="20"/>
                  </a:lnTo>
                  <a:lnTo>
                    <a:pt x="401" y="20"/>
                  </a:lnTo>
                  <a:lnTo>
                    <a:pt x="401" y="20"/>
                  </a:lnTo>
                  <a:lnTo>
                    <a:pt x="404" y="24"/>
                  </a:lnTo>
                  <a:lnTo>
                    <a:pt x="404" y="20"/>
                  </a:lnTo>
                  <a:lnTo>
                    <a:pt x="404" y="16"/>
                  </a:lnTo>
                  <a:lnTo>
                    <a:pt x="404" y="16"/>
                  </a:lnTo>
                  <a:lnTo>
                    <a:pt x="408" y="12"/>
                  </a:lnTo>
                  <a:lnTo>
                    <a:pt x="408" y="16"/>
                  </a:lnTo>
                  <a:lnTo>
                    <a:pt x="408" y="12"/>
                  </a:lnTo>
                  <a:lnTo>
                    <a:pt x="408" y="16"/>
                  </a:lnTo>
                  <a:lnTo>
                    <a:pt x="411" y="16"/>
                  </a:lnTo>
                  <a:lnTo>
                    <a:pt x="411" y="12"/>
                  </a:lnTo>
                  <a:lnTo>
                    <a:pt x="411" y="12"/>
                  </a:lnTo>
                  <a:lnTo>
                    <a:pt x="415" y="12"/>
                  </a:lnTo>
                  <a:lnTo>
                    <a:pt x="415" y="8"/>
                  </a:lnTo>
                  <a:lnTo>
                    <a:pt x="415" y="12"/>
                  </a:lnTo>
                  <a:lnTo>
                    <a:pt x="415" y="8"/>
                  </a:lnTo>
                  <a:lnTo>
                    <a:pt x="418" y="16"/>
                  </a:lnTo>
                  <a:lnTo>
                    <a:pt x="418" y="12"/>
                  </a:lnTo>
                  <a:lnTo>
                    <a:pt x="418" y="12"/>
                  </a:lnTo>
                  <a:lnTo>
                    <a:pt x="418" y="12"/>
                  </a:lnTo>
                  <a:lnTo>
                    <a:pt x="422" y="16"/>
                  </a:lnTo>
                  <a:lnTo>
                    <a:pt x="422" y="16"/>
                  </a:lnTo>
                  <a:lnTo>
                    <a:pt x="422" y="16"/>
                  </a:lnTo>
                  <a:lnTo>
                    <a:pt x="422" y="16"/>
                  </a:lnTo>
                  <a:lnTo>
                    <a:pt x="425" y="16"/>
                  </a:lnTo>
                  <a:lnTo>
                    <a:pt x="425" y="12"/>
                  </a:lnTo>
                  <a:lnTo>
                    <a:pt x="425" y="12"/>
                  </a:lnTo>
                  <a:lnTo>
                    <a:pt x="428" y="12"/>
                  </a:lnTo>
                  <a:lnTo>
                    <a:pt x="428" y="16"/>
                  </a:lnTo>
                  <a:lnTo>
                    <a:pt x="428" y="16"/>
                  </a:lnTo>
                  <a:lnTo>
                    <a:pt x="428" y="12"/>
                  </a:lnTo>
                  <a:lnTo>
                    <a:pt x="432" y="12"/>
                  </a:lnTo>
                  <a:lnTo>
                    <a:pt x="432" y="12"/>
                  </a:lnTo>
                  <a:lnTo>
                    <a:pt x="432" y="16"/>
                  </a:lnTo>
                  <a:lnTo>
                    <a:pt x="432" y="12"/>
                  </a:lnTo>
                  <a:lnTo>
                    <a:pt x="435" y="12"/>
                  </a:lnTo>
                  <a:lnTo>
                    <a:pt x="435" y="12"/>
                  </a:lnTo>
                  <a:lnTo>
                    <a:pt x="435" y="0"/>
                  </a:lnTo>
                  <a:lnTo>
                    <a:pt x="435" y="8"/>
                  </a:lnTo>
                  <a:lnTo>
                    <a:pt x="439" y="12"/>
                  </a:lnTo>
                  <a:lnTo>
                    <a:pt x="439" y="8"/>
                  </a:lnTo>
                  <a:lnTo>
                    <a:pt x="439" y="8"/>
                  </a:lnTo>
                  <a:lnTo>
                    <a:pt x="442" y="8"/>
                  </a:lnTo>
                  <a:lnTo>
                    <a:pt x="442" y="8"/>
                  </a:lnTo>
                  <a:lnTo>
                    <a:pt x="442" y="12"/>
                  </a:lnTo>
                  <a:lnTo>
                    <a:pt x="442" y="4"/>
                  </a:lnTo>
                  <a:lnTo>
                    <a:pt x="446" y="12"/>
                  </a:lnTo>
                  <a:lnTo>
                    <a:pt x="446" y="12"/>
                  </a:lnTo>
                  <a:lnTo>
                    <a:pt x="446" y="12"/>
                  </a:lnTo>
                  <a:lnTo>
                    <a:pt x="446" y="4"/>
                  </a:lnTo>
                  <a:lnTo>
                    <a:pt x="449" y="4"/>
                  </a:lnTo>
                  <a:lnTo>
                    <a:pt x="449" y="12"/>
                  </a:lnTo>
                  <a:lnTo>
                    <a:pt x="449" y="8"/>
                  </a:lnTo>
                  <a:lnTo>
                    <a:pt x="449" y="4"/>
                  </a:lnTo>
                  <a:lnTo>
                    <a:pt x="452" y="0"/>
                  </a:lnTo>
                  <a:lnTo>
                    <a:pt x="452" y="4"/>
                  </a:lnTo>
                  <a:lnTo>
                    <a:pt x="452" y="8"/>
                  </a:lnTo>
                </a:path>
              </a:pathLst>
            </a:custGeom>
            <a:noFill/>
            <a:ln w="468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4" name="Freeform 24">
              <a:extLst>
                <a:ext uri="{FF2B5EF4-FFF2-40B4-BE49-F238E27FC236}">
                  <a16:creationId xmlns:a16="http://schemas.microsoft.com/office/drawing/2014/main" id="{B73B1D98-7A44-6849-9ED7-30BDC8DB18EA}"/>
                </a:ext>
              </a:extLst>
            </p:cNvPr>
            <p:cNvSpPr>
              <a:spLocks noChangeArrowheads="1"/>
            </p:cNvSpPr>
            <p:nvPr/>
          </p:nvSpPr>
          <p:spPr bwMode="auto">
            <a:xfrm>
              <a:off x="2214" y="4410"/>
              <a:ext cx="956" cy="1"/>
            </a:xfrm>
            <a:custGeom>
              <a:avLst/>
              <a:gdLst>
                <a:gd name="T0" fmla="*/ 446 w 452"/>
                <a:gd name="T1" fmla="*/ 439 w 452"/>
                <a:gd name="T2" fmla="*/ 432 w 452"/>
                <a:gd name="T3" fmla="*/ 425 w 452"/>
                <a:gd name="T4" fmla="*/ 418 w 452"/>
                <a:gd name="T5" fmla="*/ 411 w 452"/>
                <a:gd name="T6" fmla="*/ 404 w 452"/>
                <a:gd name="T7" fmla="*/ 398 w 452"/>
                <a:gd name="T8" fmla="*/ 387 w 452"/>
                <a:gd name="T9" fmla="*/ 380 w 452"/>
                <a:gd name="T10" fmla="*/ 374 w 452"/>
                <a:gd name="T11" fmla="*/ 367 w 452"/>
                <a:gd name="T12" fmla="*/ 360 w 452"/>
                <a:gd name="T13" fmla="*/ 353 w 452"/>
                <a:gd name="T14" fmla="*/ 346 w 452"/>
                <a:gd name="T15" fmla="*/ 339 w 452"/>
                <a:gd name="T16" fmla="*/ 329 w 452"/>
                <a:gd name="T17" fmla="*/ 322 w 452"/>
                <a:gd name="T18" fmla="*/ 315 w 452"/>
                <a:gd name="T19" fmla="*/ 308 w 452"/>
                <a:gd name="T20" fmla="*/ 302 w 452"/>
                <a:gd name="T21" fmla="*/ 295 w 452"/>
                <a:gd name="T22" fmla="*/ 288 w 452"/>
                <a:gd name="T23" fmla="*/ 281 w 452"/>
                <a:gd name="T24" fmla="*/ 271 w 452"/>
                <a:gd name="T25" fmla="*/ 264 w 452"/>
                <a:gd name="T26" fmla="*/ 257 w 452"/>
                <a:gd name="T27" fmla="*/ 250 w 452"/>
                <a:gd name="T28" fmla="*/ 243 w 452"/>
                <a:gd name="T29" fmla="*/ 236 w 452"/>
                <a:gd name="T30" fmla="*/ 230 w 452"/>
                <a:gd name="T31" fmla="*/ 223 w 452"/>
                <a:gd name="T32" fmla="*/ 216 w 452"/>
                <a:gd name="T33" fmla="*/ 206 w 452"/>
                <a:gd name="T34" fmla="*/ 199 w 452"/>
                <a:gd name="T35" fmla="*/ 192 w 452"/>
                <a:gd name="T36" fmla="*/ 185 w 452"/>
                <a:gd name="T37" fmla="*/ 178 w 452"/>
                <a:gd name="T38" fmla="*/ 171 w 452"/>
                <a:gd name="T39" fmla="*/ 164 w 452"/>
                <a:gd name="T40" fmla="*/ 158 w 452"/>
                <a:gd name="T41" fmla="*/ 147 w 452"/>
                <a:gd name="T42" fmla="*/ 140 w 452"/>
                <a:gd name="T43" fmla="*/ 134 w 452"/>
                <a:gd name="T44" fmla="*/ 127 w 452"/>
                <a:gd name="T45" fmla="*/ 120 w 452"/>
                <a:gd name="T46" fmla="*/ 113 w 452"/>
                <a:gd name="T47" fmla="*/ 106 w 452"/>
                <a:gd name="T48" fmla="*/ 99 w 452"/>
                <a:gd name="T49" fmla="*/ 89 w 452"/>
                <a:gd name="T50" fmla="*/ 82 w 452"/>
                <a:gd name="T51" fmla="*/ 75 w 452"/>
                <a:gd name="T52" fmla="*/ 68 w 452"/>
                <a:gd name="T53" fmla="*/ 62 w 452"/>
                <a:gd name="T54" fmla="*/ 55 w 452"/>
                <a:gd name="T55" fmla="*/ 48 w 452"/>
                <a:gd name="T56" fmla="*/ 41 w 452"/>
                <a:gd name="T57" fmla="*/ 34 w 452"/>
                <a:gd name="T58" fmla="*/ 24 w 452"/>
                <a:gd name="T59" fmla="*/ 17 w 452"/>
                <a:gd name="T60" fmla="*/ 10 w 452"/>
                <a:gd name="T61" fmla="*/ 3 w 452"/>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 ang="0">
                  <a:pos x="T25" y="0"/>
                </a:cxn>
                <a:cxn ang="0">
                  <a:pos x="T26" y="0"/>
                </a:cxn>
                <a:cxn ang="0">
                  <a:pos x="T27" y="0"/>
                </a:cxn>
                <a:cxn ang="0">
                  <a:pos x="T28" y="0"/>
                </a:cxn>
                <a:cxn ang="0">
                  <a:pos x="T29" y="0"/>
                </a:cxn>
                <a:cxn ang="0">
                  <a:pos x="T30" y="0"/>
                </a:cxn>
                <a:cxn ang="0">
                  <a:pos x="T31" y="0"/>
                </a:cxn>
                <a:cxn ang="0">
                  <a:pos x="T32" y="0"/>
                </a:cxn>
                <a:cxn ang="0">
                  <a:pos x="T33" y="0"/>
                </a:cxn>
                <a:cxn ang="0">
                  <a:pos x="T34" y="0"/>
                </a:cxn>
                <a:cxn ang="0">
                  <a:pos x="T35" y="0"/>
                </a:cxn>
                <a:cxn ang="0">
                  <a:pos x="T36" y="0"/>
                </a:cxn>
                <a:cxn ang="0">
                  <a:pos x="T37" y="0"/>
                </a:cxn>
                <a:cxn ang="0">
                  <a:pos x="T38" y="0"/>
                </a:cxn>
                <a:cxn ang="0">
                  <a:pos x="T39" y="0"/>
                </a:cxn>
                <a:cxn ang="0">
                  <a:pos x="T40" y="0"/>
                </a:cxn>
                <a:cxn ang="0">
                  <a:pos x="T41" y="0"/>
                </a:cxn>
                <a:cxn ang="0">
                  <a:pos x="T42" y="0"/>
                </a:cxn>
                <a:cxn ang="0">
                  <a:pos x="T43" y="0"/>
                </a:cxn>
                <a:cxn ang="0">
                  <a:pos x="T44" y="0"/>
                </a:cxn>
                <a:cxn ang="0">
                  <a:pos x="T45" y="0"/>
                </a:cxn>
                <a:cxn ang="0">
                  <a:pos x="T46" y="0"/>
                </a:cxn>
                <a:cxn ang="0">
                  <a:pos x="T47" y="0"/>
                </a:cxn>
                <a:cxn ang="0">
                  <a:pos x="T48" y="0"/>
                </a:cxn>
                <a:cxn ang="0">
                  <a:pos x="T49" y="0"/>
                </a:cxn>
                <a:cxn ang="0">
                  <a:pos x="T50" y="0"/>
                </a:cxn>
                <a:cxn ang="0">
                  <a:pos x="T51" y="0"/>
                </a:cxn>
                <a:cxn ang="0">
                  <a:pos x="T52" y="0"/>
                </a:cxn>
                <a:cxn ang="0">
                  <a:pos x="T53" y="0"/>
                </a:cxn>
                <a:cxn ang="0">
                  <a:pos x="T54" y="0"/>
                </a:cxn>
                <a:cxn ang="0">
                  <a:pos x="T55" y="0"/>
                </a:cxn>
                <a:cxn ang="0">
                  <a:pos x="T56" y="0"/>
                </a:cxn>
                <a:cxn ang="0">
                  <a:pos x="T57" y="0"/>
                </a:cxn>
                <a:cxn ang="0">
                  <a:pos x="T58" y="0"/>
                </a:cxn>
                <a:cxn ang="0">
                  <a:pos x="T59" y="0"/>
                </a:cxn>
                <a:cxn ang="0">
                  <a:pos x="T60" y="0"/>
                </a:cxn>
                <a:cxn ang="0">
                  <a:pos x="T61" y="0"/>
                </a:cxn>
              </a:cxnLst>
              <a:rect l="0" t="0" r="r" b="b"/>
              <a:pathLst>
                <a:path w="452">
                  <a:moveTo>
                    <a:pt x="452" y="0"/>
                  </a:moveTo>
                  <a:lnTo>
                    <a:pt x="452" y="0"/>
                  </a:lnTo>
                  <a:lnTo>
                    <a:pt x="452" y="0"/>
                  </a:lnTo>
                  <a:lnTo>
                    <a:pt x="449" y="0"/>
                  </a:lnTo>
                  <a:lnTo>
                    <a:pt x="449" y="0"/>
                  </a:lnTo>
                  <a:lnTo>
                    <a:pt x="449" y="0"/>
                  </a:lnTo>
                  <a:lnTo>
                    <a:pt x="449" y="0"/>
                  </a:lnTo>
                  <a:lnTo>
                    <a:pt x="446" y="0"/>
                  </a:lnTo>
                  <a:lnTo>
                    <a:pt x="446" y="0"/>
                  </a:lnTo>
                  <a:lnTo>
                    <a:pt x="446" y="0"/>
                  </a:lnTo>
                  <a:lnTo>
                    <a:pt x="446" y="0"/>
                  </a:lnTo>
                  <a:lnTo>
                    <a:pt x="442" y="0"/>
                  </a:lnTo>
                  <a:lnTo>
                    <a:pt x="442" y="0"/>
                  </a:lnTo>
                  <a:lnTo>
                    <a:pt x="442" y="0"/>
                  </a:lnTo>
                  <a:lnTo>
                    <a:pt x="442" y="0"/>
                  </a:lnTo>
                  <a:lnTo>
                    <a:pt x="439" y="0"/>
                  </a:lnTo>
                  <a:lnTo>
                    <a:pt x="439" y="0"/>
                  </a:lnTo>
                  <a:lnTo>
                    <a:pt x="439" y="0"/>
                  </a:lnTo>
                  <a:lnTo>
                    <a:pt x="435" y="0"/>
                  </a:lnTo>
                  <a:lnTo>
                    <a:pt x="435" y="0"/>
                  </a:lnTo>
                  <a:lnTo>
                    <a:pt x="435" y="0"/>
                  </a:lnTo>
                  <a:lnTo>
                    <a:pt x="435" y="0"/>
                  </a:lnTo>
                  <a:lnTo>
                    <a:pt x="432" y="0"/>
                  </a:lnTo>
                  <a:lnTo>
                    <a:pt x="432" y="0"/>
                  </a:lnTo>
                  <a:lnTo>
                    <a:pt x="432" y="0"/>
                  </a:lnTo>
                  <a:lnTo>
                    <a:pt x="432" y="0"/>
                  </a:lnTo>
                  <a:lnTo>
                    <a:pt x="428" y="0"/>
                  </a:lnTo>
                  <a:lnTo>
                    <a:pt x="428" y="0"/>
                  </a:lnTo>
                  <a:lnTo>
                    <a:pt x="428" y="0"/>
                  </a:lnTo>
                  <a:lnTo>
                    <a:pt x="428" y="0"/>
                  </a:lnTo>
                  <a:lnTo>
                    <a:pt x="425" y="0"/>
                  </a:lnTo>
                  <a:lnTo>
                    <a:pt x="425" y="0"/>
                  </a:lnTo>
                  <a:lnTo>
                    <a:pt x="425" y="0"/>
                  </a:lnTo>
                  <a:lnTo>
                    <a:pt x="422" y="0"/>
                  </a:lnTo>
                  <a:lnTo>
                    <a:pt x="422" y="0"/>
                  </a:lnTo>
                  <a:lnTo>
                    <a:pt x="422" y="0"/>
                  </a:lnTo>
                  <a:lnTo>
                    <a:pt x="422" y="0"/>
                  </a:lnTo>
                  <a:lnTo>
                    <a:pt x="418" y="0"/>
                  </a:lnTo>
                  <a:lnTo>
                    <a:pt x="418" y="0"/>
                  </a:lnTo>
                  <a:lnTo>
                    <a:pt x="418" y="0"/>
                  </a:lnTo>
                  <a:lnTo>
                    <a:pt x="418" y="0"/>
                  </a:lnTo>
                  <a:lnTo>
                    <a:pt x="415" y="0"/>
                  </a:lnTo>
                  <a:lnTo>
                    <a:pt x="415" y="0"/>
                  </a:lnTo>
                  <a:lnTo>
                    <a:pt x="415" y="0"/>
                  </a:lnTo>
                  <a:lnTo>
                    <a:pt x="415" y="0"/>
                  </a:lnTo>
                  <a:lnTo>
                    <a:pt x="411" y="0"/>
                  </a:lnTo>
                  <a:lnTo>
                    <a:pt x="411" y="0"/>
                  </a:lnTo>
                  <a:lnTo>
                    <a:pt x="411" y="0"/>
                  </a:lnTo>
                  <a:lnTo>
                    <a:pt x="408" y="0"/>
                  </a:lnTo>
                  <a:lnTo>
                    <a:pt x="408" y="0"/>
                  </a:lnTo>
                  <a:lnTo>
                    <a:pt x="408" y="0"/>
                  </a:lnTo>
                  <a:lnTo>
                    <a:pt x="408" y="0"/>
                  </a:lnTo>
                  <a:lnTo>
                    <a:pt x="404" y="0"/>
                  </a:lnTo>
                  <a:lnTo>
                    <a:pt x="404" y="0"/>
                  </a:lnTo>
                  <a:lnTo>
                    <a:pt x="404" y="0"/>
                  </a:lnTo>
                  <a:lnTo>
                    <a:pt x="404" y="0"/>
                  </a:lnTo>
                  <a:lnTo>
                    <a:pt x="401" y="0"/>
                  </a:lnTo>
                  <a:lnTo>
                    <a:pt x="401" y="0"/>
                  </a:lnTo>
                  <a:lnTo>
                    <a:pt x="401" y="0"/>
                  </a:lnTo>
                  <a:lnTo>
                    <a:pt x="401" y="0"/>
                  </a:lnTo>
                  <a:lnTo>
                    <a:pt x="398" y="0"/>
                  </a:lnTo>
                  <a:lnTo>
                    <a:pt x="398" y="0"/>
                  </a:lnTo>
                  <a:lnTo>
                    <a:pt x="398" y="0"/>
                  </a:lnTo>
                  <a:lnTo>
                    <a:pt x="398" y="0"/>
                  </a:lnTo>
                  <a:lnTo>
                    <a:pt x="394" y="0"/>
                  </a:lnTo>
                  <a:lnTo>
                    <a:pt x="394" y="0"/>
                  </a:lnTo>
                  <a:lnTo>
                    <a:pt x="394" y="0"/>
                  </a:lnTo>
                  <a:lnTo>
                    <a:pt x="391" y="0"/>
                  </a:lnTo>
                  <a:lnTo>
                    <a:pt x="391" y="0"/>
                  </a:lnTo>
                  <a:lnTo>
                    <a:pt x="391" y="0"/>
                  </a:lnTo>
                  <a:lnTo>
                    <a:pt x="391" y="0"/>
                  </a:lnTo>
                  <a:lnTo>
                    <a:pt x="387" y="0"/>
                  </a:lnTo>
                  <a:lnTo>
                    <a:pt x="387" y="0"/>
                  </a:lnTo>
                  <a:lnTo>
                    <a:pt x="387" y="0"/>
                  </a:lnTo>
                  <a:lnTo>
                    <a:pt x="387" y="0"/>
                  </a:lnTo>
                  <a:lnTo>
                    <a:pt x="384" y="0"/>
                  </a:lnTo>
                  <a:lnTo>
                    <a:pt x="384" y="0"/>
                  </a:lnTo>
                  <a:lnTo>
                    <a:pt x="384" y="0"/>
                  </a:lnTo>
                  <a:lnTo>
                    <a:pt x="384" y="0"/>
                  </a:lnTo>
                  <a:lnTo>
                    <a:pt x="380" y="0"/>
                  </a:lnTo>
                  <a:lnTo>
                    <a:pt x="380" y="0"/>
                  </a:lnTo>
                  <a:lnTo>
                    <a:pt x="380" y="0"/>
                  </a:lnTo>
                  <a:lnTo>
                    <a:pt x="377" y="0"/>
                  </a:lnTo>
                  <a:lnTo>
                    <a:pt x="377" y="0"/>
                  </a:lnTo>
                  <a:lnTo>
                    <a:pt x="377" y="0"/>
                  </a:lnTo>
                  <a:lnTo>
                    <a:pt x="377" y="0"/>
                  </a:lnTo>
                  <a:lnTo>
                    <a:pt x="374" y="0"/>
                  </a:lnTo>
                  <a:lnTo>
                    <a:pt x="374" y="0"/>
                  </a:lnTo>
                  <a:lnTo>
                    <a:pt x="374" y="0"/>
                  </a:lnTo>
                  <a:lnTo>
                    <a:pt x="374" y="0"/>
                  </a:lnTo>
                  <a:lnTo>
                    <a:pt x="370" y="0"/>
                  </a:lnTo>
                  <a:lnTo>
                    <a:pt x="370" y="0"/>
                  </a:lnTo>
                  <a:lnTo>
                    <a:pt x="370" y="0"/>
                  </a:lnTo>
                  <a:lnTo>
                    <a:pt x="370" y="0"/>
                  </a:lnTo>
                  <a:lnTo>
                    <a:pt x="367" y="0"/>
                  </a:lnTo>
                  <a:lnTo>
                    <a:pt x="367" y="0"/>
                  </a:lnTo>
                  <a:lnTo>
                    <a:pt x="367" y="0"/>
                  </a:lnTo>
                  <a:lnTo>
                    <a:pt x="367" y="0"/>
                  </a:lnTo>
                  <a:lnTo>
                    <a:pt x="363" y="0"/>
                  </a:lnTo>
                  <a:lnTo>
                    <a:pt x="363" y="0"/>
                  </a:lnTo>
                  <a:lnTo>
                    <a:pt x="363" y="0"/>
                  </a:lnTo>
                  <a:lnTo>
                    <a:pt x="360" y="0"/>
                  </a:lnTo>
                  <a:lnTo>
                    <a:pt x="360" y="0"/>
                  </a:lnTo>
                  <a:lnTo>
                    <a:pt x="360" y="0"/>
                  </a:lnTo>
                  <a:lnTo>
                    <a:pt x="360" y="0"/>
                  </a:lnTo>
                  <a:lnTo>
                    <a:pt x="356" y="0"/>
                  </a:lnTo>
                  <a:lnTo>
                    <a:pt x="356" y="0"/>
                  </a:lnTo>
                  <a:lnTo>
                    <a:pt x="356" y="0"/>
                  </a:lnTo>
                  <a:lnTo>
                    <a:pt x="356" y="0"/>
                  </a:lnTo>
                  <a:lnTo>
                    <a:pt x="353" y="0"/>
                  </a:lnTo>
                  <a:lnTo>
                    <a:pt x="353" y="0"/>
                  </a:lnTo>
                  <a:lnTo>
                    <a:pt x="353" y="0"/>
                  </a:lnTo>
                  <a:lnTo>
                    <a:pt x="353" y="0"/>
                  </a:lnTo>
                  <a:lnTo>
                    <a:pt x="350" y="0"/>
                  </a:lnTo>
                  <a:lnTo>
                    <a:pt x="350" y="0"/>
                  </a:lnTo>
                  <a:lnTo>
                    <a:pt x="350" y="0"/>
                  </a:lnTo>
                  <a:lnTo>
                    <a:pt x="346" y="0"/>
                  </a:lnTo>
                  <a:lnTo>
                    <a:pt x="346" y="0"/>
                  </a:lnTo>
                  <a:lnTo>
                    <a:pt x="346" y="0"/>
                  </a:lnTo>
                  <a:lnTo>
                    <a:pt x="346" y="0"/>
                  </a:lnTo>
                  <a:lnTo>
                    <a:pt x="343" y="0"/>
                  </a:lnTo>
                  <a:lnTo>
                    <a:pt x="343" y="0"/>
                  </a:lnTo>
                  <a:lnTo>
                    <a:pt x="343" y="0"/>
                  </a:lnTo>
                  <a:lnTo>
                    <a:pt x="343" y="0"/>
                  </a:lnTo>
                  <a:lnTo>
                    <a:pt x="339" y="0"/>
                  </a:lnTo>
                  <a:lnTo>
                    <a:pt x="339" y="0"/>
                  </a:lnTo>
                  <a:lnTo>
                    <a:pt x="339" y="0"/>
                  </a:lnTo>
                  <a:lnTo>
                    <a:pt x="339" y="0"/>
                  </a:lnTo>
                  <a:lnTo>
                    <a:pt x="336" y="0"/>
                  </a:lnTo>
                  <a:lnTo>
                    <a:pt x="336" y="0"/>
                  </a:lnTo>
                  <a:lnTo>
                    <a:pt x="336" y="0"/>
                  </a:lnTo>
                  <a:lnTo>
                    <a:pt x="336" y="0"/>
                  </a:lnTo>
                  <a:lnTo>
                    <a:pt x="332" y="0"/>
                  </a:lnTo>
                  <a:lnTo>
                    <a:pt x="332" y="0"/>
                  </a:lnTo>
                  <a:lnTo>
                    <a:pt x="332" y="0"/>
                  </a:lnTo>
                  <a:lnTo>
                    <a:pt x="329" y="0"/>
                  </a:lnTo>
                  <a:lnTo>
                    <a:pt x="329" y="0"/>
                  </a:lnTo>
                  <a:lnTo>
                    <a:pt x="329" y="0"/>
                  </a:lnTo>
                  <a:lnTo>
                    <a:pt x="329" y="0"/>
                  </a:lnTo>
                  <a:lnTo>
                    <a:pt x="326" y="0"/>
                  </a:lnTo>
                  <a:lnTo>
                    <a:pt x="326" y="0"/>
                  </a:lnTo>
                  <a:lnTo>
                    <a:pt x="326" y="0"/>
                  </a:lnTo>
                  <a:lnTo>
                    <a:pt x="326" y="0"/>
                  </a:lnTo>
                  <a:lnTo>
                    <a:pt x="322" y="0"/>
                  </a:lnTo>
                  <a:lnTo>
                    <a:pt x="322" y="0"/>
                  </a:lnTo>
                  <a:lnTo>
                    <a:pt x="322" y="0"/>
                  </a:lnTo>
                  <a:lnTo>
                    <a:pt x="322" y="0"/>
                  </a:lnTo>
                  <a:lnTo>
                    <a:pt x="319" y="0"/>
                  </a:lnTo>
                  <a:lnTo>
                    <a:pt x="319" y="0"/>
                  </a:lnTo>
                  <a:lnTo>
                    <a:pt x="319" y="0"/>
                  </a:lnTo>
                  <a:lnTo>
                    <a:pt x="315" y="0"/>
                  </a:lnTo>
                  <a:lnTo>
                    <a:pt x="315" y="0"/>
                  </a:lnTo>
                  <a:lnTo>
                    <a:pt x="315" y="0"/>
                  </a:lnTo>
                  <a:lnTo>
                    <a:pt x="315" y="0"/>
                  </a:lnTo>
                  <a:lnTo>
                    <a:pt x="312" y="0"/>
                  </a:lnTo>
                  <a:lnTo>
                    <a:pt x="312" y="0"/>
                  </a:lnTo>
                  <a:lnTo>
                    <a:pt x="312" y="0"/>
                  </a:lnTo>
                  <a:lnTo>
                    <a:pt x="312" y="0"/>
                  </a:lnTo>
                  <a:lnTo>
                    <a:pt x="308" y="0"/>
                  </a:lnTo>
                  <a:lnTo>
                    <a:pt x="308" y="0"/>
                  </a:lnTo>
                  <a:lnTo>
                    <a:pt x="308" y="0"/>
                  </a:lnTo>
                  <a:lnTo>
                    <a:pt x="308" y="0"/>
                  </a:lnTo>
                  <a:lnTo>
                    <a:pt x="305" y="0"/>
                  </a:lnTo>
                  <a:lnTo>
                    <a:pt x="305" y="0"/>
                  </a:lnTo>
                  <a:lnTo>
                    <a:pt x="305" y="0"/>
                  </a:lnTo>
                  <a:lnTo>
                    <a:pt x="302" y="0"/>
                  </a:lnTo>
                  <a:lnTo>
                    <a:pt x="302" y="0"/>
                  </a:lnTo>
                  <a:lnTo>
                    <a:pt x="302" y="0"/>
                  </a:lnTo>
                  <a:lnTo>
                    <a:pt x="302" y="0"/>
                  </a:lnTo>
                  <a:lnTo>
                    <a:pt x="298" y="0"/>
                  </a:lnTo>
                  <a:lnTo>
                    <a:pt x="298" y="0"/>
                  </a:lnTo>
                  <a:lnTo>
                    <a:pt x="298" y="0"/>
                  </a:lnTo>
                  <a:lnTo>
                    <a:pt x="298" y="0"/>
                  </a:lnTo>
                  <a:lnTo>
                    <a:pt x="295" y="0"/>
                  </a:lnTo>
                  <a:lnTo>
                    <a:pt x="295" y="0"/>
                  </a:lnTo>
                  <a:lnTo>
                    <a:pt x="295" y="0"/>
                  </a:lnTo>
                  <a:lnTo>
                    <a:pt x="295" y="0"/>
                  </a:lnTo>
                  <a:lnTo>
                    <a:pt x="291" y="0"/>
                  </a:lnTo>
                  <a:lnTo>
                    <a:pt x="291" y="0"/>
                  </a:lnTo>
                  <a:lnTo>
                    <a:pt x="291" y="0"/>
                  </a:lnTo>
                  <a:lnTo>
                    <a:pt x="291" y="0"/>
                  </a:lnTo>
                  <a:lnTo>
                    <a:pt x="288" y="0"/>
                  </a:lnTo>
                  <a:lnTo>
                    <a:pt x="288" y="0"/>
                  </a:lnTo>
                  <a:lnTo>
                    <a:pt x="288" y="0"/>
                  </a:lnTo>
                  <a:lnTo>
                    <a:pt x="284" y="0"/>
                  </a:lnTo>
                  <a:lnTo>
                    <a:pt x="284" y="0"/>
                  </a:lnTo>
                  <a:lnTo>
                    <a:pt x="284" y="0"/>
                  </a:lnTo>
                  <a:lnTo>
                    <a:pt x="284" y="0"/>
                  </a:lnTo>
                  <a:lnTo>
                    <a:pt x="281" y="0"/>
                  </a:lnTo>
                  <a:lnTo>
                    <a:pt x="281" y="0"/>
                  </a:lnTo>
                  <a:lnTo>
                    <a:pt x="281" y="0"/>
                  </a:lnTo>
                  <a:lnTo>
                    <a:pt x="281" y="0"/>
                  </a:lnTo>
                  <a:lnTo>
                    <a:pt x="278" y="0"/>
                  </a:lnTo>
                  <a:lnTo>
                    <a:pt x="278" y="0"/>
                  </a:lnTo>
                  <a:lnTo>
                    <a:pt x="278" y="0"/>
                  </a:lnTo>
                  <a:lnTo>
                    <a:pt x="278" y="0"/>
                  </a:lnTo>
                  <a:lnTo>
                    <a:pt x="274" y="0"/>
                  </a:lnTo>
                  <a:lnTo>
                    <a:pt x="274" y="0"/>
                  </a:lnTo>
                  <a:lnTo>
                    <a:pt x="274" y="0"/>
                  </a:lnTo>
                  <a:lnTo>
                    <a:pt x="271" y="0"/>
                  </a:lnTo>
                  <a:lnTo>
                    <a:pt x="271" y="0"/>
                  </a:lnTo>
                  <a:lnTo>
                    <a:pt x="271" y="0"/>
                  </a:lnTo>
                  <a:lnTo>
                    <a:pt x="271" y="0"/>
                  </a:lnTo>
                  <a:lnTo>
                    <a:pt x="267" y="0"/>
                  </a:lnTo>
                  <a:lnTo>
                    <a:pt x="267" y="0"/>
                  </a:lnTo>
                  <a:lnTo>
                    <a:pt x="267" y="0"/>
                  </a:lnTo>
                  <a:lnTo>
                    <a:pt x="267" y="0"/>
                  </a:lnTo>
                  <a:lnTo>
                    <a:pt x="264" y="0"/>
                  </a:lnTo>
                  <a:lnTo>
                    <a:pt x="264" y="0"/>
                  </a:lnTo>
                  <a:lnTo>
                    <a:pt x="264" y="0"/>
                  </a:lnTo>
                  <a:lnTo>
                    <a:pt x="264" y="0"/>
                  </a:lnTo>
                  <a:lnTo>
                    <a:pt x="260" y="0"/>
                  </a:lnTo>
                  <a:lnTo>
                    <a:pt x="260" y="0"/>
                  </a:lnTo>
                  <a:lnTo>
                    <a:pt x="260" y="0"/>
                  </a:lnTo>
                  <a:lnTo>
                    <a:pt x="260" y="0"/>
                  </a:lnTo>
                  <a:lnTo>
                    <a:pt x="257" y="0"/>
                  </a:lnTo>
                  <a:lnTo>
                    <a:pt x="257" y="0"/>
                  </a:lnTo>
                  <a:lnTo>
                    <a:pt x="257" y="0"/>
                  </a:lnTo>
                  <a:lnTo>
                    <a:pt x="254" y="0"/>
                  </a:lnTo>
                  <a:lnTo>
                    <a:pt x="254" y="0"/>
                  </a:lnTo>
                  <a:lnTo>
                    <a:pt x="254" y="0"/>
                  </a:lnTo>
                  <a:lnTo>
                    <a:pt x="254" y="0"/>
                  </a:lnTo>
                  <a:lnTo>
                    <a:pt x="250" y="0"/>
                  </a:lnTo>
                  <a:lnTo>
                    <a:pt x="250" y="0"/>
                  </a:lnTo>
                  <a:lnTo>
                    <a:pt x="250" y="0"/>
                  </a:lnTo>
                  <a:lnTo>
                    <a:pt x="250" y="0"/>
                  </a:lnTo>
                  <a:lnTo>
                    <a:pt x="247" y="0"/>
                  </a:lnTo>
                  <a:lnTo>
                    <a:pt x="247" y="0"/>
                  </a:lnTo>
                  <a:lnTo>
                    <a:pt x="247" y="0"/>
                  </a:lnTo>
                  <a:lnTo>
                    <a:pt x="247" y="0"/>
                  </a:lnTo>
                  <a:lnTo>
                    <a:pt x="243" y="0"/>
                  </a:lnTo>
                  <a:lnTo>
                    <a:pt x="243" y="0"/>
                  </a:lnTo>
                  <a:lnTo>
                    <a:pt x="243" y="0"/>
                  </a:lnTo>
                  <a:lnTo>
                    <a:pt x="240" y="0"/>
                  </a:lnTo>
                  <a:lnTo>
                    <a:pt x="240" y="0"/>
                  </a:lnTo>
                  <a:lnTo>
                    <a:pt x="240" y="0"/>
                  </a:lnTo>
                  <a:lnTo>
                    <a:pt x="240" y="0"/>
                  </a:lnTo>
                  <a:lnTo>
                    <a:pt x="236" y="0"/>
                  </a:lnTo>
                  <a:lnTo>
                    <a:pt x="236" y="0"/>
                  </a:lnTo>
                  <a:lnTo>
                    <a:pt x="236" y="0"/>
                  </a:lnTo>
                  <a:lnTo>
                    <a:pt x="236" y="0"/>
                  </a:lnTo>
                  <a:lnTo>
                    <a:pt x="233" y="0"/>
                  </a:lnTo>
                  <a:lnTo>
                    <a:pt x="233" y="0"/>
                  </a:lnTo>
                  <a:lnTo>
                    <a:pt x="233" y="0"/>
                  </a:lnTo>
                  <a:lnTo>
                    <a:pt x="233" y="0"/>
                  </a:lnTo>
                  <a:lnTo>
                    <a:pt x="230" y="0"/>
                  </a:lnTo>
                  <a:lnTo>
                    <a:pt x="230" y="0"/>
                  </a:lnTo>
                  <a:lnTo>
                    <a:pt x="230" y="0"/>
                  </a:lnTo>
                  <a:lnTo>
                    <a:pt x="230" y="0"/>
                  </a:lnTo>
                  <a:lnTo>
                    <a:pt x="226" y="0"/>
                  </a:lnTo>
                  <a:lnTo>
                    <a:pt x="226" y="0"/>
                  </a:lnTo>
                  <a:lnTo>
                    <a:pt x="226" y="0"/>
                  </a:lnTo>
                  <a:lnTo>
                    <a:pt x="223" y="0"/>
                  </a:lnTo>
                  <a:lnTo>
                    <a:pt x="223" y="0"/>
                  </a:lnTo>
                  <a:lnTo>
                    <a:pt x="223" y="0"/>
                  </a:lnTo>
                  <a:lnTo>
                    <a:pt x="223" y="0"/>
                  </a:lnTo>
                  <a:lnTo>
                    <a:pt x="219" y="0"/>
                  </a:lnTo>
                  <a:lnTo>
                    <a:pt x="219" y="0"/>
                  </a:lnTo>
                  <a:lnTo>
                    <a:pt x="219" y="0"/>
                  </a:lnTo>
                  <a:lnTo>
                    <a:pt x="219" y="0"/>
                  </a:lnTo>
                  <a:lnTo>
                    <a:pt x="216" y="0"/>
                  </a:lnTo>
                  <a:lnTo>
                    <a:pt x="216" y="0"/>
                  </a:lnTo>
                  <a:lnTo>
                    <a:pt x="216" y="0"/>
                  </a:lnTo>
                  <a:lnTo>
                    <a:pt x="216" y="0"/>
                  </a:lnTo>
                  <a:lnTo>
                    <a:pt x="212" y="0"/>
                  </a:lnTo>
                  <a:lnTo>
                    <a:pt x="212" y="0"/>
                  </a:lnTo>
                  <a:lnTo>
                    <a:pt x="212" y="0"/>
                  </a:lnTo>
                  <a:lnTo>
                    <a:pt x="209" y="0"/>
                  </a:lnTo>
                  <a:lnTo>
                    <a:pt x="209" y="0"/>
                  </a:lnTo>
                  <a:lnTo>
                    <a:pt x="209" y="0"/>
                  </a:lnTo>
                  <a:lnTo>
                    <a:pt x="209" y="0"/>
                  </a:lnTo>
                  <a:lnTo>
                    <a:pt x="206" y="0"/>
                  </a:lnTo>
                  <a:lnTo>
                    <a:pt x="206" y="0"/>
                  </a:lnTo>
                  <a:lnTo>
                    <a:pt x="206" y="0"/>
                  </a:lnTo>
                  <a:lnTo>
                    <a:pt x="206" y="0"/>
                  </a:lnTo>
                  <a:lnTo>
                    <a:pt x="202" y="0"/>
                  </a:lnTo>
                  <a:lnTo>
                    <a:pt x="202" y="0"/>
                  </a:lnTo>
                  <a:lnTo>
                    <a:pt x="202" y="0"/>
                  </a:lnTo>
                  <a:lnTo>
                    <a:pt x="202" y="0"/>
                  </a:lnTo>
                  <a:lnTo>
                    <a:pt x="199" y="0"/>
                  </a:lnTo>
                  <a:lnTo>
                    <a:pt x="199" y="0"/>
                  </a:lnTo>
                  <a:lnTo>
                    <a:pt x="199" y="0"/>
                  </a:lnTo>
                  <a:lnTo>
                    <a:pt x="195" y="0"/>
                  </a:lnTo>
                  <a:lnTo>
                    <a:pt x="195" y="0"/>
                  </a:lnTo>
                  <a:lnTo>
                    <a:pt x="195" y="0"/>
                  </a:lnTo>
                  <a:lnTo>
                    <a:pt x="195" y="0"/>
                  </a:lnTo>
                  <a:lnTo>
                    <a:pt x="192" y="0"/>
                  </a:lnTo>
                  <a:lnTo>
                    <a:pt x="192" y="0"/>
                  </a:lnTo>
                  <a:lnTo>
                    <a:pt x="192" y="0"/>
                  </a:lnTo>
                  <a:lnTo>
                    <a:pt x="192" y="0"/>
                  </a:lnTo>
                  <a:lnTo>
                    <a:pt x="188" y="0"/>
                  </a:lnTo>
                  <a:lnTo>
                    <a:pt x="188" y="0"/>
                  </a:lnTo>
                  <a:lnTo>
                    <a:pt x="188" y="0"/>
                  </a:lnTo>
                  <a:lnTo>
                    <a:pt x="188" y="0"/>
                  </a:lnTo>
                  <a:lnTo>
                    <a:pt x="185" y="0"/>
                  </a:lnTo>
                  <a:lnTo>
                    <a:pt x="185" y="0"/>
                  </a:lnTo>
                  <a:lnTo>
                    <a:pt x="185" y="0"/>
                  </a:lnTo>
                  <a:lnTo>
                    <a:pt x="185" y="0"/>
                  </a:lnTo>
                  <a:lnTo>
                    <a:pt x="182" y="0"/>
                  </a:lnTo>
                  <a:lnTo>
                    <a:pt x="182" y="0"/>
                  </a:lnTo>
                  <a:lnTo>
                    <a:pt x="182" y="0"/>
                  </a:lnTo>
                  <a:lnTo>
                    <a:pt x="178" y="0"/>
                  </a:lnTo>
                  <a:lnTo>
                    <a:pt x="178" y="0"/>
                  </a:lnTo>
                  <a:lnTo>
                    <a:pt x="178" y="0"/>
                  </a:lnTo>
                  <a:lnTo>
                    <a:pt x="178" y="0"/>
                  </a:lnTo>
                  <a:lnTo>
                    <a:pt x="175" y="0"/>
                  </a:lnTo>
                  <a:lnTo>
                    <a:pt x="175" y="0"/>
                  </a:lnTo>
                  <a:lnTo>
                    <a:pt x="175" y="0"/>
                  </a:lnTo>
                  <a:lnTo>
                    <a:pt x="175" y="0"/>
                  </a:lnTo>
                  <a:lnTo>
                    <a:pt x="171" y="0"/>
                  </a:lnTo>
                  <a:lnTo>
                    <a:pt x="171" y="0"/>
                  </a:lnTo>
                  <a:lnTo>
                    <a:pt x="171" y="0"/>
                  </a:lnTo>
                  <a:lnTo>
                    <a:pt x="171" y="0"/>
                  </a:lnTo>
                  <a:lnTo>
                    <a:pt x="168" y="0"/>
                  </a:lnTo>
                  <a:lnTo>
                    <a:pt x="168" y="0"/>
                  </a:lnTo>
                  <a:lnTo>
                    <a:pt x="168" y="0"/>
                  </a:lnTo>
                  <a:lnTo>
                    <a:pt x="164" y="0"/>
                  </a:lnTo>
                  <a:lnTo>
                    <a:pt x="164" y="0"/>
                  </a:lnTo>
                  <a:lnTo>
                    <a:pt x="164" y="0"/>
                  </a:lnTo>
                  <a:lnTo>
                    <a:pt x="164" y="0"/>
                  </a:lnTo>
                  <a:lnTo>
                    <a:pt x="161" y="0"/>
                  </a:lnTo>
                  <a:lnTo>
                    <a:pt x="161" y="0"/>
                  </a:lnTo>
                  <a:lnTo>
                    <a:pt x="161" y="0"/>
                  </a:lnTo>
                  <a:lnTo>
                    <a:pt x="161" y="0"/>
                  </a:lnTo>
                  <a:lnTo>
                    <a:pt x="158" y="0"/>
                  </a:lnTo>
                  <a:lnTo>
                    <a:pt x="158" y="0"/>
                  </a:lnTo>
                  <a:lnTo>
                    <a:pt x="158" y="0"/>
                  </a:lnTo>
                  <a:lnTo>
                    <a:pt x="158" y="0"/>
                  </a:lnTo>
                  <a:lnTo>
                    <a:pt x="154" y="0"/>
                  </a:lnTo>
                  <a:lnTo>
                    <a:pt x="154" y="0"/>
                  </a:lnTo>
                  <a:lnTo>
                    <a:pt x="154" y="0"/>
                  </a:lnTo>
                  <a:lnTo>
                    <a:pt x="154" y="0"/>
                  </a:lnTo>
                  <a:lnTo>
                    <a:pt x="151" y="0"/>
                  </a:lnTo>
                  <a:lnTo>
                    <a:pt x="151" y="0"/>
                  </a:lnTo>
                  <a:lnTo>
                    <a:pt x="151" y="0"/>
                  </a:lnTo>
                  <a:lnTo>
                    <a:pt x="147" y="0"/>
                  </a:lnTo>
                  <a:lnTo>
                    <a:pt x="147" y="0"/>
                  </a:lnTo>
                  <a:lnTo>
                    <a:pt x="147" y="0"/>
                  </a:lnTo>
                  <a:lnTo>
                    <a:pt x="147" y="0"/>
                  </a:lnTo>
                  <a:lnTo>
                    <a:pt x="144" y="0"/>
                  </a:lnTo>
                  <a:lnTo>
                    <a:pt x="144" y="0"/>
                  </a:lnTo>
                  <a:lnTo>
                    <a:pt x="144" y="0"/>
                  </a:lnTo>
                  <a:lnTo>
                    <a:pt x="144" y="0"/>
                  </a:lnTo>
                  <a:lnTo>
                    <a:pt x="140" y="0"/>
                  </a:lnTo>
                  <a:lnTo>
                    <a:pt x="140" y="0"/>
                  </a:lnTo>
                  <a:lnTo>
                    <a:pt x="140" y="0"/>
                  </a:lnTo>
                  <a:lnTo>
                    <a:pt x="140" y="0"/>
                  </a:lnTo>
                  <a:lnTo>
                    <a:pt x="137" y="0"/>
                  </a:lnTo>
                  <a:lnTo>
                    <a:pt x="137" y="0"/>
                  </a:lnTo>
                  <a:lnTo>
                    <a:pt x="137" y="0"/>
                  </a:lnTo>
                  <a:lnTo>
                    <a:pt x="134" y="0"/>
                  </a:lnTo>
                  <a:lnTo>
                    <a:pt x="134" y="0"/>
                  </a:lnTo>
                  <a:lnTo>
                    <a:pt x="134" y="0"/>
                  </a:lnTo>
                  <a:lnTo>
                    <a:pt x="134" y="0"/>
                  </a:lnTo>
                  <a:lnTo>
                    <a:pt x="130" y="0"/>
                  </a:lnTo>
                  <a:lnTo>
                    <a:pt x="130" y="0"/>
                  </a:lnTo>
                  <a:lnTo>
                    <a:pt x="130" y="0"/>
                  </a:lnTo>
                  <a:lnTo>
                    <a:pt x="130" y="0"/>
                  </a:lnTo>
                  <a:lnTo>
                    <a:pt x="127" y="0"/>
                  </a:lnTo>
                  <a:lnTo>
                    <a:pt x="127" y="0"/>
                  </a:lnTo>
                  <a:lnTo>
                    <a:pt x="127" y="0"/>
                  </a:lnTo>
                  <a:lnTo>
                    <a:pt x="127" y="0"/>
                  </a:lnTo>
                  <a:lnTo>
                    <a:pt x="123" y="0"/>
                  </a:lnTo>
                  <a:lnTo>
                    <a:pt x="123" y="0"/>
                  </a:lnTo>
                  <a:lnTo>
                    <a:pt x="123" y="0"/>
                  </a:lnTo>
                  <a:lnTo>
                    <a:pt x="123" y="0"/>
                  </a:lnTo>
                  <a:lnTo>
                    <a:pt x="120" y="0"/>
                  </a:lnTo>
                  <a:lnTo>
                    <a:pt x="120" y="0"/>
                  </a:lnTo>
                  <a:lnTo>
                    <a:pt x="120" y="0"/>
                  </a:lnTo>
                  <a:lnTo>
                    <a:pt x="116" y="0"/>
                  </a:lnTo>
                  <a:lnTo>
                    <a:pt x="116" y="0"/>
                  </a:lnTo>
                  <a:lnTo>
                    <a:pt x="116" y="0"/>
                  </a:lnTo>
                  <a:lnTo>
                    <a:pt x="116" y="0"/>
                  </a:lnTo>
                  <a:lnTo>
                    <a:pt x="113" y="0"/>
                  </a:lnTo>
                  <a:lnTo>
                    <a:pt x="113" y="0"/>
                  </a:lnTo>
                  <a:lnTo>
                    <a:pt x="113" y="0"/>
                  </a:lnTo>
                  <a:lnTo>
                    <a:pt x="113" y="0"/>
                  </a:lnTo>
                  <a:lnTo>
                    <a:pt x="110" y="0"/>
                  </a:lnTo>
                  <a:lnTo>
                    <a:pt x="110" y="0"/>
                  </a:lnTo>
                  <a:lnTo>
                    <a:pt x="110" y="0"/>
                  </a:lnTo>
                  <a:lnTo>
                    <a:pt x="110" y="0"/>
                  </a:lnTo>
                  <a:lnTo>
                    <a:pt x="106" y="0"/>
                  </a:lnTo>
                  <a:lnTo>
                    <a:pt x="106" y="0"/>
                  </a:lnTo>
                  <a:lnTo>
                    <a:pt x="106" y="0"/>
                  </a:lnTo>
                  <a:lnTo>
                    <a:pt x="103" y="0"/>
                  </a:lnTo>
                  <a:lnTo>
                    <a:pt x="103" y="0"/>
                  </a:lnTo>
                  <a:lnTo>
                    <a:pt x="103" y="0"/>
                  </a:lnTo>
                  <a:lnTo>
                    <a:pt x="103" y="0"/>
                  </a:lnTo>
                  <a:lnTo>
                    <a:pt x="99" y="0"/>
                  </a:lnTo>
                  <a:lnTo>
                    <a:pt x="99" y="0"/>
                  </a:lnTo>
                  <a:lnTo>
                    <a:pt x="99" y="0"/>
                  </a:lnTo>
                  <a:lnTo>
                    <a:pt x="99" y="0"/>
                  </a:lnTo>
                  <a:lnTo>
                    <a:pt x="96" y="0"/>
                  </a:lnTo>
                  <a:lnTo>
                    <a:pt x="96" y="0"/>
                  </a:lnTo>
                  <a:lnTo>
                    <a:pt x="96" y="0"/>
                  </a:lnTo>
                  <a:lnTo>
                    <a:pt x="96" y="0"/>
                  </a:lnTo>
                  <a:lnTo>
                    <a:pt x="92" y="0"/>
                  </a:lnTo>
                  <a:lnTo>
                    <a:pt x="92" y="0"/>
                  </a:lnTo>
                  <a:lnTo>
                    <a:pt x="92" y="0"/>
                  </a:lnTo>
                  <a:lnTo>
                    <a:pt x="89" y="0"/>
                  </a:lnTo>
                  <a:lnTo>
                    <a:pt x="89" y="0"/>
                  </a:lnTo>
                  <a:lnTo>
                    <a:pt x="89" y="0"/>
                  </a:lnTo>
                  <a:lnTo>
                    <a:pt x="89" y="0"/>
                  </a:lnTo>
                  <a:lnTo>
                    <a:pt x="86" y="0"/>
                  </a:lnTo>
                  <a:lnTo>
                    <a:pt x="86" y="0"/>
                  </a:lnTo>
                  <a:lnTo>
                    <a:pt x="86" y="0"/>
                  </a:lnTo>
                  <a:lnTo>
                    <a:pt x="86" y="0"/>
                  </a:lnTo>
                  <a:lnTo>
                    <a:pt x="82" y="0"/>
                  </a:lnTo>
                  <a:lnTo>
                    <a:pt x="82" y="0"/>
                  </a:lnTo>
                  <a:lnTo>
                    <a:pt x="82" y="0"/>
                  </a:lnTo>
                  <a:lnTo>
                    <a:pt x="82" y="0"/>
                  </a:lnTo>
                  <a:lnTo>
                    <a:pt x="79" y="0"/>
                  </a:lnTo>
                  <a:lnTo>
                    <a:pt x="79" y="0"/>
                  </a:lnTo>
                  <a:lnTo>
                    <a:pt x="79" y="0"/>
                  </a:lnTo>
                  <a:lnTo>
                    <a:pt x="79" y="0"/>
                  </a:lnTo>
                  <a:lnTo>
                    <a:pt x="75" y="0"/>
                  </a:lnTo>
                  <a:lnTo>
                    <a:pt x="75" y="0"/>
                  </a:lnTo>
                  <a:lnTo>
                    <a:pt x="75" y="0"/>
                  </a:lnTo>
                  <a:lnTo>
                    <a:pt x="72" y="0"/>
                  </a:lnTo>
                  <a:lnTo>
                    <a:pt x="72" y="0"/>
                  </a:lnTo>
                  <a:lnTo>
                    <a:pt x="72" y="0"/>
                  </a:lnTo>
                  <a:lnTo>
                    <a:pt x="72" y="0"/>
                  </a:lnTo>
                  <a:lnTo>
                    <a:pt x="68" y="0"/>
                  </a:lnTo>
                  <a:lnTo>
                    <a:pt x="68" y="0"/>
                  </a:lnTo>
                  <a:lnTo>
                    <a:pt x="68" y="0"/>
                  </a:lnTo>
                  <a:lnTo>
                    <a:pt x="68" y="0"/>
                  </a:lnTo>
                  <a:lnTo>
                    <a:pt x="65" y="0"/>
                  </a:lnTo>
                  <a:lnTo>
                    <a:pt x="65" y="0"/>
                  </a:lnTo>
                  <a:lnTo>
                    <a:pt x="65" y="0"/>
                  </a:lnTo>
                  <a:lnTo>
                    <a:pt x="65" y="0"/>
                  </a:lnTo>
                  <a:lnTo>
                    <a:pt x="62" y="0"/>
                  </a:lnTo>
                  <a:lnTo>
                    <a:pt x="62" y="0"/>
                  </a:lnTo>
                  <a:lnTo>
                    <a:pt x="62" y="0"/>
                  </a:lnTo>
                  <a:lnTo>
                    <a:pt x="58" y="0"/>
                  </a:lnTo>
                  <a:lnTo>
                    <a:pt x="58" y="0"/>
                  </a:lnTo>
                  <a:lnTo>
                    <a:pt x="58" y="0"/>
                  </a:lnTo>
                  <a:lnTo>
                    <a:pt x="58" y="0"/>
                  </a:lnTo>
                  <a:lnTo>
                    <a:pt x="55" y="0"/>
                  </a:lnTo>
                  <a:lnTo>
                    <a:pt x="55" y="0"/>
                  </a:lnTo>
                  <a:lnTo>
                    <a:pt x="55" y="0"/>
                  </a:lnTo>
                  <a:lnTo>
                    <a:pt x="55" y="0"/>
                  </a:lnTo>
                  <a:lnTo>
                    <a:pt x="51" y="0"/>
                  </a:lnTo>
                  <a:lnTo>
                    <a:pt x="51" y="0"/>
                  </a:lnTo>
                  <a:lnTo>
                    <a:pt x="51" y="0"/>
                  </a:lnTo>
                  <a:lnTo>
                    <a:pt x="51" y="0"/>
                  </a:lnTo>
                  <a:lnTo>
                    <a:pt x="48" y="0"/>
                  </a:lnTo>
                  <a:lnTo>
                    <a:pt x="48" y="0"/>
                  </a:lnTo>
                  <a:lnTo>
                    <a:pt x="48" y="0"/>
                  </a:lnTo>
                  <a:lnTo>
                    <a:pt x="48" y="0"/>
                  </a:lnTo>
                  <a:lnTo>
                    <a:pt x="44" y="0"/>
                  </a:lnTo>
                  <a:lnTo>
                    <a:pt x="44" y="0"/>
                  </a:lnTo>
                  <a:lnTo>
                    <a:pt x="44" y="0"/>
                  </a:lnTo>
                  <a:lnTo>
                    <a:pt x="41" y="0"/>
                  </a:lnTo>
                  <a:lnTo>
                    <a:pt x="41" y="0"/>
                  </a:lnTo>
                  <a:lnTo>
                    <a:pt x="41" y="0"/>
                  </a:lnTo>
                  <a:lnTo>
                    <a:pt x="41" y="0"/>
                  </a:lnTo>
                  <a:lnTo>
                    <a:pt x="38" y="0"/>
                  </a:lnTo>
                  <a:lnTo>
                    <a:pt x="38" y="0"/>
                  </a:lnTo>
                  <a:lnTo>
                    <a:pt x="38" y="0"/>
                  </a:lnTo>
                  <a:lnTo>
                    <a:pt x="38" y="0"/>
                  </a:lnTo>
                  <a:lnTo>
                    <a:pt x="34" y="0"/>
                  </a:lnTo>
                  <a:lnTo>
                    <a:pt x="34" y="0"/>
                  </a:lnTo>
                  <a:lnTo>
                    <a:pt x="34" y="0"/>
                  </a:lnTo>
                  <a:lnTo>
                    <a:pt x="34" y="0"/>
                  </a:lnTo>
                  <a:lnTo>
                    <a:pt x="31" y="0"/>
                  </a:lnTo>
                  <a:lnTo>
                    <a:pt x="31" y="0"/>
                  </a:lnTo>
                  <a:lnTo>
                    <a:pt x="31" y="0"/>
                  </a:lnTo>
                  <a:lnTo>
                    <a:pt x="27" y="0"/>
                  </a:lnTo>
                  <a:lnTo>
                    <a:pt x="27" y="0"/>
                  </a:lnTo>
                  <a:lnTo>
                    <a:pt x="27" y="0"/>
                  </a:lnTo>
                  <a:lnTo>
                    <a:pt x="27" y="0"/>
                  </a:lnTo>
                  <a:lnTo>
                    <a:pt x="24" y="0"/>
                  </a:lnTo>
                  <a:lnTo>
                    <a:pt x="24" y="0"/>
                  </a:lnTo>
                  <a:lnTo>
                    <a:pt x="24" y="0"/>
                  </a:lnTo>
                  <a:lnTo>
                    <a:pt x="24" y="0"/>
                  </a:lnTo>
                  <a:lnTo>
                    <a:pt x="20" y="0"/>
                  </a:lnTo>
                  <a:lnTo>
                    <a:pt x="20" y="0"/>
                  </a:lnTo>
                  <a:lnTo>
                    <a:pt x="20" y="0"/>
                  </a:lnTo>
                  <a:lnTo>
                    <a:pt x="20" y="0"/>
                  </a:lnTo>
                  <a:lnTo>
                    <a:pt x="17" y="0"/>
                  </a:lnTo>
                  <a:lnTo>
                    <a:pt x="17" y="0"/>
                  </a:lnTo>
                  <a:lnTo>
                    <a:pt x="17" y="0"/>
                  </a:lnTo>
                  <a:lnTo>
                    <a:pt x="17" y="0"/>
                  </a:lnTo>
                  <a:lnTo>
                    <a:pt x="14" y="0"/>
                  </a:lnTo>
                  <a:lnTo>
                    <a:pt x="14" y="0"/>
                  </a:lnTo>
                  <a:lnTo>
                    <a:pt x="14" y="0"/>
                  </a:lnTo>
                  <a:lnTo>
                    <a:pt x="10" y="0"/>
                  </a:lnTo>
                  <a:lnTo>
                    <a:pt x="10" y="0"/>
                  </a:lnTo>
                  <a:lnTo>
                    <a:pt x="10" y="0"/>
                  </a:lnTo>
                  <a:lnTo>
                    <a:pt x="10" y="0"/>
                  </a:lnTo>
                  <a:lnTo>
                    <a:pt x="7" y="0"/>
                  </a:lnTo>
                  <a:lnTo>
                    <a:pt x="7" y="0"/>
                  </a:lnTo>
                  <a:lnTo>
                    <a:pt x="7" y="0"/>
                  </a:lnTo>
                  <a:lnTo>
                    <a:pt x="7" y="0"/>
                  </a:lnTo>
                  <a:lnTo>
                    <a:pt x="3" y="0"/>
                  </a:lnTo>
                  <a:lnTo>
                    <a:pt x="3" y="0"/>
                  </a:lnTo>
                  <a:lnTo>
                    <a:pt x="3" y="0"/>
                  </a:lnTo>
                  <a:lnTo>
                    <a:pt x="3" y="0"/>
                  </a:lnTo>
                  <a:lnTo>
                    <a:pt x="0" y="0"/>
                  </a:lnTo>
                  <a:lnTo>
                    <a:pt x="0" y="0"/>
                  </a:lnTo>
                </a:path>
              </a:pathLst>
            </a:custGeom>
            <a:noFill/>
            <a:ln w="468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5" name="Freeform 25">
              <a:extLst>
                <a:ext uri="{FF2B5EF4-FFF2-40B4-BE49-F238E27FC236}">
                  <a16:creationId xmlns:a16="http://schemas.microsoft.com/office/drawing/2014/main" id="{FDD2EBB0-9386-2E48-BF28-E203779CDA6E}"/>
                </a:ext>
              </a:extLst>
            </p:cNvPr>
            <p:cNvSpPr>
              <a:spLocks noChangeArrowheads="1"/>
            </p:cNvSpPr>
            <p:nvPr/>
          </p:nvSpPr>
          <p:spPr bwMode="auto">
            <a:xfrm>
              <a:off x="3171" y="4102"/>
              <a:ext cx="958" cy="308"/>
            </a:xfrm>
            <a:custGeom>
              <a:avLst/>
              <a:gdLst>
                <a:gd name="T0" fmla="*/ 14 w 453"/>
                <a:gd name="T1" fmla="*/ 173 h 264"/>
                <a:gd name="T2" fmla="*/ 28 w 453"/>
                <a:gd name="T3" fmla="*/ 178 h 264"/>
                <a:gd name="T4" fmla="*/ 42 w 453"/>
                <a:gd name="T5" fmla="*/ 169 h 264"/>
                <a:gd name="T6" fmla="*/ 59 w 453"/>
                <a:gd name="T7" fmla="*/ 161 h 264"/>
                <a:gd name="T8" fmla="*/ 72 w 453"/>
                <a:gd name="T9" fmla="*/ 165 h 264"/>
                <a:gd name="T10" fmla="*/ 86 w 453"/>
                <a:gd name="T11" fmla="*/ 161 h 264"/>
                <a:gd name="T12" fmla="*/ 100 w 453"/>
                <a:gd name="T13" fmla="*/ 153 h 264"/>
                <a:gd name="T14" fmla="*/ 117 w 453"/>
                <a:gd name="T15" fmla="*/ 165 h 264"/>
                <a:gd name="T16" fmla="*/ 131 w 453"/>
                <a:gd name="T17" fmla="*/ 149 h 264"/>
                <a:gd name="T18" fmla="*/ 144 w 453"/>
                <a:gd name="T19" fmla="*/ 153 h 264"/>
                <a:gd name="T20" fmla="*/ 158 w 453"/>
                <a:gd name="T21" fmla="*/ 153 h 264"/>
                <a:gd name="T22" fmla="*/ 175 w 453"/>
                <a:gd name="T23" fmla="*/ 149 h 264"/>
                <a:gd name="T24" fmla="*/ 189 w 453"/>
                <a:gd name="T25" fmla="*/ 153 h 264"/>
                <a:gd name="T26" fmla="*/ 203 w 453"/>
                <a:gd name="T27" fmla="*/ 149 h 264"/>
                <a:gd name="T28" fmla="*/ 216 w 453"/>
                <a:gd name="T29" fmla="*/ 153 h 264"/>
                <a:gd name="T30" fmla="*/ 234 w 453"/>
                <a:gd name="T31" fmla="*/ 149 h 264"/>
                <a:gd name="T32" fmla="*/ 247 w 453"/>
                <a:gd name="T33" fmla="*/ 140 h 264"/>
                <a:gd name="T34" fmla="*/ 261 w 453"/>
                <a:gd name="T35" fmla="*/ 140 h 264"/>
                <a:gd name="T36" fmla="*/ 275 w 453"/>
                <a:gd name="T37" fmla="*/ 128 h 264"/>
                <a:gd name="T38" fmla="*/ 288 w 453"/>
                <a:gd name="T39" fmla="*/ 124 h 264"/>
                <a:gd name="T40" fmla="*/ 306 w 453"/>
                <a:gd name="T41" fmla="*/ 107 h 264"/>
                <a:gd name="T42" fmla="*/ 319 w 453"/>
                <a:gd name="T43" fmla="*/ 103 h 264"/>
                <a:gd name="T44" fmla="*/ 333 w 453"/>
                <a:gd name="T45" fmla="*/ 79 h 264"/>
                <a:gd name="T46" fmla="*/ 347 w 453"/>
                <a:gd name="T47" fmla="*/ 87 h 264"/>
                <a:gd name="T48" fmla="*/ 364 w 453"/>
                <a:gd name="T49" fmla="*/ 79 h 264"/>
                <a:gd name="T50" fmla="*/ 378 w 453"/>
                <a:gd name="T51" fmla="*/ 70 h 264"/>
                <a:gd name="T52" fmla="*/ 391 w 453"/>
                <a:gd name="T53" fmla="*/ 54 h 264"/>
                <a:gd name="T54" fmla="*/ 405 w 453"/>
                <a:gd name="T55" fmla="*/ 41 h 264"/>
                <a:gd name="T56" fmla="*/ 422 w 453"/>
                <a:gd name="T57" fmla="*/ 45 h 264"/>
                <a:gd name="T58" fmla="*/ 436 w 453"/>
                <a:gd name="T59" fmla="*/ 21 h 264"/>
                <a:gd name="T60" fmla="*/ 450 w 453"/>
                <a:gd name="T61" fmla="*/ 4 h 264"/>
                <a:gd name="T62" fmla="*/ 446 w 453"/>
                <a:gd name="T63" fmla="*/ 264 h 264"/>
                <a:gd name="T64" fmla="*/ 432 w 453"/>
                <a:gd name="T65" fmla="*/ 264 h 264"/>
                <a:gd name="T66" fmla="*/ 415 w 453"/>
                <a:gd name="T67" fmla="*/ 264 h 264"/>
                <a:gd name="T68" fmla="*/ 402 w 453"/>
                <a:gd name="T69" fmla="*/ 264 h 264"/>
                <a:gd name="T70" fmla="*/ 388 w 453"/>
                <a:gd name="T71" fmla="*/ 264 h 264"/>
                <a:gd name="T72" fmla="*/ 374 w 453"/>
                <a:gd name="T73" fmla="*/ 264 h 264"/>
                <a:gd name="T74" fmla="*/ 357 w 453"/>
                <a:gd name="T75" fmla="*/ 264 h 264"/>
                <a:gd name="T76" fmla="*/ 343 w 453"/>
                <a:gd name="T77" fmla="*/ 264 h 264"/>
                <a:gd name="T78" fmla="*/ 330 w 453"/>
                <a:gd name="T79" fmla="*/ 264 h 264"/>
                <a:gd name="T80" fmla="*/ 316 w 453"/>
                <a:gd name="T81" fmla="*/ 264 h 264"/>
                <a:gd name="T82" fmla="*/ 299 w 453"/>
                <a:gd name="T83" fmla="*/ 264 h 264"/>
                <a:gd name="T84" fmla="*/ 285 w 453"/>
                <a:gd name="T85" fmla="*/ 264 h 264"/>
                <a:gd name="T86" fmla="*/ 271 w 453"/>
                <a:gd name="T87" fmla="*/ 264 h 264"/>
                <a:gd name="T88" fmla="*/ 258 w 453"/>
                <a:gd name="T89" fmla="*/ 264 h 264"/>
                <a:gd name="T90" fmla="*/ 240 w 453"/>
                <a:gd name="T91" fmla="*/ 264 h 264"/>
                <a:gd name="T92" fmla="*/ 227 w 453"/>
                <a:gd name="T93" fmla="*/ 264 h 264"/>
                <a:gd name="T94" fmla="*/ 213 w 453"/>
                <a:gd name="T95" fmla="*/ 264 h 264"/>
                <a:gd name="T96" fmla="*/ 199 w 453"/>
                <a:gd name="T97" fmla="*/ 264 h 264"/>
                <a:gd name="T98" fmla="*/ 182 w 453"/>
                <a:gd name="T99" fmla="*/ 264 h 264"/>
                <a:gd name="T100" fmla="*/ 168 w 453"/>
                <a:gd name="T101" fmla="*/ 264 h 264"/>
                <a:gd name="T102" fmla="*/ 155 w 453"/>
                <a:gd name="T103" fmla="*/ 264 h 264"/>
                <a:gd name="T104" fmla="*/ 141 w 453"/>
                <a:gd name="T105" fmla="*/ 264 h 264"/>
                <a:gd name="T106" fmla="*/ 127 w 453"/>
                <a:gd name="T107" fmla="*/ 264 h 264"/>
                <a:gd name="T108" fmla="*/ 110 w 453"/>
                <a:gd name="T109" fmla="*/ 264 h 264"/>
                <a:gd name="T110" fmla="*/ 96 w 453"/>
                <a:gd name="T111" fmla="*/ 264 h 264"/>
                <a:gd name="T112" fmla="*/ 83 w 453"/>
                <a:gd name="T113" fmla="*/ 264 h 264"/>
                <a:gd name="T114" fmla="*/ 69 w 453"/>
                <a:gd name="T115" fmla="*/ 264 h 264"/>
                <a:gd name="T116" fmla="*/ 52 w 453"/>
                <a:gd name="T117" fmla="*/ 264 h 264"/>
                <a:gd name="T118" fmla="*/ 38 w 453"/>
                <a:gd name="T119" fmla="*/ 264 h 264"/>
                <a:gd name="T120" fmla="*/ 24 w 453"/>
                <a:gd name="T121" fmla="*/ 264 h 264"/>
                <a:gd name="T122" fmla="*/ 11 w 453"/>
                <a:gd name="T123"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3" h="264">
                  <a:moveTo>
                    <a:pt x="0" y="264"/>
                  </a:moveTo>
                  <a:lnTo>
                    <a:pt x="0" y="186"/>
                  </a:lnTo>
                  <a:lnTo>
                    <a:pt x="0" y="186"/>
                  </a:lnTo>
                  <a:lnTo>
                    <a:pt x="4" y="178"/>
                  </a:lnTo>
                  <a:lnTo>
                    <a:pt x="4" y="186"/>
                  </a:lnTo>
                  <a:lnTo>
                    <a:pt x="4" y="178"/>
                  </a:lnTo>
                  <a:lnTo>
                    <a:pt x="7" y="178"/>
                  </a:lnTo>
                  <a:lnTo>
                    <a:pt x="7" y="173"/>
                  </a:lnTo>
                  <a:lnTo>
                    <a:pt x="7" y="182"/>
                  </a:lnTo>
                  <a:lnTo>
                    <a:pt x="7" y="182"/>
                  </a:lnTo>
                  <a:lnTo>
                    <a:pt x="11" y="173"/>
                  </a:lnTo>
                  <a:lnTo>
                    <a:pt x="11" y="173"/>
                  </a:lnTo>
                  <a:lnTo>
                    <a:pt x="11" y="182"/>
                  </a:lnTo>
                  <a:lnTo>
                    <a:pt x="11" y="178"/>
                  </a:lnTo>
                  <a:lnTo>
                    <a:pt x="14" y="182"/>
                  </a:lnTo>
                  <a:lnTo>
                    <a:pt x="14" y="173"/>
                  </a:lnTo>
                  <a:lnTo>
                    <a:pt x="14" y="178"/>
                  </a:lnTo>
                  <a:lnTo>
                    <a:pt x="14" y="173"/>
                  </a:lnTo>
                  <a:lnTo>
                    <a:pt x="18" y="173"/>
                  </a:lnTo>
                  <a:lnTo>
                    <a:pt x="18" y="173"/>
                  </a:lnTo>
                  <a:lnTo>
                    <a:pt x="18" y="173"/>
                  </a:lnTo>
                  <a:lnTo>
                    <a:pt x="21" y="169"/>
                  </a:lnTo>
                  <a:lnTo>
                    <a:pt x="21" y="173"/>
                  </a:lnTo>
                  <a:lnTo>
                    <a:pt x="21" y="178"/>
                  </a:lnTo>
                  <a:lnTo>
                    <a:pt x="21" y="173"/>
                  </a:lnTo>
                  <a:lnTo>
                    <a:pt x="24" y="169"/>
                  </a:lnTo>
                  <a:lnTo>
                    <a:pt x="24" y="169"/>
                  </a:lnTo>
                  <a:lnTo>
                    <a:pt x="24" y="173"/>
                  </a:lnTo>
                  <a:lnTo>
                    <a:pt x="24" y="173"/>
                  </a:lnTo>
                  <a:lnTo>
                    <a:pt x="28" y="178"/>
                  </a:lnTo>
                  <a:lnTo>
                    <a:pt x="28" y="178"/>
                  </a:lnTo>
                  <a:lnTo>
                    <a:pt x="28" y="178"/>
                  </a:lnTo>
                  <a:lnTo>
                    <a:pt x="28" y="173"/>
                  </a:lnTo>
                  <a:lnTo>
                    <a:pt x="31" y="173"/>
                  </a:lnTo>
                  <a:lnTo>
                    <a:pt x="31" y="178"/>
                  </a:lnTo>
                  <a:lnTo>
                    <a:pt x="31" y="173"/>
                  </a:lnTo>
                  <a:lnTo>
                    <a:pt x="31" y="173"/>
                  </a:lnTo>
                  <a:lnTo>
                    <a:pt x="35" y="178"/>
                  </a:lnTo>
                  <a:lnTo>
                    <a:pt x="35" y="173"/>
                  </a:lnTo>
                  <a:lnTo>
                    <a:pt x="35" y="169"/>
                  </a:lnTo>
                  <a:lnTo>
                    <a:pt x="38" y="178"/>
                  </a:lnTo>
                  <a:lnTo>
                    <a:pt x="38" y="169"/>
                  </a:lnTo>
                  <a:lnTo>
                    <a:pt x="38" y="165"/>
                  </a:lnTo>
                  <a:lnTo>
                    <a:pt x="38" y="169"/>
                  </a:lnTo>
                  <a:lnTo>
                    <a:pt x="42" y="169"/>
                  </a:lnTo>
                  <a:lnTo>
                    <a:pt x="42" y="178"/>
                  </a:lnTo>
                  <a:lnTo>
                    <a:pt x="42" y="178"/>
                  </a:lnTo>
                  <a:lnTo>
                    <a:pt x="42" y="169"/>
                  </a:lnTo>
                  <a:lnTo>
                    <a:pt x="45" y="169"/>
                  </a:lnTo>
                  <a:lnTo>
                    <a:pt x="45" y="173"/>
                  </a:lnTo>
                  <a:lnTo>
                    <a:pt x="45" y="173"/>
                  </a:lnTo>
                  <a:lnTo>
                    <a:pt x="45" y="178"/>
                  </a:lnTo>
                  <a:lnTo>
                    <a:pt x="48" y="165"/>
                  </a:lnTo>
                  <a:lnTo>
                    <a:pt x="48" y="161"/>
                  </a:lnTo>
                  <a:lnTo>
                    <a:pt x="48" y="157"/>
                  </a:lnTo>
                  <a:lnTo>
                    <a:pt x="52" y="165"/>
                  </a:lnTo>
                  <a:lnTo>
                    <a:pt x="52" y="165"/>
                  </a:lnTo>
                  <a:lnTo>
                    <a:pt x="52" y="169"/>
                  </a:lnTo>
                  <a:lnTo>
                    <a:pt x="52" y="169"/>
                  </a:lnTo>
                  <a:lnTo>
                    <a:pt x="55" y="165"/>
                  </a:lnTo>
                  <a:lnTo>
                    <a:pt x="55" y="165"/>
                  </a:lnTo>
                  <a:lnTo>
                    <a:pt x="55" y="161"/>
                  </a:lnTo>
                  <a:lnTo>
                    <a:pt x="55" y="169"/>
                  </a:lnTo>
                  <a:lnTo>
                    <a:pt x="59" y="161"/>
                  </a:lnTo>
                  <a:lnTo>
                    <a:pt x="59" y="165"/>
                  </a:lnTo>
                  <a:lnTo>
                    <a:pt x="59" y="161"/>
                  </a:lnTo>
                  <a:lnTo>
                    <a:pt x="59" y="161"/>
                  </a:lnTo>
                  <a:lnTo>
                    <a:pt x="62" y="161"/>
                  </a:lnTo>
                  <a:lnTo>
                    <a:pt x="62" y="165"/>
                  </a:lnTo>
                  <a:lnTo>
                    <a:pt x="62" y="165"/>
                  </a:lnTo>
                  <a:lnTo>
                    <a:pt x="62" y="165"/>
                  </a:lnTo>
                  <a:lnTo>
                    <a:pt x="66" y="165"/>
                  </a:lnTo>
                  <a:lnTo>
                    <a:pt x="66" y="161"/>
                  </a:lnTo>
                  <a:lnTo>
                    <a:pt x="66" y="165"/>
                  </a:lnTo>
                  <a:lnTo>
                    <a:pt x="69" y="161"/>
                  </a:lnTo>
                  <a:lnTo>
                    <a:pt x="69" y="169"/>
                  </a:lnTo>
                  <a:lnTo>
                    <a:pt x="69" y="169"/>
                  </a:lnTo>
                  <a:lnTo>
                    <a:pt x="69" y="165"/>
                  </a:lnTo>
                  <a:lnTo>
                    <a:pt x="72" y="173"/>
                  </a:lnTo>
                  <a:lnTo>
                    <a:pt x="72" y="165"/>
                  </a:lnTo>
                  <a:lnTo>
                    <a:pt x="72" y="165"/>
                  </a:lnTo>
                  <a:lnTo>
                    <a:pt x="72" y="169"/>
                  </a:lnTo>
                  <a:lnTo>
                    <a:pt x="76" y="169"/>
                  </a:lnTo>
                  <a:lnTo>
                    <a:pt x="76" y="169"/>
                  </a:lnTo>
                  <a:lnTo>
                    <a:pt x="76" y="173"/>
                  </a:lnTo>
                  <a:lnTo>
                    <a:pt x="76" y="169"/>
                  </a:lnTo>
                  <a:lnTo>
                    <a:pt x="79" y="173"/>
                  </a:lnTo>
                  <a:lnTo>
                    <a:pt x="79" y="169"/>
                  </a:lnTo>
                  <a:lnTo>
                    <a:pt x="79" y="165"/>
                  </a:lnTo>
                  <a:lnTo>
                    <a:pt x="83" y="169"/>
                  </a:lnTo>
                  <a:lnTo>
                    <a:pt x="83" y="157"/>
                  </a:lnTo>
                  <a:lnTo>
                    <a:pt x="83" y="153"/>
                  </a:lnTo>
                  <a:lnTo>
                    <a:pt x="83" y="157"/>
                  </a:lnTo>
                  <a:lnTo>
                    <a:pt x="86" y="161"/>
                  </a:lnTo>
                  <a:lnTo>
                    <a:pt x="86" y="153"/>
                  </a:lnTo>
                  <a:lnTo>
                    <a:pt x="86" y="161"/>
                  </a:lnTo>
                  <a:lnTo>
                    <a:pt x="86" y="157"/>
                  </a:lnTo>
                  <a:lnTo>
                    <a:pt x="90" y="153"/>
                  </a:lnTo>
                  <a:lnTo>
                    <a:pt x="90" y="157"/>
                  </a:lnTo>
                  <a:lnTo>
                    <a:pt x="90" y="161"/>
                  </a:lnTo>
                  <a:lnTo>
                    <a:pt x="90" y="165"/>
                  </a:lnTo>
                  <a:lnTo>
                    <a:pt x="93" y="165"/>
                  </a:lnTo>
                  <a:lnTo>
                    <a:pt x="93" y="165"/>
                  </a:lnTo>
                  <a:lnTo>
                    <a:pt x="93" y="153"/>
                  </a:lnTo>
                  <a:lnTo>
                    <a:pt x="96" y="157"/>
                  </a:lnTo>
                  <a:lnTo>
                    <a:pt x="96" y="157"/>
                  </a:lnTo>
                  <a:lnTo>
                    <a:pt x="96" y="157"/>
                  </a:lnTo>
                  <a:lnTo>
                    <a:pt x="96" y="157"/>
                  </a:lnTo>
                  <a:lnTo>
                    <a:pt x="100" y="165"/>
                  </a:lnTo>
                  <a:lnTo>
                    <a:pt x="100" y="157"/>
                  </a:lnTo>
                  <a:lnTo>
                    <a:pt x="100" y="157"/>
                  </a:lnTo>
                  <a:lnTo>
                    <a:pt x="100" y="153"/>
                  </a:lnTo>
                  <a:lnTo>
                    <a:pt x="103" y="161"/>
                  </a:lnTo>
                  <a:lnTo>
                    <a:pt x="103" y="161"/>
                  </a:lnTo>
                  <a:lnTo>
                    <a:pt x="103" y="157"/>
                  </a:lnTo>
                  <a:lnTo>
                    <a:pt x="103" y="161"/>
                  </a:lnTo>
                  <a:lnTo>
                    <a:pt x="107" y="157"/>
                  </a:lnTo>
                  <a:lnTo>
                    <a:pt x="107" y="161"/>
                  </a:lnTo>
                  <a:lnTo>
                    <a:pt x="107" y="161"/>
                  </a:lnTo>
                  <a:lnTo>
                    <a:pt x="107" y="161"/>
                  </a:lnTo>
                  <a:lnTo>
                    <a:pt x="110" y="153"/>
                  </a:lnTo>
                  <a:lnTo>
                    <a:pt x="110" y="165"/>
                  </a:lnTo>
                  <a:lnTo>
                    <a:pt x="110" y="161"/>
                  </a:lnTo>
                  <a:lnTo>
                    <a:pt x="114" y="161"/>
                  </a:lnTo>
                  <a:lnTo>
                    <a:pt x="114" y="161"/>
                  </a:lnTo>
                  <a:lnTo>
                    <a:pt x="114" y="169"/>
                  </a:lnTo>
                  <a:lnTo>
                    <a:pt x="114" y="169"/>
                  </a:lnTo>
                  <a:lnTo>
                    <a:pt x="117" y="165"/>
                  </a:lnTo>
                  <a:lnTo>
                    <a:pt x="117" y="157"/>
                  </a:lnTo>
                  <a:lnTo>
                    <a:pt x="117" y="153"/>
                  </a:lnTo>
                  <a:lnTo>
                    <a:pt x="117" y="161"/>
                  </a:lnTo>
                  <a:lnTo>
                    <a:pt x="120" y="157"/>
                  </a:lnTo>
                  <a:lnTo>
                    <a:pt x="120" y="157"/>
                  </a:lnTo>
                  <a:lnTo>
                    <a:pt x="120" y="149"/>
                  </a:lnTo>
                  <a:lnTo>
                    <a:pt x="120" y="161"/>
                  </a:lnTo>
                  <a:lnTo>
                    <a:pt x="124" y="161"/>
                  </a:lnTo>
                  <a:lnTo>
                    <a:pt x="124" y="153"/>
                  </a:lnTo>
                  <a:lnTo>
                    <a:pt x="124" y="153"/>
                  </a:lnTo>
                  <a:lnTo>
                    <a:pt x="127" y="157"/>
                  </a:lnTo>
                  <a:lnTo>
                    <a:pt x="127" y="157"/>
                  </a:lnTo>
                  <a:lnTo>
                    <a:pt x="127" y="157"/>
                  </a:lnTo>
                  <a:lnTo>
                    <a:pt x="127" y="157"/>
                  </a:lnTo>
                  <a:lnTo>
                    <a:pt x="131" y="149"/>
                  </a:lnTo>
                  <a:lnTo>
                    <a:pt x="131" y="149"/>
                  </a:lnTo>
                  <a:lnTo>
                    <a:pt x="131" y="153"/>
                  </a:lnTo>
                  <a:lnTo>
                    <a:pt x="131" y="153"/>
                  </a:lnTo>
                  <a:lnTo>
                    <a:pt x="134" y="153"/>
                  </a:lnTo>
                  <a:lnTo>
                    <a:pt x="134" y="157"/>
                  </a:lnTo>
                  <a:lnTo>
                    <a:pt x="134" y="153"/>
                  </a:lnTo>
                  <a:lnTo>
                    <a:pt x="134" y="153"/>
                  </a:lnTo>
                  <a:lnTo>
                    <a:pt x="138" y="153"/>
                  </a:lnTo>
                  <a:lnTo>
                    <a:pt x="138" y="149"/>
                  </a:lnTo>
                  <a:lnTo>
                    <a:pt x="138" y="145"/>
                  </a:lnTo>
                  <a:lnTo>
                    <a:pt x="138" y="149"/>
                  </a:lnTo>
                  <a:lnTo>
                    <a:pt x="141" y="153"/>
                  </a:lnTo>
                  <a:lnTo>
                    <a:pt x="141" y="145"/>
                  </a:lnTo>
                  <a:lnTo>
                    <a:pt x="141" y="149"/>
                  </a:lnTo>
                  <a:lnTo>
                    <a:pt x="144" y="149"/>
                  </a:lnTo>
                  <a:lnTo>
                    <a:pt x="144" y="157"/>
                  </a:lnTo>
                  <a:lnTo>
                    <a:pt x="144" y="153"/>
                  </a:lnTo>
                  <a:lnTo>
                    <a:pt x="144" y="153"/>
                  </a:lnTo>
                  <a:lnTo>
                    <a:pt x="148" y="149"/>
                  </a:lnTo>
                  <a:lnTo>
                    <a:pt x="148" y="149"/>
                  </a:lnTo>
                  <a:lnTo>
                    <a:pt x="148" y="153"/>
                  </a:lnTo>
                  <a:lnTo>
                    <a:pt x="148" y="145"/>
                  </a:lnTo>
                  <a:lnTo>
                    <a:pt x="151" y="153"/>
                  </a:lnTo>
                  <a:lnTo>
                    <a:pt x="151" y="145"/>
                  </a:lnTo>
                  <a:lnTo>
                    <a:pt x="151" y="153"/>
                  </a:lnTo>
                  <a:lnTo>
                    <a:pt x="151" y="145"/>
                  </a:lnTo>
                  <a:lnTo>
                    <a:pt x="155" y="149"/>
                  </a:lnTo>
                  <a:lnTo>
                    <a:pt x="155" y="153"/>
                  </a:lnTo>
                  <a:lnTo>
                    <a:pt x="155" y="145"/>
                  </a:lnTo>
                  <a:lnTo>
                    <a:pt x="158" y="157"/>
                  </a:lnTo>
                  <a:lnTo>
                    <a:pt x="158" y="149"/>
                  </a:lnTo>
                  <a:lnTo>
                    <a:pt x="158" y="153"/>
                  </a:lnTo>
                  <a:lnTo>
                    <a:pt x="158" y="153"/>
                  </a:lnTo>
                  <a:lnTo>
                    <a:pt x="162" y="149"/>
                  </a:lnTo>
                  <a:lnTo>
                    <a:pt x="162" y="153"/>
                  </a:lnTo>
                  <a:lnTo>
                    <a:pt x="162" y="153"/>
                  </a:lnTo>
                  <a:lnTo>
                    <a:pt x="162" y="153"/>
                  </a:lnTo>
                  <a:lnTo>
                    <a:pt x="165" y="153"/>
                  </a:lnTo>
                  <a:lnTo>
                    <a:pt x="165" y="153"/>
                  </a:lnTo>
                  <a:lnTo>
                    <a:pt x="165" y="157"/>
                  </a:lnTo>
                  <a:lnTo>
                    <a:pt x="165" y="153"/>
                  </a:lnTo>
                  <a:lnTo>
                    <a:pt x="168" y="157"/>
                  </a:lnTo>
                  <a:lnTo>
                    <a:pt x="168" y="153"/>
                  </a:lnTo>
                  <a:lnTo>
                    <a:pt x="168" y="153"/>
                  </a:lnTo>
                  <a:lnTo>
                    <a:pt x="168" y="157"/>
                  </a:lnTo>
                  <a:lnTo>
                    <a:pt x="172" y="157"/>
                  </a:lnTo>
                  <a:lnTo>
                    <a:pt x="172" y="153"/>
                  </a:lnTo>
                  <a:lnTo>
                    <a:pt x="172" y="145"/>
                  </a:lnTo>
                  <a:lnTo>
                    <a:pt x="175" y="149"/>
                  </a:lnTo>
                  <a:lnTo>
                    <a:pt x="175" y="153"/>
                  </a:lnTo>
                  <a:lnTo>
                    <a:pt x="175" y="153"/>
                  </a:lnTo>
                  <a:lnTo>
                    <a:pt x="175" y="157"/>
                  </a:lnTo>
                  <a:lnTo>
                    <a:pt x="179" y="153"/>
                  </a:lnTo>
                  <a:lnTo>
                    <a:pt x="179" y="157"/>
                  </a:lnTo>
                  <a:lnTo>
                    <a:pt x="179" y="149"/>
                  </a:lnTo>
                  <a:lnTo>
                    <a:pt x="179" y="153"/>
                  </a:lnTo>
                  <a:lnTo>
                    <a:pt x="182" y="153"/>
                  </a:lnTo>
                  <a:lnTo>
                    <a:pt x="182" y="153"/>
                  </a:lnTo>
                  <a:lnTo>
                    <a:pt x="182" y="153"/>
                  </a:lnTo>
                  <a:lnTo>
                    <a:pt x="182" y="149"/>
                  </a:lnTo>
                  <a:lnTo>
                    <a:pt x="186" y="145"/>
                  </a:lnTo>
                  <a:lnTo>
                    <a:pt x="186" y="145"/>
                  </a:lnTo>
                  <a:lnTo>
                    <a:pt x="186" y="149"/>
                  </a:lnTo>
                  <a:lnTo>
                    <a:pt x="189" y="149"/>
                  </a:lnTo>
                  <a:lnTo>
                    <a:pt x="189" y="153"/>
                  </a:lnTo>
                  <a:lnTo>
                    <a:pt x="189" y="153"/>
                  </a:lnTo>
                  <a:lnTo>
                    <a:pt x="189" y="153"/>
                  </a:lnTo>
                  <a:lnTo>
                    <a:pt x="192" y="149"/>
                  </a:lnTo>
                  <a:lnTo>
                    <a:pt x="192" y="149"/>
                  </a:lnTo>
                  <a:lnTo>
                    <a:pt x="192" y="145"/>
                  </a:lnTo>
                  <a:lnTo>
                    <a:pt x="192" y="149"/>
                  </a:lnTo>
                  <a:lnTo>
                    <a:pt x="196" y="140"/>
                  </a:lnTo>
                  <a:lnTo>
                    <a:pt x="196" y="140"/>
                  </a:lnTo>
                  <a:lnTo>
                    <a:pt x="196" y="149"/>
                  </a:lnTo>
                  <a:lnTo>
                    <a:pt x="196" y="153"/>
                  </a:lnTo>
                  <a:lnTo>
                    <a:pt x="199" y="149"/>
                  </a:lnTo>
                  <a:lnTo>
                    <a:pt x="199" y="145"/>
                  </a:lnTo>
                  <a:lnTo>
                    <a:pt x="199" y="149"/>
                  </a:lnTo>
                  <a:lnTo>
                    <a:pt x="203" y="149"/>
                  </a:lnTo>
                  <a:lnTo>
                    <a:pt x="203" y="145"/>
                  </a:lnTo>
                  <a:lnTo>
                    <a:pt x="203" y="149"/>
                  </a:lnTo>
                  <a:lnTo>
                    <a:pt x="203" y="153"/>
                  </a:lnTo>
                  <a:lnTo>
                    <a:pt x="206" y="157"/>
                  </a:lnTo>
                  <a:lnTo>
                    <a:pt x="206" y="161"/>
                  </a:lnTo>
                  <a:lnTo>
                    <a:pt x="206" y="153"/>
                  </a:lnTo>
                  <a:lnTo>
                    <a:pt x="206" y="153"/>
                  </a:lnTo>
                  <a:lnTo>
                    <a:pt x="210" y="153"/>
                  </a:lnTo>
                  <a:lnTo>
                    <a:pt x="210" y="145"/>
                  </a:lnTo>
                  <a:lnTo>
                    <a:pt x="210" y="153"/>
                  </a:lnTo>
                  <a:lnTo>
                    <a:pt x="210" y="157"/>
                  </a:lnTo>
                  <a:lnTo>
                    <a:pt x="213" y="149"/>
                  </a:lnTo>
                  <a:lnTo>
                    <a:pt x="213" y="153"/>
                  </a:lnTo>
                  <a:lnTo>
                    <a:pt x="213" y="153"/>
                  </a:lnTo>
                  <a:lnTo>
                    <a:pt x="213" y="145"/>
                  </a:lnTo>
                  <a:lnTo>
                    <a:pt x="216" y="149"/>
                  </a:lnTo>
                  <a:lnTo>
                    <a:pt x="216" y="153"/>
                  </a:lnTo>
                  <a:lnTo>
                    <a:pt x="216" y="153"/>
                  </a:lnTo>
                  <a:lnTo>
                    <a:pt x="220" y="153"/>
                  </a:lnTo>
                  <a:lnTo>
                    <a:pt x="220" y="153"/>
                  </a:lnTo>
                  <a:lnTo>
                    <a:pt x="220" y="153"/>
                  </a:lnTo>
                  <a:lnTo>
                    <a:pt x="220" y="153"/>
                  </a:lnTo>
                  <a:lnTo>
                    <a:pt x="223" y="153"/>
                  </a:lnTo>
                  <a:lnTo>
                    <a:pt x="223" y="149"/>
                  </a:lnTo>
                  <a:lnTo>
                    <a:pt x="223" y="149"/>
                  </a:lnTo>
                  <a:lnTo>
                    <a:pt x="223" y="149"/>
                  </a:lnTo>
                  <a:lnTo>
                    <a:pt x="227" y="145"/>
                  </a:lnTo>
                  <a:lnTo>
                    <a:pt x="227" y="140"/>
                  </a:lnTo>
                  <a:lnTo>
                    <a:pt x="227" y="140"/>
                  </a:lnTo>
                  <a:lnTo>
                    <a:pt x="227" y="149"/>
                  </a:lnTo>
                  <a:lnTo>
                    <a:pt x="230" y="136"/>
                  </a:lnTo>
                  <a:lnTo>
                    <a:pt x="230" y="149"/>
                  </a:lnTo>
                  <a:lnTo>
                    <a:pt x="230" y="145"/>
                  </a:lnTo>
                  <a:lnTo>
                    <a:pt x="234" y="149"/>
                  </a:lnTo>
                  <a:lnTo>
                    <a:pt x="234" y="153"/>
                  </a:lnTo>
                  <a:lnTo>
                    <a:pt x="234" y="145"/>
                  </a:lnTo>
                  <a:lnTo>
                    <a:pt x="234" y="140"/>
                  </a:lnTo>
                  <a:lnTo>
                    <a:pt x="237" y="149"/>
                  </a:lnTo>
                  <a:lnTo>
                    <a:pt x="237" y="153"/>
                  </a:lnTo>
                  <a:lnTo>
                    <a:pt x="237" y="149"/>
                  </a:lnTo>
                  <a:lnTo>
                    <a:pt x="237" y="145"/>
                  </a:lnTo>
                  <a:lnTo>
                    <a:pt x="240" y="145"/>
                  </a:lnTo>
                  <a:lnTo>
                    <a:pt x="240" y="145"/>
                  </a:lnTo>
                  <a:lnTo>
                    <a:pt x="240" y="149"/>
                  </a:lnTo>
                  <a:lnTo>
                    <a:pt x="240" y="145"/>
                  </a:lnTo>
                  <a:lnTo>
                    <a:pt x="244" y="136"/>
                  </a:lnTo>
                  <a:lnTo>
                    <a:pt x="244" y="145"/>
                  </a:lnTo>
                  <a:lnTo>
                    <a:pt x="244" y="149"/>
                  </a:lnTo>
                  <a:lnTo>
                    <a:pt x="244" y="149"/>
                  </a:lnTo>
                  <a:lnTo>
                    <a:pt x="247" y="140"/>
                  </a:lnTo>
                  <a:lnTo>
                    <a:pt x="247" y="145"/>
                  </a:lnTo>
                  <a:lnTo>
                    <a:pt x="247" y="145"/>
                  </a:lnTo>
                  <a:lnTo>
                    <a:pt x="251" y="140"/>
                  </a:lnTo>
                  <a:lnTo>
                    <a:pt x="251" y="132"/>
                  </a:lnTo>
                  <a:lnTo>
                    <a:pt x="251" y="140"/>
                  </a:lnTo>
                  <a:lnTo>
                    <a:pt x="251" y="145"/>
                  </a:lnTo>
                  <a:lnTo>
                    <a:pt x="254" y="145"/>
                  </a:lnTo>
                  <a:lnTo>
                    <a:pt x="254" y="149"/>
                  </a:lnTo>
                  <a:lnTo>
                    <a:pt x="254" y="145"/>
                  </a:lnTo>
                  <a:lnTo>
                    <a:pt x="254" y="132"/>
                  </a:lnTo>
                  <a:lnTo>
                    <a:pt x="258" y="140"/>
                  </a:lnTo>
                  <a:lnTo>
                    <a:pt x="258" y="140"/>
                  </a:lnTo>
                  <a:lnTo>
                    <a:pt x="258" y="140"/>
                  </a:lnTo>
                  <a:lnTo>
                    <a:pt x="258" y="145"/>
                  </a:lnTo>
                  <a:lnTo>
                    <a:pt x="261" y="140"/>
                  </a:lnTo>
                  <a:lnTo>
                    <a:pt x="261" y="140"/>
                  </a:lnTo>
                  <a:lnTo>
                    <a:pt x="261" y="140"/>
                  </a:lnTo>
                  <a:lnTo>
                    <a:pt x="264" y="136"/>
                  </a:lnTo>
                  <a:lnTo>
                    <a:pt x="264" y="136"/>
                  </a:lnTo>
                  <a:lnTo>
                    <a:pt x="264" y="136"/>
                  </a:lnTo>
                  <a:lnTo>
                    <a:pt x="264" y="128"/>
                  </a:lnTo>
                  <a:lnTo>
                    <a:pt x="268" y="128"/>
                  </a:lnTo>
                  <a:lnTo>
                    <a:pt x="268" y="120"/>
                  </a:lnTo>
                  <a:lnTo>
                    <a:pt x="268" y="128"/>
                  </a:lnTo>
                  <a:lnTo>
                    <a:pt x="268" y="132"/>
                  </a:lnTo>
                  <a:lnTo>
                    <a:pt x="271" y="136"/>
                  </a:lnTo>
                  <a:lnTo>
                    <a:pt x="271" y="136"/>
                  </a:lnTo>
                  <a:lnTo>
                    <a:pt x="271" y="128"/>
                  </a:lnTo>
                  <a:lnTo>
                    <a:pt x="271" y="128"/>
                  </a:lnTo>
                  <a:lnTo>
                    <a:pt x="275" y="128"/>
                  </a:lnTo>
                  <a:lnTo>
                    <a:pt x="275" y="128"/>
                  </a:lnTo>
                  <a:lnTo>
                    <a:pt x="275" y="128"/>
                  </a:lnTo>
                  <a:lnTo>
                    <a:pt x="275" y="128"/>
                  </a:lnTo>
                  <a:lnTo>
                    <a:pt x="278" y="124"/>
                  </a:lnTo>
                  <a:lnTo>
                    <a:pt x="278" y="128"/>
                  </a:lnTo>
                  <a:lnTo>
                    <a:pt x="278" y="124"/>
                  </a:lnTo>
                  <a:lnTo>
                    <a:pt x="282" y="124"/>
                  </a:lnTo>
                  <a:lnTo>
                    <a:pt x="282" y="128"/>
                  </a:lnTo>
                  <a:lnTo>
                    <a:pt x="282" y="124"/>
                  </a:lnTo>
                  <a:lnTo>
                    <a:pt x="282" y="128"/>
                  </a:lnTo>
                  <a:lnTo>
                    <a:pt x="285" y="124"/>
                  </a:lnTo>
                  <a:lnTo>
                    <a:pt x="285" y="128"/>
                  </a:lnTo>
                  <a:lnTo>
                    <a:pt x="285" y="116"/>
                  </a:lnTo>
                  <a:lnTo>
                    <a:pt x="285" y="120"/>
                  </a:lnTo>
                  <a:lnTo>
                    <a:pt x="288" y="124"/>
                  </a:lnTo>
                  <a:lnTo>
                    <a:pt x="288" y="116"/>
                  </a:lnTo>
                  <a:lnTo>
                    <a:pt x="288" y="116"/>
                  </a:lnTo>
                  <a:lnTo>
                    <a:pt x="288" y="124"/>
                  </a:lnTo>
                  <a:lnTo>
                    <a:pt x="292" y="120"/>
                  </a:lnTo>
                  <a:lnTo>
                    <a:pt x="292" y="128"/>
                  </a:lnTo>
                  <a:lnTo>
                    <a:pt x="292" y="116"/>
                  </a:lnTo>
                  <a:lnTo>
                    <a:pt x="295" y="120"/>
                  </a:lnTo>
                  <a:lnTo>
                    <a:pt x="295" y="116"/>
                  </a:lnTo>
                  <a:lnTo>
                    <a:pt x="295" y="120"/>
                  </a:lnTo>
                  <a:lnTo>
                    <a:pt x="295" y="116"/>
                  </a:lnTo>
                  <a:lnTo>
                    <a:pt x="299" y="116"/>
                  </a:lnTo>
                  <a:lnTo>
                    <a:pt x="299" y="120"/>
                  </a:lnTo>
                  <a:lnTo>
                    <a:pt x="299" y="124"/>
                  </a:lnTo>
                  <a:lnTo>
                    <a:pt x="299" y="128"/>
                  </a:lnTo>
                  <a:lnTo>
                    <a:pt x="302" y="116"/>
                  </a:lnTo>
                  <a:lnTo>
                    <a:pt x="302" y="112"/>
                  </a:lnTo>
                  <a:lnTo>
                    <a:pt x="302" y="116"/>
                  </a:lnTo>
                  <a:lnTo>
                    <a:pt x="302" y="116"/>
                  </a:lnTo>
                  <a:lnTo>
                    <a:pt x="306" y="107"/>
                  </a:lnTo>
                  <a:lnTo>
                    <a:pt x="306" y="107"/>
                  </a:lnTo>
                  <a:lnTo>
                    <a:pt x="306" y="107"/>
                  </a:lnTo>
                  <a:lnTo>
                    <a:pt x="306" y="112"/>
                  </a:lnTo>
                  <a:lnTo>
                    <a:pt x="309" y="107"/>
                  </a:lnTo>
                  <a:lnTo>
                    <a:pt x="309" y="107"/>
                  </a:lnTo>
                  <a:lnTo>
                    <a:pt x="309" y="107"/>
                  </a:lnTo>
                  <a:lnTo>
                    <a:pt x="312" y="103"/>
                  </a:lnTo>
                  <a:lnTo>
                    <a:pt x="312" y="107"/>
                  </a:lnTo>
                  <a:lnTo>
                    <a:pt x="312" y="112"/>
                  </a:lnTo>
                  <a:lnTo>
                    <a:pt x="312" y="107"/>
                  </a:lnTo>
                  <a:lnTo>
                    <a:pt x="316" y="99"/>
                  </a:lnTo>
                  <a:lnTo>
                    <a:pt x="316" y="99"/>
                  </a:lnTo>
                  <a:lnTo>
                    <a:pt x="316" y="107"/>
                  </a:lnTo>
                  <a:lnTo>
                    <a:pt x="316" y="99"/>
                  </a:lnTo>
                  <a:lnTo>
                    <a:pt x="319" y="107"/>
                  </a:lnTo>
                  <a:lnTo>
                    <a:pt x="319" y="103"/>
                  </a:lnTo>
                  <a:lnTo>
                    <a:pt x="319" y="107"/>
                  </a:lnTo>
                  <a:lnTo>
                    <a:pt x="319" y="107"/>
                  </a:lnTo>
                  <a:lnTo>
                    <a:pt x="323" y="99"/>
                  </a:lnTo>
                  <a:lnTo>
                    <a:pt x="323" y="99"/>
                  </a:lnTo>
                  <a:lnTo>
                    <a:pt x="323" y="95"/>
                  </a:lnTo>
                  <a:lnTo>
                    <a:pt x="326" y="103"/>
                  </a:lnTo>
                  <a:lnTo>
                    <a:pt x="326" y="103"/>
                  </a:lnTo>
                  <a:lnTo>
                    <a:pt x="326" y="107"/>
                  </a:lnTo>
                  <a:lnTo>
                    <a:pt x="326" y="99"/>
                  </a:lnTo>
                  <a:lnTo>
                    <a:pt x="330" y="95"/>
                  </a:lnTo>
                  <a:lnTo>
                    <a:pt x="330" y="91"/>
                  </a:lnTo>
                  <a:lnTo>
                    <a:pt x="330" y="91"/>
                  </a:lnTo>
                  <a:lnTo>
                    <a:pt x="330" y="91"/>
                  </a:lnTo>
                  <a:lnTo>
                    <a:pt x="333" y="91"/>
                  </a:lnTo>
                  <a:lnTo>
                    <a:pt x="333" y="83"/>
                  </a:lnTo>
                  <a:lnTo>
                    <a:pt x="333" y="79"/>
                  </a:lnTo>
                  <a:lnTo>
                    <a:pt x="333" y="79"/>
                  </a:lnTo>
                  <a:lnTo>
                    <a:pt x="336" y="83"/>
                  </a:lnTo>
                  <a:lnTo>
                    <a:pt x="336" y="83"/>
                  </a:lnTo>
                  <a:lnTo>
                    <a:pt x="336" y="83"/>
                  </a:lnTo>
                  <a:lnTo>
                    <a:pt x="340" y="91"/>
                  </a:lnTo>
                  <a:lnTo>
                    <a:pt x="340" y="99"/>
                  </a:lnTo>
                  <a:lnTo>
                    <a:pt x="340" y="91"/>
                  </a:lnTo>
                  <a:lnTo>
                    <a:pt x="340" y="95"/>
                  </a:lnTo>
                  <a:lnTo>
                    <a:pt x="343" y="91"/>
                  </a:lnTo>
                  <a:lnTo>
                    <a:pt x="343" y="99"/>
                  </a:lnTo>
                  <a:lnTo>
                    <a:pt x="343" y="83"/>
                  </a:lnTo>
                  <a:lnTo>
                    <a:pt x="343" y="83"/>
                  </a:lnTo>
                  <a:lnTo>
                    <a:pt x="347" y="87"/>
                  </a:lnTo>
                  <a:lnTo>
                    <a:pt x="347" y="95"/>
                  </a:lnTo>
                  <a:lnTo>
                    <a:pt x="347" y="87"/>
                  </a:lnTo>
                  <a:lnTo>
                    <a:pt x="347" y="87"/>
                  </a:lnTo>
                  <a:lnTo>
                    <a:pt x="350" y="87"/>
                  </a:lnTo>
                  <a:lnTo>
                    <a:pt x="350" y="87"/>
                  </a:lnTo>
                  <a:lnTo>
                    <a:pt x="350" y="83"/>
                  </a:lnTo>
                  <a:lnTo>
                    <a:pt x="350" y="83"/>
                  </a:lnTo>
                  <a:lnTo>
                    <a:pt x="354" y="83"/>
                  </a:lnTo>
                  <a:lnTo>
                    <a:pt x="354" y="83"/>
                  </a:lnTo>
                  <a:lnTo>
                    <a:pt x="354" y="74"/>
                  </a:lnTo>
                  <a:lnTo>
                    <a:pt x="357" y="83"/>
                  </a:lnTo>
                  <a:lnTo>
                    <a:pt x="357" y="83"/>
                  </a:lnTo>
                  <a:lnTo>
                    <a:pt x="357" y="74"/>
                  </a:lnTo>
                  <a:lnTo>
                    <a:pt x="357" y="79"/>
                  </a:lnTo>
                  <a:lnTo>
                    <a:pt x="360" y="79"/>
                  </a:lnTo>
                  <a:lnTo>
                    <a:pt x="360" y="79"/>
                  </a:lnTo>
                  <a:lnTo>
                    <a:pt x="360" y="83"/>
                  </a:lnTo>
                  <a:lnTo>
                    <a:pt x="360" y="66"/>
                  </a:lnTo>
                  <a:lnTo>
                    <a:pt x="364" y="79"/>
                  </a:lnTo>
                  <a:lnTo>
                    <a:pt x="364" y="79"/>
                  </a:lnTo>
                  <a:lnTo>
                    <a:pt x="364" y="74"/>
                  </a:lnTo>
                  <a:lnTo>
                    <a:pt x="364" y="83"/>
                  </a:lnTo>
                  <a:lnTo>
                    <a:pt x="367" y="70"/>
                  </a:lnTo>
                  <a:lnTo>
                    <a:pt x="367" y="74"/>
                  </a:lnTo>
                  <a:lnTo>
                    <a:pt x="367" y="83"/>
                  </a:lnTo>
                  <a:lnTo>
                    <a:pt x="371" y="74"/>
                  </a:lnTo>
                  <a:lnTo>
                    <a:pt x="371" y="74"/>
                  </a:lnTo>
                  <a:lnTo>
                    <a:pt x="371" y="83"/>
                  </a:lnTo>
                  <a:lnTo>
                    <a:pt x="371" y="70"/>
                  </a:lnTo>
                  <a:lnTo>
                    <a:pt x="374" y="70"/>
                  </a:lnTo>
                  <a:lnTo>
                    <a:pt x="374" y="70"/>
                  </a:lnTo>
                  <a:lnTo>
                    <a:pt x="374" y="70"/>
                  </a:lnTo>
                  <a:lnTo>
                    <a:pt x="374" y="66"/>
                  </a:lnTo>
                  <a:lnTo>
                    <a:pt x="378" y="66"/>
                  </a:lnTo>
                  <a:lnTo>
                    <a:pt x="378" y="70"/>
                  </a:lnTo>
                  <a:lnTo>
                    <a:pt x="378" y="70"/>
                  </a:lnTo>
                  <a:lnTo>
                    <a:pt x="378" y="62"/>
                  </a:lnTo>
                  <a:lnTo>
                    <a:pt x="381" y="62"/>
                  </a:lnTo>
                  <a:lnTo>
                    <a:pt x="381" y="58"/>
                  </a:lnTo>
                  <a:lnTo>
                    <a:pt x="381" y="54"/>
                  </a:lnTo>
                  <a:lnTo>
                    <a:pt x="381" y="58"/>
                  </a:lnTo>
                  <a:lnTo>
                    <a:pt x="384" y="66"/>
                  </a:lnTo>
                  <a:lnTo>
                    <a:pt x="384" y="62"/>
                  </a:lnTo>
                  <a:lnTo>
                    <a:pt x="384" y="50"/>
                  </a:lnTo>
                  <a:lnTo>
                    <a:pt x="388" y="58"/>
                  </a:lnTo>
                  <a:lnTo>
                    <a:pt x="388" y="58"/>
                  </a:lnTo>
                  <a:lnTo>
                    <a:pt x="388" y="54"/>
                  </a:lnTo>
                  <a:lnTo>
                    <a:pt x="388" y="54"/>
                  </a:lnTo>
                  <a:lnTo>
                    <a:pt x="391" y="54"/>
                  </a:lnTo>
                  <a:lnTo>
                    <a:pt x="391" y="58"/>
                  </a:lnTo>
                  <a:lnTo>
                    <a:pt x="391" y="54"/>
                  </a:lnTo>
                  <a:lnTo>
                    <a:pt x="391" y="62"/>
                  </a:lnTo>
                  <a:lnTo>
                    <a:pt x="395" y="62"/>
                  </a:lnTo>
                  <a:lnTo>
                    <a:pt x="395" y="66"/>
                  </a:lnTo>
                  <a:lnTo>
                    <a:pt x="395" y="66"/>
                  </a:lnTo>
                  <a:lnTo>
                    <a:pt x="395" y="58"/>
                  </a:lnTo>
                  <a:lnTo>
                    <a:pt x="398" y="45"/>
                  </a:lnTo>
                  <a:lnTo>
                    <a:pt x="398" y="45"/>
                  </a:lnTo>
                  <a:lnTo>
                    <a:pt x="398" y="54"/>
                  </a:lnTo>
                  <a:lnTo>
                    <a:pt x="402" y="54"/>
                  </a:lnTo>
                  <a:lnTo>
                    <a:pt x="402" y="66"/>
                  </a:lnTo>
                  <a:lnTo>
                    <a:pt x="402" y="54"/>
                  </a:lnTo>
                  <a:lnTo>
                    <a:pt x="402" y="45"/>
                  </a:lnTo>
                  <a:lnTo>
                    <a:pt x="405" y="54"/>
                  </a:lnTo>
                  <a:lnTo>
                    <a:pt x="405" y="54"/>
                  </a:lnTo>
                  <a:lnTo>
                    <a:pt x="405" y="58"/>
                  </a:lnTo>
                  <a:lnTo>
                    <a:pt x="405" y="41"/>
                  </a:lnTo>
                  <a:lnTo>
                    <a:pt x="408" y="33"/>
                  </a:lnTo>
                  <a:lnTo>
                    <a:pt x="408" y="29"/>
                  </a:lnTo>
                  <a:lnTo>
                    <a:pt x="408" y="45"/>
                  </a:lnTo>
                  <a:lnTo>
                    <a:pt x="408" y="41"/>
                  </a:lnTo>
                  <a:lnTo>
                    <a:pt x="412" y="41"/>
                  </a:lnTo>
                  <a:lnTo>
                    <a:pt x="412" y="37"/>
                  </a:lnTo>
                  <a:lnTo>
                    <a:pt x="412" y="41"/>
                  </a:lnTo>
                  <a:lnTo>
                    <a:pt x="412" y="33"/>
                  </a:lnTo>
                  <a:lnTo>
                    <a:pt x="415" y="41"/>
                  </a:lnTo>
                  <a:lnTo>
                    <a:pt x="415" y="37"/>
                  </a:lnTo>
                  <a:lnTo>
                    <a:pt x="415" y="45"/>
                  </a:lnTo>
                  <a:lnTo>
                    <a:pt x="419" y="54"/>
                  </a:lnTo>
                  <a:lnTo>
                    <a:pt x="419" y="50"/>
                  </a:lnTo>
                  <a:lnTo>
                    <a:pt x="419" y="45"/>
                  </a:lnTo>
                  <a:lnTo>
                    <a:pt x="419" y="37"/>
                  </a:lnTo>
                  <a:lnTo>
                    <a:pt x="422" y="45"/>
                  </a:lnTo>
                  <a:lnTo>
                    <a:pt x="422" y="41"/>
                  </a:lnTo>
                  <a:lnTo>
                    <a:pt x="422" y="33"/>
                  </a:lnTo>
                  <a:lnTo>
                    <a:pt x="422" y="33"/>
                  </a:lnTo>
                  <a:lnTo>
                    <a:pt x="426" y="37"/>
                  </a:lnTo>
                  <a:lnTo>
                    <a:pt x="426" y="41"/>
                  </a:lnTo>
                  <a:lnTo>
                    <a:pt x="426" y="37"/>
                  </a:lnTo>
                  <a:lnTo>
                    <a:pt x="426" y="45"/>
                  </a:lnTo>
                  <a:lnTo>
                    <a:pt x="429" y="50"/>
                  </a:lnTo>
                  <a:lnTo>
                    <a:pt x="429" y="29"/>
                  </a:lnTo>
                  <a:lnTo>
                    <a:pt x="429" y="25"/>
                  </a:lnTo>
                  <a:lnTo>
                    <a:pt x="432" y="25"/>
                  </a:lnTo>
                  <a:lnTo>
                    <a:pt x="432" y="25"/>
                  </a:lnTo>
                  <a:lnTo>
                    <a:pt x="432" y="33"/>
                  </a:lnTo>
                  <a:lnTo>
                    <a:pt x="432" y="29"/>
                  </a:lnTo>
                  <a:lnTo>
                    <a:pt x="436" y="25"/>
                  </a:lnTo>
                  <a:lnTo>
                    <a:pt x="436" y="21"/>
                  </a:lnTo>
                  <a:lnTo>
                    <a:pt x="436" y="21"/>
                  </a:lnTo>
                  <a:lnTo>
                    <a:pt x="436" y="21"/>
                  </a:lnTo>
                  <a:lnTo>
                    <a:pt x="439" y="21"/>
                  </a:lnTo>
                  <a:lnTo>
                    <a:pt x="439" y="12"/>
                  </a:lnTo>
                  <a:lnTo>
                    <a:pt x="439" y="12"/>
                  </a:lnTo>
                  <a:lnTo>
                    <a:pt x="439" y="12"/>
                  </a:lnTo>
                  <a:lnTo>
                    <a:pt x="443" y="17"/>
                  </a:lnTo>
                  <a:lnTo>
                    <a:pt x="443" y="12"/>
                  </a:lnTo>
                  <a:lnTo>
                    <a:pt x="443" y="8"/>
                  </a:lnTo>
                  <a:lnTo>
                    <a:pt x="446" y="12"/>
                  </a:lnTo>
                  <a:lnTo>
                    <a:pt x="446" y="21"/>
                  </a:lnTo>
                  <a:lnTo>
                    <a:pt x="446" y="8"/>
                  </a:lnTo>
                  <a:lnTo>
                    <a:pt x="446" y="12"/>
                  </a:lnTo>
                  <a:lnTo>
                    <a:pt x="450" y="0"/>
                  </a:lnTo>
                  <a:lnTo>
                    <a:pt x="450" y="8"/>
                  </a:lnTo>
                  <a:lnTo>
                    <a:pt x="450" y="4"/>
                  </a:lnTo>
                  <a:lnTo>
                    <a:pt x="450" y="17"/>
                  </a:lnTo>
                  <a:lnTo>
                    <a:pt x="453" y="8"/>
                  </a:lnTo>
                  <a:lnTo>
                    <a:pt x="453" y="8"/>
                  </a:lnTo>
                  <a:lnTo>
                    <a:pt x="453" y="12"/>
                  </a:lnTo>
                  <a:lnTo>
                    <a:pt x="453" y="8"/>
                  </a:lnTo>
                  <a:lnTo>
                    <a:pt x="453" y="264"/>
                  </a:lnTo>
                  <a:lnTo>
                    <a:pt x="453" y="264"/>
                  </a:lnTo>
                  <a:lnTo>
                    <a:pt x="453" y="264"/>
                  </a:lnTo>
                  <a:lnTo>
                    <a:pt x="453" y="264"/>
                  </a:lnTo>
                  <a:lnTo>
                    <a:pt x="450" y="264"/>
                  </a:lnTo>
                  <a:lnTo>
                    <a:pt x="450" y="264"/>
                  </a:lnTo>
                  <a:lnTo>
                    <a:pt x="450" y="264"/>
                  </a:lnTo>
                  <a:lnTo>
                    <a:pt x="450" y="264"/>
                  </a:lnTo>
                  <a:lnTo>
                    <a:pt x="446" y="264"/>
                  </a:lnTo>
                  <a:lnTo>
                    <a:pt x="446" y="264"/>
                  </a:lnTo>
                  <a:lnTo>
                    <a:pt x="446" y="264"/>
                  </a:lnTo>
                  <a:lnTo>
                    <a:pt x="446" y="264"/>
                  </a:lnTo>
                  <a:lnTo>
                    <a:pt x="443" y="264"/>
                  </a:lnTo>
                  <a:lnTo>
                    <a:pt x="443" y="264"/>
                  </a:lnTo>
                  <a:lnTo>
                    <a:pt x="443" y="264"/>
                  </a:lnTo>
                  <a:lnTo>
                    <a:pt x="439" y="264"/>
                  </a:lnTo>
                  <a:lnTo>
                    <a:pt x="439" y="264"/>
                  </a:lnTo>
                  <a:lnTo>
                    <a:pt x="439" y="264"/>
                  </a:lnTo>
                  <a:lnTo>
                    <a:pt x="439" y="264"/>
                  </a:lnTo>
                  <a:lnTo>
                    <a:pt x="436" y="264"/>
                  </a:lnTo>
                  <a:lnTo>
                    <a:pt x="436" y="264"/>
                  </a:lnTo>
                  <a:lnTo>
                    <a:pt x="436" y="264"/>
                  </a:lnTo>
                  <a:lnTo>
                    <a:pt x="436" y="264"/>
                  </a:lnTo>
                  <a:lnTo>
                    <a:pt x="432" y="264"/>
                  </a:lnTo>
                  <a:lnTo>
                    <a:pt x="432" y="264"/>
                  </a:lnTo>
                  <a:lnTo>
                    <a:pt x="432" y="264"/>
                  </a:lnTo>
                  <a:lnTo>
                    <a:pt x="432" y="264"/>
                  </a:lnTo>
                  <a:lnTo>
                    <a:pt x="429" y="264"/>
                  </a:lnTo>
                  <a:lnTo>
                    <a:pt x="429" y="264"/>
                  </a:lnTo>
                  <a:lnTo>
                    <a:pt x="429" y="264"/>
                  </a:lnTo>
                  <a:lnTo>
                    <a:pt x="426" y="264"/>
                  </a:lnTo>
                  <a:lnTo>
                    <a:pt x="426" y="264"/>
                  </a:lnTo>
                  <a:lnTo>
                    <a:pt x="426" y="264"/>
                  </a:lnTo>
                  <a:lnTo>
                    <a:pt x="426" y="264"/>
                  </a:lnTo>
                  <a:lnTo>
                    <a:pt x="422" y="264"/>
                  </a:lnTo>
                  <a:lnTo>
                    <a:pt x="422" y="264"/>
                  </a:lnTo>
                  <a:lnTo>
                    <a:pt x="422" y="264"/>
                  </a:lnTo>
                  <a:lnTo>
                    <a:pt x="422" y="264"/>
                  </a:lnTo>
                  <a:lnTo>
                    <a:pt x="419" y="264"/>
                  </a:lnTo>
                  <a:lnTo>
                    <a:pt x="419" y="264"/>
                  </a:lnTo>
                  <a:lnTo>
                    <a:pt x="419" y="264"/>
                  </a:lnTo>
                  <a:lnTo>
                    <a:pt x="419" y="264"/>
                  </a:lnTo>
                  <a:lnTo>
                    <a:pt x="415" y="264"/>
                  </a:lnTo>
                  <a:lnTo>
                    <a:pt x="415" y="264"/>
                  </a:lnTo>
                  <a:lnTo>
                    <a:pt x="415" y="264"/>
                  </a:lnTo>
                  <a:lnTo>
                    <a:pt x="412" y="264"/>
                  </a:lnTo>
                  <a:lnTo>
                    <a:pt x="412" y="264"/>
                  </a:lnTo>
                  <a:lnTo>
                    <a:pt x="412" y="264"/>
                  </a:lnTo>
                  <a:lnTo>
                    <a:pt x="412" y="264"/>
                  </a:lnTo>
                  <a:lnTo>
                    <a:pt x="408" y="264"/>
                  </a:lnTo>
                  <a:lnTo>
                    <a:pt x="408" y="264"/>
                  </a:lnTo>
                  <a:lnTo>
                    <a:pt x="408" y="264"/>
                  </a:lnTo>
                  <a:lnTo>
                    <a:pt x="408" y="264"/>
                  </a:lnTo>
                  <a:lnTo>
                    <a:pt x="405" y="264"/>
                  </a:lnTo>
                  <a:lnTo>
                    <a:pt x="405" y="264"/>
                  </a:lnTo>
                  <a:lnTo>
                    <a:pt x="405" y="264"/>
                  </a:lnTo>
                  <a:lnTo>
                    <a:pt x="405" y="264"/>
                  </a:lnTo>
                  <a:lnTo>
                    <a:pt x="402" y="264"/>
                  </a:lnTo>
                  <a:lnTo>
                    <a:pt x="402" y="264"/>
                  </a:lnTo>
                  <a:lnTo>
                    <a:pt x="402" y="264"/>
                  </a:lnTo>
                  <a:lnTo>
                    <a:pt x="402" y="264"/>
                  </a:lnTo>
                  <a:lnTo>
                    <a:pt x="398" y="264"/>
                  </a:lnTo>
                  <a:lnTo>
                    <a:pt x="398" y="264"/>
                  </a:lnTo>
                  <a:lnTo>
                    <a:pt x="398" y="264"/>
                  </a:lnTo>
                  <a:lnTo>
                    <a:pt x="395" y="264"/>
                  </a:lnTo>
                  <a:lnTo>
                    <a:pt x="395" y="264"/>
                  </a:lnTo>
                  <a:lnTo>
                    <a:pt x="395" y="264"/>
                  </a:lnTo>
                  <a:lnTo>
                    <a:pt x="395" y="264"/>
                  </a:lnTo>
                  <a:lnTo>
                    <a:pt x="391" y="264"/>
                  </a:lnTo>
                  <a:lnTo>
                    <a:pt x="391" y="264"/>
                  </a:lnTo>
                  <a:lnTo>
                    <a:pt x="391" y="264"/>
                  </a:lnTo>
                  <a:lnTo>
                    <a:pt x="391" y="264"/>
                  </a:lnTo>
                  <a:lnTo>
                    <a:pt x="388" y="264"/>
                  </a:lnTo>
                  <a:lnTo>
                    <a:pt x="388" y="264"/>
                  </a:lnTo>
                  <a:lnTo>
                    <a:pt x="388" y="264"/>
                  </a:lnTo>
                  <a:lnTo>
                    <a:pt x="388" y="264"/>
                  </a:lnTo>
                  <a:lnTo>
                    <a:pt x="384" y="264"/>
                  </a:lnTo>
                  <a:lnTo>
                    <a:pt x="384" y="264"/>
                  </a:lnTo>
                  <a:lnTo>
                    <a:pt x="384" y="264"/>
                  </a:lnTo>
                  <a:lnTo>
                    <a:pt x="381" y="264"/>
                  </a:lnTo>
                  <a:lnTo>
                    <a:pt x="381" y="264"/>
                  </a:lnTo>
                  <a:lnTo>
                    <a:pt x="381" y="264"/>
                  </a:lnTo>
                  <a:lnTo>
                    <a:pt x="381" y="264"/>
                  </a:lnTo>
                  <a:lnTo>
                    <a:pt x="378" y="264"/>
                  </a:lnTo>
                  <a:lnTo>
                    <a:pt x="378" y="264"/>
                  </a:lnTo>
                  <a:lnTo>
                    <a:pt x="378" y="264"/>
                  </a:lnTo>
                  <a:lnTo>
                    <a:pt x="378" y="264"/>
                  </a:lnTo>
                  <a:lnTo>
                    <a:pt x="374" y="264"/>
                  </a:lnTo>
                  <a:lnTo>
                    <a:pt x="374" y="264"/>
                  </a:lnTo>
                  <a:lnTo>
                    <a:pt x="374" y="264"/>
                  </a:lnTo>
                  <a:lnTo>
                    <a:pt x="374" y="264"/>
                  </a:lnTo>
                  <a:lnTo>
                    <a:pt x="371" y="264"/>
                  </a:lnTo>
                  <a:lnTo>
                    <a:pt x="371" y="264"/>
                  </a:lnTo>
                  <a:lnTo>
                    <a:pt x="371" y="264"/>
                  </a:lnTo>
                  <a:lnTo>
                    <a:pt x="371" y="264"/>
                  </a:lnTo>
                  <a:lnTo>
                    <a:pt x="367" y="264"/>
                  </a:lnTo>
                  <a:lnTo>
                    <a:pt x="367" y="264"/>
                  </a:lnTo>
                  <a:lnTo>
                    <a:pt x="367" y="264"/>
                  </a:lnTo>
                  <a:lnTo>
                    <a:pt x="364" y="264"/>
                  </a:lnTo>
                  <a:lnTo>
                    <a:pt x="364" y="264"/>
                  </a:lnTo>
                  <a:lnTo>
                    <a:pt x="364" y="264"/>
                  </a:lnTo>
                  <a:lnTo>
                    <a:pt x="364" y="264"/>
                  </a:lnTo>
                  <a:lnTo>
                    <a:pt x="360" y="264"/>
                  </a:lnTo>
                  <a:lnTo>
                    <a:pt x="360" y="264"/>
                  </a:lnTo>
                  <a:lnTo>
                    <a:pt x="360" y="264"/>
                  </a:lnTo>
                  <a:lnTo>
                    <a:pt x="360" y="264"/>
                  </a:lnTo>
                  <a:lnTo>
                    <a:pt x="357" y="264"/>
                  </a:lnTo>
                  <a:lnTo>
                    <a:pt x="357" y="264"/>
                  </a:lnTo>
                  <a:lnTo>
                    <a:pt x="357" y="264"/>
                  </a:lnTo>
                  <a:lnTo>
                    <a:pt x="357" y="264"/>
                  </a:lnTo>
                  <a:lnTo>
                    <a:pt x="354" y="264"/>
                  </a:lnTo>
                  <a:lnTo>
                    <a:pt x="354" y="264"/>
                  </a:lnTo>
                  <a:lnTo>
                    <a:pt x="354" y="264"/>
                  </a:lnTo>
                  <a:lnTo>
                    <a:pt x="350" y="264"/>
                  </a:lnTo>
                  <a:lnTo>
                    <a:pt x="350" y="264"/>
                  </a:lnTo>
                  <a:lnTo>
                    <a:pt x="350" y="264"/>
                  </a:lnTo>
                  <a:lnTo>
                    <a:pt x="350" y="264"/>
                  </a:lnTo>
                  <a:lnTo>
                    <a:pt x="347" y="264"/>
                  </a:lnTo>
                  <a:lnTo>
                    <a:pt x="347" y="264"/>
                  </a:lnTo>
                  <a:lnTo>
                    <a:pt x="347" y="264"/>
                  </a:lnTo>
                  <a:lnTo>
                    <a:pt x="347" y="264"/>
                  </a:lnTo>
                  <a:lnTo>
                    <a:pt x="343" y="264"/>
                  </a:lnTo>
                  <a:lnTo>
                    <a:pt x="343" y="264"/>
                  </a:lnTo>
                  <a:lnTo>
                    <a:pt x="343" y="264"/>
                  </a:lnTo>
                  <a:lnTo>
                    <a:pt x="343" y="264"/>
                  </a:lnTo>
                  <a:lnTo>
                    <a:pt x="340" y="264"/>
                  </a:lnTo>
                  <a:lnTo>
                    <a:pt x="340" y="264"/>
                  </a:lnTo>
                  <a:lnTo>
                    <a:pt x="340" y="264"/>
                  </a:lnTo>
                  <a:lnTo>
                    <a:pt x="340" y="264"/>
                  </a:lnTo>
                  <a:lnTo>
                    <a:pt x="336" y="264"/>
                  </a:lnTo>
                  <a:lnTo>
                    <a:pt x="336" y="264"/>
                  </a:lnTo>
                  <a:lnTo>
                    <a:pt x="336" y="264"/>
                  </a:lnTo>
                  <a:lnTo>
                    <a:pt x="333" y="264"/>
                  </a:lnTo>
                  <a:lnTo>
                    <a:pt x="333" y="264"/>
                  </a:lnTo>
                  <a:lnTo>
                    <a:pt x="333" y="264"/>
                  </a:lnTo>
                  <a:lnTo>
                    <a:pt x="333" y="264"/>
                  </a:lnTo>
                  <a:lnTo>
                    <a:pt x="330" y="264"/>
                  </a:lnTo>
                  <a:lnTo>
                    <a:pt x="330" y="264"/>
                  </a:lnTo>
                  <a:lnTo>
                    <a:pt x="330" y="264"/>
                  </a:lnTo>
                  <a:lnTo>
                    <a:pt x="330" y="264"/>
                  </a:lnTo>
                  <a:lnTo>
                    <a:pt x="326" y="264"/>
                  </a:lnTo>
                  <a:lnTo>
                    <a:pt x="326" y="264"/>
                  </a:lnTo>
                  <a:lnTo>
                    <a:pt x="326" y="264"/>
                  </a:lnTo>
                  <a:lnTo>
                    <a:pt x="326" y="264"/>
                  </a:lnTo>
                  <a:lnTo>
                    <a:pt x="323" y="264"/>
                  </a:lnTo>
                  <a:lnTo>
                    <a:pt x="323" y="264"/>
                  </a:lnTo>
                  <a:lnTo>
                    <a:pt x="323" y="264"/>
                  </a:lnTo>
                  <a:lnTo>
                    <a:pt x="319" y="264"/>
                  </a:lnTo>
                  <a:lnTo>
                    <a:pt x="319" y="264"/>
                  </a:lnTo>
                  <a:lnTo>
                    <a:pt x="319" y="264"/>
                  </a:lnTo>
                  <a:lnTo>
                    <a:pt x="319" y="264"/>
                  </a:lnTo>
                  <a:lnTo>
                    <a:pt x="316" y="264"/>
                  </a:lnTo>
                  <a:lnTo>
                    <a:pt x="316" y="264"/>
                  </a:lnTo>
                  <a:lnTo>
                    <a:pt x="316" y="264"/>
                  </a:lnTo>
                  <a:lnTo>
                    <a:pt x="316" y="264"/>
                  </a:lnTo>
                  <a:lnTo>
                    <a:pt x="312" y="264"/>
                  </a:lnTo>
                  <a:lnTo>
                    <a:pt x="312" y="264"/>
                  </a:lnTo>
                  <a:lnTo>
                    <a:pt x="312" y="264"/>
                  </a:lnTo>
                  <a:lnTo>
                    <a:pt x="312" y="264"/>
                  </a:lnTo>
                  <a:lnTo>
                    <a:pt x="309" y="264"/>
                  </a:lnTo>
                  <a:lnTo>
                    <a:pt x="309" y="264"/>
                  </a:lnTo>
                  <a:lnTo>
                    <a:pt x="309" y="264"/>
                  </a:lnTo>
                  <a:lnTo>
                    <a:pt x="306" y="264"/>
                  </a:lnTo>
                  <a:lnTo>
                    <a:pt x="306" y="264"/>
                  </a:lnTo>
                  <a:lnTo>
                    <a:pt x="306" y="264"/>
                  </a:lnTo>
                  <a:lnTo>
                    <a:pt x="306" y="264"/>
                  </a:lnTo>
                  <a:lnTo>
                    <a:pt x="302" y="264"/>
                  </a:lnTo>
                  <a:lnTo>
                    <a:pt x="302" y="264"/>
                  </a:lnTo>
                  <a:lnTo>
                    <a:pt x="302" y="264"/>
                  </a:lnTo>
                  <a:lnTo>
                    <a:pt x="302" y="264"/>
                  </a:lnTo>
                  <a:lnTo>
                    <a:pt x="299" y="264"/>
                  </a:lnTo>
                  <a:lnTo>
                    <a:pt x="299" y="264"/>
                  </a:lnTo>
                  <a:lnTo>
                    <a:pt x="299" y="264"/>
                  </a:lnTo>
                  <a:lnTo>
                    <a:pt x="299" y="264"/>
                  </a:lnTo>
                  <a:lnTo>
                    <a:pt x="295" y="264"/>
                  </a:lnTo>
                  <a:lnTo>
                    <a:pt x="295" y="264"/>
                  </a:lnTo>
                  <a:lnTo>
                    <a:pt x="295" y="264"/>
                  </a:lnTo>
                  <a:lnTo>
                    <a:pt x="295" y="264"/>
                  </a:lnTo>
                  <a:lnTo>
                    <a:pt x="292" y="264"/>
                  </a:lnTo>
                  <a:lnTo>
                    <a:pt x="292" y="264"/>
                  </a:lnTo>
                  <a:lnTo>
                    <a:pt x="292" y="264"/>
                  </a:lnTo>
                  <a:lnTo>
                    <a:pt x="288" y="264"/>
                  </a:lnTo>
                  <a:lnTo>
                    <a:pt x="288" y="264"/>
                  </a:lnTo>
                  <a:lnTo>
                    <a:pt x="288" y="264"/>
                  </a:lnTo>
                  <a:lnTo>
                    <a:pt x="288" y="264"/>
                  </a:lnTo>
                  <a:lnTo>
                    <a:pt x="285" y="264"/>
                  </a:lnTo>
                  <a:lnTo>
                    <a:pt x="285" y="264"/>
                  </a:lnTo>
                  <a:lnTo>
                    <a:pt x="285" y="264"/>
                  </a:lnTo>
                  <a:lnTo>
                    <a:pt x="285" y="264"/>
                  </a:lnTo>
                  <a:lnTo>
                    <a:pt x="282" y="264"/>
                  </a:lnTo>
                  <a:lnTo>
                    <a:pt x="282" y="264"/>
                  </a:lnTo>
                  <a:lnTo>
                    <a:pt x="282" y="264"/>
                  </a:lnTo>
                  <a:lnTo>
                    <a:pt x="282" y="264"/>
                  </a:lnTo>
                  <a:lnTo>
                    <a:pt x="278" y="264"/>
                  </a:lnTo>
                  <a:lnTo>
                    <a:pt x="278" y="264"/>
                  </a:lnTo>
                  <a:lnTo>
                    <a:pt x="278" y="264"/>
                  </a:lnTo>
                  <a:lnTo>
                    <a:pt x="275" y="264"/>
                  </a:lnTo>
                  <a:lnTo>
                    <a:pt x="275" y="264"/>
                  </a:lnTo>
                  <a:lnTo>
                    <a:pt x="275" y="264"/>
                  </a:lnTo>
                  <a:lnTo>
                    <a:pt x="275" y="264"/>
                  </a:lnTo>
                  <a:lnTo>
                    <a:pt x="271" y="264"/>
                  </a:lnTo>
                  <a:lnTo>
                    <a:pt x="271" y="264"/>
                  </a:lnTo>
                  <a:lnTo>
                    <a:pt x="271" y="264"/>
                  </a:lnTo>
                  <a:lnTo>
                    <a:pt x="271" y="264"/>
                  </a:lnTo>
                  <a:lnTo>
                    <a:pt x="268" y="264"/>
                  </a:lnTo>
                  <a:lnTo>
                    <a:pt x="268" y="264"/>
                  </a:lnTo>
                  <a:lnTo>
                    <a:pt x="268" y="264"/>
                  </a:lnTo>
                  <a:lnTo>
                    <a:pt x="268" y="264"/>
                  </a:lnTo>
                  <a:lnTo>
                    <a:pt x="264" y="264"/>
                  </a:lnTo>
                  <a:lnTo>
                    <a:pt x="264" y="264"/>
                  </a:lnTo>
                  <a:lnTo>
                    <a:pt x="264" y="264"/>
                  </a:lnTo>
                  <a:lnTo>
                    <a:pt x="264" y="264"/>
                  </a:lnTo>
                  <a:lnTo>
                    <a:pt x="261" y="264"/>
                  </a:lnTo>
                  <a:lnTo>
                    <a:pt x="261" y="264"/>
                  </a:lnTo>
                  <a:lnTo>
                    <a:pt x="261" y="264"/>
                  </a:lnTo>
                  <a:lnTo>
                    <a:pt x="258" y="264"/>
                  </a:lnTo>
                  <a:lnTo>
                    <a:pt x="258" y="264"/>
                  </a:lnTo>
                  <a:lnTo>
                    <a:pt x="258" y="264"/>
                  </a:lnTo>
                  <a:lnTo>
                    <a:pt x="258" y="264"/>
                  </a:lnTo>
                  <a:lnTo>
                    <a:pt x="254" y="264"/>
                  </a:lnTo>
                  <a:lnTo>
                    <a:pt x="254" y="264"/>
                  </a:lnTo>
                  <a:lnTo>
                    <a:pt x="254" y="264"/>
                  </a:lnTo>
                  <a:lnTo>
                    <a:pt x="254" y="264"/>
                  </a:lnTo>
                  <a:lnTo>
                    <a:pt x="251" y="264"/>
                  </a:lnTo>
                  <a:lnTo>
                    <a:pt x="251" y="264"/>
                  </a:lnTo>
                  <a:lnTo>
                    <a:pt x="251" y="264"/>
                  </a:lnTo>
                  <a:lnTo>
                    <a:pt x="251" y="264"/>
                  </a:lnTo>
                  <a:lnTo>
                    <a:pt x="247" y="264"/>
                  </a:lnTo>
                  <a:lnTo>
                    <a:pt x="247" y="264"/>
                  </a:lnTo>
                  <a:lnTo>
                    <a:pt x="247" y="264"/>
                  </a:lnTo>
                  <a:lnTo>
                    <a:pt x="244" y="264"/>
                  </a:lnTo>
                  <a:lnTo>
                    <a:pt x="244" y="264"/>
                  </a:lnTo>
                  <a:lnTo>
                    <a:pt x="244" y="264"/>
                  </a:lnTo>
                  <a:lnTo>
                    <a:pt x="244" y="264"/>
                  </a:lnTo>
                  <a:lnTo>
                    <a:pt x="240" y="264"/>
                  </a:lnTo>
                  <a:lnTo>
                    <a:pt x="240" y="264"/>
                  </a:lnTo>
                  <a:lnTo>
                    <a:pt x="240" y="264"/>
                  </a:lnTo>
                  <a:lnTo>
                    <a:pt x="240" y="264"/>
                  </a:lnTo>
                  <a:lnTo>
                    <a:pt x="237" y="264"/>
                  </a:lnTo>
                  <a:lnTo>
                    <a:pt x="237" y="264"/>
                  </a:lnTo>
                  <a:lnTo>
                    <a:pt x="237" y="264"/>
                  </a:lnTo>
                  <a:lnTo>
                    <a:pt x="237" y="264"/>
                  </a:lnTo>
                  <a:lnTo>
                    <a:pt x="234" y="264"/>
                  </a:lnTo>
                  <a:lnTo>
                    <a:pt x="234" y="264"/>
                  </a:lnTo>
                  <a:lnTo>
                    <a:pt x="234" y="264"/>
                  </a:lnTo>
                  <a:lnTo>
                    <a:pt x="234" y="264"/>
                  </a:lnTo>
                  <a:lnTo>
                    <a:pt x="230" y="264"/>
                  </a:lnTo>
                  <a:lnTo>
                    <a:pt x="230" y="264"/>
                  </a:lnTo>
                  <a:lnTo>
                    <a:pt x="230" y="264"/>
                  </a:lnTo>
                  <a:lnTo>
                    <a:pt x="227" y="264"/>
                  </a:lnTo>
                  <a:lnTo>
                    <a:pt x="227" y="264"/>
                  </a:lnTo>
                  <a:lnTo>
                    <a:pt x="227" y="264"/>
                  </a:lnTo>
                  <a:lnTo>
                    <a:pt x="227" y="264"/>
                  </a:lnTo>
                  <a:lnTo>
                    <a:pt x="223" y="264"/>
                  </a:lnTo>
                  <a:lnTo>
                    <a:pt x="223" y="264"/>
                  </a:lnTo>
                  <a:lnTo>
                    <a:pt x="223" y="264"/>
                  </a:lnTo>
                  <a:lnTo>
                    <a:pt x="223" y="264"/>
                  </a:lnTo>
                  <a:lnTo>
                    <a:pt x="220" y="264"/>
                  </a:lnTo>
                  <a:lnTo>
                    <a:pt x="220" y="264"/>
                  </a:lnTo>
                  <a:lnTo>
                    <a:pt x="220" y="264"/>
                  </a:lnTo>
                  <a:lnTo>
                    <a:pt x="220" y="264"/>
                  </a:lnTo>
                  <a:lnTo>
                    <a:pt x="216" y="264"/>
                  </a:lnTo>
                  <a:lnTo>
                    <a:pt x="216" y="264"/>
                  </a:lnTo>
                  <a:lnTo>
                    <a:pt x="216" y="264"/>
                  </a:lnTo>
                  <a:lnTo>
                    <a:pt x="213" y="264"/>
                  </a:lnTo>
                  <a:lnTo>
                    <a:pt x="213" y="264"/>
                  </a:lnTo>
                  <a:lnTo>
                    <a:pt x="213" y="264"/>
                  </a:lnTo>
                  <a:lnTo>
                    <a:pt x="213" y="264"/>
                  </a:lnTo>
                  <a:lnTo>
                    <a:pt x="210" y="264"/>
                  </a:lnTo>
                  <a:lnTo>
                    <a:pt x="210" y="264"/>
                  </a:lnTo>
                  <a:lnTo>
                    <a:pt x="210" y="264"/>
                  </a:lnTo>
                  <a:lnTo>
                    <a:pt x="210" y="264"/>
                  </a:lnTo>
                  <a:lnTo>
                    <a:pt x="206" y="264"/>
                  </a:lnTo>
                  <a:lnTo>
                    <a:pt x="206" y="264"/>
                  </a:lnTo>
                  <a:lnTo>
                    <a:pt x="206" y="264"/>
                  </a:lnTo>
                  <a:lnTo>
                    <a:pt x="206" y="264"/>
                  </a:lnTo>
                  <a:lnTo>
                    <a:pt x="203" y="264"/>
                  </a:lnTo>
                  <a:lnTo>
                    <a:pt x="203" y="264"/>
                  </a:lnTo>
                  <a:lnTo>
                    <a:pt x="203" y="264"/>
                  </a:lnTo>
                  <a:lnTo>
                    <a:pt x="203" y="264"/>
                  </a:lnTo>
                  <a:lnTo>
                    <a:pt x="199" y="264"/>
                  </a:lnTo>
                  <a:lnTo>
                    <a:pt x="199" y="264"/>
                  </a:lnTo>
                  <a:lnTo>
                    <a:pt x="199" y="264"/>
                  </a:lnTo>
                  <a:lnTo>
                    <a:pt x="196" y="264"/>
                  </a:lnTo>
                  <a:lnTo>
                    <a:pt x="196" y="264"/>
                  </a:lnTo>
                  <a:lnTo>
                    <a:pt x="196" y="264"/>
                  </a:lnTo>
                  <a:lnTo>
                    <a:pt x="196" y="264"/>
                  </a:lnTo>
                  <a:lnTo>
                    <a:pt x="192" y="264"/>
                  </a:lnTo>
                  <a:lnTo>
                    <a:pt x="192" y="264"/>
                  </a:lnTo>
                  <a:lnTo>
                    <a:pt x="192" y="264"/>
                  </a:lnTo>
                  <a:lnTo>
                    <a:pt x="192" y="264"/>
                  </a:lnTo>
                  <a:lnTo>
                    <a:pt x="189" y="264"/>
                  </a:lnTo>
                  <a:lnTo>
                    <a:pt x="189" y="264"/>
                  </a:lnTo>
                  <a:lnTo>
                    <a:pt x="189" y="264"/>
                  </a:lnTo>
                  <a:lnTo>
                    <a:pt x="189" y="264"/>
                  </a:lnTo>
                  <a:lnTo>
                    <a:pt x="186" y="264"/>
                  </a:lnTo>
                  <a:lnTo>
                    <a:pt x="186" y="264"/>
                  </a:lnTo>
                  <a:lnTo>
                    <a:pt x="186" y="264"/>
                  </a:lnTo>
                  <a:lnTo>
                    <a:pt x="182" y="264"/>
                  </a:lnTo>
                  <a:lnTo>
                    <a:pt x="182" y="264"/>
                  </a:lnTo>
                  <a:lnTo>
                    <a:pt x="182" y="264"/>
                  </a:lnTo>
                  <a:lnTo>
                    <a:pt x="182" y="264"/>
                  </a:lnTo>
                  <a:lnTo>
                    <a:pt x="179" y="264"/>
                  </a:lnTo>
                  <a:lnTo>
                    <a:pt x="179" y="264"/>
                  </a:lnTo>
                  <a:lnTo>
                    <a:pt x="179" y="264"/>
                  </a:lnTo>
                  <a:lnTo>
                    <a:pt x="179" y="264"/>
                  </a:lnTo>
                  <a:lnTo>
                    <a:pt x="175" y="264"/>
                  </a:lnTo>
                  <a:lnTo>
                    <a:pt x="175" y="264"/>
                  </a:lnTo>
                  <a:lnTo>
                    <a:pt x="175" y="264"/>
                  </a:lnTo>
                  <a:lnTo>
                    <a:pt x="175" y="264"/>
                  </a:lnTo>
                  <a:lnTo>
                    <a:pt x="172" y="264"/>
                  </a:lnTo>
                  <a:lnTo>
                    <a:pt x="172" y="264"/>
                  </a:lnTo>
                  <a:lnTo>
                    <a:pt x="172" y="264"/>
                  </a:lnTo>
                  <a:lnTo>
                    <a:pt x="168" y="264"/>
                  </a:lnTo>
                  <a:lnTo>
                    <a:pt x="168" y="264"/>
                  </a:lnTo>
                  <a:lnTo>
                    <a:pt x="168" y="264"/>
                  </a:lnTo>
                  <a:lnTo>
                    <a:pt x="168" y="264"/>
                  </a:lnTo>
                  <a:lnTo>
                    <a:pt x="165" y="264"/>
                  </a:lnTo>
                  <a:lnTo>
                    <a:pt x="165" y="264"/>
                  </a:lnTo>
                  <a:lnTo>
                    <a:pt x="165" y="264"/>
                  </a:lnTo>
                  <a:lnTo>
                    <a:pt x="165" y="264"/>
                  </a:lnTo>
                  <a:lnTo>
                    <a:pt x="162" y="264"/>
                  </a:lnTo>
                  <a:lnTo>
                    <a:pt x="162" y="264"/>
                  </a:lnTo>
                  <a:lnTo>
                    <a:pt x="162" y="264"/>
                  </a:lnTo>
                  <a:lnTo>
                    <a:pt x="162" y="264"/>
                  </a:lnTo>
                  <a:lnTo>
                    <a:pt x="158" y="264"/>
                  </a:lnTo>
                  <a:lnTo>
                    <a:pt x="158" y="264"/>
                  </a:lnTo>
                  <a:lnTo>
                    <a:pt x="158" y="264"/>
                  </a:lnTo>
                  <a:lnTo>
                    <a:pt x="158" y="264"/>
                  </a:lnTo>
                  <a:lnTo>
                    <a:pt x="155" y="264"/>
                  </a:lnTo>
                  <a:lnTo>
                    <a:pt x="155" y="264"/>
                  </a:lnTo>
                  <a:lnTo>
                    <a:pt x="155" y="264"/>
                  </a:lnTo>
                  <a:lnTo>
                    <a:pt x="151" y="264"/>
                  </a:lnTo>
                  <a:lnTo>
                    <a:pt x="151" y="264"/>
                  </a:lnTo>
                  <a:lnTo>
                    <a:pt x="151" y="264"/>
                  </a:lnTo>
                  <a:lnTo>
                    <a:pt x="151" y="264"/>
                  </a:lnTo>
                  <a:lnTo>
                    <a:pt x="148" y="264"/>
                  </a:lnTo>
                  <a:lnTo>
                    <a:pt x="148" y="264"/>
                  </a:lnTo>
                  <a:lnTo>
                    <a:pt x="148" y="264"/>
                  </a:lnTo>
                  <a:lnTo>
                    <a:pt x="148" y="264"/>
                  </a:lnTo>
                  <a:lnTo>
                    <a:pt x="144" y="264"/>
                  </a:lnTo>
                  <a:lnTo>
                    <a:pt x="144" y="264"/>
                  </a:lnTo>
                  <a:lnTo>
                    <a:pt x="144" y="264"/>
                  </a:lnTo>
                  <a:lnTo>
                    <a:pt x="144" y="264"/>
                  </a:lnTo>
                  <a:lnTo>
                    <a:pt x="141" y="264"/>
                  </a:lnTo>
                  <a:lnTo>
                    <a:pt x="141" y="264"/>
                  </a:lnTo>
                  <a:lnTo>
                    <a:pt x="141" y="264"/>
                  </a:lnTo>
                  <a:lnTo>
                    <a:pt x="138" y="264"/>
                  </a:lnTo>
                  <a:lnTo>
                    <a:pt x="138" y="264"/>
                  </a:lnTo>
                  <a:lnTo>
                    <a:pt x="138" y="264"/>
                  </a:lnTo>
                  <a:lnTo>
                    <a:pt x="138" y="264"/>
                  </a:lnTo>
                  <a:lnTo>
                    <a:pt x="134" y="264"/>
                  </a:lnTo>
                  <a:lnTo>
                    <a:pt x="134" y="264"/>
                  </a:lnTo>
                  <a:lnTo>
                    <a:pt x="134" y="264"/>
                  </a:lnTo>
                  <a:lnTo>
                    <a:pt x="134" y="264"/>
                  </a:lnTo>
                  <a:lnTo>
                    <a:pt x="131" y="264"/>
                  </a:lnTo>
                  <a:lnTo>
                    <a:pt x="131" y="264"/>
                  </a:lnTo>
                  <a:lnTo>
                    <a:pt x="131" y="264"/>
                  </a:lnTo>
                  <a:lnTo>
                    <a:pt x="131" y="264"/>
                  </a:lnTo>
                  <a:lnTo>
                    <a:pt x="127" y="264"/>
                  </a:lnTo>
                  <a:lnTo>
                    <a:pt x="127" y="264"/>
                  </a:lnTo>
                  <a:lnTo>
                    <a:pt x="127" y="264"/>
                  </a:lnTo>
                  <a:lnTo>
                    <a:pt x="127" y="264"/>
                  </a:lnTo>
                  <a:lnTo>
                    <a:pt x="124" y="264"/>
                  </a:lnTo>
                  <a:lnTo>
                    <a:pt x="124" y="264"/>
                  </a:lnTo>
                  <a:lnTo>
                    <a:pt x="124" y="264"/>
                  </a:lnTo>
                  <a:lnTo>
                    <a:pt x="120" y="264"/>
                  </a:lnTo>
                  <a:lnTo>
                    <a:pt x="120" y="264"/>
                  </a:lnTo>
                  <a:lnTo>
                    <a:pt x="120" y="264"/>
                  </a:lnTo>
                  <a:lnTo>
                    <a:pt x="120" y="264"/>
                  </a:lnTo>
                  <a:lnTo>
                    <a:pt x="117" y="264"/>
                  </a:lnTo>
                  <a:lnTo>
                    <a:pt x="117" y="264"/>
                  </a:lnTo>
                  <a:lnTo>
                    <a:pt x="117" y="264"/>
                  </a:lnTo>
                  <a:lnTo>
                    <a:pt x="117" y="264"/>
                  </a:lnTo>
                  <a:lnTo>
                    <a:pt x="114" y="264"/>
                  </a:lnTo>
                  <a:lnTo>
                    <a:pt x="114" y="264"/>
                  </a:lnTo>
                  <a:lnTo>
                    <a:pt x="114" y="264"/>
                  </a:lnTo>
                  <a:lnTo>
                    <a:pt x="114" y="264"/>
                  </a:lnTo>
                  <a:lnTo>
                    <a:pt x="110" y="264"/>
                  </a:lnTo>
                  <a:lnTo>
                    <a:pt x="110" y="264"/>
                  </a:lnTo>
                  <a:lnTo>
                    <a:pt x="110" y="264"/>
                  </a:lnTo>
                  <a:lnTo>
                    <a:pt x="107" y="264"/>
                  </a:lnTo>
                  <a:lnTo>
                    <a:pt x="107" y="264"/>
                  </a:lnTo>
                  <a:lnTo>
                    <a:pt x="107" y="264"/>
                  </a:lnTo>
                  <a:lnTo>
                    <a:pt x="107" y="264"/>
                  </a:lnTo>
                  <a:lnTo>
                    <a:pt x="103" y="264"/>
                  </a:lnTo>
                  <a:lnTo>
                    <a:pt x="103" y="264"/>
                  </a:lnTo>
                  <a:lnTo>
                    <a:pt x="103" y="264"/>
                  </a:lnTo>
                  <a:lnTo>
                    <a:pt x="103" y="264"/>
                  </a:lnTo>
                  <a:lnTo>
                    <a:pt x="100" y="264"/>
                  </a:lnTo>
                  <a:lnTo>
                    <a:pt x="100" y="264"/>
                  </a:lnTo>
                  <a:lnTo>
                    <a:pt x="100" y="264"/>
                  </a:lnTo>
                  <a:lnTo>
                    <a:pt x="100" y="264"/>
                  </a:lnTo>
                  <a:lnTo>
                    <a:pt x="96" y="264"/>
                  </a:lnTo>
                  <a:lnTo>
                    <a:pt x="96" y="264"/>
                  </a:lnTo>
                  <a:lnTo>
                    <a:pt x="96" y="264"/>
                  </a:lnTo>
                  <a:lnTo>
                    <a:pt x="96" y="264"/>
                  </a:lnTo>
                  <a:lnTo>
                    <a:pt x="93" y="264"/>
                  </a:lnTo>
                  <a:lnTo>
                    <a:pt x="93" y="264"/>
                  </a:lnTo>
                  <a:lnTo>
                    <a:pt x="93" y="264"/>
                  </a:lnTo>
                  <a:lnTo>
                    <a:pt x="90" y="264"/>
                  </a:lnTo>
                  <a:lnTo>
                    <a:pt x="90" y="264"/>
                  </a:lnTo>
                  <a:lnTo>
                    <a:pt x="90" y="264"/>
                  </a:lnTo>
                  <a:lnTo>
                    <a:pt x="90" y="264"/>
                  </a:lnTo>
                  <a:lnTo>
                    <a:pt x="86" y="264"/>
                  </a:lnTo>
                  <a:lnTo>
                    <a:pt x="86" y="264"/>
                  </a:lnTo>
                  <a:lnTo>
                    <a:pt x="86" y="264"/>
                  </a:lnTo>
                  <a:lnTo>
                    <a:pt x="86" y="264"/>
                  </a:lnTo>
                  <a:lnTo>
                    <a:pt x="83" y="264"/>
                  </a:lnTo>
                  <a:lnTo>
                    <a:pt x="83" y="264"/>
                  </a:lnTo>
                  <a:lnTo>
                    <a:pt x="83" y="264"/>
                  </a:lnTo>
                  <a:lnTo>
                    <a:pt x="83" y="264"/>
                  </a:lnTo>
                  <a:lnTo>
                    <a:pt x="79" y="264"/>
                  </a:lnTo>
                  <a:lnTo>
                    <a:pt x="79" y="264"/>
                  </a:lnTo>
                  <a:lnTo>
                    <a:pt x="79" y="264"/>
                  </a:lnTo>
                  <a:lnTo>
                    <a:pt x="76" y="264"/>
                  </a:lnTo>
                  <a:lnTo>
                    <a:pt x="76" y="264"/>
                  </a:lnTo>
                  <a:lnTo>
                    <a:pt x="76" y="264"/>
                  </a:lnTo>
                  <a:lnTo>
                    <a:pt x="76" y="264"/>
                  </a:lnTo>
                  <a:lnTo>
                    <a:pt x="72" y="264"/>
                  </a:lnTo>
                  <a:lnTo>
                    <a:pt x="72" y="264"/>
                  </a:lnTo>
                  <a:lnTo>
                    <a:pt x="72" y="264"/>
                  </a:lnTo>
                  <a:lnTo>
                    <a:pt x="72" y="264"/>
                  </a:lnTo>
                  <a:lnTo>
                    <a:pt x="69" y="264"/>
                  </a:lnTo>
                  <a:lnTo>
                    <a:pt x="69" y="264"/>
                  </a:lnTo>
                  <a:lnTo>
                    <a:pt x="69" y="264"/>
                  </a:lnTo>
                  <a:lnTo>
                    <a:pt x="69" y="264"/>
                  </a:lnTo>
                  <a:lnTo>
                    <a:pt x="66" y="264"/>
                  </a:lnTo>
                  <a:lnTo>
                    <a:pt x="66" y="264"/>
                  </a:lnTo>
                  <a:lnTo>
                    <a:pt x="66" y="264"/>
                  </a:lnTo>
                  <a:lnTo>
                    <a:pt x="62" y="264"/>
                  </a:lnTo>
                  <a:lnTo>
                    <a:pt x="62" y="264"/>
                  </a:lnTo>
                  <a:lnTo>
                    <a:pt x="62" y="264"/>
                  </a:lnTo>
                  <a:lnTo>
                    <a:pt x="62" y="264"/>
                  </a:lnTo>
                  <a:lnTo>
                    <a:pt x="59" y="264"/>
                  </a:lnTo>
                  <a:lnTo>
                    <a:pt x="59" y="264"/>
                  </a:lnTo>
                  <a:lnTo>
                    <a:pt x="59" y="264"/>
                  </a:lnTo>
                  <a:lnTo>
                    <a:pt x="59" y="264"/>
                  </a:lnTo>
                  <a:lnTo>
                    <a:pt x="55" y="264"/>
                  </a:lnTo>
                  <a:lnTo>
                    <a:pt x="55" y="264"/>
                  </a:lnTo>
                  <a:lnTo>
                    <a:pt x="55" y="264"/>
                  </a:lnTo>
                  <a:lnTo>
                    <a:pt x="55" y="264"/>
                  </a:lnTo>
                  <a:lnTo>
                    <a:pt x="52" y="264"/>
                  </a:lnTo>
                  <a:lnTo>
                    <a:pt x="52" y="264"/>
                  </a:lnTo>
                  <a:lnTo>
                    <a:pt x="52" y="264"/>
                  </a:lnTo>
                  <a:lnTo>
                    <a:pt x="52" y="264"/>
                  </a:lnTo>
                  <a:lnTo>
                    <a:pt x="48" y="264"/>
                  </a:lnTo>
                  <a:lnTo>
                    <a:pt x="48" y="264"/>
                  </a:lnTo>
                  <a:lnTo>
                    <a:pt x="48" y="264"/>
                  </a:lnTo>
                  <a:lnTo>
                    <a:pt x="45" y="264"/>
                  </a:lnTo>
                  <a:lnTo>
                    <a:pt x="45" y="264"/>
                  </a:lnTo>
                  <a:lnTo>
                    <a:pt x="45" y="264"/>
                  </a:lnTo>
                  <a:lnTo>
                    <a:pt x="45" y="264"/>
                  </a:lnTo>
                  <a:lnTo>
                    <a:pt x="42" y="264"/>
                  </a:lnTo>
                  <a:lnTo>
                    <a:pt x="42" y="264"/>
                  </a:lnTo>
                  <a:lnTo>
                    <a:pt x="42" y="264"/>
                  </a:lnTo>
                  <a:lnTo>
                    <a:pt x="42" y="264"/>
                  </a:lnTo>
                  <a:lnTo>
                    <a:pt x="38" y="264"/>
                  </a:lnTo>
                  <a:lnTo>
                    <a:pt x="38" y="264"/>
                  </a:lnTo>
                  <a:lnTo>
                    <a:pt x="38" y="264"/>
                  </a:lnTo>
                  <a:lnTo>
                    <a:pt x="38" y="264"/>
                  </a:lnTo>
                  <a:lnTo>
                    <a:pt x="35" y="264"/>
                  </a:lnTo>
                  <a:lnTo>
                    <a:pt x="35" y="264"/>
                  </a:lnTo>
                  <a:lnTo>
                    <a:pt x="35" y="264"/>
                  </a:lnTo>
                  <a:lnTo>
                    <a:pt x="31" y="264"/>
                  </a:lnTo>
                  <a:lnTo>
                    <a:pt x="31" y="264"/>
                  </a:lnTo>
                  <a:lnTo>
                    <a:pt x="31" y="264"/>
                  </a:lnTo>
                  <a:lnTo>
                    <a:pt x="31" y="264"/>
                  </a:lnTo>
                  <a:lnTo>
                    <a:pt x="28" y="264"/>
                  </a:lnTo>
                  <a:lnTo>
                    <a:pt x="28" y="264"/>
                  </a:lnTo>
                  <a:lnTo>
                    <a:pt x="28" y="264"/>
                  </a:lnTo>
                  <a:lnTo>
                    <a:pt x="28" y="264"/>
                  </a:lnTo>
                  <a:lnTo>
                    <a:pt x="24" y="264"/>
                  </a:lnTo>
                  <a:lnTo>
                    <a:pt x="24" y="264"/>
                  </a:lnTo>
                  <a:lnTo>
                    <a:pt x="24" y="264"/>
                  </a:lnTo>
                  <a:lnTo>
                    <a:pt x="24" y="264"/>
                  </a:lnTo>
                  <a:lnTo>
                    <a:pt x="21" y="264"/>
                  </a:lnTo>
                  <a:lnTo>
                    <a:pt x="21" y="264"/>
                  </a:lnTo>
                  <a:lnTo>
                    <a:pt x="21" y="264"/>
                  </a:lnTo>
                  <a:lnTo>
                    <a:pt x="21" y="264"/>
                  </a:lnTo>
                  <a:lnTo>
                    <a:pt x="18" y="264"/>
                  </a:lnTo>
                  <a:lnTo>
                    <a:pt x="18" y="264"/>
                  </a:lnTo>
                  <a:lnTo>
                    <a:pt x="18" y="264"/>
                  </a:lnTo>
                  <a:lnTo>
                    <a:pt x="14" y="264"/>
                  </a:lnTo>
                  <a:lnTo>
                    <a:pt x="14" y="264"/>
                  </a:lnTo>
                  <a:lnTo>
                    <a:pt x="14" y="264"/>
                  </a:lnTo>
                  <a:lnTo>
                    <a:pt x="14" y="264"/>
                  </a:lnTo>
                  <a:lnTo>
                    <a:pt x="11" y="264"/>
                  </a:lnTo>
                  <a:lnTo>
                    <a:pt x="11" y="264"/>
                  </a:lnTo>
                  <a:lnTo>
                    <a:pt x="11" y="264"/>
                  </a:lnTo>
                  <a:lnTo>
                    <a:pt x="11" y="264"/>
                  </a:lnTo>
                  <a:lnTo>
                    <a:pt x="7" y="264"/>
                  </a:lnTo>
                  <a:lnTo>
                    <a:pt x="7" y="264"/>
                  </a:lnTo>
                  <a:lnTo>
                    <a:pt x="7" y="264"/>
                  </a:lnTo>
                  <a:lnTo>
                    <a:pt x="7" y="264"/>
                  </a:lnTo>
                  <a:lnTo>
                    <a:pt x="4" y="264"/>
                  </a:lnTo>
                  <a:lnTo>
                    <a:pt x="4" y="264"/>
                  </a:lnTo>
                  <a:lnTo>
                    <a:pt x="4" y="264"/>
                  </a:lnTo>
                  <a:lnTo>
                    <a:pt x="0" y="264"/>
                  </a:lnTo>
                  <a:lnTo>
                    <a:pt x="0" y="264"/>
                  </a:lnTo>
                  <a:close/>
                </a:path>
              </a:pathLst>
            </a:custGeom>
            <a:solidFill>
              <a:srgbClr val="9999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6" name="Freeform 26">
              <a:extLst>
                <a:ext uri="{FF2B5EF4-FFF2-40B4-BE49-F238E27FC236}">
                  <a16:creationId xmlns:a16="http://schemas.microsoft.com/office/drawing/2014/main" id="{4A8138AC-2FB0-1F44-9693-5FB3EC6E8225}"/>
                </a:ext>
              </a:extLst>
            </p:cNvPr>
            <p:cNvSpPr>
              <a:spLocks noChangeArrowheads="1"/>
            </p:cNvSpPr>
            <p:nvPr/>
          </p:nvSpPr>
          <p:spPr bwMode="auto">
            <a:xfrm>
              <a:off x="3171" y="4102"/>
              <a:ext cx="958" cy="218"/>
            </a:xfrm>
            <a:custGeom>
              <a:avLst/>
              <a:gdLst>
                <a:gd name="T0" fmla="*/ 7 w 453"/>
                <a:gd name="T1" fmla="*/ 182 h 186"/>
                <a:gd name="T2" fmla="*/ 14 w 453"/>
                <a:gd name="T3" fmla="*/ 178 h 186"/>
                <a:gd name="T4" fmla="*/ 21 w 453"/>
                <a:gd name="T5" fmla="*/ 173 h 186"/>
                <a:gd name="T6" fmla="*/ 28 w 453"/>
                <a:gd name="T7" fmla="*/ 173 h 186"/>
                <a:gd name="T8" fmla="*/ 38 w 453"/>
                <a:gd name="T9" fmla="*/ 178 h 186"/>
                <a:gd name="T10" fmla="*/ 45 w 453"/>
                <a:gd name="T11" fmla="*/ 169 h 186"/>
                <a:gd name="T12" fmla="*/ 52 w 453"/>
                <a:gd name="T13" fmla="*/ 165 h 186"/>
                <a:gd name="T14" fmla="*/ 59 w 453"/>
                <a:gd name="T15" fmla="*/ 165 h 186"/>
                <a:gd name="T16" fmla="*/ 66 w 453"/>
                <a:gd name="T17" fmla="*/ 161 h 186"/>
                <a:gd name="T18" fmla="*/ 72 w 453"/>
                <a:gd name="T19" fmla="*/ 165 h 186"/>
                <a:gd name="T20" fmla="*/ 79 w 453"/>
                <a:gd name="T21" fmla="*/ 165 h 186"/>
                <a:gd name="T22" fmla="*/ 86 w 453"/>
                <a:gd name="T23" fmla="*/ 157 h 186"/>
                <a:gd name="T24" fmla="*/ 96 w 453"/>
                <a:gd name="T25" fmla="*/ 157 h 186"/>
                <a:gd name="T26" fmla="*/ 103 w 453"/>
                <a:gd name="T27" fmla="*/ 161 h 186"/>
                <a:gd name="T28" fmla="*/ 110 w 453"/>
                <a:gd name="T29" fmla="*/ 153 h 186"/>
                <a:gd name="T30" fmla="*/ 117 w 453"/>
                <a:gd name="T31" fmla="*/ 157 h 186"/>
                <a:gd name="T32" fmla="*/ 124 w 453"/>
                <a:gd name="T33" fmla="*/ 153 h 186"/>
                <a:gd name="T34" fmla="*/ 131 w 453"/>
                <a:gd name="T35" fmla="*/ 153 h 186"/>
                <a:gd name="T36" fmla="*/ 138 w 453"/>
                <a:gd name="T37" fmla="*/ 145 h 186"/>
                <a:gd name="T38" fmla="*/ 144 w 453"/>
                <a:gd name="T39" fmla="*/ 153 h 186"/>
                <a:gd name="T40" fmla="*/ 151 w 453"/>
                <a:gd name="T41" fmla="*/ 145 h 186"/>
                <a:gd name="T42" fmla="*/ 162 w 453"/>
                <a:gd name="T43" fmla="*/ 149 h 186"/>
                <a:gd name="T44" fmla="*/ 168 w 453"/>
                <a:gd name="T45" fmla="*/ 157 h 186"/>
                <a:gd name="T46" fmla="*/ 175 w 453"/>
                <a:gd name="T47" fmla="*/ 153 h 186"/>
                <a:gd name="T48" fmla="*/ 182 w 453"/>
                <a:gd name="T49" fmla="*/ 153 h 186"/>
                <a:gd name="T50" fmla="*/ 189 w 453"/>
                <a:gd name="T51" fmla="*/ 153 h 186"/>
                <a:gd name="T52" fmla="*/ 196 w 453"/>
                <a:gd name="T53" fmla="*/ 149 h 186"/>
                <a:gd name="T54" fmla="*/ 203 w 453"/>
                <a:gd name="T55" fmla="*/ 153 h 186"/>
                <a:gd name="T56" fmla="*/ 210 w 453"/>
                <a:gd name="T57" fmla="*/ 157 h 186"/>
                <a:gd name="T58" fmla="*/ 220 w 453"/>
                <a:gd name="T59" fmla="*/ 153 h 186"/>
                <a:gd name="T60" fmla="*/ 227 w 453"/>
                <a:gd name="T61" fmla="*/ 145 h 186"/>
                <a:gd name="T62" fmla="*/ 234 w 453"/>
                <a:gd name="T63" fmla="*/ 153 h 186"/>
                <a:gd name="T64" fmla="*/ 240 w 453"/>
                <a:gd name="T65" fmla="*/ 145 h 186"/>
                <a:gd name="T66" fmla="*/ 247 w 453"/>
                <a:gd name="T67" fmla="*/ 145 h 186"/>
                <a:gd name="T68" fmla="*/ 254 w 453"/>
                <a:gd name="T69" fmla="*/ 145 h 186"/>
                <a:gd name="T70" fmla="*/ 261 w 453"/>
                <a:gd name="T71" fmla="*/ 140 h 186"/>
                <a:gd name="T72" fmla="*/ 268 w 453"/>
                <a:gd name="T73" fmla="*/ 132 h 186"/>
                <a:gd name="T74" fmla="*/ 275 w 453"/>
                <a:gd name="T75" fmla="*/ 128 h 186"/>
                <a:gd name="T76" fmla="*/ 285 w 453"/>
                <a:gd name="T77" fmla="*/ 124 h 186"/>
                <a:gd name="T78" fmla="*/ 292 w 453"/>
                <a:gd name="T79" fmla="*/ 120 h 186"/>
                <a:gd name="T80" fmla="*/ 299 w 453"/>
                <a:gd name="T81" fmla="*/ 120 h 186"/>
                <a:gd name="T82" fmla="*/ 306 w 453"/>
                <a:gd name="T83" fmla="*/ 107 h 186"/>
                <a:gd name="T84" fmla="*/ 312 w 453"/>
                <a:gd name="T85" fmla="*/ 112 h 186"/>
                <a:gd name="T86" fmla="*/ 319 w 453"/>
                <a:gd name="T87" fmla="*/ 107 h 186"/>
                <a:gd name="T88" fmla="*/ 326 w 453"/>
                <a:gd name="T89" fmla="*/ 99 h 186"/>
                <a:gd name="T90" fmla="*/ 333 w 453"/>
                <a:gd name="T91" fmla="*/ 79 h 186"/>
                <a:gd name="T92" fmla="*/ 343 w 453"/>
                <a:gd name="T93" fmla="*/ 91 h 186"/>
                <a:gd name="T94" fmla="*/ 350 w 453"/>
                <a:gd name="T95" fmla="*/ 87 h 186"/>
                <a:gd name="T96" fmla="*/ 357 w 453"/>
                <a:gd name="T97" fmla="*/ 83 h 186"/>
                <a:gd name="T98" fmla="*/ 364 w 453"/>
                <a:gd name="T99" fmla="*/ 79 h 186"/>
                <a:gd name="T100" fmla="*/ 371 w 453"/>
                <a:gd name="T101" fmla="*/ 83 h 186"/>
                <a:gd name="T102" fmla="*/ 378 w 453"/>
                <a:gd name="T103" fmla="*/ 70 h 186"/>
                <a:gd name="T104" fmla="*/ 384 w 453"/>
                <a:gd name="T105" fmla="*/ 50 h 186"/>
                <a:gd name="T106" fmla="*/ 391 w 453"/>
                <a:gd name="T107" fmla="*/ 62 h 186"/>
                <a:gd name="T108" fmla="*/ 402 w 453"/>
                <a:gd name="T109" fmla="*/ 54 h 186"/>
                <a:gd name="T110" fmla="*/ 408 w 453"/>
                <a:gd name="T111" fmla="*/ 33 h 186"/>
                <a:gd name="T112" fmla="*/ 415 w 453"/>
                <a:gd name="T113" fmla="*/ 41 h 186"/>
                <a:gd name="T114" fmla="*/ 422 w 453"/>
                <a:gd name="T115" fmla="*/ 41 h 186"/>
                <a:gd name="T116" fmla="*/ 429 w 453"/>
                <a:gd name="T117" fmla="*/ 29 h 186"/>
                <a:gd name="T118" fmla="*/ 436 w 453"/>
                <a:gd name="T119" fmla="*/ 21 h 186"/>
                <a:gd name="T120" fmla="*/ 443 w 453"/>
                <a:gd name="T121" fmla="*/ 8 h 186"/>
                <a:gd name="T122" fmla="*/ 450 w 453"/>
                <a:gd name="T123" fmla="*/ 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3" h="186">
                  <a:moveTo>
                    <a:pt x="0" y="186"/>
                  </a:moveTo>
                  <a:lnTo>
                    <a:pt x="0" y="186"/>
                  </a:lnTo>
                  <a:lnTo>
                    <a:pt x="4" y="178"/>
                  </a:lnTo>
                  <a:lnTo>
                    <a:pt x="4" y="186"/>
                  </a:lnTo>
                  <a:lnTo>
                    <a:pt x="4" y="178"/>
                  </a:lnTo>
                  <a:lnTo>
                    <a:pt x="7" y="178"/>
                  </a:lnTo>
                  <a:lnTo>
                    <a:pt x="7" y="173"/>
                  </a:lnTo>
                  <a:lnTo>
                    <a:pt x="7" y="182"/>
                  </a:lnTo>
                  <a:lnTo>
                    <a:pt x="7" y="182"/>
                  </a:lnTo>
                  <a:lnTo>
                    <a:pt x="11" y="173"/>
                  </a:lnTo>
                  <a:lnTo>
                    <a:pt x="11" y="173"/>
                  </a:lnTo>
                  <a:lnTo>
                    <a:pt x="11" y="182"/>
                  </a:lnTo>
                  <a:lnTo>
                    <a:pt x="11" y="178"/>
                  </a:lnTo>
                  <a:lnTo>
                    <a:pt x="14" y="182"/>
                  </a:lnTo>
                  <a:lnTo>
                    <a:pt x="14" y="173"/>
                  </a:lnTo>
                  <a:lnTo>
                    <a:pt x="14" y="178"/>
                  </a:lnTo>
                  <a:lnTo>
                    <a:pt x="14" y="173"/>
                  </a:lnTo>
                  <a:lnTo>
                    <a:pt x="18" y="173"/>
                  </a:lnTo>
                  <a:lnTo>
                    <a:pt x="18" y="173"/>
                  </a:lnTo>
                  <a:lnTo>
                    <a:pt x="18" y="173"/>
                  </a:lnTo>
                  <a:lnTo>
                    <a:pt x="21" y="169"/>
                  </a:lnTo>
                  <a:lnTo>
                    <a:pt x="21" y="173"/>
                  </a:lnTo>
                  <a:lnTo>
                    <a:pt x="21" y="178"/>
                  </a:lnTo>
                  <a:lnTo>
                    <a:pt x="21" y="173"/>
                  </a:lnTo>
                  <a:lnTo>
                    <a:pt x="24" y="169"/>
                  </a:lnTo>
                  <a:lnTo>
                    <a:pt x="24" y="169"/>
                  </a:lnTo>
                  <a:lnTo>
                    <a:pt x="24" y="173"/>
                  </a:lnTo>
                  <a:lnTo>
                    <a:pt x="24" y="173"/>
                  </a:lnTo>
                  <a:lnTo>
                    <a:pt x="28" y="178"/>
                  </a:lnTo>
                  <a:lnTo>
                    <a:pt x="28" y="178"/>
                  </a:lnTo>
                  <a:lnTo>
                    <a:pt x="28" y="178"/>
                  </a:lnTo>
                  <a:lnTo>
                    <a:pt x="28" y="173"/>
                  </a:lnTo>
                  <a:lnTo>
                    <a:pt x="31" y="173"/>
                  </a:lnTo>
                  <a:lnTo>
                    <a:pt x="31" y="178"/>
                  </a:lnTo>
                  <a:lnTo>
                    <a:pt x="31" y="173"/>
                  </a:lnTo>
                  <a:lnTo>
                    <a:pt x="31" y="173"/>
                  </a:lnTo>
                  <a:lnTo>
                    <a:pt x="35" y="178"/>
                  </a:lnTo>
                  <a:lnTo>
                    <a:pt x="35" y="173"/>
                  </a:lnTo>
                  <a:lnTo>
                    <a:pt x="35" y="169"/>
                  </a:lnTo>
                  <a:lnTo>
                    <a:pt x="38" y="178"/>
                  </a:lnTo>
                  <a:lnTo>
                    <a:pt x="38" y="169"/>
                  </a:lnTo>
                  <a:lnTo>
                    <a:pt x="38" y="165"/>
                  </a:lnTo>
                  <a:lnTo>
                    <a:pt x="38" y="169"/>
                  </a:lnTo>
                  <a:lnTo>
                    <a:pt x="42" y="169"/>
                  </a:lnTo>
                  <a:lnTo>
                    <a:pt x="42" y="178"/>
                  </a:lnTo>
                  <a:lnTo>
                    <a:pt x="42" y="178"/>
                  </a:lnTo>
                  <a:lnTo>
                    <a:pt x="42" y="169"/>
                  </a:lnTo>
                  <a:lnTo>
                    <a:pt x="45" y="169"/>
                  </a:lnTo>
                  <a:lnTo>
                    <a:pt x="45" y="173"/>
                  </a:lnTo>
                  <a:lnTo>
                    <a:pt x="45" y="173"/>
                  </a:lnTo>
                  <a:lnTo>
                    <a:pt x="45" y="178"/>
                  </a:lnTo>
                  <a:lnTo>
                    <a:pt x="48" y="165"/>
                  </a:lnTo>
                  <a:lnTo>
                    <a:pt x="48" y="161"/>
                  </a:lnTo>
                  <a:lnTo>
                    <a:pt x="48" y="157"/>
                  </a:lnTo>
                  <a:lnTo>
                    <a:pt x="52" y="165"/>
                  </a:lnTo>
                  <a:lnTo>
                    <a:pt x="52" y="165"/>
                  </a:lnTo>
                  <a:lnTo>
                    <a:pt x="52" y="169"/>
                  </a:lnTo>
                  <a:lnTo>
                    <a:pt x="52" y="169"/>
                  </a:lnTo>
                  <a:lnTo>
                    <a:pt x="55" y="165"/>
                  </a:lnTo>
                  <a:lnTo>
                    <a:pt x="55" y="165"/>
                  </a:lnTo>
                  <a:lnTo>
                    <a:pt x="55" y="161"/>
                  </a:lnTo>
                  <a:lnTo>
                    <a:pt x="55" y="169"/>
                  </a:lnTo>
                  <a:lnTo>
                    <a:pt x="59" y="161"/>
                  </a:lnTo>
                  <a:lnTo>
                    <a:pt x="59" y="165"/>
                  </a:lnTo>
                  <a:lnTo>
                    <a:pt x="59" y="161"/>
                  </a:lnTo>
                  <a:lnTo>
                    <a:pt x="59" y="161"/>
                  </a:lnTo>
                  <a:lnTo>
                    <a:pt x="62" y="161"/>
                  </a:lnTo>
                  <a:lnTo>
                    <a:pt x="62" y="165"/>
                  </a:lnTo>
                  <a:lnTo>
                    <a:pt x="62" y="165"/>
                  </a:lnTo>
                  <a:lnTo>
                    <a:pt x="62" y="165"/>
                  </a:lnTo>
                  <a:lnTo>
                    <a:pt x="66" y="165"/>
                  </a:lnTo>
                  <a:lnTo>
                    <a:pt x="66" y="161"/>
                  </a:lnTo>
                  <a:lnTo>
                    <a:pt x="66" y="165"/>
                  </a:lnTo>
                  <a:lnTo>
                    <a:pt x="69" y="161"/>
                  </a:lnTo>
                  <a:lnTo>
                    <a:pt x="69" y="169"/>
                  </a:lnTo>
                  <a:lnTo>
                    <a:pt x="69" y="169"/>
                  </a:lnTo>
                  <a:lnTo>
                    <a:pt x="69" y="165"/>
                  </a:lnTo>
                  <a:lnTo>
                    <a:pt x="72" y="173"/>
                  </a:lnTo>
                  <a:lnTo>
                    <a:pt x="72" y="165"/>
                  </a:lnTo>
                  <a:lnTo>
                    <a:pt x="72" y="165"/>
                  </a:lnTo>
                  <a:lnTo>
                    <a:pt x="72" y="169"/>
                  </a:lnTo>
                  <a:lnTo>
                    <a:pt x="76" y="169"/>
                  </a:lnTo>
                  <a:lnTo>
                    <a:pt x="76" y="169"/>
                  </a:lnTo>
                  <a:lnTo>
                    <a:pt x="76" y="173"/>
                  </a:lnTo>
                  <a:lnTo>
                    <a:pt x="76" y="169"/>
                  </a:lnTo>
                  <a:lnTo>
                    <a:pt x="79" y="173"/>
                  </a:lnTo>
                  <a:lnTo>
                    <a:pt x="79" y="169"/>
                  </a:lnTo>
                  <a:lnTo>
                    <a:pt x="79" y="165"/>
                  </a:lnTo>
                  <a:lnTo>
                    <a:pt x="83" y="169"/>
                  </a:lnTo>
                  <a:lnTo>
                    <a:pt x="83" y="157"/>
                  </a:lnTo>
                  <a:lnTo>
                    <a:pt x="83" y="153"/>
                  </a:lnTo>
                  <a:lnTo>
                    <a:pt x="83" y="157"/>
                  </a:lnTo>
                  <a:lnTo>
                    <a:pt x="86" y="161"/>
                  </a:lnTo>
                  <a:lnTo>
                    <a:pt x="86" y="153"/>
                  </a:lnTo>
                  <a:lnTo>
                    <a:pt x="86" y="161"/>
                  </a:lnTo>
                  <a:lnTo>
                    <a:pt x="86" y="157"/>
                  </a:lnTo>
                  <a:lnTo>
                    <a:pt x="90" y="153"/>
                  </a:lnTo>
                  <a:lnTo>
                    <a:pt x="90" y="157"/>
                  </a:lnTo>
                  <a:lnTo>
                    <a:pt x="90" y="161"/>
                  </a:lnTo>
                  <a:lnTo>
                    <a:pt x="90" y="165"/>
                  </a:lnTo>
                  <a:lnTo>
                    <a:pt x="93" y="165"/>
                  </a:lnTo>
                  <a:lnTo>
                    <a:pt x="93" y="165"/>
                  </a:lnTo>
                  <a:lnTo>
                    <a:pt x="93" y="153"/>
                  </a:lnTo>
                  <a:lnTo>
                    <a:pt x="96" y="157"/>
                  </a:lnTo>
                  <a:lnTo>
                    <a:pt x="96" y="157"/>
                  </a:lnTo>
                  <a:lnTo>
                    <a:pt x="96" y="157"/>
                  </a:lnTo>
                  <a:lnTo>
                    <a:pt x="96" y="157"/>
                  </a:lnTo>
                  <a:lnTo>
                    <a:pt x="100" y="165"/>
                  </a:lnTo>
                  <a:lnTo>
                    <a:pt x="100" y="157"/>
                  </a:lnTo>
                  <a:lnTo>
                    <a:pt x="100" y="157"/>
                  </a:lnTo>
                  <a:lnTo>
                    <a:pt x="100" y="153"/>
                  </a:lnTo>
                  <a:lnTo>
                    <a:pt x="103" y="161"/>
                  </a:lnTo>
                  <a:lnTo>
                    <a:pt x="103" y="161"/>
                  </a:lnTo>
                  <a:lnTo>
                    <a:pt x="103" y="157"/>
                  </a:lnTo>
                  <a:lnTo>
                    <a:pt x="103" y="161"/>
                  </a:lnTo>
                  <a:lnTo>
                    <a:pt x="107" y="157"/>
                  </a:lnTo>
                  <a:lnTo>
                    <a:pt x="107" y="161"/>
                  </a:lnTo>
                  <a:lnTo>
                    <a:pt x="107" y="161"/>
                  </a:lnTo>
                  <a:lnTo>
                    <a:pt x="107" y="161"/>
                  </a:lnTo>
                  <a:lnTo>
                    <a:pt x="110" y="153"/>
                  </a:lnTo>
                  <a:lnTo>
                    <a:pt x="110" y="165"/>
                  </a:lnTo>
                  <a:lnTo>
                    <a:pt x="110" y="161"/>
                  </a:lnTo>
                  <a:lnTo>
                    <a:pt x="114" y="161"/>
                  </a:lnTo>
                  <a:lnTo>
                    <a:pt x="114" y="161"/>
                  </a:lnTo>
                  <a:lnTo>
                    <a:pt x="114" y="169"/>
                  </a:lnTo>
                  <a:lnTo>
                    <a:pt x="114" y="169"/>
                  </a:lnTo>
                  <a:lnTo>
                    <a:pt x="117" y="165"/>
                  </a:lnTo>
                  <a:lnTo>
                    <a:pt x="117" y="157"/>
                  </a:lnTo>
                  <a:lnTo>
                    <a:pt x="117" y="153"/>
                  </a:lnTo>
                  <a:lnTo>
                    <a:pt x="117" y="161"/>
                  </a:lnTo>
                  <a:lnTo>
                    <a:pt x="120" y="157"/>
                  </a:lnTo>
                  <a:lnTo>
                    <a:pt x="120" y="157"/>
                  </a:lnTo>
                  <a:lnTo>
                    <a:pt x="120" y="149"/>
                  </a:lnTo>
                  <a:lnTo>
                    <a:pt x="120" y="161"/>
                  </a:lnTo>
                  <a:lnTo>
                    <a:pt x="124" y="161"/>
                  </a:lnTo>
                  <a:lnTo>
                    <a:pt x="124" y="153"/>
                  </a:lnTo>
                  <a:lnTo>
                    <a:pt x="124" y="153"/>
                  </a:lnTo>
                  <a:lnTo>
                    <a:pt x="127" y="157"/>
                  </a:lnTo>
                  <a:lnTo>
                    <a:pt x="127" y="157"/>
                  </a:lnTo>
                  <a:lnTo>
                    <a:pt x="127" y="157"/>
                  </a:lnTo>
                  <a:lnTo>
                    <a:pt x="127" y="157"/>
                  </a:lnTo>
                  <a:lnTo>
                    <a:pt x="131" y="149"/>
                  </a:lnTo>
                  <a:lnTo>
                    <a:pt x="131" y="149"/>
                  </a:lnTo>
                  <a:lnTo>
                    <a:pt x="131" y="153"/>
                  </a:lnTo>
                  <a:lnTo>
                    <a:pt x="131" y="153"/>
                  </a:lnTo>
                  <a:lnTo>
                    <a:pt x="134" y="153"/>
                  </a:lnTo>
                  <a:lnTo>
                    <a:pt x="134" y="157"/>
                  </a:lnTo>
                  <a:lnTo>
                    <a:pt x="134" y="153"/>
                  </a:lnTo>
                  <a:lnTo>
                    <a:pt x="134" y="153"/>
                  </a:lnTo>
                  <a:lnTo>
                    <a:pt x="138" y="153"/>
                  </a:lnTo>
                  <a:lnTo>
                    <a:pt x="138" y="149"/>
                  </a:lnTo>
                  <a:lnTo>
                    <a:pt x="138" y="145"/>
                  </a:lnTo>
                  <a:lnTo>
                    <a:pt x="138" y="149"/>
                  </a:lnTo>
                  <a:lnTo>
                    <a:pt x="141" y="153"/>
                  </a:lnTo>
                  <a:lnTo>
                    <a:pt x="141" y="145"/>
                  </a:lnTo>
                  <a:lnTo>
                    <a:pt x="141" y="149"/>
                  </a:lnTo>
                  <a:lnTo>
                    <a:pt x="144" y="149"/>
                  </a:lnTo>
                  <a:lnTo>
                    <a:pt x="144" y="157"/>
                  </a:lnTo>
                  <a:lnTo>
                    <a:pt x="144" y="153"/>
                  </a:lnTo>
                  <a:lnTo>
                    <a:pt x="144" y="153"/>
                  </a:lnTo>
                  <a:lnTo>
                    <a:pt x="148" y="149"/>
                  </a:lnTo>
                  <a:lnTo>
                    <a:pt x="148" y="149"/>
                  </a:lnTo>
                  <a:lnTo>
                    <a:pt x="148" y="153"/>
                  </a:lnTo>
                  <a:lnTo>
                    <a:pt x="148" y="145"/>
                  </a:lnTo>
                  <a:lnTo>
                    <a:pt x="151" y="153"/>
                  </a:lnTo>
                  <a:lnTo>
                    <a:pt x="151" y="145"/>
                  </a:lnTo>
                  <a:lnTo>
                    <a:pt x="151" y="153"/>
                  </a:lnTo>
                  <a:lnTo>
                    <a:pt x="151" y="145"/>
                  </a:lnTo>
                  <a:lnTo>
                    <a:pt x="155" y="149"/>
                  </a:lnTo>
                  <a:lnTo>
                    <a:pt x="155" y="153"/>
                  </a:lnTo>
                  <a:lnTo>
                    <a:pt x="155" y="145"/>
                  </a:lnTo>
                  <a:lnTo>
                    <a:pt x="158" y="157"/>
                  </a:lnTo>
                  <a:lnTo>
                    <a:pt x="158" y="149"/>
                  </a:lnTo>
                  <a:lnTo>
                    <a:pt x="158" y="153"/>
                  </a:lnTo>
                  <a:lnTo>
                    <a:pt x="158" y="153"/>
                  </a:lnTo>
                  <a:lnTo>
                    <a:pt x="162" y="149"/>
                  </a:lnTo>
                  <a:lnTo>
                    <a:pt x="162" y="153"/>
                  </a:lnTo>
                  <a:lnTo>
                    <a:pt x="162" y="153"/>
                  </a:lnTo>
                  <a:lnTo>
                    <a:pt x="162" y="153"/>
                  </a:lnTo>
                  <a:lnTo>
                    <a:pt x="165" y="153"/>
                  </a:lnTo>
                  <a:lnTo>
                    <a:pt x="165" y="153"/>
                  </a:lnTo>
                  <a:lnTo>
                    <a:pt x="165" y="157"/>
                  </a:lnTo>
                  <a:lnTo>
                    <a:pt x="165" y="153"/>
                  </a:lnTo>
                  <a:lnTo>
                    <a:pt x="168" y="157"/>
                  </a:lnTo>
                  <a:lnTo>
                    <a:pt x="168" y="153"/>
                  </a:lnTo>
                  <a:lnTo>
                    <a:pt x="168" y="153"/>
                  </a:lnTo>
                  <a:lnTo>
                    <a:pt x="168" y="157"/>
                  </a:lnTo>
                  <a:lnTo>
                    <a:pt x="172" y="157"/>
                  </a:lnTo>
                  <a:lnTo>
                    <a:pt x="172" y="153"/>
                  </a:lnTo>
                  <a:lnTo>
                    <a:pt x="172" y="145"/>
                  </a:lnTo>
                  <a:lnTo>
                    <a:pt x="175" y="149"/>
                  </a:lnTo>
                  <a:lnTo>
                    <a:pt x="175" y="153"/>
                  </a:lnTo>
                  <a:lnTo>
                    <a:pt x="175" y="153"/>
                  </a:lnTo>
                  <a:lnTo>
                    <a:pt x="175" y="157"/>
                  </a:lnTo>
                  <a:lnTo>
                    <a:pt x="179" y="153"/>
                  </a:lnTo>
                  <a:lnTo>
                    <a:pt x="179" y="157"/>
                  </a:lnTo>
                  <a:lnTo>
                    <a:pt x="179" y="149"/>
                  </a:lnTo>
                  <a:lnTo>
                    <a:pt x="179" y="153"/>
                  </a:lnTo>
                  <a:lnTo>
                    <a:pt x="182" y="153"/>
                  </a:lnTo>
                  <a:lnTo>
                    <a:pt x="182" y="153"/>
                  </a:lnTo>
                  <a:lnTo>
                    <a:pt x="182" y="153"/>
                  </a:lnTo>
                  <a:lnTo>
                    <a:pt x="182" y="149"/>
                  </a:lnTo>
                  <a:lnTo>
                    <a:pt x="186" y="145"/>
                  </a:lnTo>
                  <a:lnTo>
                    <a:pt x="186" y="145"/>
                  </a:lnTo>
                  <a:lnTo>
                    <a:pt x="186" y="149"/>
                  </a:lnTo>
                  <a:lnTo>
                    <a:pt x="189" y="149"/>
                  </a:lnTo>
                  <a:lnTo>
                    <a:pt x="189" y="153"/>
                  </a:lnTo>
                  <a:lnTo>
                    <a:pt x="189" y="153"/>
                  </a:lnTo>
                  <a:lnTo>
                    <a:pt x="189" y="153"/>
                  </a:lnTo>
                  <a:lnTo>
                    <a:pt x="192" y="149"/>
                  </a:lnTo>
                  <a:lnTo>
                    <a:pt x="192" y="149"/>
                  </a:lnTo>
                  <a:lnTo>
                    <a:pt x="192" y="145"/>
                  </a:lnTo>
                  <a:lnTo>
                    <a:pt x="192" y="149"/>
                  </a:lnTo>
                  <a:lnTo>
                    <a:pt x="196" y="140"/>
                  </a:lnTo>
                  <a:lnTo>
                    <a:pt x="196" y="140"/>
                  </a:lnTo>
                  <a:lnTo>
                    <a:pt x="196" y="149"/>
                  </a:lnTo>
                  <a:lnTo>
                    <a:pt x="196" y="153"/>
                  </a:lnTo>
                  <a:lnTo>
                    <a:pt x="199" y="149"/>
                  </a:lnTo>
                  <a:lnTo>
                    <a:pt x="199" y="145"/>
                  </a:lnTo>
                  <a:lnTo>
                    <a:pt x="199" y="149"/>
                  </a:lnTo>
                  <a:lnTo>
                    <a:pt x="203" y="149"/>
                  </a:lnTo>
                  <a:lnTo>
                    <a:pt x="203" y="145"/>
                  </a:lnTo>
                  <a:lnTo>
                    <a:pt x="203" y="149"/>
                  </a:lnTo>
                  <a:lnTo>
                    <a:pt x="203" y="153"/>
                  </a:lnTo>
                  <a:lnTo>
                    <a:pt x="206" y="157"/>
                  </a:lnTo>
                  <a:lnTo>
                    <a:pt x="206" y="161"/>
                  </a:lnTo>
                  <a:lnTo>
                    <a:pt x="206" y="153"/>
                  </a:lnTo>
                  <a:lnTo>
                    <a:pt x="206" y="153"/>
                  </a:lnTo>
                  <a:lnTo>
                    <a:pt x="210" y="153"/>
                  </a:lnTo>
                  <a:lnTo>
                    <a:pt x="210" y="145"/>
                  </a:lnTo>
                  <a:lnTo>
                    <a:pt x="210" y="153"/>
                  </a:lnTo>
                  <a:lnTo>
                    <a:pt x="210" y="157"/>
                  </a:lnTo>
                  <a:lnTo>
                    <a:pt x="213" y="149"/>
                  </a:lnTo>
                  <a:lnTo>
                    <a:pt x="213" y="153"/>
                  </a:lnTo>
                  <a:lnTo>
                    <a:pt x="213" y="153"/>
                  </a:lnTo>
                  <a:lnTo>
                    <a:pt x="213" y="145"/>
                  </a:lnTo>
                  <a:lnTo>
                    <a:pt x="216" y="149"/>
                  </a:lnTo>
                  <a:lnTo>
                    <a:pt x="216" y="153"/>
                  </a:lnTo>
                  <a:lnTo>
                    <a:pt x="216" y="153"/>
                  </a:lnTo>
                  <a:lnTo>
                    <a:pt x="220" y="153"/>
                  </a:lnTo>
                  <a:lnTo>
                    <a:pt x="220" y="153"/>
                  </a:lnTo>
                  <a:lnTo>
                    <a:pt x="220" y="153"/>
                  </a:lnTo>
                  <a:lnTo>
                    <a:pt x="220" y="153"/>
                  </a:lnTo>
                  <a:lnTo>
                    <a:pt x="223" y="153"/>
                  </a:lnTo>
                  <a:lnTo>
                    <a:pt x="223" y="149"/>
                  </a:lnTo>
                  <a:lnTo>
                    <a:pt x="223" y="149"/>
                  </a:lnTo>
                  <a:lnTo>
                    <a:pt x="223" y="149"/>
                  </a:lnTo>
                  <a:lnTo>
                    <a:pt x="227" y="145"/>
                  </a:lnTo>
                  <a:lnTo>
                    <a:pt x="227" y="140"/>
                  </a:lnTo>
                  <a:lnTo>
                    <a:pt x="227" y="140"/>
                  </a:lnTo>
                  <a:lnTo>
                    <a:pt x="227" y="149"/>
                  </a:lnTo>
                  <a:lnTo>
                    <a:pt x="230" y="136"/>
                  </a:lnTo>
                  <a:lnTo>
                    <a:pt x="230" y="149"/>
                  </a:lnTo>
                  <a:lnTo>
                    <a:pt x="230" y="145"/>
                  </a:lnTo>
                  <a:lnTo>
                    <a:pt x="234" y="149"/>
                  </a:lnTo>
                  <a:lnTo>
                    <a:pt x="234" y="153"/>
                  </a:lnTo>
                  <a:lnTo>
                    <a:pt x="234" y="145"/>
                  </a:lnTo>
                  <a:lnTo>
                    <a:pt x="234" y="140"/>
                  </a:lnTo>
                  <a:lnTo>
                    <a:pt x="237" y="149"/>
                  </a:lnTo>
                  <a:lnTo>
                    <a:pt x="237" y="153"/>
                  </a:lnTo>
                  <a:lnTo>
                    <a:pt x="237" y="149"/>
                  </a:lnTo>
                  <a:lnTo>
                    <a:pt x="237" y="145"/>
                  </a:lnTo>
                  <a:lnTo>
                    <a:pt x="240" y="145"/>
                  </a:lnTo>
                  <a:lnTo>
                    <a:pt x="240" y="145"/>
                  </a:lnTo>
                  <a:lnTo>
                    <a:pt x="240" y="149"/>
                  </a:lnTo>
                  <a:lnTo>
                    <a:pt x="240" y="145"/>
                  </a:lnTo>
                  <a:lnTo>
                    <a:pt x="244" y="136"/>
                  </a:lnTo>
                  <a:lnTo>
                    <a:pt x="244" y="145"/>
                  </a:lnTo>
                  <a:lnTo>
                    <a:pt x="244" y="149"/>
                  </a:lnTo>
                  <a:lnTo>
                    <a:pt x="244" y="149"/>
                  </a:lnTo>
                  <a:lnTo>
                    <a:pt x="247" y="140"/>
                  </a:lnTo>
                  <a:lnTo>
                    <a:pt x="247" y="145"/>
                  </a:lnTo>
                  <a:lnTo>
                    <a:pt x="247" y="145"/>
                  </a:lnTo>
                  <a:lnTo>
                    <a:pt x="251" y="140"/>
                  </a:lnTo>
                  <a:lnTo>
                    <a:pt x="251" y="132"/>
                  </a:lnTo>
                  <a:lnTo>
                    <a:pt x="251" y="140"/>
                  </a:lnTo>
                  <a:lnTo>
                    <a:pt x="251" y="145"/>
                  </a:lnTo>
                  <a:lnTo>
                    <a:pt x="254" y="145"/>
                  </a:lnTo>
                  <a:lnTo>
                    <a:pt x="254" y="149"/>
                  </a:lnTo>
                  <a:lnTo>
                    <a:pt x="254" y="145"/>
                  </a:lnTo>
                  <a:lnTo>
                    <a:pt x="254" y="132"/>
                  </a:lnTo>
                  <a:lnTo>
                    <a:pt x="258" y="140"/>
                  </a:lnTo>
                  <a:lnTo>
                    <a:pt x="258" y="140"/>
                  </a:lnTo>
                  <a:lnTo>
                    <a:pt x="258" y="140"/>
                  </a:lnTo>
                  <a:lnTo>
                    <a:pt x="258" y="145"/>
                  </a:lnTo>
                  <a:lnTo>
                    <a:pt x="261" y="140"/>
                  </a:lnTo>
                  <a:lnTo>
                    <a:pt x="261" y="140"/>
                  </a:lnTo>
                  <a:lnTo>
                    <a:pt x="261" y="140"/>
                  </a:lnTo>
                  <a:lnTo>
                    <a:pt x="264" y="136"/>
                  </a:lnTo>
                  <a:lnTo>
                    <a:pt x="264" y="136"/>
                  </a:lnTo>
                  <a:lnTo>
                    <a:pt x="264" y="136"/>
                  </a:lnTo>
                  <a:lnTo>
                    <a:pt x="264" y="128"/>
                  </a:lnTo>
                  <a:lnTo>
                    <a:pt x="268" y="128"/>
                  </a:lnTo>
                  <a:lnTo>
                    <a:pt x="268" y="120"/>
                  </a:lnTo>
                  <a:lnTo>
                    <a:pt x="268" y="128"/>
                  </a:lnTo>
                  <a:lnTo>
                    <a:pt x="268" y="132"/>
                  </a:lnTo>
                  <a:lnTo>
                    <a:pt x="271" y="136"/>
                  </a:lnTo>
                  <a:lnTo>
                    <a:pt x="271" y="136"/>
                  </a:lnTo>
                  <a:lnTo>
                    <a:pt x="271" y="128"/>
                  </a:lnTo>
                  <a:lnTo>
                    <a:pt x="271" y="128"/>
                  </a:lnTo>
                  <a:lnTo>
                    <a:pt x="275" y="128"/>
                  </a:lnTo>
                  <a:lnTo>
                    <a:pt x="275" y="128"/>
                  </a:lnTo>
                  <a:lnTo>
                    <a:pt x="275" y="128"/>
                  </a:lnTo>
                  <a:lnTo>
                    <a:pt x="275" y="128"/>
                  </a:lnTo>
                  <a:lnTo>
                    <a:pt x="278" y="124"/>
                  </a:lnTo>
                  <a:lnTo>
                    <a:pt x="278" y="128"/>
                  </a:lnTo>
                  <a:lnTo>
                    <a:pt x="278" y="124"/>
                  </a:lnTo>
                  <a:lnTo>
                    <a:pt x="282" y="124"/>
                  </a:lnTo>
                  <a:lnTo>
                    <a:pt x="282" y="128"/>
                  </a:lnTo>
                  <a:lnTo>
                    <a:pt x="282" y="124"/>
                  </a:lnTo>
                  <a:lnTo>
                    <a:pt x="282" y="128"/>
                  </a:lnTo>
                  <a:lnTo>
                    <a:pt x="285" y="124"/>
                  </a:lnTo>
                  <a:lnTo>
                    <a:pt x="285" y="128"/>
                  </a:lnTo>
                  <a:lnTo>
                    <a:pt x="285" y="116"/>
                  </a:lnTo>
                  <a:lnTo>
                    <a:pt x="285" y="120"/>
                  </a:lnTo>
                  <a:lnTo>
                    <a:pt x="288" y="124"/>
                  </a:lnTo>
                  <a:lnTo>
                    <a:pt x="288" y="116"/>
                  </a:lnTo>
                  <a:lnTo>
                    <a:pt x="288" y="116"/>
                  </a:lnTo>
                  <a:lnTo>
                    <a:pt x="288" y="124"/>
                  </a:lnTo>
                  <a:lnTo>
                    <a:pt x="292" y="120"/>
                  </a:lnTo>
                  <a:lnTo>
                    <a:pt x="292" y="128"/>
                  </a:lnTo>
                  <a:lnTo>
                    <a:pt x="292" y="116"/>
                  </a:lnTo>
                  <a:lnTo>
                    <a:pt x="295" y="120"/>
                  </a:lnTo>
                  <a:lnTo>
                    <a:pt x="295" y="116"/>
                  </a:lnTo>
                  <a:lnTo>
                    <a:pt x="295" y="120"/>
                  </a:lnTo>
                  <a:lnTo>
                    <a:pt x="295" y="116"/>
                  </a:lnTo>
                  <a:lnTo>
                    <a:pt x="299" y="116"/>
                  </a:lnTo>
                  <a:lnTo>
                    <a:pt x="299" y="120"/>
                  </a:lnTo>
                  <a:lnTo>
                    <a:pt x="299" y="124"/>
                  </a:lnTo>
                  <a:lnTo>
                    <a:pt x="299" y="128"/>
                  </a:lnTo>
                  <a:lnTo>
                    <a:pt x="302" y="116"/>
                  </a:lnTo>
                  <a:lnTo>
                    <a:pt x="302" y="112"/>
                  </a:lnTo>
                  <a:lnTo>
                    <a:pt x="302" y="116"/>
                  </a:lnTo>
                  <a:lnTo>
                    <a:pt x="302" y="116"/>
                  </a:lnTo>
                  <a:lnTo>
                    <a:pt x="306" y="107"/>
                  </a:lnTo>
                  <a:lnTo>
                    <a:pt x="306" y="107"/>
                  </a:lnTo>
                  <a:lnTo>
                    <a:pt x="306" y="107"/>
                  </a:lnTo>
                  <a:lnTo>
                    <a:pt x="306" y="112"/>
                  </a:lnTo>
                  <a:lnTo>
                    <a:pt x="309" y="107"/>
                  </a:lnTo>
                  <a:lnTo>
                    <a:pt x="309" y="107"/>
                  </a:lnTo>
                  <a:lnTo>
                    <a:pt x="309" y="107"/>
                  </a:lnTo>
                  <a:lnTo>
                    <a:pt x="312" y="103"/>
                  </a:lnTo>
                  <a:lnTo>
                    <a:pt x="312" y="107"/>
                  </a:lnTo>
                  <a:lnTo>
                    <a:pt x="312" y="112"/>
                  </a:lnTo>
                  <a:lnTo>
                    <a:pt x="312" y="107"/>
                  </a:lnTo>
                  <a:lnTo>
                    <a:pt x="316" y="99"/>
                  </a:lnTo>
                  <a:lnTo>
                    <a:pt x="316" y="99"/>
                  </a:lnTo>
                  <a:lnTo>
                    <a:pt x="316" y="107"/>
                  </a:lnTo>
                  <a:lnTo>
                    <a:pt x="316" y="99"/>
                  </a:lnTo>
                  <a:lnTo>
                    <a:pt x="319" y="107"/>
                  </a:lnTo>
                  <a:lnTo>
                    <a:pt x="319" y="103"/>
                  </a:lnTo>
                  <a:lnTo>
                    <a:pt x="319" y="107"/>
                  </a:lnTo>
                  <a:lnTo>
                    <a:pt x="319" y="107"/>
                  </a:lnTo>
                  <a:lnTo>
                    <a:pt x="323" y="99"/>
                  </a:lnTo>
                  <a:lnTo>
                    <a:pt x="323" y="99"/>
                  </a:lnTo>
                  <a:lnTo>
                    <a:pt x="323" y="95"/>
                  </a:lnTo>
                  <a:lnTo>
                    <a:pt x="326" y="103"/>
                  </a:lnTo>
                  <a:lnTo>
                    <a:pt x="326" y="103"/>
                  </a:lnTo>
                  <a:lnTo>
                    <a:pt x="326" y="107"/>
                  </a:lnTo>
                  <a:lnTo>
                    <a:pt x="326" y="99"/>
                  </a:lnTo>
                  <a:lnTo>
                    <a:pt x="330" y="95"/>
                  </a:lnTo>
                  <a:lnTo>
                    <a:pt x="330" y="91"/>
                  </a:lnTo>
                  <a:lnTo>
                    <a:pt x="330" y="91"/>
                  </a:lnTo>
                  <a:lnTo>
                    <a:pt x="330" y="91"/>
                  </a:lnTo>
                  <a:lnTo>
                    <a:pt x="333" y="91"/>
                  </a:lnTo>
                  <a:lnTo>
                    <a:pt x="333" y="83"/>
                  </a:lnTo>
                  <a:lnTo>
                    <a:pt x="333" y="79"/>
                  </a:lnTo>
                  <a:lnTo>
                    <a:pt x="333" y="79"/>
                  </a:lnTo>
                  <a:lnTo>
                    <a:pt x="336" y="83"/>
                  </a:lnTo>
                  <a:lnTo>
                    <a:pt x="336" y="83"/>
                  </a:lnTo>
                  <a:lnTo>
                    <a:pt x="336" y="83"/>
                  </a:lnTo>
                  <a:lnTo>
                    <a:pt x="340" y="91"/>
                  </a:lnTo>
                  <a:lnTo>
                    <a:pt x="340" y="99"/>
                  </a:lnTo>
                  <a:lnTo>
                    <a:pt x="340" y="91"/>
                  </a:lnTo>
                  <a:lnTo>
                    <a:pt x="340" y="95"/>
                  </a:lnTo>
                  <a:lnTo>
                    <a:pt x="343" y="91"/>
                  </a:lnTo>
                  <a:lnTo>
                    <a:pt x="343" y="99"/>
                  </a:lnTo>
                  <a:lnTo>
                    <a:pt x="343" y="83"/>
                  </a:lnTo>
                  <a:lnTo>
                    <a:pt x="343" y="83"/>
                  </a:lnTo>
                  <a:lnTo>
                    <a:pt x="347" y="87"/>
                  </a:lnTo>
                  <a:lnTo>
                    <a:pt x="347" y="95"/>
                  </a:lnTo>
                  <a:lnTo>
                    <a:pt x="347" y="87"/>
                  </a:lnTo>
                  <a:lnTo>
                    <a:pt x="347" y="87"/>
                  </a:lnTo>
                  <a:lnTo>
                    <a:pt x="350" y="87"/>
                  </a:lnTo>
                  <a:lnTo>
                    <a:pt x="350" y="87"/>
                  </a:lnTo>
                  <a:lnTo>
                    <a:pt x="350" y="83"/>
                  </a:lnTo>
                  <a:lnTo>
                    <a:pt x="350" y="83"/>
                  </a:lnTo>
                  <a:lnTo>
                    <a:pt x="354" y="83"/>
                  </a:lnTo>
                  <a:lnTo>
                    <a:pt x="354" y="83"/>
                  </a:lnTo>
                  <a:lnTo>
                    <a:pt x="354" y="74"/>
                  </a:lnTo>
                  <a:lnTo>
                    <a:pt x="357" y="83"/>
                  </a:lnTo>
                  <a:lnTo>
                    <a:pt x="357" y="83"/>
                  </a:lnTo>
                  <a:lnTo>
                    <a:pt x="357" y="74"/>
                  </a:lnTo>
                  <a:lnTo>
                    <a:pt x="357" y="79"/>
                  </a:lnTo>
                  <a:lnTo>
                    <a:pt x="360" y="79"/>
                  </a:lnTo>
                  <a:lnTo>
                    <a:pt x="360" y="79"/>
                  </a:lnTo>
                  <a:lnTo>
                    <a:pt x="360" y="83"/>
                  </a:lnTo>
                  <a:lnTo>
                    <a:pt x="360" y="66"/>
                  </a:lnTo>
                  <a:lnTo>
                    <a:pt x="364" y="79"/>
                  </a:lnTo>
                  <a:lnTo>
                    <a:pt x="364" y="79"/>
                  </a:lnTo>
                  <a:lnTo>
                    <a:pt x="364" y="74"/>
                  </a:lnTo>
                  <a:lnTo>
                    <a:pt x="364" y="83"/>
                  </a:lnTo>
                  <a:lnTo>
                    <a:pt x="367" y="70"/>
                  </a:lnTo>
                  <a:lnTo>
                    <a:pt x="367" y="74"/>
                  </a:lnTo>
                  <a:lnTo>
                    <a:pt x="367" y="83"/>
                  </a:lnTo>
                  <a:lnTo>
                    <a:pt x="371" y="74"/>
                  </a:lnTo>
                  <a:lnTo>
                    <a:pt x="371" y="74"/>
                  </a:lnTo>
                  <a:lnTo>
                    <a:pt x="371" y="83"/>
                  </a:lnTo>
                  <a:lnTo>
                    <a:pt x="371" y="70"/>
                  </a:lnTo>
                  <a:lnTo>
                    <a:pt x="374" y="70"/>
                  </a:lnTo>
                  <a:lnTo>
                    <a:pt x="374" y="70"/>
                  </a:lnTo>
                  <a:lnTo>
                    <a:pt x="374" y="70"/>
                  </a:lnTo>
                  <a:lnTo>
                    <a:pt x="374" y="66"/>
                  </a:lnTo>
                  <a:lnTo>
                    <a:pt x="378" y="66"/>
                  </a:lnTo>
                  <a:lnTo>
                    <a:pt x="378" y="70"/>
                  </a:lnTo>
                  <a:lnTo>
                    <a:pt x="378" y="70"/>
                  </a:lnTo>
                  <a:lnTo>
                    <a:pt x="378" y="62"/>
                  </a:lnTo>
                  <a:lnTo>
                    <a:pt x="381" y="62"/>
                  </a:lnTo>
                  <a:lnTo>
                    <a:pt x="381" y="58"/>
                  </a:lnTo>
                  <a:lnTo>
                    <a:pt x="381" y="54"/>
                  </a:lnTo>
                  <a:lnTo>
                    <a:pt x="381" y="58"/>
                  </a:lnTo>
                  <a:lnTo>
                    <a:pt x="384" y="66"/>
                  </a:lnTo>
                  <a:lnTo>
                    <a:pt x="384" y="62"/>
                  </a:lnTo>
                  <a:lnTo>
                    <a:pt x="384" y="50"/>
                  </a:lnTo>
                  <a:lnTo>
                    <a:pt x="388" y="58"/>
                  </a:lnTo>
                  <a:lnTo>
                    <a:pt x="388" y="58"/>
                  </a:lnTo>
                  <a:lnTo>
                    <a:pt x="388" y="54"/>
                  </a:lnTo>
                  <a:lnTo>
                    <a:pt x="388" y="54"/>
                  </a:lnTo>
                  <a:lnTo>
                    <a:pt x="391" y="54"/>
                  </a:lnTo>
                  <a:lnTo>
                    <a:pt x="391" y="58"/>
                  </a:lnTo>
                  <a:lnTo>
                    <a:pt x="391" y="54"/>
                  </a:lnTo>
                  <a:lnTo>
                    <a:pt x="391" y="62"/>
                  </a:lnTo>
                  <a:lnTo>
                    <a:pt x="395" y="62"/>
                  </a:lnTo>
                  <a:lnTo>
                    <a:pt x="395" y="66"/>
                  </a:lnTo>
                  <a:lnTo>
                    <a:pt x="395" y="66"/>
                  </a:lnTo>
                  <a:lnTo>
                    <a:pt x="395" y="58"/>
                  </a:lnTo>
                  <a:lnTo>
                    <a:pt x="398" y="45"/>
                  </a:lnTo>
                  <a:lnTo>
                    <a:pt x="398" y="45"/>
                  </a:lnTo>
                  <a:lnTo>
                    <a:pt x="398" y="54"/>
                  </a:lnTo>
                  <a:lnTo>
                    <a:pt x="402" y="54"/>
                  </a:lnTo>
                  <a:lnTo>
                    <a:pt x="402" y="66"/>
                  </a:lnTo>
                  <a:lnTo>
                    <a:pt x="402" y="54"/>
                  </a:lnTo>
                  <a:lnTo>
                    <a:pt x="402" y="45"/>
                  </a:lnTo>
                  <a:lnTo>
                    <a:pt x="405" y="54"/>
                  </a:lnTo>
                  <a:lnTo>
                    <a:pt x="405" y="54"/>
                  </a:lnTo>
                  <a:lnTo>
                    <a:pt x="405" y="58"/>
                  </a:lnTo>
                  <a:lnTo>
                    <a:pt x="405" y="41"/>
                  </a:lnTo>
                  <a:lnTo>
                    <a:pt x="408" y="33"/>
                  </a:lnTo>
                  <a:lnTo>
                    <a:pt x="408" y="29"/>
                  </a:lnTo>
                  <a:lnTo>
                    <a:pt x="408" y="45"/>
                  </a:lnTo>
                  <a:lnTo>
                    <a:pt x="408" y="41"/>
                  </a:lnTo>
                  <a:lnTo>
                    <a:pt x="412" y="41"/>
                  </a:lnTo>
                  <a:lnTo>
                    <a:pt x="412" y="37"/>
                  </a:lnTo>
                  <a:lnTo>
                    <a:pt x="412" y="41"/>
                  </a:lnTo>
                  <a:lnTo>
                    <a:pt x="412" y="33"/>
                  </a:lnTo>
                  <a:lnTo>
                    <a:pt x="415" y="41"/>
                  </a:lnTo>
                  <a:lnTo>
                    <a:pt x="415" y="37"/>
                  </a:lnTo>
                  <a:lnTo>
                    <a:pt x="415" y="45"/>
                  </a:lnTo>
                  <a:lnTo>
                    <a:pt x="419" y="54"/>
                  </a:lnTo>
                  <a:lnTo>
                    <a:pt x="419" y="50"/>
                  </a:lnTo>
                  <a:lnTo>
                    <a:pt x="419" y="45"/>
                  </a:lnTo>
                  <a:lnTo>
                    <a:pt x="419" y="37"/>
                  </a:lnTo>
                  <a:lnTo>
                    <a:pt x="422" y="45"/>
                  </a:lnTo>
                  <a:lnTo>
                    <a:pt x="422" y="41"/>
                  </a:lnTo>
                  <a:lnTo>
                    <a:pt x="422" y="33"/>
                  </a:lnTo>
                  <a:lnTo>
                    <a:pt x="422" y="33"/>
                  </a:lnTo>
                  <a:lnTo>
                    <a:pt x="426" y="37"/>
                  </a:lnTo>
                  <a:lnTo>
                    <a:pt x="426" y="41"/>
                  </a:lnTo>
                  <a:lnTo>
                    <a:pt x="426" y="37"/>
                  </a:lnTo>
                  <a:lnTo>
                    <a:pt x="426" y="45"/>
                  </a:lnTo>
                  <a:lnTo>
                    <a:pt x="429" y="50"/>
                  </a:lnTo>
                  <a:lnTo>
                    <a:pt x="429" y="29"/>
                  </a:lnTo>
                  <a:lnTo>
                    <a:pt x="429" y="25"/>
                  </a:lnTo>
                  <a:lnTo>
                    <a:pt x="432" y="25"/>
                  </a:lnTo>
                  <a:lnTo>
                    <a:pt x="432" y="25"/>
                  </a:lnTo>
                  <a:lnTo>
                    <a:pt x="432" y="33"/>
                  </a:lnTo>
                  <a:lnTo>
                    <a:pt x="432" y="29"/>
                  </a:lnTo>
                  <a:lnTo>
                    <a:pt x="436" y="25"/>
                  </a:lnTo>
                  <a:lnTo>
                    <a:pt x="436" y="21"/>
                  </a:lnTo>
                  <a:lnTo>
                    <a:pt x="436" y="21"/>
                  </a:lnTo>
                  <a:lnTo>
                    <a:pt x="436" y="21"/>
                  </a:lnTo>
                  <a:lnTo>
                    <a:pt x="439" y="21"/>
                  </a:lnTo>
                  <a:lnTo>
                    <a:pt x="439" y="12"/>
                  </a:lnTo>
                  <a:lnTo>
                    <a:pt x="439" y="12"/>
                  </a:lnTo>
                  <a:lnTo>
                    <a:pt x="439" y="12"/>
                  </a:lnTo>
                  <a:lnTo>
                    <a:pt x="443" y="17"/>
                  </a:lnTo>
                  <a:lnTo>
                    <a:pt x="443" y="12"/>
                  </a:lnTo>
                  <a:lnTo>
                    <a:pt x="443" y="8"/>
                  </a:lnTo>
                  <a:lnTo>
                    <a:pt x="446" y="12"/>
                  </a:lnTo>
                  <a:lnTo>
                    <a:pt x="446" y="21"/>
                  </a:lnTo>
                  <a:lnTo>
                    <a:pt x="446" y="8"/>
                  </a:lnTo>
                  <a:lnTo>
                    <a:pt x="446" y="12"/>
                  </a:lnTo>
                  <a:lnTo>
                    <a:pt x="450" y="0"/>
                  </a:lnTo>
                  <a:lnTo>
                    <a:pt x="450" y="8"/>
                  </a:lnTo>
                  <a:lnTo>
                    <a:pt x="450" y="4"/>
                  </a:lnTo>
                  <a:lnTo>
                    <a:pt x="450" y="17"/>
                  </a:lnTo>
                  <a:lnTo>
                    <a:pt x="453" y="8"/>
                  </a:lnTo>
                  <a:lnTo>
                    <a:pt x="453" y="8"/>
                  </a:lnTo>
                  <a:lnTo>
                    <a:pt x="453" y="12"/>
                  </a:lnTo>
                  <a:lnTo>
                    <a:pt x="453" y="8"/>
                  </a:lnTo>
                </a:path>
              </a:pathLst>
            </a:custGeom>
            <a:noFill/>
            <a:ln w="468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7" name="Freeform 27">
              <a:extLst>
                <a:ext uri="{FF2B5EF4-FFF2-40B4-BE49-F238E27FC236}">
                  <a16:creationId xmlns:a16="http://schemas.microsoft.com/office/drawing/2014/main" id="{3DB2BD81-9588-DA49-A31F-1E9923339735}"/>
                </a:ext>
              </a:extLst>
            </p:cNvPr>
            <p:cNvSpPr>
              <a:spLocks noChangeArrowheads="1"/>
            </p:cNvSpPr>
            <p:nvPr/>
          </p:nvSpPr>
          <p:spPr bwMode="auto">
            <a:xfrm>
              <a:off x="3171" y="4410"/>
              <a:ext cx="958" cy="1"/>
            </a:xfrm>
            <a:custGeom>
              <a:avLst/>
              <a:gdLst>
                <a:gd name="T0" fmla="*/ 450 w 453"/>
                <a:gd name="T1" fmla="*/ 439 w 453"/>
                <a:gd name="T2" fmla="*/ 432 w 453"/>
                <a:gd name="T3" fmla="*/ 426 w 453"/>
                <a:gd name="T4" fmla="*/ 419 w 453"/>
                <a:gd name="T5" fmla="*/ 412 w 453"/>
                <a:gd name="T6" fmla="*/ 405 w 453"/>
                <a:gd name="T7" fmla="*/ 398 w 453"/>
                <a:gd name="T8" fmla="*/ 391 w 453"/>
                <a:gd name="T9" fmla="*/ 381 w 453"/>
                <a:gd name="T10" fmla="*/ 374 w 453"/>
                <a:gd name="T11" fmla="*/ 367 w 453"/>
                <a:gd name="T12" fmla="*/ 360 w 453"/>
                <a:gd name="T13" fmla="*/ 354 w 453"/>
                <a:gd name="T14" fmla="*/ 347 w 453"/>
                <a:gd name="T15" fmla="*/ 340 w 453"/>
                <a:gd name="T16" fmla="*/ 333 w 453"/>
                <a:gd name="T17" fmla="*/ 326 w 453"/>
                <a:gd name="T18" fmla="*/ 316 w 453"/>
                <a:gd name="T19" fmla="*/ 309 w 453"/>
                <a:gd name="T20" fmla="*/ 302 w 453"/>
                <a:gd name="T21" fmla="*/ 295 w 453"/>
                <a:gd name="T22" fmla="*/ 288 w 453"/>
                <a:gd name="T23" fmla="*/ 282 w 453"/>
                <a:gd name="T24" fmla="*/ 275 w 453"/>
                <a:gd name="T25" fmla="*/ 268 w 453"/>
                <a:gd name="T26" fmla="*/ 258 w 453"/>
                <a:gd name="T27" fmla="*/ 251 w 453"/>
                <a:gd name="T28" fmla="*/ 244 w 453"/>
                <a:gd name="T29" fmla="*/ 237 w 453"/>
                <a:gd name="T30" fmla="*/ 230 w 453"/>
                <a:gd name="T31" fmla="*/ 223 w 453"/>
                <a:gd name="T32" fmla="*/ 216 w 453"/>
                <a:gd name="T33" fmla="*/ 210 w 453"/>
                <a:gd name="T34" fmla="*/ 203 w 453"/>
                <a:gd name="T35" fmla="*/ 192 w 453"/>
                <a:gd name="T36" fmla="*/ 186 w 453"/>
                <a:gd name="T37" fmla="*/ 179 w 453"/>
                <a:gd name="T38" fmla="*/ 172 w 453"/>
                <a:gd name="T39" fmla="*/ 165 w 453"/>
                <a:gd name="T40" fmla="*/ 158 w 453"/>
                <a:gd name="T41" fmla="*/ 151 w 453"/>
                <a:gd name="T42" fmla="*/ 144 w 453"/>
                <a:gd name="T43" fmla="*/ 134 w 453"/>
                <a:gd name="T44" fmla="*/ 127 w 453"/>
                <a:gd name="T45" fmla="*/ 120 w 453"/>
                <a:gd name="T46" fmla="*/ 114 w 453"/>
                <a:gd name="T47" fmla="*/ 107 w 453"/>
                <a:gd name="T48" fmla="*/ 100 w 453"/>
                <a:gd name="T49" fmla="*/ 93 w 453"/>
                <a:gd name="T50" fmla="*/ 86 w 453"/>
                <a:gd name="T51" fmla="*/ 76 w 453"/>
                <a:gd name="T52" fmla="*/ 69 w 453"/>
                <a:gd name="T53" fmla="*/ 62 w 453"/>
                <a:gd name="T54" fmla="*/ 55 w 453"/>
                <a:gd name="T55" fmla="*/ 48 w 453"/>
                <a:gd name="T56" fmla="*/ 42 w 453"/>
                <a:gd name="T57" fmla="*/ 35 w 453"/>
                <a:gd name="T58" fmla="*/ 28 w 453"/>
                <a:gd name="T59" fmla="*/ 21 w 453"/>
                <a:gd name="T60" fmla="*/ 11 w 453"/>
                <a:gd name="T61" fmla="*/ 4 w 453"/>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 ang="0">
                  <a:pos x="T25" y="0"/>
                </a:cxn>
                <a:cxn ang="0">
                  <a:pos x="T26" y="0"/>
                </a:cxn>
                <a:cxn ang="0">
                  <a:pos x="T27" y="0"/>
                </a:cxn>
                <a:cxn ang="0">
                  <a:pos x="T28" y="0"/>
                </a:cxn>
                <a:cxn ang="0">
                  <a:pos x="T29" y="0"/>
                </a:cxn>
                <a:cxn ang="0">
                  <a:pos x="T30" y="0"/>
                </a:cxn>
                <a:cxn ang="0">
                  <a:pos x="T31" y="0"/>
                </a:cxn>
                <a:cxn ang="0">
                  <a:pos x="T32" y="0"/>
                </a:cxn>
                <a:cxn ang="0">
                  <a:pos x="T33" y="0"/>
                </a:cxn>
                <a:cxn ang="0">
                  <a:pos x="T34" y="0"/>
                </a:cxn>
                <a:cxn ang="0">
                  <a:pos x="T35" y="0"/>
                </a:cxn>
                <a:cxn ang="0">
                  <a:pos x="T36" y="0"/>
                </a:cxn>
                <a:cxn ang="0">
                  <a:pos x="T37" y="0"/>
                </a:cxn>
                <a:cxn ang="0">
                  <a:pos x="T38" y="0"/>
                </a:cxn>
                <a:cxn ang="0">
                  <a:pos x="T39" y="0"/>
                </a:cxn>
                <a:cxn ang="0">
                  <a:pos x="T40" y="0"/>
                </a:cxn>
                <a:cxn ang="0">
                  <a:pos x="T41" y="0"/>
                </a:cxn>
                <a:cxn ang="0">
                  <a:pos x="T42" y="0"/>
                </a:cxn>
                <a:cxn ang="0">
                  <a:pos x="T43" y="0"/>
                </a:cxn>
                <a:cxn ang="0">
                  <a:pos x="T44" y="0"/>
                </a:cxn>
                <a:cxn ang="0">
                  <a:pos x="T45" y="0"/>
                </a:cxn>
                <a:cxn ang="0">
                  <a:pos x="T46" y="0"/>
                </a:cxn>
                <a:cxn ang="0">
                  <a:pos x="T47" y="0"/>
                </a:cxn>
                <a:cxn ang="0">
                  <a:pos x="T48" y="0"/>
                </a:cxn>
                <a:cxn ang="0">
                  <a:pos x="T49" y="0"/>
                </a:cxn>
                <a:cxn ang="0">
                  <a:pos x="T50" y="0"/>
                </a:cxn>
                <a:cxn ang="0">
                  <a:pos x="T51" y="0"/>
                </a:cxn>
                <a:cxn ang="0">
                  <a:pos x="T52" y="0"/>
                </a:cxn>
                <a:cxn ang="0">
                  <a:pos x="T53" y="0"/>
                </a:cxn>
                <a:cxn ang="0">
                  <a:pos x="T54" y="0"/>
                </a:cxn>
                <a:cxn ang="0">
                  <a:pos x="T55" y="0"/>
                </a:cxn>
                <a:cxn ang="0">
                  <a:pos x="T56" y="0"/>
                </a:cxn>
                <a:cxn ang="0">
                  <a:pos x="T57" y="0"/>
                </a:cxn>
                <a:cxn ang="0">
                  <a:pos x="T58" y="0"/>
                </a:cxn>
                <a:cxn ang="0">
                  <a:pos x="T59" y="0"/>
                </a:cxn>
                <a:cxn ang="0">
                  <a:pos x="T60" y="0"/>
                </a:cxn>
                <a:cxn ang="0">
                  <a:pos x="T61" y="0"/>
                </a:cxn>
              </a:cxnLst>
              <a:rect l="0" t="0" r="r" b="b"/>
              <a:pathLst>
                <a:path w="453">
                  <a:moveTo>
                    <a:pt x="453" y="0"/>
                  </a:moveTo>
                  <a:lnTo>
                    <a:pt x="453" y="0"/>
                  </a:lnTo>
                  <a:lnTo>
                    <a:pt x="453" y="0"/>
                  </a:lnTo>
                  <a:lnTo>
                    <a:pt x="453" y="0"/>
                  </a:lnTo>
                  <a:lnTo>
                    <a:pt x="450" y="0"/>
                  </a:lnTo>
                  <a:lnTo>
                    <a:pt x="450" y="0"/>
                  </a:lnTo>
                  <a:lnTo>
                    <a:pt x="450" y="0"/>
                  </a:lnTo>
                  <a:lnTo>
                    <a:pt x="450" y="0"/>
                  </a:lnTo>
                  <a:lnTo>
                    <a:pt x="446" y="0"/>
                  </a:lnTo>
                  <a:lnTo>
                    <a:pt x="446" y="0"/>
                  </a:lnTo>
                  <a:lnTo>
                    <a:pt x="446" y="0"/>
                  </a:lnTo>
                  <a:lnTo>
                    <a:pt x="446" y="0"/>
                  </a:lnTo>
                  <a:lnTo>
                    <a:pt x="443" y="0"/>
                  </a:lnTo>
                  <a:lnTo>
                    <a:pt x="443" y="0"/>
                  </a:lnTo>
                  <a:lnTo>
                    <a:pt x="443" y="0"/>
                  </a:lnTo>
                  <a:lnTo>
                    <a:pt x="439" y="0"/>
                  </a:lnTo>
                  <a:lnTo>
                    <a:pt x="439" y="0"/>
                  </a:lnTo>
                  <a:lnTo>
                    <a:pt x="439" y="0"/>
                  </a:lnTo>
                  <a:lnTo>
                    <a:pt x="439" y="0"/>
                  </a:lnTo>
                  <a:lnTo>
                    <a:pt x="436" y="0"/>
                  </a:lnTo>
                  <a:lnTo>
                    <a:pt x="436" y="0"/>
                  </a:lnTo>
                  <a:lnTo>
                    <a:pt x="436" y="0"/>
                  </a:lnTo>
                  <a:lnTo>
                    <a:pt x="436" y="0"/>
                  </a:lnTo>
                  <a:lnTo>
                    <a:pt x="432" y="0"/>
                  </a:lnTo>
                  <a:lnTo>
                    <a:pt x="432" y="0"/>
                  </a:lnTo>
                  <a:lnTo>
                    <a:pt x="432" y="0"/>
                  </a:lnTo>
                  <a:lnTo>
                    <a:pt x="432" y="0"/>
                  </a:lnTo>
                  <a:lnTo>
                    <a:pt x="429" y="0"/>
                  </a:lnTo>
                  <a:lnTo>
                    <a:pt x="429" y="0"/>
                  </a:lnTo>
                  <a:lnTo>
                    <a:pt x="429" y="0"/>
                  </a:lnTo>
                  <a:lnTo>
                    <a:pt x="426" y="0"/>
                  </a:lnTo>
                  <a:lnTo>
                    <a:pt x="426" y="0"/>
                  </a:lnTo>
                  <a:lnTo>
                    <a:pt x="426" y="0"/>
                  </a:lnTo>
                  <a:lnTo>
                    <a:pt x="426" y="0"/>
                  </a:lnTo>
                  <a:lnTo>
                    <a:pt x="422" y="0"/>
                  </a:lnTo>
                  <a:lnTo>
                    <a:pt x="422" y="0"/>
                  </a:lnTo>
                  <a:lnTo>
                    <a:pt x="422" y="0"/>
                  </a:lnTo>
                  <a:lnTo>
                    <a:pt x="422" y="0"/>
                  </a:lnTo>
                  <a:lnTo>
                    <a:pt x="419" y="0"/>
                  </a:lnTo>
                  <a:lnTo>
                    <a:pt x="419" y="0"/>
                  </a:lnTo>
                  <a:lnTo>
                    <a:pt x="419" y="0"/>
                  </a:lnTo>
                  <a:lnTo>
                    <a:pt x="419" y="0"/>
                  </a:lnTo>
                  <a:lnTo>
                    <a:pt x="415" y="0"/>
                  </a:lnTo>
                  <a:lnTo>
                    <a:pt x="415" y="0"/>
                  </a:lnTo>
                  <a:lnTo>
                    <a:pt x="415" y="0"/>
                  </a:lnTo>
                  <a:lnTo>
                    <a:pt x="412" y="0"/>
                  </a:lnTo>
                  <a:lnTo>
                    <a:pt x="412" y="0"/>
                  </a:lnTo>
                  <a:lnTo>
                    <a:pt x="412" y="0"/>
                  </a:lnTo>
                  <a:lnTo>
                    <a:pt x="412" y="0"/>
                  </a:lnTo>
                  <a:lnTo>
                    <a:pt x="408" y="0"/>
                  </a:lnTo>
                  <a:lnTo>
                    <a:pt x="408" y="0"/>
                  </a:lnTo>
                  <a:lnTo>
                    <a:pt x="408" y="0"/>
                  </a:lnTo>
                  <a:lnTo>
                    <a:pt x="408" y="0"/>
                  </a:lnTo>
                  <a:lnTo>
                    <a:pt x="405" y="0"/>
                  </a:lnTo>
                  <a:lnTo>
                    <a:pt x="405" y="0"/>
                  </a:lnTo>
                  <a:lnTo>
                    <a:pt x="405" y="0"/>
                  </a:lnTo>
                  <a:lnTo>
                    <a:pt x="405" y="0"/>
                  </a:lnTo>
                  <a:lnTo>
                    <a:pt x="402" y="0"/>
                  </a:lnTo>
                  <a:lnTo>
                    <a:pt x="402" y="0"/>
                  </a:lnTo>
                  <a:lnTo>
                    <a:pt x="402" y="0"/>
                  </a:lnTo>
                  <a:lnTo>
                    <a:pt x="402" y="0"/>
                  </a:lnTo>
                  <a:lnTo>
                    <a:pt x="398" y="0"/>
                  </a:lnTo>
                  <a:lnTo>
                    <a:pt x="398" y="0"/>
                  </a:lnTo>
                  <a:lnTo>
                    <a:pt x="398" y="0"/>
                  </a:lnTo>
                  <a:lnTo>
                    <a:pt x="395" y="0"/>
                  </a:lnTo>
                  <a:lnTo>
                    <a:pt x="395" y="0"/>
                  </a:lnTo>
                  <a:lnTo>
                    <a:pt x="395" y="0"/>
                  </a:lnTo>
                  <a:lnTo>
                    <a:pt x="395" y="0"/>
                  </a:lnTo>
                  <a:lnTo>
                    <a:pt x="391" y="0"/>
                  </a:lnTo>
                  <a:lnTo>
                    <a:pt x="391" y="0"/>
                  </a:lnTo>
                  <a:lnTo>
                    <a:pt x="391" y="0"/>
                  </a:lnTo>
                  <a:lnTo>
                    <a:pt x="391" y="0"/>
                  </a:lnTo>
                  <a:lnTo>
                    <a:pt x="388" y="0"/>
                  </a:lnTo>
                  <a:lnTo>
                    <a:pt x="388" y="0"/>
                  </a:lnTo>
                  <a:lnTo>
                    <a:pt x="388" y="0"/>
                  </a:lnTo>
                  <a:lnTo>
                    <a:pt x="388" y="0"/>
                  </a:lnTo>
                  <a:lnTo>
                    <a:pt x="384" y="0"/>
                  </a:lnTo>
                  <a:lnTo>
                    <a:pt x="384" y="0"/>
                  </a:lnTo>
                  <a:lnTo>
                    <a:pt x="384" y="0"/>
                  </a:lnTo>
                  <a:lnTo>
                    <a:pt x="381" y="0"/>
                  </a:lnTo>
                  <a:lnTo>
                    <a:pt x="381" y="0"/>
                  </a:lnTo>
                  <a:lnTo>
                    <a:pt x="381" y="0"/>
                  </a:lnTo>
                  <a:lnTo>
                    <a:pt x="381" y="0"/>
                  </a:lnTo>
                  <a:lnTo>
                    <a:pt x="378" y="0"/>
                  </a:lnTo>
                  <a:lnTo>
                    <a:pt x="378" y="0"/>
                  </a:lnTo>
                  <a:lnTo>
                    <a:pt x="378" y="0"/>
                  </a:lnTo>
                  <a:lnTo>
                    <a:pt x="378" y="0"/>
                  </a:lnTo>
                  <a:lnTo>
                    <a:pt x="374" y="0"/>
                  </a:lnTo>
                  <a:lnTo>
                    <a:pt x="374" y="0"/>
                  </a:lnTo>
                  <a:lnTo>
                    <a:pt x="374" y="0"/>
                  </a:lnTo>
                  <a:lnTo>
                    <a:pt x="374" y="0"/>
                  </a:lnTo>
                  <a:lnTo>
                    <a:pt x="371" y="0"/>
                  </a:lnTo>
                  <a:lnTo>
                    <a:pt x="371" y="0"/>
                  </a:lnTo>
                  <a:lnTo>
                    <a:pt x="371" y="0"/>
                  </a:lnTo>
                  <a:lnTo>
                    <a:pt x="371" y="0"/>
                  </a:lnTo>
                  <a:lnTo>
                    <a:pt x="367" y="0"/>
                  </a:lnTo>
                  <a:lnTo>
                    <a:pt x="367" y="0"/>
                  </a:lnTo>
                  <a:lnTo>
                    <a:pt x="367" y="0"/>
                  </a:lnTo>
                  <a:lnTo>
                    <a:pt x="364" y="0"/>
                  </a:lnTo>
                  <a:lnTo>
                    <a:pt x="364" y="0"/>
                  </a:lnTo>
                  <a:lnTo>
                    <a:pt x="364" y="0"/>
                  </a:lnTo>
                  <a:lnTo>
                    <a:pt x="364" y="0"/>
                  </a:lnTo>
                  <a:lnTo>
                    <a:pt x="360" y="0"/>
                  </a:lnTo>
                  <a:lnTo>
                    <a:pt x="360" y="0"/>
                  </a:lnTo>
                  <a:lnTo>
                    <a:pt x="360" y="0"/>
                  </a:lnTo>
                  <a:lnTo>
                    <a:pt x="360" y="0"/>
                  </a:lnTo>
                  <a:lnTo>
                    <a:pt x="357" y="0"/>
                  </a:lnTo>
                  <a:lnTo>
                    <a:pt x="357" y="0"/>
                  </a:lnTo>
                  <a:lnTo>
                    <a:pt x="357" y="0"/>
                  </a:lnTo>
                  <a:lnTo>
                    <a:pt x="357" y="0"/>
                  </a:lnTo>
                  <a:lnTo>
                    <a:pt x="354" y="0"/>
                  </a:lnTo>
                  <a:lnTo>
                    <a:pt x="354" y="0"/>
                  </a:lnTo>
                  <a:lnTo>
                    <a:pt x="354" y="0"/>
                  </a:lnTo>
                  <a:lnTo>
                    <a:pt x="350" y="0"/>
                  </a:lnTo>
                  <a:lnTo>
                    <a:pt x="350" y="0"/>
                  </a:lnTo>
                  <a:lnTo>
                    <a:pt x="350" y="0"/>
                  </a:lnTo>
                  <a:lnTo>
                    <a:pt x="350" y="0"/>
                  </a:lnTo>
                  <a:lnTo>
                    <a:pt x="347" y="0"/>
                  </a:lnTo>
                  <a:lnTo>
                    <a:pt x="347" y="0"/>
                  </a:lnTo>
                  <a:lnTo>
                    <a:pt x="347" y="0"/>
                  </a:lnTo>
                  <a:lnTo>
                    <a:pt x="347" y="0"/>
                  </a:lnTo>
                  <a:lnTo>
                    <a:pt x="343" y="0"/>
                  </a:lnTo>
                  <a:lnTo>
                    <a:pt x="343" y="0"/>
                  </a:lnTo>
                  <a:lnTo>
                    <a:pt x="343" y="0"/>
                  </a:lnTo>
                  <a:lnTo>
                    <a:pt x="343" y="0"/>
                  </a:lnTo>
                  <a:lnTo>
                    <a:pt x="340" y="0"/>
                  </a:lnTo>
                  <a:lnTo>
                    <a:pt x="340" y="0"/>
                  </a:lnTo>
                  <a:lnTo>
                    <a:pt x="340" y="0"/>
                  </a:lnTo>
                  <a:lnTo>
                    <a:pt x="340" y="0"/>
                  </a:lnTo>
                  <a:lnTo>
                    <a:pt x="336" y="0"/>
                  </a:lnTo>
                  <a:lnTo>
                    <a:pt x="336" y="0"/>
                  </a:lnTo>
                  <a:lnTo>
                    <a:pt x="336" y="0"/>
                  </a:lnTo>
                  <a:lnTo>
                    <a:pt x="333" y="0"/>
                  </a:lnTo>
                  <a:lnTo>
                    <a:pt x="333" y="0"/>
                  </a:lnTo>
                  <a:lnTo>
                    <a:pt x="333" y="0"/>
                  </a:lnTo>
                  <a:lnTo>
                    <a:pt x="333" y="0"/>
                  </a:lnTo>
                  <a:lnTo>
                    <a:pt x="330" y="0"/>
                  </a:lnTo>
                  <a:lnTo>
                    <a:pt x="330" y="0"/>
                  </a:lnTo>
                  <a:lnTo>
                    <a:pt x="330" y="0"/>
                  </a:lnTo>
                  <a:lnTo>
                    <a:pt x="330" y="0"/>
                  </a:lnTo>
                  <a:lnTo>
                    <a:pt x="326" y="0"/>
                  </a:lnTo>
                  <a:lnTo>
                    <a:pt x="326" y="0"/>
                  </a:lnTo>
                  <a:lnTo>
                    <a:pt x="326" y="0"/>
                  </a:lnTo>
                  <a:lnTo>
                    <a:pt x="326" y="0"/>
                  </a:lnTo>
                  <a:lnTo>
                    <a:pt x="323" y="0"/>
                  </a:lnTo>
                  <a:lnTo>
                    <a:pt x="323" y="0"/>
                  </a:lnTo>
                  <a:lnTo>
                    <a:pt x="323" y="0"/>
                  </a:lnTo>
                  <a:lnTo>
                    <a:pt x="319" y="0"/>
                  </a:lnTo>
                  <a:lnTo>
                    <a:pt x="319" y="0"/>
                  </a:lnTo>
                  <a:lnTo>
                    <a:pt x="319" y="0"/>
                  </a:lnTo>
                  <a:lnTo>
                    <a:pt x="319" y="0"/>
                  </a:lnTo>
                  <a:lnTo>
                    <a:pt x="316" y="0"/>
                  </a:lnTo>
                  <a:lnTo>
                    <a:pt x="316" y="0"/>
                  </a:lnTo>
                  <a:lnTo>
                    <a:pt x="316" y="0"/>
                  </a:lnTo>
                  <a:lnTo>
                    <a:pt x="316" y="0"/>
                  </a:lnTo>
                  <a:lnTo>
                    <a:pt x="312" y="0"/>
                  </a:lnTo>
                  <a:lnTo>
                    <a:pt x="312" y="0"/>
                  </a:lnTo>
                  <a:lnTo>
                    <a:pt x="312" y="0"/>
                  </a:lnTo>
                  <a:lnTo>
                    <a:pt x="312" y="0"/>
                  </a:lnTo>
                  <a:lnTo>
                    <a:pt x="309" y="0"/>
                  </a:lnTo>
                  <a:lnTo>
                    <a:pt x="309" y="0"/>
                  </a:lnTo>
                  <a:lnTo>
                    <a:pt x="309" y="0"/>
                  </a:lnTo>
                  <a:lnTo>
                    <a:pt x="306" y="0"/>
                  </a:lnTo>
                  <a:lnTo>
                    <a:pt x="306" y="0"/>
                  </a:lnTo>
                  <a:lnTo>
                    <a:pt x="306" y="0"/>
                  </a:lnTo>
                  <a:lnTo>
                    <a:pt x="306" y="0"/>
                  </a:lnTo>
                  <a:lnTo>
                    <a:pt x="302" y="0"/>
                  </a:lnTo>
                  <a:lnTo>
                    <a:pt x="302" y="0"/>
                  </a:lnTo>
                  <a:lnTo>
                    <a:pt x="302" y="0"/>
                  </a:lnTo>
                  <a:lnTo>
                    <a:pt x="302" y="0"/>
                  </a:lnTo>
                  <a:lnTo>
                    <a:pt x="299" y="0"/>
                  </a:lnTo>
                  <a:lnTo>
                    <a:pt x="299" y="0"/>
                  </a:lnTo>
                  <a:lnTo>
                    <a:pt x="299" y="0"/>
                  </a:lnTo>
                  <a:lnTo>
                    <a:pt x="299" y="0"/>
                  </a:lnTo>
                  <a:lnTo>
                    <a:pt x="295" y="0"/>
                  </a:lnTo>
                  <a:lnTo>
                    <a:pt x="295" y="0"/>
                  </a:lnTo>
                  <a:lnTo>
                    <a:pt x="295" y="0"/>
                  </a:lnTo>
                  <a:lnTo>
                    <a:pt x="295" y="0"/>
                  </a:lnTo>
                  <a:lnTo>
                    <a:pt x="292" y="0"/>
                  </a:lnTo>
                  <a:lnTo>
                    <a:pt x="292" y="0"/>
                  </a:lnTo>
                  <a:lnTo>
                    <a:pt x="292" y="0"/>
                  </a:lnTo>
                  <a:lnTo>
                    <a:pt x="288" y="0"/>
                  </a:lnTo>
                  <a:lnTo>
                    <a:pt x="288" y="0"/>
                  </a:lnTo>
                  <a:lnTo>
                    <a:pt x="288" y="0"/>
                  </a:lnTo>
                  <a:lnTo>
                    <a:pt x="288" y="0"/>
                  </a:lnTo>
                  <a:lnTo>
                    <a:pt x="285" y="0"/>
                  </a:lnTo>
                  <a:lnTo>
                    <a:pt x="285" y="0"/>
                  </a:lnTo>
                  <a:lnTo>
                    <a:pt x="285" y="0"/>
                  </a:lnTo>
                  <a:lnTo>
                    <a:pt x="285" y="0"/>
                  </a:lnTo>
                  <a:lnTo>
                    <a:pt x="282" y="0"/>
                  </a:lnTo>
                  <a:lnTo>
                    <a:pt x="282" y="0"/>
                  </a:lnTo>
                  <a:lnTo>
                    <a:pt x="282" y="0"/>
                  </a:lnTo>
                  <a:lnTo>
                    <a:pt x="282" y="0"/>
                  </a:lnTo>
                  <a:lnTo>
                    <a:pt x="278" y="0"/>
                  </a:lnTo>
                  <a:lnTo>
                    <a:pt x="278" y="0"/>
                  </a:lnTo>
                  <a:lnTo>
                    <a:pt x="278" y="0"/>
                  </a:lnTo>
                  <a:lnTo>
                    <a:pt x="275" y="0"/>
                  </a:lnTo>
                  <a:lnTo>
                    <a:pt x="275" y="0"/>
                  </a:lnTo>
                  <a:lnTo>
                    <a:pt x="275" y="0"/>
                  </a:lnTo>
                  <a:lnTo>
                    <a:pt x="275" y="0"/>
                  </a:lnTo>
                  <a:lnTo>
                    <a:pt x="271" y="0"/>
                  </a:lnTo>
                  <a:lnTo>
                    <a:pt x="271" y="0"/>
                  </a:lnTo>
                  <a:lnTo>
                    <a:pt x="271" y="0"/>
                  </a:lnTo>
                  <a:lnTo>
                    <a:pt x="271" y="0"/>
                  </a:lnTo>
                  <a:lnTo>
                    <a:pt x="268" y="0"/>
                  </a:lnTo>
                  <a:lnTo>
                    <a:pt x="268" y="0"/>
                  </a:lnTo>
                  <a:lnTo>
                    <a:pt x="268" y="0"/>
                  </a:lnTo>
                  <a:lnTo>
                    <a:pt x="268" y="0"/>
                  </a:lnTo>
                  <a:lnTo>
                    <a:pt x="264" y="0"/>
                  </a:lnTo>
                  <a:lnTo>
                    <a:pt x="264" y="0"/>
                  </a:lnTo>
                  <a:lnTo>
                    <a:pt x="264" y="0"/>
                  </a:lnTo>
                  <a:lnTo>
                    <a:pt x="264" y="0"/>
                  </a:lnTo>
                  <a:lnTo>
                    <a:pt x="261" y="0"/>
                  </a:lnTo>
                  <a:lnTo>
                    <a:pt x="261" y="0"/>
                  </a:lnTo>
                  <a:lnTo>
                    <a:pt x="261" y="0"/>
                  </a:lnTo>
                  <a:lnTo>
                    <a:pt x="258" y="0"/>
                  </a:lnTo>
                  <a:lnTo>
                    <a:pt x="258" y="0"/>
                  </a:lnTo>
                  <a:lnTo>
                    <a:pt x="258" y="0"/>
                  </a:lnTo>
                  <a:lnTo>
                    <a:pt x="258" y="0"/>
                  </a:lnTo>
                  <a:lnTo>
                    <a:pt x="254" y="0"/>
                  </a:lnTo>
                  <a:lnTo>
                    <a:pt x="254" y="0"/>
                  </a:lnTo>
                  <a:lnTo>
                    <a:pt x="254" y="0"/>
                  </a:lnTo>
                  <a:lnTo>
                    <a:pt x="254" y="0"/>
                  </a:lnTo>
                  <a:lnTo>
                    <a:pt x="251" y="0"/>
                  </a:lnTo>
                  <a:lnTo>
                    <a:pt x="251" y="0"/>
                  </a:lnTo>
                  <a:lnTo>
                    <a:pt x="251" y="0"/>
                  </a:lnTo>
                  <a:lnTo>
                    <a:pt x="251" y="0"/>
                  </a:lnTo>
                  <a:lnTo>
                    <a:pt x="247" y="0"/>
                  </a:lnTo>
                  <a:lnTo>
                    <a:pt x="247" y="0"/>
                  </a:lnTo>
                  <a:lnTo>
                    <a:pt x="247" y="0"/>
                  </a:lnTo>
                  <a:lnTo>
                    <a:pt x="244" y="0"/>
                  </a:lnTo>
                  <a:lnTo>
                    <a:pt x="244" y="0"/>
                  </a:lnTo>
                  <a:lnTo>
                    <a:pt x="244" y="0"/>
                  </a:lnTo>
                  <a:lnTo>
                    <a:pt x="244" y="0"/>
                  </a:lnTo>
                  <a:lnTo>
                    <a:pt x="240" y="0"/>
                  </a:lnTo>
                  <a:lnTo>
                    <a:pt x="240" y="0"/>
                  </a:lnTo>
                  <a:lnTo>
                    <a:pt x="240" y="0"/>
                  </a:lnTo>
                  <a:lnTo>
                    <a:pt x="240" y="0"/>
                  </a:lnTo>
                  <a:lnTo>
                    <a:pt x="237" y="0"/>
                  </a:lnTo>
                  <a:lnTo>
                    <a:pt x="237" y="0"/>
                  </a:lnTo>
                  <a:lnTo>
                    <a:pt x="237" y="0"/>
                  </a:lnTo>
                  <a:lnTo>
                    <a:pt x="237" y="0"/>
                  </a:lnTo>
                  <a:lnTo>
                    <a:pt x="234" y="0"/>
                  </a:lnTo>
                  <a:lnTo>
                    <a:pt x="234" y="0"/>
                  </a:lnTo>
                  <a:lnTo>
                    <a:pt x="234" y="0"/>
                  </a:lnTo>
                  <a:lnTo>
                    <a:pt x="234" y="0"/>
                  </a:lnTo>
                  <a:lnTo>
                    <a:pt x="230" y="0"/>
                  </a:lnTo>
                  <a:lnTo>
                    <a:pt x="230" y="0"/>
                  </a:lnTo>
                  <a:lnTo>
                    <a:pt x="230" y="0"/>
                  </a:lnTo>
                  <a:lnTo>
                    <a:pt x="227" y="0"/>
                  </a:lnTo>
                  <a:lnTo>
                    <a:pt x="227" y="0"/>
                  </a:lnTo>
                  <a:lnTo>
                    <a:pt x="227" y="0"/>
                  </a:lnTo>
                  <a:lnTo>
                    <a:pt x="227" y="0"/>
                  </a:lnTo>
                  <a:lnTo>
                    <a:pt x="223" y="0"/>
                  </a:lnTo>
                  <a:lnTo>
                    <a:pt x="223" y="0"/>
                  </a:lnTo>
                  <a:lnTo>
                    <a:pt x="223" y="0"/>
                  </a:lnTo>
                  <a:lnTo>
                    <a:pt x="223" y="0"/>
                  </a:lnTo>
                  <a:lnTo>
                    <a:pt x="220" y="0"/>
                  </a:lnTo>
                  <a:lnTo>
                    <a:pt x="220" y="0"/>
                  </a:lnTo>
                  <a:lnTo>
                    <a:pt x="220" y="0"/>
                  </a:lnTo>
                  <a:lnTo>
                    <a:pt x="220" y="0"/>
                  </a:lnTo>
                  <a:lnTo>
                    <a:pt x="216" y="0"/>
                  </a:lnTo>
                  <a:lnTo>
                    <a:pt x="216" y="0"/>
                  </a:lnTo>
                  <a:lnTo>
                    <a:pt x="216" y="0"/>
                  </a:lnTo>
                  <a:lnTo>
                    <a:pt x="213" y="0"/>
                  </a:lnTo>
                  <a:lnTo>
                    <a:pt x="213" y="0"/>
                  </a:lnTo>
                  <a:lnTo>
                    <a:pt x="213" y="0"/>
                  </a:lnTo>
                  <a:lnTo>
                    <a:pt x="213" y="0"/>
                  </a:lnTo>
                  <a:lnTo>
                    <a:pt x="210" y="0"/>
                  </a:lnTo>
                  <a:lnTo>
                    <a:pt x="210" y="0"/>
                  </a:lnTo>
                  <a:lnTo>
                    <a:pt x="210" y="0"/>
                  </a:lnTo>
                  <a:lnTo>
                    <a:pt x="210" y="0"/>
                  </a:lnTo>
                  <a:lnTo>
                    <a:pt x="206" y="0"/>
                  </a:lnTo>
                  <a:lnTo>
                    <a:pt x="206" y="0"/>
                  </a:lnTo>
                  <a:lnTo>
                    <a:pt x="206" y="0"/>
                  </a:lnTo>
                  <a:lnTo>
                    <a:pt x="206" y="0"/>
                  </a:lnTo>
                  <a:lnTo>
                    <a:pt x="203" y="0"/>
                  </a:lnTo>
                  <a:lnTo>
                    <a:pt x="203" y="0"/>
                  </a:lnTo>
                  <a:lnTo>
                    <a:pt x="203" y="0"/>
                  </a:lnTo>
                  <a:lnTo>
                    <a:pt x="203" y="0"/>
                  </a:lnTo>
                  <a:lnTo>
                    <a:pt x="199" y="0"/>
                  </a:lnTo>
                  <a:lnTo>
                    <a:pt x="199" y="0"/>
                  </a:lnTo>
                  <a:lnTo>
                    <a:pt x="199" y="0"/>
                  </a:lnTo>
                  <a:lnTo>
                    <a:pt x="196" y="0"/>
                  </a:lnTo>
                  <a:lnTo>
                    <a:pt x="196" y="0"/>
                  </a:lnTo>
                  <a:lnTo>
                    <a:pt x="196" y="0"/>
                  </a:lnTo>
                  <a:lnTo>
                    <a:pt x="196" y="0"/>
                  </a:lnTo>
                  <a:lnTo>
                    <a:pt x="192" y="0"/>
                  </a:lnTo>
                  <a:lnTo>
                    <a:pt x="192" y="0"/>
                  </a:lnTo>
                  <a:lnTo>
                    <a:pt x="192" y="0"/>
                  </a:lnTo>
                  <a:lnTo>
                    <a:pt x="192" y="0"/>
                  </a:lnTo>
                  <a:lnTo>
                    <a:pt x="189" y="0"/>
                  </a:lnTo>
                  <a:lnTo>
                    <a:pt x="189" y="0"/>
                  </a:lnTo>
                  <a:lnTo>
                    <a:pt x="189" y="0"/>
                  </a:lnTo>
                  <a:lnTo>
                    <a:pt x="189" y="0"/>
                  </a:lnTo>
                  <a:lnTo>
                    <a:pt x="186" y="0"/>
                  </a:lnTo>
                  <a:lnTo>
                    <a:pt x="186" y="0"/>
                  </a:lnTo>
                  <a:lnTo>
                    <a:pt x="186" y="0"/>
                  </a:lnTo>
                  <a:lnTo>
                    <a:pt x="182" y="0"/>
                  </a:lnTo>
                  <a:lnTo>
                    <a:pt x="182" y="0"/>
                  </a:lnTo>
                  <a:lnTo>
                    <a:pt x="182" y="0"/>
                  </a:lnTo>
                  <a:lnTo>
                    <a:pt x="182" y="0"/>
                  </a:lnTo>
                  <a:lnTo>
                    <a:pt x="179" y="0"/>
                  </a:lnTo>
                  <a:lnTo>
                    <a:pt x="179" y="0"/>
                  </a:lnTo>
                  <a:lnTo>
                    <a:pt x="179" y="0"/>
                  </a:lnTo>
                  <a:lnTo>
                    <a:pt x="179" y="0"/>
                  </a:lnTo>
                  <a:lnTo>
                    <a:pt x="175" y="0"/>
                  </a:lnTo>
                  <a:lnTo>
                    <a:pt x="175" y="0"/>
                  </a:lnTo>
                  <a:lnTo>
                    <a:pt x="175" y="0"/>
                  </a:lnTo>
                  <a:lnTo>
                    <a:pt x="175" y="0"/>
                  </a:lnTo>
                  <a:lnTo>
                    <a:pt x="172" y="0"/>
                  </a:lnTo>
                  <a:lnTo>
                    <a:pt x="172" y="0"/>
                  </a:lnTo>
                  <a:lnTo>
                    <a:pt x="172" y="0"/>
                  </a:lnTo>
                  <a:lnTo>
                    <a:pt x="168" y="0"/>
                  </a:lnTo>
                  <a:lnTo>
                    <a:pt x="168" y="0"/>
                  </a:lnTo>
                  <a:lnTo>
                    <a:pt x="168" y="0"/>
                  </a:lnTo>
                  <a:lnTo>
                    <a:pt x="168" y="0"/>
                  </a:lnTo>
                  <a:lnTo>
                    <a:pt x="165" y="0"/>
                  </a:lnTo>
                  <a:lnTo>
                    <a:pt x="165" y="0"/>
                  </a:lnTo>
                  <a:lnTo>
                    <a:pt x="165" y="0"/>
                  </a:lnTo>
                  <a:lnTo>
                    <a:pt x="165" y="0"/>
                  </a:lnTo>
                  <a:lnTo>
                    <a:pt x="162" y="0"/>
                  </a:lnTo>
                  <a:lnTo>
                    <a:pt x="162" y="0"/>
                  </a:lnTo>
                  <a:lnTo>
                    <a:pt x="162" y="0"/>
                  </a:lnTo>
                  <a:lnTo>
                    <a:pt x="162" y="0"/>
                  </a:lnTo>
                  <a:lnTo>
                    <a:pt x="158" y="0"/>
                  </a:lnTo>
                  <a:lnTo>
                    <a:pt x="158" y="0"/>
                  </a:lnTo>
                  <a:lnTo>
                    <a:pt x="158" y="0"/>
                  </a:lnTo>
                  <a:lnTo>
                    <a:pt x="158" y="0"/>
                  </a:lnTo>
                  <a:lnTo>
                    <a:pt x="155" y="0"/>
                  </a:lnTo>
                  <a:lnTo>
                    <a:pt x="155" y="0"/>
                  </a:lnTo>
                  <a:lnTo>
                    <a:pt x="155" y="0"/>
                  </a:lnTo>
                  <a:lnTo>
                    <a:pt x="151" y="0"/>
                  </a:lnTo>
                  <a:lnTo>
                    <a:pt x="151" y="0"/>
                  </a:lnTo>
                  <a:lnTo>
                    <a:pt x="151" y="0"/>
                  </a:lnTo>
                  <a:lnTo>
                    <a:pt x="151" y="0"/>
                  </a:lnTo>
                  <a:lnTo>
                    <a:pt x="148" y="0"/>
                  </a:lnTo>
                  <a:lnTo>
                    <a:pt x="148" y="0"/>
                  </a:lnTo>
                  <a:lnTo>
                    <a:pt x="148" y="0"/>
                  </a:lnTo>
                  <a:lnTo>
                    <a:pt x="148" y="0"/>
                  </a:lnTo>
                  <a:lnTo>
                    <a:pt x="144" y="0"/>
                  </a:lnTo>
                  <a:lnTo>
                    <a:pt x="144" y="0"/>
                  </a:lnTo>
                  <a:lnTo>
                    <a:pt x="144" y="0"/>
                  </a:lnTo>
                  <a:lnTo>
                    <a:pt x="144" y="0"/>
                  </a:lnTo>
                  <a:lnTo>
                    <a:pt x="141" y="0"/>
                  </a:lnTo>
                  <a:lnTo>
                    <a:pt x="141" y="0"/>
                  </a:lnTo>
                  <a:lnTo>
                    <a:pt x="141" y="0"/>
                  </a:lnTo>
                  <a:lnTo>
                    <a:pt x="138" y="0"/>
                  </a:lnTo>
                  <a:lnTo>
                    <a:pt x="138" y="0"/>
                  </a:lnTo>
                  <a:lnTo>
                    <a:pt x="138" y="0"/>
                  </a:lnTo>
                  <a:lnTo>
                    <a:pt x="138" y="0"/>
                  </a:lnTo>
                  <a:lnTo>
                    <a:pt x="134" y="0"/>
                  </a:lnTo>
                  <a:lnTo>
                    <a:pt x="134" y="0"/>
                  </a:lnTo>
                  <a:lnTo>
                    <a:pt x="134" y="0"/>
                  </a:lnTo>
                  <a:lnTo>
                    <a:pt x="134" y="0"/>
                  </a:lnTo>
                  <a:lnTo>
                    <a:pt x="131" y="0"/>
                  </a:lnTo>
                  <a:lnTo>
                    <a:pt x="131" y="0"/>
                  </a:lnTo>
                  <a:lnTo>
                    <a:pt x="131" y="0"/>
                  </a:lnTo>
                  <a:lnTo>
                    <a:pt x="131" y="0"/>
                  </a:lnTo>
                  <a:lnTo>
                    <a:pt x="127" y="0"/>
                  </a:lnTo>
                  <a:lnTo>
                    <a:pt x="127" y="0"/>
                  </a:lnTo>
                  <a:lnTo>
                    <a:pt x="127" y="0"/>
                  </a:lnTo>
                  <a:lnTo>
                    <a:pt x="127" y="0"/>
                  </a:lnTo>
                  <a:lnTo>
                    <a:pt x="124" y="0"/>
                  </a:lnTo>
                  <a:lnTo>
                    <a:pt x="124" y="0"/>
                  </a:lnTo>
                  <a:lnTo>
                    <a:pt x="124" y="0"/>
                  </a:lnTo>
                  <a:lnTo>
                    <a:pt x="120" y="0"/>
                  </a:lnTo>
                  <a:lnTo>
                    <a:pt x="120" y="0"/>
                  </a:lnTo>
                  <a:lnTo>
                    <a:pt x="120" y="0"/>
                  </a:lnTo>
                  <a:lnTo>
                    <a:pt x="120" y="0"/>
                  </a:lnTo>
                  <a:lnTo>
                    <a:pt x="117" y="0"/>
                  </a:lnTo>
                  <a:lnTo>
                    <a:pt x="117" y="0"/>
                  </a:lnTo>
                  <a:lnTo>
                    <a:pt x="117" y="0"/>
                  </a:lnTo>
                  <a:lnTo>
                    <a:pt x="117" y="0"/>
                  </a:lnTo>
                  <a:lnTo>
                    <a:pt x="114" y="0"/>
                  </a:lnTo>
                  <a:lnTo>
                    <a:pt x="114" y="0"/>
                  </a:lnTo>
                  <a:lnTo>
                    <a:pt x="114" y="0"/>
                  </a:lnTo>
                  <a:lnTo>
                    <a:pt x="114" y="0"/>
                  </a:lnTo>
                  <a:lnTo>
                    <a:pt x="110" y="0"/>
                  </a:lnTo>
                  <a:lnTo>
                    <a:pt x="110" y="0"/>
                  </a:lnTo>
                  <a:lnTo>
                    <a:pt x="110" y="0"/>
                  </a:lnTo>
                  <a:lnTo>
                    <a:pt x="107" y="0"/>
                  </a:lnTo>
                  <a:lnTo>
                    <a:pt x="107" y="0"/>
                  </a:lnTo>
                  <a:lnTo>
                    <a:pt x="107" y="0"/>
                  </a:lnTo>
                  <a:lnTo>
                    <a:pt x="107" y="0"/>
                  </a:lnTo>
                  <a:lnTo>
                    <a:pt x="103" y="0"/>
                  </a:lnTo>
                  <a:lnTo>
                    <a:pt x="103" y="0"/>
                  </a:lnTo>
                  <a:lnTo>
                    <a:pt x="103" y="0"/>
                  </a:lnTo>
                  <a:lnTo>
                    <a:pt x="103" y="0"/>
                  </a:lnTo>
                  <a:lnTo>
                    <a:pt x="100" y="0"/>
                  </a:lnTo>
                  <a:lnTo>
                    <a:pt x="100" y="0"/>
                  </a:lnTo>
                  <a:lnTo>
                    <a:pt x="100" y="0"/>
                  </a:lnTo>
                  <a:lnTo>
                    <a:pt x="100" y="0"/>
                  </a:lnTo>
                  <a:lnTo>
                    <a:pt x="96" y="0"/>
                  </a:lnTo>
                  <a:lnTo>
                    <a:pt x="96" y="0"/>
                  </a:lnTo>
                  <a:lnTo>
                    <a:pt x="96" y="0"/>
                  </a:lnTo>
                  <a:lnTo>
                    <a:pt x="96" y="0"/>
                  </a:lnTo>
                  <a:lnTo>
                    <a:pt x="93" y="0"/>
                  </a:lnTo>
                  <a:lnTo>
                    <a:pt x="93" y="0"/>
                  </a:lnTo>
                  <a:lnTo>
                    <a:pt x="93" y="0"/>
                  </a:lnTo>
                  <a:lnTo>
                    <a:pt x="90" y="0"/>
                  </a:lnTo>
                  <a:lnTo>
                    <a:pt x="90" y="0"/>
                  </a:lnTo>
                  <a:lnTo>
                    <a:pt x="90" y="0"/>
                  </a:lnTo>
                  <a:lnTo>
                    <a:pt x="90" y="0"/>
                  </a:lnTo>
                  <a:lnTo>
                    <a:pt x="86" y="0"/>
                  </a:lnTo>
                  <a:lnTo>
                    <a:pt x="86" y="0"/>
                  </a:lnTo>
                  <a:lnTo>
                    <a:pt x="86" y="0"/>
                  </a:lnTo>
                  <a:lnTo>
                    <a:pt x="86" y="0"/>
                  </a:lnTo>
                  <a:lnTo>
                    <a:pt x="83" y="0"/>
                  </a:lnTo>
                  <a:lnTo>
                    <a:pt x="83" y="0"/>
                  </a:lnTo>
                  <a:lnTo>
                    <a:pt x="83" y="0"/>
                  </a:lnTo>
                  <a:lnTo>
                    <a:pt x="83" y="0"/>
                  </a:lnTo>
                  <a:lnTo>
                    <a:pt x="79" y="0"/>
                  </a:lnTo>
                  <a:lnTo>
                    <a:pt x="79" y="0"/>
                  </a:lnTo>
                  <a:lnTo>
                    <a:pt x="79" y="0"/>
                  </a:lnTo>
                  <a:lnTo>
                    <a:pt x="76" y="0"/>
                  </a:lnTo>
                  <a:lnTo>
                    <a:pt x="76" y="0"/>
                  </a:lnTo>
                  <a:lnTo>
                    <a:pt x="76" y="0"/>
                  </a:lnTo>
                  <a:lnTo>
                    <a:pt x="76" y="0"/>
                  </a:lnTo>
                  <a:lnTo>
                    <a:pt x="72" y="0"/>
                  </a:lnTo>
                  <a:lnTo>
                    <a:pt x="72" y="0"/>
                  </a:lnTo>
                  <a:lnTo>
                    <a:pt x="72" y="0"/>
                  </a:lnTo>
                  <a:lnTo>
                    <a:pt x="72" y="0"/>
                  </a:lnTo>
                  <a:lnTo>
                    <a:pt x="69" y="0"/>
                  </a:lnTo>
                  <a:lnTo>
                    <a:pt x="69" y="0"/>
                  </a:lnTo>
                  <a:lnTo>
                    <a:pt x="69" y="0"/>
                  </a:lnTo>
                  <a:lnTo>
                    <a:pt x="69" y="0"/>
                  </a:lnTo>
                  <a:lnTo>
                    <a:pt x="66" y="0"/>
                  </a:lnTo>
                  <a:lnTo>
                    <a:pt x="66" y="0"/>
                  </a:lnTo>
                  <a:lnTo>
                    <a:pt x="66" y="0"/>
                  </a:lnTo>
                  <a:lnTo>
                    <a:pt x="62" y="0"/>
                  </a:lnTo>
                  <a:lnTo>
                    <a:pt x="62" y="0"/>
                  </a:lnTo>
                  <a:lnTo>
                    <a:pt x="62" y="0"/>
                  </a:lnTo>
                  <a:lnTo>
                    <a:pt x="62" y="0"/>
                  </a:lnTo>
                  <a:lnTo>
                    <a:pt x="59" y="0"/>
                  </a:lnTo>
                  <a:lnTo>
                    <a:pt x="59" y="0"/>
                  </a:lnTo>
                  <a:lnTo>
                    <a:pt x="59" y="0"/>
                  </a:lnTo>
                  <a:lnTo>
                    <a:pt x="59" y="0"/>
                  </a:lnTo>
                  <a:lnTo>
                    <a:pt x="55" y="0"/>
                  </a:lnTo>
                  <a:lnTo>
                    <a:pt x="55" y="0"/>
                  </a:lnTo>
                  <a:lnTo>
                    <a:pt x="55" y="0"/>
                  </a:lnTo>
                  <a:lnTo>
                    <a:pt x="55" y="0"/>
                  </a:lnTo>
                  <a:lnTo>
                    <a:pt x="52" y="0"/>
                  </a:lnTo>
                  <a:lnTo>
                    <a:pt x="52" y="0"/>
                  </a:lnTo>
                  <a:lnTo>
                    <a:pt x="52" y="0"/>
                  </a:lnTo>
                  <a:lnTo>
                    <a:pt x="52" y="0"/>
                  </a:lnTo>
                  <a:lnTo>
                    <a:pt x="48" y="0"/>
                  </a:lnTo>
                  <a:lnTo>
                    <a:pt x="48" y="0"/>
                  </a:lnTo>
                  <a:lnTo>
                    <a:pt x="48" y="0"/>
                  </a:lnTo>
                  <a:lnTo>
                    <a:pt x="45" y="0"/>
                  </a:lnTo>
                  <a:lnTo>
                    <a:pt x="45" y="0"/>
                  </a:lnTo>
                  <a:lnTo>
                    <a:pt x="45" y="0"/>
                  </a:lnTo>
                  <a:lnTo>
                    <a:pt x="45" y="0"/>
                  </a:lnTo>
                  <a:lnTo>
                    <a:pt x="42" y="0"/>
                  </a:lnTo>
                  <a:lnTo>
                    <a:pt x="42" y="0"/>
                  </a:lnTo>
                  <a:lnTo>
                    <a:pt x="42" y="0"/>
                  </a:lnTo>
                  <a:lnTo>
                    <a:pt x="42" y="0"/>
                  </a:lnTo>
                  <a:lnTo>
                    <a:pt x="38" y="0"/>
                  </a:lnTo>
                  <a:lnTo>
                    <a:pt x="38" y="0"/>
                  </a:lnTo>
                  <a:lnTo>
                    <a:pt x="38" y="0"/>
                  </a:lnTo>
                  <a:lnTo>
                    <a:pt x="38" y="0"/>
                  </a:lnTo>
                  <a:lnTo>
                    <a:pt x="35" y="0"/>
                  </a:lnTo>
                  <a:lnTo>
                    <a:pt x="35" y="0"/>
                  </a:lnTo>
                  <a:lnTo>
                    <a:pt x="35" y="0"/>
                  </a:lnTo>
                  <a:lnTo>
                    <a:pt x="31" y="0"/>
                  </a:lnTo>
                  <a:lnTo>
                    <a:pt x="31" y="0"/>
                  </a:lnTo>
                  <a:lnTo>
                    <a:pt x="31" y="0"/>
                  </a:lnTo>
                  <a:lnTo>
                    <a:pt x="31" y="0"/>
                  </a:lnTo>
                  <a:lnTo>
                    <a:pt x="28" y="0"/>
                  </a:lnTo>
                  <a:lnTo>
                    <a:pt x="28" y="0"/>
                  </a:lnTo>
                  <a:lnTo>
                    <a:pt x="28" y="0"/>
                  </a:lnTo>
                  <a:lnTo>
                    <a:pt x="28" y="0"/>
                  </a:lnTo>
                  <a:lnTo>
                    <a:pt x="24" y="0"/>
                  </a:lnTo>
                  <a:lnTo>
                    <a:pt x="24" y="0"/>
                  </a:lnTo>
                  <a:lnTo>
                    <a:pt x="24" y="0"/>
                  </a:lnTo>
                  <a:lnTo>
                    <a:pt x="24" y="0"/>
                  </a:lnTo>
                  <a:lnTo>
                    <a:pt x="21" y="0"/>
                  </a:lnTo>
                  <a:lnTo>
                    <a:pt x="21" y="0"/>
                  </a:lnTo>
                  <a:lnTo>
                    <a:pt x="21" y="0"/>
                  </a:lnTo>
                  <a:lnTo>
                    <a:pt x="21" y="0"/>
                  </a:lnTo>
                  <a:lnTo>
                    <a:pt x="18" y="0"/>
                  </a:lnTo>
                  <a:lnTo>
                    <a:pt x="18" y="0"/>
                  </a:lnTo>
                  <a:lnTo>
                    <a:pt x="18" y="0"/>
                  </a:lnTo>
                  <a:lnTo>
                    <a:pt x="14" y="0"/>
                  </a:lnTo>
                  <a:lnTo>
                    <a:pt x="14" y="0"/>
                  </a:lnTo>
                  <a:lnTo>
                    <a:pt x="14" y="0"/>
                  </a:lnTo>
                  <a:lnTo>
                    <a:pt x="14" y="0"/>
                  </a:lnTo>
                  <a:lnTo>
                    <a:pt x="11" y="0"/>
                  </a:lnTo>
                  <a:lnTo>
                    <a:pt x="11" y="0"/>
                  </a:lnTo>
                  <a:lnTo>
                    <a:pt x="11" y="0"/>
                  </a:lnTo>
                  <a:lnTo>
                    <a:pt x="11" y="0"/>
                  </a:lnTo>
                  <a:lnTo>
                    <a:pt x="7" y="0"/>
                  </a:lnTo>
                  <a:lnTo>
                    <a:pt x="7" y="0"/>
                  </a:lnTo>
                  <a:lnTo>
                    <a:pt x="7" y="0"/>
                  </a:lnTo>
                  <a:lnTo>
                    <a:pt x="7" y="0"/>
                  </a:lnTo>
                  <a:lnTo>
                    <a:pt x="4" y="0"/>
                  </a:lnTo>
                  <a:lnTo>
                    <a:pt x="4" y="0"/>
                  </a:lnTo>
                  <a:lnTo>
                    <a:pt x="4" y="0"/>
                  </a:lnTo>
                  <a:lnTo>
                    <a:pt x="0" y="0"/>
                  </a:lnTo>
                  <a:lnTo>
                    <a:pt x="0" y="0"/>
                  </a:lnTo>
                </a:path>
              </a:pathLst>
            </a:custGeom>
            <a:noFill/>
            <a:ln w="468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8" name="Freeform 28">
              <a:extLst>
                <a:ext uri="{FF2B5EF4-FFF2-40B4-BE49-F238E27FC236}">
                  <a16:creationId xmlns:a16="http://schemas.microsoft.com/office/drawing/2014/main" id="{13945C77-8FF9-3549-9FDA-7D20DC33715A}"/>
                </a:ext>
              </a:extLst>
            </p:cNvPr>
            <p:cNvSpPr>
              <a:spLocks noChangeArrowheads="1"/>
            </p:cNvSpPr>
            <p:nvPr/>
          </p:nvSpPr>
          <p:spPr bwMode="auto">
            <a:xfrm>
              <a:off x="4128" y="3581"/>
              <a:ext cx="848" cy="829"/>
            </a:xfrm>
            <a:custGeom>
              <a:avLst/>
              <a:gdLst>
                <a:gd name="T0" fmla="*/ 14 w 401"/>
                <a:gd name="T1" fmla="*/ 454 h 710"/>
                <a:gd name="T2" fmla="*/ 24 w 401"/>
                <a:gd name="T3" fmla="*/ 405 h 710"/>
                <a:gd name="T4" fmla="*/ 38 w 401"/>
                <a:gd name="T5" fmla="*/ 351 h 710"/>
                <a:gd name="T6" fmla="*/ 51 w 401"/>
                <a:gd name="T7" fmla="*/ 248 h 710"/>
                <a:gd name="T8" fmla="*/ 62 w 401"/>
                <a:gd name="T9" fmla="*/ 66 h 710"/>
                <a:gd name="T10" fmla="*/ 75 w 401"/>
                <a:gd name="T11" fmla="*/ 91 h 710"/>
                <a:gd name="T12" fmla="*/ 89 w 401"/>
                <a:gd name="T13" fmla="*/ 87 h 710"/>
                <a:gd name="T14" fmla="*/ 103 w 401"/>
                <a:gd name="T15" fmla="*/ 70 h 710"/>
                <a:gd name="T16" fmla="*/ 113 w 401"/>
                <a:gd name="T17" fmla="*/ 149 h 710"/>
                <a:gd name="T18" fmla="*/ 127 w 401"/>
                <a:gd name="T19" fmla="*/ 161 h 710"/>
                <a:gd name="T20" fmla="*/ 141 w 401"/>
                <a:gd name="T21" fmla="*/ 120 h 710"/>
                <a:gd name="T22" fmla="*/ 151 w 401"/>
                <a:gd name="T23" fmla="*/ 83 h 710"/>
                <a:gd name="T24" fmla="*/ 165 w 401"/>
                <a:gd name="T25" fmla="*/ 260 h 710"/>
                <a:gd name="T26" fmla="*/ 178 w 401"/>
                <a:gd name="T27" fmla="*/ 343 h 710"/>
                <a:gd name="T28" fmla="*/ 192 w 401"/>
                <a:gd name="T29" fmla="*/ 397 h 710"/>
                <a:gd name="T30" fmla="*/ 202 w 401"/>
                <a:gd name="T31" fmla="*/ 421 h 710"/>
                <a:gd name="T32" fmla="*/ 216 w 401"/>
                <a:gd name="T33" fmla="*/ 442 h 710"/>
                <a:gd name="T34" fmla="*/ 230 w 401"/>
                <a:gd name="T35" fmla="*/ 458 h 710"/>
                <a:gd name="T36" fmla="*/ 240 w 401"/>
                <a:gd name="T37" fmla="*/ 450 h 710"/>
                <a:gd name="T38" fmla="*/ 254 w 401"/>
                <a:gd name="T39" fmla="*/ 438 h 710"/>
                <a:gd name="T40" fmla="*/ 267 w 401"/>
                <a:gd name="T41" fmla="*/ 421 h 710"/>
                <a:gd name="T42" fmla="*/ 278 w 401"/>
                <a:gd name="T43" fmla="*/ 392 h 710"/>
                <a:gd name="T44" fmla="*/ 291 w 401"/>
                <a:gd name="T45" fmla="*/ 413 h 710"/>
                <a:gd name="T46" fmla="*/ 305 w 401"/>
                <a:gd name="T47" fmla="*/ 397 h 710"/>
                <a:gd name="T48" fmla="*/ 319 w 401"/>
                <a:gd name="T49" fmla="*/ 372 h 710"/>
                <a:gd name="T50" fmla="*/ 329 w 401"/>
                <a:gd name="T51" fmla="*/ 359 h 710"/>
                <a:gd name="T52" fmla="*/ 343 w 401"/>
                <a:gd name="T53" fmla="*/ 260 h 710"/>
                <a:gd name="T54" fmla="*/ 357 w 401"/>
                <a:gd name="T55" fmla="*/ 413 h 710"/>
                <a:gd name="T56" fmla="*/ 367 w 401"/>
                <a:gd name="T57" fmla="*/ 450 h 710"/>
                <a:gd name="T58" fmla="*/ 381 w 401"/>
                <a:gd name="T59" fmla="*/ 496 h 710"/>
                <a:gd name="T60" fmla="*/ 394 w 401"/>
                <a:gd name="T61" fmla="*/ 508 h 710"/>
                <a:gd name="T62" fmla="*/ 398 w 401"/>
                <a:gd name="T63" fmla="*/ 710 h 710"/>
                <a:gd name="T64" fmla="*/ 384 w 401"/>
                <a:gd name="T65" fmla="*/ 710 h 710"/>
                <a:gd name="T66" fmla="*/ 370 w 401"/>
                <a:gd name="T67" fmla="*/ 710 h 710"/>
                <a:gd name="T68" fmla="*/ 360 w 401"/>
                <a:gd name="T69" fmla="*/ 710 h 710"/>
                <a:gd name="T70" fmla="*/ 346 w 401"/>
                <a:gd name="T71" fmla="*/ 710 h 710"/>
                <a:gd name="T72" fmla="*/ 333 w 401"/>
                <a:gd name="T73" fmla="*/ 710 h 710"/>
                <a:gd name="T74" fmla="*/ 319 w 401"/>
                <a:gd name="T75" fmla="*/ 710 h 710"/>
                <a:gd name="T76" fmla="*/ 309 w 401"/>
                <a:gd name="T77" fmla="*/ 710 h 710"/>
                <a:gd name="T78" fmla="*/ 295 w 401"/>
                <a:gd name="T79" fmla="*/ 710 h 710"/>
                <a:gd name="T80" fmla="*/ 281 w 401"/>
                <a:gd name="T81" fmla="*/ 710 h 710"/>
                <a:gd name="T82" fmla="*/ 271 w 401"/>
                <a:gd name="T83" fmla="*/ 710 h 710"/>
                <a:gd name="T84" fmla="*/ 257 w 401"/>
                <a:gd name="T85" fmla="*/ 710 h 710"/>
                <a:gd name="T86" fmla="*/ 243 w 401"/>
                <a:gd name="T87" fmla="*/ 710 h 710"/>
                <a:gd name="T88" fmla="*/ 230 w 401"/>
                <a:gd name="T89" fmla="*/ 710 h 710"/>
                <a:gd name="T90" fmla="*/ 219 w 401"/>
                <a:gd name="T91" fmla="*/ 710 h 710"/>
                <a:gd name="T92" fmla="*/ 206 w 401"/>
                <a:gd name="T93" fmla="*/ 710 h 710"/>
                <a:gd name="T94" fmla="*/ 192 w 401"/>
                <a:gd name="T95" fmla="*/ 710 h 710"/>
                <a:gd name="T96" fmla="*/ 182 w 401"/>
                <a:gd name="T97" fmla="*/ 710 h 710"/>
                <a:gd name="T98" fmla="*/ 168 w 401"/>
                <a:gd name="T99" fmla="*/ 710 h 710"/>
                <a:gd name="T100" fmla="*/ 154 w 401"/>
                <a:gd name="T101" fmla="*/ 710 h 710"/>
                <a:gd name="T102" fmla="*/ 141 w 401"/>
                <a:gd name="T103" fmla="*/ 710 h 710"/>
                <a:gd name="T104" fmla="*/ 130 w 401"/>
                <a:gd name="T105" fmla="*/ 710 h 710"/>
                <a:gd name="T106" fmla="*/ 117 w 401"/>
                <a:gd name="T107" fmla="*/ 710 h 710"/>
                <a:gd name="T108" fmla="*/ 103 w 401"/>
                <a:gd name="T109" fmla="*/ 710 h 710"/>
                <a:gd name="T110" fmla="*/ 93 w 401"/>
                <a:gd name="T111" fmla="*/ 710 h 710"/>
                <a:gd name="T112" fmla="*/ 79 w 401"/>
                <a:gd name="T113" fmla="*/ 710 h 710"/>
                <a:gd name="T114" fmla="*/ 65 w 401"/>
                <a:gd name="T115" fmla="*/ 710 h 710"/>
                <a:gd name="T116" fmla="*/ 55 w 401"/>
                <a:gd name="T117" fmla="*/ 710 h 710"/>
                <a:gd name="T118" fmla="*/ 41 w 401"/>
                <a:gd name="T119" fmla="*/ 710 h 710"/>
                <a:gd name="T120" fmla="*/ 27 w 401"/>
                <a:gd name="T121" fmla="*/ 710 h 710"/>
                <a:gd name="T122" fmla="*/ 14 w 401"/>
                <a:gd name="T123" fmla="*/ 710 h 710"/>
                <a:gd name="T124" fmla="*/ 3 w 401"/>
                <a:gd name="T125" fmla="*/ 71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1" h="710">
                  <a:moveTo>
                    <a:pt x="0" y="710"/>
                  </a:moveTo>
                  <a:lnTo>
                    <a:pt x="0" y="454"/>
                  </a:lnTo>
                  <a:lnTo>
                    <a:pt x="3" y="446"/>
                  </a:lnTo>
                  <a:lnTo>
                    <a:pt x="3" y="450"/>
                  </a:lnTo>
                  <a:lnTo>
                    <a:pt x="3" y="446"/>
                  </a:lnTo>
                  <a:lnTo>
                    <a:pt x="3" y="454"/>
                  </a:lnTo>
                  <a:lnTo>
                    <a:pt x="7" y="450"/>
                  </a:lnTo>
                  <a:lnTo>
                    <a:pt x="7" y="442"/>
                  </a:lnTo>
                  <a:lnTo>
                    <a:pt x="7" y="442"/>
                  </a:lnTo>
                  <a:lnTo>
                    <a:pt x="10" y="450"/>
                  </a:lnTo>
                  <a:lnTo>
                    <a:pt x="10" y="442"/>
                  </a:lnTo>
                  <a:lnTo>
                    <a:pt x="10" y="454"/>
                  </a:lnTo>
                  <a:lnTo>
                    <a:pt x="10" y="450"/>
                  </a:lnTo>
                  <a:lnTo>
                    <a:pt x="14" y="454"/>
                  </a:lnTo>
                  <a:lnTo>
                    <a:pt x="14" y="454"/>
                  </a:lnTo>
                  <a:lnTo>
                    <a:pt x="14" y="442"/>
                  </a:lnTo>
                  <a:lnTo>
                    <a:pt x="14" y="425"/>
                  </a:lnTo>
                  <a:lnTo>
                    <a:pt x="17" y="434"/>
                  </a:lnTo>
                  <a:lnTo>
                    <a:pt x="17" y="438"/>
                  </a:lnTo>
                  <a:lnTo>
                    <a:pt x="17" y="434"/>
                  </a:lnTo>
                  <a:lnTo>
                    <a:pt x="17" y="430"/>
                  </a:lnTo>
                  <a:lnTo>
                    <a:pt x="21" y="434"/>
                  </a:lnTo>
                  <a:lnTo>
                    <a:pt x="21" y="425"/>
                  </a:lnTo>
                  <a:lnTo>
                    <a:pt x="21" y="417"/>
                  </a:lnTo>
                  <a:lnTo>
                    <a:pt x="24" y="421"/>
                  </a:lnTo>
                  <a:lnTo>
                    <a:pt x="24" y="409"/>
                  </a:lnTo>
                  <a:lnTo>
                    <a:pt x="24" y="417"/>
                  </a:lnTo>
                  <a:lnTo>
                    <a:pt x="24" y="405"/>
                  </a:lnTo>
                  <a:lnTo>
                    <a:pt x="27" y="409"/>
                  </a:lnTo>
                  <a:lnTo>
                    <a:pt x="27" y="442"/>
                  </a:lnTo>
                  <a:lnTo>
                    <a:pt x="27" y="405"/>
                  </a:lnTo>
                  <a:lnTo>
                    <a:pt x="27" y="380"/>
                  </a:lnTo>
                  <a:lnTo>
                    <a:pt x="31" y="376"/>
                  </a:lnTo>
                  <a:lnTo>
                    <a:pt x="31" y="384"/>
                  </a:lnTo>
                  <a:lnTo>
                    <a:pt x="31" y="372"/>
                  </a:lnTo>
                  <a:lnTo>
                    <a:pt x="31" y="368"/>
                  </a:lnTo>
                  <a:lnTo>
                    <a:pt x="34" y="376"/>
                  </a:lnTo>
                  <a:lnTo>
                    <a:pt x="34" y="376"/>
                  </a:lnTo>
                  <a:lnTo>
                    <a:pt x="34" y="372"/>
                  </a:lnTo>
                  <a:lnTo>
                    <a:pt x="34" y="351"/>
                  </a:lnTo>
                  <a:lnTo>
                    <a:pt x="38" y="347"/>
                  </a:lnTo>
                  <a:lnTo>
                    <a:pt x="38" y="351"/>
                  </a:lnTo>
                  <a:lnTo>
                    <a:pt x="38" y="347"/>
                  </a:lnTo>
                  <a:lnTo>
                    <a:pt x="41" y="330"/>
                  </a:lnTo>
                  <a:lnTo>
                    <a:pt x="41" y="339"/>
                  </a:lnTo>
                  <a:lnTo>
                    <a:pt x="41" y="335"/>
                  </a:lnTo>
                  <a:lnTo>
                    <a:pt x="41" y="330"/>
                  </a:lnTo>
                  <a:lnTo>
                    <a:pt x="45" y="322"/>
                  </a:lnTo>
                  <a:lnTo>
                    <a:pt x="45" y="318"/>
                  </a:lnTo>
                  <a:lnTo>
                    <a:pt x="45" y="322"/>
                  </a:lnTo>
                  <a:lnTo>
                    <a:pt x="45" y="322"/>
                  </a:lnTo>
                  <a:lnTo>
                    <a:pt x="48" y="293"/>
                  </a:lnTo>
                  <a:lnTo>
                    <a:pt x="48" y="277"/>
                  </a:lnTo>
                  <a:lnTo>
                    <a:pt x="48" y="273"/>
                  </a:lnTo>
                  <a:lnTo>
                    <a:pt x="48" y="240"/>
                  </a:lnTo>
                  <a:lnTo>
                    <a:pt x="51" y="248"/>
                  </a:lnTo>
                  <a:lnTo>
                    <a:pt x="51" y="223"/>
                  </a:lnTo>
                  <a:lnTo>
                    <a:pt x="51" y="215"/>
                  </a:lnTo>
                  <a:lnTo>
                    <a:pt x="55" y="161"/>
                  </a:lnTo>
                  <a:lnTo>
                    <a:pt x="55" y="124"/>
                  </a:lnTo>
                  <a:lnTo>
                    <a:pt x="55" y="116"/>
                  </a:lnTo>
                  <a:lnTo>
                    <a:pt x="55" y="128"/>
                  </a:lnTo>
                  <a:lnTo>
                    <a:pt x="58" y="112"/>
                  </a:lnTo>
                  <a:lnTo>
                    <a:pt x="58" y="112"/>
                  </a:lnTo>
                  <a:lnTo>
                    <a:pt x="58" y="83"/>
                  </a:lnTo>
                  <a:lnTo>
                    <a:pt x="58" y="79"/>
                  </a:lnTo>
                  <a:lnTo>
                    <a:pt x="62" y="79"/>
                  </a:lnTo>
                  <a:lnTo>
                    <a:pt x="62" y="58"/>
                  </a:lnTo>
                  <a:lnTo>
                    <a:pt x="62" y="66"/>
                  </a:lnTo>
                  <a:lnTo>
                    <a:pt x="62" y="66"/>
                  </a:lnTo>
                  <a:lnTo>
                    <a:pt x="65" y="50"/>
                  </a:lnTo>
                  <a:lnTo>
                    <a:pt x="65" y="62"/>
                  </a:lnTo>
                  <a:lnTo>
                    <a:pt x="65" y="66"/>
                  </a:lnTo>
                  <a:lnTo>
                    <a:pt x="65" y="79"/>
                  </a:lnTo>
                  <a:lnTo>
                    <a:pt x="69" y="87"/>
                  </a:lnTo>
                  <a:lnTo>
                    <a:pt x="69" y="87"/>
                  </a:lnTo>
                  <a:lnTo>
                    <a:pt x="69" y="83"/>
                  </a:lnTo>
                  <a:lnTo>
                    <a:pt x="72" y="70"/>
                  </a:lnTo>
                  <a:lnTo>
                    <a:pt x="72" y="79"/>
                  </a:lnTo>
                  <a:lnTo>
                    <a:pt x="72" y="70"/>
                  </a:lnTo>
                  <a:lnTo>
                    <a:pt x="72" y="62"/>
                  </a:lnTo>
                  <a:lnTo>
                    <a:pt x="75" y="70"/>
                  </a:lnTo>
                  <a:lnTo>
                    <a:pt x="75" y="87"/>
                  </a:lnTo>
                  <a:lnTo>
                    <a:pt x="75" y="91"/>
                  </a:lnTo>
                  <a:lnTo>
                    <a:pt x="75" y="95"/>
                  </a:lnTo>
                  <a:lnTo>
                    <a:pt x="79" y="124"/>
                  </a:lnTo>
                  <a:lnTo>
                    <a:pt x="79" y="120"/>
                  </a:lnTo>
                  <a:lnTo>
                    <a:pt x="79" y="128"/>
                  </a:lnTo>
                  <a:lnTo>
                    <a:pt x="79" y="112"/>
                  </a:lnTo>
                  <a:lnTo>
                    <a:pt x="82" y="116"/>
                  </a:lnTo>
                  <a:lnTo>
                    <a:pt x="82" y="124"/>
                  </a:lnTo>
                  <a:lnTo>
                    <a:pt x="82" y="58"/>
                  </a:lnTo>
                  <a:lnTo>
                    <a:pt x="86" y="33"/>
                  </a:lnTo>
                  <a:lnTo>
                    <a:pt x="86" y="41"/>
                  </a:lnTo>
                  <a:lnTo>
                    <a:pt x="86" y="50"/>
                  </a:lnTo>
                  <a:lnTo>
                    <a:pt x="86" y="41"/>
                  </a:lnTo>
                  <a:lnTo>
                    <a:pt x="89" y="87"/>
                  </a:lnTo>
                  <a:lnTo>
                    <a:pt x="89" y="87"/>
                  </a:lnTo>
                  <a:lnTo>
                    <a:pt x="89" y="103"/>
                  </a:lnTo>
                  <a:lnTo>
                    <a:pt x="89" y="79"/>
                  </a:lnTo>
                  <a:lnTo>
                    <a:pt x="93" y="74"/>
                  </a:lnTo>
                  <a:lnTo>
                    <a:pt x="93" y="62"/>
                  </a:lnTo>
                  <a:lnTo>
                    <a:pt x="93" y="50"/>
                  </a:lnTo>
                  <a:lnTo>
                    <a:pt x="93" y="50"/>
                  </a:lnTo>
                  <a:lnTo>
                    <a:pt x="96" y="50"/>
                  </a:lnTo>
                  <a:lnTo>
                    <a:pt x="96" y="29"/>
                  </a:lnTo>
                  <a:lnTo>
                    <a:pt x="96" y="58"/>
                  </a:lnTo>
                  <a:lnTo>
                    <a:pt x="99" y="70"/>
                  </a:lnTo>
                  <a:lnTo>
                    <a:pt x="99" y="62"/>
                  </a:lnTo>
                  <a:lnTo>
                    <a:pt x="99" y="58"/>
                  </a:lnTo>
                  <a:lnTo>
                    <a:pt x="99" y="70"/>
                  </a:lnTo>
                  <a:lnTo>
                    <a:pt x="103" y="70"/>
                  </a:lnTo>
                  <a:lnTo>
                    <a:pt x="103" y="99"/>
                  </a:lnTo>
                  <a:lnTo>
                    <a:pt x="103" y="95"/>
                  </a:lnTo>
                  <a:lnTo>
                    <a:pt x="103" y="108"/>
                  </a:lnTo>
                  <a:lnTo>
                    <a:pt x="106" y="116"/>
                  </a:lnTo>
                  <a:lnTo>
                    <a:pt x="106" y="141"/>
                  </a:lnTo>
                  <a:lnTo>
                    <a:pt x="106" y="136"/>
                  </a:lnTo>
                  <a:lnTo>
                    <a:pt x="106" y="136"/>
                  </a:lnTo>
                  <a:lnTo>
                    <a:pt x="110" y="128"/>
                  </a:lnTo>
                  <a:lnTo>
                    <a:pt x="110" y="141"/>
                  </a:lnTo>
                  <a:lnTo>
                    <a:pt x="110" y="141"/>
                  </a:lnTo>
                  <a:lnTo>
                    <a:pt x="110" y="153"/>
                  </a:lnTo>
                  <a:lnTo>
                    <a:pt x="113" y="153"/>
                  </a:lnTo>
                  <a:lnTo>
                    <a:pt x="113" y="141"/>
                  </a:lnTo>
                  <a:lnTo>
                    <a:pt x="113" y="149"/>
                  </a:lnTo>
                  <a:lnTo>
                    <a:pt x="117" y="161"/>
                  </a:lnTo>
                  <a:lnTo>
                    <a:pt x="117" y="161"/>
                  </a:lnTo>
                  <a:lnTo>
                    <a:pt x="117" y="161"/>
                  </a:lnTo>
                  <a:lnTo>
                    <a:pt x="117" y="153"/>
                  </a:lnTo>
                  <a:lnTo>
                    <a:pt x="120" y="149"/>
                  </a:lnTo>
                  <a:lnTo>
                    <a:pt x="120" y="153"/>
                  </a:lnTo>
                  <a:lnTo>
                    <a:pt x="120" y="153"/>
                  </a:lnTo>
                  <a:lnTo>
                    <a:pt x="120" y="141"/>
                  </a:lnTo>
                  <a:lnTo>
                    <a:pt x="123" y="157"/>
                  </a:lnTo>
                  <a:lnTo>
                    <a:pt x="123" y="157"/>
                  </a:lnTo>
                  <a:lnTo>
                    <a:pt x="123" y="157"/>
                  </a:lnTo>
                  <a:lnTo>
                    <a:pt x="123" y="153"/>
                  </a:lnTo>
                  <a:lnTo>
                    <a:pt x="127" y="149"/>
                  </a:lnTo>
                  <a:lnTo>
                    <a:pt x="127" y="161"/>
                  </a:lnTo>
                  <a:lnTo>
                    <a:pt x="127" y="161"/>
                  </a:lnTo>
                  <a:lnTo>
                    <a:pt x="130" y="165"/>
                  </a:lnTo>
                  <a:lnTo>
                    <a:pt x="130" y="157"/>
                  </a:lnTo>
                  <a:lnTo>
                    <a:pt x="130" y="165"/>
                  </a:lnTo>
                  <a:lnTo>
                    <a:pt x="130" y="165"/>
                  </a:lnTo>
                  <a:lnTo>
                    <a:pt x="134" y="149"/>
                  </a:lnTo>
                  <a:lnTo>
                    <a:pt x="134" y="141"/>
                  </a:lnTo>
                  <a:lnTo>
                    <a:pt x="134" y="116"/>
                  </a:lnTo>
                  <a:lnTo>
                    <a:pt x="134" y="99"/>
                  </a:lnTo>
                  <a:lnTo>
                    <a:pt x="137" y="103"/>
                  </a:lnTo>
                  <a:lnTo>
                    <a:pt x="137" y="95"/>
                  </a:lnTo>
                  <a:lnTo>
                    <a:pt x="137" y="91"/>
                  </a:lnTo>
                  <a:lnTo>
                    <a:pt x="137" y="116"/>
                  </a:lnTo>
                  <a:lnTo>
                    <a:pt x="141" y="120"/>
                  </a:lnTo>
                  <a:lnTo>
                    <a:pt x="141" y="136"/>
                  </a:lnTo>
                  <a:lnTo>
                    <a:pt x="141" y="132"/>
                  </a:lnTo>
                  <a:lnTo>
                    <a:pt x="141" y="124"/>
                  </a:lnTo>
                  <a:lnTo>
                    <a:pt x="144" y="120"/>
                  </a:lnTo>
                  <a:lnTo>
                    <a:pt x="144" y="112"/>
                  </a:lnTo>
                  <a:lnTo>
                    <a:pt x="144" y="120"/>
                  </a:lnTo>
                  <a:lnTo>
                    <a:pt x="147" y="120"/>
                  </a:lnTo>
                  <a:lnTo>
                    <a:pt x="147" y="120"/>
                  </a:lnTo>
                  <a:lnTo>
                    <a:pt x="147" y="136"/>
                  </a:lnTo>
                  <a:lnTo>
                    <a:pt x="147" y="120"/>
                  </a:lnTo>
                  <a:lnTo>
                    <a:pt x="151" y="128"/>
                  </a:lnTo>
                  <a:lnTo>
                    <a:pt x="151" y="112"/>
                  </a:lnTo>
                  <a:lnTo>
                    <a:pt x="151" y="91"/>
                  </a:lnTo>
                  <a:lnTo>
                    <a:pt x="151" y="83"/>
                  </a:lnTo>
                  <a:lnTo>
                    <a:pt x="154" y="46"/>
                  </a:lnTo>
                  <a:lnTo>
                    <a:pt x="154" y="0"/>
                  </a:lnTo>
                  <a:lnTo>
                    <a:pt x="154" y="4"/>
                  </a:lnTo>
                  <a:lnTo>
                    <a:pt x="154" y="4"/>
                  </a:lnTo>
                  <a:lnTo>
                    <a:pt x="158" y="21"/>
                  </a:lnTo>
                  <a:lnTo>
                    <a:pt x="158" y="21"/>
                  </a:lnTo>
                  <a:lnTo>
                    <a:pt x="158" y="62"/>
                  </a:lnTo>
                  <a:lnTo>
                    <a:pt x="161" y="103"/>
                  </a:lnTo>
                  <a:lnTo>
                    <a:pt x="161" y="141"/>
                  </a:lnTo>
                  <a:lnTo>
                    <a:pt x="161" y="182"/>
                  </a:lnTo>
                  <a:lnTo>
                    <a:pt x="161" y="211"/>
                  </a:lnTo>
                  <a:lnTo>
                    <a:pt x="165" y="227"/>
                  </a:lnTo>
                  <a:lnTo>
                    <a:pt x="165" y="231"/>
                  </a:lnTo>
                  <a:lnTo>
                    <a:pt x="165" y="260"/>
                  </a:lnTo>
                  <a:lnTo>
                    <a:pt x="165" y="256"/>
                  </a:lnTo>
                  <a:lnTo>
                    <a:pt x="168" y="264"/>
                  </a:lnTo>
                  <a:lnTo>
                    <a:pt x="168" y="273"/>
                  </a:lnTo>
                  <a:lnTo>
                    <a:pt x="168" y="269"/>
                  </a:lnTo>
                  <a:lnTo>
                    <a:pt x="168" y="285"/>
                  </a:lnTo>
                  <a:lnTo>
                    <a:pt x="171" y="302"/>
                  </a:lnTo>
                  <a:lnTo>
                    <a:pt x="171" y="302"/>
                  </a:lnTo>
                  <a:lnTo>
                    <a:pt x="171" y="318"/>
                  </a:lnTo>
                  <a:lnTo>
                    <a:pt x="171" y="322"/>
                  </a:lnTo>
                  <a:lnTo>
                    <a:pt x="175" y="326"/>
                  </a:lnTo>
                  <a:lnTo>
                    <a:pt x="175" y="318"/>
                  </a:lnTo>
                  <a:lnTo>
                    <a:pt x="175" y="330"/>
                  </a:lnTo>
                  <a:lnTo>
                    <a:pt x="178" y="343"/>
                  </a:lnTo>
                  <a:lnTo>
                    <a:pt x="178" y="343"/>
                  </a:lnTo>
                  <a:lnTo>
                    <a:pt x="178" y="351"/>
                  </a:lnTo>
                  <a:lnTo>
                    <a:pt x="178" y="347"/>
                  </a:lnTo>
                  <a:lnTo>
                    <a:pt x="182" y="347"/>
                  </a:lnTo>
                  <a:lnTo>
                    <a:pt x="182" y="355"/>
                  </a:lnTo>
                  <a:lnTo>
                    <a:pt x="182" y="364"/>
                  </a:lnTo>
                  <a:lnTo>
                    <a:pt x="182" y="376"/>
                  </a:lnTo>
                  <a:lnTo>
                    <a:pt x="185" y="372"/>
                  </a:lnTo>
                  <a:lnTo>
                    <a:pt x="185" y="392"/>
                  </a:lnTo>
                  <a:lnTo>
                    <a:pt x="185" y="384"/>
                  </a:lnTo>
                  <a:lnTo>
                    <a:pt x="185" y="388"/>
                  </a:lnTo>
                  <a:lnTo>
                    <a:pt x="189" y="392"/>
                  </a:lnTo>
                  <a:lnTo>
                    <a:pt x="189" y="388"/>
                  </a:lnTo>
                  <a:lnTo>
                    <a:pt x="189" y="405"/>
                  </a:lnTo>
                  <a:lnTo>
                    <a:pt x="192" y="397"/>
                  </a:lnTo>
                  <a:lnTo>
                    <a:pt x="192" y="392"/>
                  </a:lnTo>
                  <a:lnTo>
                    <a:pt x="192" y="405"/>
                  </a:lnTo>
                  <a:lnTo>
                    <a:pt x="192" y="401"/>
                  </a:lnTo>
                  <a:lnTo>
                    <a:pt x="195" y="413"/>
                  </a:lnTo>
                  <a:lnTo>
                    <a:pt x="195" y="413"/>
                  </a:lnTo>
                  <a:lnTo>
                    <a:pt x="195" y="413"/>
                  </a:lnTo>
                  <a:lnTo>
                    <a:pt x="195" y="409"/>
                  </a:lnTo>
                  <a:lnTo>
                    <a:pt x="199" y="421"/>
                  </a:lnTo>
                  <a:lnTo>
                    <a:pt x="199" y="417"/>
                  </a:lnTo>
                  <a:lnTo>
                    <a:pt x="199" y="417"/>
                  </a:lnTo>
                  <a:lnTo>
                    <a:pt x="199" y="405"/>
                  </a:lnTo>
                  <a:lnTo>
                    <a:pt x="202" y="425"/>
                  </a:lnTo>
                  <a:lnTo>
                    <a:pt x="202" y="421"/>
                  </a:lnTo>
                  <a:lnTo>
                    <a:pt x="202" y="421"/>
                  </a:lnTo>
                  <a:lnTo>
                    <a:pt x="206" y="430"/>
                  </a:lnTo>
                  <a:lnTo>
                    <a:pt x="206" y="430"/>
                  </a:lnTo>
                  <a:lnTo>
                    <a:pt x="206" y="442"/>
                  </a:lnTo>
                  <a:lnTo>
                    <a:pt x="206" y="446"/>
                  </a:lnTo>
                  <a:lnTo>
                    <a:pt x="209" y="442"/>
                  </a:lnTo>
                  <a:lnTo>
                    <a:pt x="209" y="438"/>
                  </a:lnTo>
                  <a:lnTo>
                    <a:pt x="209" y="442"/>
                  </a:lnTo>
                  <a:lnTo>
                    <a:pt x="209" y="454"/>
                  </a:lnTo>
                  <a:lnTo>
                    <a:pt x="213" y="450"/>
                  </a:lnTo>
                  <a:lnTo>
                    <a:pt x="213" y="438"/>
                  </a:lnTo>
                  <a:lnTo>
                    <a:pt x="213" y="446"/>
                  </a:lnTo>
                  <a:lnTo>
                    <a:pt x="213" y="450"/>
                  </a:lnTo>
                  <a:lnTo>
                    <a:pt x="216" y="450"/>
                  </a:lnTo>
                  <a:lnTo>
                    <a:pt x="216" y="442"/>
                  </a:lnTo>
                  <a:lnTo>
                    <a:pt x="216" y="442"/>
                  </a:lnTo>
                  <a:lnTo>
                    <a:pt x="216" y="454"/>
                  </a:lnTo>
                  <a:lnTo>
                    <a:pt x="219" y="454"/>
                  </a:lnTo>
                  <a:lnTo>
                    <a:pt x="219" y="450"/>
                  </a:lnTo>
                  <a:lnTo>
                    <a:pt x="219" y="442"/>
                  </a:lnTo>
                  <a:lnTo>
                    <a:pt x="223" y="442"/>
                  </a:lnTo>
                  <a:lnTo>
                    <a:pt x="223" y="434"/>
                  </a:lnTo>
                  <a:lnTo>
                    <a:pt x="223" y="438"/>
                  </a:lnTo>
                  <a:lnTo>
                    <a:pt x="223" y="454"/>
                  </a:lnTo>
                  <a:lnTo>
                    <a:pt x="226" y="442"/>
                  </a:lnTo>
                  <a:lnTo>
                    <a:pt x="226" y="442"/>
                  </a:lnTo>
                  <a:lnTo>
                    <a:pt x="226" y="454"/>
                  </a:lnTo>
                  <a:lnTo>
                    <a:pt x="226" y="450"/>
                  </a:lnTo>
                  <a:lnTo>
                    <a:pt x="230" y="458"/>
                  </a:lnTo>
                  <a:lnTo>
                    <a:pt x="230" y="463"/>
                  </a:lnTo>
                  <a:lnTo>
                    <a:pt x="230" y="454"/>
                  </a:lnTo>
                  <a:lnTo>
                    <a:pt x="230" y="454"/>
                  </a:lnTo>
                  <a:lnTo>
                    <a:pt x="233" y="463"/>
                  </a:lnTo>
                  <a:lnTo>
                    <a:pt x="233" y="467"/>
                  </a:lnTo>
                  <a:lnTo>
                    <a:pt x="233" y="454"/>
                  </a:lnTo>
                  <a:lnTo>
                    <a:pt x="237" y="463"/>
                  </a:lnTo>
                  <a:lnTo>
                    <a:pt x="237" y="467"/>
                  </a:lnTo>
                  <a:lnTo>
                    <a:pt x="237" y="467"/>
                  </a:lnTo>
                  <a:lnTo>
                    <a:pt x="237" y="458"/>
                  </a:lnTo>
                  <a:lnTo>
                    <a:pt x="240" y="458"/>
                  </a:lnTo>
                  <a:lnTo>
                    <a:pt x="240" y="454"/>
                  </a:lnTo>
                  <a:lnTo>
                    <a:pt x="240" y="450"/>
                  </a:lnTo>
                  <a:lnTo>
                    <a:pt x="240" y="450"/>
                  </a:lnTo>
                  <a:lnTo>
                    <a:pt x="243" y="450"/>
                  </a:lnTo>
                  <a:lnTo>
                    <a:pt x="243" y="430"/>
                  </a:lnTo>
                  <a:lnTo>
                    <a:pt x="243" y="450"/>
                  </a:lnTo>
                  <a:lnTo>
                    <a:pt x="243" y="446"/>
                  </a:lnTo>
                  <a:lnTo>
                    <a:pt x="247" y="442"/>
                  </a:lnTo>
                  <a:lnTo>
                    <a:pt x="247" y="434"/>
                  </a:lnTo>
                  <a:lnTo>
                    <a:pt x="247" y="442"/>
                  </a:lnTo>
                  <a:lnTo>
                    <a:pt x="247" y="438"/>
                  </a:lnTo>
                  <a:lnTo>
                    <a:pt x="250" y="446"/>
                  </a:lnTo>
                  <a:lnTo>
                    <a:pt x="250" y="450"/>
                  </a:lnTo>
                  <a:lnTo>
                    <a:pt x="250" y="450"/>
                  </a:lnTo>
                  <a:lnTo>
                    <a:pt x="254" y="446"/>
                  </a:lnTo>
                  <a:lnTo>
                    <a:pt x="254" y="446"/>
                  </a:lnTo>
                  <a:lnTo>
                    <a:pt x="254" y="438"/>
                  </a:lnTo>
                  <a:lnTo>
                    <a:pt x="254" y="442"/>
                  </a:lnTo>
                  <a:lnTo>
                    <a:pt x="257" y="450"/>
                  </a:lnTo>
                  <a:lnTo>
                    <a:pt x="257" y="442"/>
                  </a:lnTo>
                  <a:lnTo>
                    <a:pt x="257" y="450"/>
                  </a:lnTo>
                  <a:lnTo>
                    <a:pt x="257" y="450"/>
                  </a:lnTo>
                  <a:lnTo>
                    <a:pt x="261" y="434"/>
                  </a:lnTo>
                  <a:lnTo>
                    <a:pt x="261" y="446"/>
                  </a:lnTo>
                  <a:lnTo>
                    <a:pt x="261" y="450"/>
                  </a:lnTo>
                  <a:lnTo>
                    <a:pt x="261" y="450"/>
                  </a:lnTo>
                  <a:lnTo>
                    <a:pt x="264" y="450"/>
                  </a:lnTo>
                  <a:lnTo>
                    <a:pt x="264" y="450"/>
                  </a:lnTo>
                  <a:lnTo>
                    <a:pt x="264" y="446"/>
                  </a:lnTo>
                  <a:lnTo>
                    <a:pt x="267" y="430"/>
                  </a:lnTo>
                  <a:lnTo>
                    <a:pt x="267" y="421"/>
                  </a:lnTo>
                  <a:lnTo>
                    <a:pt x="267" y="413"/>
                  </a:lnTo>
                  <a:lnTo>
                    <a:pt x="267" y="430"/>
                  </a:lnTo>
                  <a:lnTo>
                    <a:pt x="271" y="421"/>
                  </a:lnTo>
                  <a:lnTo>
                    <a:pt x="271" y="417"/>
                  </a:lnTo>
                  <a:lnTo>
                    <a:pt x="271" y="425"/>
                  </a:lnTo>
                  <a:lnTo>
                    <a:pt x="271" y="421"/>
                  </a:lnTo>
                  <a:lnTo>
                    <a:pt x="274" y="413"/>
                  </a:lnTo>
                  <a:lnTo>
                    <a:pt x="274" y="409"/>
                  </a:lnTo>
                  <a:lnTo>
                    <a:pt x="274" y="397"/>
                  </a:lnTo>
                  <a:lnTo>
                    <a:pt x="274" y="388"/>
                  </a:lnTo>
                  <a:lnTo>
                    <a:pt x="278" y="397"/>
                  </a:lnTo>
                  <a:lnTo>
                    <a:pt x="278" y="392"/>
                  </a:lnTo>
                  <a:lnTo>
                    <a:pt x="278" y="405"/>
                  </a:lnTo>
                  <a:lnTo>
                    <a:pt x="278" y="392"/>
                  </a:lnTo>
                  <a:lnTo>
                    <a:pt x="281" y="376"/>
                  </a:lnTo>
                  <a:lnTo>
                    <a:pt x="281" y="380"/>
                  </a:lnTo>
                  <a:lnTo>
                    <a:pt x="281" y="368"/>
                  </a:lnTo>
                  <a:lnTo>
                    <a:pt x="285" y="368"/>
                  </a:lnTo>
                  <a:lnTo>
                    <a:pt x="285" y="359"/>
                  </a:lnTo>
                  <a:lnTo>
                    <a:pt x="285" y="351"/>
                  </a:lnTo>
                  <a:lnTo>
                    <a:pt x="285" y="355"/>
                  </a:lnTo>
                  <a:lnTo>
                    <a:pt x="288" y="372"/>
                  </a:lnTo>
                  <a:lnTo>
                    <a:pt x="288" y="376"/>
                  </a:lnTo>
                  <a:lnTo>
                    <a:pt x="288" y="388"/>
                  </a:lnTo>
                  <a:lnTo>
                    <a:pt x="288" y="401"/>
                  </a:lnTo>
                  <a:lnTo>
                    <a:pt x="291" y="397"/>
                  </a:lnTo>
                  <a:lnTo>
                    <a:pt x="291" y="388"/>
                  </a:lnTo>
                  <a:lnTo>
                    <a:pt x="291" y="413"/>
                  </a:lnTo>
                  <a:lnTo>
                    <a:pt x="291" y="397"/>
                  </a:lnTo>
                  <a:lnTo>
                    <a:pt x="295" y="397"/>
                  </a:lnTo>
                  <a:lnTo>
                    <a:pt x="295" y="397"/>
                  </a:lnTo>
                  <a:lnTo>
                    <a:pt x="295" y="392"/>
                  </a:lnTo>
                  <a:lnTo>
                    <a:pt x="298" y="409"/>
                  </a:lnTo>
                  <a:lnTo>
                    <a:pt x="298" y="397"/>
                  </a:lnTo>
                  <a:lnTo>
                    <a:pt x="298" y="401"/>
                  </a:lnTo>
                  <a:lnTo>
                    <a:pt x="298" y="409"/>
                  </a:lnTo>
                  <a:lnTo>
                    <a:pt x="302" y="409"/>
                  </a:lnTo>
                  <a:lnTo>
                    <a:pt x="302" y="409"/>
                  </a:lnTo>
                  <a:lnTo>
                    <a:pt x="302" y="388"/>
                  </a:lnTo>
                  <a:lnTo>
                    <a:pt x="302" y="397"/>
                  </a:lnTo>
                  <a:lnTo>
                    <a:pt x="305" y="397"/>
                  </a:lnTo>
                  <a:lnTo>
                    <a:pt x="305" y="397"/>
                  </a:lnTo>
                  <a:lnTo>
                    <a:pt x="305" y="384"/>
                  </a:lnTo>
                  <a:lnTo>
                    <a:pt x="305" y="392"/>
                  </a:lnTo>
                  <a:lnTo>
                    <a:pt x="309" y="388"/>
                  </a:lnTo>
                  <a:lnTo>
                    <a:pt x="309" y="392"/>
                  </a:lnTo>
                  <a:lnTo>
                    <a:pt x="309" y="384"/>
                  </a:lnTo>
                  <a:lnTo>
                    <a:pt x="312" y="376"/>
                  </a:lnTo>
                  <a:lnTo>
                    <a:pt x="312" y="351"/>
                  </a:lnTo>
                  <a:lnTo>
                    <a:pt x="312" y="355"/>
                  </a:lnTo>
                  <a:lnTo>
                    <a:pt x="312" y="355"/>
                  </a:lnTo>
                  <a:lnTo>
                    <a:pt x="315" y="368"/>
                  </a:lnTo>
                  <a:lnTo>
                    <a:pt x="315" y="368"/>
                  </a:lnTo>
                  <a:lnTo>
                    <a:pt x="315" y="355"/>
                  </a:lnTo>
                  <a:lnTo>
                    <a:pt x="315" y="355"/>
                  </a:lnTo>
                  <a:lnTo>
                    <a:pt x="319" y="372"/>
                  </a:lnTo>
                  <a:lnTo>
                    <a:pt x="319" y="380"/>
                  </a:lnTo>
                  <a:lnTo>
                    <a:pt x="319" y="355"/>
                  </a:lnTo>
                  <a:lnTo>
                    <a:pt x="319" y="355"/>
                  </a:lnTo>
                  <a:lnTo>
                    <a:pt x="322" y="355"/>
                  </a:lnTo>
                  <a:lnTo>
                    <a:pt x="322" y="368"/>
                  </a:lnTo>
                  <a:lnTo>
                    <a:pt x="322" y="368"/>
                  </a:lnTo>
                  <a:lnTo>
                    <a:pt x="322" y="359"/>
                  </a:lnTo>
                  <a:lnTo>
                    <a:pt x="326" y="364"/>
                  </a:lnTo>
                  <a:lnTo>
                    <a:pt x="326" y="351"/>
                  </a:lnTo>
                  <a:lnTo>
                    <a:pt x="326" y="343"/>
                  </a:lnTo>
                  <a:lnTo>
                    <a:pt x="329" y="364"/>
                  </a:lnTo>
                  <a:lnTo>
                    <a:pt x="329" y="359"/>
                  </a:lnTo>
                  <a:lnTo>
                    <a:pt x="329" y="359"/>
                  </a:lnTo>
                  <a:lnTo>
                    <a:pt x="329" y="359"/>
                  </a:lnTo>
                  <a:lnTo>
                    <a:pt x="333" y="343"/>
                  </a:lnTo>
                  <a:lnTo>
                    <a:pt x="333" y="359"/>
                  </a:lnTo>
                  <a:lnTo>
                    <a:pt x="333" y="359"/>
                  </a:lnTo>
                  <a:lnTo>
                    <a:pt x="333" y="351"/>
                  </a:lnTo>
                  <a:lnTo>
                    <a:pt x="336" y="343"/>
                  </a:lnTo>
                  <a:lnTo>
                    <a:pt x="336" y="343"/>
                  </a:lnTo>
                  <a:lnTo>
                    <a:pt x="336" y="335"/>
                  </a:lnTo>
                  <a:lnTo>
                    <a:pt x="336" y="318"/>
                  </a:lnTo>
                  <a:lnTo>
                    <a:pt x="339" y="330"/>
                  </a:lnTo>
                  <a:lnTo>
                    <a:pt x="339" y="318"/>
                  </a:lnTo>
                  <a:lnTo>
                    <a:pt x="339" y="306"/>
                  </a:lnTo>
                  <a:lnTo>
                    <a:pt x="343" y="281"/>
                  </a:lnTo>
                  <a:lnTo>
                    <a:pt x="343" y="273"/>
                  </a:lnTo>
                  <a:lnTo>
                    <a:pt x="343" y="260"/>
                  </a:lnTo>
                  <a:lnTo>
                    <a:pt x="343" y="273"/>
                  </a:lnTo>
                  <a:lnTo>
                    <a:pt x="346" y="293"/>
                  </a:lnTo>
                  <a:lnTo>
                    <a:pt x="346" y="302"/>
                  </a:lnTo>
                  <a:lnTo>
                    <a:pt x="346" y="326"/>
                  </a:lnTo>
                  <a:lnTo>
                    <a:pt x="346" y="347"/>
                  </a:lnTo>
                  <a:lnTo>
                    <a:pt x="350" y="347"/>
                  </a:lnTo>
                  <a:lnTo>
                    <a:pt x="350" y="376"/>
                  </a:lnTo>
                  <a:lnTo>
                    <a:pt x="350" y="380"/>
                  </a:lnTo>
                  <a:lnTo>
                    <a:pt x="350" y="392"/>
                  </a:lnTo>
                  <a:lnTo>
                    <a:pt x="353" y="397"/>
                  </a:lnTo>
                  <a:lnTo>
                    <a:pt x="353" y="409"/>
                  </a:lnTo>
                  <a:lnTo>
                    <a:pt x="353" y="401"/>
                  </a:lnTo>
                  <a:lnTo>
                    <a:pt x="353" y="421"/>
                  </a:lnTo>
                  <a:lnTo>
                    <a:pt x="357" y="413"/>
                  </a:lnTo>
                  <a:lnTo>
                    <a:pt x="357" y="409"/>
                  </a:lnTo>
                  <a:lnTo>
                    <a:pt x="357" y="425"/>
                  </a:lnTo>
                  <a:lnTo>
                    <a:pt x="360" y="438"/>
                  </a:lnTo>
                  <a:lnTo>
                    <a:pt x="360" y="446"/>
                  </a:lnTo>
                  <a:lnTo>
                    <a:pt x="360" y="442"/>
                  </a:lnTo>
                  <a:lnTo>
                    <a:pt x="360" y="450"/>
                  </a:lnTo>
                  <a:lnTo>
                    <a:pt x="363" y="442"/>
                  </a:lnTo>
                  <a:lnTo>
                    <a:pt x="363" y="450"/>
                  </a:lnTo>
                  <a:lnTo>
                    <a:pt x="363" y="467"/>
                  </a:lnTo>
                  <a:lnTo>
                    <a:pt x="363" y="463"/>
                  </a:lnTo>
                  <a:lnTo>
                    <a:pt x="367" y="458"/>
                  </a:lnTo>
                  <a:lnTo>
                    <a:pt x="367" y="446"/>
                  </a:lnTo>
                  <a:lnTo>
                    <a:pt x="367" y="450"/>
                  </a:lnTo>
                  <a:lnTo>
                    <a:pt x="367" y="450"/>
                  </a:lnTo>
                  <a:lnTo>
                    <a:pt x="370" y="471"/>
                  </a:lnTo>
                  <a:lnTo>
                    <a:pt x="370" y="467"/>
                  </a:lnTo>
                  <a:lnTo>
                    <a:pt x="370" y="458"/>
                  </a:lnTo>
                  <a:lnTo>
                    <a:pt x="374" y="475"/>
                  </a:lnTo>
                  <a:lnTo>
                    <a:pt x="374" y="471"/>
                  </a:lnTo>
                  <a:lnTo>
                    <a:pt x="374" y="471"/>
                  </a:lnTo>
                  <a:lnTo>
                    <a:pt x="374" y="475"/>
                  </a:lnTo>
                  <a:lnTo>
                    <a:pt x="377" y="487"/>
                  </a:lnTo>
                  <a:lnTo>
                    <a:pt x="377" y="483"/>
                  </a:lnTo>
                  <a:lnTo>
                    <a:pt x="377" y="487"/>
                  </a:lnTo>
                  <a:lnTo>
                    <a:pt x="377" y="491"/>
                  </a:lnTo>
                  <a:lnTo>
                    <a:pt x="381" y="496"/>
                  </a:lnTo>
                  <a:lnTo>
                    <a:pt x="381" y="500"/>
                  </a:lnTo>
                  <a:lnTo>
                    <a:pt x="381" y="496"/>
                  </a:lnTo>
                  <a:lnTo>
                    <a:pt x="381" y="496"/>
                  </a:lnTo>
                  <a:lnTo>
                    <a:pt x="384" y="491"/>
                  </a:lnTo>
                  <a:lnTo>
                    <a:pt x="384" y="496"/>
                  </a:lnTo>
                  <a:lnTo>
                    <a:pt x="384" y="500"/>
                  </a:lnTo>
                  <a:lnTo>
                    <a:pt x="384" y="504"/>
                  </a:lnTo>
                  <a:lnTo>
                    <a:pt x="387" y="512"/>
                  </a:lnTo>
                  <a:lnTo>
                    <a:pt x="387" y="508"/>
                  </a:lnTo>
                  <a:lnTo>
                    <a:pt x="387" y="504"/>
                  </a:lnTo>
                  <a:lnTo>
                    <a:pt x="391" y="504"/>
                  </a:lnTo>
                  <a:lnTo>
                    <a:pt x="391" y="508"/>
                  </a:lnTo>
                  <a:lnTo>
                    <a:pt x="391" y="508"/>
                  </a:lnTo>
                  <a:lnTo>
                    <a:pt x="391" y="500"/>
                  </a:lnTo>
                  <a:lnTo>
                    <a:pt x="394" y="508"/>
                  </a:lnTo>
                  <a:lnTo>
                    <a:pt x="394" y="508"/>
                  </a:lnTo>
                  <a:lnTo>
                    <a:pt x="394" y="516"/>
                  </a:lnTo>
                  <a:lnTo>
                    <a:pt x="394" y="529"/>
                  </a:lnTo>
                  <a:lnTo>
                    <a:pt x="398" y="525"/>
                  </a:lnTo>
                  <a:lnTo>
                    <a:pt x="398" y="529"/>
                  </a:lnTo>
                  <a:lnTo>
                    <a:pt x="398" y="533"/>
                  </a:lnTo>
                  <a:lnTo>
                    <a:pt x="398" y="520"/>
                  </a:lnTo>
                  <a:lnTo>
                    <a:pt x="401" y="529"/>
                  </a:lnTo>
                  <a:lnTo>
                    <a:pt x="401" y="520"/>
                  </a:lnTo>
                  <a:lnTo>
                    <a:pt x="401" y="710"/>
                  </a:lnTo>
                  <a:lnTo>
                    <a:pt x="401" y="710"/>
                  </a:lnTo>
                  <a:lnTo>
                    <a:pt x="398" y="710"/>
                  </a:lnTo>
                  <a:lnTo>
                    <a:pt x="398" y="710"/>
                  </a:lnTo>
                  <a:lnTo>
                    <a:pt x="398" y="710"/>
                  </a:lnTo>
                  <a:lnTo>
                    <a:pt x="398" y="710"/>
                  </a:lnTo>
                  <a:lnTo>
                    <a:pt x="394" y="710"/>
                  </a:lnTo>
                  <a:lnTo>
                    <a:pt x="394" y="710"/>
                  </a:lnTo>
                  <a:lnTo>
                    <a:pt x="394" y="710"/>
                  </a:lnTo>
                  <a:lnTo>
                    <a:pt x="394" y="710"/>
                  </a:lnTo>
                  <a:lnTo>
                    <a:pt x="391" y="710"/>
                  </a:lnTo>
                  <a:lnTo>
                    <a:pt x="391" y="710"/>
                  </a:lnTo>
                  <a:lnTo>
                    <a:pt x="391" y="710"/>
                  </a:lnTo>
                  <a:lnTo>
                    <a:pt x="391" y="710"/>
                  </a:lnTo>
                  <a:lnTo>
                    <a:pt x="387" y="710"/>
                  </a:lnTo>
                  <a:lnTo>
                    <a:pt x="387" y="710"/>
                  </a:lnTo>
                  <a:lnTo>
                    <a:pt x="387" y="710"/>
                  </a:lnTo>
                  <a:lnTo>
                    <a:pt x="384" y="710"/>
                  </a:lnTo>
                  <a:lnTo>
                    <a:pt x="384" y="710"/>
                  </a:lnTo>
                  <a:lnTo>
                    <a:pt x="384" y="710"/>
                  </a:lnTo>
                  <a:lnTo>
                    <a:pt x="384" y="710"/>
                  </a:lnTo>
                  <a:lnTo>
                    <a:pt x="381" y="710"/>
                  </a:lnTo>
                  <a:lnTo>
                    <a:pt x="381" y="710"/>
                  </a:lnTo>
                  <a:lnTo>
                    <a:pt x="381" y="710"/>
                  </a:lnTo>
                  <a:lnTo>
                    <a:pt x="381" y="710"/>
                  </a:lnTo>
                  <a:lnTo>
                    <a:pt x="377" y="710"/>
                  </a:lnTo>
                  <a:lnTo>
                    <a:pt x="377" y="710"/>
                  </a:lnTo>
                  <a:lnTo>
                    <a:pt x="377" y="710"/>
                  </a:lnTo>
                  <a:lnTo>
                    <a:pt x="377" y="710"/>
                  </a:lnTo>
                  <a:lnTo>
                    <a:pt x="374" y="710"/>
                  </a:lnTo>
                  <a:lnTo>
                    <a:pt x="374" y="710"/>
                  </a:lnTo>
                  <a:lnTo>
                    <a:pt x="374" y="710"/>
                  </a:lnTo>
                  <a:lnTo>
                    <a:pt x="374" y="710"/>
                  </a:lnTo>
                  <a:lnTo>
                    <a:pt x="370" y="710"/>
                  </a:lnTo>
                  <a:lnTo>
                    <a:pt x="370" y="710"/>
                  </a:lnTo>
                  <a:lnTo>
                    <a:pt x="370" y="710"/>
                  </a:lnTo>
                  <a:lnTo>
                    <a:pt x="367" y="710"/>
                  </a:lnTo>
                  <a:lnTo>
                    <a:pt x="367" y="710"/>
                  </a:lnTo>
                  <a:lnTo>
                    <a:pt x="367" y="710"/>
                  </a:lnTo>
                  <a:lnTo>
                    <a:pt x="367" y="710"/>
                  </a:lnTo>
                  <a:lnTo>
                    <a:pt x="363" y="710"/>
                  </a:lnTo>
                  <a:lnTo>
                    <a:pt x="363" y="710"/>
                  </a:lnTo>
                  <a:lnTo>
                    <a:pt x="363" y="710"/>
                  </a:lnTo>
                  <a:lnTo>
                    <a:pt x="363" y="710"/>
                  </a:lnTo>
                  <a:lnTo>
                    <a:pt x="360" y="710"/>
                  </a:lnTo>
                  <a:lnTo>
                    <a:pt x="360" y="710"/>
                  </a:lnTo>
                  <a:lnTo>
                    <a:pt x="360" y="710"/>
                  </a:lnTo>
                  <a:lnTo>
                    <a:pt x="360" y="710"/>
                  </a:lnTo>
                  <a:lnTo>
                    <a:pt x="357" y="710"/>
                  </a:lnTo>
                  <a:lnTo>
                    <a:pt x="357" y="710"/>
                  </a:lnTo>
                  <a:lnTo>
                    <a:pt x="357" y="710"/>
                  </a:lnTo>
                  <a:lnTo>
                    <a:pt x="353" y="710"/>
                  </a:lnTo>
                  <a:lnTo>
                    <a:pt x="353" y="710"/>
                  </a:lnTo>
                  <a:lnTo>
                    <a:pt x="353" y="710"/>
                  </a:lnTo>
                  <a:lnTo>
                    <a:pt x="353" y="710"/>
                  </a:lnTo>
                  <a:lnTo>
                    <a:pt x="350" y="710"/>
                  </a:lnTo>
                  <a:lnTo>
                    <a:pt x="350" y="710"/>
                  </a:lnTo>
                  <a:lnTo>
                    <a:pt x="350" y="710"/>
                  </a:lnTo>
                  <a:lnTo>
                    <a:pt x="350" y="710"/>
                  </a:lnTo>
                  <a:lnTo>
                    <a:pt x="346" y="710"/>
                  </a:lnTo>
                  <a:lnTo>
                    <a:pt x="346" y="710"/>
                  </a:lnTo>
                  <a:lnTo>
                    <a:pt x="346" y="710"/>
                  </a:lnTo>
                  <a:lnTo>
                    <a:pt x="346" y="710"/>
                  </a:lnTo>
                  <a:lnTo>
                    <a:pt x="343" y="710"/>
                  </a:lnTo>
                  <a:lnTo>
                    <a:pt x="343" y="710"/>
                  </a:lnTo>
                  <a:lnTo>
                    <a:pt x="343" y="710"/>
                  </a:lnTo>
                  <a:lnTo>
                    <a:pt x="343" y="710"/>
                  </a:lnTo>
                  <a:lnTo>
                    <a:pt x="339" y="710"/>
                  </a:lnTo>
                  <a:lnTo>
                    <a:pt x="339" y="710"/>
                  </a:lnTo>
                  <a:lnTo>
                    <a:pt x="339" y="710"/>
                  </a:lnTo>
                  <a:lnTo>
                    <a:pt x="336" y="710"/>
                  </a:lnTo>
                  <a:lnTo>
                    <a:pt x="336" y="710"/>
                  </a:lnTo>
                  <a:lnTo>
                    <a:pt x="336" y="710"/>
                  </a:lnTo>
                  <a:lnTo>
                    <a:pt x="336" y="710"/>
                  </a:lnTo>
                  <a:lnTo>
                    <a:pt x="333" y="710"/>
                  </a:lnTo>
                  <a:lnTo>
                    <a:pt x="333" y="710"/>
                  </a:lnTo>
                  <a:lnTo>
                    <a:pt x="333" y="710"/>
                  </a:lnTo>
                  <a:lnTo>
                    <a:pt x="333" y="710"/>
                  </a:lnTo>
                  <a:lnTo>
                    <a:pt x="329" y="710"/>
                  </a:lnTo>
                  <a:lnTo>
                    <a:pt x="329" y="710"/>
                  </a:lnTo>
                  <a:lnTo>
                    <a:pt x="329" y="710"/>
                  </a:lnTo>
                  <a:lnTo>
                    <a:pt x="329" y="710"/>
                  </a:lnTo>
                  <a:lnTo>
                    <a:pt x="326" y="710"/>
                  </a:lnTo>
                  <a:lnTo>
                    <a:pt x="326" y="710"/>
                  </a:lnTo>
                  <a:lnTo>
                    <a:pt x="326" y="710"/>
                  </a:lnTo>
                  <a:lnTo>
                    <a:pt x="322" y="710"/>
                  </a:lnTo>
                  <a:lnTo>
                    <a:pt x="322" y="710"/>
                  </a:lnTo>
                  <a:lnTo>
                    <a:pt x="322" y="710"/>
                  </a:lnTo>
                  <a:lnTo>
                    <a:pt x="322" y="710"/>
                  </a:lnTo>
                  <a:lnTo>
                    <a:pt x="319" y="710"/>
                  </a:lnTo>
                  <a:lnTo>
                    <a:pt x="319" y="710"/>
                  </a:lnTo>
                  <a:lnTo>
                    <a:pt x="319" y="710"/>
                  </a:lnTo>
                  <a:lnTo>
                    <a:pt x="319" y="710"/>
                  </a:lnTo>
                  <a:lnTo>
                    <a:pt x="315" y="710"/>
                  </a:lnTo>
                  <a:lnTo>
                    <a:pt x="315" y="710"/>
                  </a:lnTo>
                  <a:lnTo>
                    <a:pt x="315" y="710"/>
                  </a:lnTo>
                  <a:lnTo>
                    <a:pt x="315" y="710"/>
                  </a:lnTo>
                  <a:lnTo>
                    <a:pt x="312" y="710"/>
                  </a:lnTo>
                  <a:lnTo>
                    <a:pt x="312" y="710"/>
                  </a:lnTo>
                  <a:lnTo>
                    <a:pt x="312" y="710"/>
                  </a:lnTo>
                  <a:lnTo>
                    <a:pt x="312" y="710"/>
                  </a:lnTo>
                  <a:lnTo>
                    <a:pt x="309" y="710"/>
                  </a:lnTo>
                  <a:lnTo>
                    <a:pt x="309" y="710"/>
                  </a:lnTo>
                  <a:lnTo>
                    <a:pt x="309" y="710"/>
                  </a:lnTo>
                  <a:lnTo>
                    <a:pt x="305" y="710"/>
                  </a:lnTo>
                  <a:lnTo>
                    <a:pt x="305" y="710"/>
                  </a:lnTo>
                  <a:lnTo>
                    <a:pt x="305" y="710"/>
                  </a:lnTo>
                  <a:lnTo>
                    <a:pt x="305" y="710"/>
                  </a:lnTo>
                  <a:lnTo>
                    <a:pt x="302" y="710"/>
                  </a:lnTo>
                  <a:lnTo>
                    <a:pt x="302" y="710"/>
                  </a:lnTo>
                  <a:lnTo>
                    <a:pt x="302" y="710"/>
                  </a:lnTo>
                  <a:lnTo>
                    <a:pt x="302" y="710"/>
                  </a:lnTo>
                  <a:lnTo>
                    <a:pt x="298" y="710"/>
                  </a:lnTo>
                  <a:lnTo>
                    <a:pt x="298" y="710"/>
                  </a:lnTo>
                  <a:lnTo>
                    <a:pt x="298" y="710"/>
                  </a:lnTo>
                  <a:lnTo>
                    <a:pt x="298" y="710"/>
                  </a:lnTo>
                  <a:lnTo>
                    <a:pt x="295" y="710"/>
                  </a:lnTo>
                  <a:lnTo>
                    <a:pt x="295" y="710"/>
                  </a:lnTo>
                  <a:lnTo>
                    <a:pt x="295" y="710"/>
                  </a:lnTo>
                  <a:lnTo>
                    <a:pt x="291" y="710"/>
                  </a:lnTo>
                  <a:lnTo>
                    <a:pt x="291" y="710"/>
                  </a:lnTo>
                  <a:lnTo>
                    <a:pt x="291" y="710"/>
                  </a:lnTo>
                  <a:lnTo>
                    <a:pt x="291" y="710"/>
                  </a:lnTo>
                  <a:lnTo>
                    <a:pt x="288" y="710"/>
                  </a:lnTo>
                  <a:lnTo>
                    <a:pt x="288" y="710"/>
                  </a:lnTo>
                  <a:lnTo>
                    <a:pt x="288" y="710"/>
                  </a:lnTo>
                  <a:lnTo>
                    <a:pt x="288" y="710"/>
                  </a:lnTo>
                  <a:lnTo>
                    <a:pt x="285" y="710"/>
                  </a:lnTo>
                  <a:lnTo>
                    <a:pt x="285" y="710"/>
                  </a:lnTo>
                  <a:lnTo>
                    <a:pt x="285" y="710"/>
                  </a:lnTo>
                  <a:lnTo>
                    <a:pt x="285" y="710"/>
                  </a:lnTo>
                  <a:lnTo>
                    <a:pt x="281" y="710"/>
                  </a:lnTo>
                  <a:lnTo>
                    <a:pt x="281" y="710"/>
                  </a:lnTo>
                  <a:lnTo>
                    <a:pt x="281" y="710"/>
                  </a:lnTo>
                  <a:lnTo>
                    <a:pt x="278" y="710"/>
                  </a:lnTo>
                  <a:lnTo>
                    <a:pt x="278" y="710"/>
                  </a:lnTo>
                  <a:lnTo>
                    <a:pt x="278" y="710"/>
                  </a:lnTo>
                  <a:lnTo>
                    <a:pt x="278" y="710"/>
                  </a:lnTo>
                  <a:lnTo>
                    <a:pt x="274" y="710"/>
                  </a:lnTo>
                  <a:lnTo>
                    <a:pt x="274" y="710"/>
                  </a:lnTo>
                  <a:lnTo>
                    <a:pt x="274" y="710"/>
                  </a:lnTo>
                  <a:lnTo>
                    <a:pt x="274" y="710"/>
                  </a:lnTo>
                  <a:lnTo>
                    <a:pt x="271" y="710"/>
                  </a:lnTo>
                  <a:lnTo>
                    <a:pt x="271" y="710"/>
                  </a:lnTo>
                  <a:lnTo>
                    <a:pt x="271" y="710"/>
                  </a:lnTo>
                  <a:lnTo>
                    <a:pt x="271" y="710"/>
                  </a:lnTo>
                  <a:lnTo>
                    <a:pt x="267" y="710"/>
                  </a:lnTo>
                  <a:lnTo>
                    <a:pt x="267" y="710"/>
                  </a:lnTo>
                  <a:lnTo>
                    <a:pt x="267" y="710"/>
                  </a:lnTo>
                  <a:lnTo>
                    <a:pt x="267" y="710"/>
                  </a:lnTo>
                  <a:lnTo>
                    <a:pt x="264" y="710"/>
                  </a:lnTo>
                  <a:lnTo>
                    <a:pt x="264" y="710"/>
                  </a:lnTo>
                  <a:lnTo>
                    <a:pt x="264" y="710"/>
                  </a:lnTo>
                  <a:lnTo>
                    <a:pt x="261" y="710"/>
                  </a:lnTo>
                  <a:lnTo>
                    <a:pt x="261" y="710"/>
                  </a:lnTo>
                  <a:lnTo>
                    <a:pt x="261" y="710"/>
                  </a:lnTo>
                  <a:lnTo>
                    <a:pt x="261" y="710"/>
                  </a:lnTo>
                  <a:lnTo>
                    <a:pt x="257" y="710"/>
                  </a:lnTo>
                  <a:lnTo>
                    <a:pt x="257" y="710"/>
                  </a:lnTo>
                  <a:lnTo>
                    <a:pt x="257" y="710"/>
                  </a:lnTo>
                  <a:lnTo>
                    <a:pt x="257" y="710"/>
                  </a:lnTo>
                  <a:lnTo>
                    <a:pt x="254" y="710"/>
                  </a:lnTo>
                  <a:lnTo>
                    <a:pt x="254" y="710"/>
                  </a:lnTo>
                  <a:lnTo>
                    <a:pt x="254" y="710"/>
                  </a:lnTo>
                  <a:lnTo>
                    <a:pt x="254" y="710"/>
                  </a:lnTo>
                  <a:lnTo>
                    <a:pt x="250" y="710"/>
                  </a:lnTo>
                  <a:lnTo>
                    <a:pt x="250" y="710"/>
                  </a:lnTo>
                  <a:lnTo>
                    <a:pt x="250" y="710"/>
                  </a:lnTo>
                  <a:lnTo>
                    <a:pt x="247" y="710"/>
                  </a:lnTo>
                  <a:lnTo>
                    <a:pt x="247" y="710"/>
                  </a:lnTo>
                  <a:lnTo>
                    <a:pt x="247" y="710"/>
                  </a:lnTo>
                  <a:lnTo>
                    <a:pt x="247" y="710"/>
                  </a:lnTo>
                  <a:lnTo>
                    <a:pt x="243" y="710"/>
                  </a:lnTo>
                  <a:lnTo>
                    <a:pt x="243" y="710"/>
                  </a:lnTo>
                  <a:lnTo>
                    <a:pt x="243" y="710"/>
                  </a:lnTo>
                  <a:lnTo>
                    <a:pt x="243" y="710"/>
                  </a:lnTo>
                  <a:lnTo>
                    <a:pt x="240" y="710"/>
                  </a:lnTo>
                  <a:lnTo>
                    <a:pt x="240" y="710"/>
                  </a:lnTo>
                  <a:lnTo>
                    <a:pt x="240" y="710"/>
                  </a:lnTo>
                  <a:lnTo>
                    <a:pt x="240" y="710"/>
                  </a:lnTo>
                  <a:lnTo>
                    <a:pt x="237" y="710"/>
                  </a:lnTo>
                  <a:lnTo>
                    <a:pt x="237" y="710"/>
                  </a:lnTo>
                  <a:lnTo>
                    <a:pt x="237" y="710"/>
                  </a:lnTo>
                  <a:lnTo>
                    <a:pt x="237" y="710"/>
                  </a:lnTo>
                  <a:lnTo>
                    <a:pt x="233" y="710"/>
                  </a:lnTo>
                  <a:lnTo>
                    <a:pt x="233" y="710"/>
                  </a:lnTo>
                  <a:lnTo>
                    <a:pt x="233" y="710"/>
                  </a:lnTo>
                  <a:lnTo>
                    <a:pt x="230" y="710"/>
                  </a:lnTo>
                  <a:lnTo>
                    <a:pt x="230" y="710"/>
                  </a:lnTo>
                  <a:lnTo>
                    <a:pt x="230" y="710"/>
                  </a:lnTo>
                  <a:lnTo>
                    <a:pt x="230" y="710"/>
                  </a:lnTo>
                  <a:lnTo>
                    <a:pt x="226" y="710"/>
                  </a:lnTo>
                  <a:lnTo>
                    <a:pt x="226" y="710"/>
                  </a:lnTo>
                  <a:lnTo>
                    <a:pt x="226" y="710"/>
                  </a:lnTo>
                  <a:lnTo>
                    <a:pt x="226" y="710"/>
                  </a:lnTo>
                  <a:lnTo>
                    <a:pt x="223" y="710"/>
                  </a:lnTo>
                  <a:lnTo>
                    <a:pt x="223" y="710"/>
                  </a:lnTo>
                  <a:lnTo>
                    <a:pt x="223" y="710"/>
                  </a:lnTo>
                  <a:lnTo>
                    <a:pt x="223" y="710"/>
                  </a:lnTo>
                  <a:lnTo>
                    <a:pt x="219" y="710"/>
                  </a:lnTo>
                  <a:lnTo>
                    <a:pt x="219" y="710"/>
                  </a:lnTo>
                  <a:lnTo>
                    <a:pt x="219" y="710"/>
                  </a:lnTo>
                  <a:lnTo>
                    <a:pt x="216" y="710"/>
                  </a:lnTo>
                  <a:lnTo>
                    <a:pt x="216" y="710"/>
                  </a:lnTo>
                  <a:lnTo>
                    <a:pt x="216" y="710"/>
                  </a:lnTo>
                  <a:lnTo>
                    <a:pt x="216" y="710"/>
                  </a:lnTo>
                  <a:lnTo>
                    <a:pt x="213" y="710"/>
                  </a:lnTo>
                  <a:lnTo>
                    <a:pt x="213" y="710"/>
                  </a:lnTo>
                  <a:lnTo>
                    <a:pt x="213" y="710"/>
                  </a:lnTo>
                  <a:lnTo>
                    <a:pt x="213" y="710"/>
                  </a:lnTo>
                  <a:lnTo>
                    <a:pt x="209" y="710"/>
                  </a:lnTo>
                  <a:lnTo>
                    <a:pt x="209" y="710"/>
                  </a:lnTo>
                  <a:lnTo>
                    <a:pt x="209" y="710"/>
                  </a:lnTo>
                  <a:lnTo>
                    <a:pt x="209" y="710"/>
                  </a:lnTo>
                  <a:lnTo>
                    <a:pt x="206" y="710"/>
                  </a:lnTo>
                  <a:lnTo>
                    <a:pt x="206" y="710"/>
                  </a:lnTo>
                  <a:lnTo>
                    <a:pt x="206" y="710"/>
                  </a:lnTo>
                  <a:lnTo>
                    <a:pt x="206" y="710"/>
                  </a:lnTo>
                  <a:lnTo>
                    <a:pt x="202" y="710"/>
                  </a:lnTo>
                  <a:lnTo>
                    <a:pt x="202" y="710"/>
                  </a:lnTo>
                  <a:lnTo>
                    <a:pt x="202" y="710"/>
                  </a:lnTo>
                  <a:lnTo>
                    <a:pt x="199" y="710"/>
                  </a:lnTo>
                  <a:lnTo>
                    <a:pt x="199" y="710"/>
                  </a:lnTo>
                  <a:lnTo>
                    <a:pt x="199" y="710"/>
                  </a:lnTo>
                  <a:lnTo>
                    <a:pt x="199" y="710"/>
                  </a:lnTo>
                  <a:lnTo>
                    <a:pt x="195" y="710"/>
                  </a:lnTo>
                  <a:lnTo>
                    <a:pt x="195" y="710"/>
                  </a:lnTo>
                  <a:lnTo>
                    <a:pt x="195" y="710"/>
                  </a:lnTo>
                  <a:lnTo>
                    <a:pt x="195" y="710"/>
                  </a:lnTo>
                  <a:lnTo>
                    <a:pt x="192" y="710"/>
                  </a:lnTo>
                  <a:lnTo>
                    <a:pt x="192" y="710"/>
                  </a:lnTo>
                  <a:lnTo>
                    <a:pt x="192" y="710"/>
                  </a:lnTo>
                  <a:lnTo>
                    <a:pt x="192" y="710"/>
                  </a:lnTo>
                  <a:lnTo>
                    <a:pt x="189" y="710"/>
                  </a:lnTo>
                  <a:lnTo>
                    <a:pt x="189" y="710"/>
                  </a:lnTo>
                  <a:lnTo>
                    <a:pt x="189" y="710"/>
                  </a:lnTo>
                  <a:lnTo>
                    <a:pt x="185" y="710"/>
                  </a:lnTo>
                  <a:lnTo>
                    <a:pt x="185" y="710"/>
                  </a:lnTo>
                  <a:lnTo>
                    <a:pt x="185" y="710"/>
                  </a:lnTo>
                  <a:lnTo>
                    <a:pt x="185" y="710"/>
                  </a:lnTo>
                  <a:lnTo>
                    <a:pt x="182" y="710"/>
                  </a:lnTo>
                  <a:lnTo>
                    <a:pt x="182" y="710"/>
                  </a:lnTo>
                  <a:lnTo>
                    <a:pt x="182" y="710"/>
                  </a:lnTo>
                  <a:lnTo>
                    <a:pt x="182" y="710"/>
                  </a:lnTo>
                  <a:lnTo>
                    <a:pt x="178" y="710"/>
                  </a:lnTo>
                  <a:lnTo>
                    <a:pt x="178" y="710"/>
                  </a:lnTo>
                  <a:lnTo>
                    <a:pt x="178" y="710"/>
                  </a:lnTo>
                  <a:lnTo>
                    <a:pt x="178" y="710"/>
                  </a:lnTo>
                  <a:lnTo>
                    <a:pt x="175" y="710"/>
                  </a:lnTo>
                  <a:lnTo>
                    <a:pt x="175" y="710"/>
                  </a:lnTo>
                  <a:lnTo>
                    <a:pt x="175" y="710"/>
                  </a:lnTo>
                  <a:lnTo>
                    <a:pt x="171" y="710"/>
                  </a:lnTo>
                  <a:lnTo>
                    <a:pt x="171" y="710"/>
                  </a:lnTo>
                  <a:lnTo>
                    <a:pt x="171" y="710"/>
                  </a:lnTo>
                  <a:lnTo>
                    <a:pt x="171" y="710"/>
                  </a:lnTo>
                  <a:lnTo>
                    <a:pt x="168" y="710"/>
                  </a:lnTo>
                  <a:lnTo>
                    <a:pt x="168" y="710"/>
                  </a:lnTo>
                  <a:lnTo>
                    <a:pt x="168" y="710"/>
                  </a:lnTo>
                  <a:lnTo>
                    <a:pt x="168" y="710"/>
                  </a:lnTo>
                  <a:lnTo>
                    <a:pt x="165" y="710"/>
                  </a:lnTo>
                  <a:lnTo>
                    <a:pt x="165" y="710"/>
                  </a:lnTo>
                  <a:lnTo>
                    <a:pt x="165" y="710"/>
                  </a:lnTo>
                  <a:lnTo>
                    <a:pt x="165" y="710"/>
                  </a:lnTo>
                  <a:lnTo>
                    <a:pt x="161" y="710"/>
                  </a:lnTo>
                  <a:lnTo>
                    <a:pt x="161" y="710"/>
                  </a:lnTo>
                  <a:lnTo>
                    <a:pt x="161" y="710"/>
                  </a:lnTo>
                  <a:lnTo>
                    <a:pt x="161" y="710"/>
                  </a:lnTo>
                  <a:lnTo>
                    <a:pt x="158" y="710"/>
                  </a:lnTo>
                  <a:lnTo>
                    <a:pt x="158" y="710"/>
                  </a:lnTo>
                  <a:lnTo>
                    <a:pt x="158" y="710"/>
                  </a:lnTo>
                  <a:lnTo>
                    <a:pt x="154" y="710"/>
                  </a:lnTo>
                  <a:lnTo>
                    <a:pt x="154" y="710"/>
                  </a:lnTo>
                  <a:lnTo>
                    <a:pt x="154" y="710"/>
                  </a:lnTo>
                  <a:lnTo>
                    <a:pt x="154" y="710"/>
                  </a:lnTo>
                  <a:lnTo>
                    <a:pt x="151" y="710"/>
                  </a:lnTo>
                  <a:lnTo>
                    <a:pt x="151" y="710"/>
                  </a:lnTo>
                  <a:lnTo>
                    <a:pt x="151" y="710"/>
                  </a:lnTo>
                  <a:lnTo>
                    <a:pt x="151" y="710"/>
                  </a:lnTo>
                  <a:lnTo>
                    <a:pt x="147" y="710"/>
                  </a:lnTo>
                  <a:lnTo>
                    <a:pt x="147" y="710"/>
                  </a:lnTo>
                  <a:lnTo>
                    <a:pt x="147" y="710"/>
                  </a:lnTo>
                  <a:lnTo>
                    <a:pt x="147" y="710"/>
                  </a:lnTo>
                  <a:lnTo>
                    <a:pt x="144" y="710"/>
                  </a:lnTo>
                  <a:lnTo>
                    <a:pt x="144" y="710"/>
                  </a:lnTo>
                  <a:lnTo>
                    <a:pt x="144" y="710"/>
                  </a:lnTo>
                  <a:lnTo>
                    <a:pt x="141" y="710"/>
                  </a:lnTo>
                  <a:lnTo>
                    <a:pt x="141" y="710"/>
                  </a:lnTo>
                  <a:lnTo>
                    <a:pt x="141" y="710"/>
                  </a:lnTo>
                  <a:lnTo>
                    <a:pt x="141" y="710"/>
                  </a:lnTo>
                  <a:lnTo>
                    <a:pt x="137" y="710"/>
                  </a:lnTo>
                  <a:lnTo>
                    <a:pt x="137" y="710"/>
                  </a:lnTo>
                  <a:lnTo>
                    <a:pt x="137" y="710"/>
                  </a:lnTo>
                  <a:lnTo>
                    <a:pt x="137" y="710"/>
                  </a:lnTo>
                  <a:lnTo>
                    <a:pt x="134" y="710"/>
                  </a:lnTo>
                  <a:lnTo>
                    <a:pt x="134" y="710"/>
                  </a:lnTo>
                  <a:lnTo>
                    <a:pt x="134" y="710"/>
                  </a:lnTo>
                  <a:lnTo>
                    <a:pt x="134" y="710"/>
                  </a:lnTo>
                  <a:lnTo>
                    <a:pt x="130" y="710"/>
                  </a:lnTo>
                  <a:lnTo>
                    <a:pt x="130" y="710"/>
                  </a:lnTo>
                  <a:lnTo>
                    <a:pt x="130" y="710"/>
                  </a:lnTo>
                  <a:lnTo>
                    <a:pt x="130" y="710"/>
                  </a:lnTo>
                  <a:lnTo>
                    <a:pt x="127" y="710"/>
                  </a:lnTo>
                  <a:lnTo>
                    <a:pt x="127" y="710"/>
                  </a:lnTo>
                  <a:lnTo>
                    <a:pt x="127" y="710"/>
                  </a:lnTo>
                  <a:lnTo>
                    <a:pt x="123" y="710"/>
                  </a:lnTo>
                  <a:lnTo>
                    <a:pt x="123" y="710"/>
                  </a:lnTo>
                  <a:lnTo>
                    <a:pt x="123" y="710"/>
                  </a:lnTo>
                  <a:lnTo>
                    <a:pt x="123" y="710"/>
                  </a:lnTo>
                  <a:lnTo>
                    <a:pt x="120" y="710"/>
                  </a:lnTo>
                  <a:lnTo>
                    <a:pt x="120" y="710"/>
                  </a:lnTo>
                  <a:lnTo>
                    <a:pt x="120" y="710"/>
                  </a:lnTo>
                  <a:lnTo>
                    <a:pt x="120" y="710"/>
                  </a:lnTo>
                  <a:lnTo>
                    <a:pt x="117" y="710"/>
                  </a:lnTo>
                  <a:lnTo>
                    <a:pt x="117" y="710"/>
                  </a:lnTo>
                  <a:lnTo>
                    <a:pt x="117" y="710"/>
                  </a:lnTo>
                  <a:lnTo>
                    <a:pt x="117" y="710"/>
                  </a:lnTo>
                  <a:lnTo>
                    <a:pt x="113" y="710"/>
                  </a:lnTo>
                  <a:lnTo>
                    <a:pt x="113" y="710"/>
                  </a:lnTo>
                  <a:lnTo>
                    <a:pt x="113" y="710"/>
                  </a:lnTo>
                  <a:lnTo>
                    <a:pt x="110" y="710"/>
                  </a:lnTo>
                  <a:lnTo>
                    <a:pt x="110" y="710"/>
                  </a:lnTo>
                  <a:lnTo>
                    <a:pt x="110" y="710"/>
                  </a:lnTo>
                  <a:lnTo>
                    <a:pt x="110" y="710"/>
                  </a:lnTo>
                  <a:lnTo>
                    <a:pt x="106" y="710"/>
                  </a:lnTo>
                  <a:lnTo>
                    <a:pt x="106" y="710"/>
                  </a:lnTo>
                  <a:lnTo>
                    <a:pt x="106" y="710"/>
                  </a:lnTo>
                  <a:lnTo>
                    <a:pt x="106" y="710"/>
                  </a:lnTo>
                  <a:lnTo>
                    <a:pt x="103" y="710"/>
                  </a:lnTo>
                  <a:lnTo>
                    <a:pt x="103" y="710"/>
                  </a:lnTo>
                  <a:lnTo>
                    <a:pt x="103" y="710"/>
                  </a:lnTo>
                  <a:lnTo>
                    <a:pt x="103" y="710"/>
                  </a:lnTo>
                  <a:lnTo>
                    <a:pt x="99" y="710"/>
                  </a:lnTo>
                  <a:lnTo>
                    <a:pt x="99" y="710"/>
                  </a:lnTo>
                  <a:lnTo>
                    <a:pt x="99" y="710"/>
                  </a:lnTo>
                  <a:lnTo>
                    <a:pt x="99" y="710"/>
                  </a:lnTo>
                  <a:lnTo>
                    <a:pt x="96" y="710"/>
                  </a:lnTo>
                  <a:lnTo>
                    <a:pt x="96" y="710"/>
                  </a:lnTo>
                  <a:lnTo>
                    <a:pt x="96" y="710"/>
                  </a:lnTo>
                  <a:lnTo>
                    <a:pt x="93" y="710"/>
                  </a:lnTo>
                  <a:lnTo>
                    <a:pt x="93" y="710"/>
                  </a:lnTo>
                  <a:lnTo>
                    <a:pt x="93" y="710"/>
                  </a:lnTo>
                  <a:lnTo>
                    <a:pt x="93" y="710"/>
                  </a:lnTo>
                  <a:lnTo>
                    <a:pt x="89" y="710"/>
                  </a:lnTo>
                  <a:lnTo>
                    <a:pt x="89" y="710"/>
                  </a:lnTo>
                  <a:lnTo>
                    <a:pt x="89" y="710"/>
                  </a:lnTo>
                  <a:lnTo>
                    <a:pt x="89" y="710"/>
                  </a:lnTo>
                  <a:lnTo>
                    <a:pt x="86" y="710"/>
                  </a:lnTo>
                  <a:lnTo>
                    <a:pt x="86" y="710"/>
                  </a:lnTo>
                  <a:lnTo>
                    <a:pt x="86" y="710"/>
                  </a:lnTo>
                  <a:lnTo>
                    <a:pt x="86" y="710"/>
                  </a:lnTo>
                  <a:lnTo>
                    <a:pt x="82" y="710"/>
                  </a:lnTo>
                  <a:lnTo>
                    <a:pt x="82" y="710"/>
                  </a:lnTo>
                  <a:lnTo>
                    <a:pt x="82" y="710"/>
                  </a:lnTo>
                  <a:lnTo>
                    <a:pt x="79" y="710"/>
                  </a:lnTo>
                  <a:lnTo>
                    <a:pt x="79" y="710"/>
                  </a:lnTo>
                  <a:lnTo>
                    <a:pt x="79" y="710"/>
                  </a:lnTo>
                  <a:lnTo>
                    <a:pt x="79" y="710"/>
                  </a:lnTo>
                  <a:lnTo>
                    <a:pt x="75" y="710"/>
                  </a:lnTo>
                  <a:lnTo>
                    <a:pt x="75" y="710"/>
                  </a:lnTo>
                  <a:lnTo>
                    <a:pt x="75" y="710"/>
                  </a:lnTo>
                  <a:lnTo>
                    <a:pt x="75" y="710"/>
                  </a:lnTo>
                  <a:lnTo>
                    <a:pt x="72" y="710"/>
                  </a:lnTo>
                  <a:lnTo>
                    <a:pt x="72" y="710"/>
                  </a:lnTo>
                  <a:lnTo>
                    <a:pt x="72" y="710"/>
                  </a:lnTo>
                  <a:lnTo>
                    <a:pt x="72" y="710"/>
                  </a:lnTo>
                  <a:lnTo>
                    <a:pt x="69" y="710"/>
                  </a:lnTo>
                  <a:lnTo>
                    <a:pt x="69" y="710"/>
                  </a:lnTo>
                  <a:lnTo>
                    <a:pt x="69" y="710"/>
                  </a:lnTo>
                  <a:lnTo>
                    <a:pt x="65" y="710"/>
                  </a:lnTo>
                  <a:lnTo>
                    <a:pt x="65" y="710"/>
                  </a:lnTo>
                  <a:lnTo>
                    <a:pt x="65" y="710"/>
                  </a:lnTo>
                  <a:lnTo>
                    <a:pt x="65" y="710"/>
                  </a:lnTo>
                  <a:lnTo>
                    <a:pt x="62" y="710"/>
                  </a:lnTo>
                  <a:lnTo>
                    <a:pt x="62" y="710"/>
                  </a:lnTo>
                  <a:lnTo>
                    <a:pt x="62" y="710"/>
                  </a:lnTo>
                  <a:lnTo>
                    <a:pt x="62" y="710"/>
                  </a:lnTo>
                  <a:lnTo>
                    <a:pt x="58" y="710"/>
                  </a:lnTo>
                  <a:lnTo>
                    <a:pt x="58" y="710"/>
                  </a:lnTo>
                  <a:lnTo>
                    <a:pt x="58" y="710"/>
                  </a:lnTo>
                  <a:lnTo>
                    <a:pt x="58" y="710"/>
                  </a:lnTo>
                  <a:lnTo>
                    <a:pt x="55" y="710"/>
                  </a:lnTo>
                  <a:lnTo>
                    <a:pt x="55" y="710"/>
                  </a:lnTo>
                  <a:lnTo>
                    <a:pt x="55" y="710"/>
                  </a:lnTo>
                  <a:lnTo>
                    <a:pt x="55" y="710"/>
                  </a:lnTo>
                  <a:lnTo>
                    <a:pt x="51" y="710"/>
                  </a:lnTo>
                  <a:lnTo>
                    <a:pt x="51" y="710"/>
                  </a:lnTo>
                  <a:lnTo>
                    <a:pt x="51" y="710"/>
                  </a:lnTo>
                  <a:lnTo>
                    <a:pt x="48" y="710"/>
                  </a:lnTo>
                  <a:lnTo>
                    <a:pt x="48" y="710"/>
                  </a:lnTo>
                  <a:lnTo>
                    <a:pt x="48" y="710"/>
                  </a:lnTo>
                  <a:lnTo>
                    <a:pt x="48" y="710"/>
                  </a:lnTo>
                  <a:lnTo>
                    <a:pt x="45" y="710"/>
                  </a:lnTo>
                  <a:lnTo>
                    <a:pt x="45" y="710"/>
                  </a:lnTo>
                  <a:lnTo>
                    <a:pt x="45" y="710"/>
                  </a:lnTo>
                  <a:lnTo>
                    <a:pt x="45" y="710"/>
                  </a:lnTo>
                  <a:lnTo>
                    <a:pt x="41" y="710"/>
                  </a:lnTo>
                  <a:lnTo>
                    <a:pt x="41" y="710"/>
                  </a:lnTo>
                  <a:lnTo>
                    <a:pt x="41" y="710"/>
                  </a:lnTo>
                  <a:lnTo>
                    <a:pt x="41" y="710"/>
                  </a:lnTo>
                  <a:lnTo>
                    <a:pt x="38" y="710"/>
                  </a:lnTo>
                  <a:lnTo>
                    <a:pt x="38" y="710"/>
                  </a:lnTo>
                  <a:lnTo>
                    <a:pt x="38" y="710"/>
                  </a:lnTo>
                  <a:lnTo>
                    <a:pt x="34" y="710"/>
                  </a:lnTo>
                  <a:lnTo>
                    <a:pt x="34" y="710"/>
                  </a:lnTo>
                  <a:lnTo>
                    <a:pt x="34" y="710"/>
                  </a:lnTo>
                  <a:lnTo>
                    <a:pt x="34" y="710"/>
                  </a:lnTo>
                  <a:lnTo>
                    <a:pt x="31" y="710"/>
                  </a:lnTo>
                  <a:lnTo>
                    <a:pt x="31" y="710"/>
                  </a:lnTo>
                  <a:lnTo>
                    <a:pt x="31" y="710"/>
                  </a:lnTo>
                  <a:lnTo>
                    <a:pt x="31" y="710"/>
                  </a:lnTo>
                  <a:lnTo>
                    <a:pt x="27" y="710"/>
                  </a:lnTo>
                  <a:lnTo>
                    <a:pt x="27" y="710"/>
                  </a:lnTo>
                  <a:lnTo>
                    <a:pt x="27" y="710"/>
                  </a:lnTo>
                  <a:lnTo>
                    <a:pt x="27" y="710"/>
                  </a:lnTo>
                  <a:lnTo>
                    <a:pt x="24" y="710"/>
                  </a:lnTo>
                  <a:lnTo>
                    <a:pt x="24" y="710"/>
                  </a:lnTo>
                  <a:lnTo>
                    <a:pt x="24" y="710"/>
                  </a:lnTo>
                  <a:lnTo>
                    <a:pt x="24" y="710"/>
                  </a:lnTo>
                  <a:lnTo>
                    <a:pt x="21" y="710"/>
                  </a:lnTo>
                  <a:lnTo>
                    <a:pt x="21" y="710"/>
                  </a:lnTo>
                  <a:lnTo>
                    <a:pt x="21" y="710"/>
                  </a:lnTo>
                  <a:lnTo>
                    <a:pt x="17" y="710"/>
                  </a:lnTo>
                  <a:lnTo>
                    <a:pt x="17" y="710"/>
                  </a:lnTo>
                  <a:lnTo>
                    <a:pt x="17" y="710"/>
                  </a:lnTo>
                  <a:lnTo>
                    <a:pt x="17" y="710"/>
                  </a:lnTo>
                  <a:lnTo>
                    <a:pt x="14" y="710"/>
                  </a:lnTo>
                  <a:lnTo>
                    <a:pt x="14" y="710"/>
                  </a:lnTo>
                  <a:lnTo>
                    <a:pt x="14" y="710"/>
                  </a:lnTo>
                  <a:lnTo>
                    <a:pt x="14" y="710"/>
                  </a:lnTo>
                  <a:lnTo>
                    <a:pt x="10" y="710"/>
                  </a:lnTo>
                  <a:lnTo>
                    <a:pt x="10" y="710"/>
                  </a:lnTo>
                  <a:lnTo>
                    <a:pt x="10" y="710"/>
                  </a:lnTo>
                  <a:lnTo>
                    <a:pt x="10" y="710"/>
                  </a:lnTo>
                  <a:lnTo>
                    <a:pt x="7" y="710"/>
                  </a:lnTo>
                  <a:lnTo>
                    <a:pt x="7" y="710"/>
                  </a:lnTo>
                  <a:lnTo>
                    <a:pt x="7" y="710"/>
                  </a:lnTo>
                  <a:lnTo>
                    <a:pt x="3" y="710"/>
                  </a:lnTo>
                  <a:lnTo>
                    <a:pt x="3" y="710"/>
                  </a:lnTo>
                  <a:lnTo>
                    <a:pt x="3" y="710"/>
                  </a:lnTo>
                  <a:lnTo>
                    <a:pt x="3" y="710"/>
                  </a:lnTo>
                  <a:lnTo>
                    <a:pt x="0" y="710"/>
                  </a:lnTo>
                  <a:close/>
                </a:path>
              </a:pathLst>
            </a:custGeom>
            <a:solidFill>
              <a:srgbClr val="9999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49" name="Freeform 29">
              <a:extLst>
                <a:ext uri="{FF2B5EF4-FFF2-40B4-BE49-F238E27FC236}">
                  <a16:creationId xmlns:a16="http://schemas.microsoft.com/office/drawing/2014/main" id="{45E4CAD9-7970-964C-B1F3-C60414194C1C}"/>
                </a:ext>
              </a:extLst>
            </p:cNvPr>
            <p:cNvSpPr>
              <a:spLocks noChangeArrowheads="1"/>
            </p:cNvSpPr>
            <p:nvPr/>
          </p:nvSpPr>
          <p:spPr bwMode="auto">
            <a:xfrm>
              <a:off x="4128" y="3581"/>
              <a:ext cx="848" cy="829"/>
            </a:xfrm>
            <a:custGeom>
              <a:avLst/>
              <a:gdLst>
                <a:gd name="T0" fmla="*/ 14 w 401"/>
                <a:gd name="T1" fmla="*/ 454 h 710"/>
                <a:gd name="T2" fmla="*/ 27 w 401"/>
                <a:gd name="T3" fmla="*/ 409 h 710"/>
                <a:gd name="T4" fmla="*/ 38 w 401"/>
                <a:gd name="T5" fmla="*/ 347 h 710"/>
                <a:gd name="T6" fmla="*/ 51 w 401"/>
                <a:gd name="T7" fmla="*/ 223 h 710"/>
                <a:gd name="T8" fmla="*/ 65 w 401"/>
                <a:gd name="T9" fmla="*/ 50 h 710"/>
                <a:gd name="T10" fmla="*/ 75 w 401"/>
                <a:gd name="T11" fmla="*/ 95 h 710"/>
                <a:gd name="T12" fmla="*/ 89 w 401"/>
                <a:gd name="T13" fmla="*/ 103 h 710"/>
                <a:gd name="T14" fmla="*/ 103 w 401"/>
                <a:gd name="T15" fmla="*/ 99 h 710"/>
                <a:gd name="T16" fmla="*/ 117 w 401"/>
                <a:gd name="T17" fmla="*/ 161 h 710"/>
                <a:gd name="T18" fmla="*/ 127 w 401"/>
                <a:gd name="T19" fmla="*/ 161 h 710"/>
                <a:gd name="T20" fmla="*/ 141 w 401"/>
                <a:gd name="T21" fmla="*/ 136 h 710"/>
                <a:gd name="T22" fmla="*/ 154 w 401"/>
                <a:gd name="T23" fmla="*/ 46 h 710"/>
                <a:gd name="T24" fmla="*/ 165 w 401"/>
                <a:gd name="T25" fmla="*/ 256 h 710"/>
                <a:gd name="T26" fmla="*/ 178 w 401"/>
                <a:gd name="T27" fmla="*/ 351 h 710"/>
                <a:gd name="T28" fmla="*/ 192 w 401"/>
                <a:gd name="T29" fmla="*/ 392 h 710"/>
                <a:gd name="T30" fmla="*/ 206 w 401"/>
                <a:gd name="T31" fmla="*/ 430 h 710"/>
                <a:gd name="T32" fmla="*/ 216 w 401"/>
                <a:gd name="T33" fmla="*/ 442 h 710"/>
                <a:gd name="T34" fmla="*/ 230 w 401"/>
                <a:gd name="T35" fmla="*/ 463 h 710"/>
                <a:gd name="T36" fmla="*/ 243 w 401"/>
                <a:gd name="T37" fmla="*/ 450 h 710"/>
                <a:gd name="T38" fmla="*/ 254 w 401"/>
                <a:gd name="T39" fmla="*/ 442 h 710"/>
                <a:gd name="T40" fmla="*/ 267 w 401"/>
                <a:gd name="T41" fmla="*/ 413 h 710"/>
                <a:gd name="T42" fmla="*/ 281 w 401"/>
                <a:gd name="T43" fmla="*/ 376 h 710"/>
                <a:gd name="T44" fmla="*/ 291 w 401"/>
                <a:gd name="T45" fmla="*/ 397 h 710"/>
                <a:gd name="T46" fmla="*/ 305 w 401"/>
                <a:gd name="T47" fmla="*/ 384 h 710"/>
                <a:gd name="T48" fmla="*/ 319 w 401"/>
                <a:gd name="T49" fmla="*/ 380 h 710"/>
                <a:gd name="T50" fmla="*/ 333 w 401"/>
                <a:gd name="T51" fmla="*/ 343 h 710"/>
                <a:gd name="T52" fmla="*/ 343 w 401"/>
                <a:gd name="T53" fmla="*/ 273 h 710"/>
                <a:gd name="T54" fmla="*/ 357 w 401"/>
                <a:gd name="T55" fmla="*/ 409 h 710"/>
                <a:gd name="T56" fmla="*/ 370 w 401"/>
                <a:gd name="T57" fmla="*/ 471 h 710"/>
                <a:gd name="T58" fmla="*/ 381 w 401"/>
                <a:gd name="T59" fmla="*/ 496 h 710"/>
                <a:gd name="T60" fmla="*/ 394 w 401"/>
                <a:gd name="T61" fmla="*/ 516 h 710"/>
                <a:gd name="T62" fmla="*/ 394 w 401"/>
                <a:gd name="T63" fmla="*/ 710 h 710"/>
                <a:gd name="T64" fmla="*/ 384 w 401"/>
                <a:gd name="T65" fmla="*/ 710 h 710"/>
                <a:gd name="T66" fmla="*/ 370 w 401"/>
                <a:gd name="T67" fmla="*/ 710 h 710"/>
                <a:gd name="T68" fmla="*/ 357 w 401"/>
                <a:gd name="T69" fmla="*/ 710 h 710"/>
                <a:gd name="T70" fmla="*/ 346 w 401"/>
                <a:gd name="T71" fmla="*/ 710 h 710"/>
                <a:gd name="T72" fmla="*/ 333 w 401"/>
                <a:gd name="T73" fmla="*/ 710 h 710"/>
                <a:gd name="T74" fmla="*/ 319 w 401"/>
                <a:gd name="T75" fmla="*/ 710 h 710"/>
                <a:gd name="T76" fmla="*/ 305 w 401"/>
                <a:gd name="T77" fmla="*/ 710 h 710"/>
                <a:gd name="T78" fmla="*/ 295 w 401"/>
                <a:gd name="T79" fmla="*/ 710 h 710"/>
                <a:gd name="T80" fmla="*/ 281 w 401"/>
                <a:gd name="T81" fmla="*/ 710 h 710"/>
                <a:gd name="T82" fmla="*/ 267 w 401"/>
                <a:gd name="T83" fmla="*/ 710 h 710"/>
                <a:gd name="T84" fmla="*/ 257 w 401"/>
                <a:gd name="T85" fmla="*/ 710 h 710"/>
                <a:gd name="T86" fmla="*/ 243 w 401"/>
                <a:gd name="T87" fmla="*/ 710 h 710"/>
                <a:gd name="T88" fmla="*/ 230 w 401"/>
                <a:gd name="T89" fmla="*/ 710 h 710"/>
                <a:gd name="T90" fmla="*/ 216 w 401"/>
                <a:gd name="T91" fmla="*/ 710 h 710"/>
                <a:gd name="T92" fmla="*/ 206 w 401"/>
                <a:gd name="T93" fmla="*/ 710 h 710"/>
                <a:gd name="T94" fmla="*/ 192 w 401"/>
                <a:gd name="T95" fmla="*/ 710 h 710"/>
                <a:gd name="T96" fmla="*/ 178 w 401"/>
                <a:gd name="T97" fmla="*/ 710 h 710"/>
                <a:gd name="T98" fmla="*/ 168 w 401"/>
                <a:gd name="T99" fmla="*/ 710 h 710"/>
                <a:gd name="T100" fmla="*/ 154 w 401"/>
                <a:gd name="T101" fmla="*/ 710 h 710"/>
                <a:gd name="T102" fmla="*/ 141 w 401"/>
                <a:gd name="T103" fmla="*/ 710 h 710"/>
                <a:gd name="T104" fmla="*/ 130 w 401"/>
                <a:gd name="T105" fmla="*/ 710 h 710"/>
                <a:gd name="T106" fmla="*/ 117 w 401"/>
                <a:gd name="T107" fmla="*/ 710 h 710"/>
                <a:gd name="T108" fmla="*/ 103 w 401"/>
                <a:gd name="T109" fmla="*/ 710 h 710"/>
                <a:gd name="T110" fmla="*/ 89 w 401"/>
                <a:gd name="T111" fmla="*/ 710 h 710"/>
                <a:gd name="T112" fmla="*/ 79 w 401"/>
                <a:gd name="T113" fmla="*/ 710 h 710"/>
                <a:gd name="T114" fmla="*/ 65 w 401"/>
                <a:gd name="T115" fmla="*/ 710 h 710"/>
                <a:gd name="T116" fmla="*/ 51 w 401"/>
                <a:gd name="T117" fmla="*/ 710 h 710"/>
                <a:gd name="T118" fmla="*/ 41 w 401"/>
                <a:gd name="T119" fmla="*/ 710 h 710"/>
                <a:gd name="T120" fmla="*/ 27 w 401"/>
                <a:gd name="T121" fmla="*/ 710 h 710"/>
                <a:gd name="T122" fmla="*/ 14 w 401"/>
                <a:gd name="T123" fmla="*/ 710 h 710"/>
                <a:gd name="T124" fmla="*/ 0 w 401"/>
                <a:gd name="T125" fmla="*/ 71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1" h="710">
                  <a:moveTo>
                    <a:pt x="0" y="454"/>
                  </a:moveTo>
                  <a:lnTo>
                    <a:pt x="3" y="446"/>
                  </a:lnTo>
                  <a:lnTo>
                    <a:pt x="3" y="450"/>
                  </a:lnTo>
                  <a:lnTo>
                    <a:pt x="3" y="446"/>
                  </a:lnTo>
                  <a:lnTo>
                    <a:pt x="3" y="454"/>
                  </a:lnTo>
                  <a:lnTo>
                    <a:pt x="7" y="450"/>
                  </a:lnTo>
                  <a:lnTo>
                    <a:pt x="7" y="442"/>
                  </a:lnTo>
                  <a:lnTo>
                    <a:pt x="7" y="442"/>
                  </a:lnTo>
                  <a:lnTo>
                    <a:pt x="10" y="450"/>
                  </a:lnTo>
                  <a:lnTo>
                    <a:pt x="10" y="442"/>
                  </a:lnTo>
                  <a:lnTo>
                    <a:pt x="10" y="454"/>
                  </a:lnTo>
                  <a:lnTo>
                    <a:pt x="10" y="450"/>
                  </a:lnTo>
                  <a:lnTo>
                    <a:pt x="14" y="454"/>
                  </a:lnTo>
                  <a:lnTo>
                    <a:pt x="14" y="454"/>
                  </a:lnTo>
                  <a:lnTo>
                    <a:pt x="14" y="442"/>
                  </a:lnTo>
                  <a:lnTo>
                    <a:pt x="14" y="425"/>
                  </a:lnTo>
                  <a:lnTo>
                    <a:pt x="17" y="434"/>
                  </a:lnTo>
                  <a:lnTo>
                    <a:pt x="17" y="438"/>
                  </a:lnTo>
                  <a:lnTo>
                    <a:pt x="17" y="434"/>
                  </a:lnTo>
                  <a:lnTo>
                    <a:pt x="17" y="430"/>
                  </a:lnTo>
                  <a:lnTo>
                    <a:pt x="21" y="434"/>
                  </a:lnTo>
                  <a:lnTo>
                    <a:pt x="21" y="425"/>
                  </a:lnTo>
                  <a:lnTo>
                    <a:pt x="21" y="417"/>
                  </a:lnTo>
                  <a:lnTo>
                    <a:pt x="24" y="421"/>
                  </a:lnTo>
                  <a:lnTo>
                    <a:pt x="24" y="409"/>
                  </a:lnTo>
                  <a:lnTo>
                    <a:pt x="24" y="417"/>
                  </a:lnTo>
                  <a:lnTo>
                    <a:pt x="24" y="405"/>
                  </a:lnTo>
                  <a:lnTo>
                    <a:pt x="27" y="409"/>
                  </a:lnTo>
                  <a:lnTo>
                    <a:pt x="27" y="442"/>
                  </a:lnTo>
                  <a:lnTo>
                    <a:pt x="27" y="405"/>
                  </a:lnTo>
                  <a:lnTo>
                    <a:pt x="27" y="380"/>
                  </a:lnTo>
                  <a:lnTo>
                    <a:pt x="31" y="376"/>
                  </a:lnTo>
                  <a:lnTo>
                    <a:pt x="31" y="384"/>
                  </a:lnTo>
                  <a:lnTo>
                    <a:pt x="31" y="372"/>
                  </a:lnTo>
                  <a:lnTo>
                    <a:pt x="31" y="368"/>
                  </a:lnTo>
                  <a:lnTo>
                    <a:pt x="34" y="376"/>
                  </a:lnTo>
                  <a:lnTo>
                    <a:pt x="34" y="376"/>
                  </a:lnTo>
                  <a:lnTo>
                    <a:pt x="34" y="372"/>
                  </a:lnTo>
                  <a:lnTo>
                    <a:pt x="34" y="351"/>
                  </a:lnTo>
                  <a:lnTo>
                    <a:pt x="38" y="347"/>
                  </a:lnTo>
                  <a:lnTo>
                    <a:pt x="38" y="351"/>
                  </a:lnTo>
                  <a:lnTo>
                    <a:pt x="38" y="347"/>
                  </a:lnTo>
                  <a:lnTo>
                    <a:pt x="41" y="330"/>
                  </a:lnTo>
                  <a:lnTo>
                    <a:pt x="41" y="339"/>
                  </a:lnTo>
                  <a:lnTo>
                    <a:pt x="41" y="335"/>
                  </a:lnTo>
                  <a:lnTo>
                    <a:pt x="41" y="330"/>
                  </a:lnTo>
                  <a:lnTo>
                    <a:pt x="45" y="322"/>
                  </a:lnTo>
                  <a:lnTo>
                    <a:pt x="45" y="318"/>
                  </a:lnTo>
                  <a:lnTo>
                    <a:pt x="45" y="322"/>
                  </a:lnTo>
                  <a:lnTo>
                    <a:pt x="45" y="322"/>
                  </a:lnTo>
                  <a:lnTo>
                    <a:pt x="48" y="293"/>
                  </a:lnTo>
                  <a:lnTo>
                    <a:pt x="48" y="277"/>
                  </a:lnTo>
                  <a:lnTo>
                    <a:pt x="48" y="273"/>
                  </a:lnTo>
                  <a:lnTo>
                    <a:pt x="48" y="240"/>
                  </a:lnTo>
                  <a:lnTo>
                    <a:pt x="51" y="248"/>
                  </a:lnTo>
                  <a:lnTo>
                    <a:pt x="51" y="223"/>
                  </a:lnTo>
                  <a:lnTo>
                    <a:pt x="51" y="215"/>
                  </a:lnTo>
                  <a:lnTo>
                    <a:pt x="55" y="161"/>
                  </a:lnTo>
                  <a:lnTo>
                    <a:pt x="55" y="124"/>
                  </a:lnTo>
                  <a:lnTo>
                    <a:pt x="55" y="116"/>
                  </a:lnTo>
                  <a:lnTo>
                    <a:pt x="55" y="128"/>
                  </a:lnTo>
                  <a:lnTo>
                    <a:pt x="58" y="112"/>
                  </a:lnTo>
                  <a:lnTo>
                    <a:pt x="58" y="112"/>
                  </a:lnTo>
                  <a:lnTo>
                    <a:pt x="58" y="83"/>
                  </a:lnTo>
                  <a:lnTo>
                    <a:pt x="58" y="79"/>
                  </a:lnTo>
                  <a:lnTo>
                    <a:pt x="62" y="79"/>
                  </a:lnTo>
                  <a:lnTo>
                    <a:pt x="62" y="58"/>
                  </a:lnTo>
                  <a:lnTo>
                    <a:pt x="62" y="66"/>
                  </a:lnTo>
                  <a:lnTo>
                    <a:pt x="62" y="66"/>
                  </a:lnTo>
                  <a:lnTo>
                    <a:pt x="65" y="50"/>
                  </a:lnTo>
                  <a:lnTo>
                    <a:pt x="65" y="62"/>
                  </a:lnTo>
                  <a:lnTo>
                    <a:pt x="65" y="66"/>
                  </a:lnTo>
                  <a:lnTo>
                    <a:pt x="65" y="79"/>
                  </a:lnTo>
                  <a:lnTo>
                    <a:pt x="69" y="87"/>
                  </a:lnTo>
                  <a:lnTo>
                    <a:pt x="69" y="87"/>
                  </a:lnTo>
                  <a:lnTo>
                    <a:pt x="69" y="83"/>
                  </a:lnTo>
                  <a:lnTo>
                    <a:pt x="72" y="70"/>
                  </a:lnTo>
                  <a:lnTo>
                    <a:pt x="72" y="79"/>
                  </a:lnTo>
                  <a:lnTo>
                    <a:pt x="72" y="70"/>
                  </a:lnTo>
                  <a:lnTo>
                    <a:pt x="72" y="62"/>
                  </a:lnTo>
                  <a:lnTo>
                    <a:pt x="75" y="70"/>
                  </a:lnTo>
                  <a:lnTo>
                    <a:pt x="75" y="87"/>
                  </a:lnTo>
                  <a:lnTo>
                    <a:pt x="75" y="91"/>
                  </a:lnTo>
                  <a:lnTo>
                    <a:pt x="75" y="95"/>
                  </a:lnTo>
                  <a:lnTo>
                    <a:pt x="79" y="124"/>
                  </a:lnTo>
                  <a:lnTo>
                    <a:pt x="79" y="120"/>
                  </a:lnTo>
                  <a:lnTo>
                    <a:pt x="79" y="128"/>
                  </a:lnTo>
                  <a:lnTo>
                    <a:pt x="79" y="112"/>
                  </a:lnTo>
                  <a:lnTo>
                    <a:pt x="82" y="116"/>
                  </a:lnTo>
                  <a:lnTo>
                    <a:pt x="82" y="124"/>
                  </a:lnTo>
                  <a:lnTo>
                    <a:pt x="82" y="58"/>
                  </a:lnTo>
                  <a:lnTo>
                    <a:pt x="86" y="33"/>
                  </a:lnTo>
                  <a:lnTo>
                    <a:pt x="86" y="41"/>
                  </a:lnTo>
                  <a:lnTo>
                    <a:pt x="86" y="50"/>
                  </a:lnTo>
                  <a:lnTo>
                    <a:pt x="86" y="41"/>
                  </a:lnTo>
                  <a:lnTo>
                    <a:pt x="89" y="87"/>
                  </a:lnTo>
                  <a:lnTo>
                    <a:pt x="89" y="87"/>
                  </a:lnTo>
                  <a:lnTo>
                    <a:pt x="89" y="103"/>
                  </a:lnTo>
                  <a:lnTo>
                    <a:pt x="89" y="79"/>
                  </a:lnTo>
                  <a:lnTo>
                    <a:pt x="93" y="74"/>
                  </a:lnTo>
                  <a:lnTo>
                    <a:pt x="93" y="62"/>
                  </a:lnTo>
                  <a:lnTo>
                    <a:pt x="93" y="50"/>
                  </a:lnTo>
                  <a:lnTo>
                    <a:pt x="93" y="50"/>
                  </a:lnTo>
                  <a:lnTo>
                    <a:pt x="96" y="50"/>
                  </a:lnTo>
                  <a:lnTo>
                    <a:pt x="96" y="29"/>
                  </a:lnTo>
                  <a:lnTo>
                    <a:pt x="96" y="58"/>
                  </a:lnTo>
                  <a:lnTo>
                    <a:pt x="99" y="70"/>
                  </a:lnTo>
                  <a:lnTo>
                    <a:pt x="99" y="62"/>
                  </a:lnTo>
                  <a:lnTo>
                    <a:pt x="99" y="58"/>
                  </a:lnTo>
                  <a:lnTo>
                    <a:pt x="99" y="70"/>
                  </a:lnTo>
                  <a:lnTo>
                    <a:pt x="103" y="70"/>
                  </a:lnTo>
                  <a:lnTo>
                    <a:pt x="103" y="99"/>
                  </a:lnTo>
                  <a:lnTo>
                    <a:pt x="103" y="95"/>
                  </a:lnTo>
                  <a:lnTo>
                    <a:pt x="103" y="108"/>
                  </a:lnTo>
                  <a:lnTo>
                    <a:pt x="106" y="116"/>
                  </a:lnTo>
                  <a:lnTo>
                    <a:pt x="106" y="141"/>
                  </a:lnTo>
                  <a:lnTo>
                    <a:pt x="106" y="136"/>
                  </a:lnTo>
                  <a:lnTo>
                    <a:pt x="106" y="136"/>
                  </a:lnTo>
                  <a:lnTo>
                    <a:pt x="110" y="128"/>
                  </a:lnTo>
                  <a:lnTo>
                    <a:pt x="110" y="141"/>
                  </a:lnTo>
                  <a:lnTo>
                    <a:pt x="110" y="141"/>
                  </a:lnTo>
                  <a:lnTo>
                    <a:pt x="110" y="153"/>
                  </a:lnTo>
                  <a:lnTo>
                    <a:pt x="113" y="153"/>
                  </a:lnTo>
                  <a:lnTo>
                    <a:pt x="113" y="141"/>
                  </a:lnTo>
                  <a:lnTo>
                    <a:pt x="113" y="149"/>
                  </a:lnTo>
                  <a:lnTo>
                    <a:pt x="117" y="161"/>
                  </a:lnTo>
                  <a:lnTo>
                    <a:pt x="117" y="161"/>
                  </a:lnTo>
                  <a:lnTo>
                    <a:pt x="117" y="161"/>
                  </a:lnTo>
                  <a:lnTo>
                    <a:pt x="117" y="153"/>
                  </a:lnTo>
                  <a:lnTo>
                    <a:pt x="120" y="149"/>
                  </a:lnTo>
                  <a:lnTo>
                    <a:pt x="120" y="153"/>
                  </a:lnTo>
                  <a:lnTo>
                    <a:pt x="120" y="153"/>
                  </a:lnTo>
                  <a:lnTo>
                    <a:pt x="120" y="141"/>
                  </a:lnTo>
                  <a:lnTo>
                    <a:pt x="123" y="157"/>
                  </a:lnTo>
                  <a:lnTo>
                    <a:pt x="123" y="157"/>
                  </a:lnTo>
                  <a:lnTo>
                    <a:pt x="123" y="157"/>
                  </a:lnTo>
                  <a:lnTo>
                    <a:pt x="123" y="153"/>
                  </a:lnTo>
                  <a:lnTo>
                    <a:pt x="127" y="149"/>
                  </a:lnTo>
                  <a:lnTo>
                    <a:pt x="127" y="161"/>
                  </a:lnTo>
                  <a:lnTo>
                    <a:pt x="127" y="161"/>
                  </a:lnTo>
                  <a:lnTo>
                    <a:pt x="130" y="165"/>
                  </a:lnTo>
                  <a:lnTo>
                    <a:pt x="130" y="157"/>
                  </a:lnTo>
                  <a:lnTo>
                    <a:pt x="130" y="165"/>
                  </a:lnTo>
                  <a:lnTo>
                    <a:pt x="130" y="165"/>
                  </a:lnTo>
                  <a:lnTo>
                    <a:pt x="134" y="149"/>
                  </a:lnTo>
                  <a:lnTo>
                    <a:pt x="134" y="141"/>
                  </a:lnTo>
                  <a:lnTo>
                    <a:pt x="134" y="116"/>
                  </a:lnTo>
                  <a:lnTo>
                    <a:pt x="134" y="99"/>
                  </a:lnTo>
                  <a:lnTo>
                    <a:pt x="137" y="103"/>
                  </a:lnTo>
                  <a:lnTo>
                    <a:pt x="137" y="95"/>
                  </a:lnTo>
                  <a:lnTo>
                    <a:pt x="137" y="91"/>
                  </a:lnTo>
                  <a:lnTo>
                    <a:pt x="137" y="116"/>
                  </a:lnTo>
                  <a:lnTo>
                    <a:pt x="141" y="120"/>
                  </a:lnTo>
                  <a:lnTo>
                    <a:pt x="141" y="136"/>
                  </a:lnTo>
                  <a:lnTo>
                    <a:pt x="141" y="132"/>
                  </a:lnTo>
                  <a:lnTo>
                    <a:pt x="141" y="124"/>
                  </a:lnTo>
                  <a:lnTo>
                    <a:pt x="144" y="120"/>
                  </a:lnTo>
                  <a:lnTo>
                    <a:pt x="144" y="112"/>
                  </a:lnTo>
                  <a:lnTo>
                    <a:pt x="144" y="120"/>
                  </a:lnTo>
                  <a:lnTo>
                    <a:pt x="147" y="120"/>
                  </a:lnTo>
                  <a:lnTo>
                    <a:pt x="147" y="120"/>
                  </a:lnTo>
                  <a:lnTo>
                    <a:pt x="147" y="136"/>
                  </a:lnTo>
                  <a:lnTo>
                    <a:pt x="147" y="120"/>
                  </a:lnTo>
                  <a:lnTo>
                    <a:pt x="151" y="128"/>
                  </a:lnTo>
                  <a:lnTo>
                    <a:pt x="151" y="112"/>
                  </a:lnTo>
                  <a:lnTo>
                    <a:pt x="151" y="91"/>
                  </a:lnTo>
                  <a:lnTo>
                    <a:pt x="151" y="83"/>
                  </a:lnTo>
                  <a:lnTo>
                    <a:pt x="154" y="46"/>
                  </a:lnTo>
                  <a:lnTo>
                    <a:pt x="154" y="0"/>
                  </a:lnTo>
                  <a:lnTo>
                    <a:pt x="154" y="4"/>
                  </a:lnTo>
                  <a:lnTo>
                    <a:pt x="154" y="4"/>
                  </a:lnTo>
                  <a:lnTo>
                    <a:pt x="158" y="21"/>
                  </a:lnTo>
                  <a:lnTo>
                    <a:pt x="158" y="21"/>
                  </a:lnTo>
                  <a:lnTo>
                    <a:pt x="158" y="62"/>
                  </a:lnTo>
                  <a:lnTo>
                    <a:pt x="161" y="103"/>
                  </a:lnTo>
                  <a:lnTo>
                    <a:pt x="161" y="141"/>
                  </a:lnTo>
                  <a:lnTo>
                    <a:pt x="161" y="182"/>
                  </a:lnTo>
                  <a:lnTo>
                    <a:pt x="161" y="211"/>
                  </a:lnTo>
                  <a:lnTo>
                    <a:pt x="165" y="227"/>
                  </a:lnTo>
                  <a:lnTo>
                    <a:pt x="165" y="231"/>
                  </a:lnTo>
                  <a:lnTo>
                    <a:pt x="165" y="260"/>
                  </a:lnTo>
                  <a:lnTo>
                    <a:pt x="165" y="256"/>
                  </a:lnTo>
                  <a:lnTo>
                    <a:pt x="168" y="264"/>
                  </a:lnTo>
                  <a:lnTo>
                    <a:pt x="168" y="273"/>
                  </a:lnTo>
                  <a:lnTo>
                    <a:pt x="168" y="269"/>
                  </a:lnTo>
                  <a:lnTo>
                    <a:pt x="168" y="285"/>
                  </a:lnTo>
                  <a:lnTo>
                    <a:pt x="171" y="302"/>
                  </a:lnTo>
                  <a:lnTo>
                    <a:pt x="171" y="302"/>
                  </a:lnTo>
                  <a:lnTo>
                    <a:pt x="171" y="318"/>
                  </a:lnTo>
                  <a:lnTo>
                    <a:pt x="171" y="322"/>
                  </a:lnTo>
                  <a:lnTo>
                    <a:pt x="175" y="326"/>
                  </a:lnTo>
                  <a:lnTo>
                    <a:pt x="175" y="318"/>
                  </a:lnTo>
                  <a:lnTo>
                    <a:pt x="175" y="330"/>
                  </a:lnTo>
                  <a:lnTo>
                    <a:pt x="178" y="343"/>
                  </a:lnTo>
                  <a:lnTo>
                    <a:pt x="178" y="343"/>
                  </a:lnTo>
                  <a:lnTo>
                    <a:pt x="178" y="351"/>
                  </a:lnTo>
                  <a:lnTo>
                    <a:pt x="178" y="347"/>
                  </a:lnTo>
                  <a:lnTo>
                    <a:pt x="182" y="347"/>
                  </a:lnTo>
                  <a:lnTo>
                    <a:pt x="182" y="355"/>
                  </a:lnTo>
                  <a:lnTo>
                    <a:pt x="182" y="364"/>
                  </a:lnTo>
                  <a:lnTo>
                    <a:pt x="182" y="376"/>
                  </a:lnTo>
                  <a:lnTo>
                    <a:pt x="185" y="372"/>
                  </a:lnTo>
                  <a:lnTo>
                    <a:pt x="185" y="392"/>
                  </a:lnTo>
                  <a:lnTo>
                    <a:pt x="185" y="384"/>
                  </a:lnTo>
                  <a:lnTo>
                    <a:pt x="185" y="388"/>
                  </a:lnTo>
                  <a:lnTo>
                    <a:pt x="189" y="392"/>
                  </a:lnTo>
                  <a:lnTo>
                    <a:pt x="189" y="388"/>
                  </a:lnTo>
                  <a:lnTo>
                    <a:pt x="189" y="405"/>
                  </a:lnTo>
                  <a:lnTo>
                    <a:pt x="192" y="397"/>
                  </a:lnTo>
                  <a:lnTo>
                    <a:pt x="192" y="392"/>
                  </a:lnTo>
                  <a:lnTo>
                    <a:pt x="192" y="405"/>
                  </a:lnTo>
                  <a:lnTo>
                    <a:pt x="192" y="401"/>
                  </a:lnTo>
                  <a:lnTo>
                    <a:pt x="195" y="413"/>
                  </a:lnTo>
                  <a:lnTo>
                    <a:pt x="195" y="413"/>
                  </a:lnTo>
                  <a:lnTo>
                    <a:pt x="195" y="413"/>
                  </a:lnTo>
                  <a:lnTo>
                    <a:pt x="195" y="409"/>
                  </a:lnTo>
                  <a:lnTo>
                    <a:pt x="199" y="421"/>
                  </a:lnTo>
                  <a:lnTo>
                    <a:pt x="199" y="417"/>
                  </a:lnTo>
                  <a:lnTo>
                    <a:pt x="199" y="417"/>
                  </a:lnTo>
                  <a:lnTo>
                    <a:pt x="199" y="405"/>
                  </a:lnTo>
                  <a:lnTo>
                    <a:pt x="202" y="425"/>
                  </a:lnTo>
                  <a:lnTo>
                    <a:pt x="202" y="421"/>
                  </a:lnTo>
                  <a:lnTo>
                    <a:pt x="202" y="421"/>
                  </a:lnTo>
                  <a:lnTo>
                    <a:pt x="206" y="430"/>
                  </a:lnTo>
                  <a:lnTo>
                    <a:pt x="206" y="430"/>
                  </a:lnTo>
                  <a:lnTo>
                    <a:pt x="206" y="442"/>
                  </a:lnTo>
                  <a:lnTo>
                    <a:pt x="206" y="446"/>
                  </a:lnTo>
                  <a:lnTo>
                    <a:pt x="209" y="442"/>
                  </a:lnTo>
                  <a:lnTo>
                    <a:pt x="209" y="438"/>
                  </a:lnTo>
                  <a:lnTo>
                    <a:pt x="209" y="442"/>
                  </a:lnTo>
                  <a:lnTo>
                    <a:pt x="209" y="454"/>
                  </a:lnTo>
                  <a:lnTo>
                    <a:pt x="213" y="450"/>
                  </a:lnTo>
                  <a:lnTo>
                    <a:pt x="213" y="438"/>
                  </a:lnTo>
                  <a:lnTo>
                    <a:pt x="213" y="446"/>
                  </a:lnTo>
                  <a:lnTo>
                    <a:pt x="213" y="450"/>
                  </a:lnTo>
                  <a:lnTo>
                    <a:pt x="216" y="450"/>
                  </a:lnTo>
                  <a:lnTo>
                    <a:pt x="216" y="442"/>
                  </a:lnTo>
                  <a:lnTo>
                    <a:pt x="216" y="442"/>
                  </a:lnTo>
                  <a:lnTo>
                    <a:pt x="216" y="454"/>
                  </a:lnTo>
                  <a:lnTo>
                    <a:pt x="219" y="454"/>
                  </a:lnTo>
                  <a:lnTo>
                    <a:pt x="219" y="450"/>
                  </a:lnTo>
                  <a:lnTo>
                    <a:pt x="219" y="442"/>
                  </a:lnTo>
                  <a:lnTo>
                    <a:pt x="223" y="442"/>
                  </a:lnTo>
                  <a:lnTo>
                    <a:pt x="223" y="434"/>
                  </a:lnTo>
                  <a:lnTo>
                    <a:pt x="223" y="438"/>
                  </a:lnTo>
                  <a:lnTo>
                    <a:pt x="223" y="454"/>
                  </a:lnTo>
                  <a:lnTo>
                    <a:pt x="226" y="442"/>
                  </a:lnTo>
                  <a:lnTo>
                    <a:pt x="226" y="442"/>
                  </a:lnTo>
                  <a:lnTo>
                    <a:pt x="226" y="454"/>
                  </a:lnTo>
                  <a:lnTo>
                    <a:pt x="226" y="450"/>
                  </a:lnTo>
                  <a:lnTo>
                    <a:pt x="230" y="458"/>
                  </a:lnTo>
                  <a:lnTo>
                    <a:pt x="230" y="463"/>
                  </a:lnTo>
                  <a:lnTo>
                    <a:pt x="230" y="454"/>
                  </a:lnTo>
                  <a:lnTo>
                    <a:pt x="230" y="454"/>
                  </a:lnTo>
                  <a:lnTo>
                    <a:pt x="233" y="463"/>
                  </a:lnTo>
                  <a:lnTo>
                    <a:pt x="233" y="467"/>
                  </a:lnTo>
                  <a:lnTo>
                    <a:pt x="233" y="454"/>
                  </a:lnTo>
                  <a:lnTo>
                    <a:pt x="237" y="463"/>
                  </a:lnTo>
                  <a:lnTo>
                    <a:pt x="237" y="467"/>
                  </a:lnTo>
                  <a:lnTo>
                    <a:pt x="237" y="467"/>
                  </a:lnTo>
                  <a:lnTo>
                    <a:pt x="237" y="458"/>
                  </a:lnTo>
                  <a:lnTo>
                    <a:pt x="240" y="458"/>
                  </a:lnTo>
                  <a:lnTo>
                    <a:pt x="240" y="454"/>
                  </a:lnTo>
                  <a:lnTo>
                    <a:pt x="240" y="450"/>
                  </a:lnTo>
                  <a:lnTo>
                    <a:pt x="240" y="450"/>
                  </a:lnTo>
                  <a:lnTo>
                    <a:pt x="243" y="450"/>
                  </a:lnTo>
                  <a:lnTo>
                    <a:pt x="243" y="430"/>
                  </a:lnTo>
                  <a:lnTo>
                    <a:pt x="243" y="450"/>
                  </a:lnTo>
                  <a:lnTo>
                    <a:pt x="243" y="446"/>
                  </a:lnTo>
                  <a:lnTo>
                    <a:pt x="247" y="442"/>
                  </a:lnTo>
                  <a:lnTo>
                    <a:pt x="247" y="434"/>
                  </a:lnTo>
                  <a:lnTo>
                    <a:pt x="247" y="442"/>
                  </a:lnTo>
                  <a:lnTo>
                    <a:pt x="247" y="438"/>
                  </a:lnTo>
                  <a:lnTo>
                    <a:pt x="250" y="446"/>
                  </a:lnTo>
                  <a:lnTo>
                    <a:pt x="250" y="450"/>
                  </a:lnTo>
                  <a:lnTo>
                    <a:pt x="250" y="450"/>
                  </a:lnTo>
                  <a:lnTo>
                    <a:pt x="254" y="446"/>
                  </a:lnTo>
                  <a:lnTo>
                    <a:pt x="254" y="446"/>
                  </a:lnTo>
                  <a:lnTo>
                    <a:pt x="254" y="438"/>
                  </a:lnTo>
                  <a:lnTo>
                    <a:pt x="254" y="442"/>
                  </a:lnTo>
                  <a:lnTo>
                    <a:pt x="257" y="450"/>
                  </a:lnTo>
                  <a:lnTo>
                    <a:pt x="257" y="442"/>
                  </a:lnTo>
                  <a:lnTo>
                    <a:pt x="257" y="450"/>
                  </a:lnTo>
                  <a:lnTo>
                    <a:pt x="257" y="450"/>
                  </a:lnTo>
                  <a:lnTo>
                    <a:pt x="261" y="434"/>
                  </a:lnTo>
                  <a:lnTo>
                    <a:pt x="261" y="446"/>
                  </a:lnTo>
                  <a:lnTo>
                    <a:pt x="261" y="450"/>
                  </a:lnTo>
                  <a:lnTo>
                    <a:pt x="261" y="450"/>
                  </a:lnTo>
                  <a:lnTo>
                    <a:pt x="264" y="450"/>
                  </a:lnTo>
                  <a:lnTo>
                    <a:pt x="264" y="450"/>
                  </a:lnTo>
                  <a:lnTo>
                    <a:pt x="264" y="446"/>
                  </a:lnTo>
                  <a:lnTo>
                    <a:pt x="267" y="430"/>
                  </a:lnTo>
                  <a:lnTo>
                    <a:pt x="267" y="421"/>
                  </a:lnTo>
                  <a:lnTo>
                    <a:pt x="267" y="413"/>
                  </a:lnTo>
                  <a:lnTo>
                    <a:pt x="267" y="430"/>
                  </a:lnTo>
                  <a:lnTo>
                    <a:pt x="271" y="421"/>
                  </a:lnTo>
                  <a:lnTo>
                    <a:pt x="271" y="417"/>
                  </a:lnTo>
                  <a:lnTo>
                    <a:pt x="271" y="425"/>
                  </a:lnTo>
                  <a:lnTo>
                    <a:pt x="271" y="421"/>
                  </a:lnTo>
                  <a:lnTo>
                    <a:pt x="274" y="413"/>
                  </a:lnTo>
                  <a:lnTo>
                    <a:pt x="274" y="409"/>
                  </a:lnTo>
                  <a:lnTo>
                    <a:pt x="274" y="397"/>
                  </a:lnTo>
                  <a:lnTo>
                    <a:pt x="274" y="388"/>
                  </a:lnTo>
                  <a:lnTo>
                    <a:pt x="278" y="397"/>
                  </a:lnTo>
                  <a:lnTo>
                    <a:pt x="278" y="392"/>
                  </a:lnTo>
                  <a:lnTo>
                    <a:pt x="278" y="405"/>
                  </a:lnTo>
                  <a:lnTo>
                    <a:pt x="278" y="392"/>
                  </a:lnTo>
                  <a:lnTo>
                    <a:pt x="281" y="376"/>
                  </a:lnTo>
                  <a:lnTo>
                    <a:pt x="281" y="380"/>
                  </a:lnTo>
                  <a:lnTo>
                    <a:pt x="281" y="368"/>
                  </a:lnTo>
                  <a:lnTo>
                    <a:pt x="285" y="368"/>
                  </a:lnTo>
                  <a:lnTo>
                    <a:pt x="285" y="359"/>
                  </a:lnTo>
                  <a:lnTo>
                    <a:pt x="285" y="351"/>
                  </a:lnTo>
                  <a:lnTo>
                    <a:pt x="285" y="355"/>
                  </a:lnTo>
                  <a:lnTo>
                    <a:pt x="288" y="372"/>
                  </a:lnTo>
                  <a:lnTo>
                    <a:pt x="288" y="376"/>
                  </a:lnTo>
                  <a:lnTo>
                    <a:pt x="288" y="388"/>
                  </a:lnTo>
                  <a:lnTo>
                    <a:pt x="288" y="401"/>
                  </a:lnTo>
                  <a:lnTo>
                    <a:pt x="291" y="397"/>
                  </a:lnTo>
                  <a:lnTo>
                    <a:pt x="291" y="388"/>
                  </a:lnTo>
                  <a:lnTo>
                    <a:pt x="291" y="413"/>
                  </a:lnTo>
                  <a:lnTo>
                    <a:pt x="291" y="397"/>
                  </a:lnTo>
                  <a:lnTo>
                    <a:pt x="295" y="397"/>
                  </a:lnTo>
                  <a:lnTo>
                    <a:pt x="295" y="397"/>
                  </a:lnTo>
                  <a:lnTo>
                    <a:pt x="295" y="392"/>
                  </a:lnTo>
                  <a:lnTo>
                    <a:pt x="298" y="409"/>
                  </a:lnTo>
                  <a:lnTo>
                    <a:pt x="298" y="397"/>
                  </a:lnTo>
                  <a:lnTo>
                    <a:pt x="298" y="401"/>
                  </a:lnTo>
                  <a:lnTo>
                    <a:pt x="298" y="409"/>
                  </a:lnTo>
                  <a:lnTo>
                    <a:pt x="302" y="409"/>
                  </a:lnTo>
                  <a:lnTo>
                    <a:pt x="302" y="409"/>
                  </a:lnTo>
                  <a:lnTo>
                    <a:pt x="302" y="388"/>
                  </a:lnTo>
                  <a:lnTo>
                    <a:pt x="302" y="397"/>
                  </a:lnTo>
                  <a:lnTo>
                    <a:pt x="305" y="397"/>
                  </a:lnTo>
                  <a:lnTo>
                    <a:pt x="305" y="397"/>
                  </a:lnTo>
                  <a:lnTo>
                    <a:pt x="305" y="384"/>
                  </a:lnTo>
                  <a:lnTo>
                    <a:pt x="305" y="392"/>
                  </a:lnTo>
                  <a:lnTo>
                    <a:pt x="309" y="388"/>
                  </a:lnTo>
                  <a:lnTo>
                    <a:pt x="309" y="392"/>
                  </a:lnTo>
                  <a:lnTo>
                    <a:pt x="309" y="384"/>
                  </a:lnTo>
                  <a:lnTo>
                    <a:pt x="312" y="376"/>
                  </a:lnTo>
                  <a:lnTo>
                    <a:pt x="312" y="351"/>
                  </a:lnTo>
                  <a:lnTo>
                    <a:pt x="312" y="355"/>
                  </a:lnTo>
                  <a:lnTo>
                    <a:pt x="312" y="355"/>
                  </a:lnTo>
                  <a:lnTo>
                    <a:pt x="315" y="368"/>
                  </a:lnTo>
                  <a:lnTo>
                    <a:pt x="315" y="368"/>
                  </a:lnTo>
                  <a:lnTo>
                    <a:pt x="315" y="355"/>
                  </a:lnTo>
                  <a:lnTo>
                    <a:pt x="315" y="355"/>
                  </a:lnTo>
                  <a:lnTo>
                    <a:pt x="319" y="372"/>
                  </a:lnTo>
                  <a:lnTo>
                    <a:pt x="319" y="380"/>
                  </a:lnTo>
                  <a:lnTo>
                    <a:pt x="319" y="355"/>
                  </a:lnTo>
                  <a:lnTo>
                    <a:pt x="319" y="355"/>
                  </a:lnTo>
                  <a:lnTo>
                    <a:pt x="322" y="355"/>
                  </a:lnTo>
                  <a:lnTo>
                    <a:pt x="322" y="368"/>
                  </a:lnTo>
                  <a:lnTo>
                    <a:pt x="322" y="368"/>
                  </a:lnTo>
                  <a:lnTo>
                    <a:pt x="322" y="359"/>
                  </a:lnTo>
                  <a:lnTo>
                    <a:pt x="326" y="364"/>
                  </a:lnTo>
                  <a:lnTo>
                    <a:pt x="326" y="351"/>
                  </a:lnTo>
                  <a:lnTo>
                    <a:pt x="326" y="343"/>
                  </a:lnTo>
                  <a:lnTo>
                    <a:pt x="329" y="364"/>
                  </a:lnTo>
                  <a:lnTo>
                    <a:pt x="329" y="359"/>
                  </a:lnTo>
                  <a:lnTo>
                    <a:pt x="329" y="359"/>
                  </a:lnTo>
                  <a:lnTo>
                    <a:pt x="329" y="359"/>
                  </a:lnTo>
                  <a:lnTo>
                    <a:pt x="333" y="343"/>
                  </a:lnTo>
                  <a:lnTo>
                    <a:pt x="333" y="359"/>
                  </a:lnTo>
                  <a:lnTo>
                    <a:pt x="333" y="359"/>
                  </a:lnTo>
                  <a:lnTo>
                    <a:pt x="333" y="351"/>
                  </a:lnTo>
                  <a:lnTo>
                    <a:pt x="336" y="343"/>
                  </a:lnTo>
                  <a:lnTo>
                    <a:pt x="336" y="343"/>
                  </a:lnTo>
                  <a:lnTo>
                    <a:pt x="336" y="335"/>
                  </a:lnTo>
                  <a:lnTo>
                    <a:pt x="336" y="318"/>
                  </a:lnTo>
                  <a:lnTo>
                    <a:pt x="339" y="330"/>
                  </a:lnTo>
                  <a:lnTo>
                    <a:pt x="339" y="318"/>
                  </a:lnTo>
                  <a:lnTo>
                    <a:pt x="339" y="306"/>
                  </a:lnTo>
                  <a:lnTo>
                    <a:pt x="343" y="281"/>
                  </a:lnTo>
                  <a:lnTo>
                    <a:pt x="343" y="273"/>
                  </a:lnTo>
                  <a:lnTo>
                    <a:pt x="343" y="260"/>
                  </a:lnTo>
                  <a:lnTo>
                    <a:pt x="343" y="273"/>
                  </a:lnTo>
                  <a:lnTo>
                    <a:pt x="346" y="293"/>
                  </a:lnTo>
                  <a:lnTo>
                    <a:pt x="346" y="302"/>
                  </a:lnTo>
                  <a:lnTo>
                    <a:pt x="346" y="326"/>
                  </a:lnTo>
                  <a:lnTo>
                    <a:pt x="346" y="347"/>
                  </a:lnTo>
                  <a:lnTo>
                    <a:pt x="350" y="347"/>
                  </a:lnTo>
                  <a:lnTo>
                    <a:pt x="350" y="376"/>
                  </a:lnTo>
                  <a:lnTo>
                    <a:pt x="350" y="380"/>
                  </a:lnTo>
                  <a:lnTo>
                    <a:pt x="350" y="392"/>
                  </a:lnTo>
                  <a:lnTo>
                    <a:pt x="353" y="397"/>
                  </a:lnTo>
                  <a:lnTo>
                    <a:pt x="353" y="409"/>
                  </a:lnTo>
                  <a:lnTo>
                    <a:pt x="353" y="401"/>
                  </a:lnTo>
                  <a:lnTo>
                    <a:pt x="353" y="421"/>
                  </a:lnTo>
                  <a:lnTo>
                    <a:pt x="357" y="413"/>
                  </a:lnTo>
                  <a:lnTo>
                    <a:pt x="357" y="409"/>
                  </a:lnTo>
                  <a:lnTo>
                    <a:pt x="357" y="425"/>
                  </a:lnTo>
                  <a:lnTo>
                    <a:pt x="360" y="438"/>
                  </a:lnTo>
                  <a:lnTo>
                    <a:pt x="360" y="446"/>
                  </a:lnTo>
                  <a:lnTo>
                    <a:pt x="360" y="442"/>
                  </a:lnTo>
                  <a:lnTo>
                    <a:pt x="360" y="450"/>
                  </a:lnTo>
                  <a:lnTo>
                    <a:pt x="363" y="442"/>
                  </a:lnTo>
                  <a:lnTo>
                    <a:pt x="363" y="450"/>
                  </a:lnTo>
                  <a:lnTo>
                    <a:pt x="363" y="467"/>
                  </a:lnTo>
                  <a:lnTo>
                    <a:pt x="363" y="463"/>
                  </a:lnTo>
                  <a:lnTo>
                    <a:pt x="367" y="458"/>
                  </a:lnTo>
                  <a:lnTo>
                    <a:pt x="367" y="446"/>
                  </a:lnTo>
                  <a:lnTo>
                    <a:pt x="367" y="450"/>
                  </a:lnTo>
                  <a:lnTo>
                    <a:pt x="367" y="450"/>
                  </a:lnTo>
                  <a:lnTo>
                    <a:pt x="370" y="471"/>
                  </a:lnTo>
                  <a:lnTo>
                    <a:pt x="370" y="467"/>
                  </a:lnTo>
                  <a:lnTo>
                    <a:pt x="370" y="458"/>
                  </a:lnTo>
                  <a:lnTo>
                    <a:pt x="374" y="475"/>
                  </a:lnTo>
                  <a:lnTo>
                    <a:pt x="374" y="471"/>
                  </a:lnTo>
                  <a:lnTo>
                    <a:pt x="374" y="471"/>
                  </a:lnTo>
                  <a:lnTo>
                    <a:pt x="374" y="475"/>
                  </a:lnTo>
                  <a:lnTo>
                    <a:pt x="377" y="487"/>
                  </a:lnTo>
                  <a:lnTo>
                    <a:pt x="377" y="483"/>
                  </a:lnTo>
                  <a:lnTo>
                    <a:pt x="377" y="487"/>
                  </a:lnTo>
                  <a:lnTo>
                    <a:pt x="377" y="491"/>
                  </a:lnTo>
                  <a:lnTo>
                    <a:pt x="381" y="496"/>
                  </a:lnTo>
                  <a:lnTo>
                    <a:pt x="381" y="500"/>
                  </a:lnTo>
                  <a:lnTo>
                    <a:pt x="381" y="496"/>
                  </a:lnTo>
                  <a:lnTo>
                    <a:pt x="381" y="496"/>
                  </a:lnTo>
                  <a:lnTo>
                    <a:pt x="384" y="491"/>
                  </a:lnTo>
                  <a:lnTo>
                    <a:pt x="384" y="496"/>
                  </a:lnTo>
                  <a:lnTo>
                    <a:pt x="384" y="500"/>
                  </a:lnTo>
                  <a:lnTo>
                    <a:pt x="384" y="504"/>
                  </a:lnTo>
                  <a:lnTo>
                    <a:pt x="387" y="512"/>
                  </a:lnTo>
                  <a:lnTo>
                    <a:pt x="387" y="508"/>
                  </a:lnTo>
                  <a:lnTo>
                    <a:pt x="387" y="504"/>
                  </a:lnTo>
                  <a:lnTo>
                    <a:pt x="391" y="504"/>
                  </a:lnTo>
                  <a:lnTo>
                    <a:pt x="391" y="508"/>
                  </a:lnTo>
                  <a:lnTo>
                    <a:pt x="391" y="508"/>
                  </a:lnTo>
                  <a:lnTo>
                    <a:pt x="391" y="500"/>
                  </a:lnTo>
                  <a:lnTo>
                    <a:pt x="394" y="508"/>
                  </a:lnTo>
                  <a:lnTo>
                    <a:pt x="394" y="508"/>
                  </a:lnTo>
                  <a:lnTo>
                    <a:pt x="394" y="516"/>
                  </a:lnTo>
                  <a:lnTo>
                    <a:pt x="394" y="529"/>
                  </a:lnTo>
                  <a:lnTo>
                    <a:pt x="398" y="525"/>
                  </a:lnTo>
                  <a:lnTo>
                    <a:pt x="398" y="529"/>
                  </a:lnTo>
                  <a:lnTo>
                    <a:pt x="398" y="533"/>
                  </a:lnTo>
                  <a:lnTo>
                    <a:pt x="398" y="520"/>
                  </a:lnTo>
                  <a:lnTo>
                    <a:pt x="401" y="529"/>
                  </a:lnTo>
                  <a:lnTo>
                    <a:pt x="401" y="520"/>
                  </a:lnTo>
                  <a:lnTo>
                    <a:pt x="401" y="710"/>
                  </a:lnTo>
                  <a:lnTo>
                    <a:pt x="401" y="710"/>
                  </a:lnTo>
                  <a:lnTo>
                    <a:pt x="398" y="710"/>
                  </a:lnTo>
                  <a:lnTo>
                    <a:pt x="398" y="710"/>
                  </a:lnTo>
                  <a:lnTo>
                    <a:pt x="398" y="710"/>
                  </a:lnTo>
                  <a:lnTo>
                    <a:pt x="398" y="710"/>
                  </a:lnTo>
                  <a:lnTo>
                    <a:pt x="394" y="710"/>
                  </a:lnTo>
                  <a:lnTo>
                    <a:pt x="394" y="710"/>
                  </a:lnTo>
                  <a:lnTo>
                    <a:pt x="394" y="710"/>
                  </a:lnTo>
                  <a:lnTo>
                    <a:pt x="394" y="710"/>
                  </a:lnTo>
                  <a:lnTo>
                    <a:pt x="391" y="710"/>
                  </a:lnTo>
                  <a:lnTo>
                    <a:pt x="391" y="710"/>
                  </a:lnTo>
                  <a:lnTo>
                    <a:pt x="391" y="710"/>
                  </a:lnTo>
                  <a:lnTo>
                    <a:pt x="391" y="710"/>
                  </a:lnTo>
                  <a:lnTo>
                    <a:pt x="387" y="710"/>
                  </a:lnTo>
                  <a:lnTo>
                    <a:pt x="387" y="710"/>
                  </a:lnTo>
                  <a:lnTo>
                    <a:pt x="387" y="710"/>
                  </a:lnTo>
                  <a:lnTo>
                    <a:pt x="384" y="710"/>
                  </a:lnTo>
                  <a:lnTo>
                    <a:pt x="384" y="710"/>
                  </a:lnTo>
                  <a:lnTo>
                    <a:pt x="384" y="710"/>
                  </a:lnTo>
                  <a:lnTo>
                    <a:pt x="384" y="710"/>
                  </a:lnTo>
                  <a:lnTo>
                    <a:pt x="381" y="710"/>
                  </a:lnTo>
                  <a:lnTo>
                    <a:pt x="381" y="710"/>
                  </a:lnTo>
                  <a:lnTo>
                    <a:pt x="381" y="710"/>
                  </a:lnTo>
                  <a:lnTo>
                    <a:pt x="381" y="710"/>
                  </a:lnTo>
                  <a:lnTo>
                    <a:pt x="377" y="710"/>
                  </a:lnTo>
                  <a:lnTo>
                    <a:pt x="377" y="710"/>
                  </a:lnTo>
                  <a:lnTo>
                    <a:pt x="377" y="710"/>
                  </a:lnTo>
                  <a:lnTo>
                    <a:pt x="377" y="710"/>
                  </a:lnTo>
                  <a:lnTo>
                    <a:pt x="374" y="710"/>
                  </a:lnTo>
                  <a:lnTo>
                    <a:pt x="374" y="710"/>
                  </a:lnTo>
                  <a:lnTo>
                    <a:pt x="374" y="710"/>
                  </a:lnTo>
                  <a:lnTo>
                    <a:pt x="374" y="710"/>
                  </a:lnTo>
                  <a:lnTo>
                    <a:pt x="370" y="710"/>
                  </a:lnTo>
                  <a:lnTo>
                    <a:pt x="370" y="710"/>
                  </a:lnTo>
                  <a:lnTo>
                    <a:pt x="370" y="710"/>
                  </a:lnTo>
                  <a:lnTo>
                    <a:pt x="367" y="710"/>
                  </a:lnTo>
                  <a:lnTo>
                    <a:pt x="367" y="710"/>
                  </a:lnTo>
                  <a:lnTo>
                    <a:pt x="367" y="710"/>
                  </a:lnTo>
                  <a:lnTo>
                    <a:pt x="367" y="710"/>
                  </a:lnTo>
                  <a:lnTo>
                    <a:pt x="363" y="710"/>
                  </a:lnTo>
                  <a:lnTo>
                    <a:pt x="363" y="710"/>
                  </a:lnTo>
                  <a:lnTo>
                    <a:pt x="363" y="710"/>
                  </a:lnTo>
                  <a:lnTo>
                    <a:pt x="363" y="710"/>
                  </a:lnTo>
                  <a:lnTo>
                    <a:pt x="360" y="710"/>
                  </a:lnTo>
                  <a:lnTo>
                    <a:pt x="360" y="710"/>
                  </a:lnTo>
                  <a:lnTo>
                    <a:pt x="360" y="710"/>
                  </a:lnTo>
                  <a:lnTo>
                    <a:pt x="360" y="710"/>
                  </a:lnTo>
                  <a:lnTo>
                    <a:pt x="357" y="710"/>
                  </a:lnTo>
                  <a:lnTo>
                    <a:pt x="357" y="710"/>
                  </a:lnTo>
                  <a:lnTo>
                    <a:pt x="357" y="710"/>
                  </a:lnTo>
                  <a:lnTo>
                    <a:pt x="353" y="710"/>
                  </a:lnTo>
                  <a:lnTo>
                    <a:pt x="353" y="710"/>
                  </a:lnTo>
                  <a:lnTo>
                    <a:pt x="353" y="710"/>
                  </a:lnTo>
                  <a:lnTo>
                    <a:pt x="353" y="710"/>
                  </a:lnTo>
                  <a:lnTo>
                    <a:pt x="350" y="710"/>
                  </a:lnTo>
                  <a:lnTo>
                    <a:pt x="350" y="710"/>
                  </a:lnTo>
                  <a:lnTo>
                    <a:pt x="350" y="710"/>
                  </a:lnTo>
                  <a:lnTo>
                    <a:pt x="350" y="710"/>
                  </a:lnTo>
                  <a:lnTo>
                    <a:pt x="346" y="710"/>
                  </a:lnTo>
                  <a:lnTo>
                    <a:pt x="346" y="710"/>
                  </a:lnTo>
                  <a:lnTo>
                    <a:pt x="346" y="710"/>
                  </a:lnTo>
                  <a:lnTo>
                    <a:pt x="346" y="710"/>
                  </a:lnTo>
                  <a:lnTo>
                    <a:pt x="343" y="710"/>
                  </a:lnTo>
                  <a:lnTo>
                    <a:pt x="343" y="710"/>
                  </a:lnTo>
                  <a:lnTo>
                    <a:pt x="343" y="710"/>
                  </a:lnTo>
                  <a:lnTo>
                    <a:pt x="343" y="710"/>
                  </a:lnTo>
                  <a:lnTo>
                    <a:pt x="339" y="710"/>
                  </a:lnTo>
                  <a:lnTo>
                    <a:pt x="339" y="710"/>
                  </a:lnTo>
                  <a:lnTo>
                    <a:pt x="339" y="710"/>
                  </a:lnTo>
                  <a:lnTo>
                    <a:pt x="336" y="710"/>
                  </a:lnTo>
                  <a:lnTo>
                    <a:pt x="336" y="710"/>
                  </a:lnTo>
                  <a:lnTo>
                    <a:pt x="336" y="710"/>
                  </a:lnTo>
                  <a:lnTo>
                    <a:pt x="336" y="710"/>
                  </a:lnTo>
                  <a:lnTo>
                    <a:pt x="333" y="710"/>
                  </a:lnTo>
                  <a:lnTo>
                    <a:pt x="333" y="710"/>
                  </a:lnTo>
                  <a:lnTo>
                    <a:pt x="333" y="710"/>
                  </a:lnTo>
                  <a:lnTo>
                    <a:pt x="333" y="710"/>
                  </a:lnTo>
                  <a:lnTo>
                    <a:pt x="329" y="710"/>
                  </a:lnTo>
                  <a:lnTo>
                    <a:pt x="329" y="710"/>
                  </a:lnTo>
                  <a:lnTo>
                    <a:pt x="329" y="710"/>
                  </a:lnTo>
                  <a:lnTo>
                    <a:pt x="329" y="710"/>
                  </a:lnTo>
                  <a:lnTo>
                    <a:pt x="326" y="710"/>
                  </a:lnTo>
                  <a:lnTo>
                    <a:pt x="326" y="710"/>
                  </a:lnTo>
                  <a:lnTo>
                    <a:pt x="326" y="710"/>
                  </a:lnTo>
                  <a:lnTo>
                    <a:pt x="322" y="710"/>
                  </a:lnTo>
                  <a:lnTo>
                    <a:pt x="322" y="710"/>
                  </a:lnTo>
                  <a:lnTo>
                    <a:pt x="322" y="710"/>
                  </a:lnTo>
                  <a:lnTo>
                    <a:pt x="322" y="710"/>
                  </a:lnTo>
                  <a:lnTo>
                    <a:pt x="319" y="710"/>
                  </a:lnTo>
                  <a:lnTo>
                    <a:pt x="319" y="710"/>
                  </a:lnTo>
                  <a:lnTo>
                    <a:pt x="319" y="710"/>
                  </a:lnTo>
                  <a:lnTo>
                    <a:pt x="319" y="710"/>
                  </a:lnTo>
                  <a:lnTo>
                    <a:pt x="315" y="710"/>
                  </a:lnTo>
                  <a:lnTo>
                    <a:pt x="315" y="710"/>
                  </a:lnTo>
                  <a:lnTo>
                    <a:pt x="315" y="710"/>
                  </a:lnTo>
                  <a:lnTo>
                    <a:pt x="315" y="710"/>
                  </a:lnTo>
                  <a:lnTo>
                    <a:pt x="312" y="710"/>
                  </a:lnTo>
                  <a:lnTo>
                    <a:pt x="312" y="710"/>
                  </a:lnTo>
                  <a:lnTo>
                    <a:pt x="312" y="710"/>
                  </a:lnTo>
                  <a:lnTo>
                    <a:pt x="312" y="710"/>
                  </a:lnTo>
                  <a:lnTo>
                    <a:pt x="309" y="710"/>
                  </a:lnTo>
                  <a:lnTo>
                    <a:pt x="309" y="710"/>
                  </a:lnTo>
                  <a:lnTo>
                    <a:pt x="309" y="710"/>
                  </a:lnTo>
                  <a:lnTo>
                    <a:pt x="305" y="710"/>
                  </a:lnTo>
                  <a:lnTo>
                    <a:pt x="305" y="710"/>
                  </a:lnTo>
                  <a:lnTo>
                    <a:pt x="305" y="710"/>
                  </a:lnTo>
                  <a:lnTo>
                    <a:pt x="305" y="710"/>
                  </a:lnTo>
                  <a:lnTo>
                    <a:pt x="302" y="710"/>
                  </a:lnTo>
                  <a:lnTo>
                    <a:pt x="302" y="710"/>
                  </a:lnTo>
                  <a:lnTo>
                    <a:pt x="302" y="710"/>
                  </a:lnTo>
                  <a:lnTo>
                    <a:pt x="302" y="710"/>
                  </a:lnTo>
                  <a:lnTo>
                    <a:pt x="298" y="710"/>
                  </a:lnTo>
                  <a:lnTo>
                    <a:pt x="298" y="710"/>
                  </a:lnTo>
                  <a:lnTo>
                    <a:pt x="298" y="710"/>
                  </a:lnTo>
                  <a:lnTo>
                    <a:pt x="298" y="710"/>
                  </a:lnTo>
                  <a:lnTo>
                    <a:pt x="295" y="710"/>
                  </a:lnTo>
                  <a:lnTo>
                    <a:pt x="295" y="710"/>
                  </a:lnTo>
                  <a:lnTo>
                    <a:pt x="295" y="710"/>
                  </a:lnTo>
                  <a:lnTo>
                    <a:pt x="291" y="710"/>
                  </a:lnTo>
                  <a:lnTo>
                    <a:pt x="291" y="710"/>
                  </a:lnTo>
                  <a:lnTo>
                    <a:pt x="291" y="710"/>
                  </a:lnTo>
                  <a:lnTo>
                    <a:pt x="291" y="710"/>
                  </a:lnTo>
                  <a:lnTo>
                    <a:pt x="288" y="710"/>
                  </a:lnTo>
                  <a:lnTo>
                    <a:pt x="288" y="710"/>
                  </a:lnTo>
                  <a:lnTo>
                    <a:pt x="288" y="710"/>
                  </a:lnTo>
                  <a:lnTo>
                    <a:pt x="288" y="710"/>
                  </a:lnTo>
                  <a:lnTo>
                    <a:pt x="285" y="710"/>
                  </a:lnTo>
                  <a:lnTo>
                    <a:pt x="285" y="710"/>
                  </a:lnTo>
                  <a:lnTo>
                    <a:pt x="285" y="710"/>
                  </a:lnTo>
                  <a:lnTo>
                    <a:pt x="285" y="710"/>
                  </a:lnTo>
                  <a:lnTo>
                    <a:pt x="281" y="710"/>
                  </a:lnTo>
                  <a:lnTo>
                    <a:pt x="281" y="710"/>
                  </a:lnTo>
                  <a:lnTo>
                    <a:pt x="281" y="710"/>
                  </a:lnTo>
                  <a:lnTo>
                    <a:pt x="278" y="710"/>
                  </a:lnTo>
                  <a:lnTo>
                    <a:pt x="278" y="710"/>
                  </a:lnTo>
                  <a:lnTo>
                    <a:pt x="278" y="710"/>
                  </a:lnTo>
                  <a:lnTo>
                    <a:pt x="278" y="710"/>
                  </a:lnTo>
                  <a:lnTo>
                    <a:pt x="274" y="710"/>
                  </a:lnTo>
                  <a:lnTo>
                    <a:pt x="274" y="710"/>
                  </a:lnTo>
                  <a:lnTo>
                    <a:pt x="274" y="710"/>
                  </a:lnTo>
                  <a:lnTo>
                    <a:pt x="274" y="710"/>
                  </a:lnTo>
                  <a:lnTo>
                    <a:pt x="271" y="710"/>
                  </a:lnTo>
                  <a:lnTo>
                    <a:pt x="271" y="710"/>
                  </a:lnTo>
                  <a:lnTo>
                    <a:pt x="271" y="710"/>
                  </a:lnTo>
                  <a:lnTo>
                    <a:pt x="271" y="710"/>
                  </a:lnTo>
                  <a:lnTo>
                    <a:pt x="267" y="710"/>
                  </a:lnTo>
                  <a:lnTo>
                    <a:pt x="267" y="710"/>
                  </a:lnTo>
                  <a:lnTo>
                    <a:pt x="267" y="710"/>
                  </a:lnTo>
                  <a:lnTo>
                    <a:pt x="267" y="710"/>
                  </a:lnTo>
                  <a:lnTo>
                    <a:pt x="264" y="710"/>
                  </a:lnTo>
                  <a:lnTo>
                    <a:pt x="264" y="710"/>
                  </a:lnTo>
                  <a:lnTo>
                    <a:pt x="264" y="710"/>
                  </a:lnTo>
                  <a:lnTo>
                    <a:pt x="261" y="710"/>
                  </a:lnTo>
                  <a:lnTo>
                    <a:pt x="261" y="710"/>
                  </a:lnTo>
                  <a:lnTo>
                    <a:pt x="261" y="710"/>
                  </a:lnTo>
                  <a:lnTo>
                    <a:pt x="261" y="710"/>
                  </a:lnTo>
                  <a:lnTo>
                    <a:pt x="257" y="710"/>
                  </a:lnTo>
                  <a:lnTo>
                    <a:pt x="257" y="710"/>
                  </a:lnTo>
                  <a:lnTo>
                    <a:pt x="257" y="710"/>
                  </a:lnTo>
                  <a:lnTo>
                    <a:pt x="257" y="710"/>
                  </a:lnTo>
                  <a:lnTo>
                    <a:pt x="254" y="710"/>
                  </a:lnTo>
                  <a:lnTo>
                    <a:pt x="254" y="710"/>
                  </a:lnTo>
                  <a:lnTo>
                    <a:pt x="254" y="710"/>
                  </a:lnTo>
                  <a:lnTo>
                    <a:pt x="254" y="710"/>
                  </a:lnTo>
                  <a:lnTo>
                    <a:pt x="250" y="710"/>
                  </a:lnTo>
                  <a:lnTo>
                    <a:pt x="250" y="710"/>
                  </a:lnTo>
                  <a:lnTo>
                    <a:pt x="250" y="710"/>
                  </a:lnTo>
                  <a:lnTo>
                    <a:pt x="247" y="710"/>
                  </a:lnTo>
                  <a:lnTo>
                    <a:pt x="247" y="710"/>
                  </a:lnTo>
                  <a:lnTo>
                    <a:pt x="247" y="710"/>
                  </a:lnTo>
                  <a:lnTo>
                    <a:pt x="247" y="710"/>
                  </a:lnTo>
                  <a:lnTo>
                    <a:pt x="243" y="710"/>
                  </a:lnTo>
                  <a:lnTo>
                    <a:pt x="243" y="710"/>
                  </a:lnTo>
                  <a:lnTo>
                    <a:pt x="243" y="710"/>
                  </a:lnTo>
                  <a:lnTo>
                    <a:pt x="243" y="710"/>
                  </a:lnTo>
                  <a:lnTo>
                    <a:pt x="240" y="710"/>
                  </a:lnTo>
                  <a:lnTo>
                    <a:pt x="240" y="710"/>
                  </a:lnTo>
                  <a:lnTo>
                    <a:pt x="240" y="710"/>
                  </a:lnTo>
                  <a:lnTo>
                    <a:pt x="240" y="710"/>
                  </a:lnTo>
                  <a:lnTo>
                    <a:pt x="237" y="710"/>
                  </a:lnTo>
                  <a:lnTo>
                    <a:pt x="237" y="710"/>
                  </a:lnTo>
                  <a:lnTo>
                    <a:pt x="237" y="710"/>
                  </a:lnTo>
                  <a:lnTo>
                    <a:pt x="237" y="710"/>
                  </a:lnTo>
                  <a:lnTo>
                    <a:pt x="233" y="710"/>
                  </a:lnTo>
                  <a:lnTo>
                    <a:pt x="233" y="710"/>
                  </a:lnTo>
                  <a:lnTo>
                    <a:pt x="233" y="710"/>
                  </a:lnTo>
                  <a:lnTo>
                    <a:pt x="230" y="710"/>
                  </a:lnTo>
                  <a:lnTo>
                    <a:pt x="230" y="710"/>
                  </a:lnTo>
                  <a:lnTo>
                    <a:pt x="230" y="710"/>
                  </a:lnTo>
                  <a:lnTo>
                    <a:pt x="230" y="710"/>
                  </a:lnTo>
                  <a:lnTo>
                    <a:pt x="226" y="710"/>
                  </a:lnTo>
                  <a:lnTo>
                    <a:pt x="226" y="710"/>
                  </a:lnTo>
                  <a:lnTo>
                    <a:pt x="226" y="710"/>
                  </a:lnTo>
                  <a:lnTo>
                    <a:pt x="226" y="710"/>
                  </a:lnTo>
                  <a:lnTo>
                    <a:pt x="223" y="710"/>
                  </a:lnTo>
                  <a:lnTo>
                    <a:pt x="223" y="710"/>
                  </a:lnTo>
                  <a:lnTo>
                    <a:pt x="223" y="710"/>
                  </a:lnTo>
                  <a:lnTo>
                    <a:pt x="223" y="710"/>
                  </a:lnTo>
                  <a:lnTo>
                    <a:pt x="219" y="710"/>
                  </a:lnTo>
                  <a:lnTo>
                    <a:pt x="219" y="710"/>
                  </a:lnTo>
                  <a:lnTo>
                    <a:pt x="219" y="710"/>
                  </a:lnTo>
                  <a:lnTo>
                    <a:pt x="216" y="710"/>
                  </a:lnTo>
                  <a:lnTo>
                    <a:pt x="216" y="710"/>
                  </a:lnTo>
                  <a:lnTo>
                    <a:pt x="216" y="710"/>
                  </a:lnTo>
                  <a:lnTo>
                    <a:pt x="216" y="710"/>
                  </a:lnTo>
                  <a:lnTo>
                    <a:pt x="213" y="710"/>
                  </a:lnTo>
                  <a:lnTo>
                    <a:pt x="213" y="710"/>
                  </a:lnTo>
                  <a:lnTo>
                    <a:pt x="213" y="710"/>
                  </a:lnTo>
                  <a:lnTo>
                    <a:pt x="213" y="710"/>
                  </a:lnTo>
                  <a:lnTo>
                    <a:pt x="209" y="710"/>
                  </a:lnTo>
                  <a:lnTo>
                    <a:pt x="209" y="710"/>
                  </a:lnTo>
                  <a:lnTo>
                    <a:pt x="209" y="710"/>
                  </a:lnTo>
                  <a:lnTo>
                    <a:pt x="209" y="710"/>
                  </a:lnTo>
                  <a:lnTo>
                    <a:pt x="206" y="710"/>
                  </a:lnTo>
                  <a:lnTo>
                    <a:pt x="206" y="710"/>
                  </a:lnTo>
                  <a:lnTo>
                    <a:pt x="206" y="710"/>
                  </a:lnTo>
                  <a:lnTo>
                    <a:pt x="206" y="710"/>
                  </a:lnTo>
                  <a:lnTo>
                    <a:pt x="202" y="710"/>
                  </a:lnTo>
                  <a:lnTo>
                    <a:pt x="202" y="710"/>
                  </a:lnTo>
                  <a:lnTo>
                    <a:pt x="202" y="710"/>
                  </a:lnTo>
                  <a:lnTo>
                    <a:pt x="199" y="710"/>
                  </a:lnTo>
                  <a:lnTo>
                    <a:pt x="199" y="710"/>
                  </a:lnTo>
                  <a:lnTo>
                    <a:pt x="199" y="710"/>
                  </a:lnTo>
                  <a:lnTo>
                    <a:pt x="199" y="710"/>
                  </a:lnTo>
                  <a:lnTo>
                    <a:pt x="195" y="710"/>
                  </a:lnTo>
                  <a:lnTo>
                    <a:pt x="195" y="710"/>
                  </a:lnTo>
                  <a:lnTo>
                    <a:pt x="195" y="710"/>
                  </a:lnTo>
                  <a:lnTo>
                    <a:pt x="195" y="710"/>
                  </a:lnTo>
                  <a:lnTo>
                    <a:pt x="192" y="710"/>
                  </a:lnTo>
                  <a:lnTo>
                    <a:pt x="192" y="710"/>
                  </a:lnTo>
                  <a:lnTo>
                    <a:pt x="192" y="710"/>
                  </a:lnTo>
                  <a:lnTo>
                    <a:pt x="192" y="710"/>
                  </a:lnTo>
                  <a:lnTo>
                    <a:pt x="189" y="710"/>
                  </a:lnTo>
                  <a:lnTo>
                    <a:pt x="189" y="710"/>
                  </a:lnTo>
                  <a:lnTo>
                    <a:pt x="189" y="710"/>
                  </a:lnTo>
                  <a:lnTo>
                    <a:pt x="185" y="710"/>
                  </a:lnTo>
                  <a:lnTo>
                    <a:pt x="185" y="710"/>
                  </a:lnTo>
                  <a:lnTo>
                    <a:pt x="185" y="710"/>
                  </a:lnTo>
                  <a:lnTo>
                    <a:pt x="185" y="710"/>
                  </a:lnTo>
                  <a:lnTo>
                    <a:pt x="182" y="710"/>
                  </a:lnTo>
                  <a:lnTo>
                    <a:pt x="182" y="710"/>
                  </a:lnTo>
                  <a:lnTo>
                    <a:pt x="182" y="710"/>
                  </a:lnTo>
                  <a:lnTo>
                    <a:pt x="182" y="710"/>
                  </a:lnTo>
                  <a:lnTo>
                    <a:pt x="178" y="710"/>
                  </a:lnTo>
                  <a:lnTo>
                    <a:pt x="178" y="710"/>
                  </a:lnTo>
                  <a:lnTo>
                    <a:pt x="178" y="710"/>
                  </a:lnTo>
                  <a:lnTo>
                    <a:pt x="178" y="710"/>
                  </a:lnTo>
                  <a:lnTo>
                    <a:pt x="175" y="710"/>
                  </a:lnTo>
                  <a:lnTo>
                    <a:pt x="175" y="710"/>
                  </a:lnTo>
                  <a:lnTo>
                    <a:pt x="175" y="710"/>
                  </a:lnTo>
                  <a:lnTo>
                    <a:pt x="171" y="710"/>
                  </a:lnTo>
                  <a:lnTo>
                    <a:pt x="171" y="710"/>
                  </a:lnTo>
                  <a:lnTo>
                    <a:pt x="171" y="710"/>
                  </a:lnTo>
                  <a:lnTo>
                    <a:pt x="171" y="710"/>
                  </a:lnTo>
                  <a:lnTo>
                    <a:pt x="168" y="710"/>
                  </a:lnTo>
                  <a:lnTo>
                    <a:pt x="168" y="710"/>
                  </a:lnTo>
                  <a:lnTo>
                    <a:pt x="168" y="710"/>
                  </a:lnTo>
                  <a:lnTo>
                    <a:pt x="168" y="710"/>
                  </a:lnTo>
                  <a:lnTo>
                    <a:pt x="165" y="710"/>
                  </a:lnTo>
                  <a:lnTo>
                    <a:pt x="165" y="710"/>
                  </a:lnTo>
                  <a:lnTo>
                    <a:pt x="165" y="710"/>
                  </a:lnTo>
                  <a:lnTo>
                    <a:pt x="165" y="710"/>
                  </a:lnTo>
                  <a:lnTo>
                    <a:pt x="161" y="710"/>
                  </a:lnTo>
                  <a:lnTo>
                    <a:pt x="161" y="710"/>
                  </a:lnTo>
                  <a:lnTo>
                    <a:pt x="161" y="710"/>
                  </a:lnTo>
                  <a:lnTo>
                    <a:pt x="161" y="710"/>
                  </a:lnTo>
                  <a:lnTo>
                    <a:pt x="158" y="710"/>
                  </a:lnTo>
                  <a:lnTo>
                    <a:pt x="158" y="710"/>
                  </a:lnTo>
                  <a:lnTo>
                    <a:pt x="158" y="710"/>
                  </a:lnTo>
                  <a:lnTo>
                    <a:pt x="154" y="710"/>
                  </a:lnTo>
                  <a:lnTo>
                    <a:pt x="154" y="710"/>
                  </a:lnTo>
                  <a:lnTo>
                    <a:pt x="154" y="710"/>
                  </a:lnTo>
                  <a:lnTo>
                    <a:pt x="154" y="710"/>
                  </a:lnTo>
                  <a:lnTo>
                    <a:pt x="151" y="710"/>
                  </a:lnTo>
                  <a:lnTo>
                    <a:pt x="151" y="710"/>
                  </a:lnTo>
                  <a:lnTo>
                    <a:pt x="151" y="710"/>
                  </a:lnTo>
                  <a:lnTo>
                    <a:pt x="151" y="710"/>
                  </a:lnTo>
                  <a:lnTo>
                    <a:pt x="147" y="710"/>
                  </a:lnTo>
                  <a:lnTo>
                    <a:pt x="147" y="710"/>
                  </a:lnTo>
                  <a:lnTo>
                    <a:pt x="147" y="710"/>
                  </a:lnTo>
                  <a:lnTo>
                    <a:pt x="147" y="710"/>
                  </a:lnTo>
                  <a:lnTo>
                    <a:pt x="144" y="710"/>
                  </a:lnTo>
                  <a:lnTo>
                    <a:pt x="144" y="710"/>
                  </a:lnTo>
                  <a:lnTo>
                    <a:pt x="144" y="710"/>
                  </a:lnTo>
                  <a:lnTo>
                    <a:pt x="141" y="710"/>
                  </a:lnTo>
                  <a:lnTo>
                    <a:pt x="141" y="710"/>
                  </a:lnTo>
                  <a:lnTo>
                    <a:pt x="141" y="710"/>
                  </a:lnTo>
                  <a:lnTo>
                    <a:pt x="141" y="710"/>
                  </a:lnTo>
                  <a:lnTo>
                    <a:pt x="137" y="710"/>
                  </a:lnTo>
                  <a:lnTo>
                    <a:pt x="137" y="710"/>
                  </a:lnTo>
                  <a:lnTo>
                    <a:pt x="137" y="710"/>
                  </a:lnTo>
                  <a:lnTo>
                    <a:pt x="137" y="710"/>
                  </a:lnTo>
                  <a:lnTo>
                    <a:pt x="134" y="710"/>
                  </a:lnTo>
                  <a:lnTo>
                    <a:pt x="134" y="710"/>
                  </a:lnTo>
                  <a:lnTo>
                    <a:pt x="134" y="710"/>
                  </a:lnTo>
                  <a:lnTo>
                    <a:pt x="134" y="710"/>
                  </a:lnTo>
                  <a:lnTo>
                    <a:pt x="130" y="710"/>
                  </a:lnTo>
                  <a:lnTo>
                    <a:pt x="130" y="710"/>
                  </a:lnTo>
                  <a:lnTo>
                    <a:pt x="130" y="710"/>
                  </a:lnTo>
                  <a:lnTo>
                    <a:pt x="130" y="710"/>
                  </a:lnTo>
                  <a:lnTo>
                    <a:pt x="127" y="710"/>
                  </a:lnTo>
                  <a:lnTo>
                    <a:pt x="127" y="710"/>
                  </a:lnTo>
                  <a:lnTo>
                    <a:pt x="127" y="710"/>
                  </a:lnTo>
                  <a:lnTo>
                    <a:pt x="123" y="710"/>
                  </a:lnTo>
                  <a:lnTo>
                    <a:pt x="123" y="710"/>
                  </a:lnTo>
                  <a:lnTo>
                    <a:pt x="123" y="710"/>
                  </a:lnTo>
                  <a:lnTo>
                    <a:pt x="123" y="710"/>
                  </a:lnTo>
                  <a:lnTo>
                    <a:pt x="120" y="710"/>
                  </a:lnTo>
                  <a:lnTo>
                    <a:pt x="120" y="710"/>
                  </a:lnTo>
                  <a:lnTo>
                    <a:pt x="120" y="710"/>
                  </a:lnTo>
                  <a:lnTo>
                    <a:pt x="120" y="710"/>
                  </a:lnTo>
                  <a:lnTo>
                    <a:pt x="117" y="710"/>
                  </a:lnTo>
                  <a:lnTo>
                    <a:pt x="117" y="710"/>
                  </a:lnTo>
                  <a:lnTo>
                    <a:pt x="117" y="710"/>
                  </a:lnTo>
                  <a:lnTo>
                    <a:pt x="117" y="710"/>
                  </a:lnTo>
                  <a:lnTo>
                    <a:pt x="113" y="710"/>
                  </a:lnTo>
                  <a:lnTo>
                    <a:pt x="113" y="710"/>
                  </a:lnTo>
                  <a:lnTo>
                    <a:pt x="113" y="710"/>
                  </a:lnTo>
                  <a:lnTo>
                    <a:pt x="110" y="710"/>
                  </a:lnTo>
                  <a:lnTo>
                    <a:pt x="110" y="710"/>
                  </a:lnTo>
                  <a:lnTo>
                    <a:pt x="110" y="710"/>
                  </a:lnTo>
                  <a:lnTo>
                    <a:pt x="110" y="710"/>
                  </a:lnTo>
                  <a:lnTo>
                    <a:pt x="106" y="710"/>
                  </a:lnTo>
                  <a:lnTo>
                    <a:pt x="106" y="710"/>
                  </a:lnTo>
                  <a:lnTo>
                    <a:pt x="106" y="710"/>
                  </a:lnTo>
                  <a:lnTo>
                    <a:pt x="106" y="710"/>
                  </a:lnTo>
                  <a:lnTo>
                    <a:pt x="103" y="710"/>
                  </a:lnTo>
                  <a:lnTo>
                    <a:pt x="103" y="710"/>
                  </a:lnTo>
                  <a:lnTo>
                    <a:pt x="103" y="710"/>
                  </a:lnTo>
                  <a:lnTo>
                    <a:pt x="103" y="710"/>
                  </a:lnTo>
                  <a:lnTo>
                    <a:pt x="99" y="710"/>
                  </a:lnTo>
                  <a:lnTo>
                    <a:pt x="99" y="710"/>
                  </a:lnTo>
                  <a:lnTo>
                    <a:pt x="99" y="710"/>
                  </a:lnTo>
                  <a:lnTo>
                    <a:pt x="99" y="710"/>
                  </a:lnTo>
                  <a:lnTo>
                    <a:pt x="96" y="710"/>
                  </a:lnTo>
                  <a:lnTo>
                    <a:pt x="96" y="710"/>
                  </a:lnTo>
                  <a:lnTo>
                    <a:pt x="96" y="710"/>
                  </a:lnTo>
                  <a:lnTo>
                    <a:pt x="93" y="710"/>
                  </a:lnTo>
                  <a:lnTo>
                    <a:pt x="93" y="710"/>
                  </a:lnTo>
                  <a:lnTo>
                    <a:pt x="93" y="710"/>
                  </a:lnTo>
                  <a:lnTo>
                    <a:pt x="93" y="710"/>
                  </a:lnTo>
                  <a:lnTo>
                    <a:pt x="89" y="710"/>
                  </a:lnTo>
                  <a:lnTo>
                    <a:pt x="89" y="710"/>
                  </a:lnTo>
                  <a:lnTo>
                    <a:pt x="89" y="710"/>
                  </a:lnTo>
                  <a:lnTo>
                    <a:pt x="89" y="710"/>
                  </a:lnTo>
                  <a:lnTo>
                    <a:pt x="86" y="710"/>
                  </a:lnTo>
                  <a:lnTo>
                    <a:pt x="86" y="710"/>
                  </a:lnTo>
                  <a:lnTo>
                    <a:pt x="86" y="710"/>
                  </a:lnTo>
                  <a:lnTo>
                    <a:pt x="86" y="710"/>
                  </a:lnTo>
                  <a:lnTo>
                    <a:pt x="82" y="710"/>
                  </a:lnTo>
                  <a:lnTo>
                    <a:pt x="82" y="710"/>
                  </a:lnTo>
                  <a:lnTo>
                    <a:pt x="82" y="710"/>
                  </a:lnTo>
                  <a:lnTo>
                    <a:pt x="79" y="710"/>
                  </a:lnTo>
                  <a:lnTo>
                    <a:pt x="79" y="710"/>
                  </a:lnTo>
                  <a:lnTo>
                    <a:pt x="79" y="710"/>
                  </a:lnTo>
                  <a:lnTo>
                    <a:pt x="79" y="710"/>
                  </a:lnTo>
                  <a:lnTo>
                    <a:pt x="75" y="710"/>
                  </a:lnTo>
                  <a:lnTo>
                    <a:pt x="75" y="710"/>
                  </a:lnTo>
                  <a:lnTo>
                    <a:pt x="75" y="710"/>
                  </a:lnTo>
                  <a:lnTo>
                    <a:pt x="75" y="710"/>
                  </a:lnTo>
                  <a:lnTo>
                    <a:pt x="72" y="710"/>
                  </a:lnTo>
                  <a:lnTo>
                    <a:pt x="72" y="710"/>
                  </a:lnTo>
                  <a:lnTo>
                    <a:pt x="72" y="710"/>
                  </a:lnTo>
                  <a:lnTo>
                    <a:pt x="72" y="710"/>
                  </a:lnTo>
                  <a:lnTo>
                    <a:pt x="69" y="710"/>
                  </a:lnTo>
                  <a:lnTo>
                    <a:pt x="69" y="710"/>
                  </a:lnTo>
                  <a:lnTo>
                    <a:pt x="69" y="710"/>
                  </a:lnTo>
                  <a:lnTo>
                    <a:pt x="65" y="710"/>
                  </a:lnTo>
                  <a:lnTo>
                    <a:pt x="65" y="710"/>
                  </a:lnTo>
                  <a:lnTo>
                    <a:pt x="65" y="710"/>
                  </a:lnTo>
                  <a:lnTo>
                    <a:pt x="65" y="710"/>
                  </a:lnTo>
                  <a:lnTo>
                    <a:pt x="62" y="710"/>
                  </a:lnTo>
                  <a:lnTo>
                    <a:pt x="62" y="710"/>
                  </a:lnTo>
                  <a:lnTo>
                    <a:pt x="62" y="710"/>
                  </a:lnTo>
                  <a:lnTo>
                    <a:pt x="62" y="710"/>
                  </a:lnTo>
                  <a:lnTo>
                    <a:pt x="58" y="710"/>
                  </a:lnTo>
                  <a:lnTo>
                    <a:pt x="58" y="710"/>
                  </a:lnTo>
                  <a:lnTo>
                    <a:pt x="58" y="710"/>
                  </a:lnTo>
                  <a:lnTo>
                    <a:pt x="58" y="710"/>
                  </a:lnTo>
                  <a:lnTo>
                    <a:pt x="55" y="710"/>
                  </a:lnTo>
                  <a:lnTo>
                    <a:pt x="55" y="710"/>
                  </a:lnTo>
                  <a:lnTo>
                    <a:pt x="55" y="710"/>
                  </a:lnTo>
                  <a:lnTo>
                    <a:pt x="55" y="710"/>
                  </a:lnTo>
                  <a:lnTo>
                    <a:pt x="51" y="710"/>
                  </a:lnTo>
                  <a:lnTo>
                    <a:pt x="51" y="710"/>
                  </a:lnTo>
                  <a:lnTo>
                    <a:pt x="51" y="710"/>
                  </a:lnTo>
                  <a:lnTo>
                    <a:pt x="48" y="710"/>
                  </a:lnTo>
                  <a:lnTo>
                    <a:pt x="48" y="710"/>
                  </a:lnTo>
                  <a:lnTo>
                    <a:pt x="48" y="710"/>
                  </a:lnTo>
                  <a:lnTo>
                    <a:pt x="48" y="710"/>
                  </a:lnTo>
                  <a:lnTo>
                    <a:pt x="45" y="710"/>
                  </a:lnTo>
                  <a:lnTo>
                    <a:pt x="45" y="710"/>
                  </a:lnTo>
                  <a:lnTo>
                    <a:pt x="45" y="710"/>
                  </a:lnTo>
                  <a:lnTo>
                    <a:pt x="45" y="710"/>
                  </a:lnTo>
                  <a:lnTo>
                    <a:pt x="41" y="710"/>
                  </a:lnTo>
                  <a:lnTo>
                    <a:pt x="41" y="710"/>
                  </a:lnTo>
                  <a:lnTo>
                    <a:pt x="41" y="710"/>
                  </a:lnTo>
                  <a:lnTo>
                    <a:pt x="41" y="710"/>
                  </a:lnTo>
                  <a:lnTo>
                    <a:pt x="38" y="710"/>
                  </a:lnTo>
                  <a:lnTo>
                    <a:pt x="38" y="710"/>
                  </a:lnTo>
                  <a:lnTo>
                    <a:pt x="38" y="710"/>
                  </a:lnTo>
                  <a:lnTo>
                    <a:pt x="34" y="710"/>
                  </a:lnTo>
                  <a:lnTo>
                    <a:pt x="34" y="710"/>
                  </a:lnTo>
                  <a:lnTo>
                    <a:pt x="34" y="710"/>
                  </a:lnTo>
                  <a:lnTo>
                    <a:pt x="34" y="710"/>
                  </a:lnTo>
                  <a:lnTo>
                    <a:pt x="31" y="710"/>
                  </a:lnTo>
                  <a:lnTo>
                    <a:pt x="31" y="710"/>
                  </a:lnTo>
                  <a:lnTo>
                    <a:pt x="31" y="710"/>
                  </a:lnTo>
                  <a:lnTo>
                    <a:pt x="31" y="710"/>
                  </a:lnTo>
                  <a:lnTo>
                    <a:pt x="27" y="710"/>
                  </a:lnTo>
                  <a:lnTo>
                    <a:pt x="27" y="710"/>
                  </a:lnTo>
                  <a:lnTo>
                    <a:pt x="27" y="710"/>
                  </a:lnTo>
                  <a:lnTo>
                    <a:pt x="27" y="710"/>
                  </a:lnTo>
                  <a:lnTo>
                    <a:pt x="24" y="710"/>
                  </a:lnTo>
                  <a:lnTo>
                    <a:pt x="24" y="710"/>
                  </a:lnTo>
                  <a:lnTo>
                    <a:pt x="24" y="710"/>
                  </a:lnTo>
                  <a:lnTo>
                    <a:pt x="24" y="710"/>
                  </a:lnTo>
                  <a:lnTo>
                    <a:pt x="21" y="710"/>
                  </a:lnTo>
                  <a:lnTo>
                    <a:pt x="21" y="710"/>
                  </a:lnTo>
                  <a:lnTo>
                    <a:pt x="21" y="710"/>
                  </a:lnTo>
                  <a:lnTo>
                    <a:pt x="17" y="710"/>
                  </a:lnTo>
                  <a:lnTo>
                    <a:pt x="17" y="710"/>
                  </a:lnTo>
                  <a:lnTo>
                    <a:pt x="17" y="710"/>
                  </a:lnTo>
                  <a:lnTo>
                    <a:pt x="17" y="710"/>
                  </a:lnTo>
                  <a:lnTo>
                    <a:pt x="14" y="710"/>
                  </a:lnTo>
                  <a:lnTo>
                    <a:pt x="14" y="710"/>
                  </a:lnTo>
                  <a:lnTo>
                    <a:pt x="14" y="710"/>
                  </a:lnTo>
                  <a:lnTo>
                    <a:pt x="14" y="710"/>
                  </a:lnTo>
                  <a:lnTo>
                    <a:pt x="10" y="710"/>
                  </a:lnTo>
                  <a:lnTo>
                    <a:pt x="10" y="710"/>
                  </a:lnTo>
                  <a:lnTo>
                    <a:pt x="10" y="710"/>
                  </a:lnTo>
                  <a:lnTo>
                    <a:pt x="10" y="710"/>
                  </a:lnTo>
                  <a:lnTo>
                    <a:pt x="7" y="710"/>
                  </a:lnTo>
                  <a:lnTo>
                    <a:pt x="7" y="710"/>
                  </a:lnTo>
                  <a:lnTo>
                    <a:pt x="7" y="710"/>
                  </a:lnTo>
                  <a:lnTo>
                    <a:pt x="3" y="710"/>
                  </a:lnTo>
                  <a:lnTo>
                    <a:pt x="3" y="710"/>
                  </a:lnTo>
                  <a:lnTo>
                    <a:pt x="3" y="710"/>
                  </a:lnTo>
                  <a:lnTo>
                    <a:pt x="3" y="710"/>
                  </a:lnTo>
                  <a:lnTo>
                    <a:pt x="0" y="710"/>
                  </a:lnTo>
                </a:path>
              </a:pathLst>
            </a:custGeom>
            <a:noFill/>
            <a:ln w="468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0" name="Line 30">
              <a:extLst>
                <a:ext uri="{FF2B5EF4-FFF2-40B4-BE49-F238E27FC236}">
                  <a16:creationId xmlns:a16="http://schemas.microsoft.com/office/drawing/2014/main" id="{F57D8E88-1E9A-A74D-869A-E6B143F597F7}"/>
                </a:ext>
              </a:extLst>
            </p:cNvPr>
            <p:cNvSpPr>
              <a:spLocks noChangeShapeType="1"/>
            </p:cNvSpPr>
            <p:nvPr/>
          </p:nvSpPr>
          <p:spPr bwMode="auto">
            <a:xfrm>
              <a:off x="2214" y="3508"/>
              <a:ext cx="2" cy="90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1" name="Line 31">
              <a:extLst>
                <a:ext uri="{FF2B5EF4-FFF2-40B4-BE49-F238E27FC236}">
                  <a16:creationId xmlns:a16="http://schemas.microsoft.com/office/drawing/2014/main" id="{A4EFFA6B-8260-AB40-91DD-D0A39E67E4AB}"/>
                </a:ext>
              </a:extLst>
            </p:cNvPr>
            <p:cNvSpPr>
              <a:spLocks noChangeShapeType="1"/>
            </p:cNvSpPr>
            <p:nvPr/>
          </p:nvSpPr>
          <p:spPr bwMode="auto">
            <a:xfrm>
              <a:off x="2194" y="4410"/>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2" name="Line 32">
              <a:extLst>
                <a:ext uri="{FF2B5EF4-FFF2-40B4-BE49-F238E27FC236}">
                  <a16:creationId xmlns:a16="http://schemas.microsoft.com/office/drawing/2014/main" id="{57C991F3-C01D-F24B-8F89-4A4817AA70B3}"/>
                </a:ext>
              </a:extLst>
            </p:cNvPr>
            <p:cNvSpPr>
              <a:spLocks noChangeShapeType="1"/>
            </p:cNvSpPr>
            <p:nvPr/>
          </p:nvSpPr>
          <p:spPr bwMode="auto">
            <a:xfrm>
              <a:off x="2194" y="4280"/>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3" name="Line 33">
              <a:extLst>
                <a:ext uri="{FF2B5EF4-FFF2-40B4-BE49-F238E27FC236}">
                  <a16:creationId xmlns:a16="http://schemas.microsoft.com/office/drawing/2014/main" id="{D31CA7E2-F89D-D248-8A3E-91F1298F5821}"/>
                </a:ext>
              </a:extLst>
            </p:cNvPr>
            <p:cNvSpPr>
              <a:spLocks noChangeShapeType="1"/>
            </p:cNvSpPr>
            <p:nvPr/>
          </p:nvSpPr>
          <p:spPr bwMode="auto">
            <a:xfrm>
              <a:off x="2194" y="4154"/>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4" name="Line 34">
              <a:extLst>
                <a:ext uri="{FF2B5EF4-FFF2-40B4-BE49-F238E27FC236}">
                  <a16:creationId xmlns:a16="http://schemas.microsoft.com/office/drawing/2014/main" id="{6EFD2966-0421-0F4F-83FB-84AE0FF6BE69}"/>
                </a:ext>
              </a:extLst>
            </p:cNvPr>
            <p:cNvSpPr>
              <a:spLocks noChangeShapeType="1"/>
            </p:cNvSpPr>
            <p:nvPr/>
          </p:nvSpPr>
          <p:spPr bwMode="auto">
            <a:xfrm>
              <a:off x="2194" y="4024"/>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5" name="Line 35">
              <a:extLst>
                <a:ext uri="{FF2B5EF4-FFF2-40B4-BE49-F238E27FC236}">
                  <a16:creationId xmlns:a16="http://schemas.microsoft.com/office/drawing/2014/main" id="{CA102033-7204-C34F-9B7F-BCCE4D535476}"/>
                </a:ext>
              </a:extLst>
            </p:cNvPr>
            <p:cNvSpPr>
              <a:spLocks noChangeShapeType="1"/>
            </p:cNvSpPr>
            <p:nvPr/>
          </p:nvSpPr>
          <p:spPr bwMode="auto">
            <a:xfrm>
              <a:off x="2194" y="3895"/>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6" name="Line 36">
              <a:extLst>
                <a:ext uri="{FF2B5EF4-FFF2-40B4-BE49-F238E27FC236}">
                  <a16:creationId xmlns:a16="http://schemas.microsoft.com/office/drawing/2014/main" id="{C61CFB06-1BA3-6545-BA32-577430B0D14B}"/>
                </a:ext>
              </a:extLst>
            </p:cNvPr>
            <p:cNvSpPr>
              <a:spLocks noChangeShapeType="1"/>
            </p:cNvSpPr>
            <p:nvPr/>
          </p:nvSpPr>
          <p:spPr bwMode="auto">
            <a:xfrm>
              <a:off x="2194" y="3764"/>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7" name="Line 37">
              <a:extLst>
                <a:ext uri="{FF2B5EF4-FFF2-40B4-BE49-F238E27FC236}">
                  <a16:creationId xmlns:a16="http://schemas.microsoft.com/office/drawing/2014/main" id="{2FF8A13C-1748-8341-B77F-37904F03EFA3}"/>
                </a:ext>
              </a:extLst>
            </p:cNvPr>
            <p:cNvSpPr>
              <a:spLocks noChangeShapeType="1"/>
            </p:cNvSpPr>
            <p:nvPr/>
          </p:nvSpPr>
          <p:spPr bwMode="auto">
            <a:xfrm>
              <a:off x="2194" y="3639"/>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8" name="Line 38">
              <a:extLst>
                <a:ext uri="{FF2B5EF4-FFF2-40B4-BE49-F238E27FC236}">
                  <a16:creationId xmlns:a16="http://schemas.microsoft.com/office/drawing/2014/main" id="{CE9227C1-B8CE-C84A-87B0-8077452EEACF}"/>
                </a:ext>
              </a:extLst>
            </p:cNvPr>
            <p:cNvSpPr>
              <a:spLocks noChangeShapeType="1"/>
            </p:cNvSpPr>
            <p:nvPr/>
          </p:nvSpPr>
          <p:spPr bwMode="auto">
            <a:xfrm>
              <a:off x="2194" y="3508"/>
              <a:ext cx="21" cy="1"/>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5159" name="Rectangle 39">
              <a:extLst>
                <a:ext uri="{FF2B5EF4-FFF2-40B4-BE49-F238E27FC236}">
                  <a16:creationId xmlns:a16="http://schemas.microsoft.com/office/drawing/2014/main" id="{648331E0-79DD-FB4C-A4DB-30319E1BF51C}"/>
                </a:ext>
              </a:extLst>
            </p:cNvPr>
            <p:cNvSpPr>
              <a:spLocks noChangeArrowheads="1"/>
            </p:cNvSpPr>
            <p:nvPr/>
          </p:nvSpPr>
          <p:spPr bwMode="auto">
            <a:xfrm>
              <a:off x="2143" y="4376"/>
              <a:ext cx="34"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0</a:t>
              </a:r>
            </a:p>
          </p:txBody>
        </p:sp>
        <p:sp>
          <p:nvSpPr>
            <p:cNvPr id="5160" name="Rectangle 40">
              <a:extLst>
                <a:ext uri="{FF2B5EF4-FFF2-40B4-BE49-F238E27FC236}">
                  <a16:creationId xmlns:a16="http://schemas.microsoft.com/office/drawing/2014/main" id="{F6A77247-D2E5-3E47-9AB9-CDBA9648EB88}"/>
                </a:ext>
              </a:extLst>
            </p:cNvPr>
            <p:cNvSpPr>
              <a:spLocks noChangeArrowheads="1"/>
            </p:cNvSpPr>
            <p:nvPr/>
          </p:nvSpPr>
          <p:spPr bwMode="auto">
            <a:xfrm>
              <a:off x="2002" y="4246"/>
              <a:ext cx="172"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20000</a:t>
              </a:r>
            </a:p>
          </p:txBody>
        </p:sp>
        <p:sp>
          <p:nvSpPr>
            <p:cNvPr id="5161" name="Rectangle 41">
              <a:extLst>
                <a:ext uri="{FF2B5EF4-FFF2-40B4-BE49-F238E27FC236}">
                  <a16:creationId xmlns:a16="http://schemas.microsoft.com/office/drawing/2014/main" id="{EF0693C8-659D-0643-A2E9-49B197F35A74}"/>
                </a:ext>
              </a:extLst>
            </p:cNvPr>
            <p:cNvSpPr>
              <a:spLocks noChangeArrowheads="1"/>
            </p:cNvSpPr>
            <p:nvPr/>
          </p:nvSpPr>
          <p:spPr bwMode="auto">
            <a:xfrm>
              <a:off x="2002" y="4122"/>
              <a:ext cx="172"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40000</a:t>
              </a:r>
            </a:p>
          </p:txBody>
        </p:sp>
        <p:sp>
          <p:nvSpPr>
            <p:cNvPr id="5162" name="Rectangle 42">
              <a:extLst>
                <a:ext uri="{FF2B5EF4-FFF2-40B4-BE49-F238E27FC236}">
                  <a16:creationId xmlns:a16="http://schemas.microsoft.com/office/drawing/2014/main" id="{566AF480-87B3-F140-A615-0FA3D968A4F9}"/>
                </a:ext>
              </a:extLst>
            </p:cNvPr>
            <p:cNvSpPr>
              <a:spLocks noChangeArrowheads="1"/>
            </p:cNvSpPr>
            <p:nvPr/>
          </p:nvSpPr>
          <p:spPr bwMode="auto">
            <a:xfrm>
              <a:off x="2002" y="3993"/>
              <a:ext cx="172"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60000</a:t>
              </a:r>
            </a:p>
          </p:txBody>
        </p:sp>
        <p:sp>
          <p:nvSpPr>
            <p:cNvPr id="5163" name="Rectangle 43">
              <a:extLst>
                <a:ext uri="{FF2B5EF4-FFF2-40B4-BE49-F238E27FC236}">
                  <a16:creationId xmlns:a16="http://schemas.microsoft.com/office/drawing/2014/main" id="{B4BF43D2-7CF1-E644-9127-D420415F405E}"/>
                </a:ext>
              </a:extLst>
            </p:cNvPr>
            <p:cNvSpPr>
              <a:spLocks noChangeArrowheads="1"/>
            </p:cNvSpPr>
            <p:nvPr/>
          </p:nvSpPr>
          <p:spPr bwMode="auto">
            <a:xfrm>
              <a:off x="2002" y="3860"/>
              <a:ext cx="172"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80000</a:t>
              </a:r>
            </a:p>
          </p:txBody>
        </p:sp>
        <p:sp>
          <p:nvSpPr>
            <p:cNvPr id="5164" name="Rectangle 44">
              <a:extLst>
                <a:ext uri="{FF2B5EF4-FFF2-40B4-BE49-F238E27FC236}">
                  <a16:creationId xmlns:a16="http://schemas.microsoft.com/office/drawing/2014/main" id="{8BA1E158-8F0A-C34D-80E0-2293296E00BE}"/>
                </a:ext>
              </a:extLst>
            </p:cNvPr>
            <p:cNvSpPr>
              <a:spLocks noChangeArrowheads="1"/>
            </p:cNvSpPr>
            <p:nvPr/>
          </p:nvSpPr>
          <p:spPr bwMode="auto">
            <a:xfrm>
              <a:off x="1960" y="3732"/>
              <a:ext cx="207"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100000</a:t>
              </a:r>
            </a:p>
          </p:txBody>
        </p:sp>
        <p:sp>
          <p:nvSpPr>
            <p:cNvPr id="5165" name="Rectangle 45">
              <a:extLst>
                <a:ext uri="{FF2B5EF4-FFF2-40B4-BE49-F238E27FC236}">
                  <a16:creationId xmlns:a16="http://schemas.microsoft.com/office/drawing/2014/main" id="{40EF1D3C-45F3-D44C-8C0D-E925FF6D2836}"/>
                </a:ext>
              </a:extLst>
            </p:cNvPr>
            <p:cNvSpPr>
              <a:spLocks noChangeArrowheads="1"/>
            </p:cNvSpPr>
            <p:nvPr/>
          </p:nvSpPr>
          <p:spPr bwMode="auto">
            <a:xfrm>
              <a:off x="1960" y="3606"/>
              <a:ext cx="207"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120000</a:t>
              </a:r>
            </a:p>
          </p:txBody>
        </p:sp>
        <p:sp>
          <p:nvSpPr>
            <p:cNvPr id="5166" name="Rectangle 46">
              <a:extLst>
                <a:ext uri="{FF2B5EF4-FFF2-40B4-BE49-F238E27FC236}">
                  <a16:creationId xmlns:a16="http://schemas.microsoft.com/office/drawing/2014/main" id="{27679782-4EFC-294D-804A-D23D797AF100}"/>
                </a:ext>
              </a:extLst>
            </p:cNvPr>
            <p:cNvSpPr>
              <a:spLocks noChangeArrowheads="1"/>
            </p:cNvSpPr>
            <p:nvPr/>
          </p:nvSpPr>
          <p:spPr bwMode="auto">
            <a:xfrm>
              <a:off x="1960" y="3474"/>
              <a:ext cx="207" cy="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635" b="1">
                  <a:cs typeface="Arial" panose="020B0604020202020204" pitchFamily="34" charset="0"/>
                </a:rPr>
                <a:t>140000</a:t>
              </a:r>
            </a:p>
          </p:txBody>
        </p:sp>
        <p:sp>
          <p:nvSpPr>
            <p:cNvPr id="5167" name="Rectangle 47">
              <a:extLst>
                <a:ext uri="{FF2B5EF4-FFF2-40B4-BE49-F238E27FC236}">
                  <a16:creationId xmlns:a16="http://schemas.microsoft.com/office/drawing/2014/main" id="{FE6A2C94-0AFE-DC40-99D9-7E467344CBEC}"/>
                </a:ext>
              </a:extLst>
            </p:cNvPr>
            <p:cNvSpPr>
              <a:spLocks noChangeArrowheads="1"/>
            </p:cNvSpPr>
            <p:nvPr/>
          </p:nvSpPr>
          <p:spPr bwMode="auto">
            <a:xfrm>
              <a:off x="2219" y="4451"/>
              <a:ext cx="49"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907" b="1">
                  <a:cs typeface="Arial" panose="020B0604020202020204" pitchFamily="34" charset="0"/>
                </a:rPr>
                <a:t>0</a:t>
              </a:r>
            </a:p>
          </p:txBody>
        </p:sp>
        <p:sp>
          <p:nvSpPr>
            <p:cNvPr id="5168" name="Rectangle 48">
              <a:extLst>
                <a:ext uri="{FF2B5EF4-FFF2-40B4-BE49-F238E27FC236}">
                  <a16:creationId xmlns:a16="http://schemas.microsoft.com/office/drawing/2014/main" id="{BF11FEB9-2C4F-764E-B4E0-1DAF88064764}"/>
                </a:ext>
              </a:extLst>
            </p:cNvPr>
            <p:cNvSpPr>
              <a:spLocks noChangeArrowheads="1"/>
            </p:cNvSpPr>
            <p:nvPr/>
          </p:nvSpPr>
          <p:spPr bwMode="auto">
            <a:xfrm>
              <a:off x="2786" y="4451"/>
              <a:ext cx="49"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907" b="1">
                  <a:cs typeface="Arial" panose="020B0604020202020204" pitchFamily="34" charset="0"/>
                </a:rPr>
                <a:t>5</a:t>
              </a:r>
            </a:p>
          </p:txBody>
        </p:sp>
        <p:sp>
          <p:nvSpPr>
            <p:cNvPr id="5169" name="Rectangle 49">
              <a:extLst>
                <a:ext uri="{FF2B5EF4-FFF2-40B4-BE49-F238E27FC236}">
                  <a16:creationId xmlns:a16="http://schemas.microsoft.com/office/drawing/2014/main" id="{C458D89C-8550-9444-BB4E-EBDCE1EB950B}"/>
                </a:ext>
              </a:extLst>
            </p:cNvPr>
            <p:cNvSpPr>
              <a:spLocks noChangeArrowheads="1"/>
            </p:cNvSpPr>
            <p:nvPr/>
          </p:nvSpPr>
          <p:spPr bwMode="auto">
            <a:xfrm>
              <a:off x="3342" y="4451"/>
              <a:ext cx="98"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907" b="1">
                  <a:cs typeface="Arial" panose="020B0604020202020204" pitchFamily="34" charset="0"/>
                </a:rPr>
                <a:t>10</a:t>
              </a:r>
            </a:p>
          </p:txBody>
        </p:sp>
        <p:sp>
          <p:nvSpPr>
            <p:cNvPr id="5170" name="Rectangle 50">
              <a:extLst>
                <a:ext uri="{FF2B5EF4-FFF2-40B4-BE49-F238E27FC236}">
                  <a16:creationId xmlns:a16="http://schemas.microsoft.com/office/drawing/2014/main" id="{C65729DA-1471-5443-ACE1-EC42D829A9E1}"/>
                </a:ext>
              </a:extLst>
            </p:cNvPr>
            <p:cNvSpPr>
              <a:spLocks noChangeArrowheads="1"/>
            </p:cNvSpPr>
            <p:nvPr/>
          </p:nvSpPr>
          <p:spPr bwMode="auto">
            <a:xfrm>
              <a:off x="3917" y="4451"/>
              <a:ext cx="98"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907" b="1">
                  <a:cs typeface="Arial" panose="020B0604020202020204" pitchFamily="34" charset="0"/>
                </a:rPr>
                <a:t>15</a:t>
              </a:r>
            </a:p>
          </p:txBody>
        </p:sp>
        <p:sp>
          <p:nvSpPr>
            <p:cNvPr id="5171" name="Rectangle 51">
              <a:extLst>
                <a:ext uri="{FF2B5EF4-FFF2-40B4-BE49-F238E27FC236}">
                  <a16:creationId xmlns:a16="http://schemas.microsoft.com/office/drawing/2014/main" id="{2F1AD484-8145-4046-B935-EA5D2B963741}"/>
                </a:ext>
              </a:extLst>
            </p:cNvPr>
            <p:cNvSpPr>
              <a:spLocks noChangeArrowheads="1"/>
            </p:cNvSpPr>
            <p:nvPr/>
          </p:nvSpPr>
          <p:spPr bwMode="auto">
            <a:xfrm>
              <a:off x="4499" y="4451"/>
              <a:ext cx="98"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907" b="1">
                  <a:cs typeface="Arial" panose="020B0604020202020204" pitchFamily="34" charset="0"/>
                </a:rPr>
                <a:t>20</a:t>
              </a:r>
            </a:p>
          </p:txBody>
        </p:sp>
        <p:sp>
          <p:nvSpPr>
            <p:cNvPr id="5172" name="Rectangle 52">
              <a:extLst>
                <a:ext uri="{FF2B5EF4-FFF2-40B4-BE49-F238E27FC236}">
                  <a16:creationId xmlns:a16="http://schemas.microsoft.com/office/drawing/2014/main" id="{F9DEEA39-441A-834C-81E5-526C28B2A97E}"/>
                </a:ext>
              </a:extLst>
            </p:cNvPr>
            <p:cNvSpPr>
              <a:spLocks noChangeArrowheads="1"/>
            </p:cNvSpPr>
            <p:nvPr/>
          </p:nvSpPr>
          <p:spPr bwMode="auto">
            <a:xfrm>
              <a:off x="3212" y="4558"/>
              <a:ext cx="859"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814" b="1">
                  <a:cs typeface="Arial" panose="020B0604020202020204" pitchFamily="34" charset="0"/>
                </a:rPr>
                <a:t>Time (hrs)</a:t>
              </a:r>
            </a:p>
          </p:txBody>
        </p:sp>
        <p:sp>
          <p:nvSpPr>
            <p:cNvPr id="5173" name="Rectangle 53">
              <a:extLst>
                <a:ext uri="{FF2B5EF4-FFF2-40B4-BE49-F238E27FC236}">
                  <a16:creationId xmlns:a16="http://schemas.microsoft.com/office/drawing/2014/main" id="{EBE954DF-3646-4341-A74C-3E3A99F36CB3}"/>
                </a:ext>
              </a:extLst>
            </p:cNvPr>
            <p:cNvSpPr>
              <a:spLocks noChangeArrowheads="1"/>
            </p:cNvSpPr>
            <p:nvPr/>
          </p:nvSpPr>
          <p:spPr bwMode="auto">
            <a:xfrm rot="16200000">
              <a:off x="1343" y="3923"/>
              <a:ext cx="876" cy="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726" b="1">
                  <a:cs typeface="Arial" panose="020B0604020202020204" pitchFamily="34" charset="0"/>
                </a:rPr>
                <a:t>Request Rate (req/min)</a:t>
              </a:r>
            </a:p>
          </p:txBody>
        </p:sp>
      </p:grpSp>
      <p:sp>
        <p:nvSpPr>
          <p:cNvPr id="5174" name="Text Box 54">
            <a:extLst>
              <a:ext uri="{FF2B5EF4-FFF2-40B4-BE49-F238E27FC236}">
                <a16:creationId xmlns:a16="http://schemas.microsoft.com/office/drawing/2014/main" id="{7C5D1BA0-3D69-C442-990D-CB74E47C6B8E}"/>
              </a:ext>
            </a:extLst>
          </p:cNvPr>
          <p:cNvSpPr txBox="1">
            <a:spLocks noChangeArrowheads="1"/>
          </p:cNvSpPr>
          <p:nvPr/>
        </p:nvSpPr>
        <p:spPr bwMode="auto">
          <a:xfrm rot="16200000">
            <a:off x="3632924" y="3792224"/>
            <a:ext cx="1953032" cy="370835"/>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772" tIns="45385" rIns="90772" bIns="45385">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814" b="1">
                <a:latin typeface="Helvetica" pitchFamily="2" charset="0"/>
                <a:cs typeface="Arial" panose="020B0604020202020204" pitchFamily="34" charset="0"/>
              </a:rPr>
              <a:t>Arrivals per min</a:t>
            </a:r>
          </a:p>
        </p:txBody>
      </p:sp>
      <p:sp>
        <p:nvSpPr>
          <p:cNvPr id="5187" name="Rectangle 67">
            <a:extLst>
              <a:ext uri="{FF2B5EF4-FFF2-40B4-BE49-F238E27FC236}">
                <a16:creationId xmlns:a16="http://schemas.microsoft.com/office/drawing/2014/main" id="{9812690D-C2DB-D546-BF52-3EFE16C94936}"/>
              </a:ext>
            </a:extLst>
          </p:cNvPr>
          <p:cNvSpPr>
            <a:spLocks noChangeArrowheads="1"/>
          </p:cNvSpPr>
          <p:nvPr/>
        </p:nvSpPr>
        <p:spPr bwMode="auto">
          <a:xfrm>
            <a:off x="1668961" y="5364361"/>
            <a:ext cx="5806080" cy="691200"/>
          </a:xfrm>
          <a:prstGeom prst="rect">
            <a:avLst/>
          </a:prstGeom>
          <a:solidFill>
            <a:srgbClr val="CCECFF"/>
          </a:solidFill>
          <a:ln w="12700"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90000"/>
              </a:lnSpc>
              <a:spcBef>
                <a:spcPct val="20000"/>
              </a:spcBef>
              <a:spcAft>
                <a:spcPct val="0"/>
              </a:spcAft>
              <a:buClr>
                <a:srgbClr val="3333CC"/>
              </a:buClr>
              <a:buSzPct val="60000"/>
            </a:pPr>
            <a:r>
              <a:rPr lang="en-GB" altLang="en-US" sz="1905">
                <a:solidFill>
                  <a:srgbClr val="3333CC"/>
                </a:solidFill>
                <a:latin typeface="Verdana" panose="020B0604030504040204" pitchFamily="34" charset="0"/>
              </a:rPr>
              <a:t>How can we provision resources to </a:t>
            </a:r>
          </a:p>
          <a:p>
            <a:pPr algn="ctr" defTabSz="829452" fontAlgn="base">
              <a:lnSpc>
                <a:spcPct val="90000"/>
              </a:lnSpc>
              <a:spcBef>
                <a:spcPct val="20000"/>
              </a:spcBef>
              <a:spcAft>
                <a:spcPct val="0"/>
              </a:spcAft>
              <a:buClr>
                <a:srgbClr val="3333CC"/>
              </a:buClr>
              <a:buSzPct val="60000"/>
            </a:pPr>
            <a:r>
              <a:rPr lang="en-GB" altLang="en-US" sz="1905">
                <a:solidFill>
                  <a:srgbClr val="3333CC"/>
                </a:solidFill>
                <a:latin typeface="Verdana" panose="020B0604030504040204" pitchFamily="34" charset="0"/>
              </a:rPr>
              <a:t>meet these changing demands?</a:t>
            </a:r>
            <a:endParaRPr lang="en-US" altLang="en-US" sz="1905">
              <a:solidFill>
                <a:srgbClr val="3333CC"/>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1455399139"/>
      </p:ext>
    </p:extLst>
  </p:cSld>
  <p:clrMapOvr>
    <a:masterClrMapping/>
  </p:clrMapOvr>
  <p:transition spd="med" advTm="63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87"/>
                                        </p:tgtEl>
                                        <p:attrNameLst>
                                          <p:attrName>style.visibility</p:attrName>
                                        </p:attrNameLst>
                                      </p:cBhvr>
                                      <p:to>
                                        <p:strVal val="visible"/>
                                      </p:to>
                                    </p:set>
                                    <p:anim calcmode="lin" valueType="num">
                                      <p:cBhvr additive="base">
                                        <p:cTn id="7" dur="500" fill="hold"/>
                                        <p:tgtEl>
                                          <p:spTgt spid="5187"/>
                                        </p:tgtEl>
                                        <p:attrNameLst>
                                          <p:attrName>ppt_x</p:attrName>
                                        </p:attrNameLst>
                                      </p:cBhvr>
                                      <p:tavLst>
                                        <p:tav tm="0">
                                          <p:val>
                                            <p:strVal val="#ppt_x"/>
                                          </p:val>
                                        </p:tav>
                                        <p:tav tm="100000">
                                          <p:val>
                                            <p:strVal val="#ppt_x"/>
                                          </p:val>
                                        </p:tav>
                                      </p:tavLst>
                                    </p:anim>
                                    <p:anim calcmode="lin" valueType="num">
                                      <p:cBhvr additive="base">
                                        <p:cTn id="8" dur="500" fill="hold"/>
                                        <p:tgtEl>
                                          <p:spTgt spid="5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7"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48905B51-2D45-5E4C-A2E4-F2619387848E}"/>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Provisioning Methods</a:t>
            </a:r>
          </a:p>
        </p:txBody>
      </p:sp>
      <p:sp>
        <p:nvSpPr>
          <p:cNvPr id="6146" name="Rectangle 2">
            <a:extLst>
              <a:ext uri="{FF2B5EF4-FFF2-40B4-BE49-F238E27FC236}">
                <a16:creationId xmlns:a16="http://schemas.microsoft.com/office/drawing/2014/main" id="{FECA86F8-FC9E-3C4C-ACDA-10558F7AE581}"/>
              </a:ext>
            </a:extLst>
          </p:cNvPr>
          <p:cNvSpPr>
            <a:spLocks noGrp="1" noChangeArrowheads="1"/>
          </p:cNvSpPr>
          <p:nvPr>
            <p:ph type="body" idx="1"/>
          </p:nvPr>
        </p:nvSpPr>
        <p:spPr>
          <a:xfrm>
            <a:off x="381601" y="1143721"/>
            <a:ext cx="831024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b="1"/>
              <a:t>Hotspots</a:t>
            </a:r>
            <a:r>
              <a:rPr lang="en-GB" altLang="en-US" sz="2540"/>
              <a:t> form if resource demand exceeds provisioned capacity</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a:solidFill>
                  <a:schemeClr val="folHlink"/>
                </a:solidFill>
              </a:rPr>
              <a:t>Static over-provisioning</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177"/>
              <a:t>Allocate for peak load</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Wastes resources</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Not suitable for dynamic workloads</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Difficult to predict peak resource requirements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a:solidFill>
                  <a:schemeClr val="folHlink"/>
                </a:solidFill>
              </a:rPr>
              <a:t>Dynamic provisioning</a:t>
            </a:r>
            <a:endParaRPr lang="en-GB" altLang="en-US" sz="2540"/>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Adjust based on workload</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Often done manually</a:t>
            </a:r>
            <a:endParaRPr lang="en-GB" altLang="en-US" sz="2177"/>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Becoming easier with virtualization</a:t>
            </a:r>
          </a:p>
        </p:txBody>
      </p:sp>
    </p:spTree>
    <p:custDataLst>
      <p:tags r:id="rId1"/>
    </p:custDataLst>
    <p:extLst>
      <p:ext uri="{BB962C8B-B14F-4D97-AF65-F5344CB8AC3E}">
        <p14:creationId xmlns:p14="http://schemas.microsoft.com/office/powerpoint/2010/main" val="2037877995"/>
      </p:ext>
    </p:extLst>
  </p:cSld>
  <p:clrMapOvr>
    <a:masterClrMapping/>
  </p:clrMapOvr>
  <p:transition spd="med" advTm="7211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6">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46">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6">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6">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6">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6">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6">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971829D-489E-8D4A-8E69-70D1073E9F63}"/>
              </a:ext>
            </a:extLst>
          </p:cNvPr>
          <p:cNvSpPr>
            <a:spLocks noGrp="1" noChangeArrowheads="1"/>
          </p:cNvSpPr>
          <p:nvPr>
            <p:ph type="title"/>
          </p:nvPr>
        </p:nvSpPr>
        <p:spPr/>
        <p:txBody>
          <a:bodyPr/>
          <a:lstStyle/>
          <a:p>
            <a:r>
              <a:rPr lang="en-US" altLang="en-US"/>
              <a:t>Problem Statement</a:t>
            </a:r>
          </a:p>
        </p:txBody>
      </p:sp>
      <p:sp>
        <p:nvSpPr>
          <p:cNvPr id="82949" name="Rectangle 5">
            <a:extLst>
              <a:ext uri="{FF2B5EF4-FFF2-40B4-BE49-F238E27FC236}">
                <a16:creationId xmlns:a16="http://schemas.microsoft.com/office/drawing/2014/main" id="{185F3AD4-A52E-F342-A90E-4C161FEEEACE}"/>
              </a:ext>
            </a:extLst>
          </p:cNvPr>
          <p:cNvSpPr>
            <a:spLocks noChangeArrowheads="1"/>
          </p:cNvSpPr>
          <p:nvPr/>
        </p:nvSpPr>
        <p:spPr bwMode="auto">
          <a:xfrm>
            <a:off x="1461601" y="1562761"/>
            <a:ext cx="6220800" cy="1244160"/>
          </a:xfrm>
          <a:prstGeom prst="rect">
            <a:avLst/>
          </a:prstGeom>
          <a:solidFill>
            <a:srgbClr val="CCECFF"/>
          </a:solidFill>
          <a:ln w="12700"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ct val="20000"/>
              </a:spcBef>
              <a:spcAft>
                <a:spcPct val="0"/>
              </a:spcAft>
              <a:buClr>
                <a:srgbClr val="3333CC"/>
              </a:buClr>
              <a:buSzPct val="60000"/>
            </a:pPr>
            <a:r>
              <a:rPr lang="en-US" altLang="en-US" sz="1905">
                <a:solidFill>
                  <a:srgbClr val="3333CC"/>
                </a:solidFill>
                <a:latin typeface="Verdana" panose="020B0604030504040204" pitchFamily="34" charset="0"/>
              </a:rPr>
              <a:t>How can we automatically detect and eliminate </a:t>
            </a:r>
          </a:p>
          <a:p>
            <a:pPr algn="ctr" defTabSz="829452" fontAlgn="base">
              <a:lnSpc>
                <a:spcPct val="100000"/>
              </a:lnSpc>
              <a:spcBef>
                <a:spcPct val="20000"/>
              </a:spcBef>
              <a:spcAft>
                <a:spcPct val="0"/>
              </a:spcAft>
              <a:buClr>
                <a:srgbClr val="3333CC"/>
              </a:buClr>
              <a:buSzPct val="60000"/>
            </a:pPr>
            <a:r>
              <a:rPr lang="en-US" altLang="en-US" sz="1905">
                <a:solidFill>
                  <a:srgbClr val="3333CC"/>
                </a:solidFill>
                <a:latin typeface="Verdana" panose="020B0604030504040204" pitchFamily="34" charset="0"/>
              </a:rPr>
              <a:t>hotspots in data center environments?</a:t>
            </a:r>
          </a:p>
        </p:txBody>
      </p:sp>
      <p:sp>
        <p:nvSpPr>
          <p:cNvPr id="82950" name="Rectangle 6">
            <a:extLst>
              <a:ext uri="{FF2B5EF4-FFF2-40B4-BE49-F238E27FC236}">
                <a16:creationId xmlns:a16="http://schemas.microsoft.com/office/drawing/2014/main" id="{86C4553D-11BF-EB4C-9530-18D7DD625901}"/>
              </a:ext>
            </a:extLst>
          </p:cNvPr>
          <p:cNvSpPr>
            <a:spLocks noChangeArrowheads="1"/>
          </p:cNvSpPr>
          <p:nvPr/>
        </p:nvSpPr>
        <p:spPr bwMode="auto">
          <a:xfrm>
            <a:off x="1461601" y="3567241"/>
            <a:ext cx="6220800" cy="1658880"/>
          </a:xfrm>
          <a:prstGeom prst="rect">
            <a:avLst/>
          </a:prstGeom>
          <a:solidFill>
            <a:srgbClr val="99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ct val="20000"/>
              </a:spcBef>
              <a:spcAft>
                <a:spcPct val="0"/>
              </a:spcAft>
              <a:buClr>
                <a:srgbClr val="3333CC"/>
              </a:buClr>
              <a:buSzPct val="60000"/>
            </a:pPr>
            <a:r>
              <a:rPr lang="en-US" altLang="en-US" sz="2631">
                <a:latin typeface="Verdana" panose="020B0604030504040204" pitchFamily="34" charset="0"/>
              </a:rPr>
              <a:t>Use VM migration and dynamic </a:t>
            </a:r>
          </a:p>
          <a:p>
            <a:pPr algn="ctr" defTabSz="829452" fontAlgn="base">
              <a:lnSpc>
                <a:spcPct val="100000"/>
              </a:lnSpc>
              <a:spcBef>
                <a:spcPct val="20000"/>
              </a:spcBef>
              <a:spcAft>
                <a:spcPct val="0"/>
              </a:spcAft>
              <a:buClr>
                <a:srgbClr val="3333CC"/>
              </a:buClr>
              <a:buSzPct val="60000"/>
            </a:pPr>
            <a:r>
              <a:rPr lang="en-US" altLang="en-US" sz="2631">
                <a:latin typeface="Verdana" panose="020B0604030504040204" pitchFamily="34" charset="0"/>
              </a:rPr>
              <a:t>resource allocation!</a:t>
            </a:r>
          </a:p>
          <a:p>
            <a:pPr algn="ctr" defTabSz="829452" fontAlgn="base">
              <a:lnSpc>
                <a:spcPct val="80000"/>
              </a:lnSpc>
              <a:spcBef>
                <a:spcPct val="20000"/>
              </a:spcBef>
              <a:spcAft>
                <a:spcPct val="0"/>
              </a:spcAft>
              <a:buClr>
                <a:srgbClr val="FFFFFF"/>
              </a:buClr>
              <a:buSzPct val="100000"/>
            </a:pPr>
            <a:endParaRPr lang="en-US" altLang="en-US" sz="2631">
              <a:latin typeface="Verdana" panose="020B0604030504040204" pitchFamily="34" charset="0"/>
            </a:endParaRPr>
          </a:p>
        </p:txBody>
      </p:sp>
    </p:spTree>
    <p:custDataLst>
      <p:tags r:id="rId1"/>
    </p:custDataLst>
    <p:extLst>
      <p:ext uri="{BB962C8B-B14F-4D97-AF65-F5344CB8AC3E}">
        <p14:creationId xmlns:p14="http://schemas.microsoft.com/office/powerpoint/2010/main" val="3939575644"/>
      </p:ext>
    </p:extLst>
  </p:cSld>
  <p:clrMapOvr>
    <a:masterClrMapping/>
  </p:clrMapOvr>
  <p:transition spd="med" advTm="15359"/>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950"/>
                                        </p:tgtEl>
                                        <p:attrNameLst>
                                          <p:attrName>style.visibility</p:attrName>
                                        </p:attrNameLst>
                                      </p:cBhvr>
                                      <p:to>
                                        <p:strVal val="visible"/>
                                      </p:to>
                                    </p:set>
                                    <p:anim calcmode="lin" valueType="num">
                                      <p:cBhvr additive="base">
                                        <p:cTn id="7" dur="500" fill="hold"/>
                                        <p:tgtEl>
                                          <p:spTgt spid="82950"/>
                                        </p:tgtEl>
                                        <p:attrNameLst>
                                          <p:attrName>ppt_x</p:attrName>
                                        </p:attrNameLst>
                                      </p:cBhvr>
                                      <p:tavLst>
                                        <p:tav tm="0">
                                          <p:val>
                                            <p:strVal val="#ppt_x"/>
                                          </p:val>
                                        </p:tav>
                                        <p:tav tm="100000">
                                          <p:val>
                                            <p:strVal val="#ppt_x"/>
                                          </p:val>
                                        </p:tav>
                                      </p:tavLst>
                                    </p:anim>
                                    <p:anim calcmode="lin" valueType="num">
                                      <p:cBhvr additive="base">
                                        <p:cTn id="8" dur="500" fill="hold"/>
                                        <p:tgtEl>
                                          <p:spTgt spid="829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0"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4B4819C7-8B38-5840-9712-0F632DA65200}"/>
              </a:ext>
            </a:extLst>
          </p:cNvPr>
          <p:cNvSpPr>
            <a:spLocks noGrp="1" noChangeArrowheads="1"/>
          </p:cNvSpPr>
          <p:nvPr>
            <p:ph type="title"/>
          </p:nvPr>
        </p:nvSpPr>
        <p:spPr>
          <a:xfrm>
            <a:off x="457920" y="153001"/>
            <a:ext cx="8231040" cy="99216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Outline</a:t>
            </a:r>
          </a:p>
        </p:txBody>
      </p:sp>
      <p:sp>
        <p:nvSpPr>
          <p:cNvPr id="8194" name="Rectangle 2">
            <a:extLst>
              <a:ext uri="{FF2B5EF4-FFF2-40B4-BE49-F238E27FC236}">
                <a16:creationId xmlns:a16="http://schemas.microsoft.com/office/drawing/2014/main" id="{AC129B9B-8BFB-6348-BB6B-143DF3837D37}"/>
              </a:ext>
            </a:extLst>
          </p:cNvPr>
          <p:cNvSpPr>
            <a:spLocks noGrp="1" noChangeArrowheads="1"/>
          </p:cNvSpPr>
          <p:nvPr>
            <p:ph type="body" idx="1"/>
          </p:nvPr>
        </p:nvSpPr>
        <p:spPr>
          <a:xfrm>
            <a:off x="380161" y="1148041"/>
            <a:ext cx="8229600" cy="466704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Introduction &amp; Motivation</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b="1"/>
              <a:t>System Overview</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When? How much? And Where to? </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Implementation and Evaluation</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Conclusions</a:t>
            </a:r>
          </a:p>
        </p:txBody>
      </p:sp>
    </p:spTree>
    <p:extLst>
      <p:ext uri="{BB962C8B-B14F-4D97-AF65-F5344CB8AC3E}">
        <p14:creationId xmlns:p14="http://schemas.microsoft.com/office/powerpoint/2010/main" val="2119554311"/>
      </p:ext>
    </p:extLst>
  </p:cSld>
  <p:clrMapOvr>
    <a:masterClrMapping/>
  </p:clrMapOvr>
  <p:transition spd="med" advTm="16625"/>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28DB974F-DCC0-134D-BD8E-AF1CFAD9D02E}"/>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Research Challenges</a:t>
            </a:r>
          </a:p>
        </p:txBody>
      </p:sp>
      <p:sp>
        <p:nvSpPr>
          <p:cNvPr id="10242" name="Rectangle 2">
            <a:extLst>
              <a:ext uri="{FF2B5EF4-FFF2-40B4-BE49-F238E27FC236}">
                <a16:creationId xmlns:a16="http://schemas.microsoft.com/office/drawing/2014/main" id="{5A3AA010-74BC-F743-B2DB-CCBCDEF1CDF8}"/>
              </a:ext>
            </a:extLst>
          </p:cNvPr>
          <p:cNvSpPr>
            <a:spLocks noGrp="1" noChangeArrowheads="1"/>
          </p:cNvSpPr>
          <p:nvPr>
            <p:ph type="body" idx="1"/>
          </p:nvPr>
        </p:nvSpPr>
        <p:spPr>
          <a:xfrm>
            <a:off x="381601" y="1143721"/>
            <a:ext cx="854496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rgbClr val="CC3300"/>
                </a:solidFill>
              </a:rPr>
              <a:t>Sandpiper:</a:t>
            </a:r>
            <a:r>
              <a:rPr lang="en-GB" altLang="en-US" sz="2540" dirty="0">
                <a:solidFill>
                  <a:schemeClr val="hlink"/>
                </a:solidFill>
              </a:rPr>
              <a:t> </a:t>
            </a:r>
            <a:r>
              <a:rPr lang="en-GB" altLang="en-US" sz="2540" dirty="0"/>
              <a:t>automatically detect and mitigate hotspots through virtual machine migration</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solidFill>
                <a:schemeClr val="hlink"/>
              </a:solidFill>
            </a:endParaRP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540" i="1" dirty="0">
                <a:solidFill>
                  <a:srgbClr val="CC3300"/>
                </a:solidFill>
              </a:rPr>
              <a:t>When</a:t>
            </a:r>
            <a:r>
              <a:rPr lang="en-GB" altLang="en-US" sz="2540" dirty="0"/>
              <a:t> to migrate?</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540" i="1" dirty="0">
                <a:solidFill>
                  <a:srgbClr val="CC3300"/>
                </a:solidFill>
              </a:rPr>
              <a:t>Where</a:t>
            </a:r>
            <a:r>
              <a:rPr lang="en-GB" altLang="en-US" sz="2540" dirty="0"/>
              <a:t> to move to?</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540" i="1" dirty="0">
                <a:solidFill>
                  <a:srgbClr val="CC3300"/>
                </a:solidFill>
              </a:rPr>
              <a:t>How much</a:t>
            </a:r>
            <a:r>
              <a:rPr lang="en-GB" altLang="en-US" sz="2540" dirty="0"/>
              <a:t> of each resource to allocate?</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chemeClr val="folHlink"/>
                </a:solidFill>
              </a:rPr>
              <a:t>How much information needed to make decisions?</a:t>
            </a:r>
          </a:p>
          <a:p>
            <a:pPr lvl="1">
              <a:tabLst>
                <a:tab pos="911534" algn="l"/>
                <a:tab pos="1825947" algn="l"/>
                <a:tab pos="2740361" algn="l"/>
                <a:tab pos="3653334" algn="l"/>
                <a:tab pos="4567747" algn="l"/>
                <a:tab pos="5482161" algn="l"/>
                <a:tab pos="6396574" algn="l"/>
                <a:tab pos="7310988" algn="l"/>
                <a:tab pos="8225401" algn="l"/>
                <a:tab pos="9139815" algn="l"/>
              </a:tabLst>
            </a:pPr>
            <a:r>
              <a:rPr lang="en-US" altLang="en-US" sz="2000" dirty="0"/>
              <a:t>Knowledge: “black-box” only high level resource utilization information;</a:t>
            </a:r>
            <a:br>
              <a:rPr lang="en-US" altLang="en-US" sz="2000" dirty="0"/>
            </a:br>
            <a:r>
              <a:rPr lang="en-US" altLang="en-US" sz="2000" dirty="0"/>
              <a:t>“gray-box” have access to application logs or OS level data</a:t>
            </a:r>
            <a:endParaRPr lang="en-GB" altLang="en-US" sz="1995" dirty="0">
              <a:solidFill>
                <a:schemeClr val="folHlink"/>
              </a:solidFill>
            </a:endParaRPr>
          </a:p>
        </p:txBody>
      </p:sp>
      <p:pic>
        <p:nvPicPr>
          <p:cNvPr id="10244" name="Picture 4">
            <a:extLst>
              <a:ext uri="{FF2B5EF4-FFF2-40B4-BE49-F238E27FC236}">
                <a16:creationId xmlns:a16="http://schemas.microsoft.com/office/drawing/2014/main" id="{8364204A-14E1-F747-BFBC-3706BF02E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3200" y="1951559"/>
            <a:ext cx="1900800" cy="1900800"/>
          </a:xfrm>
          <a:prstGeom prst="rect">
            <a:avLst/>
          </a:prstGeom>
          <a:noFill/>
          <a:ln>
            <a:noFill/>
          </a:ln>
          <a:effectLst>
            <a:outerShdw dist="35921" dir="8100000" algn="ctr" rotWithShape="0">
              <a:srgbClr val="808080"/>
            </a:outerShdw>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Lst>
        </p:spPr>
      </p:pic>
      <p:sp>
        <p:nvSpPr>
          <p:cNvPr id="10245" name="Text Box 5">
            <a:extLst>
              <a:ext uri="{FF2B5EF4-FFF2-40B4-BE49-F238E27FC236}">
                <a16:creationId xmlns:a16="http://schemas.microsoft.com/office/drawing/2014/main" id="{4D653BAD-6436-2246-966D-A3E84EABA9E2}"/>
              </a:ext>
            </a:extLst>
          </p:cNvPr>
          <p:cNvSpPr txBox="1">
            <a:spLocks noChangeArrowheads="1"/>
          </p:cNvSpPr>
          <p:nvPr/>
        </p:nvSpPr>
        <p:spPr bwMode="auto">
          <a:xfrm>
            <a:off x="6964574" y="3956041"/>
            <a:ext cx="1523494" cy="248658"/>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270">
                <a:latin typeface="Verdana" panose="020B0604030504040204" pitchFamily="34" charset="0"/>
              </a:rPr>
              <a:t>A migratory bird</a:t>
            </a:r>
          </a:p>
        </p:txBody>
      </p:sp>
    </p:spTree>
    <p:custDataLst>
      <p:tags r:id="rId1"/>
    </p:custDataLst>
    <p:extLst>
      <p:ext uri="{BB962C8B-B14F-4D97-AF65-F5344CB8AC3E}">
        <p14:creationId xmlns:p14="http://schemas.microsoft.com/office/powerpoint/2010/main" val="1110305066"/>
      </p:ext>
    </p:extLst>
  </p:cSld>
  <p:clrMapOvr>
    <a:masterClrMapping/>
  </p:clrMapOvr>
  <p:transition spd="med" advTm="58641"/>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2">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48FDC59B-1A2F-4C4F-8A2D-902A84C88261}"/>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Sandpiper Architecture</a:t>
            </a:r>
          </a:p>
        </p:txBody>
      </p:sp>
      <p:sp>
        <p:nvSpPr>
          <p:cNvPr id="12290" name="Rectangle 2">
            <a:extLst>
              <a:ext uri="{FF2B5EF4-FFF2-40B4-BE49-F238E27FC236}">
                <a16:creationId xmlns:a16="http://schemas.microsoft.com/office/drawing/2014/main" id="{F549D202-A243-024E-9E98-9D5754483251}"/>
              </a:ext>
            </a:extLst>
          </p:cNvPr>
          <p:cNvSpPr>
            <a:spLocks noGrp="1" noChangeArrowheads="1"/>
          </p:cNvSpPr>
          <p:nvPr>
            <p:ph type="body" idx="1"/>
          </p:nvPr>
        </p:nvSpPr>
        <p:spPr>
          <a:xfrm>
            <a:off x="380161" y="1143721"/>
            <a:ext cx="5090400" cy="50083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rgbClr val="CC3300"/>
                </a:solidFill>
                <a:effectLst>
                  <a:outerShdw blurRad="38100" dist="38100" dir="2700000" algn="tl">
                    <a:srgbClr val="C0C0C0"/>
                  </a:outerShdw>
                </a:effectLst>
              </a:rPr>
              <a:t>Nucleus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i="1" dirty="0"/>
              <a:t>Monitor</a:t>
            </a:r>
            <a:r>
              <a:rPr lang="en-GB" altLang="en-US" sz="1996" dirty="0"/>
              <a:t> resources of </a:t>
            </a:r>
            <a:r>
              <a:rPr lang="en-GB" altLang="en-US" sz="1996" dirty="0" err="1"/>
              <a:t>phy</a:t>
            </a:r>
            <a:r>
              <a:rPr lang="en-GB" altLang="en-US" sz="1996" dirty="0"/>
              <a:t>. m/c</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Report to control plane</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One per server</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1270" dirty="0"/>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t>Control Plane</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086" dirty="0"/>
              <a:t>Centralized server</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rgbClr val="008000"/>
                </a:solidFill>
                <a:effectLst>
                  <a:outerShdw blurRad="38100" dist="38100" dir="2700000" algn="tl">
                    <a:srgbClr val="C0C0C0"/>
                  </a:outerShdw>
                </a:effectLst>
              </a:rPr>
              <a:t>Hotspot Detector</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Detect </a:t>
            </a:r>
            <a:r>
              <a:rPr lang="en-GB" altLang="en-US" sz="1996" i="1" dirty="0"/>
              <a:t>when</a:t>
            </a:r>
            <a:r>
              <a:rPr lang="en-GB" altLang="en-US" sz="1996" dirty="0"/>
              <a:t> a hotspot occurs</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rgbClr val="3366FF"/>
                </a:solidFill>
                <a:effectLst>
                  <a:outerShdw blurRad="38100" dist="38100" dir="2700000" algn="tl">
                    <a:srgbClr val="C0C0C0"/>
                  </a:outerShdw>
                </a:effectLst>
              </a:rPr>
              <a:t>Profiling Engine</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Decide </a:t>
            </a:r>
            <a:r>
              <a:rPr lang="en-GB" altLang="en-US" sz="1996" i="1" dirty="0"/>
              <a:t>how much</a:t>
            </a:r>
            <a:r>
              <a:rPr lang="en-GB" altLang="en-US" sz="1996" dirty="0"/>
              <a:t> to allocate</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E.g., Apache modelling module</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rgbClr val="9933FF"/>
                </a:solidFill>
                <a:effectLst>
                  <a:outerShdw blurRad="38100" dist="38100" dir="2700000" algn="tl">
                    <a:srgbClr val="C0C0C0"/>
                  </a:outerShdw>
                </a:effectLst>
              </a:rPr>
              <a:t>Migration Manager</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Determine </a:t>
            </a:r>
            <a:r>
              <a:rPr lang="en-GB" altLang="en-US" sz="1996" i="1" dirty="0"/>
              <a:t>where</a:t>
            </a:r>
            <a:r>
              <a:rPr lang="en-GB" altLang="en-US" sz="1996" dirty="0"/>
              <a:t> to migrate</a:t>
            </a:r>
            <a:endParaRPr lang="en-GB" altLang="en-US" sz="2086" dirty="0"/>
          </a:p>
        </p:txBody>
      </p:sp>
      <p:sp>
        <p:nvSpPr>
          <p:cNvPr id="12294" name="Rectangle 6">
            <a:extLst>
              <a:ext uri="{FF2B5EF4-FFF2-40B4-BE49-F238E27FC236}">
                <a16:creationId xmlns:a16="http://schemas.microsoft.com/office/drawing/2014/main" id="{A8CEDD90-CB82-1346-B9C5-31126211F232}"/>
              </a:ext>
            </a:extLst>
          </p:cNvPr>
          <p:cNvSpPr>
            <a:spLocks noChangeArrowheads="1"/>
          </p:cNvSpPr>
          <p:nvPr/>
        </p:nvSpPr>
        <p:spPr bwMode="auto">
          <a:xfrm>
            <a:off x="5322240" y="1839241"/>
            <a:ext cx="1728000" cy="1800000"/>
          </a:xfrm>
          <a:prstGeom prst="rect">
            <a:avLst/>
          </a:prstGeom>
          <a:solidFill>
            <a:schemeClr val="bg1"/>
          </a:solidFill>
          <a:ln w="9525" algn="ctr">
            <a:miter lim="800000"/>
            <a:headEnd/>
            <a:tailEnd/>
          </a:ln>
          <a:effectLst/>
          <a:scene3d>
            <a:camera prst="legacyObliqueTopLeft"/>
            <a:lightRig rig="legacyFlat3" dir="t"/>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295" name="Rectangle 7">
            <a:extLst>
              <a:ext uri="{FF2B5EF4-FFF2-40B4-BE49-F238E27FC236}">
                <a16:creationId xmlns:a16="http://schemas.microsoft.com/office/drawing/2014/main" id="{56FC72C1-2E6E-4D4F-8BCE-204BFF1133E0}"/>
              </a:ext>
            </a:extLst>
          </p:cNvPr>
          <p:cNvSpPr>
            <a:spLocks noChangeArrowheads="1"/>
          </p:cNvSpPr>
          <p:nvPr/>
        </p:nvSpPr>
        <p:spPr bwMode="auto">
          <a:xfrm>
            <a:off x="5322240" y="3224521"/>
            <a:ext cx="1728000" cy="414720"/>
          </a:xfrm>
          <a:prstGeom prst="rect">
            <a:avLst/>
          </a:prstGeom>
          <a:solidFill>
            <a:srgbClr val="B2B2B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effectLst>
                <a:outerShdw blurRad="38100" dist="38100" dir="2700000" algn="tl">
                  <a:srgbClr val="FFFFFF"/>
                </a:outerShdw>
              </a:effectLst>
              <a:latin typeface="Verdana" panose="020B0604030504040204" pitchFamily="34" charset="0"/>
            </a:endParaRPr>
          </a:p>
        </p:txBody>
      </p:sp>
      <p:sp>
        <p:nvSpPr>
          <p:cNvPr id="12296" name="Rectangle 8">
            <a:extLst>
              <a:ext uri="{FF2B5EF4-FFF2-40B4-BE49-F238E27FC236}">
                <a16:creationId xmlns:a16="http://schemas.microsoft.com/office/drawing/2014/main" id="{5EFC7568-18E0-7443-8ABB-B036A2219FA4}"/>
              </a:ext>
            </a:extLst>
          </p:cNvPr>
          <p:cNvSpPr>
            <a:spLocks noChangeArrowheads="1"/>
          </p:cNvSpPr>
          <p:nvPr/>
        </p:nvSpPr>
        <p:spPr bwMode="auto">
          <a:xfrm>
            <a:off x="5322241" y="1842121"/>
            <a:ext cx="977760" cy="1382400"/>
          </a:xfrm>
          <a:prstGeom prst="rect">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723">
                <a:solidFill>
                  <a:srgbClr val="FFFFFF"/>
                </a:solidFill>
                <a:effectLst>
                  <a:outerShdw blurRad="38100" dist="38100" dir="2700000" algn="tl">
                    <a:srgbClr val="000000"/>
                  </a:outerShdw>
                </a:effectLst>
                <a:latin typeface="Verdana" panose="020B0604030504040204" pitchFamily="34" charset="0"/>
              </a:rPr>
              <a:t>Nucleus</a:t>
            </a:r>
          </a:p>
          <a:p>
            <a:pPr algn="ctr" defTabSz="829452" fontAlgn="base">
              <a:lnSpc>
                <a:spcPct val="80000"/>
              </a:lnSpc>
              <a:spcBef>
                <a:spcPct val="20000"/>
              </a:spcBef>
              <a:spcAft>
                <a:spcPct val="0"/>
              </a:spcAft>
              <a:buClr>
                <a:srgbClr val="FFFFFF"/>
              </a:buClr>
              <a:buSzPct val="100000"/>
            </a:pPr>
            <a:endParaRPr lang="en-US" altLang="en-US" sz="1179">
              <a:solidFill>
                <a:srgbClr val="FFFFFF"/>
              </a:solidFill>
              <a:effectLst>
                <a:outerShdw blurRad="38100" dist="38100" dir="2700000" algn="tl">
                  <a:srgbClr val="000000"/>
                </a:outerShdw>
              </a:effectLst>
              <a:latin typeface="Verdana" panose="020B0604030504040204" pitchFamily="34" charset="0"/>
            </a:endParaRPr>
          </a:p>
        </p:txBody>
      </p:sp>
      <p:sp>
        <p:nvSpPr>
          <p:cNvPr id="12297" name="Rectangle 9">
            <a:extLst>
              <a:ext uri="{FF2B5EF4-FFF2-40B4-BE49-F238E27FC236}">
                <a16:creationId xmlns:a16="http://schemas.microsoft.com/office/drawing/2014/main" id="{EDE64C06-0EFB-F843-9995-77D4D29B1D97}"/>
              </a:ext>
            </a:extLst>
          </p:cNvPr>
          <p:cNvSpPr>
            <a:spLocks noChangeArrowheads="1"/>
          </p:cNvSpPr>
          <p:nvPr/>
        </p:nvSpPr>
        <p:spPr bwMode="auto">
          <a:xfrm>
            <a:off x="6379201" y="1842121"/>
            <a:ext cx="266400" cy="13824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VM 1</a:t>
            </a:r>
          </a:p>
        </p:txBody>
      </p:sp>
      <p:sp>
        <p:nvSpPr>
          <p:cNvPr id="12298" name="Rectangle 10">
            <a:extLst>
              <a:ext uri="{FF2B5EF4-FFF2-40B4-BE49-F238E27FC236}">
                <a16:creationId xmlns:a16="http://schemas.microsoft.com/office/drawing/2014/main" id="{1DA501F5-FBA4-A944-9DB9-3423750557D8}"/>
              </a:ext>
            </a:extLst>
          </p:cNvPr>
          <p:cNvSpPr>
            <a:spLocks noChangeArrowheads="1"/>
          </p:cNvSpPr>
          <p:nvPr/>
        </p:nvSpPr>
        <p:spPr bwMode="auto">
          <a:xfrm>
            <a:off x="6714721" y="1842121"/>
            <a:ext cx="266400" cy="13824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VM 2</a:t>
            </a:r>
          </a:p>
        </p:txBody>
      </p:sp>
      <p:sp>
        <p:nvSpPr>
          <p:cNvPr id="12299" name="Rectangle 11">
            <a:extLst>
              <a:ext uri="{FF2B5EF4-FFF2-40B4-BE49-F238E27FC236}">
                <a16:creationId xmlns:a16="http://schemas.microsoft.com/office/drawing/2014/main" id="{C2293385-8A45-BF4D-ACD3-CCBBF33840F3}"/>
              </a:ext>
            </a:extLst>
          </p:cNvPr>
          <p:cNvSpPr>
            <a:spLocks noChangeArrowheads="1"/>
          </p:cNvSpPr>
          <p:nvPr/>
        </p:nvSpPr>
        <p:spPr bwMode="auto">
          <a:xfrm>
            <a:off x="7682401" y="1839241"/>
            <a:ext cx="1244160" cy="1800000"/>
          </a:xfrm>
          <a:prstGeom prst="rect">
            <a:avLst/>
          </a:prstGeom>
          <a:solidFill>
            <a:schemeClr val="bg1"/>
          </a:solidFill>
          <a:ln w="9525" algn="ctr">
            <a:miter lim="800000"/>
            <a:headEnd/>
            <a:tailEnd/>
          </a:ln>
          <a:effectLst/>
          <a:scene3d>
            <a:camera prst="legacyObliqueTopLeft"/>
            <a:lightRig rig="legacyFlat3" dir="t"/>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00" name="Rectangle 12">
            <a:extLst>
              <a:ext uri="{FF2B5EF4-FFF2-40B4-BE49-F238E27FC236}">
                <a16:creationId xmlns:a16="http://schemas.microsoft.com/office/drawing/2014/main" id="{3CAE2F90-3C18-8B49-A1BA-9FF382758D3A}"/>
              </a:ext>
            </a:extLst>
          </p:cNvPr>
          <p:cNvSpPr>
            <a:spLocks noChangeArrowheads="1"/>
          </p:cNvSpPr>
          <p:nvPr/>
        </p:nvSpPr>
        <p:spPr bwMode="auto">
          <a:xfrm>
            <a:off x="7682401" y="3224521"/>
            <a:ext cx="1244160" cy="414720"/>
          </a:xfrm>
          <a:prstGeom prst="rect">
            <a:avLst/>
          </a:prstGeom>
          <a:solidFill>
            <a:srgbClr val="B2B2B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effectLst>
                <a:outerShdw blurRad="38100" dist="38100" dir="2700000" algn="tl">
                  <a:srgbClr val="FFFFFF"/>
                </a:outerShdw>
              </a:effectLst>
              <a:latin typeface="Verdana" panose="020B0604030504040204" pitchFamily="34" charset="0"/>
            </a:endParaRPr>
          </a:p>
        </p:txBody>
      </p:sp>
      <p:sp>
        <p:nvSpPr>
          <p:cNvPr id="12301" name="Rectangle 13">
            <a:extLst>
              <a:ext uri="{FF2B5EF4-FFF2-40B4-BE49-F238E27FC236}">
                <a16:creationId xmlns:a16="http://schemas.microsoft.com/office/drawing/2014/main" id="{C962455D-14BC-D342-A6D7-A0071514DE13}"/>
              </a:ext>
            </a:extLst>
          </p:cNvPr>
          <p:cNvSpPr>
            <a:spLocks noChangeArrowheads="1"/>
          </p:cNvSpPr>
          <p:nvPr/>
        </p:nvSpPr>
        <p:spPr bwMode="auto">
          <a:xfrm>
            <a:off x="7751521" y="1839241"/>
            <a:ext cx="276480" cy="1382400"/>
          </a:xfrm>
          <a:prstGeom prst="rect">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solidFill>
                <a:srgbClr val="FFFFFF"/>
              </a:solidFill>
              <a:effectLst>
                <a:outerShdw blurRad="38100" dist="38100" dir="2700000" algn="tl">
                  <a:srgbClr val="000000"/>
                </a:outerShdw>
              </a:effectLst>
              <a:latin typeface="Verdana" panose="020B0604030504040204" pitchFamily="34" charset="0"/>
            </a:endParaRPr>
          </a:p>
        </p:txBody>
      </p:sp>
      <p:sp>
        <p:nvSpPr>
          <p:cNvPr id="12302" name="Rectangle 14">
            <a:extLst>
              <a:ext uri="{FF2B5EF4-FFF2-40B4-BE49-F238E27FC236}">
                <a16:creationId xmlns:a16="http://schemas.microsoft.com/office/drawing/2014/main" id="{D7C9DC4C-6E5A-1B42-8928-3C9E532C7F84}"/>
              </a:ext>
            </a:extLst>
          </p:cNvPr>
          <p:cNvSpPr>
            <a:spLocks noChangeArrowheads="1"/>
          </p:cNvSpPr>
          <p:nvPr/>
        </p:nvSpPr>
        <p:spPr bwMode="auto">
          <a:xfrm>
            <a:off x="8097121" y="1842121"/>
            <a:ext cx="207360" cy="13824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solidFill>
                <a:srgbClr val="FFFFFF"/>
              </a:solidFill>
              <a:effectLst>
                <a:outerShdw blurRad="38100" dist="38100" dir="2700000" algn="tl">
                  <a:srgbClr val="000000"/>
                </a:outerShdw>
              </a:effectLst>
              <a:latin typeface="Verdana" panose="020B0604030504040204" pitchFamily="34" charset="0"/>
            </a:endParaRPr>
          </a:p>
        </p:txBody>
      </p:sp>
      <p:sp>
        <p:nvSpPr>
          <p:cNvPr id="12303" name="Rectangle 15">
            <a:extLst>
              <a:ext uri="{FF2B5EF4-FFF2-40B4-BE49-F238E27FC236}">
                <a16:creationId xmlns:a16="http://schemas.microsoft.com/office/drawing/2014/main" id="{67AAB34F-9CB5-DB4F-AE02-72DFD5607A45}"/>
              </a:ext>
            </a:extLst>
          </p:cNvPr>
          <p:cNvSpPr>
            <a:spLocks noChangeArrowheads="1"/>
          </p:cNvSpPr>
          <p:nvPr/>
        </p:nvSpPr>
        <p:spPr bwMode="auto">
          <a:xfrm>
            <a:off x="8373601" y="1839241"/>
            <a:ext cx="207360" cy="13824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solidFill>
                <a:srgbClr val="FFFFFF"/>
              </a:solidFill>
              <a:effectLst>
                <a:outerShdw blurRad="38100" dist="38100" dir="2700000" algn="tl">
                  <a:srgbClr val="000000"/>
                </a:outerShdw>
              </a:effectLst>
              <a:latin typeface="Verdana" panose="020B0604030504040204" pitchFamily="34" charset="0"/>
            </a:endParaRPr>
          </a:p>
        </p:txBody>
      </p:sp>
      <p:sp>
        <p:nvSpPr>
          <p:cNvPr id="12304" name="Rectangle 16">
            <a:extLst>
              <a:ext uri="{FF2B5EF4-FFF2-40B4-BE49-F238E27FC236}">
                <a16:creationId xmlns:a16="http://schemas.microsoft.com/office/drawing/2014/main" id="{87E93BEA-5C44-3747-833D-7F351E405C9D}"/>
              </a:ext>
            </a:extLst>
          </p:cNvPr>
          <p:cNvSpPr>
            <a:spLocks noChangeArrowheads="1"/>
          </p:cNvSpPr>
          <p:nvPr/>
        </p:nvSpPr>
        <p:spPr bwMode="auto">
          <a:xfrm>
            <a:off x="5401441" y="4120201"/>
            <a:ext cx="3525120" cy="967680"/>
          </a:xfrm>
          <a:prstGeom prst="rect">
            <a:avLst/>
          </a:prstGeom>
          <a:solidFill>
            <a:srgbClr val="FFFFFF"/>
          </a:solidFill>
          <a:ln w="9525" algn="ctr">
            <a:miter lim="800000"/>
            <a:headEnd/>
            <a:tailEnd/>
          </a:ln>
          <a:effectLst/>
          <a:scene3d>
            <a:camera prst="legacyObliqueTopLeft"/>
            <a:lightRig rig="legacyFlat3" dir="t"/>
          </a:scene3d>
          <a:sp3d extrusionH="4302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05" name="Rectangle 17">
            <a:extLst>
              <a:ext uri="{FF2B5EF4-FFF2-40B4-BE49-F238E27FC236}">
                <a16:creationId xmlns:a16="http://schemas.microsoft.com/office/drawing/2014/main" id="{50DC57E6-1E9A-5D4E-8F24-4BD90474C411}"/>
              </a:ext>
            </a:extLst>
          </p:cNvPr>
          <p:cNvSpPr>
            <a:spLocks noChangeArrowheads="1"/>
          </p:cNvSpPr>
          <p:nvPr/>
        </p:nvSpPr>
        <p:spPr bwMode="auto">
          <a:xfrm>
            <a:off x="5401441" y="4120201"/>
            <a:ext cx="967680" cy="691200"/>
          </a:xfrm>
          <a:prstGeom prst="rect">
            <a:avLst/>
          </a:prstGeom>
          <a:solidFill>
            <a:srgbClr val="008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Hotspot</a:t>
            </a:r>
          </a:p>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Detector</a:t>
            </a:r>
            <a:endParaRPr lang="en-US" altLang="en-US" sz="1179">
              <a:solidFill>
                <a:srgbClr val="FFFFFF"/>
              </a:solidFill>
              <a:effectLst>
                <a:outerShdw blurRad="38100" dist="38100" dir="2700000" algn="tl">
                  <a:srgbClr val="000000"/>
                </a:outerShdw>
              </a:effectLst>
              <a:latin typeface="Verdana" panose="020B0604030504040204" pitchFamily="34" charset="0"/>
            </a:endParaRPr>
          </a:p>
        </p:txBody>
      </p:sp>
      <p:sp>
        <p:nvSpPr>
          <p:cNvPr id="12306" name="Rectangle 18">
            <a:extLst>
              <a:ext uri="{FF2B5EF4-FFF2-40B4-BE49-F238E27FC236}">
                <a16:creationId xmlns:a16="http://schemas.microsoft.com/office/drawing/2014/main" id="{D6C45338-51D8-7144-B6E4-9C7745780DDD}"/>
              </a:ext>
            </a:extLst>
          </p:cNvPr>
          <p:cNvSpPr>
            <a:spLocks noChangeArrowheads="1"/>
          </p:cNvSpPr>
          <p:nvPr/>
        </p:nvSpPr>
        <p:spPr bwMode="auto">
          <a:xfrm>
            <a:off x="5401441" y="4811401"/>
            <a:ext cx="3525120" cy="276480"/>
          </a:xfrm>
          <a:prstGeom prst="rect">
            <a:avLst/>
          </a:prstGeom>
          <a:solidFill>
            <a:srgbClr val="B2B2B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effectLst>
                  <a:outerShdw blurRad="38100" dist="38100" dir="2700000" algn="tl">
                    <a:srgbClr val="FFFFFF"/>
                  </a:outerShdw>
                </a:effectLst>
                <a:latin typeface="Verdana" panose="020B0604030504040204" pitchFamily="34" charset="0"/>
              </a:rPr>
              <a:t>Control Plane</a:t>
            </a:r>
          </a:p>
        </p:txBody>
      </p:sp>
      <p:sp>
        <p:nvSpPr>
          <p:cNvPr id="12307" name="Rectangle 19">
            <a:extLst>
              <a:ext uri="{FF2B5EF4-FFF2-40B4-BE49-F238E27FC236}">
                <a16:creationId xmlns:a16="http://schemas.microsoft.com/office/drawing/2014/main" id="{A3B2BC21-E831-D747-BA51-A98345C6793F}"/>
              </a:ext>
            </a:extLst>
          </p:cNvPr>
          <p:cNvSpPr>
            <a:spLocks noChangeArrowheads="1"/>
          </p:cNvSpPr>
          <p:nvPr/>
        </p:nvSpPr>
        <p:spPr bwMode="auto">
          <a:xfrm>
            <a:off x="7889761" y="4120201"/>
            <a:ext cx="967680" cy="691200"/>
          </a:xfrm>
          <a:prstGeom prst="rect">
            <a:avLst/>
          </a:prstGeom>
          <a:solidFill>
            <a:srgbClr val="9933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Migration</a:t>
            </a:r>
          </a:p>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Manager</a:t>
            </a:r>
            <a:endParaRPr lang="en-US" altLang="en-US" sz="1179">
              <a:solidFill>
                <a:srgbClr val="FFFFFF"/>
              </a:solidFill>
              <a:effectLst>
                <a:outerShdw blurRad="38100" dist="38100" dir="2700000" algn="tl">
                  <a:srgbClr val="000000"/>
                </a:outerShdw>
              </a:effectLst>
              <a:latin typeface="Verdana" panose="020B0604030504040204" pitchFamily="34" charset="0"/>
            </a:endParaRPr>
          </a:p>
        </p:txBody>
      </p:sp>
      <p:sp>
        <p:nvSpPr>
          <p:cNvPr id="12308" name="Rectangle 20">
            <a:extLst>
              <a:ext uri="{FF2B5EF4-FFF2-40B4-BE49-F238E27FC236}">
                <a16:creationId xmlns:a16="http://schemas.microsoft.com/office/drawing/2014/main" id="{92F87648-80F6-3842-92EB-1390DF18025D}"/>
              </a:ext>
            </a:extLst>
          </p:cNvPr>
          <p:cNvSpPr>
            <a:spLocks noChangeArrowheads="1"/>
          </p:cNvSpPr>
          <p:nvPr/>
        </p:nvSpPr>
        <p:spPr bwMode="auto">
          <a:xfrm>
            <a:off x="6645601" y="4120201"/>
            <a:ext cx="967680" cy="691200"/>
          </a:xfrm>
          <a:prstGeom prst="rect">
            <a:avLst/>
          </a:prstGeom>
          <a:solidFill>
            <a:srgbClr val="3366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Profiling</a:t>
            </a:r>
          </a:p>
          <a:p>
            <a:pPr algn="ctr" defTabSz="829452" fontAlgn="base">
              <a:lnSpc>
                <a:spcPct val="80000"/>
              </a:lnSpc>
              <a:spcBef>
                <a:spcPct val="20000"/>
              </a:spcBef>
              <a:spcAft>
                <a:spcPct val="0"/>
              </a:spcAft>
              <a:buClr>
                <a:srgbClr val="FFFFFF"/>
              </a:buClr>
              <a:buSzPct val="100000"/>
            </a:pPr>
            <a:r>
              <a:rPr lang="en-US" altLang="en-US" sz="1542">
                <a:solidFill>
                  <a:srgbClr val="FFFFFF"/>
                </a:solidFill>
                <a:effectLst>
                  <a:outerShdw blurRad="38100" dist="38100" dir="2700000" algn="tl">
                    <a:srgbClr val="000000"/>
                  </a:outerShdw>
                </a:effectLst>
                <a:latin typeface="Verdana" panose="020B0604030504040204" pitchFamily="34" charset="0"/>
              </a:rPr>
              <a:t>Engine</a:t>
            </a:r>
            <a:endParaRPr lang="en-US" altLang="en-US" sz="1179">
              <a:solidFill>
                <a:srgbClr val="FFFFFF"/>
              </a:solidFill>
              <a:effectLst>
                <a:outerShdw blurRad="38100" dist="38100" dir="2700000" algn="tl">
                  <a:srgbClr val="000000"/>
                </a:outerShdw>
              </a:effectLst>
              <a:latin typeface="Verdana" panose="020B0604030504040204" pitchFamily="34" charset="0"/>
            </a:endParaRPr>
          </a:p>
        </p:txBody>
      </p:sp>
      <p:sp>
        <p:nvSpPr>
          <p:cNvPr id="12309" name="Text Box 21">
            <a:extLst>
              <a:ext uri="{FF2B5EF4-FFF2-40B4-BE49-F238E27FC236}">
                <a16:creationId xmlns:a16="http://schemas.microsoft.com/office/drawing/2014/main" id="{FD9118EB-70D4-C04F-8BB7-0C04A541AA85}"/>
              </a:ext>
            </a:extLst>
          </p:cNvPr>
          <p:cNvSpPr txBox="1">
            <a:spLocks noChangeArrowheads="1"/>
          </p:cNvSpPr>
          <p:nvPr/>
        </p:nvSpPr>
        <p:spPr bwMode="auto">
          <a:xfrm>
            <a:off x="7050965" y="2392201"/>
            <a:ext cx="421911" cy="371512"/>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2268">
                <a:latin typeface="Verdana" panose="020B0604030504040204" pitchFamily="34" charset="0"/>
              </a:rPr>
              <a:t>…</a:t>
            </a:r>
          </a:p>
        </p:txBody>
      </p:sp>
      <p:sp>
        <p:nvSpPr>
          <p:cNvPr id="12310" name="Line 22">
            <a:extLst>
              <a:ext uri="{FF2B5EF4-FFF2-40B4-BE49-F238E27FC236}">
                <a16:creationId xmlns:a16="http://schemas.microsoft.com/office/drawing/2014/main" id="{392A74A9-D1EC-904C-A459-DB13AF50AC46}"/>
              </a:ext>
            </a:extLst>
          </p:cNvPr>
          <p:cNvSpPr>
            <a:spLocks noChangeShapeType="1"/>
          </p:cNvSpPr>
          <p:nvPr/>
        </p:nvSpPr>
        <p:spPr bwMode="auto">
          <a:xfrm flipV="1">
            <a:off x="5470561" y="3083401"/>
            <a:ext cx="0" cy="1105920"/>
          </a:xfrm>
          <a:prstGeom prst="line">
            <a:avLst/>
          </a:prstGeom>
          <a:noFill/>
          <a:ln w="57150">
            <a:solidFill>
              <a:schemeClr val="accent2"/>
            </a:solidFill>
            <a:round/>
            <a:headEnd type="triangle" w="med" len="med"/>
            <a:tailEnd/>
          </a:ln>
          <a:effectLst>
            <a:outerShdw dist="45791" dir="3378596"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11" name="Line 23">
            <a:extLst>
              <a:ext uri="{FF2B5EF4-FFF2-40B4-BE49-F238E27FC236}">
                <a16:creationId xmlns:a16="http://schemas.microsoft.com/office/drawing/2014/main" id="{B6645869-DB1A-8F40-859F-AA6B5917BE30}"/>
              </a:ext>
            </a:extLst>
          </p:cNvPr>
          <p:cNvSpPr>
            <a:spLocks noChangeShapeType="1"/>
          </p:cNvSpPr>
          <p:nvPr/>
        </p:nvSpPr>
        <p:spPr bwMode="auto">
          <a:xfrm>
            <a:off x="6300001" y="4673161"/>
            <a:ext cx="414720" cy="0"/>
          </a:xfrm>
          <a:prstGeom prst="line">
            <a:avLst/>
          </a:prstGeom>
          <a:noFill/>
          <a:ln w="57150">
            <a:solidFill>
              <a:schemeClr val="accent2"/>
            </a:solidFill>
            <a:round/>
            <a:headEnd/>
            <a:tailEnd type="triangle" w="med" len="med"/>
          </a:ln>
          <a:effectLst>
            <a:outerShdw dist="28398" dir="3806097"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12" name="Line 24">
            <a:extLst>
              <a:ext uri="{FF2B5EF4-FFF2-40B4-BE49-F238E27FC236}">
                <a16:creationId xmlns:a16="http://schemas.microsoft.com/office/drawing/2014/main" id="{0C4519F8-CC73-E548-BBAE-AB9F98AA8FC1}"/>
              </a:ext>
            </a:extLst>
          </p:cNvPr>
          <p:cNvSpPr>
            <a:spLocks noChangeShapeType="1"/>
          </p:cNvSpPr>
          <p:nvPr/>
        </p:nvSpPr>
        <p:spPr bwMode="auto">
          <a:xfrm>
            <a:off x="7544161" y="4673161"/>
            <a:ext cx="414720" cy="0"/>
          </a:xfrm>
          <a:prstGeom prst="line">
            <a:avLst/>
          </a:prstGeom>
          <a:noFill/>
          <a:ln w="57150">
            <a:solidFill>
              <a:schemeClr val="accent2"/>
            </a:solidFill>
            <a:round/>
            <a:headEnd/>
            <a:tailEnd type="triangle" w="med" len="med"/>
          </a:ln>
          <a:effectLst>
            <a:outerShdw dist="28398" dir="3806097"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13" name="Text Box 25">
            <a:extLst>
              <a:ext uri="{FF2B5EF4-FFF2-40B4-BE49-F238E27FC236}">
                <a16:creationId xmlns:a16="http://schemas.microsoft.com/office/drawing/2014/main" id="{161B36FE-E3E4-5341-AC1E-7B3500D7CB6B}"/>
              </a:ext>
            </a:extLst>
          </p:cNvPr>
          <p:cNvSpPr txBox="1">
            <a:spLocks noChangeArrowheads="1"/>
          </p:cNvSpPr>
          <p:nvPr/>
        </p:nvSpPr>
        <p:spPr bwMode="auto">
          <a:xfrm>
            <a:off x="5785921" y="5502601"/>
            <a:ext cx="2976328" cy="620042"/>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 Physical Machine</a:t>
            </a:r>
          </a:p>
          <a:p>
            <a:pP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VM = Virtual Machine</a:t>
            </a:r>
          </a:p>
        </p:txBody>
      </p:sp>
      <p:sp>
        <p:nvSpPr>
          <p:cNvPr id="12315" name="Rectangle 27">
            <a:extLst>
              <a:ext uri="{FF2B5EF4-FFF2-40B4-BE49-F238E27FC236}">
                <a16:creationId xmlns:a16="http://schemas.microsoft.com/office/drawing/2014/main" id="{2D5C128D-99E2-AC49-A0BB-DF594F281254}"/>
              </a:ext>
            </a:extLst>
          </p:cNvPr>
          <p:cNvSpPr>
            <a:spLocks noChangeArrowheads="1"/>
          </p:cNvSpPr>
          <p:nvPr/>
        </p:nvSpPr>
        <p:spPr bwMode="auto">
          <a:xfrm>
            <a:off x="8640000" y="1842121"/>
            <a:ext cx="207360" cy="13824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905">
              <a:solidFill>
                <a:srgbClr val="FFFFFF"/>
              </a:solidFill>
              <a:effectLst>
                <a:outerShdw blurRad="38100" dist="38100" dir="2700000" algn="tl">
                  <a:srgbClr val="000000"/>
                </a:outerShdw>
              </a:effectLst>
              <a:latin typeface="Verdana" panose="020B0604030504040204" pitchFamily="34" charset="0"/>
            </a:endParaRPr>
          </a:p>
        </p:txBody>
      </p:sp>
      <p:sp>
        <p:nvSpPr>
          <p:cNvPr id="12314" name="Line 26">
            <a:extLst>
              <a:ext uri="{FF2B5EF4-FFF2-40B4-BE49-F238E27FC236}">
                <a16:creationId xmlns:a16="http://schemas.microsoft.com/office/drawing/2014/main" id="{E097A0E9-D02F-964C-9D06-815AB995FCA6}"/>
              </a:ext>
            </a:extLst>
          </p:cNvPr>
          <p:cNvSpPr>
            <a:spLocks noChangeShapeType="1"/>
          </p:cNvSpPr>
          <p:nvPr/>
        </p:nvSpPr>
        <p:spPr bwMode="auto">
          <a:xfrm>
            <a:off x="8719201" y="3014281"/>
            <a:ext cx="0" cy="1105920"/>
          </a:xfrm>
          <a:prstGeom prst="line">
            <a:avLst/>
          </a:prstGeom>
          <a:noFill/>
          <a:ln w="57150">
            <a:solidFill>
              <a:schemeClr val="accent2"/>
            </a:solidFill>
            <a:round/>
            <a:headEnd type="triangle" w="med" len="med"/>
            <a:tailEnd/>
          </a:ln>
          <a:effectLst>
            <a:outerShdw dist="45791" dir="3378596"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2316" name="Text Box 28">
            <a:extLst>
              <a:ext uri="{FF2B5EF4-FFF2-40B4-BE49-F238E27FC236}">
                <a16:creationId xmlns:a16="http://schemas.microsoft.com/office/drawing/2014/main" id="{4CDC423C-C335-114F-A672-83DBCA609EBF}"/>
              </a:ext>
            </a:extLst>
          </p:cNvPr>
          <p:cNvSpPr txBox="1">
            <a:spLocks noChangeArrowheads="1"/>
          </p:cNvSpPr>
          <p:nvPr/>
        </p:nvSpPr>
        <p:spPr bwMode="auto">
          <a:xfrm>
            <a:off x="5808790" y="3290761"/>
            <a:ext cx="779381"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1</a:t>
            </a:r>
          </a:p>
        </p:txBody>
      </p:sp>
      <p:sp>
        <p:nvSpPr>
          <p:cNvPr id="12317" name="Text Box 29">
            <a:extLst>
              <a:ext uri="{FF2B5EF4-FFF2-40B4-BE49-F238E27FC236}">
                <a16:creationId xmlns:a16="http://schemas.microsoft.com/office/drawing/2014/main" id="{4FCC9566-BD9A-8944-B4F6-FD36532C8135}"/>
              </a:ext>
            </a:extLst>
          </p:cNvPr>
          <p:cNvSpPr txBox="1">
            <a:spLocks noChangeArrowheads="1"/>
          </p:cNvSpPr>
          <p:nvPr/>
        </p:nvSpPr>
        <p:spPr bwMode="auto">
          <a:xfrm>
            <a:off x="7878125" y="3290761"/>
            <a:ext cx="806632"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a:t>
            </a:r>
            <a:r>
              <a:rPr lang="en-US" altLang="en-US" sz="1905" i="1">
                <a:latin typeface="Verdana" panose="020B0604030504040204" pitchFamily="34" charset="0"/>
              </a:rPr>
              <a:t>N</a:t>
            </a:r>
          </a:p>
        </p:txBody>
      </p:sp>
    </p:spTree>
    <p:custDataLst>
      <p:tags r:id="rId1"/>
    </p:custDataLst>
    <p:extLst>
      <p:ext uri="{BB962C8B-B14F-4D97-AF65-F5344CB8AC3E}">
        <p14:creationId xmlns:p14="http://schemas.microsoft.com/office/powerpoint/2010/main" val="3565483877"/>
      </p:ext>
    </p:extLst>
  </p:cSld>
  <p:clrMapOvr>
    <a:masterClrMapping/>
  </p:clrMapOvr>
  <p:transition spd="med" advTm="8026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290">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0">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0">
                                            <p:txEl>
                                              <p:pRg st="5" end="5"/>
                                            </p:txEl>
                                          </p:spTgt>
                                        </p:tgtEl>
                                        <p:attrNameLst>
                                          <p:attrName>style.visibility</p:attrName>
                                        </p:attrNameLst>
                                      </p:cBhvr>
                                      <p:to>
                                        <p:strVal val="visible"/>
                                      </p:to>
                                    </p:set>
                                  </p:childTnLst>
                                </p:cTn>
                              </p:par>
                              <p:par>
                                <p:cTn id="15" presetID="3" presetClass="entr" presetSubtype="10" fill="hold" nodeType="withEffect">
                                  <p:stCondLst>
                                    <p:cond delay="0"/>
                                  </p:stCondLst>
                                  <p:childTnLst>
                                    <p:set>
                                      <p:cBhvr>
                                        <p:cTn id="16" dur="1" fill="hold">
                                          <p:stCondLst>
                                            <p:cond delay="0"/>
                                          </p:stCondLst>
                                        </p:cTn>
                                        <p:tgtEl>
                                          <p:spTgt spid="12310"/>
                                        </p:tgtEl>
                                        <p:attrNameLst>
                                          <p:attrName>style.visibility</p:attrName>
                                        </p:attrNameLst>
                                      </p:cBhvr>
                                      <p:to>
                                        <p:strVal val="visible"/>
                                      </p:to>
                                    </p:set>
                                    <p:animEffect transition="in" filter="blinds(horizontal)">
                                      <p:cBhvr>
                                        <p:cTn id="17" dur="500"/>
                                        <p:tgtEl>
                                          <p:spTgt spid="12310"/>
                                        </p:tgtEl>
                                      </p:cBhvr>
                                    </p:animEffect>
                                  </p:childTnLst>
                                </p:cTn>
                              </p:par>
                              <p:par>
                                <p:cTn id="18" presetID="1" presetClass="entr" presetSubtype="0" fill="hold" nodeType="withEffect">
                                  <p:stCondLst>
                                    <p:cond delay="0"/>
                                  </p:stCondLst>
                                  <p:childTnLst>
                                    <p:set>
                                      <p:cBhvr>
                                        <p:cTn id="19" dur="1" fill="hold">
                                          <p:stCondLst>
                                            <p:cond delay="0"/>
                                          </p:stCondLst>
                                        </p:cTn>
                                        <p:tgtEl>
                                          <p:spTgt spid="1230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230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290">
                                            <p:txEl>
                                              <p:pRg st="6" end="6"/>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290">
                                            <p:txEl>
                                              <p:pRg st="7" end="7"/>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30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290">
                                            <p:txEl>
                                              <p:pRg st="8" end="8"/>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290">
                                            <p:txEl>
                                              <p:pRg st="9" end="9"/>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230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290">
                                            <p:txEl>
                                              <p:pRg st="10" end="10"/>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2290">
                                            <p:txEl>
                                              <p:pRg st="11" end="11"/>
                                            </p:txEl>
                                          </p:spTgt>
                                        </p:tgtEl>
                                        <p:attrNameLst>
                                          <p:attrName>style.visibility</p:attrName>
                                        </p:attrNameLst>
                                      </p:cBhvr>
                                      <p:to>
                                        <p:strVal val="visible"/>
                                      </p:to>
                                    </p:set>
                                  </p:childTnLst>
                                </p:cTn>
                              </p:par>
                              <p:par>
                                <p:cTn id="42" presetID="3" presetClass="entr" presetSubtype="10" fill="hold" nodeType="withEffect">
                                  <p:stCondLst>
                                    <p:cond delay="0"/>
                                  </p:stCondLst>
                                  <p:childTnLst>
                                    <p:set>
                                      <p:cBhvr>
                                        <p:cTn id="43" dur="1" fill="hold">
                                          <p:stCondLst>
                                            <p:cond delay="0"/>
                                          </p:stCondLst>
                                        </p:cTn>
                                        <p:tgtEl>
                                          <p:spTgt spid="12311"/>
                                        </p:tgtEl>
                                        <p:attrNameLst>
                                          <p:attrName>style.visibility</p:attrName>
                                        </p:attrNameLst>
                                      </p:cBhvr>
                                      <p:to>
                                        <p:strVal val="visible"/>
                                      </p:to>
                                    </p:set>
                                    <p:animEffect transition="in" filter="blinds(horizontal)">
                                      <p:cBhvr>
                                        <p:cTn id="44" dur="500"/>
                                        <p:tgtEl>
                                          <p:spTgt spid="1231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290">
                                            <p:txEl>
                                              <p:pRg st="12" end="12"/>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30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290">
                                            <p:txEl>
                                              <p:pRg st="13" end="13"/>
                                            </p:txEl>
                                          </p:spTgt>
                                        </p:tgtEl>
                                        <p:attrNameLst>
                                          <p:attrName>style.visibility</p:attrName>
                                        </p:attrNameLst>
                                      </p:cBhvr>
                                      <p:to>
                                        <p:strVal val="visible"/>
                                      </p:to>
                                    </p:set>
                                  </p:childTnLst>
                                </p:cTn>
                              </p:par>
                              <p:par>
                                <p:cTn id="53" presetID="3" presetClass="entr" presetSubtype="10" fill="hold" nodeType="withEffect">
                                  <p:stCondLst>
                                    <p:cond delay="0"/>
                                  </p:stCondLst>
                                  <p:childTnLst>
                                    <p:set>
                                      <p:cBhvr>
                                        <p:cTn id="54" dur="1" fill="hold">
                                          <p:stCondLst>
                                            <p:cond delay="0"/>
                                          </p:stCondLst>
                                        </p:cTn>
                                        <p:tgtEl>
                                          <p:spTgt spid="12312"/>
                                        </p:tgtEl>
                                        <p:attrNameLst>
                                          <p:attrName>style.visibility</p:attrName>
                                        </p:attrNameLst>
                                      </p:cBhvr>
                                      <p:to>
                                        <p:strVal val="visible"/>
                                      </p:to>
                                    </p:set>
                                    <p:animEffect transition="in" filter="blinds(horizontal)">
                                      <p:cBhvr>
                                        <p:cTn id="55" dur="500"/>
                                        <p:tgtEl>
                                          <p:spTgt spid="12312"/>
                                        </p:tgtEl>
                                      </p:cBhvr>
                                    </p:animEffect>
                                  </p:childTnLst>
                                </p:cTn>
                              </p:par>
                            </p:childTnLst>
                          </p:cTn>
                        </p:par>
                        <p:par>
                          <p:cTn id="56" fill="hold" nodeType="afterGroup">
                            <p:stCondLst>
                              <p:cond delay="500"/>
                            </p:stCondLst>
                            <p:childTnLst>
                              <p:par>
                                <p:cTn id="57" presetID="3" presetClass="entr" presetSubtype="10" fill="hold" nodeType="afterEffect">
                                  <p:stCondLst>
                                    <p:cond delay="10000"/>
                                  </p:stCondLst>
                                  <p:childTnLst>
                                    <p:set>
                                      <p:cBhvr>
                                        <p:cTn id="58" dur="1" fill="hold">
                                          <p:stCondLst>
                                            <p:cond delay="0"/>
                                          </p:stCondLst>
                                        </p:cTn>
                                        <p:tgtEl>
                                          <p:spTgt spid="12314"/>
                                        </p:tgtEl>
                                        <p:attrNameLst>
                                          <p:attrName>style.visibility</p:attrName>
                                        </p:attrNameLst>
                                      </p:cBhvr>
                                      <p:to>
                                        <p:strVal val="visible"/>
                                      </p:to>
                                    </p:set>
                                    <p:animEffect transition="in" filter="blinds(horizontal)">
                                      <p:cBhvr>
                                        <p:cTn id="59" dur="500"/>
                                        <p:tgtEl>
                                          <p:spTgt spid="12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uiExpand="1" build="p"/>
      <p:bldP spid="12305" grpId="0" animBg="1"/>
      <p:bldP spid="12306" grpId="0" animBg="1"/>
      <p:bldP spid="12307" grpId="0" animBg="1"/>
      <p:bldP spid="12308"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FB98E9F9-5F11-6644-A5F9-464AE83A3FF1}"/>
              </a:ext>
            </a:extLst>
          </p:cNvPr>
          <p:cNvSpPr>
            <a:spLocks noGrp="1" noChangeArrowheads="1"/>
          </p:cNvSpPr>
          <p:nvPr>
            <p:ph type="title"/>
          </p:nvPr>
        </p:nvSpPr>
        <p:spPr>
          <a:xfrm>
            <a:off x="457921" y="187561"/>
            <a:ext cx="823248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Black-Box and Gray-Box</a:t>
            </a:r>
          </a:p>
        </p:txBody>
      </p:sp>
      <p:sp>
        <p:nvSpPr>
          <p:cNvPr id="11266" name="Rectangle 2">
            <a:extLst>
              <a:ext uri="{FF2B5EF4-FFF2-40B4-BE49-F238E27FC236}">
                <a16:creationId xmlns:a16="http://schemas.microsoft.com/office/drawing/2014/main" id="{D2147ED2-C1F1-1D47-ACBC-A18083233929}"/>
              </a:ext>
            </a:extLst>
          </p:cNvPr>
          <p:cNvSpPr>
            <a:spLocks noGrp="1" noChangeArrowheads="1"/>
          </p:cNvSpPr>
          <p:nvPr>
            <p:ph type="body" idx="1"/>
          </p:nvPr>
        </p:nvSpPr>
        <p:spPr>
          <a:xfrm>
            <a:off x="0" y="1143721"/>
            <a:ext cx="9143999" cy="442800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t>Black-box: only data from outside the VM</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Completely OS and application agnostic</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solidFill>
                  <a:schemeClr val="folHlink"/>
                </a:solidFill>
              </a:rPr>
              <a:t>Dom 0 for monitoring network usage; memory usage (indirectly)</a:t>
            </a:r>
          </a:p>
          <a:p>
            <a:pPr>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solidFill>
                <a:schemeClr val="folHlink"/>
              </a:solidFill>
            </a:endParaRPr>
          </a:p>
          <a:p>
            <a:pPr>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solidFill>
                <a:schemeClr val="folHlink"/>
              </a:solidFill>
            </a:endParaRPr>
          </a:p>
          <a:p>
            <a:pPr>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solidFill>
                <a:schemeClr val="folHlink"/>
              </a:solidFill>
            </a:endParaRPr>
          </a:p>
          <a:p>
            <a:pPr marL="0" indent="0">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2540" dirty="0"/>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t>Gray-Box: access to OS stats and application logs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Request level data can improve detection and profiling</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Not always feasible – customer may control OS</a:t>
            </a:r>
          </a:p>
        </p:txBody>
      </p:sp>
      <p:sp>
        <p:nvSpPr>
          <p:cNvPr id="11269" name="Rectangle 5">
            <a:extLst>
              <a:ext uri="{FF2B5EF4-FFF2-40B4-BE49-F238E27FC236}">
                <a16:creationId xmlns:a16="http://schemas.microsoft.com/office/drawing/2014/main" id="{89F425B1-CF53-F048-AC7D-7947B45E0889}"/>
              </a:ext>
            </a:extLst>
          </p:cNvPr>
          <p:cNvSpPr>
            <a:spLocks noChangeArrowheads="1"/>
          </p:cNvSpPr>
          <p:nvPr/>
        </p:nvSpPr>
        <p:spPr bwMode="auto">
          <a:xfrm>
            <a:off x="5539681" y="2429744"/>
            <a:ext cx="2211840" cy="1244160"/>
          </a:xfrm>
          <a:prstGeom prst="rect">
            <a:avLst/>
          </a:prstGeom>
          <a:solidFill>
            <a:srgbClr val="B2B2B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br>
              <a:rPr lang="en-US" altLang="en-US" sz="1905">
                <a:latin typeface="Verdana" panose="020B0604030504040204" pitchFamily="34" charset="0"/>
              </a:rPr>
            </a:br>
            <a:r>
              <a:rPr lang="en-US" altLang="en-US" sz="1905">
                <a:latin typeface="Verdana" panose="020B0604030504040204" pitchFamily="34" charset="0"/>
              </a:rPr>
              <a:t>Gray Box</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Application logs</a:t>
            </a:r>
          </a:p>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OS statistics</a:t>
            </a:r>
          </a:p>
          <a:p>
            <a:pPr algn="ctr" defTabSz="829452" fontAlgn="base">
              <a:lnSpc>
                <a:spcPct val="80000"/>
              </a:lnSpc>
              <a:spcBef>
                <a:spcPct val="20000"/>
              </a:spcBef>
              <a:spcAft>
                <a:spcPct val="0"/>
              </a:spcAft>
              <a:buClr>
                <a:srgbClr val="FFFFFF"/>
              </a:buClr>
              <a:buSzPct val="100000"/>
            </a:pPr>
            <a:endParaRPr lang="en-US" altLang="en-US" sz="1542">
              <a:latin typeface="Verdana" panose="020B0604030504040204" pitchFamily="34" charset="0"/>
            </a:endParaRPr>
          </a:p>
        </p:txBody>
      </p:sp>
      <p:sp>
        <p:nvSpPr>
          <p:cNvPr id="11268" name="Rectangle 4">
            <a:extLst>
              <a:ext uri="{FF2B5EF4-FFF2-40B4-BE49-F238E27FC236}">
                <a16:creationId xmlns:a16="http://schemas.microsoft.com/office/drawing/2014/main" id="{A543A738-5F1E-1F45-B319-62DBFA023D73}"/>
              </a:ext>
            </a:extLst>
          </p:cNvPr>
          <p:cNvSpPr>
            <a:spLocks noChangeArrowheads="1"/>
          </p:cNvSpPr>
          <p:nvPr/>
        </p:nvSpPr>
        <p:spPr bwMode="auto">
          <a:xfrm>
            <a:off x="1461601" y="2432632"/>
            <a:ext cx="2211840" cy="1244160"/>
          </a:xfrm>
          <a:prstGeom prst="rect">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br>
              <a:rPr lang="en-US" altLang="en-US" sz="1905" dirty="0">
                <a:solidFill>
                  <a:srgbClr val="FFFFFF"/>
                </a:solidFill>
                <a:latin typeface="Verdana" panose="020B0604030504040204" pitchFamily="34" charset="0"/>
              </a:rPr>
            </a:br>
            <a:r>
              <a:rPr lang="en-US" altLang="en-US" sz="1905" dirty="0">
                <a:solidFill>
                  <a:srgbClr val="FFFFFF"/>
                </a:solidFill>
                <a:latin typeface="Verdana" panose="020B0604030504040204" pitchFamily="34" charset="0"/>
              </a:rPr>
              <a:t>Black Box</a:t>
            </a:r>
          </a:p>
          <a:p>
            <a:pPr algn="ctr" defTabSz="829452" fontAlgn="base">
              <a:lnSpc>
                <a:spcPct val="80000"/>
              </a:lnSpc>
              <a:spcBef>
                <a:spcPct val="20000"/>
              </a:spcBef>
              <a:spcAft>
                <a:spcPct val="0"/>
              </a:spcAft>
              <a:buClr>
                <a:srgbClr val="FFFFFF"/>
              </a:buClr>
              <a:buSzPct val="100000"/>
            </a:pPr>
            <a:endParaRPr lang="en-US" altLang="en-US" sz="1542" dirty="0">
              <a:solidFill>
                <a:srgbClr val="FFFFFF"/>
              </a:solidFill>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r>
              <a:rPr lang="en-US" altLang="en-US" sz="1542" dirty="0">
                <a:solidFill>
                  <a:srgbClr val="FFFFFF"/>
                </a:solidFill>
                <a:latin typeface="Verdana" panose="020B0604030504040204" pitchFamily="34" charset="0"/>
              </a:rPr>
              <a:t>???</a:t>
            </a:r>
          </a:p>
          <a:p>
            <a:pPr algn="ctr" defTabSz="829452" fontAlgn="base">
              <a:lnSpc>
                <a:spcPct val="80000"/>
              </a:lnSpc>
              <a:spcBef>
                <a:spcPct val="20000"/>
              </a:spcBef>
              <a:spcAft>
                <a:spcPct val="0"/>
              </a:spcAft>
              <a:buClr>
                <a:srgbClr val="FFFFFF"/>
              </a:buClr>
              <a:buSzPct val="100000"/>
            </a:pPr>
            <a:endParaRPr lang="en-US" altLang="en-US" sz="1542" dirty="0">
              <a:solidFill>
                <a:srgbClr val="FFFFFF"/>
              </a:solidFill>
              <a:latin typeface="Verdana" panose="020B0604030504040204" pitchFamily="34" charset="0"/>
            </a:endParaRPr>
          </a:p>
        </p:txBody>
      </p:sp>
      <p:sp>
        <p:nvSpPr>
          <p:cNvPr id="11281" name="Rectangle 17">
            <a:extLst>
              <a:ext uri="{FF2B5EF4-FFF2-40B4-BE49-F238E27FC236}">
                <a16:creationId xmlns:a16="http://schemas.microsoft.com/office/drawing/2014/main" id="{0FDED12E-E0AC-1940-8496-BAA4F6267B62}"/>
              </a:ext>
            </a:extLst>
          </p:cNvPr>
          <p:cNvSpPr>
            <a:spLocks noChangeArrowheads="1"/>
          </p:cNvSpPr>
          <p:nvPr/>
        </p:nvSpPr>
        <p:spPr bwMode="auto">
          <a:xfrm>
            <a:off x="1668961" y="5640841"/>
            <a:ext cx="5806080" cy="691200"/>
          </a:xfrm>
          <a:prstGeom prst="rect">
            <a:avLst/>
          </a:prstGeom>
          <a:solidFill>
            <a:srgbClr val="CCECFF"/>
          </a:solidFill>
          <a:ln w="12700"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90000"/>
              </a:lnSpc>
              <a:spcBef>
                <a:spcPct val="20000"/>
              </a:spcBef>
              <a:spcAft>
                <a:spcPct val="0"/>
              </a:spcAft>
              <a:buClr>
                <a:srgbClr val="3333CC"/>
              </a:buClr>
              <a:buSzPct val="60000"/>
            </a:pPr>
            <a:r>
              <a:rPr lang="en-GB" altLang="en-US" sz="1905">
                <a:solidFill>
                  <a:srgbClr val="3333CC"/>
                </a:solidFill>
                <a:latin typeface="Verdana" panose="020B0604030504040204" pitchFamily="34" charset="0"/>
              </a:rPr>
              <a:t>Is black-box sufficient?</a:t>
            </a:r>
          </a:p>
          <a:p>
            <a:pPr algn="ctr" defTabSz="829452" fontAlgn="base">
              <a:lnSpc>
                <a:spcPct val="90000"/>
              </a:lnSpc>
              <a:spcBef>
                <a:spcPct val="20000"/>
              </a:spcBef>
              <a:spcAft>
                <a:spcPct val="0"/>
              </a:spcAft>
              <a:buClr>
                <a:srgbClr val="3333CC"/>
              </a:buClr>
              <a:buSzPct val="60000"/>
            </a:pPr>
            <a:r>
              <a:rPr lang="en-GB" altLang="en-US" sz="1905">
                <a:solidFill>
                  <a:srgbClr val="3333CC"/>
                </a:solidFill>
                <a:latin typeface="Verdana" panose="020B0604030504040204" pitchFamily="34" charset="0"/>
              </a:rPr>
              <a:t>What do we gain from gray-box data?</a:t>
            </a:r>
            <a:endParaRPr lang="en-US" altLang="en-US" sz="1905">
              <a:solidFill>
                <a:srgbClr val="3333CC"/>
              </a:solidFill>
              <a:latin typeface="Verdana" panose="020B0604030504040204" pitchFamily="34" charset="0"/>
            </a:endParaRPr>
          </a:p>
        </p:txBody>
      </p:sp>
      <p:pic>
        <p:nvPicPr>
          <p:cNvPr id="11282" name="Picture 18" descr="net">
            <a:extLst>
              <a:ext uri="{FF2B5EF4-FFF2-40B4-BE49-F238E27FC236}">
                <a16:creationId xmlns:a16="http://schemas.microsoft.com/office/drawing/2014/main" id="{7E42745D-A289-AA49-9958-1006AE91AB0E}"/>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30721" y="3607672"/>
            <a:ext cx="768960" cy="748800"/>
          </a:xfrm>
          <a:prstGeom prst="rect">
            <a:avLst/>
          </a:prstGeom>
          <a:noFill/>
          <a:extLst>
            <a:ext uri="{909E8E84-426E-40DD-AFC4-6F175D3DCCD1}">
              <a14:hiddenFill xmlns:a14="http://schemas.microsoft.com/office/drawing/2010/main">
                <a:solidFill>
                  <a:srgbClr val="FFFFFF"/>
                </a:solidFill>
              </a14:hiddenFill>
            </a:ext>
          </a:extLst>
        </p:spPr>
      </p:pic>
      <p:pic>
        <p:nvPicPr>
          <p:cNvPr id="11283" name="Picture 19" descr="cpu">
            <a:extLst>
              <a:ext uri="{FF2B5EF4-FFF2-40B4-BE49-F238E27FC236}">
                <a16:creationId xmlns:a16="http://schemas.microsoft.com/office/drawing/2014/main" id="{42C88C06-B065-BE4E-8B04-E8E26E18B9C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2241" y="3607672"/>
            <a:ext cx="529920" cy="617760"/>
          </a:xfrm>
          <a:prstGeom prst="rect">
            <a:avLst/>
          </a:prstGeom>
          <a:noFill/>
          <a:extLst>
            <a:ext uri="{909E8E84-426E-40DD-AFC4-6F175D3DCCD1}">
              <a14:hiddenFill xmlns:a14="http://schemas.microsoft.com/office/drawing/2010/main">
                <a:solidFill>
                  <a:srgbClr val="FFFFFF"/>
                </a:solidFill>
              </a14:hiddenFill>
            </a:ext>
          </a:extLst>
        </p:spPr>
      </p:pic>
      <p:pic>
        <p:nvPicPr>
          <p:cNvPr id="11284" name="Picture 20" descr="disk">
            <a:extLst>
              <a:ext uri="{FF2B5EF4-FFF2-40B4-BE49-F238E27FC236}">
                <a16:creationId xmlns:a16="http://schemas.microsoft.com/office/drawing/2014/main" id="{08BEDB08-12B0-E64E-9362-C494D6ECEAC1}"/>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29281" y="3538552"/>
            <a:ext cx="372960" cy="829440"/>
          </a:xfrm>
          <a:prstGeom prst="rect">
            <a:avLst/>
          </a:prstGeom>
          <a:noFill/>
          <a:extLst>
            <a:ext uri="{909E8E84-426E-40DD-AFC4-6F175D3DCCD1}">
              <a14:hiddenFill xmlns:a14="http://schemas.microsoft.com/office/drawing/2010/main">
                <a:solidFill>
                  <a:srgbClr val="FFFFFF"/>
                </a:solidFill>
              </a14:hiddenFill>
            </a:ext>
          </a:extLst>
        </p:spPr>
      </p:pic>
      <p:sp>
        <p:nvSpPr>
          <p:cNvPr id="11285" name="Line 21">
            <a:extLst>
              <a:ext uri="{FF2B5EF4-FFF2-40B4-BE49-F238E27FC236}">
                <a16:creationId xmlns:a16="http://schemas.microsoft.com/office/drawing/2014/main" id="{A5E6305E-4B56-9E49-85DF-262554F2ED17}"/>
              </a:ext>
            </a:extLst>
          </p:cNvPr>
          <p:cNvSpPr>
            <a:spLocks noChangeShapeType="1"/>
          </p:cNvSpPr>
          <p:nvPr/>
        </p:nvSpPr>
        <p:spPr bwMode="auto">
          <a:xfrm>
            <a:off x="1945441" y="3538552"/>
            <a:ext cx="0" cy="898560"/>
          </a:xfrm>
          <a:prstGeom prst="line">
            <a:avLst/>
          </a:prstGeom>
          <a:noFill/>
          <a:ln w="57150">
            <a:solidFill>
              <a:schemeClr val="hlink"/>
            </a:solidFill>
            <a:round/>
            <a:headEnd type="triangle" w="med" len="med"/>
            <a:tailEnd type="triangle" w="med" len="med"/>
          </a:ln>
          <a:effectLst>
            <a:outerShdw dist="28398" dir="6993903"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pic>
        <p:nvPicPr>
          <p:cNvPr id="11288" name="Picture 24" descr="net">
            <a:extLst>
              <a:ext uri="{FF2B5EF4-FFF2-40B4-BE49-F238E27FC236}">
                <a16:creationId xmlns:a16="http://schemas.microsoft.com/office/drawing/2014/main" id="{94661844-73CD-7D4E-A4E1-21B85A50E4E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00961" y="3604784"/>
            <a:ext cx="768960" cy="748800"/>
          </a:xfrm>
          <a:prstGeom prst="rect">
            <a:avLst/>
          </a:prstGeom>
          <a:noFill/>
          <a:extLst>
            <a:ext uri="{909E8E84-426E-40DD-AFC4-6F175D3DCCD1}">
              <a14:hiddenFill xmlns:a14="http://schemas.microsoft.com/office/drawing/2010/main">
                <a:solidFill>
                  <a:srgbClr val="FFFFFF"/>
                </a:solidFill>
              </a14:hiddenFill>
            </a:ext>
          </a:extLst>
        </p:spPr>
      </p:pic>
      <p:pic>
        <p:nvPicPr>
          <p:cNvPr id="11289" name="Picture 25" descr="cpu">
            <a:extLst>
              <a:ext uri="{FF2B5EF4-FFF2-40B4-BE49-F238E27FC236}">
                <a16:creationId xmlns:a16="http://schemas.microsoft.com/office/drawing/2014/main" id="{A041F3E2-E0A0-6744-ACF1-BFF90B4F1E5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52481" y="3604784"/>
            <a:ext cx="529920" cy="617760"/>
          </a:xfrm>
          <a:prstGeom prst="rect">
            <a:avLst/>
          </a:prstGeom>
          <a:noFill/>
          <a:extLst>
            <a:ext uri="{909E8E84-426E-40DD-AFC4-6F175D3DCCD1}">
              <a14:hiddenFill xmlns:a14="http://schemas.microsoft.com/office/drawing/2010/main">
                <a:solidFill>
                  <a:srgbClr val="FFFFFF"/>
                </a:solidFill>
              </a14:hiddenFill>
            </a:ext>
          </a:extLst>
        </p:spPr>
      </p:pic>
      <p:pic>
        <p:nvPicPr>
          <p:cNvPr id="11290" name="Picture 26" descr="disk">
            <a:extLst>
              <a:ext uri="{FF2B5EF4-FFF2-40B4-BE49-F238E27FC236}">
                <a16:creationId xmlns:a16="http://schemas.microsoft.com/office/drawing/2014/main" id="{4AF833BA-413E-454D-8C3C-F39BAFDCC2B1}"/>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99521" y="3535664"/>
            <a:ext cx="372960" cy="82944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5018709"/>
      </p:ext>
    </p:extLst>
  </p:cSld>
  <p:clrMapOvr>
    <a:masterClrMapping/>
  </p:clrMapOvr>
  <p:transition spd="med" advTm="101141"/>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1285"/>
                                        </p:tgtEl>
                                        <p:attrNameLst>
                                          <p:attrName>style.visibility</p:attrName>
                                        </p:attrNameLst>
                                      </p:cBhvr>
                                      <p:to>
                                        <p:strVal val="visible"/>
                                      </p:to>
                                    </p:set>
                                    <p:animEffect transition="in" filter="box(in)">
                                      <p:cBhvr>
                                        <p:cTn id="7" dur="500"/>
                                        <p:tgtEl>
                                          <p:spTgt spid="11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281"/>
                                        </p:tgtEl>
                                        <p:attrNameLst>
                                          <p:attrName>style.visibility</p:attrName>
                                        </p:attrNameLst>
                                      </p:cBhvr>
                                      <p:to>
                                        <p:strVal val="visible"/>
                                      </p:to>
                                    </p:set>
                                    <p:anim calcmode="lin" valueType="num">
                                      <p:cBhvr additive="base">
                                        <p:cTn id="12" dur="500" fill="hold"/>
                                        <p:tgtEl>
                                          <p:spTgt spid="11281"/>
                                        </p:tgtEl>
                                        <p:attrNameLst>
                                          <p:attrName>ppt_x</p:attrName>
                                        </p:attrNameLst>
                                      </p:cBhvr>
                                      <p:tavLst>
                                        <p:tav tm="0">
                                          <p:val>
                                            <p:strVal val="#ppt_x"/>
                                          </p:val>
                                        </p:tav>
                                        <p:tav tm="100000">
                                          <p:val>
                                            <p:strVal val="#ppt_x"/>
                                          </p:val>
                                        </p:tav>
                                      </p:tavLst>
                                    </p:anim>
                                    <p:anim calcmode="lin" valueType="num">
                                      <p:cBhvr additive="base">
                                        <p:cTn id="13" dur="500" fill="hold"/>
                                        <p:tgtEl>
                                          <p:spTgt spid="112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1"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21E36AF1-BCEB-7546-95F0-CA0A9366DD7C}"/>
              </a:ext>
            </a:extLst>
          </p:cNvPr>
          <p:cNvSpPr>
            <a:spLocks noGrp="1" noChangeArrowheads="1"/>
          </p:cNvSpPr>
          <p:nvPr>
            <p:ph type="title"/>
          </p:nvPr>
        </p:nvSpPr>
        <p:spPr>
          <a:xfrm>
            <a:off x="457920" y="153001"/>
            <a:ext cx="8231040" cy="99216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Outline</a:t>
            </a:r>
          </a:p>
        </p:txBody>
      </p:sp>
      <p:sp>
        <p:nvSpPr>
          <p:cNvPr id="71683" name="Rectangle 3">
            <a:extLst>
              <a:ext uri="{FF2B5EF4-FFF2-40B4-BE49-F238E27FC236}">
                <a16:creationId xmlns:a16="http://schemas.microsoft.com/office/drawing/2014/main" id="{85501C13-FFB7-F449-B52C-4EE6AD4EDEE6}"/>
              </a:ext>
            </a:extLst>
          </p:cNvPr>
          <p:cNvSpPr>
            <a:spLocks noGrp="1" noChangeArrowheads="1"/>
          </p:cNvSpPr>
          <p:nvPr>
            <p:ph type="body" idx="1"/>
          </p:nvPr>
        </p:nvSpPr>
        <p:spPr>
          <a:xfrm>
            <a:off x="380161" y="1148041"/>
            <a:ext cx="8229600" cy="466704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Introduction &amp; Motivation</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System Overview</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solidFill>
                <a:srgbClr val="808080"/>
              </a:solidFill>
            </a:endParaRP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b="1"/>
              <a:t>When? How much? And Where to? </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b="1"/>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Implementation and Evaluation</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Conclusions</a:t>
            </a:r>
          </a:p>
        </p:txBody>
      </p:sp>
    </p:spTree>
    <p:extLst>
      <p:ext uri="{BB962C8B-B14F-4D97-AF65-F5344CB8AC3E}">
        <p14:creationId xmlns:p14="http://schemas.microsoft.com/office/powerpoint/2010/main" val="3590850804"/>
      </p:ext>
    </p:extLst>
  </p:cSld>
  <p:clrMapOvr>
    <a:masterClrMapping/>
  </p:clrMapOvr>
  <p:transition spd="med" advTm="9703"/>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BA569B3D-4436-114D-B298-05DA8A605A98}"/>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Black-box Monitoring</a:t>
            </a:r>
          </a:p>
        </p:txBody>
      </p:sp>
      <p:sp>
        <p:nvSpPr>
          <p:cNvPr id="13314" name="Rectangle 2">
            <a:extLst>
              <a:ext uri="{FF2B5EF4-FFF2-40B4-BE49-F238E27FC236}">
                <a16:creationId xmlns:a16="http://schemas.microsoft.com/office/drawing/2014/main" id="{9A8795D6-6705-D24E-B195-CD4ED3D50809}"/>
              </a:ext>
            </a:extLst>
          </p:cNvPr>
          <p:cNvSpPr>
            <a:spLocks noGrp="1" noChangeArrowheads="1"/>
          </p:cNvSpPr>
          <p:nvPr>
            <p:ph type="body" idx="1"/>
          </p:nvPr>
        </p:nvSpPr>
        <p:spPr>
          <a:xfrm>
            <a:off x="381601" y="1143721"/>
            <a:ext cx="7922880" cy="470448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Xen uses a “Driver Domain”</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Special VM with network and disk drivers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Nucleus runs here</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dirty="0"/>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CPU </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Scheduler statistics</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Network </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Linux device information</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Memory </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Detect swapping from disk I/O</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for VM’s swap partition</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dirty="0"/>
              <a:t>Only know when performance is poor</a:t>
            </a:r>
          </a:p>
          <a:p>
            <a:pPr>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dirty="0"/>
          </a:p>
          <a:p>
            <a:pPr lvl="1">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dirty="0"/>
          </a:p>
        </p:txBody>
      </p:sp>
      <p:sp>
        <p:nvSpPr>
          <p:cNvPr id="13316" name="Rectangle 4">
            <a:extLst>
              <a:ext uri="{FF2B5EF4-FFF2-40B4-BE49-F238E27FC236}">
                <a16:creationId xmlns:a16="http://schemas.microsoft.com/office/drawing/2014/main" id="{63A8C85A-130E-974A-B5C8-C9655371C3E2}"/>
              </a:ext>
            </a:extLst>
          </p:cNvPr>
          <p:cNvSpPr>
            <a:spLocks noChangeArrowheads="1"/>
          </p:cNvSpPr>
          <p:nvPr/>
        </p:nvSpPr>
        <p:spPr bwMode="auto">
          <a:xfrm>
            <a:off x="6507361" y="2264041"/>
            <a:ext cx="1797120" cy="2340000"/>
          </a:xfrm>
          <a:prstGeom prst="rect">
            <a:avLst/>
          </a:prstGeom>
          <a:solidFill>
            <a:schemeClr val="bg1"/>
          </a:solidFill>
          <a:ln w="9525" algn="ctr">
            <a:miter lim="800000"/>
            <a:headEnd/>
            <a:tailEnd/>
          </a:ln>
          <a:effectLst/>
          <a:scene3d>
            <a:camera prst="legacyObliqueTopLeft"/>
            <a:lightRig rig="legacyFlat3" dir="t"/>
          </a:scene3d>
          <a:sp3d extrusionH="430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3317" name="Rectangle 5">
            <a:extLst>
              <a:ext uri="{FF2B5EF4-FFF2-40B4-BE49-F238E27FC236}">
                <a16:creationId xmlns:a16="http://schemas.microsoft.com/office/drawing/2014/main" id="{9163BF2B-2E10-D342-91B1-699CD43608C5}"/>
              </a:ext>
            </a:extLst>
          </p:cNvPr>
          <p:cNvSpPr>
            <a:spLocks noChangeArrowheads="1"/>
          </p:cNvSpPr>
          <p:nvPr/>
        </p:nvSpPr>
        <p:spPr bwMode="auto">
          <a:xfrm>
            <a:off x="6507361" y="4051081"/>
            <a:ext cx="1797120" cy="552960"/>
          </a:xfrm>
          <a:prstGeom prst="rect">
            <a:avLst/>
          </a:prstGeom>
          <a:solidFill>
            <a:srgbClr val="B2B2B2"/>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effectLst>
                  <a:outerShdw blurRad="38100" dist="38100" dir="2700000" algn="tl">
                    <a:srgbClr val="FFFFFF"/>
                  </a:outerShdw>
                </a:effectLst>
                <a:latin typeface="Verdana" panose="020B0604030504040204" pitchFamily="34" charset="0"/>
              </a:rPr>
              <a:t>Hypervisor</a:t>
            </a:r>
          </a:p>
        </p:txBody>
      </p:sp>
      <p:sp>
        <p:nvSpPr>
          <p:cNvPr id="13318" name="Rectangle 6">
            <a:extLst>
              <a:ext uri="{FF2B5EF4-FFF2-40B4-BE49-F238E27FC236}">
                <a16:creationId xmlns:a16="http://schemas.microsoft.com/office/drawing/2014/main" id="{C4B21027-6F5B-674D-8FCA-CAB288904ACE}"/>
              </a:ext>
            </a:extLst>
          </p:cNvPr>
          <p:cNvSpPr>
            <a:spLocks noChangeArrowheads="1"/>
          </p:cNvSpPr>
          <p:nvPr/>
        </p:nvSpPr>
        <p:spPr bwMode="auto">
          <a:xfrm>
            <a:off x="6507361" y="2253961"/>
            <a:ext cx="1036800" cy="1797120"/>
          </a:xfrm>
          <a:prstGeom prst="rect">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723">
                <a:solidFill>
                  <a:srgbClr val="FFFFFF"/>
                </a:solidFill>
                <a:effectLst>
                  <a:outerShdw blurRad="38100" dist="38100" dir="2700000" algn="tl">
                    <a:srgbClr val="000000"/>
                  </a:outerShdw>
                </a:effectLst>
                <a:latin typeface="Verdana" panose="020B0604030504040204" pitchFamily="34" charset="0"/>
              </a:rPr>
              <a:t>Driver</a:t>
            </a:r>
            <a:br>
              <a:rPr lang="en-US" altLang="en-US" sz="1723">
                <a:solidFill>
                  <a:srgbClr val="FFFFFF"/>
                </a:solidFill>
                <a:effectLst>
                  <a:outerShdw blurRad="38100" dist="38100" dir="2700000" algn="tl">
                    <a:srgbClr val="000000"/>
                  </a:outerShdw>
                </a:effectLst>
                <a:latin typeface="Verdana" panose="020B0604030504040204" pitchFamily="34" charset="0"/>
              </a:rPr>
            </a:br>
            <a:r>
              <a:rPr lang="en-US" altLang="en-US" sz="1723">
                <a:solidFill>
                  <a:srgbClr val="FFFFFF"/>
                </a:solidFill>
                <a:effectLst>
                  <a:outerShdw blurRad="38100" dist="38100" dir="2700000" algn="tl">
                    <a:srgbClr val="000000"/>
                  </a:outerShdw>
                </a:effectLst>
                <a:latin typeface="Verdana" panose="020B0604030504040204" pitchFamily="34" charset="0"/>
              </a:rPr>
              <a:t>Domain</a:t>
            </a:r>
          </a:p>
          <a:p>
            <a:pPr algn="ctr" defTabSz="829452" fontAlgn="base">
              <a:lnSpc>
                <a:spcPct val="80000"/>
              </a:lnSpc>
              <a:spcBef>
                <a:spcPct val="20000"/>
              </a:spcBef>
              <a:spcAft>
                <a:spcPct val="0"/>
              </a:spcAft>
              <a:buClr>
                <a:srgbClr val="FFFFFF"/>
              </a:buClr>
              <a:buSzPct val="100000"/>
            </a:pPr>
            <a:endParaRPr lang="en-US" altLang="en-US" sz="1361">
              <a:solidFill>
                <a:srgbClr val="FFFFFF"/>
              </a:solidFill>
              <a:effectLst>
                <a:outerShdw blurRad="38100" dist="38100" dir="2700000" algn="tl">
                  <a:srgbClr val="000000"/>
                </a:outerShdw>
              </a:effectLst>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179">
              <a:solidFill>
                <a:srgbClr val="FFFFFF"/>
              </a:solidFill>
              <a:effectLst>
                <a:outerShdw blurRad="38100" dist="38100" dir="2700000" algn="tl">
                  <a:srgbClr val="000000"/>
                </a:outerShdw>
              </a:effectLst>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r>
              <a:rPr lang="en-US" altLang="en-US" sz="1723">
                <a:solidFill>
                  <a:srgbClr val="FFFFFF"/>
                </a:solidFill>
                <a:effectLst>
                  <a:outerShdw blurRad="38100" dist="38100" dir="2700000" algn="tl">
                    <a:srgbClr val="000000"/>
                  </a:outerShdw>
                </a:effectLst>
                <a:latin typeface="Verdana" panose="020B0604030504040204" pitchFamily="34" charset="0"/>
              </a:rPr>
              <a:t>Nucleus</a:t>
            </a:r>
          </a:p>
        </p:txBody>
      </p:sp>
      <p:sp>
        <p:nvSpPr>
          <p:cNvPr id="13319" name="Rectangle 7">
            <a:extLst>
              <a:ext uri="{FF2B5EF4-FFF2-40B4-BE49-F238E27FC236}">
                <a16:creationId xmlns:a16="http://schemas.microsoft.com/office/drawing/2014/main" id="{26FCD2D7-1F28-DA4E-BD48-98EF2929ACCA}"/>
              </a:ext>
            </a:extLst>
          </p:cNvPr>
          <p:cNvSpPr>
            <a:spLocks noChangeArrowheads="1"/>
          </p:cNvSpPr>
          <p:nvPr/>
        </p:nvSpPr>
        <p:spPr bwMode="auto">
          <a:xfrm>
            <a:off x="7820641" y="2253961"/>
            <a:ext cx="345600" cy="179712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723">
                <a:solidFill>
                  <a:srgbClr val="FFFFFF"/>
                </a:solidFill>
                <a:effectLst>
                  <a:outerShdw blurRad="38100" dist="38100" dir="2700000" algn="tl">
                    <a:srgbClr val="000000"/>
                  </a:outerShdw>
                </a:effectLst>
                <a:latin typeface="Verdana" panose="020B0604030504040204" pitchFamily="34" charset="0"/>
              </a:rPr>
              <a:t>VM</a:t>
            </a:r>
          </a:p>
        </p:txBody>
      </p:sp>
      <p:sp>
        <p:nvSpPr>
          <p:cNvPr id="13322" name="Line 10">
            <a:extLst>
              <a:ext uri="{FF2B5EF4-FFF2-40B4-BE49-F238E27FC236}">
                <a16:creationId xmlns:a16="http://schemas.microsoft.com/office/drawing/2014/main" id="{05264BC4-8DF8-3343-AD53-D5214F36AB7F}"/>
              </a:ext>
            </a:extLst>
          </p:cNvPr>
          <p:cNvSpPr>
            <a:spLocks noChangeShapeType="1"/>
          </p:cNvSpPr>
          <p:nvPr/>
        </p:nvSpPr>
        <p:spPr bwMode="auto">
          <a:xfrm flipH="1">
            <a:off x="7336801" y="3221641"/>
            <a:ext cx="552960" cy="0"/>
          </a:xfrm>
          <a:prstGeom prst="line">
            <a:avLst/>
          </a:prstGeom>
          <a:noFill/>
          <a:ln w="57150">
            <a:solidFill>
              <a:schemeClr val="accent2"/>
            </a:solidFill>
            <a:round/>
            <a:headEnd type="triangle" w="med" len="med"/>
            <a:tailEnd type="triangle" w="med" len="med"/>
          </a:ln>
          <a:effectLst>
            <a:outerShdw dist="28398" dir="3806097"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pic>
        <p:nvPicPr>
          <p:cNvPr id="13323" name="Picture 11" descr="net">
            <a:extLst>
              <a:ext uri="{FF2B5EF4-FFF2-40B4-BE49-F238E27FC236}">
                <a16:creationId xmlns:a16="http://schemas.microsoft.com/office/drawing/2014/main" id="{6D5B4F6B-D1D5-F441-9EEB-74B134D6131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07361" y="4534921"/>
            <a:ext cx="768960" cy="748800"/>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cpu">
            <a:extLst>
              <a:ext uri="{FF2B5EF4-FFF2-40B4-BE49-F238E27FC236}">
                <a16:creationId xmlns:a16="http://schemas.microsoft.com/office/drawing/2014/main" id="{6351F286-D5B9-D24B-9BC4-98C2064CA72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8881" y="4534921"/>
            <a:ext cx="529920" cy="617760"/>
          </a:xfrm>
          <a:prstGeom prst="rect">
            <a:avLst/>
          </a:prstGeom>
          <a:noFill/>
          <a:extLst>
            <a:ext uri="{909E8E84-426E-40DD-AFC4-6F175D3DCCD1}">
              <a14:hiddenFill xmlns:a14="http://schemas.microsoft.com/office/drawing/2010/main">
                <a:solidFill>
                  <a:srgbClr val="FFFFFF"/>
                </a:solidFill>
              </a14:hiddenFill>
            </a:ext>
          </a:extLst>
        </p:spPr>
      </p:pic>
      <p:pic>
        <p:nvPicPr>
          <p:cNvPr id="13325" name="Picture 13" descr="disk">
            <a:extLst>
              <a:ext uri="{FF2B5EF4-FFF2-40B4-BE49-F238E27FC236}">
                <a16:creationId xmlns:a16="http://schemas.microsoft.com/office/drawing/2014/main" id="{C20E2536-83A7-E54C-8DEF-F5EADE20369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05921" y="4465801"/>
            <a:ext cx="372960" cy="829440"/>
          </a:xfrm>
          <a:prstGeom prst="rect">
            <a:avLst/>
          </a:prstGeom>
          <a:noFill/>
          <a:extLst>
            <a:ext uri="{909E8E84-426E-40DD-AFC4-6F175D3DCCD1}">
              <a14:hiddenFill xmlns:a14="http://schemas.microsoft.com/office/drawing/2010/main">
                <a:solidFill>
                  <a:srgbClr val="FFFFFF"/>
                </a:solidFill>
              </a14:hiddenFill>
            </a:ext>
          </a:extLst>
        </p:spPr>
      </p:pic>
      <p:sp>
        <p:nvSpPr>
          <p:cNvPr id="13327" name="Line 15">
            <a:extLst>
              <a:ext uri="{FF2B5EF4-FFF2-40B4-BE49-F238E27FC236}">
                <a16:creationId xmlns:a16="http://schemas.microsoft.com/office/drawing/2014/main" id="{FF220163-B9A5-494F-801C-3D84B40285C4}"/>
              </a:ext>
            </a:extLst>
          </p:cNvPr>
          <p:cNvSpPr>
            <a:spLocks noChangeShapeType="1"/>
          </p:cNvSpPr>
          <p:nvPr/>
        </p:nvSpPr>
        <p:spPr bwMode="auto">
          <a:xfrm flipH="1">
            <a:off x="6645601" y="3981961"/>
            <a:ext cx="0" cy="483840"/>
          </a:xfrm>
          <a:prstGeom prst="line">
            <a:avLst/>
          </a:prstGeom>
          <a:noFill/>
          <a:ln w="57150">
            <a:solidFill>
              <a:schemeClr val="accent2"/>
            </a:solidFill>
            <a:round/>
            <a:headEnd type="triangle" w="med" len="med"/>
            <a:tailEnd type="triangle" w="med" len="med"/>
          </a:ln>
          <a:effectLst>
            <a:outerShdw dist="28398" dir="3806097"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Tree>
    <p:extLst>
      <p:ext uri="{BB962C8B-B14F-4D97-AF65-F5344CB8AC3E}">
        <p14:creationId xmlns:p14="http://schemas.microsoft.com/office/powerpoint/2010/main" val="4176065053"/>
      </p:ext>
    </p:extLst>
  </p:cSld>
  <p:clrMapOvr>
    <a:masterClrMapping/>
  </p:clrMapOvr>
  <p:transition spd="med" advTm="77860"/>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8CC360B5-D34B-3E4A-96A8-ABA87E76776A}"/>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Hotspot Detection – When?</a:t>
            </a:r>
          </a:p>
        </p:txBody>
      </p:sp>
      <p:sp>
        <p:nvSpPr>
          <p:cNvPr id="14338" name="Rectangle 2">
            <a:extLst>
              <a:ext uri="{FF2B5EF4-FFF2-40B4-BE49-F238E27FC236}">
                <a16:creationId xmlns:a16="http://schemas.microsoft.com/office/drawing/2014/main" id="{E2935C53-0501-4140-A514-FF7D4AC197B7}"/>
              </a:ext>
            </a:extLst>
          </p:cNvPr>
          <p:cNvSpPr>
            <a:spLocks noGrp="1" noChangeArrowheads="1"/>
          </p:cNvSpPr>
          <p:nvPr>
            <p:ph type="body" idx="1"/>
          </p:nvPr>
        </p:nvSpPr>
        <p:spPr>
          <a:xfrm>
            <a:off x="381601" y="1143721"/>
            <a:ext cx="8614080" cy="32529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631"/>
              <a:t>Resource Thresholds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Potential hotspot if utilization exceeds threshold</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631"/>
              <a:t>Only trigger for </a:t>
            </a:r>
            <a:r>
              <a:rPr lang="en-GB" altLang="en-US" sz="2631" i="1">
                <a:solidFill>
                  <a:srgbClr val="CC3300"/>
                </a:solidFill>
              </a:rPr>
              <a:t>sustained</a:t>
            </a:r>
            <a:r>
              <a:rPr lang="en-GB" altLang="en-US" sz="2631"/>
              <a:t> overload</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Must be overloaded for k out of n measurements</a:t>
            </a:r>
            <a:endParaRPr lang="en-GB" altLang="en-US" sz="2177"/>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631"/>
              <a:t>Autoregressive Time Series Model</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Use historical data to predict future values </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a:t>Minimize impact of transient spikes</a:t>
            </a:r>
          </a:p>
        </p:txBody>
      </p:sp>
      <p:grpSp>
        <p:nvGrpSpPr>
          <p:cNvPr id="14382" name="Group 46">
            <a:extLst>
              <a:ext uri="{FF2B5EF4-FFF2-40B4-BE49-F238E27FC236}">
                <a16:creationId xmlns:a16="http://schemas.microsoft.com/office/drawing/2014/main" id="{845EDE7E-A1A4-694E-A406-9B84102E077B}"/>
              </a:ext>
            </a:extLst>
          </p:cNvPr>
          <p:cNvGrpSpPr>
            <a:grpSpLocks/>
          </p:cNvGrpSpPr>
          <p:nvPr/>
        </p:nvGrpSpPr>
        <p:grpSpPr bwMode="auto">
          <a:xfrm>
            <a:off x="627840" y="4491721"/>
            <a:ext cx="7663680" cy="2053440"/>
            <a:chOff x="292" y="2954"/>
            <a:chExt cx="5322" cy="1426"/>
          </a:xfrm>
        </p:grpSpPr>
        <p:grpSp>
          <p:nvGrpSpPr>
            <p:cNvPr id="14340" name="Group 4">
              <a:extLst>
                <a:ext uri="{FF2B5EF4-FFF2-40B4-BE49-F238E27FC236}">
                  <a16:creationId xmlns:a16="http://schemas.microsoft.com/office/drawing/2014/main" id="{53D13978-B745-704F-9C3F-FAD66CCAC909}"/>
                </a:ext>
              </a:extLst>
            </p:cNvPr>
            <p:cNvGrpSpPr>
              <a:grpSpLocks/>
            </p:cNvGrpSpPr>
            <p:nvPr/>
          </p:nvGrpSpPr>
          <p:grpSpPr bwMode="auto">
            <a:xfrm>
              <a:off x="292" y="2957"/>
              <a:ext cx="1490" cy="1213"/>
              <a:chOff x="285" y="2670"/>
              <a:chExt cx="1490" cy="1213"/>
            </a:xfrm>
          </p:grpSpPr>
          <p:grpSp>
            <p:nvGrpSpPr>
              <p:cNvPr id="14341" name="Group 5">
                <a:extLst>
                  <a:ext uri="{FF2B5EF4-FFF2-40B4-BE49-F238E27FC236}">
                    <a16:creationId xmlns:a16="http://schemas.microsoft.com/office/drawing/2014/main" id="{1B25BEC1-EDAA-1B4A-9CB4-FBE78A4C9ED4}"/>
                  </a:ext>
                </a:extLst>
              </p:cNvPr>
              <p:cNvGrpSpPr>
                <a:grpSpLocks/>
              </p:cNvGrpSpPr>
              <p:nvPr/>
            </p:nvGrpSpPr>
            <p:grpSpPr bwMode="auto">
              <a:xfrm>
                <a:off x="285" y="2670"/>
                <a:ext cx="1490" cy="1213"/>
                <a:chOff x="285" y="2670"/>
                <a:chExt cx="1490" cy="1213"/>
              </a:xfrm>
            </p:grpSpPr>
            <p:grpSp>
              <p:nvGrpSpPr>
                <p:cNvPr id="14342" name="Group 6">
                  <a:extLst>
                    <a:ext uri="{FF2B5EF4-FFF2-40B4-BE49-F238E27FC236}">
                      <a16:creationId xmlns:a16="http://schemas.microsoft.com/office/drawing/2014/main" id="{15016DB7-0533-1C4D-B1CA-6E3A5F757CAD}"/>
                    </a:ext>
                  </a:extLst>
                </p:cNvPr>
                <p:cNvGrpSpPr>
                  <a:grpSpLocks/>
                </p:cNvGrpSpPr>
                <p:nvPr/>
              </p:nvGrpSpPr>
              <p:grpSpPr bwMode="auto">
                <a:xfrm>
                  <a:off x="576" y="2670"/>
                  <a:ext cx="1199" cy="911"/>
                  <a:chOff x="576" y="2670"/>
                  <a:chExt cx="1199" cy="911"/>
                </a:xfrm>
              </p:grpSpPr>
              <p:sp>
                <p:nvSpPr>
                  <p:cNvPr id="14343" name="Line 7">
                    <a:extLst>
                      <a:ext uri="{FF2B5EF4-FFF2-40B4-BE49-F238E27FC236}">
                        <a16:creationId xmlns:a16="http://schemas.microsoft.com/office/drawing/2014/main" id="{C8C33010-26FB-4C49-8955-3D512E1E9EEA}"/>
                      </a:ext>
                    </a:extLst>
                  </p:cNvPr>
                  <p:cNvSpPr>
                    <a:spLocks noChangeShapeType="1"/>
                  </p:cNvSpPr>
                  <p:nvPr/>
                </p:nvSpPr>
                <p:spPr bwMode="auto">
                  <a:xfrm>
                    <a:off x="576" y="2670"/>
                    <a:ext cx="1" cy="912"/>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44" name="Line 8">
                    <a:extLst>
                      <a:ext uri="{FF2B5EF4-FFF2-40B4-BE49-F238E27FC236}">
                        <a16:creationId xmlns:a16="http://schemas.microsoft.com/office/drawing/2014/main" id="{6DDE91CD-C107-7A4A-A151-D751751DA017}"/>
                      </a:ext>
                    </a:extLst>
                  </p:cNvPr>
                  <p:cNvSpPr>
                    <a:spLocks noChangeShapeType="1"/>
                  </p:cNvSpPr>
                  <p:nvPr/>
                </p:nvSpPr>
                <p:spPr bwMode="auto">
                  <a:xfrm>
                    <a:off x="576" y="3582"/>
                    <a:ext cx="1200"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45" name="Text Box 9">
                  <a:extLst>
                    <a:ext uri="{FF2B5EF4-FFF2-40B4-BE49-F238E27FC236}">
                      <a16:creationId xmlns:a16="http://schemas.microsoft.com/office/drawing/2014/main" id="{E031B03C-A19C-D54F-AAF3-2EAF54C8F210}"/>
                    </a:ext>
                  </a:extLst>
                </p:cNvPr>
                <p:cNvSpPr txBox="1">
                  <a:spLocks noChangeArrowheads="1"/>
                </p:cNvSpPr>
                <p:nvPr/>
              </p:nvSpPr>
              <p:spPr bwMode="auto">
                <a:xfrm>
                  <a:off x="892" y="3630"/>
                  <a:ext cx="511"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Time</a:t>
                  </a:r>
                </a:p>
              </p:txBody>
            </p:sp>
            <p:sp>
              <p:nvSpPr>
                <p:cNvPr id="14346" name="Text Box 10">
                  <a:extLst>
                    <a:ext uri="{FF2B5EF4-FFF2-40B4-BE49-F238E27FC236}">
                      <a16:creationId xmlns:a16="http://schemas.microsoft.com/office/drawing/2014/main" id="{700E8B16-F95E-434E-B954-27A4F7143505}"/>
                    </a:ext>
                  </a:extLst>
                </p:cNvPr>
                <p:cNvSpPr txBox="1">
                  <a:spLocks noChangeArrowheads="1"/>
                </p:cNvSpPr>
                <p:nvPr/>
              </p:nvSpPr>
              <p:spPr bwMode="auto">
                <a:xfrm rot="16200000">
                  <a:off x="-48" y="3007"/>
                  <a:ext cx="919"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Utilization</a:t>
                  </a:r>
                </a:p>
              </p:txBody>
            </p:sp>
          </p:grpSp>
          <p:sp>
            <p:nvSpPr>
              <p:cNvPr id="14347" name="Line 11">
                <a:extLst>
                  <a:ext uri="{FF2B5EF4-FFF2-40B4-BE49-F238E27FC236}">
                    <a16:creationId xmlns:a16="http://schemas.microsoft.com/office/drawing/2014/main" id="{718EBD48-0D33-FF44-8ED4-7F534200767F}"/>
                  </a:ext>
                </a:extLst>
              </p:cNvPr>
              <p:cNvSpPr>
                <a:spLocks noChangeShapeType="1"/>
              </p:cNvSpPr>
              <p:nvPr/>
            </p:nvSpPr>
            <p:spPr bwMode="auto">
              <a:xfrm>
                <a:off x="576" y="2901"/>
                <a:ext cx="1152" cy="1"/>
              </a:xfrm>
              <a:prstGeom prst="line">
                <a:avLst/>
              </a:prstGeom>
              <a:noFill/>
              <a:ln w="6480">
                <a:solidFill>
                  <a:srgbClr val="333333"/>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48" name="Line 12">
              <a:extLst>
                <a:ext uri="{FF2B5EF4-FFF2-40B4-BE49-F238E27FC236}">
                  <a16:creationId xmlns:a16="http://schemas.microsoft.com/office/drawing/2014/main" id="{2F9AD11D-582E-074B-974A-F04A8184AD3D}"/>
                </a:ext>
              </a:extLst>
            </p:cNvPr>
            <p:cNvSpPr>
              <a:spLocks noChangeShapeType="1"/>
            </p:cNvSpPr>
            <p:nvPr/>
          </p:nvSpPr>
          <p:spPr bwMode="auto">
            <a:xfrm>
              <a:off x="583" y="3620"/>
              <a:ext cx="240" cy="4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49" name="Line 13">
              <a:extLst>
                <a:ext uri="{FF2B5EF4-FFF2-40B4-BE49-F238E27FC236}">
                  <a16:creationId xmlns:a16="http://schemas.microsoft.com/office/drawing/2014/main" id="{6CFAC61B-BAF3-6040-A61F-A5A5A06711F5}"/>
                </a:ext>
              </a:extLst>
            </p:cNvPr>
            <p:cNvSpPr>
              <a:spLocks noChangeShapeType="1"/>
            </p:cNvSpPr>
            <p:nvPr/>
          </p:nvSpPr>
          <p:spPr bwMode="auto">
            <a:xfrm flipV="1">
              <a:off x="823" y="3571"/>
              <a:ext cx="192" cy="9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50" name="Line 14">
              <a:extLst>
                <a:ext uri="{FF2B5EF4-FFF2-40B4-BE49-F238E27FC236}">
                  <a16:creationId xmlns:a16="http://schemas.microsoft.com/office/drawing/2014/main" id="{EFDCFEC7-4BE4-7F49-9416-14388D94BE9E}"/>
                </a:ext>
              </a:extLst>
            </p:cNvPr>
            <p:cNvSpPr>
              <a:spLocks noChangeShapeType="1"/>
            </p:cNvSpPr>
            <p:nvPr/>
          </p:nvSpPr>
          <p:spPr bwMode="auto">
            <a:xfrm flipV="1">
              <a:off x="1015" y="3091"/>
              <a:ext cx="96" cy="482"/>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51" name="Line 15">
              <a:extLst>
                <a:ext uri="{FF2B5EF4-FFF2-40B4-BE49-F238E27FC236}">
                  <a16:creationId xmlns:a16="http://schemas.microsoft.com/office/drawing/2014/main" id="{476D5F1D-A9FB-9B49-93BB-C192363217EE}"/>
                </a:ext>
              </a:extLst>
            </p:cNvPr>
            <p:cNvSpPr>
              <a:spLocks noChangeShapeType="1"/>
            </p:cNvSpPr>
            <p:nvPr/>
          </p:nvSpPr>
          <p:spPr bwMode="auto">
            <a:xfrm>
              <a:off x="1111" y="3092"/>
              <a:ext cx="48" cy="480"/>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52" name="Line 16">
              <a:extLst>
                <a:ext uri="{FF2B5EF4-FFF2-40B4-BE49-F238E27FC236}">
                  <a16:creationId xmlns:a16="http://schemas.microsoft.com/office/drawing/2014/main" id="{3BCE3EEB-91A5-EF47-B6A8-324BEAEAD7BC}"/>
                </a:ext>
              </a:extLst>
            </p:cNvPr>
            <p:cNvSpPr>
              <a:spLocks noChangeShapeType="1"/>
            </p:cNvSpPr>
            <p:nvPr/>
          </p:nvSpPr>
          <p:spPr bwMode="auto">
            <a:xfrm flipV="1">
              <a:off x="1159" y="3523"/>
              <a:ext cx="144" cy="50"/>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53" name="Line 17">
              <a:extLst>
                <a:ext uri="{FF2B5EF4-FFF2-40B4-BE49-F238E27FC236}">
                  <a16:creationId xmlns:a16="http://schemas.microsoft.com/office/drawing/2014/main" id="{F8703524-C6FB-6342-B571-61B93A0D80F6}"/>
                </a:ext>
              </a:extLst>
            </p:cNvPr>
            <p:cNvSpPr>
              <a:spLocks noChangeShapeType="1"/>
            </p:cNvSpPr>
            <p:nvPr/>
          </p:nvSpPr>
          <p:spPr bwMode="auto">
            <a:xfrm flipV="1">
              <a:off x="1303" y="3475"/>
              <a:ext cx="240" cy="50"/>
            </a:xfrm>
            <a:prstGeom prst="line">
              <a:avLst/>
            </a:prstGeom>
            <a:noFill/>
            <a:ln w="25560" cap="rnd">
              <a:solidFill>
                <a:srgbClr val="00CC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nvGrpSpPr>
            <p:cNvPr id="14354" name="Group 18">
              <a:extLst>
                <a:ext uri="{FF2B5EF4-FFF2-40B4-BE49-F238E27FC236}">
                  <a16:creationId xmlns:a16="http://schemas.microsoft.com/office/drawing/2014/main" id="{FD8A0E8D-AA52-9F44-B79A-B2537EC9E199}"/>
                </a:ext>
              </a:extLst>
            </p:cNvPr>
            <p:cNvGrpSpPr>
              <a:grpSpLocks/>
            </p:cNvGrpSpPr>
            <p:nvPr/>
          </p:nvGrpSpPr>
          <p:grpSpPr bwMode="auto">
            <a:xfrm>
              <a:off x="3845" y="2964"/>
              <a:ext cx="1489" cy="1213"/>
              <a:chOff x="3838" y="2677"/>
              <a:chExt cx="1489" cy="1213"/>
            </a:xfrm>
          </p:grpSpPr>
          <p:grpSp>
            <p:nvGrpSpPr>
              <p:cNvPr id="14355" name="Group 19">
                <a:extLst>
                  <a:ext uri="{FF2B5EF4-FFF2-40B4-BE49-F238E27FC236}">
                    <a16:creationId xmlns:a16="http://schemas.microsoft.com/office/drawing/2014/main" id="{1D10481D-4CB7-0648-B6AE-E1E8D09F896A}"/>
                  </a:ext>
                </a:extLst>
              </p:cNvPr>
              <p:cNvGrpSpPr>
                <a:grpSpLocks/>
              </p:cNvGrpSpPr>
              <p:nvPr/>
            </p:nvGrpSpPr>
            <p:grpSpPr bwMode="auto">
              <a:xfrm>
                <a:off x="3838" y="2677"/>
                <a:ext cx="1489" cy="1213"/>
                <a:chOff x="3838" y="2677"/>
                <a:chExt cx="1489" cy="1213"/>
              </a:xfrm>
            </p:grpSpPr>
            <p:grpSp>
              <p:nvGrpSpPr>
                <p:cNvPr id="14356" name="Group 20">
                  <a:extLst>
                    <a:ext uri="{FF2B5EF4-FFF2-40B4-BE49-F238E27FC236}">
                      <a16:creationId xmlns:a16="http://schemas.microsoft.com/office/drawing/2014/main" id="{A214C1AD-5B7F-2F43-8B74-22D3C01C7520}"/>
                    </a:ext>
                  </a:extLst>
                </p:cNvPr>
                <p:cNvGrpSpPr>
                  <a:grpSpLocks/>
                </p:cNvGrpSpPr>
                <p:nvPr/>
              </p:nvGrpSpPr>
              <p:grpSpPr bwMode="auto">
                <a:xfrm>
                  <a:off x="4128" y="2677"/>
                  <a:ext cx="1199" cy="911"/>
                  <a:chOff x="4128" y="2677"/>
                  <a:chExt cx="1199" cy="911"/>
                </a:xfrm>
              </p:grpSpPr>
              <p:sp>
                <p:nvSpPr>
                  <p:cNvPr id="14357" name="Line 21">
                    <a:extLst>
                      <a:ext uri="{FF2B5EF4-FFF2-40B4-BE49-F238E27FC236}">
                        <a16:creationId xmlns:a16="http://schemas.microsoft.com/office/drawing/2014/main" id="{9D287A42-A3F4-C84C-84C6-190C8829F1F6}"/>
                      </a:ext>
                    </a:extLst>
                  </p:cNvPr>
                  <p:cNvSpPr>
                    <a:spLocks noChangeShapeType="1"/>
                  </p:cNvSpPr>
                  <p:nvPr/>
                </p:nvSpPr>
                <p:spPr bwMode="auto">
                  <a:xfrm>
                    <a:off x="4128" y="2677"/>
                    <a:ext cx="1" cy="912"/>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58" name="Line 22">
                    <a:extLst>
                      <a:ext uri="{FF2B5EF4-FFF2-40B4-BE49-F238E27FC236}">
                        <a16:creationId xmlns:a16="http://schemas.microsoft.com/office/drawing/2014/main" id="{FE68D902-2B76-0F4E-9F2D-D9461F0ADA23}"/>
                      </a:ext>
                    </a:extLst>
                  </p:cNvPr>
                  <p:cNvSpPr>
                    <a:spLocks noChangeShapeType="1"/>
                  </p:cNvSpPr>
                  <p:nvPr/>
                </p:nvSpPr>
                <p:spPr bwMode="auto">
                  <a:xfrm>
                    <a:off x="4128" y="3589"/>
                    <a:ext cx="1200"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59" name="Text Box 23">
                  <a:extLst>
                    <a:ext uri="{FF2B5EF4-FFF2-40B4-BE49-F238E27FC236}">
                      <a16:creationId xmlns:a16="http://schemas.microsoft.com/office/drawing/2014/main" id="{78FC1E7D-8BFF-DC40-AF96-9833283113CD}"/>
                    </a:ext>
                  </a:extLst>
                </p:cNvPr>
                <p:cNvSpPr txBox="1">
                  <a:spLocks noChangeArrowheads="1"/>
                </p:cNvSpPr>
                <p:nvPr/>
              </p:nvSpPr>
              <p:spPr bwMode="auto">
                <a:xfrm>
                  <a:off x="4444" y="3637"/>
                  <a:ext cx="511"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Time</a:t>
                  </a:r>
                </a:p>
              </p:txBody>
            </p:sp>
            <p:sp>
              <p:nvSpPr>
                <p:cNvPr id="14360" name="Text Box 24">
                  <a:extLst>
                    <a:ext uri="{FF2B5EF4-FFF2-40B4-BE49-F238E27FC236}">
                      <a16:creationId xmlns:a16="http://schemas.microsoft.com/office/drawing/2014/main" id="{3DA92107-4635-B44D-8972-403AEBD1B019}"/>
                    </a:ext>
                  </a:extLst>
                </p:cNvPr>
                <p:cNvSpPr txBox="1">
                  <a:spLocks noChangeArrowheads="1"/>
                </p:cNvSpPr>
                <p:nvPr/>
              </p:nvSpPr>
              <p:spPr bwMode="auto">
                <a:xfrm rot="16200000">
                  <a:off x="3505" y="3012"/>
                  <a:ext cx="919"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Utilization</a:t>
                  </a:r>
                </a:p>
              </p:txBody>
            </p:sp>
          </p:grpSp>
          <p:sp>
            <p:nvSpPr>
              <p:cNvPr id="14361" name="Line 25">
                <a:extLst>
                  <a:ext uri="{FF2B5EF4-FFF2-40B4-BE49-F238E27FC236}">
                    <a16:creationId xmlns:a16="http://schemas.microsoft.com/office/drawing/2014/main" id="{D4C3F230-1041-1349-B0B9-E3C6B315615B}"/>
                  </a:ext>
                </a:extLst>
              </p:cNvPr>
              <p:cNvSpPr>
                <a:spLocks noChangeShapeType="1"/>
              </p:cNvSpPr>
              <p:nvPr/>
            </p:nvSpPr>
            <p:spPr bwMode="auto">
              <a:xfrm>
                <a:off x="4128" y="2908"/>
                <a:ext cx="1152" cy="1"/>
              </a:xfrm>
              <a:prstGeom prst="line">
                <a:avLst/>
              </a:prstGeom>
              <a:noFill/>
              <a:ln w="6480">
                <a:solidFill>
                  <a:srgbClr val="333333"/>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62" name="Line 26">
              <a:extLst>
                <a:ext uri="{FF2B5EF4-FFF2-40B4-BE49-F238E27FC236}">
                  <a16:creationId xmlns:a16="http://schemas.microsoft.com/office/drawing/2014/main" id="{8015B1EC-299B-8848-B3A1-E6D883803E8C}"/>
                </a:ext>
              </a:extLst>
            </p:cNvPr>
            <p:cNvSpPr>
              <a:spLocks noChangeShapeType="1"/>
            </p:cNvSpPr>
            <p:nvPr/>
          </p:nvSpPr>
          <p:spPr bwMode="auto">
            <a:xfrm flipV="1">
              <a:off x="4327" y="3164"/>
              <a:ext cx="144" cy="9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63" name="Line 27">
              <a:extLst>
                <a:ext uri="{FF2B5EF4-FFF2-40B4-BE49-F238E27FC236}">
                  <a16:creationId xmlns:a16="http://schemas.microsoft.com/office/drawing/2014/main" id="{29F4F266-9F35-9C41-B3DA-1C0A34596BE8}"/>
                </a:ext>
              </a:extLst>
            </p:cNvPr>
            <p:cNvSpPr>
              <a:spLocks noChangeShapeType="1"/>
            </p:cNvSpPr>
            <p:nvPr/>
          </p:nvSpPr>
          <p:spPr bwMode="auto">
            <a:xfrm flipV="1">
              <a:off x="4471" y="3068"/>
              <a:ext cx="144" cy="9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64" name="Line 28">
              <a:extLst>
                <a:ext uri="{FF2B5EF4-FFF2-40B4-BE49-F238E27FC236}">
                  <a16:creationId xmlns:a16="http://schemas.microsoft.com/office/drawing/2014/main" id="{6462EADA-57E4-1646-B1FF-E33C8B91EFC0}"/>
                </a:ext>
              </a:extLst>
            </p:cNvPr>
            <p:cNvSpPr>
              <a:spLocks noChangeShapeType="1"/>
            </p:cNvSpPr>
            <p:nvPr/>
          </p:nvSpPr>
          <p:spPr bwMode="auto">
            <a:xfrm flipV="1">
              <a:off x="4615" y="3002"/>
              <a:ext cx="192" cy="6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65" name="Line 29">
              <a:extLst>
                <a:ext uri="{FF2B5EF4-FFF2-40B4-BE49-F238E27FC236}">
                  <a16:creationId xmlns:a16="http://schemas.microsoft.com/office/drawing/2014/main" id="{15DDDFCD-505B-CC43-87EE-363EB78F5057}"/>
                </a:ext>
              </a:extLst>
            </p:cNvPr>
            <p:cNvSpPr>
              <a:spLocks noChangeShapeType="1"/>
            </p:cNvSpPr>
            <p:nvPr/>
          </p:nvSpPr>
          <p:spPr bwMode="auto">
            <a:xfrm flipV="1">
              <a:off x="4807" y="2954"/>
              <a:ext cx="240" cy="50"/>
            </a:xfrm>
            <a:prstGeom prst="line">
              <a:avLst/>
            </a:prstGeom>
            <a:noFill/>
            <a:ln w="25560" cap="rnd">
              <a:solidFill>
                <a:srgbClr val="FF33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66" name="Line 30">
              <a:extLst>
                <a:ext uri="{FF2B5EF4-FFF2-40B4-BE49-F238E27FC236}">
                  <a16:creationId xmlns:a16="http://schemas.microsoft.com/office/drawing/2014/main" id="{8DCAC28D-F125-8A45-83F3-EBB09E5939C9}"/>
                </a:ext>
              </a:extLst>
            </p:cNvPr>
            <p:cNvSpPr>
              <a:spLocks noChangeShapeType="1"/>
            </p:cNvSpPr>
            <p:nvPr/>
          </p:nvSpPr>
          <p:spPr bwMode="auto">
            <a:xfrm flipV="1">
              <a:off x="4135" y="3260"/>
              <a:ext cx="192" cy="50"/>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nvGrpSpPr>
            <p:cNvPr id="14367" name="Group 31">
              <a:extLst>
                <a:ext uri="{FF2B5EF4-FFF2-40B4-BE49-F238E27FC236}">
                  <a16:creationId xmlns:a16="http://schemas.microsoft.com/office/drawing/2014/main" id="{D8C077E8-CAF7-1D44-9477-1A58B02C7A1B}"/>
                </a:ext>
              </a:extLst>
            </p:cNvPr>
            <p:cNvGrpSpPr>
              <a:grpSpLocks/>
            </p:cNvGrpSpPr>
            <p:nvPr/>
          </p:nvGrpSpPr>
          <p:grpSpPr bwMode="auto">
            <a:xfrm>
              <a:off x="1829" y="2957"/>
              <a:ext cx="1489" cy="1213"/>
              <a:chOff x="1822" y="2670"/>
              <a:chExt cx="1489" cy="1213"/>
            </a:xfrm>
          </p:grpSpPr>
          <p:grpSp>
            <p:nvGrpSpPr>
              <p:cNvPr id="14368" name="Group 32">
                <a:extLst>
                  <a:ext uri="{FF2B5EF4-FFF2-40B4-BE49-F238E27FC236}">
                    <a16:creationId xmlns:a16="http://schemas.microsoft.com/office/drawing/2014/main" id="{B212F2AC-5446-284D-B72B-88C4D4691E61}"/>
                  </a:ext>
                </a:extLst>
              </p:cNvPr>
              <p:cNvGrpSpPr>
                <a:grpSpLocks/>
              </p:cNvGrpSpPr>
              <p:nvPr/>
            </p:nvGrpSpPr>
            <p:grpSpPr bwMode="auto">
              <a:xfrm>
                <a:off x="1822" y="2670"/>
                <a:ext cx="1489" cy="1213"/>
                <a:chOff x="1822" y="2670"/>
                <a:chExt cx="1489" cy="1213"/>
              </a:xfrm>
            </p:grpSpPr>
            <p:grpSp>
              <p:nvGrpSpPr>
                <p:cNvPr id="14369" name="Group 33">
                  <a:extLst>
                    <a:ext uri="{FF2B5EF4-FFF2-40B4-BE49-F238E27FC236}">
                      <a16:creationId xmlns:a16="http://schemas.microsoft.com/office/drawing/2014/main" id="{28B8245F-3798-9C45-8BA4-D8F37DAF6BE8}"/>
                    </a:ext>
                  </a:extLst>
                </p:cNvPr>
                <p:cNvGrpSpPr>
                  <a:grpSpLocks/>
                </p:cNvGrpSpPr>
                <p:nvPr/>
              </p:nvGrpSpPr>
              <p:grpSpPr bwMode="auto">
                <a:xfrm>
                  <a:off x="2112" y="2670"/>
                  <a:ext cx="1199" cy="911"/>
                  <a:chOff x="2112" y="2670"/>
                  <a:chExt cx="1199" cy="911"/>
                </a:xfrm>
              </p:grpSpPr>
              <p:sp>
                <p:nvSpPr>
                  <p:cNvPr id="14370" name="Line 34">
                    <a:extLst>
                      <a:ext uri="{FF2B5EF4-FFF2-40B4-BE49-F238E27FC236}">
                        <a16:creationId xmlns:a16="http://schemas.microsoft.com/office/drawing/2014/main" id="{A32500FC-0D31-AB48-A16E-B6C72DD20C71}"/>
                      </a:ext>
                    </a:extLst>
                  </p:cNvPr>
                  <p:cNvSpPr>
                    <a:spLocks noChangeShapeType="1"/>
                  </p:cNvSpPr>
                  <p:nvPr/>
                </p:nvSpPr>
                <p:spPr bwMode="auto">
                  <a:xfrm>
                    <a:off x="2112" y="2670"/>
                    <a:ext cx="1" cy="912"/>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71" name="Line 35">
                    <a:extLst>
                      <a:ext uri="{FF2B5EF4-FFF2-40B4-BE49-F238E27FC236}">
                        <a16:creationId xmlns:a16="http://schemas.microsoft.com/office/drawing/2014/main" id="{AFE22A26-0A03-0842-8B93-EFF091201CCC}"/>
                      </a:ext>
                    </a:extLst>
                  </p:cNvPr>
                  <p:cNvSpPr>
                    <a:spLocks noChangeShapeType="1"/>
                  </p:cNvSpPr>
                  <p:nvPr/>
                </p:nvSpPr>
                <p:spPr bwMode="auto">
                  <a:xfrm>
                    <a:off x="2112" y="3582"/>
                    <a:ext cx="1200"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72" name="Text Box 36">
                  <a:extLst>
                    <a:ext uri="{FF2B5EF4-FFF2-40B4-BE49-F238E27FC236}">
                      <a16:creationId xmlns:a16="http://schemas.microsoft.com/office/drawing/2014/main" id="{9E18415C-56F4-664F-838B-B7C72075F850}"/>
                    </a:ext>
                  </a:extLst>
                </p:cNvPr>
                <p:cNvSpPr txBox="1">
                  <a:spLocks noChangeArrowheads="1"/>
                </p:cNvSpPr>
                <p:nvPr/>
              </p:nvSpPr>
              <p:spPr bwMode="auto">
                <a:xfrm>
                  <a:off x="2428" y="3630"/>
                  <a:ext cx="511"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Time</a:t>
                  </a:r>
                </a:p>
              </p:txBody>
            </p:sp>
            <p:sp>
              <p:nvSpPr>
                <p:cNvPr id="14373" name="Text Box 37">
                  <a:extLst>
                    <a:ext uri="{FF2B5EF4-FFF2-40B4-BE49-F238E27FC236}">
                      <a16:creationId xmlns:a16="http://schemas.microsoft.com/office/drawing/2014/main" id="{6BE2D5E0-4A5F-1E4E-BA77-B3FFE5D859B2}"/>
                    </a:ext>
                  </a:extLst>
                </p:cNvPr>
                <p:cNvSpPr txBox="1">
                  <a:spLocks noChangeArrowheads="1"/>
                </p:cNvSpPr>
                <p:nvPr/>
              </p:nvSpPr>
              <p:spPr bwMode="auto">
                <a:xfrm rot="16200000">
                  <a:off x="1489" y="3006"/>
                  <a:ext cx="919"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814">
                      <a:latin typeface="Verdana" panose="020B0604030504040204" pitchFamily="34" charset="0"/>
                      <a:cs typeface="Arial" panose="020B0604020202020204" pitchFamily="34" charset="0"/>
                    </a:rPr>
                    <a:t>Utilization</a:t>
                  </a:r>
                </a:p>
              </p:txBody>
            </p:sp>
          </p:grpSp>
          <p:sp>
            <p:nvSpPr>
              <p:cNvPr id="14374" name="Line 38">
                <a:extLst>
                  <a:ext uri="{FF2B5EF4-FFF2-40B4-BE49-F238E27FC236}">
                    <a16:creationId xmlns:a16="http://schemas.microsoft.com/office/drawing/2014/main" id="{9C24498B-55D8-B448-93CC-BDC4664B8497}"/>
                  </a:ext>
                </a:extLst>
              </p:cNvPr>
              <p:cNvSpPr>
                <a:spLocks noChangeShapeType="1"/>
              </p:cNvSpPr>
              <p:nvPr/>
            </p:nvSpPr>
            <p:spPr bwMode="auto">
              <a:xfrm>
                <a:off x="2112" y="2901"/>
                <a:ext cx="1152" cy="1"/>
              </a:xfrm>
              <a:prstGeom prst="line">
                <a:avLst/>
              </a:prstGeom>
              <a:noFill/>
              <a:ln w="6480">
                <a:solidFill>
                  <a:srgbClr val="333333"/>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4375" name="Line 39">
              <a:extLst>
                <a:ext uri="{FF2B5EF4-FFF2-40B4-BE49-F238E27FC236}">
                  <a16:creationId xmlns:a16="http://schemas.microsoft.com/office/drawing/2014/main" id="{7BF1CCE7-DC95-0B48-AAE7-94BC54CC976E}"/>
                </a:ext>
              </a:extLst>
            </p:cNvPr>
            <p:cNvSpPr>
              <a:spLocks noChangeShapeType="1"/>
            </p:cNvSpPr>
            <p:nvPr/>
          </p:nvSpPr>
          <p:spPr bwMode="auto">
            <a:xfrm flipV="1">
              <a:off x="2311" y="2965"/>
              <a:ext cx="192" cy="338"/>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76" name="Line 40">
              <a:extLst>
                <a:ext uri="{FF2B5EF4-FFF2-40B4-BE49-F238E27FC236}">
                  <a16:creationId xmlns:a16="http://schemas.microsoft.com/office/drawing/2014/main" id="{454559BD-1850-1C43-B7BF-0EAF7D23CAF0}"/>
                </a:ext>
              </a:extLst>
            </p:cNvPr>
            <p:cNvSpPr>
              <a:spLocks noChangeShapeType="1"/>
            </p:cNvSpPr>
            <p:nvPr/>
          </p:nvSpPr>
          <p:spPr bwMode="auto">
            <a:xfrm>
              <a:off x="2503" y="2966"/>
              <a:ext cx="144" cy="96"/>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77" name="Line 41">
              <a:extLst>
                <a:ext uri="{FF2B5EF4-FFF2-40B4-BE49-F238E27FC236}">
                  <a16:creationId xmlns:a16="http://schemas.microsoft.com/office/drawing/2014/main" id="{C98FDCC0-5CA9-5048-836C-81BAF9A3FF6E}"/>
                </a:ext>
              </a:extLst>
            </p:cNvPr>
            <p:cNvSpPr>
              <a:spLocks noChangeShapeType="1"/>
            </p:cNvSpPr>
            <p:nvPr/>
          </p:nvSpPr>
          <p:spPr bwMode="auto">
            <a:xfrm>
              <a:off x="2647" y="3062"/>
              <a:ext cx="192" cy="96"/>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78" name="Line 42">
              <a:extLst>
                <a:ext uri="{FF2B5EF4-FFF2-40B4-BE49-F238E27FC236}">
                  <a16:creationId xmlns:a16="http://schemas.microsoft.com/office/drawing/2014/main" id="{71640BC1-B345-6544-B125-2022582C57A8}"/>
                </a:ext>
              </a:extLst>
            </p:cNvPr>
            <p:cNvSpPr>
              <a:spLocks noChangeShapeType="1"/>
            </p:cNvSpPr>
            <p:nvPr/>
          </p:nvSpPr>
          <p:spPr bwMode="auto">
            <a:xfrm>
              <a:off x="2839" y="3158"/>
              <a:ext cx="240" cy="96"/>
            </a:xfrm>
            <a:prstGeom prst="line">
              <a:avLst/>
            </a:prstGeom>
            <a:noFill/>
            <a:ln w="25560" cap="rnd">
              <a:solidFill>
                <a:srgbClr val="00CC00"/>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79" name="Line 43">
              <a:extLst>
                <a:ext uri="{FF2B5EF4-FFF2-40B4-BE49-F238E27FC236}">
                  <a16:creationId xmlns:a16="http://schemas.microsoft.com/office/drawing/2014/main" id="{12C7C41C-B478-8A44-972B-79A512582A54}"/>
                </a:ext>
              </a:extLst>
            </p:cNvPr>
            <p:cNvSpPr>
              <a:spLocks noChangeShapeType="1"/>
            </p:cNvSpPr>
            <p:nvPr/>
          </p:nvSpPr>
          <p:spPr bwMode="auto">
            <a:xfrm flipV="1">
              <a:off x="2119" y="3301"/>
              <a:ext cx="192" cy="50"/>
            </a:xfrm>
            <a:prstGeom prst="line">
              <a:avLst/>
            </a:prstGeom>
            <a:noFill/>
            <a:ln w="25527">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4380" name="Text Box 44">
              <a:extLst>
                <a:ext uri="{FF2B5EF4-FFF2-40B4-BE49-F238E27FC236}">
                  <a16:creationId xmlns:a16="http://schemas.microsoft.com/office/drawing/2014/main" id="{FB5ABA04-D1C4-D944-8DF4-2E545CF969FC}"/>
                </a:ext>
              </a:extLst>
            </p:cNvPr>
            <p:cNvSpPr txBox="1">
              <a:spLocks noChangeArrowheads="1"/>
            </p:cNvSpPr>
            <p:nvPr/>
          </p:nvSpPr>
          <p:spPr bwMode="auto">
            <a:xfrm>
              <a:off x="1270" y="4107"/>
              <a:ext cx="1469"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Clr>
                  <a:srgbClr val="00CC00"/>
                </a:buClr>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996">
                  <a:solidFill>
                    <a:srgbClr val="00CC00"/>
                  </a:solidFill>
                  <a:effectLst>
                    <a:outerShdw blurRad="38100" dist="38100" dir="2700000" algn="tl">
                      <a:srgbClr val="C0C0C0"/>
                    </a:outerShdw>
                  </a:effectLst>
                  <a:latin typeface="Verdana" panose="020B0604030504040204" pitchFamily="34" charset="0"/>
                  <a:cs typeface="Arial" panose="020B0604020202020204" pitchFamily="34" charset="0"/>
                </a:rPr>
                <a:t>Not overloaded</a:t>
              </a:r>
            </a:p>
          </p:txBody>
        </p:sp>
        <p:sp>
          <p:nvSpPr>
            <p:cNvPr id="14381" name="Text Box 45">
              <a:extLst>
                <a:ext uri="{FF2B5EF4-FFF2-40B4-BE49-F238E27FC236}">
                  <a16:creationId xmlns:a16="http://schemas.microsoft.com/office/drawing/2014/main" id="{F4A21916-6CCD-6043-A176-B101CB903B7F}"/>
                </a:ext>
              </a:extLst>
            </p:cNvPr>
            <p:cNvSpPr txBox="1">
              <a:spLocks noChangeArrowheads="1"/>
            </p:cNvSpPr>
            <p:nvPr/>
          </p:nvSpPr>
          <p:spPr bwMode="auto">
            <a:xfrm>
              <a:off x="3878" y="4105"/>
              <a:ext cx="1736"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8" tIns="42452" rIns="81638" bIns="42452">
              <a:spAutoFit/>
            </a:bodyPr>
            <a:lstStyle>
              <a:lvl1pPr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1pPr>
              <a:lvl2pPr marL="4572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2pPr>
              <a:lvl3pPr marL="9144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3pPr>
              <a:lvl4pPr marL="13716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4pPr>
              <a:lvl5pPr marL="1828800" algn="l">
                <a:lnSpc>
                  <a:spcPct val="81000"/>
                </a:lnSpc>
                <a:spcBef>
                  <a:spcPct val="0"/>
                </a:spcBef>
                <a:buClr>
                  <a:srgbClr val="000000"/>
                </a:buClr>
                <a:buSzPct val="45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5pPr>
              <a:lvl6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6pPr>
              <a:lvl7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7pPr>
              <a:lvl8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8pPr>
              <a:lvl9pPr defTabSz="457200" fontAlgn="base">
                <a:lnSpc>
                  <a:spcPct val="81000"/>
                </a:lnSpc>
                <a:spcBef>
                  <a:spcPct val="0"/>
                </a:spcBef>
                <a:spcAft>
                  <a:spcPct val="0"/>
                </a:spcAft>
                <a:buClr>
                  <a:srgbClr val="000000"/>
                </a:buClr>
                <a:buSzPct val="45000"/>
                <a:buFont typeface="Wingdings" pitchFamily="2" charset="2"/>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defRPr>
              </a:lvl9pPr>
            </a:lstStyle>
            <a:p>
              <a:pPr algn="ctr" defTabSz="414726" fontAlgn="base">
                <a:lnSpc>
                  <a:spcPct val="100000"/>
                </a:lnSpc>
                <a:spcAft>
                  <a:spcPct val="0"/>
                </a:spcAft>
                <a:buClr>
                  <a:srgbClr val="FF3300"/>
                </a:buClr>
                <a:buSzPct val="100000"/>
                <a:tabLst>
                  <a:tab pos="0" algn="l"/>
                  <a:tab pos="829452" algn="l"/>
                  <a:tab pos="1658904" algn="l"/>
                  <a:tab pos="2488357" algn="l"/>
                  <a:tab pos="3317809" algn="l"/>
                  <a:tab pos="4147261" algn="l"/>
                  <a:tab pos="4976713" algn="l"/>
                  <a:tab pos="5806166" algn="l"/>
                  <a:tab pos="6635618" algn="l"/>
                  <a:tab pos="7465070" algn="l"/>
                  <a:tab pos="8294522" algn="l"/>
                  <a:tab pos="9123975" algn="l"/>
                </a:tabLst>
              </a:pPr>
              <a:r>
                <a:rPr lang="en-GB" altLang="en-US" sz="1996">
                  <a:solidFill>
                    <a:srgbClr val="FF3300"/>
                  </a:solidFill>
                  <a:effectLst>
                    <a:outerShdw blurRad="38100" dist="38100" dir="2700000" algn="tl">
                      <a:srgbClr val="C0C0C0"/>
                    </a:outerShdw>
                  </a:effectLst>
                  <a:latin typeface="Verdana" panose="020B0604030504040204" pitchFamily="34" charset="0"/>
                  <a:cs typeface="Arial" panose="020B0604020202020204" pitchFamily="34" charset="0"/>
                </a:rPr>
                <a:t>Hotspot Detected!</a:t>
              </a:r>
            </a:p>
          </p:txBody>
        </p:sp>
      </p:grpSp>
    </p:spTree>
    <p:extLst>
      <p:ext uri="{BB962C8B-B14F-4D97-AF65-F5344CB8AC3E}">
        <p14:creationId xmlns:p14="http://schemas.microsoft.com/office/powerpoint/2010/main" val="379016516"/>
      </p:ext>
    </p:extLst>
  </p:cSld>
  <p:clrMapOvr>
    <a:masterClrMapping/>
  </p:clrMapOvr>
  <p:transition spd="med" advTm="114344"/>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4BAADA8-EDFA-884E-A207-6491444DE321}"/>
              </a:ext>
            </a:extLst>
          </p:cNvPr>
          <p:cNvSpPr>
            <a:spLocks noGrp="1" noChangeArrowheads="1"/>
          </p:cNvSpPr>
          <p:nvPr>
            <p:ph type="body" sz="half" idx="1"/>
          </p:nvPr>
        </p:nvSpPr>
        <p:spPr>
          <a:xfrm>
            <a:off x="381601" y="1143720"/>
            <a:ext cx="8406720" cy="498240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086" dirty="0"/>
              <a:t>How much of each resource to give a VM</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Create distribution from time series</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Provision to meet peaks of recent workload</a:t>
            </a:r>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086" dirty="0"/>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086" dirty="0"/>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086"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endParaRPr lang="en-GB" altLang="en-US" sz="2086"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endParaRPr lang="en-GB" altLang="en-US" sz="2086"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086" dirty="0"/>
              <a:t>Black box: generally know when resources are not enough</a:t>
            </a:r>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540" dirty="0">
                <a:solidFill>
                  <a:schemeClr val="folHlink"/>
                </a:solidFill>
              </a:rPr>
              <a:t>What to do if utilization is at 100%?</a:t>
            </a:r>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086" dirty="0"/>
              <a:t>Gray-box</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Request level knowledge can help</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Can use application models to determine requirements</a:t>
            </a:r>
          </a:p>
        </p:txBody>
      </p:sp>
      <p:grpSp>
        <p:nvGrpSpPr>
          <p:cNvPr id="15363" name="Group 3">
            <a:extLst>
              <a:ext uri="{FF2B5EF4-FFF2-40B4-BE49-F238E27FC236}">
                <a16:creationId xmlns:a16="http://schemas.microsoft.com/office/drawing/2014/main" id="{2F02FECD-F290-0A4D-B07C-F5FD45754EE1}"/>
              </a:ext>
            </a:extLst>
          </p:cNvPr>
          <p:cNvGrpSpPr>
            <a:grpSpLocks/>
          </p:cNvGrpSpPr>
          <p:nvPr/>
        </p:nvGrpSpPr>
        <p:grpSpPr bwMode="auto">
          <a:xfrm>
            <a:off x="493921" y="2708920"/>
            <a:ext cx="7848000" cy="1291680"/>
            <a:chOff x="343" y="2251"/>
            <a:chExt cx="5450" cy="897"/>
          </a:xfrm>
        </p:grpSpPr>
        <p:pic>
          <p:nvPicPr>
            <p:cNvPr id="15364" name="Picture 4">
              <a:extLst>
                <a:ext uri="{FF2B5EF4-FFF2-40B4-BE49-F238E27FC236}">
                  <a16:creationId xmlns:a16="http://schemas.microsoft.com/office/drawing/2014/main" id="{66D4A3EF-D22D-C24B-8D10-365015DEF4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589" r="3511" b="6789"/>
            <a:stretch>
              <a:fillRect/>
            </a:stretch>
          </p:blipFill>
          <p:spPr bwMode="auto">
            <a:xfrm>
              <a:off x="4114" y="2251"/>
              <a:ext cx="1680" cy="893"/>
            </a:xfrm>
            <a:prstGeom prst="rect">
              <a:avLst/>
            </a:prstGeom>
            <a:noFill/>
            <a:ln>
              <a:noFill/>
            </a:ln>
            <a:effectLst/>
            <a:extLst>
              <a:ext uri="{909E8E84-426E-40DD-AFC4-6F175D3DCCD1}">
                <a14:hiddenFill xmlns:a14="http://schemas.microsoft.com/office/drawing/2010/main">
                  <a:blipFill dpi="0" rotWithShape="0">
                    <a:blip/>
                    <a:srcRect t="3589" r="3511" b="6789"/>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365" name="Picture 5">
              <a:extLst>
                <a:ext uri="{FF2B5EF4-FFF2-40B4-BE49-F238E27FC236}">
                  <a16:creationId xmlns:a16="http://schemas.microsoft.com/office/drawing/2014/main" id="{33D7AF1D-4ECC-384A-A5EF-DF603609EA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 y="2381"/>
              <a:ext cx="2763" cy="76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66" name="Line 6">
              <a:extLst>
                <a:ext uri="{FF2B5EF4-FFF2-40B4-BE49-F238E27FC236}">
                  <a16:creationId xmlns:a16="http://schemas.microsoft.com/office/drawing/2014/main" id="{71C428AB-DC8E-234A-B3B8-2829160DD294}"/>
                </a:ext>
              </a:extLst>
            </p:cNvPr>
            <p:cNvSpPr>
              <a:spLocks noChangeShapeType="1"/>
            </p:cNvSpPr>
            <p:nvPr/>
          </p:nvSpPr>
          <p:spPr bwMode="auto">
            <a:xfrm>
              <a:off x="3298" y="2636"/>
              <a:ext cx="624" cy="1"/>
            </a:xfrm>
            <a:prstGeom prst="line">
              <a:avLst/>
            </a:prstGeom>
            <a:noFill/>
            <a:ln w="63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grpSp>
      <p:sp>
        <p:nvSpPr>
          <p:cNvPr id="15361" name="Rectangle 1">
            <a:extLst>
              <a:ext uri="{FF2B5EF4-FFF2-40B4-BE49-F238E27FC236}">
                <a16:creationId xmlns:a16="http://schemas.microsoft.com/office/drawing/2014/main" id="{124D831D-EA25-204E-90EC-B26BB625725B}"/>
              </a:ext>
            </a:extLst>
          </p:cNvPr>
          <p:cNvSpPr>
            <a:spLocks noGrp="1" noChangeArrowheads="1"/>
          </p:cNvSpPr>
          <p:nvPr>
            <p:ph type="title"/>
          </p:nvPr>
        </p:nvSpPr>
        <p:spPr>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Resource Profiling – How much?</a:t>
            </a:r>
          </a:p>
        </p:txBody>
      </p:sp>
      <p:graphicFrame>
        <p:nvGraphicFramePr>
          <p:cNvPr id="15382" name="Object 22">
            <a:extLst>
              <a:ext uri="{FF2B5EF4-FFF2-40B4-BE49-F238E27FC236}">
                <a16:creationId xmlns:a16="http://schemas.microsoft.com/office/drawing/2014/main" id="{D672290A-7E22-9B4A-8EE6-82DA8A4CF73D}"/>
              </a:ext>
            </a:extLst>
          </p:cNvPr>
          <p:cNvGraphicFramePr>
            <a:graphicFrameLocks noGrp="1" noChangeAspect="1"/>
          </p:cNvGraphicFramePr>
          <p:nvPr>
            <p:ph sz="quarter" idx="3"/>
            <p:extLst>
              <p:ext uri="{D42A27DB-BD31-4B8C-83A1-F6EECF244321}">
                <p14:modId xmlns:p14="http://schemas.microsoft.com/office/powerpoint/2010/main" val="2998696529"/>
              </p:ext>
            </p:extLst>
          </p:nvPr>
        </p:nvGraphicFramePr>
        <p:xfrm>
          <a:off x="6174935" y="2288062"/>
          <a:ext cx="2419200" cy="1382400"/>
        </p:xfrm>
        <a:graphic>
          <a:graphicData uri="http://schemas.openxmlformats.org/presentationml/2006/ole">
            <mc:AlternateContent xmlns:mc="http://schemas.openxmlformats.org/markup-compatibility/2006">
              <mc:Choice xmlns:v="urn:schemas-microsoft-com:vml" Requires="v">
                <p:oleObj name="Chart" r:id="rId6" imgW="2317750" imgH="1498600" progId="Excel.Chart.8">
                  <p:embed/>
                </p:oleObj>
              </mc:Choice>
              <mc:Fallback>
                <p:oleObj name="Chart" r:id="rId6" imgW="2317750" imgH="1498600" progId="Excel.Chart.8">
                  <p:embed/>
                  <p:pic>
                    <p:nvPicPr>
                      <p:cNvPr id="15382" name="Object 22">
                        <a:extLst>
                          <a:ext uri="{FF2B5EF4-FFF2-40B4-BE49-F238E27FC236}">
                            <a16:creationId xmlns:a16="http://schemas.microsoft.com/office/drawing/2014/main" id="{D672290A-7E22-9B4A-8EE6-82DA8A4CF7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4935" y="2288062"/>
                        <a:ext cx="2419200" cy="1382400"/>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12700" cap="flat" cmpd="sng" algn="ctr">
                            <a:solidFill>
                              <a:srgbClr val="0000FF"/>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4" name="Line 14">
            <a:extLst>
              <a:ext uri="{FF2B5EF4-FFF2-40B4-BE49-F238E27FC236}">
                <a16:creationId xmlns:a16="http://schemas.microsoft.com/office/drawing/2014/main" id="{2F20AF15-9A6C-7840-AFE9-5985E542136F}"/>
              </a:ext>
            </a:extLst>
          </p:cNvPr>
          <p:cNvSpPr>
            <a:spLocks noChangeShapeType="1"/>
          </p:cNvSpPr>
          <p:nvPr/>
        </p:nvSpPr>
        <p:spPr bwMode="auto">
          <a:xfrm>
            <a:off x="6438241" y="2925001"/>
            <a:ext cx="1175040" cy="0"/>
          </a:xfrm>
          <a:prstGeom prst="line">
            <a:avLst/>
          </a:prstGeom>
          <a:noFill/>
          <a:ln w="19050">
            <a:solidFill>
              <a:schemeClr val="hlink"/>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5379" name="Line 19">
            <a:extLst>
              <a:ext uri="{FF2B5EF4-FFF2-40B4-BE49-F238E27FC236}">
                <a16:creationId xmlns:a16="http://schemas.microsoft.com/office/drawing/2014/main" id="{5F0E5B82-E424-7C43-AB81-A6A6D21DDC50}"/>
              </a:ext>
            </a:extLst>
          </p:cNvPr>
          <p:cNvSpPr>
            <a:spLocks noChangeShapeType="1"/>
          </p:cNvSpPr>
          <p:nvPr/>
        </p:nvSpPr>
        <p:spPr bwMode="auto">
          <a:xfrm>
            <a:off x="7613281" y="2925001"/>
            <a:ext cx="0" cy="898560"/>
          </a:xfrm>
          <a:prstGeom prst="line">
            <a:avLst/>
          </a:prstGeom>
          <a:noFill/>
          <a:ln w="190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5380" name="Text Box 20">
            <a:extLst>
              <a:ext uri="{FF2B5EF4-FFF2-40B4-BE49-F238E27FC236}">
                <a16:creationId xmlns:a16="http://schemas.microsoft.com/office/drawing/2014/main" id="{D39C6A1D-7E3B-CE41-80F0-D80C72DB1D42}"/>
              </a:ext>
            </a:extLst>
          </p:cNvPr>
          <p:cNvSpPr txBox="1">
            <a:spLocks noChangeArrowheads="1"/>
          </p:cNvSpPr>
          <p:nvPr/>
        </p:nvSpPr>
        <p:spPr bwMode="auto">
          <a:xfrm>
            <a:off x="1441793" y="2421001"/>
            <a:ext cx="2185215"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b="1">
                <a:latin typeface="Verdana" panose="020B0604030504040204" pitchFamily="34" charset="0"/>
              </a:rPr>
              <a:t>Historical data</a:t>
            </a:r>
          </a:p>
        </p:txBody>
      </p:sp>
      <p:sp>
        <p:nvSpPr>
          <p:cNvPr id="15386" name="Text Box 26">
            <a:extLst>
              <a:ext uri="{FF2B5EF4-FFF2-40B4-BE49-F238E27FC236}">
                <a16:creationId xmlns:a16="http://schemas.microsoft.com/office/drawing/2014/main" id="{F21C2C59-35DE-D64C-94C0-53C18D6E60B9}"/>
              </a:ext>
            </a:extLst>
          </p:cNvPr>
          <p:cNvSpPr txBox="1">
            <a:spLocks noChangeArrowheads="1"/>
          </p:cNvSpPr>
          <p:nvPr/>
        </p:nvSpPr>
        <p:spPr bwMode="auto">
          <a:xfrm>
            <a:off x="6506992" y="3947191"/>
            <a:ext cx="1675459" cy="315664"/>
          </a:xfrm>
          <a:prstGeom prst="rect">
            <a:avLst/>
          </a:prstGeom>
          <a:solidFill>
            <a:schemeClr val="bg1"/>
          </a:soli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814" dirty="0">
                <a:latin typeface="Verdana" panose="020B0604030504040204" pitchFamily="34" charset="0"/>
              </a:rPr>
              <a:t>% Utilization</a:t>
            </a:r>
          </a:p>
        </p:txBody>
      </p:sp>
      <p:sp>
        <p:nvSpPr>
          <p:cNvPr id="15388" name="Text Box 28">
            <a:extLst>
              <a:ext uri="{FF2B5EF4-FFF2-40B4-BE49-F238E27FC236}">
                <a16:creationId xmlns:a16="http://schemas.microsoft.com/office/drawing/2014/main" id="{C39179D7-0401-6C45-8D0A-3FD044A96A68}"/>
              </a:ext>
            </a:extLst>
          </p:cNvPr>
          <p:cNvSpPr txBox="1">
            <a:spLocks noChangeArrowheads="1"/>
          </p:cNvSpPr>
          <p:nvPr/>
        </p:nvSpPr>
        <p:spPr bwMode="auto">
          <a:xfrm rot="5400000">
            <a:off x="5261492" y="3137840"/>
            <a:ext cx="1414618" cy="315664"/>
          </a:xfrm>
          <a:prstGeom prst="rect">
            <a:avLst/>
          </a:prstGeom>
          <a:solidFill>
            <a:schemeClr val="bg1"/>
          </a:solidFill>
          <a:ln>
            <a:noFill/>
          </a:ln>
          <a:effectLst/>
          <a:extLs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814" dirty="0">
                <a:latin typeface="Verdana" panose="020B0604030504040204" pitchFamily="34" charset="0"/>
              </a:rPr>
              <a:t>Probability</a:t>
            </a:r>
          </a:p>
        </p:txBody>
      </p:sp>
      <p:sp>
        <p:nvSpPr>
          <p:cNvPr id="15389" name="Text Box 29">
            <a:extLst>
              <a:ext uri="{FF2B5EF4-FFF2-40B4-BE49-F238E27FC236}">
                <a16:creationId xmlns:a16="http://schemas.microsoft.com/office/drawing/2014/main" id="{8E73D8F9-7899-0644-99A6-E982D06D0C12}"/>
              </a:ext>
            </a:extLst>
          </p:cNvPr>
          <p:cNvSpPr txBox="1">
            <a:spLocks noChangeArrowheads="1"/>
          </p:cNvSpPr>
          <p:nvPr/>
        </p:nvSpPr>
        <p:spPr bwMode="auto">
          <a:xfrm>
            <a:off x="6187655" y="2042566"/>
            <a:ext cx="2574744"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127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b="1" dirty="0">
                <a:latin typeface="Verdana" panose="020B0604030504040204" pitchFamily="34" charset="0"/>
              </a:rPr>
              <a:t>Utilization Profile</a:t>
            </a:r>
          </a:p>
        </p:txBody>
      </p:sp>
    </p:spTree>
    <p:custDataLst>
      <p:tags r:id="rId1"/>
    </p:custDataLst>
    <p:extLst>
      <p:ext uri="{BB962C8B-B14F-4D97-AF65-F5344CB8AC3E}">
        <p14:creationId xmlns:p14="http://schemas.microsoft.com/office/powerpoint/2010/main" val="2069856566"/>
      </p:ext>
    </p:extLst>
  </p:cSld>
  <p:clrMapOvr>
    <a:masterClrMapping/>
  </p:clrMapOvr>
  <p:transition spd="med" advTm="86312"/>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362">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2">
                                            <p:txEl>
                                              <p:pRg st="9" end="9"/>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362">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62">
                                            <p:txEl>
                                              <p:pRg st="11" end="1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6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6DF6DB92-B1EA-6B47-BC7D-CAE8433DA940}"/>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Determining Placement – Where to?</a:t>
            </a:r>
          </a:p>
        </p:txBody>
      </p:sp>
      <p:sp>
        <p:nvSpPr>
          <p:cNvPr id="16386" name="Rectangle 2">
            <a:extLst>
              <a:ext uri="{FF2B5EF4-FFF2-40B4-BE49-F238E27FC236}">
                <a16:creationId xmlns:a16="http://schemas.microsoft.com/office/drawing/2014/main" id="{17830944-CCB4-B940-B367-D64E28954852}"/>
              </a:ext>
            </a:extLst>
          </p:cNvPr>
          <p:cNvSpPr>
            <a:spLocks noGrp="1" noChangeArrowheads="1"/>
          </p:cNvSpPr>
          <p:nvPr>
            <p:ph type="body" idx="1"/>
          </p:nvPr>
        </p:nvSpPr>
        <p:spPr>
          <a:xfrm>
            <a:off x="381601" y="1143721"/>
            <a:ext cx="861408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358" dirty="0"/>
              <a:t>Migrate VMs from overloaded to </a:t>
            </a:r>
            <a:r>
              <a:rPr lang="en-GB" altLang="en-US" sz="2358" dirty="0" err="1"/>
              <a:t>underloaded</a:t>
            </a:r>
            <a:r>
              <a:rPr lang="en-GB" altLang="en-US" sz="2358" dirty="0"/>
              <a:t> servers</a:t>
            </a:r>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358"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endParaRPr lang="en-GB" altLang="en-US" sz="2358"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358" dirty="0"/>
              <a:t>Use </a:t>
            </a:r>
            <a:r>
              <a:rPr lang="en-GB" altLang="en-US" sz="2358" i="1" dirty="0"/>
              <a:t>Volume</a:t>
            </a:r>
            <a:r>
              <a:rPr lang="en-GB" altLang="en-US" sz="2358" dirty="0"/>
              <a:t> to </a:t>
            </a:r>
            <a:r>
              <a:rPr lang="en-GB" altLang="en-US" sz="2358" b="1" dirty="0"/>
              <a:t>find most loaded servers</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Captures load on multiple resource dimensions</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Highly loaded servers are targeted first</a:t>
            </a:r>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dirty="0"/>
          </a:p>
          <a:p>
            <a:pPr>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2358" dirty="0"/>
              <a:t>Migrations incur overhead </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Migration cost determined by RAM (memory footprint of VM)</a:t>
            </a:r>
          </a:p>
          <a:p>
            <a:pPr lvl="2">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Avoid expense to move large RAM footprint if possible.</a:t>
            </a:r>
          </a:p>
          <a:p>
            <a:pPr lvl="1">
              <a:spcBef>
                <a:spcPts val="590"/>
              </a:spcBef>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Migrate the VM with </a:t>
            </a:r>
            <a:r>
              <a:rPr lang="en-GB" altLang="en-US" sz="1996" b="1" dirty="0"/>
              <a:t>highest Volume/RAM ratio</a:t>
            </a:r>
          </a:p>
          <a:p>
            <a:pPr>
              <a:spcBef>
                <a:spcPts val="590"/>
              </a:spcBef>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358" dirty="0"/>
          </a:p>
        </p:txBody>
      </p:sp>
      <p:grpSp>
        <p:nvGrpSpPr>
          <p:cNvPr id="16387" name="Group 3">
            <a:extLst>
              <a:ext uri="{FF2B5EF4-FFF2-40B4-BE49-F238E27FC236}">
                <a16:creationId xmlns:a16="http://schemas.microsoft.com/office/drawing/2014/main" id="{E1FDDA78-6411-094A-9D65-2652CA5BD52E}"/>
              </a:ext>
            </a:extLst>
          </p:cNvPr>
          <p:cNvGrpSpPr>
            <a:grpSpLocks/>
          </p:cNvGrpSpPr>
          <p:nvPr/>
        </p:nvGrpSpPr>
        <p:grpSpPr bwMode="auto">
          <a:xfrm>
            <a:off x="1729441" y="1631884"/>
            <a:ext cx="4811040" cy="666720"/>
            <a:chOff x="1146" y="2381"/>
            <a:chExt cx="3341" cy="463"/>
          </a:xfrm>
        </p:grpSpPr>
        <p:sp>
          <p:nvSpPr>
            <p:cNvPr id="16388" name="Text Box 4">
              <a:extLst>
                <a:ext uri="{FF2B5EF4-FFF2-40B4-BE49-F238E27FC236}">
                  <a16:creationId xmlns:a16="http://schemas.microsoft.com/office/drawing/2014/main" id="{1D70B369-CDD5-7844-B5B2-9019AD7F67E0}"/>
                </a:ext>
              </a:extLst>
            </p:cNvPr>
            <p:cNvSpPr txBox="1">
              <a:spLocks noChangeArrowheads="1"/>
            </p:cNvSpPr>
            <p:nvPr/>
          </p:nvSpPr>
          <p:spPr bwMode="auto">
            <a:xfrm>
              <a:off x="1146" y="2453"/>
              <a:ext cx="1012"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905" i="1">
                  <a:latin typeface="Verdana" panose="020B0604030504040204" pitchFamily="34" charset="0"/>
                  <a:cs typeface="Arial" panose="020B0604020202020204" pitchFamily="34" charset="0"/>
                </a:rPr>
                <a:t>Volume</a:t>
              </a:r>
              <a:r>
                <a:rPr lang="en-GB" altLang="en-US" sz="1905">
                  <a:latin typeface="Verdana" panose="020B0604030504040204" pitchFamily="34" charset="0"/>
                  <a:cs typeface="Arial" panose="020B0604020202020204" pitchFamily="34" charset="0"/>
                </a:rPr>
                <a:t> = </a:t>
              </a:r>
            </a:p>
          </p:txBody>
        </p:sp>
        <p:grpSp>
          <p:nvGrpSpPr>
            <p:cNvPr id="16389" name="Group 5">
              <a:extLst>
                <a:ext uri="{FF2B5EF4-FFF2-40B4-BE49-F238E27FC236}">
                  <a16:creationId xmlns:a16="http://schemas.microsoft.com/office/drawing/2014/main" id="{7DE6C1D9-FE2B-204A-92A4-46503C9FE4AA}"/>
                </a:ext>
              </a:extLst>
            </p:cNvPr>
            <p:cNvGrpSpPr>
              <a:grpSpLocks/>
            </p:cNvGrpSpPr>
            <p:nvPr/>
          </p:nvGrpSpPr>
          <p:grpSpPr bwMode="auto">
            <a:xfrm>
              <a:off x="2367" y="2381"/>
              <a:ext cx="531" cy="463"/>
              <a:chOff x="2367" y="2381"/>
              <a:chExt cx="531" cy="463"/>
            </a:xfrm>
          </p:grpSpPr>
          <p:sp>
            <p:nvSpPr>
              <p:cNvPr id="16390" name="Line 6">
                <a:extLst>
                  <a:ext uri="{FF2B5EF4-FFF2-40B4-BE49-F238E27FC236}">
                    <a16:creationId xmlns:a16="http://schemas.microsoft.com/office/drawing/2014/main" id="{5EA30A6B-67BC-094B-964C-56DC95D1A046}"/>
                  </a:ext>
                </a:extLst>
              </p:cNvPr>
              <p:cNvSpPr>
                <a:spLocks noChangeShapeType="1"/>
              </p:cNvSpPr>
              <p:nvPr/>
            </p:nvSpPr>
            <p:spPr bwMode="auto">
              <a:xfrm>
                <a:off x="2368" y="2601"/>
                <a:ext cx="528"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391" name="Text Box 7">
                <a:extLst>
                  <a:ext uri="{FF2B5EF4-FFF2-40B4-BE49-F238E27FC236}">
                    <a16:creationId xmlns:a16="http://schemas.microsoft.com/office/drawing/2014/main" id="{539F4DA8-0F4D-284C-828D-20066C077EB9}"/>
                  </a:ext>
                </a:extLst>
              </p:cNvPr>
              <p:cNvSpPr txBox="1">
                <a:spLocks noChangeArrowheads="1"/>
              </p:cNvSpPr>
              <p:nvPr/>
            </p:nvSpPr>
            <p:spPr bwMode="auto">
              <a:xfrm>
                <a:off x="2562" y="2381"/>
                <a:ext cx="207"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a:t>
                </a:r>
              </a:p>
            </p:txBody>
          </p:sp>
          <p:sp>
            <p:nvSpPr>
              <p:cNvPr id="16392" name="Text Box 8">
                <a:extLst>
                  <a:ext uri="{FF2B5EF4-FFF2-40B4-BE49-F238E27FC236}">
                    <a16:creationId xmlns:a16="http://schemas.microsoft.com/office/drawing/2014/main" id="{64663C84-E869-E642-92EF-0C5AE15ABB23}"/>
                  </a:ext>
                </a:extLst>
              </p:cNvPr>
              <p:cNvSpPr txBox="1">
                <a:spLocks noChangeArrowheads="1"/>
              </p:cNvSpPr>
              <p:nvPr/>
            </p:nvSpPr>
            <p:spPr bwMode="auto">
              <a:xfrm>
                <a:off x="2367" y="2610"/>
                <a:ext cx="531"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1-cpu</a:t>
                </a:r>
              </a:p>
            </p:txBody>
          </p:sp>
        </p:grpSp>
        <p:grpSp>
          <p:nvGrpSpPr>
            <p:cNvPr id="16393" name="Group 9">
              <a:extLst>
                <a:ext uri="{FF2B5EF4-FFF2-40B4-BE49-F238E27FC236}">
                  <a16:creationId xmlns:a16="http://schemas.microsoft.com/office/drawing/2014/main" id="{21CA1022-2717-CF4F-BAF6-CE07A1E5ADED}"/>
                </a:ext>
              </a:extLst>
            </p:cNvPr>
            <p:cNvGrpSpPr>
              <a:grpSpLocks/>
            </p:cNvGrpSpPr>
            <p:nvPr/>
          </p:nvGrpSpPr>
          <p:grpSpPr bwMode="auto">
            <a:xfrm>
              <a:off x="3184" y="2381"/>
              <a:ext cx="528" cy="463"/>
              <a:chOff x="3184" y="2381"/>
              <a:chExt cx="528" cy="463"/>
            </a:xfrm>
          </p:grpSpPr>
          <p:sp>
            <p:nvSpPr>
              <p:cNvPr id="16394" name="Line 10">
                <a:extLst>
                  <a:ext uri="{FF2B5EF4-FFF2-40B4-BE49-F238E27FC236}">
                    <a16:creationId xmlns:a16="http://schemas.microsoft.com/office/drawing/2014/main" id="{F23B1D6F-F5B8-9248-A6BA-CB66C6775B8B}"/>
                  </a:ext>
                </a:extLst>
              </p:cNvPr>
              <p:cNvSpPr>
                <a:spLocks noChangeShapeType="1"/>
              </p:cNvSpPr>
              <p:nvPr/>
            </p:nvSpPr>
            <p:spPr bwMode="auto">
              <a:xfrm>
                <a:off x="3184" y="2601"/>
                <a:ext cx="528"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395" name="Text Box 11">
                <a:extLst>
                  <a:ext uri="{FF2B5EF4-FFF2-40B4-BE49-F238E27FC236}">
                    <a16:creationId xmlns:a16="http://schemas.microsoft.com/office/drawing/2014/main" id="{AF7B7DBB-AB3C-A141-A91D-02B3DA370D1D}"/>
                  </a:ext>
                </a:extLst>
              </p:cNvPr>
              <p:cNvSpPr txBox="1">
                <a:spLocks noChangeArrowheads="1"/>
              </p:cNvSpPr>
              <p:nvPr/>
            </p:nvSpPr>
            <p:spPr bwMode="auto">
              <a:xfrm>
                <a:off x="3377" y="2381"/>
                <a:ext cx="207"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a:t>
                </a:r>
              </a:p>
            </p:txBody>
          </p:sp>
          <p:sp>
            <p:nvSpPr>
              <p:cNvPr id="16396" name="Text Box 12">
                <a:extLst>
                  <a:ext uri="{FF2B5EF4-FFF2-40B4-BE49-F238E27FC236}">
                    <a16:creationId xmlns:a16="http://schemas.microsoft.com/office/drawing/2014/main" id="{06B1579A-401A-C343-8D35-79DBDF843D3A}"/>
                  </a:ext>
                </a:extLst>
              </p:cNvPr>
              <p:cNvSpPr txBox="1">
                <a:spLocks noChangeArrowheads="1"/>
              </p:cNvSpPr>
              <p:nvPr/>
            </p:nvSpPr>
            <p:spPr bwMode="auto">
              <a:xfrm>
                <a:off x="3195" y="2610"/>
                <a:ext cx="509"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1-net</a:t>
                </a:r>
              </a:p>
            </p:txBody>
          </p:sp>
        </p:grpSp>
        <p:grpSp>
          <p:nvGrpSpPr>
            <p:cNvPr id="16397" name="Group 13">
              <a:extLst>
                <a:ext uri="{FF2B5EF4-FFF2-40B4-BE49-F238E27FC236}">
                  <a16:creationId xmlns:a16="http://schemas.microsoft.com/office/drawing/2014/main" id="{35041D9B-3C37-954B-8C27-5F1AEAF2B3D8}"/>
                </a:ext>
              </a:extLst>
            </p:cNvPr>
            <p:cNvGrpSpPr>
              <a:grpSpLocks/>
            </p:cNvGrpSpPr>
            <p:nvPr/>
          </p:nvGrpSpPr>
          <p:grpSpPr bwMode="auto">
            <a:xfrm>
              <a:off x="3845" y="2381"/>
              <a:ext cx="642" cy="463"/>
              <a:chOff x="3845" y="2381"/>
              <a:chExt cx="642" cy="463"/>
            </a:xfrm>
          </p:grpSpPr>
          <p:sp>
            <p:nvSpPr>
              <p:cNvPr id="16398" name="Line 14">
                <a:extLst>
                  <a:ext uri="{FF2B5EF4-FFF2-40B4-BE49-F238E27FC236}">
                    <a16:creationId xmlns:a16="http://schemas.microsoft.com/office/drawing/2014/main" id="{CE2B25E7-9797-604E-B8E8-6B23EC0E3531}"/>
                  </a:ext>
                </a:extLst>
              </p:cNvPr>
              <p:cNvSpPr>
                <a:spLocks noChangeShapeType="1"/>
              </p:cNvSpPr>
              <p:nvPr/>
            </p:nvSpPr>
            <p:spPr bwMode="auto">
              <a:xfrm>
                <a:off x="3903" y="2601"/>
                <a:ext cx="528" cy="1"/>
              </a:xfrm>
              <a:prstGeom prst="line">
                <a:avLst/>
              </a:prstGeom>
              <a:noFill/>
              <a:ln w="255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399" name="Text Box 15">
                <a:extLst>
                  <a:ext uri="{FF2B5EF4-FFF2-40B4-BE49-F238E27FC236}">
                    <a16:creationId xmlns:a16="http://schemas.microsoft.com/office/drawing/2014/main" id="{3C3705FB-59BF-3F4B-9822-D7EC3A3F4285}"/>
                  </a:ext>
                </a:extLst>
              </p:cNvPr>
              <p:cNvSpPr txBox="1">
                <a:spLocks noChangeArrowheads="1"/>
              </p:cNvSpPr>
              <p:nvPr/>
            </p:nvSpPr>
            <p:spPr bwMode="auto">
              <a:xfrm>
                <a:off x="4097" y="2381"/>
                <a:ext cx="207"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a:t>
                </a:r>
              </a:p>
            </p:txBody>
          </p:sp>
          <p:sp>
            <p:nvSpPr>
              <p:cNvPr id="16400" name="Text Box 16">
                <a:extLst>
                  <a:ext uri="{FF2B5EF4-FFF2-40B4-BE49-F238E27FC236}">
                    <a16:creationId xmlns:a16="http://schemas.microsoft.com/office/drawing/2014/main" id="{214B8AD5-A3E5-DD40-B178-564AD5976D60}"/>
                  </a:ext>
                </a:extLst>
              </p:cNvPr>
              <p:cNvSpPr txBox="1">
                <a:spLocks noChangeArrowheads="1"/>
              </p:cNvSpPr>
              <p:nvPr/>
            </p:nvSpPr>
            <p:spPr bwMode="auto">
              <a:xfrm>
                <a:off x="3845" y="2610"/>
                <a:ext cx="64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633">
                    <a:latin typeface="Verdana" panose="020B0604030504040204" pitchFamily="34" charset="0"/>
                    <a:cs typeface="Arial" panose="020B0604020202020204" pitchFamily="34" charset="0"/>
                  </a:rPr>
                  <a:t>1-mem</a:t>
                </a:r>
              </a:p>
            </p:txBody>
          </p:sp>
        </p:grpSp>
        <p:sp>
          <p:nvSpPr>
            <p:cNvPr id="16401" name="Text Box 17">
              <a:extLst>
                <a:ext uri="{FF2B5EF4-FFF2-40B4-BE49-F238E27FC236}">
                  <a16:creationId xmlns:a16="http://schemas.microsoft.com/office/drawing/2014/main" id="{4DFD17C6-6123-9348-9A3D-A570819C5833}"/>
                </a:ext>
              </a:extLst>
            </p:cNvPr>
            <p:cNvSpPr txBox="1">
              <a:spLocks noChangeArrowheads="1"/>
            </p:cNvSpPr>
            <p:nvPr/>
          </p:nvSpPr>
          <p:spPr bwMode="auto">
            <a:xfrm>
              <a:off x="2913" y="2505"/>
              <a:ext cx="222"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905">
                  <a:latin typeface="Verdana" panose="020B0604030504040204" pitchFamily="34" charset="0"/>
                  <a:cs typeface="Arial" panose="020B0604020202020204" pitchFamily="34" charset="0"/>
                </a:rPr>
                <a:t>*</a:t>
              </a:r>
            </a:p>
          </p:txBody>
        </p:sp>
        <p:sp>
          <p:nvSpPr>
            <p:cNvPr id="16402" name="Text Box 18">
              <a:extLst>
                <a:ext uri="{FF2B5EF4-FFF2-40B4-BE49-F238E27FC236}">
                  <a16:creationId xmlns:a16="http://schemas.microsoft.com/office/drawing/2014/main" id="{4EE0BA26-3C46-134C-A08D-EA24506A056A}"/>
                </a:ext>
              </a:extLst>
            </p:cNvPr>
            <p:cNvSpPr txBox="1">
              <a:spLocks noChangeArrowheads="1"/>
            </p:cNvSpPr>
            <p:nvPr/>
          </p:nvSpPr>
          <p:spPr bwMode="auto">
            <a:xfrm>
              <a:off x="3681" y="2505"/>
              <a:ext cx="222"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0" tIns="42447" rIns="81630" bIns="42447">
              <a:spAutoFit/>
            </a:bodyPr>
            <a:lstStyle>
              <a:lvl1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1pPr>
              <a:lvl2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2pPr>
              <a:lvl3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3pPr>
              <a:lvl4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4pPr>
              <a:lvl5pPr algn="l">
                <a:lnSpc>
                  <a:spcPct val="81000"/>
                </a:lnSpc>
                <a:spcBef>
                  <a:spcPct val="0"/>
                </a:spcBef>
                <a:buClr>
                  <a:srgbClr val="000000"/>
                </a:buClr>
                <a:buSzPct val="45000"/>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5pPr>
              <a:lvl6pPr marL="15335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6pPr>
              <a:lvl7pPr marL="19907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7pPr>
              <a:lvl8pPr marL="24479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8pPr>
              <a:lvl9pPr marL="2905125" indent="-215900" defTabSz="457200" fontAlgn="base">
                <a:lnSpc>
                  <a:spcPct val="81000"/>
                </a:lnSpc>
                <a:spcBef>
                  <a:spcPct val="0"/>
                </a:spcBef>
                <a:spcAft>
                  <a:spcPct val="0"/>
                </a:spcAft>
                <a:buClr>
                  <a:srgbClr val="000000"/>
                </a:buClr>
                <a:buSzPct val="45000"/>
                <a:buFont typeface="Wingdings" pitchFamily="2" charset="2"/>
                <a:tabLst>
                  <a:tab pos="0" algn="l"/>
                  <a:tab pos="457200" algn="l"/>
                  <a:tab pos="912813" algn="l"/>
                  <a:tab pos="1371600" algn="l"/>
                  <a:tab pos="1828800" algn="l"/>
                  <a:tab pos="2286000" algn="l"/>
                  <a:tab pos="2741613" algn="l"/>
                  <a:tab pos="3200400" algn="l"/>
                  <a:tab pos="3657600" algn="l"/>
                  <a:tab pos="4114800" algn="l"/>
                  <a:tab pos="4570413" algn="l"/>
                  <a:tab pos="5029200" algn="l"/>
                  <a:tab pos="5486400" algn="l"/>
                  <a:tab pos="5942013" algn="l"/>
                  <a:tab pos="6399213" algn="l"/>
                  <a:tab pos="6858000" algn="l"/>
                  <a:tab pos="7315200" algn="l"/>
                  <a:tab pos="7770813" algn="l"/>
                  <a:tab pos="8228013" algn="l"/>
                  <a:tab pos="8686800" algn="l"/>
                  <a:tab pos="9144000" algn="l"/>
                </a:tabLst>
                <a:defRPr>
                  <a:solidFill>
                    <a:srgbClr val="000000"/>
                  </a:solidFill>
                  <a:latin typeface="Arial" panose="020B0604020202020204" pitchFamily="34" charset="0"/>
                </a:defRPr>
              </a:lvl9pPr>
            </a:lstStyle>
            <a:p>
              <a:pPr algn="ctr" defTabSz="414726" fontAlgn="base">
                <a:lnSpc>
                  <a:spcPct val="100000"/>
                </a:lnSpc>
                <a:spcAft>
                  <a:spcPct val="0"/>
                </a:spcAft>
                <a:tabLst>
                  <a:tab pos="0" algn="l"/>
                  <a:tab pos="414726" algn="l"/>
                  <a:tab pos="828013" algn="l"/>
                  <a:tab pos="1244178" algn="l"/>
                  <a:tab pos="1658904" algn="l"/>
                  <a:tab pos="2073631" algn="l"/>
                  <a:tab pos="2486917" algn="l"/>
                  <a:tab pos="2903083" algn="l"/>
                  <a:tab pos="3317809" algn="l"/>
                  <a:tab pos="3732535" algn="l"/>
                  <a:tab pos="4145822" algn="l"/>
                  <a:tab pos="4561987" algn="l"/>
                  <a:tab pos="4976713" algn="l"/>
                  <a:tab pos="5390000" algn="l"/>
                  <a:tab pos="5804726" algn="l"/>
                  <a:tab pos="6220892" algn="l"/>
                  <a:tab pos="6635618" algn="l"/>
                  <a:tab pos="7048904" algn="l"/>
                  <a:tab pos="7463631" algn="l"/>
                  <a:tab pos="7879796" algn="l"/>
                  <a:tab pos="8294522" algn="l"/>
                </a:tabLst>
              </a:pPr>
              <a:r>
                <a:rPr lang="en-GB" altLang="en-US" sz="1905">
                  <a:latin typeface="Verdana" panose="020B0604030504040204" pitchFamily="34" charset="0"/>
                  <a:cs typeface="Arial" panose="020B0604020202020204" pitchFamily="34" charset="0"/>
                </a:rPr>
                <a:t>*</a:t>
              </a:r>
            </a:p>
          </p:txBody>
        </p:sp>
      </p:grpSp>
      <p:sp>
        <p:nvSpPr>
          <p:cNvPr id="16404" name="Line 20">
            <a:extLst>
              <a:ext uri="{FF2B5EF4-FFF2-40B4-BE49-F238E27FC236}">
                <a16:creationId xmlns:a16="http://schemas.microsoft.com/office/drawing/2014/main" id="{8C45DFCB-2462-DB42-8FD7-B5E6541EDD9A}"/>
              </a:ext>
            </a:extLst>
          </p:cNvPr>
          <p:cNvSpPr>
            <a:spLocks noChangeShapeType="1"/>
          </p:cNvSpPr>
          <p:nvPr/>
        </p:nvSpPr>
        <p:spPr bwMode="auto">
          <a:xfrm flipV="1">
            <a:off x="7780321" y="1770121"/>
            <a:ext cx="0" cy="10900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405" name="Line 21">
            <a:extLst>
              <a:ext uri="{FF2B5EF4-FFF2-40B4-BE49-F238E27FC236}">
                <a16:creationId xmlns:a16="http://schemas.microsoft.com/office/drawing/2014/main" id="{355BC06A-3D05-6640-B39C-7908FDC43586}"/>
              </a:ext>
            </a:extLst>
          </p:cNvPr>
          <p:cNvSpPr>
            <a:spLocks noChangeShapeType="1"/>
          </p:cNvSpPr>
          <p:nvPr/>
        </p:nvSpPr>
        <p:spPr bwMode="auto">
          <a:xfrm>
            <a:off x="7780321" y="2860200"/>
            <a:ext cx="117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406" name="Line 22">
            <a:extLst>
              <a:ext uri="{FF2B5EF4-FFF2-40B4-BE49-F238E27FC236}">
                <a16:creationId xmlns:a16="http://schemas.microsoft.com/office/drawing/2014/main" id="{677EE3D2-1243-A94E-B487-1755FBBB66B2}"/>
              </a:ext>
            </a:extLst>
          </p:cNvPr>
          <p:cNvSpPr>
            <a:spLocks noChangeShapeType="1"/>
          </p:cNvSpPr>
          <p:nvPr/>
        </p:nvSpPr>
        <p:spPr bwMode="auto">
          <a:xfrm flipH="1">
            <a:off x="7267681" y="2860201"/>
            <a:ext cx="512640" cy="5731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407" name="Rectangle 23">
            <a:extLst>
              <a:ext uri="{FF2B5EF4-FFF2-40B4-BE49-F238E27FC236}">
                <a16:creationId xmlns:a16="http://schemas.microsoft.com/office/drawing/2014/main" id="{6F09F48A-3D28-BB45-A0EF-70B47DF9C932}"/>
              </a:ext>
            </a:extLst>
          </p:cNvPr>
          <p:cNvSpPr>
            <a:spLocks noChangeArrowheads="1"/>
          </p:cNvSpPr>
          <p:nvPr/>
        </p:nvSpPr>
        <p:spPr bwMode="auto">
          <a:xfrm>
            <a:off x="7682401" y="2327401"/>
            <a:ext cx="760320" cy="649440"/>
          </a:xfrm>
          <a:prstGeom prst="rect">
            <a:avLst/>
          </a:prstGeom>
          <a:solidFill>
            <a:srgbClr val="CC3300"/>
          </a:solidFill>
          <a:ln w="9525" algn="ctr">
            <a:miter lim="800000"/>
            <a:headEnd/>
            <a:tailEnd/>
          </a:ln>
          <a:effectLst/>
          <a:scene3d>
            <a:camera prst="legacyObliqueTopRight"/>
            <a:lightRig rig="legacyFlat4" dir="t"/>
          </a:scene3d>
          <a:sp3d extrusionH="303200" prstMaterial="legacyMatte">
            <a:bevelT w="13500" h="13500" prst="angle"/>
            <a:bevelB w="13500" h="13500" prst="angle"/>
            <a:extrusionClr>
              <a:srgbClr val="FF6600"/>
            </a:extrusionClr>
            <a:contourClr>
              <a:srgbClr val="CC33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6408" name="Text Box 24">
            <a:extLst>
              <a:ext uri="{FF2B5EF4-FFF2-40B4-BE49-F238E27FC236}">
                <a16:creationId xmlns:a16="http://schemas.microsoft.com/office/drawing/2014/main" id="{7251F7C6-532B-9D4A-A8E0-814AA1FBA2C0}"/>
              </a:ext>
            </a:extLst>
          </p:cNvPr>
          <p:cNvSpPr txBox="1">
            <a:spLocks noChangeArrowheads="1"/>
          </p:cNvSpPr>
          <p:nvPr/>
        </p:nvSpPr>
        <p:spPr bwMode="auto">
          <a:xfrm>
            <a:off x="8501617" y="2603881"/>
            <a:ext cx="495650" cy="259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361">
                <a:latin typeface="Verdana" panose="020B0604030504040204" pitchFamily="34" charset="0"/>
              </a:rPr>
              <a:t>cpu</a:t>
            </a:r>
          </a:p>
        </p:txBody>
      </p:sp>
      <p:sp>
        <p:nvSpPr>
          <p:cNvPr id="16409" name="Text Box 25">
            <a:extLst>
              <a:ext uri="{FF2B5EF4-FFF2-40B4-BE49-F238E27FC236}">
                <a16:creationId xmlns:a16="http://schemas.microsoft.com/office/drawing/2014/main" id="{0C72162F-EBB5-8542-9207-0067A7D67AF1}"/>
              </a:ext>
            </a:extLst>
          </p:cNvPr>
          <p:cNvSpPr txBox="1">
            <a:spLocks noChangeArrowheads="1"/>
          </p:cNvSpPr>
          <p:nvPr/>
        </p:nvSpPr>
        <p:spPr bwMode="auto">
          <a:xfrm rot="18554391">
            <a:off x="7298211" y="3060742"/>
            <a:ext cx="628698" cy="259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361">
                <a:latin typeface="Verdana" panose="020B0604030504040204" pitchFamily="34" charset="0"/>
              </a:rPr>
              <a:t>mem</a:t>
            </a:r>
          </a:p>
        </p:txBody>
      </p:sp>
      <p:sp>
        <p:nvSpPr>
          <p:cNvPr id="16410" name="Text Box 26">
            <a:extLst>
              <a:ext uri="{FF2B5EF4-FFF2-40B4-BE49-F238E27FC236}">
                <a16:creationId xmlns:a16="http://schemas.microsoft.com/office/drawing/2014/main" id="{D290E8D4-83F3-AB45-A49F-2D9F4D67D1DB}"/>
              </a:ext>
            </a:extLst>
          </p:cNvPr>
          <p:cNvSpPr txBox="1">
            <a:spLocks noChangeArrowheads="1"/>
          </p:cNvSpPr>
          <p:nvPr/>
        </p:nvSpPr>
        <p:spPr bwMode="auto">
          <a:xfrm rot="16200000">
            <a:off x="7669961" y="1870581"/>
            <a:ext cx="468398" cy="259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361">
                <a:latin typeface="Verdana" panose="020B0604030504040204" pitchFamily="34" charset="0"/>
              </a:rPr>
              <a:t>net</a:t>
            </a:r>
          </a:p>
        </p:txBody>
      </p:sp>
      <p:sp>
        <p:nvSpPr>
          <p:cNvPr id="16413" name="Rectangle 29">
            <a:extLst>
              <a:ext uri="{FF2B5EF4-FFF2-40B4-BE49-F238E27FC236}">
                <a16:creationId xmlns:a16="http://schemas.microsoft.com/office/drawing/2014/main" id="{5A9BAABB-4169-2148-AECB-47722B8E3651}"/>
              </a:ext>
            </a:extLst>
          </p:cNvPr>
          <p:cNvSpPr>
            <a:spLocks noChangeArrowheads="1"/>
          </p:cNvSpPr>
          <p:nvPr/>
        </p:nvSpPr>
        <p:spPr bwMode="auto">
          <a:xfrm>
            <a:off x="1323361" y="5545801"/>
            <a:ext cx="6497280" cy="898560"/>
          </a:xfrm>
          <a:prstGeom prst="rect">
            <a:avLst/>
          </a:prstGeom>
          <a:solidFill>
            <a:srgbClr val="99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ts val="590"/>
              </a:spcBef>
              <a:spcAft>
                <a:spcPct val="0"/>
              </a:spcAft>
              <a:buClr>
                <a:srgbClr val="3333CC"/>
              </a:buClr>
              <a:buSzPct val="60000"/>
            </a:pPr>
            <a:r>
              <a:rPr lang="en-GB" altLang="en-US" sz="1905">
                <a:latin typeface="Verdana" panose="020B0604030504040204" pitchFamily="34" charset="0"/>
              </a:rPr>
              <a:t>Maximize the amount of load transferred while </a:t>
            </a:r>
          </a:p>
          <a:p>
            <a:pPr algn="ctr" defTabSz="829452" fontAlgn="base">
              <a:lnSpc>
                <a:spcPct val="100000"/>
              </a:lnSpc>
              <a:spcBef>
                <a:spcPts val="590"/>
              </a:spcBef>
              <a:spcAft>
                <a:spcPct val="0"/>
              </a:spcAft>
              <a:buClr>
                <a:srgbClr val="3333CC"/>
              </a:buClr>
              <a:buSzPct val="60000"/>
            </a:pPr>
            <a:r>
              <a:rPr lang="en-GB" altLang="en-US" sz="1905">
                <a:latin typeface="Verdana" panose="020B0604030504040204" pitchFamily="34" charset="0"/>
              </a:rPr>
              <a:t>minimizing the overhead of migrations</a:t>
            </a:r>
          </a:p>
        </p:txBody>
      </p:sp>
    </p:spTree>
    <p:custDataLst>
      <p:tags r:id="rId1"/>
    </p:custDataLst>
    <p:extLst>
      <p:ext uri="{BB962C8B-B14F-4D97-AF65-F5344CB8AC3E}">
        <p14:creationId xmlns:p14="http://schemas.microsoft.com/office/powerpoint/2010/main" val="252188474"/>
      </p:ext>
    </p:extLst>
  </p:cSld>
  <p:clrMapOvr>
    <a:masterClrMapping/>
  </p:clrMapOvr>
  <p:transition spd="med" advTm="118172"/>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13"/>
                                        </p:tgtEl>
                                        <p:attrNameLst>
                                          <p:attrName>style.visibility</p:attrName>
                                        </p:attrNameLst>
                                      </p:cBhvr>
                                      <p:to>
                                        <p:strVal val="visible"/>
                                      </p:to>
                                    </p:set>
                                    <p:anim calcmode="lin" valueType="num">
                                      <p:cBhvr additive="base">
                                        <p:cTn id="7" dur="500" fill="hold"/>
                                        <p:tgtEl>
                                          <p:spTgt spid="16413"/>
                                        </p:tgtEl>
                                        <p:attrNameLst>
                                          <p:attrName>ppt_x</p:attrName>
                                        </p:attrNameLst>
                                      </p:cBhvr>
                                      <p:tavLst>
                                        <p:tav tm="0">
                                          <p:val>
                                            <p:strVal val="#ppt_x"/>
                                          </p:val>
                                        </p:tav>
                                        <p:tav tm="100000">
                                          <p:val>
                                            <p:strVal val="#ppt_x"/>
                                          </p:val>
                                        </p:tav>
                                      </p:tavLst>
                                    </p:anim>
                                    <p:anim calcmode="lin" valueType="num">
                                      <p:cBhvr additive="base">
                                        <p:cTn id="8" dur="500" fill="hold"/>
                                        <p:tgtEl>
                                          <p:spTgt spid="16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3"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043C4DFA-4BF9-C04F-AC63-4F996D38CC1F}"/>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Placement Algorithm</a:t>
            </a:r>
          </a:p>
        </p:txBody>
      </p:sp>
      <p:sp>
        <p:nvSpPr>
          <p:cNvPr id="17410" name="Rectangle 2">
            <a:extLst>
              <a:ext uri="{FF2B5EF4-FFF2-40B4-BE49-F238E27FC236}">
                <a16:creationId xmlns:a16="http://schemas.microsoft.com/office/drawing/2014/main" id="{2DA777D2-6861-934D-8739-9D0F9E93F1E2}"/>
              </a:ext>
            </a:extLst>
          </p:cNvPr>
          <p:cNvSpPr>
            <a:spLocks noGrp="1" noChangeArrowheads="1"/>
          </p:cNvSpPr>
          <p:nvPr>
            <p:ph type="body" idx="1"/>
          </p:nvPr>
        </p:nvSpPr>
        <p:spPr>
          <a:xfrm>
            <a:off x="424801" y="1148041"/>
            <a:ext cx="840672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177"/>
              <a:t>First try </a:t>
            </a:r>
            <a:r>
              <a:rPr lang="en-GB" altLang="en-US" sz="2177" b="1"/>
              <a:t>migrations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t>Displace VMs from high </a:t>
            </a:r>
            <a:r>
              <a:rPr lang="en-GB" altLang="en-US" sz="1814" i="1"/>
              <a:t>Volume</a:t>
            </a:r>
            <a:r>
              <a:rPr lang="en-GB" altLang="en-US" sz="1814"/>
              <a:t> servers </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t>Use </a:t>
            </a:r>
            <a:r>
              <a:rPr lang="en-GB" altLang="en-US" sz="1814" i="1"/>
              <a:t>Volume/RAM </a:t>
            </a:r>
            <a:r>
              <a:rPr lang="en-GB" altLang="en-US" sz="1814"/>
              <a:t>to minimize overhead</a:t>
            </a: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2177"/>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177"/>
              <a:t>Don’t create new hotspots!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solidFill>
                  <a:schemeClr val="folHlink"/>
                </a:solidFill>
              </a:rPr>
              <a:t>What if high average load in system?</a:t>
            </a:r>
          </a:p>
          <a:p>
            <a:pPr>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2177">
              <a:solidFill>
                <a:schemeClr val="folHlink"/>
              </a:solidFill>
            </a:endParaRPr>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177" b="1"/>
              <a:t>Swap</a:t>
            </a:r>
            <a:r>
              <a:rPr lang="en-GB" altLang="en-US" sz="2177"/>
              <a:t> if necessary</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t>Swap a high </a:t>
            </a:r>
            <a:r>
              <a:rPr lang="en-GB" altLang="en-US" sz="1814" i="1"/>
              <a:t>Volume </a:t>
            </a:r>
            <a:r>
              <a:rPr lang="en-GB" altLang="en-US" sz="1814"/>
              <a:t>VM for a low </a:t>
            </a:r>
            <a:r>
              <a:rPr lang="en-GB" altLang="en-US" sz="1814" i="1"/>
              <a:t>Volume </a:t>
            </a:r>
            <a:r>
              <a:rPr lang="en-GB" altLang="en-US" sz="1814"/>
              <a:t>one</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t>Requires 3 migrations</a:t>
            </a:r>
          </a:p>
          <a:p>
            <a:pPr lvl="2">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814"/>
              <a:t>Can’t support both at once</a:t>
            </a:r>
          </a:p>
        </p:txBody>
      </p:sp>
      <p:sp>
        <p:nvSpPr>
          <p:cNvPr id="17412" name="Rectangle 4">
            <a:extLst>
              <a:ext uri="{FF2B5EF4-FFF2-40B4-BE49-F238E27FC236}">
                <a16:creationId xmlns:a16="http://schemas.microsoft.com/office/drawing/2014/main" id="{04BE4905-A5BC-A24D-829D-25B937396C92}"/>
              </a:ext>
            </a:extLst>
          </p:cNvPr>
          <p:cNvSpPr>
            <a:spLocks noChangeArrowheads="1"/>
          </p:cNvSpPr>
          <p:nvPr/>
        </p:nvSpPr>
        <p:spPr bwMode="auto">
          <a:xfrm>
            <a:off x="6161761" y="1148041"/>
            <a:ext cx="829440" cy="1382400"/>
          </a:xfrm>
          <a:prstGeom prst="rect">
            <a:avLst/>
          </a:prstGeom>
          <a:solidFill>
            <a:schemeClr val="bg1"/>
          </a:solidFill>
          <a:ln w="9525" algn="ctr">
            <a:miter lim="800000"/>
            <a:headEnd/>
            <a:tailEnd/>
          </a:ln>
          <a:effectLst/>
          <a:scene3d>
            <a:camera prst="legacyObliqueTopLeft"/>
            <a:lightRig rig="legacyFlat3" dir="t"/>
          </a:scene3d>
          <a:sp3d extrusionH="303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53882" dir="8100000" algn="ctr" rotWithShape="0">
                    <a:srgbClr val="808080">
                      <a:alpha val="50000"/>
                    </a:srgbClr>
                  </a:outerShdw>
                </a:effectLst>
              </a14:hiddenEffects>
            </a:ext>
          </a:extLst>
        </p:spPr>
        <p:txBody>
          <a:bodyPr wrap="none" anchor="ctr">
            <a:flatTx/>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PM1</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p:txBody>
      </p:sp>
      <p:sp>
        <p:nvSpPr>
          <p:cNvPr id="17413" name="Rectangle 5">
            <a:extLst>
              <a:ext uri="{FF2B5EF4-FFF2-40B4-BE49-F238E27FC236}">
                <a16:creationId xmlns:a16="http://schemas.microsoft.com/office/drawing/2014/main" id="{AC1455C4-A610-F04B-A39C-3733F1627F01}"/>
              </a:ext>
            </a:extLst>
          </p:cNvPr>
          <p:cNvSpPr>
            <a:spLocks noChangeArrowheads="1"/>
          </p:cNvSpPr>
          <p:nvPr/>
        </p:nvSpPr>
        <p:spPr bwMode="auto">
          <a:xfrm>
            <a:off x="8028001" y="1148041"/>
            <a:ext cx="829440" cy="1382400"/>
          </a:xfrm>
          <a:prstGeom prst="rect">
            <a:avLst/>
          </a:prstGeom>
          <a:solidFill>
            <a:schemeClr val="bg1"/>
          </a:solidFill>
          <a:ln w="9525" algn="ctr">
            <a:miter lim="800000"/>
            <a:headEnd/>
            <a:tailEnd/>
          </a:ln>
          <a:effectLst/>
          <a:scene3d>
            <a:camera prst="legacyObliqueTopLeft"/>
            <a:lightRig rig="legacyFlat3" dir="t"/>
          </a:scene3d>
          <a:sp3d extrusionH="303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53882" dir="8100000" algn="ctr" rotWithShape="0">
                    <a:srgbClr val="808080">
                      <a:alpha val="50000"/>
                    </a:srgbClr>
                  </a:outerShdw>
                </a:effectLst>
              </a14:hiddenEffects>
            </a:ext>
          </a:extLst>
        </p:spPr>
        <p:txBody>
          <a:bodyPr wrap="none" anchor="ctr">
            <a:flatTx/>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PM2</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p:txBody>
      </p:sp>
      <p:sp>
        <p:nvSpPr>
          <p:cNvPr id="17415" name="Rectangle 7">
            <a:extLst>
              <a:ext uri="{FF2B5EF4-FFF2-40B4-BE49-F238E27FC236}">
                <a16:creationId xmlns:a16="http://schemas.microsoft.com/office/drawing/2014/main" id="{90DA4021-B537-864A-9661-A45CAE20E8E1}"/>
              </a:ext>
            </a:extLst>
          </p:cNvPr>
          <p:cNvSpPr>
            <a:spLocks noChangeArrowheads="1"/>
          </p:cNvSpPr>
          <p:nvPr/>
        </p:nvSpPr>
        <p:spPr bwMode="auto">
          <a:xfrm>
            <a:off x="6161761" y="2184841"/>
            <a:ext cx="829440" cy="34560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VM3</a:t>
            </a:r>
          </a:p>
        </p:txBody>
      </p:sp>
      <p:sp>
        <p:nvSpPr>
          <p:cNvPr id="17416" name="Rectangle 8">
            <a:extLst>
              <a:ext uri="{FF2B5EF4-FFF2-40B4-BE49-F238E27FC236}">
                <a16:creationId xmlns:a16="http://schemas.microsoft.com/office/drawing/2014/main" id="{B30B7661-ECD1-494E-9891-FE1059C8503B}"/>
              </a:ext>
            </a:extLst>
          </p:cNvPr>
          <p:cNvSpPr>
            <a:spLocks noChangeArrowheads="1"/>
          </p:cNvSpPr>
          <p:nvPr/>
        </p:nvSpPr>
        <p:spPr bwMode="auto">
          <a:xfrm>
            <a:off x="6161761" y="1839241"/>
            <a:ext cx="829440" cy="345600"/>
          </a:xfrm>
          <a:prstGeom prst="rect">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VM2</a:t>
            </a:r>
          </a:p>
        </p:txBody>
      </p:sp>
      <p:sp>
        <p:nvSpPr>
          <p:cNvPr id="17417" name="Rectangle 9">
            <a:extLst>
              <a:ext uri="{FF2B5EF4-FFF2-40B4-BE49-F238E27FC236}">
                <a16:creationId xmlns:a16="http://schemas.microsoft.com/office/drawing/2014/main" id="{6E3F42C0-63C6-FA4C-B22E-B9983DC8E932}"/>
              </a:ext>
            </a:extLst>
          </p:cNvPr>
          <p:cNvSpPr>
            <a:spLocks noChangeArrowheads="1"/>
          </p:cNvSpPr>
          <p:nvPr/>
        </p:nvSpPr>
        <p:spPr bwMode="auto">
          <a:xfrm>
            <a:off x="6161761" y="1493641"/>
            <a:ext cx="829440" cy="345600"/>
          </a:xfrm>
          <a:prstGeom prst="rect">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VM1</a:t>
            </a:r>
          </a:p>
        </p:txBody>
      </p:sp>
      <p:sp>
        <p:nvSpPr>
          <p:cNvPr id="17418" name="Rectangle 10">
            <a:extLst>
              <a:ext uri="{FF2B5EF4-FFF2-40B4-BE49-F238E27FC236}">
                <a16:creationId xmlns:a16="http://schemas.microsoft.com/office/drawing/2014/main" id="{1BC09045-1349-6B43-81B9-10354D56CB6A}"/>
              </a:ext>
            </a:extLst>
          </p:cNvPr>
          <p:cNvSpPr>
            <a:spLocks noChangeArrowheads="1"/>
          </p:cNvSpPr>
          <p:nvPr/>
        </p:nvSpPr>
        <p:spPr bwMode="auto">
          <a:xfrm>
            <a:off x="8028001" y="2184841"/>
            <a:ext cx="829440" cy="345600"/>
          </a:xfrm>
          <a:prstGeom prst="rect">
            <a:avLst/>
          </a:prstGeom>
          <a:solidFill>
            <a:srgbClr val="66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VM4</a:t>
            </a:r>
          </a:p>
        </p:txBody>
      </p:sp>
      <p:grpSp>
        <p:nvGrpSpPr>
          <p:cNvPr id="17434" name="Group 26">
            <a:extLst>
              <a:ext uri="{FF2B5EF4-FFF2-40B4-BE49-F238E27FC236}">
                <a16:creationId xmlns:a16="http://schemas.microsoft.com/office/drawing/2014/main" id="{B2535223-5A1C-BC45-A875-45D2C1ECD2BA}"/>
              </a:ext>
            </a:extLst>
          </p:cNvPr>
          <p:cNvGrpSpPr>
            <a:grpSpLocks/>
          </p:cNvGrpSpPr>
          <p:nvPr/>
        </p:nvGrpSpPr>
        <p:grpSpPr bwMode="auto">
          <a:xfrm>
            <a:off x="6230881" y="3705481"/>
            <a:ext cx="2695680" cy="2419200"/>
            <a:chOff x="4183" y="2573"/>
            <a:chExt cx="1872" cy="1680"/>
          </a:xfrm>
        </p:grpSpPr>
        <p:sp>
          <p:nvSpPr>
            <p:cNvPr id="17419" name="Rectangle 11">
              <a:extLst>
                <a:ext uri="{FF2B5EF4-FFF2-40B4-BE49-F238E27FC236}">
                  <a16:creationId xmlns:a16="http://schemas.microsoft.com/office/drawing/2014/main" id="{F5E386AF-57B9-B845-A554-B89B5BB564FA}"/>
                </a:ext>
              </a:extLst>
            </p:cNvPr>
            <p:cNvSpPr>
              <a:spLocks noChangeArrowheads="1"/>
            </p:cNvSpPr>
            <p:nvPr/>
          </p:nvSpPr>
          <p:spPr bwMode="auto">
            <a:xfrm>
              <a:off x="4183" y="3293"/>
              <a:ext cx="576" cy="960"/>
            </a:xfrm>
            <a:prstGeom prst="rect">
              <a:avLst/>
            </a:prstGeom>
            <a:solidFill>
              <a:schemeClr val="bg1"/>
            </a:solidFill>
            <a:ln w="9525" algn="ctr">
              <a:miter lim="800000"/>
              <a:headEnd/>
              <a:tailEnd/>
            </a:ln>
            <a:effectLst/>
            <a:scene3d>
              <a:camera prst="legacyObliqueTopLeft"/>
              <a:lightRig rig="legacyFlat3" dir="t"/>
            </a:scene3d>
            <a:sp3d extrusionH="303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53882" dir="8100000" algn="ctr" rotWithShape="0">
                      <a:srgbClr val="808080">
                        <a:alpha val="50000"/>
                      </a:srgbClr>
                    </a:outerShdw>
                  </a:effectLst>
                </a14:hiddenEffects>
              </a:ext>
            </a:extLst>
          </p:spPr>
          <p:txBody>
            <a:bodyPr wrap="none" anchor="ctr">
              <a:flatTx/>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PM1</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p:txBody>
        </p:sp>
        <p:sp>
          <p:nvSpPr>
            <p:cNvPr id="17420" name="Rectangle 12">
              <a:extLst>
                <a:ext uri="{FF2B5EF4-FFF2-40B4-BE49-F238E27FC236}">
                  <a16:creationId xmlns:a16="http://schemas.microsoft.com/office/drawing/2014/main" id="{FB5AC004-72AA-BD49-B9A0-7439C08A5964}"/>
                </a:ext>
              </a:extLst>
            </p:cNvPr>
            <p:cNvSpPr>
              <a:spLocks noChangeArrowheads="1"/>
            </p:cNvSpPr>
            <p:nvPr/>
          </p:nvSpPr>
          <p:spPr bwMode="auto">
            <a:xfrm>
              <a:off x="5479" y="3293"/>
              <a:ext cx="576" cy="960"/>
            </a:xfrm>
            <a:prstGeom prst="rect">
              <a:avLst/>
            </a:prstGeom>
            <a:solidFill>
              <a:schemeClr val="bg1"/>
            </a:solidFill>
            <a:ln w="9525" algn="ctr">
              <a:miter lim="800000"/>
              <a:headEnd/>
              <a:tailEnd/>
            </a:ln>
            <a:effectLst/>
            <a:scene3d>
              <a:camera prst="legacyObliqueTopLeft"/>
              <a:lightRig rig="legacyFlat3" dir="t"/>
            </a:scene3d>
            <a:sp3d extrusionH="303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53882" dir="8100000" algn="ctr" rotWithShape="0">
                      <a:srgbClr val="808080">
                        <a:alpha val="50000"/>
                      </a:srgbClr>
                    </a:outerShdw>
                  </a:effectLst>
                </a14:hiddenEffects>
              </a:ext>
            </a:extLst>
          </p:spPr>
          <p:txBody>
            <a:bodyPr wrap="none" anchor="ctr">
              <a:flatTx/>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PM2</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p:txBody>
        </p:sp>
        <p:sp>
          <p:nvSpPr>
            <p:cNvPr id="17422" name="Rectangle 14">
              <a:extLst>
                <a:ext uri="{FF2B5EF4-FFF2-40B4-BE49-F238E27FC236}">
                  <a16:creationId xmlns:a16="http://schemas.microsoft.com/office/drawing/2014/main" id="{3F8F8E5D-E225-934D-8602-19F868AC436B}"/>
                </a:ext>
              </a:extLst>
            </p:cNvPr>
            <p:cNvSpPr>
              <a:spLocks noChangeArrowheads="1"/>
            </p:cNvSpPr>
            <p:nvPr/>
          </p:nvSpPr>
          <p:spPr bwMode="auto">
            <a:xfrm>
              <a:off x="4183" y="4013"/>
              <a:ext cx="576" cy="240"/>
            </a:xfrm>
            <a:prstGeom prst="rect">
              <a:avLst/>
            </a:prstGeom>
            <a:solidFill>
              <a:srgbClr val="FF9933"/>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VM3</a:t>
              </a:r>
            </a:p>
          </p:txBody>
        </p:sp>
        <p:sp>
          <p:nvSpPr>
            <p:cNvPr id="17423" name="Rectangle 15">
              <a:extLst>
                <a:ext uri="{FF2B5EF4-FFF2-40B4-BE49-F238E27FC236}">
                  <a16:creationId xmlns:a16="http://schemas.microsoft.com/office/drawing/2014/main" id="{B531894F-8EB9-3D47-AF75-953D14A39BF2}"/>
                </a:ext>
              </a:extLst>
            </p:cNvPr>
            <p:cNvSpPr>
              <a:spLocks noChangeArrowheads="1"/>
            </p:cNvSpPr>
            <p:nvPr/>
          </p:nvSpPr>
          <p:spPr bwMode="auto">
            <a:xfrm>
              <a:off x="4183" y="3773"/>
              <a:ext cx="576" cy="240"/>
            </a:xfrm>
            <a:prstGeom prst="rect">
              <a:avLst/>
            </a:prstGeom>
            <a:solidFill>
              <a:srgbClr val="FF66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VM2</a:t>
              </a:r>
            </a:p>
          </p:txBody>
        </p:sp>
        <p:sp>
          <p:nvSpPr>
            <p:cNvPr id="17425" name="Rectangle 17">
              <a:extLst>
                <a:ext uri="{FF2B5EF4-FFF2-40B4-BE49-F238E27FC236}">
                  <a16:creationId xmlns:a16="http://schemas.microsoft.com/office/drawing/2014/main" id="{AB761745-B735-2343-86AF-57686CDEDD74}"/>
                </a:ext>
              </a:extLst>
            </p:cNvPr>
            <p:cNvSpPr>
              <a:spLocks noChangeArrowheads="1"/>
            </p:cNvSpPr>
            <p:nvPr/>
          </p:nvSpPr>
          <p:spPr bwMode="auto">
            <a:xfrm>
              <a:off x="5479" y="4013"/>
              <a:ext cx="576" cy="240"/>
            </a:xfrm>
            <a:prstGeom prst="rect">
              <a:avLst/>
            </a:prstGeom>
            <a:solidFill>
              <a:srgbClr val="CC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VM4</a:t>
              </a:r>
            </a:p>
          </p:txBody>
        </p:sp>
        <p:sp>
          <p:nvSpPr>
            <p:cNvPr id="17426" name="Rectangle 18">
              <a:extLst>
                <a:ext uri="{FF2B5EF4-FFF2-40B4-BE49-F238E27FC236}">
                  <a16:creationId xmlns:a16="http://schemas.microsoft.com/office/drawing/2014/main" id="{56F414D6-A36B-D34F-9951-D3DE7857ECA1}"/>
                </a:ext>
              </a:extLst>
            </p:cNvPr>
            <p:cNvSpPr>
              <a:spLocks noChangeArrowheads="1"/>
            </p:cNvSpPr>
            <p:nvPr/>
          </p:nvSpPr>
          <p:spPr bwMode="auto">
            <a:xfrm>
              <a:off x="4807" y="2573"/>
              <a:ext cx="576" cy="528"/>
            </a:xfrm>
            <a:prstGeom prst="rect">
              <a:avLst/>
            </a:prstGeom>
            <a:solidFill>
              <a:schemeClr val="bg1"/>
            </a:solidFill>
            <a:ln w="9525" algn="ctr">
              <a:miter lim="800000"/>
              <a:headEnd/>
              <a:tailEnd/>
            </a:ln>
            <a:effectLst/>
            <a:scene3d>
              <a:camera prst="legacyObliqueTopLeft"/>
              <a:lightRig rig="legacyFlat3" dir="t"/>
            </a:scene3d>
            <a:sp3d extrusionH="3032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53882" dir="8100000" algn="ctr" rotWithShape="0">
                      <a:srgbClr val="808080">
                        <a:alpha val="50000"/>
                      </a:srgbClr>
                    </a:outerShdw>
                  </a:effectLst>
                </a14:hiddenEffects>
              </a:ext>
            </a:extLst>
          </p:spPr>
          <p:txBody>
            <a:bodyPr wrap="none" anchor="ctr">
              <a:flatTx/>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endParaRPr lang="en-US" altLang="en-US" sz="1542">
                <a:solidFill>
                  <a:srgbClr val="FFFFFF"/>
                </a:solidFill>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Spare</a:t>
              </a: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a:p>
              <a:pPr algn="ctr" defTabSz="829452" fontAlgn="base">
                <a:lnSpc>
                  <a:spcPct val="80000"/>
                </a:lnSpc>
                <a:spcBef>
                  <a:spcPct val="20000"/>
                </a:spcBef>
                <a:spcAft>
                  <a:spcPct val="0"/>
                </a:spcAft>
                <a:buClr>
                  <a:srgbClr val="FFFFFF"/>
                </a:buClr>
                <a:buSzPct val="100000"/>
              </a:pPr>
              <a:endParaRPr lang="en-US" altLang="en-US" sz="1905">
                <a:latin typeface="Verdana" panose="020B0604030504040204" pitchFamily="34" charset="0"/>
              </a:endParaRPr>
            </a:p>
          </p:txBody>
        </p:sp>
      </p:grpSp>
      <p:sp>
        <p:nvSpPr>
          <p:cNvPr id="17424" name="Rectangle 16">
            <a:extLst>
              <a:ext uri="{FF2B5EF4-FFF2-40B4-BE49-F238E27FC236}">
                <a16:creationId xmlns:a16="http://schemas.microsoft.com/office/drawing/2014/main" id="{7FA85CCA-57A5-5D4A-A54A-2C17674A1B1B}"/>
              </a:ext>
            </a:extLst>
          </p:cNvPr>
          <p:cNvSpPr>
            <a:spLocks noChangeArrowheads="1"/>
          </p:cNvSpPr>
          <p:nvPr/>
        </p:nvSpPr>
        <p:spPr bwMode="auto">
          <a:xfrm>
            <a:off x="6230881" y="5087881"/>
            <a:ext cx="829440" cy="345600"/>
          </a:xfrm>
          <a:prstGeom prst="rect">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VM1</a:t>
            </a:r>
          </a:p>
        </p:txBody>
      </p:sp>
      <p:sp>
        <p:nvSpPr>
          <p:cNvPr id="17427" name="Rectangle 19">
            <a:extLst>
              <a:ext uri="{FF2B5EF4-FFF2-40B4-BE49-F238E27FC236}">
                <a16:creationId xmlns:a16="http://schemas.microsoft.com/office/drawing/2014/main" id="{4DEACE29-04AA-0541-8575-3CFAD132237A}"/>
              </a:ext>
            </a:extLst>
          </p:cNvPr>
          <p:cNvSpPr>
            <a:spLocks noChangeArrowheads="1"/>
          </p:cNvSpPr>
          <p:nvPr/>
        </p:nvSpPr>
        <p:spPr bwMode="auto">
          <a:xfrm>
            <a:off x="8097121" y="5433481"/>
            <a:ext cx="829440" cy="345600"/>
          </a:xfrm>
          <a:prstGeom prst="rect">
            <a:avLst/>
          </a:prstGeom>
          <a:solidFill>
            <a:srgbClr val="66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542">
                <a:latin typeface="Verdana" panose="020B0604030504040204" pitchFamily="34" charset="0"/>
              </a:rPr>
              <a:t>VM5</a:t>
            </a:r>
          </a:p>
        </p:txBody>
      </p:sp>
      <p:sp>
        <p:nvSpPr>
          <p:cNvPr id="17414" name="Line 6">
            <a:extLst>
              <a:ext uri="{FF2B5EF4-FFF2-40B4-BE49-F238E27FC236}">
                <a16:creationId xmlns:a16="http://schemas.microsoft.com/office/drawing/2014/main" id="{81B7EDEE-0655-DC40-B016-A8A37F1A72E6}"/>
              </a:ext>
            </a:extLst>
          </p:cNvPr>
          <p:cNvSpPr>
            <a:spLocks noChangeShapeType="1"/>
          </p:cNvSpPr>
          <p:nvPr/>
        </p:nvSpPr>
        <p:spPr bwMode="auto">
          <a:xfrm>
            <a:off x="6922081" y="1701001"/>
            <a:ext cx="1382400" cy="0"/>
          </a:xfrm>
          <a:prstGeom prst="line">
            <a:avLst/>
          </a:prstGeom>
          <a:noFill/>
          <a:ln w="57150">
            <a:solidFill>
              <a:schemeClr val="tx1"/>
            </a:solidFill>
            <a:round/>
            <a:headEnd/>
            <a:tailEnd type="triangle" w="med" len="med"/>
          </a:ln>
          <a:effectLst>
            <a:outerShdw dist="17961" dir="81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7421" name="Line 13">
            <a:extLst>
              <a:ext uri="{FF2B5EF4-FFF2-40B4-BE49-F238E27FC236}">
                <a16:creationId xmlns:a16="http://schemas.microsoft.com/office/drawing/2014/main" id="{2180BD09-D8FB-5F48-A84C-6C7C092C5F4E}"/>
              </a:ext>
            </a:extLst>
          </p:cNvPr>
          <p:cNvSpPr>
            <a:spLocks noChangeShapeType="1"/>
          </p:cNvSpPr>
          <p:nvPr/>
        </p:nvSpPr>
        <p:spPr bwMode="auto">
          <a:xfrm flipV="1">
            <a:off x="7060321" y="4327561"/>
            <a:ext cx="414720" cy="967680"/>
          </a:xfrm>
          <a:prstGeom prst="line">
            <a:avLst/>
          </a:prstGeom>
          <a:noFill/>
          <a:ln w="57150">
            <a:solidFill>
              <a:schemeClr val="tx1"/>
            </a:solidFill>
            <a:round/>
            <a:headEnd/>
            <a:tailEnd type="triangle" w="med" len="med"/>
          </a:ln>
          <a:effectLst>
            <a:outerShdw dist="17961" dir="81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7428" name="Line 20">
            <a:extLst>
              <a:ext uri="{FF2B5EF4-FFF2-40B4-BE49-F238E27FC236}">
                <a16:creationId xmlns:a16="http://schemas.microsoft.com/office/drawing/2014/main" id="{4A425138-D37A-1445-AB8A-42EEDF9B77B6}"/>
              </a:ext>
            </a:extLst>
          </p:cNvPr>
          <p:cNvSpPr>
            <a:spLocks noChangeShapeType="1"/>
          </p:cNvSpPr>
          <p:nvPr/>
        </p:nvSpPr>
        <p:spPr bwMode="auto">
          <a:xfrm>
            <a:off x="7682401" y="4396681"/>
            <a:ext cx="483840" cy="898560"/>
          </a:xfrm>
          <a:prstGeom prst="line">
            <a:avLst/>
          </a:prstGeom>
          <a:noFill/>
          <a:ln w="57150">
            <a:solidFill>
              <a:schemeClr val="tx1"/>
            </a:solidFill>
            <a:round/>
            <a:headEnd/>
            <a:tailEnd type="triangle" w="med" len="med"/>
          </a:ln>
          <a:effectLst>
            <a:outerShdw dist="17961" dir="81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7429" name="Line 21">
            <a:extLst>
              <a:ext uri="{FF2B5EF4-FFF2-40B4-BE49-F238E27FC236}">
                <a16:creationId xmlns:a16="http://schemas.microsoft.com/office/drawing/2014/main" id="{71808193-D6A5-9B40-9E49-8A287564C458}"/>
              </a:ext>
            </a:extLst>
          </p:cNvPr>
          <p:cNvSpPr>
            <a:spLocks noChangeShapeType="1"/>
          </p:cNvSpPr>
          <p:nvPr/>
        </p:nvSpPr>
        <p:spPr bwMode="auto">
          <a:xfrm flipH="1">
            <a:off x="6991201" y="5640841"/>
            <a:ext cx="1175040" cy="0"/>
          </a:xfrm>
          <a:prstGeom prst="line">
            <a:avLst/>
          </a:prstGeom>
          <a:noFill/>
          <a:ln w="57150">
            <a:solidFill>
              <a:schemeClr val="tx1"/>
            </a:solidFill>
            <a:round/>
            <a:headEnd/>
            <a:tailEnd type="triangle" w="med" len="med"/>
          </a:ln>
          <a:effectLst>
            <a:outerShdw dist="17961" dir="8100000" algn="ctr" rotWithShape="0">
              <a:schemeClr val="bg2">
                <a:alpha val="50000"/>
              </a:scheme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17432" name="Text Box 24">
            <a:extLst>
              <a:ext uri="{FF2B5EF4-FFF2-40B4-BE49-F238E27FC236}">
                <a16:creationId xmlns:a16="http://schemas.microsoft.com/office/drawing/2014/main" id="{9300C1E6-3AE2-7246-8283-55C68E7E4758}"/>
              </a:ext>
            </a:extLst>
          </p:cNvPr>
          <p:cNvSpPr txBox="1">
            <a:spLocks noChangeArrowheads="1"/>
          </p:cNvSpPr>
          <p:nvPr/>
        </p:nvSpPr>
        <p:spPr bwMode="auto">
          <a:xfrm>
            <a:off x="6756042" y="2599561"/>
            <a:ext cx="1492717"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b="1">
                <a:latin typeface="Verdana" panose="020B0604030504040204" pitchFamily="34" charset="0"/>
              </a:rPr>
              <a:t>Migration</a:t>
            </a:r>
          </a:p>
        </p:txBody>
      </p:sp>
      <p:sp>
        <p:nvSpPr>
          <p:cNvPr id="17433" name="Text Box 25">
            <a:extLst>
              <a:ext uri="{FF2B5EF4-FFF2-40B4-BE49-F238E27FC236}">
                <a16:creationId xmlns:a16="http://schemas.microsoft.com/office/drawing/2014/main" id="{518297E6-38DA-1846-9DFE-352D742D6C9E}"/>
              </a:ext>
            </a:extLst>
          </p:cNvPr>
          <p:cNvSpPr txBox="1">
            <a:spLocks noChangeArrowheads="1"/>
          </p:cNvSpPr>
          <p:nvPr/>
        </p:nvSpPr>
        <p:spPr bwMode="auto">
          <a:xfrm>
            <a:off x="7117928" y="6124681"/>
            <a:ext cx="931665" cy="326884"/>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b="1">
                <a:latin typeface="Verdana" panose="020B0604030504040204" pitchFamily="34" charset="0"/>
              </a:rPr>
              <a:t>Swap</a:t>
            </a:r>
          </a:p>
        </p:txBody>
      </p:sp>
      <p:sp>
        <p:nvSpPr>
          <p:cNvPr id="17435" name="Rectangle 27">
            <a:extLst>
              <a:ext uri="{FF2B5EF4-FFF2-40B4-BE49-F238E27FC236}">
                <a16:creationId xmlns:a16="http://schemas.microsoft.com/office/drawing/2014/main" id="{DE1B7724-2AEC-3B4B-972F-D4B68085375F}"/>
              </a:ext>
            </a:extLst>
          </p:cNvPr>
          <p:cNvSpPr>
            <a:spLocks noChangeArrowheads="1"/>
          </p:cNvSpPr>
          <p:nvPr/>
        </p:nvSpPr>
        <p:spPr bwMode="auto">
          <a:xfrm>
            <a:off x="632161" y="5018761"/>
            <a:ext cx="4907520" cy="1175040"/>
          </a:xfrm>
          <a:prstGeom prst="rect">
            <a:avLst/>
          </a:prstGeom>
          <a:solidFill>
            <a:srgbClr val="99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ts val="590"/>
              </a:spcBef>
              <a:spcAft>
                <a:spcPct val="0"/>
              </a:spcAft>
              <a:buClr>
                <a:srgbClr val="3333CC"/>
              </a:buClr>
              <a:buSzPct val="60000"/>
            </a:pPr>
            <a:r>
              <a:rPr lang="en-GB" altLang="en-US" sz="2268">
                <a:latin typeface="Verdana" panose="020B0604030504040204" pitchFamily="34" charset="0"/>
              </a:rPr>
              <a:t>Swaps increase the number </a:t>
            </a:r>
            <a:br>
              <a:rPr lang="en-GB" altLang="en-US" sz="2268">
                <a:latin typeface="Verdana" panose="020B0604030504040204" pitchFamily="34" charset="0"/>
              </a:rPr>
            </a:br>
            <a:r>
              <a:rPr lang="en-GB" altLang="en-US" sz="2268">
                <a:latin typeface="Verdana" panose="020B0604030504040204" pitchFamily="34" charset="0"/>
              </a:rPr>
              <a:t>of hotspots we can resolve</a:t>
            </a:r>
          </a:p>
        </p:txBody>
      </p:sp>
    </p:spTree>
    <p:custDataLst>
      <p:tags r:id="rId1"/>
    </p:custDataLst>
    <p:extLst>
      <p:ext uri="{BB962C8B-B14F-4D97-AF65-F5344CB8AC3E}">
        <p14:creationId xmlns:p14="http://schemas.microsoft.com/office/powerpoint/2010/main" val="2128708893"/>
      </p:ext>
    </p:extLst>
  </p:cSld>
  <p:clrMapOvr>
    <a:masterClrMapping/>
  </p:clrMapOvr>
  <p:transition spd="med" advTm="95313"/>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4"/>
                                        </p:tgtEl>
                                        <p:attrNameLst>
                                          <p:attrName>style.visibility</p:attrName>
                                        </p:attrNameLst>
                                      </p:cBhvr>
                                      <p:to>
                                        <p:strVal val="visible"/>
                                      </p:to>
                                    </p:set>
                                  </p:childTnLst>
                                </p:cTn>
                              </p:par>
                              <p:par>
                                <p:cTn id="7" presetID="63" presetClass="path" presetSubtype="0" accel="50000" decel="50000" fill="hold" grpId="0" nodeType="withEffect">
                                  <p:stCondLst>
                                    <p:cond delay="0"/>
                                  </p:stCondLst>
                                  <p:childTnLst>
                                    <p:animMotion origin="layout" path="M -4.48819E-6 -3.14022E-6 L 0.2041 0.00504 " pathEditMode="relative" rAng="0" ptsTypes="AA">
                                      <p:cBhvr>
                                        <p:cTn id="8" dur="2000" fill="hold"/>
                                        <p:tgtEl>
                                          <p:spTgt spid="17417"/>
                                        </p:tgtEl>
                                        <p:attrNameLst>
                                          <p:attrName>ppt_x</p:attrName>
                                          <p:attrName>ppt_y</p:attrName>
                                        </p:attrNameLst>
                                      </p:cBhvr>
                                      <p:rCtr x="10205" y="252"/>
                                    </p:animMotion>
                                  </p:childTnLst>
                                </p:cTn>
                              </p:par>
                            </p:childTnLst>
                          </p:cTn>
                        </p:par>
                        <p:par>
                          <p:cTn id="9" fill="hold" nodeType="afterGroup">
                            <p:stCondLst>
                              <p:cond delay="2000"/>
                            </p:stCondLst>
                            <p:childTnLst>
                              <p:par>
                                <p:cTn id="10" presetID="42" presetClass="path" presetSubtype="0" accel="50000" decel="50000" fill="hold" grpId="1" nodeType="afterEffect">
                                  <p:stCondLst>
                                    <p:cond delay="0"/>
                                  </p:stCondLst>
                                  <p:childTnLst>
                                    <p:animMotion origin="layout" path="M 0.2052 0.00945 L 0.2052 0.04975 " pathEditMode="relative" rAng="0" ptsTypes="AA">
                                      <p:cBhvr>
                                        <p:cTn id="11" dur="1000" fill="hold"/>
                                        <p:tgtEl>
                                          <p:spTgt spid="17417"/>
                                        </p:tgtEl>
                                        <p:attrNameLst>
                                          <p:attrName>ppt_x</p:attrName>
                                          <p:attrName>ppt_y</p:attrName>
                                        </p:attrNameLst>
                                      </p:cBhvr>
                                      <p:rCtr x="0" y="2015"/>
                                    </p:animMotion>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410">
                                            <p:txEl>
                                              <p:pRg st="4" end="4"/>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410">
                                            <p:txEl>
                                              <p:pRg st="7" end="7"/>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7410">
                                            <p:txEl>
                                              <p:pRg st="8" end="8"/>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410">
                                            <p:txEl>
                                              <p:pRg st="9" end="9"/>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410">
                                            <p:txEl>
                                              <p:pRg st="10" end="10"/>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74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742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742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743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56" presetClass="path" presetSubtype="0" accel="50000" decel="50000" fill="hold" grpId="1" nodeType="clickEffect">
                                  <p:stCondLst>
                                    <p:cond delay="0"/>
                                  </p:stCondLst>
                                  <p:childTnLst>
                                    <p:animMotion origin="layout" path="M -4.48819E-6 -2.61125E-6 L 0.09827 -0.14609 " pathEditMode="relative" rAng="0" ptsTypes="AA">
                                      <p:cBhvr>
                                        <p:cTn id="39" dur="2000" fill="hold"/>
                                        <p:tgtEl>
                                          <p:spTgt spid="17424"/>
                                        </p:tgtEl>
                                        <p:attrNameLst>
                                          <p:attrName>ppt_x</p:attrName>
                                          <p:attrName>ppt_y</p:attrName>
                                        </p:attrNameLst>
                                      </p:cBhvr>
                                      <p:rCtr x="4913" y="-7305"/>
                                    </p:animMotion>
                                  </p:childTnLst>
                                </p:cTn>
                              </p:par>
                              <p:par>
                                <p:cTn id="40" presetID="1" presetClass="entr" presetSubtype="0" fill="hold" nodeType="withEffect">
                                  <p:stCondLst>
                                    <p:cond delay="0"/>
                                  </p:stCondLst>
                                  <p:childTnLst>
                                    <p:set>
                                      <p:cBhvr>
                                        <p:cTn id="41" dur="1" fill="hold">
                                          <p:stCondLst>
                                            <p:cond delay="0"/>
                                          </p:stCondLst>
                                        </p:cTn>
                                        <p:tgtEl>
                                          <p:spTgt spid="17421"/>
                                        </p:tgtEl>
                                        <p:attrNameLst>
                                          <p:attrName>style.visibility</p:attrName>
                                        </p:attrNameLst>
                                      </p:cBhvr>
                                      <p:to>
                                        <p:strVal val="visible"/>
                                      </p:to>
                                    </p:set>
                                  </p:childTnLst>
                                </p:cTn>
                              </p:par>
                            </p:childTnLst>
                          </p:cTn>
                        </p:par>
                        <p:par>
                          <p:cTn id="42" fill="hold" nodeType="afterGroup">
                            <p:stCondLst>
                              <p:cond delay="2000"/>
                            </p:stCondLst>
                            <p:childTnLst>
                              <p:par>
                                <p:cTn id="43" presetID="0" presetClass="path" presetSubtype="0" accel="50000" decel="50000" fill="hold" grpId="1" nodeType="afterEffect">
                                  <p:stCondLst>
                                    <p:cond delay="3000"/>
                                  </p:stCondLst>
                                  <p:childTnLst>
                                    <p:animMotion origin="layout" path="M 0.0011 -4.45004E-7 L -0.20299 -0.05038 " pathEditMode="relative" rAng="0" ptsTypes="AA">
                                      <p:cBhvr>
                                        <p:cTn id="44" dur="2000" fill="hold"/>
                                        <p:tgtEl>
                                          <p:spTgt spid="17427"/>
                                        </p:tgtEl>
                                        <p:attrNameLst>
                                          <p:attrName>ppt_x</p:attrName>
                                          <p:attrName>ppt_y</p:attrName>
                                        </p:attrNameLst>
                                      </p:cBhvr>
                                      <p:rCtr x="-10205" y="-2519"/>
                                    </p:animMotion>
                                  </p:childTnLst>
                                </p:cTn>
                              </p:par>
                              <p:par>
                                <p:cTn id="45" presetID="1" presetClass="entr" presetSubtype="0" fill="hold" nodeType="withEffect">
                                  <p:stCondLst>
                                    <p:cond delay="0"/>
                                  </p:stCondLst>
                                  <p:childTnLst>
                                    <p:set>
                                      <p:cBhvr>
                                        <p:cTn id="46" dur="1" fill="hold">
                                          <p:stCondLst>
                                            <p:cond delay="0"/>
                                          </p:stCondLst>
                                        </p:cTn>
                                        <p:tgtEl>
                                          <p:spTgt spid="17429"/>
                                        </p:tgtEl>
                                        <p:attrNameLst>
                                          <p:attrName>style.visibility</p:attrName>
                                        </p:attrNameLst>
                                      </p:cBhvr>
                                      <p:to>
                                        <p:strVal val="visible"/>
                                      </p:to>
                                    </p:set>
                                  </p:childTnLst>
                                </p:cTn>
                              </p:par>
                            </p:childTnLst>
                          </p:cTn>
                        </p:par>
                        <p:par>
                          <p:cTn id="47" fill="hold" nodeType="afterGroup">
                            <p:stCondLst>
                              <p:cond delay="7000"/>
                            </p:stCondLst>
                            <p:childTnLst>
                              <p:par>
                                <p:cTn id="48" presetID="49" presetClass="path" presetSubtype="0" accel="50000" decel="50000" fill="hold" grpId="2" nodeType="afterEffect">
                                  <p:stCondLst>
                                    <p:cond delay="3000"/>
                                  </p:stCondLst>
                                  <p:childTnLst>
                                    <p:animMotion origin="layout" path="M 0.09827 -0.14609 L 0.2052 0.05038 " pathEditMode="relative" rAng="0" ptsTypes="AA">
                                      <p:cBhvr>
                                        <p:cTn id="49" dur="2000" fill="hold"/>
                                        <p:tgtEl>
                                          <p:spTgt spid="17424"/>
                                        </p:tgtEl>
                                        <p:attrNameLst>
                                          <p:attrName>ppt_x</p:attrName>
                                          <p:attrName>ppt_y</p:attrName>
                                        </p:attrNameLst>
                                      </p:cBhvr>
                                      <p:rCtr x="5339" y="9824"/>
                                    </p:animMotion>
                                  </p:childTnLst>
                                </p:cTn>
                              </p:par>
                              <p:par>
                                <p:cTn id="50" presetID="1" presetClass="entr" presetSubtype="0" fill="hold" nodeType="withEffect">
                                  <p:stCondLst>
                                    <p:cond delay="0"/>
                                  </p:stCondLst>
                                  <p:childTnLst>
                                    <p:set>
                                      <p:cBhvr>
                                        <p:cTn id="51" dur="1" fill="hold">
                                          <p:stCondLst>
                                            <p:cond delay="0"/>
                                          </p:stCondLst>
                                        </p:cTn>
                                        <p:tgtEl>
                                          <p:spTgt spid="17428"/>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17435"/>
                                        </p:tgtEl>
                                        <p:attrNameLst>
                                          <p:attrName>style.visibility</p:attrName>
                                        </p:attrNameLst>
                                      </p:cBhvr>
                                      <p:to>
                                        <p:strVal val="visible"/>
                                      </p:to>
                                    </p:set>
                                    <p:anim calcmode="lin" valueType="num">
                                      <p:cBhvr additive="base">
                                        <p:cTn id="56" dur="500" fill="hold"/>
                                        <p:tgtEl>
                                          <p:spTgt spid="17435"/>
                                        </p:tgtEl>
                                        <p:attrNameLst>
                                          <p:attrName>ppt_x</p:attrName>
                                        </p:attrNameLst>
                                      </p:cBhvr>
                                      <p:tavLst>
                                        <p:tav tm="0">
                                          <p:val>
                                            <p:strVal val="#ppt_x"/>
                                          </p:val>
                                        </p:tav>
                                        <p:tav tm="100000">
                                          <p:val>
                                            <p:strVal val="#ppt_x"/>
                                          </p:val>
                                        </p:tav>
                                      </p:tavLst>
                                    </p:anim>
                                    <p:anim calcmode="lin" valueType="num">
                                      <p:cBhvr additive="base">
                                        <p:cTn id="57" dur="500" fill="hold"/>
                                        <p:tgtEl>
                                          <p:spTgt spid="17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P spid="17417" grpId="0" animBg="1"/>
      <p:bldP spid="17417" grpId="1" animBg="1"/>
      <p:bldP spid="17424" grpId="0" animBg="1"/>
      <p:bldP spid="17424" grpId="1" animBg="1"/>
      <p:bldP spid="17424" grpId="2" animBg="1"/>
      <p:bldP spid="17427" grpId="0" animBg="1"/>
      <p:bldP spid="17427" grpId="1" animBg="1"/>
      <p:bldP spid="17433" grpId="0"/>
      <p:bldP spid="17435"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4FE05A0-2245-864C-B0ED-DE2AA0CB26BF}"/>
              </a:ext>
            </a:extLst>
          </p:cNvPr>
          <p:cNvSpPr>
            <a:spLocks noGrp="1" noChangeArrowheads="1"/>
          </p:cNvSpPr>
          <p:nvPr>
            <p:ph type="title"/>
          </p:nvPr>
        </p:nvSpPr>
        <p:spPr>
          <a:xfrm>
            <a:off x="457920" y="153001"/>
            <a:ext cx="8231040" cy="99216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Outline</a:t>
            </a:r>
          </a:p>
        </p:txBody>
      </p:sp>
      <p:sp>
        <p:nvSpPr>
          <p:cNvPr id="73731" name="Rectangle 3">
            <a:extLst>
              <a:ext uri="{FF2B5EF4-FFF2-40B4-BE49-F238E27FC236}">
                <a16:creationId xmlns:a16="http://schemas.microsoft.com/office/drawing/2014/main" id="{0847A7FC-089A-214E-818D-12C212723A96}"/>
              </a:ext>
            </a:extLst>
          </p:cNvPr>
          <p:cNvSpPr>
            <a:spLocks noGrp="1" noChangeArrowheads="1"/>
          </p:cNvSpPr>
          <p:nvPr>
            <p:ph type="body" idx="1"/>
          </p:nvPr>
        </p:nvSpPr>
        <p:spPr>
          <a:xfrm>
            <a:off x="380161" y="1143721"/>
            <a:ext cx="8229600" cy="4667040"/>
          </a:xfrm>
          <a:ln/>
          <a:extLst>
            <a:ext uri="{91240B29-F687-4F45-9708-019B960494DF}">
              <a14:hiddenLine xmlns:a14="http://schemas.microsoft.com/office/drawing/2010/main" w="9525">
                <a:solidFill>
                  <a:srgbClr val="000000"/>
                </a:solidFill>
                <a:round/>
                <a:headEnd/>
                <a:tailEnd/>
              </a14:hiddenLine>
            </a:ext>
          </a:extLst>
        </p:spPr>
        <p:txBody>
          <a:bodyPr vert="horz" wrap="square" lIns="91425" tIns="45713" rIns="91425" bIns="45713"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Introduction &amp; Motivation</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System Overview</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solidFill>
                <a:srgbClr val="808080"/>
              </a:solidFill>
            </a:endParaRP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solidFill>
                  <a:srgbClr val="808080"/>
                </a:solidFill>
              </a:rPr>
              <a:t>When? How much? And Where to? </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solidFill>
                <a:srgbClr val="808080"/>
              </a:solidFill>
            </a:endParaRP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b="1"/>
              <a:t>Implementation and Evaluation</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Conclusions</a:t>
            </a:r>
          </a:p>
        </p:txBody>
      </p:sp>
    </p:spTree>
    <p:extLst>
      <p:ext uri="{BB962C8B-B14F-4D97-AF65-F5344CB8AC3E}">
        <p14:creationId xmlns:p14="http://schemas.microsoft.com/office/powerpoint/2010/main" val="3836134597"/>
      </p:ext>
    </p:extLst>
  </p:cSld>
  <p:clrMapOvr>
    <a:masterClrMapping/>
  </p:clrMapOvr>
  <p:transition spd="med" advTm="6813"/>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C3F252DC-A872-E94A-BF04-719FFB8DD37C}"/>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Implementation</a:t>
            </a:r>
          </a:p>
        </p:txBody>
      </p:sp>
      <p:sp>
        <p:nvSpPr>
          <p:cNvPr id="18434" name="Rectangle 2">
            <a:extLst>
              <a:ext uri="{FF2B5EF4-FFF2-40B4-BE49-F238E27FC236}">
                <a16:creationId xmlns:a16="http://schemas.microsoft.com/office/drawing/2014/main" id="{BC8CB9BE-4CDB-584C-8BA4-482D1A6D80C9}"/>
              </a:ext>
            </a:extLst>
          </p:cNvPr>
          <p:cNvSpPr>
            <a:spLocks noGrp="1" noChangeArrowheads="1"/>
          </p:cNvSpPr>
          <p:nvPr>
            <p:ph type="body" idx="1"/>
          </p:nvPr>
        </p:nvSpPr>
        <p:spPr>
          <a:xfrm>
            <a:off x="381601" y="1143721"/>
            <a:ext cx="831024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Use Xen 3.0.2-3 virtualization software</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Testbed of twenty 2.4Ghz P4 servers </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Apache 2.0.54, PHP 4.3.10, MySQL 4.0.24</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Synthetic PHP applications</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a:t>RUBiS – multi-tier ebay-like web application</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a:p>
        </p:txBody>
      </p:sp>
    </p:spTree>
    <p:extLst>
      <p:ext uri="{BB962C8B-B14F-4D97-AF65-F5344CB8AC3E}">
        <p14:creationId xmlns:p14="http://schemas.microsoft.com/office/powerpoint/2010/main" val="3173032852"/>
      </p:ext>
    </p:extLst>
  </p:cSld>
  <p:clrMapOvr>
    <a:masterClrMapping/>
  </p:clrMapOvr>
  <p:transition spd="med" advTm="27218"/>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1" name="Rectangle 1">
            <a:extLst>
              <a:ext uri="{FF2B5EF4-FFF2-40B4-BE49-F238E27FC236}">
                <a16:creationId xmlns:a16="http://schemas.microsoft.com/office/drawing/2014/main" id="{5F66F8E1-E9EC-8646-A5A3-85D7126BD8D6}"/>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Migration Effectiveness</a:t>
            </a:r>
          </a:p>
        </p:txBody>
      </p:sp>
      <p:sp>
        <p:nvSpPr>
          <p:cNvPr id="20482" name="Rectangle 2">
            <a:extLst>
              <a:ext uri="{FF2B5EF4-FFF2-40B4-BE49-F238E27FC236}">
                <a16:creationId xmlns:a16="http://schemas.microsoft.com/office/drawing/2014/main" id="{D500C8A3-A789-7944-9780-A724A591F2B2}"/>
              </a:ext>
            </a:extLst>
          </p:cNvPr>
          <p:cNvSpPr>
            <a:spLocks noGrp="1" noChangeArrowheads="1"/>
          </p:cNvSpPr>
          <p:nvPr>
            <p:ph type="body" idx="1"/>
          </p:nvPr>
        </p:nvSpPr>
        <p:spPr>
          <a:xfrm>
            <a:off x="381601" y="1143721"/>
            <a:ext cx="8310240" cy="48945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3 Physical servers, 5 virtual machines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996"/>
              <a:t>VMs serve CPU intensive PHP scripts</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Migration triggered when CPU usage exceeds 75%</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1179"/>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Sandpiper detects and responds to 3 hotspots</a:t>
            </a:r>
          </a:p>
        </p:txBody>
      </p:sp>
      <p:graphicFrame>
        <p:nvGraphicFramePr>
          <p:cNvPr id="20484" name="Object 4">
            <a:extLst>
              <a:ext uri="{FF2B5EF4-FFF2-40B4-BE49-F238E27FC236}">
                <a16:creationId xmlns:a16="http://schemas.microsoft.com/office/drawing/2014/main" id="{B1D3B424-DC75-FA40-9260-EE304A9437FE}"/>
              </a:ext>
            </a:extLst>
          </p:cNvPr>
          <p:cNvGraphicFramePr>
            <a:graphicFrameLocks noChangeAspect="1"/>
          </p:cNvGraphicFramePr>
          <p:nvPr/>
        </p:nvGraphicFramePr>
        <p:xfrm>
          <a:off x="1876321" y="3103561"/>
          <a:ext cx="4839840" cy="3385440"/>
        </p:xfrm>
        <a:graphic>
          <a:graphicData uri="http://schemas.openxmlformats.org/presentationml/2006/ole">
            <mc:AlternateContent xmlns:mc="http://schemas.openxmlformats.org/markup-compatibility/2006">
              <mc:Choice xmlns:v="urn:schemas-microsoft-com:vml" Requires="v">
                <p:oleObj name="Image" r:id="rId4" imgW="7581900" imgH="5302250" progId="Photoshop.Image.8">
                  <p:embed/>
                </p:oleObj>
              </mc:Choice>
              <mc:Fallback>
                <p:oleObj name="Image" r:id="rId4" imgW="7581900" imgH="5302250" progId="Photoshop.Image.8">
                  <p:embed/>
                  <p:pic>
                    <p:nvPicPr>
                      <p:cNvPr id="20484" name="Object 4">
                        <a:extLst>
                          <a:ext uri="{FF2B5EF4-FFF2-40B4-BE49-F238E27FC236}">
                            <a16:creationId xmlns:a16="http://schemas.microsoft.com/office/drawing/2014/main" id="{B1D3B424-DC75-FA40-9260-EE304A9437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6321" y="3103561"/>
                        <a:ext cx="4839840" cy="338544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Line 5">
            <a:extLst>
              <a:ext uri="{FF2B5EF4-FFF2-40B4-BE49-F238E27FC236}">
                <a16:creationId xmlns:a16="http://schemas.microsoft.com/office/drawing/2014/main" id="{5CDDFEEA-CA3E-FB49-BA37-F9020A4DE1F8}"/>
              </a:ext>
            </a:extLst>
          </p:cNvPr>
          <p:cNvSpPr>
            <a:spLocks noChangeShapeType="1"/>
          </p:cNvSpPr>
          <p:nvPr/>
        </p:nvSpPr>
        <p:spPr bwMode="auto">
          <a:xfrm>
            <a:off x="3371041" y="3620521"/>
            <a:ext cx="172800" cy="2301120"/>
          </a:xfrm>
          <a:prstGeom prst="line">
            <a:avLst/>
          </a:prstGeom>
          <a:noFill/>
          <a:ln w="57150">
            <a:solidFill>
              <a:srgbClr val="0000FF"/>
            </a:solidFill>
            <a:miter lim="800000"/>
            <a:headEnd/>
            <a:tailEnd type="triangle" w="med" len="med"/>
          </a:ln>
          <a:effectLst>
            <a:outerShdw dist="35921" dir="8100000" algn="ctr" rotWithShape="0">
              <a:srgbClr val="808080"/>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0486" name="Line 6">
            <a:extLst>
              <a:ext uri="{FF2B5EF4-FFF2-40B4-BE49-F238E27FC236}">
                <a16:creationId xmlns:a16="http://schemas.microsoft.com/office/drawing/2014/main" id="{601BDF71-8B66-A743-A7BA-EDC4091736EA}"/>
              </a:ext>
            </a:extLst>
          </p:cNvPr>
          <p:cNvSpPr>
            <a:spLocks noChangeShapeType="1"/>
          </p:cNvSpPr>
          <p:nvPr/>
        </p:nvSpPr>
        <p:spPr bwMode="auto">
          <a:xfrm flipV="1">
            <a:off x="4177441" y="3670921"/>
            <a:ext cx="172800" cy="987840"/>
          </a:xfrm>
          <a:prstGeom prst="line">
            <a:avLst/>
          </a:prstGeom>
          <a:noFill/>
          <a:ln w="57150">
            <a:solidFill>
              <a:schemeClr val="hlink"/>
            </a:solidFill>
            <a:miter lim="800000"/>
            <a:headEnd/>
            <a:tailEnd type="triangle" w="med" len="med"/>
          </a:ln>
          <a:effectLst>
            <a:outerShdw dist="28398" dir="9206097"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0487" name="Line 7">
            <a:extLst>
              <a:ext uri="{FF2B5EF4-FFF2-40B4-BE49-F238E27FC236}">
                <a16:creationId xmlns:a16="http://schemas.microsoft.com/office/drawing/2014/main" id="{94DE493A-EA5A-3447-970A-DBF050ED8561}"/>
              </a:ext>
            </a:extLst>
          </p:cNvPr>
          <p:cNvSpPr>
            <a:spLocks noChangeShapeType="1"/>
          </p:cNvSpPr>
          <p:nvPr/>
        </p:nvSpPr>
        <p:spPr bwMode="auto">
          <a:xfrm flipV="1">
            <a:off x="5496481" y="4824361"/>
            <a:ext cx="172800" cy="1101600"/>
          </a:xfrm>
          <a:prstGeom prst="line">
            <a:avLst/>
          </a:prstGeom>
          <a:noFill/>
          <a:ln w="57150">
            <a:solidFill>
              <a:srgbClr val="800080"/>
            </a:solidFill>
            <a:miter lim="800000"/>
            <a:headEnd/>
            <a:tailEnd type="triangle" w="med" len="med"/>
          </a:ln>
          <a:effectLst>
            <a:outerShdw dist="28398" dir="6993903" algn="ctr" rotWithShape="0">
              <a:srgbClr val="808080"/>
            </a:outerShdw>
          </a:effectLst>
          <a:extLst>
            <a:ext uri="{909E8E84-426E-40DD-AFC4-6F175D3DCCD1}">
              <a14:hiddenFill xmlns:a14="http://schemas.microsoft.com/office/drawing/2010/main">
                <a:noFill/>
              </a14:hiddenFill>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0489" name="Text Box 9">
            <a:extLst>
              <a:ext uri="{FF2B5EF4-FFF2-40B4-BE49-F238E27FC236}">
                <a16:creationId xmlns:a16="http://schemas.microsoft.com/office/drawing/2014/main" id="{B77C3BDF-7742-D146-8071-32C9A1F5B9F1}"/>
              </a:ext>
            </a:extLst>
          </p:cNvPr>
          <p:cNvSpPr txBox="1">
            <a:spLocks noChangeArrowheads="1"/>
          </p:cNvSpPr>
          <p:nvPr/>
        </p:nvSpPr>
        <p:spPr bwMode="auto">
          <a:xfrm>
            <a:off x="6504310" y="3449161"/>
            <a:ext cx="779381" cy="326884"/>
          </a:xfrm>
          <a:prstGeom prst="rect">
            <a:avLst/>
          </a:prstGeom>
          <a:solidFill>
            <a:schemeClr val="bg1"/>
          </a:solidFill>
          <a:ln>
            <a:noFill/>
          </a:ln>
          <a:effectLst/>
          <a:extLs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1</a:t>
            </a:r>
          </a:p>
        </p:txBody>
      </p:sp>
      <p:sp>
        <p:nvSpPr>
          <p:cNvPr id="20490" name="Text Box 10">
            <a:extLst>
              <a:ext uri="{FF2B5EF4-FFF2-40B4-BE49-F238E27FC236}">
                <a16:creationId xmlns:a16="http://schemas.microsoft.com/office/drawing/2014/main" id="{C249AC77-932C-3440-891B-4D21E6410867}"/>
              </a:ext>
            </a:extLst>
          </p:cNvPr>
          <p:cNvSpPr txBox="1">
            <a:spLocks noChangeArrowheads="1"/>
          </p:cNvSpPr>
          <p:nvPr/>
        </p:nvSpPr>
        <p:spPr bwMode="auto">
          <a:xfrm>
            <a:off x="6495670" y="4593961"/>
            <a:ext cx="779381" cy="326884"/>
          </a:xfrm>
          <a:prstGeom prst="rect">
            <a:avLst/>
          </a:prstGeom>
          <a:solidFill>
            <a:schemeClr val="bg1"/>
          </a:solidFill>
          <a:ln>
            <a:noFill/>
          </a:ln>
          <a:effectLst/>
          <a:extLs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2</a:t>
            </a:r>
          </a:p>
        </p:txBody>
      </p:sp>
      <p:sp>
        <p:nvSpPr>
          <p:cNvPr id="20491" name="Text Box 11">
            <a:extLst>
              <a:ext uri="{FF2B5EF4-FFF2-40B4-BE49-F238E27FC236}">
                <a16:creationId xmlns:a16="http://schemas.microsoft.com/office/drawing/2014/main" id="{EBFEF1A6-6972-904C-AE4C-3E7A617CF093}"/>
              </a:ext>
            </a:extLst>
          </p:cNvPr>
          <p:cNvSpPr txBox="1">
            <a:spLocks noChangeArrowheads="1"/>
          </p:cNvSpPr>
          <p:nvPr/>
        </p:nvSpPr>
        <p:spPr bwMode="auto">
          <a:xfrm>
            <a:off x="6495670" y="5640841"/>
            <a:ext cx="779381" cy="326884"/>
          </a:xfrm>
          <a:prstGeom prst="rect">
            <a:avLst/>
          </a:prstGeom>
          <a:solidFill>
            <a:schemeClr val="bg1"/>
          </a:solidFill>
          <a:ln>
            <a:noFill/>
          </a:ln>
          <a:effectLst/>
          <a:extLs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PM 3</a:t>
            </a:r>
          </a:p>
        </p:txBody>
      </p:sp>
      <p:sp>
        <p:nvSpPr>
          <p:cNvPr id="20492" name="Text Box 12">
            <a:extLst>
              <a:ext uri="{FF2B5EF4-FFF2-40B4-BE49-F238E27FC236}">
                <a16:creationId xmlns:a16="http://schemas.microsoft.com/office/drawing/2014/main" id="{B2B55031-5B36-624C-A189-59F30BFEEB84}"/>
              </a:ext>
            </a:extLst>
          </p:cNvPr>
          <p:cNvSpPr txBox="1">
            <a:spLocks noChangeArrowheads="1"/>
          </p:cNvSpPr>
          <p:nvPr/>
        </p:nvSpPr>
        <p:spPr bwMode="auto">
          <a:xfrm rot="16200000">
            <a:off x="583235" y="4419719"/>
            <a:ext cx="2764732" cy="326884"/>
          </a:xfrm>
          <a:prstGeom prst="rect">
            <a:avLst/>
          </a:prstGeom>
          <a:solidFill>
            <a:schemeClr val="bg1"/>
          </a:solidFill>
          <a:ln>
            <a:noFill/>
          </a:ln>
          <a:effectLst/>
          <a:extLs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80000"/>
              </a:lnSpc>
              <a:spcBef>
                <a:spcPct val="20000"/>
              </a:spcBef>
              <a:spcAft>
                <a:spcPct val="0"/>
              </a:spcAft>
              <a:buClr>
                <a:srgbClr val="FFFFFF"/>
              </a:buClr>
              <a:buSzPct val="100000"/>
            </a:pPr>
            <a:r>
              <a:rPr lang="en-US" altLang="en-US" sz="1905">
                <a:latin typeface="Verdana" panose="020B0604030504040204" pitchFamily="34" charset="0"/>
              </a:rPr>
              <a:t>CPU Usage (stacked)</a:t>
            </a:r>
          </a:p>
        </p:txBody>
      </p:sp>
    </p:spTree>
    <p:custDataLst>
      <p:tags r:id="rId1"/>
    </p:custDataLst>
    <p:extLst>
      <p:ext uri="{BB962C8B-B14F-4D97-AF65-F5344CB8AC3E}">
        <p14:creationId xmlns:p14="http://schemas.microsoft.com/office/powerpoint/2010/main" val="3847345002"/>
      </p:ext>
    </p:extLst>
  </p:cSld>
  <p:clrMapOvr>
    <a:masterClrMapping/>
  </p:clrMapOvr>
  <p:transition spd="med" advTm="12818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strips(downLeft)">
                                      <p:cBhvr>
                                        <p:cTn id="7" dur="500"/>
                                        <p:tgtEl>
                                          <p:spTgt spid="204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wipe(down)">
                                      <p:cBhvr>
                                        <p:cTn id="12" dur="500"/>
                                        <p:tgtEl>
                                          <p:spTgt spid="204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0487"/>
                                        </p:tgtEl>
                                        <p:attrNameLst>
                                          <p:attrName>style.visibility</p:attrName>
                                        </p:attrNameLst>
                                      </p:cBhvr>
                                      <p:to>
                                        <p:strVal val="visible"/>
                                      </p:to>
                                    </p:set>
                                    <p:animEffect transition="in" filter="wipe(down)">
                                      <p:cBhvr>
                                        <p:cTn id="17"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Rectangle 1">
            <a:extLst>
              <a:ext uri="{FF2B5EF4-FFF2-40B4-BE49-F238E27FC236}">
                <a16:creationId xmlns:a16="http://schemas.microsoft.com/office/drawing/2014/main" id="{740781D6-881C-8147-9D79-49C43759D77B}"/>
              </a:ext>
            </a:extLst>
          </p:cNvPr>
          <p:cNvSpPr>
            <a:spLocks noGrp="1" noChangeArrowheads="1"/>
          </p:cNvSpPr>
          <p:nvPr>
            <p:ph type="title"/>
          </p:nvPr>
        </p:nvSpPr>
        <p:spPr>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dirty="0"/>
              <a:t>Memory Hotspots</a:t>
            </a:r>
          </a:p>
        </p:txBody>
      </p:sp>
      <p:sp>
        <p:nvSpPr>
          <p:cNvPr id="21506" name="Rectangle 2">
            <a:extLst>
              <a:ext uri="{FF2B5EF4-FFF2-40B4-BE49-F238E27FC236}">
                <a16:creationId xmlns:a16="http://schemas.microsoft.com/office/drawing/2014/main" id="{6E3A5D45-C6AD-7B4D-9F48-A828FEA72100}"/>
              </a:ext>
            </a:extLst>
          </p:cNvPr>
          <p:cNvSpPr>
            <a:spLocks noGrp="1" noChangeArrowheads="1"/>
          </p:cNvSpPr>
          <p:nvPr>
            <p:ph type="body" sz="half" idx="1"/>
          </p:nvPr>
        </p:nvSpPr>
        <p:spPr>
          <a:xfrm>
            <a:off x="381601" y="980728"/>
            <a:ext cx="8614078" cy="5145392"/>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Virtual machine runs </a:t>
            </a:r>
            <a:r>
              <a:rPr lang="en-GB" altLang="en-US" sz="1996" dirty="0" err="1"/>
              <a:t>SpecJBB</a:t>
            </a:r>
            <a:r>
              <a:rPr lang="en-GB" altLang="en-US" sz="1996" dirty="0"/>
              <a:t> benchmark</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Memory utilization increases over time</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a:t>Black-box increases VM memory allocation by 32MB if page-swapping is observed</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996" dirty="0" err="1"/>
              <a:t>Gray</a:t>
            </a:r>
            <a:r>
              <a:rPr lang="en-GB" altLang="en-US" sz="1996" dirty="0"/>
              <a:t>-box maintains 32 MB free</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814" dirty="0"/>
              <a:t>Significantly reduces page-swapping</a:t>
            </a:r>
          </a:p>
        </p:txBody>
      </p:sp>
      <p:graphicFrame>
        <p:nvGraphicFramePr>
          <p:cNvPr id="21513" name="Object 9">
            <a:extLst>
              <a:ext uri="{FF2B5EF4-FFF2-40B4-BE49-F238E27FC236}">
                <a16:creationId xmlns:a16="http://schemas.microsoft.com/office/drawing/2014/main" id="{DAC2CE0E-5E12-8542-9E60-35B9343F3B18}"/>
              </a:ext>
            </a:extLst>
          </p:cNvPr>
          <p:cNvGraphicFramePr>
            <a:graphicFrameLocks noGrp="1" noChangeAspect="1"/>
          </p:cNvGraphicFramePr>
          <p:nvPr>
            <p:ph sz="half" idx="2"/>
            <p:extLst>
              <p:ext uri="{D42A27DB-BD31-4B8C-83A1-F6EECF244321}">
                <p14:modId xmlns:p14="http://schemas.microsoft.com/office/powerpoint/2010/main" val="1640821647"/>
              </p:ext>
            </p:extLst>
          </p:nvPr>
        </p:nvGraphicFramePr>
        <p:xfrm>
          <a:off x="148321" y="3000120"/>
          <a:ext cx="4423680" cy="2589120"/>
        </p:xfrm>
        <a:graphic>
          <a:graphicData uri="http://schemas.openxmlformats.org/presentationml/2006/ole">
            <mc:AlternateContent xmlns:mc="http://schemas.openxmlformats.org/markup-compatibility/2006">
              <mc:Choice xmlns:v="urn:schemas-microsoft-com:vml" Requires="v">
                <p:oleObj name="Chart" r:id="rId4" imgW="3130550" imgH="1835150" progId="Excel.Chart.8">
                  <p:embed/>
                </p:oleObj>
              </mc:Choice>
              <mc:Fallback>
                <p:oleObj name="Chart" r:id="rId4" imgW="3130550" imgH="1835150" progId="Excel.Chart.8">
                  <p:embed/>
                  <p:pic>
                    <p:nvPicPr>
                      <p:cNvPr id="21513" name="Object 9">
                        <a:extLst>
                          <a:ext uri="{FF2B5EF4-FFF2-40B4-BE49-F238E27FC236}">
                            <a16:creationId xmlns:a16="http://schemas.microsoft.com/office/drawing/2014/main" id="{DAC2CE0E-5E12-8542-9E60-35B9343F3B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321" y="3000120"/>
                        <a:ext cx="4423680" cy="2589120"/>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5" name="Rectangle 11">
            <a:extLst>
              <a:ext uri="{FF2B5EF4-FFF2-40B4-BE49-F238E27FC236}">
                <a16:creationId xmlns:a16="http://schemas.microsoft.com/office/drawing/2014/main" id="{BDB6F649-333B-C34C-95E5-89BB53753BEC}"/>
              </a:ext>
            </a:extLst>
          </p:cNvPr>
          <p:cNvSpPr>
            <a:spLocks noChangeArrowheads="1"/>
          </p:cNvSpPr>
          <p:nvPr/>
        </p:nvSpPr>
        <p:spPr bwMode="auto">
          <a:xfrm>
            <a:off x="1392481" y="5661248"/>
            <a:ext cx="6497280" cy="898560"/>
          </a:xfrm>
          <a:prstGeom prst="rect">
            <a:avLst/>
          </a:prstGeom>
          <a:solidFill>
            <a:srgbClr val="99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algn="ctr" defTabSz="829452" fontAlgn="base">
              <a:lnSpc>
                <a:spcPct val="100000"/>
              </a:lnSpc>
              <a:spcBef>
                <a:spcPts val="590"/>
              </a:spcBef>
              <a:spcAft>
                <a:spcPct val="0"/>
              </a:spcAft>
              <a:buClr>
                <a:srgbClr val="3333CC"/>
              </a:buClr>
              <a:buSzPct val="60000"/>
            </a:pPr>
            <a:r>
              <a:rPr lang="en-GB" altLang="en-US" sz="1905" dirty="0">
                <a:latin typeface="Verdana" panose="020B0604030504040204" pitchFamily="34" charset="0"/>
              </a:rPr>
              <a:t>Gray-box can improve application </a:t>
            </a:r>
          </a:p>
          <a:p>
            <a:pPr algn="ctr" defTabSz="829452" fontAlgn="base">
              <a:lnSpc>
                <a:spcPct val="100000"/>
              </a:lnSpc>
              <a:spcBef>
                <a:spcPts val="590"/>
              </a:spcBef>
              <a:spcAft>
                <a:spcPct val="0"/>
              </a:spcAft>
              <a:buClr>
                <a:srgbClr val="3333CC"/>
              </a:buClr>
              <a:buSzPct val="60000"/>
            </a:pPr>
            <a:r>
              <a:rPr lang="en-GB" altLang="en-US" sz="1905" dirty="0">
                <a:latin typeface="Verdana" panose="020B0604030504040204" pitchFamily="34" charset="0"/>
              </a:rPr>
              <a:t>performance by proactively increasing allocation</a:t>
            </a:r>
          </a:p>
        </p:txBody>
      </p:sp>
      <p:pic>
        <p:nvPicPr>
          <p:cNvPr id="21508" name="Picture 4">
            <a:extLst>
              <a:ext uri="{FF2B5EF4-FFF2-40B4-BE49-F238E27FC236}">
                <a16:creationId xmlns:a16="http://schemas.microsoft.com/office/drawing/2014/main" id="{FE8BE03A-0F39-544E-8E13-A2C11D84F8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55841" y="2994121"/>
            <a:ext cx="3732480" cy="24868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516" name="Rectangle 12">
            <a:extLst>
              <a:ext uri="{FF2B5EF4-FFF2-40B4-BE49-F238E27FC236}">
                <a16:creationId xmlns:a16="http://schemas.microsoft.com/office/drawing/2014/main" id="{E917403D-E49D-0B42-9A57-741B2B8C9834}"/>
              </a:ext>
            </a:extLst>
          </p:cNvPr>
          <p:cNvSpPr>
            <a:spLocks noChangeArrowheads="1"/>
          </p:cNvSpPr>
          <p:nvPr/>
        </p:nvSpPr>
        <p:spPr bwMode="auto">
          <a:xfrm>
            <a:off x="6252481" y="3513960"/>
            <a:ext cx="123840" cy="152064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17" name="Rectangle 13">
            <a:extLst>
              <a:ext uri="{FF2B5EF4-FFF2-40B4-BE49-F238E27FC236}">
                <a16:creationId xmlns:a16="http://schemas.microsoft.com/office/drawing/2014/main" id="{BBC1C8B7-248D-2742-ACD8-5ADB42707049}"/>
              </a:ext>
            </a:extLst>
          </p:cNvPr>
          <p:cNvSpPr>
            <a:spLocks noChangeArrowheads="1"/>
          </p:cNvSpPr>
          <p:nvPr/>
        </p:nvSpPr>
        <p:spPr bwMode="auto">
          <a:xfrm>
            <a:off x="6517441" y="4736521"/>
            <a:ext cx="123840" cy="29808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18" name="Rectangle 14">
            <a:extLst>
              <a:ext uri="{FF2B5EF4-FFF2-40B4-BE49-F238E27FC236}">
                <a16:creationId xmlns:a16="http://schemas.microsoft.com/office/drawing/2014/main" id="{CDC2FB8C-5004-2240-BEFB-347B468A1DE9}"/>
              </a:ext>
            </a:extLst>
          </p:cNvPr>
          <p:cNvSpPr>
            <a:spLocks noChangeArrowheads="1"/>
          </p:cNvSpPr>
          <p:nvPr/>
        </p:nvSpPr>
        <p:spPr bwMode="auto">
          <a:xfrm>
            <a:off x="6770881" y="3721320"/>
            <a:ext cx="123840" cy="131328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19" name="Rectangle 15">
            <a:extLst>
              <a:ext uri="{FF2B5EF4-FFF2-40B4-BE49-F238E27FC236}">
                <a16:creationId xmlns:a16="http://schemas.microsoft.com/office/drawing/2014/main" id="{662B4ACF-B577-3C4B-8690-F26EA23D50B8}"/>
              </a:ext>
            </a:extLst>
          </p:cNvPr>
          <p:cNvSpPr>
            <a:spLocks noChangeArrowheads="1"/>
          </p:cNvSpPr>
          <p:nvPr/>
        </p:nvSpPr>
        <p:spPr bwMode="auto">
          <a:xfrm>
            <a:off x="7030081" y="3512521"/>
            <a:ext cx="123840" cy="152064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0" name="Rectangle 16">
            <a:extLst>
              <a:ext uri="{FF2B5EF4-FFF2-40B4-BE49-F238E27FC236}">
                <a16:creationId xmlns:a16="http://schemas.microsoft.com/office/drawing/2014/main" id="{3702FE7C-147A-0B4C-8ED7-05DBC7EDCFD6}"/>
              </a:ext>
            </a:extLst>
          </p:cNvPr>
          <p:cNvSpPr>
            <a:spLocks noChangeArrowheads="1"/>
          </p:cNvSpPr>
          <p:nvPr/>
        </p:nvSpPr>
        <p:spPr bwMode="auto">
          <a:xfrm>
            <a:off x="7446241" y="3512521"/>
            <a:ext cx="123840" cy="152064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1" name="Rectangle 17">
            <a:extLst>
              <a:ext uri="{FF2B5EF4-FFF2-40B4-BE49-F238E27FC236}">
                <a16:creationId xmlns:a16="http://schemas.microsoft.com/office/drawing/2014/main" id="{0434C2F9-5C12-0141-BE31-04C55209A1FB}"/>
              </a:ext>
            </a:extLst>
          </p:cNvPr>
          <p:cNvSpPr>
            <a:spLocks noChangeArrowheads="1"/>
          </p:cNvSpPr>
          <p:nvPr/>
        </p:nvSpPr>
        <p:spPr bwMode="auto">
          <a:xfrm>
            <a:off x="7693921" y="4321801"/>
            <a:ext cx="123840" cy="71280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2" name="Rectangle 18">
            <a:extLst>
              <a:ext uri="{FF2B5EF4-FFF2-40B4-BE49-F238E27FC236}">
                <a16:creationId xmlns:a16="http://schemas.microsoft.com/office/drawing/2014/main" id="{8EB01802-C29C-6C47-846E-AAC45B104E56}"/>
              </a:ext>
            </a:extLst>
          </p:cNvPr>
          <p:cNvSpPr>
            <a:spLocks noChangeArrowheads="1"/>
          </p:cNvSpPr>
          <p:nvPr/>
        </p:nvSpPr>
        <p:spPr bwMode="auto">
          <a:xfrm>
            <a:off x="7902721" y="4549321"/>
            <a:ext cx="116640" cy="48384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3" name="Rectangle 19">
            <a:extLst>
              <a:ext uri="{FF2B5EF4-FFF2-40B4-BE49-F238E27FC236}">
                <a16:creationId xmlns:a16="http://schemas.microsoft.com/office/drawing/2014/main" id="{1D5370EC-49E8-C840-9FA4-61F8C33D4625}"/>
              </a:ext>
            </a:extLst>
          </p:cNvPr>
          <p:cNvSpPr>
            <a:spLocks noChangeArrowheads="1"/>
          </p:cNvSpPr>
          <p:nvPr/>
        </p:nvSpPr>
        <p:spPr bwMode="auto">
          <a:xfrm>
            <a:off x="8022241" y="4596841"/>
            <a:ext cx="116640" cy="440640"/>
          </a:xfrm>
          <a:prstGeom prst="rect">
            <a:avLst/>
          </a:prstGeom>
          <a:solidFill>
            <a:srgbClr val="008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4" name="Rectangle 20">
            <a:extLst>
              <a:ext uri="{FF2B5EF4-FFF2-40B4-BE49-F238E27FC236}">
                <a16:creationId xmlns:a16="http://schemas.microsoft.com/office/drawing/2014/main" id="{FB1F2A31-C79A-0E47-A8F2-5C3F773FF1EA}"/>
              </a:ext>
            </a:extLst>
          </p:cNvPr>
          <p:cNvSpPr>
            <a:spLocks noChangeArrowheads="1"/>
          </p:cNvSpPr>
          <p:nvPr/>
        </p:nvSpPr>
        <p:spPr bwMode="auto">
          <a:xfrm>
            <a:off x="7937281" y="3221641"/>
            <a:ext cx="436320" cy="95040"/>
          </a:xfrm>
          <a:prstGeom prst="rect">
            <a:avLst/>
          </a:prstGeom>
          <a:solidFill>
            <a:srgbClr val="800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1525" name="Rectangle 21">
            <a:extLst>
              <a:ext uri="{FF2B5EF4-FFF2-40B4-BE49-F238E27FC236}">
                <a16:creationId xmlns:a16="http://schemas.microsoft.com/office/drawing/2014/main" id="{0F796E44-AF55-6141-B9B6-9E49369F3D04}"/>
              </a:ext>
            </a:extLst>
          </p:cNvPr>
          <p:cNvSpPr>
            <a:spLocks noChangeArrowheads="1"/>
          </p:cNvSpPr>
          <p:nvPr/>
        </p:nvSpPr>
        <p:spPr bwMode="auto">
          <a:xfrm>
            <a:off x="7948800" y="3359881"/>
            <a:ext cx="414720" cy="118080"/>
          </a:xfrm>
          <a:prstGeom prst="rect">
            <a:avLst/>
          </a:prstGeom>
          <a:solidFill>
            <a:srgbClr val="0080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Tree>
    <p:custDataLst>
      <p:tags r:id="rId1"/>
    </p:custDataLst>
    <p:extLst>
      <p:ext uri="{BB962C8B-B14F-4D97-AF65-F5344CB8AC3E}">
        <p14:creationId xmlns:p14="http://schemas.microsoft.com/office/powerpoint/2010/main" val="2422959220"/>
      </p:ext>
    </p:extLst>
  </p:cSld>
  <p:clrMapOvr>
    <a:masterClrMapping/>
  </p:clrMapOvr>
  <p:transition spd="med" advTm="13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15"/>
                                        </p:tgtEl>
                                        <p:attrNameLst>
                                          <p:attrName>style.visibility</p:attrName>
                                        </p:attrNameLst>
                                      </p:cBhvr>
                                      <p:to>
                                        <p:strVal val="visible"/>
                                      </p:to>
                                    </p:set>
                                    <p:anim calcmode="lin" valueType="num">
                                      <p:cBhvr additive="base">
                                        <p:cTn id="7" dur="500" fill="hold"/>
                                        <p:tgtEl>
                                          <p:spTgt spid="21515"/>
                                        </p:tgtEl>
                                        <p:attrNameLst>
                                          <p:attrName>ppt_x</p:attrName>
                                        </p:attrNameLst>
                                      </p:cBhvr>
                                      <p:tavLst>
                                        <p:tav tm="0">
                                          <p:val>
                                            <p:strVal val="#ppt_x"/>
                                          </p:val>
                                        </p:tav>
                                        <p:tav tm="100000">
                                          <p:val>
                                            <p:strVal val="#ppt_x"/>
                                          </p:val>
                                        </p:tav>
                                      </p:tavLst>
                                    </p:anim>
                                    <p:anim calcmode="lin" valueType="num">
                                      <p:cBhvr additive="base">
                                        <p:cTn id="8" dur="500" fill="hold"/>
                                        <p:tgtEl>
                                          <p:spTgt spid="21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5"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99020A02-25F9-0D4D-973A-6A20861C53FC}"/>
              </a:ext>
            </a:extLst>
          </p:cNvPr>
          <p:cNvSpPr>
            <a:spLocks noGrp="1" noChangeArrowheads="1"/>
          </p:cNvSpPr>
          <p:nvPr>
            <p:ph type="title"/>
          </p:nvPr>
        </p:nvSpPr>
        <p:spPr>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Data Center Prototype</a:t>
            </a:r>
          </a:p>
        </p:txBody>
      </p:sp>
      <p:sp>
        <p:nvSpPr>
          <p:cNvPr id="23554" name="Rectangle 2">
            <a:extLst>
              <a:ext uri="{FF2B5EF4-FFF2-40B4-BE49-F238E27FC236}">
                <a16:creationId xmlns:a16="http://schemas.microsoft.com/office/drawing/2014/main" id="{B53C1843-8EBD-0341-9DA4-CCB87CAED7A8}"/>
              </a:ext>
            </a:extLst>
          </p:cNvPr>
          <p:cNvSpPr>
            <a:spLocks noGrp="1" noChangeArrowheads="1"/>
          </p:cNvSpPr>
          <p:nvPr>
            <p:ph type="body" sz="half" idx="1"/>
          </p:nvPr>
        </p:nvSpPr>
        <p:spPr>
          <a:xfrm>
            <a:off x="381601" y="1143720"/>
            <a:ext cx="8475840" cy="498240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814"/>
              <a:t>16 server cluster runs realistic data center applications on 35 virtual machines</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814"/>
              <a:t>6 servers (14 VMs) become simultaneously overloaded</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633"/>
              <a:t>4 CPU hotspots and 2 network hotspots</a:t>
            </a:r>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814"/>
              <a:t>Sandpiper eliminates all hotspots in four minutes </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633"/>
              <a:t>Uses 7 migrations and 2 swaps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633"/>
              <a:t>Despite migration overhead, VMs see fewer periods of overload</a:t>
            </a:r>
          </a:p>
        </p:txBody>
      </p:sp>
      <p:graphicFrame>
        <p:nvGraphicFramePr>
          <p:cNvPr id="23558" name="Object 6">
            <a:extLst>
              <a:ext uri="{FF2B5EF4-FFF2-40B4-BE49-F238E27FC236}">
                <a16:creationId xmlns:a16="http://schemas.microsoft.com/office/drawing/2014/main" id="{1F142183-8C67-F34F-99A9-91682171E822}"/>
              </a:ext>
            </a:extLst>
          </p:cNvPr>
          <p:cNvGraphicFramePr>
            <a:graphicFrameLocks noGrp="1" noChangeAspect="1"/>
          </p:cNvGraphicFramePr>
          <p:nvPr>
            <p:ph sz="quarter" idx="2"/>
          </p:nvPr>
        </p:nvGraphicFramePr>
        <p:xfrm>
          <a:off x="770401" y="3840841"/>
          <a:ext cx="3767040" cy="2422080"/>
        </p:xfrm>
        <a:graphic>
          <a:graphicData uri="http://schemas.openxmlformats.org/presentationml/2006/ole">
            <mc:AlternateContent xmlns:mc="http://schemas.openxmlformats.org/markup-compatibility/2006">
              <mc:Choice xmlns:v="urn:schemas-microsoft-com:vml" Requires="v">
                <p:oleObj name="Chart" r:id="rId3" imgW="3302000" imgH="2127250" progId="Excel.Chart.8">
                  <p:embed/>
                </p:oleObj>
              </mc:Choice>
              <mc:Fallback>
                <p:oleObj name="Chart" r:id="rId3" imgW="3302000" imgH="2127250" progId="Excel.Chart.8">
                  <p:embed/>
                  <p:pic>
                    <p:nvPicPr>
                      <p:cNvPr id="23558" name="Object 6">
                        <a:extLst>
                          <a:ext uri="{FF2B5EF4-FFF2-40B4-BE49-F238E27FC236}">
                            <a16:creationId xmlns:a16="http://schemas.microsoft.com/office/drawing/2014/main" id="{1F142183-8C67-F34F-99A9-91682171E8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401" y="3840841"/>
                        <a:ext cx="3767040" cy="2422080"/>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6" name="Object 14">
            <a:extLst>
              <a:ext uri="{FF2B5EF4-FFF2-40B4-BE49-F238E27FC236}">
                <a16:creationId xmlns:a16="http://schemas.microsoft.com/office/drawing/2014/main" id="{A9912EFF-67C1-7146-BC9D-4CD25F69CFA9}"/>
              </a:ext>
            </a:extLst>
          </p:cNvPr>
          <p:cNvGraphicFramePr>
            <a:graphicFrameLocks noGrp="1" noChangeAspect="1"/>
          </p:cNvGraphicFramePr>
          <p:nvPr>
            <p:ph sz="quarter" idx="3"/>
          </p:nvPr>
        </p:nvGraphicFramePr>
        <p:xfrm>
          <a:off x="5470561" y="3840841"/>
          <a:ext cx="3087360" cy="2422080"/>
        </p:xfrm>
        <a:graphic>
          <a:graphicData uri="http://schemas.openxmlformats.org/presentationml/2006/ole">
            <mc:AlternateContent xmlns:mc="http://schemas.openxmlformats.org/markup-compatibility/2006">
              <mc:Choice xmlns:v="urn:schemas-microsoft-com:vml" Requires="v">
                <p:oleObj name="Chart" r:id="rId5" imgW="2901950" imgH="2279650" progId="Excel.Chart.8">
                  <p:embed/>
                </p:oleObj>
              </mc:Choice>
              <mc:Fallback>
                <p:oleObj name="Chart" r:id="rId5" imgW="2901950" imgH="2279650" progId="Excel.Chart.8">
                  <p:embed/>
                  <p:pic>
                    <p:nvPicPr>
                      <p:cNvPr id="23566" name="Object 14">
                        <a:extLst>
                          <a:ext uri="{FF2B5EF4-FFF2-40B4-BE49-F238E27FC236}">
                            <a16:creationId xmlns:a16="http://schemas.microsoft.com/office/drawing/2014/main" id="{A9912EFF-67C1-7146-BC9D-4CD25F69CF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0561" y="3840841"/>
                        <a:ext cx="3087360" cy="2422080"/>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69527985"/>
      </p:ext>
    </p:extLst>
  </p:cSld>
  <p:clrMapOvr>
    <a:masterClrMapping/>
  </p:clrMapOvr>
  <p:transition spd="med" advTm="100734"/>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 name="Rectangle 1">
            <a:extLst>
              <a:ext uri="{FF2B5EF4-FFF2-40B4-BE49-F238E27FC236}">
                <a16:creationId xmlns:a16="http://schemas.microsoft.com/office/drawing/2014/main" id="{F3833044-8095-2A4B-A583-DA1D8FBDA9B4}"/>
              </a:ext>
            </a:extLst>
          </p:cNvPr>
          <p:cNvSpPr>
            <a:spLocks noGrp="1" noChangeArrowheads="1"/>
          </p:cNvSpPr>
          <p:nvPr>
            <p:ph type="title"/>
          </p:nvPr>
        </p:nvSpPr>
        <p:spPr>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Stability During Overload</a:t>
            </a:r>
          </a:p>
        </p:txBody>
      </p:sp>
      <p:sp>
        <p:nvSpPr>
          <p:cNvPr id="25602" name="Rectangle 2">
            <a:extLst>
              <a:ext uri="{FF2B5EF4-FFF2-40B4-BE49-F238E27FC236}">
                <a16:creationId xmlns:a16="http://schemas.microsoft.com/office/drawing/2014/main" id="{CFB5F059-FB70-BD46-844B-E5285493B62D}"/>
              </a:ext>
            </a:extLst>
          </p:cNvPr>
          <p:cNvSpPr>
            <a:spLocks noGrp="1" noChangeArrowheads="1"/>
          </p:cNvSpPr>
          <p:nvPr>
            <p:ph type="body" sz="half" idx="1"/>
          </p:nvPr>
        </p:nvSpPr>
        <p:spPr>
          <a:xfrm>
            <a:off x="381601" y="1143720"/>
            <a:ext cx="8268480" cy="498240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996"/>
              <a:t>Predict future usage </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814"/>
              <a:t>Will not migrate if destination could become overloaded</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1996"/>
              <a:t>Each set of migrations must eliminate a hotspot</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814"/>
              <a:t>Algorithm only performs bounded number of migrations</a:t>
            </a:r>
          </a:p>
        </p:txBody>
      </p:sp>
      <p:pic>
        <p:nvPicPr>
          <p:cNvPr id="25603" name="Picture 3">
            <a:extLst>
              <a:ext uri="{FF2B5EF4-FFF2-40B4-BE49-F238E27FC236}">
                <a16:creationId xmlns:a16="http://schemas.microsoft.com/office/drawing/2014/main" id="{52DF1CC8-7E00-AC45-8F89-B085750D9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4961" y="3498121"/>
            <a:ext cx="2685600" cy="224784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25626" name="Object 26">
            <a:extLst>
              <a:ext uri="{FF2B5EF4-FFF2-40B4-BE49-F238E27FC236}">
                <a16:creationId xmlns:a16="http://schemas.microsoft.com/office/drawing/2014/main" id="{06D85082-09C1-7647-B53C-C7DFB3D914E9}"/>
              </a:ext>
            </a:extLst>
          </p:cNvPr>
          <p:cNvGraphicFramePr>
            <a:graphicFrameLocks noGrp="1" noChangeAspect="1"/>
          </p:cNvGraphicFramePr>
          <p:nvPr>
            <p:ph sz="half" idx="2"/>
          </p:nvPr>
        </p:nvGraphicFramePr>
        <p:xfrm>
          <a:off x="770401" y="3871081"/>
          <a:ext cx="4083840" cy="1977120"/>
        </p:xfrm>
        <a:graphic>
          <a:graphicData uri="http://schemas.openxmlformats.org/presentationml/2006/ole">
            <mc:AlternateContent xmlns:mc="http://schemas.openxmlformats.org/markup-compatibility/2006">
              <mc:Choice xmlns:v="urn:schemas-microsoft-com:vml" Requires="v">
                <p:oleObj name="Chart" r:id="rId4" imgW="3111500" imgH="1555750" progId="Excel.Chart.8">
                  <p:embed/>
                </p:oleObj>
              </mc:Choice>
              <mc:Fallback>
                <p:oleObj name="Chart" r:id="rId4" imgW="3111500" imgH="1555750" progId="Excel.Chart.8">
                  <p:embed/>
                  <p:pic>
                    <p:nvPicPr>
                      <p:cNvPr id="25626" name="Object 26">
                        <a:extLst>
                          <a:ext uri="{FF2B5EF4-FFF2-40B4-BE49-F238E27FC236}">
                            <a16:creationId xmlns:a16="http://schemas.microsoft.com/office/drawing/2014/main" id="{06D85082-09C1-7647-B53C-C7DFB3D91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401" y="3871081"/>
                        <a:ext cx="4083840" cy="1977120"/>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9" name="Text Box 9">
            <a:extLst>
              <a:ext uri="{FF2B5EF4-FFF2-40B4-BE49-F238E27FC236}">
                <a16:creationId xmlns:a16="http://schemas.microsoft.com/office/drawing/2014/main" id="{EDC5A0C4-BA93-2243-AEDE-8FD89FF91916}"/>
              </a:ext>
            </a:extLst>
          </p:cNvPr>
          <p:cNvSpPr txBox="1">
            <a:spLocks noChangeArrowheads="1"/>
          </p:cNvSpPr>
          <p:nvPr/>
        </p:nvSpPr>
        <p:spPr bwMode="auto">
          <a:xfrm>
            <a:off x="1530721" y="3663721"/>
            <a:ext cx="2513830" cy="259879"/>
          </a:xfrm>
          <a:prstGeom prst="rect">
            <a:avLst/>
          </a:prstGeom>
          <a:noFill/>
          <a:ln>
            <a:noFill/>
          </a:ln>
          <a:effectLst/>
          <a:extLst>
            <a:ext uri="{909E8E84-426E-40DD-AFC4-6F175D3DCCD1}">
              <a14:hiddenFill xmlns:a14="http://schemas.microsoft.com/office/drawing/2010/main">
                <a:solidFill>
                  <a:srgbClr val="333333"/>
                </a:solidFill>
              </a14:hiddenFill>
            </a:ext>
            <a:ext uri="{91240B29-F687-4F45-9708-019B960494DF}">
              <a14:hiddenLine xmlns:a14="http://schemas.microsoft.com/office/drawing/2010/main" w="571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a:lnSpc>
                <a:spcPct val="81000"/>
              </a:lnSpc>
              <a:spcBef>
                <a:spcPct val="0"/>
              </a:spcBef>
              <a:buClr>
                <a:srgbClr val="000000"/>
              </a:buClr>
              <a:buSzPct val="45000"/>
              <a:defRPr>
                <a:solidFill>
                  <a:srgbClr val="000000"/>
                </a:solidFill>
                <a:latin typeface="Arial" panose="020B0604020202020204" pitchFamily="34" charset="0"/>
              </a:defRPr>
            </a:lvl1pPr>
            <a:lvl2pPr algn="l">
              <a:lnSpc>
                <a:spcPct val="81000"/>
              </a:lnSpc>
              <a:spcBef>
                <a:spcPct val="0"/>
              </a:spcBef>
              <a:buClr>
                <a:srgbClr val="000000"/>
              </a:buClr>
              <a:buSzPct val="45000"/>
              <a:defRPr>
                <a:solidFill>
                  <a:srgbClr val="000000"/>
                </a:solidFill>
                <a:latin typeface="Arial" panose="020B0604020202020204" pitchFamily="34" charset="0"/>
              </a:defRPr>
            </a:lvl2pPr>
            <a:lvl3pPr algn="l">
              <a:lnSpc>
                <a:spcPct val="81000"/>
              </a:lnSpc>
              <a:spcBef>
                <a:spcPct val="0"/>
              </a:spcBef>
              <a:buClr>
                <a:srgbClr val="000000"/>
              </a:buClr>
              <a:buSzPct val="45000"/>
              <a:defRPr>
                <a:solidFill>
                  <a:srgbClr val="000000"/>
                </a:solidFill>
                <a:latin typeface="Arial" panose="020B0604020202020204" pitchFamily="34" charset="0"/>
              </a:defRPr>
            </a:lvl3pPr>
            <a:lvl4pPr algn="l">
              <a:lnSpc>
                <a:spcPct val="81000"/>
              </a:lnSpc>
              <a:spcBef>
                <a:spcPct val="0"/>
              </a:spcBef>
              <a:buClr>
                <a:srgbClr val="000000"/>
              </a:buClr>
              <a:buSzPct val="45000"/>
              <a:defRPr>
                <a:solidFill>
                  <a:srgbClr val="000000"/>
                </a:solidFill>
                <a:latin typeface="Arial" panose="020B0604020202020204" pitchFamily="34" charset="0"/>
              </a:defRPr>
            </a:lvl4pPr>
            <a:lvl5pPr algn="l">
              <a:lnSpc>
                <a:spcPct val="81000"/>
              </a:lnSpc>
              <a:spcBef>
                <a:spcPct val="0"/>
              </a:spcBef>
              <a:buClr>
                <a:srgbClr val="000000"/>
              </a:buClr>
              <a:buSzPct val="45000"/>
              <a:defRPr>
                <a:solidFill>
                  <a:srgbClr val="000000"/>
                </a:solidFill>
                <a:latin typeface="Arial" panose="020B0604020202020204" pitchFamily="34" charset="0"/>
              </a:defRPr>
            </a:lvl5pPr>
            <a:lvl6pPr marL="15335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6pPr>
            <a:lvl7pPr marL="19907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7pPr>
            <a:lvl8pPr marL="24479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8pPr>
            <a:lvl9pPr marL="2905125" indent="-215900" fontAlgn="base">
              <a:lnSpc>
                <a:spcPct val="81000"/>
              </a:lnSpc>
              <a:spcBef>
                <a:spcPct val="0"/>
              </a:spcBef>
              <a:spcAft>
                <a:spcPct val="0"/>
              </a:spcAft>
              <a:buClr>
                <a:srgbClr val="000000"/>
              </a:buClr>
              <a:buSzPct val="45000"/>
              <a:buFont typeface="Wingdings" pitchFamily="2" charset="2"/>
              <a:defRPr>
                <a:solidFill>
                  <a:srgbClr val="000000"/>
                </a:solidFill>
                <a:latin typeface="Arial" panose="020B0604020202020204" pitchFamily="34" charset="0"/>
              </a:defRPr>
            </a:lvl9pPr>
          </a:lstStyle>
          <a:p>
            <a:pPr defTabSz="829452" fontAlgn="base">
              <a:lnSpc>
                <a:spcPct val="80000"/>
              </a:lnSpc>
              <a:spcBef>
                <a:spcPct val="20000"/>
              </a:spcBef>
              <a:spcAft>
                <a:spcPct val="0"/>
              </a:spcAft>
              <a:buClr>
                <a:srgbClr val="FFFFFF"/>
              </a:buClr>
              <a:buSzPct val="100000"/>
            </a:pPr>
            <a:r>
              <a:rPr lang="en-US" altLang="en-US" sz="1361">
                <a:latin typeface="Verdana" panose="020B0604030504040204" pitchFamily="34" charset="0"/>
              </a:rPr>
              <a:t>Measured           Predicted</a:t>
            </a:r>
          </a:p>
        </p:txBody>
      </p:sp>
      <p:sp>
        <p:nvSpPr>
          <p:cNvPr id="25613" name="Line 13">
            <a:extLst>
              <a:ext uri="{FF2B5EF4-FFF2-40B4-BE49-F238E27FC236}">
                <a16:creationId xmlns:a16="http://schemas.microsoft.com/office/drawing/2014/main" id="{9AF7C95B-28B0-FD45-93ED-71046954119F}"/>
              </a:ext>
            </a:extLst>
          </p:cNvPr>
          <p:cNvSpPr>
            <a:spLocks noChangeShapeType="1"/>
          </p:cNvSpPr>
          <p:nvPr/>
        </p:nvSpPr>
        <p:spPr bwMode="auto">
          <a:xfrm>
            <a:off x="2844001" y="3814921"/>
            <a:ext cx="0" cy="1440000"/>
          </a:xfrm>
          <a:prstGeom prst="line">
            <a:avLst/>
          </a:prstGeom>
          <a:noFill/>
          <a:ln w="158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3" name="Rectangle 33">
            <a:extLst>
              <a:ext uri="{FF2B5EF4-FFF2-40B4-BE49-F238E27FC236}">
                <a16:creationId xmlns:a16="http://schemas.microsoft.com/office/drawing/2014/main" id="{F8626722-1238-6F49-B99E-8B62AE80D6F7}"/>
              </a:ext>
            </a:extLst>
          </p:cNvPr>
          <p:cNvSpPr>
            <a:spLocks noChangeArrowheads="1"/>
          </p:cNvSpPr>
          <p:nvPr/>
        </p:nvSpPr>
        <p:spPr bwMode="auto">
          <a:xfrm>
            <a:off x="5811840" y="4797001"/>
            <a:ext cx="207360" cy="55296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4" name="Rectangle 34">
            <a:extLst>
              <a:ext uri="{FF2B5EF4-FFF2-40B4-BE49-F238E27FC236}">
                <a16:creationId xmlns:a16="http://schemas.microsoft.com/office/drawing/2014/main" id="{389FFA7D-519D-B346-87D3-B24600854998}"/>
              </a:ext>
            </a:extLst>
          </p:cNvPr>
          <p:cNvSpPr>
            <a:spLocks noChangeArrowheads="1"/>
          </p:cNvSpPr>
          <p:nvPr/>
        </p:nvSpPr>
        <p:spPr bwMode="auto">
          <a:xfrm>
            <a:off x="6092641" y="4658761"/>
            <a:ext cx="207360" cy="69120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5" name="Rectangle 35">
            <a:extLst>
              <a:ext uri="{FF2B5EF4-FFF2-40B4-BE49-F238E27FC236}">
                <a16:creationId xmlns:a16="http://schemas.microsoft.com/office/drawing/2014/main" id="{D5D3E0D1-1A46-7A4B-BAAC-184E1384073C}"/>
              </a:ext>
            </a:extLst>
          </p:cNvPr>
          <p:cNvSpPr>
            <a:spLocks noChangeArrowheads="1"/>
          </p:cNvSpPr>
          <p:nvPr/>
        </p:nvSpPr>
        <p:spPr bwMode="auto">
          <a:xfrm>
            <a:off x="6383521" y="4575241"/>
            <a:ext cx="207360" cy="77184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6" name="Rectangle 36">
            <a:extLst>
              <a:ext uri="{FF2B5EF4-FFF2-40B4-BE49-F238E27FC236}">
                <a16:creationId xmlns:a16="http://schemas.microsoft.com/office/drawing/2014/main" id="{762ED51A-A2E8-B44C-B392-C4F8D8128EEF}"/>
              </a:ext>
            </a:extLst>
          </p:cNvPr>
          <p:cNvSpPr>
            <a:spLocks noChangeArrowheads="1"/>
          </p:cNvSpPr>
          <p:nvPr/>
        </p:nvSpPr>
        <p:spPr bwMode="auto">
          <a:xfrm>
            <a:off x="6652800" y="4742281"/>
            <a:ext cx="207360" cy="60768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7" name="Rectangle 37">
            <a:extLst>
              <a:ext uri="{FF2B5EF4-FFF2-40B4-BE49-F238E27FC236}">
                <a16:creationId xmlns:a16="http://schemas.microsoft.com/office/drawing/2014/main" id="{87424E2E-3A8D-B641-8E61-D4DA961AA5EA}"/>
              </a:ext>
            </a:extLst>
          </p:cNvPr>
          <p:cNvSpPr>
            <a:spLocks noChangeArrowheads="1"/>
          </p:cNvSpPr>
          <p:nvPr/>
        </p:nvSpPr>
        <p:spPr bwMode="auto">
          <a:xfrm>
            <a:off x="6936481" y="4935241"/>
            <a:ext cx="207360" cy="41472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8" name="Rectangle 38">
            <a:extLst>
              <a:ext uri="{FF2B5EF4-FFF2-40B4-BE49-F238E27FC236}">
                <a16:creationId xmlns:a16="http://schemas.microsoft.com/office/drawing/2014/main" id="{979D1ED6-0819-1140-AC08-D75F37BF078F}"/>
              </a:ext>
            </a:extLst>
          </p:cNvPr>
          <p:cNvSpPr>
            <a:spLocks noChangeArrowheads="1"/>
          </p:cNvSpPr>
          <p:nvPr/>
        </p:nvSpPr>
        <p:spPr bwMode="auto">
          <a:xfrm>
            <a:off x="7220160" y="5142601"/>
            <a:ext cx="207360" cy="20736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39" name="Rectangle 39">
            <a:extLst>
              <a:ext uri="{FF2B5EF4-FFF2-40B4-BE49-F238E27FC236}">
                <a16:creationId xmlns:a16="http://schemas.microsoft.com/office/drawing/2014/main" id="{E47C33CB-33E0-B14D-9E1D-FE647D3B2CB0}"/>
              </a:ext>
            </a:extLst>
          </p:cNvPr>
          <p:cNvSpPr>
            <a:spLocks noChangeArrowheads="1"/>
          </p:cNvSpPr>
          <p:nvPr/>
        </p:nvSpPr>
        <p:spPr bwMode="auto">
          <a:xfrm>
            <a:off x="7220160" y="4327561"/>
            <a:ext cx="207360" cy="829440"/>
          </a:xfrm>
          <a:prstGeom prst="rect">
            <a:avLst/>
          </a:prstGeom>
          <a:solidFill>
            <a:srgbClr val="008000"/>
          </a:solidFill>
          <a:ln w="127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40" name="Rectangle 40">
            <a:extLst>
              <a:ext uri="{FF2B5EF4-FFF2-40B4-BE49-F238E27FC236}">
                <a16:creationId xmlns:a16="http://schemas.microsoft.com/office/drawing/2014/main" id="{1FF2E7DB-3227-FA44-9656-5E3D51E9738C}"/>
              </a:ext>
            </a:extLst>
          </p:cNvPr>
          <p:cNvSpPr>
            <a:spLocks noChangeArrowheads="1"/>
          </p:cNvSpPr>
          <p:nvPr/>
        </p:nvSpPr>
        <p:spPr bwMode="auto">
          <a:xfrm>
            <a:off x="6936481" y="3960361"/>
            <a:ext cx="207360" cy="977760"/>
          </a:xfrm>
          <a:prstGeom prst="rect">
            <a:avLst/>
          </a:prstGeom>
          <a:solidFill>
            <a:srgbClr val="008000"/>
          </a:solidFill>
          <a:ln w="127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41" name="Rectangle 41">
            <a:extLst>
              <a:ext uri="{FF2B5EF4-FFF2-40B4-BE49-F238E27FC236}">
                <a16:creationId xmlns:a16="http://schemas.microsoft.com/office/drawing/2014/main" id="{2771E906-53F4-0349-A72F-78453CAFF045}"/>
              </a:ext>
            </a:extLst>
          </p:cNvPr>
          <p:cNvSpPr>
            <a:spLocks noChangeArrowheads="1"/>
          </p:cNvSpPr>
          <p:nvPr/>
        </p:nvSpPr>
        <p:spPr bwMode="auto">
          <a:xfrm>
            <a:off x="6652800" y="4141801"/>
            <a:ext cx="207360" cy="613440"/>
          </a:xfrm>
          <a:prstGeom prst="rect">
            <a:avLst/>
          </a:prstGeom>
          <a:solidFill>
            <a:srgbClr val="008000"/>
          </a:solidFill>
          <a:ln w="127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42" name="Rectangle 42">
            <a:extLst>
              <a:ext uri="{FF2B5EF4-FFF2-40B4-BE49-F238E27FC236}">
                <a16:creationId xmlns:a16="http://schemas.microsoft.com/office/drawing/2014/main" id="{4EDEE731-2219-B741-BC8D-BFEA60A08EDF}"/>
              </a:ext>
            </a:extLst>
          </p:cNvPr>
          <p:cNvSpPr>
            <a:spLocks noChangeArrowheads="1"/>
          </p:cNvSpPr>
          <p:nvPr/>
        </p:nvSpPr>
        <p:spPr bwMode="auto">
          <a:xfrm>
            <a:off x="6383521" y="4488841"/>
            <a:ext cx="207360" cy="83520"/>
          </a:xfrm>
          <a:prstGeom prst="rect">
            <a:avLst/>
          </a:prstGeom>
          <a:solidFill>
            <a:srgbClr val="008000"/>
          </a:solidFill>
          <a:ln w="127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43" name="Rectangle 43">
            <a:extLst>
              <a:ext uri="{FF2B5EF4-FFF2-40B4-BE49-F238E27FC236}">
                <a16:creationId xmlns:a16="http://schemas.microsoft.com/office/drawing/2014/main" id="{DDEA4FD2-CBDB-4444-947E-22E98F4517A6}"/>
              </a:ext>
            </a:extLst>
          </p:cNvPr>
          <p:cNvSpPr>
            <a:spLocks noChangeArrowheads="1"/>
          </p:cNvSpPr>
          <p:nvPr/>
        </p:nvSpPr>
        <p:spPr bwMode="auto">
          <a:xfrm>
            <a:off x="7067521" y="3832201"/>
            <a:ext cx="407520" cy="80640"/>
          </a:xfrm>
          <a:prstGeom prst="rect">
            <a:avLst/>
          </a:prstGeom>
          <a:solidFill>
            <a:srgbClr val="0000FF"/>
          </a:solidFill>
          <a:ln w="12700"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
        <p:nvSpPr>
          <p:cNvPr id="25644" name="Rectangle 44">
            <a:extLst>
              <a:ext uri="{FF2B5EF4-FFF2-40B4-BE49-F238E27FC236}">
                <a16:creationId xmlns:a16="http://schemas.microsoft.com/office/drawing/2014/main" id="{6C1DE47C-3F61-BC46-883E-713D55927CD5}"/>
              </a:ext>
            </a:extLst>
          </p:cNvPr>
          <p:cNvSpPr>
            <a:spLocks noChangeArrowheads="1"/>
          </p:cNvSpPr>
          <p:nvPr/>
        </p:nvSpPr>
        <p:spPr bwMode="auto">
          <a:xfrm>
            <a:off x="7067521" y="3705481"/>
            <a:ext cx="407520" cy="80640"/>
          </a:xfrm>
          <a:prstGeom prst="rect">
            <a:avLst/>
          </a:prstGeom>
          <a:solidFill>
            <a:srgbClr val="008000"/>
          </a:solidFill>
          <a:ln w="127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414726" fontAlgn="base">
              <a:lnSpc>
                <a:spcPct val="80000"/>
              </a:lnSpc>
              <a:spcBef>
                <a:spcPct val="20000"/>
              </a:spcBef>
              <a:spcAft>
                <a:spcPct val="0"/>
              </a:spcAft>
              <a:buClr>
                <a:srgbClr val="FFFFFF"/>
              </a:buClr>
              <a:buSzPct val="100000"/>
            </a:pPr>
            <a:endParaRPr lang="en-US" sz="1905">
              <a:solidFill>
                <a:srgbClr val="000000"/>
              </a:solidFill>
              <a:latin typeface="Verdana" panose="020B0604030504040204" pitchFamily="34" charset="0"/>
            </a:endParaRPr>
          </a:p>
        </p:txBody>
      </p:sp>
    </p:spTree>
    <p:extLst>
      <p:ext uri="{BB962C8B-B14F-4D97-AF65-F5344CB8AC3E}">
        <p14:creationId xmlns:p14="http://schemas.microsoft.com/office/powerpoint/2010/main" val="2075703152"/>
      </p:ext>
    </p:extLst>
  </p:cSld>
  <p:clrMapOvr>
    <a:masterClrMapping/>
  </p:clrMapOvr>
  <p:transition spd="med" advTm="145594"/>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49" name="Rectangle 1">
            <a:extLst>
              <a:ext uri="{FF2B5EF4-FFF2-40B4-BE49-F238E27FC236}">
                <a16:creationId xmlns:a16="http://schemas.microsoft.com/office/drawing/2014/main" id="{F49EA1A5-483E-E047-B9BA-510BF282477E}"/>
              </a:ext>
            </a:extLst>
          </p:cNvPr>
          <p:cNvSpPr>
            <a:spLocks noGrp="1" noChangeArrowheads="1"/>
          </p:cNvSpPr>
          <p:nvPr>
            <p:ph type="title"/>
          </p:nvPr>
        </p:nvSpPr>
        <p:spPr>
          <a:xfrm>
            <a:off x="355681" y="111241"/>
            <a:ext cx="8228160" cy="10627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Related Work</a:t>
            </a:r>
          </a:p>
        </p:txBody>
      </p:sp>
      <p:sp>
        <p:nvSpPr>
          <p:cNvPr id="27650" name="Rectangle 2">
            <a:extLst>
              <a:ext uri="{FF2B5EF4-FFF2-40B4-BE49-F238E27FC236}">
                <a16:creationId xmlns:a16="http://schemas.microsoft.com/office/drawing/2014/main" id="{1EA71E5F-F8AE-0B47-8A40-A34C078612B0}"/>
              </a:ext>
            </a:extLst>
          </p:cNvPr>
          <p:cNvSpPr>
            <a:spLocks noGrp="1" noChangeArrowheads="1"/>
          </p:cNvSpPr>
          <p:nvPr>
            <p:ph type="body" idx="1"/>
          </p:nvPr>
        </p:nvSpPr>
        <p:spPr>
          <a:xfrm>
            <a:off x="381601" y="1143721"/>
            <a:ext cx="8308800" cy="48931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449"/>
              <a:t>Menasce and Bennani 2006</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Single server resource management</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449"/>
              <a:t>VIOLIN and Virtuoso</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Use virtualization for dynamic resource control </a:t>
            </a:r>
            <a:br>
              <a:rPr lang="en-GB" altLang="en-US" sz="1996"/>
            </a:br>
            <a:r>
              <a:rPr lang="en-GB" altLang="en-US" sz="1996"/>
              <a:t>in grid computing environments</a:t>
            </a:r>
          </a:p>
          <a:p>
            <a:pPr lvl="1">
              <a:lnSpc>
                <a:spcPct val="90000"/>
              </a:lnSpc>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449"/>
              <a:t>Shirako</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Migration used to meet resource policies determined by application owners</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endParaRPr lang="en-GB" altLang="en-US" sz="1996"/>
          </a:p>
          <a:p>
            <a:pPr>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2449"/>
              <a:t>VMware Distributed Resource Scheduler</a:t>
            </a:r>
          </a:p>
          <a:p>
            <a:pPr lvl="1">
              <a:lnSpc>
                <a:spcPct val="90000"/>
              </a:lnSpc>
              <a:tabLst>
                <a:tab pos="911534" algn="l"/>
                <a:tab pos="1825947" algn="l"/>
                <a:tab pos="2740361" algn="l"/>
                <a:tab pos="3653334" algn="l"/>
                <a:tab pos="4567747" algn="l"/>
                <a:tab pos="5482161" algn="l"/>
                <a:tab pos="6396574" algn="l"/>
                <a:tab pos="7310988" algn="l"/>
                <a:tab pos="8225401" algn="l"/>
                <a:tab pos="9139815" algn="l"/>
              </a:tabLst>
            </a:pPr>
            <a:r>
              <a:rPr lang="en-GB" altLang="en-US" sz="1996"/>
              <a:t>Automatically migrates VMs to ensure they receive their resource quota</a:t>
            </a:r>
          </a:p>
        </p:txBody>
      </p:sp>
    </p:spTree>
    <p:extLst>
      <p:ext uri="{BB962C8B-B14F-4D97-AF65-F5344CB8AC3E}">
        <p14:creationId xmlns:p14="http://schemas.microsoft.com/office/powerpoint/2010/main" val="3824989839"/>
      </p:ext>
    </p:extLst>
  </p:cSld>
  <p:clrMapOvr>
    <a:masterClrMapping/>
  </p:clrMapOvr>
  <p:transition spd="med" advTm="71657"/>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Rectangle 1">
            <a:extLst>
              <a:ext uri="{FF2B5EF4-FFF2-40B4-BE49-F238E27FC236}">
                <a16:creationId xmlns:a16="http://schemas.microsoft.com/office/drawing/2014/main" id="{5D487644-C6E8-4D4C-8691-31E08AF6F4EC}"/>
              </a:ext>
            </a:extLst>
          </p:cNvPr>
          <p:cNvSpPr>
            <a:spLocks noGrp="1" noChangeArrowheads="1"/>
          </p:cNvSpPr>
          <p:nvPr>
            <p:ph type="title"/>
          </p:nvPr>
        </p:nvSpPr>
        <p:spPr>
          <a:xfrm>
            <a:off x="457921" y="187561"/>
            <a:ext cx="8233920" cy="92592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tabLst>
                <a:tab pos="0" algn="l"/>
                <a:tab pos="912973" algn="l"/>
                <a:tab pos="1827387" algn="l"/>
                <a:tab pos="2741800" algn="l"/>
                <a:tab pos="3656214" algn="l"/>
                <a:tab pos="4570627" algn="l"/>
                <a:tab pos="5483601" algn="l"/>
                <a:tab pos="6398015" algn="l"/>
                <a:tab pos="7312428" algn="l"/>
                <a:tab pos="8226842" algn="l"/>
                <a:tab pos="9141255" algn="l"/>
              </a:tabLst>
            </a:pPr>
            <a:r>
              <a:rPr lang="en-GB" altLang="en-US"/>
              <a:t>Summary</a:t>
            </a:r>
          </a:p>
        </p:txBody>
      </p:sp>
      <p:sp>
        <p:nvSpPr>
          <p:cNvPr id="26626" name="Rectangle 2">
            <a:extLst>
              <a:ext uri="{FF2B5EF4-FFF2-40B4-BE49-F238E27FC236}">
                <a16:creationId xmlns:a16="http://schemas.microsoft.com/office/drawing/2014/main" id="{D1DDF1BD-8B6D-8E41-87CB-92F158BFC3D2}"/>
              </a:ext>
            </a:extLst>
          </p:cNvPr>
          <p:cNvSpPr>
            <a:spLocks noGrp="1" noChangeArrowheads="1"/>
          </p:cNvSpPr>
          <p:nvPr>
            <p:ph type="body" idx="1"/>
          </p:nvPr>
        </p:nvSpPr>
        <p:spPr>
          <a:xfrm>
            <a:off x="380161" y="1143721"/>
            <a:ext cx="8232480" cy="4980960"/>
          </a:xfrm>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Virtual Machine migration is a viable tool for dynamic data center provisioning</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998"/>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Sandpiper can rapidly detect and eliminate hotspots while treating each VM as a black-box</a:t>
            </a:r>
          </a:p>
          <a:p>
            <a:pPr>
              <a:buNone/>
              <a:tabLst>
                <a:tab pos="911534" algn="l"/>
                <a:tab pos="1825947" algn="l"/>
                <a:tab pos="2740361" algn="l"/>
                <a:tab pos="3653334" algn="l"/>
                <a:tab pos="4567747" algn="l"/>
                <a:tab pos="5482161" algn="l"/>
                <a:tab pos="6396574" algn="l"/>
                <a:tab pos="7310988" algn="l"/>
                <a:tab pos="8225401" algn="l"/>
                <a:tab pos="9139815" algn="l"/>
              </a:tabLst>
            </a:pPr>
            <a:endParaRPr lang="en-GB" altLang="en-US" sz="998"/>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Gray-Box information can improve performance in some scenarios</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996"/>
              <a:t>Proactive memory allocations</a:t>
            </a:r>
          </a:p>
          <a:p>
            <a:pPr>
              <a:tabLst>
                <a:tab pos="911534" algn="l"/>
                <a:tab pos="1825947" algn="l"/>
                <a:tab pos="2740361" algn="l"/>
                <a:tab pos="3653334" algn="l"/>
                <a:tab pos="4567747" algn="l"/>
                <a:tab pos="5482161" algn="l"/>
                <a:tab pos="6396574" algn="l"/>
                <a:tab pos="7310988" algn="l"/>
                <a:tab pos="8225401" algn="l"/>
                <a:tab pos="9139815" algn="l"/>
              </a:tabLst>
            </a:pPr>
            <a:endParaRPr lang="en-GB" altLang="en-US" sz="998"/>
          </a:p>
          <a:p>
            <a:pPr>
              <a:tabLst>
                <a:tab pos="911534" algn="l"/>
                <a:tab pos="1825947" algn="l"/>
                <a:tab pos="2740361" algn="l"/>
                <a:tab pos="3653334" algn="l"/>
                <a:tab pos="4567747" algn="l"/>
                <a:tab pos="5482161" algn="l"/>
                <a:tab pos="6396574" algn="l"/>
                <a:tab pos="7310988" algn="l"/>
                <a:tab pos="8225401" algn="l"/>
                <a:tab pos="9139815" algn="l"/>
              </a:tabLst>
            </a:pPr>
            <a:r>
              <a:rPr lang="en-GB" altLang="en-US" sz="2449"/>
              <a:t>Future work</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996"/>
              <a:t>Improved black-box memory monitoring</a:t>
            </a:r>
          </a:p>
          <a:p>
            <a:pPr lvl="1">
              <a:tabLst>
                <a:tab pos="911534" algn="l"/>
                <a:tab pos="1825947" algn="l"/>
                <a:tab pos="2740361" algn="l"/>
                <a:tab pos="3653334" algn="l"/>
                <a:tab pos="4567747" algn="l"/>
                <a:tab pos="5482161" algn="l"/>
                <a:tab pos="6396574" algn="l"/>
                <a:tab pos="7310988" algn="l"/>
                <a:tab pos="8225401" algn="l"/>
                <a:tab pos="9139815" algn="l"/>
              </a:tabLst>
            </a:pPr>
            <a:r>
              <a:rPr lang="en-GB" altLang="en-US" sz="1996"/>
              <a:t>Support for replicated services</a:t>
            </a:r>
          </a:p>
        </p:txBody>
      </p:sp>
    </p:spTree>
    <p:extLst>
      <p:ext uri="{BB962C8B-B14F-4D97-AF65-F5344CB8AC3E}">
        <p14:creationId xmlns:p14="http://schemas.microsoft.com/office/powerpoint/2010/main" val="2097442775"/>
      </p:ext>
    </p:extLst>
  </p:cSld>
  <p:clrMapOvr>
    <a:masterClrMapping/>
  </p:clrMapOvr>
  <p:transition spd="med" advTm="40844"/>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19200" y="1844824"/>
            <a:ext cx="6858000" cy="990600"/>
          </a:xfrm>
        </p:spPr>
        <p:txBody>
          <a:bodyPr>
            <a:normAutofit/>
          </a:bodyPr>
          <a:lstStyle/>
          <a:p>
            <a:r>
              <a:rPr lang="en-US" altLang="zh-TW" sz="4000" dirty="0"/>
              <a:t>Virtual Machine Files</a:t>
            </a:r>
            <a:endParaRPr lang="zh-TW" altLang="en-US" sz="4000" dirty="0"/>
          </a:p>
        </p:txBody>
      </p:sp>
      <p:sp>
        <p:nvSpPr>
          <p:cNvPr id="3" name="副標題 2"/>
          <p:cNvSpPr>
            <a:spLocks noGrp="1"/>
          </p:cNvSpPr>
          <p:nvPr>
            <p:ph type="subTitle" idx="1"/>
          </p:nvPr>
        </p:nvSpPr>
        <p:spPr>
          <a:xfrm>
            <a:off x="899592" y="3233192"/>
            <a:ext cx="7406640" cy="1752600"/>
          </a:xfrm>
        </p:spPr>
        <p:txBody>
          <a:bodyPr>
            <a:normAutofit/>
          </a:bodyPr>
          <a:lstStyle/>
          <a:p>
            <a:endParaRPr lang="en-US" altLang="zh-TW"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77</a:t>
            </a:fld>
            <a:endParaRPr lang="zh-TW"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File format(1)</a:t>
            </a:r>
            <a:endParaRPr lang="zh-TW" altLang="en-US" dirty="0"/>
          </a:p>
        </p:txBody>
      </p:sp>
      <p:sp>
        <p:nvSpPr>
          <p:cNvPr id="3" name="內容版面配置區 2"/>
          <p:cNvSpPr>
            <a:spLocks noGrp="1"/>
          </p:cNvSpPr>
          <p:nvPr>
            <p:ph idx="1"/>
          </p:nvPr>
        </p:nvSpPr>
        <p:spPr/>
        <p:txBody>
          <a:bodyPr/>
          <a:lstStyle/>
          <a:p>
            <a:r>
              <a:rPr lang="en-US" altLang="zh-TW" b="1" dirty="0">
                <a:ea typeface="文鼎特粗宋简" pitchFamily="49" charset="-122"/>
              </a:rPr>
              <a:t>.XML File</a:t>
            </a:r>
          </a:p>
          <a:p>
            <a:pPr lvl="1"/>
            <a:r>
              <a:rPr lang="en-US" altLang="zh-TW" dirty="0">
                <a:ea typeface="文鼎特粗宋简" pitchFamily="49" charset="-122"/>
              </a:rPr>
              <a:t>Save VM Configuration details</a:t>
            </a:r>
          </a:p>
          <a:p>
            <a:pPr lvl="1"/>
            <a:r>
              <a:rPr lang="en-US" altLang="zh-TW" dirty="0">
                <a:ea typeface="文鼎特粗宋简" pitchFamily="49" charset="-122"/>
              </a:rPr>
              <a:t>Named with the GUID</a:t>
            </a:r>
            <a:endParaRPr lang="zh-TW" altLang="en-US" dirty="0"/>
          </a:p>
        </p:txBody>
      </p:sp>
      <p:pic>
        <p:nvPicPr>
          <p:cNvPr id="4" name="圖片 3" descr="xml1.JPG"/>
          <p:cNvPicPr>
            <a:picLocks noChangeAspect="1"/>
          </p:cNvPicPr>
          <p:nvPr/>
        </p:nvPicPr>
        <p:blipFill>
          <a:blip r:embed="rId2" cstate="print"/>
          <a:stretch>
            <a:fillRect/>
          </a:stretch>
        </p:blipFill>
        <p:spPr>
          <a:xfrm>
            <a:off x="899592" y="3212976"/>
            <a:ext cx="7677150" cy="2352675"/>
          </a:xfrm>
          <a:prstGeom prst="rect">
            <a:avLst/>
          </a:prstGeom>
        </p:spPr>
      </p:pic>
      <p:pic>
        <p:nvPicPr>
          <p:cNvPr id="5" name="圖片 4" descr="xml2.JPG"/>
          <p:cNvPicPr>
            <a:picLocks noChangeAspect="1"/>
          </p:cNvPicPr>
          <p:nvPr/>
        </p:nvPicPr>
        <p:blipFill>
          <a:blip r:embed="rId3" cstate="print"/>
          <a:stretch>
            <a:fillRect/>
          </a:stretch>
        </p:blipFill>
        <p:spPr>
          <a:xfrm>
            <a:off x="1403648" y="3212976"/>
            <a:ext cx="6267450" cy="2971800"/>
          </a:xfrm>
          <a:prstGeom prst="rect">
            <a:avLst/>
          </a:prstGeom>
        </p:spPr>
      </p:pic>
      <p:sp>
        <p:nvSpPr>
          <p:cNvPr id="6" name="投影片編號版面配置區 5"/>
          <p:cNvSpPr>
            <a:spLocks noGrp="1"/>
          </p:cNvSpPr>
          <p:nvPr>
            <p:ph type="sldNum" sz="quarter" idx="12"/>
          </p:nvPr>
        </p:nvSpPr>
        <p:spPr/>
        <p:txBody>
          <a:bodyPr/>
          <a:lstStyle/>
          <a:p>
            <a:fld id="{73DA0BB7-265A-403C-9275-D587AB510EDC}" type="slidenum">
              <a:rPr lang="zh-TW" altLang="en-US" smtClean="0"/>
              <a:pPr/>
              <a:t>78</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File format(2)</a:t>
            </a:r>
            <a:endParaRPr lang="zh-TW" altLang="en-US" dirty="0"/>
          </a:p>
        </p:txBody>
      </p:sp>
      <p:sp>
        <p:nvSpPr>
          <p:cNvPr id="3" name="內容版面配置區 2"/>
          <p:cNvSpPr>
            <a:spLocks noGrp="1"/>
          </p:cNvSpPr>
          <p:nvPr>
            <p:ph idx="1"/>
          </p:nvPr>
        </p:nvSpPr>
        <p:spPr/>
        <p:txBody>
          <a:bodyPr>
            <a:normAutofit/>
          </a:bodyPr>
          <a:lstStyle/>
          <a:p>
            <a:r>
              <a:rPr lang="en-US" altLang="zh-TW" b="1" dirty="0">
                <a:ea typeface="文鼎特粗宋简" pitchFamily="49" charset="-122"/>
              </a:rPr>
              <a:t>.BIN files</a:t>
            </a:r>
          </a:p>
          <a:p>
            <a:pPr lvl="1"/>
            <a:r>
              <a:rPr lang="en-US" altLang="zh-TW" dirty="0">
                <a:ea typeface="文鼎特粗宋简" pitchFamily="49" charset="-122"/>
              </a:rPr>
              <a:t>This file contains the memory of a virtual machine or snapshot that is in a saved state(</a:t>
            </a:r>
            <a:r>
              <a:rPr lang="en-US" altLang="zh-TW" dirty="0"/>
              <a:t>running programs, data for those programs, word processing documents you are viewing, etc.)</a:t>
            </a:r>
            <a:endParaRPr lang="en-US" altLang="zh-TW" dirty="0">
              <a:ea typeface="文鼎特粗宋简" pitchFamily="49" charset="-122"/>
            </a:endParaRPr>
          </a:p>
          <a:p>
            <a:r>
              <a:rPr lang="en-US" altLang="zh-TW" b="1" dirty="0">
                <a:ea typeface="文鼎特粗宋简" pitchFamily="49" charset="-122"/>
              </a:rPr>
              <a:t>.VSV files</a:t>
            </a:r>
          </a:p>
          <a:p>
            <a:pPr lvl="1"/>
            <a:r>
              <a:rPr lang="en-US" altLang="zh-TW" dirty="0">
                <a:ea typeface="文鼎特粗宋简" pitchFamily="49" charset="-122"/>
              </a:rPr>
              <a:t>This file contains the saved state from the devices associated with the virtual machine.</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79</a:t>
            </a:fld>
            <a:endParaRPr lang="zh-TW"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File format(3)</a:t>
            </a:r>
            <a:endParaRPr lang="zh-TW" altLang="en-US" dirty="0"/>
          </a:p>
        </p:txBody>
      </p:sp>
      <p:sp>
        <p:nvSpPr>
          <p:cNvPr id="3" name="內容版面配置區 2"/>
          <p:cNvSpPr>
            <a:spLocks noGrp="1"/>
          </p:cNvSpPr>
          <p:nvPr>
            <p:ph idx="1"/>
          </p:nvPr>
        </p:nvSpPr>
        <p:spPr/>
        <p:txBody>
          <a:bodyPr/>
          <a:lstStyle/>
          <a:p>
            <a:r>
              <a:rPr lang="en-US" altLang="zh-TW" b="1" dirty="0">
                <a:ea typeface="文鼎特粗宋简" pitchFamily="49" charset="-122"/>
              </a:rPr>
              <a:t>.</a:t>
            </a:r>
            <a:r>
              <a:rPr lang="en-US" altLang="zh-TW" b="1" dirty="0" err="1">
                <a:ea typeface="文鼎特粗宋简" pitchFamily="49" charset="-122"/>
              </a:rPr>
              <a:t>Vhd</a:t>
            </a:r>
            <a:r>
              <a:rPr lang="en-US" altLang="zh-TW" b="1" dirty="0">
                <a:ea typeface="文鼎特粗宋简" pitchFamily="49" charset="-122"/>
              </a:rPr>
              <a:t> files</a:t>
            </a:r>
          </a:p>
          <a:p>
            <a:pPr lvl="1"/>
            <a:r>
              <a:rPr lang="en-US" altLang="zh-TW" dirty="0">
                <a:ea typeface="文鼎特粗宋简" pitchFamily="49" charset="-122"/>
              </a:rPr>
              <a:t>These are the virtual hard disk files for the virtual machine(save things such as </a:t>
            </a:r>
            <a:r>
              <a:rPr lang="en-US" altLang="zh-TW" dirty="0"/>
              <a:t>files, folders, file system and disk partitions</a:t>
            </a:r>
            <a:r>
              <a:rPr lang="en-US" altLang="zh-TW" dirty="0">
                <a:ea typeface="文鼎特粗宋简" pitchFamily="49" charset="-122"/>
              </a:rPr>
              <a:t>)</a:t>
            </a:r>
          </a:p>
          <a:p>
            <a:r>
              <a:rPr lang="en-US" altLang="zh-TW" b="1" dirty="0">
                <a:ea typeface="文鼎特粗宋简" pitchFamily="49" charset="-122"/>
              </a:rPr>
              <a:t>.</a:t>
            </a:r>
            <a:r>
              <a:rPr lang="en-US" altLang="zh-TW" b="1" dirty="0" err="1">
                <a:ea typeface="文鼎特粗宋简" pitchFamily="49" charset="-122"/>
              </a:rPr>
              <a:t>avhd</a:t>
            </a:r>
            <a:r>
              <a:rPr lang="en-US" altLang="zh-TW" b="1" dirty="0">
                <a:ea typeface="文鼎特粗宋简" pitchFamily="49" charset="-122"/>
              </a:rPr>
              <a:t> files</a:t>
            </a:r>
          </a:p>
          <a:p>
            <a:pPr lvl="1"/>
            <a:r>
              <a:rPr lang="en-US" altLang="zh-TW" dirty="0"/>
              <a:t>These are the differencing disk files used for virtual machine snapshots</a:t>
            </a:r>
            <a:endParaRPr lang="en-US" altLang="zh-TW" b="1" dirty="0">
              <a:ea typeface="文鼎特粗宋简" pitchFamily="49" charset="-122"/>
            </a:endParaRP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80</a:t>
            </a:fld>
            <a:endParaRPr lang="zh-TW"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3.9"/>
</p:tagLst>
</file>

<file path=ppt/tags/tag2.xml><?xml version="1.0" encoding="utf-8"?>
<p:tagLst xmlns:a="http://schemas.openxmlformats.org/drawingml/2006/main" xmlns:r="http://schemas.openxmlformats.org/officeDocument/2006/relationships" xmlns:p="http://schemas.openxmlformats.org/presentationml/2006/main">
  <p:tag name="TIMING" val="|61.9"/>
</p:tagLst>
</file>

<file path=ppt/tags/tag3.xml><?xml version="1.0" encoding="utf-8"?>
<p:tagLst xmlns:a="http://schemas.openxmlformats.org/drawingml/2006/main" xmlns:r="http://schemas.openxmlformats.org/officeDocument/2006/relationships" xmlns:p="http://schemas.openxmlformats.org/presentationml/2006/main">
  <p:tag name="TIMING" val="|14.1|29.7"/>
</p:tagLst>
</file>

<file path=ppt/tags/tag4.xml><?xml version="1.0" encoding="utf-8"?>
<p:tagLst xmlns:a="http://schemas.openxmlformats.org/drawingml/2006/main" xmlns:r="http://schemas.openxmlformats.org/officeDocument/2006/relationships" xmlns:p="http://schemas.openxmlformats.org/presentationml/2006/main">
  <p:tag name="TIMING" val="|9.3"/>
</p:tagLst>
</file>

<file path=ppt/tags/tag5.xml><?xml version="1.0" encoding="utf-8"?>
<p:tagLst xmlns:a="http://schemas.openxmlformats.org/drawingml/2006/main" xmlns:r="http://schemas.openxmlformats.org/officeDocument/2006/relationships" xmlns:p="http://schemas.openxmlformats.org/presentationml/2006/main">
  <p:tag name="TIMING" val="|47.8"/>
</p:tagLst>
</file>

<file path=ppt/tags/tag6.xml><?xml version="1.0" encoding="utf-8"?>
<p:tagLst xmlns:a="http://schemas.openxmlformats.org/drawingml/2006/main" xmlns:r="http://schemas.openxmlformats.org/officeDocument/2006/relationships" xmlns:p="http://schemas.openxmlformats.org/presentationml/2006/main">
  <p:tag name="TIMING" val="|21.6|9.2|10.4|11.4"/>
</p:tagLst>
</file>

<file path=ppt/tags/tag7.xml><?xml version="1.0" encoding="utf-8"?>
<p:tagLst xmlns:a="http://schemas.openxmlformats.org/drawingml/2006/main" xmlns:r="http://schemas.openxmlformats.org/officeDocument/2006/relationships" xmlns:p="http://schemas.openxmlformats.org/presentationml/2006/main">
  <p:tag name="TIMING" val="|35.7|44.3"/>
</p:tagLst>
</file>

<file path=ppt/tags/tag8.xml><?xml version="1.0" encoding="utf-8"?>
<p:tagLst xmlns:a="http://schemas.openxmlformats.org/drawingml/2006/main" xmlns:r="http://schemas.openxmlformats.org/officeDocument/2006/relationships" xmlns:p="http://schemas.openxmlformats.org/presentationml/2006/main">
  <p:tag name="TIMING" val="|52.5|18.7"/>
</p:tagLst>
</file>

<file path=ppt/tags/tag9.xml><?xml version="1.0" encoding="utf-8"?>
<p:tagLst xmlns:a="http://schemas.openxmlformats.org/drawingml/2006/main" xmlns:r="http://schemas.openxmlformats.org/officeDocument/2006/relationships" xmlns:p="http://schemas.openxmlformats.org/presentationml/2006/main">
  <p:tag name="TIMING" val="|91.7"/>
</p:tagLst>
</file>

<file path=ppt/tags/tag10.xml><?xml version="1.0" encoding="utf-8"?>
<p:tagLst xmlns:a="http://schemas.openxmlformats.org/drawingml/2006/main" xmlns:r="http://schemas.openxmlformats.org/officeDocument/2006/relationships" xmlns:p="http://schemas.openxmlformats.org/presentationml/2006/main">
  <p:tag name="TIMING" val="|9.5|4.4|26.6|13.9|16.4"/>
</p:tagLst>
</file>

<file path=ppt/tags/tag11.xml><?xml version="1.0" encoding="utf-8"?>
<p:tagLst xmlns:a="http://schemas.openxmlformats.org/drawingml/2006/main" xmlns:r="http://schemas.openxmlformats.org/officeDocument/2006/relationships" xmlns:p="http://schemas.openxmlformats.org/presentationml/2006/main">
  <p:tag name="TIMING" val="|45.5|19.5|17.3"/>
</p:tagLst>
</file>

<file path=ppt/tags/tag12.xml><?xml version="1.0" encoding="utf-8"?>
<p:tagLst xmlns:a="http://schemas.openxmlformats.org/drawingml/2006/main" xmlns:r="http://schemas.openxmlformats.org/officeDocument/2006/relationships" xmlns:p="http://schemas.openxmlformats.org/presentationml/2006/main">
  <p:tag name="TIMING" val="|94.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Slide Master">
  <a:themeElements>
    <a:clrScheme name="Slide Master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Slide Master">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333333"/>
        </a:solidFill>
        <a:ln w="12700" cap="flat" cmpd="sng" algn="ctr">
          <a:solidFill>
            <a:srgbClr val="0000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80000"/>
          </a:lnSpc>
          <a:spcBef>
            <a:spcPct val="20000"/>
          </a:spcBef>
          <a:spcAft>
            <a:spcPct val="0"/>
          </a:spcAft>
          <a:buClr>
            <a:schemeClr val="bg1"/>
          </a:buClr>
          <a:buSzPct val="100000"/>
          <a:buFont typeface="Wingdings" pitchFamily="2" charset="2"/>
          <a:buNone/>
          <a:tabLst/>
          <a:defRPr kumimoji="0" lang="en-GB" altLang="en-US" sz="21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rgbClr val="333333"/>
        </a:solidFill>
        <a:ln w="12700" cap="flat" cmpd="sng" algn="ctr">
          <a:solidFill>
            <a:srgbClr val="0000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80000"/>
          </a:lnSpc>
          <a:spcBef>
            <a:spcPct val="20000"/>
          </a:spcBef>
          <a:spcAft>
            <a:spcPct val="0"/>
          </a:spcAft>
          <a:buClr>
            <a:schemeClr val="bg1"/>
          </a:buClr>
          <a:buSzPct val="100000"/>
          <a:buFont typeface="Wingdings" pitchFamily="2" charset="2"/>
          <a:buNone/>
          <a:tabLst/>
          <a:defRPr kumimoji="0" lang="en-GB" altLang="en-US" sz="21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Slide Master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Slide Master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Slide Master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Slide Master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Slide Master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Slide Master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Slide Master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Pot_LM">
  <a:themeElements>
    <a:clrScheme name="vrudhula-broadcom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vrudhula-broadco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96" charset="-128"/>
          </a:defRPr>
        </a:defPPr>
      </a:lstStyle>
    </a:lnDef>
  </a:objectDefaults>
  <a:extraClrSchemeLst>
    <a:extraClrScheme>
      <a:clrScheme name="vrudhula-broadcom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vrudhula-broadcom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vrudhula-broadcom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vrudhula-broadcom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vrudhula-broadcom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vrudhula-broadcom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vrudhula-broadcom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vrudhula-broadcom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vrudhula-broadcom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3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15249</TotalTime>
  <Words>7758</Words>
  <Application>Microsoft Macintosh PowerPoint</Application>
  <PresentationFormat>On-screen Show (4:3)</PresentationFormat>
  <Paragraphs>1020</Paragraphs>
  <Slides>80</Slides>
  <Notes>27</Notes>
  <HiddenSlides>3</HiddenSlides>
  <MMClips>0</MMClips>
  <ScaleCrop>false</ScaleCrop>
  <HeadingPairs>
    <vt:vector size="8" baseType="variant">
      <vt:variant>
        <vt:lpstr>Fonts Used</vt:lpstr>
      </vt:variant>
      <vt:variant>
        <vt:i4>18</vt:i4>
      </vt:variant>
      <vt:variant>
        <vt:lpstr>Theme</vt:lpstr>
      </vt:variant>
      <vt:variant>
        <vt:i4>6</vt:i4>
      </vt:variant>
      <vt:variant>
        <vt:lpstr>Embedded OLE Servers</vt:lpstr>
      </vt:variant>
      <vt:variant>
        <vt:i4>2</vt:i4>
      </vt:variant>
      <vt:variant>
        <vt:lpstr>Slide Titles</vt:lpstr>
      </vt:variant>
      <vt:variant>
        <vt:i4>80</vt:i4>
      </vt:variant>
    </vt:vector>
  </HeadingPairs>
  <TitlesOfParts>
    <vt:vector size="106" baseType="lpstr">
      <vt:lpstr>Frutiger Linotype</vt:lpstr>
      <vt:lpstr>Arial</vt:lpstr>
      <vt:lpstr>Calibri</vt:lpstr>
      <vt:lpstr>Comic Sans MS</vt:lpstr>
      <vt:lpstr>Gill Sans</vt:lpstr>
      <vt:lpstr>Gill Sans MT</vt:lpstr>
      <vt:lpstr>Helvetica</vt:lpstr>
      <vt:lpstr>Helvetica Light</vt:lpstr>
      <vt:lpstr>Helvetica Neue</vt:lpstr>
      <vt:lpstr>Helvetica Neue Light</vt:lpstr>
      <vt:lpstr>Helvetica Neue Medium</vt:lpstr>
      <vt:lpstr>Helvetica Neue Thin</vt:lpstr>
      <vt:lpstr>Symbol</vt:lpstr>
      <vt:lpstr>Tahoma</vt:lpstr>
      <vt:lpstr>Times New Roman</vt:lpstr>
      <vt:lpstr>Verdana</vt:lpstr>
      <vt:lpstr>Wingdings</vt:lpstr>
      <vt:lpstr>Wingdings 2</vt:lpstr>
      <vt:lpstr>夏至</vt:lpstr>
      <vt:lpstr>White</vt:lpstr>
      <vt:lpstr>Slide Master</vt:lpstr>
      <vt:lpstr>Black</vt:lpstr>
      <vt:lpstr>Pot_LM</vt:lpstr>
      <vt:lpstr>13_Default Design</vt:lpstr>
      <vt:lpstr>Chart</vt:lpstr>
      <vt:lpstr>Image</vt:lpstr>
      <vt:lpstr>Cloud Computing and  Cloud Networking</vt:lpstr>
      <vt:lpstr>CS 208: Class 6 Live Migration of Virtual Machines</vt:lpstr>
      <vt:lpstr>Motivation</vt:lpstr>
      <vt:lpstr>Server Consolidation</vt:lpstr>
      <vt:lpstr>VM Checkpointing</vt:lpstr>
      <vt:lpstr>VM Checkpointing</vt:lpstr>
      <vt:lpstr>VM Migration</vt:lpstr>
      <vt:lpstr>VM Migration</vt:lpstr>
      <vt:lpstr>Significance of Live Migration</vt:lpstr>
      <vt:lpstr>Considerations for Live Migration</vt:lpstr>
      <vt:lpstr>Introduction: Original Idea</vt:lpstr>
      <vt:lpstr>Related Work (in addition to Xen’s)</vt:lpstr>
      <vt:lpstr>Live VM Migration</vt:lpstr>
      <vt:lpstr>Why Live Migrate VMs?</vt:lpstr>
      <vt:lpstr>Performance metrics of Live Migration</vt:lpstr>
      <vt:lpstr>Metrics</vt:lpstr>
      <vt:lpstr>PowerPoint Presentation</vt:lpstr>
      <vt:lpstr>Design(1)  - Migrating Memory</vt:lpstr>
      <vt:lpstr>Design(2)  - Migrating Memory</vt:lpstr>
      <vt:lpstr>Design(3) – Network &amp; Disk</vt:lpstr>
      <vt:lpstr>Pre-copy Live VM Migration</vt:lpstr>
      <vt:lpstr>Design(4) – Logical Steps</vt:lpstr>
      <vt:lpstr>Design(5) – Logical Steps</vt:lpstr>
      <vt:lpstr>Design(6) – Logical Steps</vt:lpstr>
      <vt:lpstr>Pre-copy migration</vt:lpstr>
      <vt:lpstr>Challenge in Pre-copy</vt:lpstr>
      <vt:lpstr>Writable Working Set (WWS)</vt:lpstr>
      <vt:lpstr>PowerPoint Presentation</vt:lpstr>
      <vt:lpstr>Implementation</vt:lpstr>
      <vt:lpstr>Managed Migration(Xen)</vt:lpstr>
      <vt:lpstr>Tracking dirty pages </vt:lpstr>
      <vt:lpstr>Self Migration</vt:lpstr>
      <vt:lpstr>Implementation Issues(1)</vt:lpstr>
      <vt:lpstr>Implementation Issues(2)</vt:lpstr>
      <vt:lpstr>Implementation Issues(3)</vt:lpstr>
      <vt:lpstr>PowerPoint Presentation</vt:lpstr>
      <vt:lpstr>Implementation Issues(4)</vt:lpstr>
      <vt:lpstr>Evaluation(1)</vt:lpstr>
      <vt:lpstr>Evaluation(2)- Simple Web Server</vt:lpstr>
      <vt:lpstr>Evaluation(3)- SPECweb99</vt:lpstr>
      <vt:lpstr>Evaluation(4)</vt:lpstr>
      <vt:lpstr>PowerPoint Presentation</vt:lpstr>
      <vt:lpstr>A worst case example</vt:lpstr>
      <vt:lpstr>Summary</vt:lpstr>
      <vt:lpstr>Optimization</vt:lpstr>
      <vt:lpstr>Postcopy</vt:lpstr>
      <vt:lpstr>PowerPoint Presentation</vt:lpstr>
      <vt:lpstr>Postcopy Live Migration</vt:lpstr>
      <vt:lpstr>Stages of Postcopy Migration</vt:lpstr>
      <vt:lpstr>Prepaging strategies for Post-copy</vt:lpstr>
      <vt:lpstr>Prepaging strategies for Post-copy</vt:lpstr>
      <vt:lpstr>Hybrid Live Migration</vt:lpstr>
      <vt:lpstr>Black-box and Gray-box Strategies  for Virtual Machine Migration</vt:lpstr>
      <vt:lpstr>Enterprise Data Centers</vt:lpstr>
      <vt:lpstr>Benefits of Virtualization</vt:lpstr>
      <vt:lpstr>Data Center Workloads</vt:lpstr>
      <vt:lpstr>Provisioning Methods</vt:lpstr>
      <vt:lpstr>Problem Statement</vt:lpstr>
      <vt:lpstr>Outline</vt:lpstr>
      <vt:lpstr>Research Challenges</vt:lpstr>
      <vt:lpstr>Sandpiper Architecture</vt:lpstr>
      <vt:lpstr>Black-Box and Gray-Box</vt:lpstr>
      <vt:lpstr>Outline</vt:lpstr>
      <vt:lpstr>Black-box Monitoring</vt:lpstr>
      <vt:lpstr>Hotspot Detection – When?</vt:lpstr>
      <vt:lpstr>Resource Profiling – How much?</vt:lpstr>
      <vt:lpstr>Determining Placement – Where to?</vt:lpstr>
      <vt:lpstr>Placement Algorithm</vt:lpstr>
      <vt:lpstr>Outline</vt:lpstr>
      <vt:lpstr>Implementation</vt:lpstr>
      <vt:lpstr>Migration Effectiveness</vt:lpstr>
      <vt:lpstr>Memory Hotspots</vt:lpstr>
      <vt:lpstr>Data Center Prototype</vt:lpstr>
      <vt:lpstr>Stability During Overload</vt:lpstr>
      <vt:lpstr>Related Work</vt:lpstr>
      <vt:lpstr>Summary</vt:lpstr>
      <vt:lpstr>Virtual Machine Files</vt:lpstr>
      <vt:lpstr>File format(1)</vt:lpstr>
      <vt:lpstr>File format(2)</vt:lpstr>
      <vt:lpstr>File format(3)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 Migration of Virtual Machines</dc:title>
  <cp:lastModifiedBy>Microsoft Office User</cp:lastModifiedBy>
  <cp:revision>93</cp:revision>
  <dcterms:modified xsi:type="dcterms:W3CDTF">2025-01-23T21:50:05Z</dcterms:modified>
</cp:coreProperties>
</file>