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8" r:id="rId3"/>
    <p:sldId id="262" r:id="rId4"/>
    <p:sldId id="263" r:id="rId5"/>
    <p:sldId id="275" r:id="rId6"/>
    <p:sldId id="300" r:id="rId7"/>
    <p:sldId id="284" r:id="rId8"/>
    <p:sldId id="285" r:id="rId9"/>
    <p:sldId id="264" r:id="rId10"/>
    <p:sldId id="265" r:id="rId11"/>
    <p:sldId id="288" r:id="rId12"/>
    <p:sldId id="292" r:id="rId13"/>
    <p:sldId id="289" r:id="rId14"/>
    <p:sldId id="297" r:id="rId15"/>
    <p:sldId id="298" r:id="rId16"/>
    <p:sldId id="295" r:id="rId17"/>
    <p:sldId id="296" r:id="rId18"/>
    <p:sldId id="294" r:id="rId19"/>
    <p:sldId id="266" r:id="rId20"/>
    <p:sldId id="267" r:id="rId21"/>
    <p:sldId id="269" r:id="rId22"/>
    <p:sldId id="268" r:id="rId23"/>
    <p:sldId id="270" r:id="rId24"/>
    <p:sldId id="273" r:id="rId25"/>
    <p:sldId id="272" r:id="rId26"/>
    <p:sldId id="259" r:id="rId27"/>
    <p:sldId id="260" r:id="rId28"/>
    <p:sldId id="271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526"/>
    <p:restoredTop sz="96711"/>
  </p:normalViewPr>
  <p:slideViewPr>
    <p:cSldViewPr snapToGrid="0" snapToObjects="1">
      <p:cViewPr varScale="1">
        <p:scale>
          <a:sx n="119" d="100"/>
          <a:sy n="119" d="100"/>
        </p:scale>
        <p:origin x="7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04D10A-81D1-8748-8404-C44E2799F913}" type="datetimeFigureOut">
              <a:rPr lang="en-US" smtClean="0"/>
              <a:t>2/9/25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2DBF5F-E884-8D4B-8536-498293E3FB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821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Borg admits, schedules, starts, and monitors the full range of applications that Google runs.</a:t>
            </a:r>
            <a:r>
              <a:rPr lang="en-US" sz="36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Just like the OS for single </a:t>
            </a:r>
            <a:r>
              <a:rPr lang="en-US" sz="360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mechine</a:t>
            </a:r>
            <a:r>
              <a:rPr lang="en-US" sz="36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360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DBF5F-E884-8D4B-8536-498293E3FBD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9149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Cells are connected by high-speed</a:t>
            </a:r>
            <a:r>
              <a:rPr lang="en-US" baseline="0" dirty="0"/>
              <a:t> network fabric.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Use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configuration language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write requirement for the job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DBF5F-E884-8D4B-8536-498293E3FBD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1576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DBF5F-E884-8D4B-8536-498293E3FBD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5357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23A137A4-31C2-FC4E-84FB-D2E3284F2BA5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DCF6674-1655-CD41-9D32-56F14896B20D}" type="slidenum">
              <a:rPr lang="en-GB" altLang="en-US"/>
              <a:pPr/>
              <a:t>7</a:t>
            </a:fld>
            <a:endParaRPr lang="en-GB" altLang="en-US"/>
          </a:p>
        </p:txBody>
      </p:sp>
      <p:sp>
        <p:nvSpPr>
          <p:cNvPr id="61442" name="Rectangle 2">
            <a:extLst>
              <a:ext uri="{FF2B5EF4-FFF2-40B4-BE49-F238E27FC236}">
                <a16:creationId xmlns:a16="http://schemas.microsoft.com/office/drawing/2014/main" id="{B7187653-A074-1C4E-96ED-AC70D4F9EF2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2825" cy="3427413"/>
          </a:xfrm>
        </p:spPr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5A86980C-90F8-8540-9421-35EBA52CB6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3225" cy="4113213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18952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B880C083-899A-E24F-811A-5DA0C9B1651F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A4E66DA-84A1-2848-82E6-C32B050AF2AE}" type="slidenum">
              <a:rPr lang="en-GB" altLang="en-US"/>
              <a:pPr/>
              <a:t>8</a:t>
            </a:fld>
            <a:endParaRPr lang="en-GB" altLang="en-US"/>
          </a:p>
        </p:txBody>
      </p:sp>
      <p:sp>
        <p:nvSpPr>
          <p:cNvPr id="88066" name="Rectangle 2">
            <a:extLst>
              <a:ext uri="{FF2B5EF4-FFF2-40B4-BE49-F238E27FC236}">
                <a16:creationId xmlns:a16="http://schemas.microsoft.com/office/drawing/2014/main" id="{634F363B-CFF1-404A-A17D-15F35B1F28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D0D6D260-E25A-BE43-9730-D61B416E0A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22325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feasibility checking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to find machines on which the task could run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which picks one of the feasible machines.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scoring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system is a combine of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user-specified preferences &amp; build-in criteria: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picking machines that already have a copy of the task’s packages.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DBF5F-E884-8D4B-8536-498293E3FBD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424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 caching:</a:t>
            </a:r>
            <a:r>
              <a:rPr lang="en-US" sz="1200" b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Cache score, ignore small changes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Equivalence classes:</a:t>
            </a:r>
            <a:r>
              <a:rPr lang="en-US" baseline="0" dirty="0"/>
              <a:t> 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coring for one task per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equivalence class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Relaxed randomization:</a:t>
            </a:r>
            <a:r>
              <a:rPr lang="en-US" sz="1200" b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don’t scores all machines, choose random number of machines.</a:t>
            </a:r>
            <a:endParaRPr lang="en-US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DBF5F-E884-8D4B-8536-498293E3FBD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1436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57ED4095-EAF6-404C-ACF6-9051253E60E9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C4519C8-32B6-1241-9139-904621FF72AC}" type="slidenum">
              <a:rPr lang="en-GB" altLang="en-US"/>
              <a:pPr/>
              <a:t>11</a:t>
            </a:fld>
            <a:endParaRPr lang="en-GB" altLang="en-US"/>
          </a:p>
        </p:txBody>
      </p:sp>
      <p:sp>
        <p:nvSpPr>
          <p:cNvPr id="95234" name="Rectangle 2">
            <a:extLst>
              <a:ext uri="{FF2B5EF4-FFF2-40B4-BE49-F238E27FC236}">
                <a16:creationId xmlns:a16="http://schemas.microsoft.com/office/drawing/2014/main" id="{EF8866A4-DC82-8844-989C-2CAAE61D13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166AD26D-C39B-2C49-BF6D-4B09C2BA08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04857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2238ED1C-B973-9748-9F28-5ED4A528CEAA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B6FC959F-39BE-2442-BF43-1867C8649D88}" type="slidenum">
              <a:rPr lang="en-GB" altLang="en-US"/>
              <a:pPr/>
              <a:t>12</a:t>
            </a:fld>
            <a:endParaRPr lang="en-GB" altLang="en-US"/>
          </a:p>
        </p:txBody>
      </p:sp>
      <p:sp>
        <p:nvSpPr>
          <p:cNvPr id="103426" name="Rectangle 2">
            <a:extLst>
              <a:ext uri="{FF2B5EF4-FFF2-40B4-BE49-F238E27FC236}">
                <a16:creationId xmlns:a16="http://schemas.microsoft.com/office/drawing/2014/main" id="{EE2D7C80-C0A4-C94A-BBFB-19116FF6C5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10AAA01C-8EE0-DE45-821F-64ADB0619E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28758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CBF7CD03-01E0-8042-BAAC-6AB87EB3C16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95AE1989-03E8-AF46-ACD2-BF6C2A5BB893}" type="slidenum">
              <a:rPr lang="en-GB" altLang="en-US"/>
              <a:pPr/>
              <a:t>13</a:t>
            </a:fld>
            <a:endParaRPr lang="en-GB" altLang="en-US"/>
          </a:p>
        </p:txBody>
      </p:sp>
      <p:sp>
        <p:nvSpPr>
          <p:cNvPr id="97282" name="Rectangle 2">
            <a:extLst>
              <a:ext uri="{FF2B5EF4-FFF2-40B4-BE49-F238E27FC236}">
                <a16:creationId xmlns:a16="http://schemas.microsoft.com/office/drawing/2014/main" id="{E05CCBE6-B691-1F4F-9E3A-70D0987CF7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DE64E7FF-97A2-8040-8E12-73C7A67F16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15465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37FEBAE6-30B5-7E4D-988A-8010E7B0AF46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1B63EE38-0E29-7846-B2E9-74E68B573B47}" type="slidenum">
              <a:rPr lang="en-GB" altLang="en-US"/>
              <a:pPr/>
              <a:t>16</a:t>
            </a:fld>
            <a:endParaRPr lang="en-GB" altLang="en-US"/>
          </a:p>
        </p:txBody>
      </p:sp>
      <p:sp>
        <p:nvSpPr>
          <p:cNvPr id="109570" name="Rectangle 2">
            <a:extLst>
              <a:ext uri="{FF2B5EF4-FFF2-40B4-BE49-F238E27FC236}">
                <a16:creationId xmlns:a16="http://schemas.microsoft.com/office/drawing/2014/main" id="{17B5C806-0F02-D544-946D-99F269CF84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9571" name="Rectangle 3">
            <a:extLst>
              <a:ext uri="{FF2B5EF4-FFF2-40B4-BE49-F238E27FC236}">
                <a16:creationId xmlns:a16="http://schemas.microsoft.com/office/drawing/2014/main" id="{C2CF6425-8324-7C49-8EAE-1F3E04A350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87650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9E8B9317-166F-F648-924F-3A9D661568A7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17BE9E3E-1BA6-6E4B-B0BC-512037227F25}" type="slidenum">
              <a:rPr lang="en-GB" altLang="en-US"/>
              <a:pPr/>
              <a:t>17</a:t>
            </a:fld>
            <a:endParaRPr lang="en-GB" altLang="en-US"/>
          </a:p>
        </p:txBody>
      </p:sp>
      <p:sp>
        <p:nvSpPr>
          <p:cNvPr id="111618" name="Rectangle 2">
            <a:extLst>
              <a:ext uri="{FF2B5EF4-FFF2-40B4-BE49-F238E27FC236}">
                <a16:creationId xmlns:a16="http://schemas.microsoft.com/office/drawing/2014/main" id="{B74EA600-9D0E-8A44-8F0A-CF0CC43B52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0340EE75-B248-3D40-9AEC-A76734D77A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40116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D5ED90BB-7F7E-7F4F-B807-340058FD9A66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77337DB-09A7-2E44-96D3-DD50529FD464}" type="slidenum">
              <a:rPr lang="en-GB" altLang="en-US"/>
              <a:pPr/>
              <a:t>18</a:t>
            </a:fld>
            <a:endParaRPr lang="en-GB" altLang="en-US"/>
          </a:p>
        </p:txBody>
      </p:sp>
      <p:sp>
        <p:nvSpPr>
          <p:cNvPr id="107522" name="Rectangle 2">
            <a:extLst>
              <a:ext uri="{FF2B5EF4-FFF2-40B4-BE49-F238E27FC236}">
                <a16:creationId xmlns:a16="http://schemas.microsoft.com/office/drawing/2014/main" id="{713B27C9-3912-AF47-95EC-381F0E8927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6A8ADF50-EEF0-0841-9C85-1CE8E5E694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810863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DBF5F-E884-8D4B-8536-498293E3FBD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083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9EB05-8444-F245-956D-C637459D628A}" type="datetime1">
              <a:rPr lang="en-US" smtClean="0"/>
              <a:t>2/9/25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EECS 582 – W16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256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FD91D-E05B-0E4F-A0BE-FF0A133512F8}" type="datetime1">
              <a:rPr lang="en-US" smtClean="0"/>
              <a:t>2/9/25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582 – W16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216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7DFE4-B686-4E4D-A44B-BBFA4F93760C}" type="datetime1">
              <a:rPr lang="en-US" smtClean="0"/>
              <a:t>2/9/25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582 – W16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761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FD070-48B1-7A4C-8201-A5F0428B04B5}" type="datetime1">
              <a:rPr lang="en-US" smtClean="0"/>
              <a:t>2/9/25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582 – W16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95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37E95-22E8-9D46-BCB7-A1A2B4615323}" type="datetime1">
              <a:rPr lang="en-US" smtClean="0"/>
              <a:t>2/9/25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582 – W16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787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05905-29EE-C44F-9F50-8500FD40B029}" type="datetime1">
              <a:rPr lang="en-US" smtClean="0"/>
              <a:t>2/9/25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582 – W16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203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2536A-501F-2D4B-B940-CF3CAD36ABFE}" type="datetime1">
              <a:rPr lang="en-US" smtClean="0"/>
              <a:t>2/9/25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582 – W16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941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8544C-4612-904E-948E-02F5DF3365BF}" type="datetime1">
              <a:rPr lang="en-US" smtClean="0"/>
              <a:t>2/9/25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582 – W16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251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07C18-6A4C-494C-A5D7-0469F2CFEBF3}" type="datetime1">
              <a:rPr lang="en-US" smtClean="0"/>
              <a:t>2/9/25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582 – W16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00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B355F-372B-0B48-91E4-B9E95C6DDB80}" type="datetime1">
              <a:rPr lang="en-US" smtClean="0"/>
              <a:t>2/9/25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582 – W16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760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7F92F-DAD0-294D-90C2-D8B0AEDBB82F}" type="datetime1">
              <a:rPr lang="en-US" smtClean="0"/>
              <a:t>2/9/25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582 – W16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701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Gill Sans Light" charset="0"/>
                <a:ea typeface="Gill Sans Light" charset="0"/>
                <a:cs typeface="Gill Sans Light" charset="0"/>
              </a:defRPr>
            </a:lvl1pPr>
          </a:lstStyle>
          <a:p>
            <a:fld id="{0044240B-4341-7E48-A33D-719C7F46D8F2}" type="datetime1">
              <a:rPr lang="en-US" smtClean="0"/>
              <a:t>2/9/25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Gill Sans Light" charset="0"/>
                <a:ea typeface="Gill Sans Light" charset="0"/>
                <a:cs typeface="Gill Sans Light" charset="0"/>
              </a:defRPr>
            </a:lvl1pPr>
          </a:lstStyle>
          <a:p>
            <a:r>
              <a:rPr lang="en-US" dirty="0"/>
              <a:t>EECS 582 – W16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Gill Sans Light" charset="0"/>
                <a:ea typeface="Gill Sans Light" charset="0"/>
                <a:cs typeface="Gill Sans Light" charset="0"/>
              </a:defRPr>
            </a:lvl1pPr>
          </a:lstStyle>
          <a:p>
            <a:fld id="{4EEF9975-6C58-5C4C-8961-54FFA2646BA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687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Gill Sans" charset="0"/>
          <a:ea typeface="Gill Sans" charset="0"/>
          <a:cs typeface="Gill Sans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Gill Sans" charset="0"/>
          <a:ea typeface="Gill Sans" charset="0"/>
          <a:cs typeface="Gill Sans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b="0" i="0" kern="1200">
          <a:solidFill>
            <a:schemeClr val="tx1"/>
          </a:solidFill>
          <a:latin typeface="Gill Sans Light" charset="0"/>
          <a:ea typeface="Gill Sans Light" charset="0"/>
          <a:cs typeface="Gill Sans Light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b="0" i="0" kern="1200">
          <a:solidFill>
            <a:schemeClr val="tx1"/>
          </a:solidFill>
          <a:latin typeface="Gill Sans Light" charset="0"/>
          <a:ea typeface="Gill Sans Light" charset="0"/>
          <a:cs typeface="Gill Sans Light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Gill Sans Light" charset="0"/>
          <a:ea typeface="Gill Sans Light" charset="0"/>
          <a:cs typeface="Gill Sans Light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Gill Sans Light" charset="0"/>
          <a:ea typeface="Gill Sans Light" charset="0"/>
          <a:cs typeface="Gill Sans Light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iff"/><Relationship Id="rId2" Type="http://schemas.openxmlformats.org/officeDocument/2006/relationships/hyperlink" Target="http://kubernetes.io/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nfoq.com/presentations/cluster-management-google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9398" y="1122363"/>
            <a:ext cx="10703858" cy="2387600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CS 208, Class – 9: Borg – Precursor to Kubernetes</a:t>
            </a:r>
            <a:br>
              <a:rPr lang="en-US" dirty="0"/>
            </a:br>
            <a:r>
              <a:rPr lang="en-US" sz="4900" dirty="0"/>
              <a:t>Large-scale cluster management at Google with Borg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By:  Abhishek </a:t>
            </a:r>
            <a:r>
              <a:rPr lang="en-US" dirty="0" err="1"/>
              <a:t>Verma</a:t>
            </a:r>
            <a:r>
              <a:rPr lang="en-US" dirty="0"/>
              <a:t>, Luis Pedrosa, Madhukar </a:t>
            </a:r>
            <a:r>
              <a:rPr lang="en-US" dirty="0" err="1"/>
              <a:t>Korupolu</a:t>
            </a:r>
            <a:r>
              <a:rPr lang="en-US" dirty="0"/>
              <a:t>, David Oppenheimer, Eric Tune, John Wilkes</a:t>
            </a:r>
          </a:p>
          <a:p>
            <a:r>
              <a:rPr lang="en-US" dirty="0"/>
              <a:t>Slides based on </a:t>
            </a:r>
            <a:r>
              <a:rPr lang="en-US" dirty="0" err="1"/>
              <a:t>Eurosys</a:t>
            </a:r>
            <a:r>
              <a:rPr lang="en-US" dirty="0"/>
              <a:t> 2015 paper presentation</a:t>
            </a:r>
          </a:p>
          <a:p>
            <a:r>
              <a:rPr lang="en-US" dirty="0"/>
              <a:t>Adapted from a version initially by </a:t>
            </a:r>
            <a:r>
              <a:rPr lang="en-US" dirty="0" err="1"/>
              <a:t>Xianghan</a:t>
            </a:r>
            <a:r>
              <a:rPr lang="en-US" dirty="0"/>
              <a:t> Pei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126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5319"/>
            <a:ext cx="10515600" cy="1012571"/>
          </a:xfrm>
        </p:spPr>
        <p:txBody>
          <a:bodyPr/>
          <a:lstStyle/>
          <a:p>
            <a:r>
              <a:rPr lang="en-US" dirty="0"/>
              <a:t>Introduction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77696"/>
            <a:ext cx="10515600" cy="534377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Introduction</a:t>
            </a:r>
          </a:p>
          <a:p>
            <a:pPr lvl="1"/>
            <a:r>
              <a:rPr lang="en-US" dirty="0"/>
              <a:t>Borg: An OS of Cluster(Datacenter)</a:t>
            </a:r>
          </a:p>
          <a:p>
            <a:pPr lvl="1"/>
            <a:endParaRPr lang="en-US" dirty="0"/>
          </a:p>
          <a:p>
            <a:r>
              <a:rPr lang="en-US" dirty="0"/>
              <a:t>Motivation</a:t>
            </a:r>
          </a:p>
          <a:p>
            <a:pPr lvl="1"/>
            <a:r>
              <a:rPr lang="en-US" dirty="0"/>
              <a:t>Hide the details(programmer focus on App)</a:t>
            </a:r>
          </a:p>
          <a:p>
            <a:pPr lvl="1"/>
            <a:r>
              <a:rPr lang="en-US" dirty="0"/>
              <a:t>Provide resource sharing </a:t>
            </a:r>
          </a:p>
          <a:p>
            <a:pPr lvl="1"/>
            <a:r>
              <a:rPr lang="en-US" dirty="0"/>
              <a:t>Provide high reliability and availability for Cluster</a:t>
            </a:r>
          </a:p>
          <a:p>
            <a:r>
              <a:rPr lang="en-US" dirty="0"/>
              <a:t>Borg isolates users from heterogeneity: </a:t>
            </a:r>
            <a:br>
              <a:rPr lang="en-US" dirty="0"/>
            </a:br>
            <a:r>
              <a:rPr lang="en-US" dirty="0"/>
              <a:t>determines where in a cell to run tasks; </a:t>
            </a:r>
            <a:br>
              <a:rPr lang="en-US" dirty="0"/>
            </a:br>
            <a:r>
              <a:rPr lang="en-US" dirty="0"/>
              <a:t>allocating their resources; </a:t>
            </a:r>
            <a:br>
              <a:rPr lang="en-US" dirty="0"/>
            </a:br>
            <a:r>
              <a:rPr lang="en-US" dirty="0"/>
              <a:t>installing programs and other dependencies; </a:t>
            </a:r>
            <a:br>
              <a:rPr lang="en-US" dirty="0"/>
            </a:br>
            <a:r>
              <a:rPr lang="en-US" dirty="0"/>
              <a:t>monitoring health; restarting them if they fail. </a:t>
            </a:r>
          </a:p>
          <a:p>
            <a:endParaRPr lang="en-US" dirty="0"/>
          </a:p>
          <a:p>
            <a:r>
              <a:rPr lang="en-US" dirty="0"/>
              <a:t>Machines in a cell belong to a single </a:t>
            </a:r>
            <a:r>
              <a:rPr lang="en-US" i="1" dirty="0"/>
              <a:t>cluster</a:t>
            </a:r>
          </a:p>
          <a:p>
            <a:r>
              <a:rPr lang="en-US" dirty="0"/>
              <a:t>Median cell size is about 10 k machines </a:t>
            </a:r>
            <a:r>
              <a:rPr lang="en-US" i="1" dirty="0"/>
              <a:t>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5068" y="994952"/>
            <a:ext cx="3950767" cy="364802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15563" y="4654835"/>
            <a:ext cx="3477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high-level architecture of Borg </a:t>
            </a:r>
          </a:p>
        </p:txBody>
      </p:sp>
    </p:spTree>
    <p:extLst>
      <p:ext uri="{BB962C8B-B14F-4D97-AF65-F5344CB8AC3E}">
        <p14:creationId xmlns:p14="http://schemas.microsoft.com/office/powerpoint/2010/main" val="565250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5738"/>
            <a:ext cx="10515600" cy="826648"/>
          </a:xfrm>
        </p:spPr>
        <p:txBody>
          <a:bodyPr/>
          <a:lstStyle/>
          <a:p>
            <a:r>
              <a:rPr lang="en-US" dirty="0"/>
              <a:t>The User Perspective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9803" y="1012386"/>
            <a:ext cx="7400477" cy="5164577"/>
          </a:xfrm>
        </p:spPr>
        <p:txBody>
          <a:bodyPr/>
          <a:lstStyle/>
          <a:p>
            <a:r>
              <a:rPr lang="en-US" dirty="0"/>
              <a:t>Workload</a:t>
            </a:r>
          </a:p>
          <a:p>
            <a:pPr lvl="1"/>
            <a:r>
              <a:rPr lang="en-US" dirty="0"/>
              <a:t>production(prod) VS. non-production(non-prod)</a:t>
            </a:r>
          </a:p>
          <a:p>
            <a:r>
              <a:rPr lang="en-US" dirty="0"/>
              <a:t>Cells</a:t>
            </a:r>
          </a:p>
          <a:p>
            <a:pPr lvl="1"/>
            <a:r>
              <a:rPr lang="en-US" dirty="0"/>
              <a:t>Heterogeneous, around 10 k machines in median </a:t>
            </a:r>
          </a:p>
          <a:p>
            <a:r>
              <a:rPr lang="en-US" dirty="0"/>
              <a:t>Jobs and Tasks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140" y="3821435"/>
            <a:ext cx="6785379" cy="253491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611470" y="5173779"/>
            <a:ext cx="43492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&gt; </a:t>
            </a:r>
            <a:r>
              <a:rPr lang="en-US" dirty="0" err="1"/>
              <a:t>borgcfg</a:t>
            </a:r>
            <a:r>
              <a:rPr lang="en-US" dirty="0"/>
              <a:t> .../</a:t>
            </a:r>
            <a:r>
              <a:rPr lang="en-US" dirty="0" err="1"/>
              <a:t>hello_world_webserver.borg</a:t>
            </a:r>
            <a:r>
              <a:rPr lang="en-US" dirty="0"/>
              <a:t> up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41EB6D-6F1E-8142-9359-2B370CF91F96}"/>
              </a:ext>
            </a:extLst>
          </p:cNvPr>
          <p:cNvSpPr txBox="1"/>
          <p:nvPr/>
        </p:nvSpPr>
        <p:spPr>
          <a:xfrm>
            <a:off x="7700280" y="3943609"/>
            <a:ext cx="3913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Don’t need to know which data center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C153CA-4F72-7943-9D1F-7BD99C23F8B5}"/>
              </a:ext>
            </a:extLst>
          </p:cNvPr>
          <p:cNvSpPr txBox="1"/>
          <p:nvPr/>
        </p:nvSpPr>
        <p:spPr>
          <a:xfrm>
            <a:off x="7060367" y="4397828"/>
            <a:ext cx="5163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Maybe multiple of these apps run: system picks port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A35ACB-1D82-1C4E-8F3B-1C2A2070E420}"/>
              </a:ext>
            </a:extLst>
          </p:cNvPr>
          <p:cNvSpPr txBox="1"/>
          <p:nvPr/>
        </p:nvSpPr>
        <p:spPr>
          <a:xfrm>
            <a:off x="7060367" y="5460660"/>
            <a:ext cx="49252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Need 50 MB: lots of monitoring: each app is a Web</a:t>
            </a:r>
          </a:p>
          <a:p>
            <a:r>
              <a:rPr lang="en-US" dirty="0"/>
              <a:t>Server. Info on perf., stats, RPC calls made etc.</a:t>
            </a:r>
          </a:p>
          <a:p>
            <a:r>
              <a:rPr lang="en-US" dirty="0"/>
              <a:t>Can monitor how well it’s doing.</a:t>
            </a:r>
          </a:p>
        </p:txBody>
      </p:sp>
    </p:spTree>
    <p:extLst>
      <p:ext uri="{BB962C8B-B14F-4D97-AF65-F5344CB8AC3E}">
        <p14:creationId xmlns:p14="http://schemas.microsoft.com/office/powerpoint/2010/main" val="734372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User Perspective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Allocs</a:t>
            </a:r>
            <a:endParaRPr lang="en-US" dirty="0"/>
          </a:p>
          <a:p>
            <a:pPr lvl="1"/>
            <a:r>
              <a:rPr lang="en-US" dirty="0"/>
              <a:t>Reserved set of resources</a:t>
            </a:r>
          </a:p>
          <a:p>
            <a:r>
              <a:rPr lang="en-US" dirty="0"/>
              <a:t>Priority, Quota, and Admission Control </a:t>
            </a:r>
          </a:p>
          <a:p>
            <a:pPr lvl="1"/>
            <a:r>
              <a:rPr lang="en-US" dirty="0"/>
              <a:t>Job has a priority (preempting)</a:t>
            </a:r>
          </a:p>
          <a:p>
            <a:pPr lvl="1"/>
            <a:r>
              <a:rPr lang="en-US" dirty="0"/>
              <a:t>Quota is used to decide which jobs to admit for scheduling</a:t>
            </a:r>
          </a:p>
          <a:p>
            <a:r>
              <a:rPr lang="en-US" dirty="0"/>
              <a:t>Naming and Monitoring</a:t>
            </a:r>
          </a:p>
          <a:p>
            <a:pPr lvl="1"/>
            <a:r>
              <a:rPr lang="en-US" dirty="0"/>
              <a:t>50.jfoo.ubar.cc.borg.google.com </a:t>
            </a:r>
          </a:p>
          <a:p>
            <a:pPr lvl="1"/>
            <a:r>
              <a:rPr lang="en-US" dirty="0"/>
              <a:t>Monitoring health of the task and thousands of performance metrics</a:t>
            </a:r>
          </a:p>
          <a:p>
            <a:pPr lvl="1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660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5072" y="21682"/>
            <a:ext cx="10515600" cy="1027907"/>
          </a:xfrm>
        </p:spPr>
        <p:txBody>
          <a:bodyPr/>
          <a:lstStyle/>
          <a:p>
            <a:pPr algn="ctr"/>
            <a:r>
              <a:rPr lang="en-US" dirty="0"/>
              <a:t>Borg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594" y="794479"/>
            <a:ext cx="11423754" cy="5926996"/>
          </a:xfrm>
        </p:spPr>
        <p:txBody>
          <a:bodyPr/>
          <a:lstStyle/>
          <a:p>
            <a:r>
              <a:rPr lang="en-US" dirty="0" err="1"/>
              <a:t>Borgmaster</a:t>
            </a:r>
            <a:r>
              <a:rPr lang="en-US" dirty="0"/>
              <a:t>: master for cell (subset of cluster)</a:t>
            </a:r>
          </a:p>
          <a:p>
            <a:pPr lvl="1"/>
            <a:r>
              <a:rPr lang="en-US" altLang="zh-CN" dirty="0"/>
              <a:t>May have more than 1 cell in a cluster</a:t>
            </a:r>
          </a:p>
          <a:p>
            <a:pPr lvl="1"/>
            <a:r>
              <a:rPr lang="en-US" altLang="zh-CN" dirty="0" err="1"/>
              <a:t>Borgcfg</a:t>
            </a:r>
            <a:r>
              <a:rPr lang="en-US" altLang="zh-CN" dirty="0"/>
              <a:t> sends config file to </a:t>
            </a:r>
            <a:r>
              <a:rPr lang="en-US" altLang="zh-CN" dirty="0" err="1"/>
              <a:t>Borgmaster</a:t>
            </a:r>
            <a:r>
              <a:rPr lang="en-US" altLang="zh-CN" dirty="0"/>
              <a:t>: write to</a:t>
            </a:r>
          </a:p>
          <a:p>
            <a:pPr marL="457200" lvl="1" indent="0">
              <a:buNone/>
            </a:pPr>
            <a:r>
              <a:rPr lang="en-US" altLang="zh-CN" dirty="0"/>
              <a:t>persistent store </a:t>
            </a:r>
          </a:p>
          <a:p>
            <a:pPr lvl="1"/>
            <a:r>
              <a:rPr lang="en-US" altLang="zh-CN" dirty="0"/>
              <a:t>M</a:t>
            </a:r>
            <a:r>
              <a:rPr lang="en-US" dirty="0"/>
              <a:t>ain </a:t>
            </a:r>
            <a:r>
              <a:rPr lang="en-US" dirty="0" err="1"/>
              <a:t>Borgmaster</a:t>
            </a:r>
            <a:r>
              <a:rPr lang="en-US" dirty="0"/>
              <a:t> process &amp; Scheduler</a:t>
            </a:r>
          </a:p>
          <a:p>
            <a:pPr marL="457200" lvl="1" indent="0">
              <a:buNone/>
            </a:pPr>
            <a:r>
              <a:rPr lang="en-US" dirty="0"/>
              <a:t>Scheduler aware of entire cell (in persistent data base)</a:t>
            </a:r>
          </a:p>
          <a:p>
            <a:pPr marL="457200" lvl="1" indent="0">
              <a:buNone/>
            </a:pPr>
            <a:r>
              <a:rPr lang="en-US" dirty="0"/>
              <a:t>Writes which nodes are selected to run job to </a:t>
            </a:r>
          </a:p>
          <a:p>
            <a:pPr marL="457200" lvl="1" indent="0">
              <a:buNone/>
            </a:pPr>
            <a:r>
              <a:rPr lang="en-US" dirty="0"/>
              <a:t>persistent store. Link shard executes the scheduler </a:t>
            </a:r>
          </a:p>
          <a:p>
            <a:pPr marL="457200" lvl="1" indent="0">
              <a:buNone/>
            </a:pPr>
            <a:r>
              <a:rPr lang="en-US" dirty="0"/>
              <a:t>decision</a:t>
            </a:r>
          </a:p>
          <a:p>
            <a:pPr lvl="1"/>
            <a:r>
              <a:rPr lang="en-US" dirty="0"/>
              <a:t>Master may have replicas (Five replicas) </a:t>
            </a:r>
          </a:p>
          <a:p>
            <a:r>
              <a:rPr lang="en-US" dirty="0" err="1"/>
              <a:t>Borglet</a:t>
            </a:r>
            <a:r>
              <a:rPr lang="en-US" dirty="0"/>
              <a:t> – agent on each machine</a:t>
            </a:r>
          </a:p>
          <a:p>
            <a:pPr lvl="1"/>
            <a:r>
              <a:rPr lang="en-US" dirty="0"/>
              <a:t>Manage and monitor tasks and resource </a:t>
            </a:r>
          </a:p>
          <a:p>
            <a:pPr lvl="1"/>
            <a:r>
              <a:rPr lang="en-US" dirty="0" err="1"/>
              <a:t>Borgmaster</a:t>
            </a:r>
            <a:r>
              <a:rPr lang="en-US" dirty="0"/>
              <a:t> polls </a:t>
            </a:r>
            <a:r>
              <a:rPr lang="en-US" dirty="0" err="1"/>
              <a:t>Borglet</a:t>
            </a:r>
            <a:r>
              <a:rPr lang="en-US" dirty="0"/>
              <a:t> every few seconds</a:t>
            </a:r>
          </a:p>
          <a:p>
            <a:pPr lvl="1"/>
            <a:r>
              <a:rPr lang="en-US" dirty="0"/>
              <a:t>Check with persistent store </a:t>
            </a:r>
          </a:p>
          <a:p>
            <a:pPr lvl="1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6654" y="1049589"/>
            <a:ext cx="4776538" cy="4410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31844" y="5549802"/>
            <a:ext cx="414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high-level architecture of Borg(A Cell) </a:t>
            </a:r>
          </a:p>
        </p:txBody>
      </p:sp>
    </p:spTree>
    <p:extLst>
      <p:ext uri="{BB962C8B-B14F-4D97-AF65-F5344CB8AC3E}">
        <p14:creationId xmlns:p14="http://schemas.microsoft.com/office/powerpoint/2010/main" val="1801883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D0706-06C7-1044-8F3E-BC855AAAD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46811"/>
          </a:xfrm>
        </p:spPr>
        <p:txBody>
          <a:bodyPr>
            <a:normAutofit fontScale="90000"/>
          </a:bodyPr>
          <a:lstStyle/>
          <a:p>
            <a:r>
              <a:rPr lang="en-US" dirty="0"/>
              <a:t>Borg Architecture 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34880-9FD6-5C4D-A544-B8288F310D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1936"/>
            <a:ext cx="10515600" cy="584606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 Borg cell consists of a set of machines, a logically centralized controller called the </a:t>
            </a:r>
            <a:r>
              <a:rPr lang="en-US" dirty="0" err="1"/>
              <a:t>Borgmaster</a:t>
            </a:r>
            <a:r>
              <a:rPr lang="en-US" dirty="0"/>
              <a:t>, and an agent process called the </a:t>
            </a:r>
            <a:r>
              <a:rPr lang="en-US" dirty="0" err="1"/>
              <a:t>Borglet</a:t>
            </a:r>
            <a:r>
              <a:rPr lang="en-US" dirty="0"/>
              <a:t> that runs on each machine in a cell </a:t>
            </a:r>
          </a:p>
          <a:p>
            <a:r>
              <a:rPr lang="en-US" dirty="0"/>
              <a:t>Each cell’s </a:t>
            </a:r>
            <a:r>
              <a:rPr lang="en-US" dirty="0" err="1"/>
              <a:t>Borgmaster</a:t>
            </a:r>
            <a:r>
              <a:rPr lang="en-US" dirty="0"/>
              <a:t> (replicated 5 times) consists of two processes: the main </a:t>
            </a:r>
            <a:r>
              <a:rPr lang="en-US" dirty="0" err="1"/>
              <a:t>Borgmaster</a:t>
            </a:r>
            <a:r>
              <a:rPr lang="en-US" dirty="0"/>
              <a:t> process and a separate scheduler </a:t>
            </a:r>
          </a:p>
          <a:p>
            <a:r>
              <a:rPr lang="en-US" dirty="0"/>
              <a:t>A single </a:t>
            </a:r>
            <a:r>
              <a:rPr lang="en-US" i="1" dirty="0"/>
              <a:t>elected master </a:t>
            </a:r>
            <a:r>
              <a:rPr lang="en-US" dirty="0"/>
              <a:t>per cell serves both as the </a:t>
            </a:r>
            <a:r>
              <a:rPr lang="en-US" dirty="0" err="1"/>
              <a:t>Paxos</a:t>
            </a:r>
            <a:r>
              <a:rPr lang="en-US" dirty="0"/>
              <a:t> leader and the state mutator, handling all operations that change the cell’s state, such as submitting a job or terminating a task on a machine. </a:t>
            </a:r>
          </a:p>
          <a:p>
            <a:pPr lvl="1"/>
            <a:r>
              <a:rPr lang="en-US" dirty="0"/>
              <a:t>A master is elected (using </a:t>
            </a:r>
            <a:r>
              <a:rPr lang="en-US" dirty="0" err="1"/>
              <a:t>Paxos</a:t>
            </a:r>
            <a:r>
              <a:rPr lang="en-US" dirty="0"/>
              <a:t>) </a:t>
            </a:r>
          </a:p>
          <a:p>
            <a:r>
              <a:rPr lang="en-US" dirty="0"/>
              <a:t>The </a:t>
            </a:r>
            <a:r>
              <a:rPr lang="en-US" dirty="0" err="1"/>
              <a:t>Borgmaster’s</a:t>
            </a:r>
            <a:r>
              <a:rPr lang="en-US" dirty="0"/>
              <a:t> state at a point in time is called a </a:t>
            </a:r>
            <a:r>
              <a:rPr lang="en-US" i="1" dirty="0"/>
              <a:t>checkpoint</a:t>
            </a:r>
            <a:r>
              <a:rPr lang="en-US" dirty="0"/>
              <a:t>, and takes the form of a periodic snapshot plus a change log kept in the </a:t>
            </a:r>
            <a:r>
              <a:rPr lang="en-US" dirty="0" err="1"/>
              <a:t>Paxos</a:t>
            </a:r>
            <a:r>
              <a:rPr lang="en-US" dirty="0"/>
              <a:t> store. </a:t>
            </a:r>
          </a:p>
          <a:p>
            <a:pPr lvl="1"/>
            <a:r>
              <a:rPr lang="en-US" dirty="0"/>
              <a:t>For recovery:  restore </a:t>
            </a:r>
            <a:r>
              <a:rPr lang="en-US" dirty="0" err="1"/>
              <a:t>Borgmaster’s</a:t>
            </a:r>
            <a:r>
              <a:rPr lang="en-US" dirty="0"/>
              <a:t> state to an arbitrary point in the past </a:t>
            </a:r>
          </a:p>
          <a:p>
            <a:r>
              <a:rPr lang="en-US" dirty="0"/>
              <a:t>Borg records all job submissions and task events &amp; detailed per-task resource usage information – collected from </a:t>
            </a:r>
            <a:r>
              <a:rPr lang="en-US" dirty="0" err="1"/>
              <a:t>Borglets</a:t>
            </a:r>
            <a:endParaRPr lang="en-US" dirty="0"/>
          </a:p>
          <a:p>
            <a:r>
              <a:rPr lang="en-US" dirty="0"/>
              <a:t>Data is used for usage-based charging, debugging job and system failures, and long-term capacity planning. 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458213-4A82-8F48-9262-D12A36E31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165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2" name="Rectangle 6">
            <a:extLst>
              <a:ext uri="{FF2B5EF4-FFF2-40B4-BE49-F238E27FC236}">
                <a16:creationId xmlns:a16="http://schemas.microsoft.com/office/drawing/2014/main" id="{6FECA911-C29C-9D40-A752-CB9387D179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en-US"/>
              <a:t>Scheduling a DataCenter</a:t>
            </a:r>
            <a:endParaRPr lang="en-US" altLang="en-US"/>
          </a:p>
        </p:txBody>
      </p:sp>
      <p:sp>
        <p:nvSpPr>
          <p:cNvPr id="60423" name="Rectangle 7">
            <a:extLst>
              <a:ext uri="{FF2B5EF4-FFF2-40B4-BE49-F238E27FC236}">
                <a16:creationId xmlns:a16="http://schemas.microsoft.com/office/drawing/2014/main" id="{EED5A436-BB9A-AE4B-8C2B-8957708B96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8744" y="1389888"/>
            <a:ext cx="11049000" cy="4949952"/>
          </a:xfrm>
        </p:spPr>
        <p:txBody>
          <a:bodyPr/>
          <a:lstStyle/>
          <a:p>
            <a:r>
              <a:rPr lang="en-US" altLang="en-US" dirty="0"/>
              <a:t>Companies like Google, run large datacenters</a:t>
            </a:r>
          </a:p>
          <a:p>
            <a:r>
              <a:rPr lang="en-US" altLang="en-US" dirty="0"/>
              <a:t>Construction, maintenance, etc. of datacenters has significant cost, and uses a significant amount of power</a:t>
            </a:r>
          </a:p>
          <a:p>
            <a:r>
              <a:rPr lang="en-US" altLang="en-US" dirty="0"/>
              <a:t>Managing such a data  center efficiently is an important problem</a:t>
            </a:r>
          </a:p>
          <a:p>
            <a:r>
              <a:rPr lang="en-AU" altLang="en-US" dirty="0"/>
              <a:t>Users submit </a:t>
            </a:r>
            <a:r>
              <a:rPr lang="en-AU" altLang="en-US" dirty="0">
                <a:solidFill>
                  <a:schemeClr val="hlink"/>
                </a:solidFill>
              </a:rPr>
              <a:t>jobs</a:t>
            </a:r>
            <a:r>
              <a:rPr lang="en-AU" altLang="en-US" dirty="0"/>
              <a:t> consisting of </a:t>
            </a:r>
            <a:r>
              <a:rPr lang="en-AU" altLang="en-US" dirty="0">
                <a:solidFill>
                  <a:schemeClr val="hlink"/>
                </a:solidFill>
              </a:rPr>
              <a:t>tasks (all tasks of a given job run the same program).</a:t>
            </a:r>
          </a:p>
          <a:p>
            <a:r>
              <a:rPr lang="en-US" dirty="0"/>
              <a:t>Jobs can have </a:t>
            </a:r>
            <a:r>
              <a:rPr lang="en-US" i="1" dirty="0"/>
              <a:t>constraints </a:t>
            </a:r>
            <a:r>
              <a:rPr lang="en-US" dirty="0"/>
              <a:t>to force its tasks to run on machines with particular </a:t>
            </a:r>
            <a:r>
              <a:rPr lang="en-US" i="1" dirty="0"/>
              <a:t>attributes </a:t>
            </a:r>
            <a:r>
              <a:rPr lang="en-US" dirty="0"/>
              <a:t>such as processor architecture, OS version, or an external IP address. 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75652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74121555-4FF2-8245-BBE6-377E1B32F8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088" y="109093"/>
            <a:ext cx="11545824" cy="707771"/>
          </a:xfrm>
        </p:spPr>
        <p:txBody>
          <a:bodyPr>
            <a:normAutofit/>
          </a:bodyPr>
          <a:lstStyle/>
          <a:p>
            <a:r>
              <a:rPr lang="en-AU" altLang="en-US" sz="4000" dirty="0"/>
              <a:t>The computing environment – model for Google</a:t>
            </a:r>
            <a:endParaRPr lang="en-US" altLang="en-US" sz="4000" dirty="0"/>
          </a:p>
        </p:txBody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4D597BA6-40F4-7C45-B8EE-352C7BC37E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088" y="938784"/>
            <a:ext cx="11030712" cy="5754624"/>
          </a:xfrm>
        </p:spPr>
        <p:txBody>
          <a:bodyPr>
            <a:normAutofit/>
          </a:bodyPr>
          <a:lstStyle/>
          <a:p>
            <a:pPr>
              <a:lnSpc>
                <a:spcPct val="77000"/>
              </a:lnSpc>
            </a:pPr>
            <a:r>
              <a:rPr lang="en-US" dirty="0"/>
              <a:t>long-running services - “never” go down, </a:t>
            </a:r>
            <a:r>
              <a:rPr lang="en-US" i="1" dirty="0"/>
              <a:t>and</a:t>
            </a:r>
            <a:r>
              <a:rPr lang="en-US" dirty="0"/>
              <a:t> handle short-lived latency-sensitive requests (a few </a:t>
            </a:r>
            <a:r>
              <a:rPr lang="el-GR" dirty="0"/>
              <a:t>μ</a:t>
            </a:r>
            <a:r>
              <a:rPr lang="en-US" dirty="0"/>
              <a:t>s to a few hundred </a:t>
            </a:r>
            <a:r>
              <a:rPr lang="en-US" dirty="0" err="1"/>
              <a:t>ms</a:t>
            </a:r>
            <a:r>
              <a:rPr lang="en-US" dirty="0"/>
              <a:t>). End-user-facing products such as Gmail, Google Docs, and web search (high priority)</a:t>
            </a:r>
          </a:p>
          <a:p>
            <a:pPr>
              <a:lnSpc>
                <a:spcPct val="77000"/>
              </a:lnSpc>
            </a:pPr>
            <a:r>
              <a:rPr lang="en-US" dirty="0"/>
              <a:t>batch jobs (a few seconds to a few days completion time); less sensitive to short-term performance fluctuations (low priority)</a:t>
            </a:r>
            <a:endParaRPr lang="en-AU" altLang="en-US" dirty="0"/>
          </a:p>
          <a:p>
            <a:pPr>
              <a:lnSpc>
                <a:spcPct val="77000"/>
              </a:lnSpc>
            </a:pPr>
            <a:r>
              <a:rPr lang="en-AU" altLang="en-US" dirty="0"/>
              <a:t>Tasks are the unit that is scheduled.</a:t>
            </a:r>
          </a:p>
          <a:p>
            <a:pPr lvl="1">
              <a:lnSpc>
                <a:spcPct val="77000"/>
              </a:lnSpc>
            </a:pPr>
            <a:r>
              <a:rPr lang="en-US" dirty="0"/>
              <a:t>Each task maps to a set of Linux processes running in a container on a machine </a:t>
            </a:r>
            <a:endParaRPr lang="en-AU" altLang="en-US" dirty="0"/>
          </a:p>
          <a:p>
            <a:pPr>
              <a:lnSpc>
                <a:spcPct val="77000"/>
              </a:lnSpc>
            </a:pPr>
            <a:r>
              <a:rPr lang="en-AU" altLang="en-US" dirty="0"/>
              <a:t>So, they have:</a:t>
            </a:r>
          </a:p>
          <a:p>
            <a:pPr>
              <a:lnSpc>
                <a:spcPct val="77000"/>
              </a:lnSpc>
            </a:pPr>
            <a:r>
              <a:rPr lang="en-AU" altLang="en-US" dirty="0"/>
              <a:t>Mix of long-running and short-running jobs.</a:t>
            </a:r>
          </a:p>
          <a:p>
            <a:pPr>
              <a:lnSpc>
                <a:spcPct val="77000"/>
              </a:lnSpc>
            </a:pPr>
            <a:r>
              <a:rPr lang="en-AU" altLang="en-US" dirty="0"/>
              <a:t>Mix of user-facing and back-end jobs.</a:t>
            </a:r>
          </a:p>
          <a:p>
            <a:pPr>
              <a:lnSpc>
                <a:spcPct val="77000"/>
              </a:lnSpc>
            </a:pPr>
            <a:r>
              <a:rPr lang="en-AU" altLang="en-US" dirty="0"/>
              <a:t>Mix of high and low priority jobs.</a:t>
            </a:r>
          </a:p>
          <a:p>
            <a:pPr>
              <a:lnSpc>
                <a:spcPct val="77000"/>
              </a:lnSpc>
            </a:pPr>
            <a:endParaRPr lang="en-AU" altLang="en-US" dirty="0"/>
          </a:p>
          <a:p>
            <a:pPr>
              <a:lnSpc>
                <a:spcPct val="77000"/>
              </a:lnSpc>
            </a:pPr>
            <a:r>
              <a:rPr lang="en-AU" altLang="en-US" dirty="0"/>
              <a:t>Consider a “</a:t>
            </a:r>
            <a:r>
              <a:rPr lang="en-AU" altLang="en-US" dirty="0" err="1"/>
              <a:t>datacenter</a:t>
            </a:r>
            <a:r>
              <a:rPr lang="en-AU" altLang="en-US" dirty="0"/>
              <a:t>” with thousands of machines, and a time period (“day”) long enough to have hundreds of thousands of tasks. </a:t>
            </a:r>
          </a:p>
        </p:txBody>
      </p:sp>
    </p:spTree>
    <p:extLst>
      <p:ext uri="{BB962C8B-B14F-4D97-AF65-F5344CB8AC3E}">
        <p14:creationId xmlns:p14="http://schemas.microsoft.com/office/powerpoint/2010/main" val="11078995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3915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Borg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36" y="881453"/>
            <a:ext cx="7369295" cy="5840022"/>
          </a:xfrm>
        </p:spPr>
        <p:txBody>
          <a:bodyPr>
            <a:normAutofit/>
          </a:bodyPr>
          <a:lstStyle/>
          <a:p>
            <a:r>
              <a:rPr lang="en-US" dirty="0"/>
              <a:t>Scheduling</a:t>
            </a:r>
          </a:p>
          <a:p>
            <a:pPr lvl="1"/>
            <a:r>
              <a:rPr lang="en-US" dirty="0"/>
              <a:t>feasibility checking: </a:t>
            </a:r>
            <a:r>
              <a:rPr lang="en-US" b="1" dirty="0"/>
              <a:t>find</a:t>
            </a:r>
            <a:r>
              <a:rPr lang="en-US" dirty="0"/>
              <a:t> machines for a task</a:t>
            </a:r>
          </a:p>
          <a:p>
            <a:pPr lvl="1"/>
            <a:r>
              <a:rPr lang="en-US" dirty="0"/>
              <a:t>Scoring: </a:t>
            </a:r>
            <a:r>
              <a:rPr lang="en-US" b="1" dirty="0"/>
              <a:t>pick</a:t>
            </a:r>
            <a:r>
              <a:rPr lang="en-US" dirty="0"/>
              <a:t> one of the feasible machines. </a:t>
            </a:r>
          </a:p>
          <a:p>
            <a:pPr lvl="1"/>
            <a:r>
              <a:rPr lang="en-US" dirty="0"/>
              <a:t>Scoring: minimize number and priority of preempted tasks; pick machines that already have a copy of the task’s packages; spread tasks across power and failure domains;  packing quality, including putting a mix of high and low priority tasks onto a single machine to allow the high-priority ones to expand in a load spike. </a:t>
            </a:r>
          </a:p>
          <a:p>
            <a:pPr lvl="2"/>
            <a:r>
              <a:rPr lang="en-US" sz="2400" dirty="0"/>
              <a:t>User preferences &amp; built-in criteria</a:t>
            </a:r>
          </a:p>
          <a:p>
            <a:pPr lvl="2"/>
            <a:r>
              <a:rPr lang="en-US" sz="2400" i="1" dirty="0"/>
              <a:t>E-PVM</a:t>
            </a:r>
            <a:r>
              <a:rPr lang="en-US" sz="2400" dirty="0"/>
              <a:t> vs. best-fit</a:t>
            </a:r>
          </a:p>
          <a:p>
            <a:pPr lvl="2"/>
            <a:r>
              <a:rPr lang="en-US" sz="2400" dirty="0"/>
              <a:t>Tradeoffs (see paper)</a:t>
            </a:r>
          </a:p>
          <a:p>
            <a:r>
              <a:rPr lang="en-US" dirty="0"/>
              <a:t>Decisions stored in persistent store</a:t>
            </a:r>
          </a:p>
          <a:p>
            <a:pPr lvl="2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9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4626" y="881453"/>
            <a:ext cx="4776538" cy="4410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31844" y="5549802"/>
            <a:ext cx="414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high-level architecture of Borg(A Cell)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856AF7-319C-CA41-82C7-515DB6312091}"/>
              </a:ext>
            </a:extLst>
          </p:cNvPr>
          <p:cNvSpPr txBox="1"/>
          <p:nvPr/>
        </p:nvSpPr>
        <p:spPr>
          <a:xfrm>
            <a:off x="0" y="6153149"/>
            <a:ext cx="80609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E-PVM places VMs on a server with the lowest utilization to leave a large headroom </a:t>
            </a:r>
          </a:p>
          <a:p>
            <a:r>
              <a:rPr lang="en-US" dirty="0"/>
              <a:t>for load spikes w/goal of  good task completion time.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319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3348"/>
            <a:ext cx="10515600" cy="68446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Scalability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754" y="1594101"/>
            <a:ext cx="6657090" cy="5127374"/>
          </a:xfrm>
        </p:spPr>
        <p:txBody>
          <a:bodyPr/>
          <a:lstStyle/>
          <a:p>
            <a:r>
              <a:rPr lang="en-US" dirty="0"/>
              <a:t>Separate scheduler</a:t>
            </a:r>
          </a:p>
          <a:p>
            <a:pPr lvl="1"/>
            <a:r>
              <a:rPr lang="en-US" dirty="0"/>
              <a:t>Separate threads to poll the </a:t>
            </a:r>
            <a:r>
              <a:rPr lang="en-US" dirty="0" err="1"/>
              <a:t>Borglets</a:t>
            </a:r>
            <a:r>
              <a:rPr lang="en-US" dirty="0"/>
              <a:t> </a:t>
            </a:r>
          </a:p>
          <a:p>
            <a:r>
              <a:rPr lang="en-US" dirty="0"/>
              <a:t>Partition functions across the five replicas</a:t>
            </a:r>
          </a:p>
          <a:p>
            <a:r>
              <a:rPr lang="en-US" dirty="0"/>
              <a:t>Score caching: </a:t>
            </a:r>
            <a:r>
              <a:rPr lang="en-US" sz="2400" dirty="0"/>
              <a:t>Cache score, ignore small changes</a:t>
            </a:r>
          </a:p>
          <a:p>
            <a:r>
              <a:rPr lang="en-US" dirty="0"/>
              <a:t>Equivalence classes: </a:t>
            </a:r>
            <a:r>
              <a:rPr lang="en-US" sz="2400" dirty="0"/>
              <a:t>scoring one task per </a:t>
            </a:r>
            <a:r>
              <a:rPr lang="en-US" sz="2400" i="1" dirty="0"/>
              <a:t>equivalence class </a:t>
            </a:r>
          </a:p>
          <a:p>
            <a:endParaRPr lang="en-US" dirty="0"/>
          </a:p>
          <a:p>
            <a:r>
              <a:rPr lang="en-US" dirty="0"/>
              <a:t>Relaxed randomization: </a:t>
            </a:r>
            <a:r>
              <a:rPr lang="en-US" sz="2400" dirty="0"/>
              <a:t>don’t score all machines, choose random number of machines 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10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1844" y="1049589"/>
            <a:ext cx="4776538" cy="4410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531716" y="5549802"/>
            <a:ext cx="414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high-level architecture of Borg(A Cell) </a:t>
            </a:r>
          </a:p>
        </p:txBody>
      </p:sp>
    </p:spTree>
    <p:extLst>
      <p:ext uri="{BB962C8B-B14F-4D97-AF65-F5344CB8AC3E}">
        <p14:creationId xmlns:p14="http://schemas.microsoft.com/office/powerpoint/2010/main" val="18224969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>
            <a:extLst>
              <a:ext uri="{FF2B5EF4-FFF2-40B4-BE49-F238E27FC236}">
                <a16:creationId xmlns:a16="http://schemas.microsoft.com/office/drawing/2014/main" id="{388C2A3E-8225-B74C-B1CB-BEB6542194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en-US" sz="4000"/>
              <a:t>Some ways to measure scheduling quality</a:t>
            </a:r>
            <a:endParaRPr lang="en-US" altLang="en-US" sz="4000"/>
          </a:p>
        </p:txBody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4185727C-5807-DD4A-8652-1636E8D86A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GB" altLang="en-US" i="1" dirty="0">
                <a:solidFill>
                  <a:schemeClr val="hlink"/>
                </a:solidFill>
              </a:rPr>
              <a:t>Throughput - </a:t>
            </a:r>
            <a:r>
              <a:rPr lang="en-GB" altLang="en-US" dirty="0"/>
              <a:t>number of processed tasks</a:t>
            </a:r>
          </a:p>
          <a:p>
            <a:pPr lvl="1"/>
            <a:r>
              <a:rPr lang="en-GB" altLang="en-US" i="1" dirty="0">
                <a:solidFill>
                  <a:schemeClr val="hlink"/>
                </a:solidFill>
              </a:rPr>
              <a:t>Total flow time – </a:t>
            </a:r>
            <a:r>
              <a:rPr lang="en-GB" altLang="en-US" i="1" dirty="0"/>
              <a:t>total time tasks spend in system</a:t>
            </a:r>
          </a:p>
          <a:p>
            <a:pPr lvl="1"/>
            <a:r>
              <a:rPr lang="en-GB" altLang="en-US" i="1" dirty="0">
                <a:solidFill>
                  <a:schemeClr val="hlink"/>
                </a:solidFill>
              </a:rPr>
              <a:t>Total useful work</a:t>
            </a:r>
            <a:r>
              <a:rPr lang="en-GB" altLang="en-US" i="1" dirty="0"/>
              <a:t> – total time tasks spend processing work that will not be thrown away</a:t>
            </a:r>
          </a:p>
          <a:p>
            <a:pPr lvl="1"/>
            <a:r>
              <a:rPr lang="en-GB" altLang="en-US" i="1" dirty="0">
                <a:solidFill>
                  <a:schemeClr val="hlink"/>
                </a:solidFill>
              </a:rPr>
              <a:t>Number of </a:t>
            </a:r>
            <a:r>
              <a:rPr lang="en-GB" altLang="en-US" i="1" dirty="0" err="1">
                <a:solidFill>
                  <a:schemeClr val="hlink"/>
                </a:solidFill>
              </a:rPr>
              <a:t>preemptions</a:t>
            </a:r>
            <a:r>
              <a:rPr lang="en-GB" altLang="en-US" i="1" dirty="0">
                <a:solidFill>
                  <a:schemeClr val="hlink"/>
                </a:solidFill>
              </a:rPr>
              <a:t> – </a:t>
            </a:r>
            <a:r>
              <a:rPr lang="en-GB" altLang="en-US" i="1" dirty="0"/>
              <a:t>times tasks were interrupted.</a:t>
            </a:r>
          </a:p>
          <a:p>
            <a:pPr lvl="1"/>
            <a:r>
              <a:rPr lang="en-GB" altLang="en-US" i="1" dirty="0">
                <a:solidFill>
                  <a:schemeClr val="hlink"/>
                </a:solidFill>
              </a:rPr>
              <a:t>Pending queue size</a:t>
            </a:r>
            <a:r>
              <a:rPr lang="en-GB" altLang="en-US" i="1" dirty="0"/>
              <a:t> – number of tasks in system but not being scheduled</a:t>
            </a:r>
          </a:p>
          <a:p>
            <a:pPr lvl="1"/>
            <a:r>
              <a:rPr lang="en-GB" altLang="en-US" i="1" dirty="0">
                <a:solidFill>
                  <a:schemeClr val="hlink"/>
                </a:solidFill>
              </a:rPr>
              <a:t>Machine fragmentation</a:t>
            </a:r>
            <a:r>
              <a:rPr lang="en-GB" altLang="en-US" i="1" dirty="0"/>
              <a:t> – </a:t>
            </a:r>
            <a:r>
              <a:rPr lang="en-GB" altLang="en-US" dirty="0"/>
              <a:t>roughly the</a:t>
            </a:r>
            <a:r>
              <a:rPr lang="en-GB" altLang="en-US" i="1" dirty="0"/>
              <a:t> </a:t>
            </a:r>
            <a:r>
              <a:rPr lang="en-GB" altLang="en-US" dirty="0"/>
              <a:t>number of unused machines</a:t>
            </a:r>
          </a:p>
        </p:txBody>
      </p:sp>
    </p:spTree>
    <p:extLst>
      <p:ext uri="{BB962C8B-B14F-4D97-AF65-F5344CB8AC3E}">
        <p14:creationId xmlns:p14="http://schemas.microsoft.com/office/powerpoint/2010/main" val="40373152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>
            <a:extLst>
              <a:ext uri="{FF2B5EF4-FFF2-40B4-BE49-F238E27FC236}">
                <a16:creationId xmlns:a16="http://schemas.microsoft.com/office/drawing/2014/main" id="{14CA77F9-FAA6-8644-8CF0-276402DAEF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en-US" sz="4000"/>
              <a:t>How to model machines and jobs</a:t>
            </a:r>
            <a:endParaRPr lang="en-US" altLang="en-US" sz="4000"/>
          </a:p>
        </p:txBody>
      </p:sp>
      <p:sp>
        <p:nvSpPr>
          <p:cNvPr id="102403" name="Rectangle 3">
            <a:extLst>
              <a:ext uri="{FF2B5EF4-FFF2-40B4-BE49-F238E27FC236}">
                <a16:creationId xmlns:a16="http://schemas.microsoft.com/office/drawing/2014/main" id="{B30B3A95-12CB-E141-9D2B-588116BC34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AU" altLang="en-US" dirty="0"/>
              <a:t>Machines:</a:t>
            </a:r>
          </a:p>
          <a:p>
            <a:pPr lvl="1">
              <a:lnSpc>
                <a:spcPct val="90000"/>
              </a:lnSpc>
            </a:pPr>
            <a:r>
              <a:rPr lang="en-AU" altLang="en-US" dirty="0"/>
              <a:t>Disk</a:t>
            </a:r>
          </a:p>
          <a:p>
            <a:pPr lvl="1">
              <a:lnSpc>
                <a:spcPct val="90000"/>
              </a:lnSpc>
            </a:pPr>
            <a:r>
              <a:rPr lang="en-AU" altLang="en-US" dirty="0"/>
              <a:t>Memory</a:t>
            </a:r>
          </a:p>
          <a:p>
            <a:pPr lvl="1">
              <a:lnSpc>
                <a:spcPct val="90000"/>
              </a:lnSpc>
            </a:pPr>
            <a:r>
              <a:rPr lang="en-AU" altLang="en-US" dirty="0"/>
              <a:t>CPU</a:t>
            </a:r>
          </a:p>
          <a:p>
            <a:pPr>
              <a:lnSpc>
                <a:spcPct val="90000"/>
              </a:lnSpc>
            </a:pPr>
            <a:r>
              <a:rPr lang="en-AU" altLang="en-US" dirty="0"/>
              <a:t>Jobs</a:t>
            </a:r>
          </a:p>
          <a:p>
            <a:pPr lvl="1">
              <a:lnSpc>
                <a:spcPct val="90000"/>
              </a:lnSpc>
            </a:pPr>
            <a:r>
              <a:rPr lang="en-AU" altLang="en-US" dirty="0"/>
              <a:t>Consist of set of tasks, which have</a:t>
            </a:r>
          </a:p>
          <a:p>
            <a:pPr lvl="2">
              <a:lnSpc>
                <a:spcPct val="90000"/>
              </a:lnSpc>
            </a:pPr>
            <a:r>
              <a:rPr lang="en-AU" altLang="en-US" dirty="0"/>
              <a:t>Requirements: </a:t>
            </a:r>
            <a:r>
              <a:rPr lang="en-AU" altLang="en-US" dirty="0" err="1"/>
              <a:t>Cpu</a:t>
            </a:r>
            <a:r>
              <a:rPr lang="en-AU" altLang="en-US" dirty="0"/>
              <a:t>, disk, memory, precedence, priority, etc.</a:t>
            </a:r>
          </a:p>
          <a:p>
            <a:pPr lvl="2">
              <a:lnSpc>
                <a:spcPct val="90000"/>
              </a:lnSpc>
            </a:pPr>
            <a:r>
              <a:rPr lang="en-AU" altLang="en-US" dirty="0"/>
              <a:t>Expected: Processing times</a:t>
            </a:r>
          </a:p>
          <a:p>
            <a:pPr lvl="2">
              <a:lnSpc>
                <a:spcPct val="90000"/>
              </a:lnSpc>
            </a:pPr>
            <a:r>
              <a:rPr lang="en-AU" altLang="en-US" dirty="0"/>
              <a:t>Long list of other possible constraints</a:t>
            </a:r>
          </a:p>
          <a:p>
            <a:pPr lvl="1">
              <a:lnSpc>
                <a:spcPct val="90000"/>
              </a:lnSpc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044047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51B9BCE4-CFEF-AD47-8144-92DCC68223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427355"/>
          </a:xfrm>
        </p:spPr>
        <p:txBody>
          <a:bodyPr>
            <a:normAutofit fontScale="90000"/>
          </a:bodyPr>
          <a:lstStyle/>
          <a:p>
            <a:r>
              <a:rPr lang="en-AU" altLang="en-US" dirty="0"/>
              <a:t>Primary Goals</a:t>
            </a:r>
            <a:endParaRPr lang="en-US" altLang="en-US" dirty="0"/>
          </a:p>
        </p:txBody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5577A286-B073-0B45-A5FF-659858EC36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402080"/>
            <a:ext cx="10515600" cy="4774883"/>
          </a:xfrm>
        </p:spPr>
        <p:txBody>
          <a:bodyPr>
            <a:normAutofit lnSpcReduction="10000"/>
          </a:bodyPr>
          <a:lstStyle/>
          <a:p>
            <a:r>
              <a:rPr lang="en-GB" altLang="en-US" b="1" dirty="0">
                <a:effectLst/>
              </a:rPr>
              <a:t>Increase throughput.</a:t>
            </a:r>
          </a:p>
          <a:p>
            <a:r>
              <a:rPr lang="en-GB" altLang="en-US" b="1" dirty="0">
                <a:effectLst/>
              </a:rPr>
              <a:t>Reduce machine fragmentation                                              </a:t>
            </a:r>
            <a:r>
              <a:rPr lang="en-GB" altLang="en-US" dirty="0">
                <a:effectLst/>
              </a:rPr>
              <a:t>(increase job packing ability).</a:t>
            </a:r>
            <a:r>
              <a:rPr lang="en-GB" altLang="en-US" b="1" dirty="0">
                <a:effectLst/>
              </a:rPr>
              <a:t>  </a:t>
            </a:r>
          </a:p>
          <a:p>
            <a:r>
              <a:rPr lang="en-GB" altLang="en-US" b="1" dirty="0">
                <a:effectLst/>
              </a:rPr>
              <a:t>Increase the number of unused machines </a:t>
            </a:r>
            <a:r>
              <a:rPr lang="en-GB" altLang="en-US" dirty="0">
                <a:effectLst/>
              </a:rPr>
              <a:t>(potential for power savings).</a:t>
            </a:r>
          </a:p>
          <a:p>
            <a:r>
              <a:rPr lang="en-US" dirty="0"/>
              <a:t>Example for Google Production jobs:   </a:t>
            </a:r>
          </a:p>
          <a:p>
            <a:r>
              <a:rPr lang="en-US" altLang="en-US" dirty="0"/>
              <a:t>Important to understand allocation vs. usage</a:t>
            </a:r>
            <a:endParaRPr lang="en-AU" altLang="en-US" dirty="0"/>
          </a:p>
          <a:p>
            <a:r>
              <a:rPr lang="en-US" dirty="0"/>
              <a:t>E.g., CPU </a:t>
            </a:r>
            <a:r>
              <a:rPr lang="en-US" i="1" dirty="0"/>
              <a:t>allocation</a:t>
            </a:r>
            <a:r>
              <a:rPr lang="en-US" dirty="0"/>
              <a:t>: 70% of the total CPU resources; CPU </a:t>
            </a:r>
            <a:r>
              <a:rPr lang="en-US" i="1" dirty="0"/>
              <a:t>usage</a:t>
            </a:r>
            <a:r>
              <a:rPr lang="en-US" dirty="0"/>
              <a:t>: 60% of the total; </a:t>
            </a:r>
          </a:p>
          <a:p>
            <a:r>
              <a:rPr lang="en-US" dirty="0"/>
              <a:t>Memory </a:t>
            </a:r>
            <a:r>
              <a:rPr lang="en-US" i="1" dirty="0"/>
              <a:t>allocation</a:t>
            </a:r>
            <a:r>
              <a:rPr lang="en-US" dirty="0"/>
              <a:t>: about 55% of the total memory; </a:t>
            </a:r>
            <a:r>
              <a:rPr lang="en-US" i="1" dirty="0"/>
              <a:t>usage</a:t>
            </a:r>
            <a:r>
              <a:rPr lang="en-US" dirty="0"/>
              <a:t>: about 85% of the total memory allocated. </a:t>
            </a:r>
          </a:p>
        </p:txBody>
      </p:sp>
    </p:spTree>
    <p:extLst>
      <p:ext uri="{BB962C8B-B14F-4D97-AF65-F5344CB8AC3E}">
        <p14:creationId xmlns:p14="http://schemas.microsoft.com/office/powerpoint/2010/main" val="9318214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92CC9-D647-A740-9258-8869888DF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0379"/>
          </a:xfrm>
        </p:spPr>
        <p:txBody>
          <a:bodyPr/>
          <a:lstStyle/>
          <a:p>
            <a:r>
              <a:rPr lang="en-US" dirty="0"/>
              <a:t>Allocations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D65A4-5468-0A45-BB60-19192BF98A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5504"/>
            <a:ext cx="10515600" cy="481145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Borg </a:t>
            </a:r>
            <a:r>
              <a:rPr lang="en-US" i="1" dirty="0" err="1"/>
              <a:t>alloc</a:t>
            </a:r>
            <a:r>
              <a:rPr lang="en-US" i="1" dirty="0"/>
              <a:t>: </a:t>
            </a:r>
            <a:r>
              <a:rPr lang="en-US" dirty="0"/>
              <a:t>reserved set of resources on a machine in which one or more tasks can be run; </a:t>
            </a:r>
          </a:p>
          <a:p>
            <a:pPr marL="0" indent="0">
              <a:buNone/>
            </a:pPr>
            <a:r>
              <a:rPr lang="en-US" b="1" dirty="0"/>
              <a:t>resources remain assigned whether or not used. </a:t>
            </a:r>
          </a:p>
          <a:p>
            <a:pPr marL="0" indent="0">
              <a:buNone/>
            </a:pPr>
            <a:r>
              <a:rPr lang="en-US" dirty="0" err="1"/>
              <a:t>Allocs</a:t>
            </a:r>
            <a:r>
              <a:rPr lang="en-US" dirty="0"/>
              <a:t> can be used to set aside resources for future task executions, to retain resources between stopping a task and starting it again;</a:t>
            </a:r>
          </a:p>
          <a:p>
            <a:pPr marL="0" indent="0">
              <a:buNone/>
            </a:pPr>
            <a:r>
              <a:rPr lang="en-US" dirty="0"/>
              <a:t>An </a:t>
            </a:r>
            <a:r>
              <a:rPr lang="en-US" i="1" dirty="0" err="1"/>
              <a:t>alloc</a:t>
            </a:r>
            <a:r>
              <a:rPr lang="en-US" i="1" dirty="0"/>
              <a:t> </a:t>
            </a:r>
            <a:r>
              <a:rPr lang="en-US" b="1" i="1" dirty="0"/>
              <a:t>set</a:t>
            </a:r>
            <a:r>
              <a:rPr lang="en-US" i="1" dirty="0"/>
              <a:t> </a:t>
            </a:r>
            <a:r>
              <a:rPr lang="en-US" dirty="0"/>
              <a:t>is like a job: it is a group of </a:t>
            </a:r>
            <a:r>
              <a:rPr lang="en-US" dirty="0" err="1"/>
              <a:t>allocs</a:t>
            </a:r>
            <a:r>
              <a:rPr lang="en-US" dirty="0"/>
              <a:t> that reserve resources on multiple machines. </a:t>
            </a:r>
          </a:p>
          <a:p>
            <a:pPr marL="0" indent="0">
              <a:buNone/>
            </a:pPr>
            <a:r>
              <a:rPr lang="en-US" dirty="0"/>
              <a:t>Once an </a:t>
            </a:r>
            <a:r>
              <a:rPr lang="en-US" dirty="0" err="1"/>
              <a:t>alloc</a:t>
            </a:r>
            <a:r>
              <a:rPr lang="en-US" dirty="0"/>
              <a:t> set has been created, one or more jobs can be submitted to run in it. </a:t>
            </a:r>
          </a:p>
          <a:p>
            <a:r>
              <a:rPr lang="en-US" dirty="0"/>
              <a:t>Consolidate tasks from different jobs onto the same machine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087619-D92E-6641-BD1F-AC6A22AB7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3756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C68B1-5039-304B-A599-7D3E85D5A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9184"/>
            <a:ext cx="10515600" cy="707771"/>
          </a:xfrm>
        </p:spPr>
        <p:txBody>
          <a:bodyPr/>
          <a:lstStyle/>
          <a:p>
            <a:r>
              <a:rPr lang="en-US" dirty="0"/>
              <a:t>Naming and Monitoring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A78B0-C8D3-894B-8545-64CE31CCCF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224" y="1825625"/>
            <a:ext cx="11085576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 service’s clients and other systems need to be able to find tasks, even after they are relocated to a new machine. </a:t>
            </a:r>
          </a:p>
          <a:p>
            <a:r>
              <a:rPr lang="en-US" b="1" dirty="0"/>
              <a:t>Task Name</a:t>
            </a:r>
            <a:r>
              <a:rPr lang="en-US" dirty="0"/>
              <a:t>: Borg creates a stable “Borg name service” (BNS) name for each task that includes the cell name, job name, and task number. </a:t>
            </a:r>
          </a:p>
          <a:p>
            <a:r>
              <a:rPr lang="en-US" dirty="0"/>
              <a:t>Borg writes the </a:t>
            </a:r>
            <a:r>
              <a:rPr lang="en-US" b="1" dirty="0"/>
              <a:t>task’s hostname and port </a:t>
            </a:r>
            <a:r>
              <a:rPr lang="en-US" dirty="0"/>
              <a:t>into a consistent, highly-available file </a:t>
            </a:r>
          </a:p>
          <a:p>
            <a:pPr lvl="1"/>
            <a:r>
              <a:rPr lang="en-US" dirty="0"/>
              <a:t>Used by RPC system to find the task endpoint </a:t>
            </a:r>
          </a:p>
          <a:p>
            <a:r>
              <a:rPr lang="en-US" dirty="0"/>
              <a:t>E.g., 50</a:t>
            </a:r>
            <a:r>
              <a:rPr lang="en-US" baseline="30000" dirty="0"/>
              <a:t>th</a:t>
            </a:r>
            <a:r>
              <a:rPr lang="en-US" dirty="0"/>
              <a:t>  task in job </a:t>
            </a:r>
            <a:r>
              <a:rPr lang="en-US" dirty="0" err="1"/>
              <a:t>jfoo</a:t>
            </a:r>
            <a:r>
              <a:rPr lang="en-US" dirty="0"/>
              <a:t> owned by user </a:t>
            </a:r>
            <a:r>
              <a:rPr lang="en-US" dirty="0" err="1"/>
              <a:t>ubar</a:t>
            </a:r>
            <a:r>
              <a:rPr lang="en-US" dirty="0"/>
              <a:t> in cell cc would be reachable via 50.jfoo.ubar.cc.borg.google.com. </a:t>
            </a:r>
          </a:p>
          <a:p>
            <a:r>
              <a:rPr lang="en-US" dirty="0"/>
              <a:t>Every task run under Borg contains a built-in HTTP server that publishes information about the health of the task and (1000s) of performance metrics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25F800-060F-C040-B5E5-FFC10F6D5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8695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>
            <a:extLst>
              <a:ext uri="{FF2B5EF4-FFF2-40B4-BE49-F238E27FC236}">
                <a16:creationId xmlns:a16="http://schemas.microsoft.com/office/drawing/2014/main" id="{5610699F-044A-694E-829D-9C9C9856B9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en-US" sz="4000"/>
              <a:t>The Algorithmic Guts of Scheduling</a:t>
            </a:r>
            <a:endParaRPr lang="en-US" altLang="en-US" sz="4000"/>
          </a:p>
        </p:txBody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F64B59B7-360E-244E-989A-737E44C145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>
              <a:lnSpc>
                <a:spcPct val="80000"/>
              </a:lnSpc>
              <a:buNone/>
            </a:pPr>
            <a:r>
              <a:rPr lang="en-AU" altLang="en-US" dirty="0"/>
              <a:t>Given a task, we need to choose a machine:</a:t>
            </a:r>
          </a:p>
          <a:p>
            <a:pPr marL="609600" indent="-609600">
              <a:lnSpc>
                <a:spcPct val="80000"/>
              </a:lnSpc>
              <a:buNone/>
            </a:pPr>
            <a:endParaRPr lang="en-AU" altLang="en-US" dirty="0"/>
          </a:p>
          <a:p>
            <a:pPr marL="609600" indent="-609600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AU" altLang="en-US" dirty="0"/>
              <a:t>Filter out the set of machines it can run on </a:t>
            </a:r>
          </a:p>
          <a:p>
            <a:pPr marL="609600" indent="-609600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AU" altLang="en-US" dirty="0"/>
              <a:t>Compute  score(</a:t>
            </a:r>
            <a:r>
              <a:rPr lang="en-AU" altLang="en-US" i="1" dirty="0" err="1"/>
              <a:t>i,j</a:t>
            </a:r>
            <a:r>
              <a:rPr lang="en-AU" altLang="en-US" dirty="0"/>
              <a:t>) on each remaining machine </a:t>
            </a:r>
            <a:r>
              <a:rPr lang="en-AU" altLang="en-US" i="1" dirty="0"/>
              <a:t>i (in that filtered set)</a:t>
            </a:r>
            <a:r>
              <a:rPr lang="en-AU" altLang="en-US" dirty="0"/>
              <a:t>, for  task </a:t>
            </a:r>
            <a:r>
              <a:rPr lang="en-AU" altLang="en-US" i="1" dirty="0"/>
              <a:t>j</a:t>
            </a:r>
            <a:r>
              <a:rPr lang="en-AU" altLang="en-US" dirty="0"/>
              <a:t>.</a:t>
            </a:r>
          </a:p>
          <a:p>
            <a:pPr marL="609600" indent="-609600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AU" altLang="en-US" dirty="0"/>
              <a:t>Assign task to lowest scoring machine.</a:t>
            </a:r>
          </a:p>
          <a:p>
            <a:pPr marL="609600" indent="-609600">
              <a:lnSpc>
                <a:spcPct val="80000"/>
              </a:lnSpc>
              <a:buNone/>
            </a:pPr>
            <a:endParaRPr lang="en-AU" altLang="en-US" dirty="0"/>
          </a:p>
          <a:p>
            <a:pPr marL="609600" indent="-609600">
              <a:lnSpc>
                <a:spcPct val="80000"/>
              </a:lnSpc>
            </a:pPr>
            <a:r>
              <a:rPr lang="en-AU" altLang="en-US" dirty="0"/>
              <a:t>The multidimensional nature of fitting a job on a machine makes the scoring problem challenging.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196363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>
            <a:extLst>
              <a:ext uri="{FF2B5EF4-FFF2-40B4-BE49-F238E27FC236}">
                <a16:creationId xmlns:a16="http://schemas.microsoft.com/office/drawing/2014/main" id="{055BA044-04ED-014D-9381-28902C2CB5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en-US"/>
              <a:t>Algorithms</a:t>
            </a:r>
            <a:endParaRPr lang="en-US" altLang="en-US"/>
          </a:p>
        </p:txBody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DC0B8A39-ACCD-8043-8523-52843BB43A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AU" altLang="en-US"/>
              <a:t>If we place task j on machine i , then</a:t>
            </a:r>
          </a:p>
          <a:p>
            <a:pPr>
              <a:buFont typeface="Wingdings" pitchFamily="2" charset="2"/>
              <a:buNone/>
            </a:pPr>
            <a:endParaRPr lang="en-AU" altLang="en-US"/>
          </a:p>
          <a:p>
            <a:r>
              <a:rPr lang="en-AU" altLang="en-US"/>
              <a:t>free_ram_pct(i) = </a:t>
            </a:r>
          </a:p>
          <a:p>
            <a:pPr>
              <a:buFont typeface="Wingdings" pitchFamily="2" charset="2"/>
              <a:buNone/>
            </a:pPr>
            <a:r>
              <a:rPr lang="en-AU" altLang="en-US"/>
              <a:t>	free ram on i  (after scheduling  j) / total ram on i</a:t>
            </a:r>
          </a:p>
          <a:p>
            <a:r>
              <a:rPr lang="en-AU" altLang="en-US"/>
              <a:t>free_cpu_pct(i) = </a:t>
            </a:r>
          </a:p>
          <a:p>
            <a:pPr>
              <a:buFont typeface="Wingdings" pitchFamily="2" charset="2"/>
              <a:buNone/>
            </a:pPr>
            <a:r>
              <a:rPr lang="en-AU" altLang="en-US"/>
              <a:t>	free cpu on i  (after scheduling j) / total cpu on i</a:t>
            </a:r>
          </a:p>
          <a:p>
            <a:r>
              <a:rPr lang="en-AU" altLang="en-US"/>
              <a:t>free_disk_pct(i) = </a:t>
            </a:r>
          </a:p>
          <a:p>
            <a:pPr>
              <a:buFont typeface="Wingdings" pitchFamily="2" charset="2"/>
              <a:buNone/>
            </a:pPr>
            <a:r>
              <a:rPr lang="en-AU" altLang="en-US"/>
              <a:t>	free disk on i  (after scheduling j) / total disk on i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716940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>
            <a:extLst>
              <a:ext uri="{FF2B5EF4-FFF2-40B4-BE49-F238E27FC236}">
                <a16:creationId xmlns:a16="http://schemas.microsoft.com/office/drawing/2014/main" id="{95748261-FD56-2147-8901-9E74865D6E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en-US"/>
              <a:t>Algorithms</a:t>
            </a:r>
            <a:endParaRPr lang="en-US" altLang="en-US"/>
          </a:p>
        </p:txBody>
      </p:sp>
      <p:sp>
        <p:nvSpPr>
          <p:cNvPr id="106499" name="Rectangle 3">
            <a:extLst>
              <a:ext uri="{FF2B5EF4-FFF2-40B4-BE49-F238E27FC236}">
                <a16:creationId xmlns:a16="http://schemas.microsoft.com/office/drawing/2014/main" id="{11CEC227-6DB8-B64F-96E1-8DDAFC3CBD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en-GB" altLang="en-US" sz="2000" b="1" dirty="0" err="1">
                <a:solidFill>
                  <a:schemeClr val="accent2"/>
                </a:solidFill>
              </a:rPr>
              <a:t>Bestfit</a:t>
            </a:r>
            <a:r>
              <a:rPr lang="en-GB" altLang="en-US" sz="2000" b="1" dirty="0">
                <a:solidFill>
                  <a:schemeClr val="accent2"/>
                </a:solidFill>
              </a:rPr>
              <a:t>:</a:t>
            </a:r>
            <a:r>
              <a:rPr lang="en-GB" altLang="en-US" sz="2000" dirty="0"/>
              <a:t>  Place job on machine with “smallest available hole”</a:t>
            </a:r>
          </a:p>
          <a:p>
            <a:pPr lvl="1">
              <a:lnSpc>
                <a:spcPct val="80000"/>
              </a:lnSpc>
            </a:pPr>
            <a:r>
              <a:rPr lang="en-GB" altLang="en-US" sz="1800" dirty="0"/>
              <a:t>V1: score(</a:t>
            </a:r>
            <a:r>
              <a:rPr lang="en-GB" altLang="en-US" sz="1800" dirty="0" err="1"/>
              <a:t>i,j</a:t>
            </a:r>
            <a:r>
              <a:rPr lang="en-GB" altLang="en-US" sz="1800" dirty="0"/>
              <a:t>) = </a:t>
            </a:r>
            <a:r>
              <a:rPr lang="en-GB" altLang="en-US" sz="1800" dirty="0" err="1"/>
              <a:t>free_ram_pct</a:t>
            </a:r>
            <a:r>
              <a:rPr lang="en-GB" altLang="en-US" sz="1800" dirty="0"/>
              <a:t>(</a:t>
            </a:r>
            <a:r>
              <a:rPr lang="en-GB" altLang="en-US" sz="1800" dirty="0" err="1"/>
              <a:t>i</a:t>
            </a:r>
            <a:r>
              <a:rPr lang="en-GB" altLang="en-US" sz="1800" dirty="0"/>
              <a:t>) + </a:t>
            </a:r>
            <a:r>
              <a:rPr lang="en-GB" altLang="en-US" sz="1800" dirty="0" err="1"/>
              <a:t>free_cpu_pct</a:t>
            </a:r>
            <a:r>
              <a:rPr lang="en-GB" altLang="en-US" sz="1800" dirty="0"/>
              <a:t>(</a:t>
            </a:r>
            <a:r>
              <a:rPr lang="en-GB" altLang="en-US" sz="1800" dirty="0" err="1"/>
              <a:t>i</a:t>
            </a:r>
            <a:r>
              <a:rPr lang="en-GB" altLang="en-US" sz="1800" dirty="0"/>
              <a:t>)</a:t>
            </a:r>
          </a:p>
          <a:p>
            <a:pPr lvl="1">
              <a:lnSpc>
                <a:spcPct val="80000"/>
              </a:lnSpc>
            </a:pPr>
            <a:r>
              <a:rPr lang="en-GB" altLang="en-US" sz="1800" dirty="0"/>
              <a:t>V2: score(</a:t>
            </a:r>
            <a:r>
              <a:rPr lang="en-GB" altLang="en-US" sz="1800" dirty="0" err="1"/>
              <a:t>i,j</a:t>
            </a:r>
            <a:r>
              <a:rPr lang="en-GB" altLang="en-US" sz="1800" dirty="0"/>
              <a:t>) = </a:t>
            </a:r>
            <a:r>
              <a:rPr lang="en-GB" altLang="en-US" sz="1800" dirty="0" err="1"/>
              <a:t>free_ram_pct</a:t>
            </a:r>
            <a:r>
              <a:rPr lang="en-GB" altLang="en-US" sz="1800" dirty="0"/>
              <a:t>(</a:t>
            </a:r>
            <a:r>
              <a:rPr lang="en-GB" altLang="en-US" sz="1800" dirty="0" err="1"/>
              <a:t>i</a:t>
            </a:r>
            <a:r>
              <a:rPr lang="en-GB" altLang="en-US" sz="1800" dirty="0"/>
              <a:t>)</a:t>
            </a:r>
            <a:r>
              <a:rPr lang="en-GB" altLang="en-US" sz="1800" baseline="30000" dirty="0"/>
              <a:t>2</a:t>
            </a:r>
            <a:r>
              <a:rPr lang="en-GB" altLang="en-US" sz="1800" dirty="0"/>
              <a:t> + </a:t>
            </a:r>
            <a:r>
              <a:rPr lang="en-GB" altLang="en-US" sz="1800" dirty="0" err="1"/>
              <a:t>free_cpu_pct</a:t>
            </a:r>
            <a:r>
              <a:rPr lang="en-GB" altLang="en-US" sz="1800" dirty="0"/>
              <a:t>(</a:t>
            </a:r>
            <a:r>
              <a:rPr lang="en-GB" altLang="en-US" sz="1800" dirty="0" err="1"/>
              <a:t>i</a:t>
            </a:r>
            <a:r>
              <a:rPr lang="en-GB" altLang="en-US" sz="1800" dirty="0"/>
              <a:t>)</a:t>
            </a:r>
            <a:r>
              <a:rPr lang="en-GB" altLang="en-US" sz="1800" baseline="30000" dirty="0"/>
              <a:t>2</a:t>
            </a:r>
          </a:p>
          <a:p>
            <a:pPr lvl="1">
              <a:lnSpc>
                <a:spcPct val="80000"/>
              </a:lnSpc>
            </a:pPr>
            <a:r>
              <a:rPr lang="en-GB" altLang="en-US" sz="1800" dirty="0"/>
              <a:t>V3: score(</a:t>
            </a:r>
            <a:r>
              <a:rPr lang="en-GB" altLang="en-US" sz="1800" dirty="0" err="1"/>
              <a:t>i,j</a:t>
            </a:r>
            <a:r>
              <a:rPr lang="en-GB" altLang="en-US" sz="1800" dirty="0"/>
              <a:t>) = 10 </a:t>
            </a:r>
            <a:r>
              <a:rPr lang="en-GB" altLang="en-US" sz="1800" baseline="30000" dirty="0" err="1"/>
              <a:t>free_ram_pct</a:t>
            </a:r>
            <a:r>
              <a:rPr lang="en-GB" altLang="en-US" sz="1800" baseline="30000" dirty="0"/>
              <a:t>(</a:t>
            </a:r>
            <a:r>
              <a:rPr lang="en-GB" altLang="en-US" sz="1800" baseline="30000" dirty="0" err="1"/>
              <a:t>i</a:t>
            </a:r>
            <a:r>
              <a:rPr lang="en-GB" altLang="en-US" sz="1800" baseline="30000" dirty="0"/>
              <a:t>)</a:t>
            </a:r>
            <a:r>
              <a:rPr lang="en-GB" altLang="en-US" sz="1800" dirty="0"/>
              <a:t> + 10 </a:t>
            </a:r>
            <a:r>
              <a:rPr lang="en-GB" altLang="en-US" sz="1800" baseline="30000" dirty="0" err="1"/>
              <a:t>free_cpu_pct</a:t>
            </a:r>
            <a:r>
              <a:rPr lang="en-GB" altLang="en-US" sz="1800" baseline="30000" dirty="0"/>
              <a:t>(</a:t>
            </a:r>
            <a:r>
              <a:rPr lang="en-GB" altLang="en-US" sz="1800" baseline="30000" dirty="0" err="1"/>
              <a:t>i</a:t>
            </a:r>
            <a:r>
              <a:rPr lang="en-GB" altLang="en-US" sz="1800" baseline="30000" dirty="0"/>
              <a:t>) </a:t>
            </a:r>
          </a:p>
          <a:p>
            <a:pPr lvl="1">
              <a:lnSpc>
                <a:spcPct val="80000"/>
              </a:lnSpc>
            </a:pPr>
            <a:r>
              <a:rPr lang="en-GB" altLang="en-US" sz="1800" dirty="0"/>
              <a:t>V4: score(</a:t>
            </a:r>
            <a:r>
              <a:rPr lang="en-GB" altLang="en-US" sz="1800" dirty="0" err="1"/>
              <a:t>i,j</a:t>
            </a:r>
            <a:r>
              <a:rPr lang="en-GB" altLang="en-US" sz="1800" dirty="0"/>
              <a:t>) = 10 </a:t>
            </a:r>
            <a:r>
              <a:rPr lang="en-GB" altLang="en-US" sz="1800" baseline="30000" dirty="0" err="1"/>
              <a:t>free_ram_pct</a:t>
            </a:r>
            <a:r>
              <a:rPr lang="en-GB" altLang="en-US" sz="1800" baseline="30000" dirty="0"/>
              <a:t>(</a:t>
            </a:r>
            <a:r>
              <a:rPr lang="en-GB" altLang="en-US" sz="1800" baseline="30000" dirty="0" err="1"/>
              <a:t>i</a:t>
            </a:r>
            <a:r>
              <a:rPr lang="en-GB" altLang="en-US" sz="1800" baseline="30000" dirty="0"/>
              <a:t>)</a:t>
            </a:r>
            <a:r>
              <a:rPr lang="en-GB" altLang="en-US" sz="1800" dirty="0"/>
              <a:t> + 10 </a:t>
            </a:r>
            <a:r>
              <a:rPr lang="en-GB" altLang="en-US" sz="1800" baseline="30000" dirty="0" err="1"/>
              <a:t>free_cpu_pct</a:t>
            </a:r>
            <a:r>
              <a:rPr lang="en-GB" altLang="en-US" sz="1800" baseline="30000" dirty="0"/>
              <a:t>(</a:t>
            </a:r>
            <a:r>
              <a:rPr lang="en-GB" altLang="en-US" sz="1800" baseline="30000" dirty="0" err="1"/>
              <a:t>i</a:t>
            </a:r>
            <a:r>
              <a:rPr lang="en-GB" altLang="en-US" sz="1800" baseline="30000" dirty="0"/>
              <a:t>) </a:t>
            </a:r>
            <a:r>
              <a:rPr lang="en-GB" altLang="en-US" sz="1800" dirty="0"/>
              <a:t>+ 10 </a:t>
            </a:r>
            <a:r>
              <a:rPr lang="en-GB" altLang="en-US" sz="1800" baseline="30000" dirty="0" err="1"/>
              <a:t>free_disk_pct</a:t>
            </a:r>
            <a:r>
              <a:rPr lang="en-GB" altLang="en-US" sz="1800" baseline="30000" dirty="0"/>
              <a:t>(</a:t>
            </a:r>
            <a:r>
              <a:rPr lang="en-GB" altLang="en-US" sz="1800" baseline="30000" dirty="0" err="1"/>
              <a:t>i</a:t>
            </a:r>
            <a:r>
              <a:rPr lang="en-GB" altLang="en-US" sz="1800" baseline="30000" dirty="0"/>
              <a:t>) </a:t>
            </a:r>
          </a:p>
          <a:p>
            <a:pPr lvl="1">
              <a:lnSpc>
                <a:spcPct val="80000"/>
              </a:lnSpc>
            </a:pPr>
            <a:r>
              <a:rPr lang="en-GB" altLang="en-US" sz="1800" dirty="0"/>
              <a:t>V5: score(</a:t>
            </a:r>
            <a:r>
              <a:rPr lang="en-GB" altLang="en-US" sz="1800" dirty="0" err="1"/>
              <a:t>i,j</a:t>
            </a:r>
            <a:r>
              <a:rPr lang="en-GB" altLang="en-US" sz="1800" dirty="0"/>
              <a:t>) = max(</a:t>
            </a:r>
            <a:r>
              <a:rPr lang="en-GB" altLang="en-US" sz="1800" dirty="0" err="1"/>
              <a:t>free_ram_pct</a:t>
            </a:r>
            <a:r>
              <a:rPr lang="en-GB" altLang="en-US" sz="1800" dirty="0"/>
              <a:t>(</a:t>
            </a:r>
            <a:r>
              <a:rPr lang="en-GB" altLang="en-US" sz="1800" dirty="0" err="1"/>
              <a:t>i</a:t>
            </a:r>
            <a:r>
              <a:rPr lang="en-GB" altLang="en-US" sz="1800" dirty="0"/>
              <a:t>), </a:t>
            </a:r>
            <a:r>
              <a:rPr lang="en-GB" altLang="en-US" sz="1800" dirty="0" err="1"/>
              <a:t>free_cpu_pct</a:t>
            </a:r>
            <a:r>
              <a:rPr lang="en-GB" altLang="en-US" sz="1800" dirty="0"/>
              <a:t>(</a:t>
            </a:r>
            <a:r>
              <a:rPr lang="en-GB" altLang="en-US" sz="1800" dirty="0" err="1"/>
              <a:t>i</a:t>
            </a:r>
            <a:r>
              <a:rPr lang="en-GB" altLang="en-US" sz="1800" dirty="0"/>
              <a:t>))</a:t>
            </a:r>
          </a:p>
          <a:p>
            <a:pPr>
              <a:lnSpc>
                <a:spcPct val="80000"/>
              </a:lnSpc>
            </a:pPr>
            <a:r>
              <a:rPr lang="en-GB" altLang="en-US" sz="2200" b="1" dirty="0" err="1">
                <a:solidFill>
                  <a:schemeClr val="accent2"/>
                </a:solidFill>
              </a:rPr>
              <a:t>Firstfit</a:t>
            </a:r>
            <a:r>
              <a:rPr lang="en-GB" altLang="en-US" sz="2000" dirty="0"/>
              <a:t>: Place job on first machine with a large enough hole</a:t>
            </a:r>
          </a:p>
          <a:p>
            <a:pPr lvl="1">
              <a:lnSpc>
                <a:spcPct val="80000"/>
              </a:lnSpc>
            </a:pPr>
            <a:r>
              <a:rPr lang="en-GB" altLang="en-US" sz="1800" dirty="0"/>
              <a:t>V1: score(</a:t>
            </a:r>
            <a:r>
              <a:rPr lang="en-GB" altLang="en-US" sz="1800" dirty="0" err="1"/>
              <a:t>i,j</a:t>
            </a:r>
            <a:r>
              <a:rPr lang="en-GB" altLang="en-US" sz="1800" dirty="0"/>
              <a:t>) = </a:t>
            </a:r>
            <a:r>
              <a:rPr lang="en-GB" altLang="en-US" sz="1800" dirty="0" err="1"/>
              <a:t>machine_uid</a:t>
            </a:r>
            <a:endParaRPr lang="en-GB" altLang="en-US" sz="1800" dirty="0"/>
          </a:p>
          <a:p>
            <a:pPr lvl="1">
              <a:lnSpc>
                <a:spcPct val="80000"/>
              </a:lnSpc>
            </a:pPr>
            <a:r>
              <a:rPr lang="en-GB" altLang="en-US" sz="1800" dirty="0"/>
              <a:t>V2: score(</a:t>
            </a:r>
            <a:r>
              <a:rPr lang="en-GB" altLang="en-US" sz="1800" dirty="0" err="1"/>
              <a:t>i,j</a:t>
            </a:r>
            <a:r>
              <a:rPr lang="en-GB" altLang="en-US" sz="1800" dirty="0"/>
              <a:t>) = random(</a:t>
            </a:r>
            <a:r>
              <a:rPr lang="en-GB" altLang="en-US" sz="1800" dirty="0" err="1"/>
              <a:t>i</a:t>
            </a:r>
            <a:r>
              <a:rPr lang="en-GB" altLang="en-US" sz="1800" dirty="0"/>
              <a:t>)  (chosen once, independent of j)</a:t>
            </a:r>
          </a:p>
          <a:p>
            <a:pPr>
              <a:lnSpc>
                <a:spcPct val="80000"/>
              </a:lnSpc>
            </a:pPr>
            <a:r>
              <a:rPr lang="en-GB" altLang="en-US" sz="2000" b="1" dirty="0">
                <a:solidFill>
                  <a:schemeClr val="accent2"/>
                </a:solidFill>
              </a:rPr>
              <a:t>Sum-Of-Squares</a:t>
            </a:r>
            <a:r>
              <a:rPr lang="en-GB" altLang="en-US" sz="2000" dirty="0"/>
              <a:t>: tries to create a diverse set of free machines</a:t>
            </a:r>
          </a:p>
          <a:p>
            <a:pPr>
              <a:lnSpc>
                <a:spcPct val="80000"/>
              </a:lnSpc>
            </a:pPr>
            <a:r>
              <a:rPr lang="en-GB" altLang="en-US" sz="2000" b="1" dirty="0">
                <a:solidFill>
                  <a:schemeClr val="accent2"/>
                </a:solidFill>
              </a:rPr>
              <a:t>Worst Fit  (EPVM)</a:t>
            </a:r>
            <a:r>
              <a:rPr lang="en-GB" altLang="en-US" sz="2000" dirty="0"/>
              <a:t>: score(</a:t>
            </a:r>
            <a:r>
              <a:rPr lang="en-GB" altLang="en-US" sz="2000" dirty="0" err="1"/>
              <a:t>i,j</a:t>
            </a:r>
            <a:r>
              <a:rPr lang="en-GB" altLang="en-US" sz="2000" dirty="0"/>
              <a:t>) = </a:t>
            </a:r>
          </a:p>
          <a:p>
            <a:pPr lvl="1">
              <a:lnSpc>
                <a:spcPct val="80000"/>
              </a:lnSpc>
            </a:pPr>
            <a:r>
              <a:rPr lang="en-GB" altLang="en-US" sz="1800" dirty="0"/>
              <a:t>- (10 </a:t>
            </a:r>
            <a:r>
              <a:rPr lang="en-GB" altLang="en-US" sz="1800" baseline="30000" dirty="0" err="1"/>
              <a:t>free_ram_pct</a:t>
            </a:r>
            <a:r>
              <a:rPr lang="en-GB" altLang="en-US" sz="1800" baseline="30000" dirty="0"/>
              <a:t>(</a:t>
            </a:r>
            <a:r>
              <a:rPr lang="en-GB" altLang="en-US" sz="1800" baseline="30000" dirty="0" err="1"/>
              <a:t>i</a:t>
            </a:r>
            <a:r>
              <a:rPr lang="en-GB" altLang="en-US" sz="1800" baseline="30000" dirty="0"/>
              <a:t>)</a:t>
            </a:r>
            <a:r>
              <a:rPr lang="en-GB" altLang="en-US" sz="1800" dirty="0"/>
              <a:t> + 10 </a:t>
            </a:r>
            <a:r>
              <a:rPr lang="en-GB" altLang="en-US" sz="1800" baseline="30000" dirty="0" err="1"/>
              <a:t>free_cpu_pct</a:t>
            </a:r>
            <a:r>
              <a:rPr lang="en-GB" altLang="en-US" sz="1800" baseline="30000" dirty="0"/>
              <a:t>(</a:t>
            </a:r>
            <a:r>
              <a:rPr lang="en-GB" altLang="en-US" sz="1800" baseline="30000" dirty="0" err="1"/>
              <a:t>i</a:t>
            </a:r>
            <a:r>
              <a:rPr lang="en-GB" altLang="en-US" sz="1800" baseline="30000" dirty="0"/>
              <a:t>) </a:t>
            </a:r>
            <a:r>
              <a:rPr lang="en-GB" altLang="en-US" sz="1800" dirty="0"/>
              <a:t>+ 10 </a:t>
            </a:r>
            <a:r>
              <a:rPr lang="en-GB" altLang="en-US" sz="1800" baseline="30000" dirty="0" err="1"/>
              <a:t>free_disk_pct</a:t>
            </a:r>
            <a:r>
              <a:rPr lang="en-GB" altLang="en-US" sz="1800" baseline="30000" dirty="0"/>
              <a:t>(</a:t>
            </a:r>
            <a:r>
              <a:rPr lang="en-GB" altLang="en-US" sz="1800" baseline="30000" dirty="0" err="1"/>
              <a:t>i</a:t>
            </a:r>
            <a:r>
              <a:rPr lang="en-GB" altLang="en-US" sz="1800" baseline="30000" dirty="0"/>
              <a:t>) </a:t>
            </a:r>
            <a:r>
              <a:rPr lang="en-GB" altLang="en-US" sz="1800" dirty="0"/>
              <a:t>)</a:t>
            </a:r>
          </a:p>
          <a:p>
            <a:pPr>
              <a:lnSpc>
                <a:spcPct val="80000"/>
              </a:lnSpc>
            </a:pPr>
            <a:endParaRPr lang="en-GB" altLang="en-US" sz="2000" dirty="0"/>
          </a:p>
          <a:p>
            <a:pPr>
              <a:lnSpc>
                <a:spcPct val="80000"/>
              </a:lnSpc>
            </a:pPr>
            <a:r>
              <a:rPr lang="en-GB" altLang="en-US" sz="2000" b="1" dirty="0">
                <a:solidFill>
                  <a:schemeClr val="accent2"/>
                </a:solidFill>
              </a:rPr>
              <a:t>Random</a:t>
            </a:r>
            <a:r>
              <a:rPr lang="en-GB" altLang="en-US" sz="2000" dirty="0"/>
              <a:t>: Random placement</a:t>
            </a:r>
          </a:p>
          <a:p>
            <a:pPr>
              <a:lnSpc>
                <a:spcPct val="90000"/>
              </a:lnSpc>
            </a:pP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5501638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9921"/>
            <a:ext cx="10515600" cy="843775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Availability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757" y="1825625"/>
            <a:ext cx="4657300" cy="4895850"/>
          </a:xfrm>
        </p:spPr>
        <p:txBody>
          <a:bodyPr/>
          <a:lstStyle/>
          <a:p>
            <a:r>
              <a:rPr lang="en-US" dirty="0"/>
              <a:t>System: resilience</a:t>
            </a:r>
          </a:p>
          <a:p>
            <a:pPr lvl="1"/>
            <a:r>
              <a:rPr lang="en-US" dirty="0" err="1"/>
              <a:t>Borgmaster</a:t>
            </a:r>
            <a:r>
              <a:rPr lang="en-US" dirty="0"/>
              <a:t>: Five replicas</a:t>
            </a:r>
          </a:p>
          <a:p>
            <a:pPr lvl="1"/>
            <a:r>
              <a:rPr lang="en-US" dirty="0" err="1"/>
              <a:t>Borglet</a:t>
            </a:r>
            <a:r>
              <a:rPr lang="en-US" dirty="0"/>
              <a:t>: </a:t>
            </a:r>
            <a:r>
              <a:rPr lang="en-US" dirty="0" err="1"/>
              <a:t>Borgmaster</a:t>
            </a:r>
            <a:r>
              <a:rPr lang="en-US" dirty="0"/>
              <a:t> keep-alive</a:t>
            </a:r>
          </a:p>
          <a:p>
            <a:pPr lvl="1"/>
            <a:r>
              <a:rPr lang="en-US" dirty="0"/>
              <a:t>Take checkpoint</a:t>
            </a:r>
          </a:p>
          <a:p>
            <a:r>
              <a:rPr lang="en-US" dirty="0"/>
              <a:t>Job</a:t>
            </a:r>
          </a:p>
          <a:p>
            <a:pPr lvl="1"/>
            <a:r>
              <a:rPr lang="en-US" dirty="0"/>
              <a:t>Reschedules evicted tasks (Linux process group) </a:t>
            </a:r>
          </a:p>
          <a:p>
            <a:pPr lvl="1"/>
            <a:r>
              <a:rPr lang="en-US" sz="2000" dirty="0"/>
              <a:t>Spreading tasks across failure domain</a:t>
            </a:r>
          </a:p>
          <a:p>
            <a:r>
              <a:rPr lang="is-IS" sz="2400" dirty="0"/>
              <a:t>Doesn‘t quite get to 10K jobs…</a:t>
            </a:r>
          </a:p>
          <a:p>
            <a:r>
              <a:rPr lang="is-IS" sz="2400" dirty="0"/>
              <a:t>Design focus in large systems: around failures; upgrades</a:t>
            </a: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19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2747" y="843950"/>
            <a:ext cx="8718563" cy="172385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7296" y="3198876"/>
            <a:ext cx="6042518" cy="28672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8898F73-8F39-5F42-B999-059B1AC10C86}"/>
              </a:ext>
            </a:extLst>
          </p:cNvPr>
          <p:cNvSpPr txBox="1"/>
          <p:nvPr/>
        </p:nvSpPr>
        <p:spPr>
          <a:xfrm>
            <a:off x="10689770" y="3616830"/>
            <a:ext cx="149008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2.5 mins to start</a:t>
            </a:r>
          </a:p>
          <a:p>
            <a:r>
              <a:rPr lang="en-US" dirty="0"/>
              <a:t>10K – bottlenecked</a:t>
            </a:r>
          </a:p>
          <a:p>
            <a:r>
              <a:rPr lang="en-US" dirty="0"/>
              <a:t>at the storage server</a:t>
            </a:r>
          </a:p>
          <a:p>
            <a:r>
              <a:rPr lang="en-US" dirty="0"/>
              <a:t>20 GB/s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8DD7DD-C8C0-A540-BC5F-6A130ED58537}"/>
              </a:ext>
            </a:extLst>
          </p:cNvPr>
          <p:cNvSpPr txBox="1"/>
          <p:nvPr/>
        </p:nvSpPr>
        <p:spPr>
          <a:xfrm>
            <a:off x="307658" y="852637"/>
            <a:ext cx="35556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Production jobs: </a:t>
            </a:r>
            <a:r>
              <a:rPr lang="en-US" dirty="0" err="1"/>
              <a:t>gmail</a:t>
            </a:r>
            <a:endParaRPr lang="en-US" dirty="0"/>
          </a:p>
          <a:p>
            <a:r>
              <a:rPr lang="en-US" dirty="0"/>
              <a:t>Non-prod: Map-Reduce – can</a:t>
            </a:r>
          </a:p>
          <a:p>
            <a:r>
              <a:rPr lang="en-US" dirty="0"/>
              <a:t>be pre-empted</a:t>
            </a:r>
          </a:p>
        </p:txBody>
      </p:sp>
    </p:spTree>
    <p:extLst>
      <p:ext uri="{BB962C8B-B14F-4D97-AF65-F5344CB8AC3E}">
        <p14:creationId xmlns:p14="http://schemas.microsoft.com/office/powerpoint/2010/main" val="6821056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925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Utilization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80933"/>
            <a:ext cx="10515600" cy="1643934"/>
          </a:xfrm>
        </p:spPr>
        <p:txBody>
          <a:bodyPr>
            <a:normAutofit/>
          </a:bodyPr>
          <a:lstStyle/>
          <a:p>
            <a:r>
              <a:rPr lang="en-US" dirty="0"/>
              <a:t>Cell Sharing</a:t>
            </a:r>
          </a:p>
          <a:p>
            <a:pPr lvl="1"/>
            <a:r>
              <a:rPr lang="en-US" dirty="0"/>
              <a:t>Segregating prod and non-prod work into different cells would need more machines </a:t>
            </a:r>
          </a:p>
          <a:p>
            <a:pPr lvl="1"/>
            <a:r>
              <a:rPr lang="en-US" dirty="0"/>
              <a:t>50% of the cells see less than 30% additional overhead.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20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725" y="2323475"/>
            <a:ext cx="10705475" cy="403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4193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9098"/>
          </a:xfrm>
        </p:spPr>
        <p:txBody>
          <a:bodyPr/>
          <a:lstStyle/>
          <a:p>
            <a:pPr algn="ctr"/>
            <a:r>
              <a:rPr lang="en-US" dirty="0"/>
              <a:t>Utilization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20942"/>
            <a:ext cx="10515600" cy="1187543"/>
          </a:xfrm>
        </p:spPr>
        <p:txBody>
          <a:bodyPr>
            <a:normAutofit/>
          </a:bodyPr>
          <a:lstStyle/>
          <a:p>
            <a:r>
              <a:rPr lang="en-US" dirty="0"/>
              <a:t>Cell Size</a:t>
            </a:r>
          </a:p>
          <a:p>
            <a:pPr lvl="1"/>
            <a:r>
              <a:rPr lang="en-US" dirty="0"/>
              <a:t>Subdividing cells into smaller ones would require more machines </a:t>
            </a:r>
          </a:p>
          <a:p>
            <a:pPr lvl="1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21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308485"/>
            <a:ext cx="9841832" cy="4047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5548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4937"/>
            <a:ext cx="10515600" cy="929365"/>
          </a:xfrm>
        </p:spPr>
        <p:txBody>
          <a:bodyPr/>
          <a:lstStyle/>
          <a:p>
            <a:pPr algn="ctr"/>
            <a:r>
              <a:rPr lang="en-US" dirty="0"/>
              <a:t>Utilization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7198" y="779188"/>
            <a:ext cx="10515600" cy="709028"/>
          </a:xfrm>
        </p:spPr>
        <p:txBody>
          <a:bodyPr/>
          <a:lstStyle/>
          <a:p>
            <a:r>
              <a:rPr lang="en-US" dirty="0"/>
              <a:t>Fine-grained resource requests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22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005" y="1853341"/>
            <a:ext cx="5324993" cy="400004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7339" y="1847816"/>
            <a:ext cx="5329953" cy="400004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7029" y="1576342"/>
            <a:ext cx="5965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No bucket sizes fit most of the tasks well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7339" y="1576342"/>
            <a:ext cx="6274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Bucketing resource would need more machines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C65BFB-D6F7-8B4E-9FAC-88D31F935BAF}"/>
              </a:ext>
            </a:extLst>
          </p:cNvPr>
          <p:cNvSpPr txBox="1"/>
          <p:nvPr/>
        </p:nvSpPr>
        <p:spPr>
          <a:xfrm>
            <a:off x="0" y="5657671"/>
            <a:ext cx="660161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 bucket sizes fit most of the tasks well. </a:t>
            </a:r>
          </a:p>
          <a:p>
            <a:r>
              <a:rPr lang="en-US" i="1" dirty="0"/>
              <a:t>CDF of requested CPU and memory requests across our sample cells. </a:t>
            </a:r>
          </a:p>
          <a:p>
            <a:r>
              <a:rPr lang="en-US" i="1" dirty="0"/>
              <a:t>No one value stands out, although a few integer CPU core </a:t>
            </a:r>
          </a:p>
          <a:p>
            <a:r>
              <a:rPr lang="en-US" i="1" dirty="0"/>
              <a:t>sizes are somewhat more popular.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33503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754" y="0"/>
            <a:ext cx="11617376" cy="1325563"/>
          </a:xfrm>
        </p:spPr>
        <p:txBody>
          <a:bodyPr/>
          <a:lstStyle/>
          <a:p>
            <a:r>
              <a:rPr lang="en-US" dirty="0"/>
              <a:t>Utilization – Efficient use of resources in Data Center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754" y="1364106"/>
            <a:ext cx="4734411" cy="5357370"/>
          </a:xfrm>
        </p:spPr>
        <p:txBody>
          <a:bodyPr>
            <a:normAutofit fontScale="92500"/>
          </a:bodyPr>
          <a:lstStyle/>
          <a:p>
            <a:r>
              <a:rPr lang="en-US" dirty="0"/>
              <a:t>Resource reclamation</a:t>
            </a:r>
          </a:p>
          <a:p>
            <a:pPr lvl="1"/>
            <a:r>
              <a:rPr lang="en-US" dirty="0"/>
              <a:t>estimate how many resources a task will use and reclaim the rest for allocation to new tasks</a:t>
            </a:r>
          </a:p>
          <a:p>
            <a:pPr lvl="1"/>
            <a:r>
              <a:rPr lang="en-US" dirty="0"/>
              <a:t> </a:t>
            </a:r>
          </a:p>
          <a:p>
            <a:pPr lvl="1"/>
            <a:r>
              <a:rPr lang="en-US" dirty="0"/>
              <a:t>Kill non-prod jobs if no resources are available (pre-emption)</a:t>
            </a:r>
          </a:p>
          <a:p>
            <a:r>
              <a:rPr lang="en-US" dirty="0"/>
              <a:t>Need to be concerned about one resource (CPU) being available, but not another (memory): stranded resources.</a:t>
            </a:r>
          </a:p>
          <a:p>
            <a:r>
              <a:rPr lang="en-US" dirty="0"/>
              <a:t>5 different dimensions to worry about (I/O, network etc.)</a:t>
            </a:r>
          </a:p>
          <a:p>
            <a:pPr lvl="1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23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9165" y="1690688"/>
            <a:ext cx="7002870" cy="4367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7115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10112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Utilization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2176" y="815599"/>
            <a:ext cx="10515600" cy="976625"/>
          </a:xfrm>
        </p:spPr>
        <p:txBody>
          <a:bodyPr>
            <a:normAutofit/>
          </a:bodyPr>
          <a:lstStyle/>
          <a:p>
            <a:r>
              <a:rPr lang="en-US" dirty="0"/>
              <a:t>Resource reclamation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24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545" y="3656552"/>
            <a:ext cx="10414291" cy="29411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B33BFC4-31B8-F545-8823-EC3009CB02ED}"/>
              </a:ext>
            </a:extLst>
          </p:cNvPr>
          <p:cNvSpPr txBox="1"/>
          <p:nvPr/>
        </p:nvSpPr>
        <p:spPr>
          <a:xfrm>
            <a:off x="122601" y="1542023"/>
            <a:ext cx="1174417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More aggressive resource estimation can reclaim more resources, with little effect on out-of-memory events (OOMs). </a:t>
            </a:r>
          </a:p>
          <a:p>
            <a:r>
              <a:rPr lang="en-US" i="1" dirty="0"/>
              <a:t>A timeline (starting on 2013-11-11) for one production cell of usage, reservation and limit averaged over 5-minute windows </a:t>
            </a:r>
          </a:p>
          <a:p>
            <a:r>
              <a:rPr lang="en-US" i="1" dirty="0"/>
              <a:t>and cumulative out-of- memory events; the slope of the latter is the aggregate rate of OOMs.</a:t>
            </a:r>
          </a:p>
          <a:p>
            <a:r>
              <a:rPr lang="en-US" i="1" dirty="0"/>
              <a:t> Vertical bars separate weeks with different resource estimation settings. </a:t>
            </a: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Choose medium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21773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Isolation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Security isolation</a:t>
            </a:r>
          </a:p>
          <a:p>
            <a:pPr lvl="1"/>
            <a:r>
              <a:rPr lang="en-US" dirty="0" err="1"/>
              <a:t>chroot</a:t>
            </a:r>
            <a:r>
              <a:rPr lang="en-US" dirty="0"/>
              <a:t> jail as the primary security isolation mechanism </a:t>
            </a:r>
          </a:p>
          <a:p>
            <a:pPr lvl="1"/>
            <a:endParaRPr lang="en-US" dirty="0"/>
          </a:p>
          <a:p>
            <a:r>
              <a:rPr lang="en-US" dirty="0"/>
              <a:t>Performance isolation </a:t>
            </a:r>
          </a:p>
          <a:p>
            <a:pPr lvl="1"/>
            <a:r>
              <a:rPr lang="en-US" dirty="0"/>
              <a:t>High-priority LV task(prod) get best treatment </a:t>
            </a:r>
          </a:p>
          <a:p>
            <a:pPr lvl="1"/>
            <a:r>
              <a:rPr lang="en-US" dirty="0"/>
              <a:t>compressible resources: reclaimed</a:t>
            </a:r>
          </a:p>
          <a:p>
            <a:pPr lvl="1"/>
            <a:r>
              <a:rPr lang="en-US" dirty="0"/>
              <a:t>non-compressible resources: kill or remove task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7861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Bad</a:t>
            </a:r>
          </a:p>
          <a:p>
            <a:pPr lvl="1"/>
            <a:r>
              <a:rPr lang="en-US" dirty="0"/>
              <a:t>Jobs are restrictive as the only grouping mechanism for tasks </a:t>
            </a:r>
          </a:p>
          <a:p>
            <a:pPr lvl="1"/>
            <a:r>
              <a:rPr lang="en-US" dirty="0"/>
              <a:t>One IP address per machine complicates things</a:t>
            </a:r>
          </a:p>
          <a:p>
            <a:pPr lvl="1"/>
            <a:r>
              <a:rPr lang="en-US" dirty="0"/>
              <a:t>Optimizing for power users at the expense of casual ones </a:t>
            </a:r>
          </a:p>
          <a:p>
            <a:r>
              <a:rPr lang="en-US" dirty="0"/>
              <a:t>Good</a:t>
            </a:r>
          </a:p>
          <a:p>
            <a:pPr lvl="1"/>
            <a:r>
              <a:rPr lang="en-US" dirty="0" err="1"/>
              <a:t>Allocs</a:t>
            </a:r>
            <a:r>
              <a:rPr lang="en-US" dirty="0"/>
              <a:t> are useful</a:t>
            </a:r>
          </a:p>
          <a:p>
            <a:pPr lvl="1"/>
            <a:r>
              <a:rPr lang="en-US" dirty="0"/>
              <a:t>Cluster management is more than task management </a:t>
            </a:r>
          </a:p>
          <a:p>
            <a:pPr lvl="1"/>
            <a:r>
              <a:rPr lang="en-US" dirty="0"/>
              <a:t>Introspection is vital</a:t>
            </a:r>
          </a:p>
          <a:p>
            <a:pPr lvl="1"/>
            <a:r>
              <a:rPr lang="en-US" dirty="0"/>
              <a:t>The master is the kernel of a distributed system </a:t>
            </a:r>
          </a:p>
          <a:p>
            <a:pPr lvl="1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9179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 (now present)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hlinkClick r:id="rId2"/>
              </a:rPr>
              <a:t>Kubernetes</a:t>
            </a:r>
            <a:endParaRPr lang="en-US" dirty="0"/>
          </a:p>
          <a:p>
            <a:pPr lvl="1"/>
            <a:r>
              <a:rPr lang="en-US" dirty="0"/>
              <a:t>Evolved from Borg</a:t>
            </a:r>
          </a:p>
          <a:p>
            <a:pPr lvl="1"/>
            <a:r>
              <a:rPr lang="en-US" dirty="0"/>
              <a:t>An open-source system for automating deployment, operations, and scaling of containerized applications</a:t>
            </a:r>
          </a:p>
          <a:p>
            <a:pPr lvl="1"/>
            <a:r>
              <a:rPr lang="en-US" dirty="0"/>
              <a:t>Pods: groups of containers</a:t>
            </a:r>
          </a:p>
          <a:p>
            <a:pPr lvl="1"/>
            <a:r>
              <a:rPr lang="en-US" dirty="0"/>
              <a:t>Labels </a:t>
            </a:r>
          </a:p>
          <a:p>
            <a:pPr lvl="1"/>
            <a:r>
              <a:rPr lang="en-US" dirty="0"/>
              <a:t>Replica controller</a:t>
            </a:r>
          </a:p>
          <a:p>
            <a:pPr lvl="1"/>
            <a:r>
              <a:rPr lang="en-US" dirty="0"/>
              <a:t>Services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27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6474" y="0"/>
            <a:ext cx="3647326" cy="3230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6677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Borg Paper: </a:t>
            </a:r>
            <a:r>
              <a:rPr lang="en-US" dirty="0" err="1"/>
              <a:t>Eurosys</a:t>
            </a:r>
            <a:r>
              <a:rPr lang="en-US" dirty="0"/>
              <a:t> 2015</a:t>
            </a:r>
          </a:p>
          <a:p>
            <a:r>
              <a:rPr lang="en-US" dirty="0">
                <a:hlinkClick r:id="rId3"/>
              </a:rPr>
              <a:t>Borg Slides</a:t>
            </a:r>
            <a:r>
              <a:rPr lang="en-US" dirty="0"/>
              <a:t> at </a:t>
            </a:r>
            <a:r>
              <a:rPr lang="en-US" dirty="0" err="1"/>
              <a:t>InfoQ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50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9308</TotalTime>
  <Words>2475</Words>
  <Application>Microsoft Macintosh PowerPoint</Application>
  <PresentationFormat>Widescreen</PresentationFormat>
  <Paragraphs>295</Paragraphs>
  <Slides>28</Slides>
  <Notes>14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Gill Sans</vt:lpstr>
      <vt:lpstr>Gill Sans Light</vt:lpstr>
      <vt:lpstr>Wingdings</vt:lpstr>
      <vt:lpstr>Office Theme</vt:lpstr>
      <vt:lpstr>CS 208, Class – 9: Borg – Precursor to Kubernetes Large-scale cluster management at Google with Borg</vt:lpstr>
      <vt:lpstr>Introduction &amp; Motivation</vt:lpstr>
      <vt:lpstr>The User Perspective</vt:lpstr>
      <vt:lpstr>The User Perspective</vt:lpstr>
      <vt:lpstr>Borg Architecture</vt:lpstr>
      <vt:lpstr>Borg Architecture (contd.)</vt:lpstr>
      <vt:lpstr>Scheduling a DataCenter</vt:lpstr>
      <vt:lpstr>The computing environment – model for Google</vt:lpstr>
      <vt:lpstr>Borg Architecture</vt:lpstr>
      <vt:lpstr>Scalability</vt:lpstr>
      <vt:lpstr>Some ways to measure scheduling quality</vt:lpstr>
      <vt:lpstr>How to model machines and jobs</vt:lpstr>
      <vt:lpstr>Primary Goals</vt:lpstr>
      <vt:lpstr>Allocations</vt:lpstr>
      <vt:lpstr>Naming and Monitoring</vt:lpstr>
      <vt:lpstr>The Algorithmic Guts of Scheduling</vt:lpstr>
      <vt:lpstr>Algorithms</vt:lpstr>
      <vt:lpstr>Algorithms</vt:lpstr>
      <vt:lpstr>Availability</vt:lpstr>
      <vt:lpstr>Utilization</vt:lpstr>
      <vt:lpstr>Utilization</vt:lpstr>
      <vt:lpstr>Utilization</vt:lpstr>
      <vt:lpstr>Utilization – Efficient use of resources in Data Center</vt:lpstr>
      <vt:lpstr>Utilization</vt:lpstr>
      <vt:lpstr>Isolation</vt:lpstr>
      <vt:lpstr>Lessons</vt:lpstr>
      <vt:lpstr>Future Work (now present)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Mosharaf Chowdhury</dc:creator>
  <cp:lastModifiedBy>Microsoft Office User</cp:lastModifiedBy>
  <cp:revision>75</cp:revision>
  <dcterms:created xsi:type="dcterms:W3CDTF">2015-12-27T15:42:19Z</dcterms:created>
  <dcterms:modified xsi:type="dcterms:W3CDTF">2025-02-11T19:36:07Z</dcterms:modified>
</cp:coreProperties>
</file>