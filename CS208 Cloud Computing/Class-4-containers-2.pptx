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  <p:sldMasterId id="2147483675" r:id="rId3"/>
  </p:sldMasterIdLst>
  <p:notesMasterIdLst>
    <p:notesMasterId r:id="rId75"/>
  </p:notesMasterIdLst>
  <p:sldIdLst>
    <p:sldId id="256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480" r:id="rId16"/>
    <p:sldId id="481" r:id="rId17"/>
    <p:sldId id="279" r:id="rId18"/>
    <p:sldId id="280" r:id="rId19"/>
    <p:sldId id="281" r:id="rId20"/>
    <p:sldId id="282" r:id="rId21"/>
    <p:sldId id="482" r:id="rId22"/>
    <p:sldId id="257" r:id="rId23"/>
    <p:sldId id="258" r:id="rId24"/>
    <p:sldId id="259" r:id="rId25"/>
    <p:sldId id="260" r:id="rId26"/>
    <p:sldId id="483" r:id="rId27"/>
    <p:sldId id="261" r:id="rId28"/>
    <p:sldId id="262" r:id="rId29"/>
    <p:sldId id="263" r:id="rId30"/>
    <p:sldId id="484" r:id="rId31"/>
    <p:sldId id="485" r:id="rId32"/>
    <p:sldId id="486" r:id="rId33"/>
    <p:sldId id="487" r:id="rId34"/>
    <p:sldId id="488" r:id="rId35"/>
    <p:sldId id="489" r:id="rId36"/>
    <p:sldId id="490" r:id="rId37"/>
    <p:sldId id="491" r:id="rId38"/>
    <p:sldId id="264" r:id="rId39"/>
    <p:sldId id="265" r:id="rId40"/>
    <p:sldId id="266" r:id="rId41"/>
    <p:sldId id="267" r:id="rId42"/>
    <p:sldId id="492" r:id="rId43"/>
    <p:sldId id="493" r:id="rId44"/>
    <p:sldId id="494" r:id="rId45"/>
    <p:sldId id="495" r:id="rId46"/>
    <p:sldId id="496" r:id="rId47"/>
    <p:sldId id="497" r:id="rId48"/>
    <p:sldId id="498" r:id="rId49"/>
    <p:sldId id="499" r:id="rId50"/>
    <p:sldId id="500" r:id="rId51"/>
    <p:sldId id="501" r:id="rId52"/>
    <p:sldId id="502" r:id="rId53"/>
    <p:sldId id="503" r:id="rId54"/>
    <p:sldId id="504" r:id="rId55"/>
    <p:sldId id="505" r:id="rId56"/>
    <p:sldId id="506" r:id="rId57"/>
    <p:sldId id="283" r:id="rId58"/>
    <p:sldId id="284" r:id="rId59"/>
    <p:sldId id="285" r:id="rId60"/>
    <p:sldId id="286" r:id="rId61"/>
    <p:sldId id="287" r:id="rId62"/>
    <p:sldId id="288" r:id="rId63"/>
    <p:sldId id="289" r:id="rId64"/>
    <p:sldId id="290" r:id="rId65"/>
    <p:sldId id="291" r:id="rId66"/>
    <p:sldId id="292" r:id="rId67"/>
    <p:sldId id="293" r:id="rId68"/>
    <p:sldId id="294" r:id="rId69"/>
    <p:sldId id="295" r:id="rId70"/>
    <p:sldId id="296" r:id="rId71"/>
    <p:sldId id="297" r:id="rId72"/>
    <p:sldId id="298" r:id="rId73"/>
    <p:sldId id="299" r:id="rId7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54"/>
    <p:restoredTop sz="95470"/>
  </p:normalViewPr>
  <p:slideViewPr>
    <p:cSldViewPr snapToGrid="0" snapToObjects="1">
      <p:cViewPr varScale="1">
        <p:scale>
          <a:sx n="119" d="100"/>
          <a:sy n="119" d="100"/>
        </p:scale>
        <p:origin x="15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slide" Target="slides/slide71.xml"/><Relationship Id="rId79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1073D0-BC6B-2540-BAFB-C5526005EAA6}" type="datetimeFigureOut">
              <a:rPr lang="en-US" smtClean="0"/>
              <a:t>1/15/25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6AF774-DA5C-1341-BF14-60BB29775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15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2850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645569a62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645569a62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8112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645569a62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645569a62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6136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645569a62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645569a62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3906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645569a628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645569a628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5935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645569a628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645569a628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62106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645569a628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645569a628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68845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645569a628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645569a628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122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C187E-00C0-8C41-A05C-A5D379B985A8}" type="datetimeFigureOut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FC4DA-D506-CB4A-9CDA-96DE0BEBA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476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C187E-00C0-8C41-A05C-A5D379B985A8}" type="datetimeFigureOut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FC4DA-D506-CB4A-9CDA-96DE0BEBA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567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C187E-00C0-8C41-A05C-A5D379B985A8}" type="datetimeFigureOut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FC4DA-D506-CB4A-9CDA-96DE0BEBA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682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C187E-00C0-8C41-A05C-A5D379B985A8}" type="datetimeFigureOut">
              <a:rPr lang="en-US" smtClean="0"/>
              <a:t>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FC4DA-D506-CB4A-9CDA-96DE0BEBA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911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C187E-00C0-8C41-A05C-A5D379B985A8}" type="datetimeFigureOut">
              <a:rPr lang="en-US" smtClean="0"/>
              <a:t>1/15/25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FC4DA-D506-CB4A-9CDA-96DE0BEBA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228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C187E-00C0-8C41-A05C-A5D379B985A8}" type="datetimeFigureOut">
              <a:rPr lang="en-US" smtClean="0"/>
              <a:t>1/15/25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FC4DA-D506-CB4A-9CDA-96DE0BEBA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358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C187E-00C0-8C41-A05C-A5D379B985A8}" type="datetimeFigureOut">
              <a:rPr lang="en-US" smtClean="0"/>
              <a:t>1/15/25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FC4DA-D506-CB4A-9CDA-96DE0BEBA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29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C187E-00C0-8C41-A05C-A5D379B985A8}" type="datetimeFigureOut">
              <a:rPr lang="en-US" smtClean="0"/>
              <a:t>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FC4DA-D506-CB4A-9CDA-96DE0BEBA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014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C187E-00C0-8C41-A05C-A5D379B985A8}" type="datetimeFigureOut">
              <a:rPr lang="en-US" smtClean="0"/>
              <a:t>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FC4DA-D506-CB4A-9CDA-96DE0BEBA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758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C187E-00C0-8C41-A05C-A5D379B985A8}" type="datetimeFigureOut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FC4DA-D506-CB4A-9CDA-96DE0BEBA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980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C187E-00C0-8C41-A05C-A5D379B985A8}" type="datetimeFigureOut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FC4DA-D506-CB4A-9CDA-96DE0BEBA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95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s6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556704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7329EC-83B4-8A42-B6D8-8C023A66771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4322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35578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835532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25753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795129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85944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523175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657615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665356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730190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937805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554693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31411" y="1938337"/>
            <a:ext cx="7281177" cy="1854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517051" y="4670658"/>
            <a:ext cx="8109896" cy="1034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35595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05758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7788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4C187E-00C0-8C41-A05C-A5D379B985A8}" type="datetimeFigureOut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FC4DA-D506-CB4A-9CDA-96DE0BEBA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061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mputer Science"/>
          <p:cNvSpPr txBox="1"/>
          <p:nvPr/>
        </p:nvSpPr>
        <p:spPr>
          <a:xfrm>
            <a:off x="544512" y="6418262"/>
            <a:ext cx="1644624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buClr>
                <a:srgbClr val="941100"/>
              </a:buClr>
              <a:buFont typeface="Comic Sans MS"/>
              <a:defRPr sz="1400">
                <a:solidFill>
                  <a:srgbClr val="941100"/>
                </a:solidFill>
                <a:uFill>
                  <a:solidFill>
                    <a:srgbClr val="941100"/>
                  </a:solidFill>
                </a:uFill>
              </a:defRPr>
            </a:lvl1pPr>
          </a:lstStyle>
          <a:p>
            <a:r>
              <a:t>Computer Science</a:t>
            </a:r>
          </a:p>
        </p:txBody>
      </p:sp>
      <p:sp>
        <p:nvSpPr>
          <p:cNvPr id="3" name="Lecture 4, page"/>
          <p:cNvSpPr txBox="1"/>
          <p:nvPr/>
        </p:nvSpPr>
        <p:spPr>
          <a:xfrm>
            <a:off x="7734357" y="6429375"/>
            <a:ext cx="1136536" cy="285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buClr>
                <a:srgbClr val="AB1500"/>
              </a:buClr>
              <a:buFont typeface="Times New Roman"/>
              <a:defRPr sz="1200">
                <a:solidFill>
                  <a:srgbClr val="AB1500"/>
                </a:solidFill>
                <a:uFill>
                  <a:solidFill>
                    <a:srgbClr val="AB1500"/>
                  </a:solidFill>
                </a:uFill>
                <a:latin typeface="+mn-lt"/>
                <a:ea typeface="+mn-ea"/>
                <a:cs typeface="+mn-cs"/>
                <a:sym typeface="Times New Roman"/>
              </a:defRPr>
            </a:lvl1pPr>
          </a:lstStyle>
          <a:p>
            <a:r>
              <a:t>Lecture 4, page </a:t>
            </a:r>
          </a:p>
        </p:txBody>
      </p:sp>
      <p:pic>
        <p:nvPicPr>
          <p:cNvPr id="4" name="newseal200.png" descr="newseal200.png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48400"/>
            <a:ext cx="606425" cy="6096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r>
              <a:t>Title Text</a:t>
            </a:r>
          </a:p>
        </p:txBody>
      </p:sp>
      <p:sp>
        <p:nvSpPr>
          <p:cNvPr id="6" name="Body Level One…"/>
          <p:cNvSpPr txBox="1">
            <a:spLocks noGrp="1"/>
          </p:cNvSpPr>
          <p:nvPr>
            <p:ph type="body" idx="1"/>
          </p:nvPr>
        </p:nvSpPr>
        <p:spPr>
          <a:xfrm>
            <a:off x="234950" y="1600200"/>
            <a:ext cx="86741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/>
          <a:lstStyle>
            <a:lvl2pPr marL="783590" indent="-285750">
              <a:spcBef>
                <a:spcPts val="500"/>
              </a:spcBef>
              <a:buChar char="–"/>
              <a:defRPr sz="2400"/>
            </a:lvl2pPr>
            <a:lvl3pPr marL="1183639" indent="-228600">
              <a:spcBef>
                <a:spcPts val="500"/>
              </a:spcBef>
              <a:defRPr sz="2400"/>
            </a:lvl3pPr>
            <a:lvl4pPr marL="1640839" indent="-228600">
              <a:spcBef>
                <a:spcPts val="400"/>
              </a:spcBef>
              <a:buChar char="–"/>
              <a:defRPr sz="2000"/>
            </a:lvl4pPr>
            <a:lvl5pPr marL="2098039" indent="-228600">
              <a:spcBef>
                <a:spcPts val="400"/>
              </a:spcBef>
              <a:buChar char="»"/>
              <a:defRPr sz="2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756650" y="6451600"/>
            <a:ext cx="266700" cy="28562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L="0" marR="0" defTabSz="584200">
              <a:defRPr sz="1200">
                <a:solidFill>
                  <a:srgbClr val="9E1300"/>
                </a:solidFill>
                <a:latin typeface="+mn-lt"/>
                <a:ea typeface="+mn-ea"/>
                <a:cs typeface="+mn-cs"/>
                <a:sym typeface="Times New Roma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3786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transition spd="med"/>
  <p:txStyles>
    <p:titleStyle>
      <a:lvl1pPr marL="40639" marR="40639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AB1500"/>
          </a:solidFill>
          <a:uFill>
            <a:solidFill>
              <a:srgbClr val="AB1500"/>
            </a:solidFill>
          </a:uFill>
          <a:latin typeface="+mj-lt"/>
          <a:ea typeface="+mj-ea"/>
          <a:cs typeface="+mj-cs"/>
          <a:sym typeface="Helvetica"/>
        </a:defRPr>
      </a:lvl1pPr>
      <a:lvl2pPr marL="40639" marR="40639" indent="228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AB1500"/>
          </a:solidFill>
          <a:uFill>
            <a:solidFill>
              <a:srgbClr val="AB1500"/>
            </a:solidFill>
          </a:uFill>
          <a:latin typeface="+mj-lt"/>
          <a:ea typeface="+mj-ea"/>
          <a:cs typeface="+mj-cs"/>
          <a:sym typeface="Helvetica"/>
        </a:defRPr>
      </a:lvl2pPr>
      <a:lvl3pPr marL="40639" marR="40639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AB1500"/>
          </a:solidFill>
          <a:uFill>
            <a:solidFill>
              <a:srgbClr val="AB1500"/>
            </a:solidFill>
          </a:uFill>
          <a:latin typeface="+mj-lt"/>
          <a:ea typeface="+mj-ea"/>
          <a:cs typeface="+mj-cs"/>
          <a:sym typeface="Helvetica"/>
        </a:defRPr>
      </a:lvl3pPr>
      <a:lvl4pPr marL="40639" marR="40639" indent="685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AB1500"/>
          </a:solidFill>
          <a:uFill>
            <a:solidFill>
              <a:srgbClr val="AB1500"/>
            </a:solidFill>
          </a:uFill>
          <a:latin typeface="+mj-lt"/>
          <a:ea typeface="+mj-ea"/>
          <a:cs typeface="+mj-cs"/>
          <a:sym typeface="Helvetica"/>
        </a:defRPr>
      </a:lvl4pPr>
      <a:lvl5pPr marL="40639" marR="40639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AB1500"/>
          </a:solidFill>
          <a:uFill>
            <a:solidFill>
              <a:srgbClr val="AB1500"/>
            </a:solidFill>
          </a:uFill>
          <a:latin typeface="+mj-lt"/>
          <a:ea typeface="+mj-ea"/>
          <a:cs typeface="+mj-cs"/>
          <a:sym typeface="Helvetica"/>
        </a:defRPr>
      </a:lvl5pPr>
      <a:lvl6pPr marL="40639" marR="40639" indent="11430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AB1500"/>
          </a:solidFill>
          <a:uFill>
            <a:solidFill>
              <a:srgbClr val="AB1500"/>
            </a:solidFill>
          </a:uFill>
          <a:latin typeface="+mj-lt"/>
          <a:ea typeface="+mj-ea"/>
          <a:cs typeface="+mj-cs"/>
          <a:sym typeface="Helvetica"/>
        </a:defRPr>
      </a:lvl6pPr>
      <a:lvl7pPr marL="40639" marR="40639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AB1500"/>
          </a:solidFill>
          <a:uFill>
            <a:solidFill>
              <a:srgbClr val="AB1500"/>
            </a:solidFill>
          </a:uFill>
          <a:latin typeface="+mj-lt"/>
          <a:ea typeface="+mj-ea"/>
          <a:cs typeface="+mj-cs"/>
          <a:sym typeface="Helvetica"/>
        </a:defRPr>
      </a:lvl7pPr>
      <a:lvl8pPr marL="40639" marR="40639" indent="1600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AB1500"/>
          </a:solidFill>
          <a:uFill>
            <a:solidFill>
              <a:srgbClr val="AB1500"/>
            </a:solidFill>
          </a:uFill>
          <a:latin typeface="+mj-lt"/>
          <a:ea typeface="+mj-ea"/>
          <a:cs typeface="+mj-cs"/>
          <a:sym typeface="Helvetica"/>
        </a:defRPr>
      </a:lvl8pPr>
      <a:lvl9pPr marL="40639" marR="40639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AB1500"/>
          </a:solidFill>
          <a:uFill>
            <a:solidFill>
              <a:srgbClr val="AB1500"/>
            </a:solidFill>
          </a:uFill>
          <a:latin typeface="+mj-lt"/>
          <a:ea typeface="+mj-ea"/>
          <a:cs typeface="+mj-cs"/>
          <a:sym typeface="Helvetica"/>
        </a:defRPr>
      </a:lvl9pPr>
    </p:titleStyle>
    <p:bodyStyle>
      <a:lvl1pPr marL="383540" marR="40639" indent="-3429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434ED6"/>
        </a:buClr>
        <a:buSzPct val="100000"/>
        <a:buFont typeface="Times New Roman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1pPr>
      <a:lvl2pPr marL="831214" marR="40639" indent="-333374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434ED6"/>
        </a:buClr>
        <a:buSzPct val="100000"/>
        <a:buFont typeface="Times New Roman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2pPr>
      <a:lvl3pPr marL="1221739" marR="40639" indent="-2667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434ED6"/>
        </a:buClr>
        <a:buSzPct val="100000"/>
        <a:buFont typeface="Times New Roman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3pPr>
      <a:lvl4pPr marL="1732279" marR="40639" indent="-32003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434ED6"/>
        </a:buClr>
        <a:buSzPct val="100000"/>
        <a:buFont typeface="Times New Roman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4pPr>
      <a:lvl5pPr marL="2189479" marR="40639" indent="-32003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434ED6"/>
        </a:buClr>
        <a:buSzPct val="100000"/>
        <a:buFont typeface="Times New Roman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5pPr>
      <a:lvl6pPr marL="2189479" marR="40639" indent="-32003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434ED6"/>
        </a:buClr>
        <a:buSzPct val="100000"/>
        <a:buFont typeface="Times New Roman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6pPr>
      <a:lvl7pPr marL="2189479" marR="40639" indent="-32003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434ED6"/>
        </a:buClr>
        <a:buSzPct val="100000"/>
        <a:buFont typeface="Times New Roman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7pPr>
      <a:lvl8pPr marL="2189479" marR="40639" indent="-32003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434ED6"/>
        </a:buClr>
        <a:buSzPct val="100000"/>
        <a:buFont typeface="Times New Roman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8pPr>
      <a:lvl9pPr marL="2189479" marR="40639" indent="-32003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434ED6"/>
        </a:buClr>
        <a:buSzPct val="100000"/>
        <a:buFont typeface="Times New Roman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5958105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earchitoperations.techtarget.com/definition/container-image" TargetMode="External"/><Relationship Id="rId2" Type="http://schemas.openxmlformats.org/officeDocument/2006/relationships/hyperlink" Target="https://searchitoperations.techtarget.com/definition/Docker" TargetMode="Externa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searchoracle.techtarget.com/definition/repository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4.png"/><Relationship Id="rId11" Type="http://schemas.openxmlformats.org/officeDocument/2006/relationships/image" Target="../media/image33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32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3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3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4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41.jpg"/><Relationship Id="rId4" Type="http://schemas.openxmlformats.org/officeDocument/2006/relationships/image" Target="../media/image4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42.png"/><Relationship Id="rId5" Type="http://schemas.openxmlformats.org/officeDocument/2006/relationships/image" Target="../media/image41.jpg"/><Relationship Id="rId4" Type="http://schemas.openxmlformats.org/officeDocument/2006/relationships/image" Target="../media/image4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43.png"/><Relationship Id="rId5" Type="http://schemas.openxmlformats.org/officeDocument/2006/relationships/image" Target="../media/image41.jpg"/><Relationship Id="rId4" Type="http://schemas.openxmlformats.org/officeDocument/2006/relationships/image" Target="../media/image4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43.png"/><Relationship Id="rId5" Type="http://schemas.openxmlformats.org/officeDocument/2006/relationships/image" Target="../media/image41.jpg"/><Relationship Id="rId4" Type="http://schemas.openxmlformats.org/officeDocument/2006/relationships/image" Target="../media/image40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image" Target="../media/image45.png"/><Relationship Id="rId16" Type="http://schemas.openxmlformats.org/officeDocument/2006/relationships/image" Target="../media/image59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2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26" Type="http://schemas.openxmlformats.org/officeDocument/2006/relationships/image" Target="../media/image87.png"/><Relationship Id="rId3" Type="http://schemas.openxmlformats.org/officeDocument/2006/relationships/image" Target="../media/image64.png"/><Relationship Id="rId21" Type="http://schemas.openxmlformats.org/officeDocument/2006/relationships/image" Target="../media/image82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5" Type="http://schemas.openxmlformats.org/officeDocument/2006/relationships/image" Target="../media/image86.png"/><Relationship Id="rId2" Type="http://schemas.openxmlformats.org/officeDocument/2006/relationships/image" Target="../media/image63.png"/><Relationship Id="rId16" Type="http://schemas.openxmlformats.org/officeDocument/2006/relationships/image" Target="../media/image77.png"/><Relationship Id="rId20" Type="http://schemas.openxmlformats.org/officeDocument/2006/relationships/image" Target="../media/image81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24" Type="http://schemas.openxmlformats.org/officeDocument/2006/relationships/image" Target="../media/image85.png"/><Relationship Id="rId5" Type="http://schemas.openxmlformats.org/officeDocument/2006/relationships/image" Target="../media/image66.png"/><Relationship Id="rId15" Type="http://schemas.openxmlformats.org/officeDocument/2006/relationships/image" Target="../media/image76.png"/><Relationship Id="rId23" Type="http://schemas.openxmlformats.org/officeDocument/2006/relationships/image" Target="../media/image84.png"/><Relationship Id="rId10" Type="http://schemas.openxmlformats.org/officeDocument/2006/relationships/image" Target="../media/image71.png"/><Relationship Id="rId19" Type="http://schemas.openxmlformats.org/officeDocument/2006/relationships/image" Target="../media/image80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Relationship Id="rId22" Type="http://schemas.openxmlformats.org/officeDocument/2006/relationships/image" Target="../media/image83.png"/><Relationship Id="rId27" Type="http://schemas.openxmlformats.org/officeDocument/2006/relationships/image" Target="../media/image88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18" Type="http://schemas.openxmlformats.org/officeDocument/2006/relationships/image" Target="../media/image10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" Type="http://schemas.openxmlformats.org/officeDocument/2006/relationships/image" Target="../media/image89.png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10" Type="http://schemas.openxmlformats.org/officeDocument/2006/relationships/image" Target="../media/image97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7.png"/><Relationship Id="rId18" Type="http://schemas.openxmlformats.org/officeDocument/2006/relationships/image" Target="../media/image122.png"/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12" Type="http://schemas.openxmlformats.org/officeDocument/2006/relationships/image" Target="../media/image116.png"/><Relationship Id="rId17" Type="http://schemas.openxmlformats.org/officeDocument/2006/relationships/image" Target="../media/image121.png"/><Relationship Id="rId2" Type="http://schemas.openxmlformats.org/officeDocument/2006/relationships/image" Target="../media/image106.png"/><Relationship Id="rId16" Type="http://schemas.openxmlformats.org/officeDocument/2006/relationships/image" Target="../media/image120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10.png"/><Relationship Id="rId11" Type="http://schemas.openxmlformats.org/officeDocument/2006/relationships/image" Target="../media/image115.png"/><Relationship Id="rId5" Type="http://schemas.openxmlformats.org/officeDocument/2006/relationships/image" Target="../media/image109.png"/><Relationship Id="rId15" Type="http://schemas.openxmlformats.org/officeDocument/2006/relationships/image" Target="../media/image119.png"/><Relationship Id="rId10" Type="http://schemas.openxmlformats.org/officeDocument/2006/relationships/image" Target="../media/image114.png"/><Relationship Id="rId19" Type="http://schemas.openxmlformats.org/officeDocument/2006/relationships/image" Target="../media/image123.png"/><Relationship Id="rId4" Type="http://schemas.openxmlformats.org/officeDocument/2006/relationships/image" Target="../media/image108.png"/><Relationship Id="rId9" Type="http://schemas.openxmlformats.org/officeDocument/2006/relationships/image" Target="../media/image113.png"/><Relationship Id="rId14" Type="http://schemas.openxmlformats.org/officeDocument/2006/relationships/image" Target="../media/image118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35.png"/><Relationship Id="rId18" Type="http://schemas.openxmlformats.org/officeDocument/2006/relationships/image" Target="../media/image140.png"/><Relationship Id="rId26" Type="http://schemas.openxmlformats.org/officeDocument/2006/relationships/image" Target="../media/image148.png"/><Relationship Id="rId3" Type="http://schemas.openxmlformats.org/officeDocument/2006/relationships/image" Target="../media/image125.png"/><Relationship Id="rId21" Type="http://schemas.openxmlformats.org/officeDocument/2006/relationships/image" Target="../media/image143.png"/><Relationship Id="rId7" Type="http://schemas.openxmlformats.org/officeDocument/2006/relationships/image" Target="../media/image129.png"/><Relationship Id="rId12" Type="http://schemas.openxmlformats.org/officeDocument/2006/relationships/image" Target="../media/image134.png"/><Relationship Id="rId17" Type="http://schemas.openxmlformats.org/officeDocument/2006/relationships/image" Target="../media/image139.png"/><Relationship Id="rId25" Type="http://schemas.openxmlformats.org/officeDocument/2006/relationships/image" Target="../media/image147.png"/><Relationship Id="rId2" Type="http://schemas.openxmlformats.org/officeDocument/2006/relationships/image" Target="../media/image124.png"/><Relationship Id="rId16" Type="http://schemas.openxmlformats.org/officeDocument/2006/relationships/image" Target="../media/image138.png"/><Relationship Id="rId20" Type="http://schemas.openxmlformats.org/officeDocument/2006/relationships/image" Target="../media/image142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28.png"/><Relationship Id="rId11" Type="http://schemas.openxmlformats.org/officeDocument/2006/relationships/image" Target="../media/image133.png"/><Relationship Id="rId24" Type="http://schemas.openxmlformats.org/officeDocument/2006/relationships/image" Target="../media/image146.png"/><Relationship Id="rId5" Type="http://schemas.openxmlformats.org/officeDocument/2006/relationships/image" Target="../media/image127.png"/><Relationship Id="rId15" Type="http://schemas.openxmlformats.org/officeDocument/2006/relationships/image" Target="../media/image137.png"/><Relationship Id="rId23" Type="http://schemas.openxmlformats.org/officeDocument/2006/relationships/image" Target="../media/image145.png"/><Relationship Id="rId10" Type="http://schemas.openxmlformats.org/officeDocument/2006/relationships/image" Target="../media/image132.png"/><Relationship Id="rId19" Type="http://schemas.openxmlformats.org/officeDocument/2006/relationships/image" Target="../media/image141.png"/><Relationship Id="rId4" Type="http://schemas.openxmlformats.org/officeDocument/2006/relationships/image" Target="../media/image126.png"/><Relationship Id="rId9" Type="http://schemas.openxmlformats.org/officeDocument/2006/relationships/image" Target="../media/image131.png"/><Relationship Id="rId14" Type="http://schemas.openxmlformats.org/officeDocument/2006/relationships/image" Target="../media/image136.png"/><Relationship Id="rId22" Type="http://schemas.openxmlformats.org/officeDocument/2006/relationships/image" Target="../media/image144.png"/><Relationship Id="rId27" Type="http://schemas.openxmlformats.org/officeDocument/2006/relationships/image" Target="../media/image149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F0235-C01B-684C-8603-40EFC58291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Containers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39F9FC-D0E4-A447-851F-6906493AC7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 208, Winter 2025</a:t>
            </a:r>
          </a:p>
          <a:p>
            <a:r>
              <a:rPr lang="en-US" dirty="0"/>
              <a:t>Class 4</a:t>
            </a:r>
          </a:p>
          <a:p>
            <a:r>
              <a:rPr lang="en-US" dirty="0"/>
              <a:t>K. K. Ramakrishnan</a:t>
            </a:r>
          </a:p>
        </p:txBody>
      </p:sp>
    </p:spTree>
    <p:extLst>
      <p:ext uri="{BB962C8B-B14F-4D97-AF65-F5344CB8AC3E}">
        <p14:creationId xmlns:p14="http://schemas.microsoft.com/office/powerpoint/2010/main" val="1012522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Virtual Appliances  &amp; Multi-Co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Virtual Appliances  &amp; Multi-Core</a:t>
            </a:r>
          </a:p>
        </p:txBody>
      </p:sp>
      <p:sp>
        <p:nvSpPr>
          <p:cNvPr id="132" name="Virtual appliance: pre-configured VM with OS/ apps pre-installed…"/>
          <p:cNvSpPr txBox="1">
            <a:spLocks noGrp="1"/>
          </p:cNvSpPr>
          <p:nvPr>
            <p:ph type="body" idx="1"/>
          </p:nvPr>
        </p:nvSpPr>
        <p:spPr>
          <a:xfrm>
            <a:off x="234950" y="1285103"/>
            <a:ext cx="8674100" cy="5572897"/>
          </a:xfrm>
          <a:prstGeom prst="rect">
            <a:avLst/>
          </a:prstGeom>
        </p:spPr>
        <p:txBody>
          <a:bodyPr/>
          <a:lstStyle/>
          <a:p>
            <a:r>
              <a:rPr dirty="0"/>
              <a:t>Virtual appliance: pre-configured VM with OS/ apps pre-installed</a:t>
            </a:r>
          </a:p>
          <a:p>
            <a:pPr lvl="1"/>
            <a:r>
              <a:rPr dirty="0"/>
              <a:t>Just download and run (no need to install/co</a:t>
            </a:r>
            <a:r>
              <a:rPr lang="en-US" dirty="0"/>
              <a:t>n</a:t>
            </a:r>
            <a:r>
              <a:rPr dirty="0"/>
              <a:t>figure)</a:t>
            </a:r>
          </a:p>
          <a:p>
            <a:pPr lvl="1"/>
            <a:r>
              <a:rPr dirty="0"/>
              <a:t>Software distribution using appliances</a:t>
            </a:r>
            <a:endParaRPr lang="en-US" dirty="0"/>
          </a:p>
          <a:p>
            <a:pPr marL="497840" lvl="1" indent="0">
              <a:buNone/>
            </a:pPr>
            <a:r>
              <a:rPr lang="en-US" dirty="0"/>
              <a:t>(</a:t>
            </a:r>
            <a:r>
              <a:rPr lang="en-US" sz="2000" dirty="0"/>
              <a:t>see: “</a:t>
            </a:r>
            <a:r>
              <a:rPr lang="en-US" sz="2000" dirty="0" err="1"/>
              <a:t>SnowFlock</a:t>
            </a:r>
            <a:r>
              <a:rPr lang="en-US" sz="2000" dirty="0"/>
              <a:t>: Rapid Virtual Machine Cloning for Cloud Computing”, H. Andrés </a:t>
            </a:r>
            <a:r>
              <a:rPr lang="en-US" sz="2000" dirty="0" err="1"/>
              <a:t>Lagar-Cavilla</a:t>
            </a:r>
            <a:r>
              <a:rPr lang="en-US" sz="2000" dirty="0"/>
              <a:t> et. al., </a:t>
            </a:r>
            <a:r>
              <a:rPr lang="en-US" sz="2000" dirty="0" err="1"/>
              <a:t>Eurosys</a:t>
            </a:r>
            <a:r>
              <a:rPr lang="en-US" sz="2000" dirty="0"/>
              <a:t> 2009)</a:t>
            </a:r>
            <a:endParaRPr dirty="0"/>
          </a:p>
          <a:p>
            <a:r>
              <a:rPr dirty="0"/>
              <a:t>Multi-core CPUs</a:t>
            </a:r>
          </a:p>
          <a:p>
            <a:pPr lvl="1"/>
            <a:r>
              <a:rPr dirty="0"/>
              <a:t>Run multiple VMs on multi-core systems</a:t>
            </a:r>
          </a:p>
          <a:p>
            <a:pPr lvl="1"/>
            <a:r>
              <a:rPr dirty="0"/>
              <a:t>Each VM assigned one or more vCPU</a:t>
            </a:r>
          </a:p>
          <a:p>
            <a:pPr lvl="1"/>
            <a:r>
              <a:rPr dirty="0"/>
              <a:t>Mapping from vCPUs to physical CPUs</a:t>
            </a:r>
          </a:p>
          <a:p>
            <a:pPr lvl="1"/>
            <a:endParaRPr dirty="0"/>
          </a:p>
          <a:p>
            <a:pPr>
              <a:spcBef>
                <a:spcPts val="500"/>
              </a:spcBef>
              <a:defRPr sz="2400"/>
            </a:pPr>
            <a:r>
              <a:rPr dirty="0"/>
              <a:t>Today: Virtual appliances have evolved into </a:t>
            </a:r>
            <a:r>
              <a:rPr lang="en-US" dirty="0"/>
              <a:t>D</a:t>
            </a:r>
            <a:r>
              <a:rPr dirty="0"/>
              <a:t>ocker containers</a:t>
            </a:r>
          </a:p>
        </p:txBody>
      </p:sp>
      <p:sp>
        <p:nvSpPr>
          <p:cNvPr id="1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9E13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sym typeface="Times New Roman"/>
              </a:rPr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E1300"/>
              </a:solidFill>
              <a:effectLst/>
              <a:uLnTx/>
              <a:uFill>
                <a:solidFill>
                  <a:srgbClr val="000000"/>
                </a:solidFill>
              </a:uFill>
              <a:latin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3397078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Examp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Examples</a:t>
            </a:r>
          </a:p>
        </p:txBody>
      </p:sp>
      <p:sp>
        <p:nvSpPr>
          <p:cNvPr id="141" name="Application-level virtualization: “process virtual machine”…"/>
          <p:cNvSpPr txBox="1">
            <a:spLocks noGrp="1"/>
          </p:cNvSpPr>
          <p:nvPr>
            <p:ph type="body" sz="half" idx="1"/>
          </p:nvPr>
        </p:nvSpPr>
        <p:spPr>
          <a:xfrm>
            <a:off x="234950" y="4343400"/>
            <a:ext cx="8674100" cy="2514600"/>
          </a:xfrm>
          <a:prstGeom prst="rect">
            <a:avLst/>
          </a:prstGeom>
        </p:spPr>
        <p:txBody>
          <a:bodyPr/>
          <a:lstStyle/>
          <a:p>
            <a:r>
              <a:rPr dirty="0"/>
              <a:t>Application-level virtualization: “process virtual machine”</a:t>
            </a:r>
          </a:p>
          <a:p>
            <a:r>
              <a:rPr lang="en-US" dirty="0"/>
              <a:t>In contrast to </a:t>
            </a:r>
            <a:r>
              <a:rPr dirty="0"/>
              <a:t>VMM /hypervisor </a:t>
            </a:r>
          </a:p>
        </p:txBody>
      </p:sp>
      <p:pic>
        <p:nvPicPr>
          <p:cNvPr id="142" name="image.png" descr="image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2514600" cy="22701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" name="image.png" descr="image.pn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219200"/>
            <a:ext cx="3259138" cy="2724150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9E13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sym typeface="Times New Roman"/>
              </a:rPr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E1300"/>
              </a:solidFill>
              <a:effectLst/>
              <a:uLnTx/>
              <a:uFill>
                <a:solidFill>
                  <a:srgbClr val="000000"/>
                </a:solidFill>
              </a:uFill>
              <a:latin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7811306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OS Virtualiz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OS Virtualization</a:t>
            </a:r>
          </a:p>
        </p:txBody>
      </p:sp>
      <p:sp>
        <p:nvSpPr>
          <p:cNvPr id="150" name="Emulate OS-level interface with native interfac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831214" indent="-333374"/>
            <a:r>
              <a:rPr dirty="0"/>
              <a:t>Emulate OS-level interface with native interface</a:t>
            </a:r>
          </a:p>
          <a:p>
            <a:pPr marL="831214" indent="-333374"/>
            <a:r>
              <a:rPr dirty="0"/>
              <a:t>“Lightweight” virtual machines </a:t>
            </a:r>
          </a:p>
          <a:p>
            <a:pPr marL="1183639" lvl="1" indent="-228600"/>
            <a:r>
              <a:rPr dirty="0"/>
              <a:t>No hypervisor, OS provides necessary support</a:t>
            </a:r>
          </a:p>
          <a:p>
            <a:pPr marL="831214" indent="-333374"/>
            <a:endParaRPr dirty="0"/>
          </a:p>
          <a:p>
            <a:pPr marL="831214" indent="-333374"/>
            <a:endParaRPr dirty="0"/>
          </a:p>
          <a:p>
            <a:pPr marL="831214" indent="-333374"/>
            <a:endParaRPr dirty="0"/>
          </a:p>
          <a:p>
            <a:pPr marL="831214" indent="-333374"/>
            <a:endParaRPr dirty="0"/>
          </a:p>
          <a:p>
            <a:pPr marL="831214" indent="-333374"/>
            <a:endParaRPr dirty="0"/>
          </a:p>
          <a:p>
            <a:pPr marL="831214" indent="-333374"/>
            <a:r>
              <a:rPr dirty="0"/>
              <a:t>Referred to as </a:t>
            </a:r>
            <a:r>
              <a:rPr i="1" dirty="0"/>
              <a:t>containers</a:t>
            </a:r>
          </a:p>
          <a:p>
            <a:pPr marL="1183639" lvl="1" indent="-228600"/>
            <a:r>
              <a:rPr dirty="0"/>
              <a:t>Solaris containers,</a:t>
            </a:r>
            <a:r>
              <a:rPr i="1" dirty="0"/>
              <a:t> </a:t>
            </a:r>
            <a:r>
              <a:rPr dirty="0"/>
              <a:t>BSD jails, </a:t>
            </a:r>
            <a:r>
              <a:rPr b="1" dirty="0"/>
              <a:t>Linux containers</a:t>
            </a:r>
          </a:p>
        </p:txBody>
      </p:sp>
      <p:sp>
        <p:nvSpPr>
          <p:cNvPr id="1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9E13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sym typeface="Times New Roman"/>
              </a:rPr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E1300"/>
              </a:solidFill>
              <a:effectLst/>
              <a:uLnTx/>
              <a:uFill>
                <a:solidFill>
                  <a:srgbClr val="000000"/>
                </a:solidFill>
              </a:uFill>
              <a:latin typeface="Times New Roman"/>
              <a:cs typeface="Times New Roman"/>
              <a:sym typeface="Times New Roman"/>
            </a:endParaRPr>
          </a:p>
        </p:txBody>
      </p:sp>
      <p:pic>
        <p:nvPicPr>
          <p:cNvPr id="152" name="Screen Shot 2015-02-17 at 7.50.40 AM.png" descr="Screen Shot 2015-02-17 at 7.50.40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3022600"/>
            <a:ext cx="3458211" cy="2400300"/>
          </a:xfrm>
          <a:prstGeom prst="rect">
            <a:avLst/>
          </a:prstGeom>
        </p:spPr>
      </p:pic>
      <p:pic>
        <p:nvPicPr>
          <p:cNvPr id="153" name="Screen Shot 2015-02-17 at 7.52.11 AM.png" descr="Screen Shot 2015-02-17 at 7.52.11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790" y="3060700"/>
            <a:ext cx="4054781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99038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Linux Containers (LXC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Linux Containers (LXC)</a:t>
            </a:r>
          </a:p>
        </p:txBody>
      </p:sp>
      <p:sp>
        <p:nvSpPr>
          <p:cNvPr id="159" name="Containers share OS kernel of the hos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831214" indent="-333374"/>
            <a:r>
              <a:t>Containers share OS kernel of the host</a:t>
            </a:r>
          </a:p>
          <a:p>
            <a:pPr marL="1183639" lvl="1" indent="-228600"/>
            <a:r>
              <a:t>OS provides resource isolation</a:t>
            </a:r>
          </a:p>
          <a:p>
            <a:pPr marL="831214" indent="-333374"/>
            <a:r>
              <a:t>Benefits</a:t>
            </a:r>
          </a:p>
          <a:p>
            <a:pPr marL="1183639" lvl="1" indent="-228600"/>
            <a:r>
              <a:t>Fast provisioning, bare-metal like performance, lightweight </a:t>
            </a:r>
          </a:p>
        </p:txBody>
      </p:sp>
      <p:sp>
        <p:nvSpPr>
          <p:cNvPr id="1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9E13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sym typeface="Times New Roman"/>
              </a:rPr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E1300"/>
              </a:solidFill>
              <a:effectLst/>
              <a:uLnTx/>
              <a:uFill>
                <a:solidFill>
                  <a:srgbClr val="000000"/>
                </a:solidFill>
              </a:uFill>
              <a:latin typeface="Times New Roman"/>
              <a:cs typeface="Times New Roman"/>
              <a:sym typeface="Times New Roman"/>
            </a:endParaRPr>
          </a:p>
        </p:txBody>
      </p:sp>
      <p:pic>
        <p:nvPicPr>
          <p:cNvPr id="161" name="Screen Shot 2015-02-17 at 7.10.10 AM.png" descr="Screen Shot 2015-02-17 at 7.10.10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835400"/>
            <a:ext cx="5397077" cy="2654300"/>
          </a:xfrm>
          <a:prstGeom prst="rect">
            <a:avLst/>
          </a:prstGeom>
        </p:spPr>
      </p:pic>
      <p:sp>
        <p:nvSpPr>
          <p:cNvPr id="162" name="Material courtesy of “Realizing Linux Containers” by Boden Russell, IBM"/>
          <p:cNvSpPr txBox="1"/>
          <p:nvPr/>
        </p:nvSpPr>
        <p:spPr>
          <a:xfrm>
            <a:off x="7404100" y="5791200"/>
            <a:ext cx="1663700" cy="596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900"/>
            </a:lvl1pPr>
          </a:lstStyle>
          <a:p>
            <a:pPr marL="40639" marR="40639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omic Sans MS"/>
                <a:cs typeface="Times New Roman"/>
                <a:sym typeface="Comic Sans MS"/>
              </a:rPr>
              <a:t>Material courtesy of “Realizing Linux Containers” by Boden Russell, IBM</a:t>
            </a:r>
          </a:p>
        </p:txBody>
      </p:sp>
    </p:spTree>
    <p:extLst>
      <p:ext uri="{BB962C8B-B14F-4D97-AF65-F5344CB8AC3E}">
        <p14:creationId xmlns:p14="http://schemas.microsoft.com/office/powerpoint/2010/main" val="189877425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OS Mechanisms for LXC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OS Mechanisms for LXC</a:t>
            </a:r>
          </a:p>
        </p:txBody>
      </p:sp>
      <p:sp>
        <p:nvSpPr>
          <p:cNvPr id="168" name="OS mechanisms for resource isolation and management…"/>
          <p:cNvSpPr txBox="1">
            <a:spLocks noGrp="1"/>
          </p:cNvSpPr>
          <p:nvPr>
            <p:ph type="body" idx="1"/>
          </p:nvPr>
        </p:nvSpPr>
        <p:spPr>
          <a:xfrm>
            <a:off x="234950" y="1336613"/>
            <a:ext cx="8674100" cy="5257800"/>
          </a:xfrm>
          <a:prstGeom prst="rect">
            <a:avLst/>
          </a:prstGeom>
        </p:spPr>
        <p:txBody>
          <a:bodyPr/>
          <a:lstStyle/>
          <a:p>
            <a:pPr marL="831214" indent="-333374"/>
            <a:r>
              <a:rPr dirty="0"/>
              <a:t>OS mechanisms for resource isolation and management</a:t>
            </a:r>
          </a:p>
          <a:p>
            <a:pPr marL="831214" indent="-333374"/>
            <a:endParaRPr dirty="0"/>
          </a:p>
          <a:p>
            <a:pPr marL="831214" indent="-333374"/>
            <a:r>
              <a:rPr dirty="0"/>
              <a:t>namespaces: process-based resource isolation</a:t>
            </a:r>
          </a:p>
          <a:p>
            <a:pPr marL="831214" indent="-333374"/>
            <a:r>
              <a:rPr dirty="0" err="1"/>
              <a:t>Cgroups</a:t>
            </a:r>
            <a:r>
              <a:rPr dirty="0"/>
              <a:t>: limits, prioritization, accounting, control</a:t>
            </a:r>
          </a:p>
          <a:p>
            <a:pPr marL="831214" indent="-333374"/>
            <a:r>
              <a:rPr dirty="0"/>
              <a:t>chroot: apparent root directory</a:t>
            </a:r>
            <a:r>
              <a:rPr lang="en-US" dirty="0"/>
              <a:t> (Unix operation that changes the apparent root directory for the current </a:t>
            </a:r>
            <a:br>
              <a:rPr lang="en-US" dirty="0"/>
            </a:br>
            <a:r>
              <a:rPr lang="en-US" dirty="0"/>
              <a:t>running process and children)</a:t>
            </a:r>
            <a:endParaRPr dirty="0"/>
          </a:p>
          <a:p>
            <a:pPr marL="831214" indent="-333374"/>
            <a:r>
              <a:rPr dirty="0"/>
              <a:t>Linux security module, access control</a:t>
            </a:r>
          </a:p>
          <a:p>
            <a:pPr marL="831214" indent="-333374"/>
            <a:r>
              <a:rPr dirty="0"/>
              <a:t>Tools (e.g., </a:t>
            </a:r>
            <a:r>
              <a:rPr dirty="0" err="1"/>
              <a:t>docker</a:t>
            </a:r>
            <a:r>
              <a:rPr dirty="0"/>
              <a:t>) for easy management</a:t>
            </a:r>
          </a:p>
        </p:txBody>
      </p:sp>
      <p:sp>
        <p:nvSpPr>
          <p:cNvPr id="1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9E13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sym typeface="Times New Roman"/>
              </a:rPr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E1300"/>
              </a:solidFill>
              <a:effectLst/>
              <a:uLnTx/>
              <a:uFill>
                <a:solidFill>
                  <a:srgbClr val="000000"/>
                </a:solidFill>
              </a:uFill>
              <a:latin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0353442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Linux Namespa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Linux Namespaces</a:t>
            </a:r>
          </a:p>
        </p:txBody>
      </p:sp>
      <p:sp>
        <p:nvSpPr>
          <p:cNvPr id="175" name="Namespace: restrict what can a container see?…"/>
          <p:cNvSpPr txBox="1">
            <a:spLocks noGrp="1"/>
          </p:cNvSpPr>
          <p:nvPr>
            <p:ph type="body" idx="1"/>
          </p:nvPr>
        </p:nvSpPr>
        <p:spPr>
          <a:xfrm>
            <a:off x="-245694" y="864254"/>
            <a:ext cx="8674100" cy="5257800"/>
          </a:xfrm>
          <a:prstGeom prst="rect">
            <a:avLst/>
          </a:prstGeom>
        </p:spPr>
        <p:txBody>
          <a:bodyPr/>
          <a:lstStyle/>
          <a:p>
            <a:pPr marL="831214" indent="-333374"/>
            <a:r>
              <a:rPr dirty="0"/>
              <a:t>Namespace: restrict what a container </a:t>
            </a:r>
            <a:r>
              <a:rPr lang="en-US" dirty="0"/>
              <a:t>can </a:t>
            </a:r>
            <a:r>
              <a:rPr dirty="0"/>
              <a:t>see</a:t>
            </a:r>
          </a:p>
          <a:p>
            <a:pPr marL="1183639" lvl="1" indent="-228600"/>
            <a:r>
              <a:rPr dirty="0"/>
              <a:t>Provide process level isolation of global resources</a:t>
            </a:r>
          </a:p>
          <a:p>
            <a:pPr marL="831214" indent="-333374"/>
            <a:r>
              <a:rPr dirty="0"/>
              <a:t>Processes have illusion they are the only processes in the system</a:t>
            </a:r>
          </a:p>
          <a:p>
            <a:pPr marL="831214" indent="-333374"/>
            <a:r>
              <a:rPr dirty="0"/>
              <a:t>MNT: mount points, file systems (what files, </a:t>
            </a:r>
            <a:r>
              <a:rPr dirty="0" err="1"/>
              <a:t>dir</a:t>
            </a:r>
            <a:r>
              <a:rPr dirty="0"/>
              <a:t> are visible)?</a:t>
            </a:r>
          </a:p>
          <a:p>
            <a:pPr marL="831214" indent="-333374"/>
            <a:r>
              <a:rPr dirty="0"/>
              <a:t>PID: what other processes are visible?</a:t>
            </a:r>
          </a:p>
          <a:p>
            <a:pPr marL="831214" indent="-333374"/>
            <a:r>
              <a:rPr dirty="0"/>
              <a:t>NET: NICs, routing</a:t>
            </a:r>
          </a:p>
          <a:p>
            <a:pPr marL="831214" indent="-333374"/>
            <a:r>
              <a:rPr dirty="0"/>
              <a:t>Users:  what </a:t>
            </a:r>
            <a:r>
              <a:rPr dirty="0" err="1"/>
              <a:t>uid</a:t>
            </a:r>
            <a:r>
              <a:rPr dirty="0"/>
              <a:t>, </a:t>
            </a:r>
            <a:r>
              <a:rPr dirty="0" err="1"/>
              <a:t>gid</a:t>
            </a:r>
            <a:r>
              <a:rPr dirty="0"/>
              <a:t> are visible?</a:t>
            </a:r>
          </a:p>
          <a:p>
            <a:pPr marL="831214" indent="-333374"/>
            <a:r>
              <a:rPr dirty="0"/>
              <a:t>chroot: change root directory</a:t>
            </a:r>
            <a:endParaRPr lang="en-US" dirty="0"/>
          </a:p>
          <a:p>
            <a:pPr marL="497840" indent="0">
              <a:buNone/>
            </a:pPr>
            <a:r>
              <a:rPr lang="en-US" sz="2400" dirty="0"/>
              <a:t>program run in such a modified environment </a:t>
            </a:r>
            <a:br>
              <a:rPr lang="en-US" sz="2400" dirty="0"/>
            </a:br>
            <a:r>
              <a:rPr lang="en-US" sz="2400" dirty="0"/>
              <a:t>cannot name (and normally can’t access) </a:t>
            </a:r>
            <a:br>
              <a:rPr lang="en-US" sz="2400" dirty="0"/>
            </a:br>
            <a:r>
              <a:rPr lang="en-US" sz="2400" dirty="0"/>
              <a:t>files outside designated directory tree. </a:t>
            </a:r>
            <a:endParaRPr sz="2400" dirty="0"/>
          </a:p>
        </p:txBody>
      </p:sp>
      <p:sp>
        <p:nvSpPr>
          <p:cNvPr id="1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9E13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sym typeface="Times New Roman"/>
              </a:rPr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E1300"/>
              </a:solidFill>
              <a:effectLst/>
              <a:uLnTx/>
              <a:uFill>
                <a:solidFill>
                  <a:srgbClr val="000000"/>
                </a:solidFill>
              </a:uFill>
              <a:latin typeface="Times New Roman"/>
              <a:cs typeface="Times New Roman"/>
              <a:sym typeface="Times New Roman"/>
            </a:endParaRPr>
          </a:p>
        </p:txBody>
      </p:sp>
      <p:pic>
        <p:nvPicPr>
          <p:cNvPr id="177" name="Screen Shot 2015-02-17 at 7.27.28 AM.png" descr="Screen Shot 2015-02-17 at 7.27.28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0" y="4101446"/>
            <a:ext cx="3238500" cy="26357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D9CBB0-9CA7-AF4D-BF97-EF79538668E1}"/>
              </a:ext>
            </a:extLst>
          </p:cNvPr>
          <p:cNvSpPr txBox="1"/>
          <p:nvPr/>
        </p:nvSpPr>
        <p:spPr>
          <a:xfrm>
            <a:off x="6464407" y="3911650"/>
            <a:ext cx="1963999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omic Sans MS"/>
                <a:ea typeface="Comic Sans MS"/>
                <a:cs typeface="Comic Sans MS"/>
                <a:sym typeface="Comic Sans MS"/>
              </a:rPr>
              <a:t>Root name space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1AC56B-F5A1-1042-8407-4FCC005A0A85}"/>
              </a:ext>
            </a:extLst>
          </p:cNvPr>
          <p:cNvSpPr txBox="1"/>
          <p:nvPr/>
        </p:nvSpPr>
        <p:spPr>
          <a:xfrm>
            <a:off x="6544672" y="5095679"/>
            <a:ext cx="2108269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omic Sans MS"/>
                <a:ea typeface="Comic Sans MS"/>
                <a:cs typeface="Comic Sans MS"/>
                <a:sym typeface="Comic Sans MS"/>
              </a:rPr>
              <a:t>Green</a:t>
            </a: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omic Sans MS"/>
                <a:ea typeface="Comic Sans MS"/>
                <a:cs typeface="Comic Sans MS"/>
                <a:sym typeface="Comic Sans MS"/>
              </a:rPr>
              <a:t> name space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37EDDB-6CA4-3942-B863-D50B49D1AF53}"/>
              </a:ext>
            </a:extLst>
          </p:cNvPr>
          <p:cNvSpPr txBox="1"/>
          <p:nvPr/>
        </p:nvSpPr>
        <p:spPr>
          <a:xfrm>
            <a:off x="6626521" y="5857675"/>
            <a:ext cx="1874231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omic Sans MS"/>
                <a:ea typeface="Comic Sans MS"/>
                <a:cs typeface="Comic Sans MS"/>
                <a:sym typeface="Comic Sans MS"/>
              </a:rPr>
              <a:t>Red name space</a:t>
            </a:r>
          </a:p>
        </p:txBody>
      </p:sp>
    </p:spTree>
    <p:extLst>
      <p:ext uri="{BB962C8B-B14F-4D97-AF65-F5344CB8AC3E}">
        <p14:creationId xmlns:p14="http://schemas.microsoft.com/office/powerpoint/2010/main" val="4745297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Linux cgroup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Linux cgroups </a:t>
            </a:r>
          </a:p>
        </p:txBody>
      </p:sp>
      <p:sp>
        <p:nvSpPr>
          <p:cNvPr id="183" name="Resource isolation…"/>
          <p:cNvSpPr txBox="1">
            <a:spLocks noGrp="1"/>
          </p:cNvSpPr>
          <p:nvPr>
            <p:ph type="body" idx="1"/>
          </p:nvPr>
        </p:nvSpPr>
        <p:spPr>
          <a:xfrm>
            <a:off x="222250" y="939800"/>
            <a:ext cx="8674100" cy="5257800"/>
          </a:xfrm>
          <a:prstGeom prst="rect">
            <a:avLst/>
          </a:prstGeom>
        </p:spPr>
        <p:txBody>
          <a:bodyPr/>
          <a:lstStyle/>
          <a:p>
            <a:pPr marL="807402" indent="-309562">
              <a:defRPr sz="2600"/>
            </a:pPr>
            <a:r>
              <a:t>Resource isolation  </a:t>
            </a:r>
          </a:p>
          <a:p>
            <a:pPr marL="1164589" lvl="1" indent="-209550">
              <a:defRPr sz="2200"/>
            </a:pPr>
            <a:r>
              <a:t>what and how much can a container use?</a:t>
            </a:r>
          </a:p>
          <a:p>
            <a:pPr marL="1663700" lvl="2" indent="-251460">
              <a:defRPr sz="2200"/>
            </a:pPr>
            <a:r>
              <a:t>Set upper bounds (limits) on resources that can be used</a:t>
            </a:r>
          </a:p>
          <a:p>
            <a:pPr marL="1663700" lvl="2" indent="-251460">
              <a:defRPr sz="2200"/>
            </a:pPr>
            <a:r>
              <a:t>Fair sharing of certain resources</a:t>
            </a:r>
          </a:p>
          <a:p>
            <a:pPr marL="807402" indent="-309562">
              <a:defRPr sz="2600"/>
            </a:pPr>
            <a:r>
              <a:t>Examples:</a:t>
            </a:r>
          </a:p>
          <a:p>
            <a:pPr marL="1164589" lvl="1" indent="-209550">
              <a:defRPr sz="2200"/>
            </a:pPr>
            <a:r>
              <a:t>cpu: weighted proportional share of CPU for a group</a:t>
            </a:r>
          </a:p>
          <a:p>
            <a:pPr marL="1164589" lvl="1" indent="-209550">
              <a:defRPr sz="2200"/>
            </a:pPr>
            <a:r>
              <a:t>cpuset: cores that a group can access</a:t>
            </a:r>
          </a:p>
          <a:p>
            <a:pPr marL="1164589" lvl="1" indent="-209550">
              <a:defRPr sz="2200"/>
            </a:pPr>
            <a:r>
              <a:t>block io: weighted proportional block IO access</a:t>
            </a:r>
          </a:p>
          <a:p>
            <a:pPr marL="1164589" lvl="1" indent="-209550">
              <a:defRPr sz="2200"/>
            </a:pPr>
            <a:r>
              <a:t>memory: max memory limit for a group </a:t>
            </a:r>
          </a:p>
        </p:txBody>
      </p:sp>
      <p:sp>
        <p:nvSpPr>
          <p:cNvPr id="1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9E13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sym typeface="Times New Roman"/>
              </a:rPr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E1300"/>
              </a:solidFill>
              <a:effectLst/>
              <a:uLnTx/>
              <a:uFill>
                <a:solidFill>
                  <a:srgbClr val="000000"/>
                </a:solidFill>
              </a:uFill>
              <a:latin typeface="Times New Roman"/>
              <a:cs typeface="Times New Roman"/>
              <a:sym typeface="Times New Roman"/>
            </a:endParaRPr>
          </a:p>
        </p:txBody>
      </p:sp>
      <p:pic>
        <p:nvPicPr>
          <p:cNvPr id="185" name="Screen Shot 2015-02-17 at 7.21.51 AM.png" descr="Screen Shot 2015-02-17 at 7.21.51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900" y="4629551"/>
            <a:ext cx="5194300" cy="1898250"/>
          </a:xfrm>
          <a:prstGeom prst="rect">
            <a:avLst/>
          </a:prstGeom>
        </p:spPr>
      </p:pic>
      <p:pic>
        <p:nvPicPr>
          <p:cNvPr id="186" name="Screen Shot 2015-02-17 at 7.22.31 AM.png" descr="Screen Shot 2015-02-17 at 7.22.31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" y="4963876"/>
            <a:ext cx="3406882" cy="123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89335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roportional Share Schedu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Proportional Share Scheduling</a:t>
            </a:r>
          </a:p>
        </p:txBody>
      </p:sp>
      <p:sp>
        <p:nvSpPr>
          <p:cNvPr id="192" name="Uses a variant of  proportional-share scheduling…"/>
          <p:cNvSpPr txBox="1">
            <a:spLocks noGrp="1"/>
          </p:cNvSpPr>
          <p:nvPr>
            <p:ph type="body" idx="1"/>
          </p:nvPr>
        </p:nvSpPr>
        <p:spPr>
          <a:xfrm>
            <a:off x="0" y="950380"/>
            <a:ext cx="9144000" cy="535970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Linux </a:t>
            </a:r>
            <a:r>
              <a:rPr lang="en-US" dirty="0" err="1"/>
              <a:t>cgroups</a:t>
            </a:r>
            <a:endParaRPr lang="en-US" dirty="0"/>
          </a:p>
          <a:p>
            <a:pPr lvl="1"/>
            <a:r>
              <a:rPr dirty="0"/>
              <a:t>Uses a variant of  </a:t>
            </a:r>
            <a:r>
              <a:rPr i="1" dirty="0"/>
              <a:t>proportional-share scheduling</a:t>
            </a:r>
          </a:p>
          <a:p>
            <a:r>
              <a:rPr i="1" dirty="0"/>
              <a:t>Share-based</a:t>
            </a:r>
            <a:r>
              <a:rPr dirty="0"/>
              <a:t> scheduling: </a:t>
            </a:r>
          </a:p>
          <a:p>
            <a:pPr lvl="1"/>
            <a:r>
              <a:rPr dirty="0"/>
              <a:t>Assign each process a weight </a:t>
            </a:r>
            <a:r>
              <a:rPr dirty="0" err="1"/>
              <a:t>w_i</a:t>
            </a:r>
            <a:r>
              <a:rPr dirty="0"/>
              <a:t>  (a “share”)</a:t>
            </a:r>
          </a:p>
          <a:p>
            <a:pPr lvl="1"/>
            <a:r>
              <a:rPr dirty="0"/>
              <a:t>Allocation is in proportion to share</a:t>
            </a:r>
          </a:p>
          <a:p>
            <a:pPr lvl="1"/>
            <a:r>
              <a:rPr dirty="0"/>
              <a:t>fairness: </a:t>
            </a:r>
            <a:r>
              <a:rPr lang="en-US" dirty="0"/>
              <a:t>allow </a:t>
            </a:r>
            <a:r>
              <a:rPr dirty="0"/>
              <a:t>reuse </a:t>
            </a:r>
            <a:r>
              <a:rPr lang="en-US" dirty="0"/>
              <a:t>of </a:t>
            </a:r>
            <a:r>
              <a:rPr dirty="0"/>
              <a:t>unused cycles </a:t>
            </a:r>
            <a:r>
              <a:rPr lang="en-US" dirty="0"/>
              <a:t>by</a:t>
            </a:r>
            <a:r>
              <a:rPr dirty="0"/>
              <a:t> others in proportion to weight</a:t>
            </a:r>
          </a:p>
          <a:p>
            <a:pPr lvl="1"/>
            <a:r>
              <a:rPr dirty="0"/>
              <a:t>Examples: fair queuing, start time fair queuing </a:t>
            </a:r>
          </a:p>
          <a:p>
            <a:r>
              <a:rPr i="1" dirty="0"/>
              <a:t>Hard limits</a:t>
            </a:r>
            <a:r>
              <a:rPr dirty="0"/>
              <a:t>:  assign upper bounds (e.g., 30%), no reallocation</a:t>
            </a:r>
          </a:p>
          <a:p>
            <a:r>
              <a:rPr dirty="0"/>
              <a:t>Credit-based: allocate credits every time T, can accumulate credits, and can burst up-to credit limit</a:t>
            </a:r>
          </a:p>
          <a:p>
            <a:pPr lvl="1"/>
            <a:r>
              <a:rPr dirty="0"/>
              <a:t>can a process starve other processes?</a:t>
            </a:r>
          </a:p>
        </p:txBody>
      </p:sp>
      <p:sp>
        <p:nvSpPr>
          <p:cNvPr id="1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9E13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sym typeface="Times New Roman"/>
              </a:rPr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E1300"/>
              </a:solidFill>
              <a:effectLst/>
              <a:uLnTx/>
              <a:uFill>
                <a:solidFill>
                  <a:srgbClr val="000000"/>
                </a:solidFill>
              </a:uFill>
              <a:latin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3436051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re-based Schedul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Share-based Schedulers</a:t>
            </a:r>
          </a:p>
        </p:txBody>
      </p:sp>
      <p:sp>
        <p:nvSpPr>
          <p:cNvPr id="1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9E13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sym typeface="Times New Roman"/>
              </a:rPr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E1300"/>
              </a:solidFill>
              <a:effectLst/>
              <a:uLnTx/>
              <a:uFill>
                <a:solidFill>
                  <a:srgbClr val="000000"/>
                </a:solidFill>
              </a:uFill>
              <a:latin typeface="Times New Roman"/>
              <a:cs typeface="Times New Roman"/>
              <a:sym typeface="Times New Roman"/>
            </a:endParaRPr>
          </a:p>
        </p:txBody>
      </p:sp>
      <p:pic>
        <p:nvPicPr>
          <p:cNvPr id="200" name="Screen Shot 2016-02-08 at 5.46.35 AM.png" descr="Screen Shot 2016-02-08 at 5.46.35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73" y="1239095"/>
            <a:ext cx="7004889" cy="2195410"/>
          </a:xfrm>
          <a:prstGeom prst="rect">
            <a:avLst/>
          </a:prstGeom>
        </p:spPr>
      </p:pic>
      <p:pic>
        <p:nvPicPr>
          <p:cNvPr id="201" name="Screen Shot 2016-02-08 at 5.47.26 AM.png" descr="Screen Shot 2016-02-08 at 5.47.26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1" y="3641228"/>
            <a:ext cx="9144001" cy="1228726"/>
          </a:xfrm>
          <a:prstGeom prst="rect">
            <a:avLst/>
          </a:prstGeom>
        </p:spPr>
      </p:pic>
      <p:pic>
        <p:nvPicPr>
          <p:cNvPr id="202" name="Screen Shot 2016-02-08 at 5.48.49 AM.png" descr="Screen Shot 2016-02-08 at 5.48.49 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9" y="5154257"/>
            <a:ext cx="9144001" cy="8098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A1DC86-8378-C34E-A9D0-92E1618871FA}"/>
              </a:ext>
            </a:extLst>
          </p:cNvPr>
          <p:cNvSpPr txBox="1"/>
          <p:nvPr/>
        </p:nvSpPr>
        <p:spPr>
          <a:xfrm>
            <a:off x="486572" y="5933510"/>
            <a:ext cx="7353295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algn="ctr" hangingPunct="0"/>
            <a:r>
              <a:rPr lang="en-US" i="1" dirty="0"/>
              <a:t>Budget Fair Queueing:</a:t>
            </a:r>
          </a:p>
          <a:p>
            <a:pPr marL="40639" marR="40639" algn="ctr" hangingPunct="0"/>
            <a:r>
              <a:rPr lang="en-US" i="1" dirty="0"/>
              <a:t>BFQ</a:t>
            </a:r>
            <a:r>
              <a:rPr lang="en-US" dirty="0"/>
              <a:t> is a proportional-share storage-</a:t>
            </a:r>
            <a:r>
              <a:rPr lang="en-US" i="1" dirty="0"/>
              <a:t>I/O scheduler</a:t>
            </a:r>
            <a:r>
              <a:rPr lang="en-US" dirty="0"/>
              <a:t> that also supports </a:t>
            </a:r>
            <a:r>
              <a:rPr lang="en-US" dirty="0" err="1"/>
              <a:t>cgroups</a:t>
            </a:r>
            <a:r>
              <a:rPr lang="en-US" dirty="0"/>
              <a:t>.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51171684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utting it all togeth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Putting it all together</a:t>
            </a:r>
          </a:p>
        </p:txBody>
      </p:sp>
      <p:sp>
        <p:nvSpPr>
          <p:cNvPr id="208" name="Images: files/data for a container…"/>
          <p:cNvSpPr txBox="1">
            <a:spLocks noGrp="1"/>
          </p:cNvSpPr>
          <p:nvPr>
            <p:ph type="body" idx="1"/>
          </p:nvPr>
        </p:nvSpPr>
        <p:spPr>
          <a:xfrm>
            <a:off x="234950" y="970845"/>
            <a:ext cx="8674100" cy="5887156"/>
          </a:xfrm>
          <a:prstGeom prst="rect">
            <a:avLst/>
          </a:prstGeom>
        </p:spPr>
        <p:txBody>
          <a:bodyPr/>
          <a:lstStyle/>
          <a:p>
            <a:pPr marL="783590" indent="-285750">
              <a:defRPr sz="2400"/>
            </a:pPr>
            <a:r>
              <a:rPr dirty="0"/>
              <a:t>Images: files/data for a container</a:t>
            </a:r>
          </a:p>
          <a:p>
            <a:pPr marL="1145539" lvl="1" indent="-190500">
              <a:defRPr sz="2000"/>
            </a:pPr>
            <a:r>
              <a:rPr dirty="0"/>
              <a:t>can run different distributions/apps on a host</a:t>
            </a:r>
          </a:p>
          <a:p>
            <a:pPr marL="783590" indent="-285750">
              <a:defRPr sz="2400"/>
            </a:pPr>
            <a:r>
              <a:rPr dirty="0"/>
              <a:t>Linux security modules and access control</a:t>
            </a:r>
          </a:p>
          <a:p>
            <a:pPr marL="783590" indent="-285750">
              <a:defRPr sz="2400"/>
            </a:pPr>
            <a:r>
              <a:rPr dirty="0"/>
              <a:t>Linux capabilities: per process privileges</a:t>
            </a:r>
          </a:p>
        </p:txBody>
      </p:sp>
      <p:sp>
        <p:nvSpPr>
          <p:cNvPr id="20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9E13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sym typeface="Times New Roman"/>
              </a:rPr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E1300"/>
              </a:solidFill>
              <a:effectLst/>
              <a:uLnTx/>
              <a:uFill>
                <a:solidFill>
                  <a:srgbClr val="000000"/>
                </a:solidFill>
              </a:uFill>
              <a:latin typeface="Times New Roman"/>
              <a:cs typeface="Times New Roman"/>
              <a:sym typeface="Times New Roman"/>
            </a:endParaRPr>
          </a:p>
        </p:txBody>
      </p:sp>
      <p:pic>
        <p:nvPicPr>
          <p:cNvPr id="210" name="Screen Shot 2015-02-17 at 7.34.35 AM.png" descr="Screen Shot 2015-02-17 at 7.34.35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675467"/>
            <a:ext cx="7744177" cy="395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96520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Docker and Linux Contain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Docker and Linux Containers</a:t>
            </a:r>
          </a:p>
        </p:txBody>
      </p:sp>
      <p:sp>
        <p:nvSpPr>
          <p:cNvPr id="216" name="Linux containers are a set of kernel features…"/>
          <p:cNvSpPr txBox="1">
            <a:spLocks noGrp="1"/>
          </p:cNvSpPr>
          <p:nvPr>
            <p:ph type="body" idx="1"/>
          </p:nvPr>
        </p:nvSpPr>
        <p:spPr>
          <a:xfrm>
            <a:off x="234950" y="1600200"/>
            <a:ext cx="8788400" cy="5257800"/>
          </a:xfrm>
          <a:prstGeom prst="rect">
            <a:avLst/>
          </a:prstGeom>
        </p:spPr>
        <p:txBody>
          <a:bodyPr/>
          <a:lstStyle/>
          <a:p>
            <a:pPr marL="831214" indent="-333374"/>
            <a:r>
              <a:rPr dirty="0"/>
              <a:t>Linux containers are a set of kernel features</a:t>
            </a:r>
          </a:p>
          <a:p>
            <a:pPr marL="1183639" lvl="1" indent="-228600"/>
            <a:r>
              <a:rPr dirty="0"/>
              <a:t>Need user space tools to manage containers</a:t>
            </a:r>
          </a:p>
          <a:p>
            <a:pPr marL="1183639" lvl="1" indent="-228600"/>
            <a:r>
              <a:rPr dirty="0" err="1"/>
              <a:t>Virtuoze</a:t>
            </a:r>
            <a:r>
              <a:rPr dirty="0"/>
              <a:t>, </a:t>
            </a:r>
            <a:r>
              <a:rPr dirty="0" err="1"/>
              <a:t>OpenVZm</a:t>
            </a:r>
            <a:r>
              <a:rPr dirty="0"/>
              <a:t>, </a:t>
            </a:r>
            <a:r>
              <a:rPr dirty="0" err="1"/>
              <a:t>VServer,Lxc</a:t>
            </a:r>
            <a:r>
              <a:rPr dirty="0"/>
              <a:t>-tools,  </a:t>
            </a:r>
            <a:r>
              <a:rPr dirty="0" err="1"/>
              <a:t>Wardenm</a:t>
            </a:r>
            <a:r>
              <a:rPr dirty="0"/>
              <a:t> Docker</a:t>
            </a:r>
          </a:p>
          <a:p>
            <a:pPr marL="831214" indent="-333374"/>
            <a:r>
              <a:rPr dirty="0"/>
              <a:t>What does Docker add to Linux containers?</a:t>
            </a:r>
          </a:p>
          <a:p>
            <a:pPr marL="1183639" lvl="1" indent="-228600"/>
            <a:r>
              <a:rPr dirty="0"/>
              <a:t>Portable container deployment across machines</a:t>
            </a:r>
          </a:p>
          <a:p>
            <a:pPr marL="1183639" lvl="1" indent="-228600"/>
            <a:r>
              <a:rPr dirty="0"/>
              <a:t>Application-centric: geared for app deployment</a:t>
            </a:r>
          </a:p>
          <a:p>
            <a:pPr marL="1183639" lvl="1" indent="-228600"/>
            <a:r>
              <a:rPr dirty="0"/>
              <a:t>Automatic builds: create containers from build files</a:t>
            </a:r>
          </a:p>
          <a:p>
            <a:pPr marL="1183639" lvl="1" indent="-228600"/>
            <a:r>
              <a:rPr dirty="0"/>
              <a:t>Component re-use</a:t>
            </a:r>
          </a:p>
          <a:p>
            <a:pPr marL="831214" indent="-333374"/>
            <a:r>
              <a:rPr dirty="0"/>
              <a:t>Docker containers are self-contained: no dependencies</a:t>
            </a:r>
          </a:p>
        </p:txBody>
      </p:sp>
      <p:sp>
        <p:nvSpPr>
          <p:cNvPr id="2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9E13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sym typeface="Times New Roman"/>
              </a:rPr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E1300"/>
              </a:solidFill>
              <a:effectLst/>
              <a:uLnTx/>
              <a:uFill>
                <a:solidFill>
                  <a:srgbClr val="000000"/>
                </a:solidFill>
              </a:uFill>
              <a:latin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9177104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Docker</a:t>
            </a:r>
            <a:r>
              <a:rPr lang="en-US" dirty="0"/>
              <a:t> and Containers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498073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err="1">
                <a:latin typeface="Microsoft YaHei" charset="0"/>
                <a:ea typeface="Microsoft YaHei" charset="0"/>
              </a:rPr>
              <a:t>Docker</a:t>
            </a:r>
            <a:r>
              <a:rPr lang="en-US" dirty="0">
                <a:latin typeface="Microsoft YaHei" charset="0"/>
                <a:ea typeface="Microsoft YaHei" charset="0"/>
              </a:rPr>
              <a:t> is light-weight and portable</a:t>
            </a:r>
          </a:p>
          <a:p>
            <a:pPr lvl="2">
              <a:buFont typeface="Courier New" charset="0"/>
              <a:buChar char="o"/>
              <a:defRPr/>
            </a:pPr>
            <a:r>
              <a:rPr lang="en-US" dirty="0">
                <a:latin typeface="Microsoft YaHei" charset="0"/>
                <a:ea typeface="Microsoft YaHei" charset="0"/>
              </a:rPr>
              <a:t>Minimal overhead (</a:t>
            </a:r>
            <a:r>
              <a:rPr lang="en-US" i="1" dirty="0" err="1">
                <a:latin typeface="Microsoft YaHei" charset="0"/>
                <a:ea typeface="Microsoft YaHei" charset="0"/>
              </a:rPr>
              <a:t>cpu</a:t>
            </a:r>
            <a:r>
              <a:rPr lang="en-US" i="1" dirty="0">
                <a:latin typeface="Microsoft YaHei" charset="0"/>
                <a:ea typeface="Microsoft YaHei" charset="0"/>
              </a:rPr>
              <a:t>/</a:t>
            </a:r>
            <a:r>
              <a:rPr lang="en-US" i="1" dirty="0" err="1">
                <a:latin typeface="Microsoft YaHei" charset="0"/>
                <a:ea typeface="Microsoft YaHei" charset="0"/>
              </a:rPr>
              <a:t>io</a:t>
            </a:r>
            <a:r>
              <a:rPr lang="en-US" i="1" dirty="0">
                <a:latin typeface="Microsoft YaHei" charset="0"/>
                <a:ea typeface="Microsoft YaHei" charset="0"/>
              </a:rPr>
              <a:t>/network</a:t>
            </a:r>
            <a:r>
              <a:rPr lang="en-US" dirty="0">
                <a:latin typeface="Microsoft YaHei" charset="0"/>
                <a:ea typeface="Microsoft YaHei" charset="0"/>
              </a:rPr>
              <a:t>)</a:t>
            </a:r>
          </a:p>
          <a:p>
            <a:pPr lvl="2">
              <a:buFont typeface="Courier New" charset="0"/>
              <a:buChar char="o"/>
              <a:defRPr/>
            </a:pPr>
            <a:r>
              <a:rPr lang="en-US" dirty="0">
                <a:latin typeface="Microsoft YaHei" charset="0"/>
                <a:ea typeface="Microsoft YaHei" charset="0"/>
              </a:rPr>
              <a:t>Based on Linux containers</a:t>
            </a:r>
          </a:p>
          <a:p>
            <a:pPr lvl="2">
              <a:buFont typeface="Courier New" charset="0"/>
              <a:buChar char="o"/>
              <a:defRPr/>
            </a:pPr>
            <a:r>
              <a:rPr lang="en-US" dirty="0">
                <a:latin typeface="Microsoft YaHei" charset="0"/>
                <a:ea typeface="Microsoft YaHei" charset="0"/>
              </a:rPr>
              <a:t>Can run on any Linux system that supports LXC. </a:t>
            </a:r>
          </a:p>
          <a:p>
            <a:pPr>
              <a:defRPr/>
            </a:pPr>
            <a:r>
              <a:rPr lang="en-US" dirty="0">
                <a:latin typeface="Microsoft YaHei" charset="0"/>
                <a:ea typeface="Microsoft YaHei" charset="0"/>
              </a:rPr>
              <a:t>Self-sufficient</a:t>
            </a:r>
          </a:p>
          <a:p>
            <a:pPr marL="914400" lvl="2" indent="-137160">
              <a:buFont typeface="Courier New" charset="0"/>
              <a:buChar char="o"/>
              <a:defRPr/>
            </a:pPr>
            <a:r>
              <a:rPr lang="en-US" dirty="0">
                <a:latin typeface="Microsoft YaHei" charset="0"/>
                <a:ea typeface="Microsoft YaHei" charset="0"/>
              </a:rPr>
              <a:t> A Docker container contains everything it needs to run</a:t>
            </a:r>
          </a:p>
          <a:p>
            <a:pPr marL="914400" lvl="2" indent="-137160">
              <a:buFont typeface="Courier New" charset="0"/>
              <a:buChar char="o"/>
              <a:defRPr/>
            </a:pPr>
            <a:r>
              <a:rPr lang="en-US" dirty="0">
                <a:latin typeface="Microsoft YaHei" charset="0"/>
                <a:ea typeface="Microsoft YaHei" charset="0"/>
              </a:rPr>
              <a:t> Minimal Base OS</a:t>
            </a:r>
          </a:p>
          <a:p>
            <a:pPr marL="914400" lvl="2" indent="-137160">
              <a:buFont typeface="Courier New" charset="0"/>
              <a:buChar char="o"/>
              <a:defRPr/>
            </a:pPr>
            <a:r>
              <a:rPr lang="en-US" dirty="0">
                <a:latin typeface="Microsoft YaHei" charset="0"/>
                <a:ea typeface="Microsoft YaHei" charset="0"/>
              </a:rPr>
              <a:t> Libraries and frameworks provide customization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361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VMs vs. Containers</a:t>
            </a:r>
          </a:p>
        </p:txBody>
      </p:sp>
      <p:pic>
        <p:nvPicPr>
          <p:cNvPr id="4" name="Picture 2" descr="Screen Shot 2014-12-16 at 2.08.45 P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27" y="1084028"/>
            <a:ext cx="9094787" cy="453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53388" y="5288342"/>
            <a:ext cx="8615190" cy="1015527"/>
          </a:xfrm>
          <a:prstGeom prst="rect">
            <a:avLst/>
          </a:prstGeom>
          <a:noFill/>
        </p:spPr>
        <p:txBody>
          <a:bodyPr wrap="square" lIns="91301" tIns="45653" rIns="91301" bIns="45653" rtlCol="0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484848"/>
                </a:solidFill>
                <a:latin typeface="Microsoft YaHei" charset="0"/>
                <a:ea typeface="Microsoft YaHei" charset="0"/>
              </a:rPr>
              <a:t>Easy to build, run &amp; share containers</a:t>
            </a:r>
          </a:p>
          <a:p>
            <a:pPr algn="ctr">
              <a:defRPr/>
            </a:pPr>
            <a:r>
              <a:rPr lang="en-US" sz="2000" dirty="0">
                <a:solidFill>
                  <a:srgbClr val="484848"/>
                </a:solidFill>
                <a:latin typeface="Microsoft YaHei" charset="0"/>
                <a:ea typeface="Microsoft YaHei" charset="0"/>
              </a:rPr>
              <a:t> Better performance vs. VMs</a:t>
            </a:r>
          </a:p>
          <a:p>
            <a:pPr algn="ctr">
              <a:defRPr/>
            </a:pPr>
            <a:r>
              <a:rPr lang="en-US" sz="2000" dirty="0">
                <a:solidFill>
                  <a:srgbClr val="484848"/>
                </a:solidFill>
                <a:latin typeface="Microsoft YaHei" charset="0"/>
                <a:ea typeface="Microsoft YaHei" charset="0"/>
              </a:rPr>
              <a:t> Reduces complexity of dynamically instantiating functions</a:t>
            </a:r>
          </a:p>
        </p:txBody>
      </p:sp>
    </p:spTree>
    <p:extLst>
      <p:ext uri="{BB962C8B-B14F-4D97-AF65-F5344CB8AC3E}">
        <p14:creationId xmlns:p14="http://schemas.microsoft.com/office/powerpoint/2010/main" val="3413290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Dock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Docker</a:t>
            </a:r>
          </a:p>
        </p:txBody>
      </p:sp>
      <p:sp>
        <p:nvSpPr>
          <p:cNvPr id="223" name="Docker uses Linux containers"/>
          <p:cNvSpPr txBox="1">
            <a:spLocks noGrp="1"/>
          </p:cNvSpPr>
          <p:nvPr>
            <p:ph type="body" idx="1"/>
          </p:nvPr>
        </p:nvSpPr>
        <p:spPr>
          <a:xfrm>
            <a:off x="234950" y="1055077"/>
            <a:ext cx="8674100" cy="5802923"/>
          </a:xfrm>
          <a:prstGeom prst="rect">
            <a:avLst/>
          </a:prstGeom>
        </p:spPr>
        <p:txBody>
          <a:bodyPr/>
          <a:lstStyle>
            <a:lvl1pPr marL="831214" indent="-333374"/>
          </a:lstStyle>
          <a:p>
            <a:r>
              <a:rPr dirty="0"/>
              <a:t>Docker uses Linux containers</a:t>
            </a:r>
          </a:p>
        </p:txBody>
      </p:sp>
      <p:sp>
        <p:nvSpPr>
          <p:cNvPr id="2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9E13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sym typeface="Times New Roman"/>
              </a:rPr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E1300"/>
              </a:solidFill>
              <a:effectLst/>
              <a:uLnTx/>
              <a:uFill>
                <a:solidFill>
                  <a:srgbClr val="000000"/>
                </a:solidFill>
              </a:uFill>
              <a:latin typeface="Times New Roman"/>
              <a:cs typeface="Times New Roman"/>
              <a:sym typeface="Times New Roman"/>
            </a:endParaRPr>
          </a:p>
        </p:txBody>
      </p:sp>
      <p:pic>
        <p:nvPicPr>
          <p:cNvPr id="225" name="Screen Shot 2015-02-17 at 7.41.21 AM.png" descr="Screen Shot 2015-02-17 at 7.41.21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1617785"/>
            <a:ext cx="8674100" cy="483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09373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LXC Virtualization Using Dock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LXC Virtualization Using Docker</a:t>
            </a:r>
          </a:p>
        </p:txBody>
      </p:sp>
      <p:sp>
        <p:nvSpPr>
          <p:cNvPr id="231" name="Portable: docker images run  anywhere docker runs…"/>
          <p:cNvSpPr txBox="1">
            <a:spLocks noGrp="1"/>
          </p:cNvSpPr>
          <p:nvPr>
            <p:ph type="body" idx="1"/>
          </p:nvPr>
        </p:nvSpPr>
        <p:spPr>
          <a:xfrm>
            <a:off x="234950" y="750277"/>
            <a:ext cx="8674100" cy="5968023"/>
          </a:xfrm>
          <a:prstGeom prst="rect">
            <a:avLst/>
          </a:prstGeom>
        </p:spPr>
        <p:txBody>
          <a:bodyPr/>
          <a:lstStyle/>
          <a:p>
            <a:pPr marL="831214" indent="-333374"/>
            <a:r>
              <a:rPr dirty="0"/>
              <a:t>Portable: docker images run  anywhere docker runs</a:t>
            </a:r>
          </a:p>
          <a:p>
            <a:pPr marL="831214" indent="-333374"/>
            <a:r>
              <a:rPr dirty="0"/>
              <a:t>Docker decouples LXC provider from operations</a:t>
            </a:r>
          </a:p>
          <a:p>
            <a:pPr marL="1183639" lvl="1" indent="-228600"/>
            <a:r>
              <a:rPr dirty="0"/>
              <a:t>uses virtual resources  (LXC virtualization)</a:t>
            </a:r>
          </a:p>
          <a:p>
            <a:pPr marL="1263651" lvl="1" indent="-251460">
              <a:defRPr sz="2200"/>
            </a:pPr>
            <a:r>
              <a:rPr dirty="0"/>
              <a:t>fair share of physical NIC vs use virtual NICs that are fair-shared</a:t>
            </a:r>
          </a:p>
        </p:txBody>
      </p:sp>
      <p:sp>
        <p:nvSpPr>
          <p:cNvPr id="2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9E13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sym typeface="Times New Roman"/>
              </a:rPr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E1300"/>
              </a:solidFill>
              <a:effectLst/>
              <a:uLnTx/>
              <a:uFill>
                <a:solidFill>
                  <a:srgbClr val="000000"/>
                </a:solidFill>
              </a:uFill>
              <a:latin typeface="Times New Roman"/>
              <a:cs typeface="Times New Roman"/>
              <a:sym typeface="Times New Roman"/>
            </a:endParaRPr>
          </a:p>
        </p:txBody>
      </p:sp>
      <p:pic>
        <p:nvPicPr>
          <p:cNvPr id="233" name="Screen Shot 2015-02-17 at 7.45.38 AM.png" descr="Screen Shot 2015-02-17 at 7.45.38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62" y="3059724"/>
            <a:ext cx="8217388" cy="365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0341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Docker Images and Us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Docker Images and Use</a:t>
            </a:r>
          </a:p>
        </p:txBody>
      </p:sp>
      <p:sp>
        <p:nvSpPr>
          <p:cNvPr id="239" name="Docker uses a union file system (AuFS)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831214" indent="-333374"/>
            <a:r>
              <a:t>Docker uses a union file system (AuFS)</a:t>
            </a:r>
          </a:p>
          <a:p>
            <a:pPr marL="1183639" lvl="1" indent="-228600"/>
            <a:r>
              <a:t>allows containers to use host FS safely</a:t>
            </a:r>
          </a:p>
          <a:p>
            <a:pPr marL="831214" indent="-333374"/>
            <a:r>
              <a:t>Essentially a copy-on-write file system</a:t>
            </a:r>
          </a:p>
          <a:p>
            <a:pPr marL="1183639" lvl="1" indent="-228600"/>
            <a:r>
              <a:t>read-only files shared  (e.g., share glibc)</a:t>
            </a:r>
          </a:p>
          <a:p>
            <a:pPr marL="1183639" lvl="1" indent="-228600"/>
            <a:r>
              <a:t>make a copy upon write</a:t>
            </a:r>
          </a:p>
          <a:p>
            <a:pPr marL="831214" indent="-333374"/>
            <a:r>
              <a:t>Allows for small efficient container images</a:t>
            </a:r>
          </a:p>
          <a:p>
            <a:pPr marL="831214" indent="-333374"/>
            <a:r>
              <a:t>Docker Use Cases</a:t>
            </a:r>
          </a:p>
          <a:p>
            <a:pPr marL="1183639" lvl="1" indent="-228600"/>
            <a:r>
              <a:t>“Run once, deploy anywhere”</a:t>
            </a:r>
          </a:p>
          <a:p>
            <a:pPr marL="1183639" lvl="1" indent="-228600"/>
            <a:r>
              <a:t>Images can be pulled/pushed to repository</a:t>
            </a:r>
          </a:p>
          <a:p>
            <a:pPr marL="1183639" lvl="1" indent="-228600"/>
            <a:r>
              <a:t>Containers can be a single process (useful for microservices) or a full OS</a:t>
            </a:r>
          </a:p>
        </p:txBody>
      </p:sp>
      <p:sp>
        <p:nvSpPr>
          <p:cNvPr id="2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9E13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sym typeface="Times New Roman"/>
              </a:rPr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E1300"/>
              </a:solidFill>
              <a:effectLst/>
              <a:uLnTx/>
              <a:uFill>
                <a:solidFill>
                  <a:srgbClr val="000000"/>
                </a:solidFill>
              </a:uFill>
              <a:latin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8218970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Use of Virtualization Toda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Use of Virtualization Today</a:t>
            </a:r>
          </a:p>
        </p:txBody>
      </p:sp>
      <p:sp>
        <p:nvSpPr>
          <p:cNvPr id="246" name="Data centers:…"/>
          <p:cNvSpPr txBox="1">
            <a:spLocks noGrp="1"/>
          </p:cNvSpPr>
          <p:nvPr>
            <p:ph type="body" idx="1"/>
          </p:nvPr>
        </p:nvSpPr>
        <p:spPr>
          <a:xfrm>
            <a:off x="215900" y="1135062"/>
            <a:ext cx="8674100" cy="5257800"/>
          </a:xfrm>
          <a:prstGeom prst="rect">
            <a:avLst/>
          </a:prstGeom>
        </p:spPr>
        <p:txBody>
          <a:bodyPr/>
          <a:lstStyle/>
          <a:p>
            <a:pPr marL="831214" indent="-333374"/>
            <a:r>
              <a:rPr dirty="0"/>
              <a:t>Data centers:</a:t>
            </a:r>
          </a:p>
          <a:p>
            <a:pPr marL="1183639" lvl="1" indent="-228600"/>
            <a:r>
              <a:rPr dirty="0"/>
              <a:t>server consolidation: pack multiple virtual servers onto a smaller number of physical server</a:t>
            </a:r>
            <a:r>
              <a:rPr lang="en-US" dirty="0"/>
              <a:t>s</a:t>
            </a:r>
            <a:endParaRPr dirty="0"/>
          </a:p>
          <a:p>
            <a:pPr marL="1686559" lvl="2" indent="-274319"/>
            <a:r>
              <a:rPr dirty="0"/>
              <a:t>saves hardware costs, power and cooling costs</a:t>
            </a:r>
          </a:p>
          <a:p>
            <a:pPr marL="831214" indent="-333374"/>
            <a:r>
              <a:rPr dirty="0"/>
              <a:t>Cloud computing: rent virtual servers</a:t>
            </a:r>
          </a:p>
          <a:p>
            <a:pPr marL="1183639" lvl="1" indent="-228600"/>
            <a:r>
              <a:rPr dirty="0"/>
              <a:t>cloud provider controls physical machines and mapping of virtual servers to physical hosts</a:t>
            </a:r>
          </a:p>
          <a:p>
            <a:pPr marL="1183639" lvl="1" indent="-228600"/>
            <a:r>
              <a:rPr dirty="0"/>
              <a:t>User gets root access on virtual server</a:t>
            </a:r>
          </a:p>
          <a:p>
            <a:pPr marL="831214" indent="-333374"/>
            <a:r>
              <a:rPr dirty="0"/>
              <a:t>Desktop computing: </a:t>
            </a:r>
          </a:p>
          <a:p>
            <a:pPr marL="1183639" lvl="1" indent="-228600"/>
            <a:r>
              <a:rPr dirty="0"/>
              <a:t>Multi-platform software development </a:t>
            </a:r>
          </a:p>
          <a:p>
            <a:pPr marL="1183639" lvl="1" indent="-228600"/>
            <a:r>
              <a:rPr dirty="0"/>
              <a:t>Testing machines</a:t>
            </a:r>
          </a:p>
          <a:p>
            <a:pPr marL="1183639" lvl="1" indent="-228600"/>
            <a:r>
              <a:rPr dirty="0"/>
              <a:t>Run apps from another platform</a:t>
            </a:r>
          </a:p>
        </p:txBody>
      </p:sp>
      <p:sp>
        <p:nvSpPr>
          <p:cNvPr id="2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9E13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sym typeface="Times New Roman"/>
              </a:rPr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E1300"/>
              </a:solidFill>
              <a:effectLst/>
              <a:uLnTx/>
              <a:uFill>
                <a:solidFill>
                  <a:srgbClr val="000000"/>
                </a:solidFill>
              </a:uFill>
              <a:latin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19664230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160182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Stages of Docker Containers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57525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311700" y="12660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Terminology </a:t>
            </a:r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11700" y="942535"/>
            <a:ext cx="8520600" cy="44835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" dirty="0">
                <a:solidFill>
                  <a:srgbClr val="000000"/>
                </a:solidFill>
              </a:rPr>
              <a:t>Docker Image</a:t>
            </a:r>
            <a:endParaRPr dirty="0">
              <a:solidFill>
                <a:srgbClr val="000000"/>
              </a:solidFill>
            </a:endParaRPr>
          </a:p>
          <a:p>
            <a:pPr marL="914400" indent="-317500">
              <a:spcBef>
                <a:spcPts val="1600"/>
              </a:spcBef>
              <a:buClr>
                <a:srgbClr val="000000"/>
              </a:buClr>
              <a:buSzPts val="1400"/>
            </a:pPr>
            <a:r>
              <a:rPr lang="en" dirty="0">
                <a:solidFill>
                  <a:srgbClr val="000000"/>
                </a:solidFill>
              </a:rPr>
              <a:t>In plain terms, an image is a snapshot of Docker container (can’t change)</a:t>
            </a:r>
            <a:endParaRPr dirty="0">
              <a:solidFill>
                <a:srgbClr val="000000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" dirty="0">
                <a:solidFill>
                  <a:srgbClr val="000000"/>
                </a:solidFill>
              </a:rPr>
              <a:t>Docker Container</a:t>
            </a:r>
            <a:endParaRPr dirty="0">
              <a:solidFill>
                <a:srgbClr val="000000"/>
              </a:solidFill>
            </a:endParaRPr>
          </a:p>
          <a:p>
            <a:pPr marL="914400" indent="-317500">
              <a:spcBef>
                <a:spcPts val="1600"/>
              </a:spcBef>
              <a:buClr>
                <a:srgbClr val="000000"/>
              </a:buClr>
              <a:buSzPts val="1400"/>
            </a:pPr>
            <a:r>
              <a:rPr lang="en" dirty="0">
                <a:solidFill>
                  <a:srgbClr val="000000"/>
                </a:solidFill>
              </a:rPr>
              <a:t>Once the image is uploaded to an image registry (Docker Hub), it can be pulled by users </a:t>
            </a:r>
            <a:endParaRPr dirty="0">
              <a:solidFill>
                <a:srgbClr val="000000"/>
              </a:solidFill>
            </a:endParaRPr>
          </a:p>
          <a:p>
            <a:pPr marL="914400" indent="-317500">
              <a:buClr>
                <a:srgbClr val="000000"/>
              </a:buClr>
              <a:buSzPts val="1400"/>
            </a:pPr>
            <a:r>
              <a:rPr lang="en" dirty="0">
                <a:solidFill>
                  <a:srgbClr val="000000"/>
                </a:solidFill>
              </a:rPr>
              <a:t>When an image is pulled and “run” it becomes a container </a:t>
            </a:r>
            <a:endParaRPr dirty="0">
              <a:solidFill>
                <a:srgbClr val="000000"/>
              </a:solidFill>
            </a:endParaRPr>
          </a:p>
          <a:p>
            <a:pPr marL="914400" indent="-317500">
              <a:buClr>
                <a:srgbClr val="000000"/>
              </a:buClr>
              <a:buSzPts val="1400"/>
            </a:pPr>
            <a:r>
              <a:rPr lang="en" dirty="0">
                <a:solidFill>
                  <a:srgbClr val="000000"/>
                </a:solidFill>
              </a:rPr>
              <a:t>Very similar to cloning a repository from </a:t>
            </a:r>
            <a:r>
              <a:rPr lang="en" dirty="0" err="1">
                <a:solidFill>
                  <a:srgbClr val="000000"/>
                </a:solidFill>
              </a:rPr>
              <a:t>github</a:t>
            </a:r>
            <a:r>
              <a:rPr lang="en" dirty="0">
                <a:solidFill>
                  <a:srgbClr val="000000"/>
                </a:solidFill>
              </a:rPr>
              <a:t> and running it on your machine </a:t>
            </a:r>
            <a:endParaRPr dirty="0">
              <a:solidFill>
                <a:srgbClr val="000000"/>
              </a:solidFill>
            </a:endParaRPr>
          </a:p>
          <a:p>
            <a:pPr marL="914400" indent="-317500">
              <a:buClr>
                <a:srgbClr val="000000"/>
              </a:buClr>
              <a:buSzPts val="1400"/>
            </a:pPr>
            <a:r>
              <a:rPr lang="en" dirty="0">
                <a:solidFill>
                  <a:srgbClr val="000000"/>
                </a:solidFill>
              </a:rPr>
              <a:t>The work you do will not affect the state of the image on the registry </a:t>
            </a:r>
            <a:endParaRPr dirty="0">
              <a:solidFill>
                <a:srgbClr val="000000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42914227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Creating an Image </a:t>
            </a:r>
            <a:endParaRPr dirty="0"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311700" y="801858"/>
            <a:ext cx="8520600" cy="55145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</a:pPr>
            <a:r>
              <a:rPr lang="en" sz="2400" dirty="0">
                <a:solidFill>
                  <a:srgbClr val="000000"/>
                </a:solidFill>
              </a:rPr>
              <a:t>Best Practice for creating an image is to use a </a:t>
            </a:r>
            <a:r>
              <a:rPr lang="en" sz="2400" dirty="0" err="1">
                <a:solidFill>
                  <a:srgbClr val="000000"/>
                </a:solidFill>
              </a:rPr>
              <a:t>Dockerfile</a:t>
            </a:r>
            <a:endParaRPr sz="2400" dirty="0">
              <a:solidFill>
                <a:srgbClr val="000000"/>
              </a:solidFill>
            </a:endParaRPr>
          </a:p>
          <a:p>
            <a:pPr>
              <a:buClr>
                <a:srgbClr val="000000"/>
              </a:buClr>
            </a:pPr>
            <a:r>
              <a:rPr lang="en" sz="2400" dirty="0">
                <a:solidFill>
                  <a:srgbClr val="000000"/>
                </a:solidFill>
              </a:rPr>
              <a:t>A </a:t>
            </a:r>
            <a:r>
              <a:rPr lang="en" sz="2400" dirty="0" err="1">
                <a:solidFill>
                  <a:srgbClr val="000000"/>
                </a:solidFill>
              </a:rPr>
              <a:t>Dockerfile</a:t>
            </a:r>
            <a:r>
              <a:rPr lang="en" sz="2400" dirty="0">
                <a:solidFill>
                  <a:srgbClr val="000000"/>
                </a:solidFill>
              </a:rPr>
              <a:t> is a manifest with command line entries that can convert your code into an image</a:t>
            </a:r>
            <a:endParaRPr sz="2400" dirty="0">
              <a:solidFill>
                <a:srgbClr val="000000"/>
              </a:solidFill>
            </a:endParaRPr>
          </a:p>
          <a:p>
            <a:pPr>
              <a:buClr>
                <a:srgbClr val="000000"/>
              </a:buClr>
            </a:pPr>
            <a:r>
              <a:rPr lang="en" sz="2400" dirty="0">
                <a:solidFill>
                  <a:srgbClr val="000000"/>
                </a:solidFill>
              </a:rPr>
              <a:t>In this manifest, you describe the packages and libraries to install for container startup</a:t>
            </a:r>
            <a:endParaRPr sz="2400" dirty="0">
              <a:solidFill>
                <a:srgbClr val="000000"/>
              </a:solidFill>
            </a:endParaRPr>
          </a:p>
          <a:p>
            <a:pPr>
              <a:buClr>
                <a:srgbClr val="000000"/>
              </a:buClr>
            </a:pPr>
            <a:r>
              <a:rPr lang="en" sz="2400" dirty="0" err="1">
                <a:solidFill>
                  <a:srgbClr val="000000"/>
                </a:solidFill>
              </a:rPr>
              <a:t>Dockerfile</a:t>
            </a:r>
            <a:r>
              <a:rPr lang="en" sz="2400" dirty="0">
                <a:solidFill>
                  <a:srgbClr val="000000"/>
                </a:solidFill>
              </a:rPr>
              <a:t> also holds the path of the scripts that will be </a:t>
            </a:r>
            <a:r>
              <a:rPr lang="en" sz="2400" dirty="0" err="1">
                <a:solidFill>
                  <a:srgbClr val="000000"/>
                </a:solidFill>
              </a:rPr>
              <a:t>includ</a:t>
            </a:r>
            <a:r>
              <a:rPr lang="en-US" sz="2400" dirty="0">
                <a:solidFill>
                  <a:srgbClr val="000000"/>
                </a:solidFill>
              </a:rPr>
              <a:t>ed</a:t>
            </a:r>
            <a:r>
              <a:rPr lang="en" sz="2400" dirty="0">
                <a:solidFill>
                  <a:srgbClr val="000000"/>
                </a:solidFill>
              </a:rPr>
              <a:t> in the container</a:t>
            </a:r>
            <a:endParaRPr sz="2400" dirty="0">
              <a:solidFill>
                <a:srgbClr val="000000"/>
              </a:solidFill>
            </a:endParaRPr>
          </a:p>
          <a:p>
            <a:pPr>
              <a:buClr>
                <a:srgbClr val="000000"/>
              </a:buClr>
            </a:pPr>
            <a:r>
              <a:rPr lang="en" sz="2400" dirty="0">
                <a:solidFill>
                  <a:srgbClr val="000000"/>
                </a:solidFill>
              </a:rPr>
              <a:t>After the file is properly constructed, a “docker build” command will create an image with the contents provided in the manifest </a:t>
            </a:r>
            <a:endParaRPr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61658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6372665" y="2938949"/>
            <a:ext cx="2771335" cy="197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42857"/>
              </a:lnSpc>
              <a:buClr>
                <a:srgbClr val="000000"/>
              </a:buClr>
            </a:pPr>
            <a:r>
              <a:rPr lang="en" b="1" kern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Dockerfile.yml</a:t>
            </a:r>
            <a:endParaRPr b="1" kern="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lnSpc>
                <a:spcPct val="142857"/>
              </a:lnSpc>
              <a:buClr>
                <a:srgbClr val="000000"/>
              </a:buClr>
            </a:pPr>
            <a:r>
              <a:rPr lang="en" sz="1100" kern="0" dirty="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100" kern="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python:2.7</a:t>
            </a:r>
            <a:endParaRPr sz="1100" kern="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lnSpc>
                <a:spcPct val="142857"/>
              </a:lnSpc>
              <a:buClr>
                <a:srgbClr val="000000"/>
              </a:buClr>
            </a:pPr>
            <a:r>
              <a:rPr lang="en" sz="1100" kern="0" dirty="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COPY</a:t>
            </a:r>
            <a:r>
              <a:rPr lang="en" sz="1100" kern="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 kern="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memserv.py</a:t>
            </a:r>
            <a:r>
              <a:rPr lang="en" sz="1100" kern="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/</a:t>
            </a:r>
            <a:r>
              <a:rPr lang="en" sz="1100" kern="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usr</a:t>
            </a:r>
            <a:r>
              <a:rPr lang="en" sz="1100" kern="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" sz="1100" kern="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lang="en" sz="1100" kern="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endParaRPr sz="1100" kern="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lnSpc>
                <a:spcPct val="142857"/>
              </a:lnSpc>
              <a:buClr>
                <a:srgbClr val="000000"/>
              </a:buClr>
            </a:pPr>
            <a:r>
              <a:rPr lang="en" sz="1100" kern="0" dirty="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COPY</a:t>
            </a:r>
            <a:r>
              <a:rPr lang="en" sz="1100" kern="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 kern="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test_data.csv</a:t>
            </a:r>
            <a:r>
              <a:rPr lang="en" sz="1100" kern="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/</a:t>
            </a:r>
            <a:r>
              <a:rPr lang="en" sz="1100" kern="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usr</a:t>
            </a:r>
            <a:r>
              <a:rPr lang="en" sz="1100" kern="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" sz="1100" kern="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lang="en" sz="1100" kern="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endParaRPr sz="1100" kern="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lnSpc>
                <a:spcPct val="142857"/>
              </a:lnSpc>
              <a:buClr>
                <a:srgbClr val="000000"/>
              </a:buClr>
            </a:pPr>
            <a:r>
              <a:rPr lang="en" sz="1100" kern="0" dirty="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RUN</a:t>
            </a:r>
            <a:r>
              <a:rPr lang="en" sz="1100" kern="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pip install </a:t>
            </a:r>
            <a:r>
              <a:rPr lang="en" sz="1100" kern="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pymemcache</a:t>
            </a:r>
            <a:endParaRPr sz="1100" kern="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lnSpc>
                <a:spcPct val="142857"/>
              </a:lnSpc>
              <a:buClr>
                <a:srgbClr val="000000"/>
              </a:buClr>
            </a:pPr>
            <a:r>
              <a:rPr lang="en" sz="1100" kern="0" dirty="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RUN</a:t>
            </a:r>
            <a:r>
              <a:rPr lang="en" sz="1100" kern="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pip install pandas</a:t>
            </a:r>
          </a:p>
          <a:p>
            <a:pPr>
              <a:lnSpc>
                <a:spcPct val="142857"/>
              </a:lnSpc>
              <a:buClr>
                <a:srgbClr val="000000"/>
              </a:buClr>
            </a:pPr>
            <a:r>
              <a:rPr lang="en" sz="1100" kern="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CMD</a:t>
            </a:r>
            <a:r>
              <a:rPr lang="en" sz="1100" kern="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100" kern="0" dirty="0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["python", "</a:t>
            </a:r>
            <a:r>
              <a:rPr lang="en-US" sz="1100" kern="0" dirty="0" err="1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memserv.py</a:t>
            </a:r>
            <a:r>
              <a:rPr lang="en-US" sz="1100" kern="0" dirty="0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"]</a:t>
            </a:r>
            <a:endParaRPr sz="1100" kern="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000000"/>
              </a:buClr>
            </a:pP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89624" y="753000"/>
            <a:ext cx="6555375" cy="61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</a:pPr>
            <a:r>
              <a:rPr lang="en" sz="2000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Dockerfile</a:t>
            </a:r>
            <a:r>
              <a:rPr lang="en" sz="20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use the command tags in </a:t>
            </a:r>
            <a:r>
              <a:rPr lang="en" sz="2000" kern="0" dirty="0">
                <a:solidFill>
                  <a:srgbClr val="FF0000"/>
                </a:solidFill>
                <a:latin typeface="Arial"/>
                <a:cs typeface="Arial"/>
                <a:sym typeface="Arial"/>
              </a:rPr>
              <a:t>red</a:t>
            </a:r>
            <a:endParaRPr sz="2000" kern="0" dirty="0">
              <a:solidFill>
                <a:srgbClr val="FF0000"/>
              </a:solidFill>
              <a:latin typeface="Arial"/>
              <a:cs typeface="Arial"/>
              <a:sym typeface="Arial"/>
            </a:endParaRPr>
          </a:p>
          <a:p>
            <a:pPr marL="457200" indent="-317500"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20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The </a:t>
            </a:r>
            <a:r>
              <a:rPr lang="en" sz="2000" kern="0" dirty="0">
                <a:solidFill>
                  <a:srgbClr val="FF0000"/>
                </a:solidFill>
                <a:latin typeface="Arial"/>
                <a:cs typeface="Arial"/>
                <a:sym typeface="Arial"/>
              </a:rPr>
              <a:t>FROM</a:t>
            </a:r>
            <a:r>
              <a:rPr lang="en" sz="20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is pulling the python2.7 image from Docker Hub and using it as a launch pad for the rest of your image </a:t>
            </a:r>
            <a:endParaRPr sz="20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457200" indent="-317500"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20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The </a:t>
            </a:r>
            <a:r>
              <a:rPr lang="en" sz="2000" kern="0" dirty="0">
                <a:solidFill>
                  <a:srgbClr val="FF0000"/>
                </a:solidFill>
                <a:latin typeface="Arial"/>
                <a:cs typeface="Arial"/>
                <a:sym typeface="Arial"/>
              </a:rPr>
              <a:t>COPY</a:t>
            </a:r>
            <a:r>
              <a:rPr lang="en" sz="20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tag specifies a file or directory to copy over to the container; t</a:t>
            </a:r>
          </a:p>
          <a:p>
            <a:pPr marL="457200" indent="-317500"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20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Then it is started </a:t>
            </a:r>
            <a:endParaRPr sz="20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457200" indent="-317500"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20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The </a:t>
            </a:r>
            <a:r>
              <a:rPr lang="en" sz="2000" kern="0" dirty="0">
                <a:solidFill>
                  <a:srgbClr val="FF0000"/>
                </a:solidFill>
                <a:latin typeface="Arial"/>
                <a:cs typeface="Arial"/>
                <a:sym typeface="Arial"/>
              </a:rPr>
              <a:t>RUN</a:t>
            </a:r>
            <a:r>
              <a:rPr lang="en" sz="20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tag is used for specifying commands that the container will have to use to create a workable environment for your code to run </a:t>
            </a:r>
            <a:endParaRPr sz="20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914400" lvl="1" indent="-317500"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20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In this example, the code will utilize the </a:t>
            </a:r>
            <a:r>
              <a:rPr lang="en" sz="2000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pymemcache</a:t>
            </a:r>
            <a:r>
              <a:rPr lang="en" sz="20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and pandas libraries</a:t>
            </a:r>
            <a:endParaRPr sz="20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914400" lvl="1" indent="-317500"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20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The RUN tags will install the respective packages for these libraries</a:t>
            </a:r>
            <a:endParaRPr sz="20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457200" indent="-317500"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20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There is also a </a:t>
            </a:r>
            <a:r>
              <a:rPr lang="en" sz="2000" kern="0" dirty="0">
                <a:solidFill>
                  <a:srgbClr val="FF0000"/>
                </a:solidFill>
                <a:latin typeface="Arial"/>
                <a:cs typeface="Arial"/>
                <a:sym typeface="Arial"/>
              </a:rPr>
              <a:t>CMD </a:t>
            </a:r>
            <a:r>
              <a:rPr lang="en" sz="20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tag that will initiate your script. So in this case include </a:t>
            </a:r>
            <a:r>
              <a:rPr lang="en" sz="1100" kern="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python </a:t>
            </a:r>
            <a:r>
              <a:rPr lang="en" sz="1100" kern="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memserv.py</a:t>
            </a:r>
            <a:r>
              <a:rPr lang="en" sz="1100" kern="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2000" kern="0" dirty="0">
                <a:solidFill>
                  <a:srgbClr val="24292E"/>
                </a:solidFill>
                <a:highlight>
                  <a:srgbClr val="FFFFFF"/>
                </a:highlight>
                <a:latin typeface="Arial"/>
                <a:cs typeface="Arial"/>
                <a:sym typeface="Arial"/>
              </a:rPr>
              <a:t>next to </a:t>
            </a:r>
            <a:r>
              <a:rPr lang="en" sz="2000" kern="0" dirty="0">
                <a:solidFill>
                  <a:srgbClr val="FF0000"/>
                </a:solidFill>
                <a:highlight>
                  <a:srgbClr val="FFFFFF"/>
                </a:highlight>
                <a:latin typeface="Arial"/>
                <a:cs typeface="Arial"/>
                <a:sym typeface="Arial"/>
              </a:rPr>
              <a:t>CMD</a:t>
            </a:r>
          </a:p>
          <a:p>
            <a:pPr marL="457200" indent="-317500">
              <a:buClr>
                <a:srgbClr val="000000"/>
              </a:buClr>
              <a:buSzPts val="1400"/>
              <a:buFont typeface="Arial"/>
              <a:buChar char="●"/>
            </a:pPr>
            <a:endParaRPr lang="en" sz="2000" kern="0" dirty="0">
              <a:solidFill>
                <a:srgbClr val="FF0000"/>
              </a:solidFill>
              <a:highlight>
                <a:srgbClr val="FFFFFF"/>
              </a:highlight>
              <a:latin typeface="Arial"/>
              <a:cs typeface="Arial"/>
              <a:sym typeface="Arial"/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1707409" y="0"/>
            <a:ext cx="6454500" cy="7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</a:pPr>
            <a:r>
              <a:rPr lang="en" sz="28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Inside of a </a:t>
            </a:r>
            <a:r>
              <a:rPr lang="en" sz="2800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Dockerfile</a:t>
            </a:r>
            <a:endParaRPr sz="28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7393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466444" y="26126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Creating an Image Cont’d</a:t>
            </a:r>
            <a:endParaRPr dirty="0"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833966"/>
            <a:ext cx="8520600" cy="32793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" sz="2000" dirty="0">
                <a:solidFill>
                  <a:srgbClr val="000000"/>
                </a:solidFill>
              </a:rPr>
              <a:t>After your </a:t>
            </a:r>
            <a:r>
              <a:rPr lang="en" sz="2000" dirty="0" err="1">
                <a:solidFill>
                  <a:srgbClr val="000000"/>
                </a:solidFill>
              </a:rPr>
              <a:t>Dockerfile</a:t>
            </a:r>
            <a:r>
              <a:rPr lang="en" sz="2000" dirty="0">
                <a:solidFill>
                  <a:srgbClr val="000000"/>
                </a:solidFill>
              </a:rPr>
              <a:t> has been properly set up to your needs, it is time to build</a:t>
            </a:r>
            <a:endParaRPr sz="2000" dirty="0">
              <a:solidFill>
                <a:srgbClr val="000000"/>
              </a:solidFill>
            </a:endParaRPr>
          </a:p>
          <a:p>
            <a:pPr indent="-304800">
              <a:lnSpc>
                <a:spcPct val="142857"/>
              </a:lnSpc>
              <a:spcBef>
                <a:spcPts val="1600"/>
              </a:spcBef>
              <a:buClr>
                <a:srgbClr val="000000"/>
              </a:buClr>
              <a:buSzPts val="1200"/>
            </a:pP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$docker build -t &lt;</a:t>
            </a:r>
            <a:r>
              <a:rPr lang="en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img_name</a:t>
            </a: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 .</a:t>
            </a:r>
            <a:endParaRPr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lvl="1" indent="-304800">
              <a:lnSpc>
                <a:spcPct val="142857"/>
              </a:lnSpc>
              <a:spcBef>
                <a:spcPts val="0"/>
              </a:spcBef>
              <a:buClr>
                <a:srgbClr val="000000"/>
              </a:buClr>
              <a:buSzPts val="1200"/>
            </a:pPr>
            <a:r>
              <a:rPr lang="en" sz="1800" dirty="0">
                <a:solidFill>
                  <a:srgbClr val="000000"/>
                </a:solidFill>
                <a:highlight>
                  <a:srgbClr val="FFFFFF"/>
                </a:highlight>
              </a:rPr>
              <a:t>“.” here states that the </a:t>
            </a:r>
            <a:r>
              <a:rPr lang="en" sz="1800" dirty="0" err="1">
                <a:solidFill>
                  <a:srgbClr val="000000"/>
                </a:solidFill>
                <a:highlight>
                  <a:srgbClr val="FFFFFF"/>
                </a:highlight>
              </a:rPr>
              <a:t>Dockerfile</a:t>
            </a:r>
            <a:r>
              <a:rPr lang="en" sz="1800" dirty="0">
                <a:solidFill>
                  <a:srgbClr val="000000"/>
                </a:solidFill>
                <a:highlight>
                  <a:srgbClr val="FFFFFF"/>
                </a:highlight>
              </a:rPr>
              <a:t> is in the current working directory. Because docker looks for a file titled “</a:t>
            </a:r>
            <a:r>
              <a:rPr lang="en" sz="1800" dirty="0" err="1">
                <a:solidFill>
                  <a:srgbClr val="000000"/>
                </a:solidFill>
                <a:highlight>
                  <a:srgbClr val="FFFFFF"/>
                </a:highlight>
              </a:rPr>
              <a:t>Dockerfile.yml</a:t>
            </a:r>
            <a:r>
              <a:rPr lang="en" sz="1800" dirty="0">
                <a:solidFill>
                  <a:srgbClr val="000000"/>
                </a:solidFill>
                <a:highlight>
                  <a:srgbClr val="FFFFFF"/>
                </a:highlight>
              </a:rPr>
              <a:t>”, only one should be included in the directory. You can specify the path to a certain </a:t>
            </a:r>
            <a:r>
              <a:rPr lang="en" sz="1800" dirty="0" err="1">
                <a:solidFill>
                  <a:srgbClr val="000000"/>
                </a:solidFill>
                <a:highlight>
                  <a:srgbClr val="FFFFFF"/>
                </a:highlight>
              </a:rPr>
              <a:t>Dockerfile</a:t>
            </a:r>
            <a:r>
              <a:rPr lang="en" sz="1800" dirty="0">
                <a:solidFill>
                  <a:srgbClr val="000000"/>
                </a:solidFill>
                <a:highlight>
                  <a:srgbClr val="FFFFFF"/>
                </a:highlight>
              </a:rPr>
              <a:t> with -f instead of using “.” </a:t>
            </a:r>
          </a:p>
          <a:p>
            <a:pPr indent="-304800">
              <a:lnSpc>
                <a:spcPct val="142857"/>
              </a:lnSpc>
              <a:buClr>
                <a:srgbClr val="000000"/>
              </a:buClr>
              <a:buSzPts val="1200"/>
            </a:pP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</a:rPr>
              <a:t>Run the command </a:t>
            </a: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$docker images </a:t>
            </a: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</a:rPr>
              <a:t>to see if your image was created successfully</a:t>
            </a:r>
            <a:endParaRPr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>
              <a:lnSpc>
                <a:spcPct val="142857"/>
              </a:lnSpc>
              <a:buNone/>
            </a:pP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endParaRPr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lnSpc>
                <a:spcPct val="142857"/>
              </a:lnSpc>
              <a:buNone/>
            </a:pPr>
            <a:endParaRPr sz="1200" dirty="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234328" y="4890851"/>
            <a:ext cx="8675344" cy="12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Clr>
                <a:srgbClr val="000000"/>
              </a:buClr>
              <a:buSzPts val="1100"/>
            </a:pPr>
            <a:r>
              <a:rPr lang="en" sz="1400" kern="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REPOSITORY          TAG                 IMAGE ID            CREATED             SIZE                                                   </a:t>
            </a:r>
            <a:endParaRPr sz="1400" kern="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lnSpc>
                <a:spcPct val="115000"/>
              </a:lnSpc>
              <a:buClr>
                <a:srgbClr val="000000"/>
              </a:buClr>
              <a:buSzPts val="1100"/>
            </a:pPr>
            <a:r>
              <a:rPr lang="en" sz="1400" kern="0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memserv</a:t>
            </a:r>
            <a:r>
              <a:rPr lang="en" sz="1400" kern="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latest              </a:t>
            </a:r>
            <a:r>
              <a:rPr lang="en" sz="1400" kern="0" dirty="0">
                <a:solidFill>
                  <a:srgbClr val="000000"/>
                </a:solidFill>
                <a:highlight>
                  <a:srgbClr val="00FF00"/>
                </a:highlight>
                <a:latin typeface="Courier New"/>
                <a:ea typeface="Courier New"/>
                <a:cs typeface="Courier New"/>
                <a:sym typeface="Courier New"/>
              </a:rPr>
              <a:t>c31677a6c7d8</a:t>
            </a:r>
            <a:r>
              <a:rPr lang="en" sz="1400" kern="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47 seconds ago      1.03GB                                                 </a:t>
            </a:r>
            <a:endParaRPr sz="1400" kern="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lnSpc>
                <a:spcPct val="115000"/>
              </a:lnSpc>
              <a:buClr>
                <a:srgbClr val="000000"/>
              </a:buClr>
              <a:buSzPts val="1100"/>
            </a:pPr>
            <a:r>
              <a:rPr lang="en" sz="1400" kern="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python              2.7                 b707c2244b7d        2 weeks ago         886MB</a:t>
            </a:r>
            <a:endParaRPr sz="1400" kern="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000000"/>
              </a:buClr>
            </a:pP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44276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DE23F-5AE3-2C49-BCC8-ABBF0C32B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Hub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1C35C-FE82-E444-AB8C-198083CAB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Docker Hub: A cloud-based repository in which </a:t>
            </a:r>
            <a:r>
              <a:rPr lang="en-US" sz="2000" dirty="0">
                <a:hlinkClick r:id="rId2"/>
              </a:rPr>
              <a:t>Docker</a:t>
            </a:r>
            <a:r>
              <a:rPr lang="en-US" sz="2000" dirty="0"/>
              <a:t> users and partners create, test, store and distribute </a:t>
            </a:r>
            <a:r>
              <a:rPr lang="en-US" sz="2000" dirty="0">
                <a:hlinkClick r:id="rId3"/>
              </a:rPr>
              <a:t>container images</a:t>
            </a:r>
            <a:r>
              <a:rPr lang="en-US" sz="2000" dirty="0"/>
              <a:t>. </a:t>
            </a:r>
          </a:p>
          <a:p>
            <a:pPr lvl="1"/>
            <a:r>
              <a:rPr lang="en-US" sz="1600" dirty="0"/>
              <a:t>Docker Hub: a user can access public, open source image </a:t>
            </a:r>
            <a:r>
              <a:rPr lang="en-US" sz="1600" dirty="0">
                <a:hlinkClick r:id="rId4"/>
              </a:rPr>
              <a:t>repositories</a:t>
            </a:r>
            <a:r>
              <a:rPr lang="en-US" sz="1600" dirty="0"/>
              <a:t> &amp; space to create own private repositories.</a:t>
            </a:r>
          </a:p>
          <a:p>
            <a:r>
              <a:rPr lang="en-US" sz="2000" dirty="0"/>
              <a:t>Image repositories: spaces within Docker Hub - users upload and store container images. </a:t>
            </a:r>
          </a:p>
          <a:p>
            <a:pPr lvl="1"/>
            <a:r>
              <a:rPr lang="en-US" sz="1600" dirty="0"/>
              <a:t>Public repositories: enable users share &amp; collaborate on container images. </a:t>
            </a:r>
          </a:p>
          <a:p>
            <a:pPr lvl="1"/>
            <a:r>
              <a:rPr lang="en-US" sz="1600" dirty="0"/>
              <a:t>Private repositories protect any sensitive or proprietary data</a:t>
            </a:r>
          </a:p>
          <a:p>
            <a:r>
              <a:rPr lang="en-US" sz="2000" dirty="0"/>
              <a:t>Docker users can opt for Docker Registry: a stateless, open source server-side application </a:t>
            </a:r>
          </a:p>
          <a:p>
            <a:pPr lvl="1"/>
            <a:r>
              <a:rPr lang="en-US" sz="1600" dirty="0"/>
              <a:t>Can maintain the storage and distribution of Docker images in private company repository instead of relying on Docker’s cloud service.</a:t>
            </a:r>
          </a:p>
        </p:txBody>
      </p:sp>
    </p:spTree>
    <p:extLst>
      <p:ext uri="{BB962C8B-B14F-4D97-AF65-F5344CB8AC3E}">
        <p14:creationId xmlns:p14="http://schemas.microsoft.com/office/powerpoint/2010/main" val="5177762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623400" y="28940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Pushing Image to a Registry </a:t>
            </a:r>
            <a:endParaRPr dirty="0"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311700" y="862101"/>
            <a:ext cx="8520600" cy="48870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" dirty="0">
                <a:solidFill>
                  <a:srgbClr val="000000"/>
                </a:solidFill>
              </a:rPr>
              <a:t>Making an account with Docker Hub is necessary for the next steps</a:t>
            </a:r>
            <a:endParaRPr dirty="0">
              <a:solidFill>
                <a:srgbClr val="000000"/>
              </a:solidFill>
            </a:endParaRPr>
          </a:p>
          <a:p>
            <a:pPr indent="-317500">
              <a:lnSpc>
                <a:spcPct val="100000"/>
              </a:lnSpc>
              <a:spcBef>
                <a:spcPts val="1600"/>
              </a:spcBef>
              <a:buClr>
                <a:srgbClr val="000000"/>
              </a:buClr>
              <a:buSzPts val="1400"/>
            </a:pPr>
            <a:r>
              <a:rPr lang="en" dirty="0">
                <a:solidFill>
                  <a:srgbClr val="000000"/>
                </a:solidFill>
              </a:rPr>
              <a:t>Once the Image is ready, we can push this image onto the registry</a:t>
            </a:r>
            <a:endParaRPr dirty="0">
              <a:solidFill>
                <a:srgbClr val="00000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lang="en" sz="1800" dirty="0">
                <a:solidFill>
                  <a:srgbClr val="000000"/>
                </a:solidFill>
              </a:rPr>
              <a:t>Think of pushing your code to </a:t>
            </a:r>
            <a:r>
              <a:rPr lang="en" sz="1800" dirty="0" err="1">
                <a:solidFill>
                  <a:srgbClr val="000000"/>
                </a:solidFill>
              </a:rPr>
              <a:t>github</a:t>
            </a:r>
            <a:r>
              <a:rPr lang="en" sz="1800" dirty="0">
                <a:solidFill>
                  <a:srgbClr val="000000"/>
                </a:solidFill>
              </a:rPr>
              <a:t>, making your code mobile</a:t>
            </a:r>
            <a:endParaRPr sz="1800" dirty="0">
              <a:solidFill>
                <a:srgbClr val="00000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lang="en" sz="1800" dirty="0">
                <a:solidFill>
                  <a:srgbClr val="000000"/>
                </a:solidFill>
              </a:rPr>
              <a:t>This is necessary when using images for Kubernetes pod, deployments, and services </a:t>
            </a:r>
            <a:endParaRPr sz="1800" dirty="0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" dirty="0">
                <a:solidFill>
                  <a:srgbClr val="000000"/>
                </a:solidFill>
              </a:rPr>
              <a:t>First log into your Docker Hub account </a:t>
            </a:r>
            <a:endParaRPr dirty="0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$docker login --username=&lt;username&gt;</a:t>
            </a:r>
            <a:endParaRPr dirty="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</a:rPr>
              <a:t>Enter password</a:t>
            </a:r>
            <a:endParaRPr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</a:rPr>
              <a:t>Then tag the image to keep track of </a:t>
            </a:r>
            <a:r>
              <a:rPr lang="en-US" dirty="0">
                <a:solidFill>
                  <a:schemeClr val="dk1"/>
                </a:solidFill>
                <a:highlight>
                  <a:srgbClr val="FFFFFF"/>
                </a:highlight>
              </a:rPr>
              <a:t>the 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</a:rPr>
              <a:t>version</a:t>
            </a:r>
            <a:endParaRPr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$docker tag &lt;</a:t>
            </a:r>
            <a:r>
              <a:rPr lang="en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img_id</a:t>
            </a:r>
            <a:r>
              <a:rPr lang="en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&lt;</a:t>
            </a:r>
            <a:r>
              <a:rPr lang="en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account_name</a:t>
            </a:r>
            <a:r>
              <a:rPr lang="en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img_name:tag</a:t>
            </a:r>
            <a:r>
              <a:rPr lang="en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00000"/>
              </a:lnSpc>
              <a:buNone/>
            </a:pPr>
            <a:endParaRPr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" dirty="0">
                <a:solidFill>
                  <a:schemeClr val="dk1"/>
                </a:solidFill>
              </a:rPr>
              <a:t>Then Push</a:t>
            </a:r>
            <a:endParaRPr dirty="0">
              <a:solidFill>
                <a:schemeClr val="dk1"/>
              </a:solidFill>
            </a:endParaRPr>
          </a:p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$docker push &lt;</a:t>
            </a:r>
            <a:r>
              <a:rPr lang="en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account_name</a:t>
            </a:r>
            <a:r>
              <a:rPr lang="en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img_name</a:t>
            </a:r>
            <a:r>
              <a:rPr lang="en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User pulls an image from Docker Hub with the </a:t>
            </a:r>
            <a:r>
              <a:rPr lang="en-US" dirty="0">
                <a:solidFill>
                  <a:schemeClr val="dk1"/>
                </a:solidFill>
                <a:latin typeface="Courier New"/>
                <a:cs typeface="Courier New"/>
              </a:rPr>
              <a:t>docker pull </a:t>
            </a:r>
            <a:r>
              <a:rPr lang="en-US" dirty="0">
                <a:solidFill>
                  <a:schemeClr val="dk1"/>
                </a:solidFill>
              </a:rPr>
              <a:t>command</a:t>
            </a: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0353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340500" y="13465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Creating a Container </a:t>
            </a:r>
            <a:endParaRPr dirty="0"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1"/>
          </p:nvPr>
        </p:nvSpPr>
        <p:spPr>
          <a:xfrm>
            <a:off x="311700" y="844062"/>
            <a:ext cx="8520600" cy="40198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" dirty="0">
                <a:solidFill>
                  <a:srgbClr val="000000"/>
                </a:solidFill>
              </a:rPr>
              <a:t>As mentioned before, a container is created when a </a:t>
            </a:r>
            <a:r>
              <a:rPr lang="en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run</a:t>
            </a:r>
            <a:r>
              <a:rPr lang="en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dirty="0">
                <a:solidFill>
                  <a:srgbClr val="000000"/>
                </a:solidFill>
              </a:rPr>
              <a:t>command is performed on an image</a:t>
            </a:r>
            <a:endParaRPr dirty="0">
              <a:solidFill>
                <a:srgbClr val="000000"/>
              </a:solidFill>
            </a:endParaRPr>
          </a:p>
          <a:p>
            <a:pPr indent="-317500">
              <a:spcBef>
                <a:spcPts val="1600"/>
              </a:spcBef>
              <a:buClr>
                <a:srgbClr val="000000"/>
              </a:buClr>
              <a:buSzPts val="1400"/>
            </a:pPr>
            <a:r>
              <a:rPr lang="en" dirty="0">
                <a:solidFill>
                  <a:srgbClr val="000000"/>
                </a:solidFill>
              </a:rPr>
              <a:t>In an earlier slide we saw that </a:t>
            </a:r>
            <a:r>
              <a:rPr lang="en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$docker</a:t>
            </a:r>
            <a:r>
              <a:rPr lang="en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image </a:t>
            </a:r>
            <a:r>
              <a:rPr lang="en" dirty="0">
                <a:solidFill>
                  <a:srgbClr val="000000"/>
                </a:solidFill>
              </a:rPr>
              <a:t>gives us information about our images </a:t>
            </a:r>
            <a:endParaRPr dirty="0">
              <a:solidFill>
                <a:srgbClr val="000000"/>
              </a:solidFill>
            </a:endParaRPr>
          </a:p>
          <a:p>
            <a:pPr indent="-317500">
              <a:buClr>
                <a:srgbClr val="000000"/>
              </a:buClr>
              <a:buSzPts val="1400"/>
            </a:pPr>
            <a:r>
              <a:rPr lang="en" dirty="0">
                <a:solidFill>
                  <a:srgbClr val="000000"/>
                </a:solidFill>
              </a:rPr>
              <a:t>We use  the image ID provided to specify what image to run</a:t>
            </a:r>
            <a:endParaRPr dirty="0">
              <a:solidFill>
                <a:srgbClr val="000000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docker run -it -d --network=&lt;</a:t>
            </a:r>
            <a:r>
              <a:rPr lang="en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net_name</a:t>
            </a:r>
            <a:r>
              <a:rPr lang="en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dirty="0">
                <a:solidFill>
                  <a:srgbClr val="000000"/>
                </a:solidFill>
                <a:highlight>
                  <a:srgbClr val="00FF00"/>
                </a:highlight>
                <a:latin typeface="Courier New"/>
                <a:ea typeface="Courier New"/>
                <a:cs typeface="Courier New"/>
                <a:sym typeface="Courier New"/>
              </a:rPr>
              <a:t>c31677a6c7d8</a:t>
            </a:r>
            <a:endParaRPr dirty="0">
              <a:solidFill>
                <a:srgbClr val="000000"/>
              </a:solidFill>
              <a:highlight>
                <a:srgbClr val="00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>
              <a:spcBef>
                <a:spcPts val="1600"/>
              </a:spcBef>
              <a:buClr>
                <a:srgbClr val="000000"/>
              </a:buClr>
              <a:buSzPts val="1400"/>
              <a:buFont typeface="Courier New"/>
              <a:buChar char="●"/>
            </a:pPr>
            <a:r>
              <a:rPr lang="en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-it </a:t>
            </a:r>
            <a:r>
              <a:rPr lang="en" dirty="0">
                <a:solidFill>
                  <a:srgbClr val="000000"/>
                </a:solidFill>
              </a:rPr>
              <a:t>allocates a </a:t>
            </a:r>
            <a:r>
              <a:rPr lang="en" dirty="0" err="1">
                <a:solidFill>
                  <a:srgbClr val="000000"/>
                </a:solidFill>
              </a:rPr>
              <a:t>tty</a:t>
            </a:r>
            <a:r>
              <a:rPr lang="en" dirty="0">
                <a:solidFill>
                  <a:srgbClr val="000000"/>
                </a:solidFill>
              </a:rPr>
              <a:t> for the container process</a:t>
            </a:r>
            <a:endParaRPr dirty="0">
              <a:solidFill>
                <a:srgbClr val="000000"/>
              </a:solidFill>
            </a:endParaRPr>
          </a:p>
          <a:p>
            <a:pPr indent="-317500">
              <a:buClr>
                <a:srgbClr val="000000"/>
              </a:buClr>
              <a:buSzPts val="1400"/>
              <a:buFont typeface="Courier New"/>
              <a:buChar char="●"/>
            </a:pPr>
            <a:r>
              <a:rPr lang="en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-d </a:t>
            </a:r>
            <a:r>
              <a:rPr lang="en" dirty="0">
                <a:solidFill>
                  <a:srgbClr val="000000"/>
                </a:solidFill>
              </a:rPr>
              <a:t>runs the process in detached mode</a:t>
            </a:r>
            <a:endParaRPr dirty="0">
              <a:solidFill>
                <a:srgbClr val="000000"/>
              </a:solidFill>
            </a:endParaRPr>
          </a:p>
          <a:p>
            <a:pPr indent="-317500">
              <a:buClr>
                <a:srgbClr val="000000"/>
              </a:buClr>
              <a:buSzPts val="1400"/>
            </a:pPr>
            <a:r>
              <a:rPr lang="en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--network </a:t>
            </a:r>
            <a:r>
              <a:rPr lang="en" dirty="0">
                <a:solidFill>
                  <a:srgbClr val="000000"/>
                </a:solidFill>
              </a:rPr>
              <a:t>specifies what network the container should attach to</a:t>
            </a:r>
            <a:endParaRPr dirty="0">
              <a:solidFill>
                <a:srgbClr val="000000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" dirty="0">
                <a:solidFill>
                  <a:srgbClr val="000000"/>
                </a:solidFill>
              </a:rPr>
              <a:t>Running </a:t>
            </a:r>
            <a:r>
              <a:rPr lang="en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$docker </a:t>
            </a:r>
            <a:r>
              <a:rPr lang="en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ps</a:t>
            </a:r>
            <a:r>
              <a:rPr lang="en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-a</a:t>
            </a:r>
            <a:r>
              <a:rPr lang="en" dirty="0">
                <a:solidFill>
                  <a:srgbClr val="000000"/>
                </a:solidFill>
              </a:rPr>
              <a:t> will give you all docker containers currently running </a:t>
            </a:r>
            <a:endParaRPr dirty="0">
              <a:solidFill>
                <a:srgbClr val="000000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endParaRPr dirty="0">
              <a:solidFill>
                <a:srgbClr val="000000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endParaRPr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93" name="Google Shape;93;p19"/>
          <p:cNvSpPr txBox="1"/>
          <p:nvPr/>
        </p:nvSpPr>
        <p:spPr>
          <a:xfrm>
            <a:off x="282900" y="5486400"/>
            <a:ext cx="8578200" cy="1083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Clr>
                <a:srgbClr val="000000"/>
              </a:buClr>
              <a:buSzPts val="1100"/>
            </a:pPr>
            <a:r>
              <a:rPr lang="en" sz="900" kern="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CONTAINER ID        IMAGE             COMMAND          CREATED           STATUS            PORTS            NAMES          </a:t>
            </a:r>
            <a:endParaRPr sz="900" kern="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lnSpc>
                <a:spcPct val="115000"/>
              </a:lnSpc>
              <a:buClr>
                <a:srgbClr val="000000"/>
              </a:buClr>
              <a:buSzPts val="1100"/>
            </a:pPr>
            <a:r>
              <a:rPr lang="en" sz="900" kern="0" dirty="0">
                <a:solidFill>
                  <a:srgbClr val="000000"/>
                </a:solidFill>
                <a:highlight>
                  <a:srgbClr val="FF9900"/>
                </a:highlight>
                <a:latin typeface="Courier New"/>
                <a:ea typeface="Courier New"/>
                <a:cs typeface="Courier New"/>
                <a:sym typeface="Courier New"/>
              </a:rPr>
              <a:t>ac4354485aa4</a:t>
            </a:r>
            <a:r>
              <a:rPr lang="en" sz="900" kern="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900" kern="0" dirty="0">
                <a:solidFill>
                  <a:srgbClr val="000000"/>
                </a:solidFill>
                <a:highlight>
                  <a:srgbClr val="00FF00"/>
                </a:highlight>
                <a:latin typeface="Courier New"/>
                <a:ea typeface="Courier New"/>
                <a:cs typeface="Courier New"/>
                <a:sym typeface="Courier New"/>
              </a:rPr>
              <a:t>c31677a6c7d8</a:t>
            </a:r>
            <a:r>
              <a:rPr lang="en" sz="900" kern="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"python2"         5 seconds ago     Up 3 seconds                       </a:t>
            </a:r>
            <a:r>
              <a:rPr lang="en" sz="900" kern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clever_banzai</a:t>
            </a:r>
            <a:endParaRPr sz="900" kern="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1542943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title"/>
          </p:nvPr>
        </p:nvSpPr>
        <p:spPr>
          <a:xfrm>
            <a:off x="311700" y="19092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Interacting with a Container</a:t>
            </a:r>
            <a:endParaRPr dirty="0"/>
          </a:p>
        </p:txBody>
      </p:sp>
      <p:sp>
        <p:nvSpPr>
          <p:cNvPr id="99" name="Google Shape;99;p20"/>
          <p:cNvSpPr txBox="1">
            <a:spLocks noGrp="1"/>
          </p:cNvSpPr>
          <p:nvPr>
            <p:ph type="body" idx="1"/>
          </p:nvPr>
        </p:nvSpPr>
        <p:spPr>
          <a:xfrm>
            <a:off x="311700" y="869252"/>
            <a:ext cx="8520600" cy="26500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" dirty="0">
                <a:solidFill>
                  <a:srgbClr val="000000"/>
                </a:solidFill>
              </a:rPr>
              <a:t>If a CMD tag was not specified in the </a:t>
            </a:r>
            <a:r>
              <a:rPr lang="en" dirty="0" err="1">
                <a:solidFill>
                  <a:srgbClr val="000000"/>
                </a:solidFill>
              </a:rPr>
              <a:t>Dockerfile</a:t>
            </a:r>
            <a:r>
              <a:rPr lang="en" dirty="0">
                <a:solidFill>
                  <a:srgbClr val="000000"/>
                </a:solidFill>
              </a:rPr>
              <a:t>, we have to go into the container and start the script in there</a:t>
            </a:r>
            <a:endParaRPr dirty="0">
              <a:solidFill>
                <a:srgbClr val="000000"/>
              </a:solidFill>
            </a:endParaRPr>
          </a:p>
          <a:p>
            <a:pPr indent="0">
              <a:spcBef>
                <a:spcPts val="1600"/>
              </a:spcBef>
              <a:buNone/>
            </a:pPr>
            <a:r>
              <a:rPr lang="en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$docker exec -it &lt;</a:t>
            </a:r>
            <a:r>
              <a:rPr lang="en" dirty="0">
                <a:solidFill>
                  <a:srgbClr val="000000"/>
                </a:solidFill>
                <a:highlight>
                  <a:srgbClr val="FF9900"/>
                </a:highlight>
                <a:latin typeface="Courier New"/>
                <a:ea typeface="Courier New"/>
                <a:cs typeface="Courier New"/>
                <a:sym typeface="Courier New"/>
              </a:rPr>
              <a:t>ac4354485aa4</a:t>
            </a:r>
            <a:r>
              <a:rPr lang="en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bash </a:t>
            </a:r>
            <a:r>
              <a:rPr lang="en" dirty="0">
                <a:solidFill>
                  <a:srgbClr val="000000"/>
                </a:solidFill>
              </a:rPr>
              <a:t>will allow you to run arbitrary commands inside of the container</a:t>
            </a:r>
            <a:endParaRPr dirty="0">
              <a:solidFill>
                <a:srgbClr val="000000"/>
              </a:solidFill>
            </a:endParaRPr>
          </a:p>
          <a:p>
            <a:pPr indent="0">
              <a:buNone/>
            </a:pPr>
            <a:endParaRPr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" dirty="0">
                <a:solidFill>
                  <a:srgbClr val="000000"/>
                </a:solidFill>
              </a:rPr>
              <a:t>Once you “get into” the container, all of the files you specified to copy over should be in /</a:t>
            </a:r>
            <a:r>
              <a:rPr lang="en" dirty="0" err="1">
                <a:solidFill>
                  <a:srgbClr val="000000"/>
                </a:solidFill>
              </a:rPr>
              <a:t>usr</a:t>
            </a:r>
            <a:r>
              <a:rPr lang="en" dirty="0">
                <a:solidFill>
                  <a:srgbClr val="000000"/>
                </a:solidFill>
              </a:rPr>
              <a:t>/</a:t>
            </a:r>
            <a:r>
              <a:rPr lang="en" dirty="0" err="1">
                <a:solidFill>
                  <a:srgbClr val="000000"/>
                </a:solidFill>
              </a:rPr>
              <a:t>src</a:t>
            </a:r>
            <a:r>
              <a:rPr lang="en" dirty="0">
                <a:solidFill>
                  <a:srgbClr val="000000"/>
                </a:solidFill>
              </a:rPr>
              <a:t>/</a:t>
            </a:r>
            <a:endParaRPr dirty="0">
              <a:solidFill>
                <a:srgbClr val="000000"/>
              </a:solidFill>
            </a:endParaRPr>
          </a:p>
          <a:p>
            <a:pPr indent="0">
              <a:buNone/>
            </a:pPr>
            <a:endParaRPr sz="1400" dirty="0">
              <a:solidFill>
                <a:schemeClr val="dk1"/>
              </a:solidFill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0" y="3889125"/>
            <a:ext cx="9144000" cy="8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Clr>
                <a:srgbClr val="000000"/>
              </a:buClr>
              <a:buSzPts val="1100"/>
            </a:pPr>
            <a:r>
              <a:rPr lang="en" sz="1400" kern="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root@node0:/users/hsiez001/</a:t>
            </a:r>
            <a:r>
              <a:rPr lang="en" sz="1400" kern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docker_mem</a:t>
            </a:r>
            <a:r>
              <a:rPr lang="en" sz="1400" kern="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" sz="1400" kern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server_side</a:t>
            </a:r>
            <a:r>
              <a:rPr lang="en" sz="1400" kern="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docker exec -it </a:t>
            </a:r>
            <a:r>
              <a:rPr lang="en" sz="1400" kern="0" dirty="0">
                <a:solidFill>
                  <a:srgbClr val="000000"/>
                </a:solidFill>
                <a:highlight>
                  <a:srgbClr val="FF9900"/>
                </a:highlight>
                <a:latin typeface="Courier New"/>
                <a:ea typeface="Courier New"/>
                <a:cs typeface="Courier New"/>
                <a:sym typeface="Courier New"/>
              </a:rPr>
              <a:t>ac4354485aa4</a:t>
            </a:r>
            <a:r>
              <a:rPr lang="en" sz="1400" kern="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bash</a:t>
            </a:r>
            <a:endParaRPr sz="1400" kern="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lnSpc>
                <a:spcPct val="115000"/>
              </a:lnSpc>
              <a:buClr>
                <a:srgbClr val="000000"/>
              </a:buClr>
              <a:buSzPts val="1100"/>
            </a:pPr>
            <a:r>
              <a:rPr lang="en" sz="1400" kern="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root@ac4354485aa4:/# cd /</a:t>
            </a:r>
            <a:r>
              <a:rPr lang="en" sz="1400" kern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usr</a:t>
            </a:r>
            <a:r>
              <a:rPr lang="en" sz="1400" kern="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" sz="1400" kern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lang="en" sz="1400" kern="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                                                                                                      </a:t>
            </a:r>
            <a:endParaRPr sz="1400" kern="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lnSpc>
                <a:spcPct val="115000"/>
              </a:lnSpc>
              <a:buClr>
                <a:srgbClr val="000000"/>
              </a:buClr>
              <a:buSzPts val="1100"/>
            </a:pPr>
            <a:r>
              <a:rPr lang="en" sz="1400" kern="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root@ac4354485aa4:/</a:t>
            </a:r>
            <a:r>
              <a:rPr lang="en" sz="1400" kern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usr</a:t>
            </a:r>
            <a:r>
              <a:rPr lang="en" sz="1400" kern="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" sz="1400" kern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lang="en" sz="1400" kern="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ls</a:t>
            </a:r>
            <a:endParaRPr sz="1400" kern="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lnSpc>
                <a:spcPct val="115000"/>
              </a:lnSpc>
              <a:buClr>
                <a:srgbClr val="000000"/>
              </a:buClr>
              <a:buSzPts val="1100"/>
            </a:pPr>
            <a:r>
              <a:rPr lang="en" sz="1400" kern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memserv.py</a:t>
            </a:r>
            <a:r>
              <a:rPr lang="en" sz="1400" kern="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400" kern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test_data.csv</a:t>
            </a:r>
            <a:endParaRPr sz="1400" kern="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000000"/>
              </a:buClr>
            </a:pP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</a:pP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01" name="Google Shape;101;p20"/>
          <p:cNvSpPr txBox="1"/>
          <p:nvPr/>
        </p:nvSpPr>
        <p:spPr>
          <a:xfrm>
            <a:off x="311700" y="5305048"/>
            <a:ext cx="6454500" cy="7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</a:pPr>
            <a:r>
              <a:rPr lang="en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From here you can run </a:t>
            </a:r>
            <a:r>
              <a:rPr lang="en" kern="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$python </a:t>
            </a:r>
            <a:r>
              <a:rPr lang="en" kern="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memserv.py</a:t>
            </a:r>
            <a:endParaRPr kern="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4432593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VMs,</a:t>
            </a:r>
            <a:r>
              <a:rPr sz="4000" spc="-45" dirty="0"/>
              <a:t> </a:t>
            </a:r>
            <a:r>
              <a:rPr sz="4000" dirty="0"/>
              <a:t>Unikernels</a:t>
            </a:r>
            <a:r>
              <a:rPr sz="4000" spc="-30" dirty="0"/>
              <a:t> </a:t>
            </a:r>
            <a:r>
              <a:rPr sz="4000" dirty="0"/>
              <a:t>and</a:t>
            </a:r>
            <a:r>
              <a:rPr sz="4000" spc="-40" dirty="0"/>
              <a:t> </a:t>
            </a:r>
            <a:r>
              <a:rPr sz="4000" spc="-10" dirty="0"/>
              <a:t>Containers: </a:t>
            </a:r>
            <a:r>
              <a:rPr sz="4000" dirty="0"/>
              <a:t>Experiences</a:t>
            </a:r>
            <a:r>
              <a:rPr sz="4000" spc="-50" dirty="0"/>
              <a:t> </a:t>
            </a:r>
            <a:r>
              <a:rPr sz="4000" dirty="0"/>
              <a:t>on</a:t>
            </a:r>
            <a:r>
              <a:rPr sz="4000" spc="-45" dirty="0"/>
              <a:t> </a:t>
            </a:r>
            <a:r>
              <a:rPr sz="4000" dirty="0"/>
              <a:t>the</a:t>
            </a:r>
            <a:r>
              <a:rPr sz="4000" spc="-45" dirty="0"/>
              <a:t> </a:t>
            </a:r>
            <a:r>
              <a:rPr sz="4000" dirty="0"/>
              <a:t>Performance</a:t>
            </a:r>
            <a:r>
              <a:rPr sz="4000" spc="-50" dirty="0"/>
              <a:t> </a:t>
            </a:r>
            <a:r>
              <a:rPr sz="4000" spc="-25" dirty="0"/>
              <a:t>of </a:t>
            </a:r>
            <a:r>
              <a:rPr sz="4000" dirty="0"/>
              <a:t>Virtualiza</a:t>
            </a:r>
            <a:r>
              <a:rPr lang="en-US" sz="4000" dirty="0"/>
              <a:t>ti</a:t>
            </a:r>
            <a:r>
              <a:rPr sz="4000" dirty="0"/>
              <a:t>on</a:t>
            </a:r>
            <a:r>
              <a:rPr sz="4000" spc="125" dirty="0"/>
              <a:t> </a:t>
            </a:r>
            <a:r>
              <a:rPr sz="4000" spc="-10" dirty="0"/>
              <a:t>Technologies</a:t>
            </a:r>
            <a:endParaRPr sz="4000" dirty="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2150" marR="5080" indent="-1923414">
              <a:lnSpc>
                <a:spcPct val="118200"/>
              </a:lnSpc>
              <a:spcBef>
                <a:spcPts val="100"/>
              </a:spcBef>
            </a:pPr>
            <a:r>
              <a:rPr sz="2800" dirty="0"/>
              <a:t>Felipe</a:t>
            </a:r>
            <a:r>
              <a:rPr sz="2800" spc="-55" dirty="0"/>
              <a:t> </a:t>
            </a:r>
            <a:r>
              <a:rPr sz="2800" dirty="0"/>
              <a:t>Huici</a:t>
            </a:r>
            <a:r>
              <a:rPr sz="2800" dirty="0">
                <a:solidFill>
                  <a:srgbClr val="898989"/>
                </a:solidFill>
              </a:rPr>
              <a:t>,</a:t>
            </a:r>
            <a:r>
              <a:rPr sz="2800" spc="-50" dirty="0">
                <a:solidFill>
                  <a:srgbClr val="898989"/>
                </a:solidFill>
              </a:rPr>
              <a:t> </a:t>
            </a:r>
            <a:r>
              <a:rPr sz="2800" dirty="0">
                <a:solidFill>
                  <a:srgbClr val="898989"/>
                </a:solidFill>
              </a:rPr>
              <a:t>Filipe</a:t>
            </a:r>
            <a:r>
              <a:rPr sz="2800" spc="-55" dirty="0">
                <a:solidFill>
                  <a:srgbClr val="898989"/>
                </a:solidFill>
              </a:rPr>
              <a:t> </a:t>
            </a:r>
            <a:r>
              <a:rPr sz="2800" dirty="0">
                <a:solidFill>
                  <a:srgbClr val="898989"/>
                </a:solidFill>
              </a:rPr>
              <a:t>Manco,</a:t>
            </a:r>
            <a:r>
              <a:rPr sz="2800" spc="-55" dirty="0">
                <a:solidFill>
                  <a:srgbClr val="898989"/>
                </a:solidFill>
              </a:rPr>
              <a:t> </a:t>
            </a:r>
            <a:r>
              <a:rPr sz="2800" dirty="0">
                <a:solidFill>
                  <a:srgbClr val="898989"/>
                </a:solidFill>
              </a:rPr>
              <a:t>Jose</a:t>
            </a:r>
            <a:r>
              <a:rPr sz="2800" spc="-50" dirty="0">
                <a:solidFill>
                  <a:srgbClr val="898989"/>
                </a:solidFill>
              </a:rPr>
              <a:t> </a:t>
            </a:r>
            <a:r>
              <a:rPr sz="2800" dirty="0">
                <a:solidFill>
                  <a:srgbClr val="898989"/>
                </a:solidFill>
              </a:rPr>
              <a:t>Mendes,</a:t>
            </a:r>
            <a:r>
              <a:rPr sz="2800" spc="-50" dirty="0">
                <a:solidFill>
                  <a:srgbClr val="898989"/>
                </a:solidFill>
              </a:rPr>
              <a:t> </a:t>
            </a:r>
            <a:r>
              <a:rPr sz="2800" dirty="0">
                <a:solidFill>
                  <a:srgbClr val="898989"/>
                </a:solidFill>
              </a:rPr>
              <a:t>Simon</a:t>
            </a:r>
            <a:r>
              <a:rPr sz="2800" spc="-55" dirty="0">
                <a:solidFill>
                  <a:srgbClr val="898989"/>
                </a:solidFill>
              </a:rPr>
              <a:t> </a:t>
            </a:r>
            <a:r>
              <a:rPr sz="2800" spc="-10" dirty="0">
                <a:solidFill>
                  <a:srgbClr val="898989"/>
                </a:solidFill>
              </a:rPr>
              <a:t>Kuenzer </a:t>
            </a:r>
            <a:r>
              <a:rPr sz="2800" dirty="0"/>
              <a:t>NEC</a:t>
            </a:r>
            <a:r>
              <a:rPr sz="2800" spc="-35" dirty="0"/>
              <a:t> </a:t>
            </a:r>
            <a:r>
              <a:rPr sz="2800" dirty="0"/>
              <a:t>Europe</a:t>
            </a:r>
            <a:r>
              <a:rPr sz="2800" spc="-30" dirty="0"/>
              <a:t> </a:t>
            </a:r>
            <a:r>
              <a:rPr sz="2800" dirty="0"/>
              <a:t>Ltd.</a:t>
            </a:r>
            <a:r>
              <a:rPr sz="2800" spc="-30" dirty="0"/>
              <a:t> </a:t>
            </a:r>
            <a:r>
              <a:rPr sz="2800" spc="-10" dirty="0"/>
              <a:t>(Heidelberg)</a:t>
            </a:r>
            <a:endParaRPr sz="2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23365" y="498158"/>
            <a:ext cx="41027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latin typeface="Calibri"/>
                <a:cs typeface="Calibri"/>
              </a:rPr>
              <a:t>In</a:t>
            </a:r>
            <a:r>
              <a:rPr sz="4400" spc="-4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the</a:t>
            </a:r>
            <a:r>
              <a:rPr sz="4400" spc="-40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Beginning…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29432" y="2422552"/>
            <a:ext cx="1461602" cy="104721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73433" y="3786320"/>
            <a:ext cx="7702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5" dirty="0">
                <a:latin typeface="Calibri"/>
                <a:cs typeface="Calibri"/>
              </a:rPr>
              <a:t>VM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74165" y="4252767"/>
            <a:ext cx="1119505" cy="480695"/>
            <a:chOff x="3874165" y="4252767"/>
            <a:chExt cx="1119505" cy="480695"/>
          </a:xfrm>
        </p:grpSpPr>
        <p:sp>
          <p:nvSpPr>
            <p:cNvPr id="6" name="object 6"/>
            <p:cNvSpPr/>
            <p:nvPr/>
          </p:nvSpPr>
          <p:spPr>
            <a:xfrm>
              <a:off x="3886865" y="4265466"/>
              <a:ext cx="1094105" cy="455295"/>
            </a:xfrm>
            <a:custGeom>
              <a:avLst/>
              <a:gdLst/>
              <a:ahLst/>
              <a:cxnLst/>
              <a:rect l="l" t="t" r="r" b="b"/>
              <a:pathLst>
                <a:path w="1094104" h="455295">
                  <a:moveTo>
                    <a:pt x="1093757" y="0"/>
                  </a:moveTo>
                  <a:lnTo>
                    <a:pt x="1090987" y="43483"/>
                  </a:lnTo>
                  <a:lnTo>
                    <a:pt x="1083446" y="85792"/>
                  </a:lnTo>
                  <a:lnTo>
                    <a:pt x="1071357" y="126740"/>
                  </a:lnTo>
                  <a:lnTo>
                    <a:pt x="1054944" y="166141"/>
                  </a:lnTo>
                  <a:lnTo>
                    <a:pt x="1034431" y="203808"/>
                  </a:lnTo>
                  <a:lnTo>
                    <a:pt x="1010043" y="239554"/>
                  </a:lnTo>
                  <a:lnTo>
                    <a:pt x="982003" y="273193"/>
                  </a:lnTo>
                  <a:lnTo>
                    <a:pt x="950536" y="304538"/>
                  </a:lnTo>
                  <a:lnTo>
                    <a:pt x="915865" y="333403"/>
                  </a:lnTo>
                  <a:lnTo>
                    <a:pt x="878215" y="359601"/>
                  </a:lnTo>
                  <a:lnTo>
                    <a:pt x="837810" y="382945"/>
                  </a:lnTo>
                  <a:lnTo>
                    <a:pt x="794874" y="403249"/>
                  </a:lnTo>
                  <a:lnTo>
                    <a:pt x="749631" y="420327"/>
                  </a:lnTo>
                  <a:lnTo>
                    <a:pt x="702305" y="433992"/>
                  </a:lnTo>
                  <a:lnTo>
                    <a:pt x="653120" y="444056"/>
                  </a:lnTo>
                  <a:lnTo>
                    <a:pt x="602301" y="450335"/>
                  </a:lnTo>
                  <a:lnTo>
                    <a:pt x="550071" y="452640"/>
                  </a:lnTo>
                  <a:lnTo>
                    <a:pt x="497388" y="450812"/>
                  </a:lnTo>
                  <a:lnTo>
                    <a:pt x="446094" y="444936"/>
                  </a:lnTo>
                  <a:lnTo>
                    <a:pt x="396418" y="435201"/>
                  </a:lnTo>
                  <a:lnTo>
                    <a:pt x="348591" y="421797"/>
                  </a:lnTo>
                  <a:lnTo>
                    <a:pt x="302844" y="404915"/>
                  </a:lnTo>
                  <a:lnTo>
                    <a:pt x="259407" y="384742"/>
                  </a:lnTo>
                  <a:lnTo>
                    <a:pt x="218511" y="361471"/>
                  </a:lnTo>
                  <a:lnTo>
                    <a:pt x="180386" y="335289"/>
                  </a:lnTo>
                  <a:lnTo>
                    <a:pt x="145262" y="306387"/>
                  </a:lnTo>
                  <a:lnTo>
                    <a:pt x="113371" y="274954"/>
                  </a:lnTo>
                  <a:lnTo>
                    <a:pt x="84943" y="241180"/>
                  </a:lnTo>
                  <a:lnTo>
                    <a:pt x="60208" y="205255"/>
                  </a:lnTo>
                  <a:lnTo>
                    <a:pt x="39397" y="167368"/>
                  </a:lnTo>
                  <a:lnTo>
                    <a:pt x="22740" y="127710"/>
                  </a:lnTo>
                  <a:lnTo>
                    <a:pt x="10467" y="86469"/>
                  </a:lnTo>
                  <a:lnTo>
                    <a:pt x="2811" y="43836"/>
                  </a:lnTo>
                  <a:lnTo>
                    <a:pt x="0" y="0"/>
                  </a:lnTo>
                  <a:lnTo>
                    <a:pt x="2503" y="43848"/>
                  </a:lnTo>
                  <a:lnTo>
                    <a:pt x="9861" y="86517"/>
                  </a:lnTo>
                  <a:lnTo>
                    <a:pt x="21843" y="127816"/>
                  </a:lnTo>
                  <a:lnTo>
                    <a:pt x="38222" y="167554"/>
                  </a:lnTo>
                  <a:lnTo>
                    <a:pt x="58767" y="205541"/>
                  </a:lnTo>
                  <a:lnTo>
                    <a:pt x="83249" y="241585"/>
                  </a:lnTo>
                  <a:lnTo>
                    <a:pt x="111440" y="275496"/>
                  </a:lnTo>
                  <a:lnTo>
                    <a:pt x="143109" y="307082"/>
                  </a:lnTo>
                  <a:lnTo>
                    <a:pt x="178029" y="336154"/>
                  </a:lnTo>
                  <a:lnTo>
                    <a:pt x="215969" y="362520"/>
                  </a:lnTo>
                  <a:lnTo>
                    <a:pt x="256701" y="385990"/>
                  </a:lnTo>
                  <a:lnTo>
                    <a:pt x="299995" y="406373"/>
                  </a:lnTo>
                  <a:lnTo>
                    <a:pt x="345622" y="423477"/>
                  </a:lnTo>
                  <a:lnTo>
                    <a:pt x="393354" y="437113"/>
                  </a:lnTo>
                  <a:lnTo>
                    <a:pt x="442960" y="447089"/>
                  </a:lnTo>
                  <a:lnTo>
                    <a:pt x="494211" y="453214"/>
                  </a:lnTo>
                  <a:lnTo>
                    <a:pt x="546879" y="455298"/>
                  </a:lnTo>
                  <a:lnTo>
                    <a:pt x="599547" y="453214"/>
                  </a:lnTo>
                  <a:lnTo>
                    <a:pt x="650799" y="447089"/>
                  </a:lnTo>
                  <a:lnTo>
                    <a:pt x="700405" y="437113"/>
                  </a:lnTo>
                  <a:lnTo>
                    <a:pt x="748136" y="423477"/>
                  </a:lnTo>
                  <a:lnTo>
                    <a:pt x="793763" y="406373"/>
                  </a:lnTo>
                  <a:lnTo>
                    <a:pt x="837057" y="385990"/>
                  </a:lnTo>
                  <a:lnTo>
                    <a:pt x="877789" y="362520"/>
                  </a:lnTo>
                  <a:lnTo>
                    <a:pt x="915729" y="336154"/>
                  </a:lnTo>
                  <a:lnTo>
                    <a:pt x="950649" y="307082"/>
                  </a:lnTo>
                  <a:lnTo>
                    <a:pt x="982318" y="275496"/>
                  </a:lnTo>
                  <a:lnTo>
                    <a:pt x="1010509" y="241585"/>
                  </a:lnTo>
                  <a:lnTo>
                    <a:pt x="1034991" y="205541"/>
                  </a:lnTo>
                  <a:lnTo>
                    <a:pt x="1055536" y="167554"/>
                  </a:lnTo>
                  <a:lnTo>
                    <a:pt x="1071914" y="127816"/>
                  </a:lnTo>
                  <a:lnTo>
                    <a:pt x="1083897" y="86517"/>
                  </a:lnTo>
                  <a:lnTo>
                    <a:pt x="1091254" y="43848"/>
                  </a:lnTo>
                  <a:lnTo>
                    <a:pt x="10937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86865" y="4265467"/>
              <a:ext cx="1094105" cy="455295"/>
            </a:xfrm>
            <a:custGeom>
              <a:avLst/>
              <a:gdLst/>
              <a:ahLst/>
              <a:cxnLst/>
              <a:rect l="l" t="t" r="r" b="b"/>
              <a:pathLst>
                <a:path w="1094104" h="455295">
                  <a:moveTo>
                    <a:pt x="1093758" y="0"/>
                  </a:moveTo>
                  <a:lnTo>
                    <a:pt x="1091254" y="43848"/>
                  </a:lnTo>
                  <a:lnTo>
                    <a:pt x="1083896" y="86517"/>
                  </a:lnTo>
                  <a:lnTo>
                    <a:pt x="1071914" y="127816"/>
                  </a:lnTo>
                  <a:lnTo>
                    <a:pt x="1055536" y="167554"/>
                  </a:lnTo>
                  <a:lnTo>
                    <a:pt x="1034991" y="205540"/>
                  </a:lnTo>
                  <a:lnTo>
                    <a:pt x="1010508" y="241584"/>
                  </a:lnTo>
                  <a:lnTo>
                    <a:pt x="982318" y="275495"/>
                  </a:lnTo>
                  <a:lnTo>
                    <a:pt x="950648" y="307082"/>
                  </a:lnTo>
                  <a:lnTo>
                    <a:pt x="915729" y="336153"/>
                  </a:lnTo>
                  <a:lnTo>
                    <a:pt x="877789" y="362520"/>
                  </a:lnTo>
                  <a:lnTo>
                    <a:pt x="837057" y="385989"/>
                  </a:lnTo>
                  <a:lnTo>
                    <a:pt x="793763" y="406372"/>
                  </a:lnTo>
                  <a:lnTo>
                    <a:pt x="748135" y="423476"/>
                  </a:lnTo>
                  <a:lnTo>
                    <a:pt x="700404" y="437112"/>
                  </a:lnTo>
                  <a:lnTo>
                    <a:pt x="650798" y="447088"/>
                  </a:lnTo>
                  <a:lnTo>
                    <a:pt x="599547" y="453213"/>
                  </a:lnTo>
                  <a:lnTo>
                    <a:pt x="546878" y="455297"/>
                  </a:lnTo>
                  <a:lnTo>
                    <a:pt x="494210" y="453213"/>
                  </a:lnTo>
                  <a:lnTo>
                    <a:pt x="442959" y="447088"/>
                  </a:lnTo>
                  <a:lnTo>
                    <a:pt x="393353" y="437112"/>
                  </a:lnTo>
                  <a:lnTo>
                    <a:pt x="345622" y="423476"/>
                  </a:lnTo>
                  <a:lnTo>
                    <a:pt x="299994" y="406372"/>
                  </a:lnTo>
                  <a:lnTo>
                    <a:pt x="256700" y="385989"/>
                  </a:lnTo>
                  <a:lnTo>
                    <a:pt x="215969" y="362520"/>
                  </a:lnTo>
                  <a:lnTo>
                    <a:pt x="178028" y="336153"/>
                  </a:lnTo>
                  <a:lnTo>
                    <a:pt x="143109" y="307082"/>
                  </a:lnTo>
                  <a:lnTo>
                    <a:pt x="111439" y="275495"/>
                  </a:lnTo>
                  <a:lnTo>
                    <a:pt x="83249" y="241584"/>
                  </a:lnTo>
                  <a:lnTo>
                    <a:pt x="58766" y="205540"/>
                  </a:lnTo>
                  <a:lnTo>
                    <a:pt x="38221" y="167554"/>
                  </a:lnTo>
                  <a:lnTo>
                    <a:pt x="21843" y="127816"/>
                  </a:lnTo>
                  <a:lnTo>
                    <a:pt x="9861" y="86517"/>
                  </a:lnTo>
                  <a:lnTo>
                    <a:pt x="2503" y="43848"/>
                  </a:lnTo>
                  <a:lnTo>
                    <a:pt x="0" y="0"/>
                  </a:lnTo>
                  <a:lnTo>
                    <a:pt x="2810" y="43836"/>
                  </a:lnTo>
                  <a:lnTo>
                    <a:pt x="10467" y="86469"/>
                  </a:lnTo>
                  <a:lnTo>
                    <a:pt x="22739" y="127710"/>
                  </a:lnTo>
                  <a:lnTo>
                    <a:pt x="39396" y="167368"/>
                  </a:lnTo>
                  <a:lnTo>
                    <a:pt x="60207" y="205255"/>
                  </a:lnTo>
                  <a:lnTo>
                    <a:pt x="84942" y="241180"/>
                  </a:lnTo>
                  <a:lnTo>
                    <a:pt x="113371" y="274953"/>
                  </a:lnTo>
                  <a:lnTo>
                    <a:pt x="145262" y="306386"/>
                  </a:lnTo>
                  <a:lnTo>
                    <a:pt x="180385" y="335288"/>
                  </a:lnTo>
                  <a:lnTo>
                    <a:pt x="218510" y="361470"/>
                  </a:lnTo>
                  <a:lnTo>
                    <a:pt x="259407" y="384742"/>
                  </a:lnTo>
                  <a:lnTo>
                    <a:pt x="302843" y="404914"/>
                  </a:lnTo>
                  <a:lnTo>
                    <a:pt x="348591" y="421797"/>
                  </a:lnTo>
                  <a:lnTo>
                    <a:pt x="396417" y="435200"/>
                  </a:lnTo>
                  <a:lnTo>
                    <a:pt x="446093" y="444935"/>
                  </a:lnTo>
                  <a:lnTo>
                    <a:pt x="497388" y="450812"/>
                  </a:lnTo>
                  <a:lnTo>
                    <a:pt x="550071" y="452640"/>
                  </a:lnTo>
                  <a:lnTo>
                    <a:pt x="602300" y="450334"/>
                  </a:lnTo>
                  <a:lnTo>
                    <a:pt x="653120" y="444056"/>
                  </a:lnTo>
                  <a:lnTo>
                    <a:pt x="702304" y="433991"/>
                  </a:lnTo>
                  <a:lnTo>
                    <a:pt x="749630" y="420327"/>
                  </a:lnTo>
                  <a:lnTo>
                    <a:pt x="794873" y="403249"/>
                  </a:lnTo>
                  <a:lnTo>
                    <a:pt x="837810" y="382945"/>
                  </a:lnTo>
                  <a:lnTo>
                    <a:pt x="878215" y="359600"/>
                  </a:lnTo>
                  <a:lnTo>
                    <a:pt x="915865" y="333402"/>
                  </a:lnTo>
                  <a:lnTo>
                    <a:pt x="950535" y="304538"/>
                  </a:lnTo>
                  <a:lnTo>
                    <a:pt x="982003" y="273193"/>
                  </a:lnTo>
                  <a:lnTo>
                    <a:pt x="1010043" y="239554"/>
                  </a:lnTo>
                  <a:lnTo>
                    <a:pt x="1034431" y="203808"/>
                  </a:lnTo>
                  <a:lnTo>
                    <a:pt x="1054944" y="166141"/>
                  </a:lnTo>
                  <a:lnTo>
                    <a:pt x="1071357" y="126740"/>
                  </a:lnTo>
                  <a:lnTo>
                    <a:pt x="1083446" y="85792"/>
                  </a:lnTo>
                  <a:lnTo>
                    <a:pt x="1090987" y="43483"/>
                  </a:lnTo>
                  <a:lnTo>
                    <a:pt x="1093757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65845" y="3626296"/>
            <a:ext cx="157188" cy="15718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49524" y="3622931"/>
            <a:ext cx="157188" cy="15718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0190">
              <a:lnSpc>
                <a:spcPct val="100000"/>
              </a:lnSpc>
              <a:spcBef>
                <a:spcPts val="100"/>
              </a:spcBef>
            </a:pPr>
            <a:r>
              <a:rPr dirty="0"/>
              <a:t>In</a:t>
            </a:r>
            <a:r>
              <a:rPr spc="-4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Beginning…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29432" y="2422552"/>
            <a:ext cx="1461602" cy="104721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73433" y="3786320"/>
            <a:ext cx="7702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5" dirty="0">
                <a:latin typeface="Calibri"/>
                <a:cs typeface="Calibri"/>
              </a:rPr>
              <a:t>VM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74165" y="4252767"/>
            <a:ext cx="1119505" cy="480695"/>
            <a:chOff x="3874165" y="4252767"/>
            <a:chExt cx="1119505" cy="480695"/>
          </a:xfrm>
        </p:grpSpPr>
        <p:sp>
          <p:nvSpPr>
            <p:cNvPr id="6" name="object 6"/>
            <p:cNvSpPr/>
            <p:nvPr/>
          </p:nvSpPr>
          <p:spPr>
            <a:xfrm>
              <a:off x="3886865" y="4265466"/>
              <a:ext cx="1094105" cy="455295"/>
            </a:xfrm>
            <a:custGeom>
              <a:avLst/>
              <a:gdLst/>
              <a:ahLst/>
              <a:cxnLst/>
              <a:rect l="l" t="t" r="r" b="b"/>
              <a:pathLst>
                <a:path w="1094104" h="455295">
                  <a:moveTo>
                    <a:pt x="1093757" y="0"/>
                  </a:moveTo>
                  <a:lnTo>
                    <a:pt x="1090987" y="43483"/>
                  </a:lnTo>
                  <a:lnTo>
                    <a:pt x="1083446" y="85792"/>
                  </a:lnTo>
                  <a:lnTo>
                    <a:pt x="1071357" y="126740"/>
                  </a:lnTo>
                  <a:lnTo>
                    <a:pt x="1054944" y="166141"/>
                  </a:lnTo>
                  <a:lnTo>
                    <a:pt x="1034431" y="203808"/>
                  </a:lnTo>
                  <a:lnTo>
                    <a:pt x="1010043" y="239554"/>
                  </a:lnTo>
                  <a:lnTo>
                    <a:pt x="982003" y="273193"/>
                  </a:lnTo>
                  <a:lnTo>
                    <a:pt x="950536" y="304538"/>
                  </a:lnTo>
                  <a:lnTo>
                    <a:pt x="915865" y="333403"/>
                  </a:lnTo>
                  <a:lnTo>
                    <a:pt x="878215" y="359601"/>
                  </a:lnTo>
                  <a:lnTo>
                    <a:pt x="837810" y="382945"/>
                  </a:lnTo>
                  <a:lnTo>
                    <a:pt x="794874" y="403249"/>
                  </a:lnTo>
                  <a:lnTo>
                    <a:pt x="749631" y="420327"/>
                  </a:lnTo>
                  <a:lnTo>
                    <a:pt x="702305" y="433992"/>
                  </a:lnTo>
                  <a:lnTo>
                    <a:pt x="653120" y="444056"/>
                  </a:lnTo>
                  <a:lnTo>
                    <a:pt x="602301" y="450335"/>
                  </a:lnTo>
                  <a:lnTo>
                    <a:pt x="550071" y="452640"/>
                  </a:lnTo>
                  <a:lnTo>
                    <a:pt x="497388" y="450812"/>
                  </a:lnTo>
                  <a:lnTo>
                    <a:pt x="446094" y="444936"/>
                  </a:lnTo>
                  <a:lnTo>
                    <a:pt x="396418" y="435201"/>
                  </a:lnTo>
                  <a:lnTo>
                    <a:pt x="348591" y="421797"/>
                  </a:lnTo>
                  <a:lnTo>
                    <a:pt x="302844" y="404915"/>
                  </a:lnTo>
                  <a:lnTo>
                    <a:pt x="259407" y="384742"/>
                  </a:lnTo>
                  <a:lnTo>
                    <a:pt x="218511" y="361471"/>
                  </a:lnTo>
                  <a:lnTo>
                    <a:pt x="180386" y="335289"/>
                  </a:lnTo>
                  <a:lnTo>
                    <a:pt x="145262" y="306387"/>
                  </a:lnTo>
                  <a:lnTo>
                    <a:pt x="113371" y="274954"/>
                  </a:lnTo>
                  <a:lnTo>
                    <a:pt x="84943" y="241180"/>
                  </a:lnTo>
                  <a:lnTo>
                    <a:pt x="60208" y="205255"/>
                  </a:lnTo>
                  <a:lnTo>
                    <a:pt x="39397" y="167368"/>
                  </a:lnTo>
                  <a:lnTo>
                    <a:pt x="22740" y="127710"/>
                  </a:lnTo>
                  <a:lnTo>
                    <a:pt x="10467" y="86469"/>
                  </a:lnTo>
                  <a:lnTo>
                    <a:pt x="2811" y="43836"/>
                  </a:lnTo>
                  <a:lnTo>
                    <a:pt x="0" y="0"/>
                  </a:lnTo>
                  <a:lnTo>
                    <a:pt x="2503" y="43848"/>
                  </a:lnTo>
                  <a:lnTo>
                    <a:pt x="9861" y="86517"/>
                  </a:lnTo>
                  <a:lnTo>
                    <a:pt x="21843" y="127816"/>
                  </a:lnTo>
                  <a:lnTo>
                    <a:pt x="38222" y="167554"/>
                  </a:lnTo>
                  <a:lnTo>
                    <a:pt x="58767" y="205541"/>
                  </a:lnTo>
                  <a:lnTo>
                    <a:pt x="83249" y="241585"/>
                  </a:lnTo>
                  <a:lnTo>
                    <a:pt x="111440" y="275496"/>
                  </a:lnTo>
                  <a:lnTo>
                    <a:pt x="143109" y="307082"/>
                  </a:lnTo>
                  <a:lnTo>
                    <a:pt x="178029" y="336154"/>
                  </a:lnTo>
                  <a:lnTo>
                    <a:pt x="215969" y="362520"/>
                  </a:lnTo>
                  <a:lnTo>
                    <a:pt x="256701" y="385990"/>
                  </a:lnTo>
                  <a:lnTo>
                    <a:pt x="299995" y="406373"/>
                  </a:lnTo>
                  <a:lnTo>
                    <a:pt x="345622" y="423477"/>
                  </a:lnTo>
                  <a:lnTo>
                    <a:pt x="393354" y="437113"/>
                  </a:lnTo>
                  <a:lnTo>
                    <a:pt x="442960" y="447089"/>
                  </a:lnTo>
                  <a:lnTo>
                    <a:pt x="494211" y="453214"/>
                  </a:lnTo>
                  <a:lnTo>
                    <a:pt x="546879" y="455298"/>
                  </a:lnTo>
                  <a:lnTo>
                    <a:pt x="599547" y="453214"/>
                  </a:lnTo>
                  <a:lnTo>
                    <a:pt x="650799" y="447089"/>
                  </a:lnTo>
                  <a:lnTo>
                    <a:pt x="700405" y="437113"/>
                  </a:lnTo>
                  <a:lnTo>
                    <a:pt x="748136" y="423477"/>
                  </a:lnTo>
                  <a:lnTo>
                    <a:pt x="793763" y="406373"/>
                  </a:lnTo>
                  <a:lnTo>
                    <a:pt x="837057" y="385990"/>
                  </a:lnTo>
                  <a:lnTo>
                    <a:pt x="877789" y="362520"/>
                  </a:lnTo>
                  <a:lnTo>
                    <a:pt x="915729" y="336154"/>
                  </a:lnTo>
                  <a:lnTo>
                    <a:pt x="950649" y="307082"/>
                  </a:lnTo>
                  <a:lnTo>
                    <a:pt x="982318" y="275496"/>
                  </a:lnTo>
                  <a:lnTo>
                    <a:pt x="1010509" y="241585"/>
                  </a:lnTo>
                  <a:lnTo>
                    <a:pt x="1034991" y="205541"/>
                  </a:lnTo>
                  <a:lnTo>
                    <a:pt x="1055536" y="167554"/>
                  </a:lnTo>
                  <a:lnTo>
                    <a:pt x="1071914" y="127816"/>
                  </a:lnTo>
                  <a:lnTo>
                    <a:pt x="1083897" y="86517"/>
                  </a:lnTo>
                  <a:lnTo>
                    <a:pt x="1091254" y="43848"/>
                  </a:lnTo>
                  <a:lnTo>
                    <a:pt x="10937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86865" y="4265467"/>
              <a:ext cx="1094105" cy="455295"/>
            </a:xfrm>
            <a:custGeom>
              <a:avLst/>
              <a:gdLst/>
              <a:ahLst/>
              <a:cxnLst/>
              <a:rect l="l" t="t" r="r" b="b"/>
              <a:pathLst>
                <a:path w="1094104" h="455295">
                  <a:moveTo>
                    <a:pt x="1093758" y="0"/>
                  </a:moveTo>
                  <a:lnTo>
                    <a:pt x="1091254" y="43848"/>
                  </a:lnTo>
                  <a:lnTo>
                    <a:pt x="1083896" y="86517"/>
                  </a:lnTo>
                  <a:lnTo>
                    <a:pt x="1071914" y="127816"/>
                  </a:lnTo>
                  <a:lnTo>
                    <a:pt x="1055536" y="167554"/>
                  </a:lnTo>
                  <a:lnTo>
                    <a:pt x="1034991" y="205540"/>
                  </a:lnTo>
                  <a:lnTo>
                    <a:pt x="1010508" y="241584"/>
                  </a:lnTo>
                  <a:lnTo>
                    <a:pt x="982318" y="275495"/>
                  </a:lnTo>
                  <a:lnTo>
                    <a:pt x="950648" y="307082"/>
                  </a:lnTo>
                  <a:lnTo>
                    <a:pt x="915729" y="336153"/>
                  </a:lnTo>
                  <a:lnTo>
                    <a:pt x="877789" y="362520"/>
                  </a:lnTo>
                  <a:lnTo>
                    <a:pt x="837057" y="385989"/>
                  </a:lnTo>
                  <a:lnTo>
                    <a:pt x="793763" y="406372"/>
                  </a:lnTo>
                  <a:lnTo>
                    <a:pt x="748135" y="423476"/>
                  </a:lnTo>
                  <a:lnTo>
                    <a:pt x="700404" y="437112"/>
                  </a:lnTo>
                  <a:lnTo>
                    <a:pt x="650798" y="447088"/>
                  </a:lnTo>
                  <a:lnTo>
                    <a:pt x="599547" y="453213"/>
                  </a:lnTo>
                  <a:lnTo>
                    <a:pt x="546878" y="455297"/>
                  </a:lnTo>
                  <a:lnTo>
                    <a:pt x="494210" y="453213"/>
                  </a:lnTo>
                  <a:lnTo>
                    <a:pt x="442959" y="447088"/>
                  </a:lnTo>
                  <a:lnTo>
                    <a:pt x="393353" y="437112"/>
                  </a:lnTo>
                  <a:lnTo>
                    <a:pt x="345622" y="423476"/>
                  </a:lnTo>
                  <a:lnTo>
                    <a:pt x="299994" y="406372"/>
                  </a:lnTo>
                  <a:lnTo>
                    <a:pt x="256700" y="385989"/>
                  </a:lnTo>
                  <a:lnTo>
                    <a:pt x="215969" y="362520"/>
                  </a:lnTo>
                  <a:lnTo>
                    <a:pt x="178028" y="336153"/>
                  </a:lnTo>
                  <a:lnTo>
                    <a:pt x="143109" y="307082"/>
                  </a:lnTo>
                  <a:lnTo>
                    <a:pt x="111439" y="275495"/>
                  </a:lnTo>
                  <a:lnTo>
                    <a:pt x="83249" y="241584"/>
                  </a:lnTo>
                  <a:lnTo>
                    <a:pt x="58766" y="205540"/>
                  </a:lnTo>
                  <a:lnTo>
                    <a:pt x="38221" y="167554"/>
                  </a:lnTo>
                  <a:lnTo>
                    <a:pt x="21843" y="127816"/>
                  </a:lnTo>
                  <a:lnTo>
                    <a:pt x="9861" y="86517"/>
                  </a:lnTo>
                  <a:lnTo>
                    <a:pt x="2503" y="43848"/>
                  </a:lnTo>
                  <a:lnTo>
                    <a:pt x="0" y="0"/>
                  </a:lnTo>
                  <a:lnTo>
                    <a:pt x="2810" y="43836"/>
                  </a:lnTo>
                  <a:lnTo>
                    <a:pt x="10467" y="86469"/>
                  </a:lnTo>
                  <a:lnTo>
                    <a:pt x="22739" y="127710"/>
                  </a:lnTo>
                  <a:lnTo>
                    <a:pt x="39396" y="167368"/>
                  </a:lnTo>
                  <a:lnTo>
                    <a:pt x="60207" y="205255"/>
                  </a:lnTo>
                  <a:lnTo>
                    <a:pt x="84942" y="241180"/>
                  </a:lnTo>
                  <a:lnTo>
                    <a:pt x="113371" y="274953"/>
                  </a:lnTo>
                  <a:lnTo>
                    <a:pt x="145262" y="306386"/>
                  </a:lnTo>
                  <a:lnTo>
                    <a:pt x="180385" y="335288"/>
                  </a:lnTo>
                  <a:lnTo>
                    <a:pt x="218510" y="361470"/>
                  </a:lnTo>
                  <a:lnTo>
                    <a:pt x="259407" y="384742"/>
                  </a:lnTo>
                  <a:lnTo>
                    <a:pt x="302843" y="404914"/>
                  </a:lnTo>
                  <a:lnTo>
                    <a:pt x="348591" y="421797"/>
                  </a:lnTo>
                  <a:lnTo>
                    <a:pt x="396417" y="435200"/>
                  </a:lnTo>
                  <a:lnTo>
                    <a:pt x="446093" y="444935"/>
                  </a:lnTo>
                  <a:lnTo>
                    <a:pt x="497388" y="450812"/>
                  </a:lnTo>
                  <a:lnTo>
                    <a:pt x="550071" y="452640"/>
                  </a:lnTo>
                  <a:lnTo>
                    <a:pt x="602300" y="450334"/>
                  </a:lnTo>
                  <a:lnTo>
                    <a:pt x="653120" y="444056"/>
                  </a:lnTo>
                  <a:lnTo>
                    <a:pt x="702304" y="433991"/>
                  </a:lnTo>
                  <a:lnTo>
                    <a:pt x="749630" y="420327"/>
                  </a:lnTo>
                  <a:lnTo>
                    <a:pt x="794873" y="403249"/>
                  </a:lnTo>
                  <a:lnTo>
                    <a:pt x="837810" y="382945"/>
                  </a:lnTo>
                  <a:lnTo>
                    <a:pt x="878215" y="359600"/>
                  </a:lnTo>
                  <a:lnTo>
                    <a:pt x="915865" y="333402"/>
                  </a:lnTo>
                  <a:lnTo>
                    <a:pt x="950535" y="304538"/>
                  </a:lnTo>
                  <a:lnTo>
                    <a:pt x="982003" y="273193"/>
                  </a:lnTo>
                  <a:lnTo>
                    <a:pt x="1010043" y="239554"/>
                  </a:lnTo>
                  <a:lnTo>
                    <a:pt x="1034431" y="203808"/>
                  </a:lnTo>
                  <a:lnTo>
                    <a:pt x="1054944" y="166141"/>
                  </a:lnTo>
                  <a:lnTo>
                    <a:pt x="1071357" y="126740"/>
                  </a:lnTo>
                  <a:lnTo>
                    <a:pt x="1083446" y="85792"/>
                  </a:lnTo>
                  <a:lnTo>
                    <a:pt x="1090987" y="43483"/>
                  </a:lnTo>
                  <a:lnTo>
                    <a:pt x="1093757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65845" y="3626296"/>
            <a:ext cx="157188" cy="15718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49524" y="3622931"/>
            <a:ext cx="157188" cy="15718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940814" y="2820216"/>
            <a:ext cx="1282065" cy="669290"/>
          </a:xfrm>
          <a:prstGeom prst="rect">
            <a:avLst/>
          </a:prstGeom>
          <a:solidFill>
            <a:srgbClr val="CD665F"/>
          </a:solidFill>
          <a:ln w="25399">
            <a:solidFill>
              <a:srgbClr val="9F4B46"/>
            </a:solidFill>
          </a:ln>
        </p:spPr>
        <p:txBody>
          <a:bodyPr vert="horz" wrap="square" lIns="0" tIns="74930" rIns="0" bIns="0" rtlCol="0">
            <a:spAutoFit/>
          </a:bodyPr>
          <a:lstStyle/>
          <a:p>
            <a:pPr marL="388620" marR="210820" indent="-164465">
              <a:lnSpc>
                <a:spcPts val="2100"/>
              </a:lnSpc>
              <a:spcBef>
                <a:spcPts val="59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“Tinyﬁed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VMs”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0190">
              <a:lnSpc>
                <a:spcPct val="100000"/>
              </a:lnSpc>
              <a:spcBef>
                <a:spcPts val="100"/>
              </a:spcBef>
            </a:pPr>
            <a:r>
              <a:rPr dirty="0"/>
              <a:t>In</a:t>
            </a:r>
            <a:r>
              <a:rPr spc="-4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Beginning…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29432" y="2422552"/>
            <a:ext cx="1461602" cy="104721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73433" y="3786320"/>
            <a:ext cx="7702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5" dirty="0">
                <a:latin typeface="Calibri"/>
                <a:cs typeface="Calibri"/>
              </a:rPr>
              <a:t>VM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74165" y="4252767"/>
            <a:ext cx="1119505" cy="480695"/>
            <a:chOff x="3874165" y="4252767"/>
            <a:chExt cx="1119505" cy="480695"/>
          </a:xfrm>
        </p:grpSpPr>
        <p:sp>
          <p:nvSpPr>
            <p:cNvPr id="6" name="object 6"/>
            <p:cNvSpPr/>
            <p:nvPr/>
          </p:nvSpPr>
          <p:spPr>
            <a:xfrm>
              <a:off x="3886865" y="4265466"/>
              <a:ext cx="1094105" cy="455295"/>
            </a:xfrm>
            <a:custGeom>
              <a:avLst/>
              <a:gdLst/>
              <a:ahLst/>
              <a:cxnLst/>
              <a:rect l="l" t="t" r="r" b="b"/>
              <a:pathLst>
                <a:path w="1094104" h="455295">
                  <a:moveTo>
                    <a:pt x="1093757" y="0"/>
                  </a:moveTo>
                  <a:lnTo>
                    <a:pt x="1090987" y="43483"/>
                  </a:lnTo>
                  <a:lnTo>
                    <a:pt x="1083446" y="85792"/>
                  </a:lnTo>
                  <a:lnTo>
                    <a:pt x="1071357" y="126740"/>
                  </a:lnTo>
                  <a:lnTo>
                    <a:pt x="1054944" y="166141"/>
                  </a:lnTo>
                  <a:lnTo>
                    <a:pt x="1034431" y="203808"/>
                  </a:lnTo>
                  <a:lnTo>
                    <a:pt x="1010043" y="239554"/>
                  </a:lnTo>
                  <a:lnTo>
                    <a:pt x="982003" y="273193"/>
                  </a:lnTo>
                  <a:lnTo>
                    <a:pt x="950536" y="304538"/>
                  </a:lnTo>
                  <a:lnTo>
                    <a:pt x="915865" y="333403"/>
                  </a:lnTo>
                  <a:lnTo>
                    <a:pt x="878215" y="359601"/>
                  </a:lnTo>
                  <a:lnTo>
                    <a:pt x="837810" y="382945"/>
                  </a:lnTo>
                  <a:lnTo>
                    <a:pt x="794874" y="403249"/>
                  </a:lnTo>
                  <a:lnTo>
                    <a:pt x="749631" y="420327"/>
                  </a:lnTo>
                  <a:lnTo>
                    <a:pt x="702305" y="433992"/>
                  </a:lnTo>
                  <a:lnTo>
                    <a:pt x="653120" y="444056"/>
                  </a:lnTo>
                  <a:lnTo>
                    <a:pt x="602301" y="450335"/>
                  </a:lnTo>
                  <a:lnTo>
                    <a:pt x="550071" y="452640"/>
                  </a:lnTo>
                  <a:lnTo>
                    <a:pt x="497388" y="450812"/>
                  </a:lnTo>
                  <a:lnTo>
                    <a:pt x="446094" y="444936"/>
                  </a:lnTo>
                  <a:lnTo>
                    <a:pt x="396418" y="435201"/>
                  </a:lnTo>
                  <a:lnTo>
                    <a:pt x="348591" y="421797"/>
                  </a:lnTo>
                  <a:lnTo>
                    <a:pt x="302844" y="404915"/>
                  </a:lnTo>
                  <a:lnTo>
                    <a:pt x="259407" y="384742"/>
                  </a:lnTo>
                  <a:lnTo>
                    <a:pt x="218511" y="361471"/>
                  </a:lnTo>
                  <a:lnTo>
                    <a:pt x="180386" y="335289"/>
                  </a:lnTo>
                  <a:lnTo>
                    <a:pt x="145262" y="306387"/>
                  </a:lnTo>
                  <a:lnTo>
                    <a:pt x="113371" y="274954"/>
                  </a:lnTo>
                  <a:lnTo>
                    <a:pt x="84943" y="241180"/>
                  </a:lnTo>
                  <a:lnTo>
                    <a:pt x="60208" y="205255"/>
                  </a:lnTo>
                  <a:lnTo>
                    <a:pt x="39397" y="167368"/>
                  </a:lnTo>
                  <a:lnTo>
                    <a:pt x="22740" y="127710"/>
                  </a:lnTo>
                  <a:lnTo>
                    <a:pt x="10467" y="86469"/>
                  </a:lnTo>
                  <a:lnTo>
                    <a:pt x="2811" y="43836"/>
                  </a:lnTo>
                  <a:lnTo>
                    <a:pt x="0" y="0"/>
                  </a:lnTo>
                  <a:lnTo>
                    <a:pt x="2503" y="43848"/>
                  </a:lnTo>
                  <a:lnTo>
                    <a:pt x="9861" y="86517"/>
                  </a:lnTo>
                  <a:lnTo>
                    <a:pt x="21843" y="127816"/>
                  </a:lnTo>
                  <a:lnTo>
                    <a:pt x="38222" y="167554"/>
                  </a:lnTo>
                  <a:lnTo>
                    <a:pt x="58767" y="205541"/>
                  </a:lnTo>
                  <a:lnTo>
                    <a:pt x="83249" y="241585"/>
                  </a:lnTo>
                  <a:lnTo>
                    <a:pt x="111440" y="275496"/>
                  </a:lnTo>
                  <a:lnTo>
                    <a:pt x="143109" y="307082"/>
                  </a:lnTo>
                  <a:lnTo>
                    <a:pt x="178029" y="336154"/>
                  </a:lnTo>
                  <a:lnTo>
                    <a:pt x="215969" y="362520"/>
                  </a:lnTo>
                  <a:lnTo>
                    <a:pt x="256701" y="385990"/>
                  </a:lnTo>
                  <a:lnTo>
                    <a:pt x="299995" y="406373"/>
                  </a:lnTo>
                  <a:lnTo>
                    <a:pt x="345622" y="423477"/>
                  </a:lnTo>
                  <a:lnTo>
                    <a:pt x="393354" y="437113"/>
                  </a:lnTo>
                  <a:lnTo>
                    <a:pt x="442960" y="447089"/>
                  </a:lnTo>
                  <a:lnTo>
                    <a:pt x="494211" y="453214"/>
                  </a:lnTo>
                  <a:lnTo>
                    <a:pt x="546879" y="455298"/>
                  </a:lnTo>
                  <a:lnTo>
                    <a:pt x="599547" y="453214"/>
                  </a:lnTo>
                  <a:lnTo>
                    <a:pt x="650799" y="447089"/>
                  </a:lnTo>
                  <a:lnTo>
                    <a:pt x="700405" y="437113"/>
                  </a:lnTo>
                  <a:lnTo>
                    <a:pt x="748136" y="423477"/>
                  </a:lnTo>
                  <a:lnTo>
                    <a:pt x="793763" y="406373"/>
                  </a:lnTo>
                  <a:lnTo>
                    <a:pt x="837057" y="385990"/>
                  </a:lnTo>
                  <a:lnTo>
                    <a:pt x="877789" y="362520"/>
                  </a:lnTo>
                  <a:lnTo>
                    <a:pt x="915729" y="336154"/>
                  </a:lnTo>
                  <a:lnTo>
                    <a:pt x="950649" y="307082"/>
                  </a:lnTo>
                  <a:lnTo>
                    <a:pt x="982318" y="275496"/>
                  </a:lnTo>
                  <a:lnTo>
                    <a:pt x="1010509" y="241585"/>
                  </a:lnTo>
                  <a:lnTo>
                    <a:pt x="1034991" y="205541"/>
                  </a:lnTo>
                  <a:lnTo>
                    <a:pt x="1055536" y="167554"/>
                  </a:lnTo>
                  <a:lnTo>
                    <a:pt x="1071914" y="127816"/>
                  </a:lnTo>
                  <a:lnTo>
                    <a:pt x="1083897" y="86517"/>
                  </a:lnTo>
                  <a:lnTo>
                    <a:pt x="1091254" y="43848"/>
                  </a:lnTo>
                  <a:lnTo>
                    <a:pt x="10937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86865" y="4265467"/>
              <a:ext cx="1094105" cy="455295"/>
            </a:xfrm>
            <a:custGeom>
              <a:avLst/>
              <a:gdLst/>
              <a:ahLst/>
              <a:cxnLst/>
              <a:rect l="l" t="t" r="r" b="b"/>
              <a:pathLst>
                <a:path w="1094104" h="455295">
                  <a:moveTo>
                    <a:pt x="1093758" y="0"/>
                  </a:moveTo>
                  <a:lnTo>
                    <a:pt x="1091254" y="43848"/>
                  </a:lnTo>
                  <a:lnTo>
                    <a:pt x="1083896" y="86517"/>
                  </a:lnTo>
                  <a:lnTo>
                    <a:pt x="1071914" y="127816"/>
                  </a:lnTo>
                  <a:lnTo>
                    <a:pt x="1055536" y="167554"/>
                  </a:lnTo>
                  <a:lnTo>
                    <a:pt x="1034991" y="205540"/>
                  </a:lnTo>
                  <a:lnTo>
                    <a:pt x="1010508" y="241584"/>
                  </a:lnTo>
                  <a:lnTo>
                    <a:pt x="982318" y="275495"/>
                  </a:lnTo>
                  <a:lnTo>
                    <a:pt x="950648" y="307082"/>
                  </a:lnTo>
                  <a:lnTo>
                    <a:pt x="915729" y="336153"/>
                  </a:lnTo>
                  <a:lnTo>
                    <a:pt x="877789" y="362520"/>
                  </a:lnTo>
                  <a:lnTo>
                    <a:pt x="837057" y="385989"/>
                  </a:lnTo>
                  <a:lnTo>
                    <a:pt x="793763" y="406372"/>
                  </a:lnTo>
                  <a:lnTo>
                    <a:pt x="748135" y="423476"/>
                  </a:lnTo>
                  <a:lnTo>
                    <a:pt x="700404" y="437112"/>
                  </a:lnTo>
                  <a:lnTo>
                    <a:pt x="650798" y="447088"/>
                  </a:lnTo>
                  <a:lnTo>
                    <a:pt x="599547" y="453213"/>
                  </a:lnTo>
                  <a:lnTo>
                    <a:pt x="546878" y="455297"/>
                  </a:lnTo>
                  <a:lnTo>
                    <a:pt x="494210" y="453213"/>
                  </a:lnTo>
                  <a:lnTo>
                    <a:pt x="442959" y="447088"/>
                  </a:lnTo>
                  <a:lnTo>
                    <a:pt x="393353" y="437112"/>
                  </a:lnTo>
                  <a:lnTo>
                    <a:pt x="345622" y="423476"/>
                  </a:lnTo>
                  <a:lnTo>
                    <a:pt x="299994" y="406372"/>
                  </a:lnTo>
                  <a:lnTo>
                    <a:pt x="256700" y="385989"/>
                  </a:lnTo>
                  <a:lnTo>
                    <a:pt x="215969" y="362520"/>
                  </a:lnTo>
                  <a:lnTo>
                    <a:pt x="178028" y="336153"/>
                  </a:lnTo>
                  <a:lnTo>
                    <a:pt x="143109" y="307082"/>
                  </a:lnTo>
                  <a:lnTo>
                    <a:pt x="111439" y="275495"/>
                  </a:lnTo>
                  <a:lnTo>
                    <a:pt x="83249" y="241584"/>
                  </a:lnTo>
                  <a:lnTo>
                    <a:pt x="58766" y="205540"/>
                  </a:lnTo>
                  <a:lnTo>
                    <a:pt x="38221" y="167554"/>
                  </a:lnTo>
                  <a:lnTo>
                    <a:pt x="21843" y="127816"/>
                  </a:lnTo>
                  <a:lnTo>
                    <a:pt x="9861" y="86517"/>
                  </a:lnTo>
                  <a:lnTo>
                    <a:pt x="2503" y="43848"/>
                  </a:lnTo>
                  <a:lnTo>
                    <a:pt x="0" y="0"/>
                  </a:lnTo>
                  <a:lnTo>
                    <a:pt x="2810" y="43836"/>
                  </a:lnTo>
                  <a:lnTo>
                    <a:pt x="10467" y="86469"/>
                  </a:lnTo>
                  <a:lnTo>
                    <a:pt x="22739" y="127710"/>
                  </a:lnTo>
                  <a:lnTo>
                    <a:pt x="39396" y="167368"/>
                  </a:lnTo>
                  <a:lnTo>
                    <a:pt x="60207" y="205255"/>
                  </a:lnTo>
                  <a:lnTo>
                    <a:pt x="84942" y="241180"/>
                  </a:lnTo>
                  <a:lnTo>
                    <a:pt x="113371" y="274953"/>
                  </a:lnTo>
                  <a:lnTo>
                    <a:pt x="145262" y="306386"/>
                  </a:lnTo>
                  <a:lnTo>
                    <a:pt x="180385" y="335288"/>
                  </a:lnTo>
                  <a:lnTo>
                    <a:pt x="218510" y="361470"/>
                  </a:lnTo>
                  <a:lnTo>
                    <a:pt x="259407" y="384742"/>
                  </a:lnTo>
                  <a:lnTo>
                    <a:pt x="302843" y="404914"/>
                  </a:lnTo>
                  <a:lnTo>
                    <a:pt x="348591" y="421797"/>
                  </a:lnTo>
                  <a:lnTo>
                    <a:pt x="396417" y="435200"/>
                  </a:lnTo>
                  <a:lnTo>
                    <a:pt x="446093" y="444935"/>
                  </a:lnTo>
                  <a:lnTo>
                    <a:pt x="497388" y="450812"/>
                  </a:lnTo>
                  <a:lnTo>
                    <a:pt x="550071" y="452640"/>
                  </a:lnTo>
                  <a:lnTo>
                    <a:pt x="602300" y="450334"/>
                  </a:lnTo>
                  <a:lnTo>
                    <a:pt x="653120" y="444056"/>
                  </a:lnTo>
                  <a:lnTo>
                    <a:pt x="702304" y="433991"/>
                  </a:lnTo>
                  <a:lnTo>
                    <a:pt x="749630" y="420327"/>
                  </a:lnTo>
                  <a:lnTo>
                    <a:pt x="794873" y="403249"/>
                  </a:lnTo>
                  <a:lnTo>
                    <a:pt x="837810" y="382945"/>
                  </a:lnTo>
                  <a:lnTo>
                    <a:pt x="878215" y="359600"/>
                  </a:lnTo>
                  <a:lnTo>
                    <a:pt x="915865" y="333402"/>
                  </a:lnTo>
                  <a:lnTo>
                    <a:pt x="950535" y="304538"/>
                  </a:lnTo>
                  <a:lnTo>
                    <a:pt x="982003" y="273193"/>
                  </a:lnTo>
                  <a:lnTo>
                    <a:pt x="1010043" y="239554"/>
                  </a:lnTo>
                  <a:lnTo>
                    <a:pt x="1034431" y="203808"/>
                  </a:lnTo>
                  <a:lnTo>
                    <a:pt x="1054944" y="166141"/>
                  </a:lnTo>
                  <a:lnTo>
                    <a:pt x="1071357" y="126740"/>
                  </a:lnTo>
                  <a:lnTo>
                    <a:pt x="1083446" y="85792"/>
                  </a:lnTo>
                  <a:lnTo>
                    <a:pt x="1090987" y="43483"/>
                  </a:lnTo>
                  <a:lnTo>
                    <a:pt x="1093757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65845" y="3626296"/>
            <a:ext cx="157188" cy="15718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49524" y="3622931"/>
            <a:ext cx="157188" cy="15718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940814" y="2820216"/>
            <a:ext cx="1282065" cy="669290"/>
          </a:xfrm>
          <a:prstGeom prst="rect">
            <a:avLst/>
          </a:prstGeom>
          <a:solidFill>
            <a:srgbClr val="CD665F"/>
          </a:solidFill>
          <a:ln w="25399">
            <a:solidFill>
              <a:srgbClr val="9F4B46"/>
            </a:solidFill>
          </a:ln>
        </p:spPr>
        <p:txBody>
          <a:bodyPr vert="horz" wrap="square" lIns="0" tIns="74930" rIns="0" bIns="0" rtlCol="0">
            <a:spAutoFit/>
          </a:bodyPr>
          <a:lstStyle/>
          <a:p>
            <a:pPr marL="388620" marR="210820" indent="-164465">
              <a:lnSpc>
                <a:spcPts val="2100"/>
              </a:lnSpc>
              <a:spcBef>
                <a:spcPts val="59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“Tinyﬁed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VMs”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40814" y="4034402"/>
            <a:ext cx="1282065" cy="669290"/>
          </a:xfrm>
          <a:prstGeom prst="rect">
            <a:avLst/>
          </a:prstGeom>
          <a:solidFill>
            <a:srgbClr val="AAC46C"/>
          </a:solidFill>
          <a:ln w="25399">
            <a:solidFill>
              <a:srgbClr val="839950"/>
            </a:solidFill>
          </a:ln>
        </p:spPr>
        <p:txBody>
          <a:bodyPr vert="horz" wrap="square" lIns="0" tIns="19685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55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unikernels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0190">
              <a:lnSpc>
                <a:spcPct val="100000"/>
              </a:lnSpc>
              <a:spcBef>
                <a:spcPts val="100"/>
              </a:spcBef>
            </a:pPr>
            <a:r>
              <a:rPr dirty="0"/>
              <a:t>In</a:t>
            </a:r>
            <a:r>
              <a:rPr spc="-4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Beginning…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29432" y="2422552"/>
            <a:ext cx="1461602" cy="104721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73433" y="3786320"/>
            <a:ext cx="7702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5" dirty="0">
                <a:latin typeface="Calibri"/>
                <a:cs typeface="Calibri"/>
              </a:rPr>
              <a:t>VM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74165" y="4252767"/>
            <a:ext cx="1119505" cy="480695"/>
            <a:chOff x="3874165" y="4252767"/>
            <a:chExt cx="1119505" cy="480695"/>
          </a:xfrm>
        </p:grpSpPr>
        <p:sp>
          <p:nvSpPr>
            <p:cNvPr id="6" name="object 6"/>
            <p:cNvSpPr/>
            <p:nvPr/>
          </p:nvSpPr>
          <p:spPr>
            <a:xfrm>
              <a:off x="3886865" y="4265466"/>
              <a:ext cx="1094105" cy="455295"/>
            </a:xfrm>
            <a:custGeom>
              <a:avLst/>
              <a:gdLst/>
              <a:ahLst/>
              <a:cxnLst/>
              <a:rect l="l" t="t" r="r" b="b"/>
              <a:pathLst>
                <a:path w="1094104" h="455295">
                  <a:moveTo>
                    <a:pt x="1093757" y="0"/>
                  </a:moveTo>
                  <a:lnTo>
                    <a:pt x="1090987" y="43483"/>
                  </a:lnTo>
                  <a:lnTo>
                    <a:pt x="1083446" y="85792"/>
                  </a:lnTo>
                  <a:lnTo>
                    <a:pt x="1071357" y="126740"/>
                  </a:lnTo>
                  <a:lnTo>
                    <a:pt x="1054944" y="166141"/>
                  </a:lnTo>
                  <a:lnTo>
                    <a:pt x="1034431" y="203808"/>
                  </a:lnTo>
                  <a:lnTo>
                    <a:pt x="1010043" y="239554"/>
                  </a:lnTo>
                  <a:lnTo>
                    <a:pt x="982003" y="273193"/>
                  </a:lnTo>
                  <a:lnTo>
                    <a:pt x="950536" y="304538"/>
                  </a:lnTo>
                  <a:lnTo>
                    <a:pt x="915865" y="333403"/>
                  </a:lnTo>
                  <a:lnTo>
                    <a:pt x="878215" y="359601"/>
                  </a:lnTo>
                  <a:lnTo>
                    <a:pt x="837810" y="382945"/>
                  </a:lnTo>
                  <a:lnTo>
                    <a:pt x="794874" y="403249"/>
                  </a:lnTo>
                  <a:lnTo>
                    <a:pt x="749631" y="420327"/>
                  </a:lnTo>
                  <a:lnTo>
                    <a:pt x="702305" y="433992"/>
                  </a:lnTo>
                  <a:lnTo>
                    <a:pt x="653120" y="444056"/>
                  </a:lnTo>
                  <a:lnTo>
                    <a:pt x="602301" y="450335"/>
                  </a:lnTo>
                  <a:lnTo>
                    <a:pt x="550071" y="452640"/>
                  </a:lnTo>
                  <a:lnTo>
                    <a:pt x="497388" y="450812"/>
                  </a:lnTo>
                  <a:lnTo>
                    <a:pt x="446094" y="444936"/>
                  </a:lnTo>
                  <a:lnTo>
                    <a:pt x="396418" y="435201"/>
                  </a:lnTo>
                  <a:lnTo>
                    <a:pt x="348591" y="421797"/>
                  </a:lnTo>
                  <a:lnTo>
                    <a:pt x="302844" y="404915"/>
                  </a:lnTo>
                  <a:lnTo>
                    <a:pt x="259407" y="384742"/>
                  </a:lnTo>
                  <a:lnTo>
                    <a:pt x="218511" y="361471"/>
                  </a:lnTo>
                  <a:lnTo>
                    <a:pt x="180386" y="335289"/>
                  </a:lnTo>
                  <a:lnTo>
                    <a:pt x="145262" y="306387"/>
                  </a:lnTo>
                  <a:lnTo>
                    <a:pt x="113371" y="274954"/>
                  </a:lnTo>
                  <a:lnTo>
                    <a:pt x="84943" y="241180"/>
                  </a:lnTo>
                  <a:lnTo>
                    <a:pt x="60208" y="205255"/>
                  </a:lnTo>
                  <a:lnTo>
                    <a:pt x="39397" y="167368"/>
                  </a:lnTo>
                  <a:lnTo>
                    <a:pt x="22740" y="127710"/>
                  </a:lnTo>
                  <a:lnTo>
                    <a:pt x="10467" y="86469"/>
                  </a:lnTo>
                  <a:lnTo>
                    <a:pt x="2811" y="43836"/>
                  </a:lnTo>
                  <a:lnTo>
                    <a:pt x="0" y="0"/>
                  </a:lnTo>
                  <a:lnTo>
                    <a:pt x="2503" y="43848"/>
                  </a:lnTo>
                  <a:lnTo>
                    <a:pt x="9861" y="86517"/>
                  </a:lnTo>
                  <a:lnTo>
                    <a:pt x="21843" y="127816"/>
                  </a:lnTo>
                  <a:lnTo>
                    <a:pt x="38222" y="167554"/>
                  </a:lnTo>
                  <a:lnTo>
                    <a:pt x="58767" y="205541"/>
                  </a:lnTo>
                  <a:lnTo>
                    <a:pt x="83249" y="241585"/>
                  </a:lnTo>
                  <a:lnTo>
                    <a:pt x="111440" y="275496"/>
                  </a:lnTo>
                  <a:lnTo>
                    <a:pt x="143109" y="307082"/>
                  </a:lnTo>
                  <a:lnTo>
                    <a:pt x="178029" y="336154"/>
                  </a:lnTo>
                  <a:lnTo>
                    <a:pt x="215969" y="362520"/>
                  </a:lnTo>
                  <a:lnTo>
                    <a:pt x="256701" y="385990"/>
                  </a:lnTo>
                  <a:lnTo>
                    <a:pt x="299995" y="406373"/>
                  </a:lnTo>
                  <a:lnTo>
                    <a:pt x="345622" y="423477"/>
                  </a:lnTo>
                  <a:lnTo>
                    <a:pt x="393354" y="437113"/>
                  </a:lnTo>
                  <a:lnTo>
                    <a:pt x="442960" y="447089"/>
                  </a:lnTo>
                  <a:lnTo>
                    <a:pt x="494211" y="453214"/>
                  </a:lnTo>
                  <a:lnTo>
                    <a:pt x="546879" y="455298"/>
                  </a:lnTo>
                  <a:lnTo>
                    <a:pt x="599547" y="453214"/>
                  </a:lnTo>
                  <a:lnTo>
                    <a:pt x="650799" y="447089"/>
                  </a:lnTo>
                  <a:lnTo>
                    <a:pt x="700405" y="437113"/>
                  </a:lnTo>
                  <a:lnTo>
                    <a:pt x="748136" y="423477"/>
                  </a:lnTo>
                  <a:lnTo>
                    <a:pt x="793763" y="406373"/>
                  </a:lnTo>
                  <a:lnTo>
                    <a:pt x="837057" y="385990"/>
                  </a:lnTo>
                  <a:lnTo>
                    <a:pt x="877789" y="362520"/>
                  </a:lnTo>
                  <a:lnTo>
                    <a:pt x="915729" y="336154"/>
                  </a:lnTo>
                  <a:lnTo>
                    <a:pt x="950649" y="307082"/>
                  </a:lnTo>
                  <a:lnTo>
                    <a:pt x="982318" y="275496"/>
                  </a:lnTo>
                  <a:lnTo>
                    <a:pt x="1010509" y="241585"/>
                  </a:lnTo>
                  <a:lnTo>
                    <a:pt x="1034991" y="205541"/>
                  </a:lnTo>
                  <a:lnTo>
                    <a:pt x="1055536" y="167554"/>
                  </a:lnTo>
                  <a:lnTo>
                    <a:pt x="1071914" y="127816"/>
                  </a:lnTo>
                  <a:lnTo>
                    <a:pt x="1083897" y="86517"/>
                  </a:lnTo>
                  <a:lnTo>
                    <a:pt x="1091254" y="43848"/>
                  </a:lnTo>
                  <a:lnTo>
                    <a:pt x="10937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86865" y="4265467"/>
              <a:ext cx="1094105" cy="455295"/>
            </a:xfrm>
            <a:custGeom>
              <a:avLst/>
              <a:gdLst/>
              <a:ahLst/>
              <a:cxnLst/>
              <a:rect l="l" t="t" r="r" b="b"/>
              <a:pathLst>
                <a:path w="1094104" h="455295">
                  <a:moveTo>
                    <a:pt x="1093758" y="0"/>
                  </a:moveTo>
                  <a:lnTo>
                    <a:pt x="1091254" y="43848"/>
                  </a:lnTo>
                  <a:lnTo>
                    <a:pt x="1083896" y="86517"/>
                  </a:lnTo>
                  <a:lnTo>
                    <a:pt x="1071914" y="127816"/>
                  </a:lnTo>
                  <a:lnTo>
                    <a:pt x="1055536" y="167554"/>
                  </a:lnTo>
                  <a:lnTo>
                    <a:pt x="1034991" y="205540"/>
                  </a:lnTo>
                  <a:lnTo>
                    <a:pt x="1010508" y="241584"/>
                  </a:lnTo>
                  <a:lnTo>
                    <a:pt x="982318" y="275495"/>
                  </a:lnTo>
                  <a:lnTo>
                    <a:pt x="950648" y="307082"/>
                  </a:lnTo>
                  <a:lnTo>
                    <a:pt x="915729" y="336153"/>
                  </a:lnTo>
                  <a:lnTo>
                    <a:pt x="877789" y="362520"/>
                  </a:lnTo>
                  <a:lnTo>
                    <a:pt x="837057" y="385989"/>
                  </a:lnTo>
                  <a:lnTo>
                    <a:pt x="793763" y="406372"/>
                  </a:lnTo>
                  <a:lnTo>
                    <a:pt x="748135" y="423476"/>
                  </a:lnTo>
                  <a:lnTo>
                    <a:pt x="700404" y="437112"/>
                  </a:lnTo>
                  <a:lnTo>
                    <a:pt x="650798" y="447088"/>
                  </a:lnTo>
                  <a:lnTo>
                    <a:pt x="599547" y="453213"/>
                  </a:lnTo>
                  <a:lnTo>
                    <a:pt x="546878" y="455297"/>
                  </a:lnTo>
                  <a:lnTo>
                    <a:pt x="494210" y="453213"/>
                  </a:lnTo>
                  <a:lnTo>
                    <a:pt x="442959" y="447088"/>
                  </a:lnTo>
                  <a:lnTo>
                    <a:pt x="393353" y="437112"/>
                  </a:lnTo>
                  <a:lnTo>
                    <a:pt x="345622" y="423476"/>
                  </a:lnTo>
                  <a:lnTo>
                    <a:pt x="299994" y="406372"/>
                  </a:lnTo>
                  <a:lnTo>
                    <a:pt x="256700" y="385989"/>
                  </a:lnTo>
                  <a:lnTo>
                    <a:pt x="215969" y="362520"/>
                  </a:lnTo>
                  <a:lnTo>
                    <a:pt x="178028" y="336153"/>
                  </a:lnTo>
                  <a:lnTo>
                    <a:pt x="143109" y="307082"/>
                  </a:lnTo>
                  <a:lnTo>
                    <a:pt x="111439" y="275495"/>
                  </a:lnTo>
                  <a:lnTo>
                    <a:pt x="83249" y="241584"/>
                  </a:lnTo>
                  <a:lnTo>
                    <a:pt x="58766" y="205540"/>
                  </a:lnTo>
                  <a:lnTo>
                    <a:pt x="38221" y="167554"/>
                  </a:lnTo>
                  <a:lnTo>
                    <a:pt x="21843" y="127816"/>
                  </a:lnTo>
                  <a:lnTo>
                    <a:pt x="9861" y="86517"/>
                  </a:lnTo>
                  <a:lnTo>
                    <a:pt x="2503" y="43848"/>
                  </a:lnTo>
                  <a:lnTo>
                    <a:pt x="0" y="0"/>
                  </a:lnTo>
                  <a:lnTo>
                    <a:pt x="2810" y="43836"/>
                  </a:lnTo>
                  <a:lnTo>
                    <a:pt x="10467" y="86469"/>
                  </a:lnTo>
                  <a:lnTo>
                    <a:pt x="22739" y="127710"/>
                  </a:lnTo>
                  <a:lnTo>
                    <a:pt x="39396" y="167368"/>
                  </a:lnTo>
                  <a:lnTo>
                    <a:pt x="60207" y="205255"/>
                  </a:lnTo>
                  <a:lnTo>
                    <a:pt x="84942" y="241180"/>
                  </a:lnTo>
                  <a:lnTo>
                    <a:pt x="113371" y="274953"/>
                  </a:lnTo>
                  <a:lnTo>
                    <a:pt x="145262" y="306386"/>
                  </a:lnTo>
                  <a:lnTo>
                    <a:pt x="180385" y="335288"/>
                  </a:lnTo>
                  <a:lnTo>
                    <a:pt x="218510" y="361470"/>
                  </a:lnTo>
                  <a:lnTo>
                    <a:pt x="259407" y="384742"/>
                  </a:lnTo>
                  <a:lnTo>
                    <a:pt x="302843" y="404914"/>
                  </a:lnTo>
                  <a:lnTo>
                    <a:pt x="348591" y="421797"/>
                  </a:lnTo>
                  <a:lnTo>
                    <a:pt x="396417" y="435200"/>
                  </a:lnTo>
                  <a:lnTo>
                    <a:pt x="446093" y="444935"/>
                  </a:lnTo>
                  <a:lnTo>
                    <a:pt x="497388" y="450812"/>
                  </a:lnTo>
                  <a:lnTo>
                    <a:pt x="550071" y="452640"/>
                  </a:lnTo>
                  <a:lnTo>
                    <a:pt x="602300" y="450334"/>
                  </a:lnTo>
                  <a:lnTo>
                    <a:pt x="653120" y="444056"/>
                  </a:lnTo>
                  <a:lnTo>
                    <a:pt x="702304" y="433991"/>
                  </a:lnTo>
                  <a:lnTo>
                    <a:pt x="749630" y="420327"/>
                  </a:lnTo>
                  <a:lnTo>
                    <a:pt x="794873" y="403249"/>
                  </a:lnTo>
                  <a:lnTo>
                    <a:pt x="837810" y="382945"/>
                  </a:lnTo>
                  <a:lnTo>
                    <a:pt x="878215" y="359600"/>
                  </a:lnTo>
                  <a:lnTo>
                    <a:pt x="915865" y="333402"/>
                  </a:lnTo>
                  <a:lnTo>
                    <a:pt x="950535" y="304538"/>
                  </a:lnTo>
                  <a:lnTo>
                    <a:pt x="982003" y="273193"/>
                  </a:lnTo>
                  <a:lnTo>
                    <a:pt x="1010043" y="239554"/>
                  </a:lnTo>
                  <a:lnTo>
                    <a:pt x="1034431" y="203808"/>
                  </a:lnTo>
                  <a:lnTo>
                    <a:pt x="1054944" y="166141"/>
                  </a:lnTo>
                  <a:lnTo>
                    <a:pt x="1071357" y="126740"/>
                  </a:lnTo>
                  <a:lnTo>
                    <a:pt x="1083446" y="85792"/>
                  </a:lnTo>
                  <a:lnTo>
                    <a:pt x="1090987" y="43483"/>
                  </a:lnTo>
                  <a:lnTo>
                    <a:pt x="1093757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65845" y="3626296"/>
            <a:ext cx="157188" cy="15718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49524" y="3622931"/>
            <a:ext cx="157188" cy="15718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940814" y="2820216"/>
            <a:ext cx="1282065" cy="669290"/>
          </a:xfrm>
          <a:prstGeom prst="rect">
            <a:avLst/>
          </a:prstGeom>
          <a:solidFill>
            <a:srgbClr val="CD665F"/>
          </a:solidFill>
          <a:ln w="25399">
            <a:solidFill>
              <a:srgbClr val="9F4B46"/>
            </a:solidFill>
          </a:ln>
        </p:spPr>
        <p:txBody>
          <a:bodyPr vert="horz" wrap="square" lIns="0" tIns="74930" rIns="0" bIns="0" rtlCol="0">
            <a:spAutoFit/>
          </a:bodyPr>
          <a:lstStyle/>
          <a:p>
            <a:pPr marL="388620" marR="210820" indent="-164465">
              <a:lnSpc>
                <a:spcPts val="2100"/>
              </a:lnSpc>
              <a:spcBef>
                <a:spcPts val="59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“Tinyﬁed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VMs”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40814" y="4034402"/>
            <a:ext cx="1282065" cy="669290"/>
          </a:xfrm>
          <a:prstGeom prst="rect">
            <a:avLst/>
          </a:prstGeom>
          <a:solidFill>
            <a:srgbClr val="AAC46C"/>
          </a:solidFill>
          <a:ln w="25399">
            <a:solidFill>
              <a:srgbClr val="839950"/>
            </a:solidFill>
          </a:ln>
        </p:spPr>
        <p:txBody>
          <a:bodyPr vert="horz" wrap="square" lIns="0" tIns="19685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55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unikernels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21572" y="3401619"/>
            <a:ext cx="1282065" cy="669290"/>
          </a:xfrm>
          <a:prstGeom prst="rect">
            <a:avLst/>
          </a:prstGeom>
          <a:solidFill>
            <a:srgbClr val="937AB2"/>
          </a:solidFill>
          <a:ln w="25399">
            <a:solidFill>
              <a:srgbClr val="705C89"/>
            </a:solidFill>
          </a:ln>
        </p:spPr>
        <p:txBody>
          <a:bodyPr vert="horz" wrap="square" lIns="0" tIns="196850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155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containers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0190">
              <a:lnSpc>
                <a:spcPct val="100000"/>
              </a:lnSpc>
              <a:spcBef>
                <a:spcPts val="100"/>
              </a:spcBef>
            </a:pPr>
            <a:r>
              <a:rPr dirty="0"/>
              <a:t>In</a:t>
            </a:r>
            <a:r>
              <a:rPr spc="-4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Beginning…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29432" y="2422552"/>
            <a:ext cx="1461602" cy="104721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73433" y="3786320"/>
            <a:ext cx="7702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5" dirty="0">
                <a:latin typeface="Calibri"/>
                <a:cs typeface="Calibri"/>
              </a:rPr>
              <a:t>VM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65845" y="3626296"/>
            <a:ext cx="157188" cy="15718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49524" y="3622931"/>
            <a:ext cx="157188" cy="15718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940814" y="2820216"/>
            <a:ext cx="1282065" cy="669290"/>
          </a:xfrm>
          <a:prstGeom prst="rect">
            <a:avLst/>
          </a:prstGeom>
          <a:solidFill>
            <a:srgbClr val="CD665F"/>
          </a:solidFill>
          <a:ln w="25399">
            <a:solidFill>
              <a:srgbClr val="9F4B46"/>
            </a:solidFill>
          </a:ln>
        </p:spPr>
        <p:txBody>
          <a:bodyPr vert="horz" wrap="square" lIns="0" tIns="74930" rIns="0" bIns="0" rtlCol="0">
            <a:spAutoFit/>
          </a:bodyPr>
          <a:lstStyle/>
          <a:p>
            <a:pPr marL="388620" marR="210820" indent="-164465">
              <a:lnSpc>
                <a:spcPts val="2100"/>
              </a:lnSpc>
              <a:spcBef>
                <a:spcPts val="59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“Tinyﬁed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VMs”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40814" y="4034402"/>
            <a:ext cx="1282065" cy="669290"/>
          </a:xfrm>
          <a:prstGeom prst="rect">
            <a:avLst/>
          </a:prstGeom>
          <a:solidFill>
            <a:srgbClr val="AAC46C"/>
          </a:solidFill>
          <a:ln w="25399">
            <a:solidFill>
              <a:srgbClr val="839950"/>
            </a:solidFill>
          </a:ln>
        </p:spPr>
        <p:txBody>
          <a:bodyPr vert="horz" wrap="square" lIns="0" tIns="19685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55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unikernels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21572" y="3401619"/>
            <a:ext cx="1282065" cy="669290"/>
          </a:xfrm>
          <a:prstGeom prst="rect">
            <a:avLst/>
          </a:prstGeom>
          <a:solidFill>
            <a:srgbClr val="937AB2"/>
          </a:solidFill>
          <a:ln w="25399">
            <a:solidFill>
              <a:srgbClr val="705C89"/>
            </a:solidFill>
          </a:ln>
        </p:spPr>
        <p:txBody>
          <a:bodyPr vert="horz" wrap="square" lIns="0" tIns="196850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155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containers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906765" y="4465076"/>
            <a:ext cx="1119505" cy="480695"/>
            <a:chOff x="3906765" y="4465076"/>
            <a:chExt cx="1119505" cy="480695"/>
          </a:xfrm>
        </p:grpSpPr>
        <p:sp>
          <p:nvSpPr>
            <p:cNvPr id="11" name="object 11"/>
            <p:cNvSpPr/>
            <p:nvPr/>
          </p:nvSpPr>
          <p:spPr>
            <a:xfrm>
              <a:off x="3919466" y="4477776"/>
              <a:ext cx="1094105" cy="455295"/>
            </a:xfrm>
            <a:custGeom>
              <a:avLst/>
              <a:gdLst/>
              <a:ahLst/>
              <a:cxnLst/>
              <a:rect l="l" t="t" r="r" b="b"/>
              <a:pathLst>
                <a:path w="1094104" h="455295">
                  <a:moveTo>
                    <a:pt x="546878" y="0"/>
                  </a:moveTo>
                  <a:lnTo>
                    <a:pt x="494210" y="2084"/>
                  </a:lnTo>
                  <a:lnTo>
                    <a:pt x="442958" y="8209"/>
                  </a:lnTo>
                  <a:lnTo>
                    <a:pt x="393352" y="18185"/>
                  </a:lnTo>
                  <a:lnTo>
                    <a:pt x="345621" y="31821"/>
                  </a:lnTo>
                  <a:lnTo>
                    <a:pt x="299994" y="48925"/>
                  </a:lnTo>
                  <a:lnTo>
                    <a:pt x="256700" y="69308"/>
                  </a:lnTo>
                  <a:lnTo>
                    <a:pt x="215968" y="92777"/>
                  </a:lnTo>
                  <a:lnTo>
                    <a:pt x="178028" y="119144"/>
                  </a:lnTo>
                  <a:lnTo>
                    <a:pt x="143109" y="148216"/>
                  </a:lnTo>
                  <a:lnTo>
                    <a:pt x="111439" y="179802"/>
                  </a:lnTo>
                  <a:lnTo>
                    <a:pt x="83249" y="213713"/>
                  </a:lnTo>
                  <a:lnTo>
                    <a:pt x="58766" y="249757"/>
                  </a:lnTo>
                  <a:lnTo>
                    <a:pt x="38221" y="287744"/>
                  </a:lnTo>
                  <a:lnTo>
                    <a:pt x="21843" y="327482"/>
                  </a:lnTo>
                  <a:lnTo>
                    <a:pt x="9861" y="368781"/>
                  </a:lnTo>
                  <a:lnTo>
                    <a:pt x="2503" y="411450"/>
                  </a:lnTo>
                  <a:lnTo>
                    <a:pt x="0" y="455298"/>
                  </a:lnTo>
                  <a:lnTo>
                    <a:pt x="2810" y="411462"/>
                  </a:lnTo>
                  <a:lnTo>
                    <a:pt x="10467" y="368829"/>
                  </a:lnTo>
                  <a:lnTo>
                    <a:pt x="22739" y="327588"/>
                  </a:lnTo>
                  <a:lnTo>
                    <a:pt x="39396" y="287929"/>
                  </a:lnTo>
                  <a:lnTo>
                    <a:pt x="60207" y="250043"/>
                  </a:lnTo>
                  <a:lnTo>
                    <a:pt x="84942" y="214118"/>
                  </a:lnTo>
                  <a:lnTo>
                    <a:pt x="113370" y="180344"/>
                  </a:lnTo>
                  <a:lnTo>
                    <a:pt x="145261" y="148911"/>
                  </a:lnTo>
                  <a:lnTo>
                    <a:pt x="180385" y="120009"/>
                  </a:lnTo>
                  <a:lnTo>
                    <a:pt x="218510" y="93827"/>
                  </a:lnTo>
                  <a:lnTo>
                    <a:pt x="259406" y="70555"/>
                  </a:lnTo>
                  <a:lnTo>
                    <a:pt x="302843" y="50383"/>
                  </a:lnTo>
                  <a:lnTo>
                    <a:pt x="348590" y="33501"/>
                  </a:lnTo>
                  <a:lnTo>
                    <a:pt x="396416" y="20097"/>
                  </a:lnTo>
                  <a:lnTo>
                    <a:pt x="446092" y="10362"/>
                  </a:lnTo>
                  <a:lnTo>
                    <a:pt x="497387" y="4486"/>
                  </a:lnTo>
                  <a:lnTo>
                    <a:pt x="550070" y="2658"/>
                  </a:lnTo>
                  <a:lnTo>
                    <a:pt x="602300" y="4963"/>
                  </a:lnTo>
                  <a:lnTo>
                    <a:pt x="653119" y="11242"/>
                  </a:lnTo>
                  <a:lnTo>
                    <a:pt x="702304" y="21306"/>
                  </a:lnTo>
                  <a:lnTo>
                    <a:pt x="749630" y="34971"/>
                  </a:lnTo>
                  <a:lnTo>
                    <a:pt x="794873" y="52049"/>
                  </a:lnTo>
                  <a:lnTo>
                    <a:pt x="837809" y="72353"/>
                  </a:lnTo>
                  <a:lnTo>
                    <a:pt x="878214" y="95697"/>
                  </a:lnTo>
                  <a:lnTo>
                    <a:pt x="915864" y="121895"/>
                  </a:lnTo>
                  <a:lnTo>
                    <a:pt x="950535" y="150760"/>
                  </a:lnTo>
                  <a:lnTo>
                    <a:pt x="982002" y="182105"/>
                  </a:lnTo>
                  <a:lnTo>
                    <a:pt x="1010042" y="215744"/>
                  </a:lnTo>
                  <a:lnTo>
                    <a:pt x="1034431" y="251490"/>
                  </a:lnTo>
                  <a:lnTo>
                    <a:pt x="1054944" y="289157"/>
                  </a:lnTo>
                  <a:lnTo>
                    <a:pt x="1071357" y="328558"/>
                  </a:lnTo>
                  <a:lnTo>
                    <a:pt x="1083446" y="369506"/>
                  </a:lnTo>
                  <a:lnTo>
                    <a:pt x="1090987" y="411815"/>
                  </a:lnTo>
                  <a:lnTo>
                    <a:pt x="1093757" y="455298"/>
                  </a:lnTo>
                  <a:lnTo>
                    <a:pt x="1091253" y="411450"/>
                  </a:lnTo>
                  <a:lnTo>
                    <a:pt x="1083895" y="368781"/>
                  </a:lnTo>
                  <a:lnTo>
                    <a:pt x="1071913" y="327482"/>
                  </a:lnTo>
                  <a:lnTo>
                    <a:pt x="1055535" y="287744"/>
                  </a:lnTo>
                  <a:lnTo>
                    <a:pt x="1034990" y="249757"/>
                  </a:lnTo>
                  <a:lnTo>
                    <a:pt x="1010507" y="213713"/>
                  </a:lnTo>
                  <a:lnTo>
                    <a:pt x="982317" y="179802"/>
                  </a:lnTo>
                  <a:lnTo>
                    <a:pt x="950647" y="148216"/>
                  </a:lnTo>
                  <a:lnTo>
                    <a:pt x="915728" y="119144"/>
                  </a:lnTo>
                  <a:lnTo>
                    <a:pt x="877788" y="92777"/>
                  </a:lnTo>
                  <a:lnTo>
                    <a:pt x="837056" y="69308"/>
                  </a:lnTo>
                  <a:lnTo>
                    <a:pt x="793762" y="48925"/>
                  </a:lnTo>
                  <a:lnTo>
                    <a:pt x="748135" y="31821"/>
                  </a:lnTo>
                  <a:lnTo>
                    <a:pt x="700404" y="18185"/>
                  </a:lnTo>
                  <a:lnTo>
                    <a:pt x="650798" y="8209"/>
                  </a:lnTo>
                  <a:lnTo>
                    <a:pt x="599546" y="2084"/>
                  </a:lnTo>
                  <a:lnTo>
                    <a:pt x="5468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19465" y="4477776"/>
              <a:ext cx="1094105" cy="455295"/>
            </a:xfrm>
            <a:custGeom>
              <a:avLst/>
              <a:gdLst/>
              <a:ahLst/>
              <a:cxnLst/>
              <a:rect l="l" t="t" r="r" b="b"/>
              <a:pathLst>
                <a:path w="1094104" h="455295">
                  <a:moveTo>
                    <a:pt x="1093758" y="455297"/>
                  </a:moveTo>
                  <a:lnTo>
                    <a:pt x="1091254" y="411449"/>
                  </a:lnTo>
                  <a:lnTo>
                    <a:pt x="1083897" y="368780"/>
                  </a:lnTo>
                  <a:lnTo>
                    <a:pt x="1071914" y="327481"/>
                  </a:lnTo>
                  <a:lnTo>
                    <a:pt x="1055536" y="287743"/>
                  </a:lnTo>
                  <a:lnTo>
                    <a:pt x="1034991" y="249757"/>
                  </a:lnTo>
                  <a:lnTo>
                    <a:pt x="1010508" y="213713"/>
                  </a:lnTo>
                  <a:lnTo>
                    <a:pt x="982318" y="179802"/>
                  </a:lnTo>
                  <a:lnTo>
                    <a:pt x="950648" y="148215"/>
                  </a:lnTo>
                  <a:lnTo>
                    <a:pt x="915729" y="119144"/>
                  </a:lnTo>
                  <a:lnTo>
                    <a:pt x="877789" y="92777"/>
                  </a:lnTo>
                  <a:lnTo>
                    <a:pt x="837057" y="69308"/>
                  </a:lnTo>
                  <a:lnTo>
                    <a:pt x="793763" y="48925"/>
                  </a:lnTo>
                  <a:lnTo>
                    <a:pt x="748136" y="31821"/>
                  </a:lnTo>
                  <a:lnTo>
                    <a:pt x="700404" y="18185"/>
                  </a:lnTo>
                  <a:lnTo>
                    <a:pt x="650798" y="8209"/>
                  </a:lnTo>
                  <a:lnTo>
                    <a:pt x="599547" y="2084"/>
                  </a:lnTo>
                  <a:lnTo>
                    <a:pt x="546879" y="0"/>
                  </a:lnTo>
                  <a:lnTo>
                    <a:pt x="494210" y="2084"/>
                  </a:lnTo>
                  <a:lnTo>
                    <a:pt x="442959" y="8209"/>
                  </a:lnTo>
                  <a:lnTo>
                    <a:pt x="393353" y="18185"/>
                  </a:lnTo>
                  <a:lnTo>
                    <a:pt x="345622" y="31821"/>
                  </a:lnTo>
                  <a:lnTo>
                    <a:pt x="299994" y="48925"/>
                  </a:lnTo>
                  <a:lnTo>
                    <a:pt x="256700" y="69308"/>
                  </a:lnTo>
                  <a:lnTo>
                    <a:pt x="215969" y="92777"/>
                  </a:lnTo>
                  <a:lnTo>
                    <a:pt x="178028" y="119144"/>
                  </a:lnTo>
                  <a:lnTo>
                    <a:pt x="143109" y="148215"/>
                  </a:lnTo>
                  <a:lnTo>
                    <a:pt x="111439" y="179802"/>
                  </a:lnTo>
                  <a:lnTo>
                    <a:pt x="83249" y="213713"/>
                  </a:lnTo>
                  <a:lnTo>
                    <a:pt x="58766" y="249757"/>
                  </a:lnTo>
                  <a:lnTo>
                    <a:pt x="38221" y="287743"/>
                  </a:lnTo>
                  <a:lnTo>
                    <a:pt x="21843" y="327481"/>
                  </a:lnTo>
                  <a:lnTo>
                    <a:pt x="9861" y="368780"/>
                  </a:lnTo>
                  <a:lnTo>
                    <a:pt x="2503" y="411449"/>
                  </a:lnTo>
                  <a:lnTo>
                    <a:pt x="0" y="455297"/>
                  </a:lnTo>
                  <a:lnTo>
                    <a:pt x="2810" y="411461"/>
                  </a:lnTo>
                  <a:lnTo>
                    <a:pt x="10467" y="368828"/>
                  </a:lnTo>
                  <a:lnTo>
                    <a:pt x="22739" y="327587"/>
                  </a:lnTo>
                  <a:lnTo>
                    <a:pt x="39396" y="287929"/>
                  </a:lnTo>
                  <a:lnTo>
                    <a:pt x="60207" y="250042"/>
                  </a:lnTo>
                  <a:lnTo>
                    <a:pt x="84942" y="214117"/>
                  </a:lnTo>
                  <a:lnTo>
                    <a:pt x="113371" y="180344"/>
                  </a:lnTo>
                  <a:lnTo>
                    <a:pt x="145262" y="148911"/>
                  </a:lnTo>
                  <a:lnTo>
                    <a:pt x="180385" y="120009"/>
                  </a:lnTo>
                  <a:lnTo>
                    <a:pt x="218510" y="93827"/>
                  </a:lnTo>
                  <a:lnTo>
                    <a:pt x="259406" y="70555"/>
                  </a:lnTo>
                  <a:lnTo>
                    <a:pt x="302843" y="50383"/>
                  </a:lnTo>
                  <a:lnTo>
                    <a:pt x="348591" y="33500"/>
                  </a:lnTo>
                  <a:lnTo>
                    <a:pt x="396417" y="20096"/>
                  </a:lnTo>
                  <a:lnTo>
                    <a:pt x="446093" y="10362"/>
                  </a:lnTo>
                  <a:lnTo>
                    <a:pt x="497388" y="4485"/>
                  </a:lnTo>
                  <a:lnTo>
                    <a:pt x="550071" y="2657"/>
                  </a:lnTo>
                  <a:lnTo>
                    <a:pt x="602300" y="4962"/>
                  </a:lnTo>
                  <a:lnTo>
                    <a:pt x="653120" y="11241"/>
                  </a:lnTo>
                  <a:lnTo>
                    <a:pt x="702304" y="21306"/>
                  </a:lnTo>
                  <a:lnTo>
                    <a:pt x="749630" y="34970"/>
                  </a:lnTo>
                  <a:lnTo>
                    <a:pt x="794873" y="52048"/>
                  </a:lnTo>
                  <a:lnTo>
                    <a:pt x="837810" y="72352"/>
                  </a:lnTo>
                  <a:lnTo>
                    <a:pt x="878215" y="95697"/>
                  </a:lnTo>
                  <a:lnTo>
                    <a:pt x="915865" y="121894"/>
                  </a:lnTo>
                  <a:lnTo>
                    <a:pt x="950535" y="150759"/>
                  </a:lnTo>
                  <a:lnTo>
                    <a:pt x="982003" y="182104"/>
                  </a:lnTo>
                  <a:lnTo>
                    <a:pt x="1010043" y="215743"/>
                  </a:lnTo>
                  <a:lnTo>
                    <a:pt x="1034431" y="251489"/>
                  </a:lnTo>
                  <a:lnTo>
                    <a:pt x="1054944" y="289156"/>
                  </a:lnTo>
                  <a:lnTo>
                    <a:pt x="1071357" y="328557"/>
                  </a:lnTo>
                  <a:lnTo>
                    <a:pt x="1083446" y="369505"/>
                  </a:lnTo>
                  <a:lnTo>
                    <a:pt x="1090987" y="411814"/>
                  </a:lnTo>
                  <a:lnTo>
                    <a:pt x="1093757" y="455297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/>
              <a:t>Virt.</a:t>
            </a:r>
            <a:r>
              <a:rPr spc="-135" dirty="0"/>
              <a:t> </a:t>
            </a:r>
            <a:r>
              <a:rPr dirty="0"/>
              <a:t>Technology</a:t>
            </a:r>
            <a:r>
              <a:rPr spc="-135" dirty="0"/>
              <a:t> </a:t>
            </a:r>
            <a:r>
              <a:rPr spc="-10" dirty="0"/>
              <a:t>Benchmarking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35939" y="1572259"/>
            <a:ext cx="4605020" cy="16158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287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pc="-10" dirty="0"/>
              <a:t>Metrics:</a:t>
            </a:r>
          </a:p>
          <a:p>
            <a:pPr marL="755015" lvl="1" indent="-285115">
              <a:lnSpc>
                <a:spcPts val="2390"/>
              </a:lnSpc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VM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Image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consump</a:t>
            </a:r>
            <a:r>
              <a:rPr lang="en-US" sz="2000" spc="-10" dirty="0">
                <a:latin typeface="Calibri"/>
                <a:cs typeface="Calibri"/>
              </a:rPr>
              <a:t>ti</a:t>
            </a:r>
            <a:r>
              <a:rPr sz="2000" spc="-10" dirty="0">
                <a:latin typeface="Calibri"/>
                <a:cs typeface="Calibri"/>
              </a:rPr>
              <a:t>on</a:t>
            </a:r>
            <a:endParaRPr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VM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cre</a:t>
            </a:r>
            <a:r>
              <a:rPr lang="en-US" sz="2000" dirty="0">
                <a:latin typeface="Calibri"/>
                <a:cs typeface="Calibri"/>
              </a:rPr>
              <a:t>ati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ti</a:t>
            </a:r>
            <a:r>
              <a:rPr sz="2000" spc="-25" dirty="0">
                <a:latin typeface="Calibri"/>
                <a:cs typeface="Calibri"/>
              </a:rPr>
              <a:t>me</a:t>
            </a:r>
            <a:endParaRPr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2000" spc="-10" dirty="0">
                <a:latin typeface="Calibri"/>
                <a:cs typeface="Calibri"/>
              </a:rPr>
              <a:t>Delay</a:t>
            </a:r>
            <a:endParaRPr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2000" spc="-10" dirty="0">
                <a:latin typeface="Calibri"/>
                <a:cs typeface="Calibri"/>
              </a:rPr>
              <a:t>Throughput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/>
              <a:t>Virt.</a:t>
            </a:r>
            <a:r>
              <a:rPr spc="-135" dirty="0"/>
              <a:t> </a:t>
            </a:r>
            <a:r>
              <a:rPr dirty="0"/>
              <a:t>Technology</a:t>
            </a:r>
            <a:r>
              <a:rPr spc="-135" dirty="0"/>
              <a:t> </a:t>
            </a:r>
            <a:r>
              <a:rPr spc="-10" dirty="0"/>
              <a:t>Benchmarking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35938" y="1572259"/>
            <a:ext cx="4950461" cy="16158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287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pc="-10" dirty="0"/>
              <a:t>Metrics:</a:t>
            </a:r>
          </a:p>
          <a:p>
            <a:pPr marL="755015" lvl="1" indent="-285115">
              <a:lnSpc>
                <a:spcPts val="2390"/>
              </a:lnSpc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VM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Image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consump</a:t>
            </a:r>
            <a:r>
              <a:rPr lang="en-US" sz="2000" spc="-10" dirty="0">
                <a:latin typeface="Calibri"/>
                <a:cs typeface="Calibri"/>
              </a:rPr>
              <a:t>ti</a:t>
            </a:r>
            <a:r>
              <a:rPr sz="2000" spc="-10" dirty="0">
                <a:latin typeface="Calibri"/>
                <a:cs typeface="Calibri"/>
              </a:rPr>
              <a:t>on</a:t>
            </a:r>
            <a:endParaRPr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VM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crea</a:t>
            </a:r>
            <a:r>
              <a:rPr lang="en-US" sz="2000" dirty="0">
                <a:latin typeface="Calibri"/>
                <a:cs typeface="Calibri"/>
              </a:rPr>
              <a:t>ti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ti</a:t>
            </a:r>
            <a:r>
              <a:rPr sz="2000" spc="-25" dirty="0">
                <a:latin typeface="Calibri"/>
                <a:cs typeface="Calibri"/>
              </a:rPr>
              <a:t>me</a:t>
            </a:r>
            <a:endParaRPr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2000" spc="-10" dirty="0">
                <a:latin typeface="Calibri"/>
                <a:cs typeface="Calibri"/>
              </a:rPr>
              <a:t>Delay</a:t>
            </a:r>
            <a:endParaRPr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2000" spc="-10" dirty="0">
                <a:latin typeface="Calibri"/>
                <a:cs typeface="Calibri"/>
              </a:rPr>
              <a:t>Throughput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8021" y="5494712"/>
            <a:ext cx="7461250" cy="391160"/>
            <a:chOff x="798021" y="5494712"/>
            <a:chExt cx="7461250" cy="3911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8021" y="5494712"/>
              <a:ext cx="7460672" cy="3906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32172" y="5667343"/>
              <a:ext cx="6993255" cy="0"/>
            </a:xfrm>
            <a:custGeom>
              <a:avLst/>
              <a:gdLst/>
              <a:ahLst/>
              <a:cxnLst/>
              <a:rect l="l" t="t" r="r" b="b"/>
              <a:pathLst>
                <a:path w="6993255">
                  <a:moveTo>
                    <a:pt x="0" y="0"/>
                  </a:moveTo>
                  <a:lnTo>
                    <a:pt x="6992727" y="0"/>
                  </a:lnTo>
                </a:path>
              </a:pathLst>
            </a:custGeom>
            <a:ln w="380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4364" y="5581769"/>
              <a:ext cx="171005" cy="1711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91702" y="5581769"/>
              <a:ext cx="171005" cy="17114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932373" y="4993078"/>
            <a:ext cx="906144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130"/>
              </a:spcBef>
            </a:pPr>
            <a:r>
              <a:rPr sz="1800" spc="-10" dirty="0">
                <a:latin typeface="Calibri"/>
                <a:cs typeface="Calibri"/>
              </a:rPr>
              <a:t>lower overhead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6391" y="5004373"/>
            <a:ext cx="906144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130"/>
              </a:spcBef>
            </a:pPr>
            <a:r>
              <a:rPr sz="1800" spc="-10" dirty="0">
                <a:latin typeface="Calibri"/>
                <a:cs typeface="Calibri"/>
              </a:rPr>
              <a:t>higher overhead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/>
              <a:t>Virt.</a:t>
            </a:r>
            <a:r>
              <a:rPr spc="-135" dirty="0"/>
              <a:t> </a:t>
            </a:r>
            <a:r>
              <a:rPr dirty="0"/>
              <a:t>Technology</a:t>
            </a:r>
            <a:r>
              <a:rPr spc="-135" dirty="0"/>
              <a:t> </a:t>
            </a:r>
            <a:r>
              <a:rPr spc="-10" dirty="0"/>
              <a:t>Benchmarking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287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pc="-10" dirty="0"/>
              <a:t>Metrics:</a:t>
            </a:r>
          </a:p>
          <a:p>
            <a:pPr marL="755015" lvl="1" indent="-285115">
              <a:lnSpc>
                <a:spcPts val="2390"/>
              </a:lnSpc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VM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Image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consump</a:t>
            </a:r>
            <a:r>
              <a:rPr lang="en-US" sz="2000" spc="-10" dirty="0">
                <a:latin typeface="Calibri"/>
                <a:cs typeface="Calibri"/>
              </a:rPr>
              <a:t>ti</a:t>
            </a:r>
            <a:r>
              <a:rPr sz="2000" spc="-10" dirty="0">
                <a:latin typeface="Calibri"/>
                <a:cs typeface="Calibri"/>
              </a:rPr>
              <a:t>on</a:t>
            </a:r>
            <a:endParaRPr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VM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crea</a:t>
            </a:r>
            <a:r>
              <a:rPr lang="en-US" sz="2000" dirty="0">
                <a:latin typeface="Calibri"/>
                <a:cs typeface="Calibri"/>
              </a:rPr>
              <a:t>ti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ti</a:t>
            </a:r>
            <a:r>
              <a:rPr sz="2000" spc="-25" dirty="0">
                <a:latin typeface="Calibri"/>
                <a:cs typeface="Calibri"/>
              </a:rPr>
              <a:t>me</a:t>
            </a:r>
            <a:endParaRPr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2000" spc="-10" dirty="0">
                <a:latin typeface="Calibri"/>
                <a:cs typeface="Calibri"/>
              </a:rPr>
              <a:t>Delay</a:t>
            </a:r>
            <a:endParaRPr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2000" spc="-10" dirty="0">
                <a:latin typeface="Calibri"/>
                <a:cs typeface="Calibri"/>
              </a:rPr>
              <a:t>Throughput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8021" y="4187179"/>
            <a:ext cx="7461250" cy="1727835"/>
            <a:chOff x="798021" y="4187179"/>
            <a:chExt cx="7461250" cy="1727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8021" y="5494712"/>
              <a:ext cx="7460672" cy="3906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32172" y="5667342"/>
              <a:ext cx="6993255" cy="0"/>
            </a:xfrm>
            <a:custGeom>
              <a:avLst/>
              <a:gdLst/>
              <a:ahLst/>
              <a:cxnLst/>
              <a:rect l="l" t="t" r="r" b="b"/>
              <a:pathLst>
                <a:path w="6993255">
                  <a:moveTo>
                    <a:pt x="0" y="0"/>
                  </a:moveTo>
                  <a:lnTo>
                    <a:pt x="6992727" y="0"/>
                  </a:lnTo>
                </a:path>
              </a:pathLst>
            </a:custGeom>
            <a:ln w="380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4364" y="5581769"/>
              <a:ext cx="171005" cy="1711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91702" y="5581769"/>
              <a:ext cx="171005" cy="1711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18508" y="5486399"/>
              <a:ext cx="128847" cy="42810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683593" y="5509300"/>
              <a:ext cx="0" cy="337185"/>
            </a:xfrm>
            <a:custGeom>
              <a:avLst/>
              <a:gdLst/>
              <a:ahLst/>
              <a:cxnLst/>
              <a:rect l="l" t="t" r="r" b="b"/>
              <a:pathLst>
                <a:path h="337185">
                  <a:moveTo>
                    <a:pt x="0" y="0"/>
                  </a:moveTo>
                  <a:lnTo>
                    <a:pt x="0" y="33675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25785" y="4187179"/>
              <a:ext cx="1267460" cy="1270000"/>
            </a:xfrm>
            <a:custGeom>
              <a:avLst/>
              <a:gdLst/>
              <a:ahLst/>
              <a:cxnLst/>
              <a:rect l="l" t="t" r="r" b="b"/>
              <a:pathLst>
                <a:path w="1267460" h="1270000">
                  <a:moveTo>
                    <a:pt x="145370" y="1257299"/>
                  </a:moveTo>
                  <a:lnTo>
                    <a:pt x="90300" y="1257299"/>
                  </a:lnTo>
                  <a:lnTo>
                    <a:pt x="92053" y="1269999"/>
                  </a:lnTo>
                  <a:lnTo>
                    <a:pt x="135727" y="1269999"/>
                  </a:lnTo>
                  <a:lnTo>
                    <a:pt x="145370" y="1257299"/>
                  </a:lnTo>
                  <a:close/>
                </a:path>
                <a:path w="1267460" h="1270000">
                  <a:moveTo>
                    <a:pt x="159802" y="1244599"/>
                  </a:moveTo>
                  <a:lnTo>
                    <a:pt x="87655" y="1244599"/>
                  </a:lnTo>
                  <a:lnTo>
                    <a:pt x="85966" y="1257299"/>
                  </a:lnTo>
                  <a:lnTo>
                    <a:pt x="154839" y="1257299"/>
                  </a:lnTo>
                  <a:lnTo>
                    <a:pt x="159802" y="1244599"/>
                  </a:lnTo>
                  <a:close/>
                </a:path>
                <a:path w="1267460" h="1270000">
                  <a:moveTo>
                    <a:pt x="168231" y="1231899"/>
                  </a:moveTo>
                  <a:lnTo>
                    <a:pt x="122354" y="1231899"/>
                  </a:lnTo>
                  <a:lnTo>
                    <a:pt x="112221" y="1244599"/>
                  </a:lnTo>
                  <a:lnTo>
                    <a:pt x="164266" y="1244599"/>
                  </a:lnTo>
                  <a:lnTo>
                    <a:pt x="168231" y="1231899"/>
                  </a:lnTo>
                  <a:close/>
                </a:path>
                <a:path w="1267460" h="1270000">
                  <a:moveTo>
                    <a:pt x="174598" y="1219199"/>
                  </a:moveTo>
                  <a:lnTo>
                    <a:pt x="135963" y="1219199"/>
                  </a:lnTo>
                  <a:lnTo>
                    <a:pt x="127455" y="1231899"/>
                  </a:lnTo>
                  <a:lnTo>
                    <a:pt x="171696" y="1231899"/>
                  </a:lnTo>
                  <a:lnTo>
                    <a:pt x="174598" y="1219199"/>
                  </a:lnTo>
                  <a:close/>
                </a:path>
                <a:path w="1267460" h="1270000">
                  <a:moveTo>
                    <a:pt x="178528" y="1206499"/>
                  </a:moveTo>
                  <a:lnTo>
                    <a:pt x="143465" y="1206499"/>
                  </a:lnTo>
                  <a:lnTo>
                    <a:pt x="142330" y="1219199"/>
                  </a:lnTo>
                  <a:lnTo>
                    <a:pt x="176876" y="1219199"/>
                  </a:lnTo>
                  <a:lnTo>
                    <a:pt x="178528" y="1206499"/>
                  </a:lnTo>
                  <a:close/>
                </a:path>
                <a:path w="1267460" h="1270000">
                  <a:moveTo>
                    <a:pt x="73731" y="1193799"/>
                  </a:moveTo>
                  <a:lnTo>
                    <a:pt x="39838" y="1193799"/>
                  </a:lnTo>
                  <a:lnTo>
                    <a:pt x="45558" y="1206499"/>
                  </a:lnTo>
                  <a:lnTo>
                    <a:pt x="62566" y="1206499"/>
                  </a:lnTo>
                  <a:lnTo>
                    <a:pt x="73731" y="1193799"/>
                  </a:lnTo>
                  <a:close/>
                </a:path>
                <a:path w="1267460" h="1270000">
                  <a:moveTo>
                    <a:pt x="180508" y="1193799"/>
                  </a:moveTo>
                  <a:lnTo>
                    <a:pt x="141532" y="1193799"/>
                  </a:lnTo>
                  <a:lnTo>
                    <a:pt x="143883" y="1206499"/>
                  </a:lnTo>
                  <a:lnTo>
                    <a:pt x="179556" y="1206499"/>
                  </a:lnTo>
                  <a:lnTo>
                    <a:pt x="180508" y="1193799"/>
                  </a:lnTo>
                  <a:close/>
                </a:path>
                <a:path w="1267460" h="1270000">
                  <a:moveTo>
                    <a:pt x="162063" y="1155699"/>
                  </a:moveTo>
                  <a:lnTo>
                    <a:pt x="842" y="1155699"/>
                  </a:lnTo>
                  <a:lnTo>
                    <a:pt x="5891" y="1168399"/>
                  </a:lnTo>
                  <a:lnTo>
                    <a:pt x="10415" y="1181099"/>
                  </a:lnTo>
                  <a:lnTo>
                    <a:pt x="22616" y="1193799"/>
                  </a:lnTo>
                  <a:lnTo>
                    <a:pt x="95011" y="1193799"/>
                  </a:lnTo>
                  <a:lnTo>
                    <a:pt x="104912" y="1181099"/>
                  </a:lnTo>
                  <a:lnTo>
                    <a:pt x="176889" y="1181099"/>
                  </a:lnTo>
                  <a:lnTo>
                    <a:pt x="174426" y="1168399"/>
                  </a:lnTo>
                  <a:lnTo>
                    <a:pt x="167013" y="1168399"/>
                  </a:lnTo>
                  <a:lnTo>
                    <a:pt x="162063" y="1155699"/>
                  </a:lnTo>
                  <a:close/>
                </a:path>
                <a:path w="1267460" h="1270000">
                  <a:moveTo>
                    <a:pt x="176889" y="1181099"/>
                  </a:moveTo>
                  <a:lnTo>
                    <a:pt x="133889" y="1181099"/>
                  </a:lnTo>
                  <a:lnTo>
                    <a:pt x="139621" y="1193799"/>
                  </a:lnTo>
                  <a:lnTo>
                    <a:pt x="179619" y="1193799"/>
                  </a:lnTo>
                  <a:lnTo>
                    <a:pt x="176889" y="1181099"/>
                  </a:lnTo>
                  <a:close/>
                </a:path>
                <a:path w="1267460" h="1270000">
                  <a:moveTo>
                    <a:pt x="36114" y="1130299"/>
                  </a:moveTo>
                  <a:lnTo>
                    <a:pt x="1682" y="1130299"/>
                  </a:lnTo>
                  <a:lnTo>
                    <a:pt x="0" y="1155699"/>
                  </a:lnTo>
                  <a:lnTo>
                    <a:pt x="38305" y="1155699"/>
                  </a:lnTo>
                  <a:lnTo>
                    <a:pt x="36132" y="1142999"/>
                  </a:lnTo>
                  <a:lnTo>
                    <a:pt x="35694" y="1142999"/>
                  </a:lnTo>
                  <a:lnTo>
                    <a:pt x="36114" y="1130299"/>
                  </a:lnTo>
                  <a:close/>
                </a:path>
                <a:path w="1267460" h="1270000">
                  <a:moveTo>
                    <a:pt x="150999" y="1142999"/>
                  </a:moveTo>
                  <a:lnTo>
                    <a:pt x="99905" y="1142999"/>
                  </a:lnTo>
                  <a:lnTo>
                    <a:pt x="89230" y="1155699"/>
                  </a:lnTo>
                  <a:lnTo>
                    <a:pt x="156593" y="1155699"/>
                  </a:lnTo>
                  <a:lnTo>
                    <a:pt x="150999" y="1142999"/>
                  </a:lnTo>
                  <a:close/>
                </a:path>
                <a:path w="1267460" h="1270000">
                  <a:moveTo>
                    <a:pt x="195775" y="1041400"/>
                  </a:moveTo>
                  <a:lnTo>
                    <a:pt x="103643" y="1041400"/>
                  </a:lnTo>
                  <a:lnTo>
                    <a:pt x="103413" y="1054099"/>
                  </a:lnTo>
                  <a:lnTo>
                    <a:pt x="104206" y="1054099"/>
                  </a:lnTo>
                  <a:lnTo>
                    <a:pt x="125909" y="1066799"/>
                  </a:lnTo>
                  <a:lnTo>
                    <a:pt x="113934" y="1079499"/>
                  </a:lnTo>
                  <a:lnTo>
                    <a:pt x="113489" y="1079499"/>
                  </a:lnTo>
                  <a:lnTo>
                    <a:pt x="113130" y="1092199"/>
                  </a:lnTo>
                  <a:lnTo>
                    <a:pt x="147460" y="1092199"/>
                  </a:lnTo>
                  <a:lnTo>
                    <a:pt x="201321" y="1142999"/>
                  </a:lnTo>
                  <a:lnTo>
                    <a:pt x="206900" y="1155699"/>
                  </a:lnTo>
                  <a:lnTo>
                    <a:pt x="254527" y="1155699"/>
                  </a:lnTo>
                  <a:lnTo>
                    <a:pt x="261758" y="1142999"/>
                  </a:lnTo>
                  <a:lnTo>
                    <a:pt x="267045" y="1142999"/>
                  </a:lnTo>
                  <a:lnTo>
                    <a:pt x="268537" y="1130299"/>
                  </a:lnTo>
                  <a:lnTo>
                    <a:pt x="273786" y="1130299"/>
                  </a:lnTo>
                  <a:lnTo>
                    <a:pt x="273719" y="1117599"/>
                  </a:lnTo>
                  <a:lnTo>
                    <a:pt x="223208" y="1117599"/>
                  </a:lnTo>
                  <a:lnTo>
                    <a:pt x="173970" y="1066799"/>
                  </a:lnTo>
                  <a:lnTo>
                    <a:pt x="195775" y="1041400"/>
                  </a:lnTo>
                  <a:close/>
                </a:path>
                <a:path w="1267460" h="1270000">
                  <a:moveTo>
                    <a:pt x="84538" y="1092199"/>
                  </a:moveTo>
                  <a:lnTo>
                    <a:pt x="26569" y="1092199"/>
                  </a:lnTo>
                  <a:lnTo>
                    <a:pt x="17104" y="1104899"/>
                  </a:lnTo>
                  <a:lnTo>
                    <a:pt x="12002" y="1117599"/>
                  </a:lnTo>
                  <a:lnTo>
                    <a:pt x="4081" y="1130299"/>
                  </a:lnTo>
                  <a:lnTo>
                    <a:pt x="42259" y="1130299"/>
                  </a:lnTo>
                  <a:lnTo>
                    <a:pt x="49140" y="1117599"/>
                  </a:lnTo>
                  <a:lnTo>
                    <a:pt x="53158" y="1117599"/>
                  </a:lnTo>
                  <a:lnTo>
                    <a:pt x="61509" y="1104899"/>
                  </a:lnTo>
                  <a:lnTo>
                    <a:pt x="84783" y="1104899"/>
                  </a:lnTo>
                  <a:lnTo>
                    <a:pt x="84538" y="1092199"/>
                  </a:lnTo>
                  <a:close/>
                </a:path>
                <a:path w="1267460" h="1270000">
                  <a:moveTo>
                    <a:pt x="265286" y="1104899"/>
                  </a:moveTo>
                  <a:lnTo>
                    <a:pt x="248766" y="1104899"/>
                  </a:lnTo>
                  <a:lnTo>
                    <a:pt x="247017" y="1117599"/>
                  </a:lnTo>
                  <a:lnTo>
                    <a:pt x="268371" y="1117599"/>
                  </a:lnTo>
                  <a:lnTo>
                    <a:pt x="265286" y="1104899"/>
                  </a:lnTo>
                  <a:close/>
                </a:path>
                <a:path w="1267460" h="1270000">
                  <a:moveTo>
                    <a:pt x="147460" y="1092199"/>
                  </a:moveTo>
                  <a:lnTo>
                    <a:pt x="119123" y="1092199"/>
                  </a:lnTo>
                  <a:lnTo>
                    <a:pt x="125040" y="1104899"/>
                  </a:lnTo>
                  <a:lnTo>
                    <a:pt x="134741" y="1104899"/>
                  </a:lnTo>
                  <a:lnTo>
                    <a:pt x="147460" y="1092199"/>
                  </a:lnTo>
                  <a:close/>
                </a:path>
                <a:path w="1267460" h="1270000">
                  <a:moveTo>
                    <a:pt x="74117" y="1079499"/>
                  </a:moveTo>
                  <a:lnTo>
                    <a:pt x="48449" y="1079499"/>
                  </a:lnTo>
                  <a:lnTo>
                    <a:pt x="41156" y="1092199"/>
                  </a:lnTo>
                  <a:lnTo>
                    <a:pt x="77971" y="1092199"/>
                  </a:lnTo>
                  <a:lnTo>
                    <a:pt x="74117" y="1079499"/>
                  </a:lnTo>
                  <a:close/>
                </a:path>
                <a:path w="1267460" h="1270000">
                  <a:moveTo>
                    <a:pt x="292145" y="1054099"/>
                  </a:moveTo>
                  <a:lnTo>
                    <a:pt x="250271" y="1054099"/>
                  </a:lnTo>
                  <a:lnTo>
                    <a:pt x="254064" y="1066799"/>
                  </a:lnTo>
                  <a:lnTo>
                    <a:pt x="257749" y="1079499"/>
                  </a:lnTo>
                  <a:lnTo>
                    <a:pt x="268269" y="1092199"/>
                  </a:lnTo>
                  <a:lnTo>
                    <a:pt x="317705" y="1092199"/>
                  </a:lnTo>
                  <a:lnTo>
                    <a:pt x="322927" y="1079499"/>
                  </a:lnTo>
                  <a:lnTo>
                    <a:pt x="333933" y="1066799"/>
                  </a:lnTo>
                  <a:lnTo>
                    <a:pt x="296477" y="1066799"/>
                  </a:lnTo>
                  <a:lnTo>
                    <a:pt x="292145" y="1054099"/>
                  </a:lnTo>
                  <a:close/>
                </a:path>
                <a:path w="1267460" h="1270000">
                  <a:moveTo>
                    <a:pt x="344749" y="1041400"/>
                  </a:moveTo>
                  <a:lnTo>
                    <a:pt x="321108" y="1041400"/>
                  </a:lnTo>
                  <a:lnTo>
                    <a:pt x="318640" y="1054099"/>
                  </a:lnTo>
                  <a:lnTo>
                    <a:pt x="305943" y="1054099"/>
                  </a:lnTo>
                  <a:lnTo>
                    <a:pt x="296477" y="1066799"/>
                  </a:lnTo>
                  <a:lnTo>
                    <a:pt x="338272" y="1066799"/>
                  </a:lnTo>
                  <a:lnTo>
                    <a:pt x="343568" y="1054099"/>
                  </a:lnTo>
                  <a:lnTo>
                    <a:pt x="344749" y="1041400"/>
                  </a:lnTo>
                  <a:close/>
                </a:path>
                <a:path w="1267460" h="1270000">
                  <a:moveTo>
                    <a:pt x="285078" y="1028700"/>
                  </a:moveTo>
                  <a:lnTo>
                    <a:pt x="256669" y="1028700"/>
                  </a:lnTo>
                  <a:lnTo>
                    <a:pt x="253344" y="1041400"/>
                  </a:lnTo>
                  <a:lnTo>
                    <a:pt x="250126" y="1054099"/>
                  </a:lnTo>
                  <a:lnTo>
                    <a:pt x="284285" y="1054099"/>
                  </a:lnTo>
                  <a:lnTo>
                    <a:pt x="282459" y="1041400"/>
                  </a:lnTo>
                  <a:lnTo>
                    <a:pt x="283573" y="1041400"/>
                  </a:lnTo>
                  <a:lnTo>
                    <a:pt x="285078" y="1028700"/>
                  </a:lnTo>
                  <a:close/>
                </a:path>
                <a:path w="1267460" h="1270000">
                  <a:moveTo>
                    <a:pt x="130714" y="1028700"/>
                  </a:moveTo>
                  <a:lnTo>
                    <a:pt x="116283" y="1028700"/>
                  </a:lnTo>
                  <a:lnTo>
                    <a:pt x="111142" y="1041400"/>
                  </a:lnTo>
                  <a:lnTo>
                    <a:pt x="152419" y="1041400"/>
                  </a:lnTo>
                  <a:lnTo>
                    <a:pt x="130714" y="1028700"/>
                  </a:lnTo>
                  <a:close/>
                </a:path>
                <a:path w="1267460" h="1270000">
                  <a:moveTo>
                    <a:pt x="185722" y="1028700"/>
                  </a:moveTo>
                  <a:lnTo>
                    <a:pt x="173489" y="1028700"/>
                  </a:lnTo>
                  <a:lnTo>
                    <a:pt x="152419" y="1041400"/>
                  </a:lnTo>
                  <a:lnTo>
                    <a:pt x="191637" y="1041400"/>
                  </a:lnTo>
                  <a:lnTo>
                    <a:pt x="185722" y="1028700"/>
                  </a:lnTo>
                  <a:close/>
                </a:path>
                <a:path w="1267460" h="1270000">
                  <a:moveTo>
                    <a:pt x="369660" y="1028700"/>
                  </a:moveTo>
                  <a:lnTo>
                    <a:pt x="323954" y="1028700"/>
                  </a:lnTo>
                  <a:lnTo>
                    <a:pt x="323555" y="1041400"/>
                  </a:lnTo>
                  <a:lnTo>
                    <a:pt x="363536" y="1041400"/>
                  </a:lnTo>
                  <a:lnTo>
                    <a:pt x="369660" y="1028700"/>
                  </a:lnTo>
                  <a:close/>
                </a:path>
                <a:path w="1267460" h="1270000">
                  <a:moveTo>
                    <a:pt x="231025" y="1016000"/>
                  </a:moveTo>
                  <a:lnTo>
                    <a:pt x="213612" y="1016000"/>
                  </a:lnTo>
                  <a:lnTo>
                    <a:pt x="215187" y="1028700"/>
                  </a:lnTo>
                  <a:lnTo>
                    <a:pt x="229420" y="1028700"/>
                  </a:lnTo>
                  <a:lnTo>
                    <a:pt x="231025" y="1016000"/>
                  </a:lnTo>
                  <a:close/>
                </a:path>
                <a:path w="1267460" h="1270000">
                  <a:moveTo>
                    <a:pt x="307527" y="1003300"/>
                  </a:moveTo>
                  <a:lnTo>
                    <a:pt x="275843" y="1003300"/>
                  </a:lnTo>
                  <a:lnTo>
                    <a:pt x="270515" y="1016000"/>
                  </a:lnTo>
                  <a:lnTo>
                    <a:pt x="265805" y="1016000"/>
                  </a:lnTo>
                  <a:lnTo>
                    <a:pt x="261713" y="1028700"/>
                  </a:lnTo>
                  <a:lnTo>
                    <a:pt x="289839" y="1028700"/>
                  </a:lnTo>
                  <a:lnTo>
                    <a:pt x="293166" y="1016000"/>
                  </a:lnTo>
                  <a:lnTo>
                    <a:pt x="307527" y="1003300"/>
                  </a:lnTo>
                  <a:close/>
                </a:path>
                <a:path w="1267460" h="1270000">
                  <a:moveTo>
                    <a:pt x="310741" y="952500"/>
                  </a:moveTo>
                  <a:lnTo>
                    <a:pt x="237687" y="952500"/>
                  </a:lnTo>
                  <a:lnTo>
                    <a:pt x="232228" y="965200"/>
                  </a:lnTo>
                  <a:lnTo>
                    <a:pt x="224409" y="965200"/>
                  </a:lnTo>
                  <a:lnTo>
                    <a:pt x="217953" y="977900"/>
                  </a:lnTo>
                  <a:lnTo>
                    <a:pt x="282296" y="977900"/>
                  </a:lnTo>
                  <a:lnTo>
                    <a:pt x="290932" y="990600"/>
                  </a:lnTo>
                  <a:lnTo>
                    <a:pt x="281790" y="1003300"/>
                  </a:lnTo>
                  <a:lnTo>
                    <a:pt x="307527" y="1003300"/>
                  </a:lnTo>
                  <a:lnTo>
                    <a:pt x="323527" y="1028700"/>
                  </a:lnTo>
                  <a:lnTo>
                    <a:pt x="375296" y="1028700"/>
                  </a:lnTo>
                  <a:lnTo>
                    <a:pt x="374878" y="1016000"/>
                  </a:lnTo>
                  <a:lnTo>
                    <a:pt x="310741" y="952500"/>
                  </a:lnTo>
                  <a:close/>
                </a:path>
                <a:path w="1267460" h="1270000">
                  <a:moveTo>
                    <a:pt x="235094" y="1003300"/>
                  </a:moveTo>
                  <a:lnTo>
                    <a:pt x="205934" y="1003300"/>
                  </a:lnTo>
                  <a:lnTo>
                    <a:pt x="205999" y="1016000"/>
                  </a:lnTo>
                  <a:lnTo>
                    <a:pt x="232161" y="1016000"/>
                  </a:lnTo>
                  <a:lnTo>
                    <a:pt x="235094" y="1003300"/>
                  </a:lnTo>
                  <a:close/>
                </a:path>
                <a:path w="1267460" h="1270000">
                  <a:moveTo>
                    <a:pt x="242039" y="990600"/>
                  </a:moveTo>
                  <a:lnTo>
                    <a:pt x="208991" y="990600"/>
                  </a:lnTo>
                  <a:lnTo>
                    <a:pt x="206532" y="1003300"/>
                  </a:lnTo>
                  <a:lnTo>
                    <a:pt x="237070" y="1003300"/>
                  </a:lnTo>
                  <a:lnTo>
                    <a:pt x="242039" y="990600"/>
                  </a:lnTo>
                  <a:close/>
                </a:path>
                <a:path w="1267460" h="1270000">
                  <a:moveTo>
                    <a:pt x="253262" y="977900"/>
                  </a:moveTo>
                  <a:lnTo>
                    <a:pt x="215218" y="977900"/>
                  </a:lnTo>
                  <a:lnTo>
                    <a:pt x="210727" y="990600"/>
                  </a:lnTo>
                  <a:lnTo>
                    <a:pt x="245487" y="990600"/>
                  </a:lnTo>
                  <a:lnTo>
                    <a:pt x="253262" y="977900"/>
                  </a:lnTo>
                  <a:close/>
                </a:path>
                <a:path w="1267460" h="1270000">
                  <a:moveTo>
                    <a:pt x="364116" y="901700"/>
                  </a:moveTo>
                  <a:lnTo>
                    <a:pt x="305360" y="901700"/>
                  </a:lnTo>
                  <a:lnTo>
                    <a:pt x="400714" y="990600"/>
                  </a:lnTo>
                  <a:lnTo>
                    <a:pt x="414883" y="990600"/>
                  </a:lnTo>
                  <a:lnTo>
                    <a:pt x="420074" y="977900"/>
                  </a:lnTo>
                  <a:lnTo>
                    <a:pt x="427559" y="977900"/>
                  </a:lnTo>
                  <a:lnTo>
                    <a:pt x="427838" y="965200"/>
                  </a:lnTo>
                  <a:lnTo>
                    <a:pt x="427225" y="965200"/>
                  </a:lnTo>
                  <a:lnTo>
                    <a:pt x="364116" y="901700"/>
                  </a:lnTo>
                  <a:close/>
                </a:path>
                <a:path w="1267460" h="1270000">
                  <a:moveTo>
                    <a:pt x="285445" y="939800"/>
                  </a:moveTo>
                  <a:lnTo>
                    <a:pt x="253274" y="939800"/>
                  </a:lnTo>
                  <a:lnTo>
                    <a:pt x="248210" y="952500"/>
                  </a:lnTo>
                  <a:lnTo>
                    <a:pt x="297935" y="952500"/>
                  </a:lnTo>
                  <a:lnTo>
                    <a:pt x="285445" y="939800"/>
                  </a:lnTo>
                  <a:close/>
                </a:path>
                <a:path w="1267460" h="1270000">
                  <a:moveTo>
                    <a:pt x="406379" y="825500"/>
                  </a:moveTo>
                  <a:lnTo>
                    <a:pt x="368189" y="825500"/>
                  </a:lnTo>
                  <a:lnTo>
                    <a:pt x="361751" y="838200"/>
                  </a:lnTo>
                  <a:lnTo>
                    <a:pt x="349543" y="850900"/>
                  </a:lnTo>
                  <a:lnTo>
                    <a:pt x="345347" y="850900"/>
                  </a:lnTo>
                  <a:lnTo>
                    <a:pt x="342778" y="863600"/>
                  </a:lnTo>
                  <a:lnTo>
                    <a:pt x="401123" y="863600"/>
                  </a:lnTo>
                  <a:lnTo>
                    <a:pt x="405033" y="876300"/>
                  </a:lnTo>
                  <a:lnTo>
                    <a:pt x="463864" y="927100"/>
                  </a:lnTo>
                  <a:lnTo>
                    <a:pt x="478076" y="927100"/>
                  </a:lnTo>
                  <a:lnTo>
                    <a:pt x="483217" y="914400"/>
                  </a:lnTo>
                  <a:lnTo>
                    <a:pt x="490720" y="914400"/>
                  </a:lnTo>
                  <a:lnTo>
                    <a:pt x="490985" y="901700"/>
                  </a:lnTo>
                  <a:lnTo>
                    <a:pt x="490373" y="901700"/>
                  </a:lnTo>
                  <a:lnTo>
                    <a:pt x="431676" y="850900"/>
                  </a:lnTo>
                  <a:lnTo>
                    <a:pt x="424870" y="838200"/>
                  </a:lnTo>
                  <a:lnTo>
                    <a:pt x="418449" y="838200"/>
                  </a:lnTo>
                  <a:lnTo>
                    <a:pt x="406379" y="825500"/>
                  </a:lnTo>
                  <a:close/>
                </a:path>
                <a:path w="1267460" h="1270000">
                  <a:moveTo>
                    <a:pt x="365061" y="876300"/>
                  </a:moveTo>
                  <a:lnTo>
                    <a:pt x="339503" y="876300"/>
                  </a:lnTo>
                  <a:lnTo>
                    <a:pt x="339526" y="889000"/>
                  </a:lnTo>
                  <a:lnTo>
                    <a:pt x="305882" y="889000"/>
                  </a:lnTo>
                  <a:lnTo>
                    <a:pt x="304760" y="901700"/>
                  </a:lnTo>
                  <a:lnTo>
                    <a:pt x="363123" y="901700"/>
                  </a:lnTo>
                  <a:lnTo>
                    <a:pt x="363114" y="889000"/>
                  </a:lnTo>
                  <a:lnTo>
                    <a:pt x="365061" y="876300"/>
                  </a:lnTo>
                  <a:close/>
                </a:path>
                <a:path w="1267460" h="1270000">
                  <a:moveTo>
                    <a:pt x="327976" y="876300"/>
                  </a:moveTo>
                  <a:lnTo>
                    <a:pt x="315455" y="876300"/>
                  </a:lnTo>
                  <a:lnTo>
                    <a:pt x="311035" y="889000"/>
                  </a:lnTo>
                  <a:lnTo>
                    <a:pt x="339526" y="889000"/>
                  </a:lnTo>
                  <a:lnTo>
                    <a:pt x="327976" y="876300"/>
                  </a:lnTo>
                  <a:close/>
                </a:path>
                <a:path w="1267460" h="1270000">
                  <a:moveTo>
                    <a:pt x="373246" y="863600"/>
                  </a:moveTo>
                  <a:lnTo>
                    <a:pt x="341129" y="863600"/>
                  </a:lnTo>
                  <a:lnTo>
                    <a:pt x="340037" y="876300"/>
                  </a:lnTo>
                  <a:lnTo>
                    <a:pt x="367228" y="876300"/>
                  </a:lnTo>
                  <a:lnTo>
                    <a:pt x="373246" y="863600"/>
                  </a:lnTo>
                  <a:close/>
                </a:path>
                <a:path w="1267460" h="1270000">
                  <a:moveTo>
                    <a:pt x="549952" y="850900"/>
                  </a:moveTo>
                  <a:lnTo>
                    <a:pt x="486501" y="850900"/>
                  </a:lnTo>
                  <a:lnTo>
                    <a:pt x="494181" y="863600"/>
                  </a:lnTo>
                  <a:lnTo>
                    <a:pt x="544425" y="863600"/>
                  </a:lnTo>
                  <a:lnTo>
                    <a:pt x="549952" y="850900"/>
                  </a:lnTo>
                  <a:close/>
                </a:path>
                <a:path w="1267460" h="1270000">
                  <a:moveTo>
                    <a:pt x="563544" y="838200"/>
                  </a:moveTo>
                  <a:lnTo>
                    <a:pt x="469842" y="838200"/>
                  </a:lnTo>
                  <a:lnTo>
                    <a:pt x="475257" y="850900"/>
                  </a:lnTo>
                  <a:lnTo>
                    <a:pt x="559837" y="850900"/>
                  </a:lnTo>
                  <a:lnTo>
                    <a:pt x="563544" y="838200"/>
                  </a:lnTo>
                  <a:close/>
                </a:path>
                <a:path w="1267460" h="1270000">
                  <a:moveTo>
                    <a:pt x="568692" y="825500"/>
                  </a:moveTo>
                  <a:lnTo>
                    <a:pt x="458634" y="825500"/>
                  </a:lnTo>
                  <a:lnTo>
                    <a:pt x="464567" y="838200"/>
                  </a:lnTo>
                  <a:lnTo>
                    <a:pt x="566496" y="838200"/>
                  </a:lnTo>
                  <a:lnTo>
                    <a:pt x="568692" y="825500"/>
                  </a:lnTo>
                  <a:close/>
                </a:path>
                <a:path w="1267460" h="1270000">
                  <a:moveTo>
                    <a:pt x="497784" y="812800"/>
                  </a:moveTo>
                  <a:lnTo>
                    <a:pt x="448721" y="812800"/>
                  </a:lnTo>
                  <a:lnTo>
                    <a:pt x="453352" y="825500"/>
                  </a:lnTo>
                  <a:lnTo>
                    <a:pt x="506478" y="825500"/>
                  </a:lnTo>
                  <a:lnTo>
                    <a:pt x="497784" y="812800"/>
                  </a:lnTo>
                  <a:close/>
                </a:path>
                <a:path w="1267460" h="1270000">
                  <a:moveTo>
                    <a:pt x="571287" y="812800"/>
                  </a:moveTo>
                  <a:lnTo>
                    <a:pt x="542922" y="812800"/>
                  </a:lnTo>
                  <a:lnTo>
                    <a:pt x="541412" y="825500"/>
                  </a:lnTo>
                  <a:lnTo>
                    <a:pt x="570249" y="825500"/>
                  </a:lnTo>
                  <a:lnTo>
                    <a:pt x="571287" y="812800"/>
                  </a:lnTo>
                  <a:close/>
                </a:path>
                <a:path w="1267460" h="1270000">
                  <a:moveTo>
                    <a:pt x="486004" y="800100"/>
                  </a:moveTo>
                  <a:lnTo>
                    <a:pt x="438786" y="800100"/>
                  </a:lnTo>
                  <a:lnTo>
                    <a:pt x="441425" y="812800"/>
                  </a:lnTo>
                  <a:lnTo>
                    <a:pt x="493646" y="812800"/>
                  </a:lnTo>
                  <a:lnTo>
                    <a:pt x="486004" y="800100"/>
                  </a:lnTo>
                  <a:close/>
                </a:path>
                <a:path w="1267460" h="1270000">
                  <a:moveTo>
                    <a:pt x="571804" y="800100"/>
                  </a:moveTo>
                  <a:lnTo>
                    <a:pt x="547401" y="800100"/>
                  </a:lnTo>
                  <a:lnTo>
                    <a:pt x="546206" y="812800"/>
                  </a:lnTo>
                  <a:lnTo>
                    <a:pt x="571805" y="812800"/>
                  </a:lnTo>
                  <a:lnTo>
                    <a:pt x="571804" y="800100"/>
                  </a:lnTo>
                  <a:close/>
                </a:path>
                <a:path w="1267460" h="1270000">
                  <a:moveTo>
                    <a:pt x="599954" y="800100"/>
                  </a:moveTo>
                  <a:lnTo>
                    <a:pt x="571804" y="800100"/>
                  </a:lnTo>
                  <a:lnTo>
                    <a:pt x="583039" y="812800"/>
                  </a:lnTo>
                  <a:lnTo>
                    <a:pt x="595604" y="812800"/>
                  </a:lnTo>
                  <a:lnTo>
                    <a:pt x="599954" y="800100"/>
                  </a:lnTo>
                  <a:close/>
                </a:path>
                <a:path w="1267460" h="1270000">
                  <a:moveTo>
                    <a:pt x="472323" y="774700"/>
                  </a:moveTo>
                  <a:lnTo>
                    <a:pt x="434280" y="774700"/>
                  </a:lnTo>
                  <a:lnTo>
                    <a:pt x="436824" y="800100"/>
                  </a:lnTo>
                  <a:lnTo>
                    <a:pt x="482744" y="800100"/>
                  </a:lnTo>
                  <a:lnTo>
                    <a:pt x="477139" y="787400"/>
                  </a:lnTo>
                  <a:lnTo>
                    <a:pt x="475054" y="787400"/>
                  </a:lnTo>
                  <a:lnTo>
                    <a:pt x="472323" y="774700"/>
                  </a:lnTo>
                  <a:close/>
                </a:path>
                <a:path w="1267460" h="1270000">
                  <a:moveTo>
                    <a:pt x="606124" y="787400"/>
                  </a:moveTo>
                  <a:lnTo>
                    <a:pt x="547621" y="787400"/>
                  </a:lnTo>
                  <a:lnTo>
                    <a:pt x="547684" y="800100"/>
                  </a:lnTo>
                  <a:lnTo>
                    <a:pt x="605141" y="800100"/>
                  </a:lnTo>
                  <a:lnTo>
                    <a:pt x="606124" y="787400"/>
                  </a:lnTo>
                  <a:close/>
                </a:path>
                <a:path w="1267460" h="1270000">
                  <a:moveTo>
                    <a:pt x="466642" y="647700"/>
                  </a:moveTo>
                  <a:lnTo>
                    <a:pt x="457596" y="647700"/>
                  </a:lnTo>
                  <a:lnTo>
                    <a:pt x="453811" y="660400"/>
                  </a:lnTo>
                  <a:lnTo>
                    <a:pt x="444342" y="660400"/>
                  </a:lnTo>
                  <a:lnTo>
                    <a:pt x="441397" y="673100"/>
                  </a:lnTo>
                  <a:lnTo>
                    <a:pt x="439643" y="673100"/>
                  </a:lnTo>
                  <a:lnTo>
                    <a:pt x="491121" y="723900"/>
                  </a:lnTo>
                  <a:lnTo>
                    <a:pt x="475390" y="723900"/>
                  </a:lnTo>
                  <a:lnTo>
                    <a:pt x="462550" y="736600"/>
                  </a:lnTo>
                  <a:lnTo>
                    <a:pt x="451446" y="736600"/>
                  </a:lnTo>
                  <a:lnTo>
                    <a:pt x="446827" y="749300"/>
                  </a:lnTo>
                  <a:lnTo>
                    <a:pt x="515630" y="749300"/>
                  </a:lnTo>
                  <a:lnTo>
                    <a:pt x="546766" y="787400"/>
                  </a:lnTo>
                  <a:lnTo>
                    <a:pt x="605455" y="787400"/>
                  </a:lnTo>
                  <a:lnTo>
                    <a:pt x="466642" y="647700"/>
                  </a:lnTo>
                  <a:close/>
                </a:path>
                <a:path w="1267460" h="1270000">
                  <a:moveTo>
                    <a:pt x="473575" y="762000"/>
                  </a:moveTo>
                  <a:lnTo>
                    <a:pt x="437548" y="762000"/>
                  </a:lnTo>
                  <a:lnTo>
                    <a:pt x="434949" y="774700"/>
                  </a:lnTo>
                  <a:lnTo>
                    <a:pt x="472027" y="774700"/>
                  </a:lnTo>
                  <a:lnTo>
                    <a:pt x="473575" y="762000"/>
                  </a:lnTo>
                  <a:close/>
                </a:path>
                <a:path w="1267460" h="1270000">
                  <a:moveTo>
                    <a:pt x="487805" y="749300"/>
                  </a:moveTo>
                  <a:lnTo>
                    <a:pt x="442971" y="749300"/>
                  </a:lnTo>
                  <a:lnTo>
                    <a:pt x="439878" y="762000"/>
                  </a:lnTo>
                  <a:lnTo>
                    <a:pt x="482911" y="762000"/>
                  </a:lnTo>
                  <a:lnTo>
                    <a:pt x="487805" y="749300"/>
                  </a:lnTo>
                  <a:close/>
                </a:path>
                <a:path w="1267460" h="1270000">
                  <a:moveTo>
                    <a:pt x="644476" y="749300"/>
                  </a:moveTo>
                  <a:lnTo>
                    <a:pt x="611237" y="749300"/>
                  </a:lnTo>
                  <a:lnTo>
                    <a:pt x="622179" y="762000"/>
                  </a:lnTo>
                  <a:lnTo>
                    <a:pt x="638937" y="762000"/>
                  </a:lnTo>
                  <a:lnTo>
                    <a:pt x="644476" y="749300"/>
                  </a:lnTo>
                  <a:close/>
                </a:path>
                <a:path w="1267460" h="1270000">
                  <a:moveTo>
                    <a:pt x="620022" y="698500"/>
                  </a:moveTo>
                  <a:lnTo>
                    <a:pt x="591050" y="698500"/>
                  </a:lnTo>
                  <a:lnTo>
                    <a:pt x="587833" y="711200"/>
                  </a:lnTo>
                  <a:lnTo>
                    <a:pt x="587978" y="723900"/>
                  </a:lnTo>
                  <a:lnTo>
                    <a:pt x="591771" y="736600"/>
                  </a:lnTo>
                  <a:lnTo>
                    <a:pt x="595456" y="736600"/>
                  </a:lnTo>
                  <a:lnTo>
                    <a:pt x="605976" y="749300"/>
                  </a:lnTo>
                  <a:lnTo>
                    <a:pt x="660634" y="749300"/>
                  </a:lnTo>
                  <a:lnTo>
                    <a:pt x="671640" y="736600"/>
                  </a:lnTo>
                  <a:lnTo>
                    <a:pt x="675977" y="723900"/>
                  </a:lnTo>
                  <a:lnTo>
                    <a:pt x="629852" y="723900"/>
                  </a:lnTo>
                  <a:lnTo>
                    <a:pt x="623606" y="711200"/>
                  </a:lnTo>
                  <a:lnTo>
                    <a:pt x="620165" y="711200"/>
                  </a:lnTo>
                  <a:lnTo>
                    <a:pt x="620022" y="698500"/>
                  </a:lnTo>
                  <a:close/>
                </a:path>
                <a:path w="1267460" h="1270000">
                  <a:moveTo>
                    <a:pt x="681273" y="711200"/>
                  </a:moveTo>
                  <a:lnTo>
                    <a:pt x="656346" y="711200"/>
                  </a:lnTo>
                  <a:lnTo>
                    <a:pt x="648221" y="723900"/>
                  </a:lnTo>
                  <a:lnTo>
                    <a:pt x="675977" y="723900"/>
                  </a:lnTo>
                  <a:lnTo>
                    <a:pt x="681273" y="711200"/>
                  </a:lnTo>
                  <a:close/>
                </a:path>
                <a:path w="1267460" h="1270000">
                  <a:moveTo>
                    <a:pt x="712014" y="685800"/>
                  </a:moveTo>
                  <a:lnTo>
                    <a:pt x="661661" y="685800"/>
                  </a:lnTo>
                  <a:lnTo>
                    <a:pt x="661262" y="698500"/>
                  </a:lnTo>
                  <a:lnTo>
                    <a:pt x="658815" y="711200"/>
                  </a:lnTo>
                  <a:lnTo>
                    <a:pt x="682456" y="711200"/>
                  </a:lnTo>
                  <a:lnTo>
                    <a:pt x="682170" y="698500"/>
                  </a:lnTo>
                  <a:lnTo>
                    <a:pt x="709479" y="698500"/>
                  </a:lnTo>
                  <a:lnTo>
                    <a:pt x="712014" y="685800"/>
                  </a:lnTo>
                  <a:close/>
                </a:path>
                <a:path w="1267460" h="1270000">
                  <a:moveTo>
                    <a:pt x="698814" y="698500"/>
                  </a:moveTo>
                  <a:lnTo>
                    <a:pt x="682170" y="698500"/>
                  </a:lnTo>
                  <a:lnTo>
                    <a:pt x="690627" y="711200"/>
                  </a:lnTo>
                  <a:lnTo>
                    <a:pt x="695440" y="711200"/>
                  </a:lnTo>
                  <a:lnTo>
                    <a:pt x="698814" y="698500"/>
                  </a:lnTo>
                  <a:close/>
                </a:path>
                <a:path w="1267460" h="1270000">
                  <a:moveTo>
                    <a:pt x="645234" y="673100"/>
                  </a:moveTo>
                  <a:lnTo>
                    <a:pt x="603512" y="673100"/>
                  </a:lnTo>
                  <a:lnTo>
                    <a:pt x="599420" y="685800"/>
                  </a:lnTo>
                  <a:lnTo>
                    <a:pt x="594376" y="698500"/>
                  </a:lnTo>
                  <a:lnTo>
                    <a:pt x="622785" y="698500"/>
                  </a:lnTo>
                  <a:lnTo>
                    <a:pt x="627546" y="685800"/>
                  </a:lnTo>
                  <a:lnTo>
                    <a:pt x="630872" y="685800"/>
                  </a:lnTo>
                  <a:lnTo>
                    <a:pt x="645234" y="673100"/>
                  </a:lnTo>
                  <a:close/>
                </a:path>
                <a:path w="1267460" h="1270000">
                  <a:moveTo>
                    <a:pt x="569868" y="673100"/>
                  </a:moveTo>
                  <a:lnTo>
                    <a:pt x="545998" y="673100"/>
                  </a:lnTo>
                  <a:lnTo>
                    <a:pt x="547538" y="685800"/>
                  </a:lnTo>
                  <a:lnTo>
                    <a:pt x="568732" y="685800"/>
                  </a:lnTo>
                  <a:lnTo>
                    <a:pt x="569868" y="673100"/>
                  </a:lnTo>
                  <a:close/>
                </a:path>
                <a:path w="1267460" h="1270000">
                  <a:moveTo>
                    <a:pt x="661275" y="635000"/>
                  </a:moveTo>
                  <a:lnTo>
                    <a:pt x="617126" y="635000"/>
                  </a:lnTo>
                  <a:lnTo>
                    <a:pt x="620003" y="647700"/>
                  </a:lnTo>
                  <a:lnTo>
                    <a:pt x="628639" y="647700"/>
                  </a:lnTo>
                  <a:lnTo>
                    <a:pt x="619495" y="660400"/>
                  </a:lnTo>
                  <a:lnTo>
                    <a:pt x="613549" y="673100"/>
                  </a:lnTo>
                  <a:lnTo>
                    <a:pt x="645234" y="673100"/>
                  </a:lnTo>
                  <a:lnTo>
                    <a:pt x="661234" y="685800"/>
                  </a:lnTo>
                  <a:lnTo>
                    <a:pt x="712584" y="685800"/>
                  </a:lnTo>
                  <a:lnTo>
                    <a:pt x="661275" y="635000"/>
                  </a:lnTo>
                  <a:close/>
                </a:path>
                <a:path w="1267460" h="1270000">
                  <a:moveTo>
                    <a:pt x="574777" y="660400"/>
                  </a:moveTo>
                  <a:lnTo>
                    <a:pt x="544239" y="660400"/>
                  </a:lnTo>
                  <a:lnTo>
                    <a:pt x="543641" y="673100"/>
                  </a:lnTo>
                  <a:lnTo>
                    <a:pt x="572801" y="673100"/>
                  </a:lnTo>
                  <a:lnTo>
                    <a:pt x="574777" y="660400"/>
                  </a:lnTo>
                  <a:close/>
                </a:path>
                <a:path w="1267460" h="1270000">
                  <a:moveTo>
                    <a:pt x="583194" y="647700"/>
                  </a:moveTo>
                  <a:lnTo>
                    <a:pt x="552924" y="647700"/>
                  </a:lnTo>
                  <a:lnTo>
                    <a:pt x="548434" y="660400"/>
                  </a:lnTo>
                  <a:lnTo>
                    <a:pt x="579746" y="660400"/>
                  </a:lnTo>
                  <a:lnTo>
                    <a:pt x="583194" y="647700"/>
                  </a:lnTo>
                  <a:close/>
                </a:path>
                <a:path w="1267460" h="1270000">
                  <a:moveTo>
                    <a:pt x="703789" y="558800"/>
                  </a:moveTo>
                  <a:lnTo>
                    <a:pt x="643065" y="558800"/>
                  </a:lnTo>
                  <a:lnTo>
                    <a:pt x="738421" y="660400"/>
                  </a:lnTo>
                  <a:lnTo>
                    <a:pt x="746649" y="660400"/>
                  </a:lnTo>
                  <a:lnTo>
                    <a:pt x="750364" y="647700"/>
                  </a:lnTo>
                  <a:lnTo>
                    <a:pt x="759832" y="647700"/>
                  </a:lnTo>
                  <a:lnTo>
                    <a:pt x="762848" y="635000"/>
                  </a:lnTo>
                  <a:lnTo>
                    <a:pt x="764931" y="635000"/>
                  </a:lnTo>
                  <a:lnTo>
                    <a:pt x="705665" y="571500"/>
                  </a:lnTo>
                  <a:lnTo>
                    <a:pt x="704542" y="571500"/>
                  </a:lnTo>
                  <a:lnTo>
                    <a:pt x="703789" y="558800"/>
                  </a:lnTo>
                  <a:close/>
                </a:path>
                <a:path w="1267460" h="1270000">
                  <a:moveTo>
                    <a:pt x="641992" y="609600"/>
                  </a:moveTo>
                  <a:lnTo>
                    <a:pt x="580721" y="609600"/>
                  </a:lnTo>
                  <a:lnTo>
                    <a:pt x="575394" y="622300"/>
                  </a:lnTo>
                  <a:lnTo>
                    <a:pt x="565797" y="622300"/>
                  </a:lnTo>
                  <a:lnTo>
                    <a:pt x="562115" y="635000"/>
                  </a:lnTo>
                  <a:lnTo>
                    <a:pt x="555660" y="647700"/>
                  </a:lnTo>
                  <a:lnTo>
                    <a:pt x="590967" y="647700"/>
                  </a:lnTo>
                  <a:lnTo>
                    <a:pt x="594139" y="635000"/>
                  </a:lnTo>
                  <a:lnTo>
                    <a:pt x="661275" y="635000"/>
                  </a:lnTo>
                  <a:lnTo>
                    <a:pt x="648448" y="622300"/>
                  </a:lnTo>
                  <a:lnTo>
                    <a:pt x="641992" y="609600"/>
                  </a:lnTo>
                  <a:close/>
                </a:path>
                <a:path w="1267460" h="1270000">
                  <a:moveTo>
                    <a:pt x="623150" y="596900"/>
                  </a:moveTo>
                  <a:lnTo>
                    <a:pt x="604152" y="596900"/>
                  </a:lnTo>
                  <a:lnTo>
                    <a:pt x="597645" y="609600"/>
                  </a:lnTo>
                  <a:lnTo>
                    <a:pt x="635642" y="609600"/>
                  </a:lnTo>
                  <a:lnTo>
                    <a:pt x="623150" y="596900"/>
                  </a:lnTo>
                  <a:close/>
                </a:path>
                <a:path w="1267460" h="1270000">
                  <a:moveTo>
                    <a:pt x="837458" y="558800"/>
                  </a:moveTo>
                  <a:lnTo>
                    <a:pt x="800595" y="558800"/>
                  </a:lnTo>
                  <a:lnTo>
                    <a:pt x="816236" y="571500"/>
                  </a:lnTo>
                  <a:lnTo>
                    <a:pt x="831723" y="571500"/>
                  </a:lnTo>
                  <a:lnTo>
                    <a:pt x="837458" y="558800"/>
                  </a:lnTo>
                  <a:close/>
                </a:path>
                <a:path w="1267460" h="1270000">
                  <a:moveTo>
                    <a:pt x="702985" y="546100"/>
                  </a:moveTo>
                  <a:lnTo>
                    <a:pt x="647024" y="546100"/>
                  </a:lnTo>
                  <a:lnTo>
                    <a:pt x="644500" y="558800"/>
                  </a:lnTo>
                  <a:lnTo>
                    <a:pt x="703018" y="558800"/>
                  </a:lnTo>
                  <a:lnTo>
                    <a:pt x="702985" y="546100"/>
                  </a:lnTo>
                  <a:close/>
                </a:path>
                <a:path w="1267460" h="1270000">
                  <a:moveTo>
                    <a:pt x="854038" y="546100"/>
                  </a:moveTo>
                  <a:lnTo>
                    <a:pt x="773920" y="546100"/>
                  </a:lnTo>
                  <a:lnTo>
                    <a:pt x="779473" y="558800"/>
                  </a:lnTo>
                  <a:lnTo>
                    <a:pt x="848616" y="558800"/>
                  </a:lnTo>
                  <a:lnTo>
                    <a:pt x="854038" y="546100"/>
                  </a:lnTo>
                  <a:close/>
                </a:path>
                <a:path w="1267460" h="1270000">
                  <a:moveTo>
                    <a:pt x="665683" y="533400"/>
                  </a:moveTo>
                  <a:lnTo>
                    <a:pt x="659805" y="533400"/>
                  </a:lnTo>
                  <a:lnTo>
                    <a:pt x="658402" y="546100"/>
                  </a:lnTo>
                  <a:lnTo>
                    <a:pt x="676468" y="546100"/>
                  </a:lnTo>
                  <a:lnTo>
                    <a:pt x="676443" y="544428"/>
                  </a:lnTo>
                  <a:lnTo>
                    <a:pt x="665683" y="533400"/>
                  </a:lnTo>
                  <a:close/>
                </a:path>
                <a:path w="1267460" h="1270000">
                  <a:moveTo>
                    <a:pt x="676443" y="544428"/>
                  </a:moveTo>
                  <a:lnTo>
                    <a:pt x="676468" y="546100"/>
                  </a:lnTo>
                  <a:lnTo>
                    <a:pt x="678074" y="546100"/>
                  </a:lnTo>
                  <a:lnTo>
                    <a:pt x="676443" y="544428"/>
                  </a:lnTo>
                  <a:close/>
                </a:path>
                <a:path w="1267460" h="1270000">
                  <a:moveTo>
                    <a:pt x="705976" y="533400"/>
                  </a:moveTo>
                  <a:lnTo>
                    <a:pt x="676280" y="533400"/>
                  </a:lnTo>
                  <a:lnTo>
                    <a:pt x="676443" y="544428"/>
                  </a:lnTo>
                  <a:lnTo>
                    <a:pt x="678074" y="546100"/>
                  </a:lnTo>
                  <a:lnTo>
                    <a:pt x="704218" y="546100"/>
                  </a:lnTo>
                  <a:lnTo>
                    <a:pt x="705976" y="533400"/>
                  </a:lnTo>
                  <a:close/>
                </a:path>
                <a:path w="1267460" h="1270000">
                  <a:moveTo>
                    <a:pt x="865159" y="533400"/>
                  </a:moveTo>
                  <a:lnTo>
                    <a:pt x="763230" y="533400"/>
                  </a:lnTo>
                  <a:lnTo>
                    <a:pt x="768506" y="546100"/>
                  </a:lnTo>
                  <a:lnTo>
                    <a:pt x="862207" y="546100"/>
                  </a:lnTo>
                  <a:lnTo>
                    <a:pt x="865159" y="533400"/>
                  </a:lnTo>
                  <a:close/>
                </a:path>
                <a:path w="1267460" h="1270000">
                  <a:moveTo>
                    <a:pt x="722293" y="520700"/>
                  </a:moveTo>
                  <a:lnTo>
                    <a:pt x="677826" y="520700"/>
                  </a:lnTo>
                  <a:lnTo>
                    <a:pt x="676551" y="533400"/>
                  </a:lnTo>
                  <a:lnTo>
                    <a:pt x="721029" y="533400"/>
                  </a:lnTo>
                  <a:lnTo>
                    <a:pt x="722293" y="520700"/>
                  </a:lnTo>
                  <a:close/>
                </a:path>
                <a:path w="1267460" h="1270000">
                  <a:moveTo>
                    <a:pt x="809490" y="520700"/>
                  </a:moveTo>
                  <a:lnTo>
                    <a:pt x="752016" y="520700"/>
                  </a:lnTo>
                  <a:lnTo>
                    <a:pt x="757298" y="533400"/>
                  </a:lnTo>
                  <a:lnTo>
                    <a:pt x="818188" y="533400"/>
                  </a:lnTo>
                  <a:lnTo>
                    <a:pt x="809490" y="520700"/>
                  </a:lnTo>
                  <a:close/>
                </a:path>
                <a:path w="1267460" h="1270000">
                  <a:moveTo>
                    <a:pt x="868913" y="520700"/>
                  </a:moveTo>
                  <a:lnTo>
                    <a:pt x="834600" y="520700"/>
                  </a:lnTo>
                  <a:lnTo>
                    <a:pt x="830707" y="533400"/>
                  </a:lnTo>
                  <a:lnTo>
                    <a:pt x="867355" y="533400"/>
                  </a:lnTo>
                  <a:lnTo>
                    <a:pt x="868913" y="520700"/>
                  </a:lnTo>
                  <a:close/>
                </a:path>
                <a:path w="1267460" h="1270000">
                  <a:moveTo>
                    <a:pt x="715403" y="508000"/>
                  </a:moveTo>
                  <a:lnTo>
                    <a:pt x="681753" y="508000"/>
                  </a:lnTo>
                  <a:lnTo>
                    <a:pt x="678868" y="520700"/>
                  </a:lnTo>
                  <a:lnTo>
                    <a:pt x="717398" y="520700"/>
                  </a:lnTo>
                  <a:lnTo>
                    <a:pt x="715403" y="508000"/>
                  </a:lnTo>
                  <a:close/>
                </a:path>
                <a:path w="1267460" h="1270000">
                  <a:moveTo>
                    <a:pt x="784668" y="508000"/>
                  </a:moveTo>
                  <a:lnTo>
                    <a:pt x="743404" y="508000"/>
                  </a:lnTo>
                  <a:lnTo>
                    <a:pt x="747384" y="520700"/>
                  </a:lnTo>
                  <a:lnTo>
                    <a:pt x="792309" y="520700"/>
                  </a:lnTo>
                  <a:lnTo>
                    <a:pt x="784668" y="508000"/>
                  </a:lnTo>
                  <a:close/>
                </a:path>
                <a:path w="1267460" h="1270000">
                  <a:moveTo>
                    <a:pt x="870470" y="508000"/>
                  </a:moveTo>
                  <a:lnTo>
                    <a:pt x="844871" y="508000"/>
                  </a:lnTo>
                  <a:lnTo>
                    <a:pt x="843974" y="520700"/>
                  </a:lnTo>
                  <a:lnTo>
                    <a:pt x="869951" y="520700"/>
                  </a:lnTo>
                  <a:lnTo>
                    <a:pt x="870470" y="508000"/>
                  </a:lnTo>
                  <a:close/>
                </a:path>
                <a:path w="1267460" h="1270000">
                  <a:moveTo>
                    <a:pt x="885449" y="508000"/>
                  </a:moveTo>
                  <a:lnTo>
                    <a:pt x="882548" y="508000"/>
                  </a:lnTo>
                  <a:lnTo>
                    <a:pt x="884377" y="520700"/>
                  </a:lnTo>
                  <a:lnTo>
                    <a:pt x="885449" y="508000"/>
                  </a:lnTo>
                  <a:close/>
                </a:path>
                <a:path w="1267460" h="1270000">
                  <a:moveTo>
                    <a:pt x="702290" y="495300"/>
                  </a:moveTo>
                  <a:lnTo>
                    <a:pt x="694959" y="495300"/>
                  </a:lnTo>
                  <a:lnTo>
                    <a:pt x="693696" y="508000"/>
                  </a:lnTo>
                  <a:lnTo>
                    <a:pt x="704042" y="508000"/>
                  </a:lnTo>
                  <a:lnTo>
                    <a:pt x="702290" y="495300"/>
                  </a:lnTo>
                  <a:close/>
                </a:path>
                <a:path w="1267460" h="1270000">
                  <a:moveTo>
                    <a:pt x="775802" y="495300"/>
                  </a:moveTo>
                  <a:lnTo>
                    <a:pt x="737449" y="495300"/>
                  </a:lnTo>
                  <a:lnTo>
                    <a:pt x="740088" y="508000"/>
                  </a:lnTo>
                  <a:lnTo>
                    <a:pt x="781409" y="508000"/>
                  </a:lnTo>
                  <a:lnTo>
                    <a:pt x="775802" y="495300"/>
                  </a:lnTo>
                  <a:close/>
                </a:path>
                <a:path w="1267460" h="1270000">
                  <a:moveTo>
                    <a:pt x="902910" y="495300"/>
                  </a:moveTo>
                  <a:lnTo>
                    <a:pt x="846284" y="495300"/>
                  </a:lnTo>
                  <a:lnTo>
                    <a:pt x="846348" y="508000"/>
                  </a:lnTo>
                  <a:lnTo>
                    <a:pt x="900318" y="508000"/>
                  </a:lnTo>
                  <a:lnTo>
                    <a:pt x="902910" y="495300"/>
                  </a:lnTo>
                  <a:close/>
                </a:path>
                <a:path w="1267460" h="1270000">
                  <a:moveTo>
                    <a:pt x="772240" y="469900"/>
                  </a:moveTo>
                  <a:lnTo>
                    <a:pt x="733612" y="469900"/>
                  </a:lnTo>
                  <a:lnTo>
                    <a:pt x="732943" y="482600"/>
                  </a:lnTo>
                  <a:lnTo>
                    <a:pt x="734204" y="495300"/>
                  </a:lnTo>
                  <a:lnTo>
                    <a:pt x="773718" y="495300"/>
                  </a:lnTo>
                  <a:lnTo>
                    <a:pt x="770986" y="482600"/>
                  </a:lnTo>
                  <a:lnTo>
                    <a:pt x="770690" y="482600"/>
                  </a:lnTo>
                  <a:lnTo>
                    <a:pt x="772240" y="469900"/>
                  </a:lnTo>
                  <a:close/>
                </a:path>
                <a:path w="1267460" h="1270000">
                  <a:moveTo>
                    <a:pt x="765305" y="355600"/>
                  </a:moveTo>
                  <a:lnTo>
                    <a:pt x="750230" y="355600"/>
                  </a:lnTo>
                  <a:lnTo>
                    <a:pt x="745040" y="368300"/>
                  </a:lnTo>
                  <a:lnTo>
                    <a:pt x="737750" y="368300"/>
                  </a:lnTo>
                  <a:lnTo>
                    <a:pt x="737522" y="381000"/>
                  </a:lnTo>
                  <a:lnTo>
                    <a:pt x="738308" y="381000"/>
                  </a:lnTo>
                  <a:lnTo>
                    <a:pt x="789785" y="431800"/>
                  </a:lnTo>
                  <a:lnTo>
                    <a:pt x="761215" y="431800"/>
                  </a:lnTo>
                  <a:lnTo>
                    <a:pt x="755373" y="444500"/>
                  </a:lnTo>
                  <a:lnTo>
                    <a:pt x="745491" y="444500"/>
                  </a:lnTo>
                  <a:lnTo>
                    <a:pt x="741635" y="457200"/>
                  </a:lnTo>
                  <a:lnTo>
                    <a:pt x="814293" y="457200"/>
                  </a:lnTo>
                  <a:lnTo>
                    <a:pt x="845431" y="482600"/>
                  </a:lnTo>
                  <a:lnTo>
                    <a:pt x="845990" y="495300"/>
                  </a:lnTo>
                  <a:lnTo>
                    <a:pt x="904119" y="495300"/>
                  </a:lnTo>
                  <a:lnTo>
                    <a:pt x="765305" y="355600"/>
                  </a:lnTo>
                  <a:close/>
                </a:path>
                <a:path w="1267460" h="1270000">
                  <a:moveTo>
                    <a:pt x="781574" y="457200"/>
                  </a:moveTo>
                  <a:lnTo>
                    <a:pt x="738541" y="457200"/>
                  </a:lnTo>
                  <a:lnTo>
                    <a:pt x="736211" y="469900"/>
                  </a:lnTo>
                  <a:lnTo>
                    <a:pt x="774345" y="469900"/>
                  </a:lnTo>
                  <a:lnTo>
                    <a:pt x="781574" y="457200"/>
                  </a:lnTo>
                  <a:close/>
                </a:path>
                <a:path w="1267460" h="1270000">
                  <a:moveTo>
                    <a:pt x="869221" y="266700"/>
                  </a:moveTo>
                  <a:lnTo>
                    <a:pt x="854934" y="266700"/>
                  </a:lnTo>
                  <a:lnTo>
                    <a:pt x="852337" y="279400"/>
                  </a:lnTo>
                  <a:lnTo>
                    <a:pt x="842455" y="279400"/>
                  </a:lnTo>
                  <a:lnTo>
                    <a:pt x="838592" y="292100"/>
                  </a:lnTo>
                  <a:lnTo>
                    <a:pt x="838033" y="292100"/>
                  </a:lnTo>
                  <a:lnTo>
                    <a:pt x="841331" y="304800"/>
                  </a:lnTo>
                  <a:lnTo>
                    <a:pt x="843840" y="304800"/>
                  </a:lnTo>
                  <a:lnTo>
                    <a:pt x="1008457" y="381000"/>
                  </a:lnTo>
                  <a:lnTo>
                    <a:pt x="1025164" y="381000"/>
                  </a:lnTo>
                  <a:lnTo>
                    <a:pt x="1029235" y="368300"/>
                  </a:lnTo>
                  <a:lnTo>
                    <a:pt x="1037974" y="368300"/>
                  </a:lnTo>
                  <a:lnTo>
                    <a:pt x="1040764" y="355600"/>
                  </a:lnTo>
                  <a:lnTo>
                    <a:pt x="1048485" y="355600"/>
                  </a:lnTo>
                  <a:lnTo>
                    <a:pt x="1048137" y="342900"/>
                  </a:lnTo>
                  <a:lnTo>
                    <a:pt x="1007383" y="342900"/>
                  </a:lnTo>
                  <a:lnTo>
                    <a:pt x="869221" y="266700"/>
                  </a:lnTo>
                  <a:close/>
                </a:path>
                <a:path w="1267460" h="1270000">
                  <a:moveTo>
                    <a:pt x="966604" y="177800"/>
                  </a:moveTo>
                  <a:lnTo>
                    <a:pt x="948444" y="177800"/>
                  </a:lnTo>
                  <a:lnTo>
                    <a:pt x="941900" y="190500"/>
                  </a:lnTo>
                  <a:lnTo>
                    <a:pt x="933467" y="190500"/>
                  </a:lnTo>
                  <a:lnTo>
                    <a:pt x="933326" y="203200"/>
                  </a:lnTo>
                  <a:lnTo>
                    <a:pt x="935482" y="203200"/>
                  </a:lnTo>
                  <a:lnTo>
                    <a:pt x="1007383" y="342900"/>
                  </a:lnTo>
                  <a:lnTo>
                    <a:pt x="1046784" y="342900"/>
                  </a:lnTo>
                  <a:lnTo>
                    <a:pt x="966604" y="177800"/>
                  </a:lnTo>
                  <a:close/>
                </a:path>
                <a:path w="1267460" h="1270000">
                  <a:moveTo>
                    <a:pt x="1040776" y="114300"/>
                  </a:moveTo>
                  <a:lnTo>
                    <a:pt x="1009859" y="114300"/>
                  </a:lnTo>
                  <a:lnTo>
                    <a:pt x="1006820" y="127000"/>
                  </a:lnTo>
                  <a:lnTo>
                    <a:pt x="982187" y="152504"/>
                  </a:lnTo>
                  <a:lnTo>
                    <a:pt x="980721" y="152504"/>
                  </a:lnTo>
                  <a:lnTo>
                    <a:pt x="982489" y="165100"/>
                  </a:lnTo>
                  <a:lnTo>
                    <a:pt x="1108156" y="292100"/>
                  </a:lnTo>
                  <a:lnTo>
                    <a:pt x="1114780" y="292100"/>
                  </a:lnTo>
                  <a:lnTo>
                    <a:pt x="1116416" y="279400"/>
                  </a:lnTo>
                  <a:lnTo>
                    <a:pt x="1127575" y="279400"/>
                  </a:lnTo>
                  <a:lnTo>
                    <a:pt x="1129600" y="266700"/>
                  </a:lnTo>
                  <a:lnTo>
                    <a:pt x="1134449" y="266700"/>
                  </a:lnTo>
                  <a:lnTo>
                    <a:pt x="1022713" y="152246"/>
                  </a:lnTo>
                  <a:lnTo>
                    <a:pt x="1123328" y="152246"/>
                  </a:lnTo>
                  <a:lnTo>
                    <a:pt x="1040776" y="114300"/>
                  </a:lnTo>
                  <a:close/>
                </a:path>
                <a:path w="1267460" h="1270000">
                  <a:moveTo>
                    <a:pt x="1175090" y="215900"/>
                  </a:moveTo>
                  <a:lnTo>
                    <a:pt x="1172809" y="215900"/>
                  </a:lnTo>
                  <a:lnTo>
                    <a:pt x="1173897" y="228600"/>
                  </a:lnTo>
                  <a:lnTo>
                    <a:pt x="1175090" y="215900"/>
                  </a:lnTo>
                  <a:close/>
                </a:path>
                <a:path w="1267460" h="1270000">
                  <a:moveTo>
                    <a:pt x="1123328" y="152246"/>
                  </a:moveTo>
                  <a:lnTo>
                    <a:pt x="1022713" y="152246"/>
                  </a:lnTo>
                  <a:lnTo>
                    <a:pt x="1171825" y="215900"/>
                  </a:lnTo>
                  <a:lnTo>
                    <a:pt x="1188071" y="215900"/>
                  </a:lnTo>
                  <a:lnTo>
                    <a:pt x="1192842" y="203200"/>
                  </a:lnTo>
                  <a:lnTo>
                    <a:pt x="1200995" y="203200"/>
                  </a:lnTo>
                  <a:lnTo>
                    <a:pt x="1201065" y="190500"/>
                  </a:lnTo>
                  <a:lnTo>
                    <a:pt x="1200133" y="190500"/>
                  </a:lnTo>
                  <a:lnTo>
                    <a:pt x="1188226" y="165100"/>
                  </a:lnTo>
                  <a:lnTo>
                    <a:pt x="1151290" y="165100"/>
                  </a:lnTo>
                  <a:lnTo>
                    <a:pt x="1123328" y="152246"/>
                  </a:lnTo>
                  <a:close/>
                </a:path>
                <a:path w="1267460" h="1270000">
                  <a:moveTo>
                    <a:pt x="1144696" y="0"/>
                  </a:moveTo>
                  <a:lnTo>
                    <a:pt x="1124576" y="0"/>
                  </a:lnTo>
                  <a:lnTo>
                    <a:pt x="1101417" y="25400"/>
                  </a:lnTo>
                  <a:lnTo>
                    <a:pt x="1099395" y="25400"/>
                  </a:lnTo>
                  <a:lnTo>
                    <a:pt x="1096606" y="37689"/>
                  </a:lnTo>
                  <a:lnTo>
                    <a:pt x="1096512" y="38100"/>
                  </a:lnTo>
                  <a:lnTo>
                    <a:pt x="1095348" y="38100"/>
                  </a:lnTo>
                  <a:lnTo>
                    <a:pt x="1095733" y="50800"/>
                  </a:lnTo>
                  <a:lnTo>
                    <a:pt x="1099112" y="50800"/>
                  </a:lnTo>
                  <a:lnTo>
                    <a:pt x="1101147" y="63500"/>
                  </a:lnTo>
                  <a:lnTo>
                    <a:pt x="1151710" y="165100"/>
                  </a:lnTo>
                  <a:lnTo>
                    <a:pt x="1188226" y="165100"/>
                  </a:lnTo>
                  <a:lnTo>
                    <a:pt x="1128501" y="37689"/>
                  </a:lnTo>
                  <a:lnTo>
                    <a:pt x="1180928" y="37689"/>
                  </a:lnTo>
                  <a:lnTo>
                    <a:pt x="1144696" y="0"/>
                  </a:lnTo>
                  <a:close/>
                </a:path>
                <a:path w="1267460" h="1270000">
                  <a:moveTo>
                    <a:pt x="1180928" y="37689"/>
                  </a:moveTo>
                  <a:lnTo>
                    <a:pt x="1128501" y="37689"/>
                  </a:lnTo>
                  <a:lnTo>
                    <a:pt x="1240589" y="152504"/>
                  </a:lnTo>
                  <a:lnTo>
                    <a:pt x="1254725" y="152504"/>
                  </a:lnTo>
                  <a:lnTo>
                    <a:pt x="1259908" y="139700"/>
                  </a:lnTo>
                  <a:lnTo>
                    <a:pt x="1265981" y="139700"/>
                  </a:lnTo>
                  <a:lnTo>
                    <a:pt x="1267321" y="127000"/>
                  </a:lnTo>
                  <a:lnTo>
                    <a:pt x="1266784" y="127000"/>
                  </a:lnTo>
                  <a:lnTo>
                    <a:pt x="1180928" y="376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932373" y="4993078"/>
            <a:ext cx="906144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130"/>
              </a:spcBef>
            </a:pPr>
            <a:r>
              <a:rPr sz="1800" spc="-10" dirty="0">
                <a:latin typeface="Calibri"/>
                <a:cs typeface="Calibri"/>
              </a:rPr>
              <a:t>lower overhead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6391" y="5004373"/>
            <a:ext cx="906144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130"/>
              </a:spcBef>
            </a:pPr>
            <a:r>
              <a:rPr sz="1800" spc="-10" dirty="0">
                <a:latin typeface="Calibri"/>
                <a:cs typeface="Calibri"/>
              </a:rPr>
              <a:t>higher overhead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/>
              <a:t>Virt.</a:t>
            </a:r>
            <a:r>
              <a:rPr spc="-135" dirty="0"/>
              <a:t> </a:t>
            </a:r>
            <a:r>
              <a:rPr dirty="0"/>
              <a:t>Technology</a:t>
            </a:r>
            <a:r>
              <a:rPr spc="-135" dirty="0"/>
              <a:t> </a:t>
            </a:r>
            <a:r>
              <a:rPr spc="-10" dirty="0"/>
              <a:t>Benchmarking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287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pc="-10" dirty="0"/>
              <a:t>Metrics:</a:t>
            </a:r>
          </a:p>
          <a:p>
            <a:pPr marL="755015" lvl="1" indent="-285115">
              <a:lnSpc>
                <a:spcPts val="2390"/>
              </a:lnSpc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VM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Image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consump</a:t>
            </a:r>
            <a:r>
              <a:rPr lang="en-US" sz="2000" spc="-10" dirty="0">
                <a:latin typeface="Calibri"/>
                <a:cs typeface="Calibri"/>
              </a:rPr>
              <a:t>ti</a:t>
            </a:r>
            <a:r>
              <a:rPr sz="2000" spc="-10" dirty="0">
                <a:latin typeface="Calibri"/>
                <a:cs typeface="Calibri"/>
              </a:rPr>
              <a:t>on</a:t>
            </a:r>
            <a:endParaRPr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VM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crea</a:t>
            </a:r>
            <a:r>
              <a:rPr lang="en-US" sz="2000" dirty="0">
                <a:latin typeface="Calibri"/>
                <a:cs typeface="Calibri"/>
              </a:rPr>
              <a:t>ti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ti</a:t>
            </a:r>
            <a:r>
              <a:rPr sz="2000" spc="-25" dirty="0">
                <a:latin typeface="Calibri"/>
                <a:cs typeface="Calibri"/>
              </a:rPr>
              <a:t>me</a:t>
            </a:r>
            <a:endParaRPr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2000" spc="-10" dirty="0">
                <a:latin typeface="Calibri"/>
                <a:cs typeface="Calibri"/>
              </a:rPr>
              <a:t>Delay</a:t>
            </a:r>
            <a:endParaRPr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2000" spc="-10" dirty="0">
                <a:latin typeface="Calibri"/>
                <a:cs typeface="Calibri"/>
              </a:rPr>
              <a:t>Throughput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8021" y="4187179"/>
            <a:ext cx="7461250" cy="1727835"/>
            <a:chOff x="798021" y="4187179"/>
            <a:chExt cx="7461250" cy="1727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8021" y="5494712"/>
              <a:ext cx="7460672" cy="3906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32172" y="5667342"/>
              <a:ext cx="6993255" cy="0"/>
            </a:xfrm>
            <a:custGeom>
              <a:avLst/>
              <a:gdLst/>
              <a:ahLst/>
              <a:cxnLst/>
              <a:rect l="l" t="t" r="r" b="b"/>
              <a:pathLst>
                <a:path w="6993255">
                  <a:moveTo>
                    <a:pt x="0" y="0"/>
                  </a:moveTo>
                  <a:lnTo>
                    <a:pt x="6992727" y="0"/>
                  </a:lnTo>
                </a:path>
              </a:pathLst>
            </a:custGeom>
            <a:ln w="380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4364" y="5581769"/>
              <a:ext cx="171005" cy="1711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91702" y="5581769"/>
              <a:ext cx="171005" cy="1711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18508" y="5486399"/>
              <a:ext cx="128847" cy="42810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683593" y="5509300"/>
              <a:ext cx="0" cy="337185"/>
            </a:xfrm>
            <a:custGeom>
              <a:avLst/>
              <a:gdLst/>
              <a:ahLst/>
              <a:cxnLst/>
              <a:rect l="l" t="t" r="r" b="b"/>
              <a:pathLst>
                <a:path h="337185">
                  <a:moveTo>
                    <a:pt x="0" y="0"/>
                  </a:moveTo>
                  <a:lnTo>
                    <a:pt x="0" y="33675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25785" y="4187179"/>
              <a:ext cx="1267460" cy="1270000"/>
            </a:xfrm>
            <a:custGeom>
              <a:avLst/>
              <a:gdLst/>
              <a:ahLst/>
              <a:cxnLst/>
              <a:rect l="l" t="t" r="r" b="b"/>
              <a:pathLst>
                <a:path w="1267460" h="1270000">
                  <a:moveTo>
                    <a:pt x="145370" y="1257299"/>
                  </a:moveTo>
                  <a:lnTo>
                    <a:pt x="90300" y="1257299"/>
                  </a:lnTo>
                  <a:lnTo>
                    <a:pt x="92053" y="1269999"/>
                  </a:lnTo>
                  <a:lnTo>
                    <a:pt x="135727" y="1269999"/>
                  </a:lnTo>
                  <a:lnTo>
                    <a:pt x="145370" y="1257299"/>
                  </a:lnTo>
                  <a:close/>
                </a:path>
                <a:path w="1267460" h="1270000">
                  <a:moveTo>
                    <a:pt x="159802" y="1244599"/>
                  </a:moveTo>
                  <a:lnTo>
                    <a:pt x="87655" y="1244599"/>
                  </a:lnTo>
                  <a:lnTo>
                    <a:pt x="85966" y="1257299"/>
                  </a:lnTo>
                  <a:lnTo>
                    <a:pt x="154839" y="1257299"/>
                  </a:lnTo>
                  <a:lnTo>
                    <a:pt x="159802" y="1244599"/>
                  </a:lnTo>
                  <a:close/>
                </a:path>
                <a:path w="1267460" h="1270000">
                  <a:moveTo>
                    <a:pt x="168231" y="1231899"/>
                  </a:moveTo>
                  <a:lnTo>
                    <a:pt x="122354" y="1231899"/>
                  </a:lnTo>
                  <a:lnTo>
                    <a:pt x="112221" y="1244599"/>
                  </a:lnTo>
                  <a:lnTo>
                    <a:pt x="164266" y="1244599"/>
                  </a:lnTo>
                  <a:lnTo>
                    <a:pt x="168231" y="1231899"/>
                  </a:lnTo>
                  <a:close/>
                </a:path>
                <a:path w="1267460" h="1270000">
                  <a:moveTo>
                    <a:pt x="174598" y="1219199"/>
                  </a:moveTo>
                  <a:lnTo>
                    <a:pt x="135963" y="1219199"/>
                  </a:lnTo>
                  <a:lnTo>
                    <a:pt x="127455" y="1231899"/>
                  </a:lnTo>
                  <a:lnTo>
                    <a:pt x="171696" y="1231899"/>
                  </a:lnTo>
                  <a:lnTo>
                    <a:pt x="174598" y="1219199"/>
                  </a:lnTo>
                  <a:close/>
                </a:path>
                <a:path w="1267460" h="1270000">
                  <a:moveTo>
                    <a:pt x="178528" y="1206499"/>
                  </a:moveTo>
                  <a:lnTo>
                    <a:pt x="143465" y="1206499"/>
                  </a:lnTo>
                  <a:lnTo>
                    <a:pt x="142330" y="1219199"/>
                  </a:lnTo>
                  <a:lnTo>
                    <a:pt x="176876" y="1219199"/>
                  </a:lnTo>
                  <a:lnTo>
                    <a:pt x="178528" y="1206499"/>
                  </a:lnTo>
                  <a:close/>
                </a:path>
                <a:path w="1267460" h="1270000">
                  <a:moveTo>
                    <a:pt x="73731" y="1193799"/>
                  </a:moveTo>
                  <a:lnTo>
                    <a:pt x="39838" y="1193799"/>
                  </a:lnTo>
                  <a:lnTo>
                    <a:pt x="45558" y="1206499"/>
                  </a:lnTo>
                  <a:lnTo>
                    <a:pt x="62566" y="1206499"/>
                  </a:lnTo>
                  <a:lnTo>
                    <a:pt x="73731" y="1193799"/>
                  </a:lnTo>
                  <a:close/>
                </a:path>
                <a:path w="1267460" h="1270000">
                  <a:moveTo>
                    <a:pt x="180508" y="1193799"/>
                  </a:moveTo>
                  <a:lnTo>
                    <a:pt x="141532" y="1193799"/>
                  </a:lnTo>
                  <a:lnTo>
                    <a:pt x="143883" y="1206499"/>
                  </a:lnTo>
                  <a:lnTo>
                    <a:pt x="179556" y="1206499"/>
                  </a:lnTo>
                  <a:lnTo>
                    <a:pt x="180508" y="1193799"/>
                  </a:lnTo>
                  <a:close/>
                </a:path>
                <a:path w="1267460" h="1270000">
                  <a:moveTo>
                    <a:pt x="162063" y="1155699"/>
                  </a:moveTo>
                  <a:lnTo>
                    <a:pt x="842" y="1155699"/>
                  </a:lnTo>
                  <a:lnTo>
                    <a:pt x="5891" y="1168399"/>
                  </a:lnTo>
                  <a:lnTo>
                    <a:pt x="10415" y="1181099"/>
                  </a:lnTo>
                  <a:lnTo>
                    <a:pt x="22616" y="1193799"/>
                  </a:lnTo>
                  <a:lnTo>
                    <a:pt x="95011" y="1193799"/>
                  </a:lnTo>
                  <a:lnTo>
                    <a:pt x="104912" y="1181099"/>
                  </a:lnTo>
                  <a:lnTo>
                    <a:pt x="176889" y="1181099"/>
                  </a:lnTo>
                  <a:lnTo>
                    <a:pt x="174426" y="1168399"/>
                  </a:lnTo>
                  <a:lnTo>
                    <a:pt x="167013" y="1168399"/>
                  </a:lnTo>
                  <a:lnTo>
                    <a:pt x="162063" y="1155699"/>
                  </a:lnTo>
                  <a:close/>
                </a:path>
                <a:path w="1267460" h="1270000">
                  <a:moveTo>
                    <a:pt x="176889" y="1181099"/>
                  </a:moveTo>
                  <a:lnTo>
                    <a:pt x="133889" y="1181099"/>
                  </a:lnTo>
                  <a:lnTo>
                    <a:pt x="139621" y="1193799"/>
                  </a:lnTo>
                  <a:lnTo>
                    <a:pt x="179619" y="1193799"/>
                  </a:lnTo>
                  <a:lnTo>
                    <a:pt x="176889" y="1181099"/>
                  </a:lnTo>
                  <a:close/>
                </a:path>
                <a:path w="1267460" h="1270000">
                  <a:moveTo>
                    <a:pt x="36114" y="1130299"/>
                  </a:moveTo>
                  <a:lnTo>
                    <a:pt x="1682" y="1130299"/>
                  </a:lnTo>
                  <a:lnTo>
                    <a:pt x="0" y="1155699"/>
                  </a:lnTo>
                  <a:lnTo>
                    <a:pt x="38305" y="1155699"/>
                  </a:lnTo>
                  <a:lnTo>
                    <a:pt x="36132" y="1142999"/>
                  </a:lnTo>
                  <a:lnTo>
                    <a:pt x="35694" y="1142999"/>
                  </a:lnTo>
                  <a:lnTo>
                    <a:pt x="36114" y="1130299"/>
                  </a:lnTo>
                  <a:close/>
                </a:path>
                <a:path w="1267460" h="1270000">
                  <a:moveTo>
                    <a:pt x="150999" y="1142999"/>
                  </a:moveTo>
                  <a:lnTo>
                    <a:pt x="99905" y="1142999"/>
                  </a:lnTo>
                  <a:lnTo>
                    <a:pt x="89230" y="1155699"/>
                  </a:lnTo>
                  <a:lnTo>
                    <a:pt x="156593" y="1155699"/>
                  </a:lnTo>
                  <a:lnTo>
                    <a:pt x="150999" y="1142999"/>
                  </a:lnTo>
                  <a:close/>
                </a:path>
                <a:path w="1267460" h="1270000">
                  <a:moveTo>
                    <a:pt x="195775" y="1041400"/>
                  </a:moveTo>
                  <a:lnTo>
                    <a:pt x="103643" y="1041400"/>
                  </a:lnTo>
                  <a:lnTo>
                    <a:pt x="103413" y="1054099"/>
                  </a:lnTo>
                  <a:lnTo>
                    <a:pt x="104206" y="1054099"/>
                  </a:lnTo>
                  <a:lnTo>
                    <a:pt x="125909" y="1066799"/>
                  </a:lnTo>
                  <a:lnTo>
                    <a:pt x="113934" y="1079499"/>
                  </a:lnTo>
                  <a:lnTo>
                    <a:pt x="113489" y="1079499"/>
                  </a:lnTo>
                  <a:lnTo>
                    <a:pt x="113130" y="1092199"/>
                  </a:lnTo>
                  <a:lnTo>
                    <a:pt x="147460" y="1092199"/>
                  </a:lnTo>
                  <a:lnTo>
                    <a:pt x="201321" y="1142999"/>
                  </a:lnTo>
                  <a:lnTo>
                    <a:pt x="206900" y="1155699"/>
                  </a:lnTo>
                  <a:lnTo>
                    <a:pt x="254527" y="1155699"/>
                  </a:lnTo>
                  <a:lnTo>
                    <a:pt x="261758" y="1142999"/>
                  </a:lnTo>
                  <a:lnTo>
                    <a:pt x="267045" y="1142999"/>
                  </a:lnTo>
                  <a:lnTo>
                    <a:pt x="268537" y="1130299"/>
                  </a:lnTo>
                  <a:lnTo>
                    <a:pt x="273786" y="1130299"/>
                  </a:lnTo>
                  <a:lnTo>
                    <a:pt x="273719" y="1117599"/>
                  </a:lnTo>
                  <a:lnTo>
                    <a:pt x="223208" y="1117599"/>
                  </a:lnTo>
                  <a:lnTo>
                    <a:pt x="173970" y="1066799"/>
                  </a:lnTo>
                  <a:lnTo>
                    <a:pt x="195775" y="1041400"/>
                  </a:lnTo>
                  <a:close/>
                </a:path>
                <a:path w="1267460" h="1270000">
                  <a:moveTo>
                    <a:pt x="84538" y="1092199"/>
                  </a:moveTo>
                  <a:lnTo>
                    <a:pt x="26569" y="1092199"/>
                  </a:lnTo>
                  <a:lnTo>
                    <a:pt x="17104" y="1104899"/>
                  </a:lnTo>
                  <a:lnTo>
                    <a:pt x="12002" y="1117599"/>
                  </a:lnTo>
                  <a:lnTo>
                    <a:pt x="4081" y="1130299"/>
                  </a:lnTo>
                  <a:lnTo>
                    <a:pt x="42259" y="1130299"/>
                  </a:lnTo>
                  <a:lnTo>
                    <a:pt x="49140" y="1117599"/>
                  </a:lnTo>
                  <a:lnTo>
                    <a:pt x="53158" y="1117599"/>
                  </a:lnTo>
                  <a:lnTo>
                    <a:pt x="61509" y="1104899"/>
                  </a:lnTo>
                  <a:lnTo>
                    <a:pt x="84783" y="1104899"/>
                  </a:lnTo>
                  <a:lnTo>
                    <a:pt x="84538" y="1092199"/>
                  </a:lnTo>
                  <a:close/>
                </a:path>
                <a:path w="1267460" h="1270000">
                  <a:moveTo>
                    <a:pt x="265286" y="1104899"/>
                  </a:moveTo>
                  <a:lnTo>
                    <a:pt x="248766" y="1104899"/>
                  </a:lnTo>
                  <a:lnTo>
                    <a:pt x="247017" y="1117599"/>
                  </a:lnTo>
                  <a:lnTo>
                    <a:pt x="268371" y="1117599"/>
                  </a:lnTo>
                  <a:lnTo>
                    <a:pt x="265286" y="1104899"/>
                  </a:lnTo>
                  <a:close/>
                </a:path>
                <a:path w="1267460" h="1270000">
                  <a:moveTo>
                    <a:pt x="147460" y="1092199"/>
                  </a:moveTo>
                  <a:lnTo>
                    <a:pt x="119123" y="1092199"/>
                  </a:lnTo>
                  <a:lnTo>
                    <a:pt x="125040" y="1104899"/>
                  </a:lnTo>
                  <a:lnTo>
                    <a:pt x="134741" y="1104899"/>
                  </a:lnTo>
                  <a:lnTo>
                    <a:pt x="147460" y="1092199"/>
                  </a:lnTo>
                  <a:close/>
                </a:path>
                <a:path w="1267460" h="1270000">
                  <a:moveTo>
                    <a:pt x="74117" y="1079499"/>
                  </a:moveTo>
                  <a:lnTo>
                    <a:pt x="48449" y="1079499"/>
                  </a:lnTo>
                  <a:lnTo>
                    <a:pt x="41156" y="1092199"/>
                  </a:lnTo>
                  <a:lnTo>
                    <a:pt x="77971" y="1092199"/>
                  </a:lnTo>
                  <a:lnTo>
                    <a:pt x="74117" y="1079499"/>
                  </a:lnTo>
                  <a:close/>
                </a:path>
                <a:path w="1267460" h="1270000">
                  <a:moveTo>
                    <a:pt x="292145" y="1054099"/>
                  </a:moveTo>
                  <a:lnTo>
                    <a:pt x="250271" y="1054099"/>
                  </a:lnTo>
                  <a:lnTo>
                    <a:pt x="254064" y="1066799"/>
                  </a:lnTo>
                  <a:lnTo>
                    <a:pt x="257749" y="1079499"/>
                  </a:lnTo>
                  <a:lnTo>
                    <a:pt x="268269" y="1092199"/>
                  </a:lnTo>
                  <a:lnTo>
                    <a:pt x="317705" y="1092199"/>
                  </a:lnTo>
                  <a:lnTo>
                    <a:pt x="322927" y="1079499"/>
                  </a:lnTo>
                  <a:lnTo>
                    <a:pt x="333933" y="1066799"/>
                  </a:lnTo>
                  <a:lnTo>
                    <a:pt x="296477" y="1066799"/>
                  </a:lnTo>
                  <a:lnTo>
                    <a:pt x="292145" y="1054099"/>
                  </a:lnTo>
                  <a:close/>
                </a:path>
                <a:path w="1267460" h="1270000">
                  <a:moveTo>
                    <a:pt x="344749" y="1041400"/>
                  </a:moveTo>
                  <a:lnTo>
                    <a:pt x="321108" y="1041400"/>
                  </a:lnTo>
                  <a:lnTo>
                    <a:pt x="318640" y="1054099"/>
                  </a:lnTo>
                  <a:lnTo>
                    <a:pt x="305943" y="1054099"/>
                  </a:lnTo>
                  <a:lnTo>
                    <a:pt x="296477" y="1066799"/>
                  </a:lnTo>
                  <a:lnTo>
                    <a:pt x="338272" y="1066799"/>
                  </a:lnTo>
                  <a:lnTo>
                    <a:pt x="343568" y="1054099"/>
                  </a:lnTo>
                  <a:lnTo>
                    <a:pt x="344749" y="1041400"/>
                  </a:lnTo>
                  <a:close/>
                </a:path>
                <a:path w="1267460" h="1270000">
                  <a:moveTo>
                    <a:pt x="285078" y="1028700"/>
                  </a:moveTo>
                  <a:lnTo>
                    <a:pt x="256669" y="1028700"/>
                  </a:lnTo>
                  <a:lnTo>
                    <a:pt x="253344" y="1041400"/>
                  </a:lnTo>
                  <a:lnTo>
                    <a:pt x="250126" y="1054099"/>
                  </a:lnTo>
                  <a:lnTo>
                    <a:pt x="284285" y="1054099"/>
                  </a:lnTo>
                  <a:lnTo>
                    <a:pt x="282459" y="1041400"/>
                  </a:lnTo>
                  <a:lnTo>
                    <a:pt x="283573" y="1041400"/>
                  </a:lnTo>
                  <a:lnTo>
                    <a:pt x="285078" y="1028700"/>
                  </a:lnTo>
                  <a:close/>
                </a:path>
                <a:path w="1267460" h="1270000">
                  <a:moveTo>
                    <a:pt x="130714" y="1028700"/>
                  </a:moveTo>
                  <a:lnTo>
                    <a:pt x="116283" y="1028700"/>
                  </a:lnTo>
                  <a:lnTo>
                    <a:pt x="111142" y="1041400"/>
                  </a:lnTo>
                  <a:lnTo>
                    <a:pt x="152419" y="1041400"/>
                  </a:lnTo>
                  <a:lnTo>
                    <a:pt x="130714" y="1028700"/>
                  </a:lnTo>
                  <a:close/>
                </a:path>
                <a:path w="1267460" h="1270000">
                  <a:moveTo>
                    <a:pt x="185722" y="1028700"/>
                  </a:moveTo>
                  <a:lnTo>
                    <a:pt x="173489" y="1028700"/>
                  </a:lnTo>
                  <a:lnTo>
                    <a:pt x="152419" y="1041400"/>
                  </a:lnTo>
                  <a:lnTo>
                    <a:pt x="191637" y="1041400"/>
                  </a:lnTo>
                  <a:lnTo>
                    <a:pt x="185722" y="1028700"/>
                  </a:lnTo>
                  <a:close/>
                </a:path>
                <a:path w="1267460" h="1270000">
                  <a:moveTo>
                    <a:pt x="369660" y="1028700"/>
                  </a:moveTo>
                  <a:lnTo>
                    <a:pt x="323954" y="1028700"/>
                  </a:lnTo>
                  <a:lnTo>
                    <a:pt x="323555" y="1041400"/>
                  </a:lnTo>
                  <a:lnTo>
                    <a:pt x="363536" y="1041400"/>
                  </a:lnTo>
                  <a:lnTo>
                    <a:pt x="369660" y="1028700"/>
                  </a:lnTo>
                  <a:close/>
                </a:path>
                <a:path w="1267460" h="1270000">
                  <a:moveTo>
                    <a:pt x="231025" y="1016000"/>
                  </a:moveTo>
                  <a:lnTo>
                    <a:pt x="213612" y="1016000"/>
                  </a:lnTo>
                  <a:lnTo>
                    <a:pt x="215187" y="1028700"/>
                  </a:lnTo>
                  <a:lnTo>
                    <a:pt x="229420" y="1028700"/>
                  </a:lnTo>
                  <a:lnTo>
                    <a:pt x="231025" y="1016000"/>
                  </a:lnTo>
                  <a:close/>
                </a:path>
                <a:path w="1267460" h="1270000">
                  <a:moveTo>
                    <a:pt x="307527" y="1003300"/>
                  </a:moveTo>
                  <a:lnTo>
                    <a:pt x="275843" y="1003300"/>
                  </a:lnTo>
                  <a:lnTo>
                    <a:pt x="270515" y="1016000"/>
                  </a:lnTo>
                  <a:lnTo>
                    <a:pt x="265805" y="1016000"/>
                  </a:lnTo>
                  <a:lnTo>
                    <a:pt x="261713" y="1028700"/>
                  </a:lnTo>
                  <a:lnTo>
                    <a:pt x="289839" y="1028700"/>
                  </a:lnTo>
                  <a:lnTo>
                    <a:pt x="293166" y="1016000"/>
                  </a:lnTo>
                  <a:lnTo>
                    <a:pt x="307527" y="1003300"/>
                  </a:lnTo>
                  <a:close/>
                </a:path>
                <a:path w="1267460" h="1270000">
                  <a:moveTo>
                    <a:pt x="310741" y="952500"/>
                  </a:moveTo>
                  <a:lnTo>
                    <a:pt x="237687" y="952500"/>
                  </a:lnTo>
                  <a:lnTo>
                    <a:pt x="232228" y="965200"/>
                  </a:lnTo>
                  <a:lnTo>
                    <a:pt x="224409" y="965200"/>
                  </a:lnTo>
                  <a:lnTo>
                    <a:pt x="217953" y="977900"/>
                  </a:lnTo>
                  <a:lnTo>
                    <a:pt x="282296" y="977900"/>
                  </a:lnTo>
                  <a:lnTo>
                    <a:pt x="290932" y="990600"/>
                  </a:lnTo>
                  <a:lnTo>
                    <a:pt x="281790" y="1003300"/>
                  </a:lnTo>
                  <a:lnTo>
                    <a:pt x="307527" y="1003300"/>
                  </a:lnTo>
                  <a:lnTo>
                    <a:pt x="323527" y="1028700"/>
                  </a:lnTo>
                  <a:lnTo>
                    <a:pt x="375296" y="1028700"/>
                  </a:lnTo>
                  <a:lnTo>
                    <a:pt x="374878" y="1016000"/>
                  </a:lnTo>
                  <a:lnTo>
                    <a:pt x="310741" y="952500"/>
                  </a:lnTo>
                  <a:close/>
                </a:path>
                <a:path w="1267460" h="1270000">
                  <a:moveTo>
                    <a:pt x="235094" y="1003300"/>
                  </a:moveTo>
                  <a:lnTo>
                    <a:pt x="205934" y="1003300"/>
                  </a:lnTo>
                  <a:lnTo>
                    <a:pt x="205999" y="1016000"/>
                  </a:lnTo>
                  <a:lnTo>
                    <a:pt x="232161" y="1016000"/>
                  </a:lnTo>
                  <a:lnTo>
                    <a:pt x="235094" y="1003300"/>
                  </a:lnTo>
                  <a:close/>
                </a:path>
                <a:path w="1267460" h="1270000">
                  <a:moveTo>
                    <a:pt x="242039" y="990600"/>
                  </a:moveTo>
                  <a:lnTo>
                    <a:pt x="208991" y="990600"/>
                  </a:lnTo>
                  <a:lnTo>
                    <a:pt x="206532" y="1003300"/>
                  </a:lnTo>
                  <a:lnTo>
                    <a:pt x="237070" y="1003300"/>
                  </a:lnTo>
                  <a:lnTo>
                    <a:pt x="242039" y="990600"/>
                  </a:lnTo>
                  <a:close/>
                </a:path>
                <a:path w="1267460" h="1270000">
                  <a:moveTo>
                    <a:pt x="253262" y="977900"/>
                  </a:moveTo>
                  <a:lnTo>
                    <a:pt x="215218" y="977900"/>
                  </a:lnTo>
                  <a:lnTo>
                    <a:pt x="210727" y="990600"/>
                  </a:lnTo>
                  <a:lnTo>
                    <a:pt x="245487" y="990600"/>
                  </a:lnTo>
                  <a:lnTo>
                    <a:pt x="253262" y="977900"/>
                  </a:lnTo>
                  <a:close/>
                </a:path>
                <a:path w="1267460" h="1270000">
                  <a:moveTo>
                    <a:pt x="364116" y="901700"/>
                  </a:moveTo>
                  <a:lnTo>
                    <a:pt x="305360" y="901700"/>
                  </a:lnTo>
                  <a:lnTo>
                    <a:pt x="400714" y="990600"/>
                  </a:lnTo>
                  <a:lnTo>
                    <a:pt x="414883" y="990600"/>
                  </a:lnTo>
                  <a:lnTo>
                    <a:pt x="420074" y="977900"/>
                  </a:lnTo>
                  <a:lnTo>
                    <a:pt x="427559" y="977900"/>
                  </a:lnTo>
                  <a:lnTo>
                    <a:pt x="427838" y="965200"/>
                  </a:lnTo>
                  <a:lnTo>
                    <a:pt x="427225" y="965200"/>
                  </a:lnTo>
                  <a:lnTo>
                    <a:pt x="364116" y="901700"/>
                  </a:lnTo>
                  <a:close/>
                </a:path>
                <a:path w="1267460" h="1270000">
                  <a:moveTo>
                    <a:pt x="285445" y="939800"/>
                  </a:moveTo>
                  <a:lnTo>
                    <a:pt x="253274" y="939800"/>
                  </a:lnTo>
                  <a:lnTo>
                    <a:pt x="248210" y="952500"/>
                  </a:lnTo>
                  <a:lnTo>
                    <a:pt x="297935" y="952500"/>
                  </a:lnTo>
                  <a:lnTo>
                    <a:pt x="285445" y="939800"/>
                  </a:lnTo>
                  <a:close/>
                </a:path>
                <a:path w="1267460" h="1270000">
                  <a:moveTo>
                    <a:pt x="406379" y="825500"/>
                  </a:moveTo>
                  <a:lnTo>
                    <a:pt x="368189" y="825500"/>
                  </a:lnTo>
                  <a:lnTo>
                    <a:pt x="361751" y="838200"/>
                  </a:lnTo>
                  <a:lnTo>
                    <a:pt x="349543" y="850900"/>
                  </a:lnTo>
                  <a:lnTo>
                    <a:pt x="345347" y="850900"/>
                  </a:lnTo>
                  <a:lnTo>
                    <a:pt x="342778" y="863600"/>
                  </a:lnTo>
                  <a:lnTo>
                    <a:pt x="401123" y="863600"/>
                  </a:lnTo>
                  <a:lnTo>
                    <a:pt x="405033" y="876300"/>
                  </a:lnTo>
                  <a:lnTo>
                    <a:pt x="463864" y="927100"/>
                  </a:lnTo>
                  <a:lnTo>
                    <a:pt x="478076" y="927100"/>
                  </a:lnTo>
                  <a:lnTo>
                    <a:pt x="483217" y="914400"/>
                  </a:lnTo>
                  <a:lnTo>
                    <a:pt x="490720" y="914400"/>
                  </a:lnTo>
                  <a:lnTo>
                    <a:pt x="490985" y="901700"/>
                  </a:lnTo>
                  <a:lnTo>
                    <a:pt x="490373" y="901700"/>
                  </a:lnTo>
                  <a:lnTo>
                    <a:pt x="431676" y="850900"/>
                  </a:lnTo>
                  <a:lnTo>
                    <a:pt x="424870" y="838200"/>
                  </a:lnTo>
                  <a:lnTo>
                    <a:pt x="418449" y="838200"/>
                  </a:lnTo>
                  <a:lnTo>
                    <a:pt x="406379" y="825500"/>
                  </a:lnTo>
                  <a:close/>
                </a:path>
                <a:path w="1267460" h="1270000">
                  <a:moveTo>
                    <a:pt x="365061" y="876300"/>
                  </a:moveTo>
                  <a:lnTo>
                    <a:pt x="339503" y="876300"/>
                  </a:lnTo>
                  <a:lnTo>
                    <a:pt x="339526" y="889000"/>
                  </a:lnTo>
                  <a:lnTo>
                    <a:pt x="305882" y="889000"/>
                  </a:lnTo>
                  <a:lnTo>
                    <a:pt x="304760" y="901700"/>
                  </a:lnTo>
                  <a:lnTo>
                    <a:pt x="363123" y="901700"/>
                  </a:lnTo>
                  <a:lnTo>
                    <a:pt x="363114" y="889000"/>
                  </a:lnTo>
                  <a:lnTo>
                    <a:pt x="365061" y="876300"/>
                  </a:lnTo>
                  <a:close/>
                </a:path>
                <a:path w="1267460" h="1270000">
                  <a:moveTo>
                    <a:pt x="327976" y="876300"/>
                  </a:moveTo>
                  <a:lnTo>
                    <a:pt x="315455" y="876300"/>
                  </a:lnTo>
                  <a:lnTo>
                    <a:pt x="311035" y="889000"/>
                  </a:lnTo>
                  <a:lnTo>
                    <a:pt x="339526" y="889000"/>
                  </a:lnTo>
                  <a:lnTo>
                    <a:pt x="327976" y="876300"/>
                  </a:lnTo>
                  <a:close/>
                </a:path>
                <a:path w="1267460" h="1270000">
                  <a:moveTo>
                    <a:pt x="373246" y="863600"/>
                  </a:moveTo>
                  <a:lnTo>
                    <a:pt x="341129" y="863600"/>
                  </a:lnTo>
                  <a:lnTo>
                    <a:pt x="340037" y="876300"/>
                  </a:lnTo>
                  <a:lnTo>
                    <a:pt x="367228" y="876300"/>
                  </a:lnTo>
                  <a:lnTo>
                    <a:pt x="373246" y="863600"/>
                  </a:lnTo>
                  <a:close/>
                </a:path>
                <a:path w="1267460" h="1270000">
                  <a:moveTo>
                    <a:pt x="549952" y="850900"/>
                  </a:moveTo>
                  <a:lnTo>
                    <a:pt x="486501" y="850900"/>
                  </a:lnTo>
                  <a:lnTo>
                    <a:pt x="494181" y="863600"/>
                  </a:lnTo>
                  <a:lnTo>
                    <a:pt x="544425" y="863600"/>
                  </a:lnTo>
                  <a:lnTo>
                    <a:pt x="549952" y="850900"/>
                  </a:lnTo>
                  <a:close/>
                </a:path>
                <a:path w="1267460" h="1270000">
                  <a:moveTo>
                    <a:pt x="563544" y="838200"/>
                  </a:moveTo>
                  <a:lnTo>
                    <a:pt x="469842" y="838200"/>
                  </a:lnTo>
                  <a:lnTo>
                    <a:pt x="475257" y="850900"/>
                  </a:lnTo>
                  <a:lnTo>
                    <a:pt x="559837" y="850900"/>
                  </a:lnTo>
                  <a:lnTo>
                    <a:pt x="563544" y="838200"/>
                  </a:lnTo>
                  <a:close/>
                </a:path>
                <a:path w="1267460" h="1270000">
                  <a:moveTo>
                    <a:pt x="568692" y="825500"/>
                  </a:moveTo>
                  <a:lnTo>
                    <a:pt x="458634" y="825500"/>
                  </a:lnTo>
                  <a:lnTo>
                    <a:pt x="464567" y="838200"/>
                  </a:lnTo>
                  <a:lnTo>
                    <a:pt x="566496" y="838200"/>
                  </a:lnTo>
                  <a:lnTo>
                    <a:pt x="568692" y="825500"/>
                  </a:lnTo>
                  <a:close/>
                </a:path>
                <a:path w="1267460" h="1270000">
                  <a:moveTo>
                    <a:pt x="497784" y="812800"/>
                  </a:moveTo>
                  <a:lnTo>
                    <a:pt x="448721" y="812800"/>
                  </a:lnTo>
                  <a:lnTo>
                    <a:pt x="453352" y="825500"/>
                  </a:lnTo>
                  <a:lnTo>
                    <a:pt x="506478" y="825500"/>
                  </a:lnTo>
                  <a:lnTo>
                    <a:pt x="497784" y="812800"/>
                  </a:lnTo>
                  <a:close/>
                </a:path>
                <a:path w="1267460" h="1270000">
                  <a:moveTo>
                    <a:pt x="571287" y="812800"/>
                  </a:moveTo>
                  <a:lnTo>
                    <a:pt x="542922" y="812800"/>
                  </a:lnTo>
                  <a:lnTo>
                    <a:pt x="541412" y="825500"/>
                  </a:lnTo>
                  <a:lnTo>
                    <a:pt x="570249" y="825500"/>
                  </a:lnTo>
                  <a:lnTo>
                    <a:pt x="571287" y="812800"/>
                  </a:lnTo>
                  <a:close/>
                </a:path>
                <a:path w="1267460" h="1270000">
                  <a:moveTo>
                    <a:pt x="486004" y="800100"/>
                  </a:moveTo>
                  <a:lnTo>
                    <a:pt x="438786" y="800100"/>
                  </a:lnTo>
                  <a:lnTo>
                    <a:pt x="441425" y="812800"/>
                  </a:lnTo>
                  <a:lnTo>
                    <a:pt x="493646" y="812800"/>
                  </a:lnTo>
                  <a:lnTo>
                    <a:pt x="486004" y="800100"/>
                  </a:lnTo>
                  <a:close/>
                </a:path>
                <a:path w="1267460" h="1270000">
                  <a:moveTo>
                    <a:pt x="571804" y="800100"/>
                  </a:moveTo>
                  <a:lnTo>
                    <a:pt x="547401" y="800100"/>
                  </a:lnTo>
                  <a:lnTo>
                    <a:pt x="546206" y="812800"/>
                  </a:lnTo>
                  <a:lnTo>
                    <a:pt x="571805" y="812800"/>
                  </a:lnTo>
                  <a:lnTo>
                    <a:pt x="571804" y="800100"/>
                  </a:lnTo>
                  <a:close/>
                </a:path>
                <a:path w="1267460" h="1270000">
                  <a:moveTo>
                    <a:pt x="599954" y="800100"/>
                  </a:moveTo>
                  <a:lnTo>
                    <a:pt x="571804" y="800100"/>
                  </a:lnTo>
                  <a:lnTo>
                    <a:pt x="583039" y="812800"/>
                  </a:lnTo>
                  <a:lnTo>
                    <a:pt x="595604" y="812800"/>
                  </a:lnTo>
                  <a:lnTo>
                    <a:pt x="599954" y="800100"/>
                  </a:lnTo>
                  <a:close/>
                </a:path>
                <a:path w="1267460" h="1270000">
                  <a:moveTo>
                    <a:pt x="472323" y="774700"/>
                  </a:moveTo>
                  <a:lnTo>
                    <a:pt x="434280" y="774700"/>
                  </a:lnTo>
                  <a:lnTo>
                    <a:pt x="436824" y="800100"/>
                  </a:lnTo>
                  <a:lnTo>
                    <a:pt x="482744" y="800100"/>
                  </a:lnTo>
                  <a:lnTo>
                    <a:pt x="477139" y="787400"/>
                  </a:lnTo>
                  <a:lnTo>
                    <a:pt x="475054" y="787400"/>
                  </a:lnTo>
                  <a:lnTo>
                    <a:pt x="472323" y="774700"/>
                  </a:lnTo>
                  <a:close/>
                </a:path>
                <a:path w="1267460" h="1270000">
                  <a:moveTo>
                    <a:pt x="606124" y="787400"/>
                  </a:moveTo>
                  <a:lnTo>
                    <a:pt x="547621" y="787400"/>
                  </a:lnTo>
                  <a:lnTo>
                    <a:pt x="547684" y="800100"/>
                  </a:lnTo>
                  <a:lnTo>
                    <a:pt x="605141" y="800100"/>
                  </a:lnTo>
                  <a:lnTo>
                    <a:pt x="606124" y="787400"/>
                  </a:lnTo>
                  <a:close/>
                </a:path>
                <a:path w="1267460" h="1270000">
                  <a:moveTo>
                    <a:pt x="466642" y="647700"/>
                  </a:moveTo>
                  <a:lnTo>
                    <a:pt x="457596" y="647700"/>
                  </a:lnTo>
                  <a:lnTo>
                    <a:pt x="453811" y="660400"/>
                  </a:lnTo>
                  <a:lnTo>
                    <a:pt x="444342" y="660400"/>
                  </a:lnTo>
                  <a:lnTo>
                    <a:pt x="441397" y="673100"/>
                  </a:lnTo>
                  <a:lnTo>
                    <a:pt x="439643" y="673100"/>
                  </a:lnTo>
                  <a:lnTo>
                    <a:pt x="491121" y="723900"/>
                  </a:lnTo>
                  <a:lnTo>
                    <a:pt x="475390" y="723900"/>
                  </a:lnTo>
                  <a:lnTo>
                    <a:pt x="462550" y="736600"/>
                  </a:lnTo>
                  <a:lnTo>
                    <a:pt x="451446" y="736600"/>
                  </a:lnTo>
                  <a:lnTo>
                    <a:pt x="446827" y="749300"/>
                  </a:lnTo>
                  <a:lnTo>
                    <a:pt x="515630" y="749300"/>
                  </a:lnTo>
                  <a:lnTo>
                    <a:pt x="546766" y="787400"/>
                  </a:lnTo>
                  <a:lnTo>
                    <a:pt x="605455" y="787400"/>
                  </a:lnTo>
                  <a:lnTo>
                    <a:pt x="466642" y="647700"/>
                  </a:lnTo>
                  <a:close/>
                </a:path>
                <a:path w="1267460" h="1270000">
                  <a:moveTo>
                    <a:pt x="473575" y="762000"/>
                  </a:moveTo>
                  <a:lnTo>
                    <a:pt x="437548" y="762000"/>
                  </a:lnTo>
                  <a:lnTo>
                    <a:pt x="434949" y="774700"/>
                  </a:lnTo>
                  <a:lnTo>
                    <a:pt x="472027" y="774700"/>
                  </a:lnTo>
                  <a:lnTo>
                    <a:pt x="473575" y="762000"/>
                  </a:lnTo>
                  <a:close/>
                </a:path>
                <a:path w="1267460" h="1270000">
                  <a:moveTo>
                    <a:pt x="487805" y="749300"/>
                  </a:moveTo>
                  <a:lnTo>
                    <a:pt x="442971" y="749300"/>
                  </a:lnTo>
                  <a:lnTo>
                    <a:pt x="439878" y="762000"/>
                  </a:lnTo>
                  <a:lnTo>
                    <a:pt x="482911" y="762000"/>
                  </a:lnTo>
                  <a:lnTo>
                    <a:pt x="487805" y="749300"/>
                  </a:lnTo>
                  <a:close/>
                </a:path>
                <a:path w="1267460" h="1270000">
                  <a:moveTo>
                    <a:pt x="644476" y="749300"/>
                  </a:moveTo>
                  <a:lnTo>
                    <a:pt x="611237" y="749300"/>
                  </a:lnTo>
                  <a:lnTo>
                    <a:pt x="622179" y="762000"/>
                  </a:lnTo>
                  <a:lnTo>
                    <a:pt x="638937" y="762000"/>
                  </a:lnTo>
                  <a:lnTo>
                    <a:pt x="644476" y="749300"/>
                  </a:lnTo>
                  <a:close/>
                </a:path>
                <a:path w="1267460" h="1270000">
                  <a:moveTo>
                    <a:pt x="620022" y="698500"/>
                  </a:moveTo>
                  <a:lnTo>
                    <a:pt x="591050" y="698500"/>
                  </a:lnTo>
                  <a:lnTo>
                    <a:pt x="587833" y="711200"/>
                  </a:lnTo>
                  <a:lnTo>
                    <a:pt x="587978" y="723900"/>
                  </a:lnTo>
                  <a:lnTo>
                    <a:pt x="591771" y="736600"/>
                  </a:lnTo>
                  <a:lnTo>
                    <a:pt x="595456" y="736600"/>
                  </a:lnTo>
                  <a:lnTo>
                    <a:pt x="605976" y="749300"/>
                  </a:lnTo>
                  <a:lnTo>
                    <a:pt x="660634" y="749300"/>
                  </a:lnTo>
                  <a:lnTo>
                    <a:pt x="671640" y="736600"/>
                  </a:lnTo>
                  <a:lnTo>
                    <a:pt x="675977" y="723900"/>
                  </a:lnTo>
                  <a:lnTo>
                    <a:pt x="629852" y="723900"/>
                  </a:lnTo>
                  <a:lnTo>
                    <a:pt x="623606" y="711200"/>
                  </a:lnTo>
                  <a:lnTo>
                    <a:pt x="620165" y="711200"/>
                  </a:lnTo>
                  <a:lnTo>
                    <a:pt x="620022" y="698500"/>
                  </a:lnTo>
                  <a:close/>
                </a:path>
                <a:path w="1267460" h="1270000">
                  <a:moveTo>
                    <a:pt x="681273" y="711200"/>
                  </a:moveTo>
                  <a:lnTo>
                    <a:pt x="656346" y="711200"/>
                  </a:lnTo>
                  <a:lnTo>
                    <a:pt x="648221" y="723900"/>
                  </a:lnTo>
                  <a:lnTo>
                    <a:pt x="675977" y="723900"/>
                  </a:lnTo>
                  <a:lnTo>
                    <a:pt x="681273" y="711200"/>
                  </a:lnTo>
                  <a:close/>
                </a:path>
                <a:path w="1267460" h="1270000">
                  <a:moveTo>
                    <a:pt x="712014" y="685800"/>
                  </a:moveTo>
                  <a:lnTo>
                    <a:pt x="661661" y="685800"/>
                  </a:lnTo>
                  <a:lnTo>
                    <a:pt x="661262" y="698500"/>
                  </a:lnTo>
                  <a:lnTo>
                    <a:pt x="658815" y="711200"/>
                  </a:lnTo>
                  <a:lnTo>
                    <a:pt x="682456" y="711200"/>
                  </a:lnTo>
                  <a:lnTo>
                    <a:pt x="682170" y="698500"/>
                  </a:lnTo>
                  <a:lnTo>
                    <a:pt x="709479" y="698500"/>
                  </a:lnTo>
                  <a:lnTo>
                    <a:pt x="712014" y="685800"/>
                  </a:lnTo>
                  <a:close/>
                </a:path>
                <a:path w="1267460" h="1270000">
                  <a:moveTo>
                    <a:pt x="698814" y="698500"/>
                  </a:moveTo>
                  <a:lnTo>
                    <a:pt x="682170" y="698500"/>
                  </a:lnTo>
                  <a:lnTo>
                    <a:pt x="690627" y="711200"/>
                  </a:lnTo>
                  <a:lnTo>
                    <a:pt x="695440" y="711200"/>
                  </a:lnTo>
                  <a:lnTo>
                    <a:pt x="698814" y="698500"/>
                  </a:lnTo>
                  <a:close/>
                </a:path>
                <a:path w="1267460" h="1270000">
                  <a:moveTo>
                    <a:pt x="645234" y="673100"/>
                  </a:moveTo>
                  <a:lnTo>
                    <a:pt x="603512" y="673100"/>
                  </a:lnTo>
                  <a:lnTo>
                    <a:pt x="599420" y="685800"/>
                  </a:lnTo>
                  <a:lnTo>
                    <a:pt x="594376" y="698500"/>
                  </a:lnTo>
                  <a:lnTo>
                    <a:pt x="622785" y="698500"/>
                  </a:lnTo>
                  <a:lnTo>
                    <a:pt x="627546" y="685800"/>
                  </a:lnTo>
                  <a:lnTo>
                    <a:pt x="630872" y="685800"/>
                  </a:lnTo>
                  <a:lnTo>
                    <a:pt x="645234" y="673100"/>
                  </a:lnTo>
                  <a:close/>
                </a:path>
                <a:path w="1267460" h="1270000">
                  <a:moveTo>
                    <a:pt x="569868" y="673100"/>
                  </a:moveTo>
                  <a:lnTo>
                    <a:pt x="545998" y="673100"/>
                  </a:lnTo>
                  <a:lnTo>
                    <a:pt x="547538" y="685800"/>
                  </a:lnTo>
                  <a:lnTo>
                    <a:pt x="568732" y="685800"/>
                  </a:lnTo>
                  <a:lnTo>
                    <a:pt x="569868" y="673100"/>
                  </a:lnTo>
                  <a:close/>
                </a:path>
                <a:path w="1267460" h="1270000">
                  <a:moveTo>
                    <a:pt x="661275" y="635000"/>
                  </a:moveTo>
                  <a:lnTo>
                    <a:pt x="617126" y="635000"/>
                  </a:lnTo>
                  <a:lnTo>
                    <a:pt x="620003" y="647700"/>
                  </a:lnTo>
                  <a:lnTo>
                    <a:pt x="628639" y="647700"/>
                  </a:lnTo>
                  <a:lnTo>
                    <a:pt x="619495" y="660400"/>
                  </a:lnTo>
                  <a:lnTo>
                    <a:pt x="613549" y="673100"/>
                  </a:lnTo>
                  <a:lnTo>
                    <a:pt x="645234" y="673100"/>
                  </a:lnTo>
                  <a:lnTo>
                    <a:pt x="661234" y="685800"/>
                  </a:lnTo>
                  <a:lnTo>
                    <a:pt x="712584" y="685800"/>
                  </a:lnTo>
                  <a:lnTo>
                    <a:pt x="661275" y="635000"/>
                  </a:lnTo>
                  <a:close/>
                </a:path>
                <a:path w="1267460" h="1270000">
                  <a:moveTo>
                    <a:pt x="574777" y="660400"/>
                  </a:moveTo>
                  <a:lnTo>
                    <a:pt x="544239" y="660400"/>
                  </a:lnTo>
                  <a:lnTo>
                    <a:pt x="543641" y="673100"/>
                  </a:lnTo>
                  <a:lnTo>
                    <a:pt x="572801" y="673100"/>
                  </a:lnTo>
                  <a:lnTo>
                    <a:pt x="574777" y="660400"/>
                  </a:lnTo>
                  <a:close/>
                </a:path>
                <a:path w="1267460" h="1270000">
                  <a:moveTo>
                    <a:pt x="583194" y="647700"/>
                  </a:moveTo>
                  <a:lnTo>
                    <a:pt x="552924" y="647700"/>
                  </a:lnTo>
                  <a:lnTo>
                    <a:pt x="548434" y="660400"/>
                  </a:lnTo>
                  <a:lnTo>
                    <a:pt x="579746" y="660400"/>
                  </a:lnTo>
                  <a:lnTo>
                    <a:pt x="583194" y="647700"/>
                  </a:lnTo>
                  <a:close/>
                </a:path>
                <a:path w="1267460" h="1270000">
                  <a:moveTo>
                    <a:pt x="703789" y="558800"/>
                  </a:moveTo>
                  <a:lnTo>
                    <a:pt x="643065" y="558800"/>
                  </a:lnTo>
                  <a:lnTo>
                    <a:pt x="738421" y="660400"/>
                  </a:lnTo>
                  <a:lnTo>
                    <a:pt x="746649" y="660400"/>
                  </a:lnTo>
                  <a:lnTo>
                    <a:pt x="750364" y="647700"/>
                  </a:lnTo>
                  <a:lnTo>
                    <a:pt x="759832" y="647700"/>
                  </a:lnTo>
                  <a:lnTo>
                    <a:pt x="762848" y="635000"/>
                  </a:lnTo>
                  <a:lnTo>
                    <a:pt x="764931" y="635000"/>
                  </a:lnTo>
                  <a:lnTo>
                    <a:pt x="705665" y="571500"/>
                  </a:lnTo>
                  <a:lnTo>
                    <a:pt x="704542" y="571500"/>
                  </a:lnTo>
                  <a:lnTo>
                    <a:pt x="703789" y="558800"/>
                  </a:lnTo>
                  <a:close/>
                </a:path>
                <a:path w="1267460" h="1270000">
                  <a:moveTo>
                    <a:pt x="641992" y="609600"/>
                  </a:moveTo>
                  <a:lnTo>
                    <a:pt x="580721" y="609600"/>
                  </a:lnTo>
                  <a:lnTo>
                    <a:pt x="575394" y="622300"/>
                  </a:lnTo>
                  <a:lnTo>
                    <a:pt x="565797" y="622300"/>
                  </a:lnTo>
                  <a:lnTo>
                    <a:pt x="562115" y="635000"/>
                  </a:lnTo>
                  <a:lnTo>
                    <a:pt x="555660" y="647700"/>
                  </a:lnTo>
                  <a:lnTo>
                    <a:pt x="590967" y="647700"/>
                  </a:lnTo>
                  <a:lnTo>
                    <a:pt x="594139" y="635000"/>
                  </a:lnTo>
                  <a:lnTo>
                    <a:pt x="661275" y="635000"/>
                  </a:lnTo>
                  <a:lnTo>
                    <a:pt x="648448" y="622300"/>
                  </a:lnTo>
                  <a:lnTo>
                    <a:pt x="641992" y="609600"/>
                  </a:lnTo>
                  <a:close/>
                </a:path>
                <a:path w="1267460" h="1270000">
                  <a:moveTo>
                    <a:pt x="623150" y="596900"/>
                  </a:moveTo>
                  <a:lnTo>
                    <a:pt x="604152" y="596900"/>
                  </a:lnTo>
                  <a:lnTo>
                    <a:pt x="597645" y="609600"/>
                  </a:lnTo>
                  <a:lnTo>
                    <a:pt x="635642" y="609600"/>
                  </a:lnTo>
                  <a:lnTo>
                    <a:pt x="623150" y="596900"/>
                  </a:lnTo>
                  <a:close/>
                </a:path>
                <a:path w="1267460" h="1270000">
                  <a:moveTo>
                    <a:pt x="837458" y="558800"/>
                  </a:moveTo>
                  <a:lnTo>
                    <a:pt x="800595" y="558800"/>
                  </a:lnTo>
                  <a:lnTo>
                    <a:pt x="816236" y="571500"/>
                  </a:lnTo>
                  <a:lnTo>
                    <a:pt x="831723" y="571500"/>
                  </a:lnTo>
                  <a:lnTo>
                    <a:pt x="837458" y="558800"/>
                  </a:lnTo>
                  <a:close/>
                </a:path>
                <a:path w="1267460" h="1270000">
                  <a:moveTo>
                    <a:pt x="702985" y="546100"/>
                  </a:moveTo>
                  <a:lnTo>
                    <a:pt x="647024" y="546100"/>
                  </a:lnTo>
                  <a:lnTo>
                    <a:pt x="644500" y="558800"/>
                  </a:lnTo>
                  <a:lnTo>
                    <a:pt x="703018" y="558800"/>
                  </a:lnTo>
                  <a:lnTo>
                    <a:pt x="702985" y="546100"/>
                  </a:lnTo>
                  <a:close/>
                </a:path>
                <a:path w="1267460" h="1270000">
                  <a:moveTo>
                    <a:pt x="854038" y="546100"/>
                  </a:moveTo>
                  <a:lnTo>
                    <a:pt x="773920" y="546100"/>
                  </a:lnTo>
                  <a:lnTo>
                    <a:pt x="779473" y="558800"/>
                  </a:lnTo>
                  <a:lnTo>
                    <a:pt x="848616" y="558800"/>
                  </a:lnTo>
                  <a:lnTo>
                    <a:pt x="854038" y="546100"/>
                  </a:lnTo>
                  <a:close/>
                </a:path>
                <a:path w="1267460" h="1270000">
                  <a:moveTo>
                    <a:pt x="665683" y="533400"/>
                  </a:moveTo>
                  <a:lnTo>
                    <a:pt x="659805" y="533400"/>
                  </a:lnTo>
                  <a:lnTo>
                    <a:pt x="658402" y="546100"/>
                  </a:lnTo>
                  <a:lnTo>
                    <a:pt x="676468" y="546100"/>
                  </a:lnTo>
                  <a:lnTo>
                    <a:pt x="676443" y="544428"/>
                  </a:lnTo>
                  <a:lnTo>
                    <a:pt x="665683" y="533400"/>
                  </a:lnTo>
                  <a:close/>
                </a:path>
                <a:path w="1267460" h="1270000">
                  <a:moveTo>
                    <a:pt x="676443" y="544428"/>
                  </a:moveTo>
                  <a:lnTo>
                    <a:pt x="676468" y="546100"/>
                  </a:lnTo>
                  <a:lnTo>
                    <a:pt x="678074" y="546100"/>
                  </a:lnTo>
                  <a:lnTo>
                    <a:pt x="676443" y="544428"/>
                  </a:lnTo>
                  <a:close/>
                </a:path>
                <a:path w="1267460" h="1270000">
                  <a:moveTo>
                    <a:pt x="705976" y="533400"/>
                  </a:moveTo>
                  <a:lnTo>
                    <a:pt x="676280" y="533400"/>
                  </a:lnTo>
                  <a:lnTo>
                    <a:pt x="676443" y="544428"/>
                  </a:lnTo>
                  <a:lnTo>
                    <a:pt x="678074" y="546100"/>
                  </a:lnTo>
                  <a:lnTo>
                    <a:pt x="704218" y="546100"/>
                  </a:lnTo>
                  <a:lnTo>
                    <a:pt x="705976" y="533400"/>
                  </a:lnTo>
                  <a:close/>
                </a:path>
                <a:path w="1267460" h="1270000">
                  <a:moveTo>
                    <a:pt x="865159" y="533400"/>
                  </a:moveTo>
                  <a:lnTo>
                    <a:pt x="763230" y="533400"/>
                  </a:lnTo>
                  <a:lnTo>
                    <a:pt x="768506" y="546100"/>
                  </a:lnTo>
                  <a:lnTo>
                    <a:pt x="862207" y="546100"/>
                  </a:lnTo>
                  <a:lnTo>
                    <a:pt x="865159" y="533400"/>
                  </a:lnTo>
                  <a:close/>
                </a:path>
                <a:path w="1267460" h="1270000">
                  <a:moveTo>
                    <a:pt x="722293" y="520700"/>
                  </a:moveTo>
                  <a:lnTo>
                    <a:pt x="677826" y="520700"/>
                  </a:lnTo>
                  <a:lnTo>
                    <a:pt x="676551" y="533400"/>
                  </a:lnTo>
                  <a:lnTo>
                    <a:pt x="721029" y="533400"/>
                  </a:lnTo>
                  <a:lnTo>
                    <a:pt x="722293" y="520700"/>
                  </a:lnTo>
                  <a:close/>
                </a:path>
                <a:path w="1267460" h="1270000">
                  <a:moveTo>
                    <a:pt x="809490" y="520700"/>
                  </a:moveTo>
                  <a:lnTo>
                    <a:pt x="752016" y="520700"/>
                  </a:lnTo>
                  <a:lnTo>
                    <a:pt x="757298" y="533400"/>
                  </a:lnTo>
                  <a:lnTo>
                    <a:pt x="818188" y="533400"/>
                  </a:lnTo>
                  <a:lnTo>
                    <a:pt x="809490" y="520700"/>
                  </a:lnTo>
                  <a:close/>
                </a:path>
                <a:path w="1267460" h="1270000">
                  <a:moveTo>
                    <a:pt x="868913" y="520700"/>
                  </a:moveTo>
                  <a:lnTo>
                    <a:pt x="834600" y="520700"/>
                  </a:lnTo>
                  <a:lnTo>
                    <a:pt x="830707" y="533400"/>
                  </a:lnTo>
                  <a:lnTo>
                    <a:pt x="867355" y="533400"/>
                  </a:lnTo>
                  <a:lnTo>
                    <a:pt x="868913" y="520700"/>
                  </a:lnTo>
                  <a:close/>
                </a:path>
                <a:path w="1267460" h="1270000">
                  <a:moveTo>
                    <a:pt x="715403" y="508000"/>
                  </a:moveTo>
                  <a:lnTo>
                    <a:pt x="681753" y="508000"/>
                  </a:lnTo>
                  <a:lnTo>
                    <a:pt x="678868" y="520700"/>
                  </a:lnTo>
                  <a:lnTo>
                    <a:pt x="717398" y="520700"/>
                  </a:lnTo>
                  <a:lnTo>
                    <a:pt x="715403" y="508000"/>
                  </a:lnTo>
                  <a:close/>
                </a:path>
                <a:path w="1267460" h="1270000">
                  <a:moveTo>
                    <a:pt x="784668" y="508000"/>
                  </a:moveTo>
                  <a:lnTo>
                    <a:pt x="743404" y="508000"/>
                  </a:lnTo>
                  <a:lnTo>
                    <a:pt x="747384" y="520700"/>
                  </a:lnTo>
                  <a:lnTo>
                    <a:pt x="792309" y="520700"/>
                  </a:lnTo>
                  <a:lnTo>
                    <a:pt x="784668" y="508000"/>
                  </a:lnTo>
                  <a:close/>
                </a:path>
                <a:path w="1267460" h="1270000">
                  <a:moveTo>
                    <a:pt x="870470" y="508000"/>
                  </a:moveTo>
                  <a:lnTo>
                    <a:pt x="844871" y="508000"/>
                  </a:lnTo>
                  <a:lnTo>
                    <a:pt x="843974" y="520700"/>
                  </a:lnTo>
                  <a:lnTo>
                    <a:pt x="869951" y="520700"/>
                  </a:lnTo>
                  <a:lnTo>
                    <a:pt x="870470" y="508000"/>
                  </a:lnTo>
                  <a:close/>
                </a:path>
                <a:path w="1267460" h="1270000">
                  <a:moveTo>
                    <a:pt x="885449" y="508000"/>
                  </a:moveTo>
                  <a:lnTo>
                    <a:pt x="882548" y="508000"/>
                  </a:lnTo>
                  <a:lnTo>
                    <a:pt x="884377" y="520700"/>
                  </a:lnTo>
                  <a:lnTo>
                    <a:pt x="885449" y="508000"/>
                  </a:lnTo>
                  <a:close/>
                </a:path>
                <a:path w="1267460" h="1270000">
                  <a:moveTo>
                    <a:pt x="702290" y="495300"/>
                  </a:moveTo>
                  <a:lnTo>
                    <a:pt x="694959" y="495300"/>
                  </a:lnTo>
                  <a:lnTo>
                    <a:pt x="693696" y="508000"/>
                  </a:lnTo>
                  <a:lnTo>
                    <a:pt x="704042" y="508000"/>
                  </a:lnTo>
                  <a:lnTo>
                    <a:pt x="702290" y="495300"/>
                  </a:lnTo>
                  <a:close/>
                </a:path>
                <a:path w="1267460" h="1270000">
                  <a:moveTo>
                    <a:pt x="775802" y="495300"/>
                  </a:moveTo>
                  <a:lnTo>
                    <a:pt x="737449" y="495300"/>
                  </a:lnTo>
                  <a:lnTo>
                    <a:pt x="740088" y="508000"/>
                  </a:lnTo>
                  <a:lnTo>
                    <a:pt x="781409" y="508000"/>
                  </a:lnTo>
                  <a:lnTo>
                    <a:pt x="775802" y="495300"/>
                  </a:lnTo>
                  <a:close/>
                </a:path>
                <a:path w="1267460" h="1270000">
                  <a:moveTo>
                    <a:pt x="902910" y="495300"/>
                  </a:moveTo>
                  <a:lnTo>
                    <a:pt x="846284" y="495300"/>
                  </a:lnTo>
                  <a:lnTo>
                    <a:pt x="846348" y="508000"/>
                  </a:lnTo>
                  <a:lnTo>
                    <a:pt x="900318" y="508000"/>
                  </a:lnTo>
                  <a:lnTo>
                    <a:pt x="902910" y="495300"/>
                  </a:lnTo>
                  <a:close/>
                </a:path>
                <a:path w="1267460" h="1270000">
                  <a:moveTo>
                    <a:pt x="772240" y="469900"/>
                  </a:moveTo>
                  <a:lnTo>
                    <a:pt x="733612" y="469900"/>
                  </a:lnTo>
                  <a:lnTo>
                    <a:pt x="732943" y="482600"/>
                  </a:lnTo>
                  <a:lnTo>
                    <a:pt x="734204" y="495300"/>
                  </a:lnTo>
                  <a:lnTo>
                    <a:pt x="773718" y="495300"/>
                  </a:lnTo>
                  <a:lnTo>
                    <a:pt x="770986" y="482600"/>
                  </a:lnTo>
                  <a:lnTo>
                    <a:pt x="770690" y="482600"/>
                  </a:lnTo>
                  <a:lnTo>
                    <a:pt x="772240" y="469900"/>
                  </a:lnTo>
                  <a:close/>
                </a:path>
                <a:path w="1267460" h="1270000">
                  <a:moveTo>
                    <a:pt x="765305" y="355600"/>
                  </a:moveTo>
                  <a:lnTo>
                    <a:pt x="750230" y="355600"/>
                  </a:lnTo>
                  <a:lnTo>
                    <a:pt x="745040" y="368300"/>
                  </a:lnTo>
                  <a:lnTo>
                    <a:pt x="737750" y="368300"/>
                  </a:lnTo>
                  <a:lnTo>
                    <a:pt x="737522" y="381000"/>
                  </a:lnTo>
                  <a:lnTo>
                    <a:pt x="738308" y="381000"/>
                  </a:lnTo>
                  <a:lnTo>
                    <a:pt x="789785" y="431800"/>
                  </a:lnTo>
                  <a:lnTo>
                    <a:pt x="761215" y="431800"/>
                  </a:lnTo>
                  <a:lnTo>
                    <a:pt x="755373" y="444500"/>
                  </a:lnTo>
                  <a:lnTo>
                    <a:pt x="745491" y="444500"/>
                  </a:lnTo>
                  <a:lnTo>
                    <a:pt x="741635" y="457200"/>
                  </a:lnTo>
                  <a:lnTo>
                    <a:pt x="814293" y="457200"/>
                  </a:lnTo>
                  <a:lnTo>
                    <a:pt x="845431" y="482600"/>
                  </a:lnTo>
                  <a:lnTo>
                    <a:pt x="845990" y="495300"/>
                  </a:lnTo>
                  <a:lnTo>
                    <a:pt x="904119" y="495300"/>
                  </a:lnTo>
                  <a:lnTo>
                    <a:pt x="765305" y="355600"/>
                  </a:lnTo>
                  <a:close/>
                </a:path>
                <a:path w="1267460" h="1270000">
                  <a:moveTo>
                    <a:pt x="781574" y="457200"/>
                  </a:moveTo>
                  <a:lnTo>
                    <a:pt x="738541" y="457200"/>
                  </a:lnTo>
                  <a:lnTo>
                    <a:pt x="736211" y="469900"/>
                  </a:lnTo>
                  <a:lnTo>
                    <a:pt x="774345" y="469900"/>
                  </a:lnTo>
                  <a:lnTo>
                    <a:pt x="781574" y="457200"/>
                  </a:lnTo>
                  <a:close/>
                </a:path>
                <a:path w="1267460" h="1270000">
                  <a:moveTo>
                    <a:pt x="869221" y="266700"/>
                  </a:moveTo>
                  <a:lnTo>
                    <a:pt x="854934" y="266700"/>
                  </a:lnTo>
                  <a:lnTo>
                    <a:pt x="852337" y="279400"/>
                  </a:lnTo>
                  <a:lnTo>
                    <a:pt x="842455" y="279400"/>
                  </a:lnTo>
                  <a:lnTo>
                    <a:pt x="838592" y="292100"/>
                  </a:lnTo>
                  <a:lnTo>
                    <a:pt x="838033" y="292100"/>
                  </a:lnTo>
                  <a:lnTo>
                    <a:pt x="841331" y="304800"/>
                  </a:lnTo>
                  <a:lnTo>
                    <a:pt x="843840" y="304800"/>
                  </a:lnTo>
                  <a:lnTo>
                    <a:pt x="1008457" y="381000"/>
                  </a:lnTo>
                  <a:lnTo>
                    <a:pt x="1025164" y="381000"/>
                  </a:lnTo>
                  <a:lnTo>
                    <a:pt x="1029235" y="368300"/>
                  </a:lnTo>
                  <a:lnTo>
                    <a:pt x="1037974" y="368300"/>
                  </a:lnTo>
                  <a:lnTo>
                    <a:pt x="1040764" y="355600"/>
                  </a:lnTo>
                  <a:lnTo>
                    <a:pt x="1048485" y="355600"/>
                  </a:lnTo>
                  <a:lnTo>
                    <a:pt x="1048137" y="342900"/>
                  </a:lnTo>
                  <a:lnTo>
                    <a:pt x="1007383" y="342900"/>
                  </a:lnTo>
                  <a:lnTo>
                    <a:pt x="869221" y="266700"/>
                  </a:lnTo>
                  <a:close/>
                </a:path>
                <a:path w="1267460" h="1270000">
                  <a:moveTo>
                    <a:pt x="966604" y="177800"/>
                  </a:moveTo>
                  <a:lnTo>
                    <a:pt x="948444" y="177800"/>
                  </a:lnTo>
                  <a:lnTo>
                    <a:pt x="941900" y="190500"/>
                  </a:lnTo>
                  <a:lnTo>
                    <a:pt x="933467" y="190500"/>
                  </a:lnTo>
                  <a:lnTo>
                    <a:pt x="933326" y="203200"/>
                  </a:lnTo>
                  <a:lnTo>
                    <a:pt x="935482" y="203200"/>
                  </a:lnTo>
                  <a:lnTo>
                    <a:pt x="1007383" y="342900"/>
                  </a:lnTo>
                  <a:lnTo>
                    <a:pt x="1046784" y="342900"/>
                  </a:lnTo>
                  <a:lnTo>
                    <a:pt x="966604" y="177800"/>
                  </a:lnTo>
                  <a:close/>
                </a:path>
                <a:path w="1267460" h="1270000">
                  <a:moveTo>
                    <a:pt x="1040776" y="114300"/>
                  </a:moveTo>
                  <a:lnTo>
                    <a:pt x="1009859" y="114300"/>
                  </a:lnTo>
                  <a:lnTo>
                    <a:pt x="1006820" y="127000"/>
                  </a:lnTo>
                  <a:lnTo>
                    <a:pt x="982187" y="152504"/>
                  </a:lnTo>
                  <a:lnTo>
                    <a:pt x="980721" y="152504"/>
                  </a:lnTo>
                  <a:lnTo>
                    <a:pt x="982489" y="165100"/>
                  </a:lnTo>
                  <a:lnTo>
                    <a:pt x="1108156" y="292100"/>
                  </a:lnTo>
                  <a:lnTo>
                    <a:pt x="1114780" y="292100"/>
                  </a:lnTo>
                  <a:lnTo>
                    <a:pt x="1116416" y="279400"/>
                  </a:lnTo>
                  <a:lnTo>
                    <a:pt x="1127575" y="279400"/>
                  </a:lnTo>
                  <a:lnTo>
                    <a:pt x="1129600" y="266700"/>
                  </a:lnTo>
                  <a:lnTo>
                    <a:pt x="1134449" y="266700"/>
                  </a:lnTo>
                  <a:lnTo>
                    <a:pt x="1022713" y="152246"/>
                  </a:lnTo>
                  <a:lnTo>
                    <a:pt x="1123328" y="152246"/>
                  </a:lnTo>
                  <a:lnTo>
                    <a:pt x="1040776" y="114300"/>
                  </a:lnTo>
                  <a:close/>
                </a:path>
                <a:path w="1267460" h="1270000">
                  <a:moveTo>
                    <a:pt x="1175090" y="215900"/>
                  </a:moveTo>
                  <a:lnTo>
                    <a:pt x="1172809" y="215900"/>
                  </a:lnTo>
                  <a:lnTo>
                    <a:pt x="1173897" y="228600"/>
                  </a:lnTo>
                  <a:lnTo>
                    <a:pt x="1175090" y="215900"/>
                  </a:lnTo>
                  <a:close/>
                </a:path>
                <a:path w="1267460" h="1270000">
                  <a:moveTo>
                    <a:pt x="1123328" y="152246"/>
                  </a:moveTo>
                  <a:lnTo>
                    <a:pt x="1022713" y="152246"/>
                  </a:lnTo>
                  <a:lnTo>
                    <a:pt x="1171825" y="215900"/>
                  </a:lnTo>
                  <a:lnTo>
                    <a:pt x="1188071" y="215900"/>
                  </a:lnTo>
                  <a:lnTo>
                    <a:pt x="1192842" y="203200"/>
                  </a:lnTo>
                  <a:lnTo>
                    <a:pt x="1200995" y="203200"/>
                  </a:lnTo>
                  <a:lnTo>
                    <a:pt x="1201065" y="190500"/>
                  </a:lnTo>
                  <a:lnTo>
                    <a:pt x="1200133" y="190500"/>
                  </a:lnTo>
                  <a:lnTo>
                    <a:pt x="1188226" y="165100"/>
                  </a:lnTo>
                  <a:lnTo>
                    <a:pt x="1151290" y="165100"/>
                  </a:lnTo>
                  <a:lnTo>
                    <a:pt x="1123328" y="152246"/>
                  </a:lnTo>
                  <a:close/>
                </a:path>
                <a:path w="1267460" h="1270000">
                  <a:moveTo>
                    <a:pt x="1144696" y="0"/>
                  </a:moveTo>
                  <a:lnTo>
                    <a:pt x="1124576" y="0"/>
                  </a:lnTo>
                  <a:lnTo>
                    <a:pt x="1101417" y="25400"/>
                  </a:lnTo>
                  <a:lnTo>
                    <a:pt x="1099395" y="25400"/>
                  </a:lnTo>
                  <a:lnTo>
                    <a:pt x="1096606" y="37689"/>
                  </a:lnTo>
                  <a:lnTo>
                    <a:pt x="1096512" y="38100"/>
                  </a:lnTo>
                  <a:lnTo>
                    <a:pt x="1095348" y="38100"/>
                  </a:lnTo>
                  <a:lnTo>
                    <a:pt x="1095733" y="50800"/>
                  </a:lnTo>
                  <a:lnTo>
                    <a:pt x="1099112" y="50800"/>
                  </a:lnTo>
                  <a:lnTo>
                    <a:pt x="1101147" y="63500"/>
                  </a:lnTo>
                  <a:lnTo>
                    <a:pt x="1151710" y="165100"/>
                  </a:lnTo>
                  <a:lnTo>
                    <a:pt x="1188226" y="165100"/>
                  </a:lnTo>
                  <a:lnTo>
                    <a:pt x="1128501" y="37689"/>
                  </a:lnTo>
                  <a:lnTo>
                    <a:pt x="1180928" y="37689"/>
                  </a:lnTo>
                  <a:lnTo>
                    <a:pt x="1144696" y="0"/>
                  </a:lnTo>
                  <a:close/>
                </a:path>
                <a:path w="1267460" h="1270000">
                  <a:moveTo>
                    <a:pt x="1180928" y="37689"/>
                  </a:moveTo>
                  <a:lnTo>
                    <a:pt x="1128501" y="37689"/>
                  </a:lnTo>
                  <a:lnTo>
                    <a:pt x="1240589" y="152504"/>
                  </a:lnTo>
                  <a:lnTo>
                    <a:pt x="1254725" y="152504"/>
                  </a:lnTo>
                  <a:lnTo>
                    <a:pt x="1259908" y="139700"/>
                  </a:lnTo>
                  <a:lnTo>
                    <a:pt x="1265981" y="139700"/>
                  </a:lnTo>
                  <a:lnTo>
                    <a:pt x="1267321" y="127000"/>
                  </a:lnTo>
                  <a:lnTo>
                    <a:pt x="1266784" y="127000"/>
                  </a:lnTo>
                  <a:lnTo>
                    <a:pt x="1180928" y="376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76651" y="5486399"/>
              <a:ext cx="128847" cy="42810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439689" y="5509300"/>
              <a:ext cx="0" cy="337185"/>
            </a:xfrm>
            <a:custGeom>
              <a:avLst/>
              <a:gdLst/>
              <a:ahLst/>
              <a:cxnLst/>
              <a:rect l="l" t="t" r="r" b="b"/>
              <a:pathLst>
                <a:path h="337185">
                  <a:moveTo>
                    <a:pt x="0" y="0"/>
                  </a:moveTo>
                  <a:lnTo>
                    <a:pt x="1" y="33675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67692" y="4298933"/>
              <a:ext cx="1200282" cy="115930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932373" y="4993078"/>
            <a:ext cx="906144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130"/>
              </a:spcBef>
            </a:pPr>
            <a:r>
              <a:rPr sz="1800" spc="-10" dirty="0">
                <a:latin typeface="Calibri"/>
                <a:cs typeface="Calibri"/>
              </a:rPr>
              <a:t>lower overhead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6391" y="5004373"/>
            <a:ext cx="906144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130"/>
              </a:spcBef>
            </a:pPr>
            <a:r>
              <a:rPr sz="1800" spc="-10" dirty="0">
                <a:latin typeface="Calibri"/>
                <a:cs typeface="Calibri"/>
              </a:rPr>
              <a:t>higher overhead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/>
              <a:t>Virt.</a:t>
            </a:r>
            <a:r>
              <a:rPr spc="-135" dirty="0"/>
              <a:t> </a:t>
            </a:r>
            <a:r>
              <a:rPr dirty="0"/>
              <a:t>Technology</a:t>
            </a:r>
            <a:r>
              <a:rPr spc="-135" dirty="0"/>
              <a:t> </a:t>
            </a:r>
            <a:r>
              <a:rPr spc="-10" dirty="0"/>
              <a:t>Benchmarking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287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pc="-10" dirty="0"/>
              <a:t>Metrics:</a:t>
            </a:r>
          </a:p>
          <a:p>
            <a:pPr marL="755015" lvl="1" indent="-285115">
              <a:lnSpc>
                <a:spcPts val="2390"/>
              </a:lnSpc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VM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Image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consump</a:t>
            </a:r>
            <a:r>
              <a:rPr lang="en-US" sz="2000" spc="-10" dirty="0">
                <a:latin typeface="Calibri"/>
                <a:cs typeface="Calibri"/>
              </a:rPr>
              <a:t>ti</a:t>
            </a:r>
            <a:r>
              <a:rPr sz="2000" spc="-10" dirty="0">
                <a:latin typeface="Calibri"/>
                <a:cs typeface="Calibri"/>
              </a:rPr>
              <a:t>on</a:t>
            </a:r>
            <a:endParaRPr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VM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crea</a:t>
            </a:r>
            <a:r>
              <a:rPr lang="en-US" sz="2000" dirty="0">
                <a:latin typeface="Calibri"/>
                <a:cs typeface="Calibri"/>
              </a:rPr>
              <a:t>ti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ti</a:t>
            </a:r>
            <a:r>
              <a:rPr sz="2000" spc="-25" dirty="0">
                <a:latin typeface="Calibri"/>
                <a:cs typeface="Calibri"/>
              </a:rPr>
              <a:t>me</a:t>
            </a:r>
            <a:endParaRPr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2000" spc="-10" dirty="0">
                <a:latin typeface="Calibri"/>
                <a:cs typeface="Calibri"/>
              </a:rPr>
              <a:t>Delay</a:t>
            </a:r>
            <a:endParaRPr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2000" spc="-10" dirty="0">
                <a:latin typeface="Calibri"/>
                <a:cs typeface="Calibri"/>
              </a:rPr>
              <a:t>Throughput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8021" y="4187179"/>
            <a:ext cx="7461250" cy="1727835"/>
            <a:chOff x="798021" y="4187179"/>
            <a:chExt cx="7461250" cy="1727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8021" y="5494712"/>
              <a:ext cx="7460672" cy="3906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32172" y="5667342"/>
              <a:ext cx="6993255" cy="0"/>
            </a:xfrm>
            <a:custGeom>
              <a:avLst/>
              <a:gdLst/>
              <a:ahLst/>
              <a:cxnLst/>
              <a:rect l="l" t="t" r="r" b="b"/>
              <a:pathLst>
                <a:path w="6993255">
                  <a:moveTo>
                    <a:pt x="0" y="0"/>
                  </a:moveTo>
                  <a:lnTo>
                    <a:pt x="6992727" y="0"/>
                  </a:lnTo>
                </a:path>
              </a:pathLst>
            </a:custGeom>
            <a:ln w="380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4364" y="5581769"/>
              <a:ext cx="171005" cy="1711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91702" y="5581769"/>
              <a:ext cx="171005" cy="1711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18508" y="5486399"/>
              <a:ext cx="128847" cy="42810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683593" y="5509300"/>
              <a:ext cx="0" cy="337185"/>
            </a:xfrm>
            <a:custGeom>
              <a:avLst/>
              <a:gdLst/>
              <a:ahLst/>
              <a:cxnLst/>
              <a:rect l="l" t="t" r="r" b="b"/>
              <a:pathLst>
                <a:path h="337185">
                  <a:moveTo>
                    <a:pt x="0" y="0"/>
                  </a:moveTo>
                  <a:lnTo>
                    <a:pt x="0" y="33675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25785" y="4187179"/>
              <a:ext cx="1267460" cy="1270000"/>
            </a:xfrm>
            <a:custGeom>
              <a:avLst/>
              <a:gdLst/>
              <a:ahLst/>
              <a:cxnLst/>
              <a:rect l="l" t="t" r="r" b="b"/>
              <a:pathLst>
                <a:path w="1267460" h="1270000">
                  <a:moveTo>
                    <a:pt x="145370" y="1257299"/>
                  </a:moveTo>
                  <a:lnTo>
                    <a:pt x="90300" y="1257299"/>
                  </a:lnTo>
                  <a:lnTo>
                    <a:pt x="92053" y="1269999"/>
                  </a:lnTo>
                  <a:lnTo>
                    <a:pt x="135727" y="1269999"/>
                  </a:lnTo>
                  <a:lnTo>
                    <a:pt x="145370" y="1257299"/>
                  </a:lnTo>
                  <a:close/>
                </a:path>
                <a:path w="1267460" h="1270000">
                  <a:moveTo>
                    <a:pt x="159802" y="1244599"/>
                  </a:moveTo>
                  <a:lnTo>
                    <a:pt x="87655" y="1244599"/>
                  </a:lnTo>
                  <a:lnTo>
                    <a:pt x="85966" y="1257299"/>
                  </a:lnTo>
                  <a:lnTo>
                    <a:pt x="154839" y="1257299"/>
                  </a:lnTo>
                  <a:lnTo>
                    <a:pt x="159802" y="1244599"/>
                  </a:lnTo>
                  <a:close/>
                </a:path>
                <a:path w="1267460" h="1270000">
                  <a:moveTo>
                    <a:pt x="168231" y="1231899"/>
                  </a:moveTo>
                  <a:lnTo>
                    <a:pt x="122354" y="1231899"/>
                  </a:lnTo>
                  <a:lnTo>
                    <a:pt x="112221" y="1244599"/>
                  </a:lnTo>
                  <a:lnTo>
                    <a:pt x="164266" y="1244599"/>
                  </a:lnTo>
                  <a:lnTo>
                    <a:pt x="168231" y="1231899"/>
                  </a:lnTo>
                  <a:close/>
                </a:path>
                <a:path w="1267460" h="1270000">
                  <a:moveTo>
                    <a:pt x="174598" y="1219199"/>
                  </a:moveTo>
                  <a:lnTo>
                    <a:pt x="135963" y="1219199"/>
                  </a:lnTo>
                  <a:lnTo>
                    <a:pt x="127455" y="1231899"/>
                  </a:lnTo>
                  <a:lnTo>
                    <a:pt x="171696" y="1231899"/>
                  </a:lnTo>
                  <a:lnTo>
                    <a:pt x="174598" y="1219199"/>
                  </a:lnTo>
                  <a:close/>
                </a:path>
                <a:path w="1267460" h="1270000">
                  <a:moveTo>
                    <a:pt x="178528" y="1206499"/>
                  </a:moveTo>
                  <a:lnTo>
                    <a:pt x="143465" y="1206499"/>
                  </a:lnTo>
                  <a:lnTo>
                    <a:pt x="142330" y="1219199"/>
                  </a:lnTo>
                  <a:lnTo>
                    <a:pt x="176876" y="1219199"/>
                  </a:lnTo>
                  <a:lnTo>
                    <a:pt x="178528" y="1206499"/>
                  </a:lnTo>
                  <a:close/>
                </a:path>
                <a:path w="1267460" h="1270000">
                  <a:moveTo>
                    <a:pt x="73731" y="1193799"/>
                  </a:moveTo>
                  <a:lnTo>
                    <a:pt x="39838" y="1193799"/>
                  </a:lnTo>
                  <a:lnTo>
                    <a:pt x="45558" y="1206499"/>
                  </a:lnTo>
                  <a:lnTo>
                    <a:pt x="62566" y="1206499"/>
                  </a:lnTo>
                  <a:lnTo>
                    <a:pt x="73731" y="1193799"/>
                  </a:lnTo>
                  <a:close/>
                </a:path>
                <a:path w="1267460" h="1270000">
                  <a:moveTo>
                    <a:pt x="180508" y="1193799"/>
                  </a:moveTo>
                  <a:lnTo>
                    <a:pt x="141532" y="1193799"/>
                  </a:lnTo>
                  <a:lnTo>
                    <a:pt x="143883" y="1206499"/>
                  </a:lnTo>
                  <a:lnTo>
                    <a:pt x="179556" y="1206499"/>
                  </a:lnTo>
                  <a:lnTo>
                    <a:pt x="180508" y="1193799"/>
                  </a:lnTo>
                  <a:close/>
                </a:path>
                <a:path w="1267460" h="1270000">
                  <a:moveTo>
                    <a:pt x="162063" y="1155699"/>
                  </a:moveTo>
                  <a:lnTo>
                    <a:pt x="842" y="1155699"/>
                  </a:lnTo>
                  <a:lnTo>
                    <a:pt x="5891" y="1168399"/>
                  </a:lnTo>
                  <a:lnTo>
                    <a:pt x="10415" y="1181099"/>
                  </a:lnTo>
                  <a:lnTo>
                    <a:pt x="22616" y="1193799"/>
                  </a:lnTo>
                  <a:lnTo>
                    <a:pt x="95011" y="1193799"/>
                  </a:lnTo>
                  <a:lnTo>
                    <a:pt x="104912" y="1181099"/>
                  </a:lnTo>
                  <a:lnTo>
                    <a:pt x="176889" y="1181099"/>
                  </a:lnTo>
                  <a:lnTo>
                    <a:pt x="174426" y="1168399"/>
                  </a:lnTo>
                  <a:lnTo>
                    <a:pt x="167013" y="1168399"/>
                  </a:lnTo>
                  <a:lnTo>
                    <a:pt x="162063" y="1155699"/>
                  </a:lnTo>
                  <a:close/>
                </a:path>
                <a:path w="1267460" h="1270000">
                  <a:moveTo>
                    <a:pt x="176889" y="1181099"/>
                  </a:moveTo>
                  <a:lnTo>
                    <a:pt x="133889" y="1181099"/>
                  </a:lnTo>
                  <a:lnTo>
                    <a:pt x="139621" y="1193799"/>
                  </a:lnTo>
                  <a:lnTo>
                    <a:pt x="179619" y="1193799"/>
                  </a:lnTo>
                  <a:lnTo>
                    <a:pt x="176889" y="1181099"/>
                  </a:lnTo>
                  <a:close/>
                </a:path>
                <a:path w="1267460" h="1270000">
                  <a:moveTo>
                    <a:pt x="36114" y="1130299"/>
                  </a:moveTo>
                  <a:lnTo>
                    <a:pt x="1682" y="1130299"/>
                  </a:lnTo>
                  <a:lnTo>
                    <a:pt x="0" y="1155699"/>
                  </a:lnTo>
                  <a:lnTo>
                    <a:pt x="38305" y="1155699"/>
                  </a:lnTo>
                  <a:lnTo>
                    <a:pt x="36132" y="1142999"/>
                  </a:lnTo>
                  <a:lnTo>
                    <a:pt x="35694" y="1142999"/>
                  </a:lnTo>
                  <a:lnTo>
                    <a:pt x="36114" y="1130299"/>
                  </a:lnTo>
                  <a:close/>
                </a:path>
                <a:path w="1267460" h="1270000">
                  <a:moveTo>
                    <a:pt x="150999" y="1142999"/>
                  </a:moveTo>
                  <a:lnTo>
                    <a:pt x="99905" y="1142999"/>
                  </a:lnTo>
                  <a:lnTo>
                    <a:pt x="89230" y="1155699"/>
                  </a:lnTo>
                  <a:lnTo>
                    <a:pt x="156593" y="1155699"/>
                  </a:lnTo>
                  <a:lnTo>
                    <a:pt x="150999" y="1142999"/>
                  </a:lnTo>
                  <a:close/>
                </a:path>
                <a:path w="1267460" h="1270000">
                  <a:moveTo>
                    <a:pt x="195775" y="1041400"/>
                  </a:moveTo>
                  <a:lnTo>
                    <a:pt x="103643" y="1041400"/>
                  </a:lnTo>
                  <a:lnTo>
                    <a:pt x="103413" y="1054099"/>
                  </a:lnTo>
                  <a:lnTo>
                    <a:pt x="104206" y="1054099"/>
                  </a:lnTo>
                  <a:lnTo>
                    <a:pt x="125909" y="1066799"/>
                  </a:lnTo>
                  <a:lnTo>
                    <a:pt x="113934" y="1079499"/>
                  </a:lnTo>
                  <a:lnTo>
                    <a:pt x="113489" y="1079499"/>
                  </a:lnTo>
                  <a:lnTo>
                    <a:pt x="113130" y="1092199"/>
                  </a:lnTo>
                  <a:lnTo>
                    <a:pt x="147460" y="1092199"/>
                  </a:lnTo>
                  <a:lnTo>
                    <a:pt x="201321" y="1142999"/>
                  </a:lnTo>
                  <a:lnTo>
                    <a:pt x="206900" y="1155699"/>
                  </a:lnTo>
                  <a:lnTo>
                    <a:pt x="254527" y="1155699"/>
                  </a:lnTo>
                  <a:lnTo>
                    <a:pt x="261758" y="1142999"/>
                  </a:lnTo>
                  <a:lnTo>
                    <a:pt x="267045" y="1142999"/>
                  </a:lnTo>
                  <a:lnTo>
                    <a:pt x="268537" y="1130299"/>
                  </a:lnTo>
                  <a:lnTo>
                    <a:pt x="273786" y="1130299"/>
                  </a:lnTo>
                  <a:lnTo>
                    <a:pt x="273719" y="1117599"/>
                  </a:lnTo>
                  <a:lnTo>
                    <a:pt x="223208" y="1117599"/>
                  </a:lnTo>
                  <a:lnTo>
                    <a:pt x="173970" y="1066799"/>
                  </a:lnTo>
                  <a:lnTo>
                    <a:pt x="195775" y="1041400"/>
                  </a:lnTo>
                  <a:close/>
                </a:path>
                <a:path w="1267460" h="1270000">
                  <a:moveTo>
                    <a:pt x="84538" y="1092199"/>
                  </a:moveTo>
                  <a:lnTo>
                    <a:pt x="26569" y="1092199"/>
                  </a:lnTo>
                  <a:lnTo>
                    <a:pt x="17104" y="1104899"/>
                  </a:lnTo>
                  <a:lnTo>
                    <a:pt x="12002" y="1117599"/>
                  </a:lnTo>
                  <a:lnTo>
                    <a:pt x="4081" y="1130299"/>
                  </a:lnTo>
                  <a:lnTo>
                    <a:pt x="42259" y="1130299"/>
                  </a:lnTo>
                  <a:lnTo>
                    <a:pt x="49140" y="1117599"/>
                  </a:lnTo>
                  <a:lnTo>
                    <a:pt x="53158" y="1117599"/>
                  </a:lnTo>
                  <a:lnTo>
                    <a:pt x="61509" y="1104899"/>
                  </a:lnTo>
                  <a:lnTo>
                    <a:pt x="84783" y="1104899"/>
                  </a:lnTo>
                  <a:lnTo>
                    <a:pt x="84538" y="1092199"/>
                  </a:lnTo>
                  <a:close/>
                </a:path>
                <a:path w="1267460" h="1270000">
                  <a:moveTo>
                    <a:pt x="265286" y="1104899"/>
                  </a:moveTo>
                  <a:lnTo>
                    <a:pt x="248766" y="1104899"/>
                  </a:lnTo>
                  <a:lnTo>
                    <a:pt x="247017" y="1117599"/>
                  </a:lnTo>
                  <a:lnTo>
                    <a:pt x="268371" y="1117599"/>
                  </a:lnTo>
                  <a:lnTo>
                    <a:pt x="265286" y="1104899"/>
                  </a:lnTo>
                  <a:close/>
                </a:path>
                <a:path w="1267460" h="1270000">
                  <a:moveTo>
                    <a:pt x="147460" y="1092199"/>
                  </a:moveTo>
                  <a:lnTo>
                    <a:pt x="119123" y="1092199"/>
                  </a:lnTo>
                  <a:lnTo>
                    <a:pt x="125040" y="1104899"/>
                  </a:lnTo>
                  <a:lnTo>
                    <a:pt x="134741" y="1104899"/>
                  </a:lnTo>
                  <a:lnTo>
                    <a:pt x="147460" y="1092199"/>
                  </a:lnTo>
                  <a:close/>
                </a:path>
                <a:path w="1267460" h="1270000">
                  <a:moveTo>
                    <a:pt x="74117" y="1079499"/>
                  </a:moveTo>
                  <a:lnTo>
                    <a:pt x="48449" y="1079499"/>
                  </a:lnTo>
                  <a:lnTo>
                    <a:pt x="41156" y="1092199"/>
                  </a:lnTo>
                  <a:lnTo>
                    <a:pt x="77971" y="1092199"/>
                  </a:lnTo>
                  <a:lnTo>
                    <a:pt x="74117" y="1079499"/>
                  </a:lnTo>
                  <a:close/>
                </a:path>
                <a:path w="1267460" h="1270000">
                  <a:moveTo>
                    <a:pt x="292145" y="1054099"/>
                  </a:moveTo>
                  <a:lnTo>
                    <a:pt x="250271" y="1054099"/>
                  </a:lnTo>
                  <a:lnTo>
                    <a:pt x="254064" y="1066799"/>
                  </a:lnTo>
                  <a:lnTo>
                    <a:pt x="257749" y="1079499"/>
                  </a:lnTo>
                  <a:lnTo>
                    <a:pt x="268269" y="1092199"/>
                  </a:lnTo>
                  <a:lnTo>
                    <a:pt x="317705" y="1092199"/>
                  </a:lnTo>
                  <a:lnTo>
                    <a:pt x="322927" y="1079499"/>
                  </a:lnTo>
                  <a:lnTo>
                    <a:pt x="333933" y="1066799"/>
                  </a:lnTo>
                  <a:lnTo>
                    <a:pt x="296477" y="1066799"/>
                  </a:lnTo>
                  <a:lnTo>
                    <a:pt x="292145" y="1054099"/>
                  </a:lnTo>
                  <a:close/>
                </a:path>
                <a:path w="1267460" h="1270000">
                  <a:moveTo>
                    <a:pt x="344749" y="1041400"/>
                  </a:moveTo>
                  <a:lnTo>
                    <a:pt x="321108" y="1041400"/>
                  </a:lnTo>
                  <a:lnTo>
                    <a:pt x="318640" y="1054099"/>
                  </a:lnTo>
                  <a:lnTo>
                    <a:pt x="305943" y="1054099"/>
                  </a:lnTo>
                  <a:lnTo>
                    <a:pt x="296477" y="1066799"/>
                  </a:lnTo>
                  <a:lnTo>
                    <a:pt x="338272" y="1066799"/>
                  </a:lnTo>
                  <a:lnTo>
                    <a:pt x="343568" y="1054099"/>
                  </a:lnTo>
                  <a:lnTo>
                    <a:pt x="344749" y="1041400"/>
                  </a:lnTo>
                  <a:close/>
                </a:path>
                <a:path w="1267460" h="1270000">
                  <a:moveTo>
                    <a:pt x="285078" y="1028700"/>
                  </a:moveTo>
                  <a:lnTo>
                    <a:pt x="256669" y="1028700"/>
                  </a:lnTo>
                  <a:lnTo>
                    <a:pt x="253344" y="1041400"/>
                  </a:lnTo>
                  <a:lnTo>
                    <a:pt x="250126" y="1054099"/>
                  </a:lnTo>
                  <a:lnTo>
                    <a:pt x="284285" y="1054099"/>
                  </a:lnTo>
                  <a:lnTo>
                    <a:pt x="282459" y="1041400"/>
                  </a:lnTo>
                  <a:lnTo>
                    <a:pt x="283573" y="1041400"/>
                  </a:lnTo>
                  <a:lnTo>
                    <a:pt x="285078" y="1028700"/>
                  </a:lnTo>
                  <a:close/>
                </a:path>
                <a:path w="1267460" h="1270000">
                  <a:moveTo>
                    <a:pt x="130714" y="1028700"/>
                  </a:moveTo>
                  <a:lnTo>
                    <a:pt x="116283" y="1028700"/>
                  </a:lnTo>
                  <a:lnTo>
                    <a:pt x="111142" y="1041400"/>
                  </a:lnTo>
                  <a:lnTo>
                    <a:pt x="152419" y="1041400"/>
                  </a:lnTo>
                  <a:lnTo>
                    <a:pt x="130714" y="1028700"/>
                  </a:lnTo>
                  <a:close/>
                </a:path>
                <a:path w="1267460" h="1270000">
                  <a:moveTo>
                    <a:pt x="185722" y="1028700"/>
                  </a:moveTo>
                  <a:lnTo>
                    <a:pt x="173489" y="1028700"/>
                  </a:lnTo>
                  <a:lnTo>
                    <a:pt x="152419" y="1041400"/>
                  </a:lnTo>
                  <a:lnTo>
                    <a:pt x="191637" y="1041400"/>
                  </a:lnTo>
                  <a:lnTo>
                    <a:pt x="185722" y="1028700"/>
                  </a:lnTo>
                  <a:close/>
                </a:path>
                <a:path w="1267460" h="1270000">
                  <a:moveTo>
                    <a:pt x="369660" y="1028700"/>
                  </a:moveTo>
                  <a:lnTo>
                    <a:pt x="323954" y="1028700"/>
                  </a:lnTo>
                  <a:lnTo>
                    <a:pt x="323555" y="1041400"/>
                  </a:lnTo>
                  <a:lnTo>
                    <a:pt x="363536" y="1041400"/>
                  </a:lnTo>
                  <a:lnTo>
                    <a:pt x="369660" y="1028700"/>
                  </a:lnTo>
                  <a:close/>
                </a:path>
                <a:path w="1267460" h="1270000">
                  <a:moveTo>
                    <a:pt x="231025" y="1016000"/>
                  </a:moveTo>
                  <a:lnTo>
                    <a:pt x="213612" y="1016000"/>
                  </a:lnTo>
                  <a:lnTo>
                    <a:pt x="215187" y="1028700"/>
                  </a:lnTo>
                  <a:lnTo>
                    <a:pt x="229420" y="1028700"/>
                  </a:lnTo>
                  <a:lnTo>
                    <a:pt x="231025" y="1016000"/>
                  </a:lnTo>
                  <a:close/>
                </a:path>
                <a:path w="1267460" h="1270000">
                  <a:moveTo>
                    <a:pt x="307527" y="1003300"/>
                  </a:moveTo>
                  <a:lnTo>
                    <a:pt x="275843" y="1003300"/>
                  </a:lnTo>
                  <a:lnTo>
                    <a:pt x="270515" y="1016000"/>
                  </a:lnTo>
                  <a:lnTo>
                    <a:pt x="265805" y="1016000"/>
                  </a:lnTo>
                  <a:lnTo>
                    <a:pt x="261713" y="1028700"/>
                  </a:lnTo>
                  <a:lnTo>
                    <a:pt x="289839" y="1028700"/>
                  </a:lnTo>
                  <a:lnTo>
                    <a:pt x="293166" y="1016000"/>
                  </a:lnTo>
                  <a:lnTo>
                    <a:pt x="307527" y="1003300"/>
                  </a:lnTo>
                  <a:close/>
                </a:path>
                <a:path w="1267460" h="1270000">
                  <a:moveTo>
                    <a:pt x="310741" y="952500"/>
                  </a:moveTo>
                  <a:lnTo>
                    <a:pt x="237687" y="952500"/>
                  </a:lnTo>
                  <a:lnTo>
                    <a:pt x="232228" y="965200"/>
                  </a:lnTo>
                  <a:lnTo>
                    <a:pt x="224409" y="965200"/>
                  </a:lnTo>
                  <a:lnTo>
                    <a:pt x="217953" y="977900"/>
                  </a:lnTo>
                  <a:lnTo>
                    <a:pt x="282296" y="977900"/>
                  </a:lnTo>
                  <a:lnTo>
                    <a:pt x="290932" y="990600"/>
                  </a:lnTo>
                  <a:lnTo>
                    <a:pt x="281790" y="1003300"/>
                  </a:lnTo>
                  <a:lnTo>
                    <a:pt x="307527" y="1003300"/>
                  </a:lnTo>
                  <a:lnTo>
                    <a:pt x="323527" y="1028700"/>
                  </a:lnTo>
                  <a:lnTo>
                    <a:pt x="375296" y="1028700"/>
                  </a:lnTo>
                  <a:lnTo>
                    <a:pt x="374878" y="1016000"/>
                  </a:lnTo>
                  <a:lnTo>
                    <a:pt x="310741" y="952500"/>
                  </a:lnTo>
                  <a:close/>
                </a:path>
                <a:path w="1267460" h="1270000">
                  <a:moveTo>
                    <a:pt x="235094" y="1003300"/>
                  </a:moveTo>
                  <a:lnTo>
                    <a:pt x="205934" y="1003300"/>
                  </a:lnTo>
                  <a:lnTo>
                    <a:pt x="205999" y="1016000"/>
                  </a:lnTo>
                  <a:lnTo>
                    <a:pt x="232161" y="1016000"/>
                  </a:lnTo>
                  <a:lnTo>
                    <a:pt x="235094" y="1003300"/>
                  </a:lnTo>
                  <a:close/>
                </a:path>
                <a:path w="1267460" h="1270000">
                  <a:moveTo>
                    <a:pt x="242039" y="990600"/>
                  </a:moveTo>
                  <a:lnTo>
                    <a:pt x="208991" y="990600"/>
                  </a:lnTo>
                  <a:lnTo>
                    <a:pt x="206532" y="1003300"/>
                  </a:lnTo>
                  <a:lnTo>
                    <a:pt x="237070" y="1003300"/>
                  </a:lnTo>
                  <a:lnTo>
                    <a:pt x="242039" y="990600"/>
                  </a:lnTo>
                  <a:close/>
                </a:path>
                <a:path w="1267460" h="1270000">
                  <a:moveTo>
                    <a:pt x="253262" y="977900"/>
                  </a:moveTo>
                  <a:lnTo>
                    <a:pt x="215218" y="977900"/>
                  </a:lnTo>
                  <a:lnTo>
                    <a:pt x="210727" y="990600"/>
                  </a:lnTo>
                  <a:lnTo>
                    <a:pt x="245487" y="990600"/>
                  </a:lnTo>
                  <a:lnTo>
                    <a:pt x="253262" y="977900"/>
                  </a:lnTo>
                  <a:close/>
                </a:path>
                <a:path w="1267460" h="1270000">
                  <a:moveTo>
                    <a:pt x="364116" y="901700"/>
                  </a:moveTo>
                  <a:lnTo>
                    <a:pt x="305360" y="901700"/>
                  </a:lnTo>
                  <a:lnTo>
                    <a:pt x="400714" y="990600"/>
                  </a:lnTo>
                  <a:lnTo>
                    <a:pt x="414883" y="990600"/>
                  </a:lnTo>
                  <a:lnTo>
                    <a:pt x="420074" y="977900"/>
                  </a:lnTo>
                  <a:lnTo>
                    <a:pt x="427559" y="977900"/>
                  </a:lnTo>
                  <a:lnTo>
                    <a:pt x="427838" y="965200"/>
                  </a:lnTo>
                  <a:lnTo>
                    <a:pt x="427225" y="965200"/>
                  </a:lnTo>
                  <a:lnTo>
                    <a:pt x="364116" y="901700"/>
                  </a:lnTo>
                  <a:close/>
                </a:path>
                <a:path w="1267460" h="1270000">
                  <a:moveTo>
                    <a:pt x="285445" y="939800"/>
                  </a:moveTo>
                  <a:lnTo>
                    <a:pt x="253274" y="939800"/>
                  </a:lnTo>
                  <a:lnTo>
                    <a:pt x="248210" y="952500"/>
                  </a:lnTo>
                  <a:lnTo>
                    <a:pt x="297935" y="952500"/>
                  </a:lnTo>
                  <a:lnTo>
                    <a:pt x="285445" y="939800"/>
                  </a:lnTo>
                  <a:close/>
                </a:path>
                <a:path w="1267460" h="1270000">
                  <a:moveTo>
                    <a:pt x="406379" y="825500"/>
                  </a:moveTo>
                  <a:lnTo>
                    <a:pt x="368189" y="825500"/>
                  </a:lnTo>
                  <a:lnTo>
                    <a:pt x="361751" y="838200"/>
                  </a:lnTo>
                  <a:lnTo>
                    <a:pt x="349543" y="850900"/>
                  </a:lnTo>
                  <a:lnTo>
                    <a:pt x="345347" y="850900"/>
                  </a:lnTo>
                  <a:lnTo>
                    <a:pt x="342778" y="863600"/>
                  </a:lnTo>
                  <a:lnTo>
                    <a:pt x="401123" y="863600"/>
                  </a:lnTo>
                  <a:lnTo>
                    <a:pt x="405033" y="876300"/>
                  </a:lnTo>
                  <a:lnTo>
                    <a:pt x="463864" y="927100"/>
                  </a:lnTo>
                  <a:lnTo>
                    <a:pt x="478076" y="927100"/>
                  </a:lnTo>
                  <a:lnTo>
                    <a:pt x="483217" y="914400"/>
                  </a:lnTo>
                  <a:lnTo>
                    <a:pt x="490720" y="914400"/>
                  </a:lnTo>
                  <a:lnTo>
                    <a:pt x="490985" y="901700"/>
                  </a:lnTo>
                  <a:lnTo>
                    <a:pt x="490373" y="901700"/>
                  </a:lnTo>
                  <a:lnTo>
                    <a:pt x="431676" y="850900"/>
                  </a:lnTo>
                  <a:lnTo>
                    <a:pt x="424870" y="838200"/>
                  </a:lnTo>
                  <a:lnTo>
                    <a:pt x="418449" y="838200"/>
                  </a:lnTo>
                  <a:lnTo>
                    <a:pt x="406379" y="825500"/>
                  </a:lnTo>
                  <a:close/>
                </a:path>
                <a:path w="1267460" h="1270000">
                  <a:moveTo>
                    <a:pt x="365061" y="876300"/>
                  </a:moveTo>
                  <a:lnTo>
                    <a:pt x="339503" y="876300"/>
                  </a:lnTo>
                  <a:lnTo>
                    <a:pt x="339526" y="889000"/>
                  </a:lnTo>
                  <a:lnTo>
                    <a:pt x="305882" y="889000"/>
                  </a:lnTo>
                  <a:lnTo>
                    <a:pt x="304760" y="901700"/>
                  </a:lnTo>
                  <a:lnTo>
                    <a:pt x="363123" y="901700"/>
                  </a:lnTo>
                  <a:lnTo>
                    <a:pt x="363114" y="889000"/>
                  </a:lnTo>
                  <a:lnTo>
                    <a:pt x="365061" y="876300"/>
                  </a:lnTo>
                  <a:close/>
                </a:path>
                <a:path w="1267460" h="1270000">
                  <a:moveTo>
                    <a:pt x="327976" y="876300"/>
                  </a:moveTo>
                  <a:lnTo>
                    <a:pt x="315455" y="876300"/>
                  </a:lnTo>
                  <a:lnTo>
                    <a:pt x="311035" y="889000"/>
                  </a:lnTo>
                  <a:lnTo>
                    <a:pt x="339526" y="889000"/>
                  </a:lnTo>
                  <a:lnTo>
                    <a:pt x="327976" y="876300"/>
                  </a:lnTo>
                  <a:close/>
                </a:path>
                <a:path w="1267460" h="1270000">
                  <a:moveTo>
                    <a:pt x="373246" y="863600"/>
                  </a:moveTo>
                  <a:lnTo>
                    <a:pt x="341129" y="863600"/>
                  </a:lnTo>
                  <a:lnTo>
                    <a:pt x="340037" y="876300"/>
                  </a:lnTo>
                  <a:lnTo>
                    <a:pt x="367228" y="876300"/>
                  </a:lnTo>
                  <a:lnTo>
                    <a:pt x="373246" y="863600"/>
                  </a:lnTo>
                  <a:close/>
                </a:path>
                <a:path w="1267460" h="1270000">
                  <a:moveTo>
                    <a:pt x="549952" y="850900"/>
                  </a:moveTo>
                  <a:lnTo>
                    <a:pt x="486501" y="850900"/>
                  </a:lnTo>
                  <a:lnTo>
                    <a:pt x="494181" y="863600"/>
                  </a:lnTo>
                  <a:lnTo>
                    <a:pt x="544425" y="863600"/>
                  </a:lnTo>
                  <a:lnTo>
                    <a:pt x="549952" y="850900"/>
                  </a:lnTo>
                  <a:close/>
                </a:path>
                <a:path w="1267460" h="1270000">
                  <a:moveTo>
                    <a:pt x="563544" y="838200"/>
                  </a:moveTo>
                  <a:lnTo>
                    <a:pt x="469842" y="838200"/>
                  </a:lnTo>
                  <a:lnTo>
                    <a:pt x="475257" y="850900"/>
                  </a:lnTo>
                  <a:lnTo>
                    <a:pt x="559837" y="850900"/>
                  </a:lnTo>
                  <a:lnTo>
                    <a:pt x="563544" y="838200"/>
                  </a:lnTo>
                  <a:close/>
                </a:path>
                <a:path w="1267460" h="1270000">
                  <a:moveTo>
                    <a:pt x="568692" y="825500"/>
                  </a:moveTo>
                  <a:lnTo>
                    <a:pt x="458634" y="825500"/>
                  </a:lnTo>
                  <a:lnTo>
                    <a:pt x="464567" y="838200"/>
                  </a:lnTo>
                  <a:lnTo>
                    <a:pt x="566496" y="838200"/>
                  </a:lnTo>
                  <a:lnTo>
                    <a:pt x="568692" y="825500"/>
                  </a:lnTo>
                  <a:close/>
                </a:path>
                <a:path w="1267460" h="1270000">
                  <a:moveTo>
                    <a:pt x="497784" y="812800"/>
                  </a:moveTo>
                  <a:lnTo>
                    <a:pt x="448721" y="812800"/>
                  </a:lnTo>
                  <a:lnTo>
                    <a:pt x="453352" y="825500"/>
                  </a:lnTo>
                  <a:lnTo>
                    <a:pt x="506478" y="825500"/>
                  </a:lnTo>
                  <a:lnTo>
                    <a:pt x="497784" y="812800"/>
                  </a:lnTo>
                  <a:close/>
                </a:path>
                <a:path w="1267460" h="1270000">
                  <a:moveTo>
                    <a:pt x="571287" y="812800"/>
                  </a:moveTo>
                  <a:lnTo>
                    <a:pt x="542922" y="812800"/>
                  </a:lnTo>
                  <a:lnTo>
                    <a:pt x="541412" y="825500"/>
                  </a:lnTo>
                  <a:lnTo>
                    <a:pt x="570249" y="825500"/>
                  </a:lnTo>
                  <a:lnTo>
                    <a:pt x="571287" y="812800"/>
                  </a:lnTo>
                  <a:close/>
                </a:path>
                <a:path w="1267460" h="1270000">
                  <a:moveTo>
                    <a:pt x="486004" y="800100"/>
                  </a:moveTo>
                  <a:lnTo>
                    <a:pt x="438786" y="800100"/>
                  </a:lnTo>
                  <a:lnTo>
                    <a:pt x="441425" y="812800"/>
                  </a:lnTo>
                  <a:lnTo>
                    <a:pt x="493646" y="812800"/>
                  </a:lnTo>
                  <a:lnTo>
                    <a:pt x="486004" y="800100"/>
                  </a:lnTo>
                  <a:close/>
                </a:path>
                <a:path w="1267460" h="1270000">
                  <a:moveTo>
                    <a:pt x="571804" y="800100"/>
                  </a:moveTo>
                  <a:lnTo>
                    <a:pt x="547401" y="800100"/>
                  </a:lnTo>
                  <a:lnTo>
                    <a:pt x="546206" y="812800"/>
                  </a:lnTo>
                  <a:lnTo>
                    <a:pt x="571805" y="812800"/>
                  </a:lnTo>
                  <a:lnTo>
                    <a:pt x="571804" y="800100"/>
                  </a:lnTo>
                  <a:close/>
                </a:path>
                <a:path w="1267460" h="1270000">
                  <a:moveTo>
                    <a:pt x="599954" y="800100"/>
                  </a:moveTo>
                  <a:lnTo>
                    <a:pt x="571804" y="800100"/>
                  </a:lnTo>
                  <a:lnTo>
                    <a:pt x="583039" y="812800"/>
                  </a:lnTo>
                  <a:lnTo>
                    <a:pt x="595604" y="812800"/>
                  </a:lnTo>
                  <a:lnTo>
                    <a:pt x="599954" y="800100"/>
                  </a:lnTo>
                  <a:close/>
                </a:path>
                <a:path w="1267460" h="1270000">
                  <a:moveTo>
                    <a:pt x="472323" y="774700"/>
                  </a:moveTo>
                  <a:lnTo>
                    <a:pt x="434280" y="774700"/>
                  </a:lnTo>
                  <a:lnTo>
                    <a:pt x="436824" y="800100"/>
                  </a:lnTo>
                  <a:lnTo>
                    <a:pt x="482744" y="800100"/>
                  </a:lnTo>
                  <a:lnTo>
                    <a:pt x="477139" y="787400"/>
                  </a:lnTo>
                  <a:lnTo>
                    <a:pt x="475054" y="787400"/>
                  </a:lnTo>
                  <a:lnTo>
                    <a:pt x="472323" y="774700"/>
                  </a:lnTo>
                  <a:close/>
                </a:path>
                <a:path w="1267460" h="1270000">
                  <a:moveTo>
                    <a:pt x="606124" y="787400"/>
                  </a:moveTo>
                  <a:lnTo>
                    <a:pt x="547621" y="787400"/>
                  </a:lnTo>
                  <a:lnTo>
                    <a:pt x="547684" y="800100"/>
                  </a:lnTo>
                  <a:lnTo>
                    <a:pt x="605141" y="800100"/>
                  </a:lnTo>
                  <a:lnTo>
                    <a:pt x="606124" y="787400"/>
                  </a:lnTo>
                  <a:close/>
                </a:path>
                <a:path w="1267460" h="1270000">
                  <a:moveTo>
                    <a:pt x="466642" y="647700"/>
                  </a:moveTo>
                  <a:lnTo>
                    <a:pt x="457596" y="647700"/>
                  </a:lnTo>
                  <a:lnTo>
                    <a:pt x="453811" y="660400"/>
                  </a:lnTo>
                  <a:lnTo>
                    <a:pt x="444342" y="660400"/>
                  </a:lnTo>
                  <a:lnTo>
                    <a:pt x="441397" y="673100"/>
                  </a:lnTo>
                  <a:lnTo>
                    <a:pt x="439643" y="673100"/>
                  </a:lnTo>
                  <a:lnTo>
                    <a:pt x="491121" y="723900"/>
                  </a:lnTo>
                  <a:lnTo>
                    <a:pt x="475390" y="723900"/>
                  </a:lnTo>
                  <a:lnTo>
                    <a:pt x="462550" y="736600"/>
                  </a:lnTo>
                  <a:lnTo>
                    <a:pt x="451446" y="736600"/>
                  </a:lnTo>
                  <a:lnTo>
                    <a:pt x="446827" y="749300"/>
                  </a:lnTo>
                  <a:lnTo>
                    <a:pt x="515630" y="749300"/>
                  </a:lnTo>
                  <a:lnTo>
                    <a:pt x="546766" y="787400"/>
                  </a:lnTo>
                  <a:lnTo>
                    <a:pt x="605455" y="787400"/>
                  </a:lnTo>
                  <a:lnTo>
                    <a:pt x="466642" y="647700"/>
                  </a:lnTo>
                  <a:close/>
                </a:path>
                <a:path w="1267460" h="1270000">
                  <a:moveTo>
                    <a:pt x="473575" y="762000"/>
                  </a:moveTo>
                  <a:lnTo>
                    <a:pt x="437548" y="762000"/>
                  </a:lnTo>
                  <a:lnTo>
                    <a:pt x="434949" y="774700"/>
                  </a:lnTo>
                  <a:lnTo>
                    <a:pt x="472027" y="774700"/>
                  </a:lnTo>
                  <a:lnTo>
                    <a:pt x="473575" y="762000"/>
                  </a:lnTo>
                  <a:close/>
                </a:path>
                <a:path w="1267460" h="1270000">
                  <a:moveTo>
                    <a:pt x="487805" y="749300"/>
                  </a:moveTo>
                  <a:lnTo>
                    <a:pt x="442971" y="749300"/>
                  </a:lnTo>
                  <a:lnTo>
                    <a:pt x="439878" y="762000"/>
                  </a:lnTo>
                  <a:lnTo>
                    <a:pt x="482911" y="762000"/>
                  </a:lnTo>
                  <a:lnTo>
                    <a:pt x="487805" y="749300"/>
                  </a:lnTo>
                  <a:close/>
                </a:path>
                <a:path w="1267460" h="1270000">
                  <a:moveTo>
                    <a:pt x="644476" y="749300"/>
                  </a:moveTo>
                  <a:lnTo>
                    <a:pt x="611237" y="749300"/>
                  </a:lnTo>
                  <a:lnTo>
                    <a:pt x="622179" y="762000"/>
                  </a:lnTo>
                  <a:lnTo>
                    <a:pt x="638937" y="762000"/>
                  </a:lnTo>
                  <a:lnTo>
                    <a:pt x="644476" y="749300"/>
                  </a:lnTo>
                  <a:close/>
                </a:path>
                <a:path w="1267460" h="1270000">
                  <a:moveTo>
                    <a:pt x="620022" y="698500"/>
                  </a:moveTo>
                  <a:lnTo>
                    <a:pt x="591050" y="698500"/>
                  </a:lnTo>
                  <a:lnTo>
                    <a:pt x="587833" y="711200"/>
                  </a:lnTo>
                  <a:lnTo>
                    <a:pt x="587978" y="723900"/>
                  </a:lnTo>
                  <a:lnTo>
                    <a:pt x="591771" y="736600"/>
                  </a:lnTo>
                  <a:lnTo>
                    <a:pt x="595456" y="736600"/>
                  </a:lnTo>
                  <a:lnTo>
                    <a:pt x="605976" y="749300"/>
                  </a:lnTo>
                  <a:lnTo>
                    <a:pt x="660634" y="749300"/>
                  </a:lnTo>
                  <a:lnTo>
                    <a:pt x="671640" y="736600"/>
                  </a:lnTo>
                  <a:lnTo>
                    <a:pt x="675977" y="723900"/>
                  </a:lnTo>
                  <a:lnTo>
                    <a:pt x="629852" y="723900"/>
                  </a:lnTo>
                  <a:lnTo>
                    <a:pt x="623606" y="711200"/>
                  </a:lnTo>
                  <a:lnTo>
                    <a:pt x="620165" y="711200"/>
                  </a:lnTo>
                  <a:lnTo>
                    <a:pt x="620022" y="698500"/>
                  </a:lnTo>
                  <a:close/>
                </a:path>
                <a:path w="1267460" h="1270000">
                  <a:moveTo>
                    <a:pt x="681273" y="711200"/>
                  </a:moveTo>
                  <a:lnTo>
                    <a:pt x="656346" y="711200"/>
                  </a:lnTo>
                  <a:lnTo>
                    <a:pt x="648221" y="723900"/>
                  </a:lnTo>
                  <a:lnTo>
                    <a:pt x="675977" y="723900"/>
                  </a:lnTo>
                  <a:lnTo>
                    <a:pt x="681273" y="711200"/>
                  </a:lnTo>
                  <a:close/>
                </a:path>
                <a:path w="1267460" h="1270000">
                  <a:moveTo>
                    <a:pt x="712014" y="685800"/>
                  </a:moveTo>
                  <a:lnTo>
                    <a:pt x="661661" y="685800"/>
                  </a:lnTo>
                  <a:lnTo>
                    <a:pt x="661262" y="698500"/>
                  </a:lnTo>
                  <a:lnTo>
                    <a:pt x="658815" y="711200"/>
                  </a:lnTo>
                  <a:lnTo>
                    <a:pt x="682456" y="711200"/>
                  </a:lnTo>
                  <a:lnTo>
                    <a:pt x="682170" y="698500"/>
                  </a:lnTo>
                  <a:lnTo>
                    <a:pt x="709479" y="698500"/>
                  </a:lnTo>
                  <a:lnTo>
                    <a:pt x="712014" y="685800"/>
                  </a:lnTo>
                  <a:close/>
                </a:path>
                <a:path w="1267460" h="1270000">
                  <a:moveTo>
                    <a:pt x="698814" y="698500"/>
                  </a:moveTo>
                  <a:lnTo>
                    <a:pt x="682170" y="698500"/>
                  </a:lnTo>
                  <a:lnTo>
                    <a:pt x="690627" y="711200"/>
                  </a:lnTo>
                  <a:lnTo>
                    <a:pt x="695440" y="711200"/>
                  </a:lnTo>
                  <a:lnTo>
                    <a:pt x="698814" y="698500"/>
                  </a:lnTo>
                  <a:close/>
                </a:path>
                <a:path w="1267460" h="1270000">
                  <a:moveTo>
                    <a:pt x="645234" y="673100"/>
                  </a:moveTo>
                  <a:lnTo>
                    <a:pt x="603512" y="673100"/>
                  </a:lnTo>
                  <a:lnTo>
                    <a:pt x="599420" y="685800"/>
                  </a:lnTo>
                  <a:lnTo>
                    <a:pt x="594376" y="698500"/>
                  </a:lnTo>
                  <a:lnTo>
                    <a:pt x="622785" y="698500"/>
                  </a:lnTo>
                  <a:lnTo>
                    <a:pt x="627546" y="685800"/>
                  </a:lnTo>
                  <a:lnTo>
                    <a:pt x="630872" y="685800"/>
                  </a:lnTo>
                  <a:lnTo>
                    <a:pt x="645234" y="673100"/>
                  </a:lnTo>
                  <a:close/>
                </a:path>
                <a:path w="1267460" h="1270000">
                  <a:moveTo>
                    <a:pt x="569868" y="673100"/>
                  </a:moveTo>
                  <a:lnTo>
                    <a:pt x="545998" y="673100"/>
                  </a:lnTo>
                  <a:lnTo>
                    <a:pt x="547538" y="685800"/>
                  </a:lnTo>
                  <a:lnTo>
                    <a:pt x="568732" y="685800"/>
                  </a:lnTo>
                  <a:lnTo>
                    <a:pt x="569868" y="673100"/>
                  </a:lnTo>
                  <a:close/>
                </a:path>
                <a:path w="1267460" h="1270000">
                  <a:moveTo>
                    <a:pt x="661275" y="635000"/>
                  </a:moveTo>
                  <a:lnTo>
                    <a:pt x="617126" y="635000"/>
                  </a:lnTo>
                  <a:lnTo>
                    <a:pt x="620003" y="647700"/>
                  </a:lnTo>
                  <a:lnTo>
                    <a:pt x="628639" y="647700"/>
                  </a:lnTo>
                  <a:lnTo>
                    <a:pt x="619495" y="660400"/>
                  </a:lnTo>
                  <a:lnTo>
                    <a:pt x="613549" y="673100"/>
                  </a:lnTo>
                  <a:lnTo>
                    <a:pt x="645234" y="673100"/>
                  </a:lnTo>
                  <a:lnTo>
                    <a:pt x="661234" y="685800"/>
                  </a:lnTo>
                  <a:lnTo>
                    <a:pt x="712584" y="685800"/>
                  </a:lnTo>
                  <a:lnTo>
                    <a:pt x="661275" y="635000"/>
                  </a:lnTo>
                  <a:close/>
                </a:path>
                <a:path w="1267460" h="1270000">
                  <a:moveTo>
                    <a:pt x="574777" y="660400"/>
                  </a:moveTo>
                  <a:lnTo>
                    <a:pt x="544239" y="660400"/>
                  </a:lnTo>
                  <a:lnTo>
                    <a:pt x="543641" y="673100"/>
                  </a:lnTo>
                  <a:lnTo>
                    <a:pt x="572801" y="673100"/>
                  </a:lnTo>
                  <a:lnTo>
                    <a:pt x="574777" y="660400"/>
                  </a:lnTo>
                  <a:close/>
                </a:path>
                <a:path w="1267460" h="1270000">
                  <a:moveTo>
                    <a:pt x="583194" y="647700"/>
                  </a:moveTo>
                  <a:lnTo>
                    <a:pt x="552924" y="647700"/>
                  </a:lnTo>
                  <a:lnTo>
                    <a:pt x="548434" y="660400"/>
                  </a:lnTo>
                  <a:lnTo>
                    <a:pt x="579746" y="660400"/>
                  </a:lnTo>
                  <a:lnTo>
                    <a:pt x="583194" y="647700"/>
                  </a:lnTo>
                  <a:close/>
                </a:path>
                <a:path w="1267460" h="1270000">
                  <a:moveTo>
                    <a:pt x="703789" y="558800"/>
                  </a:moveTo>
                  <a:lnTo>
                    <a:pt x="643065" y="558800"/>
                  </a:lnTo>
                  <a:lnTo>
                    <a:pt x="738421" y="660400"/>
                  </a:lnTo>
                  <a:lnTo>
                    <a:pt x="746649" y="660400"/>
                  </a:lnTo>
                  <a:lnTo>
                    <a:pt x="750364" y="647700"/>
                  </a:lnTo>
                  <a:lnTo>
                    <a:pt x="759832" y="647700"/>
                  </a:lnTo>
                  <a:lnTo>
                    <a:pt x="762848" y="635000"/>
                  </a:lnTo>
                  <a:lnTo>
                    <a:pt x="764931" y="635000"/>
                  </a:lnTo>
                  <a:lnTo>
                    <a:pt x="705665" y="571500"/>
                  </a:lnTo>
                  <a:lnTo>
                    <a:pt x="704542" y="571500"/>
                  </a:lnTo>
                  <a:lnTo>
                    <a:pt x="703789" y="558800"/>
                  </a:lnTo>
                  <a:close/>
                </a:path>
                <a:path w="1267460" h="1270000">
                  <a:moveTo>
                    <a:pt x="641992" y="609600"/>
                  </a:moveTo>
                  <a:lnTo>
                    <a:pt x="580721" y="609600"/>
                  </a:lnTo>
                  <a:lnTo>
                    <a:pt x="575394" y="622300"/>
                  </a:lnTo>
                  <a:lnTo>
                    <a:pt x="565797" y="622300"/>
                  </a:lnTo>
                  <a:lnTo>
                    <a:pt x="562115" y="635000"/>
                  </a:lnTo>
                  <a:lnTo>
                    <a:pt x="555660" y="647700"/>
                  </a:lnTo>
                  <a:lnTo>
                    <a:pt x="590967" y="647700"/>
                  </a:lnTo>
                  <a:lnTo>
                    <a:pt x="594139" y="635000"/>
                  </a:lnTo>
                  <a:lnTo>
                    <a:pt x="661275" y="635000"/>
                  </a:lnTo>
                  <a:lnTo>
                    <a:pt x="648448" y="622300"/>
                  </a:lnTo>
                  <a:lnTo>
                    <a:pt x="641992" y="609600"/>
                  </a:lnTo>
                  <a:close/>
                </a:path>
                <a:path w="1267460" h="1270000">
                  <a:moveTo>
                    <a:pt x="623150" y="596900"/>
                  </a:moveTo>
                  <a:lnTo>
                    <a:pt x="604152" y="596900"/>
                  </a:lnTo>
                  <a:lnTo>
                    <a:pt x="597645" y="609600"/>
                  </a:lnTo>
                  <a:lnTo>
                    <a:pt x="635642" y="609600"/>
                  </a:lnTo>
                  <a:lnTo>
                    <a:pt x="623150" y="596900"/>
                  </a:lnTo>
                  <a:close/>
                </a:path>
                <a:path w="1267460" h="1270000">
                  <a:moveTo>
                    <a:pt x="837458" y="558800"/>
                  </a:moveTo>
                  <a:lnTo>
                    <a:pt x="800595" y="558800"/>
                  </a:lnTo>
                  <a:lnTo>
                    <a:pt x="816236" y="571500"/>
                  </a:lnTo>
                  <a:lnTo>
                    <a:pt x="831723" y="571500"/>
                  </a:lnTo>
                  <a:lnTo>
                    <a:pt x="837458" y="558800"/>
                  </a:lnTo>
                  <a:close/>
                </a:path>
                <a:path w="1267460" h="1270000">
                  <a:moveTo>
                    <a:pt x="702985" y="546100"/>
                  </a:moveTo>
                  <a:lnTo>
                    <a:pt x="647024" y="546100"/>
                  </a:lnTo>
                  <a:lnTo>
                    <a:pt x="644500" y="558800"/>
                  </a:lnTo>
                  <a:lnTo>
                    <a:pt x="703018" y="558800"/>
                  </a:lnTo>
                  <a:lnTo>
                    <a:pt x="702985" y="546100"/>
                  </a:lnTo>
                  <a:close/>
                </a:path>
                <a:path w="1267460" h="1270000">
                  <a:moveTo>
                    <a:pt x="854038" y="546100"/>
                  </a:moveTo>
                  <a:lnTo>
                    <a:pt x="773920" y="546100"/>
                  </a:lnTo>
                  <a:lnTo>
                    <a:pt x="779473" y="558800"/>
                  </a:lnTo>
                  <a:lnTo>
                    <a:pt x="848616" y="558800"/>
                  </a:lnTo>
                  <a:lnTo>
                    <a:pt x="854038" y="546100"/>
                  </a:lnTo>
                  <a:close/>
                </a:path>
                <a:path w="1267460" h="1270000">
                  <a:moveTo>
                    <a:pt x="665683" y="533400"/>
                  </a:moveTo>
                  <a:lnTo>
                    <a:pt x="659805" y="533400"/>
                  </a:lnTo>
                  <a:lnTo>
                    <a:pt x="658402" y="546100"/>
                  </a:lnTo>
                  <a:lnTo>
                    <a:pt x="676468" y="546100"/>
                  </a:lnTo>
                  <a:lnTo>
                    <a:pt x="676443" y="544428"/>
                  </a:lnTo>
                  <a:lnTo>
                    <a:pt x="665683" y="533400"/>
                  </a:lnTo>
                  <a:close/>
                </a:path>
                <a:path w="1267460" h="1270000">
                  <a:moveTo>
                    <a:pt x="676443" y="544428"/>
                  </a:moveTo>
                  <a:lnTo>
                    <a:pt x="676468" y="546100"/>
                  </a:lnTo>
                  <a:lnTo>
                    <a:pt x="678074" y="546100"/>
                  </a:lnTo>
                  <a:lnTo>
                    <a:pt x="676443" y="544428"/>
                  </a:lnTo>
                  <a:close/>
                </a:path>
                <a:path w="1267460" h="1270000">
                  <a:moveTo>
                    <a:pt x="705976" y="533400"/>
                  </a:moveTo>
                  <a:lnTo>
                    <a:pt x="676280" y="533400"/>
                  </a:lnTo>
                  <a:lnTo>
                    <a:pt x="676443" y="544428"/>
                  </a:lnTo>
                  <a:lnTo>
                    <a:pt x="678074" y="546100"/>
                  </a:lnTo>
                  <a:lnTo>
                    <a:pt x="704218" y="546100"/>
                  </a:lnTo>
                  <a:lnTo>
                    <a:pt x="705976" y="533400"/>
                  </a:lnTo>
                  <a:close/>
                </a:path>
                <a:path w="1267460" h="1270000">
                  <a:moveTo>
                    <a:pt x="865159" y="533400"/>
                  </a:moveTo>
                  <a:lnTo>
                    <a:pt x="763230" y="533400"/>
                  </a:lnTo>
                  <a:lnTo>
                    <a:pt x="768506" y="546100"/>
                  </a:lnTo>
                  <a:lnTo>
                    <a:pt x="862207" y="546100"/>
                  </a:lnTo>
                  <a:lnTo>
                    <a:pt x="865159" y="533400"/>
                  </a:lnTo>
                  <a:close/>
                </a:path>
                <a:path w="1267460" h="1270000">
                  <a:moveTo>
                    <a:pt x="722293" y="520700"/>
                  </a:moveTo>
                  <a:lnTo>
                    <a:pt x="677826" y="520700"/>
                  </a:lnTo>
                  <a:lnTo>
                    <a:pt x="676551" y="533400"/>
                  </a:lnTo>
                  <a:lnTo>
                    <a:pt x="721029" y="533400"/>
                  </a:lnTo>
                  <a:lnTo>
                    <a:pt x="722293" y="520700"/>
                  </a:lnTo>
                  <a:close/>
                </a:path>
                <a:path w="1267460" h="1270000">
                  <a:moveTo>
                    <a:pt x="809490" y="520700"/>
                  </a:moveTo>
                  <a:lnTo>
                    <a:pt x="752016" y="520700"/>
                  </a:lnTo>
                  <a:lnTo>
                    <a:pt x="757298" y="533400"/>
                  </a:lnTo>
                  <a:lnTo>
                    <a:pt x="818188" y="533400"/>
                  </a:lnTo>
                  <a:lnTo>
                    <a:pt x="809490" y="520700"/>
                  </a:lnTo>
                  <a:close/>
                </a:path>
                <a:path w="1267460" h="1270000">
                  <a:moveTo>
                    <a:pt x="868913" y="520700"/>
                  </a:moveTo>
                  <a:lnTo>
                    <a:pt x="834600" y="520700"/>
                  </a:lnTo>
                  <a:lnTo>
                    <a:pt x="830707" y="533400"/>
                  </a:lnTo>
                  <a:lnTo>
                    <a:pt x="867355" y="533400"/>
                  </a:lnTo>
                  <a:lnTo>
                    <a:pt x="868913" y="520700"/>
                  </a:lnTo>
                  <a:close/>
                </a:path>
                <a:path w="1267460" h="1270000">
                  <a:moveTo>
                    <a:pt x="715403" y="508000"/>
                  </a:moveTo>
                  <a:lnTo>
                    <a:pt x="681753" y="508000"/>
                  </a:lnTo>
                  <a:lnTo>
                    <a:pt x="678868" y="520700"/>
                  </a:lnTo>
                  <a:lnTo>
                    <a:pt x="717398" y="520700"/>
                  </a:lnTo>
                  <a:lnTo>
                    <a:pt x="715403" y="508000"/>
                  </a:lnTo>
                  <a:close/>
                </a:path>
                <a:path w="1267460" h="1270000">
                  <a:moveTo>
                    <a:pt x="784668" y="508000"/>
                  </a:moveTo>
                  <a:lnTo>
                    <a:pt x="743404" y="508000"/>
                  </a:lnTo>
                  <a:lnTo>
                    <a:pt x="747384" y="520700"/>
                  </a:lnTo>
                  <a:lnTo>
                    <a:pt x="792309" y="520700"/>
                  </a:lnTo>
                  <a:lnTo>
                    <a:pt x="784668" y="508000"/>
                  </a:lnTo>
                  <a:close/>
                </a:path>
                <a:path w="1267460" h="1270000">
                  <a:moveTo>
                    <a:pt x="870470" y="508000"/>
                  </a:moveTo>
                  <a:lnTo>
                    <a:pt x="844871" y="508000"/>
                  </a:lnTo>
                  <a:lnTo>
                    <a:pt x="843974" y="520700"/>
                  </a:lnTo>
                  <a:lnTo>
                    <a:pt x="869951" y="520700"/>
                  </a:lnTo>
                  <a:lnTo>
                    <a:pt x="870470" y="508000"/>
                  </a:lnTo>
                  <a:close/>
                </a:path>
                <a:path w="1267460" h="1270000">
                  <a:moveTo>
                    <a:pt x="885449" y="508000"/>
                  </a:moveTo>
                  <a:lnTo>
                    <a:pt x="882548" y="508000"/>
                  </a:lnTo>
                  <a:lnTo>
                    <a:pt x="884377" y="520700"/>
                  </a:lnTo>
                  <a:lnTo>
                    <a:pt x="885449" y="508000"/>
                  </a:lnTo>
                  <a:close/>
                </a:path>
                <a:path w="1267460" h="1270000">
                  <a:moveTo>
                    <a:pt x="702290" y="495300"/>
                  </a:moveTo>
                  <a:lnTo>
                    <a:pt x="694959" y="495300"/>
                  </a:lnTo>
                  <a:lnTo>
                    <a:pt x="693696" y="508000"/>
                  </a:lnTo>
                  <a:lnTo>
                    <a:pt x="704042" y="508000"/>
                  </a:lnTo>
                  <a:lnTo>
                    <a:pt x="702290" y="495300"/>
                  </a:lnTo>
                  <a:close/>
                </a:path>
                <a:path w="1267460" h="1270000">
                  <a:moveTo>
                    <a:pt x="775802" y="495300"/>
                  </a:moveTo>
                  <a:lnTo>
                    <a:pt x="737449" y="495300"/>
                  </a:lnTo>
                  <a:lnTo>
                    <a:pt x="740088" y="508000"/>
                  </a:lnTo>
                  <a:lnTo>
                    <a:pt x="781409" y="508000"/>
                  </a:lnTo>
                  <a:lnTo>
                    <a:pt x="775802" y="495300"/>
                  </a:lnTo>
                  <a:close/>
                </a:path>
                <a:path w="1267460" h="1270000">
                  <a:moveTo>
                    <a:pt x="902910" y="495300"/>
                  </a:moveTo>
                  <a:lnTo>
                    <a:pt x="846284" y="495300"/>
                  </a:lnTo>
                  <a:lnTo>
                    <a:pt x="846348" y="508000"/>
                  </a:lnTo>
                  <a:lnTo>
                    <a:pt x="900318" y="508000"/>
                  </a:lnTo>
                  <a:lnTo>
                    <a:pt x="902910" y="495300"/>
                  </a:lnTo>
                  <a:close/>
                </a:path>
                <a:path w="1267460" h="1270000">
                  <a:moveTo>
                    <a:pt x="772240" y="469900"/>
                  </a:moveTo>
                  <a:lnTo>
                    <a:pt x="733612" y="469900"/>
                  </a:lnTo>
                  <a:lnTo>
                    <a:pt x="732943" y="482600"/>
                  </a:lnTo>
                  <a:lnTo>
                    <a:pt x="734204" y="495300"/>
                  </a:lnTo>
                  <a:lnTo>
                    <a:pt x="773718" y="495300"/>
                  </a:lnTo>
                  <a:lnTo>
                    <a:pt x="770986" y="482600"/>
                  </a:lnTo>
                  <a:lnTo>
                    <a:pt x="770690" y="482600"/>
                  </a:lnTo>
                  <a:lnTo>
                    <a:pt x="772240" y="469900"/>
                  </a:lnTo>
                  <a:close/>
                </a:path>
                <a:path w="1267460" h="1270000">
                  <a:moveTo>
                    <a:pt x="765305" y="355600"/>
                  </a:moveTo>
                  <a:lnTo>
                    <a:pt x="750230" y="355600"/>
                  </a:lnTo>
                  <a:lnTo>
                    <a:pt x="745040" y="368300"/>
                  </a:lnTo>
                  <a:lnTo>
                    <a:pt x="737750" y="368300"/>
                  </a:lnTo>
                  <a:lnTo>
                    <a:pt x="737522" y="381000"/>
                  </a:lnTo>
                  <a:lnTo>
                    <a:pt x="738308" y="381000"/>
                  </a:lnTo>
                  <a:lnTo>
                    <a:pt x="789785" y="431800"/>
                  </a:lnTo>
                  <a:lnTo>
                    <a:pt x="761215" y="431800"/>
                  </a:lnTo>
                  <a:lnTo>
                    <a:pt x="755373" y="444500"/>
                  </a:lnTo>
                  <a:lnTo>
                    <a:pt x="745491" y="444500"/>
                  </a:lnTo>
                  <a:lnTo>
                    <a:pt x="741635" y="457200"/>
                  </a:lnTo>
                  <a:lnTo>
                    <a:pt x="814293" y="457200"/>
                  </a:lnTo>
                  <a:lnTo>
                    <a:pt x="845431" y="482600"/>
                  </a:lnTo>
                  <a:lnTo>
                    <a:pt x="845990" y="495300"/>
                  </a:lnTo>
                  <a:lnTo>
                    <a:pt x="904119" y="495300"/>
                  </a:lnTo>
                  <a:lnTo>
                    <a:pt x="765305" y="355600"/>
                  </a:lnTo>
                  <a:close/>
                </a:path>
                <a:path w="1267460" h="1270000">
                  <a:moveTo>
                    <a:pt x="781574" y="457200"/>
                  </a:moveTo>
                  <a:lnTo>
                    <a:pt x="738541" y="457200"/>
                  </a:lnTo>
                  <a:lnTo>
                    <a:pt x="736211" y="469900"/>
                  </a:lnTo>
                  <a:lnTo>
                    <a:pt x="774345" y="469900"/>
                  </a:lnTo>
                  <a:lnTo>
                    <a:pt x="781574" y="457200"/>
                  </a:lnTo>
                  <a:close/>
                </a:path>
                <a:path w="1267460" h="1270000">
                  <a:moveTo>
                    <a:pt x="869221" y="266700"/>
                  </a:moveTo>
                  <a:lnTo>
                    <a:pt x="854934" y="266700"/>
                  </a:lnTo>
                  <a:lnTo>
                    <a:pt x="852337" y="279400"/>
                  </a:lnTo>
                  <a:lnTo>
                    <a:pt x="842455" y="279400"/>
                  </a:lnTo>
                  <a:lnTo>
                    <a:pt x="838592" y="292100"/>
                  </a:lnTo>
                  <a:lnTo>
                    <a:pt x="838033" y="292100"/>
                  </a:lnTo>
                  <a:lnTo>
                    <a:pt x="841331" y="304800"/>
                  </a:lnTo>
                  <a:lnTo>
                    <a:pt x="843840" y="304800"/>
                  </a:lnTo>
                  <a:lnTo>
                    <a:pt x="1008457" y="381000"/>
                  </a:lnTo>
                  <a:lnTo>
                    <a:pt x="1025164" y="381000"/>
                  </a:lnTo>
                  <a:lnTo>
                    <a:pt x="1029235" y="368300"/>
                  </a:lnTo>
                  <a:lnTo>
                    <a:pt x="1037974" y="368300"/>
                  </a:lnTo>
                  <a:lnTo>
                    <a:pt x="1040764" y="355600"/>
                  </a:lnTo>
                  <a:lnTo>
                    <a:pt x="1048485" y="355600"/>
                  </a:lnTo>
                  <a:lnTo>
                    <a:pt x="1048137" y="342900"/>
                  </a:lnTo>
                  <a:lnTo>
                    <a:pt x="1007383" y="342900"/>
                  </a:lnTo>
                  <a:lnTo>
                    <a:pt x="869221" y="266700"/>
                  </a:lnTo>
                  <a:close/>
                </a:path>
                <a:path w="1267460" h="1270000">
                  <a:moveTo>
                    <a:pt x="966604" y="177800"/>
                  </a:moveTo>
                  <a:lnTo>
                    <a:pt x="948444" y="177800"/>
                  </a:lnTo>
                  <a:lnTo>
                    <a:pt x="941900" y="190500"/>
                  </a:lnTo>
                  <a:lnTo>
                    <a:pt x="933467" y="190500"/>
                  </a:lnTo>
                  <a:lnTo>
                    <a:pt x="933326" y="203200"/>
                  </a:lnTo>
                  <a:lnTo>
                    <a:pt x="935482" y="203200"/>
                  </a:lnTo>
                  <a:lnTo>
                    <a:pt x="1007383" y="342900"/>
                  </a:lnTo>
                  <a:lnTo>
                    <a:pt x="1046784" y="342900"/>
                  </a:lnTo>
                  <a:lnTo>
                    <a:pt x="966604" y="177800"/>
                  </a:lnTo>
                  <a:close/>
                </a:path>
                <a:path w="1267460" h="1270000">
                  <a:moveTo>
                    <a:pt x="1040776" y="114300"/>
                  </a:moveTo>
                  <a:lnTo>
                    <a:pt x="1009859" y="114300"/>
                  </a:lnTo>
                  <a:lnTo>
                    <a:pt x="1006820" y="127000"/>
                  </a:lnTo>
                  <a:lnTo>
                    <a:pt x="982187" y="152504"/>
                  </a:lnTo>
                  <a:lnTo>
                    <a:pt x="980721" y="152504"/>
                  </a:lnTo>
                  <a:lnTo>
                    <a:pt x="982489" y="165100"/>
                  </a:lnTo>
                  <a:lnTo>
                    <a:pt x="1108156" y="292100"/>
                  </a:lnTo>
                  <a:lnTo>
                    <a:pt x="1114780" y="292100"/>
                  </a:lnTo>
                  <a:lnTo>
                    <a:pt x="1116416" y="279400"/>
                  </a:lnTo>
                  <a:lnTo>
                    <a:pt x="1127575" y="279400"/>
                  </a:lnTo>
                  <a:lnTo>
                    <a:pt x="1129600" y="266700"/>
                  </a:lnTo>
                  <a:lnTo>
                    <a:pt x="1134449" y="266700"/>
                  </a:lnTo>
                  <a:lnTo>
                    <a:pt x="1022713" y="152246"/>
                  </a:lnTo>
                  <a:lnTo>
                    <a:pt x="1123328" y="152246"/>
                  </a:lnTo>
                  <a:lnTo>
                    <a:pt x="1040776" y="114300"/>
                  </a:lnTo>
                  <a:close/>
                </a:path>
                <a:path w="1267460" h="1270000">
                  <a:moveTo>
                    <a:pt x="1175090" y="215900"/>
                  </a:moveTo>
                  <a:lnTo>
                    <a:pt x="1172809" y="215900"/>
                  </a:lnTo>
                  <a:lnTo>
                    <a:pt x="1173897" y="228600"/>
                  </a:lnTo>
                  <a:lnTo>
                    <a:pt x="1175090" y="215900"/>
                  </a:lnTo>
                  <a:close/>
                </a:path>
                <a:path w="1267460" h="1270000">
                  <a:moveTo>
                    <a:pt x="1123328" y="152246"/>
                  </a:moveTo>
                  <a:lnTo>
                    <a:pt x="1022713" y="152246"/>
                  </a:lnTo>
                  <a:lnTo>
                    <a:pt x="1171825" y="215900"/>
                  </a:lnTo>
                  <a:lnTo>
                    <a:pt x="1188071" y="215900"/>
                  </a:lnTo>
                  <a:lnTo>
                    <a:pt x="1192842" y="203200"/>
                  </a:lnTo>
                  <a:lnTo>
                    <a:pt x="1200995" y="203200"/>
                  </a:lnTo>
                  <a:lnTo>
                    <a:pt x="1201065" y="190500"/>
                  </a:lnTo>
                  <a:lnTo>
                    <a:pt x="1200133" y="190500"/>
                  </a:lnTo>
                  <a:lnTo>
                    <a:pt x="1188226" y="165100"/>
                  </a:lnTo>
                  <a:lnTo>
                    <a:pt x="1151290" y="165100"/>
                  </a:lnTo>
                  <a:lnTo>
                    <a:pt x="1123328" y="152246"/>
                  </a:lnTo>
                  <a:close/>
                </a:path>
                <a:path w="1267460" h="1270000">
                  <a:moveTo>
                    <a:pt x="1144696" y="0"/>
                  </a:moveTo>
                  <a:lnTo>
                    <a:pt x="1124576" y="0"/>
                  </a:lnTo>
                  <a:lnTo>
                    <a:pt x="1101417" y="25400"/>
                  </a:lnTo>
                  <a:lnTo>
                    <a:pt x="1099395" y="25400"/>
                  </a:lnTo>
                  <a:lnTo>
                    <a:pt x="1096606" y="37689"/>
                  </a:lnTo>
                  <a:lnTo>
                    <a:pt x="1096512" y="38100"/>
                  </a:lnTo>
                  <a:lnTo>
                    <a:pt x="1095348" y="38100"/>
                  </a:lnTo>
                  <a:lnTo>
                    <a:pt x="1095733" y="50800"/>
                  </a:lnTo>
                  <a:lnTo>
                    <a:pt x="1099112" y="50800"/>
                  </a:lnTo>
                  <a:lnTo>
                    <a:pt x="1101147" y="63500"/>
                  </a:lnTo>
                  <a:lnTo>
                    <a:pt x="1151710" y="165100"/>
                  </a:lnTo>
                  <a:lnTo>
                    <a:pt x="1188226" y="165100"/>
                  </a:lnTo>
                  <a:lnTo>
                    <a:pt x="1128501" y="37689"/>
                  </a:lnTo>
                  <a:lnTo>
                    <a:pt x="1180928" y="37689"/>
                  </a:lnTo>
                  <a:lnTo>
                    <a:pt x="1144696" y="0"/>
                  </a:lnTo>
                  <a:close/>
                </a:path>
                <a:path w="1267460" h="1270000">
                  <a:moveTo>
                    <a:pt x="1180928" y="37689"/>
                  </a:moveTo>
                  <a:lnTo>
                    <a:pt x="1128501" y="37689"/>
                  </a:lnTo>
                  <a:lnTo>
                    <a:pt x="1240589" y="152504"/>
                  </a:lnTo>
                  <a:lnTo>
                    <a:pt x="1254725" y="152504"/>
                  </a:lnTo>
                  <a:lnTo>
                    <a:pt x="1259908" y="139700"/>
                  </a:lnTo>
                  <a:lnTo>
                    <a:pt x="1265981" y="139700"/>
                  </a:lnTo>
                  <a:lnTo>
                    <a:pt x="1267321" y="127000"/>
                  </a:lnTo>
                  <a:lnTo>
                    <a:pt x="1266784" y="127000"/>
                  </a:lnTo>
                  <a:lnTo>
                    <a:pt x="1180928" y="376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76651" y="5486399"/>
              <a:ext cx="128847" cy="42810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439689" y="5509300"/>
              <a:ext cx="0" cy="337185"/>
            </a:xfrm>
            <a:custGeom>
              <a:avLst/>
              <a:gdLst/>
              <a:ahLst/>
              <a:cxnLst/>
              <a:rect l="l" t="t" r="r" b="b"/>
              <a:pathLst>
                <a:path h="337185">
                  <a:moveTo>
                    <a:pt x="0" y="0"/>
                  </a:moveTo>
                  <a:lnTo>
                    <a:pt x="1" y="33675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67692" y="4298933"/>
              <a:ext cx="1200282" cy="115930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59977" y="5486399"/>
              <a:ext cx="128847" cy="42810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124924" y="5509300"/>
              <a:ext cx="0" cy="337185"/>
            </a:xfrm>
            <a:custGeom>
              <a:avLst/>
              <a:gdLst/>
              <a:ahLst/>
              <a:cxnLst/>
              <a:rect l="l" t="t" r="r" b="b"/>
              <a:pathLst>
                <a:path h="337185">
                  <a:moveTo>
                    <a:pt x="0" y="0"/>
                  </a:moveTo>
                  <a:lnTo>
                    <a:pt x="1" y="33675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64157" y="4448783"/>
              <a:ext cx="978820" cy="9652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932373" y="4993078"/>
            <a:ext cx="906144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130"/>
              </a:spcBef>
            </a:pPr>
            <a:r>
              <a:rPr sz="1800" spc="-10" dirty="0">
                <a:latin typeface="Calibri"/>
                <a:cs typeface="Calibri"/>
              </a:rPr>
              <a:t>lower overhead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6391" y="5004373"/>
            <a:ext cx="906144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130"/>
              </a:spcBef>
            </a:pPr>
            <a:r>
              <a:rPr sz="1800" spc="-10" dirty="0">
                <a:latin typeface="Calibri"/>
                <a:cs typeface="Calibri"/>
              </a:rPr>
              <a:t>higher overhead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/>
              <a:t>Virt.</a:t>
            </a:r>
            <a:r>
              <a:rPr spc="-135" dirty="0"/>
              <a:t> </a:t>
            </a:r>
            <a:r>
              <a:rPr dirty="0"/>
              <a:t>Technology</a:t>
            </a:r>
            <a:r>
              <a:rPr spc="-135" dirty="0"/>
              <a:t> </a:t>
            </a:r>
            <a:r>
              <a:rPr spc="-10" dirty="0"/>
              <a:t>Benchmarking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287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pc="-10" dirty="0"/>
              <a:t>Metrics:</a:t>
            </a:r>
          </a:p>
          <a:p>
            <a:pPr marL="755015" lvl="1" indent="-285115">
              <a:lnSpc>
                <a:spcPts val="2390"/>
              </a:lnSpc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VM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Image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consump</a:t>
            </a:r>
            <a:r>
              <a:rPr lang="en-US" sz="2000" spc="-10" dirty="0">
                <a:latin typeface="Calibri"/>
                <a:cs typeface="Calibri"/>
              </a:rPr>
              <a:t>ti</a:t>
            </a:r>
            <a:r>
              <a:rPr sz="2000" spc="-10" dirty="0">
                <a:latin typeface="Calibri"/>
                <a:cs typeface="Calibri"/>
              </a:rPr>
              <a:t>on</a:t>
            </a:r>
            <a:endParaRPr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VM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crea</a:t>
            </a:r>
            <a:r>
              <a:rPr lang="en-US" sz="2000" dirty="0">
                <a:latin typeface="Calibri"/>
                <a:cs typeface="Calibri"/>
              </a:rPr>
              <a:t>ti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ti</a:t>
            </a:r>
            <a:r>
              <a:rPr sz="2000" spc="-25" dirty="0">
                <a:latin typeface="Calibri"/>
                <a:cs typeface="Calibri"/>
              </a:rPr>
              <a:t>me</a:t>
            </a:r>
            <a:endParaRPr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2000" spc="-10" dirty="0">
                <a:latin typeface="Calibri"/>
                <a:cs typeface="Calibri"/>
              </a:rPr>
              <a:t>Delay</a:t>
            </a:r>
            <a:endParaRPr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2000" spc="-10" dirty="0">
                <a:latin typeface="Calibri"/>
                <a:cs typeface="Calibri"/>
              </a:rPr>
              <a:t>Throughput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8021" y="4187179"/>
            <a:ext cx="7461250" cy="1727835"/>
            <a:chOff x="798021" y="4187179"/>
            <a:chExt cx="7461250" cy="1727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8021" y="5494712"/>
              <a:ext cx="7460672" cy="3906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32172" y="5667342"/>
              <a:ext cx="6993255" cy="0"/>
            </a:xfrm>
            <a:custGeom>
              <a:avLst/>
              <a:gdLst/>
              <a:ahLst/>
              <a:cxnLst/>
              <a:rect l="l" t="t" r="r" b="b"/>
              <a:pathLst>
                <a:path w="6993255">
                  <a:moveTo>
                    <a:pt x="0" y="0"/>
                  </a:moveTo>
                  <a:lnTo>
                    <a:pt x="6992727" y="0"/>
                  </a:lnTo>
                </a:path>
              </a:pathLst>
            </a:custGeom>
            <a:ln w="380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4364" y="5581769"/>
              <a:ext cx="171005" cy="1711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91702" y="5581769"/>
              <a:ext cx="171005" cy="1711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18508" y="5486399"/>
              <a:ext cx="128847" cy="42810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683593" y="5509300"/>
              <a:ext cx="0" cy="337185"/>
            </a:xfrm>
            <a:custGeom>
              <a:avLst/>
              <a:gdLst/>
              <a:ahLst/>
              <a:cxnLst/>
              <a:rect l="l" t="t" r="r" b="b"/>
              <a:pathLst>
                <a:path h="337185">
                  <a:moveTo>
                    <a:pt x="0" y="0"/>
                  </a:moveTo>
                  <a:lnTo>
                    <a:pt x="0" y="33675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25785" y="4187179"/>
              <a:ext cx="1267460" cy="1270000"/>
            </a:xfrm>
            <a:custGeom>
              <a:avLst/>
              <a:gdLst/>
              <a:ahLst/>
              <a:cxnLst/>
              <a:rect l="l" t="t" r="r" b="b"/>
              <a:pathLst>
                <a:path w="1267460" h="1270000">
                  <a:moveTo>
                    <a:pt x="145370" y="1257299"/>
                  </a:moveTo>
                  <a:lnTo>
                    <a:pt x="90300" y="1257299"/>
                  </a:lnTo>
                  <a:lnTo>
                    <a:pt x="92053" y="1269999"/>
                  </a:lnTo>
                  <a:lnTo>
                    <a:pt x="135727" y="1269999"/>
                  </a:lnTo>
                  <a:lnTo>
                    <a:pt x="145370" y="1257299"/>
                  </a:lnTo>
                  <a:close/>
                </a:path>
                <a:path w="1267460" h="1270000">
                  <a:moveTo>
                    <a:pt x="159802" y="1244599"/>
                  </a:moveTo>
                  <a:lnTo>
                    <a:pt x="87655" y="1244599"/>
                  </a:lnTo>
                  <a:lnTo>
                    <a:pt x="85966" y="1257299"/>
                  </a:lnTo>
                  <a:lnTo>
                    <a:pt x="154839" y="1257299"/>
                  </a:lnTo>
                  <a:lnTo>
                    <a:pt x="159802" y="1244599"/>
                  </a:lnTo>
                  <a:close/>
                </a:path>
                <a:path w="1267460" h="1270000">
                  <a:moveTo>
                    <a:pt x="168231" y="1231899"/>
                  </a:moveTo>
                  <a:lnTo>
                    <a:pt x="122354" y="1231899"/>
                  </a:lnTo>
                  <a:lnTo>
                    <a:pt x="112221" y="1244599"/>
                  </a:lnTo>
                  <a:lnTo>
                    <a:pt x="164266" y="1244599"/>
                  </a:lnTo>
                  <a:lnTo>
                    <a:pt x="168231" y="1231899"/>
                  </a:lnTo>
                  <a:close/>
                </a:path>
                <a:path w="1267460" h="1270000">
                  <a:moveTo>
                    <a:pt x="174598" y="1219199"/>
                  </a:moveTo>
                  <a:lnTo>
                    <a:pt x="135963" y="1219199"/>
                  </a:lnTo>
                  <a:lnTo>
                    <a:pt x="127455" y="1231899"/>
                  </a:lnTo>
                  <a:lnTo>
                    <a:pt x="171696" y="1231899"/>
                  </a:lnTo>
                  <a:lnTo>
                    <a:pt x="174598" y="1219199"/>
                  </a:lnTo>
                  <a:close/>
                </a:path>
                <a:path w="1267460" h="1270000">
                  <a:moveTo>
                    <a:pt x="178528" y="1206499"/>
                  </a:moveTo>
                  <a:lnTo>
                    <a:pt x="143465" y="1206499"/>
                  </a:lnTo>
                  <a:lnTo>
                    <a:pt x="142330" y="1219199"/>
                  </a:lnTo>
                  <a:lnTo>
                    <a:pt x="176876" y="1219199"/>
                  </a:lnTo>
                  <a:lnTo>
                    <a:pt x="178528" y="1206499"/>
                  </a:lnTo>
                  <a:close/>
                </a:path>
                <a:path w="1267460" h="1270000">
                  <a:moveTo>
                    <a:pt x="73731" y="1193799"/>
                  </a:moveTo>
                  <a:lnTo>
                    <a:pt x="39838" y="1193799"/>
                  </a:lnTo>
                  <a:lnTo>
                    <a:pt x="45558" y="1206499"/>
                  </a:lnTo>
                  <a:lnTo>
                    <a:pt x="62566" y="1206499"/>
                  </a:lnTo>
                  <a:lnTo>
                    <a:pt x="73731" y="1193799"/>
                  </a:lnTo>
                  <a:close/>
                </a:path>
                <a:path w="1267460" h="1270000">
                  <a:moveTo>
                    <a:pt x="180508" y="1193799"/>
                  </a:moveTo>
                  <a:lnTo>
                    <a:pt x="141532" y="1193799"/>
                  </a:lnTo>
                  <a:lnTo>
                    <a:pt x="143883" y="1206499"/>
                  </a:lnTo>
                  <a:lnTo>
                    <a:pt x="179556" y="1206499"/>
                  </a:lnTo>
                  <a:lnTo>
                    <a:pt x="180508" y="1193799"/>
                  </a:lnTo>
                  <a:close/>
                </a:path>
                <a:path w="1267460" h="1270000">
                  <a:moveTo>
                    <a:pt x="162063" y="1155699"/>
                  </a:moveTo>
                  <a:lnTo>
                    <a:pt x="842" y="1155699"/>
                  </a:lnTo>
                  <a:lnTo>
                    <a:pt x="5891" y="1168399"/>
                  </a:lnTo>
                  <a:lnTo>
                    <a:pt x="10415" y="1181099"/>
                  </a:lnTo>
                  <a:lnTo>
                    <a:pt x="22616" y="1193799"/>
                  </a:lnTo>
                  <a:lnTo>
                    <a:pt x="95011" y="1193799"/>
                  </a:lnTo>
                  <a:lnTo>
                    <a:pt x="104912" y="1181099"/>
                  </a:lnTo>
                  <a:lnTo>
                    <a:pt x="176889" y="1181099"/>
                  </a:lnTo>
                  <a:lnTo>
                    <a:pt x="174426" y="1168399"/>
                  </a:lnTo>
                  <a:lnTo>
                    <a:pt x="167013" y="1168399"/>
                  </a:lnTo>
                  <a:lnTo>
                    <a:pt x="162063" y="1155699"/>
                  </a:lnTo>
                  <a:close/>
                </a:path>
                <a:path w="1267460" h="1270000">
                  <a:moveTo>
                    <a:pt x="176889" y="1181099"/>
                  </a:moveTo>
                  <a:lnTo>
                    <a:pt x="133889" y="1181099"/>
                  </a:lnTo>
                  <a:lnTo>
                    <a:pt x="139621" y="1193799"/>
                  </a:lnTo>
                  <a:lnTo>
                    <a:pt x="179619" y="1193799"/>
                  </a:lnTo>
                  <a:lnTo>
                    <a:pt x="176889" y="1181099"/>
                  </a:lnTo>
                  <a:close/>
                </a:path>
                <a:path w="1267460" h="1270000">
                  <a:moveTo>
                    <a:pt x="36114" y="1130299"/>
                  </a:moveTo>
                  <a:lnTo>
                    <a:pt x="1682" y="1130299"/>
                  </a:lnTo>
                  <a:lnTo>
                    <a:pt x="0" y="1155699"/>
                  </a:lnTo>
                  <a:lnTo>
                    <a:pt x="38305" y="1155699"/>
                  </a:lnTo>
                  <a:lnTo>
                    <a:pt x="36132" y="1142999"/>
                  </a:lnTo>
                  <a:lnTo>
                    <a:pt x="35694" y="1142999"/>
                  </a:lnTo>
                  <a:lnTo>
                    <a:pt x="36114" y="1130299"/>
                  </a:lnTo>
                  <a:close/>
                </a:path>
                <a:path w="1267460" h="1270000">
                  <a:moveTo>
                    <a:pt x="150999" y="1142999"/>
                  </a:moveTo>
                  <a:lnTo>
                    <a:pt x="99905" y="1142999"/>
                  </a:lnTo>
                  <a:lnTo>
                    <a:pt x="89230" y="1155699"/>
                  </a:lnTo>
                  <a:lnTo>
                    <a:pt x="156593" y="1155699"/>
                  </a:lnTo>
                  <a:lnTo>
                    <a:pt x="150999" y="1142999"/>
                  </a:lnTo>
                  <a:close/>
                </a:path>
                <a:path w="1267460" h="1270000">
                  <a:moveTo>
                    <a:pt x="195775" y="1041400"/>
                  </a:moveTo>
                  <a:lnTo>
                    <a:pt x="103643" y="1041400"/>
                  </a:lnTo>
                  <a:lnTo>
                    <a:pt x="103413" y="1054099"/>
                  </a:lnTo>
                  <a:lnTo>
                    <a:pt x="104206" y="1054099"/>
                  </a:lnTo>
                  <a:lnTo>
                    <a:pt x="125909" y="1066799"/>
                  </a:lnTo>
                  <a:lnTo>
                    <a:pt x="113934" y="1079499"/>
                  </a:lnTo>
                  <a:lnTo>
                    <a:pt x="113489" y="1079499"/>
                  </a:lnTo>
                  <a:lnTo>
                    <a:pt x="113130" y="1092199"/>
                  </a:lnTo>
                  <a:lnTo>
                    <a:pt x="147460" y="1092199"/>
                  </a:lnTo>
                  <a:lnTo>
                    <a:pt x="201321" y="1142999"/>
                  </a:lnTo>
                  <a:lnTo>
                    <a:pt x="206900" y="1155699"/>
                  </a:lnTo>
                  <a:lnTo>
                    <a:pt x="254527" y="1155699"/>
                  </a:lnTo>
                  <a:lnTo>
                    <a:pt x="261758" y="1142999"/>
                  </a:lnTo>
                  <a:lnTo>
                    <a:pt x="267045" y="1142999"/>
                  </a:lnTo>
                  <a:lnTo>
                    <a:pt x="268537" y="1130299"/>
                  </a:lnTo>
                  <a:lnTo>
                    <a:pt x="273786" y="1130299"/>
                  </a:lnTo>
                  <a:lnTo>
                    <a:pt x="273719" y="1117599"/>
                  </a:lnTo>
                  <a:lnTo>
                    <a:pt x="223208" y="1117599"/>
                  </a:lnTo>
                  <a:lnTo>
                    <a:pt x="173970" y="1066799"/>
                  </a:lnTo>
                  <a:lnTo>
                    <a:pt x="195775" y="1041400"/>
                  </a:lnTo>
                  <a:close/>
                </a:path>
                <a:path w="1267460" h="1270000">
                  <a:moveTo>
                    <a:pt x="84538" y="1092199"/>
                  </a:moveTo>
                  <a:lnTo>
                    <a:pt x="26569" y="1092199"/>
                  </a:lnTo>
                  <a:lnTo>
                    <a:pt x="17104" y="1104899"/>
                  </a:lnTo>
                  <a:lnTo>
                    <a:pt x="12002" y="1117599"/>
                  </a:lnTo>
                  <a:lnTo>
                    <a:pt x="4081" y="1130299"/>
                  </a:lnTo>
                  <a:lnTo>
                    <a:pt x="42259" y="1130299"/>
                  </a:lnTo>
                  <a:lnTo>
                    <a:pt x="49140" y="1117599"/>
                  </a:lnTo>
                  <a:lnTo>
                    <a:pt x="53158" y="1117599"/>
                  </a:lnTo>
                  <a:lnTo>
                    <a:pt x="61509" y="1104899"/>
                  </a:lnTo>
                  <a:lnTo>
                    <a:pt x="84783" y="1104899"/>
                  </a:lnTo>
                  <a:lnTo>
                    <a:pt x="84538" y="1092199"/>
                  </a:lnTo>
                  <a:close/>
                </a:path>
                <a:path w="1267460" h="1270000">
                  <a:moveTo>
                    <a:pt x="265286" y="1104899"/>
                  </a:moveTo>
                  <a:lnTo>
                    <a:pt x="248766" y="1104899"/>
                  </a:lnTo>
                  <a:lnTo>
                    <a:pt x="247017" y="1117599"/>
                  </a:lnTo>
                  <a:lnTo>
                    <a:pt x="268371" y="1117599"/>
                  </a:lnTo>
                  <a:lnTo>
                    <a:pt x="265286" y="1104899"/>
                  </a:lnTo>
                  <a:close/>
                </a:path>
                <a:path w="1267460" h="1270000">
                  <a:moveTo>
                    <a:pt x="147460" y="1092199"/>
                  </a:moveTo>
                  <a:lnTo>
                    <a:pt x="119123" y="1092199"/>
                  </a:lnTo>
                  <a:lnTo>
                    <a:pt x="125040" y="1104899"/>
                  </a:lnTo>
                  <a:lnTo>
                    <a:pt x="134741" y="1104899"/>
                  </a:lnTo>
                  <a:lnTo>
                    <a:pt x="147460" y="1092199"/>
                  </a:lnTo>
                  <a:close/>
                </a:path>
                <a:path w="1267460" h="1270000">
                  <a:moveTo>
                    <a:pt x="74117" y="1079499"/>
                  </a:moveTo>
                  <a:lnTo>
                    <a:pt x="48449" y="1079499"/>
                  </a:lnTo>
                  <a:lnTo>
                    <a:pt x="41156" y="1092199"/>
                  </a:lnTo>
                  <a:lnTo>
                    <a:pt x="77971" y="1092199"/>
                  </a:lnTo>
                  <a:lnTo>
                    <a:pt x="74117" y="1079499"/>
                  </a:lnTo>
                  <a:close/>
                </a:path>
                <a:path w="1267460" h="1270000">
                  <a:moveTo>
                    <a:pt x="292145" y="1054099"/>
                  </a:moveTo>
                  <a:lnTo>
                    <a:pt x="250271" y="1054099"/>
                  </a:lnTo>
                  <a:lnTo>
                    <a:pt x="254064" y="1066799"/>
                  </a:lnTo>
                  <a:lnTo>
                    <a:pt x="257749" y="1079499"/>
                  </a:lnTo>
                  <a:lnTo>
                    <a:pt x="268269" y="1092199"/>
                  </a:lnTo>
                  <a:lnTo>
                    <a:pt x="317705" y="1092199"/>
                  </a:lnTo>
                  <a:lnTo>
                    <a:pt x="322927" y="1079499"/>
                  </a:lnTo>
                  <a:lnTo>
                    <a:pt x="333933" y="1066799"/>
                  </a:lnTo>
                  <a:lnTo>
                    <a:pt x="296477" y="1066799"/>
                  </a:lnTo>
                  <a:lnTo>
                    <a:pt x="292145" y="1054099"/>
                  </a:lnTo>
                  <a:close/>
                </a:path>
                <a:path w="1267460" h="1270000">
                  <a:moveTo>
                    <a:pt x="344749" y="1041400"/>
                  </a:moveTo>
                  <a:lnTo>
                    <a:pt x="321108" y="1041400"/>
                  </a:lnTo>
                  <a:lnTo>
                    <a:pt x="318640" y="1054099"/>
                  </a:lnTo>
                  <a:lnTo>
                    <a:pt x="305943" y="1054099"/>
                  </a:lnTo>
                  <a:lnTo>
                    <a:pt x="296477" y="1066799"/>
                  </a:lnTo>
                  <a:lnTo>
                    <a:pt x="338272" y="1066799"/>
                  </a:lnTo>
                  <a:lnTo>
                    <a:pt x="343568" y="1054099"/>
                  </a:lnTo>
                  <a:lnTo>
                    <a:pt x="344749" y="1041400"/>
                  </a:lnTo>
                  <a:close/>
                </a:path>
                <a:path w="1267460" h="1270000">
                  <a:moveTo>
                    <a:pt x="285078" y="1028700"/>
                  </a:moveTo>
                  <a:lnTo>
                    <a:pt x="256669" y="1028700"/>
                  </a:lnTo>
                  <a:lnTo>
                    <a:pt x="253344" y="1041400"/>
                  </a:lnTo>
                  <a:lnTo>
                    <a:pt x="250126" y="1054099"/>
                  </a:lnTo>
                  <a:lnTo>
                    <a:pt x="284285" y="1054099"/>
                  </a:lnTo>
                  <a:lnTo>
                    <a:pt x="282459" y="1041400"/>
                  </a:lnTo>
                  <a:lnTo>
                    <a:pt x="283573" y="1041400"/>
                  </a:lnTo>
                  <a:lnTo>
                    <a:pt x="285078" y="1028700"/>
                  </a:lnTo>
                  <a:close/>
                </a:path>
                <a:path w="1267460" h="1270000">
                  <a:moveTo>
                    <a:pt x="130714" y="1028700"/>
                  </a:moveTo>
                  <a:lnTo>
                    <a:pt x="116283" y="1028700"/>
                  </a:lnTo>
                  <a:lnTo>
                    <a:pt x="111142" y="1041400"/>
                  </a:lnTo>
                  <a:lnTo>
                    <a:pt x="152419" y="1041400"/>
                  </a:lnTo>
                  <a:lnTo>
                    <a:pt x="130714" y="1028700"/>
                  </a:lnTo>
                  <a:close/>
                </a:path>
                <a:path w="1267460" h="1270000">
                  <a:moveTo>
                    <a:pt x="185722" y="1028700"/>
                  </a:moveTo>
                  <a:lnTo>
                    <a:pt x="173489" y="1028700"/>
                  </a:lnTo>
                  <a:lnTo>
                    <a:pt x="152419" y="1041400"/>
                  </a:lnTo>
                  <a:lnTo>
                    <a:pt x="191637" y="1041400"/>
                  </a:lnTo>
                  <a:lnTo>
                    <a:pt x="185722" y="1028700"/>
                  </a:lnTo>
                  <a:close/>
                </a:path>
                <a:path w="1267460" h="1270000">
                  <a:moveTo>
                    <a:pt x="369660" y="1028700"/>
                  </a:moveTo>
                  <a:lnTo>
                    <a:pt x="323954" y="1028700"/>
                  </a:lnTo>
                  <a:lnTo>
                    <a:pt x="323555" y="1041400"/>
                  </a:lnTo>
                  <a:lnTo>
                    <a:pt x="363536" y="1041400"/>
                  </a:lnTo>
                  <a:lnTo>
                    <a:pt x="369660" y="1028700"/>
                  </a:lnTo>
                  <a:close/>
                </a:path>
                <a:path w="1267460" h="1270000">
                  <a:moveTo>
                    <a:pt x="231025" y="1016000"/>
                  </a:moveTo>
                  <a:lnTo>
                    <a:pt x="213612" y="1016000"/>
                  </a:lnTo>
                  <a:lnTo>
                    <a:pt x="215187" y="1028700"/>
                  </a:lnTo>
                  <a:lnTo>
                    <a:pt x="229420" y="1028700"/>
                  </a:lnTo>
                  <a:lnTo>
                    <a:pt x="231025" y="1016000"/>
                  </a:lnTo>
                  <a:close/>
                </a:path>
                <a:path w="1267460" h="1270000">
                  <a:moveTo>
                    <a:pt x="307527" y="1003300"/>
                  </a:moveTo>
                  <a:lnTo>
                    <a:pt x="275843" y="1003300"/>
                  </a:lnTo>
                  <a:lnTo>
                    <a:pt x="270515" y="1016000"/>
                  </a:lnTo>
                  <a:lnTo>
                    <a:pt x="265805" y="1016000"/>
                  </a:lnTo>
                  <a:lnTo>
                    <a:pt x="261713" y="1028700"/>
                  </a:lnTo>
                  <a:lnTo>
                    <a:pt x="289839" y="1028700"/>
                  </a:lnTo>
                  <a:lnTo>
                    <a:pt x="293166" y="1016000"/>
                  </a:lnTo>
                  <a:lnTo>
                    <a:pt x="307527" y="1003300"/>
                  </a:lnTo>
                  <a:close/>
                </a:path>
                <a:path w="1267460" h="1270000">
                  <a:moveTo>
                    <a:pt x="310741" y="952500"/>
                  </a:moveTo>
                  <a:lnTo>
                    <a:pt x="237687" y="952500"/>
                  </a:lnTo>
                  <a:lnTo>
                    <a:pt x="232228" y="965200"/>
                  </a:lnTo>
                  <a:lnTo>
                    <a:pt x="224409" y="965200"/>
                  </a:lnTo>
                  <a:lnTo>
                    <a:pt x="217953" y="977900"/>
                  </a:lnTo>
                  <a:lnTo>
                    <a:pt x="282296" y="977900"/>
                  </a:lnTo>
                  <a:lnTo>
                    <a:pt x="290932" y="990600"/>
                  </a:lnTo>
                  <a:lnTo>
                    <a:pt x="281790" y="1003300"/>
                  </a:lnTo>
                  <a:lnTo>
                    <a:pt x="307527" y="1003300"/>
                  </a:lnTo>
                  <a:lnTo>
                    <a:pt x="323527" y="1028700"/>
                  </a:lnTo>
                  <a:lnTo>
                    <a:pt x="375296" y="1028700"/>
                  </a:lnTo>
                  <a:lnTo>
                    <a:pt x="374878" y="1016000"/>
                  </a:lnTo>
                  <a:lnTo>
                    <a:pt x="310741" y="952500"/>
                  </a:lnTo>
                  <a:close/>
                </a:path>
                <a:path w="1267460" h="1270000">
                  <a:moveTo>
                    <a:pt x="235094" y="1003300"/>
                  </a:moveTo>
                  <a:lnTo>
                    <a:pt x="205934" y="1003300"/>
                  </a:lnTo>
                  <a:lnTo>
                    <a:pt x="205999" y="1016000"/>
                  </a:lnTo>
                  <a:lnTo>
                    <a:pt x="232161" y="1016000"/>
                  </a:lnTo>
                  <a:lnTo>
                    <a:pt x="235094" y="1003300"/>
                  </a:lnTo>
                  <a:close/>
                </a:path>
                <a:path w="1267460" h="1270000">
                  <a:moveTo>
                    <a:pt x="242039" y="990600"/>
                  </a:moveTo>
                  <a:lnTo>
                    <a:pt x="208991" y="990600"/>
                  </a:lnTo>
                  <a:lnTo>
                    <a:pt x="206532" y="1003300"/>
                  </a:lnTo>
                  <a:lnTo>
                    <a:pt x="237070" y="1003300"/>
                  </a:lnTo>
                  <a:lnTo>
                    <a:pt x="242039" y="990600"/>
                  </a:lnTo>
                  <a:close/>
                </a:path>
                <a:path w="1267460" h="1270000">
                  <a:moveTo>
                    <a:pt x="253262" y="977900"/>
                  </a:moveTo>
                  <a:lnTo>
                    <a:pt x="215218" y="977900"/>
                  </a:lnTo>
                  <a:lnTo>
                    <a:pt x="210727" y="990600"/>
                  </a:lnTo>
                  <a:lnTo>
                    <a:pt x="245487" y="990600"/>
                  </a:lnTo>
                  <a:lnTo>
                    <a:pt x="253262" y="977900"/>
                  </a:lnTo>
                  <a:close/>
                </a:path>
                <a:path w="1267460" h="1270000">
                  <a:moveTo>
                    <a:pt x="364116" y="901700"/>
                  </a:moveTo>
                  <a:lnTo>
                    <a:pt x="305360" y="901700"/>
                  </a:lnTo>
                  <a:lnTo>
                    <a:pt x="400714" y="990600"/>
                  </a:lnTo>
                  <a:lnTo>
                    <a:pt x="414883" y="990600"/>
                  </a:lnTo>
                  <a:lnTo>
                    <a:pt x="420074" y="977900"/>
                  </a:lnTo>
                  <a:lnTo>
                    <a:pt x="427559" y="977900"/>
                  </a:lnTo>
                  <a:lnTo>
                    <a:pt x="427838" y="965200"/>
                  </a:lnTo>
                  <a:lnTo>
                    <a:pt x="427225" y="965200"/>
                  </a:lnTo>
                  <a:lnTo>
                    <a:pt x="364116" y="901700"/>
                  </a:lnTo>
                  <a:close/>
                </a:path>
                <a:path w="1267460" h="1270000">
                  <a:moveTo>
                    <a:pt x="285445" y="939800"/>
                  </a:moveTo>
                  <a:lnTo>
                    <a:pt x="253274" y="939800"/>
                  </a:lnTo>
                  <a:lnTo>
                    <a:pt x="248210" y="952500"/>
                  </a:lnTo>
                  <a:lnTo>
                    <a:pt x="297935" y="952500"/>
                  </a:lnTo>
                  <a:lnTo>
                    <a:pt x="285445" y="939800"/>
                  </a:lnTo>
                  <a:close/>
                </a:path>
                <a:path w="1267460" h="1270000">
                  <a:moveTo>
                    <a:pt x="406379" y="825500"/>
                  </a:moveTo>
                  <a:lnTo>
                    <a:pt x="368189" y="825500"/>
                  </a:lnTo>
                  <a:lnTo>
                    <a:pt x="361751" y="838200"/>
                  </a:lnTo>
                  <a:lnTo>
                    <a:pt x="349543" y="850900"/>
                  </a:lnTo>
                  <a:lnTo>
                    <a:pt x="345347" y="850900"/>
                  </a:lnTo>
                  <a:lnTo>
                    <a:pt x="342778" y="863600"/>
                  </a:lnTo>
                  <a:lnTo>
                    <a:pt x="401123" y="863600"/>
                  </a:lnTo>
                  <a:lnTo>
                    <a:pt x="405033" y="876300"/>
                  </a:lnTo>
                  <a:lnTo>
                    <a:pt x="463864" y="927100"/>
                  </a:lnTo>
                  <a:lnTo>
                    <a:pt x="478076" y="927100"/>
                  </a:lnTo>
                  <a:lnTo>
                    <a:pt x="483217" y="914400"/>
                  </a:lnTo>
                  <a:lnTo>
                    <a:pt x="490720" y="914400"/>
                  </a:lnTo>
                  <a:lnTo>
                    <a:pt x="490985" y="901700"/>
                  </a:lnTo>
                  <a:lnTo>
                    <a:pt x="490373" y="901700"/>
                  </a:lnTo>
                  <a:lnTo>
                    <a:pt x="431676" y="850900"/>
                  </a:lnTo>
                  <a:lnTo>
                    <a:pt x="424870" y="838200"/>
                  </a:lnTo>
                  <a:lnTo>
                    <a:pt x="418449" y="838200"/>
                  </a:lnTo>
                  <a:lnTo>
                    <a:pt x="406379" y="825500"/>
                  </a:lnTo>
                  <a:close/>
                </a:path>
                <a:path w="1267460" h="1270000">
                  <a:moveTo>
                    <a:pt x="365061" y="876300"/>
                  </a:moveTo>
                  <a:lnTo>
                    <a:pt x="339503" y="876300"/>
                  </a:lnTo>
                  <a:lnTo>
                    <a:pt x="339526" y="889000"/>
                  </a:lnTo>
                  <a:lnTo>
                    <a:pt x="305882" y="889000"/>
                  </a:lnTo>
                  <a:lnTo>
                    <a:pt x="304760" y="901700"/>
                  </a:lnTo>
                  <a:lnTo>
                    <a:pt x="363123" y="901700"/>
                  </a:lnTo>
                  <a:lnTo>
                    <a:pt x="363114" y="889000"/>
                  </a:lnTo>
                  <a:lnTo>
                    <a:pt x="365061" y="876300"/>
                  </a:lnTo>
                  <a:close/>
                </a:path>
                <a:path w="1267460" h="1270000">
                  <a:moveTo>
                    <a:pt x="327976" y="876300"/>
                  </a:moveTo>
                  <a:lnTo>
                    <a:pt x="315455" y="876300"/>
                  </a:lnTo>
                  <a:lnTo>
                    <a:pt x="311035" y="889000"/>
                  </a:lnTo>
                  <a:lnTo>
                    <a:pt x="339526" y="889000"/>
                  </a:lnTo>
                  <a:lnTo>
                    <a:pt x="327976" y="876300"/>
                  </a:lnTo>
                  <a:close/>
                </a:path>
                <a:path w="1267460" h="1270000">
                  <a:moveTo>
                    <a:pt x="373246" y="863600"/>
                  </a:moveTo>
                  <a:lnTo>
                    <a:pt x="341129" y="863600"/>
                  </a:lnTo>
                  <a:lnTo>
                    <a:pt x="340037" y="876300"/>
                  </a:lnTo>
                  <a:lnTo>
                    <a:pt x="367228" y="876300"/>
                  </a:lnTo>
                  <a:lnTo>
                    <a:pt x="373246" y="863600"/>
                  </a:lnTo>
                  <a:close/>
                </a:path>
                <a:path w="1267460" h="1270000">
                  <a:moveTo>
                    <a:pt x="549952" y="850900"/>
                  </a:moveTo>
                  <a:lnTo>
                    <a:pt x="486501" y="850900"/>
                  </a:lnTo>
                  <a:lnTo>
                    <a:pt x="494181" y="863600"/>
                  </a:lnTo>
                  <a:lnTo>
                    <a:pt x="544425" y="863600"/>
                  </a:lnTo>
                  <a:lnTo>
                    <a:pt x="549952" y="850900"/>
                  </a:lnTo>
                  <a:close/>
                </a:path>
                <a:path w="1267460" h="1270000">
                  <a:moveTo>
                    <a:pt x="563544" y="838200"/>
                  </a:moveTo>
                  <a:lnTo>
                    <a:pt x="469842" y="838200"/>
                  </a:lnTo>
                  <a:lnTo>
                    <a:pt x="475257" y="850900"/>
                  </a:lnTo>
                  <a:lnTo>
                    <a:pt x="559837" y="850900"/>
                  </a:lnTo>
                  <a:lnTo>
                    <a:pt x="563544" y="838200"/>
                  </a:lnTo>
                  <a:close/>
                </a:path>
                <a:path w="1267460" h="1270000">
                  <a:moveTo>
                    <a:pt x="568692" y="825500"/>
                  </a:moveTo>
                  <a:lnTo>
                    <a:pt x="458634" y="825500"/>
                  </a:lnTo>
                  <a:lnTo>
                    <a:pt x="464567" y="838200"/>
                  </a:lnTo>
                  <a:lnTo>
                    <a:pt x="566496" y="838200"/>
                  </a:lnTo>
                  <a:lnTo>
                    <a:pt x="568692" y="825500"/>
                  </a:lnTo>
                  <a:close/>
                </a:path>
                <a:path w="1267460" h="1270000">
                  <a:moveTo>
                    <a:pt x="497784" y="812800"/>
                  </a:moveTo>
                  <a:lnTo>
                    <a:pt x="448721" y="812800"/>
                  </a:lnTo>
                  <a:lnTo>
                    <a:pt x="453352" y="825500"/>
                  </a:lnTo>
                  <a:lnTo>
                    <a:pt x="506478" y="825500"/>
                  </a:lnTo>
                  <a:lnTo>
                    <a:pt x="497784" y="812800"/>
                  </a:lnTo>
                  <a:close/>
                </a:path>
                <a:path w="1267460" h="1270000">
                  <a:moveTo>
                    <a:pt x="571287" y="812800"/>
                  </a:moveTo>
                  <a:lnTo>
                    <a:pt x="542922" y="812800"/>
                  </a:lnTo>
                  <a:lnTo>
                    <a:pt x="541412" y="825500"/>
                  </a:lnTo>
                  <a:lnTo>
                    <a:pt x="570249" y="825500"/>
                  </a:lnTo>
                  <a:lnTo>
                    <a:pt x="571287" y="812800"/>
                  </a:lnTo>
                  <a:close/>
                </a:path>
                <a:path w="1267460" h="1270000">
                  <a:moveTo>
                    <a:pt x="486004" y="800100"/>
                  </a:moveTo>
                  <a:lnTo>
                    <a:pt x="438786" y="800100"/>
                  </a:lnTo>
                  <a:lnTo>
                    <a:pt x="441425" y="812800"/>
                  </a:lnTo>
                  <a:lnTo>
                    <a:pt x="493646" y="812800"/>
                  </a:lnTo>
                  <a:lnTo>
                    <a:pt x="486004" y="800100"/>
                  </a:lnTo>
                  <a:close/>
                </a:path>
                <a:path w="1267460" h="1270000">
                  <a:moveTo>
                    <a:pt x="571804" y="800100"/>
                  </a:moveTo>
                  <a:lnTo>
                    <a:pt x="547401" y="800100"/>
                  </a:lnTo>
                  <a:lnTo>
                    <a:pt x="546206" y="812800"/>
                  </a:lnTo>
                  <a:lnTo>
                    <a:pt x="571805" y="812800"/>
                  </a:lnTo>
                  <a:lnTo>
                    <a:pt x="571804" y="800100"/>
                  </a:lnTo>
                  <a:close/>
                </a:path>
                <a:path w="1267460" h="1270000">
                  <a:moveTo>
                    <a:pt x="599954" y="800100"/>
                  </a:moveTo>
                  <a:lnTo>
                    <a:pt x="571804" y="800100"/>
                  </a:lnTo>
                  <a:lnTo>
                    <a:pt x="583039" y="812800"/>
                  </a:lnTo>
                  <a:lnTo>
                    <a:pt x="595604" y="812800"/>
                  </a:lnTo>
                  <a:lnTo>
                    <a:pt x="599954" y="800100"/>
                  </a:lnTo>
                  <a:close/>
                </a:path>
                <a:path w="1267460" h="1270000">
                  <a:moveTo>
                    <a:pt x="472323" y="774700"/>
                  </a:moveTo>
                  <a:lnTo>
                    <a:pt x="434280" y="774700"/>
                  </a:lnTo>
                  <a:lnTo>
                    <a:pt x="436824" y="800100"/>
                  </a:lnTo>
                  <a:lnTo>
                    <a:pt x="482744" y="800100"/>
                  </a:lnTo>
                  <a:lnTo>
                    <a:pt x="477139" y="787400"/>
                  </a:lnTo>
                  <a:lnTo>
                    <a:pt x="475054" y="787400"/>
                  </a:lnTo>
                  <a:lnTo>
                    <a:pt x="472323" y="774700"/>
                  </a:lnTo>
                  <a:close/>
                </a:path>
                <a:path w="1267460" h="1270000">
                  <a:moveTo>
                    <a:pt x="606124" y="787400"/>
                  </a:moveTo>
                  <a:lnTo>
                    <a:pt x="547621" y="787400"/>
                  </a:lnTo>
                  <a:lnTo>
                    <a:pt x="547684" y="800100"/>
                  </a:lnTo>
                  <a:lnTo>
                    <a:pt x="605141" y="800100"/>
                  </a:lnTo>
                  <a:lnTo>
                    <a:pt x="606124" y="787400"/>
                  </a:lnTo>
                  <a:close/>
                </a:path>
                <a:path w="1267460" h="1270000">
                  <a:moveTo>
                    <a:pt x="466642" y="647700"/>
                  </a:moveTo>
                  <a:lnTo>
                    <a:pt x="457596" y="647700"/>
                  </a:lnTo>
                  <a:lnTo>
                    <a:pt x="453811" y="660400"/>
                  </a:lnTo>
                  <a:lnTo>
                    <a:pt x="444342" y="660400"/>
                  </a:lnTo>
                  <a:lnTo>
                    <a:pt x="441397" y="673100"/>
                  </a:lnTo>
                  <a:lnTo>
                    <a:pt x="439643" y="673100"/>
                  </a:lnTo>
                  <a:lnTo>
                    <a:pt x="491121" y="723900"/>
                  </a:lnTo>
                  <a:lnTo>
                    <a:pt x="475390" y="723900"/>
                  </a:lnTo>
                  <a:lnTo>
                    <a:pt x="462550" y="736600"/>
                  </a:lnTo>
                  <a:lnTo>
                    <a:pt x="451446" y="736600"/>
                  </a:lnTo>
                  <a:lnTo>
                    <a:pt x="446827" y="749300"/>
                  </a:lnTo>
                  <a:lnTo>
                    <a:pt x="515630" y="749300"/>
                  </a:lnTo>
                  <a:lnTo>
                    <a:pt x="546766" y="787400"/>
                  </a:lnTo>
                  <a:lnTo>
                    <a:pt x="605455" y="787400"/>
                  </a:lnTo>
                  <a:lnTo>
                    <a:pt x="466642" y="647700"/>
                  </a:lnTo>
                  <a:close/>
                </a:path>
                <a:path w="1267460" h="1270000">
                  <a:moveTo>
                    <a:pt x="473575" y="762000"/>
                  </a:moveTo>
                  <a:lnTo>
                    <a:pt x="437548" y="762000"/>
                  </a:lnTo>
                  <a:lnTo>
                    <a:pt x="434949" y="774700"/>
                  </a:lnTo>
                  <a:lnTo>
                    <a:pt x="472027" y="774700"/>
                  </a:lnTo>
                  <a:lnTo>
                    <a:pt x="473575" y="762000"/>
                  </a:lnTo>
                  <a:close/>
                </a:path>
                <a:path w="1267460" h="1270000">
                  <a:moveTo>
                    <a:pt x="487805" y="749300"/>
                  </a:moveTo>
                  <a:lnTo>
                    <a:pt x="442971" y="749300"/>
                  </a:lnTo>
                  <a:lnTo>
                    <a:pt x="439878" y="762000"/>
                  </a:lnTo>
                  <a:lnTo>
                    <a:pt x="482911" y="762000"/>
                  </a:lnTo>
                  <a:lnTo>
                    <a:pt x="487805" y="749300"/>
                  </a:lnTo>
                  <a:close/>
                </a:path>
                <a:path w="1267460" h="1270000">
                  <a:moveTo>
                    <a:pt x="644476" y="749300"/>
                  </a:moveTo>
                  <a:lnTo>
                    <a:pt x="611237" y="749300"/>
                  </a:lnTo>
                  <a:lnTo>
                    <a:pt x="622179" y="762000"/>
                  </a:lnTo>
                  <a:lnTo>
                    <a:pt x="638937" y="762000"/>
                  </a:lnTo>
                  <a:lnTo>
                    <a:pt x="644476" y="749300"/>
                  </a:lnTo>
                  <a:close/>
                </a:path>
                <a:path w="1267460" h="1270000">
                  <a:moveTo>
                    <a:pt x="620022" y="698500"/>
                  </a:moveTo>
                  <a:lnTo>
                    <a:pt x="591050" y="698500"/>
                  </a:lnTo>
                  <a:lnTo>
                    <a:pt x="587833" y="711200"/>
                  </a:lnTo>
                  <a:lnTo>
                    <a:pt x="587978" y="723900"/>
                  </a:lnTo>
                  <a:lnTo>
                    <a:pt x="591771" y="736600"/>
                  </a:lnTo>
                  <a:lnTo>
                    <a:pt x="595456" y="736600"/>
                  </a:lnTo>
                  <a:lnTo>
                    <a:pt x="605976" y="749300"/>
                  </a:lnTo>
                  <a:lnTo>
                    <a:pt x="660634" y="749300"/>
                  </a:lnTo>
                  <a:lnTo>
                    <a:pt x="671640" y="736600"/>
                  </a:lnTo>
                  <a:lnTo>
                    <a:pt x="675977" y="723900"/>
                  </a:lnTo>
                  <a:lnTo>
                    <a:pt x="629852" y="723900"/>
                  </a:lnTo>
                  <a:lnTo>
                    <a:pt x="623606" y="711200"/>
                  </a:lnTo>
                  <a:lnTo>
                    <a:pt x="620165" y="711200"/>
                  </a:lnTo>
                  <a:lnTo>
                    <a:pt x="620022" y="698500"/>
                  </a:lnTo>
                  <a:close/>
                </a:path>
                <a:path w="1267460" h="1270000">
                  <a:moveTo>
                    <a:pt x="681273" y="711200"/>
                  </a:moveTo>
                  <a:lnTo>
                    <a:pt x="656346" y="711200"/>
                  </a:lnTo>
                  <a:lnTo>
                    <a:pt x="648221" y="723900"/>
                  </a:lnTo>
                  <a:lnTo>
                    <a:pt x="675977" y="723900"/>
                  </a:lnTo>
                  <a:lnTo>
                    <a:pt x="681273" y="711200"/>
                  </a:lnTo>
                  <a:close/>
                </a:path>
                <a:path w="1267460" h="1270000">
                  <a:moveTo>
                    <a:pt x="712014" y="685800"/>
                  </a:moveTo>
                  <a:lnTo>
                    <a:pt x="661661" y="685800"/>
                  </a:lnTo>
                  <a:lnTo>
                    <a:pt x="661262" y="698500"/>
                  </a:lnTo>
                  <a:lnTo>
                    <a:pt x="658815" y="711200"/>
                  </a:lnTo>
                  <a:lnTo>
                    <a:pt x="682456" y="711200"/>
                  </a:lnTo>
                  <a:lnTo>
                    <a:pt x="682170" y="698500"/>
                  </a:lnTo>
                  <a:lnTo>
                    <a:pt x="709479" y="698500"/>
                  </a:lnTo>
                  <a:lnTo>
                    <a:pt x="712014" y="685800"/>
                  </a:lnTo>
                  <a:close/>
                </a:path>
                <a:path w="1267460" h="1270000">
                  <a:moveTo>
                    <a:pt x="698814" y="698500"/>
                  </a:moveTo>
                  <a:lnTo>
                    <a:pt x="682170" y="698500"/>
                  </a:lnTo>
                  <a:lnTo>
                    <a:pt x="690627" y="711200"/>
                  </a:lnTo>
                  <a:lnTo>
                    <a:pt x="695440" y="711200"/>
                  </a:lnTo>
                  <a:lnTo>
                    <a:pt x="698814" y="698500"/>
                  </a:lnTo>
                  <a:close/>
                </a:path>
                <a:path w="1267460" h="1270000">
                  <a:moveTo>
                    <a:pt x="645234" y="673100"/>
                  </a:moveTo>
                  <a:lnTo>
                    <a:pt x="603512" y="673100"/>
                  </a:lnTo>
                  <a:lnTo>
                    <a:pt x="599420" y="685800"/>
                  </a:lnTo>
                  <a:lnTo>
                    <a:pt x="594376" y="698500"/>
                  </a:lnTo>
                  <a:lnTo>
                    <a:pt x="622785" y="698500"/>
                  </a:lnTo>
                  <a:lnTo>
                    <a:pt x="627546" y="685800"/>
                  </a:lnTo>
                  <a:lnTo>
                    <a:pt x="630872" y="685800"/>
                  </a:lnTo>
                  <a:lnTo>
                    <a:pt x="645234" y="673100"/>
                  </a:lnTo>
                  <a:close/>
                </a:path>
                <a:path w="1267460" h="1270000">
                  <a:moveTo>
                    <a:pt x="569868" y="673100"/>
                  </a:moveTo>
                  <a:lnTo>
                    <a:pt x="545998" y="673100"/>
                  </a:lnTo>
                  <a:lnTo>
                    <a:pt x="547538" y="685800"/>
                  </a:lnTo>
                  <a:lnTo>
                    <a:pt x="568732" y="685800"/>
                  </a:lnTo>
                  <a:lnTo>
                    <a:pt x="569868" y="673100"/>
                  </a:lnTo>
                  <a:close/>
                </a:path>
                <a:path w="1267460" h="1270000">
                  <a:moveTo>
                    <a:pt x="661275" y="635000"/>
                  </a:moveTo>
                  <a:lnTo>
                    <a:pt x="617126" y="635000"/>
                  </a:lnTo>
                  <a:lnTo>
                    <a:pt x="620003" y="647700"/>
                  </a:lnTo>
                  <a:lnTo>
                    <a:pt x="628639" y="647700"/>
                  </a:lnTo>
                  <a:lnTo>
                    <a:pt x="619495" y="660400"/>
                  </a:lnTo>
                  <a:lnTo>
                    <a:pt x="613549" y="673100"/>
                  </a:lnTo>
                  <a:lnTo>
                    <a:pt x="645234" y="673100"/>
                  </a:lnTo>
                  <a:lnTo>
                    <a:pt x="661234" y="685800"/>
                  </a:lnTo>
                  <a:lnTo>
                    <a:pt x="712584" y="685800"/>
                  </a:lnTo>
                  <a:lnTo>
                    <a:pt x="661275" y="635000"/>
                  </a:lnTo>
                  <a:close/>
                </a:path>
                <a:path w="1267460" h="1270000">
                  <a:moveTo>
                    <a:pt x="574777" y="660400"/>
                  </a:moveTo>
                  <a:lnTo>
                    <a:pt x="544239" y="660400"/>
                  </a:lnTo>
                  <a:lnTo>
                    <a:pt x="543641" y="673100"/>
                  </a:lnTo>
                  <a:lnTo>
                    <a:pt x="572801" y="673100"/>
                  </a:lnTo>
                  <a:lnTo>
                    <a:pt x="574777" y="660400"/>
                  </a:lnTo>
                  <a:close/>
                </a:path>
                <a:path w="1267460" h="1270000">
                  <a:moveTo>
                    <a:pt x="583194" y="647700"/>
                  </a:moveTo>
                  <a:lnTo>
                    <a:pt x="552924" y="647700"/>
                  </a:lnTo>
                  <a:lnTo>
                    <a:pt x="548434" y="660400"/>
                  </a:lnTo>
                  <a:lnTo>
                    <a:pt x="579746" y="660400"/>
                  </a:lnTo>
                  <a:lnTo>
                    <a:pt x="583194" y="647700"/>
                  </a:lnTo>
                  <a:close/>
                </a:path>
                <a:path w="1267460" h="1270000">
                  <a:moveTo>
                    <a:pt x="703789" y="558800"/>
                  </a:moveTo>
                  <a:lnTo>
                    <a:pt x="643065" y="558800"/>
                  </a:lnTo>
                  <a:lnTo>
                    <a:pt x="738421" y="660400"/>
                  </a:lnTo>
                  <a:lnTo>
                    <a:pt x="746649" y="660400"/>
                  </a:lnTo>
                  <a:lnTo>
                    <a:pt x="750364" y="647700"/>
                  </a:lnTo>
                  <a:lnTo>
                    <a:pt x="759832" y="647700"/>
                  </a:lnTo>
                  <a:lnTo>
                    <a:pt x="762848" y="635000"/>
                  </a:lnTo>
                  <a:lnTo>
                    <a:pt x="764931" y="635000"/>
                  </a:lnTo>
                  <a:lnTo>
                    <a:pt x="705665" y="571500"/>
                  </a:lnTo>
                  <a:lnTo>
                    <a:pt x="704542" y="571500"/>
                  </a:lnTo>
                  <a:lnTo>
                    <a:pt x="703789" y="558800"/>
                  </a:lnTo>
                  <a:close/>
                </a:path>
                <a:path w="1267460" h="1270000">
                  <a:moveTo>
                    <a:pt x="641992" y="609600"/>
                  </a:moveTo>
                  <a:lnTo>
                    <a:pt x="580721" y="609600"/>
                  </a:lnTo>
                  <a:lnTo>
                    <a:pt x="575394" y="622300"/>
                  </a:lnTo>
                  <a:lnTo>
                    <a:pt x="565797" y="622300"/>
                  </a:lnTo>
                  <a:lnTo>
                    <a:pt x="562115" y="635000"/>
                  </a:lnTo>
                  <a:lnTo>
                    <a:pt x="555660" y="647700"/>
                  </a:lnTo>
                  <a:lnTo>
                    <a:pt x="590967" y="647700"/>
                  </a:lnTo>
                  <a:lnTo>
                    <a:pt x="594139" y="635000"/>
                  </a:lnTo>
                  <a:lnTo>
                    <a:pt x="661275" y="635000"/>
                  </a:lnTo>
                  <a:lnTo>
                    <a:pt x="648448" y="622300"/>
                  </a:lnTo>
                  <a:lnTo>
                    <a:pt x="641992" y="609600"/>
                  </a:lnTo>
                  <a:close/>
                </a:path>
                <a:path w="1267460" h="1270000">
                  <a:moveTo>
                    <a:pt x="623150" y="596900"/>
                  </a:moveTo>
                  <a:lnTo>
                    <a:pt x="604152" y="596900"/>
                  </a:lnTo>
                  <a:lnTo>
                    <a:pt x="597645" y="609600"/>
                  </a:lnTo>
                  <a:lnTo>
                    <a:pt x="635642" y="609600"/>
                  </a:lnTo>
                  <a:lnTo>
                    <a:pt x="623150" y="596900"/>
                  </a:lnTo>
                  <a:close/>
                </a:path>
                <a:path w="1267460" h="1270000">
                  <a:moveTo>
                    <a:pt x="837458" y="558800"/>
                  </a:moveTo>
                  <a:lnTo>
                    <a:pt x="800595" y="558800"/>
                  </a:lnTo>
                  <a:lnTo>
                    <a:pt x="816236" y="571500"/>
                  </a:lnTo>
                  <a:lnTo>
                    <a:pt x="831723" y="571500"/>
                  </a:lnTo>
                  <a:lnTo>
                    <a:pt x="837458" y="558800"/>
                  </a:lnTo>
                  <a:close/>
                </a:path>
                <a:path w="1267460" h="1270000">
                  <a:moveTo>
                    <a:pt x="702985" y="546100"/>
                  </a:moveTo>
                  <a:lnTo>
                    <a:pt x="647024" y="546100"/>
                  </a:lnTo>
                  <a:lnTo>
                    <a:pt x="644500" y="558800"/>
                  </a:lnTo>
                  <a:lnTo>
                    <a:pt x="703018" y="558800"/>
                  </a:lnTo>
                  <a:lnTo>
                    <a:pt x="702985" y="546100"/>
                  </a:lnTo>
                  <a:close/>
                </a:path>
                <a:path w="1267460" h="1270000">
                  <a:moveTo>
                    <a:pt x="854038" y="546100"/>
                  </a:moveTo>
                  <a:lnTo>
                    <a:pt x="773920" y="546100"/>
                  </a:lnTo>
                  <a:lnTo>
                    <a:pt x="779473" y="558800"/>
                  </a:lnTo>
                  <a:lnTo>
                    <a:pt x="848616" y="558800"/>
                  </a:lnTo>
                  <a:lnTo>
                    <a:pt x="854038" y="546100"/>
                  </a:lnTo>
                  <a:close/>
                </a:path>
                <a:path w="1267460" h="1270000">
                  <a:moveTo>
                    <a:pt x="665683" y="533400"/>
                  </a:moveTo>
                  <a:lnTo>
                    <a:pt x="659805" y="533400"/>
                  </a:lnTo>
                  <a:lnTo>
                    <a:pt x="658402" y="546100"/>
                  </a:lnTo>
                  <a:lnTo>
                    <a:pt x="676468" y="546100"/>
                  </a:lnTo>
                  <a:lnTo>
                    <a:pt x="676443" y="544428"/>
                  </a:lnTo>
                  <a:lnTo>
                    <a:pt x="665683" y="533400"/>
                  </a:lnTo>
                  <a:close/>
                </a:path>
                <a:path w="1267460" h="1270000">
                  <a:moveTo>
                    <a:pt x="676443" y="544428"/>
                  </a:moveTo>
                  <a:lnTo>
                    <a:pt x="676468" y="546100"/>
                  </a:lnTo>
                  <a:lnTo>
                    <a:pt x="678074" y="546100"/>
                  </a:lnTo>
                  <a:lnTo>
                    <a:pt x="676443" y="544428"/>
                  </a:lnTo>
                  <a:close/>
                </a:path>
                <a:path w="1267460" h="1270000">
                  <a:moveTo>
                    <a:pt x="705976" y="533400"/>
                  </a:moveTo>
                  <a:lnTo>
                    <a:pt x="676280" y="533400"/>
                  </a:lnTo>
                  <a:lnTo>
                    <a:pt x="676443" y="544428"/>
                  </a:lnTo>
                  <a:lnTo>
                    <a:pt x="678074" y="546100"/>
                  </a:lnTo>
                  <a:lnTo>
                    <a:pt x="704218" y="546100"/>
                  </a:lnTo>
                  <a:lnTo>
                    <a:pt x="705976" y="533400"/>
                  </a:lnTo>
                  <a:close/>
                </a:path>
                <a:path w="1267460" h="1270000">
                  <a:moveTo>
                    <a:pt x="865159" y="533400"/>
                  </a:moveTo>
                  <a:lnTo>
                    <a:pt x="763230" y="533400"/>
                  </a:lnTo>
                  <a:lnTo>
                    <a:pt x="768506" y="546100"/>
                  </a:lnTo>
                  <a:lnTo>
                    <a:pt x="862207" y="546100"/>
                  </a:lnTo>
                  <a:lnTo>
                    <a:pt x="865159" y="533400"/>
                  </a:lnTo>
                  <a:close/>
                </a:path>
                <a:path w="1267460" h="1270000">
                  <a:moveTo>
                    <a:pt x="722293" y="520700"/>
                  </a:moveTo>
                  <a:lnTo>
                    <a:pt x="677826" y="520700"/>
                  </a:lnTo>
                  <a:lnTo>
                    <a:pt x="676551" y="533400"/>
                  </a:lnTo>
                  <a:lnTo>
                    <a:pt x="721029" y="533400"/>
                  </a:lnTo>
                  <a:lnTo>
                    <a:pt x="722293" y="520700"/>
                  </a:lnTo>
                  <a:close/>
                </a:path>
                <a:path w="1267460" h="1270000">
                  <a:moveTo>
                    <a:pt x="809490" y="520700"/>
                  </a:moveTo>
                  <a:lnTo>
                    <a:pt x="752016" y="520700"/>
                  </a:lnTo>
                  <a:lnTo>
                    <a:pt x="757298" y="533400"/>
                  </a:lnTo>
                  <a:lnTo>
                    <a:pt x="818188" y="533400"/>
                  </a:lnTo>
                  <a:lnTo>
                    <a:pt x="809490" y="520700"/>
                  </a:lnTo>
                  <a:close/>
                </a:path>
                <a:path w="1267460" h="1270000">
                  <a:moveTo>
                    <a:pt x="868913" y="520700"/>
                  </a:moveTo>
                  <a:lnTo>
                    <a:pt x="834600" y="520700"/>
                  </a:lnTo>
                  <a:lnTo>
                    <a:pt x="830707" y="533400"/>
                  </a:lnTo>
                  <a:lnTo>
                    <a:pt x="867355" y="533400"/>
                  </a:lnTo>
                  <a:lnTo>
                    <a:pt x="868913" y="520700"/>
                  </a:lnTo>
                  <a:close/>
                </a:path>
                <a:path w="1267460" h="1270000">
                  <a:moveTo>
                    <a:pt x="715403" y="508000"/>
                  </a:moveTo>
                  <a:lnTo>
                    <a:pt x="681753" y="508000"/>
                  </a:lnTo>
                  <a:lnTo>
                    <a:pt x="678868" y="520700"/>
                  </a:lnTo>
                  <a:lnTo>
                    <a:pt x="717398" y="520700"/>
                  </a:lnTo>
                  <a:lnTo>
                    <a:pt x="715403" y="508000"/>
                  </a:lnTo>
                  <a:close/>
                </a:path>
                <a:path w="1267460" h="1270000">
                  <a:moveTo>
                    <a:pt x="784668" y="508000"/>
                  </a:moveTo>
                  <a:lnTo>
                    <a:pt x="743404" y="508000"/>
                  </a:lnTo>
                  <a:lnTo>
                    <a:pt x="747384" y="520700"/>
                  </a:lnTo>
                  <a:lnTo>
                    <a:pt x="792309" y="520700"/>
                  </a:lnTo>
                  <a:lnTo>
                    <a:pt x="784668" y="508000"/>
                  </a:lnTo>
                  <a:close/>
                </a:path>
                <a:path w="1267460" h="1270000">
                  <a:moveTo>
                    <a:pt x="870470" y="508000"/>
                  </a:moveTo>
                  <a:lnTo>
                    <a:pt x="844871" y="508000"/>
                  </a:lnTo>
                  <a:lnTo>
                    <a:pt x="843974" y="520700"/>
                  </a:lnTo>
                  <a:lnTo>
                    <a:pt x="869951" y="520700"/>
                  </a:lnTo>
                  <a:lnTo>
                    <a:pt x="870470" y="508000"/>
                  </a:lnTo>
                  <a:close/>
                </a:path>
                <a:path w="1267460" h="1270000">
                  <a:moveTo>
                    <a:pt x="885449" y="508000"/>
                  </a:moveTo>
                  <a:lnTo>
                    <a:pt x="882548" y="508000"/>
                  </a:lnTo>
                  <a:lnTo>
                    <a:pt x="884377" y="520700"/>
                  </a:lnTo>
                  <a:lnTo>
                    <a:pt x="885449" y="508000"/>
                  </a:lnTo>
                  <a:close/>
                </a:path>
                <a:path w="1267460" h="1270000">
                  <a:moveTo>
                    <a:pt x="702290" y="495300"/>
                  </a:moveTo>
                  <a:lnTo>
                    <a:pt x="694959" y="495300"/>
                  </a:lnTo>
                  <a:lnTo>
                    <a:pt x="693696" y="508000"/>
                  </a:lnTo>
                  <a:lnTo>
                    <a:pt x="704042" y="508000"/>
                  </a:lnTo>
                  <a:lnTo>
                    <a:pt x="702290" y="495300"/>
                  </a:lnTo>
                  <a:close/>
                </a:path>
                <a:path w="1267460" h="1270000">
                  <a:moveTo>
                    <a:pt x="775802" y="495300"/>
                  </a:moveTo>
                  <a:lnTo>
                    <a:pt x="737449" y="495300"/>
                  </a:lnTo>
                  <a:lnTo>
                    <a:pt x="740088" y="508000"/>
                  </a:lnTo>
                  <a:lnTo>
                    <a:pt x="781409" y="508000"/>
                  </a:lnTo>
                  <a:lnTo>
                    <a:pt x="775802" y="495300"/>
                  </a:lnTo>
                  <a:close/>
                </a:path>
                <a:path w="1267460" h="1270000">
                  <a:moveTo>
                    <a:pt x="902910" y="495300"/>
                  </a:moveTo>
                  <a:lnTo>
                    <a:pt x="846284" y="495300"/>
                  </a:lnTo>
                  <a:lnTo>
                    <a:pt x="846348" y="508000"/>
                  </a:lnTo>
                  <a:lnTo>
                    <a:pt x="900318" y="508000"/>
                  </a:lnTo>
                  <a:lnTo>
                    <a:pt x="902910" y="495300"/>
                  </a:lnTo>
                  <a:close/>
                </a:path>
                <a:path w="1267460" h="1270000">
                  <a:moveTo>
                    <a:pt x="772240" y="469900"/>
                  </a:moveTo>
                  <a:lnTo>
                    <a:pt x="733612" y="469900"/>
                  </a:lnTo>
                  <a:lnTo>
                    <a:pt x="732943" y="482600"/>
                  </a:lnTo>
                  <a:lnTo>
                    <a:pt x="734204" y="495300"/>
                  </a:lnTo>
                  <a:lnTo>
                    <a:pt x="773718" y="495300"/>
                  </a:lnTo>
                  <a:lnTo>
                    <a:pt x="770986" y="482600"/>
                  </a:lnTo>
                  <a:lnTo>
                    <a:pt x="770690" y="482600"/>
                  </a:lnTo>
                  <a:lnTo>
                    <a:pt x="772240" y="469900"/>
                  </a:lnTo>
                  <a:close/>
                </a:path>
                <a:path w="1267460" h="1270000">
                  <a:moveTo>
                    <a:pt x="765305" y="355600"/>
                  </a:moveTo>
                  <a:lnTo>
                    <a:pt x="750230" y="355600"/>
                  </a:lnTo>
                  <a:lnTo>
                    <a:pt x="745040" y="368300"/>
                  </a:lnTo>
                  <a:lnTo>
                    <a:pt x="737750" y="368300"/>
                  </a:lnTo>
                  <a:lnTo>
                    <a:pt x="737522" y="381000"/>
                  </a:lnTo>
                  <a:lnTo>
                    <a:pt x="738308" y="381000"/>
                  </a:lnTo>
                  <a:lnTo>
                    <a:pt x="789785" y="431800"/>
                  </a:lnTo>
                  <a:lnTo>
                    <a:pt x="761215" y="431800"/>
                  </a:lnTo>
                  <a:lnTo>
                    <a:pt x="755373" y="444500"/>
                  </a:lnTo>
                  <a:lnTo>
                    <a:pt x="745491" y="444500"/>
                  </a:lnTo>
                  <a:lnTo>
                    <a:pt x="741635" y="457200"/>
                  </a:lnTo>
                  <a:lnTo>
                    <a:pt x="814293" y="457200"/>
                  </a:lnTo>
                  <a:lnTo>
                    <a:pt x="845431" y="482600"/>
                  </a:lnTo>
                  <a:lnTo>
                    <a:pt x="845990" y="495300"/>
                  </a:lnTo>
                  <a:lnTo>
                    <a:pt x="904119" y="495300"/>
                  </a:lnTo>
                  <a:lnTo>
                    <a:pt x="765305" y="355600"/>
                  </a:lnTo>
                  <a:close/>
                </a:path>
                <a:path w="1267460" h="1270000">
                  <a:moveTo>
                    <a:pt x="781574" y="457200"/>
                  </a:moveTo>
                  <a:lnTo>
                    <a:pt x="738541" y="457200"/>
                  </a:lnTo>
                  <a:lnTo>
                    <a:pt x="736211" y="469900"/>
                  </a:lnTo>
                  <a:lnTo>
                    <a:pt x="774345" y="469900"/>
                  </a:lnTo>
                  <a:lnTo>
                    <a:pt x="781574" y="457200"/>
                  </a:lnTo>
                  <a:close/>
                </a:path>
                <a:path w="1267460" h="1270000">
                  <a:moveTo>
                    <a:pt x="869221" y="266700"/>
                  </a:moveTo>
                  <a:lnTo>
                    <a:pt x="854934" y="266700"/>
                  </a:lnTo>
                  <a:lnTo>
                    <a:pt x="852337" y="279400"/>
                  </a:lnTo>
                  <a:lnTo>
                    <a:pt x="842455" y="279400"/>
                  </a:lnTo>
                  <a:lnTo>
                    <a:pt x="838592" y="292100"/>
                  </a:lnTo>
                  <a:lnTo>
                    <a:pt x="838033" y="292100"/>
                  </a:lnTo>
                  <a:lnTo>
                    <a:pt x="841331" y="304800"/>
                  </a:lnTo>
                  <a:lnTo>
                    <a:pt x="843840" y="304800"/>
                  </a:lnTo>
                  <a:lnTo>
                    <a:pt x="1008457" y="381000"/>
                  </a:lnTo>
                  <a:lnTo>
                    <a:pt x="1025164" y="381000"/>
                  </a:lnTo>
                  <a:lnTo>
                    <a:pt x="1029235" y="368300"/>
                  </a:lnTo>
                  <a:lnTo>
                    <a:pt x="1037974" y="368300"/>
                  </a:lnTo>
                  <a:lnTo>
                    <a:pt x="1040764" y="355600"/>
                  </a:lnTo>
                  <a:lnTo>
                    <a:pt x="1048485" y="355600"/>
                  </a:lnTo>
                  <a:lnTo>
                    <a:pt x="1048137" y="342900"/>
                  </a:lnTo>
                  <a:lnTo>
                    <a:pt x="1007383" y="342900"/>
                  </a:lnTo>
                  <a:lnTo>
                    <a:pt x="869221" y="266700"/>
                  </a:lnTo>
                  <a:close/>
                </a:path>
                <a:path w="1267460" h="1270000">
                  <a:moveTo>
                    <a:pt x="966604" y="177800"/>
                  </a:moveTo>
                  <a:lnTo>
                    <a:pt x="948444" y="177800"/>
                  </a:lnTo>
                  <a:lnTo>
                    <a:pt x="941900" y="190500"/>
                  </a:lnTo>
                  <a:lnTo>
                    <a:pt x="933467" y="190500"/>
                  </a:lnTo>
                  <a:lnTo>
                    <a:pt x="933326" y="203200"/>
                  </a:lnTo>
                  <a:lnTo>
                    <a:pt x="935482" y="203200"/>
                  </a:lnTo>
                  <a:lnTo>
                    <a:pt x="1007383" y="342900"/>
                  </a:lnTo>
                  <a:lnTo>
                    <a:pt x="1046784" y="342900"/>
                  </a:lnTo>
                  <a:lnTo>
                    <a:pt x="966604" y="177800"/>
                  </a:lnTo>
                  <a:close/>
                </a:path>
                <a:path w="1267460" h="1270000">
                  <a:moveTo>
                    <a:pt x="1040776" y="114300"/>
                  </a:moveTo>
                  <a:lnTo>
                    <a:pt x="1009859" y="114300"/>
                  </a:lnTo>
                  <a:lnTo>
                    <a:pt x="1006820" y="127000"/>
                  </a:lnTo>
                  <a:lnTo>
                    <a:pt x="982187" y="152504"/>
                  </a:lnTo>
                  <a:lnTo>
                    <a:pt x="980721" y="152504"/>
                  </a:lnTo>
                  <a:lnTo>
                    <a:pt x="982489" y="165100"/>
                  </a:lnTo>
                  <a:lnTo>
                    <a:pt x="1108156" y="292100"/>
                  </a:lnTo>
                  <a:lnTo>
                    <a:pt x="1114780" y="292100"/>
                  </a:lnTo>
                  <a:lnTo>
                    <a:pt x="1116416" y="279400"/>
                  </a:lnTo>
                  <a:lnTo>
                    <a:pt x="1127575" y="279400"/>
                  </a:lnTo>
                  <a:lnTo>
                    <a:pt x="1129600" y="266700"/>
                  </a:lnTo>
                  <a:lnTo>
                    <a:pt x="1134449" y="266700"/>
                  </a:lnTo>
                  <a:lnTo>
                    <a:pt x="1022713" y="152246"/>
                  </a:lnTo>
                  <a:lnTo>
                    <a:pt x="1123328" y="152246"/>
                  </a:lnTo>
                  <a:lnTo>
                    <a:pt x="1040776" y="114300"/>
                  </a:lnTo>
                  <a:close/>
                </a:path>
                <a:path w="1267460" h="1270000">
                  <a:moveTo>
                    <a:pt x="1175090" y="215900"/>
                  </a:moveTo>
                  <a:lnTo>
                    <a:pt x="1172809" y="215900"/>
                  </a:lnTo>
                  <a:lnTo>
                    <a:pt x="1173897" y="228600"/>
                  </a:lnTo>
                  <a:lnTo>
                    <a:pt x="1175090" y="215900"/>
                  </a:lnTo>
                  <a:close/>
                </a:path>
                <a:path w="1267460" h="1270000">
                  <a:moveTo>
                    <a:pt x="1123328" y="152246"/>
                  </a:moveTo>
                  <a:lnTo>
                    <a:pt x="1022713" y="152246"/>
                  </a:lnTo>
                  <a:lnTo>
                    <a:pt x="1171825" y="215900"/>
                  </a:lnTo>
                  <a:lnTo>
                    <a:pt x="1188071" y="215900"/>
                  </a:lnTo>
                  <a:lnTo>
                    <a:pt x="1192842" y="203200"/>
                  </a:lnTo>
                  <a:lnTo>
                    <a:pt x="1200995" y="203200"/>
                  </a:lnTo>
                  <a:lnTo>
                    <a:pt x="1201065" y="190500"/>
                  </a:lnTo>
                  <a:lnTo>
                    <a:pt x="1200133" y="190500"/>
                  </a:lnTo>
                  <a:lnTo>
                    <a:pt x="1188226" y="165100"/>
                  </a:lnTo>
                  <a:lnTo>
                    <a:pt x="1151290" y="165100"/>
                  </a:lnTo>
                  <a:lnTo>
                    <a:pt x="1123328" y="152246"/>
                  </a:lnTo>
                  <a:close/>
                </a:path>
                <a:path w="1267460" h="1270000">
                  <a:moveTo>
                    <a:pt x="1144696" y="0"/>
                  </a:moveTo>
                  <a:lnTo>
                    <a:pt x="1124576" y="0"/>
                  </a:lnTo>
                  <a:lnTo>
                    <a:pt x="1101417" y="25400"/>
                  </a:lnTo>
                  <a:lnTo>
                    <a:pt x="1099395" y="25400"/>
                  </a:lnTo>
                  <a:lnTo>
                    <a:pt x="1096606" y="37689"/>
                  </a:lnTo>
                  <a:lnTo>
                    <a:pt x="1096512" y="38100"/>
                  </a:lnTo>
                  <a:lnTo>
                    <a:pt x="1095348" y="38100"/>
                  </a:lnTo>
                  <a:lnTo>
                    <a:pt x="1095733" y="50800"/>
                  </a:lnTo>
                  <a:lnTo>
                    <a:pt x="1099112" y="50800"/>
                  </a:lnTo>
                  <a:lnTo>
                    <a:pt x="1101147" y="63500"/>
                  </a:lnTo>
                  <a:lnTo>
                    <a:pt x="1151710" y="165100"/>
                  </a:lnTo>
                  <a:lnTo>
                    <a:pt x="1188226" y="165100"/>
                  </a:lnTo>
                  <a:lnTo>
                    <a:pt x="1128501" y="37689"/>
                  </a:lnTo>
                  <a:lnTo>
                    <a:pt x="1180928" y="37689"/>
                  </a:lnTo>
                  <a:lnTo>
                    <a:pt x="1144696" y="0"/>
                  </a:lnTo>
                  <a:close/>
                </a:path>
                <a:path w="1267460" h="1270000">
                  <a:moveTo>
                    <a:pt x="1180928" y="37689"/>
                  </a:moveTo>
                  <a:lnTo>
                    <a:pt x="1128501" y="37689"/>
                  </a:lnTo>
                  <a:lnTo>
                    <a:pt x="1240589" y="152504"/>
                  </a:lnTo>
                  <a:lnTo>
                    <a:pt x="1254725" y="152504"/>
                  </a:lnTo>
                  <a:lnTo>
                    <a:pt x="1259908" y="139700"/>
                  </a:lnTo>
                  <a:lnTo>
                    <a:pt x="1265981" y="139700"/>
                  </a:lnTo>
                  <a:lnTo>
                    <a:pt x="1267321" y="127000"/>
                  </a:lnTo>
                  <a:lnTo>
                    <a:pt x="1266784" y="127000"/>
                  </a:lnTo>
                  <a:lnTo>
                    <a:pt x="1180928" y="376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76651" y="5486399"/>
              <a:ext cx="128847" cy="42810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439689" y="5509300"/>
              <a:ext cx="0" cy="337185"/>
            </a:xfrm>
            <a:custGeom>
              <a:avLst/>
              <a:gdLst/>
              <a:ahLst/>
              <a:cxnLst/>
              <a:rect l="l" t="t" r="r" b="b"/>
              <a:pathLst>
                <a:path h="337185">
                  <a:moveTo>
                    <a:pt x="0" y="0"/>
                  </a:moveTo>
                  <a:lnTo>
                    <a:pt x="1" y="33675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67692" y="4298933"/>
              <a:ext cx="1200282" cy="1159304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6059977" y="4448783"/>
            <a:ext cx="2084070" cy="1466215"/>
            <a:chOff x="6059977" y="4448783"/>
            <a:chExt cx="2084070" cy="1466215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59977" y="5486399"/>
              <a:ext cx="128847" cy="42810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124924" y="5509300"/>
              <a:ext cx="0" cy="337185"/>
            </a:xfrm>
            <a:custGeom>
              <a:avLst/>
              <a:gdLst/>
              <a:ahLst/>
              <a:cxnLst/>
              <a:rect l="l" t="t" r="r" b="b"/>
              <a:pathLst>
                <a:path h="337185">
                  <a:moveTo>
                    <a:pt x="0" y="0"/>
                  </a:moveTo>
                  <a:lnTo>
                    <a:pt x="1" y="33675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64157" y="4448783"/>
              <a:ext cx="978820" cy="9652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61662" y="5486399"/>
              <a:ext cx="133003" cy="42810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128109" y="5509300"/>
              <a:ext cx="0" cy="337185"/>
            </a:xfrm>
            <a:custGeom>
              <a:avLst/>
              <a:gdLst/>
              <a:ahLst/>
              <a:cxnLst/>
              <a:rect l="l" t="t" r="r" b="b"/>
              <a:pathLst>
                <a:path h="337185">
                  <a:moveTo>
                    <a:pt x="0" y="0"/>
                  </a:moveTo>
                  <a:lnTo>
                    <a:pt x="0" y="33675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06479" y="4462486"/>
              <a:ext cx="1037322" cy="100965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932373" y="4993078"/>
            <a:ext cx="906144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130"/>
              </a:spcBef>
            </a:pPr>
            <a:r>
              <a:rPr sz="1800" spc="-10" dirty="0">
                <a:latin typeface="Calibri"/>
                <a:cs typeface="Calibri"/>
              </a:rPr>
              <a:t>lower overhead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6391" y="5004373"/>
            <a:ext cx="906144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130"/>
              </a:spcBef>
            </a:pPr>
            <a:r>
              <a:rPr sz="1800" spc="-10" dirty="0">
                <a:latin typeface="Calibri"/>
                <a:cs typeface="Calibri"/>
              </a:rPr>
              <a:t>higher overhead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/>
              <a:t>Virt.</a:t>
            </a:r>
            <a:r>
              <a:rPr spc="-135" dirty="0"/>
              <a:t> </a:t>
            </a:r>
            <a:r>
              <a:rPr dirty="0"/>
              <a:t>Technology</a:t>
            </a:r>
            <a:r>
              <a:rPr spc="-135" dirty="0"/>
              <a:t> </a:t>
            </a:r>
            <a:r>
              <a:rPr spc="-10" dirty="0"/>
              <a:t>Benchmarking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572259"/>
            <a:ext cx="4605020" cy="1303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287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Metrics:</a:t>
            </a:r>
            <a:endParaRPr sz="2400" dirty="0">
              <a:latin typeface="Calibri"/>
              <a:cs typeface="Calibri"/>
            </a:endParaRPr>
          </a:p>
          <a:p>
            <a:pPr marL="755015" lvl="1" indent="-285115">
              <a:lnSpc>
                <a:spcPts val="2390"/>
              </a:lnSpc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VM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Image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consump</a:t>
            </a:r>
            <a:r>
              <a:rPr lang="en-US" sz="2000" spc="-10" dirty="0">
                <a:latin typeface="Calibri"/>
                <a:cs typeface="Calibri"/>
              </a:rPr>
              <a:t>ti</a:t>
            </a:r>
            <a:r>
              <a:rPr sz="2000" spc="-10" dirty="0">
                <a:latin typeface="Calibri"/>
                <a:cs typeface="Calibri"/>
              </a:rPr>
              <a:t>on</a:t>
            </a:r>
            <a:endParaRPr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VM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crea</a:t>
            </a:r>
            <a:r>
              <a:rPr lang="en-US" sz="2000" dirty="0">
                <a:latin typeface="Calibri"/>
                <a:cs typeface="Calibri"/>
              </a:rPr>
              <a:t>ti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ti</a:t>
            </a:r>
            <a:r>
              <a:rPr sz="2000" spc="-25" dirty="0">
                <a:latin typeface="Calibri"/>
                <a:cs typeface="Calibri"/>
              </a:rPr>
              <a:t>me</a:t>
            </a:r>
            <a:endParaRPr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2000" spc="-10" dirty="0">
                <a:latin typeface="Calibri"/>
                <a:cs typeface="Calibri"/>
              </a:rPr>
              <a:t>Delay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39" y="2849879"/>
            <a:ext cx="15297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z="2000" spc="-50" dirty="0">
                <a:latin typeface="Arial"/>
                <a:cs typeface="Arial"/>
              </a:rPr>
              <a:t>–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0" dirty="0">
                <a:latin typeface="Calibri"/>
                <a:cs typeface="Calibri"/>
              </a:rPr>
              <a:t>Throughput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98021" y="4187179"/>
            <a:ext cx="7461250" cy="1727835"/>
            <a:chOff x="798021" y="4187179"/>
            <a:chExt cx="7461250" cy="17278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8021" y="5494712"/>
              <a:ext cx="7460672" cy="39069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32172" y="5667342"/>
              <a:ext cx="6993255" cy="0"/>
            </a:xfrm>
            <a:custGeom>
              <a:avLst/>
              <a:gdLst/>
              <a:ahLst/>
              <a:cxnLst/>
              <a:rect l="l" t="t" r="r" b="b"/>
              <a:pathLst>
                <a:path w="6993255">
                  <a:moveTo>
                    <a:pt x="0" y="0"/>
                  </a:moveTo>
                  <a:lnTo>
                    <a:pt x="6992727" y="0"/>
                  </a:lnTo>
                </a:path>
              </a:pathLst>
            </a:custGeom>
            <a:ln w="380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4364" y="5581769"/>
              <a:ext cx="171005" cy="1711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91702" y="5581769"/>
              <a:ext cx="171005" cy="17114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18508" y="5486399"/>
              <a:ext cx="128847" cy="42810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683593" y="5509300"/>
              <a:ext cx="0" cy="337185"/>
            </a:xfrm>
            <a:custGeom>
              <a:avLst/>
              <a:gdLst/>
              <a:ahLst/>
              <a:cxnLst/>
              <a:rect l="l" t="t" r="r" b="b"/>
              <a:pathLst>
                <a:path h="337185">
                  <a:moveTo>
                    <a:pt x="0" y="0"/>
                  </a:moveTo>
                  <a:lnTo>
                    <a:pt x="0" y="33675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25785" y="4187179"/>
              <a:ext cx="1267460" cy="1270000"/>
            </a:xfrm>
            <a:custGeom>
              <a:avLst/>
              <a:gdLst/>
              <a:ahLst/>
              <a:cxnLst/>
              <a:rect l="l" t="t" r="r" b="b"/>
              <a:pathLst>
                <a:path w="1267460" h="1270000">
                  <a:moveTo>
                    <a:pt x="145370" y="1257299"/>
                  </a:moveTo>
                  <a:lnTo>
                    <a:pt x="90300" y="1257299"/>
                  </a:lnTo>
                  <a:lnTo>
                    <a:pt x="92053" y="1269999"/>
                  </a:lnTo>
                  <a:lnTo>
                    <a:pt x="135727" y="1269999"/>
                  </a:lnTo>
                  <a:lnTo>
                    <a:pt x="145370" y="1257299"/>
                  </a:lnTo>
                  <a:close/>
                </a:path>
                <a:path w="1267460" h="1270000">
                  <a:moveTo>
                    <a:pt x="159802" y="1244599"/>
                  </a:moveTo>
                  <a:lnTo>
                    <a:pt x="87655" y="1244599"/>
                  </a:lnTo>
                  <a:lnTo>
                    <a:pt x="85966" y="1257299"/>
                  </a:lnTo>
                  <a:lnTo>
                    <a:pt x="154839" y="1257299"/>
                  </a:lnTo>
                  <a:lnTo>
                    <a:pt x="159802" y="1244599"/>
                  </a:lnTo>
                  <a:close/>
                </a:path>
                <a:path w="1267460" h="1270000">
                  <a:moveTo>
                    <a:pt x="168231" y="1231899"/>
                  </a:moveTo>
                  <a:lnTo>
                    <a:pt x="122354" y="1231899"/>
                  </a:lnTo>
                  <a:lnTo>
                    <a:pt x="112221" y="1244599"/>
                  </a:lnTo>
                  <a:lnTo>
                    <a:pt x="164266" y="1244599"/>
                  </a:lnTo>
                  <a:lnTo>
                    <a:pt x="168231" y="1231899"/>
                  </a:lnTo>
                  <a:close/>
                </a:path>
                <a:path w="1267460" h="1270000">
                  <a:moveTo>
                    <a:pt x="174598" y="1219199"/>
                  </a:moveTo>
                  <a:lnTo>
                    <a:pt x="135963" y="1219199"/>
                  </a:lnTo>
                  <a:lnTo>
                    <a:pt x="127455" y="1231899"/>
                  </a:lnTo>
                  <a:lnTo>
                    <a:pt x="171696" y="1231899"/>
                  </a:lnTo>
                  <a:lnTo>
                    <a:pt x="174598" y="1219199"/>
                  </a:lnTo>
                  <a:close/>
                </a:path>
                <a:path w="1267460" h="1270000">
                  <a:moveTo>
                    <a:pt x="178528" y="1206499"/>
                  </a:moveTo>
                  <a:lnTo>
                    <a:pt x="143465" y="1206499"/>
                  </a:lnTo>
                  <a:lnTo>
                    <a:pt x="142330" y="1219199"/>
                  </a:lnTo>
                  <a:lnTo>
                    <a:pt x="176876" y="1219199"/>
                  </a:lnTo>
                  <a:lnTo>
                    <a:pt x="178528" y="1206499"/>
                  </a:lnTo>
                  <a:close/>
                </a:path>
                <a:path w="1267460" h="1270000">
                  <a:moveTo>
                    <a:pt x="73731" y="1193799"/>
                  </a:moveTo>
                  <a:lnTo>
                    <a:pt x="39838" y="1193799"/>
                  </a:lnTo>
                  <a:lnTo>
                    <a:pt x="45558" y="1206499"/>
                  </a:lnTo>
                  <a:lnTo>
                    <a:pt x="62566" y="1206499"/>
                  </a:lnTo>
                  <a:lnTo>
                    <a:pt x="73731" y="1193799"/>
                  </a:lnTo>
                  <a:close/>
                </a:path>
                <a:path w="1267460" h="1270000">
                  <a:moveTo>
                    <a:pt x="180508" y="1193799"/>
                  </a:moveTo>
                  <a:lnTo>
                    <a:pt x="141532" y="1193799"/>
                  </a:lnTo>
                  <a:lnTo>
                    <a:pt x="143883" y="1206499"/>
                  </a:lnTo>
                  <a:lnTo>
                    <a:pt x="179556" y="1206499"/>
                  </a:lnTo>
                  <a:lnTo>
                    <a:pt x="180508" y="1193799"/>
                  </a:lnTo>
                  <a:close/>
                </a:path>
                <a:path w="1267460" h="1270000">
                  <a:moveTo>
                    <a:pt x="162063" y="1155699"/>
                  </a:moveTo>
                  <a:lnTo>
                    <a:pt x="842" y="1155699"/>
                  </a:lnTo>
                  <a:lnTo>
                    <a:pt x="5891" y="1168399"/>
                  </a:lnTo>
                  <a:lnTo>
                    <a:pt x="10415" y="1181099"/>
                  </a:lnTo>
                  <a:lnTo>
                    <a:pt x="22616" y="1193799"/>
                  </a:lnTo>
                  <a:lnTo>
                    <a:pt x="95011" y="1193799"/>
                  </a:lnTo>
                  <a:lnTo>
                    <a:pt x="104912" y="1181099"/>
                  </a:lnTo>
                  <a:lnTo>
                    <a:pt x="176889" y="1181099"/>
                  </a:lnTo>
                  <a:lnTo>
                    <a:pt x="174426" y="1168399"/>
                  </a:lnTo>
                  <a:lnTo>
                    <a:pt x="167013" y="1168399"/>
                  </a:lnTo>
                  <a:lnTo>
                    <a:pt x="162063" y="1155699"/>
                  </a:lnTo>
                  <a:close/>
                </a:path>
                <a:path w="1267460" h="1270000">
                  <a:moveTo>
                    <a:pt x="176889" y="1181099"/>
                  </a:moveTo>
                  <a:lnTo>
                    <a:pt x="133889" y="1181099"/>
                  </a:lnTo>
                  <a:lnTo>
                    <a:pt x="139621" y="1193799"/>
                  </a:lnTo>
                  <a:lnTo>
                    <a:pt x="179619" y="1193799"/>
                  </a:lnTo>
                  <a:lnTo>
                    <a:pt x="176889" y="1181099"/>
                  </a:lnTo>
                  <a:close/>
                </a:path>
                <a:path w="1267460" h="1270000">
                  <a:moveTo>
                    <a:pt x="36114" y="1130299"/>
                  </a:moveTo>
                  <a:lnTo>
                    <a:pt x="1682" y="1130299"/>
                  </a:lnTo>
                  <a:lnTo>
                    <a:pt x="0" y="1155699"/>
                  </a:lnTo>
                  <a:lnTo>
                    <a:pt x="38305" y="1155699"/>
                  </a:lnTo>
                  <a:lnTo>
                    <a:pt x="36132" y="1142999"/>
                  </a:lnTo>
                  <a:lnTo>
                    <a:pt x="35694" y="1142999"/>
                  </a:lnTo>
                  <a:lnTo>
                    <a:pt x="36114" y="1130299"/>
                  </a:lnTo>
                  <a:close/>
                </a:path>
                <a:path w="1267460" h="1270000">
                  <a:moveTo>
                    <a:pt x="150999" y="1142999"/>
                  </a:moveTo>
                  <a:lnTo>
                    <a:pt x="99905" y="1142999"/>
                  </a:lnTo>
                  <a:lnTo>
                    <a:pt x="89230" y="1155699"/>
                  </a:lnTo>
                  <a:lnTo>
                    <a:pt x="156593" y="1155699"/>
                  </a:lnTo>
                  <a:lnTo>
                    <a:pt x="150999" y="1142999"/>
                  </a:lnTo>
                  <a:close/>
                </a:path>
                <a:path w="1267460" h="1270000">
                  <a:moveTo>
                    <a:pt x="195775" y="1041400"/>
                  </a:moveTo>
                  <a:lnTo>
                    <a:pt x="103643" y="1041400"/>
                  </a:lnTo>
                  <a:lnTo>
                    <a:pt x="103413" y="1054099"/>
                  </a:lnTo>
                  <a:lnTo>
                    <a:pt x="104206" y="1054099"/>
                  </a:lnTo>
                  <a:lnTo>
                    <a:pt x="125909" y="1066799"/>
                  </a:lnTo>
                  <a:lnTo>
                    <a:pt x="113934" y="1079499"/>
                  </a:lnTo>
                  <a:lnTo>
                    <a:pt x="113489" y="1079499"/>
                  </a:lnTo>
                  <a:lnTo>
                    <a:pt x="113130" y="1092199"/>
                  </a:lnTo>
                  <a:lnTo>
                    <a:pt x="147460" y="1092199"/>
                  </a:lnTo>
                  <a:lnTo>
                    <a:pt x="201321" y="1142999"/>
                  </a:lnTo>
                  <a:lnTo>
                    <a:pt x="206900" y="1155699"/>
                  </a:lnTo>
                  <a:lnTo>
                    <a:pt x="254527" y="1155699"/>
                  </a:lnTo>
                  <a:lnTo>
                    <a:pt x="261758" y="1142999"/>
                  </a:lnTo>
                  <a:lnTo>
                    <a:pt x="267045" y="1142999"/>
                  </a:lnTo>
                  <a:lnTo>
                    <a:pt x="268537" y="1130299"/>
                  </a:lnTo>
                  <a:lnTo>
                    <a:pt x="273786" y="1130299"/>
                  </a:lnTo>
                  <a:lnTo>
                    <a:pt x="273719" y="1117599"/>
                  </a:lnTo>
                  <a:lnTo>
                    <a:pt x="223208" y="1117599"/>
                  </a:lnTo>
                  <a:lnTo>
                    <a:pt x="173970" y="1066799"/>
                  </a:lnTo>
                  <a:lnTo>
                    <a:pt x="195775" y="1041400"/>
                  </a:lnTo>
                  <a:close/>
                </a:path>
                <a:path w="1267460" h="1270000">
                  <a:moveTo>
                    <a:pt x="84538" y="1092199"/>
                  </a:moveTo>
                  <a:lnTo>
                    <a:pt x="26569" y="1092199"/>
                  </a:lnTo>
                  <a:lnTo>
                    <a:pt x="17104" y="1104899"/>
                  </a:lnTo>
                  <a:lnTo>
                    <a:pt x="12002" y="1117599"/>
                  </a:lnTo>
                  <a:lnTo>
                    <a:pt x="4081" y="1130299"/>
                  </a:lnTo>
                  <a:lnTo>
                    <a:pt x="42259" y="1130299"/>
                  </a:lnTo>
                  <a:lnTo>
                    <a:pt x="49140" y="1117599"/>
                  </a:lnTo>
                  <a:lnTo>
                    <a:pt x="53158" y="1117599"/>
                  </a:lnTo>
                  <a:lnTo>
                    <a:pt x="61509" y="1104899"/>
                  </a:lnTo>
                  <a:lnTo>
                    <a:pt x="84783" y="1104899"/>
                  </a:lnTo>
                  <a:lnTo>
                    <a:pt x="84538" y="1092199"/>
                  </a:lnTo>
                  <a:close/>
                </a:path>
                <a:path w="1267460" h="1270000">
                  <a:moveTo>
                    <a:pt x="265286" y="1104899"/>
                  </a:moveTo>
                  <a:lnTo>
                    <a:pt x="248766" y="1104899"/>
                  </a:lnTo>
                  <a:lnTo>
                    <a:pt x="247017" y="1117599"/>
                  </a:lnTo>
                  <a:lnTo>
                    <a:pt x="268371" y="1117599"/>
                  </a:lnTo>
                  <a:lnTo>
                    <a:pt x="265286" y="1104899"/>
                  </a:lnTo>
                  <a:close/>
                </a:path>
                <a:path w="1267460" h="1270000">
                  <a:moveTo>
                    <a:pt x="147460" y="1092199"/>
                  </a:moveTo>
                  <a:lnTo>
                    <a:pt x="119123" y="1092199"/>
                  </a:lnTo>
                  <a:lnTo>
                    <a:pt x="125040" y="1104899"/>
                  </a:lnTo>
                  <a:lnTo>
                    <a:pt x="134741" y="1104899"/>
                  </a:lnTo>
                  <a:lnTo>
                    <a:pt x="147460" y="1092199"/>
                  </a:lnTo>
                  <a:close/>
                </a:path>
                <a:path w="1267460" h="1270000">
                  <a:moveTo>
                    <a:pt x="74117" y="1079499"/>
                  </a:moveTo>
                  <a:lnTo>
                    <a:pt x="48449" y="1079499"/>
                  </a:lnTo>
                  <a:lnTo>
                    <a:pt x="41156" y="1092199"/>
                  </a:lnTo>
                  <a:lnTo>
                    <a:pt x="77971" y="1092199"/>
                  </a:lnTo>
                  <a:lnTo>
                    <a:pt x="74117" y="1079499"/>
                  </a:lnTo>
                  <a:close/>
                </a:path>
                <a:path w="1267460" h="1270000">
                  <a:moveTo>
                    <a:pt x="292145" y="1054099"/>
                  </a:moveTo>
                  <a:lnTo>
                    <a:pt x="250271" y="1054099"/>
                  </a:lnTo>
                  <a:lnTo>
                    <a:pt x="254064" y="1066799"/>
                  </a:lnTo>
                  <a:lnTo>
                    <a:pt x="257749" y="1079499"/>
                  </a:lnTo>
                  <a:lnTo>
                    <a:pt x="268269" y="1092199"/>
                  </a:lnTo>
                  <a:lnTo>
                    <a:pt x="317705" y="1092199"/>
                  </a:lnTo>
                  <a:lnTo>
                    <a:pt x="322927" y="1079499"/>
                  </a:lnTo>
                  <a:lnTo>
                    <a:pt x="333933" y="1066799"/>
                  </a:lnTo>
                  <a:lnTo>
                    <a:pt x="296477" y="1066799"/>
                  </a:lnTo>
                  <a:lnTo>
                    <a:pt x="292145" y="1054099"/>
                  </a:lnTo>
                  <a:close/>
                </a:path>
                <a:path w="1267460" h="1270000">
                  <a:moveTo>
                    <a:pt x="344749" y="1041400"/>
                  </a:moveTo>
                  <a:lnTo>
                    <a:pt x="321108" y="1041400"/>
                  </a:lnTo>
                  <a:lnTo>
                    <a:pt x="318640" y="1054099"/>
                  </a:lnTo>
                  <a:lnTo>
                    <a:pt x="305943" y="1054099"/>
                  </a:lnTo>
                  <a:lnTo>
                    <a:pt x="296477" y="1066799"/>
                  </a:lnTo>
                  <a:lnTo>
                    <a:pt x="338272" y="1066799"/>
                  </a:lnTo>
                  <a:lnTo>
                    <a:pt x="343568" y="1054099"/>
                  </a:lnTo>
                  <a:lnTo>
                    <a:pt x="344749" y="1041400"/>
                  </a:lnTo>
                  <a:close/>
                </a:path>
                <a:path w="1267460" h="1270000">
                  <a:moveTo>
                    <a:pt x="285078" y="1028700"/>
                  </a:moveTo>
                  <a:lnTo>
                    <a:pt x="256669" y="1028700"/>
                  </a:lnTo>
                  <a:lnTo>
                    <a:pt x="253344" y="1041400"/>
                  </a:lnTo>
                  <a:lnTo>
                    <a:pt x="250126" y="1054099"/>
                  </a:lnTo>
                  <a:lnTo>
                    <a:pt x="284285" y="1054099"/>
                  </a:lnTo>
                  <a:lnTo>
                    <a:pt x="282459" y="1041400"/>
                  </a:lnTo>
                  <a:lnTo>
                    <a:pt x="283573" y="1041400"/>
                  </a:lnTo>
                  <a:lnTo>
                    <a:pt x="285078" y="1028700"/>
                  </a:lnTo>
                  <a:close/>
                </a:path>
                <a:path w="1267460" h="1270000">
                  <a:moveTo>
                    <a:pt x="130714" y="1028700"/>
                  </a:moveTo>
                  <a:lnTo>
                    <a:pt x="116283" y="1028700"/>
                  </a:lnTo>
                  <a:lnTo>
                    <a:pt x="111142" y="1041400"/>
                  </a:lnTo>
                  <a:lnTo>
                    <a:pt x="152419" y="1041400"/>
                  </a:lnTo>
                  <a:lnTo>
                    <a:pt x="130714" y="1028700"/>
                  </a:lnTo>
                  <a:close/>
                </a:path>
                <a:path w="1267460" h="1270000">
                  <a:moveTo>
                    <a:pt x="185722" y="1028700"/>
                  </a:moveTo>
                  <a:lnTo>
                    <a:pt x="173489" y="1028700"/>
                  </a:lnTo>
                  <a:lnTo>
                    <a:pt x="152419" y="1041400"/>
                  </a:lnTo>
                  <a:lnTo>
                    <a:pt x="191637" y="1041400"/>
                  </a:lnTo>
                  <a:lnTo>
                    <a:pt x="185722" y="1028700"/>
                  </a:lnTo>
                  <a:close/>
                </a:path>
                <a:path w="1267460" h="1270000">
                  <a:moveTo>
                    <a:pt x="369660" y="1028700"/>
                  </a:moveTo>
                  <a:lnTo>
                    <a:pt x="323954" y="1028700"/>
                  </a:lnTo>
                  <a:lnTo>
                    <a:pt x="323555" y="1041400"/>
                  </a:lnTo>
                  <a:lnTo>
                    <a:pt x="363536" y="1041400"/>
                  </a:lnTo>
                  <a:lnTo>
                    <a:pt x="369660" y="1028700"/>
                  </a:lnTo>
                  <a:close/>
                </a:path>
                <a:path w="1267460" h="1270000">
                  <a:moveTo>
                    <a:pt x="231025" y="1016000"/>
                  </a:moveTo>
                  <a:lnTo>
                    <a:pt x="213612" y="1016000"/>
                  </a:lnTo>
                  <a:lnTo>
                    <a:pt x="215187" y="1028700"/>
                  </a:lnTo>
                  <a:lnTo>
                    <a:pt x="229420" y="1028700"/>
                  </a:lnTo>
                  <a:lnTo>
                    <a:pt x="231025" y="1016000"/>
                  </a:lnTo>
                  <a:close/>
                </a:path>
                <a:path w="1267460" h="1270000">
                  <a:moveTo>
                    <a:pt x="307527" y="1003300"/>
                  </a:moveTo>
                  <a:lnTo>
                    <a:pt x="275843" y="1003300"/>
                  </a:lnTo>
                  <a:lnTo>
                    <a:pt x="270515" y="1016000"/>
                  </a:lnTo>
                  <a:lnTo>
                    <a:pt x="265805" y="1016000"/>
                  </a:lnTo>
                  <a:lnTo>
                    <a:pt x="261713" y="1028700"/>
                  </a:lnTo>
                  <a:lnTo>
                    <a:pt x="289839" y="1028700"/>
                  </a:lnTo>
                  <a:lnTo>
                    <a:pt x="293166" y="1016000"/>
                  </a:lnTo>
                  <a:lnTo>
                    <a:pt x="307527" y="1003300"/>
                  </a:lnTo>
                  <a:close/>
                </a:path>
                <a:path w="1267460" h="1270000">
                  <a:moveTo>
                    <a:pt x="310741" y="952500"/>
                  </a:moveTo>
                  <a:lnTo>
                    <a:pt x="237687" y="952500"/>
                  </a:lnTo>
                  <a:lnTo>
                    <a:pt x="232228" y="965200"/>
                  </a:lnTo>
                  <a:lnTo>
                    <a:pt x="224409" y="965200"/>
                  </a:lnTo>
                  <a:lnTo>
                    <a:pt x="217953" y="977900"/>
                  </a:lnTo>
                  <a:lnTo>
                    <a:pt x="282296" y="977900"/>
                  </a:lnTo>
                  <a:lnTo>
                    <a:pt x="290932" y="990600"/>
                  </a:lnTo>
                  <a:lnTo>
                    <a:pt x="281790" y="1003300"/>
                  </a:lnTo>
                  <a:lnTo>
                    <a:pt x="307527" y="1003300"/>
                  </a:lnTo>
                  <a:lnTo>
                    <a:pt x="323527" y="1028700"/>
                  </a:lnTo>
                  <a:lnTo>
                    <a:pt x="375296" y="1028700"/>
                  </a:lnTo>
                  <a:lnTo>
                    <a:pt x="374878" y="1016000"/>
                  </a:lnTo>
                  <a:lnTo>
                    <a:pt x="310741" y="952500"/>
                  </a:lnTo>
                  <a:close/>
                </a:path>
                <a:path w="1267460" h="1270000">
                  <a:moveTo>
                    <a:pt x="235094" y="1003300"/>
                  </a:moveTo>
                  <a:lnTo>
                    <a:pt x="205934" y="1003300"/>
                  </a:lnTo>
                  <a:lnTo>
                    <a:pt x="205999" y="1016000"/>
                  </a:lnTo>
                  <a:lnTo>
                    <a:pt x="232161" y="1016000"/>
                  </a:lnTo>
                  <a:lnTo>
                    <a:pt x="235094" y="1003300"/>
                  </a:lnTo>
                  <a:close/>
                </a:path>
                <a:path w="1267460" h="1270000">
                  <a:moveTo>
                    <a:pt x="242039" y="990600"/>
                  </a:moveTo>
                  <a:lnTo>
                    <a:pt x="208991" y="990600"/>
                  </a:lnTo>
                  <a:lnTo>
                    <a:pt x="206532" y="1003300"/>
                  </a:lnTo>
                  <a:lnTo>
                    <a:pt x="237070" y="1003300"/>
                  </a:lnTo>
                  <a:lnTo>
                    <a:pt x="242039" y="990600"/>
                  </a:lnTo>
                  <a:close/>
                </a:path>
                <a:path w="1267460" h="1270000">
                  <a:moveTo>
                    <a:pt x="253262" y="977900"/>
                  </a:moveTo>
                  <a:lnTo>
                    <a:pt x="215218" y="977900"/>
                  </a:lnTo>
                  <a:lnTo>
                    <a:pt x="210727" y="990600"/>
                  </a:lnTo>
                  <a:lnTo>
                    <a:pt x="245487" y="990600"/>
                  </a:lnTo>
                  <a:lnTo>
                    <a:pt x="253262" y="977900"/>
                  </a:lnTo>
                  <a:close/>
                </a:path>
                <a:path w="1267460" h="1270000">
                  <a:moveTo>
                    <a:pt x="364116" y="901700"/>
                  </a:moveTo>
                  <a:lnTo>
                    <a:pt x="305360" y="901700"/>
                  </a:lnTo>
                  <a:lnTo>
                    <a:pt x="400714" y="990600"/>
                  </a:lnTo>
                  <a:lnTo>
                    <a:pt x="414883" y="990600"/>
                  </a:lnTo>
                  <a:lnTo>
                    <a:pt x="420074" y="977900"/>
                  </a:lnTo>
                  <a:lnTo>
                    <a:pt x="427559" y="977900"/>
                  </a:lnTo>
                  <a:lnTo>
                    <a:pt x="427838" y="965200"/>
                  </a:lnTo>
                  <a:lnTo>
                    <a:pt x="427225" y="965200"/>
                  </a:lnTo>
                  <a:lnTo>
                    <a:pt x="364116" y="901700"/>
                  </a:lnTo>
                  <a:close/>
                </a:path>
                <a:path w="1267460" h="1270000">
                  <a:moveTo>
                    <a:pt x="285445" y="939800"/>
                  </a:moveTo>
                  <a:lnTo>
                    <a:pt x="253274" y="939800"/>
                  </a:lnTo>
                  <a:lnTo>
                    <a:pt x="248210" y="952500"/>
                  </a:lnTo>
                  <a:lnTo>
                    <a:pt x="297935" y="952500"/>
                  </a:lnTo>
                  <a:lnTo>
                    <a:pt x="285445" y="939800"/>
                  </a:lnTo>
                  <a:close/>
                </a:path>
                <a:path w="1267460" h="1270000">
                  <a:moveTo>
                    <a:pt x="406379" y="825500"/>
                  </a:moveTo>
                  <a:lnTo>
                    <a:pt x="368189" y="825500"/>
                  </a:lnTo>
                  <a:lnTo>
                    <a:pt x="361751" y="838200"/>
                  </a:lnTo>
                  <a:lnTo>
                    <a:pt x="349543" y="850900"/>
                  </a:lnTo>
                  <a:lnTo>
                    <a:pt x="345347" y="850900"/>
                  </a:lnTo>
                  <a:lnTo>
                    <a:pt x="342778" y="863600"/>
                  </a:lnTo>
                  <a:lnTo>
                    <a:pt x="401123" y="863600"/>
                  </a:lnTo>
                  <a:lnTo>
                    <a:pt x="405033" y="876300"/>
                  </a:lnTo>
                  <a:lnTo>
                    <a:pt x="463864" y="927100"/>
                  </a:lnTo>
                  <a:lnTo>
                    <a:pt x="478076" y="927100"/>
                  </a:lnTo>
                  <a:lnTo>
                    <a:pt x="483217" y="914400"/>
                  </a:lnTo>
                  <a:lnTo>
                    <a:pt x="490720" y="914400"/>
                  </a:lnTo>
                  <a:lnTo>
                    <a:pt x="490985" y="901700"/>
                  </a:lnTo>
                  <a:lnTo>
                    <a:pt x="490373" y="901700"/>
                  </a:lnTo>
                  <a:lnTo>
                    <a:pt x="431676" y="850900"/>
                  </a:lnTo>
                  <a:lnTo>
                    <a:pt x="424870" y="838200"/>
                  </a:lnTo>
                  <a:lnTo>
                    <a:pt x="418449" y="838200"/>
                  </a:lnTo>
                  <a:lnTo>
                    <a:pt x="406379" y="825500"/>
                  </a:lnTo>
                  <a:close/>
                </a:path>
                <a:path w="1267460" h="1270000">
                  <a:moveTo>
                    <a:pt x="365061" y="876300"/>
                  </a:moveTo>
                  <a:lnTo>
                    <a:pt x="339503" y="876300"/>
                  </a:lnTo>
                  <a:lnTo>
                    <a:pt x="339526" y="889000"/>
                  </a:lnTo>
                  <a:lnTo>
                    <a:pt x="305882" y="889000"/>
                  </a:lnTo>
                  <a:lnTo>
                    <a:pt x="304760" y="901700"/>
                  </a:lnTo>
                  <a:lnTo>
                    <a:pt x="363123" y="901700"/>
                  </a:lnTo>
                  <a:lnTo>
                    <a:pt x="363114" y="889000"/>
                  </a:lnTo>
                  <a:lnTo>
                    <a:pt x="365061" y="876300"/>
                  </a:lnTo>
                  <a:close/>
                </a:path>
                <a:path w="1267460" h="1270000">
                  <a:moveTo>
                    <a:pt x="327976" y="876300"/>
                  </a:moveTo>
                  <a:lnTo>
                    <a:pt x="315455" y="876300"/>
                  </a:lnTo>
                  <a:lnTo>
                    <a:pt x="311035" y="889000"/>
                  </a:lnTo>
                  <a:lnTo>
                    <a:pt x="339526" y="889000"/>
                  </a:lnTo>
                  <a:lnTo>
                    <a:pt x="327976" y="876300"/>
                  </a:lnTo>
                  <a:close/>
                </a:path>
                <a:path w="1267460" h="1270000">
                  <a:moveTo>
                    <a:pt x="373246" y="863600"/>
                  </a:moveTo>
                  <a:lnTo>
                    <a:pt x="341129" y="863600"/>
                  </a:lnTo>
                  <a:lnTo>
                    <a:pt x="340037" y="876300"/>
                  </a:lnTo>
                  <a:lnTo>
                    <a:pt x="367228" y="876300"/>
                  </a:lnTo>
                  <a:lnTo>
                    <a:pt x="373246" y="863600"/>
                  </a:lnTo>
                  <a:close/>
                </a:path>
                <a:path w="1267460" h="1270000">
                  <a:moveTo>
                    <a:pt x="549952" y="850900"/>
                  </a:moveTo>
                  <a:lnTo>
                    <a:pt x="486501" y="850900"/>
                  </a:lnTo>
                  <a:lnTo>
                    <a:pt x="494181" y="863600"/>
                  </a:lnTo>
                  <a:lnTo>
                    <a:pt x="544425" y="863600"/>
                  </a:lnTo>
                  <a:lnTo>
                    <a:pt x="549952" y="850900"/>
                  </a:lnTo>
                  <a:close/>
                </a:path>
                <a:path w="1267460" h="1270000">
                  <a:moveTo>
                    <a:pt x="563544" y="838200"/>
                  </a:moveTo>
                  <a:lnTo>
                    <a:pt x="469842" y="838200"/>
                  </a:lnTo>
                  <a:lnTo>
                    <a:pt x="475257" y="850900"/>
                  </a:lnTo>
                  <a:lnTo>
                    <a:pt x="559837" y="850900"/>
                  </a:lnTo>
                  <a:lnTo>
                    <a:pt x="563544" y="838200"/>
                  </a:lnTo>
                  <a:close/>
                </a:path>
                <a:path w="1267460" h="1270000">
                  <a:moveTo>
                    <a:pt x="568692" y="825500"/>
                  </a:moveTo>
                  <a:lnTo>
                    <a:pt x="458634" y="825500"/>
                  </a:lnTo>
                  <a:lnTo>
                    <a:pt x="464567" y="838200"/>
                  </a:lnTo>
                  <a:lnTo>
                    <a:pt x="566496" y="838200"/>
                  </a:lnTo>
                  <a:lnTo>
                    <a:pt x="568692" y="825500"/>
                  </a:lnTo>
                  <a:close/>
                </a:path>
                <a:path w="1267460" h="1270000">
                  <a:moveTo>
                    <a:pt x="497784" y="812800"/>
                  </a:moveTo>
                  <a:lnTo>
                    <a:pt x="448721" y="812800"/>
                  </a:lnTo>
                  <a:lnTo>
                    <a:pt x="453352" y="825500"/>
                  </a:lnTo>
                  <a:lnTo>
                    <a:pt x="506478" y="825500"/>
                  </a:lnTo>
                  <a:lnTo>
                    <a:pt x="497784" y="812800"/>
                  </a:lnTo>
                  <a:close/>
                </a:path>
                <a:path w="1267460" h="1270000">
                  <a:moveTo>
                    <a:pt x="571287" y="812800"/>
                  </a:moveTo>
                  <a:lnTo>
                    <a:pt x="542922" y="812800"/>
                  </a:lnTo>
                  <a:lnTo>
                    <a:pt x="541412" y="825500"/>
                  </a:lnTo>
                  <a:lnTo>
                    <a:pt x="570249" y="825500"/>
                  </a:lnTo>
                  <a:lnTo>
                    <a:pt x="571287" y="812800"/>
                  </a:lnTo>
                  <a:close/>
                </a:path>
                <a:path w="1267460" h="1270000">
                  <a:moveTo>
                    <a:pt x="486004" y="800100"/>
                  </a:moveTo>
                  <a:lnTo>
                    <a:pt x="438786" y="800100"/>
                  </a:lnTo>
                  <a:lnTo>
                    <a:pt x="441425" y="812800"/>
                  </a:lnTo>
                  <a:lnTo>
                    <a:pt x="493646" y="812800"/>
                  </a:lnTo>
                  <a:lnTo>
                    <a:pt x="486004" y="800100"/>
                  </a:lnTo>
                  <a:close/>
                </a:path>
                <a:path w="1267460" h="1270000">
                  <a:moveTo>
                    <a:pt x="571804" y="800100"/>
                  </a:moveTo>
                  <a:lnTo>
                    <a:pt x="547401" y="800100"/>
                  </a:lnTo>
                  <a:lnTo>
                    <a:pt x="546206" y="812800"/>
                  </a:lnTo>
                  <a:lnTo>
                    <a:pt x="571805" y="812800"/>
                  </a:lnTo>
                  <a:lnTo>
                    <a:pt x="571804" y="800100"/>
                  </a:lnTo>
                  <a:close/>
                </a:path>
                <a:path w="1267460" h="1270000">
                  <a:moveTo>
                    <a:pt x="599954" y="800100"/>
                  </a:moveTo>
                  <a:lnTo>
                    <a:pt x="571804" y="800100"/>
                  </a:lnTo>
                  <a:lnTo>
                    <a:pt x="583039" y="812800"/>
                  </a:lnTo>
                  <a:lnTo>
                    <a:pt x="595604" y="812800"/>
                  </a:lnTo>
                  <a:lnTo>
                    <a:pt x="599954" y="800100"/>
                  </a:lnTo>
                  <a:close/>
                </a:path>
                <a:path w="1267460" h="1270000">
                  <a:moveTo>
                    <a:pt x="472323" y="774700"/>
                  </a:moveTo>
                  <a:lnTo>
                    <a:pt x="434280" y="774700"/>
                  </a:lnTo>
                  <a:lnTo>
                    <a:pt x="436824" y="800100"/>
                  </a:lnTo>
                  <a:lnTo>
                    <a:pt x="482744" y="800100"/>
                  </a:lnTo>
                  <a:lnTo>
                    <a:pt x="477139" y="787400"/>
                  </a:lnTo>
                  <a:lnTo>
                    <a:pt x="475054" y="787400"/>
                  </a:lnTo>
                  <a:lnTo>
                    <a:pt x="472323" y="774700"/>
                  </a:lnTo>
                  <a:close/>
                </a:path>
                <a:path w="1267460" h="1270000">
                  <a:moveTo>
                    <a:pt x="606124" y="787400"/>
                  </a:moveTo>
                  <a:lnTo>
                    <a:pt x="547621" y="787400"/>
                  </a:lnTo>
                  <a:lnTo>
                    <a:pt x="547684" y="800100"/>
                  </a:lnTo>
                  <a:lnTo>
                    <a:pt x="605141" y="800100"/>
                  </a:lnTo>
                  <a:lnTo>
                    <a:pt x="606124" y="787400"/>
                  </a:lnTo>
                  <a:close/>
                </a:path>
                <a:path w="1267460" h="1270000">
                  <a:moveTo>
                    <a:pt x="466642" y="647700"/>
                  </a:moveTo>
                  <a:lnTo>
                    <a:pt x="457596" y="647700"/>
                  </a:lnTo>
                  <a:lnTo>
                    <a:pt x="453811" y="660400"/>
                  </a:lnTo>
                  <a:lnTo>
                    <a:pt x="444342" y="660400"/>
                  </a:lnTo>
                  <a:lnTo>
                    <a:pt x="441397" y="673100"/>
                  </a:lnTo>
                  <a:lnTo>
                    <a:pt x="439643" y="673100"/>
                  </a:lnTo>
                  <a:lnTo>
                    <a:pt x="491121" y="723900"/>
                  </a:lnTo>
                  <a:lnTo>
                    <a:pt x="475390" y="723900"/>
                  </a:lnTo>
                  <a:lnTo>
                    <a:pt x="462550" y="736600"/>
                  </a:lnTo>
                  <a:lnTo>
                    <a:pt x="451446" y="736600"/>
                  </a:lnTo>
                  <a:lnTo>
                    <a:pt x="446827" y="749300"/>
                  </a:lnTo>
                  <a:lnTo>
                    <a:pt x="515630" y="749300"/>
                  </a:lnTo>
                  <a:lnTo>
                    <a:pt x="546766" y="787400"/>
                  </a:lnTo>
                  <a:lnTo>
                    <a:pt x="605455" y="787400"/>
                  </a:lnTo>
                  <a:lnTo>
                    <a:pt x="466642" y="647700"/>
                  </a:lnTo>
                  <a:close/>
                </a:path>
                <a:path w="1267460" h="1270000">
                  <a:moveTo>
                    <a:pt x="473575" y="762000"/>
                  </a:moveTo>
                  <a:lnTo>
                    <a:pt x="437548" y="762000"/>
                  </a:lnTo>
                  <a:lnTo>
                    <a:pt x="434949" y="774700"/>
                  </a:lnTo>
                  <a:lnTo>
                    <a:pt x="472027" y="774700"/>
                  </a:lnTo>
                  <a:lnTo>
                    <a:pt x="473575" y="762000"/>
                  </a:lnTo>
                  <a:close/>
                </a:path>
                <a:path w="1267460" h="1270000">
                  <a:moveTo>
                    <a:pt x="487805" y="749300"/>
                  </a:moveTo>
                  <a:lnTo>
                    <a:pt x="442971" y="749300"/>
                  </a:lnTo>
                  <a:lnTo>
                    <a:pt x="439878" y="762000"/>
                  </a:lnTo>
                  <a:lnTo>
                    <a:pt x="482911" y="762000"/>
                  </a:lnTo>
                  <a:lnTo>
                    <a:pt x="487805" y="749300"/>
                  </a:lnTo>
                  <a:close/>
                </a:path>
                <a:path w="1267460" h="1270000">
                  <a:moveTo>
                    <a:pt x="644476" y="749300"/>
                  </a:moveTo>
                  <a:lnTo>
                    <a:pt x="611237" y="749300"/>
                  </a:lnTo>
                  <a:lnTo>
                    <a:pt x="622179" y="762000"/>
                  </a:lnTo>
                  <a:lnTo>
                    <a:pt x="638937" y="762000"/>
                  </a:lnTo>
                  <a:lnTo>
                    <a:pt x="644476" y="749300"/>
                  </a:lnTo>
                  <a:close/>
                </a:path>
                <a:path w="1267460" h="1270000">
                  <a:moveTo>
                    <a:pt x="620022" y="698500"/>
                  </a:moveTo>
                  <a:lnTo>
                    <a:pt x="591050" y="698500"/>
                  </a:lnTo>
                  <a:lnTo>
                    <a:pt x="587833" y="711200"/>
                  </a:lnTo>
                  <a:lnTo>
                    <a:pt x="587978" y="723900"/>
                  </a:lnTo>
                  <a:lnTo>
                    <a:pt x="591771" y="736600"/>
                  </a:lnTo>
                  <a:lnTo>
                    <a:pt x="595456" y="736600"/>
                  </a:lnTo>
                  <a:lnTo>
                    <a:pt x="605976" y="749300"/>
                  </a:lnTo>
                  <a:lnTo>
                    <a:pt x="660634" y="749300"/>
                  </a:lnTo>
                  <a:lnTo>
                    <a:pt x="671640" y="736600"/>
                  </a:lnTo>
                  <a:lnTo>
                    <a:pt x="675977" y="723900"/>
                  </a:lnTo>
                  <a:lnTo>
                    <a:pt x="629852" y="723900"/>
                  </a:lnTo>
                  <a:lnTo>
                    <a:pt x="623606" y="711200"/>
                  </a:lnTo>
                  <a:lnTo>
                    <a:pt x="620165" y="711200"/>
                  </a:lnTo>
                  <a:lnTo>
                    <a:pt x="620022" y="698500"/>
                  </a:lnTo>
                  <a:close/>
                </a:path>
                <a:path w="1267460" h="1270000">
                  <a:moveTo>
                    <a:pt x="681273" y="711200"/>
                  </a:moveTo>
                  <a:lnTo>
                    <a:pt x="656346" y="711200"/>
                  </a:lnTo>
                  <a:lnTo>
                    <a:pt x="648221" y="723900"/>
                  </a:lnTo>
                  <a:lnTo>
                    <a:pt x="675977" y="723900"/>
                  </a:lnTo>
                  <a:lnTo>
                    <a:pt x="681273" y="711200"/>
                  </a:lnTo>
                  <a:close/>
                </a:path>
                <a:path w="1267460" h="1270000">
                  <a:moveTo>
                    <a:pt x="712014" y="685800"/>
                  </a:moveTo>
                  <a:lnTo>
                    <a:pt x="661661" y="685800"/>
                  </a:lnTo>
                  <a:lnTo>
                    <a:pt x="661262" y="698500"/>
                  </a:lnTo>
                  <a:lnTo>
                    <a:pt x="658815" y="711200"/>
                  </a:lnTo>
                  <a:lnTo>
                    <a:pt x="682456" y="711200"/>
                  </a:lnTo>
                  <a:lnTo>
                    <a:pt x="682170" y="698500"/>
                  </a:lnTo>
                  <a:lnTo>
                    <a:pt x="709479" y="698500"/>
                  </a:lnTo>
                  <a:lnTo>
                    <a:pt x="712014" y="685800"/>
                  </a:lnTo>
                  <a:close/>
                </a:path>
                <a:path w="1267460" h="1270000">
                  <a:moveTo>
                    <a:pt x="698814" y="698500"/>
                  </a:moveTo>
                  <a:lnTo>
                    <a:pt x="682170" y="698500"/>
                  </a:lnTo>
                  <a:lnTo>
                    <a:pt x="690627" y="711200"/>
                  </a:lnTo>
                  <a:lnTo>
                    <a:pt x="695440" y="711200"/>
                  </a:lnTo>
                  <a:lnTo>
                    <a:pt x="698814" y="698500"/>
                  </a:lnTo>
                  <a:close/>
                </a:path>
                <a:path w="1267460" h="1270000">
                  <a:moveTo>
                    <a:pt x="645234" y="673100"/>
                  </a:moveTo>
                  <a:lnTo>
                    <a:pt x="603512" y="673100"/>
                  </a:lnTo>
                  <a:lnTo>
                    <a:pt x="599420" y="685800"/>
                  </a:lnTo>
                  <a:lnTo>
                    <a:pt x="594376" y="698500"/>
                  </a:lnTo>
                  <a:lnTo>
                    <a:pt x="622785" y="698500"/>
                  </a:lnTo>
                  <a:lnTo>
                    <a:pt x="627546" y="685800"/>
                  </a:lnTo>
                  <a:lnTo>
                    <a:pt x="630872" y="685800"/>
                  </a:lnTo>
                  <a:lnTo>
                    <a:pt x="645234" y="673100"/>
                  </a:lnTo>
                  <a:close/>
                </a:path>
                <a:path w="1267460" h="1270000">
                  <a:moveTo>
                    <a:pt x="569868" y="673100"/>
                  </a:moveTo>
                  <a:lnTo>
                    <a:pt x="545998" y="673100"/>
                  </a:lnTo>
                  <a:lnTo>
                    <a:pt x="547538" y="685800"/>
                  </a:lnTo>
                  <a:lnTo>
                    <a:pt x="568732" y="685800"/>
                  </a:lnTo>
                  <a:lnTo>
                    <a:pt x="569868" y="673100"/>
                  </a:lnTo>
                  <a:close/>
                </a:path>
                <a:path w="1267460" h="1270000">
                  <a:moveTo>
                    <a:pt x="661275" y="635000"/>
                  </a:moveTo>
                  <a:lnTo>
                    <a:pt x="617126" y="635000"/>
                  </a:lnTo>
                  <a:lnTo>
                    <a:pt x="620003" y="647700"/>
                  </a:lnTo>
                  <a:lnTo>
                    <a:pt x="628639" y="647700"/>
                  </a:lnTo>
                  <a:lnTo>
                    <a:pt x="619495" y="660400"/>
                  </a:lnTo>
                  <a:lnTo>
                    <a:pt x="613549" y="673100"/>
                  </a:lnTo>
                  <a:lnTo>
                    <a:pt x="645234" y="673100"/>
                  </a:lnTo>
                  <a:lnTo>
                    <a:pt x="661234" y="685800"/>
                  </a:lnTo>
                  <a:lnTo>
                    <a:pt x="712584" y="685800"/>
                  </a:lnTo>
                  <a:lnTo>
                    <a:pt x="661275" y="635000"/>
                  </a:lnTo>
                  <a:close/>
                </a:path>
                <a:path w="1267460" h="1270000">
                  <a:moveTo>
                    <a:pt x="574777" y="660400"/>
                  </a:moveTo>
                  <a:lnTo>
                    <a:pt x="544239" y="660400"/>
                  </a:lnTo>
                  <a:lnTo>
                    <a:pt x="543641" y="673100"/>
                  </a:lnTo>
                  <a:lnTo>
                    <a:pt x="572801" y="673100"/>
                  </a:lnTo>
                  <a:lnTo>
                    <a:pt x="574777" y="660400"/>
                  </a:lnTo>
                  <a:close/>
                </a:path>
                <a:path w="1267460" h="1270000">
                  <a:moveTo>
                    <a:pt x="583194" y="647700"/>
                  </a:moveTo>
                  <a:lnTo>
                    <a:pt x="552924" y="647700"/>
                  </a:lnTo>
                  <a:lnTo>
                    <a:pt x="548434" y="660400"/>
                  </a:lnTo>
                  <a:lnTo>
                    <a:pt x="579746" y="660400"/>
                  </a:lnTo>
                  <a:lnTo>
                    <a:pt x="583194" y="647700"/>
                  </a:lnTo>
                  <a:close/>
                </a:path>
                <a:path w="1267460" h="1270000">
                  <a:moveTo>
                    <a:pt x="703789" y="558800"/>
                  </a:moveTo>
                  <a:lnTo>
                    <a:pt x="643065" y="558800"/>
                  </a:lnTo>
                  <a:lnTo>
                    <a:pt x="738421" y="660400"/>
                  </a:lnTo>
                  <a:lnTo>
                    <a:pt x="746649" y="660400"/>
                  </a:lnTo>
                  <a:lnTo>
                    <a:pt x="750364" y="647700"/>
                  </a:lnTo>
                  <a:lnTo>
                    <a:pt x="759832" y="647700"/>
                  </a:lnTo>
                  <a:lnTo>
                    <a:pt x="762848" y="635000"/>
                  </a:lnTo>
                  <a:lnTo>
                    <a:pt x="764931" y="635000"/>
                  </a:lnTo>
                  <a:lnTo>
                    <a:pt x="705665" y="571500"/>
                  </a:lnTo>
                  <a:lnTo>
                    <a:pt x="704542" y="571500"/>
                  </a:lnTo>
                  <a:lnTo>
                    <a:pt x="703789" y="558800"/>
                  </a:lnTo>
                  <a:close/>
                </a:path>
                <a:path w="1267460" h="1270000">
                  <a:moveTo>
                    <a:pt x="641992" y="609600"/>
                  </a:moveTo>
                  <a:lnTo>
                    <a:pt x="580721" y="609600"/>
                  </a:lnTo>
                  <a:lnTo>
                    <a:pt x="575394" y="622300"/>
                  </a:lnTo>
                  <a:lnTo>
                    <a:pt x="565797" y="622300"/>
                  </a:lnTo>
                  <a:lnTo>
                    <a:pt x="562115" y="635000"/>
                  </a:lnTo>
                  <a:lnTo>
                    <a:pt x="555660" y="647700"/>
                  </a:lnTo>
                  <a:lnTo>
                    <a:pt x="590967" y="647700"/>
                  </a:lnTo>
                  <a:lnTo>
                    <a:pt x="594139" y="635000"/>
                  </a:lnTo>
                  <a:lnTo>
                    <a:pt x="661275" y="635000"/>
                  </a:lnTo>
                  <a:lnTo>
                    <a:pt x="648448" y="622300"/>
                  </a:lnTo>
                  <a:lnTo>
                    <a:pt x="641992" y="609600"/>
                  </a:lnTo>
                  <a:close/>
                </a:path>
                <a:path w="1267460" h="1270000">
                  <a:moveTo>
                    <a:pt x="623150" y="596900"/>
                  </a:moveTo>
                  <a:lnTo>
                    <a:pt x="604152" y="596900"/>
                  </a:lnTo>
                  <a:lnTo>
                    <a:pt x="597645" y="609600"/>
                  </a:lnTo>
                  <a:lnTo>
                    <a:pt x="635642" y="609600"/>
                  </a:lnTo>
                  <a:lnTo>
                    <a:pt x="623150" y="596900"/>
                  </a:lnTo>
                  <a:close/>
                </a:path>
                <a:path w="1267460" h="1270000">
                  <a:moveTo>
                    <a:pt x="837458" y="558800"/>
                  </a:moveTo>
                  <a:lnTo>
                    <a:pt x="800595" y="558800"/>
                  </a:lnTo>
                  <a:lnTo>
                    <a:pt x="816236" y="571500"/>
                  </a:lnTo>
                  <a:lnTo>
                    <a:pt x="831723" y="571500"/>
                  </a:lnTo>
                  <a:lnTo>
                    <a:pt x="837458" y="558800"/>
                  </a:lnTo>
                  <a:close/>
                </a:path>
                <a:path w="1267460" h="1270000">
                  <a:moveTo>
                    <a:pt x="702985" y="546100"/>
                  </a:moveTo>
                  <a:lnTo>
                    <a:pt x="647024" y="546100"/>
                  </a:lnTo>
                  <a:lnTo>
                    <a:pt x="644500" y="558800"/>
                  </a:lnTo>
                  <a:lnTo>
                    <a:pt x="703018" y="558800"/>
                  </a:lnTo>
                  <a:lnTo>
                    <a:pt x="702985" y="546100"/>
                  </a:lnTo>
                  <a:close/>
                </a:path>
                <a:path w="1267460" h="1270000">
                  <a:moveTo>
                    <a:pt x="854038" y="546100"/>
                  </a:moveTo>
                  <a:lnTo>
                    <a:pt x="773920" y="546100"/>
                  </a:lnTo>
                  <a:lnTo>
                    <a:pt x="779473" y="558800"/>
                  </a:lnTo>
                  <a:lnTo>
                    <a:pt x="848616" y="558800"/>
                  </a:lnTo>
                  <a:lnTo>
                    <a:pt x="854038" y="546100"/>
                  </a:lnTo>
                  <a:close/>
                </a:path>
                <a:path w="1267460" h="1270000">
                  <a:moveTo>
                    <a:pt x="665683" y="533400"/>
                  </a:moveTo>
                  <a:lnTo>
                    <a:pt x="659805" y="533400"/>
                  </a:lnTo>
                  <a:lnTo>
                    <a:pt x="658402" y="546100"/>
                  </a:lnTo>
                  <a:lnTo>
                    <a:pt x="676468" y="546100"/>
                  </a:lnTo>
                  <a:lnTo>
                    <a:pt x="676443" y="544428"/>
                  </a:lnTo>
                  <a:lnTo>
                    <a:pt x="665683" y="533400"/>
                  </a:lnTo>
                  <a:close/>
                </a:path>
                <a:path w="1267460" h="1270000">
                  <a:moveTo>
                    <a:pt x="676443" y="544428"/>
                  </a:moveTo>
                  <a:lnTo>
                    <a:pt x="676468" y="546100"/>
                  </a:lnTo>
                  <a:lnTo>
                    <a:pt x="678074" y="546100"/>
                  </a:lnTo>
                  <a:lnTo>
                    <a:pt x="676443" y="544428"/>
                  </a:lnTo>
                  <a:close/>
                </a:path>
                <a:path w="1267460" h="1270000">
                  <a:moveTo>
                    <a:pt x="705976" y="533400"/>
                  </a:moveTo>
                  <a:lnTo>
                    <a:pt x="676280" y="533400"/>
                  </a:lnTo>
                  <a:lnTo>
                    <a:pt x="676443" y="544428"/>
                  </a:lnTo>
                  <a:lnTo>
                    <a:pt x="678074" y="546100"/>
                  </a:lnTo>
                  <a:lnTo>
                    <a:pt x="704218" y="546100"/>
                  </a:lnTo>
                  <a:lnTo>
                    <a:pt x="705976" y="533400"/>
                  </a:lnTo>
                  <a:close/>
                </a:path>
                <a:path w="1267460" h="1270000">
                  <a:moveTo>
                    <a:pt x="865159" y="533400"/>
                  </a:moveTo>
                  <a:lnTo>
                    <a:pt x="763230" y="533400"/>
                  </a:lnTo>
                  <a:lnTo>
                    <a:pt x="768506" y="546100"/>
                  </a:lnTo>
                  <a:lnTo>
                    <a:pt x="862207" y="546100"/>
                  </a:lnTo>
                  <a:lnTo>
                    <a:pt x="865159" y="533400"/>
                  </a:lnTo>
                  <a:close/>
                </a:path>
                <a:path w="1267460" h="1270000">
                  <a:moveTo>
                    <a:pt x="722293" y="520700"/>
                  </a:moveTo>
                  <a:lnTo>
                    <a:pt x="677826" y="520700"/>
                  </a:lnTo>
                  <a:lnTo>
                    <a:pt x="676551" y="533400"/>
                  </a:lnTo>
                  <a:lnTo>
                    <a:pt x="721029" y="533400"/>
                  </a:lnTo>
                  <a:lnTo>
                    <a:pt x="722293" y="520700"/>
                  </a:lnTo>
                  <a:close/>
                </a:path>
                <a:path w="1267460" h="1270000">
                  <a:moveTo>
                    <a:pt x="809490" y="520700"/>
                  </a:moveTo>
                  <a:lnTo>
                    <a:pt x="752016" y="520700"/>
                  </a:lnTo>
                  <a:lnTo>
                    <a:pt x="757298" y="533400"/>
                  </a:lnTo>
                  <a:lnTo>
                    <a:pt x="818188" y="533400"/>
                  </a:lnTo>
                  <a:lnTo>
                    <a:pt x="809490" y="520700"/>
                  </a:lnTo>
                  <a:close/>
                </a:path>
                <a:path w="1267460" h="1270000">
                  <a:moveTo>
                    <a:pt x="868913" y="520700"/>
                  </a:moveTo>
                  <a:lnTo>
                    <a:pt x="834600" y="520700"/>
                  </a:lnTo>
                  <a:lnTo>
                    <a:pt x="830707" y="533400"/>
                  </a:lnTo>
                  <a:lnTo>
                    <a:pt x="867355" y="533400"/>
                  </a:lnTo>
                  <a:lnTo>
                    <a:pt x="868913" y="520700"/>
                  </a:lnTo>
                  <a:close/>
                </a:path>
                <a:path w="1267460" h="1270000">
                  <a:moveTo>
                    <a:pt x="715403" y="508000"/>
                  </a:moveTo>
                  <a:lnTo>
                    <a:pt x="681753" y="508000"/>
                  </a:lnTo>
                  <a:lnTo>
                    <a:pt x="678868" y="520700"/>
                  </a:lnTo>
                  <a:lnTo>
                    <a:pt x="717398" y="520700"/>
                  </a:lnTo>
                  <a:lnTo>
                    <a:pt x="715403" y="508000"/>
                  </a:lnTo>
                  <a:close/>
                </a:path>
                <a:path w="1267460" h="1270000">
                  <a:moveTo>
                    <a:pt x="784668" y="508000"/>
                  </a:moveTo>
                  <a:lnTo>
                    <a:pt x="743404" y="508000"/>
                  </a:lnTo>
                  <a:lnTo>
                    <a:pt x="747384" y="520700"/>
                  </a:lnTo>
                  <a:lnTo>
                    <a:pt x="792309" y="520700"/>
                  </a:lnTo>
                  <a:lnTo>
                    <a:pt x="784668" y="508000"/>
                  </a:lnTo>
                  <a:close/>
                </a:path>
                <a:path w="1267460" h="1270000">
                  <a:moveTo>
                    <a:pt x="870470" y="508000"/>
                  </a:moveTo>
                  <a:lnTo>
                    <a:pt x="844871" y="508000"/>
                  </a:lnTo>
                  <a:lnTo>
                    <a:pt x="843974" y="520700"/>
                  </a:lnTo>
                  <a:lnTo>
                    <a:pt x="869951" y="520700"/>
                  </a:lnTo>
                  <a:lnTo>
                    <a:pt x="870470" y="508000"/>
                  </a:lnTo>
                  <a:close/>
                </a:path>
                <a:path w="1267460" h="1270000">
                  <a:moveTo>
                    <a:pt x="885449" y="508000"/>
                  </a:moveTo>
                  <a:lnTo>
                    <a:pt x="882548" y="508000"/>
                  </a:lnTo>
                  <a:lnTo>
                    <a:pt x="884377" y="520700"/>
                  </a:lnTo>
                  <a:lnTo>
                    <a:pt x="885449" y="508000"/>
                  </a:lnTo>
                  <a:close/>
                </a:path>
                <a:path w="1267460" h="1270000">
                  <a:moveTo>
                    <a:pt x="702290" y="495300"/>
                  </a:moveTo>
                  <a:lnTo>
                    <a:pt x="694959" y="495300"/>
                  </a:lnTo>
                  <a:lnTo>
                    <a:pt x="693696" y="508000"/>
                  </a:lnTo>
                  <a:lnTo>
                    <a:pt x="704042" y="508000"/>
                  </a:lnTo>
                  <a:lnTo>
                    <a:pt x="702290" y="495300"/>
                  </a:lnTo>
                  <a:close/>
                </a:path>
                <a:path w="1267460" h="1270000">
                  <a:moveTo>
                    <a:pt x="775802" y="495300"/>
                  </a:moveTo>
                  <a:lnTo>
                    <a:pt x="737449" y="495300"/>
                  </a:lnTo>
                  <a:lnTo>
                    <a:pt x="740088" y="508000"/>
                  </a:lnTo>
                  <a:lnTo>
                    <a:pt x="781409" y="508000"/>
                  </a:lnTo>
                  <a:lnTo>
                    <a:pt x="775802" y="495300"/>
                  </a:lnTo>
                  <a:close/>
                </a:path>
                <a:path w="1267460" h="1270000">
                  <a:moveTo>
                    <a:pt x="902910" y="495300"/>
                  </a:moveTo>
                  <a:lnTo>
                    <a:pt x="846284" y="495300"/>
                  </a:lnTo>
                  <a:lnTo>
                    <a:pt x="846348" y="508000"/>
                  </a:lnTo>
                  <a:lnTo>
                    <a:pt x="900318" y="508000"/>
                  </a:lnTo>
                  <a:lnTo>
                    <a:pt x="902910" y="495300"/>
                  </a:lnTo>
                  <a:close/>
                </a:path>
                <a:path w="1267460" h="1270000">
                  <a:moveTo>
                    <a:pt x="772240" y="469900"/>
                  </a:moveTo>
                  <a:lnTo>
                    <a:pt x="733612" y="469900"/>
                  </a:lnTo>
                  <a:lnTo>
                    <a:pt x="732943" y="482600"/>
                  </a:lnTo>
                  <a:lnTo>
                    <a:pt x="734204" y="495300"/>
                  </a:lnTo>
                  <a:lnTo>
                    <a:pt x="773718" y="495300"/>
                  </a:lnTo>
                  <a:lnTo>
                    <a:pt x="770986" y="482600"/>
                  </a:lnTo>
                  <a:lnTo>
                    <a:pt x="770690" y="482600"/>
                  </a:lnTo>
                  <a:lnTo>
                    <a:pt x="772240" y="469900"/>
                  </a:lnTo>
                  <a:close/>
                </a:path>
                <a:path w="1267460" h="1270000">
                  <a:moveTo>
                    <a:pt x="765305" y="355600"/>
                  </a:moveTo>
                  <a:lnTo>
                    <a:pt x="750230" y="355600"/>
                  </a:lnTo>
                  <a:lnTo>
                    <a:pt x="745040" y="368300"/>
                  </a:lnTo>
                  <a:lnTo>
                    <a:pt x="737750" y="368300"/>
                  </a:lnTo>
                  <a:lnTo>
                    <a:pt x="737522" y="381000"/>
                  </a:lnTo>
                  <a:lnTo>
                    <a:pt x="738308" y="381000"/>
                  </a:lnTo>
                  <a:lnTo>
                    <a:pt x="789785" y="431800"/>
                  </a:lnTo>
                  <a:lnTo>
                    <a:pt x="761215" y="431800"/>
                  </a:lnTo>
                  <a:lnTo>
                    <a:pt x="755373" y="444500"/>
                  </a:lnTo>
                  <a:lnTo>
                    <a:pt x="745491" y="444500"/>
                  </a:lnTo>
                  <a:lnTo>
                    <a:pt x="741635" y="457200"/>
                  </a:lnTo>
                  <a:lnTo>
                    <a:pt x="814293" y="457200"/>
                  </a:lnTo>
                  <a:lnTo>
                    <a:pt x="845431" y="482600"/>
                  </a:lnTo>
                  <a:lnTo>
                    <a:pt x="845990" y="495300"/>
                  </a:lnTo>
                  <a:lnTo>
                    <a:pt x="904119" y="495300"/>
                  </a:lnTo>
                  <a:lnTo>
                    <a:pt x="765305" y="355600"/>
                  </a:lnTo>
                  <a:close/>
                </a:path>
                <a:path w="1267460" h="1270000">
                  <a:moveTo>
                    <a:pt x="781574" y="457200"/>
                  </a:moveTo>
                  <a:lnTo>
                    <a:pt x="738541" y="457200"/>
                  </a:lnTo>
                  <a:lnTo>
                    <a:pt x="736211" y="469900"/>
                  </a:lnTo>
                  <a:lnTo>
                    <a:pt x="774345" y="469900"/>
                  </a:lnTo>
                  <a:lnTo>
                    <a:pt x="781574" y="457200"/>
                  </a:lnTo>
                  <a:close/>
                </a:path>
                <a:path w="1267460" h="1270000">
                  <a:moveTo>
                    <a:pt x="869221" y="266700"/>
                  </a:moveTo>
                  <a:lnTo>
                    <a:pt x="854934" y="266700"/>
                  </a:lnTo>
                  <a:lnTo>
                    <a:pt x="852337" y="279400"/>
                  </a:lnTo>
                  <a:lnTo>
                    <a:pt x="842455" y="279400"/>
                  </a:lnTo>
                  <a:lnTo>
                    <a:pt x="838592" y="292100"/>
                  </a:lnTo>
                  <a:lnTo>
                    <a:pt x="838033" y="292100"/>
                  </a:lnTo>
                  <a:lnTo>
                    <a:pt x="841331" y="304800"/>
                  </a:lnTo>
                  <a:lnTo>
                    <a:pt x="843840" y="304800"/>
                  </a:lnTo>
                  <a:lnTo>
                    <a:pt x="1008457" y="381000"/>
                  </a:lnTo>
                  <a:lnTo>
                    <a:pt x="1025164" y="381000"/>
                  </a:lnTo>
                  <a:lnTo>
                    <a:pt x="1029235" y="368300"/>
                  </a:lnTo>
                  <a:lnTo>
                    <a:pt x="1037974" y="368300"/>
                  </a:lnTo>
                  <a:lnTo>
                    <a:pt x="1040764" y="355600"/>
                  </a:lnTo>
                  <a:lnTo>
                    <a:pt x="1048485" y="355600"/>
                  </a:lnTo>
                  <a:lnTo>
                    <a:pt x="1048137" y="342900"/>
                  </a:lnTo>
                  <a:lnTo>
                    <a:pt x="1007383" y="342900"/>
                  </a:lnTo>
                  <a:lnTo>
                    <a:pt x="869221" y="266700"/>
                  </a:lnTo>
                  <a:close/>
                </a:path>
                <a:path w="1267460" h="1270000">
                  <a:moveTo>
                    <a:pt x="966604" y="177800"/>
                  </a:moveTo>
                  <a:lnTo>
                    <a:pt x="948444" y="177800"/>
                  </a:lnTo>
                  <a:lnTo>
                    <a:pt x="941900" y="190500"/>
                  </a:lnTo>
                  <a:lnTo>
                    <a:pt x="933467" y="190500"/>
                  </a:lnTo>
                  <a:lnTo>
                    <a:pt x="933326" y="203200"/>
                  </a:lnTo>
                  <a:lnTo>
                    <a:pt x="935482" y="203200"/>
                  </a:lnTo>
                  <a:lnTo>
                    <a:pt x="1007383" y="342900"/>
                  </a:lnTo>
                  <a:lnTo>
                    <a:pt x="1046784" y="342900"/>
                  </a:lnTo>
                  <a:lnTo>
                    <a:pt x="966604" y="177800"/>
                  </a:lnTo>
                  <a:close/>
                </a:path>
                <a:path w="1267460" h="1270000">
                  <a:moveTo>
                    <a:pt x="1040776" y="114300"/>
                  </a:moveTo>
                  <a:lnTo>
                    <a:pt x="1009859" y="114300"/>
                  </a:lnTo>
                  <a:lnTo>
                    <a:pt x="1006820" y="127000"/>
                  </a:lnTo>
                  <a:lnTo>
                    <a:pt x="982187" y="152504"/>
                  </a:lnTo>
                  <a:lnTo>
                    <a:pt x="980721" y="152504"/>
                  </a:lnTo>
                  <a:lnTo>
                    <a:pt x="982489" y="165100"/>
                  </a:lnTo>
                  <a:lnTo>
                    <a:pt x="1108156" y="292100"/>
                  </a:lnTo>
                  <a:lnTo>
                    <a:pt x="1114780" y="292100"/>
                  </a:lnTo>
                  <a:lnTo>
                    <a:pt x="1116416" y="279400"/>
                  </a:lnTo>
                  <a:lnTo>
                    <a:pt x="1127575" y="279400"/>
                  </a:lnTo>
                  <a:lnTo>
                    <a:pt x="1129600" y="266700"/>
                  </a:lnTo>
                  <a:lnTo>
                    <a:pt x="1134449" y="266700"/>
                  </a:lnTo>
                  <a:lnTo>
                    <a:pt x="1022713" y="152246"/>
                  </a:lnTo>
                  <a:lnTo>
                    <a:pt x="1123328" y="152246"/>
                  </a:lnTo>
                  <a:lnTo>
                    <a:pt x="1040776" y="114300"/>
                  </a:lnTo>
                  <a:close/>
                </a:path>
                <a:path w="1267460" h="1270000">
                  <a:moveTo>
                    <a:pt x="1175090" y="215900"/>
                  </a:moveTo>
                  <a:lnTo>
                    <a:pt x="1172809" y="215900"/>
                  </a:lnTo>
                  <a:lnTo>
                    <a:pt x="1173897" y="228600"/>
                  </a:lnTo>
                  <a:lnTo>
                    <a:pt x="1175090" y="215900"/>
                  </a:lnTo>
                  <a:close/>
                </a:path>
                <a:path w="1267460" h="1270000">
                  <a:moveTo>
                    <a:pt x="1123328" y="152246"/>
                  </a:moveTo>
                  <a:lnTo>
                    <a:pt x="1022713" y="152246"/>
                  </a:lnTo>
                  <a:lnTo>
                    <a:pt x="1171825" y="215900"/>
                  </a:lnTo>
                  <a:lnTo>
                    <a:pt x="1188071" y="215900"/>
                  </a:lnTo>
                  <a:lnTo>
                    <a:pt x="1192842" y="203200"/>
                  </a:lnTo>
                  <a:lnTo>
                    <a:pt x="1200995" y="203200"/>
                  </a:lnTo>
                  <a:lnTo>
                    <a:pt x="1201065" y="190500"/>
                  </a:lnTo>
                  <a:lnTo>
                    <a:pt x="1200133" y="190500"/>
                  </a:lnTo>
                  <a:lnTo>
                    <a:pt x="1188226" y="165100"/>
                  </a:lnTo>
                  <a:lnTo>
                    <a:pt x="1151290" y="165100"/>
                  </a:lnTo>
                  <a:lnTo>
                    <a:pt x="1123328" y="152246"/>
                  </a:lnTo>
                  <a:close/>
                </a:path>
                <a:path w="1267460" h="1270000">
                  <a:moveTo>
                    <a:pt x="1144696" y="0"/>
                  </a:moveTo>
                  <a:lnTo>
                    <a:pt x="1124576" y="0"/>
                  </a:lnTo>
                  <a:lnTo>
                    <a:pt x="1101417" y="25400"/>
                  </a:lnTo>
                  <a:lnTo>
                    <a:pt x="1099395" y="25400"/>
                  </a:lnTo>
                  <a:lnTo>
                    <a:pt x="1096606" y="37689"/>
                  </a:lnTo>
                  <a:lnTo>
                    <a:pt x="1096512" y="38100"/>
                  </a:lnTo>
                  <a:lnTo>
                    <a:pt x="1095348" y="38100"/>
                  </a:lnTo>
                  <a:lnTo>
                    <a:pt x="1095733" y="50800"/>
                  </a:lnTo>
                  <a:lnTo>
                    <a:pt x="1099112" y="50800"/>
                  </a:lnTo>
                  <a:lnTo>
                    <a:pt x="1101147" y="63500"/>
                  </a:lnTo>
                  <a:lnTo>
                    <a:pt x="1151710" y="165100"/>
                  </a:lnTo>
                  <a:lnTo>
                    <a:pt x="1188226" y="165100"/>
                  </a:lnTo>
                  <a:lnTo>
                    <a:pt x="1128501" y="37689"/>
                  </a:lnTo>
                  <a:lnTo>
                    <a:pt x="1180928" y="37689"/>
                  </a:lnTo>
                  <a:lnTo>
                    <a:pt x="1144696" y="0"/>
                  </a:lnTo>
                  <a:close/>
                </a:path>
                <a:path w="1267460" h="1270000">
                  <a:moveTo>
                    <a:pt x="1180928" y="37689"/>
                  </a:moveTo>
                  <a:lnTo>
                    <a:pt x="1128501" y="37689"/>
                  </a:lnTo>
                  <a:lnTo>
                    <a:pt x="1240589" y="152504"/>
                  </a:lnTo>
                  <a:lnTo>
                    <a:pt x="1254725" y="152504"/>
                  </a:lnTo>
                  <a:lnTo>
                    <a:pt x="1259908" y="139700"/>
                  </a:lnTo>
                  <a:lnTo>
                    <a:pt x="1265981" y="139700"/>
                  </a:lnTo>
                  <a:lnTo>
                    <a:pt x="1267321" y="127000"/>
                  </a:lnTo>
                  <a:lnTo>
                    <a:pt x="1266784" y="127000"/>
                  </a:lnTo>
                  <a:lnTo>
                    <a:pt x="1180928" y="376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76651" y="5486399"/>
              <a:ext cx="128847" cy="42810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439689" y="5509300"/>
              <a:ext cx="0" cy="337185"/>
            </a:xfrm>
            <a:custGeom>
              <a:avLst/>
              <a:gdLst/>
              <a:ahLst/>
              <a:cxnLst/>
              <a:rect l="l" t="t" r="r" b="b"/>
              <a:pathLst>
                <a:path h="337185">
                  <a:moveTo>
                    <a:pt x="0" y="0"/>
                  </a:moveTo>
                  <a:lnTo>
                    <a:pt x="1" y="33675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67692" y="4298933"/>
              <a:ext cx="1200282" cy="115930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59977" y="5486399"/>
              <a:ext cx="128847" cy="42810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124924" y="5509300"/>
              <a:ext cx="0" cy="337185"/>
            </a:xfrm>
            <a:custGeom>
              <a:avLst/>
              <a:gdLst/>
              <a:ahLst/>
              <a:cxnLst/>
              <a:rect l="l" t="t" r="r" b="b"/>
              <a:pathLst>
                <a:path h="337185">
                  <a:moveTo>
                    <a:pt x="0" y="0"/>
                  </a:moveTo>
                  <a:lnTo>
                    <a:pt x="1" y="33675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64157" y="4448783"/>
              <a:ext cx="978820" cy="9652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61662" y="5486399"/>
              <a:ext cx="133003" cy="42810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128109" y="5509300"/>
              <a:ext cx="0" cy="337185"/>
            </a:xfrm>
            <a:custGeom>
              <a:avLst/>
              <a:gdLst/>
              <a:ahLst/>
              <a:cxnLst/>
              <a:rect l="l" t="t" r="r" b="b"/>
              <a:pathLst>
                <a:path h="337185">
                  <a:moveTo>
                    <a:pt x="0" y="0"/>
                  </a:moveTo>
                  <a:lnTo>
                    <a:pt x="0" y="33675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06479" y="4462486"/>
              <a:ext cx="1037322" cy="100965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660934" y="2773982"/>
            <a:ext cx="614045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b="1" spc="-50" dirty="0">
                <a:solidFill>
                  <a:srgbClr val="FF0000"/>
                </a:solidFill>
                <a:latin typeface="Calibri"/>
                <a:cs typeface="Calibri"/>
              </a:rPr>
              <a:t>?</a:t>
            </a:r>
            <a:endParaRPr sz="10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32373" y="4993078"/>
            <a:ext cx="906144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130"/>
              </a:spcBef>
            </a:pPr>
            <a:r>
              <a:rPr sz="1800" spc="-10" dirty="0">
                <a:latin typeface="Calibri"/>
                <a:cs typeface="Calibri"/>
              </a:rPr>
              <a:t>lower overhead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6391" y="5004373"/>
            <a:ext cx="906144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130"/>
              </a:spcBef>
            </a:pPr>
            <a:r>
              <a:rPr sz="1800" spc="-10" dirty="0">
                <a:latin typeface="Calibri"/>
                <a:cs typeface="Calibri"/>
              </a:rPr>
              <a:t>higher overhead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/>
              <a:t>Virt.</a:t>
            </a:r>
            <a:r>
              <a:rPr spc="-135" dirty="0"/>
              <a:t> </a:t>
            </a:r>
            <a:r>
              <a:rPr dirty="0"/>
              <a:t>Technology</a:t>
            </a:r>
            <a:r>
              <a:rPr spc="-135" dirty="0"/>
              <a:t> </a:t>
            </a:r>
            <a:r>
              <a:rPr spc="-10" dirty="0"/>
              <a:t>Benchmarking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287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pc="-10" dirty="0"/>
              <a:t>Metrics:</a:t>
            </a:r>
          </a:p>
          <a:p>
            <a:pPr marL="755015" lvl="1" indent="-285115">
              <a:lnSpc>
                <a:spcPts val="2390"/>
              </a:lnSpc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VM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Image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consump</a:t>
            </a:r>
            <a:r>
              <a:rPr lang="en-US" sz="2000" spc="-10" dirty="0">
                <a:latin typeface="Calibri"/>
                <a:cs typeface="Calibri"/>
              </a:rPr>
              <a:t>ti</a:t>
            </a:r>
            <a:r>
              <a:rPr sz="2000" spc="-10" dirty="0">
                <a:latin typeface="Calibri"/>
                <a:cs typeface="Calibri"/>
              </a:rPr>
              <a:t>on</a:t>
            </a:r>
            <a:endParaRPr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VM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crea</a:t>
            </a:r>
            <a:r>
              <a:rPr lang="en-US" sz="2000" dirty="0">
                <a:latin typeface="Calibri"/>
                <a:cs typeface="Calibri"/>
              </a:rPr>
              <a:t>ti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ti</a:t>
            </a:r>
            <a:r>
              <a:rPr sz="2000" spc="-25" dirty="0">
                <a:latin typeface="Calibri"/>
                <a:cs typeface="Calibri"/>
              </a:rPr>
              <a:t>me</a:t>
            </a:r>
            <a:endParaRPr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2000" spc="-10" dirty="0">
                <a:latin typeface="Calibri"/>
                <a:cs typeface="Calibri"/>
              </a:rPr>
              <a:t>Delay</a:t>
            </a:r>
            <a:endParaRPr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2000" spc="-10" dirty="0">
                <a:latin typeface="Calibri"/>
                <a:cs typeface="Calibri"/>
              </a:rPr>
              <a:t>Throughput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8021" y="4187179"/>
            <a:ext cx="7461250" cy="1727835"/>
            <a:chOff x="798021" y="4187179"/>
            <a:chExt cx="7461250" cy="1727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8021" y="5494712"/>
              <a:ext cx="7460672" cy="3906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32172" y="5667342"/>
              <a:ext cx="6993255" cy="0"/>
            </a:xfrm>
            <a:custGeom>
              <a:avLst/>
              <a:gdLst/>
              <a:ahLst/>
              <a:cxnLst/>
              <a:rect l="l" t="t" r="r" b="b"/>
              <a:pathLst>
                <a:path w="6993255">
                  <a:moveTo>
                    <a:pt x="0" y="0"/>
                  </a:moveTo>
                  <a:lnTo>
                    <a:pt x="6992727" y="0"/>
                  </a:lnTo>
                </a:path>
              </a:pathLst>
            </a:custGeom>
            <a:ln w="380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4364" y="5581769"/>
              <a:ext cx="171005" cy="1711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91702" y="5581769"/>
              <a:ext cx="171005" cy="1711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18508" y="5486399"/>
              <a:ext cx="128847" cy="42810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683593" y="5509300"/>
              <a:ext cx="0" cy="337185"/>
            </a:xfrm>
            <a:custGeom>
              <a:avLst/>
              <a:gdLst/>
              <a:ahLst/>
              <a:cxnLst/>
              <a:rect l="l" t="t" r="r" b="b"/>
              <a:pathLst>
                <a:path h="337185">
                  <a:moveTo>
                    <a:pt x="0" y="0"/>
                  </a:moveTo>
                  <a:lnTo>
                    <a:pt x="0" y="33675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25785" y="4187179"/>
              <a:ext cx="1267460" cy="1270000"/>
            </a:xfrm>
            <a:custGeom>
              <a:avLst/>
              <a:gdLst/>
              <a:ahLst/>
              <a:cxnLst/>
              <a:rect l="l" t="t" r="r" b="b"/>
              <a:pathLst>
                <a:path w="1267460" h="1270000">
                  <a:moveTo>
                    <a:pt x="145370" y="1257299"/>
                  </a:moveTo>
                  <a:lnTo>
                    <a:pt x="90300" y="1257299"/>
                  </a:lnTo>
                  <a:lnTo>
                    <a:pt x="92053" y="1269999"/>
                  </a:lnTo>
                  <a:lnTo>
                    <a:pt x="135727" y="1269999"/>
                  </a:lnTo>
                  <a:lnTo>
                    <a:pt x="145370" y="1257299"/>
                  </a:lnTo>
                  <a:close/>
                </a:path>
                <a:path w="1267460" h="1270000">
                  <a:moveTo>
                    <a:pt x="159802" y="1244599"/>
                  </a:moveTo>
                  <a:lnTo>
                    <a:pt x="87655" y="1244599"/>
                  </a:lnTo>
                  <a:lnTo>
                    <a:pt x="85966" y="1257299"/>
                  </a:lnTo>
                  <a:lnTo>
                    <a:pt x="154839" y="1257299"/>
                  </a:lnTo>
                  <a:lnTo>
                    <a:pt x="159802" y="1244599"/>
                  </a:lnTo>
                  <a:close/>
                </a:path>
                <a:path w="1267460" h="1270000">
                  <a:moveTo>
                    <a:pt x="168231" y="1231899"/>
                  </a:moveTo>
                  <a:lnTo>
                    <a:pt x="122354" y="1231899"/>
                  </a:lnTo>
                  <a:lnTo>
                    <a:pt x="112221" y="1244599"/>
                  </a:lnTo>
                  <a:lnTo>
                    <a:pt x="164266" y="1244599"/>
                  </a:lnTo>
                  <a:lnTo>
                    <a:pt x="168231" y="1231899"/>
                  </a:lnTo>
                  <a:close/>
                </a:path>
                <a:path w="1267460" h="1270000">
                  <a:moveTo>
                    <a:pt x="174598" y="1219199"/>
                  </a:moveTo>
                  <a:lnTo>
                    <a:pt x="135963" y="1219199"/>
                  </a:lnTo>
                  <a:lnTo>
                    <a:pt x="127455" y="1231899"/>
                  </a:lnTo>
                  <a:lnTo>
                    <a:pt x="171696" y="1231899"/>
                  </a:lnTo>
                  <a:lnTo>
                    <a:pt x="174598" y="1219199"/>
                  </a:lnTo>
                  <a:close/>
                </a:path>
                <a:path w="1267460" h="1270000">
                  <a:moveTo>
                    <a:pt x="178528" y="1206499"/>
                  </a:moveTo>
                  <a:lnTo>
                    <a:pt x="143465" y="1206499"/>
                  </a:lnTo>
                  <a:lnTo>
                    <a:pt x="142330" y="1219199"/>
                  </a:lnTo>
                  <a:lnTo>
                    <a:pt x="176876" y="1219199"/>
                  </a:lnTo>
                  <a:lnTo>
                    <a:pt x="178528" y="1206499"/>
                  </a:lnTo>
                  <a:close/>
                </a:path>
                <a:path w="1267460" h="1270000">
                  <a:moveTo>
                    <a:pt x="73731" y="1193799"/>
                  </a:moveTo>
                  <a:lnTo>
                    <a:pt x="39838" y="1193799"/>
                  </a:lnTo>
                  <a:lnTo>
                    <a:pt x="45558" y="1206499"/>
                  </a:lnTo>
                  <a:lnTo>
                    <a:pt x="62566" y="1206499"/>
                  </a:lnTo>
                  <a:lnTo>
                    <a:pt x="73731" y="1193799"/>
                  </a:lnTo>
                  <a:close/>
                </a:path>
                <a:path w="1267460" h="1270000">
                  <a:moveTo>
                    <a:pt x="180508" y="1193799"/>
                  </a:moveTo>
                  <a:lnTo>
                    <a:pt x="141532" y="1193799"/>
                  </a:lnTo>
                  <a:lnTo>
                    <a:pt x="143883" y="1206499"/>
                  </a:lnTo>
                  <a:lnTo>
                    <a:pt x="179556" y="1206499"/>
                  </a:lnTo>
                  <a:lnTo>
                    <a:pt x="180508" y="1193799"/>
                  </a:lnTo>
                  <a:close/>
                </a:path>
                <a:path w="1267460" h="1270000">
                  <a:moveTo>
                    <a:pt x="162063" y="1155699"/>
                  </a:moveTo>
                  <a:lnTo>
                    <a:pt x="842" y="1155699"/>
                  </a:lnTo>
                  <a:lnTo>
                    <a:pt x="5891" y="1168399"/>
                  </a:lnTo>
                  <a:lnTo>
                    <a:pt x="10415" y="1181099"/>
                  </a:lnTo>
                  <a:lnTo>
                    <a:pt x="22616" y="1193799"/>
                  </a:lnTo>
                  <a:lnTo>
                    <a:pt x="95011" y="1193799"/>
                  </a:lnTo>
                  <a:lnTo>
                    <a:pt x="104912" y="1181099"/>
                  </a:lnTo>
                  <a:lnTo>
                    <a:pt x="176889" y="1181099"/>
                  </a:lnTo>
                  <a:lnTo>
                    <a:pt x="174426" y="1168399"/>
                  </a:lnTo>
                  <a:lnTo>
                    <a:pt x="167013" y="1168399"/>
                  </a:lnTo>
                  <a:lnTo>
                    <a:pt x="162063" y="1155699"/>
                  </a:lnTo>
                  <a:close/>
                </a:path>
                <a:path w="1267460" h="1270000">
                  <a:moveTo>
                    <a:pt x="176889" y="1181099"/>
                  </a:moveTo>
                  <a:lnTo>
                    <a:pt x="133889" y="1181099"/>
                  </a:lnTo>
                  <a:lnTo>
                    <a:pt x="139621" y="1193799"/>
                  </a:lnTo>
                  <a:lnTo>
                    <a:pt x="179619" y="1193799"/>
                  </a:lnTo>
                  <a:lnTo>
                    <a:pt x="176889" y="1181099"/>
                  </a:lnTo>
                  <a:close/>
                </a:path>
                <a:path w="1267460" h="1270000">
                  <a:moveTo>
                    <a:pt x="36114" y="1130299"/>
                  </a:moveTo>
                  <a:lnTo>
                    <a:pt x="1682" y="1130299"/>
                  </a:lnTo>
                  <a:lnTo>
                    <a:pt x="0" y="1155699"/>
                  </a:lnTo>
                  <a:lnTo>
                    <a:pt x="38305" y="1155699"/>
                  </a:lnTo>
                  <a:lnTo>
                    <a:pt x="36132" y="1142999"/>
                  </a:lnTo>
                  <a:lnTo>
                    <a:pt x="35694" y="1142999"/>
                  </a:lnTo>
                  <a:lnTo>
                    <a:pt x="36114" y="1130299"/>
                  </a:lnTo>
                  <a:close/>
                </a:path>
                <a:path w="1267460" h="1270000">
                  <a:moveTo>
                    <a:pt x="150999" y="1142999"/>
                  </a:moveTo>
                  <a:lnTo>
                    <a:pt x="99905" y="1142999"/>
                  </a:lnTo>
                  <a:lnTo>
                    <a:pt x="89230" y="1155699"/>
                  </a:lnTo>
                  <a:lnTo>
                    <a:pt x="156593" y="1155699"/>
                  </a:lnTo>
                  <a:lnTo>
                    <a:pt x="150999" y="1142999"/>
                  </a:lnTo>
                  <a:close/>
                </a:path>
                <a:path w="1267460" h="1270000">
                  <a:moveTo>
                    <a:pt x="195775" y="1041400"/>
                  </a:moveTo>
                  <a:lnTo>
                    <a:pt x="103643" y="1041400"/>
                  </a:lnTo>
                  <a:lnTo>
                    <a:pt x="103413" y="1054099"/>
                  </a:lnTo>
                  <a:lnTo>
                    <a:pt x="104206" y="1054099"/>
                  </a:lnTo>
                  <a:lnTo>
                    <a:pt x="125909" y="1066799"/>
                  </a:lnTo>
                  <a:lnTo>
                    <a:pt x="113934" y="1079499"/>
                  </a:lnTo>
                  <a:lnTo>
                    <a:pt x="113489" y="1079499"/>
                  </a:lnTo>
                  <a:lnTo>
                    <a:pt x="113130" y="1092199"/>
                  </a:lnTo>
                  <a:lnTo>
                    <a:pt x="147460" y="1092199"/>
                  </a:lnTo>
                  <a:lnTo>
                    <a:pt x="201321" y="1142999"/>
                  </a:lnTo>
                  <a:lnTo>
                    <a:pt x="206900" y="1155699"/>
                  </a:lnTo>
                  <a:lnTo>
                    <a:pt x="254527" y="1155699"/>
                  </a:lnTo>
                  <a:lnTo>
                    <a:pt x="261758" y="1142999"/>
                  </a:lnTo>
                  <a:lnTo>
                    <a:pt x="267045" y="1142999"/>
                  </a:lnTo>
                  <a:lnTo>
                    <a:pt x="268537" y="1130299"/>
                  </a:lnTo>
                  <a:lnTo>
                    <a:pt x="273786" y="1130299"/>
                  </a:lnTo>
                  <a:lnTo>
                    <a:pt x="273719" y="1117599"/>
                  </a:lnTo>
                  <a:lnTo>
                    <a:pt x="223208" y="1117599"/>
                  </a:lnTo>
                  <a:lnTo>
                    <a:pt x="173970" y="1066799"/>
                  </a:lnTo>
                  <a:lnTo>
                    <a:pt x="195775" y="1041400"/>
                  </a:lnTo>
                  <a:close/>
                </a:path>
                <a:path w="1267460" h="1270000">
                  <a:moveTo>
                    <a:pt x="84538" y="1092199"/>
                  </a:moveTo>
                  <a:lnTo>
                    <a:pt x="26569" y="1092199"/>
                  </a:lnTo>
                  <a:lnTo>
                    <a:pt x="17104" y="1104899"/>
                  </a:lnTo>
                  <a:lnTo>
                    <a:pt x="12002" y="1117599"/>
                  </a:lnTo>
                  <a:lnTo>
                    <a:pt x="4081" y="1130299"/>
                  </a:lnTo>
                  <a:lnTo>
                    <a:pt x="42259" y="1130299"/>
                  </a:lnTo>
                  <a:lnTo>
                    <a:pt x="49140" y="1117599"/>
                  </a:lnTo>
                  <a:lnTo>
                    <a:pt x="53158" y="1117599"/>
                  </a:lnTo>
                  <a:lnTo>
                    <a:pt x="61509" y="1104899"/>
                  </a:lnTo>
                  <a:lnTo>
                    <a:pt x="84783" y="1104899"/>
                  </a:lnTo>
                  <a:lnTo>
                    <a:pt x="84538" y="1092199"/>
                  </a:lnTo>
                  <a:close/>
                </a:path>
                <a:path w="1267460" h="1270000">
                  <a:moveTo>
                    <a:pt x="265286" y="1104899"/>
                  </a:moveTo>
                  <a:lnTo>
                    <a:pt x="248766" y="1104899"/>
                  </a:lnTo>
                  <a:lnTo>
                    <a:pt x="247017" y="1117599"/>
                  </a:lnTo>
                  <a:lnTo>
                    <a:pt x="268371" y="1117599"/>
                  </a:lnTo>
                  <a:lnTo>
                    <a:pt x="265286" y="1104899"/>
                  </a:lnTo>
                  <a:close/>
                </a:path>
                <a:path w="1267460" h="1270000">
                  <a:moveTo>
                    <a:pt x="147460" y="1092199"/>
                  </a:moveTo>
                  <a:lnTo>
                    <a:pt x="119123" y="1092199"/>
                  </a:lnTo>
                  <a:lnTo>
                    <a:pt x="125040" y="1104899"/>
                  </a:lnTo>
                  <a:lnTo>
                    <a:pt x="134741" y="1104899"/>
                  </a:lnTo>
                  <a:lnTo>
                    <a:pt x="147460" y="1092199"/>
                  </a:lnTo>
                  <a:close/>
                </a:path>
                <a:path w="1267460" h="1270000">
                  <a:moveTo>
                    <a:pt x="74117" y="1079499"/>
                  </a:moveTo>
                  <a:lnTo>
                    <a:pt x="48449" y="1079499"/>
                  </a:lnTo>
                  <a:lnTo>
                    <a:pt x="41156" y="1092199"/>
                  </a:lnTo>
                  <a:lnTo>
                    <a:pt x="77971" y="1092199"/>
                  </a:lnTo>
                  <a:lnTo>
                    <a:pt x="74117" y="1079499"/>
                  </a:lnTo>
                  <a:close/>
                </a:path>
                <a:path w="1267460" h="1270000">
                  <a:moveTo>
                    <a:pt x="292145" y="1054099"/>
                  </a:moveTo>
                  <a:lnTo>
                    <a:pt x="250271" y="1054099"/>
                  </a:lnTo>
                  <a:lnTo>
                    <a:pt x="254064" y="1066799"/>
                  </a:lnTo>
                  <a:lnTo>
                    <a:pt x="257749" y="1079499"/>
                  </a:lnTo>
                  <a:lnTo>
                    <a:pt x="268269" y="1092199"/>
                  </a:lnTo>
                  <a:lnTo>
                    <a:pt x="317705" y="1092199"/>
                  </a:lnTo>
                  <a:lnTo>
                    <a:pt x="322927" y="1079499"/>
                  </a:lnTo>
                  <a:lnTo>
                    <a:pt x="333933" y="1066799"/>
                  </a:lnTo>
                  <a:lnTo>
                    <a:pt x="296477" y="1066799"/>
                  </a:lnTo>
                  <a:lnTo>
                    <a:pt x="292145" y="1054099"/>
                  </a:lnTo>
                  <a:close/>
                </a:path>
                <a:path w="1267460" h="1270000">
                  <a:moveTo>
                    <a:pt x="344749" y="1041400"/>
                  </a:moveTo>
                  <a:lnTo>
                    <a:pt x="321108" y="1041400"/>
                  </a:lnTo>
                  <a:lnTo>
                    <a:pt x="318640" y="1054099"/>
                  </a:lnTo>
                  <a:lnTo>
                    <a:pt x="305943" y="1054099"/>
                  </a:lnTo>
                  <a:lnTo>
                    <a:pt x="296477" y="1066799"/>
                  </a:lnTo>
                  <a:lnTo>
                    <a:pt x="338272" y="1066799"/>
                  </a:lnTo>
                  <a:lnTo>
                    <a:pt x="343568" y="1054099"/>
                  </a:lnTo>
                  <a:lnTo>
                    <a:pt x="344749" y="1041400"/>
                  </a:lnTo>
                  <a:close/>
                </a:path>
                <a:path w="1267460" h="1270000">
                  <a:moveTo>
                    <a:pt x="285078" y="1028700"/>
                  </a:moveTo>
                  <a:lnTo>
                    <a:pt x="256669" y="1028700"/>
                  </a:lnTo>
                  <a:lnTo>
                    <a:pt x="253344" y="1041400"/>
                  </a:lnTo>
                  <a:lnTo>
                    <a:pt x="250126" y="1054099"/>
                  </a:lnTo>
                  <a:lnTo>
                    <a:pt x="284285" y="1054099"/>
                  </a:lnTo>
                  <a:lnTo>
                    <a:pt x="282459" y="1041400"/>
                  </a:lnTo>
                  <a:lnTo>
                    <a:pt x="283573" y="1041400"/>
                  </a:lnTo>
                  <a:lnTo>
                    <a:pt x="285078" y="1028700"/>
                  </a:lnTo>
                  <a:close/>
                </a:path>
                <a:path w="1267460" h="1270000">
                  <a:moveTo>
                    <a:pt x="130714" y="1028700"/>
                  </a:moveTo>
                  <a:lnTo>
                    <a:pt x="116283" y="1028700"/>
                  </a:lnTo>
                  <a:lnTo>
                    <a:pt x="111142" y="1041400"/>
                  </a:lnTo>
                  <a:lnTo>
                    <a:pt x="152419" y="1041400"/>
                  </a:lnTo>
                  <a:lnTo>
                    <a:pt x="130714" y="1028700"/>
                  </a:lnTo>
                  <a:close/>
                </a:path>
                <a:path w="1267460" h="1270000">
                  <a:moveTo>
                    <a:pt x="185722" y="1028700"/>
                  </a:moveTo>
                  <a:lnTo>
                    <a:pt x="173489" y="1028700"/>
                  </a:lnTo>
                  <a:lnTo>
                    <a:pt x="152419" y="1041400"/>
                  </a:lnTo>
                  <a:lnTo>
                    <a:pt x="191637" y="1041400"/>
                  </a:lnTo>
                  <a:lnTo>
                    <a:pt x="185722" y="1028700"/>
                  </a:lnTo>
                  <a:close/>
                </a:path>
                <a:path w="1267460" h="1270000">
                  <a:moveTo>
                    <a:pt x="369660" y="1028700"/>
                  </a:moveTo>
                  <a:lnTo>
                    <a:pt x="323954" y="1028700"/>
                  </a:lnTo>
                  <a:lnTo>
                    <a:pt x="323555" y="1041400"/>
                  </a:lnTo>
                  <a:lnTo>
                    <a:pt x="363536" y="1041400"/>
                  </a:lnTo>
                  <a:lnTo>
                    <a:pt x="369660" y="1028700"/>
                  </a:lnTo>
                  <a:close/>
                </a:path>
                <a:path w="1267460" h="1270000">
                  <a:moveTo>
                    <a:pt x="231025" y="1016000"/>
                  </a:moveTo>
                  <a:lnTo>
                    <a:pt x="213612" y="1016000"/>
                  </a:lnTo>
                  <a:lnTo>
                    <a:pt x="215187" y="1028700"/>
                  </a:lnTo>
                  <a:lnTo>
                    <a:pt x="229420" y="1028700"/>
                  </a:lnTo>
                  <a:lnTo>
                    <a:pt x="231025" y="1016000"/>
                  </a:lnTo>
                  <a:close/>
                </a:path>
                <a:path w="1267460" h="1270000">
                  <a:moveTo>
                    <a:pt x="307527" y="1003300"/>
                  </a:moveTo>
                  <a:lnTo>
                    <a:pt x="275843" y="1003300"/>
                  </a:lnTo>
                  <a:lnTo>
                    <a:pt x="270515" y="1016000"/>
                  </a:lnTo>
                  <a:lnTo>
                    <a:pt x="265805" y="1016000"/>
                  </a:lnTo>
                  <a:lnTo>
                    <a:pt x="261713" y="1028700"/>
                  </a:lnTo>
                  <a:lnTo>
                    <a:pt x="289839" y="1028700"/>
                  </a:lnTo>
                  <a:lnTo>
                    <a:pt x="293166" y="1016000"/>
                  </a:lnTo>
                  <a:lnTo>
                    <a:pt x="307527" y="1003300"/>
                  </a:lnTo>
                  <a:close/>
                </a:path>
                <a:path w="1267460" h="1270000">
                  <a:moveTo>
                    <a:pt x="310741" y="952500"/>
                  </a:moveTo>
                  <a:lnTo>
                    <a:pt x="237687" y="952500"/>
                  </a:lnTo>
                  <a:lnTo>
                    <a:pt x="232228" y="965200"/>
                  </a:lnTo>
                  <a:lnTo>
                    <a:pt x="224409" y="965200"/>
                  </a:lnTo>
                  <a:lnTo>
                    <a:pt x="217953" y="977900"/>
                  </a:lnTo>
                  <a:lnTo>
                    <a:pt x="282296" y="977900"/>
                  </a:lnTo>
                  <a:lnTo>
                    <a:pt x="290932" y="990600"/>
                  </a:lnTo>
                  <a:lnTo>
                    <a:pt x="281790" y="1003300"/>
                  </a:lnTo>
                  <a:lnTo>
                    <a:pt x="307527" y="1003300"/>
                  </a:lnTo>
                  <a:lnTo>
                    <a:pt x="323527" y="1028700"/>
                  </a:lnTo>
                  <a:lnTo>
                    <a:pt x="375296" y="1028700"/>
                  </a:lnTo>
                  <a:lnTo>
                    <a:pt x="374878" y="1016000"/>
                  </a:lnTo>
                  <a:lnTo>
                    <a:pt x="310741" y="952500"/>
                  </a:lnTo>
                  <a:close/>
                </a:path>
                <a:path w="1267460" h="1270000">
                  <a:moveTo>
                    <a:pt x="235094" y="1003300"/>
                  </a:moveTo>
                  <a:lnTo>
                    <a:pt x="205934" y="1003300"/>
                  </a:lnTo>
                  <a:lnTo>
                    <a:pt x="205999" y="1016000"/>
                  </a:lnTo>
                  <a:lnTo>
                    <a:pt x="232161" y="1016000"/>
                  </a:lnTo>
                  <a:lnTo>
                    <a:pt x="235094" y="1003300"/>
                  </a:lnTo>
                  <a:close/>
                </a:path>
                <a:path w="1267460" h="1270000">
                  <a:moveTo>
                    <a:pt x="242039" y="990600"/>
                  </a:moveTo>
                  <a:lnTo>
                    <a:pt x="208991" y="990600"/>
                  </a:lnTo>
                  <a:lnTo>
                    <a:pt x="206532" y="1003300"/>
                  </a:lnTo>
                  <a:lnTo>
                    <a:pt x="237070" y="1003300"/>
                  </a:lnTo>
                  <a:lnTo>
                    <a:pt x="242039" y="990600"/>
                  </a:lnTo>
                  <a:close/>
                </a:path>
                <a:path w="1267460" h="1270000">
                  <a:moveTo>
                    <a:pt x="253262" y="977900"/>
                  </a:moveTo>
                  <a:lnTo>
                    <a:pt x="215218" y="977900"/>
                  </a:lnTo>
                  <a:lnTo>
                    <a:pt x="210727" y="990600"/>
                  </a:lnTo>
                  <a:lnTo>
                    <a:pt x="245487" y="990600"/>
                  </a:lnTo>
                  <a:lnTo>
                    <a:pt x="253262" y="977900"/>
                  </a:lnTo>
                  <a:close/>
                </a:path>
                <a:path w="1267460" h="1270000">
                  <a:moveTo>
                    <a:pt x="364116" y="901700"/>
                  </a:moveTo>
                  <a:lnTo>
                    <a:pt x="305360" y="901700"/>
                  </a:lnTo>
                  <a:lnTo>
                    <a:pt x="400714" y="990600"/>
                  </a:lnTo>
                  <a:lnTo>
                    <a:pt x="414883" y="990600"/>
                  </a:lnTo>
                  <a:lnTo>
                    <a:pt x="420074" y="977900"/>
                  </a:lnTo>
                  <a:lnTo>
                    <a:pt x="427559" y="977900"/>
                  </a:lnTo>
                  <a:lnTo>
                    <a:pt x="427838" y="965200"/>
                  </a:lnTo>
                  <a:lnTo>
                    <a:pt x="427225" y="965200"/>
                  </a:lnTo>
                  <a:lnTo>
                    <a:pt x="364116" y="901700"/>
                  </a:lnTo>
                  <a:close/>
                </a:path>
                <a:path w="1267460" h="1270000">
                  <a:moveTo>
                    <a:pt x="285445" y="939800"/>
                  </a:moveTo>
                  <a:lnTo>
                    <a:pt x="253274" y="939800"/>
                  </a:lnTo>
                  <a:lnTo>
                    <a:pt x="248210" y="952500"/>
                  </a:lnTo>
                  <a:lnTo>
                    <a:pt x="297935" y="952500"/>
                  </a:lnTo>
                  <a:lnTo>
                    <a:pt x="285445" y="939800"/>
                  </a:lnTo>
                  <a:close/>
                </a:path>
                <a:path w="1267460" h="1270000">
                  <a:moveTo>
                    <a:pt x="406379" y="825500"/>
                  </a:moveTo>
                  <a:lnTo>
                    <a:pt x="368189" y="825500"/>
                  </a:lnTo>
                  <a:lnTo>
                    <a:pt x="361751" y="838200"/>
                  </a:lnTo>
                  <a:lnTo>
                    <a:pt x="349543" y="850900"/>
                  </a:lnTo>
                  <a:lnTo>
                    <a:pt x="345347" y="850900"/>
                  </a:lnTo>
                  <a:lnTo>
                    <a:pt x="342778" y="863600"/>
                  </a:lnTo>
                  <a:lnTo>
                    <a:pt x="401123" y="863600"/>
                  </a:lnTo>
                  <a:lnTo>
                    <a:pt x="405033" y="876300"/>
                  </a:lnTo>
                  <a:lnTo>
                    <a:pt x="463864" y="927100"/>
                  </a:lnTo>
                  <a:lnTo>
                    <a:pt x="478076" y="927100"/>
                  </a:lnTo>
                  <a:lnTo>
                    <a:pt x="483217" y="914400"/>
                  </a:lnTo>
                  <a:lnTo>
                    <a:pt x="490720" y="914400"/>
                  </a:lnTo>
                  <a:lnTo>
                    <a:pt x="490985" y="901700"/>
                  </a:lnTo>
                  <a:lnTo>
                    <a:pt x="490373" y="901700"/>
                  </a:lnTo>
                  <a:lnTo>
                    <a:pt x="431676" y="850900"/>
                  </a:lnTo>
                  <a:lnTo>
                    <a:pt x="424870" y="838200"/>
                  </a:lnTo>
                  <a:lnTo>
                    <a:pt x="418449" y="838200"/>
                  </a:lnTo>
                  <a:lnTo>
                    <a:pt x="406379" y="825500"/>
                  </a:lnTo>
                  <a:close/>
                </a:path>
                <a:path w="1267460" h="1270000">
                  <a:moveTo>
                    <a:pt x="365061" y="876300"/>
                  </a:moveTo>
                  <a:lnTo>
                    <a:pt x="339503" y="876300"/>
                  </a:lnTo>
                  <a:lnTo>
                    <a:pt x="339526" y="889000"/>
                  </a:lnTo>
                  <a:lnTo>
                    <a:pt x="305882" y="889000"/>
                  </a:lnTo>
                  <a:lnTo>
                    <a:pt x="304760" y="901700"/>
                  </a:lnTo>
                  <a:lnTo>
                    <a:pt x="363123" y="901700"/>
                  </a:lnTo>
                  <a:lnTo>
                    <a:pt x="363114" y="889000"/>
                  </a:lnTo>
                  <a:lnTo>
                    <a:pt x="365061" y="876300"/>
                  </a:lnTo>
                  <a:close/>
                </a:path>
                <a:path w="1267460" h="1270000">
                  <a:moveTo>
                    <a:pt x="327976" y="876300"/>
                  </a:moveTo>
                  <a:lnTo>
                    <a:pt x="315455" y="876300"/>
                  </a:lnTo>
                  <a:lnTo>
                    <a:pt x="311035" y="889000"/>
                  </a:lnTo>
                  <a:lnTo>
                    <a:pt x="339526" y="889000"/>
                  </a:lnTo>
                  <a:lnTo>
                    <a:pt x="327976" y="876300"/>
                  </a:lnTo>
                  <a:close/>
                </a:path>
                <a:path w="1267460" h="1270000">
                  <a:moveTo>
                    <a:pt x="373246" y="863600"/>
                  </a:moveTo>
                  <a:lnTo>
                    <a:pt x="341129" y="863600"/>
                  </a:lnTo>
                  <a:lnTo>
                    <a:pt x="340037" y="876300"/>
                  </a:lnTo>
                  <a:lnTo>
                    <a:pt x="367228" y="876300"/>
                  </a:lnTo>
                  <a:lnTo>
                    <a:pt x="373246" y="863600"/>
                  </a:lnTo>
                  <a:close/>
                </a:path>
                <a:path w="1267460" h="1270000">
                  <a:moveTo>
                    <a:pt x="549952" y="850900"/>
                  </a:moveTo>
                  <a:lnTo>
                    <a:pt x="486501" y="850900"/>
                  </a:lnTo>
                  <a:lnTo>
                    <a:pt x="494181" y="863600"/>
                  </a:lnTo>
                  <a:lnTo>
                    <a:pt x="544425" y="863600"/>
                  </a:lnTo>
                  <a:lnTo>
                    <a:pt x="549952" y="850900"/>
                  </a:lnTo>
                  <a:close/>
                </a:path>
                <a:path w="1267460" h="1270000">
                  <a:moveTo>
                    <a:pt x="563544" y="838200"/>
                  </a:moveTo>
                  <a:lnTo>
                    <a:pt x="469842" y="838200"/>
                  </a:lnTo>
                  <a:lnTo>
                    <a:pt x="475257" y="850900"/>
                  </a:lnTo>
                  <a:lnTo>
                    <a:pt x="559837" y="850900"/>
                  </a:lnTo>
                  <a:lnTo>
                    <a:pt x="563544" y="838200"/>
                  </a:lnTo>
                  <a:close/>
                </a:path>
                <a:path w="1267460" h="1270000">
                  <a:moveTo>
                    <a:pt x="568692" y="825500"/>
                  </a:moveTo>
                  <a:lnTo>
                    <a:pt x="458634" y="825500"/>
                  </a:lnTo>
                  <a:lnTo>
                    <a:pt x="464567" y="838200"/>
                  </a:lnTo>
                  <a:lnTo>
                    <a:pt x="566496" y="838200"/>
                  </a:lnTo>
                  <a:lnTo>
                    <a:pt x="568692" y="825500"/>
                  </a:lnTo>
                  <a:close/>
                </a:path>
                <a:path w="1267460" h="1270000">
                  <a:moveTo>
                    <a:pt x="497784" y="812800"/>
                  </a:moveTo>
                  <a:lnTo>
                    <a:pt x="448721" y="812800"/>
                  </a:lnTo>
                  <a:lnTo>
                    <a:pt x="453352" y="825500"/>
                  </a:lnTo>
                  <a:lnTo>
                    <a:pt x="506478" y="825500"/>
                  </a:lnTo>
                  <a:lnTo>
                    <a:pt x="497784" y="812800"/>
                  </a:lnTo>
                  <a:close/>
                </a:path>
                <a:path w="1267460" h="1270000">
                  <a:moveTo>
                    <a:pt x="571287" y="812800"/>
                  </a:moveTo>
                  <a:lnTo>
                    <a:pt x="542922" y="812800"/>
                  </a:lnTo>
                  <a:lnTo>
                    <a:pt x="541412" y="825500"/>
                  </a:lnTo>
                  <a:lnTo>
                    <a:pt x="570249" y="825500"/>
                  </a:lnTo>
                  <a:lnTo>
                    <a:pt x="571287" y="812800"/>
                  </a:lnTo>
                  <a:close/>
                </a:path>
                <a:path w="1267460" h="1270000">
                  <a:moveTo>
                    <a:pt x="486004" y="800100"/>
                  </a:moveTo>
                  <a:lnTo>
                    <a:pt x="438786" y="800100"/>
                  </a:lnTo>
                  <a:lnTo>
                    <a:pt x="441425" y="812800"/>
                  </a:lnTo>
                  <a:lnTo>
                    <a:pt x="493646" y="812800"/>
                  </a:lnTo>
                  <a:lnTo>
                    <a:pt x="486004" y="800100"/>
                  </a:lnTo>
                  <a:close/>
                </a:path>
                <a:path w="1267460" h="1270000">
                  <a:moveTo>
                    <a:pt x="571804" y="800100"/>
                  </a:moveTo>
                  <a:lnTo>
                    <a:pt x="547401" y="800100"/>
                  </a:lnTo>
                  <a:lnTo>
                    <a:pt x="546206" y="812800"/>
                  </a:lnTo>
                  <a:lnTo>
                    <a:pt x="571805" y="812800"/>
                  </a:lnTo>
                  <a:lnTo>
                    <a:pt x="571804" y="800100"/>
                  </a:lnTo>
                  <a:close/>
                </a:path>
                <a:path w="1267460" h="1270000">
                  <a:moveTo>
                    <a:pt x="599954" y="800100"/>
                  </a:moveTo>
                  <a:lnTo>
                    <a:pt x="571804" y="800100"/>
                  </a:lnTo>
                  <a:lnTo>
                    <a:pt x="583039" y="812800"/>
                  </a:lnTo>
                  <a:lnTo>
                    <a:pt x="595604" y="812800"/>
                  </a:lnTo>
                  <a:lnTo>
                    <a:pt x="599954" y="800100"/>
                  </a:lnTo>
                  <a:close/>
                </a:path>
                <a:path w="1267460" h="1270000">
                  <a:moveTo>
                    <a:pt x="472323" y="774700"/>
                  </a:moveTo>
                  <a:lnTo>
                    <a:pt x="434280" y="774700"/>
                  </a:lnTo>
                  <a:lnTo>
                    <a:pt x="436824" y="800100"/>
                  </a:lnTo>
                  <a:lnTo>
                    <a:pt x="482744" y="800100"/>
                  </a:lnTo>
                  <a:lnTo>
                    <a:pt x="477139" y="787400"/>
                  </a:lnTo>
                  <a:lnTo>
                    <a:pt x="475054" y="787400"/>
                  </a:lnTo>
                  <a:lnTo>
                    <a:pt x="472323" y="774700"/>
                  </a:lnTo>
                  <a:close/>
                </a:path>
                <a:path w="1267460" h="1270000">
                  <a:moveTo>
                    <a:pt x="606124" y="787400"/>
                  </a:moveTo>
                  <a:lnTo>
                    <a:pt x="547621" y="787400"/>
                  </a:lnTo>
                  <a:lnTo>
                    <a:pt x="547684" y="800100"/>
                  </a:lnTo>
                  <a:lnTo>
                    <a:pt x="605141" y="800100"/>
                  </a:lnTo>
                  <a:lnTo>
                    <a:pt x="606124" y="787400"/>
                  </a:lnTo>
                  <a:close/>
                </a:path>
                <a:path w="1267460" h="1270000">
                  <a:moveTo>
                    <a:pt x="466642" y="647700"/>
                  </a:moveTo>
                  <a:lnTo>
                    <a:pt x="457596" y="647700"/>
                  </a:lnTo>
                  <a:lnTo>
                    <a:pt x="453811" y="660400"/>
                  </a:lnTo>
                  <a:lnTo>
                    <a:pt x="444342" y="660400"/>
                  </a:lnTo>
                  <a:lnTo>
                    <a:pt x="441397" y="673100"/>
                  </a:lnTo>
                  <a:lnTo>
                    <a:pt x="439643" y="673100"/>
                  </a:lnTo>
                  <a:lnTo>
                    <a:pt x="491121" y="723900"/>
                  </a:lnTo>
                  <a:lnTo>
                    <a:pt x="475390" y="723900"/>
                  </a:lnTo>
                  <a:lnTo>
                    <a:pt x="462550" y="736600"/>
                  </a:lnTo>
                  <a:lnTo>
                    <a:pt x="451446" y="736600"/>
                  </a:lnTo>
                  <a:lnTo>
                    <a:pt x="446827" y="749300"/>
                  </a:lnTo>
                  <a:lnTo>
                    <a:pt x="515630" y="749300"/>
                  </a:lnTo>
                  <a:lnTo>
                    <a:pt x="546766" y="787400"/>
                  </a:lnTo>
                  <a:lnTo>
                    <a:pt x="605455" y="787400"/>
                  </a:lnTo>
                  <a:lnTo>
                    <a:pt x="466642" y="647700"/>
                  </a:lnTo>
                  <a:close/>
                </a:path>
                <a:path w="1267460" h="1270000">
                  <a:moveTo>
                    <a:pt x="473575" y="762000"/>
                  </a:moveTo>
                  <a:lnTo>
                    <a:pt x="437548" y="762000"/>
                  </a:lnTo>
                  <a:lnTo>
                    <a:pt x="434949" y="774700"/>
                  </a:lnTo>
                  <a:lnTo>
                    <a:pt x="472027" y="774700"/>
                  </a:lnTo>
                  <a:lnTo>
                    <a:pt x="473575" y="762000"/>
                  </a:lnTo>
                  <a:close/>
                </a:path>
                <a:path w="1267460" h="1270000">
                  <a:moveTo>
                    <a:pt x="487805" y="749300"/>
                  </a:moveTo>
                  <a:lnTo>
                    <a:pt x="442971" y="749300"/>
                  </a:lnTo>
                  <a:lnTo>
                    <a:pt x="439878" y="762000"/>
                  </a:lnTo>
                  <a:lnTo>
                    <a:pt x="482911" y="762000"/>
                  </a:lnTo>
                  <a:lnTo>
                    <a:pt x="487805" y="749300"/>
                  </a:lnTo>
                  <a:close/>
                </a:path>
                <a:path w="1267460" h="1270000">
                  <a:moveTo>
                    <a:pt x="644476" y="749300"/>
                  </a:moveTo>
                  <a:lnTo>
                    <a:pt x="611237" y="749300"/>
                  </a:lnTo>
                  <a:lnTo>
                    <a:pt x="622179" y="762000"/>
                  </a:lnTo>
                  <a:lnTo>
                    <a:pt x="638937" y="762000"/>
                  </a:lnTo>
                  <a:lnTo>
                    <a:pt x="644476" y="749300"/>
                  </a:lnTo>
                  <a:close/>
                </a:path>
                <a:path w="1267460" h="1270000">
                  <a:moveTo>
                    <a:pt x="620022" y="698500"/>
                  </a:moveTo>
                  <a:lnTo>
                    <a:pt x="591050" y="698500"/>
                  </a:lnTo>
                  <a:lnTo>
                    <a:pt x="587833" y="711200"/>
                  </a:lnTo>
                  <a:lnTo>
                    <a:pt x="587978" y="723900"/>
                  </a:lnTo>
                  <a:lnTo>
                    <a:pt x="591771" y="736600"/>
                  </a:lnTo>
                  <a:lnTo>
                    <a:pt x="595456" y="736600"/>
                  </a:lnTo>
                  <a:lnTo>
                    <a:pt x="605976" y="749300"/>
                  </a:lnTo>
                  <a:lnTo>
                    <a:pt x="660634" y="749300"/>
                  </a:lnTo>
                  <a:lnTo>
                    <a:pt x="671640" y="736600"/>
                  </a:lnTo>
                  <a:lnTo>
                    <a:pt x="675977" y="723900"/>
                  </a:lnTo>
                  <a:lnTo>
                    <a:pt x="629852" y="723900"/>
                  </a:lnTo>
                  <a:lnTo>
                    <a:pt x="623606" y="711200"/>
                  </a:lnTo>
                  <a:lnTo>
                    <a:pt x="620165" y="711200"/>
                  </a:lnTo>
                  <a:lnTo>
                    <a:pt x="620022" y="698500"/>
                  </a:lnTo>
                  <a:close/>
                </a:path>
                <a:path w="1267460" h="1270000">
                  <a:moveTo>
                    <a:pt x="681273" y="711200"/>
                  </a:moveTo>
                  <a:lnTo>
                    <a:pt x="656346" y="711200"/>
                  </a:lnTo>
                  <a:lnTo>
                    <a:pt x="648221" y="723900"/>
                  </a:lnTo>
                  <a:lnTo>
                    <a:pt x="675977" y="723900"/>
                  </a:lnTo>
                  <a:lnTo>
                    <a:pt x="681273" y="711200"/>
                  </a:lnTo>
                  <a:close/>
                </a:path>
                <a:path w="1267460" h="1270000">
                  <a:moveTo>
                    <a:pt x="712014" y="685800"/>
                  </a:moveTo>
                  <a:lnTo>
                    <a:pt x="661661" y="685800"/>
                  </a:lnTo>
                  <a:lnTo>
                    <a:pt x="661262" y="698500"/>
                  </a:lnTo>
                  <a:lnTo>
                    <a:pt x="658815" y="711200"/>
                  </a:lnTo>
                  <a:lnTo>
                    <a:pt x="682456" y="711200"/>
                  </a:lnTo>
                  <a:lnTo>
                    <a:pt x="682170" y="698500"/>
                  </a:lnTo>
                  <a:lnTo>
                    <a:pt x="709479" y="698500"/>
                  </a:lnTo>
                  <a:lnTo>
                    <a:pt x="712014" y="685800"/>
                  </a:lnTo>
                  <a:close/>
                </a:path>
                <a:path w="1267460" h="1270000">
                  <a:moveTo>
                    <a:pt x="698814" y="698500"/>
                  </a:moveTo>
                  <a:lnTo>
                    <a:pt x="682170" y="698500"/>
                  </a:lnTo>
                  <a:lnTo>
                    <a:pt x="690627" y="711200"/>
                  </a:lnTo>
                  <a:lnTo>
                    <a:pt x="695440" y="711200"/>
                  </a:lnTo>
                  <a:lnTo>
                    <a:pt x="698814" y="698500"/>
                  </a:lnTo>
                  <a:close/>
                </a:path>
                <a:path w="1267460" h="1270000">
                  <a:moveTo>
                    <a:pt x="645234" y="673100"/>
                  </a:moveTo>
                  <a:lnTo>
                    <a:pt x="603512" y="673100"/>
                  </a:lnTo>
                  <a:lnTo>
                    <a:pt x="599420" y="685800"/>
                  </a:lnTo>
                  <a:lnTo>
                    <a:pt x="594376" y="698500"/>
                  </a:lnTo>
                  <a:lnTo>
                    <a:pt x="622785" y="698500"/>
                  </a:lnTo>
                  <a:lnTo>
                    <a:pt x="627546" y="685800"/>
                  </a:lnTo>
                  <a:lnTo>
                    <a:pt x="630872" y="685800"/>
                  </a:lnTo>
                  <a:lnTo>
                    <a:pt x="645234" y="673100"/>
                  </a:lnTo>
                  <a:close/>
                </a:path>
                <a:path w="1267460" h="1270000">
                  <a:moveTo>
                    <a:pt x="569868" y="673100"/>
                  </a:moveTo>
                  <a:lnTo>
                    <a:pt x="545998" y="673100"/>
                  </a:lnTo>
                  <a:lnTo>
                    <a:pt x="547538" y="685800"/>
                  </a:lnTo>
                  <a:lnTo>
                    <a:pt x="568732" y="685800"/>
                  </a:lnTo>
                  <a:lnTo>
                    <a:pt x="569868" y="673100"/>
                  </a:lnTo>
                  <a:close/>
                </a:path>
                <a:path w="1267460" h="1270000">
                  <a:moveTo>
                    <a:pt x="661275" y="635000"/>
                  </a:moveTo>
                  <a:lnTo>
                    <a:pt x="617126" y="635000"/>
                  </a:lnTo>
                  <a:lnTo>
                    <a:pt x="620003" y="647700"/>
                  </a:lnTo>
                  <a:lnTo>
                    <a:pt x="628639" y="647700"/>
                  </a:lnTo>
                  <a:lnTo>
                    <a:pt x="619495" y="660400"/>
                  </a:lnTo>
                  <a:lnTo>
                    <a:pt x="613549" y="673100"/>
                  </a:lnTo>
                  <a:lnTo>
                    <a:pt x="645234" y="673100"/>
                  </a:lnTo>
                  <a:lnTo>
                    <a:pt x="661234" y="685800"/>
                  </a:lnTo>
                  <a:lnTo>
                    <a:pt x="712584" y="685800"/>
                  </a:lnTo>
                  <a:lnTo>
                    <a:pt x="661275" y="635000"/>
                  </a:lnTo>
                  <a:close/>
                </a:path>
                <a:path w="1267460" h="1270000">
                  <a:moveTo>
                    <a:pt x="574777" y="660400"/>
                  </a:moveTo>
                  <a:lnTo>
                    <a:pt x="544239" y="660400"/>
                  </a:lnTo>
                  <a:lnTo>
                    <a:pt x="543641" y="673100"/>
                  </a:lnTo>
                  <a:lnTo>
                    <a:pt x="572801" y="673100"/>
                  </a:lnTo>
                  <a:lnTo>
                    <a:pt x="574777" y="660400"/>
                  </a:lnTo>
                  <a:close/>
                </a:path>
                <a:path w="1267460" h="1270000">
                  <a:moveTo>
                    <a:pt x="583194" y="647700"/>
                  </a:moveTo>
                  <a:lnTo>
                    <a:pt x="552924" y="647700"/>
                  </a:lnTo>
                  <a:lnTo>
                    <a:pt x="548434" y="660400"/>
                  </a:lnTo>
                  <a:lnTo>
                    <a:pt x="579746" y="660400"/>
                  </a:lnTo>
                  <a:lnTo>
                    <a:pt x="583194" y="647700"/>
                  </a:lnTo>
                  <a:close/>
                </a:path>
                <a:path w="1267460" h="1270000">
                  <a:moveTo>
                    <a:pt x="703789" y="558800"/>
                  </a:moveTo>
                  <a:lnTo>
                    <a:pt x="643065" y="558800"/>
                  </a:lnTo>
                  <a:lnTo>
                    <a:pt x="738421" y="660400"/>
                  </a:lnTo>
                  <a:lnTo>
                    <a:pt x="746649" y="660400"/>
                  </a:lnTo>
                  <a:lnTo>
                    <a:pt x="750364" y="647700"/>
                  </a:lnTo>
                  <a:lnTo>
                    <a:pt x="759832" y="647700"/>
                  </a:lnTo>
                  <a:lnTo>
                    <a:pt x="762848" y="635000"/>
                  </a:lnTo>
                  <a:lnTo>
                    <a:pt x="764931" y="635000"/>
                  </a:lnTo>
                  <a:lnTo>
                    <a:pt x="705665" y="571500"/>
                  </a:lnTo>
                  <a:lnTo>
                    <a:pt x="704542" y="571500"/>
                  </a:lnTo>
                  <a:lnTo>
                    <a:pt x="703789" y="558800"/>
                  </a:lnTo>
                  <a:close/>
                </a:path>
                <a:path w="1267460" h="1270000">
                  <a:moveTo>
                    <a:pt x="641992" y="609600"/>
                  </a:moveTo>
                  <a:lnTo>
                    <a:pt x="580721" y="609600"/>
                  </a:lnTo>
                  <a:lnTo>
                    <a:pt x="575394" y="622300"/>
                  </a:lnTo>
                  <a:lnTo>
                    <a:pt x="565797" y="622300"/>
                  </a:lnTo>
                  <a:lnTo>
                    <a:pt x="562115" y="635000"/>
                  </a:lnTo>
                  <a:lnTo>
                    <a:pt x="555660" y="647700"/>
                  </a:lnTo>
                  <a:lnTo>
                    <a:pt x="590967" y="647700"/>
                  </a:lnTo>
                  <a:lnTo>
                    <a:pt x="594139" y="635000"/>
                  </a:lnTo>
                  <a:lnTo>
                    <a:pt x="661275" y="635000"/>
                  </a:lnTo>
                  <a:lnTo>
                    <a:pt x="648448" y="622300"/>
                  </a:lnTo>
                  <a:lnTo>
                    <a:pt x="641992" y="609600"/>
                  </a:lnTo>
                  <a:close/>
                </a:path>
                <a:path w="1267460" h="1270000">
                  <a:moveTo>
                    <a:pt x="623150" y="596900"/>
                  </a:moveTo>
                  <a:lnTo>
                    <a:pt x="604152" y="596900"/>
                  </a:lnTo>
                  <a:lnTo>
                    <a:pt x="597645" y="609600"/>
                  </a:lnTo>
                  <a:lnTo>
                    <a:pt x="635642" y="609600"/>
                  </a:lnTo>
                  <a:lnTo>
                    <a:pt x="623150" y="596900"/>
                  </a:lnTo>
                  <a:close/>
                </a:path>
                <a:path w="1267460" h="1270000">
                  <a:moveTo>
                    <a:pt x="837458" y="558800"/>
                  </a:moveTo>
                  <a:lnTo>
                    <a:pt x="800595" y="558800"/>
                  </a:lnTo>
                  <a:lnTo>
                    <a:pt x="816236" y="571500"/>
                  </a:lnTo>
                  <a:lnTo>
                    <a:pt x="831723" y="571500"/>
                  </a:lnTo>
                  <a:lnTo>
                    <a:pt x="837458" y="558800"/>
                  </a:lnTo>
                  <a:close/>
                </a:path>
                <a:path w="1267460" h="1270000">
                  <a:moveTo>
                    <a:pt x="702985" y="546100"/>
                  </a:moveTo>
                  <a:lnTo>
                    <a:pt x="647024" y="546100"/>
                  </a:lnTo>
                  <a:lnTo>
                    <a:pt x="644500" y="558800"/>
                  </a:lnTo>
                  <a:lnTo>
                    <a:pt x="703018" y="558800"/>
                  </a:lnTo>
                  <a:lnTo>
                    <a:pt x="702985" y="546100"/>
                  </a:lnTo>
                  <a:close/>
                </a:path>
                <a:path w="1267460" h="1270000">
                  <a:moveTo>
                    <a:pt x="854038" y="546100"/>
                  </a:moveTo>
                  <a:lnTo>
                    <a:pt x="773920" y="546100"/>
                  </a:lnTo>
                  <a:lnTo>
                    <a:pt x="779473" y="558800"/>
                  </a:lnTo>
                  <a:lnTo>
                    <a:pt x="848616" y="558800"/>
                  </a:lnTo>
                  <a:lnTo>
                    <a:pt x="854038" y="546100"/>
                  </a:lnTo>
                  <a:close/>
                </a:path>
                <a:path w="1267460" h="1270000">
                  <a:moveTo>
                    <a:pt x="665683" y="533400"/>
                  </a:moveTo>
                  <a:lnTo>
                    <a:pt x="659805" y="533400"/>
                  </a:lnTo>
                  <a:lnTo>
                    <a:pt x="658402" y="546100"/>
                  </a:lnTo>
                  <a:lnTo>
                    <a:pt x="676468" y="546100"/>
                  </a:lnTo>
                  <a:lnTo>
                    <a:pt x="676443" y="544428"/>
                  </a:lnTo>
                  <a:lnTo>
                    <a:pt x="665683" y="533400"/>
                  </a:lnTo>
                  <a:close/>
                </a:path>
                <a:path w="1267460" h="1270000">
                  <a:moveTo>
                    <a:pt x="676443" y="544428"/>
                  </a:moveTo>
                  <a:lnTo>
                    <a:pt x="676468" y="546100"/>
                  </a:lnTo>
                  <a:lnTo>
                    <a:pt x="678074" y="546100"/>
                  </a:lnTo>
                  <a:lnTo>
                    <a:pt x="676443" y="544428"/>
                  </a:lnTo>
                  <a:close/>
                </a:path>
                <a:path w="1267460" h="1270000">
                  <a:moveTo>
                    <a:pt x="705976" y="533400"/>
                  </a:moveTo>
                  <a:lnTo>
                    <a:pt x="676280" y="533400"/>
                  </a:lnTo>
                  <a:lnTo>
                    <a:pt x="676443" y="544428"/>
                  </a:lnTo>
                  <a:lnTo>
                    <a:pt x="678074" y="546100"/>
                  </a:lnTo>
                  <a:lnTo>
                    <a:pt x="704218" y="546100"/>
                  </a:lnTo>
                  <a:lnTo>
                    <a:pt x="705976" y="533400"/>
                  </a:lnTo>
                  <a:close/>
                </a:path>
                <a:path w="1267460" h="1270000">
                  <a:moveTo>
                    <a:pt x="865159" y="533400"/>
                  </a:moveTo>
                  <a:lnTo>
                    <a:pt x="763230" y="533400"/>
                  </a:lnTo>
                  <a:lnTo>
                    <a:pt x="768506" y="546100"/>
                  </a:lnTo>
                  <a:lnTo>
                    <a:pt x="862207" y="546100"/>
                  </a:lnTo>
                  <a:lnTo>
                    <a:pt x="865159" y="533400"/>
                  </a:lnTo>
                  <a:close/>
                </a:path>
                <a:path w="1267460" h="1270000">
                  <a:moveTo>
                    <a:pt x="722293" y="520700"/>
                  </a:moveTo>
                  <a:lnTo>
                    <a:pt x="677826" y="520700"/>
                  </a:lnTo>
                  <a:lnTo>
                    <a:pt x="676551" y="533400"/>
                  </a:lnTo>
                  <a:lnTo>
                    <a:pt x="721029" y="533400"/>
                  </a:lnTo>
                  <a:lnTo>
                    <a:pt x="722293" y="520700"/>
                  </a:lnTo>
                  <a:close/>
                </a:path>
                <a:path w="1267460" h="1270000">
                  <a:moveTo>
                    <a:pt x="809490" y="520700"/>
                  </a:moveTo>
                  <a:lnTo>
                    <a:pt x="752016" y="520700"/>
                  </a:lnTo>
                  <a:lnTo>
                    <a:pt x="757298" y="533400"/>
                  </a:lnTo>
                  <a:lnTo>
                    <a:pt x="818188" y="533400"/>
                  </a:lnTo>
                  <a:lnTo>
                    <a:pt x="809490" y="520700"/>
                  </a:lnTo>
                  <a:close/>
                </a:path>
                <a:path w="1267460" h="1270000">
                  <a:moveTo>
                    <a:pt x="868913" y="520700"/>
                  </a:moveTo>
                  <a:lnTo>
                    <a:pt x="834600" y="520700"/>
                  </a:lnTo>
                  <a:lnTo>
                    <a:pt x="830707" y="533400"/>
                  </a:lnTo>
                  <a:lnTo>
                    <a:pt x="867355" y="533400"/>
                  </a:lnTo>
                  <a:lnTo>
                    <a:pt x="868913" y="520700"/>
                  </a:lnTo>
                  <a:close/>
                </a:path>
                <a:path w="1267460" h="1270000">
                  <a:moveTo>
                    <a:pt x="715403" y="508000"/>
                  </a:moveTo>
                  <a:lnTo>
                    <a:pt x="681753" y="508000"/>
                  </a:lnTo>
                  <a:lnTo>
                    <a:pt x="678868" y="520700"/>
                  </a:lnTo>
                  <a:lnTo>
                    <a:pt x="717398" y="520700"/>
                  </a:lnTo>
                  <a:lnTo>
                    <a:pt x="715403" y="508000"/>
                  </a:lnTo>
                  <a:close/>
                </a:path>
                <a:path w="1267460" h="1270000">
                  <a:moveTo>
                    <a:pt x="784668" y="508000"/>
                  </a:moveTo>
                  <a:lnTo>
                    <a:pt x="743404" y="508000"/>
                  </a:lnTo>
                  <a:lnTo>
                    <a:pt x="747384" y="520700"/>
                  </a:lnTo>
                  <a:lnTo>
                    <a:pt x="792309" y="520700"/>
                  </a:lnTo>
                  <a:lnTo>
                    <a:pt x="784668" y="508000"/>
                  </a:lnTo>
                  <a:close/>
                </a:path>
                <a:path w="1267460" h="1270000">
                  <a:moveTo>
                    <a:pt x="870470" y="508000"/>
                  </a:moveTo>
                  <a:lnTo>
                    <a:pt x="844871" y="508000"/>
                  </a:lnTo>
                  <a:lnTo>
                    <a:pt x="843974" y="520700"/>
                  </a:lnTo>
                  <a:lnTo>
                    <a:pt x="869951" y="520700"/>
                  </a:lnTo>
                  <a:lnTo>
                    <a:pt x="870470" y="508000"/>
                  </a:lnTo>
                  <a:close/>
                </a:path>
                <a:path w="1267460" h="1270000">
                  <a:moveTo>
                    <a:pt x="885449" y="508000"/>
                  </a:moveTo>
                  <a:lnTo>
                    <a:pt x="882548" y="508000"/>
                  </a:lnTo>
                  <a:lnTo>
                    <a:pt x="884377" y="520700"/>
                  </a:lnTo>
                  <a:lnTo>
                    <a:pt x="885449" y="508000"/>
                  </a:lnTo>
                  <a:close/>
                </a:path>
                <a:path w="1267460" h="1270000">
                  <a:moveTo>
                    <a:pt x="702290" y="495300"/>
                  </a:moveTo>
                  <a:lnTo>
                    <a:pt x="694959" y="495300"/>
                  </a:lnTo>
                  <a:lnTo>
                    <a:pt x="693696" y="508000"/>
                  </a:lnTo>
                  <a:lnTo>
                    <a:pt x="704042" y="508000"/>
                  </a:lnTo>
                  <a:lnTo>
                    <a:pt x="702290" y="495300"/>
                  </a:lnTo>
                  <a:close/>
                </a:path>
                <a:path w="1267460" h="1270000">
                  <a:moveTo>
                    <a:pt x="775802" y="495300"/>
                  </a:moveTo>
                  <a:lnTo>
                    <a:pt x="737449" y="495300"/>
                  </a:lnTo>
                  <a:lnTo>
                    <a:pt x="740088" y="508000"/>
                  </a:lnTo>
                  <a:lnTo>
                    <a:pt x="781409" y="508000"/>
                  </a:lnTo>
                  <a:lnTo>
                    <a:pt x="775802" y="495300"/>
                  </a:lnTo>
                  <a:close/>
                </a:path>
                <a:path w="1267460" h="1270000">
                  <a:moveTo>
                    <a:pt x="902910" y="495300"/>
                  </a:moveTo>
                  <a:lnTo>
                    <a:pt x="846284" y="495300"/>
                  </a:lnTo>
                  <a:lnTo>
                    <a:pt x="846348" y="508000"/>
                  </a:lnTo>
                  <a:lnTo>
                    <a:pt x="900318" y="508000"/>
                  </a:lnTo>
                  <a:lnTo>
                    <a:pt x="902910" y="495300"/>
                  </a:lnTo>
                  <a:close/>
                </a:path>
                <a:path w="1267460" h="1270000">
                  <a:moveTo>
                    <a:pt x="772240" y="469900"/>
                  </a:moveTo>
                  <a:lnTo>
                    <a:pt x="733612" y="469900"/>
                  </a:lnTo>
                  <a:lnTo>
                    <a:pt x="732943" y="482600"/>
                  </a:lnTo>
                  <a:lnTo>
                    <a:pt x="734204" y="495300"/>
                  </a:lnTo>
                  <a:lnTo>
                    <a:pt x="773718" y="495300"/>
                  </a:lnTo>
                  <a:lnTo>
                    <a:pt x="770986" y="482600"/>
                  </a:lnTo>
                  <a:lnTo>
                    <a:pt x="770690" y="482600"/>
                  </a:lnTo>
                  <a:lnTo>
                    <a:pt x="772240" y="469900"/>
                  </a:lnTo>
                  <a:close/>
                </a:path>
                <a:path w="1267460" h="1270000">
                  <a:moveTo>
                    <a:pt x="765305" y="355600"/>
                  </a:moveTo>
                  <a:lnTo>
                    <a:pt x="750230" y="355600"/>
                  </a:lnTo>
                  <a:lnTo>
                    <a:pt x="745040" y="368300"/>
                  </a:lnTo>
                  <a:lnTo>
                    <a:pt x="737750" y="368300"/>
                  </a:lnTo>
                  <a:lnTo>
                    <a:pt x="737522" y="381000"/>
                  </a:lnTo>
                  <a:lnTo>
                    <a:pt x="738308" y="381000"/>
                  </a:lnTo>
                  <a:lnTo>
                    <a:pt x="789785" y="431800"/>
                  </a:lnTo>
                  <a:lnTo>
                    <a:pt x="761215" y="431800"/>
                  </a:lnTo>
                  <a:lnTo>
                    <a:pt x="755373" y="444500"/>
                  </a:lnTo>
                  <a:lnTo>
                    <a:pt x="745491" y="444500"/>
                  </a:lnTo>
                  <a:lnTo>
                    <a:pt x="741635" y="457200"/>
                  </a:lnTo>
                  <a:lnTo>
                    <a:pt x="814293" y="457200"/>
                  </a:lnTo>
                  <a:lnTo>
                    <a:pt x="845431" y="482600"/>
                  </a:lnTo>
                  <a:lnTo>
                    <a:pt x="845990" y="495300"/>
                  </a:lnTo>
                  <a:lnTo>
                    <a:pt x="904119" y="495300"/>
                  </a:lnTo>
                  <a:lnTo>
                    <a:pt x="765305" y="355600"/>
                  </a:lnTo>
                  <a:close/>
                </a:path>
                <a:path w="1267460" h="1270000">
                  <a:moveTo>
                    <a:pt x="781574" y="457200"/>
                  </a:moveTo>
                  <a:lnTo>
                    <a:pt x="738541" y="457200"/>
                  </a:lnTo>
                  <a:lnTo>
                    <a:pt x="736211" y="469900"/>
                  </a:lnTo>
                  <a:lnTo>
                    <a:pt x="774345" y="469900"/>
                  </a:lnTo>
                  <a:lnTo>
                    <a:pt x="781574" y="457200"/>
                  </a:lnTo>
                  <a:close/>
                </a:path>
                <a:path w="1267460" h="1270000">
                  <a:moveTo>
                    <a:pt x="869221" y="266700"/>
                  </a:moveTo>
                  <a:lnTo>
                    <a:pt x="854934" y="266700"/>
                  </a:lnTo>
                  <a:lnTo>
                    <a:pt x="852337" y="279400"/>
                  </a:lnTo>
                  <a:lnTo>
                    <a:pt x="842455" y="279400"/>
                  </a:lnTo>
                  <a:lnTo>
                    <a:pt x="838592" y="292100"/>
                  </a:lnTo>
                  <a:lnTo>
                    <a:pt x="838033" y="292100"/>
                  </a:lnTo>
                  <a:lnTo>
                    <a:pt x="841331" y="304800"/>
                  </a:lnTo>
                  <a:lnTo>
                    <a:pt x="843840" y="304800"/>
                  </a:lnTo>
                  <a:lnTo>
                    <a:pt x="1008457" y="381000"/>
                  </a:lnTo>
                  <a:lnTo>
                    <a:pt x="1025164" y="381000"/>
                  </a:lnTo>
                  <a:lnTo>
                    <a:pt x="1029235" y="368300"/>
                  </a:lnTo>
                  <a:lnTo>
                    <a:pt x="1037974" y="368300"/>
                  </a:lnTo>
                  <a:lnTo>
                    <a:pt x="1040764" y="355600"/>
                  </a:lnTo>
                  <a:lnTo>
                    <a:pt x="1048485" y="355600"/>
                  </a:lnTo>
                  <a:lnTo>
                    <a:pt x="1048137" y="342900"/>
                  </a:lnTo>
                  <a:lnTo>
                    <a:pt x="1007383" y="342900"/>
                  </a:lnTo>
                  <a:lnTo>
                    <a:pt x="869221" y="266700"/>
                  </a:lnTo>
                  <a:close/>
                </a:path>
                <a:path w="1267460" h="1270000">
                  <a:moveTo>
                    <a:pt x="966604" y="177800"/>
                  </a:moveTo>
                  <a:lnTo>
                    <a:pt x="948444" y="177800"/>
                  </a:lnTo>
                  <a:lnTo>
                    <a:pt x="941900" y="190500"/>
                  </a:lnTo>
                  <a:lnTo>
                    <a:pt x="933467" y="190500"/>
                  </a:lnTo>
                  <a:lnTo>
                    <a:pt x="933326" y="203200"/>
                  </a:lnTo>
                  <a:lnTo>
                    <a:pt x="935482" y="203200"/>
                  </a:lnTo>
                  <a:lnTo>
                    <a:pt x="1007383" y="342900"/>
                  </a:lnTo>
                  <a:lnTo>
                    <a:pt x="1046784" y="342900"/>
                  </a:lnTo>
                  <a:lnTo>
                    <a:pt x="966604" y="177800"/>
                  </a:lnTo>
                  <a:close/>
                </a:path>
                <a:path w="1267460" h="1270000">
                  <a:moveTo>
                    <a:pt x="1040776" y="114300"/>
                  </a:moveTo>
                  <a:lnTo>
                    <a:pt x="1009859" y="114300"/>
                  </a:lnTo>
                  <a:lnTo>
                    <a:pt x="1006820" y="127000"/>
                  </a:lnTo>
                  <a:lnTo>
                    <a:pt x="982187" y="152504"/>
                  </a:lnTo>
                  <a:lnTo>
                    <a:pt x="980721" y="152504"/>
                  </a:lnTo>
                  <a:lnTo>
                    <a:pt x="982489" y="165100"/>
                  </a:lnTo>
                  <a:lnTo>
                    <a:pt x="1108156" y="292100"/>
                  </a:lnTo>
                  <a:lnTo>
                    <a:pt x="1114780" y="292100"/>
                  </a:lnTo>
                  <a:lnTo>
                    <a:pt x="1116416" y="279400"/>
                  </a:lnTo>
                  <a:lnTo>
                    <a:pt x="1127575" y="279400"/>
                  </a:lnTo>
                  <a:lnTo>
                    <a:pt x="1129600" y="266700"/>
                  </a:lnTo>
                  <a:lnTo>
                    <a:pt x="1134449" y="266700"/>
                  </a:lnTo>
                  <a:lnTo>
                    <a:pt x="1022713" y="152246"/>
                  </a:lnTo>
                  <a:lnTo>
                    <a:pt x="1123328" y="152246"/>
                  </a:lnTo>
                  <a:lnTo>
                    <a:pt x="1040776" y="114300"/>
                  </a:lnTo>
                  <a:close/>
                </a:path>
                <a:path w="1267460" h="1270000">
                  <a:moveTo>
                    <a:pt x="1175090" y="215900"/>
                  </a:moveTo>
                  <a:lnTo>
                    <a:pt x="1172809" y="215900"/>
                  </a:lnTo>
                  <a:lnTo>
                    <a:pt x="1173897" y="228600"/>
                  </a:lnTo>
                  <a:lnTo>
                    <a:pt x="1175090" y="215900"/>
                  </a:lnTo>
                  <a:close/>
                </a:path>
                <a:path w="1267460" h="1270000">
                  <a:moveTo>
                    <a:pt x="1123328" y="152246"/>
                  </a:moveTo>
                  <a:lnTo>
                    <a:pt x="1022713" y="152246"/>
                  </a:lnTo>
                  <a:lnTo>
                    <a:pt x="1171825" y="215900"/>
                  </a:lnTo>
                  <a:lnTo>
                    <a:pt x="1188071" y="215900"/>
                  </a:lnTo>
                  <a:lnTo>
                    <a:pt x="1192842" y="203200"/>
                  </a:lnTo>
                  <a:lnTo>
                    <a:pt x="1200995" y="203200"/>
                  </a:lnTo>
                  <a:lnTo>
                    <a:pt x="1201065" y="190500"/>
                  </a:lnTo>
                  <a:lnTo>
                    <a:pt x="1200133" y="190500"/>
                  </a:lnTo>
                  <a:lnTo>
                    <a:pt x="1188226" y="165100"/>
                  </a:lnTo>
                  <a:lnTo>
                    <a:pt x="1151290" y="165100"/>
                  </a:lnTo>
                  <a:lnTo>
                    <a:pt x="1123328" y="152246"/>
                  </a:lnTo>
                  <a:close/>
                </a:path>
                <a:path w="1267460" h="1270000">
                  <a:moveTo>
                    <a:pt x="1144696" y="0"/>
                  </a:moveTo>
                  <a:lnTo>
                    <a:pt x="1124576" y="0"/>
                  </a:lnTo>
                  <a:lnTo>
                    <a:pt x="1101417" y="25400"/>
                  </a:lnTo>
                  <a:lnTo>
                    <a:pt x="1099395" y="25400"/>
                  </a:lnTo>
                  <a:lnTo>
                    <a:pt x="1096606" y="37689"/>
                  </a:lnTo>
                  <a:lnTo>
                    <a:pt x="1096512" y="38100"/>
                  </a:lnTo>
                  <a:lnTo>
                    <a:pt x="1095348" y="38100"/>
                  </a:lnTo>
                  <a:lnTo>
                    <a:pt x="1095733" y="50800"/>
                  </a:lnTo>
                  <a:lnTo>
                    <a:pt x="1099112" y="50800"/>
                  </a:lnTo>
                  <a:lnTo>
                    <a:pt x="1101147" y="63500"/>
                  </a:lnTo>
                  <a:lnTo>
                    <a:pt x="1151710" y="165100"/>
                  </a:lnTo>
                  <a:lnTo>
                    <a:pt x="1188226" y="165100"/>
                  </a:lnTo>
                  <a:lnTo>
                    <a:pt x="1128501" y="37689"/>
                  </a:lnTo>
                  <a:lnTo>
                    <a:pt x="1180928" y="37689"/>
                  </a:lnTo>
                  <a:lnTo>
                    <a:pt x="1144696" y="0"/>
                  </a:lnTo>
                  <a:close/>
                </a:path>
                <a:path w="1267460" h="1270000">
                  <a:moveTo>
                    <a:pt x="1180928" y="37689"/>
                  </a:moveTo>
                  <a:lnTo>
                    <a:pt x="1128501" y="37689"/>
                  </a:lnTo>
                  <a:lnTo>
                    <a:pt x="1240589" y="152504"/>
                  </a:lnTo>
                  <a:lnTo>
                    <a:pt x="1254725" y="152504"/>
                  </a:lnTo>
                  <a:lnTo>
                    <a:pt x="1259908" y="139700"/>
                  </a:lnTo>
                  <a:lnTo>
                    <a:pt x="1265981" y="139700"/>
                  </a:lnTo>
                  <a:lnTo>
                    <a:pt x="1267321" y="127000"/>
                  </a:lnTo>
                  <a:lnTo>
                    <a:pt x="1266784" y="127000"/>
                  </a:lnTo>
                  <a:lnTo>
                    <a:pt x="1180928" y="376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76651" y="5486399"/>
              <a:ext cx="128847" cy="42810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439689" y="5509300"/>
              <a:ext cx="0" cy="337185"/>
            </a:xfrm>
            <a:custGeom>
              <a:avLst/>
              <a:gdLst/>
              <a:ahLst/>
              <a:cxnLst/>
              <a:rect l="l" t="t" r="r" b="b"/>
              <a:pathLst>
                <a:path h="337185">
                  <a:moveTo>
                    <a:pt x="0" y="0"/>
                  </a:moveTo>
                  <a:lnTo>
                    <a:pt x="1" y="33675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67692" y="4298933"/>
              <a:ext cx="1200282" cy="1159304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6575366" y="4448783"/>
            <a:ext cx="1568450" cy="1466215"/>
            <a:chOff x="6575366" y="4448783"/>
            <a:chExt cx="1568450" cy="1466215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75366" y="5486399"/>
              <a:ext cx="128847" cy="42810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640064" y="5509300"/>
              <a:ext cx="0" cy="337185"/>
            </a:xfrm>
            <a:custGeom>
              <a:avLst/>
              <a:gdLst/>
              <a:ahLst/>
              <a:cxnLst/>
              <a:rect l="l" t="t" r="r" b="b"/>
              <a:pathLst>
                <a:path h="337185">
                  <a:moveTo>
                    <a:pt x="0" y="0"/>
                  </a:moveTo>
                  <a:lnTo>
                    <a:pt x="0" y="33675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79297" y="4448783"/>
              <a:ext cx="978820" cy="9652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61662" y="5486399"/>
              <a:ext cx="133003" cy="42810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128110" y="5509300"/>
              <a:ext cx="0" cy="337185"/>
            </a:xfrm>
            <a:custGeom>
              <a:avLst/>
              <a:gdLst/>
              <a:ahLst/>
              <a:cxnLst/>
              <a:rect l="l" t="t" r="r" b="b"/>
              <a:pathLst>
                <a:path h="337185">
                  <a:moveTo>
                    <a:pt x="0" y="0"/>
                  </a:moveTo>
                  <a:lnTo>
                    <a:pt x="0" y="33675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06479" y="4462486"/>
              <a:ext cx="1037322" cy="100965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932373" y="4993078"/>
            <a:ext cx="906144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130"/>
              </a:spcBef>
            </a:pPr>
            <a:r>
              <a:rPr sz="1800" spc="-10" dirty="0">
                <a:latin typeface="Calibri"/>
                <a:cs typeface="Calibri"/>
              </a:rPr>
              <a:t>lower overhead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6391" y="5004373"/>
            <a:ext cx="906144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130"/>
              </a:spcBef>
            </a:pPr>
            <a:r>
              <a:rPr sz="1800" spc="-10" dirty="0">
                <a:latin typeface="Calibri"/>
                <a:cs typeface="Calibri"/>
              </a:rPr>
              <a:t>higher overhead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/>
              <a:t>Virt.</a:t>
            </a:r>
            <a:r>
              <a:rPr spc="-135" dirty="0"/>
              <a:t> </a:t>
            </a:r>
            <a:r>
              <a:rPr dirty="0"/>
              <a:t>Technology</a:t>
            </a:r>
            <a:r>
              <a:rPr spc="-135" dirty="0"/>
              <a:t> </a:t>
            </a:r>
            <a:r>
              <a:rPr spc="-10" dirty="0"/>
              <a:t>Benchmarking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287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pc="-10" dirty="0"/>
              <a:t>Metrics:</a:t>
            </a:r>
          </a:p>
          <a:p>
            <a:pPr marL="755015" lvl="1" indent="-285115">
              <a:lnSpc>
                <a:spcPts val="2390"/>
              </a:lnSpc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VM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Image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consump</a:t>
            </a:r>
            <a:r>
              <a:rPr lang="en-US" sz="2000" spc="-10" dirty="0">
                <a:latin typeface="Calibri"/>
                <a:cs typeface="Calibri"/>
              </a:rPr>
              <a:t>ti</a:t>
            </a:r>
            <a:r>
              <a:rPr sz="2000" spc="-10" dirty="0">
                <a:latin typeface="Calibri"/>
                <a:cs typeface="Calibri"/>
              </a:rPr>
              <a:t>on</a:t>
            </a:r>
            <a:endParaRPr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VM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crea</a:t>
            </a:r>
            <a:r>
              <a:rPr lang="en-US" sz="2000" dirty="0">
                <a:latin typeface="Calibri"/>
                <a:cs typeface="Calibri"/>
              </a:rPr>
              <a:t>ti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ti</a:t>
            </a:r>
            <a:r>
              <a:rPr sz="2000" spc="-25" dirty="0">
                <a:latin typeface="Calibri"/>
                <a:cs typeface="Calibri"/>
              </a:rPr>
              <a:t>me</a:t>
            </a:r>
            <a:endParaRPr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2000" spc="-10" dirty="0">
                <a:latin typeface="Calibri"/>
                <a:cs typeface="Calibri"/>
              </a:rPr>
              <a:t>Delay</a:t>
            </a:r>
            <a:endParaRPr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–"/>
              <a:tabLst>
                <a:tab pos="755015" algn="l"/>
              </a:tabLst>
            </a:pPr>
            <a:r>
              <a:rPr sz="2000" spc="-10" dirty="0">
                <a:latin typeface="Calibri"/>
                <a:cs typeface="Calibri"/>
              </a:rPr>
              <a:t>Throughput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8021" y="4187179"/>
            <a:ext cx="7461250" cy="1727835"/>
            <a:chOff x="798021" y="4187179"/>
            <a:chExt cx="7461250" cy="1727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8021" y="5494712"/>
              <a:ext cx="7460672" cy="3906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32172" y="5667342"/>
              <a:ext cx="6993255" cy="0"/>
            </a:xfrm>
            <a:custGeom>
              <a:avLst/>
              <a:gdLst/>
              <a:ahLst/>
              <a:cxnLst/>
              <a:rect l="l" t="t" r="r" b="b"/>
              <a:pathLst>
                <a:path w="6993255">
                  <a:moveTo>
                    <a:pt x="0" y="0"/>
                  </a:moveTo>
                  <a:lnTo>
                    <a:pt x="6992727" y="0"/>
                  </a:lnTo>
                </a:path>
              </a:pathLst>
            </a:custGeom>
            <a:ln w="380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4364" y="5581769"/>
              <a:ext cx="171005" cy="1711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91702" y="5581769"/>
              <a:ext cx="171005" cy="1711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18508" y="5486399"/>
              <a:ext cx="128847" cy="42810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683593" y="5509300"/>
              <a:ext cx="0" cy="337185"/>
            </a:xfrm>
            <a:custGeom>
              <a:avLst/>
              <a:gdLst/>
              <a:ahLst/>
              <a:cxnLst/>
              <a:rect l="l" t="t" r="r" b="b"/>
              <a:pathLst>
                <a:path h="337185">
                  <a:moveTo>
                    <a:pt x="0" y="0"/>
                  </a:moveTo>
                  <a:lnTo>
                    <a:pt x="0" y="33675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25785" y="4187179"/>
              <a:ext cx="1267460" cy="1270000"/>
            </a:xfrm>
            <a:custGeom>
              <a:avLst/>
              <a:gdLst/>
              <a:ahLst/>
              <a:cxnLst/>
              <a:rect l="l" t="t" r="r" b="b"/>
              <a:pathLst>
                <a:path w="1267460" h="1270000">
                  <a:moveTo>
                    <a:pt x="145370" y="1257299"/>
                  </a:moveTo>
                  <a:lnTo>
                    <a:pt x="90300" y="1257299"/>
                  </a:lnTo>
                  <a:lnTo>
                    <a:pt x="92053" y="1269999"/>
                  </a:lnTo>
                  <a:lnTo>
                    <a:pt x="135727" y="1269999"/>
                  </a:lnTo>
                  <a:lnTo>
                    <a:pt x="145370" y="1257299"/>
                  </a:lnTo>
                  <a:close/>
                </a:path>
                <a:path w="1267460" h="1270000">
                  <a:moveTo>
                    <a:pt x="159802" y="1244599"/>
                  </a:moveTo>
                  <a:lnTo>
                    <a:pt x="87655" y="1244599"/>
                  </a:lnTo>
                  <a:lnTo>
                    <a:pt x="85966" y="1257299"/>
                  </a:lnTo>
                  <a:lnTo>
                    <a:pt x="154839" y="1257299"/>
                  </a:lnTo>
                  <a:lnTo>
                    <a:pt x="159802" y="1244599"/>
                  </a:lnTo>
                  <a:close/>
                </a:path>
                <a:path w="1267460" h="1270000">
                  <a:moveTo>
                    <a:pt x="168231" y="1231899"/>
                  </a:moveTo>
                  <a:lnTo>
                    <a:pt x="122354" y="1231899"/>
                  </a:lnTo>
                  <a:lnTo>
                    <a:pt x="112221" y="1244599"/>
                  </a:lnTo>
                  <a:lnTo>
                    <a:pt x="164266" y="1244599"/>
                  </a:lnTo>
                  <a:lnTo>
                    <a:pt x="168231" y="1231899"/>
                  </a:lnTo>
                  <a:close/>
                </a:path>
                <a:path w="1267460" h="1270000">
                  <a:moveTo>
                    <a:pt x="174598" y="1219199"/>
                  </a:moveTo>
                  <a:lnTo>
                    <a:pt x="135963" y="1219199"/>
                  </a:lnTo>
                  <a:lnTo>
                    <a:pt x="127455" y="1231899"/>
                  </a:lnTo>
                  <a:lnTo>
                    <a:pt x="171696" y="1231899"/>
                  </a:lnTo>
                  <a:lnTo>
                    <a:pt x="174598" y="1219199"/>
                  </a:lnTo>
                  <a:close/>
                </a:path>
                <a:path w="1267460" h="1270000">
                  <a:moveTo>
                    <a:pt x="178528" y="1206499"/>
                  </a:moveTo>
                  <a:lnTo>
                    <a:pt x="143465" y="1206499"/>
                  </a:lnTo>
                  <a:lnTo>
                    <a:pt x="142330" y="1219199"/>
                  </a:lnTo>
                  <a:lnTo>
                    <a:pt x="176876" y="1219199"/>
                  </a:lnTo>
                  <a:lnTo>
                    <a:pt x="178528" y="1206499"/>
                  </a:lnTo>
                  <a:close/>
                </a:path>
                <a:path w="1267460" h="1270000">
                  <a:moveTo>
                    <a:pt x="73731" y="1193799"/>
                  </a:moveTo>
                  <a:lnTo>
                    <a:pt x="39838" y="1193799"/>
                  </a:lnTo>
                  <a:lnTo>
                    <a:pt x="45558" y="1206499"/>
                  </a:lnTo>
                  <a:lnTo>
                    <a:pt x="62566" y="1206499"/>
                  </a:lnTo>
                  <a:lnTo>
                    <a:pt x="73731" y="1193799"/>
                  </a:lnTo>
                  <a:close/>
                </a:path>
                <a:path w="1267460" h="1270000">
                  <a:moveTo>
                    <a:pt x="180508" y="1193799"/>
                  </a:moveTo>
                  <a:lnTo>
                    <a:pt x="141532" y="1193799"/>
                  </a:lnTo>
                  <a:lnTo>
                    <a:pt x="143883" y="1206499"/>
                  </a:lnTo>
                  <a:lnTo>
                    <a:pt x="179556" y="1206499"/>
                  </a:lnTo>
                  <a:lnTo>
                    <a:pt x="180508" y="1193799"/>
                  </a:lnTo>
                  <a:close/>
                </a:path>
                <a:path w="1267460" h="1270000">
                  <a:moveTo>
                    <a:pt x="162063" y="1155699"/>
                  </a:moveTo>
                  <a:lnTo>
                    <a:pt x="842" y="1155699"/>
                  </a:lnTo>
                  <a:lnTo>
                    <a:pt x="5891" y="1168399"/>
                  </a:lnTo>
                  <a:lnTo>
                    <a:pt x="10415" y="1181099"/>
                  </a:lnTo>
                  <a:lnTo>
                    <a:pt x="22616" y="1193799"/>
                  </a:lnTo>
                  <a:lnTo>
                    <a:pt x="95011" y="1193799"/>
                  </a:lnTo>
                  <a:lnTo>
                    <a:pt x="104912" y="1181099"/>
                  </a:lnTo>
                  <a:lnTo>
                    <a:pt x="176889" y="1181099"/>
                  </a:lnTo>
                  <a:lnTo>
                    <a:pt x="174426" y="1168399"/>
                  </a:lnTo>
                  <a:lnTo>
                    <a:pt x="167013" y="1168399"/>
                  </a:lnTo>
                  <a:lnTo>
                    <a:pt x="162063" y="1155699"/>
                  </a:lnTo>
                  <a:close/>
                </a:path>
                <a:path w="1267460" h="1270000">
                  <a:moveTo>
                    <a:pt x="176889" y="1181099"/>
                  </a:moveTo>
                  <a:lnTo>
                    <a:pt x="133889" y="1181099"/>
                  </a:lnTo>
                  <a:lnTo>
                    <a:pt x="139621" y="1193799"/>
                  </a:lnTo>
                  <a:lnTo>
                    <a:pt x="179619" y="1193799"/>
                  </a:lnTo>
                  <a:lnTo>
                    <a:pt x="176889" y="1181099"/>
                  </a:lnTo>
                  <a:close/>
                </a:path>
                <a:path w="1267460" h="1270000">
                  <a:moveTo>
                    <a:pt x="36114" y="1130299"/>
                  </a:moveTo>
                  <a:lnTo>
                    <a:pt x="1682" y="1130299"/>
                  </a:lnTo>
                  <a:lnTo>
                    <a:pt x="0" y="1155699"/>
                  </a:lnTo>
                  <a:lnTo>
                    <a:pt x="38305" y="1155699"/>
                  </a:lnTo>
                  <a:lnTo>
                    <a:pt x="36132" y="1142999"/>
                  </a:lnTo>
                  <a:lnTo>
                    <a:pt x="35694" y="1142999"/>
                  </a:lnTo>
                  <a:lnTo>
                    <a:pt x="36114" y="1130299"/>
                  </a:lnTo>
                  <a:close/>
                </a:path>
                <a:path w="1267460" h="1270000">
                  <a:moveTo>
                    <a:pt x="150999" y="1142999"/>
                  </a:moveTo>
                  <a:lnTo>
                    <a:pt x="99905" y="1142999"/>
                  </a:lnTo>
                  <a:lnTo>
                    <a:pt x="89230" y="1155699"/>
                  </a:lnTo>
                  <a:lnTo>
                    <a:pt x="156593" y="1155699"/>
                  </a:lnTo>
                  <a:lnTo>
                    <a:pt x="150999" y="1142999"/>
                  </a:lnTo>
                  <a:close/>
                </a:path>
                <a:path w="1267460" h="1270000">
                  <a:moveTo>
                    <a:pt x="195775" y="1041400"/>
                  </a:moveTo>
                  <a:lnTo>
                    <a:pt x="103643" y="1041400"/>
                  </a:lnTo>
                  <a:lnTo>
                    <a:pt x="103413" y="1054099"/>
                  </a:lnTo>
                  <a:lnTo>
                    <a:pt x="104206" y="1054099"/>
                  </a:lnTo>
                  <a:lnTo>
                    <a:pt x="125909" y="1066799"/>
                  </a:lnTo>
                  <a:lnTo>
                    <a:pt x="113934" y="1079499"/>
                  </a:lnTo>
                  <a:lnTo>
                    <a:pt x="113489" y="1079499"/>
                  </a:lnTo>
                  <a:lnTo>
                    <a:pt x="113130" y="1092199"/>
                  </a:lnTo>
                  <a:lnTo>
                    <a:pt x="147460" y="1092199"/>
                  </a:lnTo>
                  <a:lnTo>
                    <a:pt x="201321" y="1142999"/>
                  </a:lnTo>
                  <a:lnTo>
                    <a:pt x="206900" y="1155699"/>
                  </a:lnTo>
                  <a:lnTo>
                    <a:pt x="254527" y="1155699"/>
                  </a:lnTo>
                  <a:lnTo>
                    <a:pt x="261758" y="1142999"/>
                  </a:lnTo>
                  <a:lnTo>
                    <a:pt x="267045" y="1142999"/>
                  </a:lnTo>
                  <a:lnTo>
                    <a:pt x="268537" y="1130299"/>
                  </a:lnTo>
                  <a:lnTo>
                    <a:pt x="273786" y="1130299"/>
                  </a:lnTo>
                  <a:lnTo>
                    <a:pt x="273719" y="1117599"/>
                  </a:lnTo>
                  <a:lnTo>
                    <a:pt x="223208" y="1117599"/>
                  </a:lnTo>
                  <a:lnTo>
                    <a:pt x="173970" y="1066799"/>
                  </a:lnTo>
                  <a:lnTo>
                    <a:pt x="195775" y="1041400"/>
                  </a:lnTo>
                  <a:close/>
                </a:path>
                <a:path w="1267460" h="1270000">
                  <a:moveTo>
                    <a:pt x="84538" y="1092199"/>
                  </a:moveTo>
                  <a:lnTo>
                    <a:pt x="26569" y="1092199"/>
                  </a:lnTo>
                  <a:lnTo>
                    <a:pt x="17104" y="1104899"/>
                  </a:lnTo>
                  <a:lnTo>
                    <a:pt x="12002" y="1117599"/>
                  </a:lnTo>
                  <a:lnTo>
                    <a:pt x="4081" y="1130299"/>
                  </a:lnTo>
                  <a:lnTo>
                    <a:pt x="42259" y="1130299"/>
                  </a:lnTo>
                  <a:lnTo>
                    <a:pt x="49140" y="1117599"/>
                  </a:lnTo>
                  <a:lnTo>
                    <a:pt x="53158" y="1117599"/>
                  </a:lnTo>
                  <a:lnTo>
                    <a:pt x="61509" y="1104899"/>
                  </a:lnTo>
                  <a:lnTo>
                    <a:pt x="84783" y="1104899"/>
                  </a:lnTo>
                  <a:lnTo>
                    <a:pt x="84538" y="1092199"/>
                  </a:lnTo>
                  <a:close/>
                </a:path>
                <a:path w="1267460" h="1270000">
                  <a:moveTo>
                    <a:pt x="265286" y="1104899"/>
                  </a:moveTo>
                  <a:lnTo>
                    <a:pt x="248766" y="1104899"/>
                  </a:lnTo>
                  <a:lnTo>
                    <a:pt x="247017" y="1117599"/>
                  </a:lnTo>
                  <a:lnTo>
                    <a:pt x="268371" y="1117599"/>
                  </a:lnTo>
                  <a:lnTo>
                    <a:pt x="265286" y="1104899"/>
                  </a:lnTo>
                  <a:close/>
                </a:path>
                <a:path w="1267460" h="1270000">
                  <a:moveTo>
                    <a:pt x="147460" y="1092199"/>
                  </a:moveTo>
                  <a:lnTo>
                    <a:pt x="119123" y="1092199"/>
                  </a:lnTo>
                  <a:lnTo>
                    <a:pt x="125040" y="1104899"/>
                  </a:lnTo>
                  <a:lnTo>
                    <a:pt x="134741" y="1104899"/>
                  </a:lnTo>
                  <a:lnTo>
                    <a:pt x="147460" y="1092199"/>
                  </a:lnTo>
                  <a:close/>
                </a:path>
                <a:path w="1267460" h="1270000">
                  <a:moveTo>
                    <a:pt x="74117" y="1079499"/>
                  </a:moveTo>
                  <a:lnTo>
                    <a:pt x="48449" y="1079499"/>
                  </a:lnTo>
                  <a:lnTo>
                    <a:pt x="41156" y="1092199"/>
                  </a:lnTo>
                  <a:lnTo>
                    <a:pt x="77971" y="1092199"/>
                  </a:lnTo>
                  <a:lnTo>
                    <a:pt x="74117" y="1079499"/>
                  </a:lnTo>
                  <a:close/>
                </a:path>
                <a:path w="1267460" h="1270000">
                  <a:moveTo>
                    <a:pt x="292145" y="1054099"/>
                  </a:moveTo>
                  <a:lnTo>
                    <a:pt x="250271" y="1054099"/>
                  </a:lnTo>
                  <a:lnTo>
                    <a:pt x="254064" y="1066799"/>
                  </a:lnTo>
                  <a:lnTo>
                    <a:pt x="257749" y="1079499"/>
                  </a:lnTo>
                  <a:lnTo>
                    <a:pt x="268269" y="1092199"/>
                  </a:lnTo>
                  <a:lnTo>
                    <a:pt x="317705" y="1092199"/>
                  </a:lnTo>
                  <a:lnTo>
                    <a:pt x="322927" y="1079499"/>
                  </a:lnTo>
                  <a:lnTo>
                    <a:pt x="333933" y="1066799"/>
                  </a:lnTo>
                  <a:lnTo>
                    <a:pt x="296477" y="1066799"/>
                  </a:lnTo>
                  <a:lnTo>
                    <a:pt x="292145" y="1054099"/>
                  </a:lnTo>
                  <a:close/>
                </a:path>
                <a:path w="1267460" h="1270000">
                  <a:moveTo>
                    <a:pt x="344749" y="1041400"/>
                  </a:moveTo>
                  <a:lnTo>
                    <a:pt x="321108" y="1041400"/>
                  </a:lnTo>
                  <a:lnTo>
                    <a:pt x="318640" y="1054099"/>
                  </a:lnTo>
                  <a:lnTo>
                    <a:pt x="305943" y="1054099"/>
                  </a:lnTo>
                  <a:lnTo>
                    <a:pt x="296477" y="1066799"/>
                  </a:lnTo>
                  <a:lnTo>
                    <a:pt x="338272" y="1066799"/>
                  </a:lnTo>
                  <a:lnTo>
                    <a:pt x="343568" y="1054099"/>
                  </a:lnTo>
                  <a:lnTo>
                    <a:pt x="344749" y="1041400"/>
                  </a:lnTo>
                  <a:close/>
                </a:path>
                <a:path w="1267460" h="1270000">
                  <a:moveTo>
                    <a:pt x="285078" y="1028700"/>
                  </a:moveTo>
                  <a:lnTo>
                    <a:pt x="256669" y="1028700"/>
                  </a:lnTo>
                  <a:lnTo>
                    <a:pt x="253344" y="1041400"/>
                  </a:lnTo>
                  <a:lnTo>
                    <a:pt x="250126" y="1054099"/>
                  </a:lnTo>
                  <a:lnTo>
                    <a:pt x="284285" y="1054099"/>
                  </a:lnTo>
                  <a:lnTo>
                    <a:pt x="282459" y="1041400"/>
                  </a:lnTo>
                  <a:lnTo>
                    <a:pt x="283573" y="1041400"/>
                  </a:lnTo>
                  <a:lnTo>
                    <a:pt x="285078" y="1028700"/>
                  </a:lnTo>
                  <a:close/>
                </a:path>
                <a:path w="1267460" h="1270000">
                  <a:moveTo>
                    <a:pt x="130714" y="1028700"/>
                  </a:moveTo>
                  <a:lnTo>
                    <a:pt x="116283" y="1028700"/>
                  </a:lnTo>
                  <a:lnTo>
                    <a:pt x="111142" y="1041400"/>
                  </a:lnTo>
                  <a:lnTo>
                    <a:pt x="152419" y="1041400"/>
                  </a:lnTo>
                  <a:lnTo>
                    <a:pt x="130714" y="1028700"/>
                  </a:lnTo>
                  <a:close/>
                </a:path>
                <a:path w="1267460" h="1270000">
                  <a:moveTo>
                    <a:pt x="185722" y="1028700"/>
                  </a:moveTo>
                  <a:lnTo>
                    <a:pt x="173489" y="1028700"/>
                  </a:lnTo>
                  <a:lnTo>
                    <a:pt x="152419" y="1041400"/>
                  </a:lnTo>
                  <a:lnTo>
                    <a:pt x="191637" y="1041400"/>
                  </a:lnTo>
                  <a:lnTo>
                    <a:pt x="185722" y="1028700"/>
                  </a:lnTo>
                  <a:close/>
                </a:path>
                <a:path w="1267460" h="1270000">
                  <a:moveTo>
                    <a:pt x="369660" y="1028700"/>
                  </a:moveTo>
                  <a:lnTo>
                    <a:pt x="323954" y="1028700"/>
                  </a:lnTo>
                  <a:lnTo>
                    <a:pt x="323555" y="1041400"/>
                  </a:lnTo>
                  <a:lnTo>
                    <a:pt x="363536" y="1041400"/>
                  </a:lnTo>
                  <a:lnTo>
                    <a:pt x="369660" y="1028700"/>
                  </a:lnTo>
                  <a:close/>
                </a:path>
                <a:path w="1267460" h="1270000">
                  <a:moveTo>
                    <a:pt x="231025" y="1016000"/>
                  </a:moveTo>
                  <a:lnTo>
                    <a:pt x="213612" y="1016000"/>
                  </a:lnTo>
                  <a:lnTo>
                    <a:pt x="215187" y="1028700"/>
                  </a:lnTo>
                  <a:lnTo>
                    <a:pt x="229420" y="1028700"/>
                  </a:lnTo>
                  <a:lnTo>
                    <a:pt x="231025" y="1016000"/>
                  </a:lnTo>
                  <a:close/>
                </a:path>
                <a:path w="1267460" h="1270000">
                  <a:moveTo>
                    <a:pt x="307527" y="1003300"/>
                  </a:moveTo>
                  <a:lnTo>
                    <a:pt x="275843" y="1003300"/>
                  </a:lnTo>
                  <a:lnTo>
                    <a:pt x="270515" y="1016000"/>
                  </a:lnTo>
                  <a:lnTo>
                    <a:pt x="265805" y="1016000"/>
                  </a:lnTo>
                  <a:lnTo>
                    <a:pt x="261713" y="1028700"/>
                  </a:lnTo>
                  <a:lnTo>
                    <a:pt x="289839" y="1028700"/>
                  </a:lnTo>
                  <a:lnTo>
                    <a:pt x="293166" y="1016000"/>
                  </a:lnTo>
                  <a:lnTo>
                    <a:pt x="307527" y="1003300"/>
                  </a:lnTo>
                  <a:close/>
                </a:path>
                <a:path w="1267460" h="1270000">
                  <a:moveTo>
                    <a:pt x="310741" y="952500"/>
                  </a:moveTo>
                  <a:lnTo>
                    <a:pt x="237687" y="952500"/>
                  </a:lnTo>
                  <a:lnTo>
                    <a:pt x="232228" y="965200"/>
                  </a:lnTo>
                  <a:lnTo>
                    <a:pt x="224409" y="965200"/>
                  </a:lnTo>
                  <a:lnTo>
                    <a:pt x="217953" y="977900"/>
                  </a:lnTo>
                  <a:lnTo>
                    <a:pt x="282296" y="977900"/>
                  </a:lnTo>
                  <a:lnTo>
                    <a:pt x="290932" y="990600"/>
                  </a:lnTo>
                  <a:lnTo>
                    <a:pt x="281790" y="1003300"/>
                  </a:lnTo>
                  <a:lnTo>
                    <a:pt x="307527" y="1003300"/>
                  </a:lnTo>
                  <a:lnTo>
                    <a:pt x="323527" y="1028700"/>
                  </a:lnTo>
                  <a:lnTo>
                    <a:pt x="375296" y="1028700"/>
                  </a:lnTo>
                  <a:lnTo>
                    <a:pt x="374878" y="1016000"/>
                  </a:lnTo>
                  <a:lnTo>
                    <a:pt x="310741" y="952500"/>
                  </a:lnTo>
                  <a:close/>
                </a:path>
                <a:path w="1267460" h="1270000">
                  <a:moveTo>
                    <a:pt x="235094" y="1003300"/>
                  </a:moveTo>
                  <a:lnTo>
                    <a:pt x="205934" y="1003300"/>
                  </a:lnTo>
                  <a:lnTo>
                    <a:pt x="205999" y="1016000"/>
                  </a:lnTo>
                  <a:lnTo>
                    <a:pt x="232161" y="1016000"/>
                  </a:lnTo>
                  <a:lnTo>
                    <a:pt x="235094" y="1003300"/>
                  </a:lnTo>
                  <a:close/>
                </a:path>
                <a:path w="1267460" h="1270000">
                  <a:moveTo>
                    <a:pt x="242039" y="990600"/>
                  </a:moveTo>
                  <a:lnTo>
                    <a:pt x="208991" y="990600"/>
                  </a:lnTo>
                  <a:lnTo>
                    <a:pt x="206532" y="1003300"/>
                  </a:lnTo>
                  <a:lnTo>
                    <a:pt x="237070" y="1003300"/>
                  </a:lnTo>
                  <a:lnTo>
                    <a:pt x="242039" y="990600"/>
                  </a:lnTo>
                  <a:close/>
                </a:path>
                <a:path w="1267460" h="1270000">
                  <a:moveTo>
                    <a:pt x="253262" y="977900"/>
                  </a:moveTo>
                  <a:lnTo>
                    <a:pt x="215218" y="977900"/>
                  </a:lnTo>
                  <a:lnTo>
                    <a:pt x="210727" y="990600"/>
                  </a:lnTo>
                  <a:lnTo>
                    <a:pt x="245487" y="990600"/>
                  </a:lnTo>
                  <a:lnTo>
                    <a:pt x="253262" y="977900"/>
                  </a:lnTo>
                  <a:close/>
                </a:path>
                <a:path w="1267460" h="1270000">
                  <a:moveTo>
                    <a:pt x="364116" y="901700"/>
                  </a:moveTo>
                  <a:lnTo>
                    <a:pt x="305360" y="901700"/>
                  </a:lnTo>
                  <a:lnTo>
                    <a:pt x="400714" y="990600"/>
                  </a:lnTo>
                  <a:lnTo>
                    <a:pt x="414883" y="990600"/>
                  </a:lnTo>
                  <a:lnTo>
                    <a:pt x="420074" y="977900"/>
                  </a:lnTo>
                  <a:lnTo>
                    <a:pt x="427559" y="977900"/>
                  </a:lnTo>
                  <a:lnTo>
                    <a:pt x="427838" y="965200"/>
                  </a:lnTo>
                  <a:lnTo>
                    <a:pt x="427225" y="965200"/>
                  </a:lnTo>
                  <a:lnTo>
                    <a:pt x="364116" y="901700"/>
                  </a:lnTo>
                  <a:close/>
                </a:path>
                <a:path w="1267460" h="1270000">
                  <a:moveTo>
                    <a:pt x="285445" y="939800"/>
                  </a:moveTo>
                  <a:lnTo>
                    <a:pt x="253274" y="939800"/>
                  </a:lnTo>
                  <a:lnTo>
                    <a:pt x="248210" y="952500"/>
                  </a:lnTo>
                  <a:lnTo>
                    <a:pt x="297935" y="952500"/>
                  </a:lnTo>
                  <a:lnTo>
                    <a:pt x="285445" y="939800"/>
                  </a:lnTo>
                  <a:close/>
                </a:path>
                <a:path w="1267460" h="1270000">
                  <a:moveTo>
                    <a:pt x="406379" y="825500"/>
                  </a:moveTo>
                  <a:lnTo>
                    <a:pt x="368189" y="825500"/>
                  </a:lnTo>
                  <a:lnTo>
                    <a:pt x="361751" y="838200"/>
                  </a:lnTo>
                  <a:lnTo>
                    <a:pt x="349543" y="850900"/>
                  </a:lnTo>
                  <a:lnTo>
                    <a:pt x="345347" y="850900"/>
                  </a:lnTo>
                  <a:lnTo>
                    <a:pt x="342778" y="863600"/>
                  </a:lnTo>
                  <a:lnTo>
                    <a:pt x="401123" y="863600"/>
                  </a:lnTo>
                  <a:lnTo>
                    <a:pt x="405033" y="876300"/>
                  </a:lnTo>
                  <a:lnTo>
                    <a:pt x="463864" y="927100"/>
                  </a:lnTo>
                  <a:lnTo>
                    <a:pt x="478076" y="927100"/>
                  </a:lnTo>
                  <a:lnTo>
                    <a:pt x="483217" y="914400"/>
                  </a:lnTo>
                  <a:lnTo>
                    <a:pt x="490720" y="914400"/>
                  </a:lnTo>
                  <a:lnTo>
                    <a:pt x="490985" y="901700"/>
                  </a:lnTo>
                  <a:lnTo>
                    <a:pt x="490373" y="901700"/>
                  </a:lnTo>
                  <a:lnTo>
                    <a:pt x="431676" y="850900"/>
                  </a:lnTo>
                  <a:lnTo>
                    <a:pt x="424870" y="838200"/>
                  </a:lnTo>
                  <a:lnTo>
                    <a:pt x="418449" y="838200"/>
                  </a:lnTo>
                  <a:lnTo>
                    <a:pt x="406379" y="825500"/>
                  </a:lnTo>
                  <a:close/>
                </a:path>
                <a:path w="1267460" h="1270000">
                  <a:moveTo>
                    <a:pt x="365061" y="876300"/>
                  </a:moveTo>
                  <a:lnTo>
                    <a:pt x="339503" y="876300"/>
                  </a:lnTo>
                  <a:lnTo>
                    <a:pt x="339526" y="889000"/>
                  </a:lnTo>
                  <a:lnTo>
                    <a:pt x="305882" y="889000"/>
                  </a:lnTo>
                  <a:lnTo>
                    <a:pt x="304760" y="901700"/>
                  </a:lnTo>
                  <a:lnTo>
                    <a:pt x="363123" y="901700"/>
                  </a:lnTo>
                  <a:lnTo>
                    <a:pt x="363114" y="889000"/>
                  </a:lnTo>
                  <a:lnTo>
                    <a:pt x="365061" y="876300"/>
                  </a:lnTo>
                  <a:close/>
                </a:path>
                <a:path w="1267460" h="1270000">
                  <a:moveTo>
                    <a:pt x="327976" y="876300"/>
                  </a:moveTo>
                  <a:lnTo>
                    <a:pt x="315455" y="876300"/>
                  </a:lnTo>
                  <a:lnTo>
                    <a:pt x="311035" y="889000"/>
                  </a:lnTo>
                  <a:lnTo>
                    <a:pt x="339526" y="889000"/>
                  </a:lnTo>
                  <a:lnTo>
                    <a:pt x="327976" y="876300"/>
                  </a:lnTo>
                  <a:close/>
                </a:path>
                <a:path w="1267460" h="1270000">
                  <a:moveTo>
                    <a:pt x="373246" y="863600"/>
                  </a:moveTo>
                  <a:lnTo>
                    <a:pt x="341129" y="863600"/>
                  </a:lnTo>
                  <a:lnTo>
                    <a:pt x="340037" y="876300"/>
                  </a:lnTo>
                  <a:lnTo>
                    <a:pt x="367228" y="876300"/>
                  </a:lnTo>
                  <a:lnTo>
                    <a:pt x="373246" y="863600"/>
                  </a:lnTo>
                  <a:close/>
                </a:path>
                <a:path w="1267460" h="1270000">
                  <a:moveTo>
                    <a:pt x="549952" y="850900"/>
                  </a:moveTo>
                  <a:lnTo>
                    <a:pt x="486501" y="850900"/>
                  </a:lnTo>
                  <a:lnTo>
                    <a:pt x="494181" y="863600"/>
                  </a:lnTo>
                  <a:lnTo>
                    <a:pt x="544425" y="863600"/>
                  </a:lnTo>
                  <a:lnTo>
                    <a:pt x="549952" y="850900"/>
                  </a:lnTo>
                  <a:close/>
                </a:path>
                <a:path w="1267460" h="1270000">
                  <a:moveTo>
                    <a:pt x="563544" y="838200"/>
                  </a:moveTo>
                  <a:lnTo>
                    <a:pt x="469842" y="838200"/>
                  </a:lnTo>
                  <a:lnTo>
                    <a:pt x="475257" y="850900"/>
                  </a:lnTo>
                  <a:lnTo>
                    <a:pt x="559837" y="850900"/>
                  </a:lnTo>
                  <a:lnTo>
                    <a:pt x="563544" y="838200"/>
                  </a:lnTo>
                  <a:close/>
                </a:path>
                <a:path w="1267460" h="1270000">
                  <a:moveTo>
                    <a:pt x="568692" y="825500"/>
                  </a:moveTo>
                  <a:lnTo>
                    <a:pt x="458634" y="825500"/>
                  </a:lnTo>
                  <a:lnTo>
                    <a:pt x="464567" y="838200"/>
                  </a:lnTo>
                  <a:lnTo>
                    <a:pt x="566496" y="838200"/>
                  </a:lnTo>
                  <a:lnTo>
                    <a:pt x="568692" y="825500"/>
                  </a:lnTo>
                  <a:close/>
                </a:path>
                <a:path w="1267460" h="1270000">
                  <a:moveTo>
                    <a:pt x="497784" y="812800"/>
                  </a:moveTo>
                  <a:lnTo>
                    <a:pt x="448721" y="812800"/>
                  </a:lnTo>
                  <a:lnTo>
                    <a:pt x="453352" y="825500"/>
                  </a:lnTo>
                  <a:lnTo>
                    <a:pt x="506478" y="825500"/>
                  </a:lnTo>
                  <a:lnTo>
                    <a:pt x="497784" y="812800"/>
                  </a:lnTo>
                  <a:close/>
                </a:path>
                <a:path w="1267460" h="1270000">
                  <a:moveTo>
                    <a:pt x="571287" y="812800"/>
                  </a:moveTo>
                  <a:lnTo>
                    <a:pt x="542922" y="812800"/>
                  </a:lnTo>
                  <a:lnTo>
                    <a:pt x="541412" y="825500"/>
                  </a:lnTo>
                  <a:lnTo>
                    <a:pt x="570249" y="825500"/>
                  </a:lnTo>
                  <a:lnTo>
                    <a:pt x="571287" y="812800"/>
                  </a:lnTo>
                  <a:close/>
                </a:path>
                <a:path w="1267460" h="1270000">
                  <a:moveTo>
                    <a:pt x="486004" y="800100"/>
                  </a:moveTo>
                  <a:lnTo>
                    <a:pt x="438786" y="800100"/>
                  </a:lnTo>
                  <a:lnTo>
                    <a:pt x="441425" y="812800"/>
                  </a:lnTo>
                  <a:lnTo>
                    <a:pt x="493646" y="812800"/>
                  </a:lnTo>
                  <a:lnTo>
                    <a:pt x="486004" y="800100"/>
                  </a:lnTo>
                  <a:close/>
                </a:path>
                <a:path w="1267460" h="1270000">
                  <a:moveTo>
                    <a:pt x="571804" y="800100"/>
                  </a:moveTo>
                  <a:lnTo>
                    <a:pt x="547401" y="800100"/>
                  </a:lnTo>
                  <a:lnTo>
                    <a:pt x="546206" y="812800"/>
                  </a:lnTo>
                  <a:lnTo>
                    <a:pt x="571805" y="812800"/>
                  </a:lnTo>
                  <a:lnTo>
                    <a:pt x="571804" y="800100"/>
                  </a:lnTo>
                  <a:close/>
                </a:path>
                <a:path w="1267460" h="1270000">
                  <a:moveTo>
                    <a:pt x="599954" y="800100"/>
                  </a:moveTo>
                  <a:lnTo>
                    <a:pt x="571804" y="800100"/>
                  </a:lnTo>
                  <a:lnTo>
                    <a:pt x="583039" y="812800"/>
                  </a:lnTo>
                  <a:lnTo>
                    <a:pt x="595604" y="812800"/>
                  </a:lnTo>
                  <a:lnTo>
                    <a:pt x="599954" y="800100"/>
                  </a:lnTo>
                  <a:close/>
                </a:path>
                <a:path w="1267460" h="1270000">
                  <a:moveTo>
                    <a:pt x="472323" y="774700"/>
                  </a:moveTo>
                  <a:lnTo>
                    <a:pt x="434280" y="774700"/>
                  </a:lnTo>
                  <a:lnTo>
                    <a:pt x="436824" y="800100"/>
                  </a:lnTo>
                  <a:lnTo>
                    <a:pt x="482744" y="800100"/>
                  </a:lnTo>
                  <a:lnTo>
                    <a:pt x="477139" y="787400"/>
                  </a:lnTo>
                  <a:lnTo>
                    <a:pt x="475054" y="787400"/>
                  </a:lnTo>
                  <a:lnTo>
                    <a:pt x="472323" y="774700"/>
                  </a:lnTo>
                  <a:close/>
                </a:path>
                <a:path w="1267460" h="1270000">
                  <a:moveTo>
                    <a:pt x="606124" y="787400"/>
                  </a:moveTo>
                  <a:lnTo>
                    <a:pt x="547621" y="787400"/>
                  </a:lnTo>
                  <a:lnTo>
                    <a:pt x="547684" y="800100"/>
                  </a:lnTo>
                  <a:lnTo>
                    <a:pt x="605141" y="800100"/>
                  </a:lnTo>
                  <a:lnTo>
                    <a:pt x="606124" y="787400"/>
                  </a:lnTo>
                  <a:close/>
                </a:path>
                <a:path w="1267460" h="1270000">
                  <a:moveTo>
                    <a:pt x="466642" y="647700"/>
                  </a:moveTo>
                  <a:lnTo>
                    <a:pt x="457596" y="647700"/>
                  </a:lnTo>
                  <a:lnTo>
                    <a:pt x="453811" y="660400"/>
                  </a:lnTo>
                  <a:lnTo>
                    <a:pt x="444342" y="660400"/>
                  </a:lnTo>
                  <a:lnTo>
                    <a:pt x="441397" y="673100"/>
                  </a:lnTo>
                  <a:lnTo>
                    <a:pt x="439643" y="673100"/>
                  </a:lnTo>
                  <a:lnTo>
                    <a:pt x="491121" y="723900"/>
                  </a:lnTo>
                  <a:lnTo>
                    <a:pt x="475390" y="723900"/>
                  </a:lnTo>
                  <a:lnTo>
                    <a:pt x="462550" y="736600"/>
                  </a:lnTo>
                  <a:lnTo>
                    <a:pt x="451446" y="736600"/>
                  </a:lnTo>
                  <a:lnTo>
                    <a:pt x="446827" y="749300"/>
                  </a:lnTo>
                  <a:lnTo>
                    <a:pt x="515630" y="749300"/>
                  </a:lnTo>
                  <a:lnTo>
                    <a:pt x="546766" y="787400"/>
                  </a:lnTo>
                  <a:lnTo>
                    <a:pt x="605455" y="787400"/>
                  </a:lnTo>
                  <a:lnTo>
                    <a:pt x="466642" y="647700"/>
                  </a:lnTo>
                  <a:close/>
                </a:path>
                <a:path w="1267460" h="1270000">
                  <a:moveTo>
                    <a:pt x="473575" y="762000"/>
                  </a:moveTo>
                  <a:lnTo>
                    <a:pt x="437548" y="762000"/>
                  </a:lnTo>
                  <a:lnTo>
                    <a:pt x="434949" y="774700"/>
                  </a:lnTo>
                  <a:lnTo>
                    <a:pt x="472027" y="774700"/>
                  </a:lnTo>
                  <a:lnTo>
                    <a:pt x="473575" y="762000"/>
                  </a:lnTo>
                  <a:close/>
                </a:path>
                <a:path w="1267460" h="1270000">
                  <a:moveTo>
                    <a:pt x="487805" y="749300"/>
                  </a:moveTo>
                  <a:lnTo>
                    <a:pt x="442971" y="749300"/>
                  </a:lnTo>
                  <a:lnTo>
                    <a:pt x="439878" y="762000"/>
                  </a:lnTo>
                  <a:lnTo>
                    <a:pt x="482911" y="762000"/>
                  </a:lnTo>
                  <a:lnTo>
                    <a:pt x="487805" y="749300"/>
                  </a:lnTo>
                  <a:close/>
                </a:path>
                <a:path w="1267460" h="1270000">
                  <a:moveTo>
                    <a:pt x="644476" y="749300"/>
                  </a:moveTo>
                  <a:lnTo>
                    <a:pt x="611237" y="749300"/>
                  </a:lnTo>
                  <a:lnTo>
                    <a:pt x="622179" y="762000"/>
                  </a:lnTo>
                  <a:lnTo>
                    <a:pt x="638937" y="762000"/>
                  </a:lnTo>
                  <a:lnTo>
                    <a:pt x="644476" y="749300"/>
                  </a:lnTo>
                  <a:close/>
                </a:path>
                <a:path w="1267460" h="1270000">
                  <a:moveTo>
                    <a:pt x="620022" y="698500"/>
                  </a:moveTo>
                  <a:lnTo>
                    <a:pt x="591050" y="698500"/>
                  </a:lnTo>
                  <a:lnTo>
                    <a:pt x="587833" y="711200"/>
                  </a:lnTo>
                  <a:lnTo>
                    <a:pt x="587978" y="723900"/>
                  </a:lnTo>
                  <a:lnTo>
                    <a:pt x="591771" y="736600"/>
                  </a:lnTo>
                  <a:lnTo>
                    <a:pt x="595456" y="736600"/>
                  </a:lnTo>
                  <a:lnTo>
                    <a:pt x="605976" y="749300"/>
                  </a:lnTo>
                  <a:lnTo>
                    <a:pt x="660634" y="749300"/>
                  </a:lnTo>
                  <a:lnTo>
                    <a:pt x="671640" y="736600"/>
                  </a:lnTo>
                  <a:lnTo>
                    <a:pt x="675977" y="723900"/>
                  </a:lnTo>
                  <a:lnTo>
                    <a:pt x="629852" y="723900"/>
                  </a:lnTo>
                  <a:lnTo>
                    <a:pt x="623606" y="711200"/>
                  </a:lnTo>
                  <a:lnTo>
                    <a:pt x="620165" y="711200"/>
                  </a:lnTo>
                  <a:lnTo>
                    <a:pt x="620022" y="698500"/>
                  </a:lnTo>
                  <a:close/>
                </a:path>
                <a:path w="1267460" h="1270000">
                  <a:moveTo>
                    <a:pt x="681273" y="711200"/>
                  </a:moveTo>
                  <a:lnTo>
                    <a:pt x="656346" y="711200"/>
                  </a:lnTo>
                  <a:lnTo>
                    <a:pt x="648221" y="723900"/>
                  </a:lnTo>
                  <a:lnTo>
                    <a:pt x="675977" y="723900"/>
                  </a:lnTo>
                  <a:lnTo>
                    <a:pt x="681273" y="711200"/>
                  </a:lnTo>
                  <a:close/>
                </a:path>
                <a:path w="1267460" h="1270000">
                  <a:moveTo>
                    <a:pt x="712014" y="685800"/>
                  </a:moveTo>
                  <a:lnTo>
                    <a:pt x="661661" y="685800"/>
                  </a:lnTo>
                  <a:lnTo>
                    <a:pt x="661262" y="698500"/>
                  </a:lnTo>
                  <a:lnTo>
                    <a:pt x="658815" y="711200"/>
                  </a:lnTo>
                  <a:lnTo>
                    <a:pt x="682456" y="711200"/>
                  </a:lnTo>
                  <a:lnTo>
                    <a:pt x="682170" y="698500"/>
                  </a:lnTo>
                  <a:lnTo>
                    <a:pt x="709479" y="698500"/>
                  </a:lnTo>
                  <a:lnTo>
                    <a:pt x="712014" y="685800"/>
                  </a:lnTo>
                  <a:close/>
                </a:path>
                <a:path w="1267460" h="1270000">
                  <a:moveTo>
                    <a:pt x="698814" y="698500"/>
                  </a:moveTo>
                  <a:lnTo>
                    <a:pt x="682170" y="698500"/>
                  </a:lnTo>
                  <a:lnTo>
                    <a:pt x="690627" y="711200"/>
                  </a:lnTo>
                  <a:lnTo>
                    <a:pt x="695440" y="711200"/>
                  </a:lnTo>
                  <a:lnTo>
                    <a:pt x="698814" y="698500"/>
                  </a:lnTo>
                  <a:close/>
                </a:path>
                <a:path w="1267460" h="1270000">
                  <a:moveTo>
                    <a:pt x="645234" y="673100"/>
                  </a:moveTo>
                  <a:lnTo>
                    <a:pt x="603512" y="673100"/>
                  </a:lnTo>
                  <a:lnTo>
                    <a:pt x="599420" y="685800"/>
                  </a:lnTo>
                  <a:lnTo>
                    <a:pt x="594376" y="698500"/>
                  </a:lnTo>
                  <a:lnTo>
                    <a:pt x="622785" y="698500"/>
                  </a:lnTo>
                  <a:lnTo>
                    <a:pt x="627546" y="685800"/>
                  </a:lnTo>
                  <a:lnTo>
                    <a:pt x="630872" y="685800"/>
                  </a:lnTo>
                  <a:lnTo>
                    <a:pt x="645234" y="673100"/>
                  </a:lnTo>
                  <a:close/>
                </a:path>
                <a:path w="1267460" h="1270000">
                  <a:moveTo>
                    <a:pt x="569868" y="673100"/>
                  </a:moveTo>
                  <a:lnTo>
                    <a:pt x="545998" y="673100"/>
                  </a:lnTo>
                  <a:lnTo>
                    <a:pt x="547538" y="685800"/>
                  </a:lnTo>
                  <a:lnTo>
                    <a:pt x="568732" y="685800"/>
                  </a:lnTo>
                  <a:lnTo>
                    <a:pt x="569868" y="673100"/>
                  </a:lnTo>
                  <a:close/>
                </a:path>
                <a:path w="1267460" h="1270000">
                  <a:moveTo>
                    <a:pt x="661275" y="635000"/>
                  </a:moveTo>
                  <a:lnTo>
                    <a:pt x="617126" y="635000"/>
                  </a:lnTo>
                  <a:lnTo>
                    <a:pt x="620003" y="647700"/>
                  </a:lnTo>
                  <a:lnTo>
                    <a:pt x="628639" y="647700"/>
                  </a:lnTo>
                  <a:lnTo>
                    <a:pt x="619495" y="660400"/>
                  </a:lnTo>
                  <a:lnTo>
                    <a:pt x="613549" y="673100"/>
                  </a:lnTo>
                  <a:lnTo>
                    <a:pt x="645234" y="673100"/>
                  </a:lnTo>
                  <a:lnTo>
                    <a:pt x="661234" y="685800"/>
                  </a:lnTo>
                  <a:lnTo>
                    <a:pt x="712584" y="685800"/>
                  </a:lnTo>
                  <a:lnTo>
                    <a:pt x="661275" y="635000"/>
                  </a:lnTo>
                  <a:close/>
                </a:path>
                <a:path w="1267460" h="1270000">
                  <a:moveTo>
                    <a:pt x="574777" y="660400"/>
                  </a:moveTo>
                  <a:lnTo>
                    <a:pt x="544239" y="660400"/>
                  </a:lnTo>
                  <a:lnTo>
                    <a:pt x="543641" y="673100"/>
                  </a:lnTo>
                  <a:lnTo>
                    <a:pt x="572801" y="673100"/>
                  </a:lnTo>
                  <a:lnTo>
                    <a:pt x="574777" y="660400"/>
                  </a:lnTo>
                  <a:close/>
                </a:path>
                <a:path w="1267460" h="1270000">
                  <a:moveTo>
                    <a:pt x="583194" y="647700"/>
                  </a:moveTo>
                  <a:lnTo>
                    <a:pt x="552924" y="647700"/>
                  </a:lnTo>
                  <a:lnTo>
                    <a:pt x="548434" y="660400"/>
                  </a:lnTo>
                  <a:lnTo>
                    <a:pt x="579746" y="660400"/>
                  </a:lnTo>
                  <a:lnTo>
                    <a:pt x="583194" y="647700"/>
                  </a:lnTo>
                  <a:close/>
                </a:path>
                <a:path w="1267460" h="1270000">
                  <a:moveTo>
                    <a:pt x="703789" y="558800"/>
                  </a:moveTo>
                  <a:lnTo>
                    <a:pt x="643065" y="558800"/>
                  </a:lnTo>
                  <a:lnTo>
                    <a:pt x="738421" y="660400"/>
                  </a:lnTo>
                  <a:lnTo>
                    <a:pt x="746649" y="660400"/>
                  </a:lnTo>
                  <a:lnTo>
                    <a:pt x="750364" y="647700"/>
                  </a:lnTo>
                  <a:lnTo>
                    <a:pt x="759832" y="647700"/>
                  </a:lnTo>
                  <a:lnTo>
                    <a:pt x="762848" y="635000"/>
                  </a:lnTo>
                  <a:lnTo>
                    <a:pt x="764931" y="635000"/>
                  </a:lnTo>
                  <a:lnTo>
                    <a:pt x="705665" y="571500"/>
                  </a:lnTo>
                  <a:lnTo>
                    <a:pt x="704542" y="571500"/>
                  </a:lnTo>
                  <a:lnTo>
                    <a:pt x="703789" y="558800"/>
                  </a:lnTo>
                  <a:close/>
                </a:path>
                <a:path w="1267460" h="1270000">
                  <a:moveTo>
                    <a:pt x="641992" y="609600"/>
                  </a:moveTo>
                  <a:lnTo>
                    <a:pt x="580721" y="609600"/>
                  </a:lnTo>
                  <a:lnTo>
                    <a:pt x="575394" y="622300"/>
                  </a:lnTo>
                  <a:lnTo>
                    <a:pt x="565797" y="622300"/>
                  </a:lnTo>
                  <a:lnTo>
                    <a:pt x="562115" y="635000"/>
                  </a:lnTo>
                  <a:lnTo>
                    <a:pt x="555660" y="647700"/>
                  </a:lnTo>
                  <a:lnTo>
                    <a:pt x="590967" y="647700"/>
                  </a:lnTo>
                  <a:lnTo>
                    <a:pt x="594139" y="635000"/>
                  </a:lnTo>
                  <a:lnTo>
                    <a:pt x="661275" y="635000"/>
                  </a:lnTo>
                  <a:lnTo>
                    <a:pt x="648448" y="622300"/>
                  </a:lnTo>
                  <a:lnTo>
                    <a:pt x="641992" y="609600"/>
                  </a:lnTo>
                  <a:close/>
                </a:path>
                <a:path w="1267460" h="1270000">
                  <a:moveTo>
                    <a:pt x="623150" y="596900"/>
                  </a:moveTo>
                  <a:lnTo>
                    <a:pt x="604152" y="596900"/>
                  </a:lnTo>
                  <a:lnTo>
                    <a:pt x="597645" y="609600"/>
                  </a:lnTo>
                  <a:lnTo>
                    <a:pt x="635642" y="609600"/>
                  </a:lnTo>
                  <a:lnTo>
                    <a:pt x="623150" y="596900"/>
                  </a:lnTo>
                  <a:close/>
                </a:path>
                <a:path w="1267460" h="1270000">
                  <a:moveTo>
                    <a:pt x="837458" y="558800"/>
                  </a:moveTo>
                  <a:lnTo>
                    <a:pt x="800595" y="558800"/>
                  </a:lnTo>
                  <a:lnTo>
                    <a:pt x="816236" y="571500"/>
                  </a:lnTo>
                  <a:lnTo>
                    <a:pt x="831723" y="571500"/>
                  </a:lnTo>
                  <a:lnTo>
                    <a:pt x="837458" y="558800"/>
                  </a:lnTo>
                  <a:close/>
                </a:path>
                <a:path w="1267460" h="1270000">
                  <a:moveTo>
                    <a:pt x="702985" y="546100"/>
                  </a:moveTo>
                  <a:lnTo>
                    <a:pt x="647024" y="546100"/>
                  </a:lnTo>
                  <a:lnTo>
                    <a:pt x="644500" y="558800"/>
                  </a:lnTo>
                  <a:lnTo>
                    <a:pt x="703018" y="558800"/>
                  </a:lnTo>
                  <a:lnTo>
                    <a:pt x="702985" y="546100"/>
                  </a:lnTo>
                  <a:close/>
                </a:path>
                <a:path w="1267460" h="1270000">
                  <a:moveTo>
                    <a:pt x="854038" y="546100"/>
                  </a:moveTo>
                  <a:lnTo>
                    <a:pt x="773920" y="546100"/>
                  </a:lnTo>
                  <a:lnTo>
                    <a:pt x="779473" y="558800"/>
                  </a:lnTo>
                  <a:lnTo>
                    <a:pt x="848616" y="558800"/>
                  </a:lnTo>
                  <a:lnTo>
                    <a:pt x="854038" y="546100"/>
                  </a:lnTo>
                  <a:close/>
                </a:path>
                <a:path w="1267460" h="1270000">
                  <a:moveTo>
                    <a:pt x="665683" y="533400"/>
                  </a:moveTo>
                  <a:lnTo>
                    <a:pt x="659805" y="533400"/>
                  </a:lnTo>
                  <a:lnTo>
                    <a:pt x="658402" y="546100"/>
                  </a:lnTo>
                  <a:lnTo>
                    <a:pt x="676468" y="546100"/>
                  </a:lnTo>
                  <a:lnTo>
                    <a:pt x="676443" y="544428"/>
                  </a:lnTo>
                  <a:lnTo>
                    <a:pt x="665683" y="533400"/>
                  </a:lnTo>
                  <a:close/>
                </a:path>
                <a:path w="1267460" h="1270000">
                  <a:moveTo>
                    <a:pt x="676443" y="544428"/>
                  </a:moveTo>
                  <a:lnTo>
                    <a:pt x="676468" y="546100"/>
                  </a:lnTo>
                  <a:lnTo>
                    <a:pt x="678074" y="546100"/>
                  </a:lnTo>
                  <a:lnTo>
                    <a:pt x="676443" y="544428"/>
                  </a:lnTo>
                  <a:close/>
                </a:path>
                <a:path w="1267460" h="1270000">
                  <a:moveTo>
                    <a:pt x="705976" y="533400"/>
                  </a:moveTo>
                  <a:lnTo>
                    <a:pt x="676280" y="533400"/>
                  </a:lnTo>
                  <a:lnTo>
                    <a:pt x="676443" y="544428"/>
                  </a:lnTo>
                  <a:lnTo>
                    <a:pt x="678074" y="546100"/>
                  </a:lnTo>
                  <a:lnTo>
                    <a:pt x="704218" y="546100"/>
                  </a:lnTo>
                  <a:lnTo>
                    <a:pt x="705976" y="533400"/>
                  </a:lnTo>
                  <a:close/>
                </a:path>
                <a:path w="1267460" h="1270000">
                  <a:moveTo>
                    <a:pt x="865159" y="533400"/>
                  </a:moveTo>
                  <a:lnTo>
                    <a:pt x="763230" y="533400"/>
                  </a:lnTo>
                  <a:lnTo>
                    <a:pt x="768506" y="546100"/>
                  </a:lnTo>
                  <a:lnTo>
                    <a:pt x="862207" y="546100"/>
                  </a:lnTo>
                  <a:lnTo>
                    <a:pt x="865159" y="533400"/>
                  </a:lnTo>
                  <a:close/>
                </a:path>
                <a:path w="1267460" h="1270000">
                  <a:moveTo>
                    <a:pt x="722293" y="520700"/>
                  </a:moveTo>
                  <a:lnTo>
                    <a:pt x="677826" y="520700"/>
                  </a:lnTo>
                  <a:lnTo>
                    <a:pt x="676551" y="533400"/>
                  </a:lnTo>
                  <a:lnTo>
                    <a:pt x="721029" y="533400"/>
                  </a:lnTo>
                  <a:lnTo>
                    <a:pt x="722293" y="520700"/>
                  </a:lnTo>
                  <a:close/>
                </a:path>
                <a:path w="1267460" h="1270000">
                  <a:moveTo>
                    <a:pt x="809490" y="520700"/>
                  </a:moveTo>
                  <a:lnTo>
                    <a:pt x="752016" y="520700"/>
                  </a:lnTo>
                  <a:lnTo>
                    <a:pt x="757298" y="533400"/>
                  </a:lnTo>
                  <a:lnTo>
                    <a:pt x="818188" y="533400"/>
                  </a:lnTo>
                  <a:lnTo>
                    <a:pt x="809490" y="520700"/>
                  </a:lnTo>
                  <a:close/>
                </a:path>
                <a:path w="1267460" h="1270000">
                  <a:moveTo>
                    <a:pt x="868913" y="520700"/>
                  </a:moveTo>
                  <a:lnTo>
                    <a:pt x="834600" y="520700"/>
                  </a:lnTo>
                  <a:lnTo>
                    <a:pt x="830707" y="533400"/>
                  </a:lnTo>
                  <a:lnTo>
                    <a:pt x="867355" y="533400"/>
                  </a:lnTo>
                  <a:lnTo>
                    <a:pt x="868913" y="520700"/>
                  </a:lnTo>
                  <a:close/>
                </a:path>
                <a:path w="1267460" h="1270000">
                  <a:moveTo>
                    <a:pt x="715403" y="508000"/>
                  </a:moveTo>
                  <a:lnTo>
                    <a:pt x="681753" y="508000"/>
                  </a:lnTo>
                  <a:lnTo>
                    <a:pt x="678868" y="520700"/>
                  </a:lnTo>
                  <a:lnTo>
                    <a:pt x="717398" y="520700"/>
                  </a:lnTo>
                  <a:lnTo>
                    <a:pt x="715403" y="508000"/>
                  </a:lnTo>
                  <a:close/>
                </a:path>
                <a:path w="1267460" h="1270000">
                  <a:moveTo>
                    <a:pt x="784668" y="508000"/>
                  </a:moveTo>
                  <a:lnTo>
                    <a:pt x="743404" y="508000"/>
                  </a:lnTo>
                  <a:lnTo>
                    <a:pt x="747384" y="520700"/>
                  </a:lnTo>
                  <a:lnTo>
                    <a:pt x="792309" y="520700"/>
                  </a:lnTo>
                  <a:lnTo>
                    <a:pt x="784668" y="508000"/>
                  </a:lnTo>
                  <a:close/>
                </a:path>
                <a:path w="1267460" h="1270000">
                  <a:moveTo>
                    <a:pt x="870470" y="508000"/>
                  </a:moveTo>
                  <a:lnTo>
                    <a:pt x="844871" y="508000"/>
                  </a:lnTo>
                  <a:lnTo>
                    <a:pt x="843974" y="520700"/>
                  </a:lnTo>
                  <a:lnTo>
                    <a:pt x="869951" y="520700"/>
                  </a:lnTo>
                  <a:lnTo>
                    <a:pt x="870470" y="508000"/>
                  </a:lnTo>
                  <a:close/>
                </a:path>
                <a:path w="1267460" h="1270000">
                  <a:moveTo>
                    <a:pt x="885449" y="508000"/>
                  </a:moveTo>
                  <a:lnTo>
                    <a:pt x="882548" y="508000"/>
                  </a:lnTo>
                  <a:lnTo>
                    <a:pt x="884377" y="520700"/>
                  </a:lnTo>
                  <a:lnTo>
                    <a:pt x="885449" y="508000"/>
                  </a:lnTo>
                  <a:close/>
                </a:path>
                <a:path w="1267460" h="1270000">
                  <a:moveTo>
                    <a:pt x="702290" y="495300"/>
                  </a:moveTo>
                  <a:lnTo>
                    <a:pt x="694959" y="495300"/>
                  </a:lnTo>
                  <a:lnTo>
                    <a:pt x="693696" y="508000"/>
                  </a:lnTo>
                  <a:lnTo>
                    <a:pt x="704042" y="508000"/>
                  </a:lnTo>
                  <a:lnTo>
                    <a:pt x="702290" y="495300"/>
                  </a:lnTo>
                  <a:close/>
                </a:path>
                <a:path w="1267460" h="1270000">
                  <a:moveTo>
                    <a:pt x="775802" y="495300"/>
                  </a:moveTo>
                  <a:lnTo>
                    <a:pt x="737449" y="495300"/>
                  </a:lnTo>
                  <a:lnTo>
                    <a:pt x="740088" y="508000"/>
                  </a:lnTo>
                  <a:lnTo>
                    <a:pt x="781409" y="508000"/>
                  </a:lnTo>
                  <a:lnTo>
                    <a:pt x="775802" y="495300"/>
                  </a:lnTo>
                  <a:close/>
                </a:path>
                <a:path w="1267460" h="1270000">
                  <a:moveTo>
                    <a:pt x="902910" y="495300"/>
                  </a:moveTo>
                  <a:lnTo>
                    <a:pt x="846284" y="495300"/>
                  </a:lnTo>
                  <a:lnTo>
                    <a:pt x="846348" y="508000"/>
                  </a:lnTo>
                  <a:lnTo>
                    <a:pt x="900318" y="508000"/>
                  </a:lnTo>
                  <a:lnTo>
                    <a:pt x="902910" y="495300"/>
                  </a:lnTo>
                  <a:close/>
                </a:path>
                <a:path w="1267460" h="1270000">
                  <a:moveTo>
                    <a:pt x="772240" y="469900"/>
                  </a:moveTo>
                  <a:lnTo>
                    <a:pt x="733612" y="469900"/>
                  </a:lnTo>
                  <a:lnTo>
                    <a:pt x="732943" y="482600"/>
                  </a:lnTo>
                  <a:lnTo>
                    <a:pt x="734204" y="495300"/>
                  </a:lnTo>
                  <a:lnTo>
                    <a:pt x="773718" y="495300"/>
                  </a:lnTo>
                  <a:lnTo>
                    <a:pt x="770986" y="482600"/>
                  </a:lnTo>
                  <a:lnTo>
                    <a:pt x="770690" y="482600"/>
                  </a:lnTo>
                  <a:lnTo>
                    <a:pt x="772240" y="469900"/>
                  </a:lnTo>
                  <a:close/>
                </a:path>
                <a:path w="1267460" h="1270000">
                  <a:moveTo>
                    <a:pt x="765305" y="355600"/>
                  </a:moveTo>
                  <a:lnTo>
                    <a:pt x="750230" y="355600"/>
                  </a:lnTo>
                  <a:lnTo>
                    <a:pt x="745040" y="368300"/>
                  </a:lnTo>
                  <a:lnTo>
                    <a:pt x="737750" y="368300"/>
                  </a:lnTo>
                  <a:lnTo>
                    <a:pt x="737522" y="381000"/>
                  </a:lnTo>
                  <a:lnTo>
                    <a:pt x="738308" y="381000"/>
                  </a:lnTo>
                  <a:lnTo>
                    <a:pt x="789785" y="431800"/>
                  </a:lnTo>
                  <a:lnTo>
                    <a:pt x="761215" y="431800"/>
                  </a:lnTo>
                  <a:lnTo>
                    <a:pt x="755373" y="444500"/>
                  </a:lnTo>
                  <a:lnTo>
                    <a:pt x="745491" y="444500"/>
                  </a:lnTo>
                  <a:lnTo>
                    <a:pt x="741635" y="457200"/>
                  </a:lnTo>
                  <a:lnTo>
                    <a:pt x="814293" y="457200"/>
                  </a:lnTo>
                  <a:lnTo>
                    <a:pt x="845431" y="482600"/>
                  </a:lnTo>
                  <a:lnTo>
                    <a:pt x="845990" y="495300"/>
                  </a:lnTo>
                  <a:lnTo>
                    <a:pt x="904119" y="495300"/>
                  </a:lnTo>
                  <a:lnTo>
                    <a:pt x="765305" y="355600"/>
                  </a:lnTo>
                  <a:close/>
                </a:path>
                <a:path w="1267460" h="1270000">
                  <a:moveTo>
                    <a:pt x="781574" y="457200"/>
                  </a:moveTo>
                  <a:lnTo>
                    <a:pt x="738541" y="457200"/>
                  </a:lnTo>
                  <a:lnTo>
                    <a:pt x="736211" y="469900"/>
                  </a:lnTo>
                  <a:lnTo>
                    <a:pt x="774345" y="469900"/>
                  </a:lnTo>
                  <a:lnTo>
                    <a:pt x="781574" y="457200"/>
                  </a:lnTo>
                  <a:close/>
                </a:path>
                <a:path w="1267460" h="1270000">
                  <a:moveTo>
                    <a:pt x="869221" y="266700"/>
                  </a:moveTo>
                  <a:lnTo>
                    <a:pt x="854934" y="266700"/>
                  </a:lnTo>
                  <a:lnTo>
                    <a:pt x="852337" y="279400"/>
                  </a:lnTo>
                  <a:lnTo>
                    <a:pt x="842455" y="279400"/>
                  </a:lnTo>
                  <a:lnTo>
                    <a:pt x="838592" y="292100"/>
                  </a:lnTo>
                  <a:lnTo>
                    <a:pt x="838033" y="292100"/>
                  </a:lnTo>
                  <a:lnTo>
                    <a:pt x="841331" y="304800"/>
                  </a:lnTo>
                  <a:lnTo>
                    <a:pt x="843840" y="304800"/>
                  </a:lnTo>
                  <a:lnTo>
                    <a:pt x="1008457" y="381000"/>
                  </a:lnTo>
                  <a:lnTo>
                    <a:pt x="1025164" y="381000"/>
                  </a:lnTo>
                  <a:lnTo>
                    <a:pt x="1029235" y="368300"/>
                  </a:lnTo>
                  <a:lnTo>
                    <a:pt x="1037974" y="368300"/>
                  </a:lnTo>
                  <a:lnTo>
                    <a:pt x="1040764" y="355600"/>
                  </a:lnTo>
                  <a:lnTo>
                    <a:pt x="1048485" y="355600"/>
                  </a:lnTo>
                  <a:lnTo>
                    <a:pt x="1048137" y="342900"/>
                  </a:lnTo>
                  <a:lnTo>
                    <a:pt x="1007383" y="342900"/>
                  </a:lnTo>
                  <a:lnTo>
                    <a:pt x="869221" y="266700"/>
                  </a:lnTo>
                  <a:close/>
                </a:path>
                <a:path w="1267460" h="1270000">
                  <a:moveTo>
                    <a:pt x="966604" y="177800"/>
                  </a:moveTo>
                  <a:lnTo>
                    <a:pt x="948444" y="177800"/>
                  </a:lnTo>
                  <a:lnTo>
                    <a:pt x="941900" y="190500"/>
                  </a:lnTo>
                  <a:lnTo>
                    <a:pt x="933467" y="190500"/>
                  </a:lnTo>
                  <a:lnTo>
                    <a:pt x="933326" y="203200"/>
                  </a:lnTo>
                  <a:lnTo>
                    <a:pt x="935482" y="203200"/>
                  </a:lnTo>
                  <a:lnTo>
                    <a:pt x="1007383" y="342900"/>
                  </a:lnTo>
                  <a:lnTo>
                    <a:pt x="1046784" y="342900"/>
                  </a:lnTo>
                  <a:lnTo>
                    <a:pt x="966604" y="177800"/>
                  </a:lnTo>
                  <a:close/>
                </a:path>
                <a:path w="1267460" h="1270000">
                  <a:moveTo>
                    <a:pt x="1040776" y="114300"/>
                  </a:moveTo>
                  <a:lnTo>
                    <a:pt x="1009859" y="114300"/>
                  </a:lnTo>
                  <a:lnTo>
                    <a:pt x="1006820" y="127000"/>
                  </a:lnTo>
                  <a:lnTo>
                    <a:pt x="982187" y="152504"/>
                  </a:lnTo>
                  <a:lnTo>
                    <a:pt x="980721" y="152504"/>
                  </a:lnTo>
                  <a:lnTo>
                    <a:pt x="982489" y="165100"/>
                  </a:lnTo>
                  <a:lnTo>
                    <a:pt x="1108156" y="292100"/>
                  </a:lnTo>
                  <a:lnTo>
                    <a:pt x="1114780" y="292100"/>
                  </a:lnTo>
                  <a:lnTo>
                    <a:pt x="1116416" y="279400"/>
                  </a:lnTo>
                  <a:lnTo>
                    <a:pt x="1127575" y="279400"/>
                  </a:lnTo>
                  <a:lnTo>
                    <a:pt x="1129600" y="266700"/>
                  </a:lnTo>
                  <a:lnTo>
                    <a:pt x="1134449" y="266700"/>
                  </a:lnTo>
                  <a:lnTo>
                    <a:pt x="1022713" y="152246"/>
                  </a:lnTo>
                  <a:lnTo>
                    <a:pt x="1123328" y="152246"/>
                  </a:lnTo>
                  <a:lnTo>
                    <a:pt x="1040776" y="114300"/>
                  </a:lnTo>
                  <a:close/>
                </a:path>
                <a:path w="1267460" h="1270000">
                  <a:moveTo>
                    <a:pt x="1175090" y="215900"/>
                  </a:moveTo>
                  <a:lnTo>
                    <a:pt x="1172809" y="215900"/>
                  </a:lnTo>
                  <a:lnTo>
                    <a:pt x="1173897" y="228600"/>
                  </a:lnTo>
                  <a:lnTo>
                    <a:pt x="1175090" y="215900"/>
                  </a:lnTo>
                  <a:close/>
                </a:path>
                <a:path w="1267460" h="1270000">
                  <a:moveTo>
                    <a:pt x="1123328" y="152246"/>
                  </a:moveTo>
                  <a:lnTo>
                    <a:pt x="1022713" y="152246"/>
                  </a:lnTo>
                  <a:lnTo>
                    <a:pt x="1171825" y="215900"/>
                  </a:lnTo>
                  <a:lnTo>
                    <a:pt x="1188071" y="215900"/>
                  </a:lnTo>
                  <a:lnTo>
                    <a:pt x="1192842" y="203200"/>
                  </a:lnTo>
                  <a:lnTo>
                    <a:pt x="1200995" y="203200"/>
                  </a:lnTo>
                  <a:lnTo>
                    <a:pt x="1201065" y="190500"/>
                  </a:lnTo>
                  <a:lnTo>
                    <a:pt x="1200133" y="190500"/>
                  </a:lnTo>
                  <a:lnTo>
                    <a:pt x="1188226" y="165100"/>
                  </a:lnTo>
                  <a:lnTo>
                    <a:pt x="1151290" y="165100"/>
                  </a:lnTo>
                  <a:lnTo>
                    <a:pt x="1123328" y="152246"/>
                  </a:lnTo>
                  <a:close/>
                </a:path>
                <a:path w="1267460" h="1270000">
                  <a:moveTo>
                    <a:pt x="1144696" y="0"/>
                  </a:moveTo>
                  <a:lnTo>
                    <a:pt x="1124576" y="0"/>
                  </a:lnTo>
                  <a:lnTo>
                    <a:pt x="1101417" y="25400"/>
                  </a:lnTo>
                  <a:lnTo>
                    <a:pt x="1099395" y="25400"/>
                  </a:lnTo>
                  <a:lnTo>
                    <a:pt x="1096606" y="37689"/>
                  </a:lnTo>
                  <a:lnTo>
                    <a:pt x="1096512" y="38100"/>
                  </a:lnTo>
                  <a:lnTo>
                    <a:pt x="1095348" y="38100"/>
                  </a:lnTo>
                  <a:lnTo>
                    <a:pt x="1095733" y="50800"/>
                  </a:lnTo>
                  <a:lnTo>
                    <a:pt x="1099112" y="50800"/>
                  </a:lnTo>
                  <a:lnTo>
                    <a:pt x="1101147" y="63500"/>
                  </a:lnTo>
                  <a:lnTo>
                    <a:pt x="1151710" y="165100"/>
                  </a:lnTo>
                  <a:lnTo>
                    <a:pt x="1188226" y="165100"/>
                  </a:lnTo>
                  <a:lnTo>
                    <a:pt x="1128501" y="37689"/>
                  </a:lnTo>
                  <a:lnTo>
                    <a:pt x="1180928" y="37689"/>
                  </a:lnTo>
                  <a:lnTo>
                    <a:pt x="1144696" y="0"/>
                  </a:lnTo>
                  <a:close/>
                </a:path>
                <a:path w="1267460" h="1270000">
                  <a:moveTo>
                    <a:pt x="1180928" y="37689"/>
                  </a:moveTo>
                  <a:lnTo>
                    <a:pt x="1128501" y="37689"/>
                  </a:lnTo>
                  <a:lnTo>
                    <a:pt x="1240589" y="152504"/>
                  </a:lnTo>
                  <a:lnTo>
                    <a:pt x="1254725" y="152504"/>
                  </a:lnTo>
                  <a:lnTo>
                    <a:pt x="1259908" y="139700"/>
                  </a:lnTo>
                  <a:lnTo>
                    <a:pt x="1265981" y="139700"/>
                  </a:lnTo>
                  <a:lnTo>
                    <a:pt x="1267321" y="127000"/>
                  </a:lnTo>
                  <a:lnTo>
                    <a:pt x="1266784" y="127000"/>
                  </a:lnTo>
                  <a:lnTo>
                    <a:pt x="1180928" y="376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76651" y="5486399"/>
              <a:ext cx="128847" cy="42810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439689" y="5509300"/>
              <a:ext cx="0" cy="337185"/>
            </a:xfrm>
            <a:custGeom>
              <a:avLst/>
              <a:gdLst/>
              <a:ahLst/>
              <a:cxnLst/>
              <a:rect l="l" t="t" r="r" b="b"/>
              <a:pathLst>
                <a:path h="337185">
                  <a:moveTo>
                    <a:pt x="0" y="0"/>
                  </a:moveTo>
                  <a:lnTo>
                    <a:pt x="1" y="33675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67692" y="4298933"/>
              <a:ext cx="1200282" cy="115930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75366" y="5486399"/>
              <a:ext cx="128847" cy="42810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640064" y="5509300"/>
              <a:ext cx="0" cy="337185"/>
            </a:xfrm>
            <a:custGeom>
              <a:avLst/>
              <a:gdLst/>
              <a:ahLst/>
              <a:cxnLst/>
              <a:rect l="l" t="t" r="r" b="b"/>
              <a:pathLst>
                <a:path h="337185">
                  <a:moveTo>
                    <a:pt x="0" y="0"/>
                  </a:moveTo>
                  <a:lnTo>
                    <a:pt x="0" y="33675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58532" y="4450505"/>
              <a:ext cx="1037323" cy="10096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61662" y="5486399"/>
              <a:ext cx="133003" cy="42810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128109" y="5509300"/>
              <a:ext cx="0" cy="337185"/>
            </a:xfrm>
            <a:custGeom>
              <a:avLst/>
              <a:gdLst/>
              <a:ahLst/>
              <a:cxnLst/>
              <a:rect l="l" t="t" r="r" b="b"/>
              <a:pathLst>
                <a:path h="337185">
                  <a:moveTo>
                    <a:pt x="0" y="0"/>
                  </a:moveTo>
                  <a:lnTo>
                    <a:pt x="0" y="33675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83836" y="4466074"/>
              <a:ext cx="1057255" cy="100330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536216" y="3406681"/>
            <a:ext cx="437515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0" b="1" spc="-50" dirty="0">
                <a:solidFill>
                  <a:srgbClr val="FF0000"/>
                </a:solidFill>
                <a:latin typeface="Calibri"/>
                <a:cs typeface="Calibri"/>
              </a:rPr>
              <a:t>?</a:t>
            </a:r>
            <a:endParaRPr sz="7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32373" y="4993078"/>
            <a:ext cx="906144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130"/>
              </a:spcBef>
            </a:pPr>
            <a:r>
              <a:rPr sz="1800" spc="-10" dirty="0">
                <a:latin typeface="Calibri"/>
                <a:cs typeface="Calibri"/>
              </a:rPr>
              <a:t>lower overhead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6391" y="5004373"/>
            <a:ext cx="906144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130"/>
              </a:spcBef>
            </a:pPr>
            <a:r>
              <a:rPr sz="1800" spc="-10" dirty="0">
                <a:latin typeface="Calibri"/>
                <a:cs typeface="Calibri"/>
              </a:rPr>
              <a:t>higher overhead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0604" y="223838"/>
            <a:ext cx="526732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5065" marR="5080" indent="-11430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Virtualiza</a:t>
            </a:r>
            <a:r>
              <a:rPr lang="en-US" sz="4000" dirty="0"/>
              <a:t>ti</a:t>
            </a:r>
            <a:r>
              <a:rPr sz="4000" dirty="0"/>
              <a:t>on</a:t>
            </a:r>
            <a:r>
              <a:rPr sz="4000" spc="125" dirty="0"/>
              <a:t> </a:t>
            </a:r>
            <a:r>
              <a:rPr sz="4000" spc="-10" dirty="0"/>
              <a:t>Technology Benchmarking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39" y="1564639"/>
            <a:ext cx="7708900" cy="3827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319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700" spc="-10" dirty="0">
                <a:latin typeface="Calibri"/>
                <a:cs typeface="Calibri"/>
              </a:rPr>
              <a:t>Metrics:</a:t>
            </a:r>
            <a:endParaRPr sz="2700" dirty="0">
              <a:latin typeface="Calibri"/>
              <a:cs typeface="Calibri"/>
            </a:endParaRPr>
          </a:p>
          <a:p>
            <a:pPr marL="754380" lvl="1" indent="-284480">
              <a:lnSpc>
                <a:spcPts val="2830"/>
              </a:lnSpc>
              <a:buFont typeface="Arial"/>
              <a:buChar char="–"/>
              <a:tabLst>
                <a:tab pos="754380" algn="l"/>
              </a:tabLst>
            </a:pPr>
            <a:r>
              <a:rPr sz="2400" dirty="0">
                <a:latin typeface="Calibri"/>
                <a:cs typeface="Calibri"/>
              </a:rPr>
              <a:t>VM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image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consump</a:t>
            </a:r>
            <a:r>
              <a:rPr lang="en-US" sz="2400" dirty="0">
                <a:latin typeface="Calibri"/>
                <a:cs typeface="Calibri"/>
              </a:rPr>
              <a:t>ti</a:t>
            </a:r>
            <a:r>
              <a:rPr sz="2400" dirty="0">
                <a:latin typeface="Calibri"/>
                <a:cs typeface="Calibri"/>
              </a:rPr>
              <a:t>on: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ls,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top,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xl</a:t>
            </a:r>
            <a:endParaRPr sz="2400" dirty="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20"/>
              </a:spcBef>
              <a:buFont typeface="Arial"/>
              <a:buChar char="–"/>
              <a:tabLst>
                <a:tab pos="754380" algn="l"/>
              </a:tabLst>
            </a:pPr>
            <a:r>
              <a:rPr sz="2400" dirty="0">
                <a:latin typeface="Calibri"/>
                <a:cs typeface="Calibri"/>
              </a:rPr>
              <a:t>VM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crea</a:t>
            </a:r>
            <a:r>
              <a:rPr lang="en-US" sz="2400" dirty="0">
                <a:latin typeface="Calibri"/>
                <a:cs typeface="Calibri"/>
              </a:rPr>
              <a:t>ti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lang="en-US" sz="2400" spc="10" dirty="0">
                <a:latin typeface="Calibri"/>
                <a:cs typeface="Calibri"/>
              </a:rPr>
              <a:t>ti</a:t>
            </a:r>
            <a:r>
              <a:rPr sz="2400" dirty="0">
                <a:latin typeface="Calibri"/>
                <a:cs typeface="Calibri"/>
              </a:rPr>
              <a:t>me: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SYN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ﬂood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RST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detec</a:t>
            </a:r>
            <a:r>
              <a:rPr lang="en-US" sz="2400" spc="-10" dirty="0">
                <a:latin typeface="Calibri"/>
                <a:cs typeface="Calibri"/>
              </a:rPr>
              <a:t>ti</a:t>
            </a:r>
            <a:r>
              <a:rPr sz="2400" spc="-10" dirty="0">
                <a:latin typeface="Calibri"/>
                <a:cs typeface="Calibri"/>
              </a:rPr>
              <a:t>on</a:t>
            </a:r>
            <a:endParaRPr sz="2400" dirty="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20"/>
              </a:spcBef>
              <a:buFont typeface="Arial"/>
              <a:buChar char="–"/>
              <a:tabLst>
                <a:tab pos="754380" algn="l"/>
              </a:tabLst>
            </a:pPr>
            <a:r>
              <a:rPr sz="2400" dirty="0">
                <a:latin typeface="Calibri"/>
                <a:cs typeface="Calibri"/>
              </a:rPr>
              <a:t>Throughput: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iperf,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guest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host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(TCP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traﬃc)</a:t>
            </a:r>
            <a:endParaRPr sz="2400" dirty="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20"/>
              </a:spcBef>
              <a:buFont typeface="Arial"/>
              <a:buChar char="–"/>
              <a:tabLst>
                <a:tab pos="754380" algn="l"/>
                <a:tab pos="1437005" algn="l"/>
              </a:tabLst>
            </a:pPr>
            <a:r>
              <a:rPr sz="2400" spc="-20" dirty="0">
                <a:latin typeface="Calibri"/>
                <a:cs typeface="Calibri"/>
              </a:rPr>
              <a:t>RTT:</a:t>
            </a:r>
            <a:r>
              <a:rPr sz="2400" dirty="0">
                <a:latin typeface="Calibri"/>
                <a:cs typeface="Calibri"/>
              </a:rPr>
              <a:t>	ping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ﬂood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830"/>
              </a:spcBef>
              <a:buFont typeface="Arial"/>
              <a:buChar char="•"/>
              <a:tabLst>
                <a:tab pos="354965" algn="l"/>
              </a:tabLst>
            </a:pPr>
            <a:r>
              <a:rPr sz="2700" spc="-25" dirty="0">
                <a:latin typeface="Calibri"/>
                <a:cs typeface="Calibri"/>
              </a:rPr>
              <a:t>VM-</a:t>
            </a:r>
            <a:r>
              <a:rPr sz="2700" dirty="0">
                <a:latin typeface="Calibri"/>
                <a:cs typeface="Calibri"/>
              </a:rPr>
              <a:t>based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tests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run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on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both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Xen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KVM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45"/>
              </a:spcBef>
              <a:buFont typeface="Arial"/>
              <a:buChar char="•"/>
            </a:pPr>
            <a:endParaRPr sz="2700" dirty="0">
              <a:latin typeface="Calibri"/>
              <a:cs typeface="Calibri"/>
            </a:endParaRPr>
          </a:p>
          <a:p>
            <a:pPr marL="355600" marR="5080" indent="-342900">
              <a:lnSpc>
                <a:spcPts val="2650"/>
              </a:lnSpc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Calibri"/>
                <a:cs typeface="Calibri"/>
              </a:rPr>
              <a:t>Hardware: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x86_64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server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with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Intel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Xeon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E5-</a:t>
            </a:r>
            <a:r>
              <a:rPr sz="2700" spc="-20" dirty="0">
                <a:latin typeface="Calibri"/>
                <a:cs typeface="Calibri"/>
              </a:rPr>
              <a:t>1630 </a:t>
            </a:r>
            <a:r>
              <a:rPr sz="2700" dirty="0">
                <a:latin typeface="Calibri"/>
                <a:cs typeface="Calibri"/>
              </a:rPr>
              <a:t>v3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3.7GHz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CPU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(4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cores),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32GB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RAM.</a:t>
            </a:r>
            <a:endParaRPr sz="27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9584">
              <a:lnSpc>
                <a:spcPct val="100000"/>
              </a:lnSpc>
              <a:spcBef>
                <a:spcPts val="100"/>
              </a:spcBef>
            </a:pPr>
            <a:r>
              <a:rPr dirty="0"/>
              <a:t>Virtualiza</a:t>
            </a:r>
            <a:r>
              <a:rPr lang="en-US" dirty="0"/>
              <a:t>ti</a:t>
            </a:r>
            <a:r>
              <a:rPr dirty="0"/>
              <a:t>on</a:t>
            </a:r>
            <a:r>
              <a:rPr spc="30" dirty="0"/>
              <a:t> </a:t>
            </a:r>
            <a:r>
              <a:rPr spc="-10" dirty="0"/>
              <a:t>Technologies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556434"/>
            <a:ext cx="5790565" cy="420243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05"/>
              </a:spcBef>
              <a:buFont typeface="Arial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“Standard”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VM</a:t>
            </a:r>
            <a:endParaRPr sz="30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60"/>
              </a:spcBef>
              <a:buFont typeface="Arial"/>
              <a:buChar char="–"/>
              <a:tabLst>
                <a:tab pos="755650" algn="l"/>
              </a:tabLst>
            </a:pPr>
            <a:r>
              <a:rPr sz="2600" dirty="0">
                <a:latin typeface="Calibri"/>
                <a:cs typeface="Calibri"/>
              </a:rPr>
              <a:t>Standard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Debian-</a:t>
            </a:r>
            <a:r>
              <a:rPr sz="2600" dirty="0">
                <a:latin typeface="Calibri"/>
                <a:cs typeface="Calibri"/>
              </a:rPr>
              <a:t>based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Linux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VM</a:t>
            </a:r>
            <a:endParaRPr sz="2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“Tinyﬁed”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VM</a:t>
            </a:r>
            <a:endParaRPr sz="30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40"/>
              </a:spcBef>
              <a:buFont typeface="Arial"/>
              <a:buChar char="–"/>
              <a:tabLst>
                <a:tab pos="755650" algn="l"/>
              </a:tabLst>
            </a:pPr>
            <a:r>
              <a:rPr sz="2600" dirty="0">
                <a:latin typeface="Calibri"/>
                <a:cs typeface="Calibri"/>
              </a:rPr>
              <a:t>Tinyx,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based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Linux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kernel/busybox</a:t>
            </a:r>
            <a:endParaRPr sz="2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354965" algn="l"/>
              </a:tabLst>
            </a:pPr>
            <a:r>
              <a:rPr sz="3000" spc="-10" dirty="0">
                <a:latin typeface="Calibri"/>
                <a:cs typeface="Calibri"/>
              </a:rPr>
              <a:t>Unikernel</a:t>
            </a:r>
            <a:endParaRPr sz="30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40"/>
              </a:spcBef>
              <a:buFont typeface="Arial"/>
              <a:buChar char="–"/>
              <a:tabLst>
                <a:tab pos="755650" algn="l"/>
              </a:tabLst>
            </a:pPr>
            <a:r>
              <a:rPr sz="2600" dirty="0">
                <a:latin typeface="Calibri"/>
                <a:cs typeface="Calibri"/>
              </a:rPr>
              <a:t>On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Xen: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MiniOS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+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miniperf</a:t>
            </a:r>
            <a:endParaRPr sz="26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80"/>
              </a:spcBef>
              <a:buFont typeface="Arial"/>
              <a:buChar char="–"/>
              <a:tabLst>
                <a:tab pos="755650" algn="l"/>
              </a:tabLst>
            </a:pPr>
            <a:r>
              <a:rPr sz="2600" dirty="0">
                <a:latin typeface="Calibri"/>
                <a:cs typeface="Calibri"/>
              </a:rPr>
              <a:t>On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KVM: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OSv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+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iperf</a:t>
            </a:r>
            <a:endParaRPr sz="2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354965" algn="l"/>
              </a:tabLst>
            </a:pPr>
            <a:r>
              <a:rPr sz="3000" spc="-10" dirty="0">
                <a:latin typeface="Calibri"/>
                <a:cs typeface="Calibri"/>
              </a:rPr>
              <a:t>Containers</a:t>
            </a:r>
            <a:endParaRPr sz="30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40"/>
              </a:spcBef>
              <a:buFont typeface="Arial"/>
              <a:buChar char="–"/>
              <a:tabLst>
                <a:tab pos="755650" algn="l"/>
              </a:tabLst>
            </a:pPr>
            <a:r>
              <a:rPr sz="2600" spc="-10" dirty="0">
                <a:latin typeface="Calibri"/>
                <a:cs typeface="Calibri"/>
              </a:rPr>
              <a:t>Docker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9584">
              <a:lnSpc>
                <a:spcPct val="100000"/>
              </a:lnSpc>
              <a:spcBef>
                <a:spcPts val="100"/>
              </a:spcBef>
            </a:pPr>
            <a:r>
              <a:rPr dirty="0"/>
              <a:t>Virtualiza</a:t>
            </a:r>
            <a:r>
              <a:rPr lang="en-US" dirty="0"/>
              <a:t>ti</a:t>
            </a:r>
            <a:r>
              <a:rPr dirty="0"/>
              <a:t>on</a:t>
            </a:r>
            <a:r>
              <a:rPr spc="30" dirty="0"/>
              <a:t> </a:t>
            </a:r>
            <a:r>
              <a:rPr spc="-10" dirty="0"/>
              <a:t>Technologies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556434"/>
            <a:ext cx="5229225" cy="95123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05"/>
              </a:spcBef>
              <a:buFont typeface="Arial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“Standard”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VM</a:t>
            </a:r>
            <a:endParaRPr sz="3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60"/>
              </a:spcBef>
            </a:pPr>
            <a:r>
              <a:rPr sz="2600" dirty="0">
                <a:latin typeface="Arial"/>
                <a:cs typeface="Arial"/>
              </a:rPr>
              <a:t>–</a:t>
            </a:r>
            <a:r>
              <a:rPr sz="2600" spc="35" dirty="0">
                <a:latin typeface="Arial"/>
                <a:cs typeface="Arial"/>
              </a:rPr>
              <a:t> </a:t>
            </a:r>
            <a:r>
              <a:rPr sz="2600" dirty="0">
                <a:latin typeface="Calibri"/>
                <a:cs typeface="Calibri"/>
              </a:rPr>
              <a:t>Standard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Debian-</a:t>
            </a:r>
            <a:r>
              <a:rPr sz="2600" dirty="0">
                <a:latin typeface="Calibri"/>
                <a:cs typeface="Calibri"/>
              </a:rPr>
              <a:t>based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Linux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VM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5319" y="2564072"/>
            <a:ext cx="6635750" cy="970915"/>
          </a:xfrm>
          <a:prstGeom prst="rect">
            <a:avLst/>
          </a:prstGeom>
          <a:ln w="38099">
            <a:solidFill>
              <a:srgbClr val="FF26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6095" indent="-342900">
              <a:lnSpc>
                <a:spcPts val="3390"/>
              </a:lnSpc>
              <a:buFont typeface="Arial"/>
              <a:buChar char="•"/>
              <a:tabLst>
                <a:tab pos="506095" algn="l"/>
              </a:tabLst>
            </a:pPr>
            <a:r>
              <a:rPr sz="3000" dirty="0">
                <a:latin typeface="Calibri"/>
                <a:cs typeface="Calibri"/>
              </a:rPr>
              <a:t>“Tinyﬁed”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VM</a:t>
            </a:r>
            <a:endParaRPr sz="3000">
              <a:latin typeface="Calibri"/>
              <a:cs typeface="Calibri"/>
            </a:endParaRPr>
          </a:p>
          <a:p>
            <a:pPr marL="620395">
              <a:lnSpc>
                <a:spcPct val="100000"/>
              </a:lnSpc>
              <a:spcBef>
                <a:spcPts val="345"/>
              </a:spcBef>
            </a:pPr>
            <a:r>
              <a:rPr sz="2600" dirty="0">
                <a:latin typeface="Arial"/>
                <a:cs typeface="Arial"/>
              </a:rPr>
              <a:t>–</a:t>
            </a:r>
            <a:r>
              <a:rPr sz="2600" spc="55" dirty="0">
                <a:latin typeface="Arial"/>
                <a:cs typeface="Arial"/>
              </a:rPr>
              <a:t> </a:t>
            </a:r>
            <a:r>
              <a:rPr sz="2600" dirty="0">
                <a:latin typeface="Calibri"/>
                <a:cs typeface="Calibri"/>
              </a:rPr>
              <a:t>Tinyx,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based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Linux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kernel/busybox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39" y="3414150"/>
            <a:ext cx="4341495" cy="234505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354965" algn="l"/>
              </a:tabLst>
            </a:pPr>
            <a:r>
              <a:rPr sz="3000" spc="-10" dirty="0">
                <a:latin typeface="Calibri"/>
                <a:cs typeface="Calibri"/>
              </a:rPr>
              <a:t>Unikernel</a:t>
            </a:r>
            <a:endParaRPr sz="30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45"/>
              </a:spcBef>
              <a:buFont typeface="Arial"/>
              <a:buChar char="–"/>
              <a:tabLst>
                <a:tab pos="755650" algn="l"/>
              </a:tabLst>
            </a:pPr>
            <a:r>
              <a:rPr sz="2600" dirty="0">
                <a:latin typeface="Calibri"/>
                <a:cs typeface="Calibri"/>
              </a:rPr>
              <a:t>On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Xen: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MiniOS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+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miniperf</a:t>
            </a:r>
            <a:endParaRPr sz="26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80"/>
              </a:spcBef>
              <a:buFont typeface="Arial"/>
              <a:buChar char="–"/>
              <a:tabLst>
                <a:tab pos="755650" algn="l"/>
              </a:tabLst>
            </a:pPr>
            <a:r>
              <a:rPr sz="2600" dirty="0">
                <a:latin typeface="Calibri"/>
                <a:cs typeface="Calibri"/>
              </a:rPr>
              <a:t>On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KVM: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OSv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+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iperf</a:t>
            </a:r>
            <a:endParaRPr sz="2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354965" algn="l"/>
              </a:tabLst>
            </a:pPr>
            <a:r>
              <a:rPr sz="3000" spc="-10" dirty="0">
                <a:latin typeface="Calibri"/>
                <a:cs typeface="Calibri"/>
              </a:rPr>
              <a:t>Containers</a:t>
            </a:r>
            <a:endParaRPr sz="30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45"/>
              </a:spcBef>
              <a:buFont typeface="Arial"/>
              <a:buChar char="–"/>
              <a:tabLst>
                <a:tab pos="755650" algn="l"/>
              </a:tabLst>
            </a:pPr>
            <a:r>
              <a:rPr sz="2600" spc="-10" dirty="0">
                <a:latin typeface="Calibri"/>
                <a:cs typeface="Calibri"/>
              </a:rPr>
              <a:t>Docker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040" y="2522912"/>
            <a:ext cx="6766559" cy="110143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0879" y="151733"/>
            <a:ext cx="78879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Standard</a:t>
            </a:r>
            <a:r>
              <a:rPr sz="3600" spc="5" dirty="0"/>
              <a:t> </a:t>
            </a:r>
            <a:r>
              <a:rPr sz="3600" dirty="0"/>
              <a:t>VM:</a:t>
            </a:r>
            <a:r>
              <a:rPr sz="3600" spc="5" dirty="0"/>
              <a:t> </a:t>
            </a:r>
            <a:r>
              <a:rPr sz="3600" dirty="0"/>
              <a:t>Applica</a:t>
            </a:r>
            <a:r>
              <a:rPr lang="en-US" sz="3600" dirty="0"/>
              <a:t>ti</a:t>
            </a:r>
            <a:r>
              <a:rPr sz="3600" dirty="0"/>
              <a:t>on</a:t>
            </a:r>
            <a:r>
              <a:rPr sz="3600" spc="10" dirty="0"/>
              <a:t> </a:t>
            </a:r>
            <a:r>
              <a:rPr sz="3600" dirty="0"/>
              <a:t>on</a:t>
            </a:r>
            <a:r>
              <a:rPr sz="3600" spc="5" dirty="0"/>
              <a:t> </a:t>
            </a:r>
            <a:r>
              <a:rPr sz="3600" dirty="0"/>
              <a:t>Top</a:t>
            </a:r>
            <a:r>
              <a:rPr sz="3600" spc="10" dirty="0"/>
              <a:t> </a:t>
            </a:r>
            <a:r>
              <a:rPr sz="3600" dirty="0"/>
              <a:t>of</a:t>
            </a:r>
            <a:r>
              <a:rPr sz="3600" spc="5" dirty="0"/>
              <a:t> </a:t>
            </a:r>
            <a:r>
              <a:rPr sz="3600" spc="-10" dirty="0"/>
              <a:t>Distro</a:t>
            </a:r>
            <a:endParaRPr sz="3600" dirty="0"/>
          </a:p>
        </p:txBody>
      </p:sp>
      <p:grpSp>
        <p:nvGrpSpPr>
          <p:cNvPr id="3" name="object 3"/>
          <p:cNvGrpSpPr/>
          <p:nvPr/>
        </p:nvGrpSpPr>
        <p:grpSpPr>
          <a:xfrm>
            <a:off x="216130" y="872836"/>
            <a:ext cx="6700520" cy="5515610"/>
            <a:chOff x="216130" y="872836"/>
            <a:chExt cx="6700520" cy="55156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130" y="872836"/>
              <a:ext cx="6700057" cy="55154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74320" y="914401"/>
              <a:ext cx="6583680" cy="5394960"/>
            </a:xfrm>
            <a:custGeom>
              <a:avLst/>
              <a:gdLst/>
              <a:ahLst/>
              <a:cxnLst/>
              <a:rect l="l" t="t" r="r" b="b"/>
              <a:pathLst>
                <a:path w="6583680" h="5394960">
                  <a:moveTo>
                    <a:pt x="6583678" y="0"/>
                  </a:moveTo>
                  <a:lnTo>
                    <a:pt x="0" y="0"/>
                  </a:lnTo>
                  <a:lnTo>
                    <a:pt x="0" y="5394958"/>
                  </a:lnTo>
                  <a:lnTo>
                    <a:pt x="6583678" y="5394958"/>
                  </a:lnTo>
                  <a:lnTo>
                    <a:pt x="65836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320" y="914401"/>
              <a:ext cx="6583680" cy="5394960"/>
            </a:xfrm>
            <a:custGeom>
              <a:avLst/>
              <a:gdLst/>
              <a:ahLst/>
              <a:cxnLst/>
              <a:rect l="l" t="t" r="r" b="b"/>
              <a:pathLst>
                <a:path w="6583680" h="5394960">
                  <a:moveTo>
                    <a:pt x="0" y="0"/>
                  </a:moveTo>
                  <a:lnTo>
                    <a:pt x="6583678" y="0"/>
                  </a:lnTo>
                  <a:lnTo>
                    <a:pt x="6583678" y="5394958"/>
                  </a:lnTo>
                  <a:lnTo>
                    <a:pt x="0" y="5394958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68137" y="976745"/>
              <a:ext cx="1596043" cy="59020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834640" y="1005839"/>
              <a:ext cx="1463040" cy="457200"/>
            </a:xfrm>
            <a:custGeom>
              <a:avLst/>
              <a:gdLst/>
              <a:ahLst/>
              <a:cxnLst/>
              <a:rect l="l" t="t" r="r" b="b"/>
              <a:pathLst>
                <a:path w="1463039" h="457200">
                  <a:moveTo>
                    <a:pt x="1463038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463038" y="457200"/>
                  </a:lnTo>
                  <a:lnTo>
                    <a:pt x="1463038" y="0"/>
                  </a:lnTo>
                  <a:close/>
                </a:path>
              </a:pathLst>
            </a:custGeom>
            <a:solidFill>
              <a:srgbClr val="E55C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34640" y="1005840"/>
              <a:ext cx="1463040" cy="457200"/>
            </a:xfrm>
            <a:custGeom>
              <a:avLst/>
              <a:gdLst/>
              <a:ahLst/>
              <a:cxnLst/>
              <a:rect l="l" t="t" r="r" b="b"/>
              <a:pathLst>
                <a:path w="1463039" h="457200">
                  <a:moveTo>
                    <a:pt x="0" y="0"/>
                  </a:moveTo>
                  <a:lnTo>
                    <a:pt x="1463039" y="0"/>
                  </a:lnTo>
                  <a:lnTo>
                    <a:pt x="1463039" y="457199"/>
                  </a:lnTo>
                  <a:lnTo>
                    <a:pt x="0" y="4571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5760" y="1554481"/>
              <a:ext cx="6400800" cy="1097280"/>
            </a:xfrm>
            <a:custGeom>
              <a:avLst/>
              <a:gdLst/>
              <a:ahLst/>
              <a:cxnLst/>
              <a:rect l="l" t="t" r="r" b="b"/>
              <a:pathLst>
                <a:path w="6400800" h="1097280">
                  <a:moveTo>
                    <a:pt x="6400798" y="0"/>
                  </a:moveTo>
                  <a:lnTo>
                    <a:pt x="0" y="0"/>
                  </a:lnTo>
                  <a:lnTo>
                    <a:pt x="0" y="1097278"/>
                  </a:lnTo>
                  <a:lnTo>
                    <a:pt x="6400798" y="1097278"/>
                  </a:lnTo>
                  <a:lnTo>
                    <a:pt x="6400798" y="0"/>
                  </a:lnTo>
                  <a:close/>
                </a:path>
              </a:pathLst>
            </a:custGeom>
            <a:solidFill>
              <a:srgbClr val="95C8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5760" y="1554481"/>
              <a:ext cx="6400800" cy="1097280"/>
            </a:xfrm>
            <a:custGeom>
              <a:avLst/>
              <a:gdLst/>
              <a:ahLst/>
              <a:cxnLst/>
              <a:rect l="l" t="t" r="r" b="b"/>
              <a:pathLst>
                <a:path w="6400800" h="1097280">
                  <a:moveTo>
                    <a:pt x="0" y="0"/>
                  </a:moveTo>
                  <a:lnTo>
                    <a:pt x="6400798" y="0"/>
                  </a:lnTo>
                  <a:lnTo>
                    <a:pt x="6400798" y="1097279"/>
                  </a:lnTo>
                  <a:lnTo>
                    <a:pt x="0" y="109727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CCE4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200" y="1645920"/>
              <a:ext cx="548640" cy="274320"/>
            </a:xfrm>
            <a:custGeom>
              <a:avLst/>
              <a:gdLst/>
              <a:ahLst/>
              <a:cxnLst/>
              <a:rect l="l" t="t" r="r" b="b"/>
              <a:pathLst>
                <a:path w="548640" h="274319">
                  <a:moveTo>
                    <a:pt x="0" y="0"/>
                  </a:moveTo>
                  <a:lnTo>
                    <a:pt x="548639" y="0"/>
                  </a:lnTo>
                  <a:lnTo>
                    <a:pt x="54863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97279" y="1645920"/>
              <a:ext cx="548640" cy="274320"/>
            </a:xfrm>
            <a:custGeom>
              <a:avLst/>
              <a:gdLst/>
              <a:ahLst/>
              <a:cxnLst/>
              <a:rect l="l" t="t" r="r" b="b"/>
              <a:pathLst>
                <a:path w="548639" h="274319">
                  <a:moveTo>
                    <a:pt x="0" y="0"/>
                  </a:moveTo>
                  <a:lnTo>
                    <a:pt x="548639" y="0"/>
                  </a:lnTo>
                  <a:lnTo>
                    <a:pt x="54863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7200" y="1965959"/>
              <a:ext cx="1005840" cy="274320"/>
            </a:xfrm>
            <a:custGeom>
              <a:avLst/>
              <a:gdLst/>
              <a:ahLst/>
              <a:cxnLst/>
              <a:rect l="l" t="t" r="r" b="b"/>
              <a:pathLst>
                <a:path w="1005840" h="274319">
                  <a:moveTo>
                    <a:pt x="0" y="0"/>
                  </a:moveTo>
                  <a:lnTo>
                    <a:pt x="1005839" y="0"/>
                  </a:lnTo>
                  <a:lnTo>
                    <a:pt x="100583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7200" y="2286000"/>
              <a:ext cx="548640" cy="274320"/>
            </a:xfrm>
            <a:custGeom>
              <a:avLst/>
              <a:gdLst/>
              <a:ahLst/>
              <a:cxnLst/>
              <a:rect l="l" t="t" r="r" b="b"/>
              <a:pathLst>
                <a:path w="548640" h="274319">
                  <a:moveTo>
                    <a:pt x="0" y="0"/>
                  </a:moveTo>
                  <a:lnTo>
                    <a:pt x="548639" y="0"/>
                  </a:lnTo>
                  <a:lnTo>
                    <a:pt x="54863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54479" y="1965959"/>
              <a:ext cx="914400" cy="274320"/>
            </a:xfrm>
            <a:custGeom>
              <a:avLst/>
              <a:gdLst/>
              <a:ahLst/>
              <a:cxnLst/>
              <a:rect l="l" t="t" r="r" b="b"/>
              <a:pathLst>
                <a:path w="914400" h="274319">
                  <a:moveTo>
                    <a:pt x="0" y="0"/>
                  </a:moveTo>
                  <a:lnTo>
                    <a:pt x="914399" y="0"/>
                  </a:lnTo>
                  <a:lnTo>
                    <a:pt x="91439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37360" y="1645920"/>
              <a:ext cx="184785" cy="274320"/>
            </a:xfrm>
            <a:custGeom>
              <a:avLst/>
              <a:gdLst/>
              <a:ahLst/>
              <a:cxnLst/>
              <a:rect l="l" t="t" r="r" b="b"/>
              <a:pathLst>
                <a:path w="184785" h="274319">
                  <a:moveTo>
                    <a:pt x="0" y="0"/>
                  </a:moveTo>
                  <a:lnTo>
                    <a:pt x="184381" y="0"/>
                  </a:lnTo>
                  <a:lnTo>
                    <a:pt x="184381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97279" y="2286000"/>
              <a:ext cx="914400" cy="274320"/>
            </a:xfrm>
            <a:custGeom>
              <a:avLst/>
              <a:gdLst/>
              <a:ahLst/>
              <a:cxnLst/>
              <a:rect l="l" t="t" r="r" b="b"/>
              <a:pathLst>
                <a:path w="914400" h="274319">
                  <a:moveTo>
                    <a:pt x="0" y="0"/>
                  </a:moveTo>
                  <a:lnTo>
                    <a:pt x="914399" y="0"/>
                  </a:lnTo>
                  <a:lnTo>
                    <a:pt x="91439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03119" y="2286000"/>
              <a:ext cx="914400" cy="274320"/>
            </a:xfrm>
            <a:custGeom>
              <a:avLst/>
              <a:gdLst/>
              <a:ahLst/>
              <a:cxnLst/>
              <a:rect l="l" t="t" r="r" b="b"/>
              <a:pathLst>
                <a:path w="914400" h="274319">
                  <a:moveTo>
                    <a:pt x="0" y="0"/>
                  </a:moveTo>
                  <a:lnTo>
                    <a:pt x="914399" y="0"/>
                  </a:lnTo>
                  <a:lnTo>
                    <a:pt x="91439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60319" y="1965959"/>
              <a:ext cx="731520" cy="274320"/>
            </a:xfrm>
            <a:custGeom>
              <a:avLst/>
              <a:gdLst/>
              <a:ahLst/>
              <a:cxnLst/>
              <a:rect l="l" t="t" r="r" b="b"/>
              <a:pathLst>
                <a:path w="731520" h="274319">
                  <a:moveTo>
                    <a:pt x="0" y="0"/>
                  </a:moveTo>
                  <a:lnTo>
                    <a:pt x="731519" y="0"/>
                  </a:lnTo>
                  <a:lnTo>
                    <a:pt x="73151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85999" y="1645920"/>
              <a:ext cx="1463040" cy="274320"/>
            </a:xfrm>
            <a:custGeom>
              <a:avLst/>
              <a:gdLst/>
              <a:ahLst/>
              <a:cxnLst/>
              <a:rect l="l" t="t" r="r" b="b"/>
              <a:pathLst>
                <a:path w="1463039" h="274319">
                  <a:moveTo>
                    <a:pt x="0" y="0"/>
                  </a:moveTo>
                  <a:lnTo>
                    <a:pt x="1463039" y="0"/>
                  </a:lnTo>
                  <a:lnTo>
                    <a:pt x="146303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383280" y="1965959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79" h="274319">
                  <a:moveTo>
                    <a:pt x="0" y="0"/>
                  </a:moveTo>
                  <a:lnTo>
                    <a:pt x="182879" y="0"/>
                  </a:lnTo>
                  <a:lnTo>
                    <a:pt x="18287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657599" y="1965959"/>
              <a:ext cx="91440" cy="274320"/>
            </a:xfrm>
            <a:custGeom>
              <a:avLst/>
              <a:gdLst/>
              <a:ahLst/>
              <a:cxnLst/>
              <a:rect l="l" t="t" r="r" b="b"/>
              <a:pathLst>
                <a:path w="91439" h="274319">
                  <a:moveTo>
                    <a:pt x="0" y="0"/>
                  </a:moveTo>
                  <a:lnTo>
                    <a:pt x="91440" y="0"/>
                  </a:lnTo>
                  <a:lnTo>
                    <a:pt x="9144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011680" y="1645920"/>
              <a:ext cx="184785" cy="274320"/>
            </a:xfrm>
            <a:custGeom>
              <a:avLst/>
              <a:gdLst/>
              <a:ahLst/>
              <a:cxnLst/>
              <a:rect l="l" t="t" r="r" b="b"/>
              <a:pathLst>
                <a:path w="184785" h="274319">
                  <a:moveTo>
                    <a:pt x="0" y="0"/>
                  </a:moveTo>
                  <a:lnTo>
                    <a:pt x="184381" y="0"/>
                  </a:lnTo>
                  <a:lnTo>
                    <a:pt x="184381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108958" y="2286000"/>
              <a:ext cx="1005840" cy="274320"/>
            </a:xfrm>
            <a:custGeom>
              <a:avLst/>
              <a:gdLst/>
              <a:ahLst/>
              <a:cxnLst/>
              <a:rect l="l" t="t" r="r" b="b"/>
              <a:pathLst>
                <a:path w="1005839" h="274319">
                  <a:moveTo>
                    <a:pt x="0" y="0"/>
                  </a:moveTo>
                  <a:lnTo>
                    <a:pt x="1005839" y="0"/>
                  </a:lnTo>
                  <a:lnTo>
                    <a:pt x="100583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40478" y="1965959"/>
              <a:ext cx="1005840" cy="274320"/>
            </a:xfrm>
            <a:custGeom>
              <a:avLst/>
              <a:gdLst/>
              <a:ahLst/>
              <a:cxnLst/>
              <a:rect l="l" t="t" r="r" b="b"/>
              <a:pathLst>
                <a:path w="1005839" h="274319">
                  <a:moveTo>
                    <a:pt x="0" y="0"/>
                  </a:moveTo>
                  <a:lnTo>
                    <a:pt x="1005839" y="0"/>
                  </a:lnTo>
                  <a:lnTo>
                    <a:pt x="100583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23359" y="1645920"/>
              <a:ext cx="731520" cy="274320"/>
            </a:xfrm>
            <a:custGeom>
              <a:avLst/>
              <a:gdLst/>
              <a:ahLst/>
              <a:cxnLst/>
              <a:rect l="l" t="t" r="r" b="b"/>
              <a:pathLst>
                <a:path w="731520" h="274319">
                  <a:moveTo>
                    <a:pt x="0" y="0"/>
                  </a:moveTo>
                  <a:lnTo>
                    <a:pt x="731519" y="0"/>
                  </a:lnTo>
                  <a:lnTo>
                    <a:pt x="73151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206240" y="2286000"/>
              <a:ext cx="2468880" cy="274320"/>
            </a:xfrm>
            <a:custGeom>
              <a:avLst/>
              <a:gdLst/>
              <a:ahLst/>
              <a:cxnLst/>
              <a:rect l="l" t="t" r="r" b="b"/>
              <a:pathLst>
                <a:path w="2468879" h="274319">
                  <a:moveTo>
                    <a:pt x="0" y="0"/>
                  </a:moveTo>
                  <a:lnTo>
                    <a:pt x="2468879" y="0"/>
                  </a:lnTo>
                  <a:lnTo>
                    <a:pt x="246887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303518" y="1645920"/>
              <a:ext cx="1005840" cy="274320"/>
            </a:xfrm>
            <a:custGeom>
              <a:avLst/>
              <a:gdLst/>
              <a:ahLst/>
              <a:cxnLst/>
              <a:rect l="l" t="t" r="r" b="b"/>
              <a:pathLst>
                <a:path w="1005839" h="274319">
                  <a:moveTo>
                    <a:pt x="0" y="0"/>
                  </a:moveTo>
                  <a:lnTo>
                    <a:pt x="1005839" y="0"/>
                  </a:lnTo>
                  <a:lnTo>
                    <a:pt x="100583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035038" y="1965959"/>
              <a:ext cx="365760" cy="274320"/>
            </a:xfrm>
            <a:custGeom>
              <a:avLst/>
              <a:gdLst/>
              <a:ahLst/>
              <a:cxnLst/>
              <a:rect l="l" t="t" r="r" b="b"/>
              <a:pathLst>
                <a:path w="365760" h="274319">
                  <a:moveTo>
                    <a:pt x="0" y="0"/>
                  </a:moveTo>
                  <a:lnTo>
                    <a:pt x="365759" y="0"/>
                  </a:lnTo>
                  <a:lnTo>
                    <a:pt x="36575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669278" y="1965959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937759" y="1965959"/>
              <a:ext cx="640080" cy="274320"/>
            </a:xfrm>
            <a:custGeom>
              <a:avLst/>
              <a:gdLst/>
              <a:ahLst/>
              <a:cxnLst/>
              <a:rect l="l" t="t" r="r" b="b"/>
              <a:pathLst>
                <a:path w="640079" h="274319">
                  <a:moveTo>
                    <a:pt x="0" y="0"/>
                  </a:moveTo>
                  <a:lnTo>
                    <a:pt x="640079" y="0"/>
                  </a:lnTo>
                  <a:lnTo>
                    <a:pt x="64007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492238" y="1965959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79" h="274319">
                  <a:moveTo>
                    <a:pt x="0" y="0"/>
                  </a:moveTo>
                  <a:lnTo>
                    <a:pt x="182879" y="0"/>
                  </a:lnTo>
                  <a:lnTo>
                    <a:pt x="18287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846318" y="1645920"/>
              <a:ext cx="365760" cy="274320"/>
            </a:xfrm>
            <a:custGeom>
              <a:avLst/>
              <a:gdLst/>
              <a:ahLst/>
              <a:cxnLst/>
              <a:rect l="l" t="t" r="r" b="b"/>
              <a:pathLst>
                <a:path w="365760" h="274319">
                  <a:moveTo>
                    <a:pt x="0" y="0"/>
                  </a:moveTo>
                  <a:lnTo>
                    <a:pt x="365759" y="0"/>
                  </a:lnTo>
                  <a:lnTo>
                    <a:pt x="36575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400798" y="1645920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0" y="0"/>
                  </a:moveTo>
                  <a:lnTo>
                    <a:pt x="274319" y="0"/>
                  </a:lnTo>
                  <a:lnTo>
                    <a:pt x="27431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840479" y="1645349"/>
              <a:ext cx="91440" cy="274320"/>
            </a:xfrm>
            <a:custGeom>
              <a:avLst/>
              <a:gdLst/>
              <a:ahLst/>
              <a:cxnLst/>
              <a:rect l="l" t="t" r="r" b="b"/>
              <a:pathLst>
                <a:path w="91439" h="274319">
                  <a:moveTo>
                    <a:pt x="0" y="0"/>
                  </a:moveTo>
                  <a:lnTo>
                    <a:pt x="91440" y="0"/>
                  </a:lnTo>
                  <a:lnTo>
                    <a:pt x="9144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65760" y="2743199"/>
              <a:ext cx="6400800" cy="1097280"/>
            </a:xfrm>
            <a:custGeom>
              <a:avLst/>
              <a:gdLst/>
              <a:ahLst/>
              <a:cxnLst/>
              <a:rect l="l" t="t" r="r" b="b"/>
              <a:pathLst>
                <a:path w="6400800" h="1097279">
                  <a:moveTo>
                    <a:pt x="6400798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6400798" y="1097280"/>
                  </a:lnTo>
                  <a:lnTo>
                    <a:pt x="6400798" y="0"/>
                  </a:lnTo>
                  <a:close/>
                </a:path>
              </a:pathLst>
            </a:custGeom>
            <a:solidFill>
              <a:srgbClr val="95C8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65760" y="2743199"/>
              <a:ext cx="6400800" cy="1097280"/>
            </a:xfrm>
            <a:custGeom>
              <a:avLst/>
              <a:gdLst/>
              <a:ahLst/>
              <a:cxnLst/>
              <a:rect l="l" t="t" r="r" b="b"/>
              <a:pathLst>
                <a:path w="6400800" h="1097279">
                  <a:moveTo>
                    <a:pt x="0" y="0"/>
                  </a:moveTo>
                  <a:lnTo>
                    <a:pt x="6400798" y="0"/>
                  </a:lnTo>
                  <a:lnTo>
                    <a:pt x="6400798" y="1097279"/>
                  </a:lnTo>
                  <a:lnTo>
                    <a:pt x="0" y="109727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CCE4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57200" y="2834640"/>
              <a:ext cx="731520" cy="274320"/>
            </a:xfrm>
            <a:custGeom>
              <a:avLst/>
              <a:gdLst/>
              <a:ahLst/>
              <a:cxnLst/>
              <a:rect l="l" t="t" r="r" b="b"/>
              <a:pathLst>
                <a:path w="731519" h="274319">
                  <a:moveTo>
                    <a:pt x="0" y="0"/>
                  </a:moveTo>
                  <a:lnTo>
                    <a:pt x="731519" y="0"/>
                  </a:lnTo>
                  <a:lnTo>
                    <a:pt x="73151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280159" y="2834640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60" h="274319">
                  <a:moveTo>
                    <a:pt x="0" y="0"/>
                  </a:moveTo>
                  <a:lnTo>
                    <a:pt x="822959" y="0"/>
                  </a:lnTo>
                  <a:lnTo>
                    <a:pt x="82295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40079" y="3154680"/>
              <a:ext cx="1005840" cy="274320"/>
            </a:xfrm>
            <a:custGeom>
              <a:avLst/>
              <a:gdLst/>
              <a:ahLst/>
              <a:cxnLst/>
              <a:rect l="l" t="t" r="r" b="b"/>
              <a:pathLst>
                <a:path w="1005839" h="274320">
                  <a:moveTo>
                    <a:pt x="0" y="0"/>
                  </a:moveTo>
                  <a:lnTo>
                    <a:pt x="1005839" y="0"/>
                  </a:lnTo>
                  <a:lnTo>
                    <a:pt x="100583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57200" y="3474719"/>
              <a:ext cx="548640" cy="274320"/>
            </a:xfrm>
            <a:custGeom>
              <a:avLst/>
              <a:gdLst/>
              <a:ahLst/>
              <a:cxnLst/>
              <a:rect l="l" t="t" r="r" b="b"/>
              <a:pathLst>
                <a:path w="548640" h="274320">
                  <a:moveTo>
                    <a:pt x="0" y="0"/>
                  </a:moveTo>
                  <a:lnTo>
                    <a:pt x="548639" y="0"/>
                  </a:lnTo>
                  <a:lnTo>
                    <a:pt x="54863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285999" y="3154680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80" h="274320">
                  <a:moveTo>
                    <a:pt x="0" y="0"/>
                  </a:moveTo>
                  <a:lnTo>
                    <a:pt x="182879" y="0"/>
                  </a:lnTo>
                  <a:lnTo>
                    <a:pt x="18287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738110" y="3158383"/>
              <a:ext cx="184785" cy="274320"/>
            </a:xfrm>
            <a:custGeom>
              <a:avLst/>
              <a:gdLst/>
              <a:ahLst/>
              <a:cxnLst/>
              <a:rect l="l" t="t" r="r" b="b"/>
              <a:pathLst>
                <a:path w="184785" h="274320">
                  <a:moveTo>
                    <a:pt x="0" y="0"/>
                  </a:moveTo>
                  <a:lnTo>
                    <a:pt x="184381" y="0"/>
                  </a:lnTo>
                  <a:lnTo>
                    <a:pt x="184381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097280" y="3474719"/>
              <a:ext cx="640080" cy="274320"/>
            </a:xfrm>
            <a:custGeom>
              <a:avLst/>
              <a:gdLst/>
              <a:ahLst/>
              <a:cxnLst/>
              <a:rect l="l" t="t" r="r" b="b"/>
              <a:pathLst>
                <a:path w="640080" h="274320">
                  <a:moveTo>
                    <a:pt x="0" y="0"/>
                  </a:moveTo>
                  <a:lnTo>
                    <a:pt x="640079" y="0"/>
                  </a:lnTo>
                  <a:lnTo>
                    <a:pt x="64007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830301" y="3474719"/>
              <a:ext cx="1278890" cy="274320"/>
            </a:xfrm>
            <a:custGeom>
              <a:avLst/>
              <a:gdLst/>
              <a:ahLst/>
              <a:cxnLst/>
              <a:rect l="l" t="t" r="r" b="b"/>
              <a:pathLst>
                <a:path w="1278889" h="274320">
                  <a:moveTo>
                    <a:pt x="0" y="0"/>
                  </a:moveTo>
                  <a:lnTo>
                    <a:pt x="1278657" y="0"/>
                  </a:lnTo>
                  <a:lnTo>
                    <a:pt x="1278657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560319" y="3154680"/>
              <a:ext cx="731520" cy="274320"/>
            </a:xfrm>
            <a:custGeom>
              <a:avLst/>
              <a:gdLst/>
              <a:ahLst/>
              <a:cxnLst/>
              <a:rect l="l" t="t" r="r" b="b"/>
              <a:pathLst>
                <a:path w="731520" h="274320">
                  <a:moveTo>
                    <a:pt x="0" y="0"/>
                  </a:moveTo>
                  <a:lnTo>
                    <a:pt x="731519" y="0"/>
                  </a:lnTo>
                  <a:lnTo>
                    <a:pt x="73151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196814" y="2834640"/>
              <a:ext cx="912494" cy="274320"/>
            </a:xfrm>
            <a:custGeom>
              <a:avLst/>
              <a:gdLst/>
              <a:ahLst/>
              <a:cxnLst/>
              <a:rect l="l" t="t" r="r" b="b"/>
              <a:pathLst>
                <a:path w="912494" h="274319">
                  <a:moveTo>
                    <a:pt x="0" y="0"/>
                  </a:moveTo>
                  <a:lnTo>
                    <a:pt x="912145" y="0"/>
                  </a:lnTo>
                  <a:lnTo>
                    <a:pt x="912145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83280" y="3154680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79" h="274320">
                  <a:moveTo>
                    <a:pt x="0" y="0"/>
                  </a:moveTo>
                  <a:lnTo>
                    <a:pt x="182879" y="0"/>
                  </a:lnTo>
                  <a:lnTo>
                    <a:pt x="18287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57599" y="3154680"/>
              <a:ext cx="91440" cy="274320"/>
            </a:xfrm>
            <a:custGeom>
              <a:avLst/>
              <a:gdLst/>
              <a:ahLst/>
              <a:cxnLst/>
              <a:rect l="l" t="t" r="r" b="b"/>
              <a:pathLst>
                <a:path w="91439" h="274320">
                  <a:moveTo>
                    <a:pt x="0" y="0"/>
                  </a:moveTo>
                  <a:lnTo>
                    <a:pt x="91440" y="0"/>
                  </a:lnTo>
                  <a:lnTo>
                    <a:pt x="9144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012430" y="3158383"/>
              <a:ext cx="184785" cy="274320"/>
            </a:xfrm>
            <a:custGeom>
              <a:avLst/>
              <a:gdLst/>
              <a:ahLst/>
              <a:cxnLst/>
              <a:rect l="l" t="t" r="r" b="b"/>
              <a:pathLst>
                <a:path w="184785" h="274320">
                  <a:moveTo>
                    <a:pt x="0" y="0"/>
                  </a:moveTo>
                  <a:lnTo>
                    <a:pt x="184381" y="0"/>
                  </a:lnTo>
                  <a:lnTo>
                    <a:pt x="184381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200399" y="3474719"/>
              <a:ext cx="640080" cy="274320"/>
            </a:xfrm>
            <a:custGeom>
              <a:avLst/>
              <a:gdLst/>
              <a:ahLst/>
              <a:cxnLst/>
              <a:rect l="l" t="t" r="r" b="b"/>
              <a:pathLst>
                <a:path w="640079" h="274320">
                  <a:moveTo>
                    <a:pt x="0" y="0"/>
                  </a:moveTo>
                  <a:lnTo>
                    <a:pt x="640079" y="0"/>
                  </a:lnTo>
                  <a:lnTo>
                    <a:pt x="64007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840478" y="3154680"/>
              <a:ext cx="731520" cy="274320"/>
            </a:xfrm>
            <a:custGeom>
              <a:avLst/>
              <a:gdLst/>
              <a:ahLst/>
              <a:cxnLst/>
              <a:rect l="l" t="t" r="r" b="b"/>
              <a:pathLst>
                <a:path w="731520" h="274320">
                  <a:moveTo>
                    <a:pt x="0" y="0"/>
                  </a:moveTo>
                  <a:lnTo>
                    <a:pt x="731519" y="0"/>
                  </a:lnTo>
                  <a:lnTo>
                    <a:pt x="73151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480560" y="2834640"/>
              <a:ext cx="365760" cy="274320"/>
            </a:xfrm>
            <a:custGeom>
              <a:avLst/>
              <a:gdLst/>
              <a:ahLst/>
              <a:cxnLst/>
              <a:rect l="l" t="t" r="r" b="b"/>
              <a:pathLst>
                <a:path w="365760" h="274319">
                  <a:moveTo>
                    <a:pt x="0" y="0"/>
                  </a:moveTo>
                  <a:lnTo>
                    <a:pt x="365759" y="0"/>
                  </a:lnTo>
                  <a:lnTo>
                    <a:pt x="36575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760718" y="3474719"/>
              <a:ext cx="914400" cy="274320"/>
            </a:xfrm>
            <a:custGeom>
              <a:avLst/>
              <a:gdLst/>
              <a:ahLst/>
              <a:cxnLst/>
              <a:rect l="l" t="t" r="r" b="b"/>
              <a:pathLst>
                <a:path w="914400" h="274320">
                  <a:moveTo>
                    <a:pt x="0" y="0"/>
                  </a:moveTo>
                  <a:lnTo>
                    <a:pt x="914399" y="0"/>
                  </a:lnTo>
                  <a:lnTo>
                    <a:pt x="91439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03518" y="2834640"/>
              <a:ext cx="1005840" cy="274320"/>
            </a:xfrm>
            <a:custGeom>
              <a:avLst/>
              <a:gdLst/>
              <a:ahLst/>
              <a:cxnLst/>
              <a:rect l="l" t="t" r="r" b="b"/>
              <a:pathLst>
                <a:path w="1005839" h="274319">
                  <a:moveTo>
                    <a:pt x="0" y="0"/>
                  </a:moveTo>
                  <a:lnTo>
                    <a:pt x="1005839" y="0"/>
                  </a:lnTo>
                  <a:lnTo>
                    <a:pt x="100583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943598" y="3154680"/>
              <a:ext cx="731520" cy="274320"/>
            </a:xfrm>
            <a:custGeom>
              <a:avLst/>
              <a:gdLst/>
              <a:ahLst/>
              <a:cxnLst/>
              <a:rect l="l" t="t" r="r" b="b"/>
              <a:pathLst>
                <a:path w="731520" h="274320">
                  <a:moveTo>
                    <a:pt x="0" y="0"/>
                  </a:moveTo>
                  <a:lnTo>
                    <a:pt x="731519" y="0"/>
                  </a:lnTo>
                  <a:lnTo>
                    <a:pt x="73151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663440" y="3154680"/>
              <a:ext cx="914400" cy="274320"/>
            </a:xfrm>
            <a:custGeom>
              <a:avLst/>
              <a:gdLst/>
              <a:ahLst/>
              <a:cxnLst/>
              <a:rect l="l" t="t" r="r" b="b"/>
              <a:pathLst>
                <a:path w="914400" h="274320">
                  <a:moveTo>
                    <a:pt x="0" y="0"/>
                  </a:moveTo>
                  <a:lnTo>
                    <a:pt x="914399" y="0"/>
                  </a:lnTo>
                  <a:lnTo>
                    <a:pt x="91439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669278" y="3154680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79" h="274320">
                  <a:moveTo>
                    <a:pt x="0" y="0"/>
                  </a:moveTo>
                  <a:lnTo>
                    <a:pt x="182879" y="0"/>
                  </a:lnTo>
                  <a:lnTo>
                    <a:pt x="18287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937759" y="2834640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400798" y="2834640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0" y="0"/>
                  </a:moveTo>
                  <a:lnTo>
                    <a:pt x="274319" y="0"/>
                  </a:lnTo>
                  <a:lnTo>
                    <a:pt x="27431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657599" y="2834071"/>
              <a:ext cx="731520" cy="274320"/>
            </a:xfrm>
            <a:custGeom>
              <a:avLst/>
              <a:gdLst/>
              <a:ahLst/>
              <a:cxnLst/>
              <a:rect l="l" t="t" r="r" b="b"/>
              <a:pathLst>
                <a:path w="731520" h="274319">
                  <a:moveTo>
                    <a:pt x="0" y="0"/>
                  </a:moveTo>
                  <a:lnTo>
                    <a:pt x="731519" y="0"/>
                  </a:lnTo>
                  <a:lnTo>
                    <a:pt x="73151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200399" y="2834640"/>
              <a:ext cx="365760" cy="274320"/>
            </a:xfrm>
            <a:custGeom>
              <a:avLst/>
              <a:gdLst/>
              <a:ahLst/>
              <a:cxnLst/>
              <a:rect l="l" t="t" r="r" b="b"/>
              <a:pathLst>
                <a:path w="365760" h="274319">
                  <a:moveTo>
                    <a:pt x="0" y="0"/>
                  </a:moveTo>
                  <a:lnTo>
                    <a:pt x="365759" y="0"/>
                  </a:lnTo>
                  <a:lnTo>
                    <a:pt x="36575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57200" y="3154680"/>
              <a:ext cx="91440" cy="274320"/>
            </a:xfrm>
            <a:custGeom>
              <a:avLst/>
              <a:gdLst/>
              <a:ahLst/>
              <a:cxnLst/>
              <a:rect l="l" t="t" r="r" b="b"/>
              <a:pathLst>
                <a:path w="91440" h="274320">
                  <a:moveTo>
                    <a:pt x="0" y="0"/>
                  </a:moveTo>
                  <a:lnTo>
                    <a:pt x="91439" y="0"/>
                  </a:lnTo>
                  <a:lnTo>
                    <a:pt x="9143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931918" y="3474719"/>
              <a:ext cx="640080" cy="274320"/>
            </a:xfrm>
            <a:custGeom>
              <a:avLst/>
              <a:gdLst/>
              <a:ahLst/>
              <a:cxnLst/>
              <a:rect l="l" t="t" r="r" b="b"/>
              <a:pathLst>
                <a:path w="640079" h="274320">
                  <a:moveTo>
                    <a:pt x="0" y="0"/>
                  </a:moveTo>
                  <a:lnTo>
                    <a:pt x="640079" y="0"/>
                  </a:lnTo>
                  <a:lnTo>
                    <a:pt x="64007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663438" y="3474719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60" h="274320">
                  <a:moveTo>
                    <a:pt x="0" y="0"/>
                  </a:moveTo>
                  <a:lnTo>
                    <a:pt x="822959" y="0"/>
                  </a:lnTo>
                  <a:lnTo>
                    <a:pt x="82295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574705" y="3474719"/>
              <a:ext cx="91440" cy="274320"/>
            </a:xfrm>
            <a:custGeom>
              <a:avLst/>
              <a:gdLst/>
              <a:ahLst/>
              <a:cxnLst/>
              <a:rect l="l" t="t" r="r" b="b"/>
              <a:pathLst>
                <a:path w="91439" h="274320">
                  <a:moveTo>
                    <a:pt x="0" y="0"/>
                  </a:moveTo>
                  <a:lnTo>
                    <a:pt x="91440" y="0"/>
                  </a:lnTo>
                  <a:lnTo>
                    <a:pt x="91440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65760" y="3931919"/>
              <a:ext cx="6400800" cy="1097280"/>
            </a:xfrm>
            <a:custGeom>
              <a:avLst/>
              <a:gdLst/>
              <a:ahLst/>
              <a:cxnLst/>
              <a:rect l="l" t="t" r="r" b="b"/>
              <a:pathLst>
                <a:path w="6400800" h="1097279">
                  <a:moveTo>
                    <a:pt x="6400798" y="0"/>
                  </a:moveTo>
                  <a:lnTo>
                    <a:pt x="0" y="0"/>
                  </a:lnTo>
                  <a:lnTo>
                    <a:pt x="0" y="1097279"/>
                  </a:lnTo>
                  <a:lnTo>
                    <a:pt x="6400798" y="1097279"/>
                  </a:lnTo>
                  <a:lnTo>
                    <a:pt x="6400798" y="0"/>
                  </a:lnTo>
                  <a:close/>
                </a:path>
              </a:pathLst>
            </a:custGeom>
            <a:solidFill>
              <a:srgbClr val="95C8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65760" y="3931919"/>
              <a:ext cx="6400800" cy="1097280"/>
            </a:xfrm>
            <a:custGeom>
              <a:avLst/>
              <a:gdLst/>
              <a:ahLst/>
              <a:cxnLst/>
              <a:rect l="l" t="t" r="r" b="b"/>
              <a:pathLst>
                <a:path w="6400800" h="1097279">
                  <a:moveTo>
                    <a:pt x="0" y="0"/>
                  </a:moveTo>
                  <a:lnTo>
                    <a:pt x="6400798" y="0"/>
                  </a:lnTo>
                  <a:lnTo>
                    <a:pt x="6400798" y="1097279"/>
                  </a:lnTo>
                  <a:lnTo>
                    <a:pt x="0" y="109727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CCE4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54066" y="4021081"/>
              <a:ext cx="368935" cy="274320"/>
            </a:xfrm>
            <a:custGeom>
              <a:avLst/>
              <a:gdLst/>
              <a:ahLst/>
              <a:cxnLst/>
              <a:rect l="l" t="t" r="r" b="b"/>
              <a:pathLst>
                <a:path w="368934" h="274320">
                  <a:moveTo>
                    <a:pt x="0" y="0"/>
                  </a:moveTo>
                  <a:lnTo>
                    <a:pt x="368892" y="0"/>
                  </a:lnTo>
                  <a:lnTo>
                    <a:pt x="368892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914398" y="4021081"/>
              <a:ext cx="1282065" cy="274320"/>
            </a:xfrm>
            <a:custGeom>
              <a:avLst/>
              <a:gdLst/>
              <a:ahLst/>
              <a:cxnLst/>
              <a:rect l="l" t="t" r="r" b="b"/>
              <a:pathLst>
                <a:path w="1282064" h="274320">
                  <a:moveTo>
                    <a:pt x="0" y="0"/>
                  </a:moveTo>
                  <a:lnTo>
                    <a:pt x="1281868" y="0"/>
                  </a:lnTo>
                  <a:lnTo>
                    <a:pt x="1281868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188718" y="4341121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80" h="274320">
                  <a:moveTo>
                    <a:pt x="0" y="0"/>
                  </a:moveTo>
                  <a:lnTo>
                    <a:pt x="182880" y="0"/>
                  </a:lnTo>
                  <a:lnTo>
                    <a:pt x="182880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54066" y="4661161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79" h="274320">
                  <a:moveTo>
                    <a:pt x="0" y="0"/>
                  </a:moveTo>
                  <a:lnTo>
                    <a:pt x="182879" y="0"/>
                  </a:lnTo>
                  <a:lnTo>
                    <a:pt x="18287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197407" y="4341121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80" h="274320">
                  <a:moveTo>
                    <a:pt x="0" y="0"/>
                  </a:moveTo>
                  <a:lnTo>
                    <a:pt x="182879" y="0"/>
                  </a:lnTo>
                  <a:lnTo>
                    <a:pt x="18287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463038" y="4344825"/>
              <a:ext cx="637540" cy="274320"/>
            </a:xfrm>
            <a:custGeom>
              <a:avLst/>
              <a:gdLst/>
              <a:ahLst/>
              <a:cxnLst/>
              <a:rect l="l" t="t" r="r" b="b"/>
              <a:pathLst>
                <a:path w="637539" h="274320">
                  <a:moveTo>
                    <a:pt x="0" y="0"/>
                  </a:moveTo>
                  <a:lnTo>
                    <a:pt x="636946" y="0"/>
                  </a:lnTo>
                  <a:lnTo>
                    <a:pt x="636946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31519" y="4661161"/>
              <a:ext cx="1280160" cy="274320"/>
            </a:xfrm>
            <a:custGeom>
              <a:avLst/>
              <a:gdLst/>
              <a:ahLst/>
              <a:cxnLst/>
              <a:rect l="l" t="t" r="r" b="b"/>
              <a:pathLst>
                <a:path w="1280160" h="274320">
                  <a:moveTo>
                    <a:pt x="0" y="0"/>
                  </a:moveTo>
                  <a:lnTo>
                    <a:pt x="1280159" y="0"/>
                  </a:lnTo>
                  <a:lnTo>
                    <a:pt x="128015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099987" y="4661161"/>
              <a:ext cx="731520" cy="274320"/>
            </a:xfrm>
            <a:custGeom>
              <a:avLst/>
              <a:gdLst/>
              <a:ahLst/>
              <a:cxnLst/>
              <a:rect l="l" t="t" r="r" b="b"/>
              <a:pathLst>
                <a:path w="731519" h="274320">
                  <a:moveTo>
                    <a:pt x="0" y="0"/>
                  </a:moveTo>
                  <a:lnTo>
                    <a:pt x="731519" y="0"/>
                  </a:lnTo>
                  <a:lnTo>
                    <a:pt x="73151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468879" y="4341121"/>
              <a:ext cx="820419" cy="274320"/>
            </a:xfrm>
            <a:custGeom>
              <a:avLst/>
              <a:gdLst/>
              <a:ahLst/>
              <a:cxnLst/>
              <a:rect l="l" t="t" r="r" b="b"/>
              <a:pathLst>
                <a:path w="820420" h="274320">
                  <a:moveTo>
                    <a:pt x="0" y="0"/>
                  </a:moveTo>
                  <a:lnTo>
                    <a:pt x="819826" y="0"/>
                  </a:lnTo>
                  <a:lnTo>
                    <a:pt x="819826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286001" y="4021081"/>
              <a:ext cx="365760" cy="274320"/>
            </a:xfrm>
            <a:custGeom>
              <a:avLst/>
              <a:gdLst/>
              <a:ahLst/>
              <a:cxnLst/>
              <a:rect l="l" t="t" r="r" b="b"/>
              <a:pathLst>
                <a:path w="365760" h="274320">
                  <a:moveTo>
                    <a:pt x="0" y="0"/>
                  </a:moveTo>
                  <a:lnTo>
                    <a:pt x="365759" y="0"/>
                  </a:lnTo>
                  <a:lnTo>
                    <a:pt x="36575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380146" y="4341121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79" h="274320">
                  <a:moveTo>
                    <a:pt x="0" y="0"/>
                  </a:moveTo>
                  <a:lnTo>
                    <a:pt x="182879" y="0"/>
                  </a:lnTo>
                  <a:lnTo>
                    <a:pt x="18287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926080" y="4661161"/>
              <a:ext cx="1188720" cy="274320"/>
            </a:xfrm>
            <a:custGeom>
              <a:avLst/>
              <a:gdLst/>
              <a:ahLst/>
              <a:cxnLst/>
              <a:rect l="l" t="t" r="r" b="b"/>
              <a:pathLst>
                <a:path w="1188720" h="274320">
                  <a:moveTo>
                    <a:pt x="0" y="0"/>
                  </a:moveTo>
                  <a:lnTo>
                    <a:pt x="1188719" y="0"/>
                  </a:lnTo>
                  <a:lnTo>
                    <a:pt x="118871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657599" y="4341121"/>
              <a:ext cx="911860" cy="274320"/>
            </a:xfrm>
            <a:custGeom>
              <a:avLst/>
              <a:gdLst/>
              <a:ahLst/>
              <a:cxnLst/>
              <a:rect l="l" t="t" r="r" b="b"/>
              <a:pathLst>
                <a:path w="911860" h="274320">
                  <a:moveTo>
                    <a:pt x="0" y="0"/>
                  </a:moveTo>
                  <a:lnTo>
                    <a:pt x="911265" y="0"/>
                  </a:lnTo>
                  <a:lnTo>
                    <a:pt x="911265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477426" y="4021081"/>
              <a:ext cx="1283335" cy="274320"/>
            </a:xfrm>
            <a:custGeom>
              <a:avLst/>
              <a:gdLst/>
              <a:ahLst/>
              <a:cxnLst/>
              <a:rect l="l" t="t" r="r" b="b"/>
              <a:pathLst>
                <a:path w="1283335" h="274320">
                  <a:moveTo>
                    <a:pt x="0" y="0"/>
                  </a:moveTo>
                  <a:lnTo>
                    <a:pt x="1283292" y="0"/>
                  </a:lnTo>
                  <a:lnTo>
                    <a:pt x="1283292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486398" y="4661161"/>
              <a:ext cx="1188720" cy="274320"/>
            </a:xfrm>
            <a:custGeom>
              <a:avLst/>
              <a:gdLst/>
              <a:ahLst/>
              <a:cxnLst/>
              <a:rect l="l" t="t" r="r" b="b"/>
              <a:pathLst>
                <a:path w="1188720" h="274320">
                  <a:moveTo>
                    <a:pt x="0" y="0"/>
                  </a:moveTo>
                  <a:lnTo>
                    <a:pt x="1188719" y="0"/>
                  </a:lnTo>
                  <a:lnTo>
                    <a:pt x="118871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849024" y="4021081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59" h="274320">
                  <a:moveTo>
                    <a:pt x="0" y="0"/>
                  </a:moveTo>
                  <a:lnTo>
                    <a:pt x="822959" y="0"/>
                  </a:lnTo>
                  <a:lnTo>
                    <a:pt x="82295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669278" y="4341121"/>
              <a:ext cx="1003300" cy="274320"/>
            </a:xfrm>
            <a:custGeom>
              <a:avLst/>
              <a:gdLst/>
              <a:ahLst/>
              <a:cxnLst/>
              <a:rect l="l" t="t" r="r" b="b"/>
              <a:pathLst>
                <a:path w="1003300" h="274320">
                  <a:moveTo>
                    <a:pt x="0" y="0"/>
                  </a:moveTo>
                  <a:lnTo>
                    <a:pt x="1002706" y="0"/>
                  </a:lnTo>
                  <a:lnTo>
                    <a:pt x="1002706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4663438" y="4341121"/>
              <a:ext cx="911860" cy="274320"/>
            </a:xfrm>
            <a:custGeom>
              <a:avLst/>
              <a:gdLst/>
              <a:ahLst/>
              <a:cxnLst/>
              <a:rect l="l" t="t" r="r" b="b"/>
              <a:pathLst>
                <a:path w="911860" h="274320">
                  <a:moveTo>
                    <a:pt x="0" y="0"/>
                  </a:moveTo>
                  <a:lnTo>
                    <a:pt x="911266" y="0"/>
                  </a:lnTo>
                  <a:lnTo>
                    <a:pt x="911266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563026" y="4020511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60" h="274320">
                  <a:moveTo>
                    <a:pt x="0" y="0"/>
                  </a:moveTo>
                  <a:lnTo>
                    <a:pt x="822959" y="0"/>
                  </a:lnTo>
                  <a:lnTo>
                    <a:pt x="82295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743200" y="4021081"/>
              <a:ext cx="731520" cy="274320"/>
            </a:xfrm>
            <a:custGeom>
              <a:avLst/>
              <a:gdLst/>
              <a:ahLst/>
              <a:cxnLst/>
              <a:rect l="l" t="t" r="r" b="b"/>
              <a:pathLst>
                <a:path w="731520" h="274320">
                  <a:moveTo>
                    <a:pt x="0" y="0"/>
                  </a:moveTo>
                  <a:lnTo>
                    <a:pt x="731519" y="0"/>
                  </a:lnTo>
                  <a:lnTo>
                    <a:pt x="73151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54065" y="4341121"/>
              <a:ext cx="643255" cy="274320"/>
            </a:xfrm>
            <a:custGeom>
              <a:avLst/>
              <a:gdLst/>
              <a:ahLst/>
              <a:cxnLst/>
              <a:rect l="l" t="t" r="r" b="b"/>
              <a:pathLst>
                <a:path w="643255" h="274320">
                  <a:moveTo>
                    <a:pt x="0" y="0"/>
                  </a:moveTo>
                  <a:lnTo>
                    <a:pt x="643212" y="0"/>
                  </a:lnTo>
                  <a:lnTo>
                    <a:pt x="643212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206240" y="4661161"/>
              <a:ext cx="1188720" cy="274320"/>
            </a:xfrm>
            <a:custGeom>
              <a:avLst/>
              <a:gdLst/>
              <a:ahLst/>
              <a:cxnLst/>
              <a:rect l="l" t="t" r="r" b="b"/>
              <a:pathLst>
                <a:path w="1188720" h="274320">
                  <a:moveTo>
                    <a:pt x="0" y="0"/>
                  </a:moveTo>
                  <a:lnTo>
                    <a:pt x="1188719" y="0"/>
                  </a:lnTo>
                  <a:lnTo>
                    <a:pt x="118871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365760" y="5120640"/>
              <a:ext cx="6400800" cy="1097280"/>
            </a:xfrm>
            <a:custGeom>
              <a:avLst/>
              <a:gdLst/>
              <a:ahLst/>
              <a:cxnLst/>
              <a:rect l="l" t="t" r="r" b="b"/>
              <a:pathLst>
                <a:path w="6400800" h="1097279">
                  <a:moveTo>
                    <a:pt x="6400798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6400798" y="1097280"/>
                  </a:lnTo>
                  <a:lnTo>
                    <a:pt x="6400798" y="0"/>
                  </a:lnTo>
                  <a:close/>
                </a:path>
              </a:pathLst>
            </a:custGeom>
            <a:solidFill>
              <a:srgbClr val="3CA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65760" y="5120640"/>
              <a:ext cx="6400800" cy="1097280"/>
            </a:xfrm>
            <a:custGeom>
              <a:avLst/>
              <a:gdLst/>
              <a:ahLst/>
              <a:cxnLst/>
              <a:rect l="l" t="t" r="r" b="b"/>
              <a:pathLst>
                <a:path w="6400800" h="1097279">
                  <a:moveTo>
                    <a:pt x="0" y="0"/>
                  </a:moveTo>
                  <a:lnTo>
                    <a:pt x="6400798" y="0"/>
                  </a:lnTo>
                  <a:lnTo>
                    <a:pt x="6400798" y="1097279"/>
                  </a:lnTo>
                  <a:lnTo>
                    <a:pt x="0" y="109727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A7D1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454817" y="5216066"/>
              <a:ext cx="182245" cy="274320"/>
            </a:xfrm>
            <a:custGeom>
              <a:avLst/>
              <a:gdLst/>
              <a:ahLst/>
              <a:cxnLst/>
              <a:rect l="l" t="t" r="r" b="b"/>
              <a:pathLst>
                <a:path w="182245" h="274320">
                  <a:moveTo>
                    <a:pt x="0" y="0"/>
                  </a:moveTo>
                  <a:lnTo>
                    <a:pt x="182128" y="0"/>
                  </a:lnTo>
                  <a:lnTo>
                    <a:pt x="182128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31520" y="5216066"/>
              <a:ext cx="1371600" cy="274320"/>
            </a:xfrm>
            <a:custGeom>
              <a:avLst/>
              <a:gdLst/>
              <a:ahLst/>
              <a:cxnLst/>
              <a:rect l="l" t="t" r="r" b="b"/>
              <a:pathLst>
                <a:path w="1371600" h="274320">
                  <a:moveTo>
                    <a:pt x="0" y="0"/>
                  </a:moveTo>
                  <a:lnTo>
                    <a:pt x="1371599" y="0"/>
                  </a:lnTo>
                  <a:lnTo>
                    <a:pt x="137159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454817" y="5856146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79" h="274320">
                  <a:moveTo>
                    <a:pt x="0" y="0"/>
                  </a:moveTo>
                  <a:lnTo>
                    <a:pt x="182879" y="0"/>
                  </a:lnTo>
                  <a:lnTo>
                    <a:pt x="18287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2198157" y="5532119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80" h="274320">
                  <a:moveTo>
                    <a:pt x="0" y="0"/>
                  </a:moveTo>
                  <a:lnTo>
                    <a:pt x="182879" y="0"/>
                  </a:lnTo>
                  <a:lnTo>
                    <a:pt x="18287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188719" y="5532119"/>
              <a:ext cx="912494" cy="274320"/>
            </a:xfrm>
            <a:custGeom>
              <a:avLst/>
              <a:gdLst/>
              <a:ahLst/>
              <a:cxnLst/>
              <a:rect l="l" t="t" r="r" b="b"/>
              <a:pathLst>
                <a:path w="912494" h="274320">
                  <a:moveTo>
                    <a:pt x="0" y="0"/>
                  </a:moveTo>
                  <a:lnTo>
                    <a:pt x="912017" y="0"/>
                  </a:lnTo>
                  <a:lnTo>
                    <a:pt x="912017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732270" y="5856146"/>
              <a:ext cx="640080" cy="274320"/>
            </a:xfrm>
            <a:custGeom>
              <a:avLst/>
              <a:gdLst/>
              <a:ahLst/>
              <a:cxnLst/>
              <a:rect l="l" t="t" r="r" b="b"/>
              <a:pathLst>
                <a:path w="640080" h="274320">
                  <a:moveTo>
                    <a:pt x="0" y="0"/>
                  </a:moveTo>
                  <a:lnTo>
                    <a:pt x="640079" y="0"/>
                  </a:lnTo>
                  <a:lnTo>
                    <a:pt x="64007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2100737" y="5856146"/>
              <a:ext cx="731520" cy="274320"/>
            </a:xfrm>
            <a:custGeom>
              <a:avLst/>
              <a:gdLst/>
              <a:ahLst/>
              <a:cxnLst/>
              <a:rect l="l" t="t" r="r" b="b"/>
              <a:pathLst>
                <a:path w="731519" h="274320">
                  <a:moveTo>
                    <a:pt x="0" y="0"/>
                  </a:moveTo>
                  <a:lnTo>
                    <a:pt x="731519" y="0"/>
                  </a:lnTo>
                  <a:lnTo>
                    <a:pt x="73151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2469630" y="5532119"/>
              <a:ext cx="820419" cy="274320"/>
            </a:xfrm>
            <a:custGeom>
              <a:avLst/>
              <a:gdLst/>
              <a:ahLst/>
              <a:cxnLst/>
              <a:rect l="l" t="t" r="r" b="b"/>
              <a:pathLst>
                <a:path w="820420" h="274320">
                  <a:moveTo>
                    <a:pt x="0" y="0"/>
                  </a:moveTo>
                  <a:lnTo>
                    <a:pt x="819826" y="0"/>
                  </a:lnTo>
                  <a:lnTo>
                    <a:pt x="819826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2194559" y="5216066"/>
              <a:ext cx="365760" cy="274320"/>
            </a:xfrm>
            <a:custGeom>
              <a:avLst/>
              <a:gdLst/>
              <a:ahLst/>
              <a:cxnLst/>
              <a:rect l="l" t="t" r="r" b="b"/>
              <a:pathLst>
                <a:path w="365760" h="274320">
                  <a:moveTo>
                    <a:pt x="0" y="0"/>
                  </a:moveTo>
                  <a:lnTo>
                    <a:pt x="365759" y="0"/>
                  </a:lnTo>
                  <a:lnTo>
                    <a:pt x="36575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380897" y="5532119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79" h="274320">
                  <a:moveTo>
                    <a:pt x="0" y="0"/>
                  </a:moveTo>
                  <a:lnTo>
                    <a:pt x="182879" y="0"/>
                  </a:lnTo>
                  <a:lnTo>
                    <a:pt x="18287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2926830" y="5856146"/>
              <a:ext cx="639445" cy="274320"/>
            </a:xfrm>
            <a:custGeom>
              <a:avLst/>
              <a:gdLst/>
              <a:ahLst/>
              <a:cxnLst/>
              <a:rect l="l" t="t" r="r" b="b"/>
              <a:pathLst>
                <a:path w="639445" h="274320">
                  <a:moveTo>
                    <a:pt x="0" y="0"/>
                  </a:moveTo>
                  <a:lnTo>
                    <a:pt x="639328" y="0"/>
                  </a:lnTo>
                  <a:lnTo>
                    <a:pt x="639328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658350" y="5532119"/>
              <a:ext cx="182245" cy="274320"/>
            </a:xfrm>
            <a:custGeom>
              <a:avLst/>
              <a:gdLst/>
              <a:ahLst/>
              <a:cxnLst/>
              <a:rect l="l" t="t" r="r" b="b"/>
              <a:pathLst>
                <a:path w="182245" h="274320">
                  <a:moveTo>
                    <a:pt x="0" y="0"/>
                  </a:moveTo>
                  <a:lnTo>
                    <a:pt x="182128" y="0"/>
                  </a:lnTo>
                  <a:lnTo>
                    <a:pt x="182128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4478178" y="5216066"/>
              <a:ext cx="1096645" cy="274320"/>
            </a:xfrm>
            <a:custGeom>
              <a:avLst/>
              <a:gdLst/>
              <a:ahLst/>
              <a:cxnLst/>
              <a:rect l="l" t="t" r="r" b="b"/>
              <a:pathLst>
                <a:path w="1096645" h="274320">
                  <a:moveTo>
                    <a:pt x="0" y="0"/>
                  </a:moveTo>
                  <a:lnTo>
                    <a:pt x="1096527" y="0"/>
                  </a:lnTo>
                  <a:lnTo>
                    <a:pt x="1096527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5670030" y="5856146"/>
              <a:ext cx="1005840" cy="274320"/>
            </a:xfrm>
            <a:custGeom>
              <a:avLst/>
              <a:gdLst/>
              <a:ahLst/>
              <a:cxnLst/>
              <a:rect l="l" t="t" r="r" b="b"/>
              <a:pathLst>
                <a:path w="1005840" h="274320">
                  <a:moveTo>
                    <a:pt x="0" y="0"/>
                  </a:moveTo>
                  <a:lnTo>
                    <a:pt x="1005839" y="0"/>
                  </a:lnTo>
                  <a:lnTo>
                    <a:pt x="100583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5666145" y="5216066"/>
              <a:ext cx="1007110" cy="274320"/>
            </a:xfrm>
            <a:custGeom>
              <a:avLst/>
              <a:gdLst/>
              <a:ahLst/>
              <a:cxnLst/>
              <a:rect l="l" t="t" r="r" b="b"/>
              <a:pathLst>
                <a:path w="1007109" h="274320">
                  <a:moveTo>
                    <a:pt x="0" y="0"/>
                  </a:moveTo>
                  <a:lnTo>
                    <a:pt x="1006589" y="0"/>
                  </a:lnTo>
                  <a:lnTo>
                    <a:pt x="100658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5670030" y="5532119"/>
              <a:ext cx="1003300" cy="274320"/>
            </a:xfrm>
            <a:custGeom>
              <a:avLst/>
              <a:gdLst/>
              <a:ahLst/>
              <a:cxnLst/>
              <a:rect l="l" t="t" r="r" b="b"/>
              <a:pathLst>
                <a:path w="1003300" h="274320">
                  <a:moveTo>
                    <a:pt x="0" y="0"/>
                  </a:moveTo>
                  <a:lnTo>
                    <a:pt x="1002706" y="0"/>
                  </a:lnTo>
                  <a:lnTo>
                    <a:pt x="1002706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931918" y="5532119"/>
              <a:ext cx="184150" cy="274320"/>
            </a:xfrm>
            <a:custGeom>
              <a:avLst/>
              <a:gdLst/>
              <a:ahLst/>
              <a:cxnLst/>
              <a:rect l="l" t="t" r="r" b="b"/>
              <a:pathLst>
                <a:path w="184150" h="274320">
                  <a:moveTo>
                    <a:pt x="0" y="0"/>
                  </a:moveTo>
                  <a:lnTo>
                    <a:pt x="183631" y="0"/>
                  </a:lnTo>
                  <a:lnTo>
                    <a:pt x="183631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563777" y="5215497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60" h="274320">
                  <a:moveTo>
                    <a:pt x="0" y="0"/>
                  </a:moveTo>
                  <a:lnTo>
                    <a:pt x="822959" y="0"/>
                  </a:lnTo>
                  <a:lnTo>
                    <a:pt x="82295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2651760" y="5216066"/>
              <a:ext cx="457200" cy="274320"/>
            </a:xfrm>
            <a:custGeom>
              <a:avLst/>
              <a:gdLst/>
              <a:ahLst/>
              <a:cxnLst/>
              <a:rect l="l" t="t" r="r" b="b"/>
              <a:pathLst>
                <a:path w="457200" h="274320">
                  <a:moveTo>
                    <a:pt x="0" y="0"/>
                  </a:moveTo>
                  <a:lnTo>
                    <a:pt x="457199" y="0"/>
                  </a:lnTo>
                  <a:lnTo>
                    <a:pt x="45719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454816" y="5532119"/>
              <a:ext cx="643255" cy="274320"/>
            </a:xfrm>
            <a:custGeom>
              <a:avLst/>
              <a:gdLst/>
              <a:ahLst/>
              <a:cxnLst/>
              <a:rect l="l" t="t" r="r" b="b"/>
              <a:pathLst>
                <a:path w="643255" h="274320">
                  <a:moveTo>
                    <a:pt x="0" y="0"/>
                  </a:moveTo>
                  <a:lnTo>
                    <a:pt x="643212" y="0"/>
                  </a:lnTo>
                  <a:lnTo>
                    <a:pt x="643212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4115550" y="5856146"/>
              <a:ext cx="1188085" cy="274320"/>
            </a:xfrm>
            <a:custGeom>
              <a:avLst/>
              <a:gdLst/>
              <a:ahLst/>
              <a:cxnLst/>
              <a:rect l="l" t="t" r="r" b="b"/>
              <a:pathLst>
                <a:path w="1188085" h="274320">
                  <a:moveTo>
                    <a:pt x="0" y="0"/>
                  </a:moveTo>
                  <a:lnTo>
                    <a:pt x="1187968" y="0"/>
                  </a:lnTo>
                  <a:lnTo>
                    <a:pt x="1187968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4206990" y="5532119"/>
              <a:ext cx="184150" cy="274320"/>
            </a:xfrm>
            <a:custGeom>
              <a:avLst/>
              <a:gdLst/>
              <a:ahLst/>
              <a:cxnLst/>
              <a:rect l="l" t="t" r="r" b="b"/>
              <a:pathLst>
                <a:path w="184150" h="274320">
                  <a:moveTo>
                    <a:pt x="0" y="0"/>
                  </a:moveTo>
                  <a:lnTo>
                    <a:pt x="183631" y="0"/>
                  </a:lnTo>
                  <a:lnTo>
                    <a:pt x="183631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4754128" y="5532119"/>
              <a:ext cx="184150" cy="274320"/>
            </a:xfrm>
            <a:custGeom>
              <a:avLst/>
              <a:gdLst/>
              <a:ahLst/>
              <a:cxnLst/>
              <a:rect l="l" t="t" r="r" b="b"/>
              <a:pathLst>
                <a:path w="184150" h="274320">
                  <a:moveTo>
                    <a:pt x="0" y="0"/>
                  </a:moveTo>
                  <a:lnTo>
                    <a:pt x="183631" y="0"/>
                  </a:lnTo>
                  <a:lnTo>
                    <a:pt x="183631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4480560" y="5532119"/>
              <a:ext cx="184150" cy="274320"/>
            </a:xfrm>
            <a:custGeom>
              <a:avLst/>
              <a:gdLst/>
              <a:ahLst/>
              <a:cxnLst/>
              <a:rect l="l" t="t" r="r" b="b"/>
              <a:pathLst>
                <a:path w="184150" h="274320">
                  <a:moveTo>
                    <a:pt x="0" y="0"/>
                  </a:moveTo>
                  <a:lnTo>
                    <a:pt x="183631" y="0"/>
                  </a:lnTo>
                  <a:lnTo>
                    <a:pt x="183631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5026442" y="5532119"/>
              <a:ext cx="551815" cy="274320"/>
            </a:xfrm>
            <a:custGeom>
              <a:avLst/>
              <a:gdLst/>
              <a:ahLst/>
              <a:cxnLst/>
              <a:rect l="l" t="t" r="r" b="b"/>
              <a:pathLst>
                <a:path w="551814" h="274320">
                  <a:moveTo>
                    <a:pt x="0" y="0"/>
                  </a:moveTo>
                  <a:lnTo>
                    <a:pt x="551396" y="0"/>
                  </a:lnTo>
                  <a:lnTo>
                    <a:pt x="551396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3200399" y="5212079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1459905" y="5856146"/>
              <a:ext cx="548640" cy="274320"/>
            </a:xfrm>
            <a:custGeom>
              <a:avLst/>
              <a:gdLst/>
              <a:ahLst/>
              <a:cxnLst/>
              <a:rect l="l" t="t" r="r" b="b"/>
              <a:pathLst>
                <a:path w="548639" h="274320">
                  <a:moveTo>
                    <a:pt x="0" y="0"/>
                  </a:moveTo>
                  <a:lnTo>
                    <a:pt x="548639" y="0"/>
                  </a:lnTo>
                  <a:lnTo>
                    <a:pt x="54863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5394959" y="5856146"/>
              <a:ext cx="184150" cy="274320"/>
            </a:xfrm>
            <a:custGeom>
              <a:avLst/>
              <a:gdLst/>
              <a:ahLst/>
              <a:cxnLst/>
              <a:rect l="l" t="t" r="r" b="b"/>
              <a:pathLst>
                <a:path w="184150" h="274320">
                  <a:moveTo>
                    <a:pt x="0" y="0"/>
                  </a:moveTo>
                  <a:lnTo>
                    <a:pt x="183631" y="0"/>
                  </a:lnTo>
                  <a:lnTo>
                    <a:pt x="183631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3657599" y="5856146"/>
              <a:ext cx="182245" cy="274320"/>
            </a:xfrm>
            <a:custGeom>
              <a:avLst/>
              <a:gdLst/>
              <a:ahLst/>
              <a:cxnLst/>
              <a:rect l="l" t="t" r="r" b="b"/>
              <a:pathLst>
                <a:path w="182245" h="274320">
                  <a:moveTo>
                    <a:pt x="0" y="0"/>
                  </a:moveTo>
                  <a:lnTo>
                    <a:pt x="182128" y="0"/>
                  </a:lnTo>
                  <a:lnTo>
                    <a:pt x="182128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3931918" y="5852160"/>
              <a:ext cx="91440" cy="274320"/>
            </a:xfrm>
            <a:custGeom>
              <a:avLst/>
              <a:gdLst/>
              <a:ahLst/>
              <a:cxnLst/>
              <a:rect l="l" t="t" r="r" b="b"/>
              <a:pathLst>
                <a:path w="91439" h="274320">
                  <a:moveTo>
                    <a:pt x="0" y="0"/>
                  </a:moveTo>
                  <a:lnTo>
                    <a:pt x="91440" y="0"/>
                  </a:lnTo>
                  <a:lnTo>
                    <a:pt x="91440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4" name="object 124"/>
          <p:cNvSpPr txBox="1"/>
          <p:nvPr/>
        </p:nvSpPr>
        <p:spPr>
          <a:xfrm>
            <a:off x="7754618" y="5549900"/>
            <a:ext cx="5041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318BFF"/>
                </a:solidFill>
                <a:latin typeface="Calibri"/>
                <a:cs typeface="Calibri"/>
              </a:rPr>
              <a:t>Kernel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7678418" y="4361179"/>
            <a:ext cx="6248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85BF64"/>
                </a:solidFill>
                <a:latin typeface="Calibri"/>
                <a:cs typeface="Calibri"/>
              </a:rPr>
              <a:t>Services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7665718" y="3172459"/>
            <a:ext cx="657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85BF64"/>
                </a:solidFill>
                <a:latin typeface="Calibri"/>
                <a:cs typeface="Calibri"/>
              </a:rPr>
              <a:t>Libraries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7379621" y="1115059"/>
            <a:ext cx="124904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DC444C"/>
                </a:solidFill>
                <a:latin typeface="Calibri"/>
                <a:cs typeface="Calibri"/>
              </a:rPr>
              <a:t>User</a:t>
            </a:r>
            <a:r>
              <a:rPr sz="1400" b="1" spc="-15" dirty="0">
                <a:solidFill>
                  <a:srgbClr val="DC444C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DC444C"/>
                </a:solidFill>
                <a:latin typeface="Calibri"/>
                <a:cs typeface="Calibri"/>
              </a:rPr>
              <a:t>Applica</a:t>
            </a:r>
            <a:r>
              <a:rPr lang="en-US" sz="1400" b="1" spc="-10" dirty="0">
                <a:solidFill>
                  <a:srgbClr val="DC444C"/>
                </a:solidFill>
                <a:latin typeface="Calibri"/>
                <a:cs typeface="Calibri"/>
              </a:rPr>
              <a:t>ti</a:t>
            </a:r>
            <a:r>
              <a:rPr sz="1400" b="1" spc="-10" dirty="0">
                <a:solidFill>
                  <a:srgbClr val="DC444C"/>
                </a:solidFill>
                <a:latin typeface="Calibri"/>
                <a:cs typeface="Calibri"/>
              </a:rPr>
              <a:t>on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7177251" y="1983740"/>
            <a:ext cx="165862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85BF64"/>
                </a:solidFill>
                <a:latin typeface="Calibri"/>
                <a:cs typeface="Calibri"/>
              </a:rPr>
              <a:t>3</a:t>
            </a:r>
            <a:r>
              <a:rPr sz="1350" b="1" baseline="24691" dirty="0">
                <a:solidFill>
                  <a:srgbClr val="95C877"/>
                </a:solidFill>
                <a:latin typeface="Calibri"/>
                <a:cs typeface="Calibri"/>
              </a:rPr>
              <a:t>rd</a:t>
            </a:r>
            <a:r>
              <a:rPr sz="1350" b="1" spc="150" baseline="24691" dirty="0">
                <a:solidFill>
                  <a:srgbClr val="95C877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85BF64"/>
                </a:solidFill>
                <a:latin typeface="Calibri"/>
                <a:cs typeface="Calibri"/>
              </a:rPr>
              <a:t>Party</a:t>
            </a:r>
            <a:r>
              <a:rPr sz="1400" b="1" spc="-5" dirty="0">
                <a:solidFill>
                  <a:srgbClr val="85BF64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85BF64"/>
                </a:solidFill>
                <a:latin typeface="Calibri"/>
                <a:cs typeface="Calibri"/>
              </a:rPr>
              <a:t>Applica</a:t>
            </a:r>
            <a:r>
              <a:rPr lang="en-US" sz="1400" b="1" spc="-10" dirty="0">
                <a:solidFill>
                  <a:srgbClr val="85BF64"/>
                </a:solidFill>
                <a:latin typeface="Calibri"/>
                <a:cs typeface="Calibri"/>
              </a:rPr>
              <a:t>ti</a:t>
            </a:r>
            <a:r>
              <a:rPr sz="1400" b="1" spc="-10" dirty="0">
                <a:solidFill>
                  <a:srgbClr val="85BF64"/>
                </a:solidFill>
                <a:latin typeface="Calibri"/>
                <a:cs typeface="Calibri"/>
              </a:rPr>
              <a:t>ons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1560" y="133235"/>
            <a:ext cx="560641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Most</a:t>
            </a:r>
            <a:r>
              <a:rPr sz="4000" spc="-40" dirty="0"/>
              <a:t> </a:t>
            </a:r>
            <a:r>
              <a:rPr sz="4000" dirty="0"/>
              <a:t>of</a:t>
            </a:r>
            <a:r>
              <a:rPr sz="4000" spc="-40" dirty="0"/>
              <a:t> </a:t>
            </a:r>
            <a:r>
              <a:rPr sz="4000" dirty="0"/>
              <a:t>the</a:t>
            </a:r>
            <a:r>
              <a:rPr sz="4000" spc="-40" dirty="0"/>
              <a:t> </a:t>
            </a:r>
            <a:r>
              <a:rPr sz="4000" dirty="0"/>
              <a:t>VM</a:t>
            </a:r>
            <a:r>
              <a:rPr sz="4000" spc="-40" dirty="0"/>
              <a:t> </a:t>
            </a:r>
            <a:r>
              <a:rPr sz="4000" dirty="0"/>
              <a:t>not</a:t>
            </a:r>
            <a:r>
              <a:rPr sz="4000" spc="-40" dirty="0"/>
              <a:t> </a:t>
            </a:r>
            <a:r>
              <a:rPr sz="4000" spc="-10" dirty="0"/>
              <a:t>Used…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216130" y="872836"/>
            <a:ext cx="6700520" cy="5515610"/>
            <a:chOff x="216130" y="872836"/>
            <a:chExt cx="6700520" cy="55156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130" y="872836"/>
              <a:ext cx="6700057" cy="55154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74320" y="914401"/>
              <a:ext cx="6583680" cy="5394960"/>
            </a:xfrm>
            <a:custGeom>
              <a:avLst/>
              <a:gdLst/>
              <a:ahLst/>
              <a:cxnLst/>
              <a:rect l="l" t="t" r="r" b="b"/>
              <a:pathLst>
                <a:path w="6583680" h="5394960">
                  <a:moveTo>
                    <a:pt x="6583678" y="0"/>
                  </a:moveTo>
                  <a:lnTo>
                    <a:pt x="0" y="0"/>
                  </a:lnTo>
                  <a:lnTo>
                    <a:pt x="0" y="5394958"/>
                  </a:lnTo>
                  <a:lnTo>
                    <a:pt x="6583678" y="5394958"/>
                  </a:lnTo>
                  <a:lnTo>
                    <a:pt x="65836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320" y="914401"/>
              <a:ext cx="6583680" cy="5394960"/>
            </a:xfrm>
            <a:custGeom>
              <a:avLst/>
              <a:gdLst/>
              <a:ahLst/>
              <a:cxnLst/>
              <a:rect l="l" t="t" r="r" b="b"/>
              <a:pathLst>
                <a:path w="6583680" h="5394960">
                  <a:moveTo>
                    <a:pt x="0" y="0"/>
                  </a:moveTo>
                  <a:lnTo>
                    <a:pt x="6583678" y="0"/>
                  </a:lnTo>
                  <a:lnTo>
                    <a:pt x="6583678" y="5394958"/>
                  </a:lnTo>
                  <a:lnTo>
                    <a:pt x="0" y="5394958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68137" y="976745"/>
              <a:ext cx="1596043" cy="59020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08959" y="1051560"/>
              <a:ext cx="918556" cy="44473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834639" y="1005840"/>
            <a:ext cx="1463040" cy="457200"/>
          </a:xfrm>
          <a:prstGeom prst="rect">
            <a:avLst/>
          </a:prstGeom>
          <a:solidFill>
            <a:srgbClr val="E55C5E"/>
          </a:solidFill>
          <a:ln w="19049">
            <a:solidFill>
              <a:srgbClr val="6C6C6C"/>
            </a:solidFill>
          </a:ln>
        </p:spPr>
        <p:txBody>
          <a:bodyPr vert="horz" wrap="square" lIns="0" tIns="91440" rIns="0" bIns="0" rtlCol="0">
            <a:spAutoFit/>
          </a:bodyPr>
          <a:lstStyle/>
          <a:p>
            <a:pPr marL="360680">
              <a:lnSpc>
                <a:spcPct val="100000"/>
              </a:lnSpc>
              <a:spcBef>
                <a:spcPts val="720"/>
              </a:spcBef>
            </a:pPr>
            <a:r>
              <a:rPr sz="1800" b="1" spc="-10" dirty="0">
                <a:solidFill>
                  <a:srgbClr val="FFFFFF"/>
                </a:solidFill>
                <a:latin typeface="Verdana"/>
                <a:cs typeface="Verdana"/>
              </a:rPr>
              <a:t>Nginx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78418" y="4361179"/>
            <a:ext cx="6248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85BF64"/>
                </a:solidFill>
                <a:latin typeface="Calibri"/>
                <a:cs typeface="Calibri"/>
              </a:rPr>
              <a:t>Services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65718" y="3172459"/>
            <a:ext cx="657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85BF64"/>
                </a:solidFill>
                <a:latin typeface="Calibri"/>
                <a:cs typeface="Calibri"/>
              </a:rPr>
              <a:t>Libraries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79621" y="1115059"/>
            <a:ext cx="124904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DC444C"/>
                </a:solidFill>
                <a:latin typeface="Calibri"/>
                <a:cs typeface="Calibri"/>
              </a:rPr>
              <a:t>User</a:t>
            </a:r>
            <a:r>
              <a:rPr sz="1400" b="1" spc="-15" dirty="0">
                <a:solidFill>
                  <a:srgbClr val="DC444C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DC444C"/>
                </a:solidFill>
                <a:latin typeface="Calibri"/>
                <a:cs typeface="Calibri"/>
              </a:rPr>
              <a:t>Applica</a:t>
            </a:r>
            <a:r>
              <a:rPr lang="en-US" sz="1400" b="1" spc="-10" dirty="0">
                <a:solidFill>
                  <a:srgbClr val="DC444C"/>
                </a:solidFill>
                <a:latin typeface="Calibri"/>
                <a:cs typeface="Calibri"/>
              </a:rPr>
              <a:t>ti</a:t>
            </a:r>
            <a:r>
              <a:rPr sz="1400" b="1" spc="-10" dirty="0">
                <a:solidFill>
                  <a:srgbClr val="DC444C"/>
                </a:solidFill>
                <a:latin typeface="Calibri"/>
                <a:cs typeface="Calibri"/>
              </a:rPr>
              <a:t>on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3059" y="1541781"/>
            <a:ext cx="6426200" cy="1122680"/>
            <a:chOff x="353059" y="1541781"/>
            <a:chExt cx="6426200" cy="1122680"/>
          </a:xfrm>
        </p:grpSpPr>
        <p:sp>
          <p:nvSpPr>
            <p:cNvPr id="14" name="object 14"/>
            <p:cNvSpPr/>
            <p:nvPr/>
          </p:nvSpPr>
          <p:spPr>
            <a:xfrm>
              <a:off x="365759" y="1554481"/>
              <a:ext cx="6400800" cy="1097280"/>
            </a:xfrm>
            <a:custGeom>
              <a:avLst/>
              <a:gdLst/>
              <a:ahLst/>
              <a:cxnLst/>
              <a:rect l="l" t="t" r="r" b="b"/>
              <a:pathLst>
                <a:path w="6400800" h="1097280">
                  <a:moveTo>
                    <a:pt x="6400798" y="0"/>
                  </a:moveTo>
                  <a:lnTo>
                    <a:pt x="0" y="0"/>
                  </a:lnTo>
                  <a:lnTo>
                    <a:pt x="0" y="1097278"/>
                  </a:lnTo>
                  <a:lnTo>
                    <a:pt x="6400798" y="1097278"/>
                  </a:lnTo>
                  <a:lnTo>
                    <a:pt x="6400798" y="0"/>
                  </a:lnTo>
                  <a:close/>
                </a:path>
              </a:pathLst>
            </a:custGeom>
            <a:solidFill>
              <a:srgbClr val="95C8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5759" y="1554481"/>
              <a:ext cx="6400800" cy="1097280"/>
            </a:xfrm>
            <a:custGeom>
              <a:avLst/>
              <a:gdLst/>
              <a:ahLst/>
              <a:cxnLst/>
              <a:rect l="l" t="t" r="r" b="b"/>
              <a:pathLst>
                <a:path w="6400800" h="1097280">
                  <a:moveTo>
                    <a:pt x="0" y="0"/>
                  </a:moveTo>
                  <a:lnTo>
                    <a:pt x="6400798" y="0"/>
                  </a:lnTo>
                  <a:lnTo>
                    <a:pt x="6400798" y="1097279"/>
                  </a:lnTo>
                  <a:lnTo>
                    <a:pt x="0" y="109727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CCE4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7199" y="1645920"/>
              <a:ext cx="548640" cy="274320"/>
            </a:xfrm>
            <a:custGeom>
              <a:avLst/>
              <a:gdLst/>
              <a:ahLst/>
              <a:cxnLst/>
              <a:rect l="l" t="t" r="r" b="b"/>
              <a:pathLst>
                <a:path w="548640" h="274319">
                  <a:moveTo>
                    <a:pt x="0" y="0"/>
                  </a:moveTo>
                  <a:lnTo>
                    <a:pt x="548639" y="0"/>
                  </a:lnTo>
                  <a:lnTo>
                    <a:pt x="54863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97279" y="1645920"/>
              <a:ext cx="548640" cy="274320"/>
            </a:xfrm>
            <a:custGeom>
              <a:avLst/>
              <a:gdLst/>
              <a:ahLst/>
              <a:cxnLst/>
              <a:rect l="l" t="t" r="r" b="b"/>
              <a:pathLst>
                <a:path w="548639" h="274319">
                  <a:moveTo>
                    <a:pt x="0" y="0"/>
                  </a:moveTo>
                  <a:lnTo>
                    <a:pt x="548639" y="0"/>
                  </a:lnTo>
                  <a:lnTo>
                    <a:pt x="54863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7199" y="1965959"/>
              <a:ext cx="1005840" cy="274320"/>
            </a:xfrm>
            <a:custGeom>
              <a:avLst/>
              <a:gdLst/>
              <a:ahLst/>
              <a:cxnLst/>
              <a:rect l="l" t="t" r="r" b="b"/>
              <a:pathLst>
                <a:path w="1005840" h="274319">
                  <a:moveTo>
                    <a:pt x="0" y="0"/>
                  </a:moveTo>
                  <a:lnTo>
                    <a:pt x="1005839" y="0"/>
                  </a:lnTo>
                  <a:lnTo>
                    <a:pt x="100583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7199" y="2286000"/>
              <a:ext cx="548640" cy="274320"/>
            </a:xfrm>
            <a:custGeom>
              <a:avLst/>
              <a:gdLst/>
              <a:ahLst/>
              <a:cxnLst/>
              <a:rect l="l" t="t" r="r" b="b"/>
              <a:pathLst>
                <a:path w="548640" h="274319">
                  <a:moveTo>
                    <a:pt x="0" y="0"/>
                  </a:moveTo>
                  <a:lnTo>
                    <a:pt x="548639" y="0"/>
                  </a:lnTo>
                  <a:lnTo>
                    <a:pt x="54863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554479" y="1965959"/>
            <a:ext cx="914400" cy="274320"/>
          </a:xfrm>
          <a:prstGeom prst="rect">
            <a:avLst/>
          </a:prstGeom>
          <a:solidFill>
            <a:srgbClr val="95C877"/>
          </a:solidFill>
          <a:ln w="28574">
            <a:solidFill>
              <a:srgbClr val="E55C5E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34290">
              <a:lnSpc>
                <a:spcPct val="100000"/>
              </a:lnSpc>
              <a:spcBef>
                <a:spcPts val="480"/>
              </a:spcBef>
            </a:pPr>
            <a:r>
              <a:rPr sz="1000" b="1" spc="-10" dirty="0">
                <a:solidFill>
                  <a:srgbClr val="FFFFFF"/>
                </a:solidFill>
                <a:latin typeface="Verdana"/>
                <a:cs typeface="Verdana"/>
              </a:rPr>
              <a:t>memcached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087754" y="1636395"/>
            <a:ext cx="5596890" cy="933450"/>
            <a:chOff x="1087754" y="1636395"/>
            <a:chExt cx="5596890" cy="933450"/>
          </a:xfrm>
        </p:grpSpPr>
        <p:sp>
          <p:nvSpPr>
            <p:cNvPr id="22" name="object 22"/>
            <p:cNvSpPr/>
            <p:nvPr/>
          </p:nvSpPr>
          <p:spPr>
            <a:xfrm>
              <a:off x="1737359" y="1645920"/>
              <a:ext cx="184785" cy="274320"/>
            </a:xfrm>
            <a:custGeom>
              <a:avLst/>
              <a:gdLst/>
              <a:ahLst/>
              <a:cxnLst/>
              <a:rect l="l" t="t" r="r" b="b"/>
              <a:pathLst>
                <a:path w="184785" h="274319">
                  <a:moveTo>
                    <a:pt x="0" y="0"/>
                  </a:moveTo>
                  <a:lnTo>
                    <a:pt x="184381" y="0"/>
                  </a:lnTo>
                  <a:lnTo>
                    <a:pt x="184381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97279" y="2286000"/>
              <a:ext cx="914400" cy="274320"/>
            </a:xfrm>
            <a:custGeom>
              <a:avLst/>
              <a:gdLst/>
              <a:ahLst/>
              <a:cxnLst/>
              <a:rect l="l" t="t" r="r" b="b"/>
              <a:pathLst>
                <a:path w="914400" h="274319">
                  <a:moveTo>
                    <a:pt x="0" y="0"/>
                  </a:moveTo>
                  <a:lnTo>
                    <a:pt x="914399" y="0"/>
                  </a:lnTo>
                  <a:lnTo>
                    <a:pt x="91439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103119" y="2286000"/>
              <a:ext cx="914400" cy="274320"/>
            </a:xfrm>
            <a:custGeom>
              <a:avLst/>
              <a:gdLst/>
              <a:ahLst/>
              <a:cxnLst/>
              <a:rect l="l" t="t" r="r" b="b"/>
              <a:pathLst>
                <a:path w="914400" h="274319">
                  <a:moveTo>
                    <a:pt x="0" y="0"/>
                  </a:moveTo>
                  <a:lnTo>
                    <a:pt x="914399" y="0"/>
                  </a:lnTo>
                  <a:lnTo>
                    <a:pt x="91439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560319" y="1965959"/>
              <a:ext cx="731520" cy="274320"/>
            </a:xfrm>
            <a:custGeom>
              <a:avLst/>
              <a:gdLst/>
              <a:ahLst/>
              <a:cxnLst/>
              <a:rect l="l" t="t" r="r" b="b"/>
              <a:pathLst>
                <a:path w="731520" h="274319">
                  <a:moveTo>
                    <a:pt x="0" y="0"/>
                  </a:moveTo>
                  <a:lnTo>
                    <a:pt x="731519" y="0"/>
                  </a:lnTo>
                  <a:lnTo>
                    <a:pt x="73151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285999" y="1645920"/>
              <a:ext cx="1463040" cy="274320"/>
            </a:xfrm>
            <a:custGeom>
              <a:avLst/>
              <a:gdLst/>
              <a:ahLst/>
              <a:cxnLst/>
              <a:rect l="l" t="t" r="r" b="b"/>
              <a:pathLst>
                <a:path w="1463039" h="274319">
                  <a:moveTo>
                    <a:pt x="0" y="0"/>
                  </a:moveTo>
                  <a:lnTo>
                    <a:pt x="1463039" y="0"/>
                  </a:lnTo>
                  <a:lnTo>
                    <a:pt x="146303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383280" y="1965959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79" h="274319">
                  <a:moveTo>
                    <a:pt x="0" y="0"/>
                  </a:moveTo>
                  <a:lnTo>
                    <a:pt x="182879" y="0"/>
                  </a:lnTo>
                  <a:lnTo>
                    <a:pt x="18287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657599" y="1965959"/>
              <a:ext cx="91440" cy="274320"/>
            </a:xfrm>
            <a:custGeom>
              <a:avLst/>
              <a:gdLst/>
              <a:ahLst/>
              <a:cxnLst/>
              <a:rect l="l" t="t" r="r" b="b"/>
              <a:pathLst>
                <a:path w="91439" h="274319">
                  <a:moveTo>
                    <a:pt x="0" y="0"/>
                  </a:moveTo>
                  <a:lnTo>
                    <a:pt x="91440" y="0"/>
                  </a:lnTo>
                  <a:lnTo>
                    <a:pt x="9144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55C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11679" y="1645920"/>
              <a:ext cx="184785" cy="274320"/>
            </a:xfrm>
            <a:custGeom>
              <a:avLst/>
              <a:gdLst/>
              <a:ahLst/>
              <a:cxnLst/>
              <a:rect l="l" t="t" r="r" b="b"/>
              <a:pathLst>
                <a:path w="184785" h="274319">
                  <a:moveTo>
                    <a:pt x="0" y="0"/>
                  </a:moveTo>
                  <a:lnTo>
                    <a:pt x="184381" y="0"/>
                  </a:lnTo>
                  <a:lnTo>
                    <a:pt x="184381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108958" y="2286000"/>
              <a:ext cx="1005840" cy="274320"/>
            </a:xfrm>
            <a:custGeom>
              <a:avLst/>
              <a:gdLst/>
              <a:ahLst/>
              <a:cxnLst/>
              <a:rect l="l" t="t" r="r" b="b"/>
              <a:pathLst>
                <a:path w="1005839" h="274319">
                  <a:moveTo>
                    <a:pt x="0" y="0"/>
                  </a:moveTo>
                  <a:lnTo>
                    <a:pt x="1005839" y="0"/>
                  </a:lnTo>
                  <a:lnTo>
                    <a:pt x="100583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840478" y="1965959"/>
              <a:ext cx="1005840" cy="274320"/>
            </a:xfrm>
            <a:custGeom>
              <a:avLst/>
              <a:gdLst/>
              <a:ahLst/>
              <a:cxnLst/>
              <a:rect l="l" t="t" r="r" b="b"/>
              <a:pathLst>
                <a:path w="1005839" h="274319">
                  <a:moveTo>
                    <a:pt x="0" y="0"/>
                  </a:moveTo>
                  <a:lnTo>
                    <a:pt x="1005839" y="0"/>
                  </a:lnTo>
                  <a:lnTo>
                    <a:pt x="100583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023359" y="1645920"/>
              <a:ext cx="731520" cy="274320"/>
            </a:xfrm>
            <a:custGeom>
              <a:avLst/>
              <a:gdLst/>
              <a:ahLst/>
              <a:cxnLst/>
              <a:rect l="l" t="t" r="r" b="b"/>
              <a:pathLst>
                <a:path w="731520" h="274319">
                  <a:moveTo>
                    <a:pt x="0" y="0"/>
                  </a:moveTo>
                  <a:lnTo>
                    <a:pt x="731519" y="0"/>
                  </a:lnTo>
                  <a:lnTo>
                    <a:pt x="73151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206240" y="2286000"/>
              <a:ext cx="2468880" cy="274320"/>
            </a:xfrm>
            <a:custGeom>
              <a:avLst/>
              <a:gdLst/>
              <a:ahLst/>
              <a:cxnLst/>
              <a:rect l="l" t="t" r="r" b="b"/>
              <a:pathLst>
                <a:path w="2468879" h="274319">
                  <a:moveTo>
                    <a:pt x="0" y="0"/>
                  </a:moveTo>
                  <a:lnTo>
                    <a:pt x="2468879" y="0"/>
                  </a:lnTo>
                  <a:lnTo>
                    <a:pt x="246887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303518" y="1645920"/>
              <a:ext cx="1005840" cy="274320"/>
            </a:xfrm>
            <a:custGeom>
              <a:avLst/>
              <a:gdLst/>
              <a:ahLst/>
              <a:cxnLst/>
              <a:rect l="l" t="t" r="r" b="b"/>
              <a:pathLst>
                <a:path w="1005839" h="274319">
                  <a:moveTo>
                    <a:pt x="0" y="0"/>
                  </a:moveTo>
                  <a:lnTo>
                    <a:pt x="1005839" y="0"/>
                  </a:lnTo>
                  <a:lnTo>
                    <a:pt x="100583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35038" y="1965959"/>
              <a:ext cx="365760" cy="274320"/>
            </a:xfrm>
            <a:custGeom>
              <a:avLst/>
              <a:gdLst/>
              <a:ahLst/>
              <a:cxnLst/>
              <a:rect l="l" t="t" r="r" b="b"/>
              <a:pathLst>
                <a:path w="365760" h="274319">
                  <a:moveTo>
                    <a:pt x="0" y="0"/>
                  </a:moveTo>
                  <a:lnTo>
                    <a:pt x="365759" y="0"/>
                  </a:lnTo>
                  <a:lnTo>
                    <a:pt x="36575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669278" y="1965959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937759" y="1965959"/>
            <a:ext cx="640080" cy="274320"/>
          </a:xfrm>
          <a:prstGeom prst="rect">
            <a:avLst/>
          </a:prstGeom>
          <a:solidFill>
            <a:srgbClr val="95C877"/>
          </a:solidFill>
          <a:ln w="28574">
            <a:solidFill>
              <a:srgbClr val="E55C5E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240"/>
              </a:spcBef>
            </a:pPr>
            <a:r>
              <a:rPr sz="1400" b="1" spc="-20" dirty="0">
                <a:solidFill>
                  <a:srgbClr val="FFFFFF"/>
                </a:solidFill>
                <a:latin typeface="Verdana"/>
                <a:cs typeface="Verdana"/>
              </a:rPr>
              <a:t>bash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65759" y="1635824"/>
            <a:ext cx="6400800" cy="2204720"/>
            <a:chOff x="365759" y="1635824"/>
            <a:chExt cx="6400800" cy="2204720"/>
          </a:xfrm>
        </p:grpSpPr>
        <p:sp>
          <p:nvSpPr>
            <p:cNvPr id="39" name="object 39"/>
            <p:cNvSpPr/>
            <p:nvPr/>
          </p:nvSpPr>
          <p:spPr>
            <a:xfrm>
              <a:off x="6492238" y="1965959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79" h="274319">
                  <a:moveTo>
                    <a:pt x="0" y="0"/>
                  </a:moveTo>
                  <a:lnTo>
                    <a:pt x="182879" y="0"/>
                  </a:lnTo>
                  <a:lnTo>
                    <a:pt x="18287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46318" y="1645920"/>
              <a:ext cx="365760" cy="274320"/>
            </a:xfrm>
            <a:custGeom>
              <a:avLst/>
              <a:gdLst/>
              <a:ahLst/>
              <a:cxnLst/>
              <a:rect l="l" t="t" r="r" b="b"/>
              <a:pathLst>
                <a:path w="365760" h="274319">
                  <a:moveTo>
                    <a:pt x="0" y="0"/>
                  </a:moveTo>
                  <a:lnTo>
                    <a:pt x="365759" y="0"/>
                  </a:lnTo>
                  <a:lnTo>
                    <a:pt x="36575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400798" y="1645920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0" y="0"/>
                  </a:moveTo>
                  <a:lnTo>
                    <a:pt x="274319" y="0"/>
                  </a:lnTo>
                  <a:lnTo>
                    <a:pt x="27431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40479" y="1645349"/>
              <a:ext cx="91440" cy="274320"/>
            </a:xfrm>
            <a:custGeom>
              <a:avLst/>
              <a:gdLst/>
              <a:ahLst/>
              <a:cxnLst/>
              <a:rect l="l" t="t" r="r" b="b"/>
              <a:pathLst>
                <a:path w="91439" h="274319">
                  <a:moveTo>
                    <a:pt x="0" y="0"/>
                  </a:moveTo>
                  <a:lnTo>
                    <a:pt x="91440" y="0"/>
                  </a:lnTo>
                  <a:lnTo>
                    <a:pt x="9144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65759" y="2743199"/>
              <a:ext cx="6400800" cy="1097280"/>
            </a:xfrm>
            <a:custGeom>
              <a:avLst/>
              <a:gdLst/>
              <a:ahLst/>
              <a:cxnLst/>
              <a:rect l="l" t="t" r="r" b="b"/>
              <a:pathLst>
                <a:path w="6400800" h="1097279">
                  <a:moveTo>
                    <a:pt x="6400798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6400798" y="1097280"/>
                  </a:lnTo>
                  <a:lnTo>
                    <a:pt x="6400798" y="0"/>
                  </a:lnTo>
                  <a:close/>
                </a:path>
              </a:pathLst>
            </a:custGeom>
            <a:solidFill>
              <a:srgbClr val="95C8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57199" y="2834640"/>
              <a:ext cx="731520" cy="274320"/>
            </a:xfrm>
            <a:custGeom>
              <a:avLst/>
              <a:gdLst/>
              <a:ahLst/>
              <a:cxnLst/>
              <a:rect l="l" t="t" r="r" b="b"/>
              <a:pathLst>
                <a:path w="731519" h="274319">
                  <a:moveTo>
                    <a:pt x="0" y="0"/>
                  </a:moveTo>
                  <a:lnTo>
                    <a:pt x="731519" y="0"/>
                  </a:lnTo>
                  <a:lnTo>
                    <a:pt x="73151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280159" y="2834640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60" h="274319">
                  <a:moveTo>
                    <a:pt x="0" y="0"/>
                  </a:moveTo>
                  <a:lnTo>
                    <a:pt x="822959" y="0"/>
                  </a:lnTo>
                  <a:lnTo>
                    <a:pt x="82295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40079" y="3154679"/>
              <a:ext cx="1005840" cy="274320"/>
            </a:xfrm>
            <a:custGeom>
              <a:avLst/>
              <a:gdLst/>
              <a:ahLst/>
              <a:cxnLst/>
              <a:rect l="l" t="t" r="r" b="b"/>
              <a:pathLst>
                <a:path w="1005839" h="274320">
                  <a:moveTo>
                    <a:pt x="0" y="0"/>
                  </a:moveTo>
                  <a:lnTo>
                    <a:pt x="1005839" y="0"/>
                  </a:lnTo>
                  <a:lnTo>
                    <a:pt x="100583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57199" y="3474719"/>
              <a:ext cx="548640" cy="274320"/>
            </a:xfrm>
            <a:custGeom>
              <a:avLst/>
              <a:gdLst/>
              <a:ahLst/>
              <a:cxnLst/>
              <a:rect l="l" t="t" r="r" b="b"/>
              <a:pathLst>
                <a:path w="548640" h="274320">
                  <a:moveTo>
                    <a:pt x="0" y="0"/>
                  </a:moveTo>
                  <a:lnTo>
                    <a:pt x="548639" y="0"/>
                  </a:lnTo>
                  <a:lnTo>
                    <a:pt x="54863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285999" y="3154679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80" h="274320">
                  <a:moveTo>
                    <a:pt x="0" y="0"/>
                  </a:moveTo>
                  <a:lnTo>
                    <a:pt x="182879" y="0"/>
                  </a:lnTo>
                  <a:lnTo>
                    <a:pt x="18287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55C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738110" y="3158383"/>
              <a:ext cx="184785" cy="274320"/>
            </a:xfrm>
            <a:custGeom>
              <a:avLst/>
              <a:gdLst/>
              <a:ahLst/>
              <a:cxnLst/>
              <a:rect l="l" t="t" r="r" b="b"/>
              <a:pathLst>
                <a:path w="184785" h="274320">
                  <a:moveTo>
                    <a:pt x="0" y="0"/>
                  </a:moveTo>
                  <a:lnTo>
                    <a:pt x="184381" y="0"/>
                  </a:lnTo>
                  <a:lnTo>
                    <a:pt x="184381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097280" y="3474719"/>
              <a:ext cx="640080" cy="274320"/>
            </a:xfrm>
            <a:custGeom>
              <a:avLst/>
              <a:gdLst/>
              <a:ahLst/>
              <a:cxnLst/>
              <a:rect l="l" t="t" r="r" b="b"/>
              <a:pathLst>
                <a:path w="640080" h="274320">
                  <a:moveTo>
                    <a:pt x="0" y="0"/>
                  </a:moveTo>
                  <a:lnTo>
                    <a:pt x="640079" y="0"/>
                  </a:lnTo>
                  <a:lnTo>
                    <a:pt x="64007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830301" y="3474719"/>
              <a:ext cx="1278890" cy="274320"/>
            </a:xfrm>
            <a:custGeom>
              <a:avLst/>
              <a:gdLst/>
              <a:ahLst/>
              <a:cxnLst/>
              <a:rect l="l" t="t" r="r" b="b"/>
              <a:pathLst>
                <a:path w="1278889" h="274320">
                  <a:moveTo>
                    <a:pt x="0" y="0"/>
                  </a:moveTo>
                  <a:lnTo>
                    <a:pt x="1278657" y="0"/>
                  </a:lnTo>
                  <a:lnTo>
                    <a:pt x="1278657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55C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560319" y="3154679"/>
              <a:ext cx="731520" cy="274320"/>
            </a:xfrm>
            <a:custGeom>
              <a:avLst/>
              <a:gdLst/>
              <a:ahLst/>
              <a:cxnLst/>
              <a:rect l="l" t="t" r="r" b="b"/>
              <a:pathLst>
                <a:path w="731520" h="274320">
                  <a:moveTo>
                    <a:pt x="0" y="0"/>
                  </a:moveTo>
                  <a:lnTo>
                    <a:pt x="731519" y="0"/>
                  </a:lnTo>
                  <a:lnTo>
                    <a:pt x="73151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55C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7177251" y="1983740"/>
            <a:ext cx="165862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85BF64"/>
                </a:solidFill>
                <a:latin typeface="Calibri"/>
                <a:cs typeface="Calibri"/>
              </a:rPr>
              <a:t>3</a:t>
            </a:r>
            <a:r>
              <a:rPr sz="1350" b="1" baseline="24691" dirty="0">
                <a:solidFill>
                  <a:srgbClr val="95C877"/>
                </a:solidFill>
                <a:latin typeface="Calibri"/>
                <a:cs typeface="Calibri"/>
              </a:rPr>
              <a:t>rd</a:t>
            </a:r>
            <a:r>
              <a:rPr sz="1350" b="1" spc="150" baseline="24691" dirty="0">
                <a:solidFill>
                  <a:srgbClr val="95C877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85BF64"/>
                </a:solidFill>
                <a:latin typeface="Calibri"/>
                <a:cs typeface="Calibri"/>
              </a:rPr>
              <a:t>Party</a:t>
            </a:r>
            <a:r>
              <a:rPr sz="1400" b="1" spc="-5" dirty="0">
                <a:solidFill>
                  <a:srgbClr val="85BF64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85BF64"/>
                </a:solidFill>
                <a:latin typeface="Calibri"/>
                <a:cs typeface="Calibri"/>
              </a:rPr>
              <a:t>Applica</a:t>
            </a:r>
            <a:r>
              <a:rPr lang="en-US" sz="1400" b="1" spc="-10" dirty="0">
                <a:solidFill>
                  <a:srgbClr val="85BF64"/>
                </a:solidFill>
                <a:latin typeface="Calibri"/>
                <a:cs typeface="Calibri"/>
              </a:rPr>
              <a:t>ti</a:t>
            </a:r>
            <a:r>
              <a:rPr sz="1400" b="1" spc="-10" dirty="0">
                <a:solidFill>
                  <a:srgbClr val="85BF64"/>
                </a:solidFill>
                <a:latin typeface="Calibri"/>
                <a:cs typeface="Calibri"/>
              </a:rPr>
              <a:t>ons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65759" y="2743200"/>
            <a:ext cx="6400800" cy="1097280"/>
          </a:xfrm>
          <a:prstGeom prst="rect">
            <a:avLst/>
          </a:prstGeom>
          <a:ln w="25399">
            <a:solidFill>
              <a:srgbClr val="CCE4B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400">
              <a:latin typeface="Times New Roman"/>
              <a:cs typeface="Times New Roman"/>
            </a:endParaRPr>
          </a:p>
          <a:p>
            <a:pPr marR="1267460" algn="ctr">
              <a:lnSpc>
                <a:spcPct val="100000"/>
              </a:lnSpc>
            </a:pP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libssl</a:t>
            </a:r>
            <a:endParaRPr sz="1400">
              <a:latin typeface="Verdana"/>
              <a:cs typeface="Verdana"/>
            </a:endParaRPr>
          </a:p>
          <a:p>
            <a:pPr marL="1931035">
              <a:lnSpc>
                <a:spcPct val="100000"/>
              </a:lnSpc>
              <a:spcBef>
                <a:spcPts val="840"/>
              </a:spcBef>
            </a:pPr>
            <a:r>
              <a:rPr sz="1400" b="1" spc="-20" dirty="0">
                <a:solidFill>
                  <a:srgbClr val="FFFFFF"/>
                </a:solidFill>
                <a:latin typeface="Verdana"/>
                <a:cs typeface="Verdana"/>
              </a:rPr>
              <a:t>libc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365759" y="2820352"/>
            <a:ext cx="6400800" cy="2209165"/>
            <a:chOff x="365759" y="2820352"/>
            <a:chExt cx="6400800" cy="2209165"/>
          </a:xfrm>
        </p:grpSpPr>
        <p:sp>
          <p:nvSpPr>
            <p:cNvPr id="56" name="object 56"/>
            <p:cNvSpPr/>
            <p:nvPr/>
          </p:nvSpPr>
          <p:spPr>
            <a:xfrm>
              <a:off x="2196814" y="2834640"/>
              <a:ext cx="912494" cy="274320"/>
            </a:xfrm>
            <a:custGeom>
              <a:avLst/>
              <a:gdLst/>
              <a:ahLst/>
              <a:cxnLst/>
              <a:rect l="l" t="t" r="r" b="b"/>
              <a:pathLst>
                <a:path w="912494" h="274319">
                  <a:moveTo>
                    <a:pt x="0" y="0"/>
                  </a:moveTo>
                  <a:lnTo>
                    <a:pt x="912145" y="0"/>
                  </a:lnTo>
                  <a:lnTo>
                    <a:pt x="912145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55C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383280" y="3154679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79" h="274320">
                  <a:moveTo>
                    <a:pt x="0" y="0"/>
                  </a:moveTo>
                  <a:lnTo>
                    <a:pt x="182879" y="0"/>
                  </a:lnTo>
                  <a:lnTo>
                    <a:pt x="18287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657599" y="3154679"/>
              <a:ext cx="91440" cy="274320"/>
            </a:xfrm>
            <a:custGeom>
              <a:avLst/>
              <a:gdLst/>
              <a:ahLst/>
              <a:cxnLst/>
              <a:rect l="l" t="t" r="r" b="b"/>
              <a:pathLst>
                <a:path w="91439" h="274320">
                  <a:moveTo>
                    <a:pt x="0" y="0"/>
                  </a:moveTo>
                  <a:lnTo>
                    <a:pt x="91440" y="0"/>
                  </a:lnTo>
                  <a:lnTo>
                    <a:pt x="9144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55C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012430" y="3158383"/>
              <a:ext cx="184785" cy="274320"/>
            </a:xfrm>
            <a:custGeom>
              <a:avLst/>
              <a:gdLst/>
              <a:ahLst/>
              <a:cxnLst/>
              <a:rect l="l" t="t" r="r" b="b"/>
              <a:pathLst>
                <a:path w="184785" h="274320">
                  <a:moveTo>
                    <a:pt x="0" y="0"/>
                  </a:moveTo>
                  <a:lnTo>
                    <a:pt x="184381" y="0"/>
                  </a:lnTo>
                  <a:lnTo>
                    <a:pt x="184381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55C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200399" y="3474719"/>
              <a:ext cx="640080" cy="274320"/>
            </a:xfrm>
            <a:custGeom>
              <a:avLst/>
              <a:gdLst/>
              <a:ahLst/>
              <a:cxnLst/>
              <a:rect l="l" t="t" r="r" b="b"/>
              <a:pathLst>
                <a:path w="640079" h="274320">
                  <a:moveTo>
                    <a:pt x="0" y="0"/>
                  </a:moveTo>
                  <a:lnTo>
                    <a:pt x="640079" y="0"/>
                  </a:lnTo>
                  <a:lnTo>
                    <a:pt x="64007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840478" y="3154679"/>
              <a:ext cx="731520" cy="274320"/>
            </a:xfrm>
            <a:custGeom>
              <a:avLst/>
              <a:gdLst/>
              <a:ahLst/>
              <a:cxnLst/>
              <a:rect l="l" t="t" r="r" b="b"/>
              <a:pathLst>
                <a:path w="731520" h="274320">
                  <a:moveTo>
                    <a:pt x="0" y="0"/>
                  </a:moveTo>
                  <a:lnTo>
                    <a:pt x="731519" y="0"/>
                  </a:lnTo>
                  <a:lnTo>
                    <a:pt x="73151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480559" y="2834640"/>
              <a:ext cx="365760" cy="274320"/>
            </a:xfrm>
            <a:custGeom>
              <a:avLst/>
              <a:gdLst/>
              <a:ahLst/>
              <a:cxnLst/>
              <a:rect l="l" t="t" r="r" b="b"/>
              <a:pathLst>
                <a:path w="365760" h="274319">
                  <a:moveTo>
                    <a:pt x="0" y="0"/>
                  </a:moveTo>
                  <a:lnTo>
                    <a:pt x="365759" y="0"/>
                  </a:lnTo>
                  <a:lnTo>
                    <a:pt x="36575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760718" y="3474719"/>
              <a:ext cx="914400" cy="274320"/>
            </a:xfrm>
            <a:custGeom>
              <a:avLst/>
              <a:gdLst/>
              <a:ahLst/>
              <a:cxnLst/>
              <a:rect l="l" t="t" r="r" b="b"/>
              <a:pathLst>
                <a:path w="914400" h="274320">
                  <a:moveTo>
                    <a:pt x="0" y="0"/>
                  </a:moveTo>
                  <a:lnTo>
                    <a:pt x="914399" y="0"/>
                  </a:lnTo>
                  <a:lnTo>
                    <a:pt x="91439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303518" y="2834640"/>
              <a:ext cx="1005840" cy="274320"/>
            </a:xfrm>
            <a:custGeom>
              <a:avLst/>
              <a:gdLst/>
              <a:ahLst/>
              <a:cxnLst/>
              <a:rect l="l" t="t" r="r" b="b"/>
              <a:pathLst>
                <a:path w="1005839" h="274319">
                  <a:moveTo>
                    <a:pt x="0" y="0"/>
                  </a:moveTo>
                  <a:lnTo>
                    <a:pt x="1005839" y="0"/>
                  </a:lnTo>
                  <a:lnTo>
                    <a:pt x="100583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943598" y="3154679"/>
              <a:ext cx="731520" cy="274320"/>
            </a:xfrm>
            <a:custGeom>
              <a:avLst/>
              <a:gdLst/>
              <a:ahLst/>
              <a:cxnLst/>
              <a:rect l="l" t="t" r="r" b="b"/>
              <a:pathLst>
                <a:path w="731520" h="274320">
                  <a:moveTo>
                    <a:pt x="0" y="0"/>
                  </a:moveTo>
                  <a:lnTo>
                    <a:pt x="731519" y="0"/>
                  </a:lnTo>
                  <a:lnTo>
                    <a:pt x="73151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663439" y="3154679"/>
              <a:ext cx="914400" cy="274320"/>
            </a:xfrm>
            <a:custGeom>
              <a:avLst/>
              <a:gdLst/>
              <a:ahLst/>
              <a:cxnLst/>
              <a:rect l="l" t="t" r="r" b="b"/>
              <a:pathLst>
                <a:path w="914400" h="274320">
                  <a:moveTo>
                    <a:pt x="0" y="0"/>
                  </a:moveTo>
                  <a:lnTo>
                    <a:pt x="914399" y="0"/>
                  </a:lnTo>
                  <a:lnTo>
                    <a:pt x="91439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669278" y="3154679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79" h="274320">
                  <a:moveTo>
                    <a:pt x="0" y="0"/>
                  </a:moveTo>
                  <a:lnTo>
                    <a:pt x="182879" y="0"/>
                  </a:lnTo>
                  <a:lnTo>
                    <a:pt x="18287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937759" y="2834640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400798" y="2834640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0" y="0"/>
                  </a:moveTo>
                  <a:lnTo>
                    <a:pt x="274319" y="0"/>
                  </a:lnTo>
                  <a:lnTo>
                    <a:pt x="27431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657599" y="2834071"/>
              <a:ext cx="731520" cy="274320"/>
            </a:xfrm>
            <a:custGeom>
              <a:avLst/>
              <a:gdLst/>
              <a:ahLst/>
              <a:cxnLst/>
              <a:rect l="l" t="t" r="r" b="b"/>
              <a:pathLst>
                <a:path w="731520" h="274319">
                  <a:moveTo>
                    <a:pt x="0" y="0"/>
                  </a:moveTo>
                  <a:lnTo>
                    <a:pt x="731519" y="0"/>
                  </a:lnTo>
                  <a:lnTo>
                    <a:pt x="73151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200399" y="2834640"/>
              <a:ext cx="365760" cy="274320"/>
            </a:xfrm>
            <a:custGeom>
              <a:avLst/>
              <a:gdLst/>
              <a:ahLst/>
              <a:cxnLst/>
              <a:rect l="l" t="t" r="r" b="b"/>
              <a:pathLst>
                <a:path w="365760" h="274319">
                  <a:moveTo>
                    <a:pt x="0" y="0"/>
                  </a:moveTo>
                  <a:lnTo>
                    <a:pt x="365759" y="0"/>
                  </a:lnTo>
                  <a:lnTo>
                    <a:pt x="36575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57199" y="3154679"/>
              <a:ext cx="91440" cy="274320"/>
            </a:xfrm>
            <a:custGeom>
              <a:avLst/>
              <a:gdLst/>
              <a:ahLst/>
              <a:cxnLst/>
              <a:rect l="l" t="t" r="r" b="b"/>
              <a:pathLst>
                <a:path w="91440" h="274320">
                  <a:moveTo>
                    <a:pt x="0" y="0"/>
                  </a:moveTo>
                  <a:lnTo>
                    <a:pt x="91439" y="0"/>
                  </a:lnTo>
                  <a:lnTo>
                    <a:pt x="9143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931918" y="3474719"/>
              <a:ext cx="640080" cy="274320"/>
            </a:xfrm>
            <a:custGeom>
              <a:avLst/>
              <a:gdLst/>
              <a:ahLst/>
              <a:cxnLst/>
              <a:rect l="l" t="t" r="r" b="b"/>
              <a:pathLst>
                <a:path w="640079" h="274320">
                  <a:moveTo>
                    <a:pt x="0" y="0"/>
                  </a:moveTo>
                  <a:lnTo>
                    <a:pt x="640079" y="0"/>
                  </a:lnTo>
                  <a:lnTo>
                    <a:pt x="64007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663438" y="3474719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60" h="274320">
                  <a:moveTo>
                    <a:pt x="0" y="0"/>
                  </a:moveTo>
                  <a:lnTo>
                    <a:pt x="822959" y="0"/>
                  </a:lnTo>
                  <a:lnTo>
                    <a:pt x="82295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574705" y="3474719"/>
              <a:ext cx="91440" cy="274320"/>
            </a:xfrm>
            <a:custGeom>
              <a:avLst/>
              <a:gdLst/>
              <a:ahLst/>
              <a:cxnLst/>
              <a:rect l="l" t="t" r="r" b="b"/>
              <a:pathLst>
                <a:path w="91439" h="274320">
                  <a:moveTo>
                    <a:pt x="0" y="0"/>
                  </a:moveTo>
                  <a:lnTo>
                    <a:pt x="91440" y="0"/>
                  </a:lnTo>
                  <a:lnTo>
                    <a:pt x="91440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65759" y="3931919"/>
              <a:ext cx="6400800" cy="1097280"/>
            </a:xfrm>
            <a:custGeom>
              <a:avLst/>
              <a:gdLst/>
              <a:ahLst/>
              <a:cxnLst/>
              <a:rect l="l" t="t" r="r" b="b"/>
              <a:pathLst>
                <a:path w="6400800" h="1097279">
                  <a:moveTo>
                    <a:pt x="6400798" y="0"/>
                  </a:moveTo>
                  <a:lnTo>
                    <a:pt x="0" y="0"/>
                  </a:lnTo>
                  <a:lnTo>
                    <a:pt x="0" y="1097279"/>
                  </a:lnTo>
                  <a:lnTo>
                    <a:pt x="6400798" y="1097279"/>
                  </a:lnTo>
                  <a:lnTo>
                    <a:pt x="6400798" y="0"/>
                  </a:lnTo>
                  <a:close/>
                </a:path>
              </a:pathLst>
            </a:custGeom>
            <a:solidFill>
              <a:srgbClr val="95C8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54066" y="4021081"/>
              <a:ext cx="368935" cy="274320"/>
            </a:xfrm>
            <a:custGeom>
              <a:avLst/>
              <a:gdLst/>
              <a:ahLst/>
              <a:cxnLst/>
              <a:rect l="l" t="t" r="r" b="b"/>
              <a:pathLst>
                <a:path w="368934" h="274320">
                  <a:moveTo>
                    <a:pt x="0" y="0"/>
                  </a:moveTo>
                  <a:lnTo>
                    <a:pt x="368892" y="0"/>
                  </a:lnTo>
                  <a:lnTo>
                    <a:pt x="368892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914398" y="4021081"/>
              <a:ext cx="1282065" cy="274320"/>
            </a:xfrm>
            <a:custGeom>
              <a:avLst/>
              <a:gdLst/>
              <a:ahLst/>
              <a:cxnLst/>
              <a:rect l="l" t="t" r="r" b="b"/>
              <a:pathLst>
                <a:path w="1282064" h="274320">
                  <a:moveTo>
                    <a:pt x="0" y="0"/>
                  </a:moveTo>
                  <a:lnTo>
                    <a:pt x="1281868" y="0"/>
                  </a:lnTo>
                  <a:lnTo>
                    <a:pt x="1281868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188718" y="4341121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80" h="274320">
                  <a:moveTo>
                    <a:pt x="0" y="0"/>
                  </a:moveTo>
                  <a:lnTo>
                    <a:pt x="182880" y="0"/>
                  </a:lnTo>
                  <a:lnTo>
                    <a:pt x="182880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54066" y="4661161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79" h="274320">
                  <a:moveTo>
                    <a:pt x="0" y="0"/>
                  </a:moveTo>
                  <a:lnTo>
                    <a:pt x="182879" y="0"/>
                  </a:lnTo>
                  <a:lnTo>
                    <a:pt x="18287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197407" y="4341121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80" h="274320">
                  <a:moveTo>
                    <a:pt x="0" y="0"/>
                  </a:moveTo>
                  <a:lnTo>
                    <a:pt x="182879" y="0"/>
                  </a:lnTo>
                  <a:lnTo>
                    <a:pt x="18287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463038" y="4344824"/>
              <a:ext cx="637540" cy="274320"/>
            </a:xfrm>
            <a:custGeom>
              <a:avLst/>
              <a:gdLst/>
              <a:ahLst/>
              <a:cxnLst/>
              <a:rect l="l" t="t" r="r" b="b"/>
              <a:pathLst>
                <a:path w="637539" h="274320">
                  <a:moveTo>
                    <a:pt x="0" y="0"/>
                  </a:moveTo>
                  <a:lnTo>
                    <a:pt x="636946" y="0"/>
                  </a:lnTo>
                  <a:lnTo>
                    <a:pt x="636946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731519" y="4661161"/>
              <a:ext cx="1280160" cy="274320"/>
            </a:xfrm>
            <a:custGeom>
              <a:avLst/>
              <a:gdLst/>
              <a:ahLst/>
              <a:cxnLst/>
              <a:rect l="l" t="t" r="r" b="b"/>
              <a:pathLst>
                <a:path w="1280160" h="274320">
                  <a:moveTo>
                    <a:pt x="0" y="0"/>
                  </a:moveTo>
                  <a:lnTo>
                    <a:pt x="1280159" y="0"/>
                  </a:lnTo>
                  <a:lnTo>
                    <a:pt x="128015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099986" y="4661161"/>
              <a:ext cx="731520" cy="274320"/>
            </a:xfrm>
            <a:custGeom>
              <a:avLst/>
              <a:gdLst/>
              <a:ahLst/>
              <a:cxnLst/>
              <a:rect l="l" t="t" r="r" b="b"/>
              <a:pathLst>
                <a:path w="731519" h="274320">
                  <a:moveTo>
                    <a:pt x="0" y="0"/>
                  </a:moveTo>
                  <a:lnTo>
                    <a:pt x="731519" y="0"/>
                  </a:lnTo>
                  <a:lnTo>
                    <a:pt x="73151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2468879" y="4341121"/>
              <a:ext cx="820419" cy="274320"/>
            </a:xfrm>
            <a:custGeom>
              <a:avLst/>
              <a:gdLst/>
              <a:ahLst/>
              <a:cxnLst/>
              <a:rect l="l" t="t" r="r" b="b"/>
              <a:pathLst>
                <a:path w="820420" h="274320">
                  <a:moveTo>
                    <a:pt x="0" y="0"/>
                  </a:moveTo>
                  <a:lnTo>
                    <a:pt x="819826" y="0"/>
                  </a:lnTo>
                  <a:lnTo>
                    <a:pt x="819826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286001" y="4021081"/>
              <a:ext cx="365760" cy="274320"/>
            </a:xfrm>
            <a:custGeom>
              <a:avLst/>
              <a:gdLst/>
              <a:ahLst/>
              <a:cxnLst/>
              <a:rect l="l" t="t" r="r" b="b"/>
              <a:pathLst>
                <a:path w="365760" h="274320">
                  <a:moveTo>
                    <a:pt x="0" y="0"/>
                  </a:moveTo>
                  <a:lnTo>
                    <a:pt x="365759" y="0"/>
                  </a:lnTo>
                  <a:lnTo>
                    <a:pt x="36575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380146" y="4341121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79" h="274320">
                  <a:moveTo>
                    <a:pt x="0" y="0"/>
                  </a:moveTo>
                  <a:lnTo>
                    <a:pt x="182879" y="0"/>
                  </a:lnTo>
                  <a:lnTo>
                    <a:pt x="18287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2926080" y="4661161"/>
              <a:ext cx="1188720" cy="274320"/>
            </a:xfrm>
            <a:custGeom>
              <a:avLst/>
              <a:gdLst/>
              <a:ahLst/>
              <a:cxnLst/>
              <a:rect l="l" t="t" r="r" b="b"/>
              <a:pathLst>
                <a:path w="1188720" h="274320">
                  <a:moveTo>
                    <a:pt x="0" y="0"/>
                  </a:moveTo>
                  <a:lnTo>
                    <a:pt x="1188719" y="0"/>
                  </a:lnTo>
                  <a:lnTo>
                    <a:pt x="118871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657599" y="4341121"/>
              <a:ext cx="911860" cy="274320"/>
            </a:xfrm>
            <a:custGeom>
              <a:avLst/>
              <a:gdLst/>
              <a:ahLst/>
              <a:cxnLst/>
              <a:rect l="l" t="t" r="r" b="b"/>
              <a:pathLst>
                <a:path w="911860" h="274320">
                  <a:moveTo>
                    <a:pt x="0" y="0"/>
                  </a:moveTo>
                  <a:lnTo>
                    <a:pt x="911265" y="0"/>
                  </a:lnTo>
                  <a:lnTo>
                    <a:pt x="911265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477426" y="4021081"/>
              <a:ext cx="1283335" cy="274320"/>
            </a:xfrm>
            <a:custGeom>
              <a:avLst/>
              <a:gdLst/>
              <a:ahLst/>
              <a:cxnLst/>
              <a:rect l="l" t="t" r="r" b="b"/>
              <a:pathLst>
                <a:path w="1283335" h="274320">
                  <a:moveTo>
                    <a:pt x="0" y="0"/>
                  </a:moveTo>
                  <a:lnTo>
                    <a:pt x="1283292" y="0"/>
                  </a:lnTo>
                  <a:lnTo>
                    <a:pt x="1283292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5486398" y="4661161"/>
              <a:ext cx="1188720" cy="274320"/>
            </a:xfrm>
            <a:custGeom>
              <a:avLst/>
              <a:gdLst/>
              <a:ahLst/>
              <a:cxnLst/>
              <a:rect l="l" t="t" r="r" b="b"/>
              <a:pathLst>
                <a:path w="1188720" h="274320">
                  <a:moveTo>
                    <a:pt x="0" y="0"/>
                  </a:moveTo>
                  <a:lnTo>
                    <a:pt x="1188719" y="0"/>
                  </a:lnTo>
                  <a:lnTo>
                    <a:pt x="118871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5849024" y="4021081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59" h="274320">
                  <a:moveTo>
                    <a:pt x="0" y="0"/>
                  </a:moveTo>
                  <a:lnTo>
                    <a:pt x="822959" y="0"/>
                  </a:lnTo>
                  <a:lnTo>
                    <a:pt x="82295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669278" y="4341121"/>
              <a:ext cx="1003300" cy="274320"/>
            </a:xfrm>
            <a:custGeom>
              <a:avLst/>
              <a:gdLst/>
              <a:ahLst/>
              <a:cxnLst/>
              <a:rect l="l" t="t" r="r" b="b"/>
              <a:pathLst>
                <a:path w="1003300" h="274320">
                  <a:moveTo>
                    <a:pt x="0" y="0"/>
                  </a:moveTo>
                  <a:lnTo>
                    <a:pt x="1002706" y="0"/>
                  </a:lnTo>
                  <a:lnTo>
                    <a:pt x="1002706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4663438" y="4341121"/>
              <a:ext cx="911860" cy="274320"/>
            </a:xfrm>
            <a:custGeom>
              <a:avLst/>
              <a:gdLst/>
              <a:ahLst/>
              <a:cxnLst/>
              <a:rect l="l" t="t" r="r" b="b"/>
              <a:pathLst>
                <a:path w="911860" h="274320">
                  <a:moveTo>
                    <a:pt x="0" y="0"/>
                  </a:moveTo>
                  <a:lnTo>
                    <a:pt x="911266" y="0"/>
                  </a:lnTo>
                  <a:lnTo>
                    <a:pt x="911266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563026" y="4020511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60" h="274320">
                  <a:moveTo>
                    <a:pt x="0" y="0"/>
                  </a:moveTo>
                  <a:lnTo>
                    <a:pt x="822959" y="0"/>
                  </a:lnTo>
                  <a:lnTo>
                    <a:pt x="82295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2743200" y="4021081"/>
            <a:ext cx="731520" cy="274320"/>
          </a:xfrm>
          <a:prstGeom prst="rect">
            <a:avLst/>
          </a:prstGeom>
          <a:solidFill>
            <a:srgbClr val="95C877"/>
          </a:solidFill>
          <a:ln w="28574">
            <a:solidFill>
              <a:srgbClr val="E55C5E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199390">
              <a:lnSpc>
                <a:spcPct val="100000"/>
              </a:lnSpc>
              <a:spcBef>
                <a:spcPts val="240"/>
              </a:spcBef>
            </a:pPr>
            <a:r>
              <a:rPr sz="1400" b="1" spc="-25" dirty="0">
                <a:solidFill>
                  <a:srgbClr val="FFFFFF"/>
                </a:solidFill>
                <a:latin typeface="Verdana"/>
                <a:cs typeface="Verdana"/>
              </a:rPr>
              <a:t>ssh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454065" y="4341121"/>
            <a:ext cx="643255" cy="274320"/>
          </a:xfrm>
          <a:custGeom>
            <a:avLst/>
            <a:gdLst/>
            <a:ahLst/>
            <a:cxnLst/>
            <a:rect l="l" t="t" r="r" b="b"/>
            <a:pathLst>
              <a:path w="643255" h="274320">
                <a:moveTo>
                  <a:pt x="0" y="0"/>
                </a:moveTo>
                <a:lnTo>
                  <a:pt x="643212" y="0"/>
                </a:lnTo>
                <a:lnTo>
                  <a:pt x="643212" y="274319"/>
                </a:lnTo>
                <a:lnTo>
                  <a:pt x="0" y="274319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E55C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365759" y="3931920"/>
            <a:ext cx="6400800" cy="1097280"/>
          </a:xfrm>
          <a:prstGeom prst="rect">
            <a:avLst/>
          </a:prstGeom>
          <a:ln w="25399">
            <a:solidFill>
              <a:srgbClr val="CCE4B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400">
              <a:latin typeface="Times New Roman"/>
              <a:cs typeface="Times New Roman"/>
            </a:endParaRPr>
          </a:p>
          <a:p>
            <a:pPr marL="248285">
              <a:lnSpc>
                <a:spcPct val="100000"/>
              </a:lnSpc>
            </a:pPr>
            <a:r>
              <a:rPr sz="1400" b="1" spc="-20" dirty="0">
                <a:solidFill>
                  <a:srgbClr val="FFFFFF"/>
                </a:solidFill>
                <a:latin typeface="Verdana"/>
                <a:cs typeface="Verdana"/>
              </a:rPr>
              <a:t>init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351472" y="4651636"/>
            <a:ext cx="6429375" cy="1581150"/>
            <a:chOff x="351472" y="4651636"/>
            <a:chExt cx="6429375" cy="1581150"/>
          </a:xfrm>
        </p:grpSpPr>
        <p:sp>
          <p:nvSpPr>
            <p:cNvPr id="100" name="object 100"/>
            <p:cNvSpPr/>
            <p:nvPr/>
          </p:nvSpPr>
          <p:spPr>
            <a:xfrm>
              <a:off x="4206239" y="4661161"/>
              <a:ext cx="1188720" cy="274320"/>
            </a:xfrm>
            <a:custGeom>
              <a:avLst/>
              <a:gdLst/>
              <a:ahLst/>
              <a:cxnLst/>
              <a:rect l="l" t="t" r="r" b="b"/>
              <a:pathLst>
                <a:path w="1188720" h="274320">
                  <a:moveTo>
                    <a:pt x="0" y="0"/>
                  </a:moveTo>
                  <a:lnTo>
                    <a:pt x="1188719" y="0"/>
                  </a:lnTo>
                  <a:lnTo>
                    <a:pt x="118871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65759" y="5120640"/>
              <a:ext cx="6400800" cy="1097280"/>
            </a:xfrm>
            <a:custGeom>
              <a:avLst/>
              <a:gdLst/>
              <a:ahLst/>
              <a:cxnLst/>
              <a:rect l="l" t="t" r="r" b="b"/>
              <a:pathLst>
                <a:path w="6400800" h="1097279">
                  <a:moveTo>
                    <a:pt x="6400798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6400798" y="1097280"/>
                  </a:lnTo>
                  <a:lnTo>
                    <a:pt x="6400798" y="0"/>
                  </a:lnTo>
                  <a:close/>
                </a:path>
              </a:pathLst>
            </a:custGeom>
            <a:solidFill>
              <a:srgbClr val="3CA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365759" y="5120640"/>
              <a:ext cx="6400800" cy="1097280"/>
            </a:xfrm>
            <a:custGeom>
              <a:avLst/>
              <a:gdLst/>
              <a:ahLst/>
              <a:cxnLst/>
              <a:rect l="l" t="t" r="r" b="b"/>
              <a:pathLst>
                <a:path w="6400800" h="1097279">
                  <a:moveTo>
                    <a:pt x="0" y="0"/>
                  </a:moveTo>
                  <a:lnTo>
                    <a:pt x="6400798" y="0"/>
                  </a:lnTo>
                  <a:lnTo>
                    <a:pt x="6400798" y="1097279"/>
                  </a:lnTo>
                  <a:lnTo>
                    <a:pt x="0" y="109727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A7D1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454817" y="5216066"/>
              <a:ext cx="182245" cy="274320"/>
            </a:xfrm>
            <a:custGeom>
              <a:avLst/>
              <a:gdLst/>
              <a:ahLst/>
              <a:cxnLst/>
              <a:rect l="l" t="t" r="r" b="b"/>
              <a:pathLst>
                <a:path w="182245" h="274320">
                  <a:moveTo>
                    <a:pt x="0" y="0"/>
                  </a:moveTo>
                  <a:lnTo>
                    <a:pt x="182128" y="0"/>
                  </a:lnTo>
                  <a:lnTo>
                    <a:pt x="182128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31520" y="5216066"/>
              <a:ext cx="1371600" cy="274320"/>
            </a:xfrm>
            <a:custGeom>
              <a:avLst/>
              <a:gdLst/>
              <a:ahLst/>
              <a:cxnLst/>
              <a:rect l="l" t="t" r="r" b="b"/>
              <a:pathLst>
                <a:path w="1371600" h="274320">
                  <a:moveTo>
                    <a:pt x="0" y="0"/>
                  </a:moveTo>
                  <a:lnTo>
                    <a:pt x="1371599" y="0"/>
                  </a:lnTo>
                  <a:lnTo>
                    <a:pt x="137159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54817" y="5856147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79" h="274320">
                  <a:moveTo>
                    <a:pt x="0" y="0"/>
                  </a:moveTo>
                  <a:lnTo>
                    <a:pt x="182879" y="0"/>
                  </a:lnTo>
                  <a:lnTo>
                    <a:pt x="18287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2198157" y="5532120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80" h="274320">
                  <a:moveTo>
                    <a:pt x="0" y="0"/>
                  </a:moveTo>
                  <a:lnTo>
                    <a:pt x="182879" y="0"/>
                  </a:lnTo>
                  <a:lnTo>
                    <a:pt x="18287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188719" y="5532120"/>
              <a:ext cx="912494" cy="274320"/>
            </a:xfrm>
            <a:custGeom>
              <a:avLst/>
              <a:gdLst/>
              <a:ahLst/>
              <a:cxnLst/>
              <a:rect l="l" t="t" r="r" b="b"/>
              <a:pathLst>
                <a:path w="912494" h="274320">
                  <a:moveTo>
                    <a:pt x="0" y="0"/>
                  </a:moveTo>
                  <a:lnTo>
                    <a:pt x="912017" y="0"/>
                  </a:lnTo>
                  <a:lnTo>
                    <a:pt x="912017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32270" y="5856147"/>
              <a:ext cx="640080" cy="274320"/>
            </a:xfrm>
            <a:custGeom>
              <a:avLst/>
              <a:gdLst/>
              <a:ahLst/>
              <a:cxnLst/>
              <a:rect l="l" t="t" r="r" b="b"/>
              <a:pathLst>
                <a:path w="640080" h="274320">
                  <a:moveTo>
                    <a:pt x="0" y="0"/>
                  </a:moveTo>
                  <a:lnTo>
                    <a:pt x="640079" y="0"/>
                  </a:lnTo>
                  <a:lnTo>
                    <a:pt x="64007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2100737" y="5856147"/>
              <a:ext cx="731520" cy="274320"/>
            </a:xfrm>
            <a:custGeom>
              <a:avLst/>
              <a:gdLst/>
              <a:ahLst/>
              <a:cxnLst/>
              <a:rect l="l" t="t" r="r" b="b"/>
              <a:pathLst>
                <a:path w="731519" h="274320">
                  <a:moveTo>
                    <a:pt x="0" y="0"/>
                  </a:moveTo>
                  <a:lnTo>
                    <a:pt x="731519" y="0"/>
                  </a:lnTo>
                  <a:lnTo>
                    <a:pt x="73151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2469630" y="5532120"/>
              <a:ext cx="820419" cy="274320"/>
            </a:xfrm>
            <a:custGeom>
              <a:avLst/>
              <a:gdLst/>
              <a:ahLst/>
              <a:cxnLst/>
              <a:rect l="l" t="t" r="r" b="b"/>
              <a:pathLst>
                <a:path w="820420" h="274320">
                  <a:moveTo>
                    <a:pt x="0" y="0"/>
                  </a:moveTo>
                  <a:lnTo>
                    <a:pt x="819826" y="0"/>
                  </a:lnTo>
                  <a:lnTo>
                    <a:pt x="819826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2194559" y="5216066"/>
              <a:ext cx="365760" cy="274320"/>
            </a:xfrm>
            <a:custGeom>
              <a:avLst/>
              <a:gdLst/>
              <a:ahLst/>
              <a:cxnLst/>
              <a:rect l="l" t="t" r="r" b="b"/>
              <a:pathLst>
                <a:path w="365760" h="274320">
                  <a:moveTo>
                    <a:pt x="0" y="0"/>
                  </a:moveTo>
                  <a:lnTo>
                    <a:pt x="365759" y="0"/>
                  </a:lnTo>
                  <a:lnTo>
                    <a:pt x="36575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380897" y="5532120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79" h="274320">
                  <a:moveTo>
                    <a:pt x="0" y="0"/>
                  </a:moveTo>
                  <a:lnTo>
                    <a:pt x="182879" y="0"/>
                  </a:lnTo>
                  <a:lnTo>
                    <a:pt x="18287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55C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2926830" y="5856147"/>
              <a:ext cx="639445" cy="274320"/>
            </a:xfrm>
            <a:custGeom>
              <a:avLst/>
              <a:gdLst/>
              <a:ahLst/>
              <a:cxnLst/>
              <a:rect l="l" t="t" r="r" b="b"/>
              <a:pathLst>
                <a:path w="639445" h="274320">
                  <a:moveTo>
                    <a:pt x="0" y="0"/>
                  </a:moveTo>
                  <a:lnTo>
                    <a:pt x="639328" y="0"/>
                  </a:lnTo>
                  <a:lnTo>
                    <a:pt x="639328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658350" y="5532120"/>
              <a:ext cx="182245" cy="274320"/>
            </a:xfrm>
            <a:custGeom>
              <a:avLst/>
              <a:gdLst/>
              <a:ahLst/>
              <a:cxnLst/>
              <a:rect l="l" t="t" r="r" b="b"/>
              <a:pathLst>
                <a:path w="182245" h="274320">
                  <a:moveTo>
                    <a:pt x="0" y="0"/>
                  </a:moveTo>
                  <a:lnTo>
                    <a:pt x="182128" y="0"/>
                  </a:lnTo>
                  <a:lnTo>
                    <a:pt x="182128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55C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4478178" y="5216066"/>
              <a:ext cx="1096645" cy="274320"/>
            </a:xfrm>
            <a:custGeom>
              <a:avLst/>
              <a:gdLst/>
              <a:ahLst/>
              <a:cxnLst/>
              <a:rect l="l" t="t" r="r" b="b"/>
              <a:pathLst>
                <a:path w="1096645" h="274320">
                  <a:moveTo>
                    <a:pt x="0" y="0"/>
                  </a:moveTo>
                  <a:lnTo>
                    <a:pt x="1096527" y="0"/>
                  </a:lnTo>
                  <a:lnTo>
                    <a:pt x="1096527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55C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5670030" y="5856147"/>
              <a:ext cx="1005840" cy="274320"/>
            </a:xfrm>
            <a:custGeom>
              <a:avLst/>
              <a:gdLst/>
              <a:ahLst/>
              <a:cxnLst/>
              <a:rect l="l" t="t" r="r" b="b"/>
              <a:pathLst>
                <a:path w="1005840" h="274320">
                  <a:moveTo>
                    <a:pt x="0" y="0"/>
                  </a:moveTo>
                  <a:lnTo>
                    <a:pt x="1005839" y="0"/>
                  </a:lnTo>
                  <a:lnTo>
                    <a:pt x="100583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5666145" y="5216066"/>
              <a:ext cx="1007110" cy="274320"/>
            </a:xfrm>
            <a:custGeom>
              <a:avLst/>
              <a:gdLst/>
              <a:ahLst/>
              <a:cxnLst/>
              <a:rect l="l" t="t" r="r" b="b"/>
              <a:pathLst>
                <a:path w="1007109" h="274320">
                  <a:moveTo>
                    <a:pt x="0" y="0"/>
                  </a:moveTo>
                  <a:lnTo>
                    <a:pt x="1006589" y="0"/>
                  </a:lnTo>
                  <a:lnTo>
                    <a:pt x="100658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55C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5670030" y="5532120"/>
              <a:ext cx="1003300" cy="274320"/>
            </a:xfrm>
            <a:custGeom>
              <a:avLst/>
              <a:gdLst/>
              <a:ahLst/>
              <a:cxnLst/>
              <a:rect l="l" t="t" r="r" b="b"/>
              <a:pathLst>
                <a:path w="1003300" h="274320">
                  <a:moveTo>
                    <a:pt x="0" y="0"/>
                  </a:moveTo>
                  <a:lnTo>
                    <a:pt x="1002706" y="0"/>
                  </a:lnTo>
                  <a:lnTo>
                    <a:pt x="1002706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55C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3931918" y="5532120"/>
              <a:ext cx="184150" cy="274320"/>
            </a:xfrm>
            <a:custGeom>
              <a:avLst/>
              <a:gdLst/>
              <a:ahLst/>
              <a:cxnLst/>
              <a:rect l="l" t="t" r="r" b="b"/>
              <a:pathLst>
                <a:path w="184150" h="274320">
                  <a:moveTo>
                    <a:pt x="0" y="0"/>
                  </a:moveTo>
                  <a:lnTo>
                    <a:pt x="183631" y="0"/>
                  </a:lnTo>
                  <a:lnTo>
                    <a:pt x="183631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3563777" y="5215497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60" h="274320">
                  <a:moveTo>
                    <a:pt x="0" y="0"/>
                  </a:moveTo>
                  <a:lnTo>
                    <a:pt x="822959" y="0"/>
                  </a:lnTo>
                  <a:lnTo>
                    <a:pt x="82295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2651759" y="5216066"/>
              <a:ext cx="457200" cy="274320"/>
            </a:xfrm>
            <a:custGeom>
              <a:avLst/>
              <a:gdLst/>
              <a:ahLst/>
              <a:cxnLst/>
              <a:rect l="l" t="t" r="r" b="b"/>
              <a:pathLst>
                <a:path w="457200" h="274320">
                  <a:moveTo>
                    <a:pt x="0" y="0"/>
                  </a:moveTo>
                  <a:lnTo>
                    <a:pt x="457199" y="0"/>
                  </a:lnTo>
                  <a:lnTo>
                    <a:pt x="45719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454816" y="5532120"/>
              <a:ext cx="643255" cy="274320"/>
            </a:xfrm>
            <a:custGeom>
              <a:avLst/>
              <a:gdLst/>
              <a:ahLst/>
              <a:cxnLst/>
              <a:rect l="l" t="t" r="r" b="b"/>
              <a:pathLst>
                <a:path w="643255" h="274320">
                  <a:moveTo>
                    <a:pt x="0" y="0"/>
                  </a:moveTo>
                  <a:lnTo>
                    <a:pt x="643212" y="0"/>
                  </a:lnTo>
                  <a:lnTo>
                    <a:pt x="643212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4115550" y="5856147"/>
              <a:ext cx="1188085" cy="274320"/>
            </a:xfrm>
            <a:custGeom>
              <a:avLst/>
              <a:gdLst/>
              <a:ahLst/>
              <a:cxnLst/>
              <a:rect l="l" t="t" r="r" b="b"/>
              <a:pathLst>
                <a:path w="1188085" h="274320">
                  <a:moveTo>
                    <a:pt x="0" y="0"/>
                  </a:moveTo>
                  <a:lnTo>
                    <a:pt x="1187968" y="0"/>
                  </a:lnTo>
                  <a:lnTo>
                    <a:pt x="1187968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4206990" y="5532120"/>
              <a:ext cx="184150" cy="274320"/>
            </a:xfrm>
            <a:custGeom>
              <a:avLst/>
              <a:gdLst/>
              <a:ahLst/>
              <a:cxnLst/>
              <a:rect l="l" t="t" r="r" b="b"/>
              <a:pathLst>
                <a:path w="184150" h="274320">
                  <a:moveTo>
                    <a:pt x="0" y="0"/>
                  </a:moveTo>
                  <a:lnTo>
                    <a:pt x="183631" y="0"/>
                  </a:lnTo>
                  <a:lnTo>
                    <a:pt x="183631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4754128" y="5532120"/>
              <a:ext cx="184150" cy="274320"/>
            </a:xfrm>
            <a:custGeom>
              <a:avLst/>
              <a:gdLst/>
              <a:ahLst/>
              <a:cxnLst/>
              <a:rect l="l" t="t" r="r" b="b"/>
              <a:pathLst>
                <a:path w="184150" h="274320">
                  <a:moveTo>
                    <a:pt x="0" y="0"/>
                  </a:moveTo>
                  <a:lnTo>
                    <a:pt x="183631" y="0"/>
                  </a:lnTo>
                  <a:lnTo>
                    <a:pt x="183631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4480559" y="5532120"/>
              <a:ext cx="184150" cy="274320"/>
            </a:xfrm>
            <a:custGeom>
              <a:avLst/>
              <a:gdLst/>
              <a:ahLst/>
              <a:cxnLst/>
              <a:rect l="l" t="t" r="r" b="b"/>
              <a:pathLst>
                <a:path w="184150" h="274320">
                  <a:moveTo>
                    <a:pt x="0" y="0"/>
                  </a:moveTo>
                  <a:lnTo>
                    <a:pt x="183631" y="0"/>
                  </a:lnTo>
                  <a:lnTo>
                    <a:pt x="183631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5026442" y="5532120"/>
              <a:ext cx="551815" cy="274320"/>
            </a:xfrm>
            <a:custGeom>
              <a:avLst/>
              <a:gdLst/>
              <a:ahLst/>
              <a:cxnLst/>
              <a:rect l="l" t="t" r="r" b="b"/>
              <a:pathLst>
                <a:path w="551814" h="274320">
                  <a:moveTo>
                    <a:pt x="0" y="0"/>
                  </a:moveTo>
                  <a:lnTo>
                    <a:pt x="551396" y="0"/>
                  </a:lnTo>
                  <a:lnTo>
                    <a:pt x="551396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3200399" y="5212080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1459905" y="5856147"/>
              <a:ext cx="548640" cy="274320"/>
            </a:xfrm>
            <a:custGeom>
              <a:avLst/>
              <a:gdLst/>
              <a:ahLst/>
              <a:cxnLst/>
              <a:rect l="l" t="t" r="r" b="b"/>
              <a:pathLst>
                <a:path w="548639" h="274320">
                  <a:moveTo>
                    <a:pt x="0" y="0"/>
                  </a:moveTo>
                  <a:lnTo>
                    <a:pt x="548639" y="0"/>
                  </a:lnTo>
                  <a:lnTo>
                    <a:pt x="54863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5394959" y="5856147"/>
              <a:ext cx="184150" cy="274320"/>
            </a:xfrm>
            <a:custGeom>
              <a:avLst/>
              <a:gdLst/>
              <a:ahLst/>
              <a:cxnLst/>
              <a:rect l="l" t="t" r="r" b="b"/>
              <a:pathLst>
                <a:path w="184150" h="274320">
                  <a:moveTo>
                    <a:pt x="0" y="0"/>
                  </a:moveTo>
                  <a:lnTo>
                    <a:pt x="183631" y="0"/>
                  </a:lnTo>
                  <a:lnTo>
                    <a:pt x="183631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3657599" y="5856147"/>
              <a:ext cx="182245" cy="274320"/>
            </a:xfrm>
            <a:custGeom>
              <a:avLst/>
              <a:gdLst/>
              <a:ahLst/>
              <a:cxnLst/>
              <a:rect l="l" t="t" r="r" b="b"/>
              <a:pathLst>
                <a:path w="182245" h="274320">
                  <a:moveTo>
                    <a:pt x="0" y="0"/>
                  </a:moveTo>
                  <a:lnTo>
                    <a:pt x="182128" y="0"/>
                  </a:lnTo>
                  <a:lnTo>
                    <a:pt x="182128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3931918" y="5852160"/>
              <a:ext cx="91440" cy="274320"/>
            </a:xfrm>
            <a:custGeom>
              <a:avLst/>
              <a:gdLst/>
              <a:ahLst/>
              <a:cxnLst/>
              <a:rect l="l" t="t" r="r" b="b"/>
              <a:pathLst>
                <a:path w="91439" h="274320">
                  <a:moveTo>
                    <a:pt x="0" y="0"/>
                  </a:moveTo>
                  <a:lnTo>
                    <a:pt x="91440" y="0"/>
                  </a:lnTo>
                  <a:lnTo>
                    <a:pt x="91440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55C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3" name="object 133"/>
          <p:cNvSpPr txBox="1"/>
          <p:nvPr/>
        </p:nvSpPr>
        <p:spPr>
          <a:xfrm>
            <a:off x="4794134" y="5232891"/>
            <a:ext cx="470534" cy="2419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FFFFFF"/>
                </a:solidFill>
                <a:latin typeface="Verdana"/>
                <a:cs typeface="Verdana"/>
              </a:rPr>
              <a:t>ext4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5750388" y="5232891"/>
            <a:ext cx="845819" cy="5581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netfront</a:t>
            </a:r>
            <a:endParaRPr sz="1400">
              <a:latin typeface="Verdana"/>
              <a:cs typeface="Verdana"/>
            </a:endParaRPr>
          </a:p>
          <a:p>
            <a:pPr marL="24765">
              <a:lnSpc>
                <a:spcPct val="100000"/>
              </a:lnSpc>
              <a:spcBef>
                <a:spcPts val="810"/>
              </a:spcBef>
            </a:pP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blkfront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7754618" y="5558408"/>
            <a:ext cx="504190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b="1" spc="-10" dirty="0">
                <a:solidFill>
                  <a:srgbClr val="318BFF"/>
                </a:solidFill>
                <a:latin typeface="Calibri"/>
                <a:cs typeface="Calibri"/>
              </a:rPr>
              <a:t>Kernel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1750" y="193145"/>
            <a:ext cx="6766559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Tinyx:</a:t>
            </a:r>
            <a:r>
              <a:rPr sz="4000" spc="-35" dirty="0"/>
              <a:t> </a:t>
            </a:r>
            <a:r>
              <a:rPr sz="4000" dirty="0"/>
              <a:t>Keep</a:t>
            </a:r>
            <a:r>
              <a:rPr sz="4000" spc="-35" dirty="0"/>
              <a:t> </a:t>
            </a:r>
            <a:r>
              <a:rPr sz="4000" dirty="0"/>
              <a:t>Only</a:t>
            </a:r>
            <a:r>
              <a:rPr sz="4000" spc="-30" dirty="0"/>
              <a:t> </a:t>
            </a:r>
            <a:r>
              <a:rPr sz="4000" dirty="0"/>
              <a:t>What’s</a:t>
            </a:r>
            <a:r>
              <a:rPr sz="4000" spc="-35" dirty="0"/>
              <a:t> </a:t>
            </a:r>
            <a:r>
              <a:rPr sz="4000" spc="-10" dirty="0"/>
              <a:t>Needed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216130" y="872836"/>
            <a:ext cx="6700520" cy="5515610"/>
            <a:chOff x="216130" y="872836"/>
            <a:chExt cx="6700520" cy="55156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130" y="872836"/>
              <a:ext cx="6700057" cy="55154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74320" y="914401"/>
              <a:ext cx="6583680" cy="5394960"/>
            </a:xfrm>
            <a:custGeom>
              <a:avLst/>
              <a:gdLst/>
              <a:ahLst/>
              <a:cxnLst/>
              <a:rect l="l" t="t" r="r" b="b"/>
              <a:pathLst>
                <a:path w="6583680" h="5394960">
                  <a:moveTo>
                    <a:pt x="6583678" y="0"/>
                  </a:moveTo>
                  <a:lnTo>
                    <a:pt x="0" y="0"/>
                  </a:lnTo>
                  <a:lnTo>
                    <a:pt x="0" y="5394958"/>
                  </a:lnTo>
                  <a:lnTo>
                    <a:pt x="6583678" y="5394958"/>
                  </a:lnTo>
                  <a:lnTo>
                    <a:pt x="65836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320" y="914401"/>
              <a:ext cx="6583680" cy="5394960"/>
            </a:xfrm>
            <a:custGeom>
              <a:avLst/>
              <a:gdLst/>
              <a:ahLst/>
              <a:cxnLst/>
              <a:rect l="l" t="t" r="r" b="b"/>
              <a:pathLst>
                <a:path w="6583680" h="5394960">
                  <a:moveTo>
                    <a:pt x="0" y="0"/>
                  </a:moveTo>
                  <a:lnTo>
                    <a:pt x="6583678" y="0"/>
                  </a:lnTo>
                  <a:lnTo>
                    <a:pt x="6583678" y="5394958"/>
                  </a:lnTo>
                  <a:lnTo>
                    <a:pt x="0" y="5394958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68137" y="976745"/>
              <a:ext cx="1596043" cy="59020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08959" y="1051560"/>
              <a:ext cx="918556" cy="44473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834639" y="1005840"/>
            <a:ext cx="1463040" cy="457200"/>
          </a:xfrm>
          <a:prstGeom prst="rect">
            <a:avLst/>
          </a:prstGeom>
          <a:solidFill>
            <a:srgbClr val="E55C5E"/>
          </a:solidFill>
          <a:ln w="19049">
            <a:solidFill>
              <a:srgbClr val="6C6C6C"/>
            </a:solidFill>
          </a:ln>
        </p:spPr>
        <p:txBody>
          <a:bodyPr vert="horz" wrap="square" lIns="0" tIns="91440" rIns="0" bIns="0" rtlCol="0">
            <a:spAutoFit/>
          </a:bodyPr>
          <a:lstStyle/>
          <a:p>
            <a:pPr marL="360680">
              <a:lnSpc>
                <a:spcPct val="100000"/>
              </a:lnSpc>
              <a:spcBef>
                <a:spcPts val="720"/>
              </a:spcBef>
            </a:pPr>
            <a:r>
              <a:rPr sz="1800" b="1" spc="-10" dirty="0">
                <a:solidFill>
                  <a:srgbClr val="FFFFFF"/>
                </a:solidFill>
                <a:latin typeface="Verdana"/>
                <a:cs typeface="Verdana"/>
              </a:rPr>
              <a:t>Nginx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78418" y="4361179"/>
            <a:ext cx="6248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85BF64"/>
                </a:solidFill>
                <a:latin typeface="Calibri"/>
                <a:cs typeface="Calibri"/>
              </a:rPr>
              <a:t>Services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65718" y="3172459"/>
            <a:ext cx="657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85BF64"/>
                </a:solidFill>
                <a:latin typeface="Calibri"/>
                <a:cs typeface="Calibri"/>
              </a:rPr>
              <a:t>Libraries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79621" y="1115059"/>
            <a:ext cx="124904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DC444C"/>
                </a:solidFill>
                <a:latin typeface="Calibri"/>
                <a:cs typeface="Calibri"/>
              </a:rPr>
              <a:t>User</a:t>
            </a:r>
            <a:r>
              <a:rPr sz="1400" b="1" spc="-15" dirty="0">
                <a:solidFill>
                  <a:srgbClr val="DC444C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DC444C"/>
                </a:solidFill>
                <a:latin typeface="Calibri"/>
                <a:cs typeface="Calibri"/>
              </a:rPr>
              <a:t>Applica</a:t>
            </a:r>
            <a:r>
              <a:rPr lang="en-US" sz="1400" b="1" spc="-10" dirty="0">
                <a:solidFill>
                  <a:srgbClr val="DC444C"/>
                </a:solidFill>
                <a:latin typeface="Calibri"/>
                <a:cs typeface="Calibri"/>
              </a:rPr>
              <a:t>ti</a:t>
            </a:r>
            <a:r>
              <a:rPr sz="1400" b="1" spc="-10" dirty="0">
                <a:solidFill>
                  <a:srgbClr val="DC444C"/>
                </a:solidFill>
                <a:latin typeface="Calibri"/>
                <a:cs typeface="Calibri"/>
              </a:rPr>
              <a:t>on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3059" y="1541781"/>
            <a:ext cx="6426200" cy="1122680"/>
            <a:chOff x="353059" y="1541781"/>
            <a:chExt cx="6426200" cy="1122680"/>
          </a:xfrm>
        </p:grpSpPr>
        <p:sp>
          <p:nvSpPr>
            <p:cNvPr id="14" name="object 14"/>
            <p:cNvSpPr/>
            <p:nvPr/>
          </p:nvSpPr>
          <p:spPr>
            <a:xfrm>
              <a:off x="365759" y="1554481"/>
              <a:ext cx="6400800" cy="1097280"/>
            </a:xfrm>
            <a:custGeom>
              <a:avLst/>
              <a:gdLst/>
              <a:ahLst/>
              <a:cxnLst/>
              <a:rect l="l" t="t" r="r" b="b"/>
              <a:pathLst>
                <a:path w="6400800" h="1097280">
                  <a:moveTo>
                    <a:pt x="6400798" y="0"/>
                  </a:moveTo>
                  <a:lnTo>
                    <a:pt x="0" y="0"/>
                  </a:lnTo>
                  <a:lnTo>
                    <a:pt x="0" y="1097278"/>
                  </a:lnTo>
                  <a:lnTo>
                    <a:pt x="6400798" y="1097278"/>
                  </a:lnTo>
                  <a:lnTo>
                    <a:pt x="6400798" y="0"/>
                  </a:lnTo>
                  <a:close/>
                </a:path>
              </a:pathLst>
            </a:custGeom>
            <a:solidFill>
              <a:srgbClr val="95C8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5759" y="1554481"/>
              <a:ext cx="6400800" cy="1097280"/>
            </a:xfrm>
            <a:custGeom>
              <a:avLst/>
              <a:gdLst/>
              <a:ahLst/>
              <a:cxnLst/>
              <a:rect l="l" t="t" r="r" b="b"/>
              <a:pathLst>
                <a:path w="6400800" h="1097280">
                  <a:moveTo>
                    <a:pt x="0" y="0"/>
                  </a:moveTo>
                  <a:lnTo>
                    <a:pt x="6400798" y="0"/>
                  </a:lnTo>
                  <a:lnTo>
                    <a:pt x="6400798" y="1097279"/>
                  </a:lnTo>
                  <a:lnTo>
                    <a:pt x="0" y="109727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CCE4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554479" y="1965959"/>
            <a:ext cx="914400" cy="274320"/>
          </a:xfrm>
          <a:prstGeom prst="rect">
            <a:avLst/>
          </a:prstGeom>
          <a:solidFill>
            <a:srgbClr val="95C877"/>
          </a:solidFill>
          <a:ln w="19049">
            <a:solidFill>
              <a:srgbClr val="6C6C6C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34290">
              <a:lnSpc>
                <a:spcPct val="100000"/>
              </a:lnSpc>
              <a:spcBef>
                <a:spcPts val="480"/>
              </a:spcBef>
            </a:pPr>
            <a:r>
              <a:rPr sz="1000" b="1" spc="-10" dirty="0">
                <a:solidFill>
                  <a:srgbClr val="FFFFFF"/>
                </a:solidFill>
                <a:latin typeface="Verdana"/>
                <a:cs typeface="Verdana"/>
              </a:rPr>
              <a:t>memcached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53059" y="1956434"/>
            <a:ext cx="6426200" cy="1896745"/>
            <a:chOff x="353059" y="1956434"/>
            <a:chExt cx="6426200" cy="1896745"/>
          </a:xfrm>
        </p:grpSpPr>
        <p:sp>
          <p:nvSpPr>
            <p:cNvPr id="18" name="object 18"/>
            <p:cNvSpPr/>
            <p:nvPr/>
          </p:nvSpPr>
          <p:spPr>
            <a:xfrm>
              <a:off x="3657599" y="1965959"/>
              <a:ext cx="91440" cy="274320"/>
            </a:xfrm>
            <a:custGeom>
              <a:avLst/>
              <a:gdLst/>
              <a:ahLst/>
              <a:cxnLst/>
              <a:rect l="l" t="t" r="r" b="b"/>
              <a:pathLst>
                <a:path w="91439" h="274319">
                  <a:moveTo>
                    <a:pt x="0" y="0"/>
                  </a:moveTo>
                  <a:lnTo>
                    <a:pt x="91440" y="0"/>
                  </a:lnTo>
                  <a:lnTo>
                    <a:pt x="9144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5759" y="2743200"/>
              <a:ext cx="6400800" cy="1097280"/>
            </a:xfrm>
            <a:custGeom>
              <a:avLst/>
              <a:gdLst/>
              <a:ahLst/>
              <a:cxnLst/>
              <a:rect l="l" t="t" r="r" b="b"/>
              <a:pathLst>
                <a:path w="6400800" h="1097279">
                  <a:moveTo>
                    <a:pt x="6400798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6400798" y="1097280"/>
                  </a:lnTo>
                  <a:lnTo>
                    <a:pt x="6400798" y="0"/>
                  </a:lnTo>
                  <a:close/>
                </a:path>
              </a:pathLst>
            </a:custGeom>
            <a:solidFill>
              <a:srgbClr val="95C8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5759" y="2743200"/>
              <a:ext cx="6400800" cy="1097280"/>
            </a:xfrm>
            <a:custGeom>
              <a:avLst/>
              <a:gdLst/>
              <a:ahLst/>
              <a:cxnLst/>
              <a:rect l="l" t="t" r="r" b="b"/>
              <a:pathLst>
                <a:path w="6400800" h="1097279">
                  <a:moveTo>
                    <a:pt x="0" y="0"/>
                  </a:moveTo>
                  <a:lnTo>
                    <a:pt x="6400798" y="0"/>
                  </a:lnTo>
                  <a:lnTo>
                    <a:pt x="6400798" y="1097279"/>
                  </a:lnTo>
                  <a:lnTo>
                    <a:pt x="0" y="109727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CCE4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85999" y="3154679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80" h="274320">
                  <a:moveTo>
                    <a:pt x="0" y="0"/>
                  </a:moveTo>
                  <a:lnTo>
                    <a:pt x="182879" y="0"/>
                  </a:lnTo>
                  <a:lnTo>
                    <a:pt x="182879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937759" y="1965959"/>
            <a:ext cx="640080" cy="274320"/>
          </a:xfrm>
          <a:prstGeom prst="rect">
            <a:avLst/>
          </a:prstGeom>
          <a:solidFill>
            <a:srgbClr val="95C877"/>
          </a:solidFill>
          <a:ln w="19049">
            <a:solidFill>
              <a:srgbClr val="6C6C6C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240"/>
              </a:spcBef>
            </a:pPr>
            <a:r>
              <a:rPr sz="1400" b="1" spc="-20" dirty="0">
                <a:solidFill>
                  <a:srgbClr val="FFFFFF"/>
                </a:solidFill>
                <a:latin typeface="Verdana"/>
                <a:cs typeface="Verdana"/>
              </a:rPr>
              <a:t>bash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77251" y="1983740"/>
            <a:ext cx="165862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85BF64"/>
                </a:solidFill>
                <a:latin typeface="Calibri"/>
                <a:cs typeface="Calibri"/>
              </a:rPr>
              <a:t>3</a:t>
            </a:r>
            <a:r>
              <a:rPr sz="1350" b="1" baseline="24691" dirty="0">
                <a:solidFill>
                  <a:srgbClr val="95C877"/>
                </a:solidFill>
                <a:latin typeface="Calibri"/>
                <a:cs typeface="Calibri"/>
              </a:rPr>
              <a:t>rd</a:t>
            </a:r>
            <a:r>
              <a:rPr sz="1350" b="1" spc="150" baseline="24691" dirty="0">
                <a:solidFill>
                  <a:srgbClr val="95C877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85BF64"/>
                </a:solidFill>
                <a:latin typeface="Calibri"/>
                <a:cs typeface="Calibri"/>
              </a:rPr>
              <a:t>Party</a:t>
            </a:r>
            <a:r>
              <a:rPr sz="1400" b="1" spc="-5" dirty="0">
                <a:solidFill>
                  <a:srgbClr val="85BF64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85BF64"/>
                </a:solidFill>
                <a:latin typeface="Calibri"/>
                <a:cs typeface="Calibri"/>
              </a:rPr>
              <a:t>Applica</a:t>
            </a:r>
            <a:r>
              <a:rPr lang="en-US" sz="1400" b="1" spc="-10" dirty="0">
                <a:solidFill>
                  <a:srgbClr val="85BF64"/>
                </a:solidFill>
                <a:latin typeface="Calibri"/>
                <a:cs typeface="Calibri"/>
              </a:rPr>
              <a:t>ti</a:t>
            </a:r>
            <a:r>
              <a:rPr sz="1400" b="1" spc="-10" dirty="0">
                <a:solidFill>
                  <a:srgbClr val="85BF64"/>
                </a:solidFill>
                <a:latin typeface="Calibri"/>
                <a:cs typeface="Calibri"/>
              </a:rPr>
              <a:t>ons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30301" y="3474720"/>
            <a:ext cx="1278890" cy="274320"/>
          </a:xfrm>
          <a:prstGeom prst="rect">
            <a:avLst/>
          </a:prstGeom>
          <a:solidFill>
            <a:srgbClr val="95C877"/>
          </a:solidFill>
          <a:ln w="19049">
            <a:solidFill>
              <a:srgbClr val="6C6C6C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240"/>
              </a:spcBef>
            </a:pPr>
            <a:r>
              <a:rPr sz="1400" b="1" spc="-20" dirty="0">
                <a:solidFill>
                  <a:srgbClr val="FFFFFF"/>
                </a:solidFill>
                <a:latin typeface="Verdana"/>
                <a:cs typeface="Verdana"/>
              </a:rPr>
              <a:t>libc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60319" y="3154679"/>
            <a:ext cx="731520" cy="274320"/>
          </a:xfrm>
          <a:prstGeom prst="rect">
            <a:avLst/>
          </a:prstGeom>
          <a:solidFill>
            <a:srgbClr val="95C877"/>
          </a:solidFill>
          <a:ln w="19049">
            <a:solidFill>
              <a:srgbClr val="6C6C6C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240"/>
              </a:spcBef>
            </a:pP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libssl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53059" y="2825115"/>
            <a:ext cx="6426200" cy="2216785"/>
            <a:chOff x="353059" y="2825115"/>
            <a:chExt cx="6426200" cy="2216785"/>
          </a:xfrm>
        </p:grpSpPr>
        <p:sp>
          <p:nvSpPr>
            <p:cNvPr id="27" name="object 27"/>
            <p:cNvSpPr/>
            <p:nvPr/>
          </p:nvSpPr>
          <p:spPr>
            <a:xfrm>
              <a:off x="2196814" y="2834640"/>
              <a:ext cx="912494" cy="274320"/>
            </a:xfrm>
            <a:custGeom>
              <a:avLst/>
              <a:gdLst/>
              <a:ahLst/>
              <a:cxnLst/>
              <a:rect l="l" t="t" r="r" b="b"/>
              <a:pathLst>
                <a:path w="912494" h="274319">
                  <a:moveTo>
                    <a:pt x="0" y="0"/>
                  </a:moveTo>
                  <a:lnTo>
                    <a:pt x="912145" y="0"/>
                  </a:lnTo>
                  <a:lnTo>
                    <a:pt x="912145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657599" y="3154679"/>
              <a:ext cx="91440" cy="274320"/>
            </a:xfrm>
            <a:custGeom>
              <a:avLst/>
              <a:gdLst/>
              <a:ahLst/>
              <a:cxnLst/>
              <a:rect l="l" t="t" r="r" b="b"/>
              <a:pathLst>
                <a:path w="91439" h="274320">
                  <a:moveTo>
                    <a:pt x="0" y="0"/>
                  </a:moveTo>
                  <a:lnTo>
                    <a:pt x="91440" y="0"/>
                  </a:lnTo>
                  <a:lnTo>
                    <a:pt x="9144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12430" y="3158383"/>
              <a:ext cx="184785" cy="274320"/>
            </a:xfrm>
            <a:custGeom>
              <a:avLst/>
              <a:gdLst/>
              <a:ahLst/>
              <a:cxnLst/>
              <a:rect l="l" t="t" r="r" b="b"/>
              <a:pathLst>
                <a:path w="184785" h="274320">
                  <a:moveTo>
                    <a:pt x="0" y="0"/>
                  </a:moveTo>
                  <a:lnTo>
                    <a:pt x="184381" y="0"/>
                  </a:lnTo>
                  <a:lnTo>
                    <a:pt x="184381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65759" y="3931919"/>
              <a:ext cx="6400800" cy="1097280"/>
            </a:xfrm>
            <a:custGeom>
              <a:avLst/>
              <a:gdLst/>
              <a:ahLst/>
              <a:cxnLst/>
              <a:rect l="l" t="t" r="r" b="b"/>
              <a:pathLst>
                <a:path w="6400800" h="1097279">
                  <a:moveTo>
                    <a:pt x="6400798" y="0"/>
                  </a:moveTo>
                  <a:lnTo>
                    <a:pt x="0" y="0"/>
                  </a:lnTo>
                  <a:lnTo>
                    <a:pt x="0" y="1097279"/>
                  </a:lnTo>
                  <a:lnTo>
                    <a:pt x="6400798" y="1097279"/>
                  </a:lnTo>
                  <a:lnTo>
                    <a:pt x="6400798" y="0"/>
                  </a:lnTo>
                  <a:close/>
                </a:path>
              </a:pathLst>
            </a:custGeom>
            <a:solidFill>
              <a:srgbClr val="95C8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65759" y="3931920"/>
              <a:ext cx="6400800" cy="1097280"/>
            </a:xfrm>
            <a:custGeom>
              <a:avLst/>
              <a:gdLst/>
              <a:ahLst/>
              <a:cxnLst/>
              <a:rect l="l" t="t" r="r" b="b"/>
              <a:pathLst>
                <a:path w="6400800" h="1097279">
                  <a:moveTo>
                    <a:pt x="0" y="0"/>
                  </a:moveTo>
                  <a:lnTo>
                    <a:pt x="6400798" y="0"/>
                  </a:lnTo>
                  <a:lnTo>
                    <a:pt x="6400798" y="1097279"/>
                  </a:lnTo>
                  <a:lnTo>
                    <a:pt x="0" y="109727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CCE4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743200" y="4021081"/>
            <a:ext cx="731520" cy="274320"/>
          </a:xfrm>
          <a:prstGeom prst="rect">
            <a:avLst/>
          </a:prstGeom>
          <a:solidFill>
            <a:srgbClr val="95C877"/>
          </a:solidFill>
          <a:ln w="19049">
            <a:solidFill>
              <a:srgbClr val="6C6C6C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199390">
              <a:lnSpc>
                <a:spcPct val="100000"/>
              </a:lnSpc>
              <a:spcBef>
                <a:spcPts val="240"/>
              </a:spcBef>
            </a:pPr>
            <a:r>
              <a:rPr sz="1400" b="1" spc="-25" dirty="0">
                <a:solidFill>
                  <a:srgbClr val="FFFFFF"/>
                </a:solidFill>
                <a:latin typeface="Verdana"/>
                <a:cs typeface="Verdana"/>
              </a:rPr>
              <a:t>ssh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54065" y="4341121"/>
            <a:ext cx="643255" cy="274320"/>
          </a:xfrm>
          <a:prstGeom prst="rect">
            <a:avLst/>
          </a:prstGeom>
          <a:solidFill>
            <a:srgbClr val="95C877"/>
          </a:solidFill>
          <a:ln w="19049">
            <a:solidFill>
              <a:srgbClr val="6C6C6C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160020">
              <a:lnSpc>
                <a:spcPct val="100000"/>
              </a:lnSpc>
              <a:spcBef>
                <a:spcPts val="240"/>
              </a:spcBef>
            </a:pPr>
            <a:r>
              <a:rPr sz="1400" b="1" spc="-20" dirty="0">
                <a:solidFill>
                  <a:srgbClr val="FFFFFF"/>
                </a:solidFill>
                <a:latin typeface="Verdana"/>
                <a:cs typeface="Verdana"/>
              </a:rPr>
              <a:t>init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51472" y="5106352"/>
            <a:ext cx="6429375" cy="1125855"/>
            <a:chOff x="351472" y="5106352"/>
            <a:chExt cx="6429375" cy="1125855"/>
          </a:xfrm>
        </p:grpSpPr>
        <p:sp>
          <p:nvSpPr>
            <p:cNvPr id="35" name="object 35"/>
            <p:cNvSpPr/>
            <p:nvPr/>
          </p:nvSpPr>
          <p:spPr>
            <a:xfrm>
              <a:off x="365759" y="5120640"/>
              <a:ext cx="6400800" cy="1097280"/>
            </a:xfrm>
            <a:custGeom>
              <a:avLst/>
              <a:gdLst/>
              <a:ahLst/>
              <a:cxnLst/>
              <a:rect l="l" t="t" r="r" b="b"/>
              <a:pathLst>
                <a:path w="6400800" h="1097279">
                  <a:moveTo>
                    <a:pt x="6400798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6400798" y="1097280"/>
                  </a:lnTo>
                  <a:lnTo>
                    <a:pt x="6400798" y="0"/>
                  </a:lnTo>
                  <a:close/>
                </a:path>
              </a:pathLst>
            </a:custGeom>
            <a:solidFill>
              <a:srgbClr val="3CA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65759" y="5120640"/>
              <a:ext cx="6400800" cy="1097280"/>
            </a:xfrm>
            <a:custGeom>
              <a:avLst/>
              <a:gdLst/>
              <a:ahLst/>
              <a:cxnLst/>
              <a:rect l="l" t="t" r="r" b="b"/>
              <a:pathLst>
                <a:path w="6400800" h="1097279">
                  <a:moveTo>
                    <a:pt x="0" y="0"/>
                  </a:moveTo>
                  <a:lnTo>
                    <a:pt x="6400798" y="0"/>
                  </a:lnTo>
                  <a:lnTo>
                    <a:pt x="6400798" y="1097279"/>
                  </a:lnTo>
                  <a:lnTo>
                    <a:pt x="0" y="109727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A7D1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380897" y="5532120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79" h="274320">
                  <a:moveTo>
                    <a:pt x="0" y="0"/>
                  </a:moveTo>
                  <a:lnTo>
                    <a:pt x="182879" y="0"/>
                  </a:lnTo>
                  <a:lnTo>
                    <a:pt x="18287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658350" y="5532120"/>
              <a:ext cx="182245" cy="274320"/>
            </a:xfrm>
            <a:custGeom>
              <a:avLst/>
              <a:gdLst/>
              <a:ahLst/>
              <a:cxnLst/>
              <a:rect l="l" t="t" r="r" b="b"/>
              <a:pathLst>
                <a:path w="182245" h="274320">
                  <a:moveTo>
                    <a:pt x="0" y="0"/>
                  </a:moveTo>
                  <a:lnTo>
                    <a:pt x="182128" y="0"/>
                  </a:lnTo>
                  <a:lnTo>
                    <a:pt x="182128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78178" y="5216066"/>
              <a:ext cx="1096645" cy="274320"/>
            </a:xfrm>
            <a:custGeom>
              <a:avLst/>
              <a:gdLst/>
              <a:ahLst/>
              <a:cxnLst/>
              <a:rect l="l" t="t" r="r" b="b"/>
              <a:pathLst>
                <a:path w="1096645" h="274320">
                  <a:moveTo>
                    <a:pt x="0" y="0"/>
                  </a:moveTo>
                  <a:lnTo>
                    <a:pt x="1096527" y="0"/>
                  </a:lnTo>
                  <a:lnTo>
                    <a:pt x="1096527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666145" y="5216066"/>
              <a:ext cx="1007110" cy="274320"/>
            </a:xfrm>
            <a:custGeom>
              <a:avLst/>
              <a:gdLst/>
              <a:ahLst/>
              <a:cxnLst/>
              <a:rect l="l" t="t" r="r" b="b"/>
              <a:pathLst>
                <a:path w="1007109" h="274320">
                  <a:moveTo>
                    <a:pt x="0" y="0"/>
                  </a:moveTo>
                  <a:lnTo>
                    <a:pt x="1006589" y="0"/>
                  </a:lnTo>
                  <a:lnTo>
                    <a:pt x="100658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670030" y="5532120"/>
              <a:ext cx="1003300" cy="274320"/>
            </a:xfrm>
            <a:custGeom>
              <a:avLst/>
              <a:gdLst/>
              <a:ahLst/>
              <a:cxnLst/>
              <a:rect l="l" t="t" r="r" b="b"/>
              <a:pathLst>
                <a:path w="1003300" h="274320">
                  <a:moveTo>
                    <a:pt x="0" y="0"/>
                  </a:moveTo>
                  <a:lnTo>
                    <a:pt x="1002706" y="0"/>
                  </a:lnTo>
                  <a:lnTo>
                    <a:pt x="1002706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931918" y="5852160"/>
              <a:ext cx="91440" cy="274320"/>
            </a:xfrm>
            <a:custGeom>
              <a:avLst/>
              <a:gdLst/>
              <a:ahLst/>
              <a:cxnLst/>
              <a:rect l="l" t="t" r="r" b="b"/>
              <a:pathLst>
                <a:path w="91439" h="274320">
                  <a:moveTo>
                    <a:pt x="0" y="0"/>
                  </a:moveTo>
                  <a:lnTo>
                    <a:pt x="91440" y="0"/>
                  </a:lnTo>
                  <a:lnTo>
                    <a:pt x="91440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794134" y="5232891"/>
            <a:ext cx="470534" cy="2419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FFFFFF"/>
                </a:solidFill>
                <a:latin typeface="Verdana"/>
                <a:cs typeface="Verdana"/>
              </a:rPr>
              <a:t>ext4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750388" y="5232891"/>
            <a:ext cx="845819" cy="5581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netfront</a:t>
            </a:r>
            <a:endParaRPr sz="1400">
              <a:latin typeface="Verdana"/>
              <a:cs typeface="Verdana"/>
            </a:endParaRPr>
          </a:p>
          <a:p>
            <a:pPr marL="24765">
              <a:lnSpc>
                <a:spcPct val="100000"/>
              </a:lnSpc>
              <a:spcBef>
                <a:spcPts val="810"/>
              </a:spcBef>
            </a:pP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blkfront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754618" y="5558408"/>
            <a:ext cx="504190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b="1" spc="-10" dirty="0">
                <a:solidFill>
                  <a:srgbClr val="318BFF"/>
                </a:solidFill>
                <a:latin typeface="Calibri"/>
                <a:cs typeface="Calibri"/>
              </a:rPr>
              <a:t>Kernel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3691" y="205127"/>
            <a:ext cx="53219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Tinyx:</a:t>
            </a:r>
            <a:r>
              <a:rPr sz="4000" spc="-15" dirty="0"/>
              <a:t> </a:t>
            </a:r>
            <a:r>
              <a:rPr sz="4000" spc="-20" dirty="0"/>
              <a:t>Taylor-</a:t>
            </a:r>
            <a:r>
              <a:rPr sz="4000" dirty="0"/>
              <a:t>made</a:t>
            </a:r>
            <a:r>
              <a:rPr sz="4000" spc="-15" dirty="0"/>
              <a:t> </a:t>
            </a:r>
            <a:r>
              <a:rPr sz="4000" spc="-10" dirty="0"/>
              <a:t>Distro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216130" y="1064028"/>
            <a:ext cx="1762760" cy="5515610"/>
            <a:chOff x="216130" y="1064028"/>
            <a:chExt cx="1762760" cy="55156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130" y="1064028"/>
              <a:ext cx="1762297" cy="55154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74320" y="1106112"/>
              <a:ext cx="1645920" cy="5394960"/>
            </a:xfrm>
            <a:custGeom>
              <a:avLst/>
              <a:gdLst/>
              <a:ahLst/>
              <a:cxnLst/>
              <a:rect l="l" t="t" r="r" b="b"/>
              <a:pathLst>
                <a:path w="1645920" h="5394960">
                  <a:moveTo>
                    <a:pt x="1645920" y="0"/>
                  </a:moveTo>
                  <a:lnTo>
                    <a:pt x="0" y="0"/>
                  </a:lnTo>
                  <a:lnTo>
                    <a:pt x="0" y="5394958"/>
                  </a:lnTo>
                  <a:lnTo>
                    <a:pt x="1645920" y="5394958"/>
                  </a:lnTo>
                  <a:lnTo>
                    <a:pt x="1645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320" y="1106113"/>
              <a:ext cx="1645920" cy="5394960"/>
            </a:xfrm>
            <a:custGeom>
              <a:avLst/>
              <a:gdLst/>
              <a:ahLst/>
              <a:cxnLst/>
              <a:rect l="l" t="t" r="r" b="b"/>
              <a:pathLst>
                <a:path w="1645920" h="5394960">
                  <a:moveTo>
                    <a:pt x="0" y="0"/>
                  </a:moveTo>
                  <a:lnTo>
                    <a:pt x="1645919" y="0"/>
                  </a:lnTo>
                  <a:lnTo>
                    <a:pt x="1645919" y="5394958"/>
                  </a:lnTo>
                  <a:lnTo>
                    <a:pt x="0" y="5394958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258" y="1167937"/>
              <a:ext cx="1596043" cy="5943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080" y="1242752"/>
              <a:ext cx="918556" cy="44888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65759" y="1197552"/>
            <a:ext cx="1463040" cy="457200"/>
          </a:xfrm>
          <a:prstGeom prst="rect">
            <a:avLst/>
          </a:prstGeom>
          <a:solidFill>
            <a:srgbClr val="E55C5E"/>
          </a:solidFill>
          <a:ln w="19049">
            <a:solidFill>
              <a:srgbClr val="6C6C6C"/>
            </a:solidFill>
          </a:ln>
        </p:spPr>
        <p:txBody>
          <a:bodyPr vert="horz" wrap="square" lIns="0" tIns="91440" rIns="0" bIns="0" rtlCol="0">
            <a:spAutoFit/>
          </a:bodyPr>
          <a:lstStyle/>
          <a:p>
            <a:pPr marL="360680">
              <a:lnSpc>
                <a:spcPct val="100000"/>
              </a:lnSpc>
              <a:spcBef>
                <a:spcPts val="720"/>
              </a:spcBef>
            </a:pPr>
            <a:r>
              <a:rPr sz="1800" b="1" spc="-10" dirty="0">
                <a:solidFill>
                  <a:srgbClr val="FFFFFF"/>
                </a:solidFill>
                <a:latin typeface="Verdana"/>
                <a:cs typeface="Verdana"/>
              </a:rPr>
              <a:t>Nginx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40660" y="4552891"/>
            <a:ext cx="6248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85BF64"/>
                </a:solidFill>
                <a:latin typeface="Calibri"/>
                <a:cs typeface="Calibri"/>
              </a:rPr>
              <a:t>Services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27960" y="3364171"/>
            <a:ext cx="657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85BF64"/>
                </a:solidFill>
                <a:latin typeface="Calibri"/>
                <a:cs typeface="Calibri"/>
              </a:rPr>
              <a:t>Libraries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41862" y="1306772"/>
            <a:ext cx="124904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DC444C"/>
                </a:solidFill>
                <a:latin typeface="Calibri"/>
                <a:cs typeface="Calibri"/>
              </a:rPr>
              <a:t>User</a:t>
            </a:r>
            <a:r>
              <a:rPr sz="1400" b="1" spc="-15" dirty="0">
                <a:solidFill>
                  <a:srgbClr val="DC444C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DC444C"/>
                </a:solidFill>
                <a:latin typeface="Calibri"/>
                <a:cs typeface="Calibri"/>
              </a:rPr>
              <a:t>Applica</a:t>
            </a:r>
            <a:r>
              <a:rPr lang="en-US" sz="1400" b="1" spc="-10" dirty="0">
                <a:solidFill>
                  <a:srgbClr val="DC444C"/>
                </a:solidFill>
                <a:latin typeface="Calibri"/>
                <a:cs typeface="Calibri"/>
              </a:rPr>
              <a:t>ti</a:t>
            </a:r>
            <a:r>
              <a:rPr sz="1400" b="1" spc="-10" dirty="0">
                <a:solidFill>
                  <a:srgbClr val="DC444C"/>
                </a:solidFill>
                <a:latin typeface="Calibri"/>
                <a:cs typeface="Calibri"/>
              </a:rPr>
              <a:t>on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3059" y="1733492"/>
            <a:ext cx="1488440" cy="1122680"/>
            <a:chOff x="353059" y="1733492"/>
            <a:chExt cx="1488440" cy="1122680"/>
          </a:xfrm>
        </p:grpSpPr>
        <p:sp>
          <p:nvSpPr>
            <p:cNvPr id="14" name="object 14"/>
            <p:cNvSpPr/>
            <p:nvPr/>
          </p:nvSpPr>
          <p:spPr>
            <a:xfrm>
              <a:off x="365759" y="1746192"/>
              <a:ext cx="1463040" cy="1097280"/>
            </a:xfrm>
            <a:custGeom>
              <a:avLst/>
              <a:gdLst/>
              <a:ahLst/>
              <a:cxnLst/>
              <a:rect l="l" t="t" r="r" b="b"/>
              <a:pathLst>
                <a:path w="1463039" h="1097280">
                  <a:moveTo>
                    <a:pt x="1463040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1463040" y="1097280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95C8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5759" y="1746192"/>
              <a:ext cx="1463040" cy="1097280"/>
            </a:xfrm>
            <a:custGeom>
              <a:avLst/>
              <a:gdLst/>
              <a:ahLst/>
              <a:cxnLst/>
              <a:rect l="l" t="t" r="r" b="b"/>
              <a:pathLst>
                <a:path w="1463039" h="1097280">
                  <a:moveTo>
                    <a:pt x="0" y="0"/>
                  </a:moveTo>
                  <a:lnTo>
                    <a:pt x="1463039" y="0"/>
                  </a:lnTo>
                  <a:lnTo>
                    <a:pt x="1463039" y="1097279"/>
                  </a:lnTo>
                  <a:lnTo>
                    <a:pt x="0" y="109727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CCE4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447675" y="1828107"/>
          <a:ext cx="914399" cy="913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545">
                <a:tc gridSpan="3"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memcached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6096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95C8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545">
                <a:tc gridSpan="2"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bash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5334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95C8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C6C6C"/>
                      </a:solidFill>
                      <a:prstDash val="solid"/>
                    </a:lnL>
                    <a:lnT w="19050">
                      <a:solidFill>
                        <a:srgbClr val="6C6C6C"/>
                      </a:solidFill>
                      <a:prstDash val="solid"/>
                    </a:lnT>
                    <a:solidFill>
                      <a:srgbClr val="95C8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95C877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C6C6C"/>
                      </a:solidFill>
                      <a:prstDash val="solid"/>
                    </a:lnL>
                    <a:solidFill>
                      <a:srgbClr val="95C8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2237100" y="2175452"/>
            <a:ext cx="165862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85BF64"/>
                </a:solidFill>
                <a:latin typeface="Calibri"/>
                <a:cs typeface="Calibri"/>
              </a:rPr>
              <a:t>3</a:t>
            </a:r>
            <a:r>
              <a:rPr sz="1350" b="1" baseline="24691" dirty="0">
                <a:solidFill>
                  <a:srgbClr val="95C877"/>
                </a:solidFill>
                <a:latin typeface="Calibri"/>
                <a:cs typeface="Calibri"/>
              </a:rPr>
              <a:t>rd</a:t>
            </a:r>
            <a:r>
              <a:rPr sz="1350" b="1" spc="150" baseline="24691" dirty="0">
                <a:solidFill>
                  <a:srgbClr val="95C877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85BF64"/>
                </a:solidFill>
                <a:latin typeface="Calibri"/>
                <a:cs typeface="Calibri"/>
              </a:rPr>
              <a:t>Party</a:t>
            </a:r>
            <a:r>
              <a:rPr sz="1400" b="1" spc="-5" dirty="0">
                <a:solidFill>
                  <a:srgbClr val="85BF64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85BF64"/>
                </a:solidFill>
                <a:latin typeface="Calibri"/>
                <a:cs typeface="Calibri"/>
              </a:rPr>
              <a:t>Applica</a:t>
            </a:r>
            <a:r>
              <a:rPr lang="en-US" sz="1400" b="1" spc="-10" dirty="0">
                <a:solidFill>
                  <a:srgbClr val="85BF64"/>
                </a:solidFill>
                <a:latin typeface="Calibri"/>
                <a:cs typeface="Calibri"/>
              </a:rPr>
              <a:t>ti</a:t>
            </a:r>
            <a:r>
              <a:rPr sz="1400" b="1" spc="-10" dirty="0">
                <a:solidFill>
                  <a:srgbClr val="85BF64"/>
                </a:solidFill>
                <a:latin typeface="Calibri"/>
                <a:cs typeface="Calibri"/>
              </a:rPr>
              <a:t>ons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65759" y="2934912"/>
            <a:ext cx="1463040" cy="1097280"/>
            <a:chOff x="365759" y="2934912"/>
            <a:chExt cx="1463040" cy="1097280"/>
          </a:xfrm>
        </p:grpSpPr>
        <p:sp>
          <p:nvSpPr>
            <p:cNvPr id="19" name="object 19"/>
            <p:cNvSpPr/>
            <p:nvPr/>
          </p:nvSpPr>
          <p:spPr>
            <a:xfrm>
              <a:off x="365759" y="2934912"/>
              <a:ext cx="1463040" cy="1097280"/>
            </a:xfrm>
            <a:custGeom>
              <a:avLst/>
              <a:gdLst/>
              <a:ahLst/>
              <a:cxnLst/>
              <a:rect l="l" t="t" r="r" b="b"/>
              <a:pathLst>
                <a:path w="1463039" h="1097279">
                  <a:moveTo>
                    <a:pt x="1463040" y="0"/>
                  </a:moveTo>
                  <a:lnTo>
                    <a:pt x="0" y="0"/>
                  </a:lnTo>
                  <a:lnTo>
                    <a:pt x="0" y="1097278"/>
                  </a:lnTo>
                  <a:lnTo>
                    <a:pt x="1463040" y="1097278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95C8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7199" y="3346819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79" h="274320">
                  <a:moveTo>
                    <a:pt x="0" y="0"/>
                  </a:moveTo>
                  <a:lnTo>
                    <a:pt x="182879" y="0"/>
                  </a:lnTo>
                  <a:lnTo>
                    <a:pt x="18287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7199" y="3666431"/>
              <a:ext cx="1278890" cy="274320"/>
            </a:xfrm>
            <a:custGeom>
              <a:avLst/>
              <a:gdLst/>
              <a:ahLst/>
              <a:cxnLst/>
              <a:rect l="l" t="t" r="r" b="b"/>
              <a:pathLst>
                <a:path w="1278889" h="274320">
                  <a:moveTo>
                    <a:pt x="0" y="0"/>
                  </a:moveTo>
                  <a:lnTo>
                    <a:pt x="1278657" y="0"/>
                  </a:lnTo>
                  <a:lnTo>
                    <a:pt x="1278657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1519" y="3346819"/>
              <a:ext cx="731520" cy="274320"/>
            </a:xfrm>
            <a:custGeom>
              <a:avLst/>
              <a:gdLst/>
              <a:ahLst/>
              <a:cxnLst/>
              <a:rect l="l" t="t" r="r" b="b"/>
              <a:pathLst>
                <a:path w="731519" h="274320">
                  <a:moveTo>
                    <a:pt x="0" y="0"/>
                  </a:moveTo>
                  <a:lnTo>
                    <a:pt x="731519" y="0"/>
                  </a:lnTo>
                  <a:lnTo>
                    <a:pt x="73151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65759" y="2934912"/>
            <a:ext cx="1463040" cy="1097280"/>
          </a:xfrm>
          <a:prstGeom prst="rect">
            <a:avLst/>
          </a:prstGeom>
          <a:ln w="25399">
            <a:solidFill>
              <a:srgbClr val="CCE4BE"/>
            </a:solidFill>
          </a:ln>
        </p:spPr>
        <p:txBody>
          <a:bodyPr vert="horz" wrap="square" lIns="0" tIns="131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35"/>
              </a:spcBef>
            </a:pPr>
            <a:endParaRPr sz="1400">
              <a:latin typeface="Times New Roman"/>
              <a:cs typeface="Times New Roman"/>
            </a:endParaRPr>
          </a:p>
          <a:p>
            <a:pPr marL="558165" marR="462280" indent="-83185">
              <a:lnSpc>
                <a:spcPct val="149800"/>
              </a:lnSpc>
            </a:pP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libssl </a:t>
            </a:r>
            <a:r>
              <a:rPr sz="1400" b="1" spc="-20" dirty="0">
                <a:solidFill>
                  <a:srgbClr val="FFFFFF"/>
                </a:solidFill>
                <a:latin typeface="Verdana"/>
                <a:cs typeface="Verdana"/>
              </a:rPr>
              <a:t>libc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65759" y="3020245"/>
            <a:ext cx="1463040" cy="2200910"/>
            <a:chOff x="365759" y="3020245"/>
            <a:chExt cx="1463040" cy="2200910"/>
          </a:xfrm>
        </p:grpSpPr>
        <p:sp>
          <p:nvSpPr>
            <p:cNvPr id="25" name="object 25"/>
            <p:cNvSpPr/>
            <p:nvPr/>
          </p:nvSpPr>
          <p:spPr>
            <a:xfrm>
              <a:off x="457199" y="3029770"/>
              <a:ext cx="912494" cy="274320"/>
            </a:xfrm>
            <a:custGeom>
              <a:avLst/>
              <a:gdLst/>
              <a:ahLst/>
              <a:cxnLst/>
              <a:rect l="l" t="t" r="r" b="b"/>
              <a:pathLst>
                <a:path w="912494" h="274320">
                  <a:moveTo>
                    <a:pt x="0" y="0"/>
                  </a:moveTo>
                  <a:lnTo>
                    <a:pt x="912145" y="0"/>
                  </a:lnTo>
                  <a:lnTo>
                    <a:pt x="912145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554479" y="3346819"/>
              <a:ext cx="91440" cy="274320"/>
            </a:xfrm>
            <a:custGeom>
              <a:avLst/>
              <a:gdLst/>
              <a:ahLst/>
              <a:cxnLst/>
              <a:rect l="l" t="t" r="r" b="b"/>
              <a:pathLst>
                <a:path w="91439" h="274320">
                  <a:moveTo>
                    <a:pt x="0" y="0"/>
                  </a:moveTo>
                  <a:lnTo>
                    <a:pt x="91440" y="0"/>
                  </a:lnTo>
                  <a:lnTo>
                    <a:pt x="91440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463040" y="3029770"/>
              <a:ext cx="184785" cy="274320"/>
            </a:xfrm>
            <a:custGeom>
              <a:avLst/>
              <a:gdLst/>
              <a:ahLst/>
              <a:cxnLst/>
              <a:rect l="l" t="t" r="r" b="b"/>
              <a:pathLst>
                <a:path w="184785" h="274320">
                  <a:moveTo>
                    <a:pt x="0" y="0"/>
                  </a:moveTo>
                  <a:lnTo>
                    <a:pt x="184381" y="0"/>
                  </a:lnTo>
                  <a:lnTo>
                    <a:pt x="184381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65759" y="4123631"/>
              <a:ext cx="1463040" cy="1097280"/>
            </a:xfrm>
            <a:custGeom>
              <a:avLst/>
              <a:gdLst/>
              <a:ahLst/>
              <a:cxnLst/>
              <a:rect l="l" t="t" r="r" b="b"/>
              <a:pathLst>
                <a:path w="1463039" h="1097279">
                  <a:moveTo>
                    <a:pt x="1463040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1463040" y="1097280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95C8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7199" y="4212793"/>
              <a:ext cx="731520" cy="274320"/>
            </a:xfrm>
            <a:custGeom>
              <a:avLst/>
              <a:gdLst/>
              <a:ahLst/>
              <a:cxnLst/>
              <a:rect l="l" t="t" r="r" b="b"/>
              <a:pathLst>
                <a:path w="731519" h="274320">
                  <a:moveTo>
                    <a:pt x="0" y="0"/>
                  </a:moveTo>
                  <a:lnTo>
                    <a:pt x="731519" y="0"/>
                  </a:lnTo>
                  <a:lnTo>
                    <a:pt x="73151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4065" y="4532833"/>
              <a:ext cx="643255" cy="274320"/>
            </a:xfrm>
            <a:custGeom>
              <a:avLst/>
              <a:gdLst/>
              <a:ahLst/>
              <a:cxnLst/>
              <a:rect l="l" t="t" r="r" b="b"/>
              <a:pathLst>
                <a:path w="643255" h="274320">
                  <a:moveTo>
                    <a:pt x="0" y="0"/>
                  </a:moveTo>
                  <a:lnTo>
                    <a:pt x="643212" y="0"/>
                  </a:lnTo>
                  <a:lnTo>
                    <a:pt x="643212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65759" y="4123631"/>
            <a:ext cx="1463040" cy="1097280"/>
          </a:xfrm>
          <a:prstGeom prst="rect">
            <a:avLst/>
          </a:prstGeom>
          <a:ln w="25399">
            <a:solidFill>
              <a:srgbClr val="CCE4BE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48285" marR="826769" indent="42545">
              <a:lnSpc>
                <a:spcPct val="15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Verdana"/>
                <a:cs typeface="Verdana"/>
              </a:rPr>
              <a:t>ssh </a:t>
            </a:r>
            <a:r>
              <a:rPr sz="1400" b="1" spc="-20" dirty="0">
                <a:solidFill>
                  <a:srgbClr val="FFFFFF"/>
                </a:solidFill>
                <a:latin typeface="Verdana"/>
                <a:cs typeface="Verdana"/>
              </a:rPr>
              <a:t>init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51472" y="5298064"/>
            <a:ext cx="1491615" cy="1125855"/>
            <a:chOff x="351472" y="5298064"/>
            <a:chExt cx="1491615" cy="1125855"/>
          </a:xfrm>
        </p:grpSpPr>
        <p:sp>
          <p:nvSpPr>
            <p:cNvPr id="33" name="object 33"/>
            <p:cNvSpPr/>
            <p:nvPr/>
          </p:nvSpPr>
          <p:spPr>
            <a:xfrm>
              <a:off x="365759" y="5312351"/>
              <a:ext cx="1463040" cy="1097280"/>
            </a:xfrm>
            <a:custGeom>
              <a:avLst/>
              <a:gdLst/>
              <a:ahLst/>
              <a:cxnLst/>
              <a:rect l="l" t="t" r="r" b="b"/>
              <a:pathLst>
                <a:path w="1463039" h="1097279">
                  <a:moveTo>
                    <a:pt x="1463040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1463040" y="1097280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3CA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5759" y="5312351"/>
              <a:ext cx="1463040" cy="1097280"/>
            </a:xfrm>
            <a:custGeom>
              <a:avLst/>
              <a:gdLst/>
              <a:ahLst/>
              <a:cxnLst/>
              <a:rect l="l" t="t" r="r" b="b"/>
              <a:pathLst>
                <a:path w="1463039" h="1097279">
                  <a:moveTo>
                    <a:pt x="0" y="0"/>
                  </a:moveTo>
                  <a:lnTo>
                    <a:pt x="1463039" y="0"/>
                  </a:lnTo>
                  <a:lnTo>
                    <a:pt x="1463039" y="1097279"/>
                  </a:lnTo>
                  <a:lnTo>
                    <a:pt x="0" y="109727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A7D1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447675" y="5398254"/>
          <a:ext cx="1279523" cy="898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4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netfront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6C6C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34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blkfront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51435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545">
                <a:tc gridSpan="2">
                  <a:txBody>
                    <a:bodyPr/>
                    <a:lstStyle/>
                    <a:p>
                      <a:pPr marL="3282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ext4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5334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solidFill>
                      <a:srgbClr val="3CA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6" name="object 36"/>
          <p:cNvSpPr txBox="1"/>
          <p:nvPr/>
        </p:nvSpPr>
        <p:spPr>
          <a:xfrm>
            <a:off x="2816860" y="5750119"/>
            <a:ext cx="504190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b="1" spc="-10" dirty="0">
                <a:solidFill>
                  <a:srgbClr val="318BFF"/>
                </a:solidFill>
                <a:latin typeface="Calibri"/>
                <a:cs typeface="Calibri"/>
              </a:rPr>
              <a:t>Kernel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3691" y="205127"/>
            <a:ext cx="53219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Tinyx:</a:t>
            </a:r>
            <a:r>
              <a:rPr sz="4000" spc="-15" dirty="0"/>
              <a:t> </a:t>
            </a:r>
            <a:r>
              <a:rPr sz="4000" spc="-20" dirty="0"/>
              <a:t>Taylor-</a:t>
            </a:r>
            <a:r>
              <a:rPr sz="4000" dirty="0"/>
              <a:t>made</a:t>
            </a:r>
            <a:r>
              <a:rPr sz="4000" spc="-15" dirty="0"/>
              <a:t> </a:t>
            </a:r>
            <a:r>
              <a:rPr sz="4000" spc="-10" dirty="0"/>
              <a:t>Distro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216130" y="1064028"/>
            <a:ext cx="1762760" cy="5515610"/>
            <a:chOff x="216130" y="1064028"/>
            <a:chExt cx="1762760" cy="55156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130" y="1064028"/>
              <a:ext cx="1762297" cy="55154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74320" y="1106112"/>
              <a:ext cx="1645920" cy="5394960"/>
            </a:xfrm>
            <a:custGeom>
              <a:avLst/>
              <a:gdLst/>
              <a:ahLst/>
              <a:cxnLst/>
              <a:rect l="l" t="t" r="r" b="b"/>
              <a:pathLst>
                <a:path w="1645920" h="5394960">
                  <a:moveTo>
                    <a:pt x="1645920" y="0"/>
                  </a:moveTo>
                  <a:lnTo>
                    <a:pt x="0" y="0"/>
                  </a:lnTo>
                  <a:lnTo>
                    <a:pt x="0" y="5394958"/>
                  </a:lnTo>
                  <a:lnTo>
                    <a:pt x="1645920" y="5394958"/>
                  </a:lnTo>
                  <a:lnTo>
                    <a:pt x="1645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320" y="1106113"/>
              <a:ext cx="1645920" cy="5394960"/>
            </a:xfrm>
            <a:custGeom>
              <a:avLst/>
              <a:gdLst/>
              <a:ahLst/>
              <a:cxnLst/>
              <a:rect l="l" t="t" r="r" b="b"/>
              <a:pathLst>
                <a:path w="1645920" h="5394960">
                  <a:moveTo>
                    <a:pt x="0" y="0"/>
                  </a:moveTo>
                  <a:lnTo>
                    <a:pt x="1645919" y="0"/>
                  </a:lnTo>
                  <a:lnTo>
                    <a:pt x="1645919" y="5394958"/>
                  </a:lnTo>
                  <a:lnTo>
                    <a:pt x="0" y="5394958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258" y="1167937"/>
              <a:ext cx="1596043" cy="5943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080" y="1242752"/>
              <a:ext cx="918556" cy="44888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65759" y="1197552"/>
            <a:ext cx="1463040" cy="457200"/>
          </a:xfrm>
          <a:prstGeom prst="rect">
            <a:avLst/>
          </a:prstGeom>
          <a:solidFill>
            <a:srgbClr val="E55C5E"/>
          </a:solidFill>
          <a:ln w="19049">
            <a:solidFill>
              <a:srgbClr val="6C6C6C"/>
            </a:solidFill>
          </a:ln>
        </p:spPr>
        <p:txBody>
          <a:bodyPr vert="horz" wrap="square" lIns="0" tIns="91440" rIns="0" bIns="0" rtlCol="0">
            <a:spAutoFit/>
          </a:bodyPr>
          <a:lstStyle/>
          <a:p>
            <a:pPr marL="360680">
              <a:lnSpc>
                <a:spcPct val="100000"/>
              </a:lnSpc>
              <a:spcBef>
                <a:spcPts val="720"/>
              </a:spcBef>
            </a:pPr>
            <a:r>
              <a:rPr sz="1800" b="1" spc="-10" dirty="0">
                <a:solidFill>
                  <a:srgbClr val="FFFFFF"/>
                </a:solidFill>
                <a:latin typeface="Verdana"/>
                <a:cs typeface="Verdana"/>
              </a:rPr>
              <a:t>Nginx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40660" y="4552891"/>
            <a:ext cx="6248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85BF64"/>
                </a:solidFill>
                <a:latin typeface="Calibri"/>
                <a:cs typeface="Calibri"/>
              </a:rPr>
              <a:t>Services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27960" y="3364171"/>
            <a:ext cx="657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85BF64"/>
                </a:solidFill>
                <a:latin typeface="Calibri"/>
                <a:cs typeface="Calibri"/>
              </a:rPr>
              <a:t>Libraries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41862" y="1306772"/>
            <a:ext cx="12490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DC444C"/>
                </a:solidFill>
                <a:latin typeface="Calibri"/>
                <a:cs typeface="Calibri"/>
              </a:rPr>
              <a:t>User</a:t>
            </a:r>
            <a:r>
              <a:rPr sz="1400" b="1" spc="-15" dirty="0">
                <a:solidFill>
                  <a:srgbClr val="DC444C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DC444C"/>
                </a:solidFill>
                <a:latin typeface="Calibri"/>
                <a:cs typeface="Calibri"/>
              </a:rPr>
              <a:t>Applica5on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3059" y="1733492"/>
            <a:ext cx="1488440" cy="1122680"/>
            <a:chOff x="353059" y="1733492"/>
            <a:chExt cx="1488440" cy="1122680"/>
          </a:xfrm>
        </p:grpSpPr>
        <p:sp>
          <p:nvSpPr>
            <p:cNvPr id="14" name="object 14"/>
            <p:cNvSpPr/>
            <p:nvPr/>
          </p:nvSpPr>
          <p:spPr>
            <a:xfrm>
              <a:off x="365759" y="1746192"/>
              <a:ext cx="1463040" cy="1097280"/>
            </a:xfrm>
            <a:custGeom>
              <a:avLst/>
              <a:gdLst/>
              <a:ahLst/>
              <a:cxnLst/>
              <a:rect l="l" t="t" r="r" b="b"/>
              <a:pathLst>
                <a:path w="1463039" h="1097280">
                  <a:moveTo>
                    <a:pt x="1463040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1463040" y="1097280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95C8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5759" y="1746192"/>
              <a:ext cx="1463040" cy="1097280"/>
            </a:xfrm>
            <a:custGeom>
              <a:avLst/>
              <a:gdLst/>
              <a:ahLst/>
              <a:cxnLst/>
              <a:rect l="l" t="t" r="r" b="b"/>
              <a:pathLst>
                <a:path w="1463039" h="1097280">
                  <a:moveTo>
                    <a:pt x="0" y="0"/>
                  </a:moveTo>
                  <a:lnTo>
                    <a:pt x="1463039" y="0"/>
                  </a:lnTo>
                  <a:lnTo>
                    <a:pt x="1463039" y="1097279"/>
                  </a:lnTo>
                  <a:lnTo>
                    <a:pt x="0" y="109727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CCE4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447675" y="1828107"/>
          <a:ext cx="914399" cy="913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545">
                <a:tc gridSpan="3"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memcached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6096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95C8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545">
                <a:tc gridSpan="2"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bash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5334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95C8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C6C6C"/>
                      </a:solidFill>
                      <a:prstDash val="solid"/>
                    </a:lnL>
                    <a:lnT w="19050">
                      <a:solidFill>
                        <a:srgbClr val="6C6C6C"/>
                      </a:solidFill>
                      <a:prstDash val="solid"/>
                    </a:lnT>
                    <a:solidFill>
                      <a:srgbClr val="95C8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95C877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C6C6C"/>
                      </a:solidFill>
                      <a:prstDash val="solid"/>
                    </a:lnL>
                    <a:solidFill>
                      <a:srgbClr val="95C8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2237100" y="2175452"/>
            <a:ext cx="16586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85BF64"/>
                </a:solidFill>
                <a:latin typeface="Calibri"/>
                <a:cs typeface="Calibri"/>
              </a:rPr>
              <a:t>3</a:t>
            </a:r>
            <a:r>
              <a:rPr sz="1350" b="1" baseline="24691" dirty="0">
                <a:solidFill>
                  <a:srgbClr val="95C877"/>
                </a:solidFill>
                <a:latin typeface="Calibri"/>
                <a:cs typeface="Calibri"/>
              </a:rPr>
              <a:t>rd</a:t>
            </a:r>
            <a:r>
              <a:rPr sz="1350" b="1" spc="150" baseline="24691" dirty="0">
                <a:solidFill>
                  <a:srgbClr val="95C877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85BF64"/>
                </a:solidFill>
                <a:latin typeface="Calibri"/>
                <a:cs typeface="Calibri"/>
              </a:rPr>
              <a:t>Party</a:t>
            </a:r>
            <a:r>
              <a:rPr sz="1400" b="1" spc="-5" dirty="0">
                <a:solidFill>
                  <a:srgbClr val="85BF64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85BF64"/>
                </a:solidFill>
                <a:latin typeface="Calibri"/>
                <a:cs typeface="Calibri"/>
              </a:rPr>
              <a:t>Applica5ons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65759" y="2934912"/>
            <a:ext cx="1463040" cy="1097280"/>
            <a:chOff x="365759" y="2934912"/>
            <a:chExt cx="1463040" cy="1097280"/>
          </a:xfrm>
        </p:grpSpPr>
        <p:sp>
          <p:nvSpPr>
            <p:cNvPr id="19" name="object 19"/>
            <p:cNvSpPr/>
            <p:nvPr/>
          </p:nvSpPr>
          <p:spPr>
            <a:xfrm>
              <a:off x="365759" y="2934912"/>
              <a:ext cx="1463040" cy="1097280"/>
            </a:xfrm>
            <a:custGeom>
              <a:avLst/>
              <a:gdLst/>
              <a:ahLst/>
              <a:cxnLst/>
              <a:rect l="l" t="t" r="r" b="b"/>
              <a:pathLst>
                <a:path w="1463039" h="1097279">
                  <a:moveTo>
                    <a:pt x="1463040" y="0"/>
                  </a:moveTo>
                  <a:lnTo>
                    <a:pt x="0" y="0"/>
                  </a:lnTo>
                  <a:lnTo>
                    <a:pt x="0" y="1097278"/>
                  </a:lnTo>
                  <a:lnTo>
                    <a:pt x="1463040" y="1097278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95C8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7199" y="3346819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79" h="274320">
                  <a:moveTo>
                    <a:pt x="0" y="0"/>
                  </a:moveTo>
                  <a:lnTo>
                    <a:pt x="182879" y="0"/>
                  </a:lnTo>
                  <a:lnTo>
                    <a:pt x="18287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7199" y="3666431"/>
              <a:ext cx="1278890" cy="274320"/>
            </a:xfrm>
            <a:custGeom>
              <a:avLst/>
              <a:gdLst/>
              <a:ahLst/>
              <a:cxnLst/>
              <a:rect l="l" t="t" r="r" b="b"/>
              <a:pathLst>
                <a:path w="1278889" h="274320">
                  <a:moveTo>
                    <a:pt x="0" y="0"/>
                  </a:moveTo>
                  <a:lnTo>
                    <a:pt x="1278657" y="0"/>
                  </a:lnTo>
                  <a:lnTo>
                    <a:pt x="1278657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1519" y="3346819"/>
              <a:ext cx="731520" cy="274320"/>
            </a:xfrm>
            <a:custGeom>
              <a:avLst/>
              <a:gdLst/>
              <a:ahLst/>
              <a:cxnLst/>
              <a:rect l="l" t="t" r="r" b="b"/>
              <a:pathLst>
                <a:path w="731519" h="274320">
                  <a:moveTo>
                    <a:pt x="0" y="0"/>
                  </a:moveTo>
                  <a:lnTo>
                    <a:pt x="731519" y="0"/>
                  </a:lnTo>
                  <a:lnTo>
                    <a:pt x="73151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65759" y="2934912"/>
            <a:ext cx="1463040" cy="1097280"/>
          </a:xfrm>
          <a:prstGeom prst="rect">
            <a:avLst/>
          </a:prstGeom>
          <a:ln w="25399">
            <a:solidFill>
              <a:srgbClr val="CCE4BE"/>
            </a:solidFill>
          </a:ln>
        </p:spPr>
        <p:txBody>
          <a:bodyPr vert="horz" wrap="square" lIns="0" tIns="131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35"/>
              </a:spcBef>
            </a:pPr>
            <a:endParaRPr sz="1400">
              <a:latin typeface="Times New Roman"/>
              <a:cs typeface="Times New Roman"/>
            </a:endParaRPr>
          </a:p>
          <a:p>
            <a:pPr marL="558165" marR="462280" indent="-83185">
              <a:lnSpc>
                <a:spcPct val="149800"/>
              </a:lnSpc>
            </a:pP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libssl </a:t>
            </a:r>
            <a:r>
              <a:rPr sz="1400" b="1" spc="-20" dirty="0">
                <a:solidFill>
                  <a:srgbClr val="FFFFFF"/>
                </a:solidFill>
                <a:latin typeface="Verdana"/>
                <a:cs typeface="Verdana"/>
              </a:rPr>
              <a:t>libc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65759" y="3020245"/>
            <a:ext cx="1463040" cy="2200910"/>
            <a:chOff x="365759" y="3020245"/>
            <a:chExt cx="1463040" cy="2200910"/>
          </a:xfrm>
        </p:grpSpPr>
        <p:sp>
          <p:nvSpPr>
            <p:cNvPr id="25" name="object 25"/>
            <p:cNvSpPr/>
            <p:nvPr/>
          </p:nvSpPr>
          <p:spPr>
            <a:xfrm>
              <a:off x="457199" y="3029770"/>
              <a:ext cx="912494" cy="274320"/>
            </a:xfrm>
            <a:custGeom>
              <a:avLst/>
              <a:gdLst/>
              <a:ahLst/>
              <a:cxnLst/>
              <a:rect l="l" t="t" r="r" b="b"/>
              <a:pathLst>
                <a:path w="912494" h="274320">
                  <a:moveTo>
                    <a:pt x="0" y="0"/>
                  </a:moveTo>
                  <a:lnTo>
                    <a:pt x="912145" y="0"/>
                  </a:lnTo>
                  <a:lnTo>
                    <a:pt x="912145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554479" y="3346819"/>
              <a:ext cx="91440" cy="274320"/>
            </a:xfrm>
            <a:custGeom>
              <a:avLst/>
              <a:gdLst/>
              <a:ahLst/>
              <a:cxnLst/>
              <a:rect l="l" t="t" r="r" b="b"/>
              <a:pathLst>
                <a:path w="91439" h="274320">
                  <a:moveTo>
                    <a:pt x="0" y="0"/>
                  </a:moveTo>
                  <a:lnTo>
                    <a:pt x="91440" y="0"/>
                  </a:lnTo>
                  <a:lnTo>
                    <a:pt x="91440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463040" y="3029770"/>
              <a:ext cx="184785" cy="274320"/>
            </a:xfrm>
            <a:custGeom>
              <a:avLst/>
              <a:gdLst/>
              <a:ahLst/>
              <a:cxnLst/>
              <a:rect l="l" t="t" r="r" b="b"/>
              <a:pathLst>
                <a:path w="184785" h="274320">
                  <a:moveTo>
                    <a:pt x="0" y="0"/>
                  </a:moveTo>
                  <a:lnTo>
                    <a:pt x="184381" y="0"/>
                  </a:lnTo>
                  <a:lnTo>
                    <a:pt x="184381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65759" y="4123631"/>
              <a:ext cx="1463040" cy="1097280"/>
            </a:xfrm>
            <a:custGeom>
              <a:avLst/>
              <a:gdLst/>
              <a:ahLst/>
              <a:cxnLst/>
              <a:rect l="l" t="t" r="r" b="b"/>
              <a:pathLst>
                <a:path w="1463039" h="1097279">
                  <a:moveTo>
                    <a:pt x="1463040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1463040" y="1097280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95C8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7199" y="4212793"/>
              <a:ext cx="731520" cy="274320"/>
            </a:xfrm>
            <a:custGeom>
              <a:avLst/>
              <a:gdLst/>
              <a:ahLst/>
              <a:cxnLst/>
              <a:rect l="l" t="t" r="r" b="b"/>
              <a:pathLst>
                <a:path w="731519" h="274320">
                  <a:moveTo>
                    <a:pt x="0" y="0"/>
                  </a:moveTo>
                  <a:lnTo>
                    <a:pt x="731519" y="0"/>
                  </a:lnTo>
                  <a:lnTo>
                    <a:pt x="73151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4065" y="4532833"/>
              <a:ext cx="643255" cy="274320"/>
            </a:xfrm>
            <a:custGeom>
              <a:avLst/>
              <a:gdLst/>
              <a:ahLst/>
              <a:cxnLst/>
              <a:rect l="l" t="t" r="r" b="b"/>
              <a:pathLst>
                <a:path w="643255" h="274320">
                  <a:moveTo>
                    <a:pt x="0" y="0"/>
                  </a:moveTo>
                  <a:lnTo>
                    <a:pt x="643212" y="0"/>
                  </a:lnTo>
                  <a:lnTo>
                    <a:pt x="643212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65759" y="4123631"/>
            <a:ext cx="1463040" cy="1097280"/>
          </a:xfrm>
          <a:prstGeom prst="rect">
            <a:avLst/>
          </a:prstGeom>
          <a:ln w="25399">
            <a:solidFill>
              <a:srgbClr val="CCE4BE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48285" marR="826769" indent="42545">
              <a:lnSpc>
                <a:spcPct val="15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Verdana"/>
                <a:cs typeface="Verdana"/>
              </a:rPr>
              <a:t>ssh </a:t>
            </a:r>
            <a:r>
              <a:rPr sz="1400" b="1" spc="-20" dirty="0">
                <a:solidFill>
                  <a:srgbClr val="FFFFFF"/>
                </a:solidFill>
                <a:latin typeface="Verdana"/>
                <a:cs typeface="Verdana"/>
              </a:rPr>
              <a:t>init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51472" y="5298064"/>
            <a:ext cx="1491615" cy="1125855"/>
            <a:chOff x="351472" y="5298064"/>
            <a:chExt cx="1491615" cy="1125855"/>
          </a:xfrm>
        </p:grpSpPr>
        <p:sp>
          <p:nvSpPr>
            <p:cNvPr id="33" name="object 33"/>
            <p:cNvSpPr/>
            <p:nvPr/>
          </p:nvSpPr>
          <p:spPr>
            <a:xfrm>
              <a:off x="365759" y="5312351"/>
              <a:ext cx="1463040" cy="1097280"/>
            </a:xfrm>
            <a:custGeom>
              <a:avLst/>
              <a:gdLst/>
              <a:ahLst/>
              <a:cxnLst/>
              <a:rect l="l" t="t" r="r" b="b"/>
              <a:pathLst>
                <a:path w="1463039" h="1097279">
                  <a:moveTo>
                    <a:pt x="1463040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1463040" y="1097280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3CA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5759" y="5312351"/>
              <a:ext cx="1463040" cy="1097280"/>
            </a:xfrm>
            <a:custGeom>
              <a:avLst/>
              <a:gdLst/>
              <a:ahLst/>
              <a:cxnLst/>
              <a:rect l="l" t="t" r="r" b="b"/>
              <a:pathLst>
                <a:path w="1463039" h="1097279">
                  <a:moveTo>
                    <a:pt x="0" y="0"/>
                  </a:moveTo>
                  <a:lnTo>
                    <a:pt x="1463039" y="0"/>
                  </a:lnTo>
                  <a:lnTo>
                    <a:pt x="1463039" y="1097279"/>
                  </a:lnTo>
                  <a:lnTo>
                    <a:pt x="0" y="109727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A7D1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447675" y="5398254"/>
          <a:ext cx="1279523" cy="898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4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netfront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6C6C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34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blkfront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51435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545">
                <a:tc gridSpan="2">
                  <a:txBody>
                    <a:bodyPr/>
                    <a:lstStyle/>
                    <a:p>
                      <a:pPr marL="3282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ext4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5334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solidFill>
                      <a:srgbClr val="3CA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6" name="object 3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44038" y="1090321"/>
            <a:ext cx="4133663" cy="5406920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2816860" y="5750119"/>
            <a:ext cx="504190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b="1" spc="-10" dirty="0">
                <a:solidFill>
                  <a:srgbClr val="318BFF"/>
                </a:solidFill>
                <a:latin typeface="Calibri"/>
                <a:cs typeface="Calibri"/>
              </a:rPr>
              <a:t>Kernel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3691" y="205127"/>
            <a:ext cx="53219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Tinyx:</a:t>
            </a:r>
            <a:r>
              <a:rPr sz="4000" spc="-15" dirty="0"/>
              <a:t> </a:t>
            </a:r>
            <a:r>
              <a:rPr sz="4000" spc="-20" dirty="0"/>
              <a:t>Taylor-</a:t>
            </a:r>
            <a:r>
              <a:rPr sz="4000" dirty="0"/>
              <a:t>made</a:t>
            </a:r>
            <a:r>
              <a:rPr sz="4000" spc="-15" dirty="0"/>
              <a:t> </a:t>
            </a:r>
            <a:r>
              <a:rPr sz="4000" spc="-10" dirty="0"/>
              <a:t>Distro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216130" y="1064028"/>
            <a:ext cx="1762760" cy="5515610"/>
            <a:chOff x="216130" y="1064028"/>
            <a:chExt cx="1762760" cy="55156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130" y="1064028"/>
              <a:ext cx="1762297" cy="55154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74320" y="1106112"/>
              <a:ext cx="1645920" cy="5394960"/>
            </a:xfrm>
            <a:custGeom>
              <a:avLst/>
              <a:gdLst/>
              <a:ahLst/>
              <a:cxnLst/>
              <a:rect l="l" t="t" r="r" b="b"/>
              <a:pathLst>
                <a:path w="1645920" h="5394960">
                  <a:moveTo>
                    <a:pt x="1645920" y="0"/>
                  </a:moveTo>
                  <a:lnTo>
                    <a:pt x="0" y="0"/>
                  </a:lnTo>
                  <a:lnTo>
                    <a:pt x="0" y="5394958"/>
                  </a:lnTo>
                  <a:lnTo>
                    <a:pt x="1645920" y="5394958"/>
                  </a:lnTo>
                  <a:lnTo>
                    <a:pt x="1645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320" y="1106113"/>
              <a:ext cx="1645920" cy="5394960"/>
            </a:xfrm>
            <a:custGeom>
              <a:avLst/>
              <a:gdLst/>
              <a:ahLst/>
              <a:cxnLst/>
              <a:rect l="l" t="t" r="r" b="b"/>
              <a:pathLst>
                <a:path w="1645920" h="5394960">
                  <a:moveTo>
                    <a:pt x="0" y="0"/>
                  </a:moveTo>
                  <a:lnTo>
                    <a:pt x="1645919" y="0"/>
                  </a:lnTo>
                  <a:lnTo>
                    <a:pt x="1645919" y="5394958"/>
                  </a:lnTo>
                  <a:lnTo>
                    <a:pt x="0" y="5394958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258" y="1167937"/>
              <a:ext cx="1596043" cy="5943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080" y="1242752"/>
              <a:ext cx="918556" cy="44888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65759" y="1197552"/>
            <a:ext cx="1463040" cy="457200"/>
          </a:xfrm>
          <a:prstGeom prst="rect">
            <a:avLst/>
          </a:prstGeom>
          <a:solidFill>
            <a:srgbClr val="E55C5E"/>
          </a:solidFill>
          <a:ln w="19049">
            <a:solidFill>
              <a:srgbClr val="6C6C6C"/>
            </a:solidFill>
          </a:ln>
        </p:spPr>
        <p:txBody>
          <a:bodyPr vert="horz" wrap="square" lIns="0" tIns="91440" rIns="0" bIns="0" rtlCol="0">
            <a:spAutoFit/>
          </a:bodyPr>
          <a:lstStyle/>
          <a:p>
            <a:pPr marL="360680">
              <a:lnSpc>
                <a:spcPct val="100000"/>
              </a:lnSpc>
              <a:spcBef>
                <a:spcPts val="720"/>
              </a:spcBef>
            </a:pPr>
            <a:r>
              <a:rPr sz="1800" b="1" spc="-10" dirty="0">
                <a:solidFill>
                  <a:srgbClr val="FFFFFF"/>
                </a:solidFill>
                <a:latin typeface="Verdana"/>
                <a:cs typeface="Verdana"/>
              </a:rPr>
              <a:t>Nginx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41862" y="1306772"/>
            <a:ext cx="12490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DC444C"/>
                </a:solidFill>
                <a:latin typeface="Calibri"/>
                <a:cs typeface="Calibri"/>
              </a:rPr>
              <a:t>User</a:t>
            </a:r>
            <a:r>
              <a:rPr sz="1400" b="1" spc="-15" dirty="0">
                <a:solidFill>
                  <a:srgbClr val="DC444C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DC444C"/>
                </a:solidFill>
                <a:latin typeface="Calibri"/>
                <a:cs typeface="Calibri"/>
              </a:rPr>
              <a:t>Applica5on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44038" y="1506706"/>
            <a:ext cx="4133850" cy="3714750"/>
          </a:xfrm>
          <a:prstGeom prst="rect">
            <a:avLst/>
          </a:prstGeom>
          <a:ln w="38099">
            <a:solidFill>
              <a:srgbClr val="FF26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400">
              <a:latin typeface="Times New Roman"/>
              <a:cs typeface="Times New Roman"/>
            </a:endParaRPr>
          </a:p>
          <a:p>
            <a:pPr marR="2281555" algn="ctr">
              <a:lnSpc>
                <a:spcPct val="100000"/>
              </a:lnSpc>
            </a:pPr>
            <a:r>
              <a:rPr sz="1400" b="1" dirty="0">
                <a:solidFill>
                  <a:srgbClr val="85BF64"/>
                </a:solidFill>
                <a:latin typeface="Calibri"/>
                <a:cs typeface="Calibri"/>
              </a:rPr>
              <a:t>3</a:t>
            </a:r>
            <a:r>
              <a:rPr sz="1350" b="1" baseline="24691" dirty="0">
                <a:solidFill>
                  <a:srgbClr val="95C877"/>
                </a:solidFill>
                <a:latin typeface="Calibri"/>
                <a:cs typeface="Calibri"/>
              </a:rPr>
              <a:t>rd</a:t>
            </a:r>
            <a:r>
              <a:rPr sz="1350" b="1" spc="150" baseline="24691" dirty="0">
                <a:solidFill>
                  <a:srgbClr val="95C877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85BF64"/>
                </a:solidFill>
                <a:latin typeface="Calibri"/>
                <a:cs typeface="Calibri"/>
              </a:rPr>
              <a:t>Party</a:t>
            </a:r>
            <a:r>
              <a:rPr sz="1400" b="1" spc="-5" dirty="0">
                <a:solidFill>
                  <a:srgbClr val="85BF64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85BF64"/>
                </a:solidFill>
                <a:latin typeface="Calibri"/>
                <a:cs typeface="Calibri"/>
              </a:rPr>
              <a:t>Applica5ons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1400">
              <a:latin typeface="Calibri"/>
              <a:cs typeface="Calibri"/>
            </a:endParaRPr>
          </a:p>
          <a:p>
            <a:pPr marR="2299970" algn="ctr">
              <a:lnSpc>
                <a:spcPct val="100000"/>
              </a:lnSpc>
            </a:pPr>
            <a:r>
              <a:rPr sz="1400" b="1" spc="-10" dirty="0">
                <a:solidFill>
                  <a:srgbClr val="85BF64"/>
                </a:solidFill>
                <a:latin typeface="Calibri"/>
                <a:cs typeface="Calibri"/>
              </a:rPr>
              <a:t>Libraries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1400">
              <a:latin typeface="Calibri"/>
              <a:cs typeface="Calibri"/>
            </a:endParaRPr>
          </a:p>
          <a:p>
            <a:pPr marR="2308225" algn="ctr">
              <a:lnSpc>
                <a:spcPct val="100000"/>
              </a:lnSpc>
              <a:spcBef>
                <a:spcPts val="5"/>
              </a:spcBef>
            </a:pPr>
            <a:r>
              <a:rPr sz="1400" b="1" spc="-10" dirty="0">
                <a:solidFill>
                  <a:srgbClr val="85BF64"/>
                </a:solidFill>
                <a:latin typeface="Calibri"/>
                <a:cs typeface="Calibri"/>
              </a:rPr>
              <a:t>Services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53059" y="1733492"/>
            <a:ext cx="1488440" cy="1122680"/>
            <a:chOff x="353059" y="1733492"/>
            <a:chExt cx="1488440" cy="1122680"/>
          </a:xfrm>
        </p:grpSpPr>
        <p:sp>
          <p:nvSpPr>
            <p:cNvPr id="13" name="object 13"/>
            <p:cNvSpPr/>
            <p:nvPr/>
          </p:nvSpPr>
          <p:spPr>
            <a:xfrm>
              <a:off x="365759" y="1746192"/>
              <a:ext cx="1463040" cy="1097280"/>
            </a:xfrm>
            <a:custGeom>
              <a:avLst/>
              <a:gdLst/>
              <a:ahLst/>
              <a:cxnLst/>
              <a:rect l="l" t="t" r="r" b="b"/>
              <a:pathLst>
                <a:path w="1463039" h="1097280">
                  <a:moveTo>
                    <a:pt x="1463040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1463040" y="1097280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95C8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5759" y="1746192"/>
              <a:ext cx="1463040" cy="1097280"/>
            </a:xfrm>
            <a:custGeom>
              <a:avLst/>
              <a:gdLst/>
              <a:ahLst/>
              <a:cxnLst/>
              <a:rect l="l" t="t" r="r" b="b"/>
              <a:pathLst>
                <a:path w="1463039" h="1097280">
                  <a:moveTo>
                    <a:pt x="0" y="0"/>
                  </a:moveTo>
                  <a:lnTo>
                    <a:pt x="1463039" y="0"/>
                  </a:lnTo>
                  <a:lnTo>
                    <a:pt x="1463039" y="1097279"/>
                  </a:lnTo>
                  <a:lnTo>
                    <a:pt x="0" y="109727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CCE4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447675" y="1828107"/>
          <a:ext cx="914399" cy="913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545">
                <a:tc gridSpan="3"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memcached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6096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95C8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545">
                <a:tc gridSpan="2"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bash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5334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95C8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C6C6C"/>
                      </a:solidFill>
                      <a:prstDash val="solid"/>
                    </a:lnL>
                    <a:lnT w="19050">
                      <a:solidFill>
                        <a:srgbClr val="6C6C6C"/>
                      </a:solidFill>
                      <a:prstDash val="solid"/>
                    </a:lnT>
                    <a:solidFill>
                      <a:srgbClr val="95C8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95C877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C6C6C"/>
                      </a:solidFill>
                      <a:prstDash val="solid"/>
                    </a:lnL>
                    <a:solidFill>
                      <a:srgbClr val="95C8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6" name="object 16"/>
          <p:cNvGrpSpPr/>
          <p:nvPr/>
        </p:nvGrpSpPr>
        <p:grpSpPr>
          <a:xfrm>
            <a:off x="365759" y="2934912"/>
            <a:ext cx="1463040" cy="1097280"/>
            <a:chOff x="365759" y="2934912"/>
            <a:chExt cx="1463040" cy="1097280"/>
          </a:xfrm>
        </p:grpSpPr>
        <p:sp>
          <p:nvSpPr>
            <p:cNvPr id="17" name="object 17"/>
            <p:cNvSpPr/>
            <p:nvPr/>
          </p:nvSpPr>
          <p:spPr>
            <a:xfrm>
              <a:off x="365759" y="2934912"/>
              <a:ext cx="1463040" cy="1097280"/>
            </a:xfrm>
            <a:custGeom>
              <a:avLst/>
              <a:gdLst/>
              <a:ahLst/>
              <a:cxnLst/>
              <a:rect l="l" t="t" r="r" b="b"/>
              <a:pathLst>
                <a:path w="1463039" h="1097279">
                  <a:moveTo>
                    <a:pt x="1463040" y="0"/>
                  </a:moveTo>
                  <a:lnTo>
                    <a:pt x="0" y="0"/>
                  </a:lnTo>
                  <a:lnTo>
                    <a:pt x="0" y="1097278"/>
                  </a:lnTo>
                  <a:lnTo>
                    <a:pt x="1463040" y="1097278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95C8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7199" y="3346819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79" h="274320">
                  <a:moveTo>
                    <a:pt x="0" y="0"/>
                  </a:moveTo>
                  <a:lnTo>
                    <a:pt x="182879" y="0"/>
                  </a:lnTo>
                  <a:lnTo>
                    <a:pt x="18287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7199" y="3666431"/>
              <a:ext cx="1278890" cy="274320"/>
            </a:xfrm>
            <a:custGeom>
              <a:avLst/>
              <a:gdLst/>
              <a:ahLst/>
              <a:cxnLst/>
              <a:rect l="l" t="t" r="r" b="b"/>
              <a:pathLst>
                <a:path w="1278889" h="274320">
                  <a:moveTo>
                    <a:pt x="0" y="0"/>
                  </a:moveTo>
                  <a:lnTo>
                    <a:pt x="1278657" y="0"/>
                  </a:lnTo>
                  <a:lnTo>
                    <a:pt x="1278657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31519" y="3346819"/>
              <a:ext cx="731520" cy="274320"/>
            </a:xfrm>
            <a:custGeom>
              <a:avLst/>
              <a:gdLst/>
              <a:ahLst/>
              <a:cxnLst/>
              <a:rect l="l" t="t" r="r" b="b"/>
              <a:pathLst>
                <a:path w="731519" h="274320">
                  <a:moveTo>
                    <a:pt x="0" y="0"/>
                  </a:moveTo>
                  <a:lnTo>
                    <a:pt x="731519" y="0"/>
                  </a:lnTo>
                  <a:lnTo>
                    <a:pt x="73151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65759" y="2934912"/>
            <a:ext cx="1463040" cy="1097280"/>
          </a:xfrm>
          <a:prstGeom prst="rect">
            <a:avLst/>
          </a:prstGeom>
          <a:ln w="25399">
            <a:solidFill>
              <a:srgbClr val="CCE4BE"/>
            </a:solidFill>
          </a:ln>
        </p:spPr>
        <p:txBody>
          <a:bodyPr vert="horz" wrap="square" lIns="0" tIns="131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35"/>
              </a:spcBef>
            </a:pPr>
            <a:endParaRPr sz="1400">
              <a:latin typeface="Times New Roman"/>
              <a:cs typeface="Times New Roman"/>
            </a:endParaRPr>
          </a:p>
          <a:p>
            <a:pPr marL="558165" marR="462280" indent="-83185">
              <a:lnSpc>
                <a:spcPct val="149800"/>
              </a:lnSpc>
            </a:pP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libssl </a:t>
            </a:r>
            <a:r>
              <a:rPr sz="1400" b="1" spc="-20" dirty="0">
                <a:solidFill>
                  <a:srgbClr val="FFFFFF"/>
                </a:solidFill>
                <a:latin typeface="Verdana"/>
                <a:cs typeface="Verdana"/>
              </a:rPr>
              <a:t>libc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65759" y="3020245"/>
            <a:ext cx="1463040" cy="2200910"/>
            <a:chOff x="365759" y="3020245"/>
            <a:chExt cx="1463040" cy="2200910"/>
          </a:xfrm>
        </p:grpSpPr>
        <p:sp>
          <p:nvSpPr>
            <p:cNvPr id="23" name="object 23"/>
            <p:cNvSpPr/>
            <p:nvPr/>
          </p:nvSpPr>
          <p:spPr>
            <a:xfrm>
              <a:off x="457199" y="3029770"/>
              <a:ext cx="912494" cy="274320"/>
            </a:xfrm>
            <a:custGeom>
              <a:avLst/>
              <a:gdLst/>
              <a:ahLst/>
              <a:cxnLst/>
              <a:rect l="l" t="t" r="r" b="b"/>
              <a:pathLst>
                <a:path w="912494" h="274320">
                  <a:moveTo>
                    <a:pt x="0" y="0"/>
                  </a:moveTo>
                  <a:lnTo>
                    <a:pt x="912145" y="0"/>
                  </a:lnTo>
                  <a:lnTo>
                    <a:pt x="912145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54479" y="3346819"/>
              <a:ext cx="91440" cy="274320"/>
            </a:xfrm>
            <a:custGeom>
              <a:avLst/>
              <a:gdLst/>
              <a:ahLst/>
              <a:cxnLst/>
              <a:rect l="l" t="t" r="r" b="b"/>
              <a:pathLst>
                <a:path w="91439" h="274320">
                  <a:moveTo>
                    <a:pt x="0" y="0"/>
                  </a:moveTo>
                  <a:lnTo>
                    <a:pt x="91440" y="0"/>
                  </a:lnTo>
                  <a:lnTo>
                    <a:pt x="91440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63040" y="3029770"/>
              <a:ext cx="184785" cy="274320"/>
            </a:xfrm>
            <a:custGeom>
              <a:avLst/>
              <a:gdLst/>
              <a:ahLst/>
              <a:cxnLst/>
              <a:rect l="l" t="t" r="r" b="b"/>
              <a:pathLst>
                <a:path w="184785" h="274320">
                  <a:moveTo>
                    <a:pt x="0" y="0"/>
                  </a:moveTo>
                  <a:lnTo>
                    <a:pt x="184381" y="0"/>
                  </a:lnTo>
                  <a:lnTo>
                    <a:pt x="184381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65759" y="4123631"/>
              <a:ext cx="1463040" cy="1097280"/>
            </a:xfrm>
            <a:custGeom>
              <a:avLst/>
              <a:gdLst/>
              <a:ahLst/>
              <a:cxnLst/>
              <a:rect l="l" t="t" r="r" b="b"/>
              <a:pathLst>
                <a:path w="1463039" h="1097279">
                  <a:moveTo>
                    <a:pt x="1463040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1463040" y="1097280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95C8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7199" y="4212793"/>
              <a:ext cx="731520" cy="274320"/>
            </a:xfrm>
            <a:custGeom>
              <a:avLst/>
              <a:gdLst/>
              <a:ahLst/>
              <a:cxnLst/>
              <a:rect l="l" t="t" r="r" b="b"/>
              <a:pathLst>
                <a:path w="731519" h="274320">
                  <a:moveTo>
                    <a:pt x="0" y="0"/>
                  </a:moveTo>
                  <a:lnTo>
                    <a:pt x="731519" y="0"/>
                  </a:lnTo>
                  <a:lnTo>
                    <a:pt x="73151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4065" y="4532833"/>
              <a:ext cx="643255" cy="274320"/>
            </a:xfrm>
            <a:custGeom>
              <a:avLst/>
              <a:gdLst/>
              <a:ahLst/>
              <a:cxnLst/>
              <a:rect l="l" t="t" r="r" b="b"/>
              <a:pathLst>
                <a:path w="643255" h="274320">
                  <a:moveTo>
                    <a:pt x="0" y="0"/>
                  </a:moveTo>
                  <a:lnTo>
                    <a:pt x="643212" y="0"/>
                  </a:lnTo>
                  <a:lnTo>
                    <a:pt x="643212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65759" y="4123631"/>
            <a:ext cx="1463040" cy="1097280"/>
          </a:xfrm>
          <a:prstGeom prst="rect">
            <a:avLst/>
          </a:prstGeom>
          <a:ln w="25399">
            <a:solidFill>
              <a:srgbClr val="CCE4BE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48285" marR="826769" indent="42545">
              <a:lnSpc>
                <a:spcPct val="15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Verdana"/>
                <a:cs typeface="Verdana"/>
              </a:rPr>
              <a:t>ssh </a:t>
            </a:r>
            <a:r>
              <a:rPr sz="1400" b="1" spc="-20" dirty="0">
                <a:solidFill>
                  <a:srgbClr val="FFFFFF"/>
                </a:solidFill>
                <a:latin typeface="Verdana"/>
                <a:cs typeface="Verdana"/>
              </a:rPr>
              <a:t>init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51472" y="5298064"/>
            <a:ext cx="1491615" cy="1125855"/>
            <a:chOff x="351472" y="5298064"/>
            <a:chExt cx="1491615" cy="1125855"/>
          </a:xfrm>
        </p:grpSpPr>
        <p:sp>
          <p:nvSpPr>
            <p:cNvPr id="31" name="object 31"/>
            <p:cNvSpPr/>
            <p:nvPr/>
          </p:nvSpPr>
          <p:spPr>
            <a:xfrm>
              <a:off x="365759" y="5312351"/>
              <a:ext cx="1463040" cy="1097280"/>
            </a:xfrm>
            <a:custGeom>
              <a:avLst/>
              <a:gdLst/>
              <a:ahLst/>
              <a:cxnLst/>
              <a:rect l="l" t="t" r="r" b="b"/>
              <a:pathLst>
                <a:path w="1463039" h="1097279">
                  <a:moveTo>
                    <a:pt x="1463040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1463040" y="1097280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3CA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65759" y="5312351"/>
              <a:ext cx="1463040" cy="1097280"/>
            </a:xfrm>
            <a:custGeom>
              <a:avLst/>
              <a:gdLst/>
              <a:ahLst/>
              <a:cxnLst/>
              <a:rect l="l" t="t" r="r" b="b"/>
              <a:pathLst>
                <a:path w="1463039" h="1097279">
                  <a:moveTo>
                    <a:pt x="0" y="0"/>
                  </a:moveTo>
                  <a:lnTo>
                    <a:pt x="1463039" y="0"/>
                  </a:lnTo>
                  <a:lnTo>
                    <a:pt x="1463039" y="1097279"/>
                  </a:lnTo>
                  <a:lnTo>
                    <a:pt x="0" y="109727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A7D1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447675" y="5398254"/>
          <a:ext cx="1279523" cy="898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4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netfront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6C6C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34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blkfront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51435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545">
                <a:tc gridSpan="2">
                  <a:txBody>
                    <a:bodyPr/>
                    <a:lstStyle/>
                    <a:p>
                      <a:pPr marL="3282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ext4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5334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solidFill>
                      <a:srgbClr val="3CA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4" name="object 34"/>
          <p:cNvGrpSpPr/>
          <p:nvPr/>
        </p:nvGrpSpPr>
        <p:grpSpPr>
          <a:xfrm>
            <a:off x="2078182" y="1090321"/>
            <a:ext cx="4264660" cy="5407025"/>
            <a:chOff x="2078182" y="1090321"/>
            <a:chExt cx="4264660" cy="5407025"/>
          </a:xfrm>
        </p:grpSpPr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44038" y="1090321"/>
              <a:ext cx="4133663" cy="540692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78182" y="1463039"/>
              <a:ext cx="4264428" cy="3844636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2816860" y="5750119"/>
            <a:ext cx="504190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b="1" spc="-10" dirty="0">
                <a:solidFill>
                  <a:srgbClr val="318BFF"/>
                </a:solidFill>
                <a:latin typeface="Calibri"/>
                <a:cs typeface="Calibri"/>
              </a:rPr>
              <a:t>Kernel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3691" y="205127"/>
            <a:ext cx="53219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Tinyx:</a:t>
            </a:r>
            <a:r>
              <a:rPr sz="4000" spc="-15" dirty="0"/>
              <a:t> </a:t>
            </a:r>
            <a:r>
              <a:rPr sz="4000" spc="-20" dirty="0"/>
              <a:t>Taylor-</a:t>
            </a:r>
            <a:r>
              <a:rPr sz="4000" dirty="0"/>
              <a:t>made</a:t>
            </a:r>
            <a:r>
              <a:rPr sz="4000" spc="-15" dirty="0"/>
              <a:t> </a:t>
            </a:r>
            <a:r>
              <a:rPr sz="4000" spc="-10" dirty="0"/>
              <a:t>Distro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216130" y="1064028"/>
            <a:ext cx="1762760" cy="5515610"/>
            <a:chOff x="216130" y="1064028"/>
            <a:chExt cx="1762760" cy="55156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130" y="1064028"/>
              <a:ext cx="1762297" cy="55154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74320" y="1106112"/>
              <a:ext cx="1645920" cy="5394960"/>
            </a:xfrm>
            <a:custGeom>
              <a:avLst/>
              <a:gdLst/>
              <a:ahLst/>
              <a:cxnLst/>
              <a:rect l="l" t="t" r="r" b="b"/>
              <a:pathLst>
                <a:path w="1645920" h="5394960">
                  <a:moveTo>
                    <a:pt x="1645920" y="0"/>
                  </a:moveTo>
                  <a:lnTo>
                    <a:pt x="0" y="0"/>
                  </a:lnTo>
                  <a:lnTo>
                    <a:pt x="0" y="5394958"/>
                  </a:lnTo>
                  <a:lnTo>
                    <a:pt x="1645920" y="5394958"/>
                  </a:lnTo>
                  <a:lnTo>
                    <a:pt x="1645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320" y="1106113"/>
              <a:ext cx="1645920" cy="5394960"/>
            </a:xfrm>
            <a:custGeom>
              <a:avLst/>
              <a:gdLst/>
              <a:ahLst/>
              <a:cxnLst/>
              <a:rect l="l" t="t" r="r" b="b"/>
              <a:pathLst>
                <a:path w="1645920" h="5394960">
                  <a:moveTo>
                    <a:pt x="0" y="0"/>
                  </a:moveTo>
                  <a:lnTo>
                    <a:pt x="1645919" y="0"/>
                  </a:lnTo>
                  <a:lnTo>
                    <a:pt x="1645919" y="5394958"/>
                  </a:lnTo>
                  <a:lnTo>
                    <a:pt x="0" y="5394958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258" y="1167937"/>
              <a:ext cx="1596043" cy="5943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080" y="1242752"/>
              <a:ext cx="918556" cy="44888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65759" y="1197552"/>
            <a:ext cx="1463040" cy="457200"/>
          </a:xfrm>
          <a:prstGeom prst="rect">
            <a:avLst/>
          </a:prstGeom>
          <a:solidFill>
            <a:srgbClr val="E55C5E"/>
          </a:solidFill>
          <a:ln w="19049">
            <a:solidFill>
              <a:srgbClr val="6C6C6C"/>
            </a:solidFill>
          </a:ln>
        </p:spPr>
        <p:txBody>
          <a:bodyPr vert="horz" wrap="square" lIns="0" tIns="91440" rIns="0" bIns="0" rtlCol="0">
            <a:spAutoFit/>
          </a:bodyPr>
          <a:lstStyle/>
          <a:p>
            <a:pPr marL="360680">
              <a:lnSpc>
                <a:spcPct val="100000"/>
              </a:lnSpc>
              <a:spcBef>
                <a:spcPts val="720"/>
              </a:spcBef>
            </a:pPr>
            <a:r>
              <a:rPr sz="1800" b="1" spc="-10" dirty="0">
                <a:solidFill>
                  <a:srgbClr val="FFFFFF"/>
                </a:solidFill>
                <a:latin typeface="Verdana"/>
                <a:cs typeface="Verdana"/>
              </a:rPr>
              <a:t>Nginx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40660" y="4552891"/>
            <a:ext cx="6248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85BF64"/>
                </a:solidFill>
                <a:latin typeface="Calibri"/>
                <a:cs typeface="Calibri"/>
              </a:rPr>
              <a:t>Services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27960" y="3364171"/>
            <a:ext cx="657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85BF64"/>
                </a:solidFill>
                <a:latin typeface="Calibri"/>
                <a:cs typeface="Calibri"/>
              </a:rPr>
              <a:t>Libraries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41862" y="1306772"/>
            <a:ext cx="12490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DC444C"/>
                </a:solidFill>
                <a:latin typeface="Calibri"/>
                <a:cs typeface="Calibri"/>
              </a:rPr>
              <a:t>User</a:t>
            </a:r>
            <a:r>
              <a:rPr sz="1400" b="1" spc="-15" dirty="0">
                <a:solidFill>
                  <a:srgbClr val="DC444C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DC444C"/>
                </a:solidFill>
                <a:latin typeface="Calibri"/>
                <a:cs typeface="Calibri"/>
              </a:rPr>
              <a:t>Applica5on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3059" y="1733492"/>
            <a:ext cx="1488440" cy="1122680"/>
            <a:chOff x="353059" y="1733492"/>
            <a:chExt cx="1488440" cy="1122680"/>
          </a:xfrm>
        </p:grpSpPr>
        <p:sp>
          <p:nvSpPr>
            <p:cNvPr id="14" name="object 14"/>
            <p:cNvSpPr/>
            <p:nvPr/>
          </p:nvSpPr>
          <p:spPr>
            <a:xfrm>
              <a:off x="365759" y="1746192"/>
              <a:ext cx="1463040" cy="1097280"/>
            </a:xfrm>
            <a:custGeom>
              <a:avLst/>
              <a:gdLst/>
              <a:ahLst/>
              <a:cxnLst/>
              <a:rect l="l" t="t" r="r" b="b"/>
              <a:pathLst>
                <a:path w="1463039" h="1097280">
                  <a:moveTo>
                    <a:pt x="1463040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1463040" y="1097280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95C8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5759" y="1746192"/>
              <a:ext cx="1463040" cy="1097280"/>
            </a:xfrm>
            <a:custGeom>
              <a:avLst/>
              <a:gdLst/>
              <a:ahLst/>
              <a:cxnLst/>
              <a:rect l="l" t="t" r="r" b="b"/>
              <a:pathLst>
                <a:path w="1463039" h="1097280">
                  <a:moveTo>
                    <a:pt x="0" y="0"/>
                  </a:moveTo>
                  <a:lnTo>
                    <a:pt x="1463039" y="0"/>
                  </a:lnTo>
                  <a:lnTo>
                    <a:pt x="1463039" y="1097279"/>
                  </a:lnTo>
                  <a:lnTo>
                    <a:pt x="0" y="109727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CCE4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447675" y="1828107"/>
          <a:ext cx="914399" cy="913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545">
                <a:tc gridSpan="3"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memcached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6096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95C8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545">
                <a:tc gridSpan="2"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bash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5334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95C8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C6C6C"/>
                      </a:solidFill>
                      <a:prstDash val="solid"/>
                    </a:lnL>
                    <a:lnT w="19050">
                      <a:solidFill>
                        <a:srgbClr val="6C6C6C"/>
                      </a:solidFill>
                      <a:prstDash val="solid"/>
                    </a:lnT>
                    <a:solidFill>
                      <a:srgbClr val="95C8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95C877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C6C6C"/>
                      </a:solidFill>
                      <a:prstDash val="solid"/>
                    </a:lnL>
                    <a:solidFill>
                      <a:srgbClr val="95C8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2237100" y="2175452"/>
            <a:ext cx="16586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85BF64"/>
                </a:solidFill>
                <a:latin typeface="Calibri"/>
                <a:cs typeface="Calibri"/>
              </a:rPr>
              <a:t>3</a:t>
            </a:r>
            <a:r>
              <a:rPr sz="1350" b="1" baseline="24691" dirty="0">
                <a:solidFill>
                  <a:srgbClr val="95C877"/>
                </a:solidFill>
                <a:latin typeface="Calibri"/>
                <a:cs typeface="Calibri"/>
              </a:rPr>
              <a:t>rd</a:t>
            </a:r>
            <a:r>
              <a:rPr sz="1350" b="1" spc="150" baseline="24691" dirty="0">
                <a:solidFill>
                  <a:srgbClr val="95C877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85BF64"/>
                </a:solidFill>
                <a:latin typeface="Calibri"/>
                <a:cs typeface="Calibri"/>
              </a:rPr>
              <a:t>Party</a:t>
            </a:r>
            <a:r>
              <a:rPr sz="1400" b="1" spc="-5" dirty="0">
                <a:solidFill>
                  <a:srgbClr val="85BF64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85BF64"/>
                </a:solidFill>
                <a:latin typeface="Calibri"/>
                <a:cs typeface="Calibri"/>
              </a:rPr>
              <a:t>Applica5ons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65759" y="2934912"/>
            <a:ext cx="1463040" cy="1097280"/>
            <a:chOff x="365759" y="2934912"/>
            <a:chExt cx="1463040" cy="1097280"/>
          </a:xfrm>
        </p:grpSpPr>
        <p:sp>
          <p:nvSpPr>
            <p:cNvPr id="19" name="object 19"/>
            <p:cNvSpPr/>
            <p:nvPr/>
          </p:nvSpPr>
          <p:spPr>
            <a:xfrm>
              <a:off x="365759" y="2934912"/>
              <a:ext cx="1463040" cy="1097280"/>
            </a:xfrm>
            <a:custGeom>
              <a:avLst/>
              <a:gdLst/>
              <a:ahLst/>
              <a:cxnLst/>
              <a:rect l="l" t="t" r="r" b="b"/>
              <a:pathLst>
                <a:path w="1463039" h="1097279">
                  <a:moveTo>
                    <a:pt x="1463040" y="0"/>
                  </a:moveTo>
                  <a:lnTo>
                    <a:pt x="0" y="0"/>
                  </a:lnTo>
                  <a:lnTo>
                    <a:pt x="0" y="1097278"/>
                  </a:lnTo>
                  <a:lnTo>
                    <a:pt x="1463040" y="1097278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95C8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7199" y="3346819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79" h="274320">
                  <a:moveTo>
                    <a:pt x="0" y="0"/>
                  </a:moveTo>
                  <a:lnTo>
                    <a:pt x="182879" y="0"/>
                  </a:lnTo>
                  <a:lnTo>
                    <a:pt x="18287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7199" y="3666431"/>
              <a:ext cx="1278890" cy="274320"/>
            </a:xfrm>
            <a:custGeom>
              <a:avLst/>
              <a:gdLst/>
              <a:ahLst/>
              <a:cxnLst/>
              <a:rect l="l" t="t" r="r" b="b"/>
              <a:pathLst>
                <a:path w="1278889" h="274320">
                  <a:moveTo>
                    <a:pt x="0" y="0"/>
                  </a:moveTo>
                  <a:lnTo>
                    <a:pt x="1278657" y="0"/>
                  </a:lnTo>
                  <a:lnTo>
                    <a:pt x="1278657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1519" y="3346819"/>
              <a:ext cx="731520" cy="274320"/>
            </a:xfrm>
            <a:custGeom>
              <a:avLst/>
              <a:gdLst/>
              <a:ahLst/>
              <a:cxnLst/>
              <a:rect l="l" t="t" r="r" b="b"/>
              <a:pathLst>
                <a:path w="731519" h="274320">
                  <a:moveTo>
                    <a:pt x="0" y="0"/>
                  </a:moveTo>
                  <a:lnTo>
                    <a:pt x="731519" y="0"/>
                  </a:lnTo>
                  <a:lnTo>
                    <a:pt x="73151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65759" y="2934912"/>
            <a:ext cx="1463040" cy="1097280"/>
          </a:xfrm>
          <a:prstGeom prst="rect">
            <a:avLst/>
          </a:prstGeom>
          <a:ln w="25399">
            <a:solidFill>
              <a:srgbClr val="CCE4BE"/>
            </a:solidFill>
          </a:ln>
        </p:spPr>
        <p:txBody>
          <a:bodyPr vert="horz" wrap="square" lIns="0" tIns="131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35"/>
              </a:spcBef>
            </a:pPr>
            <a:endParaRPr sz="1400">
              <a:latin typeface="Times New Roman"/>
              <a:cs typeface="Times New Roman"/>
            </a:endParaRPr>
          </a:p>
          <a:p>
            <a:pPr marL="558165" marR="462280" indent="-83185">
              <a:lnSpc>
                <a:spcPct val="149800"/>
              </a:lnSpc>
            </a:pP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libssl </a:t>
            </a:r>
            <a:r>
              <a:rPr sz="1400" b="1" spc="-20" dirty="0">
                <a:solidFill>
                  <a:srgbClr val="FFFFFF"/>
                </a:solidFill>
                <a:latin typeface="Verdana"/>
                <a:cs typeface="Verdana"/>
              </a:rPr>
              <a:t>libc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65759" y="3020245"/>
            <a:ext cx="1463040" cy="2200910"/>
            <a:chOff x="365759" y="3020245"/>
            <a:chExt cx="1463040" cy="2200910"/>
          </a:xfrm>
        </p:grpSpPr>
        <p:sp>
          <p:nvSpPr>
            <p:cNvPr id="25" name="object 25"/>
            <p:cNvSpPr/>
            <p:nvPr/>
          </p:nvSpPr>
          <p:spPr>
            <a:xfrm>
              <a:off x="457199" y="3029770"/>
              <a:ext cx="912494" cy="274320"/>
            </a:xfrm>
            <a:custGeom>
              <a:avLst/>
              <a:gdLst/>
              <a:ahLst/>
              <a:cxnLst/>
              <a:rect l="l" t="t" r="r" b="b"/>
              <a:pathLst>
                <a:path w="912494" h="274320">
                  <a:moveTo>
                    <a:pt x="0" y="0"/>
                  </a:moveTo>
                  <a:lnTo>
                    <a:pt x="912145" y="0"/>
                  </a:lnTo>
                  <a:lnTo>
                    <a:pt x="912145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554479" y="3346819"/>
              <a:ext cx="91440" cy="274320"/>
            </a:xfrm>
            <a:custGeom>
              <a:avLst/>
              <a:gdLst/>
              <a:ahLst/>
              <a:cxnLst/>
              <a:rect l="l" t="t" r="r" b="b"/>
              <a:pathLst>
                <a:path w="91439" h="274320">
                  <a:moveTo>
                    <a:pt x="0" y="0"/>
                  </a:moveTo>
                  <a:lnTo>
                    <a:pt x="91440" y="0"/>
                  </a:lnTo>
                  <a:lnTo>
                    <a:pt x="91440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463040" y="3029770"/>
              <a:ext cx="184785" cy="274320"/>
            </a:xfrm>
            <a:custGeom>
              <a:avLst/>
              <a:gdLst/>
              <a:ahLst/>
              <a:cxnLst/>
              <a:rect l="l" t="t" r="r" b="b"/>
              <a:pathLst>
                <a:path w="184785" h="274320">
                  <a:moveTo>
                    <a:pt x="0" y="0"/>
                  </a:moveTo>
                  <a:lnTo>
                    <a:pt x="184381" y="0"/>
                  </a:lnTo>
                  <a:lnTo>
                    <a:pt x="184381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65759" y="4123631"/>
              <a:ext cx="1463040" cy="1097280"/>
            </a:xfrm>
            <a:custGeom>
              <a:avLst/>
              <a:gdLst/>
              <a:ahLst/>
              <a:cxnLst/>
              <a:rect l="l" t="t" r="r" b="b"/>
              <a:pathLst>
                <a:path w="1463039" h="1097279">
                  <a:moveTo>
                    <a:pt x="1463040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1463040" y="1097280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95C8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7199" y="4212793"/>
              <a:ext cx="731520" cy="274320"/>
            </a:xfrm>
            <a:custGeom>
              <a:avLst/>
              <a:gdLst/>
              <a:ahLst/>
              <a:cxnLst/>
              <a:rect l="l" t="t" r="r" b="b"/>
              <a:pathLst>
                <a:path w="731519" h="274320">
                  <a:moveTo>
                    <a:pt x="0" y="0"/>
                  </a:moveTo>
                  <a:lnTo>
                    <a:pt x="731519" y="0"/>
                  </a:lnTo>
                  <a:lnTo>
                    <a:pt x="73151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4065" y="4532833"/>
              <a:ext cx="643255" cy="274320"/>
            </a:xfrm>
            <a:custGeom>
              <a:avLst/>
              <a:gdLst/>
              <a:ahLst/>
              <a:cxnLst/>
              <a:rect l="l" t="t" r="r" b="b"/>
              <a:pathLst>
                <a:path w="643255" h="274320">
                  <a:moveTo>
                    <a:pt x="0" y="0"/>
                  </a:moveTo>
                  <a:lnTo>
                    <a:pt x="643212" y="0"/>
                  </a:lnTo>
                  <a:lnTo>
                    <a:pt x="643212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65759" y="4123631"/>
            <a:ext cx="1463040" cy="1097280"/>
          </a:xfrm>
          <a:prstGeom prst="rect">
            <a:avLst/>
          </a:prstGeom>
          <a:ln w="25399">
            <a:solidFill>
              <a:srgbClr val="CCE4BE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48285" marR="826769" indent="42545">
              <a:lnSpc>
                <a:spcPct val="15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Verdana"/>
                <a:cs typeface="Verdana"/>
              </a:rPr>
              <a:t>ssh </a:t>
            </a:r>
            <a:r>
              <a:rPr sz="1400" b="1" spc="-20" dirty="0">
                <a:solidFill>
                  <a:srgbClr val="FFFFFF"/>
                </a:solidFill>
                <a:latin typeface="Verdana"/>
                <a:cs typeface="Verdana"/>
              </a:rPr>
              <a:t>init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51472" y="5298064"/>
            <a:ext cx="1491615" cy="1125855"/>
            <a:chOff x="351472" y="5298064"/>
            <a:chExt cx="1491615" cy="1125855"/>
          </a:xfrm>
        </p:grpSpPr>
        <p:sp>
          <p:nvSpPr>
            <p:cNvPr id="33" name="object 33"/>
            <p:cNvSpPr/>
            <p:nvPr/>
          </p:nvSpPr>
          <p:spPr>
            <a:xfrm>
              <a:off x="365759" y="5312351"/>
              <a:ext cx="1463040" cy="1097280"/>
            </a:xfrm>
            <a:custGeom>
              <a:avLst/>
              <a:gdLst/>
              <a:ahLst/>
              <a:cxnLst/>
              <a:rect l="l" t="t" r="r" b="b"/>
              <a:pathLst>
                <a:path w="1463039" h="1097279">
                  <a:moveTo>
                    <a:pt x="1463040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1463040" y="1097280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3CA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5759" y="5312351"/>
              <a:ext cx="1463040" cy="1097280"/>
            </a:xfrm>
            <a:custGeom>
              <a:avLst/>
              <a:gdLst/>
              <a:ahLst/>
              <a:cxnLst/>
              <a:rect l="l" t="t" r="r" b="b"/>
              <a:pathLst>
                <a:path w="1463039" h="1097279">
                  <a:moveTo>
                    <a:pt x="0" y="0"/>
                  </a:moveTo>
                  <a:lnTo>
                    <a:pt x="1463039" y="0"/>
                  </a:lnTo>
                  <a:lnTo>
                    <a:pt x="1463039" y="1097279"/>
                  </a:lnTo>
                  <a:lnTo>
                    <a:pt x="0" y="109727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A7D1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447675" y="5398254"/>
          <a:ext cx="1279523" cy="898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4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netfront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6C6C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34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blkfront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51435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545">
                <a:tc gridSpan="2">
                  <a:txBody>
                    <a:bodyPr/>
                    <a:lstStyle/>
                    <a:p>
                      <a:pPr marL="3282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ext4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5334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solidFill>
                      <a:srgbClr val="3CA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6" name="object 36"/>
          <p:cNvGrpSpPr/>
          <p:nvPr/>
        </p:nvGrpSpPr>
        <p:grpSpPr>
          <a:xfrm>
            <a:off x="2078182" y="1090321"/>
            <a:ext cx="4264660" cy="5407025"/>
            <a:chOff x="2078182" y="1090321"/>
            <a:chExt cx="4264660" cy="5407025"/>
          </a:xfrm>
        </p:grpSpPr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44038" y="1090321"/>
              <a:ext cx="4133663" cy="540692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78182" y="5203767"/>
              <a:ext cx="4264428" cy="1213658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144038" y="5245902"/>
              <a:ext cx="4133850" cy="1085215"/>
            </a:xfrm>
            <a:custGeom>
              <a:avLst/>
              <a:gdLst/>
              <a:ahLst/>
              <a:cxnLst/>
              <a:rect l="l" t="t" r="r" b="b"/>
              <a:pathLst>
                <a:path w="4133850" h="1085214">
                  <a:moveTo>
                    <a:pt x="0" y="0"/>
                  </a:moveTo>
                  <a:lnTo>
                    <a:pt x="4133662" y="0"/>
                  </a:lnTo>
                  <a:lnTo>
                    <a:pt x="4133662" y="1084740"/>
                  </a:lnTo>
                  <a:lnTo>
                    <a:pt x="0" y="1084740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2816860" y="5750119"/>
            <a:ext cx="504190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b="1" spc="-10" dirty="0">
                <a:solidFill>
                  <a:srgbClr val="318BFF"/>
                </a:solidFill>
                <a:latin typeface="Calibri"/>
                <a:cs typeface="Calibri"/>
              </a:rPr>
              <a:t>Kernel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3691" y="205127"/>
            <a:ext cx="53219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Tinyx:</a:t>
            </a:r>
            <a:r>
              <a:rPr sz="4000" spc="-15" dirty="0"/>
              <a:t> </a:t>
            </a:r>
            <a:r>
              <a:rPr sz="4000" spc="-20" dirty="0"/>
              <a:t>Taylor-</a:t>
            </a:r>
            <a:r>
              <a:rPr sz="4000" dirty="0"/>
              <a:t>made</a:t>
            </a:r>
            <a:r>
              <a:rPr sz="4000" spc="-15" dirty="0"/>
              <a:t> </a:t>
            </a:r>
            <a:r>
              <a:rPr sz="4000" spc="-10" dirty="0"/>
              <a:t>Distro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498770" y="1139132"/>
            <a:ext cx="2216150" cy="3749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0" marR="170815" indent="-177800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2B62"/>
                </a:solidFill>
                <a:latin typeface="Arial"/>
                <a:cs typeface="Arial"/>
              </a:rPr>
              <a:t>▌</a:t>
            </a:r>
            <a:r>
              <a:rPr sz="2000" dirty="0">
                <a:latin typeface="Verdana"/>
                <a:cs typeface="Verdana"/>
              </a:rPr>
              <a:t>Keep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only</a:t>
            </a:r>
            <a:r>
              <a:rPr sz="2000" spc="-25" dirty="0">
                <a:latin typeface="Verdana"/>
                <a:cs typeface="Verdana"/>
              </a:rPr>
              <a:t> the </a:t>
            </a:r>
            <a:r>
              <a:rPr sz="2000" dirty="0">
                <a:latin typeface="Verdana"/>
                <a:cs typeface="Verdana"/>
              </a:rPr>
              <a:t>necessary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bits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pieces</a:t>
            </a:r>
            <a:endParaRPr sz="2000">
              <a:latin typeface="Verdana"/>
              <a:cs typeface="Verdana"/>
            </a:endParaRPr>
          </a:p>
          <a:p>
            <a:pPr marL="393700" marR="259715" indent="-177800">
              <a:lnSpc>
                <a:spcPts val="1900"/>
              </a:lnSpc>
              <a:spcBef>
                <a:spcPts val="580"/>
              </a:spcBef>
              <a:buFont typeface="Wingdings"/>
              <a:buChar char=""/>
              <a:tabLst>
                <a:tab pos="393700" algn="l"/>
                <a:tab pos="394970" algn="l"/>
              </a:tabLst>
            </a:pPr>
            <a:r>
              <a:rPr sz="1600" dirty="0">
                <a:solidFill>
                  <a:srgbClr val="002B62"/>
                </a:solidFill>
                <a:latin typeface="Verdana"/>
                <a:cs typeface="Verdana"/>
              </a:rPr>
              <a:t>	</a:t>
            </a:r>
            <a:r>
              <a:rPr sz="1600" spc="-10" dirty="0">
                <a:latin typeface="Verdana"/>
                <a:cs typeface="Verdana"/>
              </a:rPr>
              <a:t>Specialized </a:t>
            </a:r>
            <a:r>
              <a:rPr sz="1600" dirty="0">
                <a:latin typeface="Verdana"/>
                <a:cs typeface="Verdana"/>
              </a:rPr>
              <a:t>kernel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build </a:t>
            </a:r>
            <a:r>
              <a:rPr sz="1600" dirty="0">
                <a:latin typeface="Verdana"/>
                <a:cs typeface="Verdana"/>
              </a:rPr>
              <a:t>containing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only </a:t>
            </a:r>
            <a:r>
              <a:rPr sz="1600" dirty="0">
                <a:latin typeface="Verdana"/>
                <a:cs typeface="Verdana"/>
              </a:rPr>
              <a:t>the </a:t>
            </a:r>
            <a:r>
              <a:rPr sz="1600" spc="-10" dirty="0">
                <a:latin typeface="Verdana"/>
                <a:cs typeface="Verdana"/>
              </a:rPr>
              <a:t>necessary modules</a:t>
            </a:r>
            <a:endParaRPr sz="1600">
              <a:latin typeface="Verdana"/>
              <a:cs typeface="Verdana"/>
            </a:endParaRPr>
          </a:p>
          <a:p>
            <a:pPr marL="393700" marR="30480" indent="-177800">
              <a:lnSpc>
                <a:spcPct val="101000"/>
              </a:lnSpc>
              <a:spcBef>
                <a:spcPts val="400"/>
              </a:spcBef>
              <a:buFont typeface="Wingdings"/>
              <a:buChar char=""/>
              <a:tabLst>
                <a:tab pos="393700" algn="l"/>
                <a:tab pos="394970" algn="l"/>
              </a:tabLst>
            </a:pPr>
            <a:r>
              <a:rPr sz="1600" dirty="0">
                <a:solidFill>
                  <a:srgbClr val="002B62"/>
                </a:solidFill>
                <a:latin typeface="Verdana"/>
                <a:cs typeface="Verdana"/>
              </a:rPr>
              <a:t>	</a:t>
            </a:r>
            <a:r>
              <a:rPr sz="1600" dirty="0">
                <a:latin typeface="Verdana"/>
                <a:cs typeface="Verdana"/>
              </a:rPr>
              <a:t>Root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filesystem </a:t>
            </a:r>
            <a:r>
              <a:rPr sz="1600" dirty="0">
                <a:latin typeface="Verdana"/>
                <a:cs typeface="Verdana"/>
              </a:rPr>
              <a:t>populated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with </a:t>
            </a:r>
            <a:r>
              <a:rPr sz="1600" dirty="0">
                <a:latin typeface="Verdana"/>
                <a:cs typeface="Verdana"/>
              </a:rPr>
              <a:t>only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necessary </a:t>
            </a:r>
            <a:r>
              <a:rPr sz="1600" dirty="0">
                <a:latin typeface="Verdana"/>
                <a:cs typeface="Verdana"/>
              </a:rPr>
              <a:t>services,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libraries </a:t>
            </a:r>
            <a:r>
              <a:rPr sz="1600" dirty="0">
                <a:latin typeface="Verdana"/>
                <a:cs typeface="Verdana"/>
              </a:rPr>
              <a:t>and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3</a:t>
            </a:r>
            <a:r>
              <a:rPr sz="1575" baseline="26455" dirty="0">
                <a:latin typeface="Verdana"/>
                <a:cs typeface="Verdana"/>
              </a:rPr>
              <a:t>rd</a:t>
            </a:r>
            <a:r>
              <a:rPr sz="1575" spc="284" baseline="2645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party applications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6130" y="1064028"/>
            <a:ext cx="1762760" cy="5515610"/>
            <a:chOff x="216130" y="1064028"/>
            <a:chExt cx="1762760" cy="55156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130" y="1064028"/>
              <a:ext cx="1762297" cy="551549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4320" y="1106112"/>
              <a:ext cx="1645920" cy="5394960"/>
            </a:xfrm>
            <a:custGeom>
              <a:avLst/>
              <a:gdLst/>
              <a:ahLst/>
              <a:cxnLst/>
              <a:rect l="l" t="t" r="r" b="b"/>
              <a:pathLst>
                <a:path w="1645920" h="5394960">
                  <a:moveTo>
                    <a:pt x="1645920" y="0"/>
                  </a:moveTo>
                  <a:lnTo>
                    <a:pt x="0" y="0"/>
                  </a:lnTo>
                  <a:lnTo>
                    <a:pt x="0" y="5394958"/>
                  </a:lnTo>
                  <a:lnTo>
                    <a:pt x="1645920" y="5394958"/>
                  </a:lnTo>
                  <a:lnTo>
                    <a:pt x="1645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320" y="1106113"/>
              <a:ext cx="1645920" cy="5394960"/>
            </a:xfrm>
            <a:custGeom>
              <a:avLst/>
              <a:gdLst/>
              <a:ahLst/>
              <a:cxnLst/>
              <a:rect l="l" t="t" r="r" b="b"/>
              <a:pathLst>
                <a:path w="1645920" h="5394960">
                  <a:moveTo>
                    <a:pt x="0" y="0"/>
                  </a:moveTo>
                  <a:lnTo>
                    <a:pt x="1645919" y="0"/>
                  </a:lnTo>
                  <a:lnTo>
                    <a:pt x="1645919" y="5394958"/>
                  </a:lnTo>
                  <a:lnTo>
                    <a:pt x="0" y="5394958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258" y="1167937"/>
              <a:ext cx="1596043" cy="5943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080" y="1242752"/>
              <a:ext cx="918556" cy="448887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65759" y="1197552"/>
            <a:ext cx="1463040" cy="457200"/>
          </a:xfrm>
          <a:prstGeom prst="rect">
            <a:avLst/>
          </a:prstGeom>
          <a:solidFill>
            <a:srgbClr val="E55C5E"/>
          </a:solidFill>
          <a:ln w="19049">
            <a:solidFill>
              <a:srgbClr val="6C6C6C"/>
            </a:solidFill>
          </a:ln>
        </p:spPr>
        <p:txBody>
          <a:bodyPr vert="horz" wrap="square" lIns="0" tIns="91440" rIns="0" bIns="0" rtlCol="0">
            <a:spAutoFit/>
          </a:bodyPr>
          <a:lstStyle/>
          <a:p>
            <a:pPr marL="360680">
              <a:lnSpc>
                <a:spcPct val="100000"/>
              </a:lnSpc>
              <a:spcBef>
                <a:spcPts val="720"/>
              </a:spcBef>
            </a:pPr>
            <a:r>
              <a:rPr sz="1800" b="1" spc="-10" dirty="0">
                <a:solidFill>
                  <a:srgbClr val="FFFFFF"/>
                </a:solidFill>
                <a:latin typeface="Verdana"/>
                <a:cs typeface="Verdana"/>
              </a:rPr>
              <a:t>Nginx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40660" y="4552891"/>
            <a:ext cx="6248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85BF64"/>
                </a:solidFill>
                <a:latin typeface="Calibri"/>
                <a:cs typeface="Calibri"/>
              </a:rPr>
              <a:t>Services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27960" y="3364171"/>
            <a:ext cx="657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85BF64"/>
                </a:solidFill>
                <a:latin typeface="Calibri"/>
                <a:cs typeface="Calibri"/>
              </a:rPr>
              <a:t>Libraries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1862" y="1306772"/>
            <a:ext cx="12490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DC444C"/>
                </a:solidFill>
                <a:latin typeface="Calibri"/>
                <a:cs typeface="Calibri"/>
              </a:rPr>
              <a:t>User</a:t>
            </a:r>
            <a:r>
              <a:rPr sz="1400" b="1" spc="-15" dirty="0">
                <a:solidFill>
                  <a:srgbClr val="DC444C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DC444C"/>
                </a:solidFill>
                <a:latin typeface="Calibri"/>
                <a:cs typeface="Calibri"/>
              </a:rPr>
              <a:t>Applica5on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53059" y="1733492"/>
            <a:ext cx="1488440" cy="1122680"/>
            <a:chOff x="353059" y="1733492"/>
            <a:chExt cx="1488440" cy="1122680"/>
          </a:xfrm>
        </p:grpSpPr>
        <p:sp>
          <p:nvSpPr>
            <p:cNvPr id="15" name="object 15"/>
            <p:cNvSpPr/>
            <p:nvPr/>
          </p:nvSpPr>
          <p:spPr>
            <a:xfrm>
              <a:off x="365759" y="1746192"/>
              <a:ext cx="1463040" cy="1097280"/>
            </a:xfrm>
            <a:custGeom>
              <a:avLst/>
              <a:gdLst/>
              <a:ahLst/>
              <a:cxnLst/>
              <a:rect l="l" t="t" r="r" b="b"/>
              <a:pathLst>
                <a:path w="1463039" h="1097280">
                  <a:moveTo>
                    <a:pt x="1463040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1463040" y="1097280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95C8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5759" y="1746192"/>
              <a:ext cx="1463040" cy="1097280"/>
            </a:xfrm>
            <a:custGeom>
              <a:avLst/>
              <a:gdLst/>
              <a:ahLst/>
              <a:cxnLst/>
              <a:rect l="l" t="t" r="r" b="b"/>
              <a:pathLst>
                <a:path w="1463039" h="1097280">
                  <a:moveTo>
                    <a:pt x="0" y="0"/>
                  </a:moveTo>
                  <a:lnTo>
                    <a:pt x="1463039" y="0"/>
                  </a:lnTo>
                  <a:lnTo>
                    <a:pt x="1463039" y="1097279"/>
                  </a:lnTo>
                  <a:lnTo>
                    <a:pt x="0" y="109727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CCE4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447675" y="1828107"/>
          <a:ext cx="914399" cy="913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545">
                <a:tc gridSpan="3"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memcached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6096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95C8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545">
                <a:tc gridSpan="2"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bash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5334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95C8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C6C6C"/>
                      </a:solidFill>
                      <a:prstDash val="solid"/>
                    </a:lnL>
                    <a:lnT w="19050">
                      <a:solidFill>
                        <a:srgbClr val="6C6C6C"/>
                      </a:solidFill>
                      <a:prstDash val="solid"/>
                    </a:lnT>
                    <a:solidFill>
                      <a:srgbClr val="95C8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95C877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C6C6C"/>
                      </a:solidFill>
                      <a:prstDash val="solid"/>
                    </a:lnL>
                    <a:solidFill>
                      <a:srgbClr val="95C8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2237100" y="2175452"/>
            <a:ext cx="16586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85BF64"/>
                </a:solidFill>
                <a:latin typeface="Calibri"/>
                <a:cs typeface="Calibri"/>
              </a:rPr>
              <a:t>3</a:t>
            </a:r>
            <a:r>
              <a:rPr sz="1350" b="1" baseline="24691" dirty="0">
                <a:solidFill>
                  <a:srgbClr val="95C877"/>
                </a:solidFill>
                <a:latin typeface="Calibri"/>
                <a:cs typeface="Calibri"/>
              </a:rPr>
              <a:t>rd</a:t>
            </a:r>
            <a:r>
              <a:rPr sz="1350" b="1" spc="150" baseline="24691" dirty="0">
                <a:solidFill>
                  <a:srgbClr val="95C877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85BF64"/>
                </a:solidFill>
                <a:latin typeface="Calibri"/>
                <a:cs typeface="Calibri"/>
              </a:rPr>
              <a:t>Party</a:t>
            </a:r>
            <a:r>
              <a:rPr sz="1400" b="1" spc="-5" dirty="0">
                <a:solidFill>
                  <a:srgbClr val="85BF64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85BF64"/>
                </a:solidFill>
                <a:latin typeface="Calibri"/>
                <a:cs typeface="Calibri"/>
              </a:rPr>
              <a:t>Applica5ons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65759" y="2934912"/>
            <a:ext cx="1463040" cy="1097280"/>
            <a:chOff x="365759" y="2934912"/>
            <a:chExt cx="1463040" cy="1097280"/>
          </a:xfrm>
        </p:grpSpPr>
        <p:sp>
          <p:nvSpPr>
            <p:cNvPr id="20" name="object 20"/>
            <p:cNvSpPr/>
            <p:nvPr/>
          </p:nvSpPr>
          <p:spPr>
            <a:xfrm>
              <a:off x="365759" y="2934912"/>
              <a:ext cx="1463040" cy="1097280"/>
            </a:xfrm>
            <a:custGeom>
              <a:avLst/>
              <a:gdLst/>
              <a:ahLst/>
              <a:cxnLst/>
              <a:rect l="l" t="t" r="r" b="b"/>
              <a:pathLst>
                <a:path w="1463039" h="1097279">
                  <a:moveTo>
                    <a:pt x="1463040" y="0"/>
                  </a:moveTo>
                  <a:lnTo>
                    <a:pt x="0" y="0"/>
                  </a:lnTo>
                  <a:lnTo>
                    <a:pt x="0" y="1097278"/>
                  </a:lnTo>
                  <a:lnTo>
                    <a:pt x="1463040" y="1097278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95C8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7199" y="3346819"/>
              <a:ext cx="182880" cy="274320"/>
            </a:xfrm>
            <a:custGeom>
              <a:avLst/>
              <a:gdLst/>
              <a:ahLst/>
              <a:cxnLst/>
              <a:rect l="l" t="t" r="r" b="b"/>
              <a:pathLst>
                <a:path w="182879" h="274320">
                  <a:moveTo>
                    <a:pt x="0" y="0"/>
                  </a:moveTo>
                  <a:lnTo>
                    <a:pt x="182879" y="0"/>
                  </a:lnTo>
                  <a:lnTo>
                    <a:pt x="18287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7199" y="3666431"/>
              <a:ext cx="1278890" cy="274320"/>
            </a:xfrm>
            <a:custGeom>
              <a:avLst/>
              <a:gdLst/>
              <a:ahLst/>
              <a:cxnLst/>
              <a:rect l="l" t="t" r="r" b="b"/>
              <a:pathLst>
                <a:path w="1278889" h="274320">
                  <a:moveTo>
                    <a:pt x="0" y="0"/>
                  </a:moveTo>
                  <a:lnTo>
                    <a:pt x="1278657" y="0"/>
                  </a:lnTo>
                  <a:lnTo>
                    <a:pt x="1278657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1519" y="3346819"/>
              <a:ext cx="731520" cy="274320"/>
            </a:xfrm>
            <a:custGeom>
              <a:avLst/>
              <a:gdLst/>
              <a:ahLst/>
              <a:cxnLst/>
              <a:rect l="l" t="t" r="r" b="b"/>
              <a:pathLst>
                <a:path w="731519" h="274320">
                  <a:moveTo>
                    <a:pt x="0" y="0"/>
                  </a:moveTo>
                  <a:lnTo>
                    <a:pt x="731519" y="0"/>
                  </a:lnTo>
                  <a:lnTo>
                    <a:pt x="73151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65759" y="2934912"/>
            <a:ext cx="1463040" cy="1097280"/>
          </a:xfrm>
          <a:prstGeom prst="rect">
            <a:avLst/>
          </a:prstGeom>
          <a:ln w="25399">
            <a:solidFill>
              <a:srgbClr val="CCE4BE"/>
            </a:solidFill>
          </a:ln>
        </p:spPr>
        <p:txBody>
          <a:bodyPr vert="horz" wrap="square" lIns="0" tIns="131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35"/>
              </a:spcBef>
            </a:pPr>
            <a:endParaRPr sz="1400">
              <a:latin typeface="Times New Roman"/>
              <a:cs typeface="Times New Roman"/>
            </a:endParaRPr>
          </a:p>
          <a:p>
            <a:pPr marL="558165" marR="462280" indent="-83185">
              <a:lnSpc>
                <a:spcPct val="149800"/>
              </a:lnSpc>
            </a:pP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libssl </a:t>
            </a:r>
            <a:r>
              <a:rPr sz="1400" b="1" spc="-20" dirty="0">
                <a:solidFill>
                  <a:srgbClr val="FFFFFF"/>
                </a:solidFill>
                <a:latin typeface="Verdana"/>
                <a:cs typeface="Verdana"/>
              </a:rPr>
              <a:t>libc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65759" y="3020245"/>
            <a:ext cx="1463040" cy="2200910"/>
            <a:chOff x="365759" y="3020245"/>
            <a:chExt cx="1463040" cy="2200910"/>
          </a:xfrm>
        </p:grpSpPr>
        <p:sp>
          <p:nvSpPr>
            <p:cNvPr id="26" name="object 26"/>
            <p:cNvSpPr/>
            <p:nvPr/>
          </p:nvSpPr>
          <p:spPr>
            <a:xfrm>
              <a:off x="457199" y="3029770"/>
              <a:ext cx="912494" cy="274320"/>
            </a:xfrm>
            <a:custGeom>
              <a:avLst/>
              <a:gdLst/>
              <a:ahLst/>
              <a:cxnLst/>
              <a:rect l="l" t="t" r="r" b="b"/>
              <a:pathLst>
                <a:path w="912494" h="274320">
                  <a:moveTo>
                    <a:pt x="0" y="0"/>
                  </a:moveTo>
                  <a:lnTo>
                    <a:pt x="912145" y="0"/>
                  </a:lnTo>
                  <a:lnTo>
                    <a:pt x="912145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4479" y="3346819"/>
              <a:ext cx="91440" cy="274320"/>
            </a:xfrm>
            <a:custGeom>
              <a:avLst/>
              <a:gdLst/>
              <a:ahLst/>
              <a:cxnLst/>
              <a:rect l="l" t="t" r="r" b="b"/>
              <a:pathLst>
                <a:path w="91439" h="274320">
                  <a:moveTo>
                    <a:pt x="0" y="0"/>
                  </a:moveTo>
                  <a:lnTo>
                    <a:pt x="91440" y="0"/>
                  </a:lnTo>
                  <a:lnTo>
                    <a:pt x="91440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463040" y="3029770"/>
              <a:ext cx="184785" cy="274320"/>
            </a:xfrm>
            <a:custGeom>
              <a:avLst/>
              <a:gdLst/>
              <a:ahLst/>
              <a:cxnLst/>
              <a:rect l="l" t="t" r="r" b="b"/>
              <a:pathLst>
                <a:path w="184785" h="274320">
                  <a:moveTo>
                    <a:pt x="0" y="0"/>
                  </a:moveTo>
                  <a:lnTo>
                    <a:pt x="184381" y="0"/>
                  </a:lnTo>
                  <a:lnTo>
                    <a:pt x="184381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65759" y="4123631"/>
              <a:ext cx="1463040" cy="1097280"/>
            </a:xfrm>
            <a:custGeom>
              <a:avLst/>
              <a:gdLst/>
              <a:ahLst/>
              <a:cxnLst/>
              <a:rect l="l" t="t" r="r" b="b"/>
              <a:pathLst>
                <a:path w="1463039" h="1097279">
                  <a:moveTo>
                    <a:pt x="1463040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1463040" y="1097280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95C8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7199" y="4212793"/>
              <a:ext cx="731520" cy="274320"/>
            </a:xfrm>
            <a:custGeom>
              <a:avLst/>
              <a:gdLst/>
              <a:ahLst/>
              <a:cxnLst/>
              <a:rect l="l" t="t" r="r" b="b"/>
              <a:pathLst>
                <a:path w="731519" h="274320">
                  <a:moveTo>
                    <a:pt x="0" y="0"/>
                  </a:moveTo>
                  <a:lnTo>
                    <a:pt x="731519" y="0"/>
                  </a:lnTo>
                  <a:lnTo>
                    <a:pt x="731519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54065" y="4532833"/>
              <a:ext cx="643255" cy="274320"/>
            </a:xfrm>
            <a:custGeom>
              <a:avLst/>
              <a:gdLst/>
              <a:ahLst/>
              <a:cxnLst/>
              <a:rect l="l" t="t" r="r" b="b"/>
              <a:pathLst>
                <a:path w="643255" h="274320">
                  <a:moveTo>
                    <a:pt x="0" y="0"/>
                  </a:moveTo>
                  <a:lnTo>
                    <a:pt x="643212" y="0"/>
                  </a:lnTo>
                  <a:lnTo>
                    <a:pt x="643212" y="274319"/>
                  </a:lnTo>
                  <a:lnTo>
                    <a:pt x="0" y="27431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65759" y="4123631"/>
            <a:ext cx="1463040" cy="1097280"/>
          </a:xfrm>
          <a:prstGeom prst="rect">
            <a:avLst/>
          </a:prstGeom>
          <a:ln w="25399">
            <a:solidFill>
              <a:srgbClr val="CCE4BE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48285" marR="826769" indent="42545">
              <a:lnSpc>
                <a:spcPct val="15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Verdana"/>
                <a:cs typeface="Verdana"/>
              </a:rPr>
              <a:t>ssh </a:t>
            </a:r>
            <a:r>
              <a:rPr sz="1400" b="1" spc="-20" dirty="0">
                <a:solidFill>
                  <a:srgbClr val="FFFFFF"/>
                </a:solidFill>
                <a:latin typeface="Verdana"/>
                <a:cs typeface="Verdana"/>
              </a:rPr>
              <a:t>init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51472" y="5298064"/>
            <a:ext cx="1491615" cy="1125855"/>
            <a:chOff x="351472" y="5298064"/>
            <a:chExt cx="1491615" cy="1125855"/>
          </a:xfrm>
        </p:grpSpPr>
        <p:sp>
          <p:nvSpPr>
            <p:cNvPr id="34" name="object 34"/>
            <p:cNvSpPr/>
            <p:nvPr/>
          </p:nvSpPr>
          <p:spPr>
            <a:xfrm>
              <a:off x="365759" y="5312351"/>
              <a:ext cx="1463040" cy="1097280"/>
            </a:xfrm>
            <a:custGeom>
              <a:avLst/>
              <a:gdLst/>
              <a:ahLst/>
              <a:cxnLst/>
              <a:rect l="l" t="t" r="r" b="b"/>
              <a:pathLst>
                <a:path w="1463039" h="1097279">
                  <a:moveTo>
                    <a:pt x="1463040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1463040" y="1097280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3CA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65759" y="5312351"/>
              <a:ext cx="1463040" cy="1097280"/>
            </a:xfrm>
            <a:custGeom>
              <a:avLst/>
              <a:gdLst/>
              <a:ahLst/>
              <a:cxnLst/>
              <a:rect l="l" t="t" r="r" b="b"/>
              <a:pathLst>
                <a:path w="1463039" h="1097279">
                  <a:moveTo>
                    <a:pt x="0" y="0"/>
                  </a:moveTo>
                  <a:lnTo>
                    <a:pt x="1463039" y="0"/>
                  </a:lnTo>
                  <a:lnTo>
                    <a:pt x="1463039" y="1097279"/>
                  </a:lnTo>
                  <a:lnTo>
                    <a:pt x="0" y="109727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A7D1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447675" y="5398254"/>
          <a:ext cx="1279523" cy="898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4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netfront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6C6C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34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blkfront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51435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545">
                <a:tc gridSpan="2">
                  <a:txBody>
                    <a:bodyPr/>
                    <a:lstStyle/>
                    <a:p>
                      <a:pPr marL="3282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ext4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5334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solidFill>
                      <a:srgbClr val="3CA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6C6C6C"/>
                      </a:solidFill>
                      <a:prstDash val="solid"/>
                    </a:lnL>
                    <a:lnR w="19050">
                      <a:solidFill>
                        <a:srgbClr val="6C6C6C"/>
                      </a:solidFill>
                      <a:prstDash val="solid"/>
                    </a:lnR>
                    <a:lnT w="19050">
                      <a:solidFill>
                        <a:srgbClr val="6C6C6C"/>
                      </a:solidFill>
                      <a:prstDash val="solid"/>
                    </a:lnT>
                    <a:lnB w="19050">
                      <a:solidFill>
                        <a:srgbClr val="6C6C6C"/>
                      </a:solidFill>
                      <a:prstDash val="solid"/>
                    </a:lnB>
                    <a:solidFill>
                      <a:srgbClr val="3CA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7" name="object 37"/>
          <p:cNvGrpSpPr/>
          <p:nvPr/>
        </p:nvGrpSpPr>
        <p:grpSpPr>
          <a:xfrm>
            <a:off x="2078182" y="1090321"/>
            <a:ext cx="4264660" cy="5407025"/>
            <a:chOff x="2078182" y="1090321"/>
            <a:chExt cx="4264660" cy="5407025"/>
          </a:xfrm>
        </p:grpSpPr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44038" y="1090321"/>
              <a:ext cx="4133663" cy="540692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78182" y="5203767"/>
              <a:ext cx="4264428" cy="1213658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144038" y="5245902"/>
              <a:ext cx="4133850" cy="1085215"/>
            </a:xfrm>
            <a:custGeom>
              <a:avLst/>
              <a:gdLst/>
              <a:ahLst/>
              <a:cxnLst/>
              <a:rect l="l" t="t" r="r" b="b"/>
              <a:pathLst>
                <a:path w="4133850" h="1085214">
                  <a:moveTo>
                    <a:pt x="0" y="0"/>
                  </a:moveTo>
                  <a:lnTo>
                    <a:pt x="4133662" y="0"/>
                  </a:lnTo>
                  <a:lnTo>
                    <a:pt x="4133662" y="1084740"/>
                  </a:lnTo>
                  <a:lnTo>
                    <a:pt x="0" y="1084740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2816860" y="5750119"/>
            <a:ext cx="504190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b="1" spc="-10" dirty="0">
                <a:solidFill>
                  <a:srgbClr val="318BFF"/>
                </a:solidFill>
                <a:latin typeface="Calibri"/>
                <a:cs typeface="Calibri"/>
              </a:rPr>
              <a:t>Kernel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9584">
              <a:lnSpc>
                <a:spcPct val="100000"/>
              </a:lnSpc>
              <a:spcBef>
                <a:spcPts val="100"/>
              </a:spcBef>
            </a:pPr>
            <a:r>
              <a:rPr dirty="0"/>
              <a:t>Virtualiza</a:t>
            </a:r>
            <a:r>
              <a:rPr lang="en-US" dirty="0"/>
              <a:t>ti</a:t>
            </a:r>
            <a:r>
              <a:rPr dirty="0"/>
              <a:t>on</a:t>
            </a:r>
            <a:r>
              <a:rPr spc="30" dirty="0"/>
              <a:t> </a:t>
            </a:r>
            <a:r>
              <a:rPr spc="-10" dirty="0"/>
              <a:t>Technologies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556434"/>
            <a:ext cx="5790565" cy="420243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05"/>
              </a:spcBef>
              <a:buFont typeface="Arial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“Standard”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VM</a:t>
            </a:r>
            <a:endParaRPr sz="30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60"/>
              </a:spcBef>
              <a:buFont typeface="Arial"/>
              <a:buChar char="–"/>
              <a:tabLst>
                <a:tab pos="755650" algn="l"/>
              </a:tabLst>
            </a:pPr>
            <a:r>
              <a:rPr sz="2600" dirty="0">
                <a:latin typeface="Calibri"/>
                <a:cs typeface="Calibri"/>
              </a:rPr>
              <a:t>Standard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Debian-</a:t>
            </a:r>
            <a:r>
              <a:rPr sz="2600" dirty="0">
                <a:latin typeface="Calibri"/>
                <a:cs typeface="Calibri"/>
              </a:rPr>
              <a:t>based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Linux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VM</a:t>
            </a:r>
            <a:endParaRPr sz="2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“Tinyﬁed”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VM</a:t>
            </a:r>
            <a:endParaRPr sz="30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40"/>
              </a:spcBef>
              <a:buFont typeface="Arial"/>
              <a:buChar char="–"/>
              <a:tabLst>
                <a:tab pos="755650" algn="l"/>
              </a:tabLst>
            </a:pPr>
            <a:r>
              <a:rPr sz="2600" dirty="0">
                <a:latin typeface="Calibri"/>
                <a:cs typeface="Calibri"/>
              </a:rPr>
              <a:t>Tinyx,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based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Linux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kernel/busybox</a:t>
            </a:r>
            <a:endParaRPr sz="2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354965" algn="l"/>
              </a:tabLst>
            </a:pPr>
            <a:r>
              <a:rPr sz="3000" spc="-10" dirty="0">
                <a:latin typeface="Calibri"/>
                <a:cs typeface="Calibri"/>
              </a:rPr>
              <a:t>Unikernel</a:t>
            </a:r>
            <a:endParaRPr sz="30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40"/>
              </a:spcBef>
              <a:buFont typeface="Arial"/>
              <a:buChar char="–"/>
              <a:tabLst>
                <a:tab pos="755650" algn="l"/>
              </a:tabLst>
            </a:pPr>
            <a:r>
              <a:rPr sz="2600" dirty="0">
                <a:latin typeface="Calibri"/>
                <a:cs typeface="Calibri"/>
              </a:rPr>
              <a:t>On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Xen: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MiniOS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+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miniperf</a:t>
            </a:r>
            <a:endParaRPr sz="26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80"/>
              </a:spcBef>
              <a:buFont typeface="Arial"/>
              <a:buChar char="–"/>
              <a:tabLst>
                <a:tab pos="755650" algn="l"/>
              </a:tabLst>
            </a:pPr>
            <a:r>
              <a:rPr sz="2600" dirty="0">
                <a:latin typeface="Calibri"/>
                <a:cs typeface="Calibri"/>
              </a:rPr>
              <a:t>On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KVM: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OSv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+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iperf</a:t>
            </a:r>
            <a:endParaRPr sz="2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354965" algn="l"/>
              </a:tabLst>
            </a:pPr>
            <a:r>
              <a:rPr sz="3000" spc="-10" dirty="0">
                <a:latin typeface="Calibri"/>
                <a:cs typeface="Calibri"/>
              </a:rPr>
              <a:t>Containers</a:t>
            </a:r>
            <a:endParaRPr sz="30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40"/>
              </a:spcBef>
              <a:buFont typeface="Arial"/>
              <a:buChar char="–"/>
              <a:tabLst>
                <a:tab pos="755650" algn="l"/>
              </a:tabLst>
            </a:pPr>
            <a:r>
              <a:rPr sz="2600" spc="-10" dirty="0">
                <a:latin typeface="Calibri"/>
                <a:cs typeface="Calibri"/>
              </a:rPr>
              <a:t>Docker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9584">
              <a:lnSpc>
                <a:spcPct val="100000"/>
              </a:lnSpc>
              <a:spcBef>
                <a:spcPts val="100"/>
              </a:spcBef>
            </a:pPr>
            <a:r>
              <a:rPr dirty="0"/>
              <a:t>Virtualiza</a:t>
            </a:r>
            <a:r>
              <a:rPr lang="en-US" dirty="0"/>
              <a:t>ti</a:t>
            </a:r>
            <a:r>
              <a:rPr dirty="0"/>
              <a:t>on</a:t>
            </a:r>
            <a:r>
              <a:rPr spc="30" dirty="0"/>
              <a:t> </a:t>
            </a:r>
            <a:r>
              <a:rPr spc="-10" dirty="0"/>
              <a:t>Technologies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556434"/>
            <a:ext cx="5790565" cy="189103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05"/>
              </a:spcBef>
              <a:buFont typeface="Arial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“Standard”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VM</a:t>
            </a:r>
            <a:endParaRPr sz="30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60"/>
              </a:spcBef>
              <a:buFont typeface="Arial"/>
              <a:buChar char="–"/>
              <a:tabLst>
                <a:tab pos="755650" algn="l"/>
              </a:tabLst>
            </a:pPr>
            <a:r>
              <a:rPr sz="2600" dirty="0">
                <a:latin typeface="Calibri"/>
                <a:cs typeface="Calibri"/>
              </a:rPr>
              <a:t>Standard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Debian-</a:t>
            </a:r>
            <a:r>
              <a:rPr sz="2600" dirty="0">
                <a:latin typeface="Calibri"/>
                <a:cs typeface="Calibri"/>
              </a:rPr>
              <a:t>based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Linux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VM</a:t>
            </a:r>
            <a:endParaRPr sz="2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“Tinyﬁed”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VM</a:t>
            </a:r>
            <a:endParaRPr sz="30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40"/>
              </a:spcBef>
              <a:buFont typeface="Arial"/>
              <a:buChar char="–"/>
              <a:tabLst>
                <a:tab pos="755650" algn="l"/>
              </a:tabLst>
            </a:pPr>
            <a:r>
              <a:rPr sz="2600" dirty="0">
                <a:latin typeface="Calibri"/>
                <a:cs typeface="Calibri"/>
              </a:rPr>
              <a:t>Tinyx,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based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Linux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kernel/busybox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5319" y="3522631"/>
            <a:ext cx="6635750" cy="1354455"/>
          </a:xfrm>
          <a:prstGeom prst="rect">
            <a:avLst/>
          </a:prstGeom>
          <a:ln w="38099">
            <a:solidFill>
              <a:srgbClr val="FF26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6095" indent="-342900">
              <a:lnSpc>
                <a:spcPts val="3245"/>
              </a:lnSpc>
              <a:buFont typeface="Arial"/>
              <a:buChar char="•"/>
              <a:tabLst>
                <a:tab pos="506095" algn="l"/>
              </a:tabLst>
            </a:pPr>
            <a:r>
              <a:rPr sz="3000" spc="-10" dirty="0">
                <a:latin typeface="Calibri"/>
                <a:cs typeface="Calibri"/>
              </a:rPr>
              <a:t>Unikernel</a:t>
            </a:r>
            <a:endParaRPr sz="3000">
              <a:latin typeface="Calibri"/>
              <a:cs typeface="Calibri"/>
            </a:endParaRPr>
          </a:p>
          <a:p>
            <a:pPr marL="906144" lvl="1" indent="-285750">
              <a:lnSpc>
                <a:spcPct val="100000"/>
              </a:lnSpc>
              <a:spcBef>
                <a:spcPts val="345"/>
              </a:spcBef>
              <a:buFont typeface="Arial"/>
              <a:buChar char="–"/>
              <a:tabLst>
                <a:tab pos="906144" algn="l"/>
              </a:tabLst>
            </a:pPr>
            <a:r>
              <a:rPr sz="2600" dirty="0">
                <a:latin typeface="Calibri"/>
                <a:cs typeface="Calibri"/>
              </a:rPr>
              <a:t>On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Xen: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MiniOS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+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miniperf</a:t>
            </a:r>
            <a:endParaRPr sz="2600">
              <a:latin typeface="Calibri"/>
              <a:cs typeface="Calibri"/>
            </a:endParaRPr>
          </a:p>
          <a:p>
            <a:pPr marL="906144" lvl="1" indent="-285750">
              <a:lnSpc>
                <a:spcPct val="100000"/>
              </a:lnSpc>
              <a:spcBef>
                <a:spcPts val="280"/>
              </a:spcBef>
              <a:buFont typeface="Arial"/>
              <a:buChar char="–"/>
              <a:tabLst>
                <a:tab pos="906144" algn="l"/>
              </a:tabLst>
            </a:pPr>
            <a:r>
              <a:rPr sz="2600" dirty="0">
                <a:latin typeface="Calibri"/>
                <a:cs typeface="Calibri"/>
              </a:rPr>
              <a:t>On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KVM: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OSv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+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iperf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39" y="4785750"/>
            <a:ext cx="2041525" cy="97345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354965" algn="l"/>
              </a:tabLst>
            </a:pPr>
            <a:r>
              <a:rPr sz="3000" spc="-10" dirty="0">
                <a:latin typeface="Calibri"/>
                <a:cs typeface="Calibri"/>
              </a:rPr>
              <a:t>Containers</a:t>
            </a:r>
            <a:endParaRPr sz="3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45"/>
              </a:spcBef>
            </a:pPr>
            <a:r>
              <a:rPr sz="2600" dirty="0">
                <a:latin typeface="Arial"/>
                <a:cs typeface="Arial"/>
              </a:rPr>
              <a:t>–</a:t>
            </a:r>
            <a:r>
              <a:rPr sz="2600" spc="65" dirty="0">
                <a:latin typeface="Arial"/>
                <a:cs typeface="Arial"/>
              </a:rPr>
              <a:t> </a:t>
            </a:r>
            <a:r>
              <a:rPr sz="2600" spc="-10" dirty="0">
                <a:latin typeface="Calibri"/>
                <a:cs typeface="Calibri"/>
              </a:rPr>
              <a:t>Docker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040" y="3478875"/>
            <a:ext cx="6766559" cy="1483822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3650">
              <a:lnSpc>
                <a:spcPct val="100000"/>
              </a:lnSpc>
              <a:spcBef>
                <a:spcPts val="100"/>
              </a:spcBef>
            </a:pPr>
            <a:r>
              <a:rPr dirty="0"/>
              <a:t>What’s</a:t>
            </a:r>
            <a:r>
              <a:rPr spc="-6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spc="-10" dirty="0"/>
              <a:t>Unikernel?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9483" y="1374458"/>
            <a:ext cx="3923665" cy="240030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54965" marR="139065" indent="-342900">
              <a:lnSpc>
                <a:spcPct val="79200"/>
              </a:lnSpc>
              <a:spcBef>
                <a:spcPts val="844"/>
              </a:spcBef>
              <a:buFont typeface="Arial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Specialized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VM: </a:t>
            </a:r>
            <a:r>
              <a:rPr sz="3000" spc="-10" dirty="0">
                <a:latin typeface="Calibri"/>
                <a:cs typeface="Calibri"/>
              </a:rPr>
              <a:t>single </a:t>
            </a:r>
            <a:r>
              <a:rPr sz="3000" dirty="0">
                <a:latin typeface="Calibri"/>
                <a:cs typeface="Calibri"/>
              </a:rPr>
              <a:t>applica</a:t>
            </a:r>
            <a:r>
              <a:rPr lang="en-US" sz="3000" dirty="0">
                <a:latin typeface="Calibri"/>
                <a:cs typeface="Calibri"/>
              </a:rPr>
              <a:t>ti</a:t>
            </a:r>
            <a:r>
              <a:rPr sz="3000" dirty="0">
                <a:latin typeface="Calibri"/>
                <a:cs typeface="Calibri"/>
              </a:rPr>
              <a:t>on</a:t>
            </a:r>
            <a:r>
              <a:rPr sz="3000" spc="110" dirty="0">
                <a:latin typeface="Calibri"/>
                <a:cs typeface="Calibri"/>
              </a:rPr>
              <a:t> </a:t>
            </a:r>
            <a:r>
              <a:rPr sz="3000" spc="-50" dirty="0">
                <a:latin typeface="Calibri"/>
                <a:cs typeface="Calibri"/>
              </a:rPr>
              <a:t>+ </a:t>
            </a:r>
            <a:r>
              <a:rPr sz="3000" dirty="0">
                <a:latin typeface="Calibri"/>
                <a:cs typeface="Calibri"/>
              </a:rPr>
              <a:t>minimalis</a:t>
            </a:r>
            <a:r>
              <a:rPr lang="en-US" sz="3000" dirty="0">
                <a:latin typeface="Calibri"/>
                <a:cs typeface="Calibri"/>
              </a:rPr>
              <a:t>ti</a:t>
            </a:r>
            <a:r>
              <a:rPr sz="3000" dirty="0">
                <a:latin typeface="Calibri"/>
                <a:cs typeface="Calibri"/>
              </a:rPr>
              <a:t>c</a:t>
            </a:r>
            <a:r>
              <a:rPr sz="3000" spc="8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OS</a:t>
            </a:r>
            <a:endParaRPr sz="3000" dirty="0">
              <a:latin typeface="Calibri"/>
              <a:cs typeface="Calibri"/>
            </a:endParaRPr>
          </a:p>
          <a:p>
            <a:pPr marL="354965" marR="5080" indent="-342900">
              <a:lnSpc>
                <a:spcPct val="80300"/>
              </a:lnSpc>
              <a:spcBef>
                <a:spcPts val="730"/>
              </a:spcBef>
              <a:buFont typeface="Arial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Single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address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space, co-</a:t>
            </a:r>
            <a:r>
              <a:rPr sz="3000" dirty="0">
                <a:latin typeface="Calibri"/>
                <a:cs typeface="Calibri"/>
              </a:rPr>
              <a:t>opera</a:t>
            </a:r>
            <a:r>
              <a:rPr lang="en-US" sz="3000" dirty="0">
                <a:latin typeface="Calibri"/>
                <a:cs typeface="Calibri"/>
              </a:rPr>
              <a:t>ti</a:t>
            </a:r>
            <a:r>
              <a:rPr sz="3000" dirty="0">
                <a:latin typeface="Calibri"/>
                <a:cs typeface="Calibri"/>
              </a:rPr>
              <a:t>ve</a:t>
            </a:r>
            <a:r>
              <a:rPr sz="3000" spc="10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scheduler </a:t>
            </a:r>
            <a:r>
              <a:rPr sz="3000" dirty="0">
                <a:latin typeface="Calibri"/>
                <a:cs typeface="Calibri"/>
              </a:rPr>
              <a:t>so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low</a:t>
            </a:r>
            <a:r>
              <a:rPr sz="3000" i="1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overheads</a:t>
            </a:r>
            <a:endParaRPr sz="3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3650">
              <a:lnSpc>
                <a:spcPct val="100000"/>
              </a:lnSpc>
              <a:spcBef>
                <a:spcPts val="100"/>
              </a:spcBef>
            </a:pPr>
            <a:r>
              <a:rPr dirty="0"/>
              <a:t>What’s</a:t>
            </a:r>
            <a:r>
              <a:rPr spc="-6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spc="-10" dirty="0"/>
              <a:t>Unikernel?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9483" y="1374458"/>
            <a:ext cx="3923665" cy="240030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54965" marR="139065" indent="-342900">
              <a:lnSpc>
                <a:spcPct val="79200"/>
              </a:lnSpc>
              <a:spcBef>
                <a:spcPts val="844"/>
              </a:spcBef>
              <a:buFont typeface="Arial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Specialized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VM: </a:t>
            </a:r>
            <a:r>
              <a:rPr sz="3000" spc="-10" dirty="0">
                <a:latin typeface="Calibri"/>
                <a:cs typeface="Calibri"/>
              </a:rPr>
              <a:t>single </a:t>
            </a:r>
            <a:r>
              <a:rPr sz="3000" dirty="0">
                <a:latin typeface="Calibri"/>
                <a:cs typeface="Calibri"/>
              </a:rPr>
              <a:t>applica</a:t>
            </a:r>
            <a:r>
              <a:rPr lang="en-US" sz="3000" dirty="0">
                <a:latin typeface="Calibri"/>
                <a:cs typeface="Calibri"/>
              </a:rPr>
              <a:t>ti</a:t>
            </a:r>
            <a:r>
              <a:rPr sz="3000" dirty="0">
                <a:latin typeface="Calibri"/>
                <a:cs typeface="Calibri"/>
              </a:rPr>
              <a:t>on</a:t>
            </a:r>
            <a:r>
              <a:rPr sz="3000" spc="110" dirty="0">
                <a:latin typeface="Calibri"/>
                <a:cs typeface="Calibri"/>
              </a:rPr>
              <a:t> </a:t>
            </a:r>
            <a:r>
              <a:rPr sz="3000" spc="-50" dirty="0">
                <a:latin typeface="Calibri"/>
                <a:cs typeface="Calibri"/>
              </a:rPr>
              <a:t>+ </a:t>
            </a:r>
            <a:r>
              <a:rPr sz="3000" dirty="0">
                <a:latin typeface="Calibri"/>
                <a:cs typeface="Calibri"/>
              </a:rPr>
              <a:t>minimalis</a:t>
            </a:r>
            <a:r>
              <a:rPr lang="en-US" sz="3000" dirty="0">
                <a:latin typeface="Calibri"/>
                <a:cs typeface="Calibri"/>
              </a:rPr>
              <a:t>ti</a:t>
            </a:r>
            <a:r>
              <a:rPr sz="3000" dirty="0">
                <a:latin typeface="Calibri"/>
                <a:cs typeface="Calibri"/>
              </a:rPr>
              <a:t>c</a:t>
            </a:r>
            <a:r>
              <a:rPr sz="3000" spc="8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OS</a:t>
            </a:r>
            <a:endParaRPr sz="3000" dirty="0">
              <a:latin typeface="Calibri"/>
              <a:cs typeface="Calibri"/>
            </a:endParaRPr>
          </a:p>
          <a:p>
            <a:pPr marL="354965" marR="5080" indent="-342900">
              <a:lnSpc>
                <a:spcPct val="80300"/>
              </a:lnSpc>
              <a:spcBef>
                <a:spcPts val="730"/>
              </a:spcBef>
              <a:buFont typeface="Arial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Single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address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space, co-</a:t>
            </a:r>
            <a:r>
              <a:rPr sz="3000" dirty="0">
                <a:latin typeface="Calibri"/>
                <a:cs typeface="Calibri"/>
              </a:rPr>
              <a:t>opera</a:t>
            </a:r>
            <a:r>
              <a:rPr lang="en-US" sz="3000" dirty="0">
                <a:latin typeface="Calibri"/>
                <a:cs typeface="Calibri"/>
              </a:rPr>
              <a:t>ti</a:t>
            </a:r>
            <a:r>
              <a:rPr sz="3000" dirty="0">
                <a:latin typeface="Calibri"/>
                <a:cs typeface="Calibri"/>
              </a:rPr>
              <a:t>ve</a:t>
            </a:r>
            <a:r>
              <a:rPr sz="3000" spc="10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scheduler </a:t>
            </a:r>
            <a:r>
              <a:rPr sz="3000" dirty="0">
                <a:latin typeface="Calibri"/>
                <a:cs typeface="Calibri"/>
              </a:rPr>
              <a:t>so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low</a:t>
            </a:r>
            <a:r>
              <a:rPr sz="3000" i="1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overheads</a:t>
            </a:r>
            <a:endParaRPr sz="30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912821" y="3200399"/>
            <a:ext cx="1334770" cy="2423160"/>
            <a:chOff x="4912821" y="3200399"/>
            <a:chExt cx="1334770" cy="24231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2821" y="3200399"/>
              <a:ext cx="1334192" cy="24231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962766" y="3229095"/>
              <a:ext cx="1232535" cy="2322195"/>
            </a:xfrm>
            <a:custGeom>
              <a:avLst/>
              <a:gdLst/>
              <a:ahLst/>
              <a:cxnLst/>
              <a:rect l="l" t="t" r="r" b="b"/>
              <a:pathLst>
                <a:path w="1232535" h="2322195">
                  <a:moveTo>
                    <a:pt x="1232151" y="0"/>
                  </a:moveTo>
                  <a:lnTo>
                    <a:pt x="0" y="0"/>
                  </a:lnTo>
                  <a:lnTo>
                    <a:pt x="0" y="2321934"/>
                  </a:lnTo>
                  <a:lnTo>
                    <a:pt x="1232151" y="2321934"/>
                  </a:lnTo>
                  <a:lnTo>
                    <a:pt x="1232151" y="0"/>
                  </a:lnTo>
                  <a:close/>
                </a:path>
              </a:pathLst>
            </a:custGeom>
            <a:solidFill>
              <a:srgbClr val="9191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62766" y="3229095"/>
              <a:ext cx="1232535" cy="2322195"/>
            </a:xfrm>
            <a:custGeom>
              <a:avLst/>
              <a:gdLst/>
              <a:ahLst/>
              <a:cxnLst/>
              <a:rect l="l" t="t" r="r" b="b"/>
              <a:pathLst>
                <a:path w="1232535" h="2322195">
                  <a:moveTo>
                    <a:pt x="0" y="0"/>
                  </a:moveTo>
                  <a:lnTo>
                    <a:pt x="1232152" y="0"/>
                  </a:lnTo>
                  <a:lnTo>
                    <a:pt x="1232152" y="2321934"/>
                  </a:lnTo>
                  <a:lnTo>
                    <a:pt x="0" y="232193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79323" y="4634344"/>
              <a:ext cx="411479" cy="93518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029187" y="4660926"/>
            <a:ext cx="312420" cy="836930"/>
          </a:xfrm>
          <a:prstGeom prst="rect">
            <a:avLst/>
          </a:prstGeom>
          <a:solidFill>
            <a:srgbClr val="CF7007"/>
          </a:solidFill>
          <a:ln w="9524">
            <a:solidFill>
              <a:srgbClr val="FFFFFF"/>
            </a:solidFill>
          </a:ln>
        </p:spPr>
        <p:txBody>
          <a:bodyPr vert="vert270" wrap="square" lIns="0" tIns="34925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275"/>
              </a:spcBef>
            </a:pPr>
            <a:r>
              <a:rPr sz="1300" spc="-10" dirty="0">
                <a:solidFill>
                  <a:srgbClr val="FFFFFF"/>
                </a:solidFill>
                <a:latin typeface="Courier New"/>
                <a:cs typeface="Courier New"/>
              </a:rPr>
              <a:t>driver1</a:t>
            </a:r>
            <a:endParaRPr sz="1300">
              <a:latin typeface="Courier New"/>
              <a:cs typeface="Courier New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57552" y="4634345"/>
            <a:ext cx="411479" cy="93933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406119" y="4661697"/>
            <a:ext cx="312420" cy="836930"/>
          </a:xfrm>
          <a:prstGeom prst="rect">
            <a:avLst/>
          </a:prstGeom>
          <a:solidFill>
            <a:srgbClr val="CF7007"/>
          </a:solidFill>
          <a:ln w="9524">
            <a:solidFill>
              <a:srgbClr val="FFFFFF"/>
            </a:solidFill>
          </a:ln>
        </p:spPr>
        <p:txBody>
          <a:bodyPr vert="vert270" wrap="square" lIns="0" tIns="2540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200"/>
              </a:spcBef>
            </a:pPr>
            <a:r>
              <a:rPr sz="1300" spc="-10" dirty="0">
                <a:solidFill>
                  <a:srgbClr val="FFFFFF"/>
                </a:solidFill>
                <a:latin typeface="Courier New"/>
                <a:cs typeface="Courier New"/>
              </a:rPr>
              <a:t>driver2</a:t>
            </a:r>
            <a:endParaRPr sz="130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717472" y="1953491"/>
            <a:ext cx="1492250" cy="3728720"/>
            <a:chOff x="4717472" y="1953491"/>
            <a:chExt cx="1492250" cy="372872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25289" y="3054927"/>
              <a:ext cx="1284316" cy="11637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971713" y="3094218"/>
              <a:ext cx="1193800" cy="0"/>
            </a:xfrm>
            <a:custGeom>
              <a:avLst/>
              <a:gdLst/>
              <a:ahLst/>
              <a:cxnLst/>
              <a:rect l="l" t="t" r="r" b="b"/>
              <a:pathLst>
                <a:path w="1193800">
                  <a:moveTo>
                    <a:pt x="0" y="0"/>
                  </a:moveTo>
                  <a:lnTo>
                    <a:pt x="1193290" y="1"/>
                  </a:lnTo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29446" y="1953491"/>
              <a:ext cx="419792" cy="111806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979417" y="1980716"/>
              <a:ext cx="321310" cy="1016000"/>
            </a:xfrm>
            <a:custGeom>
              <a:avLst/>
              <a:gdLst/>
              <a:ahLst/>
              <a:cxnLst/>
              <a:rect l="l" t="t" r="r" b="b"/>
              <a:pathLst>
                <a:path w="321310" h="1016000">
                  <a:moveTo>
                    <a:pt x="320724" y="0"/>
                  </a:moveTo>
                  <a:lnTo>
                    <a:pt x="0" y="0"/>
                  </a:lnTo>
                  <a:lnTo>
                    <a:pt x="0" y="1015837"/>
                  </a:lnTo>
                  <a:lnTo>
                    <a:pt x="320724" y="1015837"/>
                  </a:lnTo>
                  <a:lnTo>
                    <a:pt x="3207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79417" y="1980715"/>
              <a:ext cx="321310" cy="1016000"/>
            </a:xfrm>
            <a:custGeom>
              <a:avLst/>
              <a:gdLst/>
              <a:ahLst/>
              <a:cxnLst/>
              <a:rect l="l" t="t" r="r" b="b"/>
              <a:pathLst>
                <a:path w="321310" h="1016000">
                  <a:moveTo>
                    <a:pt x="0" y="1015837"/>
                  </a:moveTo>
                  <a:lnTo>
                    <a:pt x="320724" y="1015837"/>
                  </a:lnTo>
                  <a:lnTo>
                    <a:pt x="320724" y="0"/>
                  </a:lnTo>
                  <a:lnTo>
                    <a:pt x="0" y="0"/>
                  </a:lnTo>
                  <a:lnTo>
                    <a:pt x="0" y="1015837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17472" y="3104803"/>
              <a:ext cx="232756" cy="257694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774657" y="3141278"/>
              <a:ext cx="131445" cy="2463800"/>
            </a:xfrm>
            <a:custGeom>
              <a:avLst/>
              <a:gdLst/>
              <a:ahLst/>
              <a:cxnLst/>
              <a:rect l="l" t="t" r="r" b="b"/>
              <a:pathLst>
                <a:path w="131445" h="2463800">
                  <a:moveTo>
                    <a:pt x="131371" y="2463460"/>
                  </a:moveTo>
                  <a:lnTo>
                    <a:pt x="80235" y="2462600"/>
                  </a:lnTo>
                  <a:lnTo>
                    <a:pt x="38477" y="2460254"/>
                  </a:lnTo>
                  <a:lnTo>
                    <a:pt x="10323" y="2456774"/>
                  </a:lnTo>
                  <a:lnTo>
                    <a:pt x="0" y="2452513"/>
                  </a:lnTo>
                  <a:lnTo>
                    <a:pt x="0" y="10947"/>
                  </a:lnTo>
                  <a:lnTo>
                    <a:pt x="10323" y="6685"/>
                  </a:lnTo>
                  <a:lnTo>
                    <a:pt x="38477" y="3206"/>
                  </a:lnTo>
                  <a:lnTo>
                    <a:pt x="80235" y="860"/>
                  </a:lnTo>
                  <a:lnTo>
                    <a:pt x="131371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917127" y="5692505"/>
            <a:ext cx="1253490" cy="5232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 marR="23495" indent="25400">
              <a:lnSpc>
                <a:spcPts val="1300"/>
              </a:lnSpc>
              <a:spcBef>
                <a:spcPts val="160"/>
              </a:spcBef>
            </a:pPr>
            <a:r>
              <a:rPr sz="1100" b="1" spc="-10" dirty="0">
                <a:latin typeface="Calibri"/>
                <a:cs typeface="Calibri"/>
              </a:rPr>
              <a:t>GENERAL-PURPOSE </a:t>
            </a:r>
            <a:r>
              <a:rPr sz="1100" b="1" dirty="0">
                <a:latin typeface="Calibri"/>
                <a:cs typeface="Calibri"/>
              </a:rPr>
              <a:t>OPERATING</a:t>
            </a:r>
            <a:r>
              <a:rPr sz="1100" b="1" spc="-5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SYSTEM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260"/>
              </a:lnSpc>
            </a:pPr>
            <a:r>
              <a:rPr sz="1100" b="1" dirty="0">
                <a:latin typeface="Calibri"/>
                <a:cs typeface="Calibri"/>
              </a:rPr>
              <a:t>(e.g.,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Linux,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FreeBSD)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47784" y="3996996"/>
            <a:ext cx="196215" cy="866775"/>
          </a:xfrm>
          <a:prstGeom prst="rect">
            <a:avLst/>
          </a:prstGeom>
        </p:spPr>
        <p:txBody>
          <a:bodyPr vert="vert270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100" b="1" dirty="0">
                <a:latin typeface="Calibri"/>
                <a:cs typeface="Calibri"/>
              </a:rPr>
              <a:t>KERNEL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SPACE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717472" y="1920239"/>
            <a:ext cx="200025" cy="1234440"/>
            <a:chOff x="4717472" y="1920239"/>
            <a:chExt cx="200025" cy="1234440"/>
          </a:xfrm>
        </p:grpSpPr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17472" y="1920239"/>
              <a:ext cx="199505" cy="123443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774660" y="1958818"/>
              <a:ext cx="99060" cy="1116330"/>
            </a:xfrm>
            <a:custGeom>
              <a:avLst/>
              <a:gdLst/>
              <a:ahLst/>
              <a:cxnLst/>
              <a:rect l="l" t="t" r="r" b="b"/>
              <a:pathLst>
                <a:path w="99060" h="1116330">
                  <a:moveTo>
                    <a:pt x="98528" y="1115886"/>
                  </a:moveTo>
                  <a:lnTo>
                    <a:pt x="60176" y="1115241"/>
                  </a:lnTo>
                  <a:lnTo>
                    <a:pt x="28858" y="1113482"/>
                  </a:lnTo>
                  <a:lnTo>
                    <a:pt x="7742" y="1110872"/>
                  </a:lnTo>
                  <a:lnTo>
                    <a:pt x="0" y="1107676"/>
                  </a:lnTo>
                  <a:lnTo>
                    <a:pt x="0" y="8209"/>
                  </a:lnTo>
                  <a:lnTo>
                    <a:pt x="7742" y="5014"/>
                  </a:lnTo>
                  <a:lnTo>
                    <a:pt x="28858" y="2404"/>
                  </a:lnTo>
                  <a:lnTo>
                    <a:pt x="60176" y="645"/>
                  </a:lnTo>
                  <a:lnTo>
                    <a:pt x="98528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535970" y="2140252"/>
            <a:ext cx="196215" cy="728345"/>
          </a:xfrm>
          <a:prstGeom prst="rect">
            <a:avLst/>
          </a:prstGeom>
        </p:spPr>
        <p:txBody>
          <a:bodyPr vert="vert270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100" b="1" dirty="0">
                <a:latin typeface="Calibri"/>
                <a:cs typeface="Calibri"/>
              </a:rPr>
              <a:t>USER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SPACE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278582" y="1961803"/>
            <a:ext cx="420370" cy="1118235"/>
            <a:chOff x="5278582" y="1961803"/>
            <a:chExt cx="420370" cy="1118235"/>
          </a:xfrm>
        </p:grpSpPr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78582" y="1961803"/>
              <a:ext cx="419792" cy="1118061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328880" y="1990778"/>
              <a:ext cx="321310" cy="1016000"/>
            </a:xfrm>
            <a:custGeom>
              <a:avLst/>
              <a:gdLst/>
              <a:ahLst/>
              <a:cxnLst/>
              <a:rect l="l" t="t" r="r" b="b"/>
              <a:pathLst>
                <a:path w="321310" h="1016000">
                  <a:moveTo>
                    <a:pt x="320725" y="0"/>
                  </a:moveTo>
                  <a:lnTo>
                    <a:pt x="0" y="0"/>
                  </a:lnTo>
                  <a:lnTo>
                    <a:pt x="0" y="1015837"/>
                  </a:lnTo>
                  <a:lnTo>
                    <a:pt x="320725" y="1015837"/>
                  </a:lnTo>
                  <a:lnTo>
                    <a:pt x="3207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328880" y="1990777"/>
              <a:ext cx="321310" cy="1016000"/>
            </a:xfrm>
            <a:custGeom>
              <a:avLst/>
              <a:gdLst/>
              <a:ahLst/>
              <a:cxnLst/>
              <a:rect l="l" t="t" r="r" b="b"/>
              <a:pathLst>
                <a:path w="321310" h="1016000">
                  <a:moveTo>
                    <a:pt x="0" y="1015837"/>
                  </a:moveTo>
                  <a:lnTo>
                    <a:pt x="320724" y="1015837"/>
                  </a:lnTo>
                  <a:lnTo>
                    <a:pt x="320724" y="0"/>
                  </a:lnTo>
                  <a:lnTo>
                    <a:pt x="0" y="0"/>
                  </a:lnTo>
                  <a:lnTo>
                    <a:pt x="0" y="1015837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013963" y="2154772"/>
            <a:ext cx="578485" cy="6451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22225">
              <a:lnSpc>
                <a:spcPts val="1625"/>
              </a:lnSpc>
            </a:pPr>
            <a:r>
              <a:rPr sz="1600" dirty="0">
                <a:solidFill>
                  <a:srgbClr val="FFFFFF"/>
                </a:solidFill>
                <a:latin typeface="Courier New"/>
                <a:cs typeface="Courier New"/>
              </a:rPr>
              <a:t>app</a:t>
            </a:r>
            <a:r>
              <a:rPr sz="16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600" dirty="0">
                <a:solidFill>
                  <a:srgbClr val="FFFFFF"/>
                </a:solidFill>
                <a:latin typeface="Courier New"/>
                <a:cs typeface="Courier New"/>
              </a:rPr>
              <a:t>app</a:t>
            </a:r>
            <a:r>
              <a:rPr sz="16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Courier New"/>
                <a:cs typeface="Courier New"/>
              </a:rPr>
              <a:t>2</a:t>
            </a:r>
            <a:endParaRPr sz="1600">
              <a:latin typeface="Courier New"/>
              <a:cs typeface="Courier New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802283" y="1961803"/>
            <a:ext cx="423949" cy="1118061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5853514" y="1989892"/>
            <a:ext cx="321310" cy="1016000"/>
          </a:xfrm>
          <a:prstGeom prst="rect">
            <a:avLst/>
          </a:prstGeom>
          <a:solidFill>
            <a:srgbClr val="000000"/>
          </a:solidFill>
          <a:ln w="9524">
            <a:solidFill>
              <a:srgbClr val="FFFFFF"/>
            </a:solidFill>
          </a:ln>
        </p:spPr>
        <p:txBody>
          <a:bodyPr vert="vert270" wrap="square" lIns="0" tIns="0" rIns="0" bIns="0" rtlCol="0">
            <a:spAutoFit/>
          </a:bodyPr>
          <a:lstStyle/>
          <a:p>
            <a:pPr marL="219075">
              <a:lnSpc>
                <a:spcPts val="1900"/>
              </a:lnSpc>
            </a:pPr>
            <a:r>
              <a:rPr sz="1600" dirty="0">
                <a:solidFill>
                  <a:srgbClr val="FFFFFF"/>
                </a:solidFill>
                <a:latin typeface="Courier New"/>
                <a:cs typeface="Courier New"/>
              </a:rPr>
              <a:t>app</a:t>
            </a:r>
            <a:r>
              <a:rPr sz="16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endParaRPr sz="1600">
              <a:latin typeface="Courier New"/>
              <a:cs typeface="Courier New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769031" y="4634344"/>
            <a:ext cx="415636" cy="935181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5821271" y="4660811"/>
            <a:ext cx="312420" cy="836930"/>
          </a:xfrm>
          <a:prstGeom prst="rect">
            <a:avLst/>
          </a:prstGeom>
          <a:solidFill>
            <a:srgbClr val="CF7007"/>
          </a:solidFill>
          <a:ln w="9524">
            <a:solidFill>
              <a:srgbClr val="FFFFFF"/>
            </a:solidFill>
          </a:ln>
        </p:spPr>
        <p:txBody>
          <a:bodyPr vert="vert270" wrap="square" lIns="0" tIns="2540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200"/>
              </a:spcBef>
            </a:pPr>
            <a:r>
              <a:rPr sz="1300" spc="-10" dirty="0">
                <a:solidFill>
                  <a:srgbClr val="FFFFFF"/>
                </a:solidFill>
                <a:latin typeface="Courier New"/>
                <a:cs typeface="Courier New"/>
              </a:rPr>
              <a:t>driverN</a:t>
            </a:r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3650">
              <a:lnSpc>
                <a:spcPct val="100000"/>
              </a:lnSpc>
              <a:spcBef>
                <a:spcPts val="100"/>
              </a:spcBef>
            </a:pPr>
            <a:r>
              <a:rPr dirty="0"/>
              <a:t>What’s</a:t>
            </a:r>
            <a:r>
              <a:rPr spc="-6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spc="-10" dirty="0"/>
              <a:t>Unikernel?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9483" y="1374458"/>
            <a:ext cx="3923665" cy="240030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54965" marR="139065" indent="-342900">
              <a:lnSpc>
                <a:spcPct val="79200"/>
              </a:lnSpc>
              <a:spcBef>
                <a:spcPts val="844"/>
              </a:spcBef>
              <a:buFont typeface="Arial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Specialized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VM: </a:t>
            </a:r>
            <a:r>
              <a:rPr sz="3000" spc="-10" dirty="0">
                <a:latin typeface="Calibri"/>
                <a:cs typeface="Calibri"/>
              </a:rPr>
              <a:t>single </a:t>
            </a:r>
            <a:r>
              <a:rPr sz="3000" dirty="0">
                <a:latin typeface="Calibri"/>
                <a:cs typeface="Calibri"/>
              </a:rPr>
              <a:t>applica</a:t>
            </a:r>
            <a:r>
              <a:rPr lang="en-US" sz="3000" dirty="0">
                <a:latin typeface="Calibri"/>
                <a:cs typeface="Calibri"/>
              </a:rPr>
              <a:t>ti</a:t>
            </a:r>
            <a:r>
              <a:rPr sz="3000" dirty="0">
                <a:latin typeface="Calibri"/>
                <a:cs typeface="Calibri"/>
              </a:rPr>
              <a:t>on</a:t>
            </a:r>
            <a:r>
              <a:rPr sz="3000" spc="110" dirty="0">
                <a:latin typeface="Calibri"/>
                <a:cs typeface="Calibri"/>
              </a:rPr>
              <a:t> </a:t>
            </a:r>
            <a:r>
              <a:rPr sz="3000" spc="-50" dirty="0">
                <a:latin typeface="Calibri"/>
                <a:cs typeface="Calibri"/>
              </a:rPr>
              <a:t>+ </a:t>
            </a:r>
            <a:r>
              <a:rPr sz="3000" dirty="0">
                <a:latin typeface="Calibri"/>
                <a:cs typeface="Calibri"/>
              </a:rPr>
              <a:t>minimalis</a:t>
            </a:r>
            <a:r>
              <a:rPr lang="en-US" sz="3000" dirty="0">
                <a:latin typeface="Calibri"/>
                <a:cs typeface="Calibri"/>
              </a:rPr>
              <a:t>ti</a:t>
            </a:r>
            <a:r>
              <a:rPr sz="3000" dirty="0">
                <a:latin typeface="Calibri"/>
                <a:cs typeface="Calibri"/>
              </a:rPr>
              <a:t>c</a:t>
            </a:r>
            <a:r>
              <a:rPr sz="3000" spc="8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OS</a:t>
            </a:r>
            <a:endParaRPr sz="3000" dirty="0">
              <a:latin typeface="Calibri"/>
              <a:cs typeface="Calibri"/>
            </a:endParaRPr>
          </a:p>
          <a:p>
            <a:pPr marL="354965" marR="5080" indent="-342900">
              <a:lnSpc>
                <a:spcPct val="80300"/>
              </a:lnSpc>
              <a:spcBef>
                <a:spcPts val="730"/>
              </a:spcBef>
              <a:buFont typeface="Arial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Single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address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space, co-</a:t>
            </a:r>
            <a:r>
              <a:rPr sz="3000" dirty="0">
                <a:latin typeface="Calibri"/>
                <a:cs typeface="Calibri"/>
              </a:rPr>
              <a:t>opera</a:t>
            </a:r>
            <a:r>
              <a:rPr lang="en-US" sz="3000" dirty="0">
                <a:latin typeface="Calibri"/>
                <a:cs typeface="Calibri"/>
              </a:rPr>
              <a:t>ti</a:t>
            </a:r>
            <a:r>
              <a:rPr sz="3000" dirty="0">
                <a:latin typeface="Calibri"/>
                <a:cs typeface="Calibri"/>
              </a:rPr>
              <a:t>ve</a:t>
            </a:r>
            <a:r>
              <a:rPr sz="3000" spc="10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scheduler </a:t>
            </a:r>
            <a:r>
              <a:rPr sz="3000" dirty="0">
                <a:latin typeface="Calibri"/>
                <a:cs typeface="Calibri"/>
              </a:rPr>
              <a:t>so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low</a:t>
            </a:r>
            <a:r>
              <a:rPr sz="3000" i="1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overheads</a:t>
            </a:r>
            <a:endParaRPr sz="30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912821" y="3200399"/>
            <a:ext cx="1334770" cy="2423160"/>
            <a:chOff x="4912821" y="3200399"/>
            <a:chExt cx="1334770" cy="24231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2821" y="3200399"/>
              <a:ext cx="1334192" cy="24231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962766" y="3229095"/>
              <a:ext cx="1232535" cy="2322195"/>
            </a:xfrm>
            <a:custGeom>
              <a:avLst/>
              <a:gdLst/>
              <a:ahLst/>
              <a:cxnLst/>
              <a:rect l="l" t="t" r="r" b="b"/>
              <a:pathLst>
                <a:path w="1232535" h="2322195">
                  <a:moveTo>
                    <a:pt x="1232151" y="0"/>
                  </a:moveTo>
                  <a:lnTo>
                    <a:pt x="0" y="0"/>
                  </a:lnTo>
                  <a:lnTo>
                    <a:pt x="0" y="2321934"/>
                  </a:lnTo>
                  <a:lnTo>
                    <a:pt x="1232151" y="2321934"/>
                  </a:lnTo>
                  <a:lnTo>
                    <a:pt x="1232151" y="0"/>
                  </a:lnTo>
                  <a:close/>
                </a:path>
              </a:pathLst>
            </a:custGeom>
            <a:solidFill>
              <a:srgbClr val="9191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62766" y="3229095"/>
              <a:ext cx="1232535" cy="2322195"/>
            </a:xfrm>
            <a:custGeom>
              <a:avLst/>
              <a:gdLst/>
              <a:ahLst/>
              <a:cxnLst/>
              <a:rect l="l" t="t" r="r" b="b"/>
              <a:pathLst>
                <a:path w="1232535" h="2322195">
                  <a:moveTo>
                    <a:pt x="0" y="0"/>
                  </a:moveTo>
                  <a:lnTo>
                    <a:pt x="1232152" y="0"/>
                  </a:lnTo>
                  <a:lnTo>
                    <a:pt x="1232152" y="2321934"/>
                  </a:lnTo>
                  <a:lnTo>
                    <a:pt x="0" y="232193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79323" y="4634344"/>
              <a:ext cx="411479" cy="93518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029187" y="4660926"/>
            <a:ext cx="312420" cy="836930"/>
          </a:xfrm>
          <a:prstGeom prst="rect">
            <a:avLst/>
          </a:prstGeom>
          <a:solidFill>
            <a:srgbClr val="CF7007"/>
          </a:solidFill>
          <a:ln w="9524">
            <a:solidFill>
              <a:srgbClr val="FFFFFF"/>
            </a:solidFill>
          </a:ln>
        </p:spPr>
        <p:txBody>
          <a:bodyPr vert="vert270" wrap="square" lIns="0" tIns="34925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275"/>
              </a:spcBef>
            </a:pPr>
            <a:r>
              <a:rPr sz="1300" spc="-10" dirty="0">
                <a:solidFill>
                  <a:srgbClr val="FFFFFF"/>
                </a:solidFill>
                <a:latin typeface="Courier New"/>
                <a:cs typeface="Courier New"/>
              </a:rPr>
              <a:t>driver1</a:t>
            </a:r>
            <a:endParaRPr sz="1300">
              <a:latin typeface="Courier New"/>
              <a:cs typeface="Courier New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57552" y="4634345"/>
            <a:ext cx="411479" cy="93933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406119" y="4661697"/>
            <a:ext cx="312420" cy="836930"/>
          </a:xfrm>
          <a:prstGeom prst="rect">
            <a:avLst/>
          </a:prstGeom>
          <a:solidFill>
            <a:srgbClr val="CF7007"/>
          </a:solidFill>
          <a:ln w="9524">
            <a:solidFill>
              <a:srgbClr val="FFFFFF"/>
            </a:solidFill>
          </a:ln>
        </p:spPr>
        <p:txBody>
          <a:bodyPr vert="vert270" wrap="square" lIns="0" tIns="2540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200"/>
              </a:spcBef>
            </a:pPr>
            <a:r>
              <a:rPr sz="1300" spc="-10" dirty="0">
                <a:solidFill>
                  <a:srgbClr val="FFFFFF"/>
                </a:solidFill>
                <a:latin typeface="Courier New"/>
                <a:cs typeface="Courier New"/>
              </a:rPr>
              <a:t>driver2</a:t>
            </a:r>
            <a:endParaRPr sz="130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717472" y="1953491"/>
            <a:ext cx="1492250" cy="3728720"/>
            <a:chOff x="4717472" y="1953491"/>
            <a:chExt cx="1492250" cy="372872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25289" y="3054927"/>
              <a:ext cx="1284316" cy="11637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971713" y="3094218"/>
              <a:ext cx="1193800" cy="0"/>
            </a:xfrm>
            <a:custGeom>
              <a:avLst/>
              <a:gdLst/>
              <a:ahLst/>
              <a:cxnLst/>
              <a:rect l="l" t="t" r="r" b="b"/>
              <a:pathLst>
                <a:path w="1193800">
                  <a:moveTo>
                    <a:pt x="0" y="0"/>
                  </a:moveTo>
                  <a:lnTo>
                    <a:pt x="1193290" y="1"/>
                  </a:lnTo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29446" y="1953491"/>
              <a:ext cx="419792" cy="111806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979417" y="1980716"/>
              <a:ext cx="321310" cy="1016000"/>
            </a:xfrm>
            <a:custGeom>
              <a:avLst/>
              <a:gdLst/>
              <a:ahLst/>
              <a:cxnLst/>
              <a:rect l="l" t="t" r="r" b="b"/>
              <a:pathLst>
                <a:path w="321310" h="1016000">
                  <a:moveTo>
                    <a:pt x="320724" y="0"/>
                  </a:moveTo>
                  <a:lnTo>
                    <a:pt x="0" y="0"/>
                  </a:lnTo>
                  <a:lnTo>
                    <a:pt x="0" y="1015837"/>
                  </a:lnTo>
                  <a:lnTo>
                    <a:pt x="320724" y="1015837"/>
                  </a:lnTo>
                  <a:lnTo>
                    <a:pt x="3207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79417" y="1980715"/>
              <a:ext cx="321310" cy="1016000"/>
            </a:xfrm>
            <a:custGeom>
              <a:avLst/>
              <a:gdLst/>
              <a:ahLst/>
              <a:cxnLst/>
              <a:rect l="l" t="t" r="r" b="b"/>
              <a:pathLst>
                <a:path w="321310" h="1016000">
                  <a:moveTo>
                    <a:pt x="0" y="1015837"/>
                  </a:moveTo>
                  <a:lnTo>
                    <a:pt x="320724" y="1015837"/>
                  </a:lnTo>
                  <a:lnTo>
                    <a:pt x="320724" y="0"/>
                  </a:lnTo>
                  <a:lnTo>
                    <a:pt x="0" y="0"/>
                  </a:lnTo>
                  <a:lnTo>
                    <a:pt x="0" y="1015837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17472" y="3104803"/>
              <a:ext cx="232756" cy="257694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774657" y="3141278"/>
              <a:ext cx="131445" cy="2463800"/>
            </a:xfrm>
            <a:custGeom>
              <a:avLst/>
              <a:gdLst/>
              <a:ahLst/>
              <a:cxnLst/>
              <a:rect l="l" t="t" r="r" b="b"/>
              <a:pathLst>
                <a:path w="131445" h="2463800">
                  <a:moveTo>
                    <a:pt x="131371" y="2463460"/>
                  </a:moveTo>
                  <a:lnTo>
                    <a:pt x="80235" y="2462600"/>
                  </a:lnTo>
                  <a:lnTo>
                    <a:pt x="38477" y="2460254"/>
                  </a:lnTo>
                  <a:lnTo>
                    <a:pt x="10323" y="2456774"/>
                  </a:lnTo>
                  <a:lnTo>
                    <a:pt x="0" y="2452513"/>
                  </a:lnTo>
                  <a:lnTo>
                    <a:pt x="0" y="10947"/>
                  </a:lnTo>
                  <a:lnTo>
                    <a:pt x="10323" y="6685"/>
                  </a:lnTo>
                  <a:lnTo>
                    <a:pt x="38477" y="3206"/>
                  </a:lnTo>
                  <a:lnTo>
                    <a:pt x="80235" y="860"/>
                  </a:lnTo>
                  <a:lnTo>
                    <a:pt x="131371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917127" y="5692505"/>
            <a:ext cx="1253490" cy="5232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 marR="23495" indent="25400">
              <a:lnSpc>
                <a:spcPts val="1300"/>
              </a:lnSpc>
              <a:spcBef>
                <a:spcPts val="160"/>
              </a:spcBef>
            </a:pPr>
            <a:r>
              <a:rPr sz="1100" b="1" spc="-10" dirty="0">
                <a:latin typeface="Calibri"/>
                <a:cs typeface="Calibri"/>
              </a:rPr>
              <a:t>GENERAL-PURPOSE </a:t>
            </a:r>
            <a:r>
              <a:rPr sz="1100" b="1" dirty="0">
                <a:latin typeface="Calibri"/>
                <a:cs typeface="Calibri"/>
              </a:rPr>
              <a:t>OPERATING</a:t>
            </a:r>
            <a:r>
              <a:rPr sz="1100" b="1" spc="-5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SYSTEM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260"/>
              </a:lnSpc>
            </a:pPr>
            <a:r>
              <a:rPr sz="1100" b="1" dirty="0">
                <a:latin typeface="Calibri"/>
                <a:cs typeface="Calibri"/>
              </a:rPr>
              <a:t>(e.g.,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Linux,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FreeBSD)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47784" y="3996996"/>
            <a:ext cx="196215" cy="866775"/>
          </a:xfrm>
          <a:prstGeom prst="rect">
            <a:avLst/>
          </a:prstGeom>
        </p:spPr>
        <p:txBody>
          <a:bodyPr vert="vert270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100" b="1" dirty="0">
                <a:latin typeface="Calibri"/>
                <a:cs typeface="Calibri"/>
              </a:rPr>
              <a:t>KERNEL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SPACE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717472" y="1920239"/>
            <a:ext cx="200025" cy="1234440"/>
            <a:chOff x="4717472" y="1920239"/>
            <a:chExt cx="200025" cy="1234440"/>
          </a:xfrm>
        </p:grpSpPr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17472" y="1920239"/>
              <a:ext cx="199505" cy="123443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774660" y="1958818"/>
              <a:ext cx="99060" cy="1116330"/>
            </a:xfrm>
            <a:custGeom>
              <a:avLst/>
              <a:gdLst/>
              <a:ahLst/>
              <a:cxnLst/>
              <a:rect l="l" t="t" r="r" b="b"/>
              <a:pathLst>
                <a:path w="99060" h="1116330">
                  <a:moveTo>
                    <a:pt x="98528" y="1115886"/>
                  </a:moveTo>
                  <a:lnTo>
                    <a:pt x="60176" y="1115241"/>
                  </a:lnTo>
                  <a:lnTo>
                    <a:pt x="28858" y="1113482"/>
                  </a:lnTo>
                  <a:lnTo>
                    <a:pt x="7742" y="1110872"/>
                  </a:lnTo>
                  <a:lnTo>
                    <a:pt x="0" y="1107676"/>
                  </a:lnTo>
                  <a:lnTo>
                    <a:pt x="0" y="8209"/>
                  </a:lnTo>
                  <a:lnTo>
                    <a:pt x="7742" y="5014"/>
                  </a:lnTo>
                  <a:lnTo>
                    <a:pt x="28858" y="2404"/>
                  </a:lnTo>
                  <a:lnTo>
                    <a:pt x="60176" y="645"/>
                  </a:lnTo>
                  <a:lnTo>
                    <a:pt x="98528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535970" y="2140252"/>
            <a:ext cx="196215" cy="728345"/>
          </a:xfrm>
          <a:prstGeom prst="rect">
            <a:avLst/>
          </a:prstGeom>
        </p:spPr>
        <p:txBody>
          <a:bodyPr vert="vert270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100" b="1" dirty="0">
                <a:latin typeface="Calibri"/>
                <a:cs typeface="Calibri"/>
              </a:rPr>
              <a:t>USER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SPACE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278582" y="1961803"/>
            <a:ext cx="420370" cy="1118235"/>
            <a:chOff x="5278582" y="1961803"/>
            <a:chExt cx="420370" cy="1118235"/>
          </a:xfrm>
        </p:grpSpPr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78582" y="1961803"/>
              <a:ext cx="419792" cy="1118061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328880" y="1990778"/>
              <a:ext cx="321310" cy="1016000"/>
            </a:xfrm>
            <a:custGeom>
              <a:avLst/>
              <a:gdLst/>
              <a:ahLst/>
              <a:cxnLst/>
              <a:rect l="l" t="t" r="r" b="b"/>
              <a:pathLst>
                <a:path w="321310" h="1016000">
                  <a:moveTo>
                    <a:pt x="320725" y="0"/>
                  </a:moveTo>
                  <a:lnTo>
                    <a:pt x="0" y="0"/>
                  </a:lnTo>
                  <a:lnTo>
                    <a:pt x="0" y="1015837"/>
                  </a:lnTo>
                  <a:lnTo>
                    <a:pt x="320725" y="1015837"/>
                  </a:lnTo>
                  <a:lnTo>
                    <a:pt x="3207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328880" y="1990777"/>
              <a:ext cx="321310" cy="1016000"/>
            </a:xfrm>
            <a:custGeom>
              <a:avLst/>
              <a:gdLst/>
              <a:ahLst/>
              <a:cxnLst/>
              <a:rect l="l" t="t" r="r" b="b"/>
              <a:pathLst>
                <a:path w="321310" h="1016000">
                  <a:moveTo>
                    <a:pt x="0" y="1015837"/>
                  </a:moveTo>
                  <a:lnTo>
                    <a:pt x="320724" y="1015837"/>
                  </a:lnTo>
                  <a:lnTo>
                    <a:pt x="320724" y="0"/>
                  </a:lnTo>
                  <a:lnTo>
                    <a:pt x="0" y="0"/>
                  </a:lnTo>
                  <a:lnTo>
                    <a:pt x="0" y="1015837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013963" y="2154772"/>
            <a:ext cx="578485" cy="6451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22225">
              <a:lnSpc>
                <a:spcPts val="1625"/>
              </a:lnSpc>
            </a:pPr>
            <a:r>
              <a:rPr sz="1600" dirty="0">
                <a:solidFill>
                  <a:srgbClr val="FFFFFF"/>
                </a:solidFill>
                <a:latin typeface="Courier New"/>
                <a:cs typeface="Courier New"/>
              </a:rPr>
              <a:t>app</a:t>
            </a:r>
            <a:r>
              <a:rPr sz="16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600" dirty="0">
                <a:solidFill>
                  <a:srgbClr val="FFFFFF"/>
                </a:solidFill>
                <a:latin typeface="Courier New"/>
                <a:cs typeface="Courier New"/>
              </a:rPr>
              <a:t>app</a:t>
            </a:r>
            <a:r>
              <a:rPr sz="16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Courier New"/>
                <a:cs typeface="Courier New"/>
              </a:rPr>
              <a:t>2</a:t>
            </a:r>
            <a:endParaRPr sz="1600">
              <a:latin typeface="Courier New"/>
              <a:cs typeface="Courier New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802283" y="1961803"/>
            <a:ext cx="423949" cy="1118061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5853514" y="1989892"/>
            <a:ext cx="321310" cy="1016000"/>
          </a:xfrm>
          <a:prstGeom prst="rect">
            <a:avLst/>
          </a:prstGeom>
          <a:solidFill>
            <a:srgbClr val="000000"/>
          </a:solidFill>
          <a:ln w="9524">
            <a:solidFill>
              <a:srgbClr val="FFFFFF"/>
            </a:solidFill>
          </a:ln>
        </p:spPr>
        <p:txBody>
          <a:bodyPr vert="vert270" wrap="square" lIns="0" tIns="0" rIns="0" bIns="0" rtlCol="0">
            <a:spAutoFit/>
          </a:bodyPr>
          <a:lstStyle/>
          <a:p>
            <a:pPr marL="219075">
              <a:lnSpc>
                <a:spcPts val="1900"/>
              </a:lnSpc>
            </a:pPr>
            <a:r>
              <a:rPr sz="1600" dirty="0">
                <a:solidFill>
                  <a:srgbClr val="FFFFFF"/>
                </a:solidFill>
                <a:latin typeface="Courier New"/>
                <a:cs typeface="Courier New"/>
              </a:rPr>
              <a:t>app</a:t>
            </a:r>
            <a:r>
              <a:rPr sz="16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endParaRPr sz="1600">
              <a:latin typeface="Courier New"/>
              <a:cs typeface="Courier New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769031" y="4634344"/>
            <a:ext cx="415636" cy="935181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5821271" y="4660811"/>
            <a:ext cx="312420" cy="836930"/>
          </a:xfrm>
          <a:prstGeom prst="rect">
            <a:avLst/>
          </a:prstGeom>
          <a:solidFill>
            <a:srgbClr val="CF7007"/>
          </a:solidFill>
          <a:ln w="9524">
            <a:solidFill>
              <a:srgbClr val="FFFFFF"/>
            </a:solidFill>
          </a:ln>
        </p:spPr>
        <p:txBody>
          <a:bodyPr vert="vert270" wrap="square" lIns="0" tIns="2540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200"/>
              </a:spcBef>
            </a:pPr>
            <a:r>
              <a:rPr sz="1300" spc="-10" dirty="0">
                <a:solidFill>
                  <a:srgbClr val="FFFFFF"/>
                </a:solidFill>
                <a:latin typeface="Courier New"/>
                <a:cs typeface="Courier New"/>
              </a:rPr>
              <a:t>driverN</a:t>
            </a:r>
            <a:endParaRPr sz="1300">
              <a:latin typeface="Courier New"/>
              <a:cs typeface="Courier New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153101" y="4139738"/>
            <a:ext cx="1330325" cy="1471930"/>
            <a:chOff x="7153101" y="4139738"/>
            <a:chExt cx="1330325" cy="1471930"/>
          </a:xfrm>
        </p:grpSpPr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53101" y="4139738"/>
              <a:ext cx="1330036" cy="147135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201722" y="4166787"/>
              <a:ext cx="1232535" cy="1372235"/>
            </a:xfrm>
            <a:custGeom>
              <a:avLst/>
              <a:gdLst/>
              <a:ahLst/>
              <a:cxnLst/>
              <a:rect l="l" t="t" r="r" b="b"/>
              <a:pathLst>
                <a:path w="1232534" h="1372235">
                  <a:moveTo>
                    <a:pt x="1232152" y="0"/>
                  </a:moveTo>
                  <a:lnTo>
                    <a:pt x="0" y="0"/>
                  </a:lnTo>
                  <a:lnTo>
                    <a:pt x="0" y="1372127"/>
                  </a:lnTo>
                  <a:lnTo>
                    <a:pt x="1232152" y="1372127"/>
                  </a:lnTo>
                  <a:lnTo>
                    <a:pt x="1232152" y="0"/>
                  </a:lnTo>
                  <a:close/>
                </a:path>
              </a:pathLst>
            </a:custGeom>
            <a:solidFill>
              <a:srgbClr val="9191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201721" y="4166787"/>
              <a:ext cx="1232535" cy="1372235"/>
            </a:xfrm>
            <a:custGeom>
              <a:avLst/>
              <a:gdLst/>
              <a:ahLst/>
              <a:cxnLst/>
              <a:rect l="l" t="t" r="r" b="b"/>
              <a:pathLst>
                <a:path w="1232534" h="1372235">
                  <a:moveTo>
                    <a:pt x="0" y="0"/>
                  </a:moveTo>
                  <a:lnTo>
                    <a:pt x="1232152" y="0"/>
                  </a:lnTo>
                  <a:lnTo>
                    <a:pt x="1232152" y="1372127"/>
                  </a:lnTo>
                  <a:lnTo>
                    <a:pt x="0" y="137212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414952" y="4621875"/>
              <a:ext cx="411479" cy="935181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7465207" y="4648812"/>
            <a:ext cx="312420" cy="836930"/>
          </a:xfrm>
          <a:prstGeom prst="rect">
            <a:avLst/>
          </a:prstGeom>
          <a:solidFill>
            <a:srgbClr val="CF7007"/>
          </a:solidFill>
          <a:ln w="9524">
            <a:solidFill>
              <a:srgbClr val="FFFFFF"/>
            </a:solidFill>
          </a:ln>
        </p:spPr>
        <p:txBody>
          <a:bodyPr vert="vert270" wrap="square" lIns="0" tIns="3492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275"/>
              </a:spcBef>
            </a:pPr>
            <a:r>
              <a:rPr sz="1300" spc="-10" dirty="0">
                <a:solidFill>
                  <a:srgbClr val="FFFFFF"/>
                </a:solidFill>
                <a:latin typeface="Courier New"/>
                <a:cs typeface="Courier New"/>
              </a:rPr>
              <a:t>Vdriver1</a:t>
            </a:r>
            <a:endParaRPr sz="1300">
              <a:latin typeface="Courier New"/>
              <a:cs typeface="Courier New"/>
            </a:endParaRPr>
          </a:p>
        </p:txBody>
      </p:sp>
      <p:pic>
        <p:nvPicPr>
          <p:cNvPr id="41" name="object 4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813963" y="4621876"/>
            <a:ext cx="411479" cy="939338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7864035" y="4649583"/>
            <a:ext cx="312420" cy="836930"/>
          </a:xfrm>
          <a:prstGeom prst="rect">
            <a:avLst/>
          </a:prstGeom>
          <a:solidFill>
            <a:srgbClr val="CF7007"/>
          </a:solidFill>
          <a:ln w="9524">
            <a:solidFill>
              <a:srgbClr val="FFFFFF"/>
            </a:solidFill>
          </a:ln>
        </p:spPr>
        <p:txBody>
          <a:bodyPr vert="vert270" wrap="square" lIns="0" tIns="33020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260"/>
              </a:spcBef>
            </a:pP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vdriver2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157257" y="4231177"/>
            <a:ext cx="1301115" cy="349250"/>
            <a:chOff x="7157257" y="4231177"/>
            <a:chExt cx="1301115" cy="349250"/>
          </a:xfrm>
        </p:grpSpPr>
        <p:pic>
          <p:nvPicPr>
            <p:cNvPr id="44" name="object 4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57257" y="4231177"/>
              <a:ext cx="1300942" cy="349134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207756" y="4257705"/>
              <a:ext cx="1200150" cy="249554"/>
            </a:xfrm>
            <a:custGeom>
              <a:avLst/>
              <a:gdLst/>
              <a:ahLst/>
              <a:cxnLst/>
              <a:rect l="l" t="t" r="r" b="b"/>
              <a:pathLst>
                <a:path w="1200150" h="249554">
                  <a:moveTo>
                    <a:pt x="0" y="249265"/>
                  </a:moveTo>
                  <a:lnTo>
                    <a:pt x="1200030" y="249265"/>
                  </a:lnTo>
                  <a:lnTo>
                    <a:pt x="1200030" y="0"/>
                  </a:lnTo>
                  <a:lnTo>
                    <a:pt x="0" y="0"/>
                  </a:lnTo>
                  <a:lnTo>
                    <a:pt x="0" y="249265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207756" y="4257705"/>
            <a:ext cx="1200150" cy="249554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 marL="396875">
              <a:lnSpc>
                <a:spcPts val="1530"/>
              </a:lnSpc>
            </a:pPr>
            <a:r>
              <a:rPr sz="1600" spc="-25" dirty="0">
                <a:solidFill>
                  <a:srgbClr val="FFFFFF"/>
                </a:solidFill>
                <a:latin typeface="Courier New"/>
                <a:cs typeface="Courier New"/>
              </a:rPr>
              <a:t>app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207486" y="5687948"/>
            <a:ext cx="1209040" cy="5232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065" marR="5080" indent="10160" algn="ctr">
              <a:lnSpc>
                <a:spcPts val="1300"/>
              </a:lnSpc>
              <a:spcBef>
                <a:spcPts val="160"/>
              </a:spcBef>
            </a:pPr>
            <a:r>
              <a:rPr sz="1100" b="1" spc="-10" dirty="0">
                <a:latin typeface="Calibri"/>
                <a:cs typeface="Calibri"/>
              </a:rPr>
              <a:t>MINIMALISTIC </a:t>
            </a:r>
            <a:r>
              <a:rPr sz="1100" b="1" dirty="0">
                <a:latin typeface="Calibri"/>
                <a:cs typeface="Calibri"/>
              </a:rPr>
              <a:t>OPERATING</a:t>
            </a:r>
            <a:r>
              <a:rPr sz="1100" b="1" spc="-5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SYSTEM</a:t>
            </a:r>
            <a:endParaRPr sz="1100">
              <a:latin typeface="Calibri"/>
              <a:cs typeface="Calibri"/>
            </a:endParaRPr>
          </a:p>
          <a:p>
            <a:pPr marL="4445" algn="ctr">
              <a:lnSpc>
                <a:spcPts val="1260"/>
              </a:lnSpc>
            </a:pPr>
            <a:r>
              <a:rPr sz="1100" b="1" dirty="0">
                <a:latin typeface="Calibri"/>
                <a:cs typeface="Calibri"/>
              </a:rPr>
              <a:t>(e.g.,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MiniOS,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OSv)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8478982" y="4127269"/>
            <a:ext cx="170815" cy="1508760"/>
            <a:chOff x="8478982" y="4127269"/>
            <a:chExt cx="170815" cy="1508760"/>
          </a:xfrm>
        </p:grpSpPr>
        <p:pic>
          <p:nvPicPr>
            <p:cNvPr id="49" name="object 4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478982" y="4127269"/>
              <a:ext cx="170410" cy="150876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8526312" y="4165902"/>
              <a:ext cx="66675" cy="1391920"/>
            </a:xfrm>
            <a:custGeom>
              <a:avLst/>
              <a:gdLst/>
              <a:ahLst/>
              <a:cxnLst/>
              <a:rect l="l" t="t" r="r" b="b"/>
              <a:pathLst>
                <a:path w="66675" h="1391920">
                  <a:moveTo>
                    <a:pt x="0" y="1391380"/>
                  </a:moveTo>
                  <a:lnTo>
                    <a:pt x="25910" y="1390944"/>
                  </a:lnTo>
                  <a:lnTo>
                    <a:pt x="47068" y="1389756"/>
                  </a:lnTo>
                  <a:lnTo>
                    <a:pt x="61334" y="1387993"/>
                  </a:lnTo>
                  <a:lnTo>
                    <a:pt x="66565" y="1385833"/>
                  </a:lnTo>
                  <a:lnTo>
                    <a:pt x="66565" y="5546"/>
                  </a:lnTo>
                  <a:lnTo>
                    <a:pt x="61334" y="3387"/>
                  </a:lnTo>
                  <a:lnTo>
                    <a:pt x="47068" y="1624"/>
                  </a:lnTo>
                  <a:lnTo>
                    <a:pt x="25910" y="435"/>
                  </a:lnTo>
                  <a:lnTo>
                    <a:pt x="0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8620391" y="4363327"/>
            <a:ext cx="361315" cy="1008380"/>
          </a:xfrm>
          <a:prstGeom prst="rect">
            <a:avLst/>
          </a:prstGeom>
        </p:spPr>
        <p:txBody>
          <a:bodyPr vert="vert" wrap="square" lIns="0" tIns="13335" rIns="0" bIns="0" rtlCol="0">
            <a:spAutoFit/>
          </a:bodyPr>
          <a:lstStyle/>
          <a:p>
            <a:pPr marL="330200" marR="5080" indent="-317500">
              <a:lnSpc>
                <a:spcPts val="1300"/>
              </a:lnSpc>
              <a:spcBef>
                <a:spcPts val="105"/>
              </a:spcBef>
            </a:pPr>
            <a:r>
              <a:rPr sz="1100" b="1" dirty="0">
                <a:latin typeface="Calibri"/>
                <a:cs typeface="Calibri"/>
              </a:rPr>
              <a:t>SINGLE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ADDRESS SPACE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2890">
              <a:lnSpc>
                <a:spcPct val="100000"/>
              </a:lnSpc>
              <a:spcBef>
                <a:spcPts val="100"/>
              </a:spcBef>
            </a:pPr>
            <a:r>
              <a:rPr dirty="0"/>
              <a:t>Unikernels</a:t>
            </a:r>
            <a:r>
              <a:rPr spc="-120" dirty="0"/>
              <a:t> </a:t>
            </a:r>
            <a:r>
              <a:rPr dirty="0"/>
              <a:t>for</a:t>
            </a:r>
            <a:r>
              <a:rPr spc="-125" dirty="0"/>
              <a:t> </a:t>
            </a:r>
            <a:r>
              <a:rPr spc="-10" dirty="0"/>
              <a:t>Benchmarking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750290" y="1474971"/>
          <a:ext cx="871855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354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apps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01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5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78765" marR="238760" indent="-88900">
                        <a:lnSpc>
                          <a:spcPts val="1600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guest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5080" algn="ctr">
                        <a:lnSpc>
                          <a:spcPts val="1350"/>
                        </a:lnSpc>
                        <a:spcBef>
                          <a:spcPts val="1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Xen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19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202979" y="2075567"/>
            <a:ext cx="397510" cy="9493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Xen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2890">
              <a:lnSpc>
                <a:spcPct val="100000"/>
              </a:lnSpc>
              <a:spcBef>
                <a:spcPts val="100"/>
              </a:spcBef>
            </a:pPr>
            <a:r>
              <a:rPr dirty="0"/>
              <a:t>Unikernels</a:t>
            </a:r>
            <a:r>
              <a:rPr spc="-120" dirty="0"/>
              <a:t> </a:t>
            </a:r>
            <a:r>
              <a:rPr dirty="0"/>
              <a:t>for</a:t>
            </a:r>
            <a:r>
              <a:rPr spc="-125" dirty="0"/>
              <a:t> </a:t>
            </a:r>
            <a:r>
              <a:rPr spc="-10" dirty="0"/>
              <a:t>Benchmarking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750290" y="1474971"/>
          <a:ext cx="871855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354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apps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01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5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78765" marR="238760" indent="-88900">
                        <a:lnSpc>
                          <a:spcPts val="1600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guest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5080" algn="ctr">
                        <a:lnSpc>
                          <a:spcPts val="1350"/>
                        </a:lnSpc>
                        <a:spcBef>
                          <a:spcPts val="1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Xen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19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4134954" y="2269374"/>
            <a:ext cx="1148080" cy="640080"/>
            <a:chOff x="4134954" y="2269374"/>
            <a:chExt cx="1148080" cy="6400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35582" y="2269374"/>
              <a:ext cx="1147156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39635" y="2330452"/>
              <a:ext cx="995363" cy="4762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139634" y="2330452"/>
              <a:ext cx="995680" cy="476250"/>
            </a:xfrm>
            <a:custGeom>
              <a:avLst/>
              <a:gdLst/>
              <a:ahLst/>
              <a:cxnLst/>
              <a:rect l="l" t="t" r="r" b="b"/>
              <a:pathLst>
                <a:path w="995679" h="476250">
                  <a:moveTo>
                    <a:pt x="0" y="119062"/>
                  </a:moveTo>
                  <a:lnTo>
                    <a:pt x="748826" y="119062"/>
                  </a:lnTo>
                  <a:lnTo>
                    <a:pt x="748826" y="0"/>
                  </a:lnTo>
                  <a:lnTo>
                    <a:pt x="995362" y="238124"/>
                  </a:lnTo>
                  <a:lnTo>
                    <a:pt x="748826" y="476249"/>
                  </a:lnTo>
                  <a:lnTo>
                    <a:pt x="748826" y="357187"/>
                  </a:lnTo>
                  <a:lnTo>
                    <a:pt x="0" y="357187"/>
                  </a:lnTo>
                  <a:lnTo>
                    <a:pt x="0" y="119062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603884" y="1474971"/>
          <a:ext cx="871855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354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iperf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01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5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53365" marR="283845" algn="ctr">
                        <a:lnSpc>
                          <a:spcPts val="1600"/>
                        </a:lnSpc>
                      </a:pPr>
                      <a:r>
                        <a:rPr sz="1400" spc="-20" dirty="0">
                          <a:latin typeface="Arial"/>
                          <a:cs typeface="Arial"/>
                        </a:rPr>
                        <a:t>mini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5080" algn="ctr">
                        <a:lnSpc>
                          <a:spcPts val="1350"/>
                        </a:lnSpc>
                        <a:spcBef>
                          <a:spcPts val="1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Xen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19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2202979" y="2075567"/>
            <a:ext cx="397510" cy="9493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Xen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2890">
              <a:lnSpc>
                <a:spcPct val="100000"/>
              </a:lnSpc>
              <a:spcBef>
                <a:spcPts val="100"/>
              </a:spcBef>
            </a:pPr>
            <a:r>
              <a:rPr dirty="0"/>
              <a:t>Unikernels</a:t>
            </a:r>
            <a:r>
              <a:rPr spc="-120" dirty="0"/>
              <a:t> </a:t>
            </a:r>
            <a:r>
              <a:rPr dirty="0"/>
              <a:t>for</a:t>
            </a:r>
            <a:r>
              <a:rPr spc="-125" dirty="0"/>
              <a:t> </a:t>
            </a:r>
            <a:r>
              <a:rPr spc="-10" dirty="0"/>
              <a:t>Benchmarking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750290" y="1474971"/>
          <a:ext cx="871855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354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apps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01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5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78765" marR="238760" indent="-88900">
                        <a:lnSpc>
                          <a:spcPts val="1600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guest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5080" algn="ctr">
                        <a:lnSpc>
                          <a:spcPts val="1350"/>
                        </a:lnSpc>
                        <a:spcBef>
                          <a:spcPts val="1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Xen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19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4134954" y="2269374"/>
            <a:ext cx="1148080" cy="640080"/>
            <a:chOff x="4134954" y="2269374"/>
            <a:chExt cx="1148080" cy="6400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35582" y="2269374"/>
              <a:ext cx="1147156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39635" y="2330452"/>
              <a:ext cx="995363" cy="4762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139634" y="2330452"/>
              <a:ext cx="995680" cy="476250"/>
            </a:xfrm>
            <a:custGeom>
              <a:avLst/>
              <a:gdLst/>
              <a:ahLst/>
              <a:cxnLst/>
              <a:rect l="l" t="t" r="r" b="b"/>
              <a:pathLst>
                <a:path w="995679" h="476250">
                  <a:moveTo>
                    <a:pt x="0" y="119062"/>
                  </a:moveTo>
                  <a:lnTo>
                    <a:pt x="748826" y="119062"/>
                  </a:lnTo>
                  <a:lnTo>
                    <a:pt x="748826" y="0"/>
                  </a:lnTo>
                  <a:lnTo>
                    <a:pt x="995362" y="238124"/>
                  </a:lnTo>
                  <a:lnTo>
                    <a:pt x="748826" y="476249"/>
                  </a:lnTo>
                  <a:lnTo>
                    <a:pt x="748826" y="357187"/>
                  </a:lnTo>
                  <a:lnTo>
                    <a:pt x="0" y="357187"/>
                  </a:lnTo>
                  <a:lnTo>
                    <a:pt x="0" y="119062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603884" y="1474971"/>
          <a:ext cx="871855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354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iperf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01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5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53365" marR="283845" algn="ctr">
                        <a:lnSpc>
                          <a:spcPts val="1600"/>
                        </a:lnSpc>
                      </a:pPr>
                      <a:r>
                        <a:rPr sz="1400" spc="-20" dirty="0">
                          <a:latin typeface="Arial"/>
                          <a:cs typeface="Arial"/>
                        </a:rPr>
                        <a:t>mini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5080" algn="ctr">
                        <a:lnSpc>
                          <a:spcPts val="1350"/>
                        </a:lnSpc>
                        <a:spcBef>
                          <a:spcPts val="1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Xen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19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2202979" y="2075567"/>
            <a:ext cx="397510" cy="9493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Xen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758930" y="4179536"/>
          <a:ext cx="871855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354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apps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01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5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78765" marR="238760" indent="-88900">
                        <a:lnSpc>
                          <a:spcPts val="1600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guest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5080" algn="ctr">
                        <a:lnSpc>
                          <a:spcPts val="1350"/>
                        </a:lnSpc>
                        <a:spcBef>
                          <a:spcPts val="1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KVM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19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2211619" y="4716970"/>
            <a:ext cx="397510" cy="10775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KVM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2890">
              <a:lnSpc>
                <a:spcPct val="100000"/>
              </a:lnSpc>
              <a:spcBef>
                <a:spcPts val="100"/>
              </a:spcBef>
            </a:pPr>
            <a:r>
              <a:rPr dirty="0"/>
              <a:t>Unikernels</a:t>
            </a:r>
            <a:r>
              <a:rPr spc="-120" dirty="0"/>
              <a:t> </a:t>
            </a:r>
            <a:r>
              <a:rPr dirty="0"/>
              <a:t>for</a:t>
            </a:r>
            <a:r>
              <a:rPr spc="-125" dirty="0"/>
              <a:t> </a:t>
            </a:r>
            <a:r>
              <a:rPr spc="-10" dirty="0"/>
              <a:t>Benchmarking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750290" y="1474971"/>
          <a:ext cx="871855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354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apps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01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5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78765" marR="238760" indent="-88900">
                        <a:lnSpc>
                          <a:spcPts val="1600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guest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5080" algn="ctr">
                        <a:lnSpc>
                          <a:spcPts val="1350"/>
                        </a:lnSpc>
                        <a:spcBef>
                          <a:spcPts val="1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Xen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19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4134954" y="2269374"/>
            <a:ext cx="1148080" cy="640080"/>
            <a:chOff x="4134954" y="2269374"/>
            <a:chExt cx="1148080" cy="6400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35582" y="2269374"/>
              <a:ext cx="1147156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39635" y="2330452"/>
              <a:ext cx="995363" cy="4762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139634" y="2330452"/>
              <a:ext cx="995680" cy="476250"/>
            </a:xfrm>
            <a:custGeom>
              <a:avLst/>
              <a:gdLst/>
              <a:ahLst/>
              <a:cxnLst/>
              <a:rect l="l" t="t" r="r" b="b"/>
              <a:pathLst>
                <a:path w="995679" h="476250">
                  <a:moveTo>
                    <a:pt x="0" y="119062"/>
                  </a:moveTo>
                  <a:lnTo>
                    <a:pt x="748826" y="119062"/>
                  </a:lnTo>
                  <a:lnTo>
                    <a:pt x="748826" y="0"/>
                  </a:lnTo>
                  <a:lnTo>
                    <a:pt x="995362" y="238124"/>
                  </a:lnTo>
                  <a:lnTo>
                    <a:pt x="748826" y="476249"/>
                  </a:lnTo>
                  <a:lnTo>
                    <a:pt x="748826" y="357187"/>
                  </a:lnTo>
                  <a:lnTo>
                    <a:pt x="0" y="357187"/>
                  </a:lnTo>
                  <a:lnTo>
                    <a:pt x="0" y="119062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603884" y="1474971"/>
          <a:ext cx="871855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354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iperf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01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5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53365" marR="283845" algn="ctr">
                        <a:lnSpc>
                          <a:spcPts val="1600"/>
                        </a:lnSpc>
                      </a:pPr>
                      <a:r>
                        <a:rPr sz="1400" spc="-20" dirty="0">
                          <a:latin typeface="Arial"/>
                          <a:cs typeface="Arial"/>
                        </a:rPr>
                        <a:t>mini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5080" algn="ctr">
                        <a:lnSpc>
                          <a:spcPts val="1350"/>
                        </a:lnSpc>
                        <a:spcBef>
                          <a:spcPts val="1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Xen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19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2202979" y="2075567"/>
            <a:ext cx="397510" cy="9493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Xen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143595" y="4975167"/>
            <a:ext cx="1148080" cy="636270"/>
            <a:chOff x="4143595" y="4975167"/>
            <a:chExt cx="1148080" cy="63627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43894" y="4975167"/>
              <a:ext cx="1147156" cy="63592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48276" y="5035018"/>
              <a:ext cx="995362" cy="47625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148275" y="5035018"/>
              <a:ext cx="995680" cy="476250"/>
            </a:xfrm>
            <a:custGeom>
              <a:avLst/>
              <a:gdLst/>
              <a:ahLst/>
              <a:cxnLst/>
              <a:rect l="l" t="t" r="r" b="b"/>
              <a:pathLst>
                <a:path w="995679" h="476250">
                  <a:moveTo>
                    <a:pt x="0" y="119062"/>
                  </a:moveTo>
                  <a:lnTo>
                    <a:pt x="748826" y="119062"/>
                  </a:lnTo>
                  <a:lnTo>
                    <a:pt x="748826" y="0"/>
                  </a:lnTo>
                  <a:lnTo>
                    <a:pt x="995362" y="238125"/>
                  </a:lnTo>
                  <a:lnTo>
                    <a:pt x="748826" y="476249"/>
                  </a:lnTo>
                  <a:lnTo>
                    <a:pt x="748826" y="357187"/>
                  </a:lnTo>
                  <a:lnTo>
                    <a:pt x="0" y="357187"/>
                  </a:lnTo>
                  <a:lnTo>
                    <a:pt x="0" y="119062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5612524" y="4179536"/>
          <a:ext cx="871855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354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iperf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01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5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R="33020" algn="ctr">
                        <a:lnSpc>
                          <a:spcPct val="100000"/>
                        </a:lnSpc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OSv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5080" algn="ctr">
                        <a:lnSpc>
                          <a:spcPts val="1350"/>
                        </a:lnSpc>
                        <a:spcBef>
                          <a:spcPts val="1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KVM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19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2758930" y="4179536"/>
          <a:ext cx="871855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354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apps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01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5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78765" marR="238760" indent="-88900">
                        <a:lnSpc>
                          <a:spcPts val="1600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guest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5080" algn="ctr">
                        <a:lnSpc>
                          <a:spcPts val="1350"/>
                        </a:lnSpc>
                        <a:spcBef>
                          <a:spcPts val="1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KVM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19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2211619" y="4716970"/>
            <a:ext cx="397510" cy="10775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KVM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1065">
              <a:lnSpc>
                <a:spcPct val="100000"/>
              </a:lnSpc>
              <a:spcBef>
                <a:spcPts val="100"/>
              </a:spcBef>
            </a:pPr>
            <a:r>
              <a:rPr dirty="0"/>
              <a:t>Nota</a:t>
            </a:r>
            <a:r>
              <a:rPr spc="-65" dirty="0"/>
              <a:t> </a:t>
            </a:r>
            <a:r>
              <a:rPr spc="-20" dirty="0"/>
              <a:t>Bene…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633220"/>
            <a:ext cx="7828280" cy="411607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5080" indent="-342900">
              <a:lnSpc>
                <a:spcPts val="3800"/>
              </a:lnSpc>
              <a:spcBef>
                <a:spcPts val="260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Our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unikernel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numbers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include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op</a:t>
            </a:r>
            <a:r>
              <a:rPr lang="en-US" sz="3200" spc="-10" dirty="0">
                <a:latin typeface="Calibri"/>
                <a:cs typeface="Calibri"/>
              </a:rPr>
              <a:t>ti</a:t>
            </a:r>
            <a:r>
              <a:rPr sz="3200" spc="-10" dirty="0">
                <a:latin typeface="Calibri"/>
                <a:cs typeface="Calibri"/>
              </a:rPr>
              <a:t>miza</a:t>
            </a:r>
            <a:r>
              <a:rPr lang="en-US" sz="3200" spc="-10" dirty="0">
                <a:latin typeface="Calibri"/>
                <a:cs typeface="Calibri"/>
              </a:rPr>
              <a:t>ti</a:t>
            </a:r>
            <a:r>
              <a:rPr sz="3200" spc="-10" dirty="0">
                <a:latin typeface="Calibri"/>
                <a:cs typeface="Calibri"/>
              </a:rPr>
              <a:t>ons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underlying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virtualiza</a:t>
            </a:r>
            <a:r>
              <a:rPr lang="en-US" sz="3200" dirty="0">
                <a:latin typeface="Calibri"/>
                <a:cs typeface="Calibri"/>
              </a:rPr>
              <a:t>ti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pla</a:t>
            </a:r>
            <a:r>
              <a:rPr lang="en-US" sz="3200" spc="-10" dirty="0">
                <a:latin typeface="Calibri"/>
                <a:cs typeface="Calibri"/>
              </a:rPr>
              <a:t>tf</a:t>
            </a:r>
            <a:r>
              <a:rPr sz="3200" spc="-10" dirty="0">
                <a:latin typeface="Calibri"/>
                <a:cs typeface="Calibri"/>
              </a:rPr>
              <a:t>orms </a:t>
            </a:r>
            <a:r>
              <a:rPr sz="3200" dirty="0">
                <a:latin typeface="Calibri"/>
                <a:cs typeface="Calibri"/>
              </a:rPr>
              <a:t>(Xen,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KVM)</a:t>
            </a:r>
            <a:endParaRPr sz="3200" dirty="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610"/>
              </a:spcBef>
              <a:buFont typeface="Arial"/>
              <a:buChar char="–"/>
              <a:tabLst>
                <a:tab pos="754380" algn="l"/>
              </a:tabLst>
            </a:pPr>
            <a:r>
              <a:rPr sz="2800" spc="-10" dirty="0">
                <a:latin typeface="Calibri"/>
                <a:cs typeface="Calibri"/>
              </a:rPr>
              <a:t>Toolstacks</a:t>
            </a:r>
            <a:endParaRPr sz="2800" dirty="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640"/>
              </a:spcBef>
              <a:buFont typeface="Arial"/>
              <a:buChar char="–"/>
              <a:tabLst>
                <a:tab pos="754380" algn="l"/>
              </a:tabLst>
            </a:pPr>
            <a:r>
              <a:rPr sz="2800" spc="-10" dirty="0">
                <a:latin typeface="Calibri"/>
                <a:cs typeface="Calibri"/>
              </a:rPr>
              <a:t>Back-</a:t>
            </a:r>
            <a:r>
              <a:rPr sz="2800" dirty="0">
                <a:latin typeface="Calibri"/>
                <a:cs typeface="Calibri"/>
              </a:rPr>
              <a:t>end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stores</a:t>
            </a:r>
            <a:endParaRPr sz="2800" dirty="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640"/>
              </a:spcBef>
              <a:buFont typeface="Arial"/>
              <a:buChar char="–"/>
              <a:tabLst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Hotplug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scripts</a:t>
            </a:r>
            <a:endParaRPr sz="2800" dirty="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740"/>
              </a:spcBef>
              <a:buFont typeface="Arial"/>
              <a:buChar char="–"/>
              <a:tabLst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drivers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(on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Xen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Tx)</a:t>
            </a:r>
            <a:endParaRPr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3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No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lang="en-US" sz="3200" spc="10" dirty="0">
                <a:latin typeface="Calibri"/>
                <a:cs typeface="Calibri"/>
              </a:rPr>
              <a:t>ti</a:t>
            </a:r>
            <a:r>
              <a:rPr sz="3200" dirty="0">
                <a:latin typeface="Calibri"/>
                <a:cs typeface="Calibri"/>
              </a:rPr>
              <a:t>me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go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over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these…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1052" y="4439920"/>
            <a:ext cx="1837689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latin typeface="Calibri"/>
                <a:cs typeface="Calibri"/>
              </a:rPr>
              <a:t>RESULTS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2386" y="416570"/>
            <a:ext cx="77851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Image</a:t>
            </a:r>
            <a:r>
              <a:rPr sz="4000" spc="-70" dirty="0"/>
              <a:t> </a:t>
            </a:r>
            <a:r>
              <a:rPr sz="4000" dirty="0"/>
              <a:t>Size,</a:t>
            </a:r>
            <a:r>
              <a:rPr sz="4000" spc="-70" dirty="0"/>
              <a:t> </a:t>
            </a:r>
            <a:r>
              <a:rPr sz="4000" dirty="0"/>
              <a:t>Memory</a:t>
            </a:r>
            <a:r>
              <a:rPr sz="4000" spc="-70" dirty="0"/>
              <a:t> </a:t>
            </a:r>
            <a:r>
              <a:rPr sz="4000" dirty="0"/>
              <a:t>Usage</a:t>
            </a:r>
            <a:r>
              <a:rPr sz="4000" spc="-65" dirty="0"/>
              <a:t> </a:t>
            </a:r>
            <a:r>
              <a:rPr sz="4000" dirty="0"/>
              <a:t>(log</a:t>
            </a:r>
            <a:r>
              <a:rPr sz="4000" spc="-70" dirty="0"/>
              <a:t> </a:t>
            </a:r>
            <a:r>
              <a:rPr sz="4000" spc="-10" dirty="0"/>
              <a:t>scale)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1935066" y="1591741"/>
            <a:ext cx="5278120" cy="3457575"/>
            <a:chOff x="1935066" y="1591741"/>
            <a:chExt cx="5278120" cy="3457575"/>
          </a:xfrm>
        </p:grpSpPr>
        <p:sp>
          <p:nvSpPr>
            <p:cNvPr id="4" name="object 4"/>
            <p:cNvSpPr/>
            <p:nvPr/>
          </p:nvSpPr>
          <p:spPr>
            <a:xfrm>
              <a:off x="2014642" y="1596503"/>
              <a:ext cx="5191760" cy="2249170"/>
            </a:xfrm>
            <a:custGeom>
              <a:avLst/>
              <a:gdLst/>
              <a:ahLst/>
              <a:cxnLst/>
              <a:rect l="l" t="t" r="r" b="b"/>
              <a:pathLst>
                <a:path w="5191759" h="2249170">
                  <a:moveTo>
                    <a:pt x="0" y="2248592"/>
                  </a:moveTo>
                  <a:lnTo>
                    <a:pt x="5191297" y="2248592"/>
                  </a:lnTo>
                </a:path>
                <a:path w="5191759" h="2249170">
                  <a:moveTo>
                    <a:pt x="0" y="1126374"/>
                  </a:moveTo>
                  <a:lnTo>
                    <a:pt x="5191297" y="1126374"/>
                  </a:lnTo>
                </a:path>
                <a:path w="5191759" h="2249170">
                  <a:moveTo>
                    <a:pt x="0" y="0"/>
                  </a:moveTo>
                  <a:lnTo>
                    <a:pt x="5191297" y="0"/>
                  </a:lnTo>
                </a:path>
              </a:pathLst>
            </a:custGeom>
            <a:ln w="9524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23902" y="1620982"/>
              <a:ext cx="307570" cy="335834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67891" y="1620982"/>
              <a:ext cx="303414" cy="335834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11880" y="2942705"/>
              <a:ext cx="303414" cy="203661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51712" y="3736571"/>
              <a:ext cx="303414" cy="124275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95700" y="4310148"/>
              <a:ext cx="303414" cy="6691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35534" y="4335087"/>
              <a:ext cx="303414" cy="64423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79523" y="4609407"/>
              <a:ext cx="303414" cy="36991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40032" y="2643447"/>
              <a:ext cx="303414" cy="23358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79865" y="2797232"/>
              <a:ext cx="303414" cy="21820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23854" y="4297679"/>
              <a:ext cx="303414" cy="6816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63686" y="3017519"/>
              <a:ext cx="303414" cy="196180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07676" y="3271057"/>
              <a:ext cx="303414" cy="170826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047508" y="3287683"/>
              <a:ext cx="303414" cy="169163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791497" y="3931919"/>
              <a:ext cx="303414" cy="104740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171663" y="1642116"/>
              <a:ext cx="424107" cy="332963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656040" y="2963793"/>
              <a:ext cx="424107" cy="200795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913851" y="1642116"/>
              <a:ext cx="424109" cy="332963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398228" y="3041765"/>
              <a:ext cx="424108" cy="192998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140417" y="3294417"/>
              <a:ext cx="424107" cy="167733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882606" y="3310435"/>
              <a:ext cx="424107" cy="166131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624795" y="3956046"/>
              <a:ext cx="424108" cy="101570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012622" y="1597658"/>
              <a:ext cx="0" cy="3374390"/>
            </a:xfrm>
            <a:custGeom>
              <a:avLst/>
              <a:gdLst/>
              <a:ahLst/>
              <a:cxnLst/>
              <a:rect l="l" t="t" r="r" b="b"/>
              <a:pathLst>
                <a:path h="3374390">
                  <a:moveTo>
                    <a:pt x="0" y="337408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939829" y="1596503"/>
              <a:ext cx="73025" cy="3375025"/>
            </a:xfrm>
            <a:custGeom>
              <a:avLst/>
              <a:gdLst/>
              <a:ahLst/>
              <a:cxnLst/>
              <a:rect l="l" t="t" r="r" b="b"/>
              <a:pathLst>
                <a:path w="73025" h="3375025">
                  <a:moveTo>
                    <a:pt x="0" y="3374967"/>
                  </a:moveTo>
                  <a:lnTo>
                    <a:pt x="72794" y="3374967"/>
                  </a:lnTo>
                </a:path>
                <a:path w="73025" h="3375025">
                  <a:moveTo>
                    <a:pt x="0" y="2248592"/>
                  </a:moveTo>
                  <a:lnTo>
                    <a:pt x="72794" y="2248592"/>
                  </a:lnTo>
                </a:path>
                <a:path w="73025" h="3375025">
                  <a:moveTo>
                    <a:pt x="0" y="1126374"/>
                  </a:moveTo>
                  <a:lnTo>
                    <a:pt x="72794" y="1126374"/>
                  </a:lnTo>
                </a:path>
                <a:path w="73025" h="3375025">
                  <a:moveTo>
                    <a:pt x="0" y="0"/>
                  </a:moveTo>
                  <a:lnTo>
                    <a:pt x="72794" y="0"/>
                  </a:lnTo>
                </a:path>
              </a:pathLst>
            </a:custGeom>
            <a:ln w="9524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12622" y="4971471"/>
              <a:ext cx="5195570" cy="73025"/>
            </a:xfrm>
            <a:custGeom>
              <a:avLst/>
              <a:gdLst/>
              <a:ahLst/>
              <a:cxnLst/>
              <a:rect l="l" t="t" r="r" b="b"/>
              <a:pathLst>
                <a:path w="5195570" h="73025">
                  <a:moveTo>
                    <a:pt x="0" y="276"/>
                  </a:moveTo>
                  <a:lnTo>
                    <a:pt x="5195319" y="277"/>
                  </a:lnTo>
                </a:path>
                <a:path w="5195570" h="73025">
                  <a:moveTo>
                    <a:pt x="2020" y="0"/>
                  </a:moveTo>
                  <a:lnTo>
                    <a:pt x="2020" y="72814"/>
                  </a:lnTo>
                </a:path>
                <a:path w="5195570" h="73025">
                  <a:moveTo>
                    <a:pt x="741852" y="0"/>
                  </a:moveTo>
                  <a:lnTo>
                    <a:pt x="741852" y="72814"/>
                  </a:lnTo>
                </a:path>
                <a:path w="5195570" h="73025">
                  <a:moveTo>
                    <a:pt x="1485841" y="0"/>
                  </a:moveTo>
                  <a:lnTo>
                    <a:pt x="1485841" y="72814"/>
                  </a:lnTo>
                </a:path>
                <a:path w="5195570" h="73025">
                  <a:moveTo>
                    <a:pt x="2225674" y="0"/>
                  </a:moveTo>
                  <a:lnTo>
                    <a:pt x="2225674" y="72814"/>
                  </a:lnTo>
                </a:path>
                <a:path w="5195570" h="73025">
                  <a:moveTo>
                    <a:pt x="2969663" y="0"/>
                  </a:moveTo>
                  <a:lnTo>
                    <a:pt x="2969663" y="72814"/>
                  </a:lnTo>
                </a:path>
                <a:path w="5195570" h="73025">
                  <a:moveTo>
                    <a:pt x="3709496" y="0"/>
                  </a:moveTo>
                  <a:lnTo>
                    <a:pt x="3709496" y="72814"/>
                  </a:lnTo>
                </a:path>
                <a:path w="5195570" h="73025">
                  <a:moveTo>
                    <a:pt x="4453485" y="0"/>
                  </a:moveTo>
                  <a:lnTo>
                    <a:pt x="4453485" y="72814"/>
                  </a:lnTo>
                </a:path>
                <a:path w="5195570" h="73025">
                  <a:moveTo>
                    <a:pt x="5193317" y="0"/>
                  </a:moveTo>
                  <a:lnTo>
                    <a:pt x="5193317" y="72814"/>
                  </a:lnTo>
                </a:path>
              </a:pathLst>
            </a:custGeom>
            <a:ln w="9524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091196" y="1699267"/>
            <a:ext cx="1115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4380" algn="l"/>
              </a:tabLst>
            </a:pPr>
            <a:r>
              <a:rPr sz="1800" spc="-25" dirty="0">
                <a:latin typeface="Calibri"/>
                <a:cs typeface="Calibri"/>
              </a:rPr>
              <a:t>913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913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33505" y="3020943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61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375692" y="3815147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12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089028" y="4389843"/>
            <a:ext cx="314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3.7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831216" y="4416987"/>
            <a:ext cx="314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3.5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660191" y="4614878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303250" y="2724150"/>
            <a:ext cx="373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112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103370" y="287643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82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816704" y="4376817"/>
            <a:ext cx="314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3.8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587747" y="3098916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52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329935" y="335156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31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072123" y="3367586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30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872245" y="401319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672045" y="482188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556181" y="3697192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440319" y="2572496"/>
            <a:ext cx="373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100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324456" y="1447798"/>
            <a:ext cx="488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1000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6" name="object 46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330932" y="5227108"/>
            <a:ext cx="1846797" cy="1140979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253338" y="5208570"/>
            <a:ext cx="1408767" cy="1244381"/>
          </a:xfrm>
          <a:prstGeom prst="rect">
            <a:avLst/>
          </a:prstGeom>
        </p:spPr>
      </p:pic>
      <p:grpSp>
        <p:nvGrpSpPr>
          <p:cNvPr id="48" name="object 48"/>
          <p:cNvGrpSpPr/>
          <p:nvPr/>
        </p:nvGrpSpPr>
        <p:grpSpPr>
          <a:xfrm>
            <a:off x="4745242" y="5227063"/>
            <a:ext cx="2143125" cy="1401445"/>
            <a:chOff x="4745242" y="5227063"/>
            <a:chExt cx="2143125" cy="1401445"/>
          </a:xfrm>
        </p:grpSpPr>
        <p:sp>
          <p:nvSpPr>
            <p:cNvPr id="49" name="object 49"/>
            <p:cNvSpPr/>
            <p:nvPr/>
          </p:nvSpPr>
          <p:spPr>
            <a:xfrm>
              <a:off x="4745242" y="5227450"/>
              <a:ext cx="659130" cy="621030"/>
            </a:xfrm>
            <a:custGeom>
              <a:avLst/>
              <a:gdLst/>
              <a:ahLst/>
              <a:cxnLst/>
              <a:rect l="l" t="t" r="r" b="b"/>
              <a:pathLst>
                <a:path w="659129" h="621029">
                  <a:moveTo>
                    <a:pt x="13602" y="525780"/>
                  </a:moveTo>
                  <a:lnTo>
                    <a:pt x="9224" y="525780"/>
                  </a:lnTo>
                  <a:lnTo>
                    <a:pt x="7321" y="527050"/>
                  </a:lnTo>
                  <a:lnTo>
                    <a:pt x="6184" y="528320"/>
                  </a:lnTo>
                  <a:lnTo>
                    <a:pt x="3591" y="530860"/>
                  </a:lnTo>
                  <a:lnTo>
                    <a:pt x="2585" y="532130"/>
                  </a:lnTo>
                  <a:lnTo>
                    <a:pt x="1104" y="534670"/>
                  </a:lnTo>
                  <a:lnTo>
                    <a:pt x="600" y="534670"/>
                  </a:lnTo>
                  <a:lnTo>
                    <a:pt x="68" y="535940"/>
                  </a:lnTo>
                  <a:lnTo>
                    <a:pt x="0" y="537210"/>
                  </a:lnTo>
                  <a:lnTo>
                    <a:pt x="260" y="538480"/>
                  </a:lnTo>
                  <a:lnTo>
                    <a:pt x="509" y="538480"/>
                  </a:lnTo>
                  <a:lnTo>
                    <a:pt x="17752" y="556260"/>
                  </a:lnTo>
                  <a:lnTo>
                    <a:pt x="7416" y="566420"/>
                  </a:lnTo>
                  <a:lnTo>
                    <a:pt x="28582" y="566420"/>
                  </a:lnTo>
                  <a:lnTo>
                    <a:pt x="74118" y="612140"/>
                  </a:lnTo>
                  <a:lnTo>
                    <a:pt x="78059" y="615950"/>
                  </a:lnTo>
                  <a:lnTo>
                    <a:pt x="85629" y="619760"/>
                  </a:lnTo>
                  <a:lnTo>
                    <a:pt x="89350" y="621030"/>
                  </a:lnTo>
                  <a:lnTo>
                    <a:pt x="100298" y="621030"/>
                  </a:lnTo>
                  <a:lnTo>
                    <a:pt x="121109" y="603250"/>
                  </a:lnTo>
                  <a:lnTo>
                    <a:pt x="98361" y="603250"/>
                  </a:lnTo>
                  <a:lnTo>
                    <a:pt x="90479" y="600710"/>
                  </a:lnTo>
                  <a:lnTo>
                    <a:pt x="86069" y="598170"/>
                  </a:lnTo>
                  <a:lnTo>
                    <a:pt x="41675" y="553720"/>
                  </a:lnTo>
                  <a:lnTo>
                    <a:pt x="53062" y="542290"/>
                  </a:lnTo>
                  <a:lnTo>
                    <a:pt x="30845" y="542290"/>
                  </a:lnTo>
                  <a:lnTo>
                    <a:pt x="13602" y="525780"/>
                  </a:lnTo>
                  <a:close/>
                </a:path>
                <a:path w="659129" h="621029">
                  <a:moveTo>
                    <a:pt x="116183" y="586740"/>
                  </a:moveTo>
                  <a:lnTo>
                    <a:pt x="112393" y="586740"/>
                  </a:lnTo>
                  <a:lnTo>
                    <a:pt x="112038" y="588010"/>
                  </a:lnTo>
                  <a:lnTo>
                    <a:pt x="111456" y="589280"/>
                  </a:lnTo>
                  <a:lnTo>
                    <a:pt x="111074" y="590550"/>
                  </a:lnTo>
                  <a:lnTo>
                    <a:pt x="110126" y="591820"/>
                  </a:lnTo>
                  <a:lnTo>
                    <a:pt x="109534" y="593090"/>
                  </a:lnTo>
                  <a:lnTo>
                    <a:pt x="108113" y="595630"/>
                  </a:lnTo>
                  <a:lnTo>
                    <a:pt x="107151" y="596900"/>
                  </a:lnTo>
                  <a:lnTo>
                    <a:pt x="102201" y="601980"/>
                  </a:lnTo>
                  <a:lnTo>
                    <a:pt x="98361" y="603250"/>
                  </a:lnTo>
                  <a:lnTo>
                    <a:pt x="121109" y="603250"/>
                  </a:lnTo>
                  <a:lnTo>
                    <a:pt x="121954" y="601980"/>
                  </a:lnTo>
                  <a:lnTo>
                    <a:pt x="122613" y="600710"/>
                  </a:lnTo>
                  <a:lnTo>
                    <a:pt x="123563" y="598170"/>
                  </a:lnTo>
                  <a:lnTo>
                    <a:pt x="123788" y="596900"/>
                  </a:lnTo>
                  <a:lnTo>
                    <a:pt x="123733" y="595630"/>
                  </a:lnTo>
                  <a:lnTo>
                    <a:pt x="123390" y="594360"/>
                  </a:lnTo>
                  <a:lnTo>
                    <a:pt x="122074" y="591820"/>
                  </a:lnTo>
                  <a:lnTo>
                    <a:pt x="120980" y="590550"/>
                  </a:lnTo>
                  <a:lnTo>
                    <a:pt x="118502" y="588010"/>
                  </a:lnTo>
                  <a:lnTo>
                    <a:pt x="117657" y="588010"/>
                  </a:lnTo>
                  <a:lnTo>
                    <a:pt x="116183" y="586740"/>
                  </a:lnTo>
                  <a:close/>
                </a:path>
                <a:path w="659129" h="621029">
                  <a:moveTo>
                    <a:pt x="114565" y="585470"/>
                  </a:moveTo>
                  <a:lnTo>
                    <a:pt x="113761" y="585470"/>
                  </a:lnTo>
                  <a:lnTo>
                    <a:pt x="113393" y="586740"/>
                  </a:lnTo>
                  <a:lnTo>
                    <a:pt x="115564" y="586740"/>
                  </a:lnTo>
                  <a:lnTo>
                    <a:pt x="114565" y="585470"/>
                  </a:lnTo>
                  <a:close/>
                </a:path>
                <a:path w="659129" h="621029">
                  <a:moveTo>
                    <a:pt x="144485" y="579120"/>
                  </a:moveTo>
                  <a:lnTo>
                    <a:pt x="141462" y="579120"/>
                  </a:lnTo>
                  <a:lnTo>
                    <a:pt x="143065" y="580390"/>
                  </a:lnTo>
                  <a:lnTo>
                    <a:pt x="144485" y="579120"/>
                  </a:lnTo>
                  <a:close/>
                </a:path>
                <a:path w="659129" h="621029">
                  <a:moveTo>
                    <a:pt x="104892" y="516890"/>
                  </a:moveTo>
                  <a:lnTo>
                    <a:pt x="78369" y="516890"/>
                  </a:lnTo>
                  <a:lnTo>
                    <a:pt x="141003" y="579120"/>
                  </a:lnTo>
                  <a:lnTo>
                    <a:pt x="145313" y="579120"/>
                  </a:lnTo>
                  <a:lnTo>
                    <a:pt x="147208" y="576580"/>
                  </a:lnTo>
                  <a:lnTo>
                    <a:pt x="148338" y="576580"/>
                  </a:lnTo>
                  <a:lnTo>
                    <a:pt x="150860" y="574040"/>
                  </a:lnTo>
                  <a:lnTo>
                    <a:pt x="151833" y="572770"/>
                  </a:lnTo>
                  <a:lnTo>
                    <a:pt x="153306" y="570230"/>
                  </a:lnTo>
                  <a:lnTo>
                    <a:pt x="153819" y="570230"/>
                  </a:lnTo>
                  <a:lnTo>
                    <a:pt x="154396" y="568960"/>
                  </a:lnTo>
                  <a:lnTo>
                    <a:pt x="154345" y="566420"/>
                  </a:lnTo>
                  <a:lnTo>
                    <a:pt x="154096" y="566420"/>
                  </a:lnTo>
                  <a:lnTo>
                    <a:pt x="104892" y="516890"/>
                  </a:lnTo>
                  <a:close/>
                </a:path>
                <a:path w="659129" h="621029">
                  <a:moveTo>
                    <a:pt x="28582" y="566420"/>
                  </a:moveTo>
                  <a:lnTo>
                    <a:pt x="7124" y="566420"/>
                  </a:lnTo>
                  <a:lnTo>
                    <a:pt x="6807" y="567690"/>
                  </a:lnTo>
                  <a:lnTo>
                    <a:pt x="7319" y="568960"/>
                  </a:lnTo>
                  <a:lnTo>
                    <a:pt x="7713" y="570230"/>
                  </a:lnTo>
                  <a:lnTo>
                    <a:pt x="8820" y="571500"/>
                  </a:lnTo>
                  <a:lnTo>
                    <a:pt x="9597" y="572770"/>
                  </a:lnTo>
                  <a:lnTo>
                    <a:pt x="12495" y="575310"/>
                  </a:lnTo>
                  <a:lnTo>
                    <a:pt x="14103" y="576580"/>
                  </a:lnTo>
                  <a:lnTo>
                    <a:pt x="16741" y="577850"/>
                  </a:lnTo>
                  <a:lnTo>
                    <a:pt x="17797" y="577850"/>
                  </a:lnTo>
                  <a:lnTo>
                    <a:pt x="28582" y="566420"/>
                  </a:lnTo>
                  <a:close/>
                </a:path>
                <a:path w="659129" h="621029">
                  <a:moveTo>
                    <a:pt x="83444" y="495300"/>
                  </a:moveTo>
                  <a:lnTo>
                    <a:pt x="78108" y="495300"/>
                  </a:lnTo>
                  <a:lnTo>
                    <a:pt x="30845" y="542290"/>
                  </a:lnTo>
                  <a:lnTo>
                    <a:pt x="53062" y="542290"/>
                  </a:lnTo>
                  <a:lnTo>
                    <a:pt x="78369" y="516890"/>
                  </a:lnTo>
                  <a:lnTo>
                    <a:pt x="104892" y="516890"/>
                  </a:lnTo>
                  <a:lnTo>
                    <a:pt x="83444" y="495300"/>
                  </a:lnTo>
                  <a:close/>
                </a:path>
                <a:path w="659129" h="621029">
                  <a:moveTo>
                    <a:pt x="118102" y="458470"/>
                  </a:moveTo>
                  <a:lnTo>
                    <a:pt x="114063" y="458470"/>
                  </a:lnTo>
                  <a:lnTo>
                    <a:pt x="112372" y="459740"/>
                  </a:lnTo>
                  <a:lnTo>
                    <a:pt x="111367" y="461010"/>
                  </a:lnTo>
                  <a:lnTo>
                    <a:pt x="108987" y="463550"/>
                  </a:lnTo>
                  <a:lnTo>
                    <a:pt x="108049" y="464820"/>
                  </a:lnTo>
                  <a:lnTo>
                    <a:pt x="106725" y="466090"/>
                  </a:lnTo>
                  <a:lnTo>
                    <a:pt x="106274" y="467360"/>
                  </a:lnTo>
                  <a:lnTo>
                    <a:pt x="105794" y="468630"/>
                  </a:lnTo>
                  <a:lnTo>
                    <a:pt x="106003" y="469900"/>
                  </a:lnTo>
                  <a:lnTo>
                    <a:pt x="106279" y="469900"/>
                  </a:lnTo>
                  <a:lnTo>
                    <a:pt x="178198" y="542290"/>
                  </a:lnTo>
                  <a:lnTo>
                    <a:pt x="181617" y="542290"/>
                  </a:lnTo>
                  <a:lnTo>
                    <a:pt x="182449" y="541020"/>
                  </a:lnTo>
                  <a:lnTo>
                    <a:pt x="184351" y="539750"/>
                  </a:lnTo>
                  <a:lnTo>
                    <a:pt x="185463" y="538480"/>
                  </a:lnTo>
                  <a:lnTo>
                    <a:pt x="188055" y="535940"/>
                  </a:lnTo>
                  <a:lnTo>
                    <a:pt x="189087" y="535940"/>
                  </a:lnTo>
                  <a:lnTo>
                    <a:pt x="190569" y="533400"/>
                  </a:lnTo>
                  <a:lnTo>
                    <a:pt x="191072" y="532130"/>
                  </a:lnTo>
                  <a:lnTo>
                    <a:pt x="191604" y="530860"/>
                  </a:lnTo>
                  <a:lnTo>
                    <a:pt x="191542" y="529590"/>
                  </a:lnTo>
                  <a:lnTo>
                    <a:pt x="191292" y="529590"/>
                  </a:lnTo>
                  <a:lnTo>
                    <a:pt x="141193" y="478790"/>
                  </a:lnTo>
                  <a:lnTo>
                    <a:pt x="140275" y="471170"/>
                  </a:lnTo>
                  <a:lnTo>
                    <a:pt x="140276" y="468630"/>
                  </a:lnTo>
                  <a:lnTo>
                    <a:pt x="127922" y="468630"/>
                  </a:lnTo>
                  <a:lnTo>
                    <a:pt x="118102" y="458470"/>
                  </a:lnTo>
                  <a:close/>
                </a:path>
                <a:path w="659129" h="621029">
                  <a:moveTo>
                    <a:pt x="12628" y="524510"/>
                  </a:moveTo>
                  <a:lnTo>
                    <a:pt x="11483" y="524510"/>
                  </a:lnTo>
                  <a:lnTo>
                    <a:pt x="10057" y="525780"/>
                  </a:lnTo>
                  <a:lnTo>
                    <a:pt x="13154" y="525780"/>
                  </a:lnTo>
                  <a:lnTo>
                    <a:pt x="12628" y="524510"/>
                  </a:lnTo>
                  <a:close/>
                </a:path>
                <a:path w="659129" h="621029">
                  <a:moveTo>
                    <a:pt x="198008" y="439420"/>
                  </a:moveTo>
                  <a:lnTo>
                    <a:pt x="161292" y="439420"/>
                  </a:lnTo>
                  <a:lnTo>
                    <a:pt x="167278" y="440690"/>
                  </a:lnTo>
                  <a:lnTo>
                    <a:pt x="170326" y="441960"/>
                  </a:lnTo>
                  <a:lnTo>
                    <a:pt x="176529" y="445770"/>
                  </a:lnTo>
                  <a:lnTo>
                    <a:pt x="180108" y="448310"/>
                  </a:lnTo>
                  <a:lnTo>
                    <a:pt x="226208" y="494030"/>
                  </a:lnTo>
                  <a:lnTo>
                    <a:pt x="230458" y="494030"/>
                  </a:lnTo>
                  <a:lnTo>
                    <a:pt x="232360" y="491490"/>
                  </a:lnTo>
                  <a:lnTo>
                    <a:pt x="233498" y="491490"/>
                  </a:lnTo>
                  <a:lnTo>
                    <a:pt x="236091" y="488950"/>
                  </a:lnTo>
                  <a:lnTo>
                    <a:pt x="237096" y="487680"/>
                  </a:lnTo>
                  <a:lnTo>
                    <a:pt x="238578" y="485140"/>
                  </a:lnTo>
                  <a:lnTo>
                    <a:pt x="239081" y="485140"/>
                  </a:lnTo>
                  <a:lnTo>
                    <a:pt x="239613" y="482600"/>
                  </a:lnTo>
                  <a:lnTo>
                    <a:pt x="239549" y="481330"/>
                  </a:lnTo>
                  <a:lnTo>
                    <a:pt x="239299" y="481330"/>
                  </a:lnTo>
                  <a:lnTo>
                    <a:pt x="198008" y="439420"/>
                  </a:lnTo>
                  <a:close/>
                </a:path>
                <a:path w="659129" h="621029">
                  <a:moveTo>
                    <a:pt x="54480" y="464820"/>
                  </a:moveTo>
                  <a:lnTo>
                    <a:pt x="50045" y="464820"/>
                  </a:lnTo>
                  <a:lnTo>
                    <a:pt x="47405" y="466090"/>
                  </a:lnTo>
                  <a:lnTo>
                    <a:pt x="41224" y="472440"/>
                  </a:lnTo>
                  <a:lnTo>
                    <a:pt x="39637" y="474980"/>
                  </a:lnTo>
                  <a:lnTo>
                    <a:pt x="39532" y="480060"/>
                  </a:lnTo>
                  <a:lnTo>
                    <a:pt x="41036" y="482600"/>
                  </a:lnTo>
                  <a:lnTo>
                    <a:pt x="47108" y="488950"/>
                  </a:lnTo>
                  <a:lnTo>
                    <a:pt x="49723" y="490220"/>
                  </a:lnTo>
                  <a:lnTo>
                    <a:pt x="54157" y="490220"/>
                  </a:lnTo>
                  <a:lnTo>
                    <a:pt x="56798" y="488950"/>
                  </a:lnTo>
                  <a:lnTo>
                    <a:pt x="62979" y="482600"/>
                  </a:lnTo>
                  <a:lnTo>
                    <a:pt x="64564" y="480060"/>
                  </a:lnTo>
                  <a:lnTo>
                    <a:pt x="64670" y="474980"/>
                  </a:lnTo>
                  <a:lnTo>
                    <a:pt x="63167" y="472440"/>
                  </a:lnTo>
                  <a:lnTo>
                    <a:pt x="60105" y="469900"/>
                  </a:lnTo>
                  <a:lnTo>
                    <a:pt x="57095" y="466090"/>
                  </a:lnTo>
                  <a:lnTo>
                    <a:pt x="54480" y="464820"/>
                  </a:lnTo>
                  <a:close/>
                </a:path>
                <a:path w="659129" h="621029">
                  <a:moveTo>
                    <a:pt x="196079" y="381000"/>
                  </a:moveTo>
                  <a:lnTo>
                    <a:pt x="191869" y="381000"/>
                  </a:lnTo>
                  <a:lnTo>
                    <a:pt x="191013" y="382270"/>
                  </a:lnTo>
                  <a:lnTo>
                    <a:pt x="189067" y="383540"/>
                  </a:lnTo>
                  <a:lnTo>
                    <a:pt x="187791" y="384810"/>
                  </a:lnTo>
                  <a:lnTo>
                    <a:pt x="184633" y="387350"/>
                  </a:lnTo>
                  <a:lnTo>
                    <a:pt x="183437" y="389890"/>
                  </a:lnTo>
                  <a:lnTo>
                    <a:pt x="181805" y="391160"/>
                  </a:lnTo>
                  <a:lnTo>
                    <a:pt x="181371" y="392430"/>
                  </a:lnTo>
                  <a:lnTo>
                    <a:pt x="181267" y="393700"/>
                  </a:lnTo>
                  <a:lnTo>
                    <a:pt x="181556" y="394970"/>
                  </a:lnTo>
                  <a:lnTo>
                    <a:pt x="182820" y="396240"/>
                  </a:lnTo>
                  <a:lnTo>
                    <a:pt x="183898" y="396240"/>
                  </a:lnTo>
                  <a:lnTo>
                    <a:pt x="278669" y="439420"/>
                  </a:lnTo>
                  <a:lnTo>
                    <a:pt x="279354" y="440690"/>
                  </a:lnTo>
                  <a:lnTo>
                    <a:pt x="283405" y="440690"/>
                  </a:lnTo>
                  <a:lnTo>
                    <a:pt x="298359" y="474980"/>
                  </a:lnTo>
                  <a:lnTo>
                    <a:pt x="298780" y="476250"/>
                  </a:lnTo>
                  <a:lnTo>
                    <a:pt x="299281" y="476250"/>
                  </a:lnTo>
                  <a:lnTo>
                    <a:pt x="300441" y="477520"/>
                  </a:lnTo>
                  <a:lnTo>
                    <a:pt x="303509" y="477520"/>
                  </a:lnTo>
                  <a:lnTo>
                    <a:pt x="305455" y="474980"/>
                  </a:lnTo>
                  <a:lnTo>
                    <a:pt x="306626" y="474980"/>
                  </a:lnTo>
                  <a:lnTo>
                    <a:pt x="310625" y="469900"/>
                  </a:lnTo>
                  <a:lnTo>
                    <a:pt x="312361" y="468630"/>
                  </a:lnTo>
                  <a:lnTo>
                    <a:pt x="314043" y="464820"/>
                  </a:lnTo>
                  <a:lnTo>
                    <a:pt x="314200" y="463550"/>
                  </a:lnTo>
                  <a:lnTo>
                    <a:pt x="313673" y="462280"/>
                  </a:lnTo>
                  <a:lnTo>
                    <a:pt x="292820" y="417830"/>
                  </a:lnTo>
                  <a:lnTo>
                    <a:pt x="274320" y="417830"/>
                  </a:lnTo>
                  <a:lnTo>
                    <a:pt x="197026" y="382270"/>
                  </a:lnTo>
                  <a:lnTo>
                    <a:pt x="196079" y="381000"/>
                  </a:lnTo>
                  <a:close/>
                </a:path>
                <a:path w="659129" h="621029">
                  <a:moveTo>
                    <a:pt x="162802" y="420370"/>
                  </a:moveTo>
                  <a:lnTo>
                    <a:pt x="158045" y="420370"/>
                  </a:lnTo>
                  <a:lnTo>
                    <a:pt x="148376" y="422910"/>
                  </a:lnTo>
                  <a:lnTo>
                    <a:pt x="127541" y="458470"/>
                  </a:lnTo>
                  <a:lnTo>
                    <a:pt x="127638" y="463550"/>
                  </a:lnTo>
                  <a:lnTo>
                    <a:pt x="127709" y="464820"/>
                  </a:lnTo>
                  <a:lnTo>
                    <a:pt x="127780" y="466090"/>
                  </a:lnTo>
                  <a:lnTo>
                    <a:pt x="127851" y="467360"/>
                  </a:lnTo>
                  <a:lnTo>
                    <a:pt x="127922" y="468630"/>
                  </a:lnTo>
                  <a:lnTo>
                    <a:pt x="140276" y="468630"/>
                  </a:lnTo>
                  <a:lnTo>
                    <a:pt x="140277" y="464820"/>
                  </a:lnTo>
                  <a:lnTo>
                    <a:pt x="142132" y="453390"/>
                  </a:lnTo>
                  <a:lnTo>
                    <a:pt x="144217" y="448310"/>
                  </a:lnTo>
                  <a:lnTo>
                    <a:pt x="149970" y="443230"/>
                  </a:lnTo>
                  <a:lnTo>
                    <a:pt x="152653" y="440690"/>
                  </a:lnTo>
                  <a:lnTo>
                    <a:pt x="158367" y="439420"/>
                  </a:lnTo>
                  <a:lnTo>
                    <a:pt x="198008" y="439420"/>
                  </a:lnTo>
                  <a:lnTo>
                    <a:pt x="190451" y="431800"/>
                  </a:lnTo>
                  <a:lnTo>
                    <a:pt x="185686" y="427990"/>
                  </a:lnTo>
                  <a:lnTo>
                    <a:pt x="176737" y="422910"/>
                  </a:lnTo>
                  <a:lnTo>
                    <a:pt x="172159" y="421640"/>
                  </a:lnTo>
                  <a:lnTo>
                    <a:pt x="162802" y="420370"/>
                  </a:lnTo>
                  <a:close/>
                </a:path>
                <a:path w="659129" h="621029">
                  <a:moveTo>
                    <a:pt x="249275" y="326390"/>
                  </a:moveTo>
                  <a:lnTo>
                    <a:pt x="246919" y="326390"/>
                  </a:lnTo>
                  <a:lnTo>
                    <a:pt x="245973" y="327660"/>
                  </a:lnTo>
                  <a:lnTo>
                    <a:pt x="243817" y="328930"/>
                  </a:lnTo>
                  <a:lnTo>
                    <a:pt x="242540" y="330200"/>
                  </a:lnTo>
                  <a:lnTo>
                    <a:pt x="239383" y="332740"/>
                  </a:lnTo>
                  <a:lnTo>
                    <a:pt x="238159" y="334010"/>
                  </a:lnTo>
                  <a:lnTo>
                    <a:pt x="236632" y="336550"/>
                  </a:lnTo>
                  <a:lnTo>
                    <a:pt x="236171" y="337820"/>
                  </a:lnTo>
                  <a:lnTo>
                    <a:pt x="235858" y="339090"/>
                  </a:lnTo>
                  <a:lnTo>
                    <a:pt x="236120" y="340360"/>
                  </a:lnTo>
                  <a:lnTo>
                    <a:pt x="236806" y="341630"/>
                  </a:lnTo>
                  <a:lnTo>
                    <a:pt x="274558" y="417830"/>
                  </a:lnTo>
                  <a:lnTo>
                    <a:pt x="292820" y="417830"/>
                  </a:lnTo>
                  <a:lnTo>
                    <a:pt x="251804" y="330200"/>
                  </a:lnTo>
                  <a:lnTo>
                    <a:pt x="250539" y="327660"/>
                  </a:lnTo>
                  <a:lnTo>
                    <a:pt x="249275" y="326390"/>
                  </a:lnTo>
                  <a:close/>
                </a:path>
                <a:path w="659129" h="621029">
                  <a:moveTo>
                    <a:pt x="271551" y="304800"/>
                  </a:moveTo>
                  <a:lnTo>
                    <a:pt x="268763" y="304800"/>
                  </a:lnTo>
                  <a:lnTo>
                    <a:pt x="267395" y="306070"/>
                  </a:lnTo>
                  <a:lnTo>
                    <a:pt x="266552" y="306070"/>
                  </a:lnTo>
                  <a:lnTo>
                    <a:pt x="264552" y="308610"/>
                  </a:lnTo>
                  <a:lnTo>
                    <a:pt x="263291" y="309880"/>
                  </a:lnTo>
                  <a:lnTo>
                    <a:pt x="260080" y="312420"/>
                  </a:lnTo>
                  <a:lnTo>
                    <a:pt x="258779" y="313690"/>
                  </a:lnTo>
                  <a:lnTo>
                    <a:pt x="256936" y="316230"/>
                  </a:lnTo>
                  <a:lnTo>
                    <a:pt x="256397" y="317500"/>
                  </a:lnTo>
                  <a:lnTo>
                    <a:pt x="256082" y="318770"/>
                  </a:lnTo>
                  <a:lnTo>
                    <a:pt x="256266" y="320040"/>
                  </a:lnTo>
                  <a:lnTo>
                    <a:pt x="257321" y="320040"/>
                  </a:lnTo>
                  <a:lnTo>
                    <a:pt x="258163" y="321310"/>
                  </a:lnTo>
                  <a:lnTo>
                    <a:pt x="259320" y="321310"/>
                  </a:lnTo>
                  <a:lnTo>
                    <a:pt x="313643" y="334010"/>
                  </a:lnTo>
                  <a:lnTo>
                    <a:pt x="326476" y="391160"/>
                  </a:lnTo>
                  <a:lnTo>
                    <a:pt x="326843" y="392430"/>
                  </a:lnTo>
                  <a:lnTo>
                    <a:pt x="327789" y="393700"/>
                  </a:lnTo>
                  <a:lnTo>
                    <a:pt x="329938" y="393700"/>
                  </a:lnTo>
                  <a:lnTo>
                    <a:pt x="330871" y="392430"/>
                  </a:lnTo>
                  <a:lnTo>
                    <a:pt x="333081" y="391160"/>
                  </a:lnTo>
                  <a:lnTo>
                    <a:pt x="334396" y="389890"/>
                  </a:lnTo>
                  <a:lnTo>
                    <a:pt x="337394" y="387350"/>
                  </a:lnTo>
                  <a:lnTo>
                    <a:pt x="338540" y="386080"/>
                  </a:lnTo>
                  <a:lnTo>
                    <a:pt x="340172" y="383540"/>
                  </a:lnTo>
                  <a:lnTo>
                    <a:pt x="340763" y="383540"/>
                  </a:lnTo>
                  <a:lnTo>
                    <a:pt x="341499" y="381000"/>
                  </a:lnTo>
                  <a:lnTo>
                    <a:pt x="341603" y="379730"/>
                  </a:lnTo>
                  <a:lnTo>
                    <a:pt x="341445" y="378460"/>
                  </a:lnTo>
                  <a:lnTo>
                    <a:pt x="330219" y="334010"/>
                  </a:lnTo>
                  <a:lnTo>
                    <a:pt x="390329" y="334010"/>
                  </a:lnTo>
                  <a:lnTo>
                    <a:pt x="390869" y="332740"/>
                  </a:lnTo>
                  <a:lnTo>
                    <a:pt x="391236" y="331470"/>
                  </a:lnTo>
                  <a:lnTo>
                    <a:pt x="391078" y="330200"/>
                  </a:lnTo>
                  <a:lnTo>
                    <a:pt x="390077" y="328930"/>
                  </a:lnTo>
                  <a:lnTo>
                    <a:pt x="388092" y="328930"/>
                  </a:lnTo>
                  <a:lnTo>
                    <a:pt x="331085" y="314960"/>
                  </a:lnTo>
                  <a:lnTo>
                    <a:pt x="314187" y="314960"/>
                  </a:lnTo>
                  <a:lnTo>
                    <a:pt x="271551" y="304800"/>
                  </a:lnTo>
                  <a:close/>
                </a:path>
                <a:path w="659129" h="621029">
                  <a:moveTo>
                    <a:pt x="390329" y="334010"/>
                  </a:moveTo>
                  <a:lnTo>
                    <a:pt x="330219" y="334010"/>
                  </a:lnTo>
                  <a:lnTo>
                    <a:pt x="375461" y="344170"/>
                  </a:lnTo>
                  <a:lnTo>
                    <a:pt x="379910" y="344170"/>
                  </a:lnTo>
                  <a:lnTo>
                    <a:pt x="380777" y="342900"/>
                  </a:lnTo>
                  <a:lnTo>
                    <a:pt x="382779" y="341630"/>
                  </a:lnTo>
                  <a:lnTo>
                    <a:pt x="384068" y="340360"/>
                  </a:lnTo>
                  <a:lnTo>
                    <a:pt x="387277" y="337820"/>
                  </a:lnTo>
                  <a:lnTo>
                    <a:pt x="388539" y="335280"/>
                  </a:lnTo>
                  <a:lnTo>
                    <a:pt x="390329" y="334010"/>
                  </a:lnTo>
                  <a:close/>
                </a:path>
                <a:path w="659129" h="621029">
                  <a:moveTo>
                    <a:pt x="317172" y="257810"/>
                  </a:moveTo>
                  <a:lnTo>
                    <a:pt x="316555" y="257810"/>
                  </a:lnTo>
                  <a:lnTo>
                    <a:pt x="315027" y="259080"/>
                  </a:lnTo>
                  <a:lnTo>
                    <a:pt x="314106" y="259080"/>
                  </a:lnTo>
                  <a:lnTo>
                    <a:pt x="311948" y="260350"/>
                  </a:lnTo>
                  <a:lnTo>
                    <a:pt x="310647" y="261620"/>
                  </a:lnTo>
                  <a:lnTo>
                    <a:pt x="307700" y="265430"/>
                  </a:lnTo>
                  <a:lnTo>
                    <a:pt x="306621" y="265430"/>
                  </a:lnTo>
                  <a:lnTo>
                    <a:pt x="305147" y="267970"/>
                  </a:lnTo>
                  <a:lnTo>
                    <a:pt x="304648" y="267970"/>
                  </a:lnTo>
                  <a:lnTo>
                    <a:pt x="304123" y="269240"/>
                  </a:lnTo>
                  <a:lnTo>
                    <a:pt x="304151" y="273050"/>
                  </a:lnTo>
                  <a:lnTo>
                    <a:pt x="314187" y="314960"/>
                  </a:lnTo>
                  <a:lnTo>
                    <a:pt x="331085" y="314960"/>
                  </a:lnTo>
                  <a:lnTo>
                    <a:pt x="318830" y="261620"/>
                  </a:lnTo>
                  <a:lnTo>
                    <a:pt x="318513" y="260350"/>
                  </a:lnTo>
                  <a:lnTo>
                    <a:pt x="318118" y="259080"/>
                  </a:lnTo>
                  <a:lnTo>
                    <a:pt x="317172" y="257810"/>
                  </a:lnTo>
                  <a:close/>
                </a:path>
                <a:path w="659129" h="621029">
                  <a:moveTo>
                    <a:pt x="409295" y="284480"/>
                  </a:moveTo>
                  <a:lnTo>
                    <a:pt x="404449" y="284480"/>
                  </a:lnTo>
                  <a:lnTo>
                    <a:pt x="401660" y="285750"/>
                  </a:lnTo>
                  <a:lnTo>
                    <a:pt x="395241" y="293370"/>
                  </a:lnTo>
                  <a:lnTo>
                    <a:pt x="393612" y="295910"/>
                  </a:lnTo>
                  <a:lnTo>
                    <a:pt x="393617" y="300990"/>
                  </a:lnTo>
                  <a:lnTo>
                    <a:pt x="395489" y="303530"/>
                  </a:lnTo>
                  <a:lnTo>
                    <a:pt x="402871" y="311150"/>
                  </a:lnTo>
                  <a:lnTo>
                    <a:pt x="405902" y="312420"/>
                  </a:lnTo>
                  <a:lnTo>
                    <a:pt x="410748" y="312420"/>
                  </a:lnTo>
                  <a:lnTo>
                    <a:pt x="413538" y="311150"/>
                  </a:lnTo>
                  <a:lnTo>
                    <a:pt x="419957" y="304800"/>
                  </a:lnTo>
                  <a:lnTo>
                    <a:pt x="421586" y="302260"/>
                  </a:lnTo>
                  <a:lnTo>
                    <a:pt x="421581" y="297180"/>
                  </a:lnTo>
                  <a:lnTo>
                    <a:pt x="419709" y="293370"/>
                  </a:lnTo>
                  <a:lnTo>
                    <a:pt x="415965" y="290830"/>
                  </a:lnTo>
                  <a:lnTo>
                    <a:pt x="412327" y="287020"/>
                  </a:lnTo>
                  <a:lnTo>
                    <a:pt x="409295" y="284480"/>
                  </a:lnTo>
                  <a:close/>
                </a:path>
                <a:path w="659129" h="621029">
                  <a:moveTo>
                    <a:pt x="382366" y="194310"/>
                  </a:moveTo>
                  <a:lnTo>
                    <a:pt x="379577" y="194310"/>
                  </a:lnTo>
                  <a:lnTo>
                    <a:pt x="378211" y="195580"/>
                  </a:lnTo>
                  <a:lnTo>
                    <a:pt x="377367" y="195580"/>
                  </a:lnTo>
                  <a:lnTo>
                    <a:pt x="375367" y="196850"/>
                  </a:lnTo>
                  <a:lnTo>
                    <a:pt x="374105" y="198120"/>
                  </a:lnTo>
                  <a:lnTo>
                    <a:pt x="370895" y="201930"/>
                  </a:lnTo>
                  <a:lnTo>
                    <a:pt x="369594" y="203200"/>
                  </a:lnTo>
                  <a:lnTo>
                    <a:pt x="367751" y="205740"/>
                  </a:lnTo>
                  <a:lnTo>
                    <a:pt x="367212" y="205740"/>
                  </a:lnTo>
                  <a:lnTo>
                    <a:pt x="367092" y="208086"/>
                  </a:lnTo>
                  <a:lnTo>
                    <a:pt x="367082" y="208280"/>
                  </a:lnTo>
                  <a:lnTo>
                    <a:pt x="368136" y="209550"/>
                  </a:lnTo>
                  <a:lnTo>
                    <a:pt x="368978" y="209550"/>
                  </a:lnTo>
                  <a:lnTo>
                    <a:pt x="370135" y="210820"/>
                  </a:lnTo>
                  <a:lnTo>
                    <a:pt x="424458" y="222250"/>
                  </a:lnTo>
                  <a:lnTo>
                    <a:pt x="437291" y="280670"/>
                  </a:lnTo>
                  <a:lnTo>
                    <a:pt x="437658" y="281940"/>
                  </a:lnTo>
                  <a:lnTo>
                    <a:pt x="438604" y="283210"/>
                  </a:lnTo>
                  <a:lnTo>
                    <a:pt x="440752" y="283210"/>
                  </a:lnTo>
                  <a:lnTo>
                    <a:pt x="441686" y="281940"/>
                  </a:lnTo>
                  <a:lnTo>
                    <a:pt x="443896" y="280670"/>
                  </a:lnTo>
                  <a:lnTo>
                    <a:pt x="445211" y="279400"/>
                  </a:lnTo>
                  <a:lnTo>
                    <a:pt x="448209" y="276860"/>
                  </a:lnTo>
                  <a:lnTo>
                    <a:pt x="449353" y="275590"/>
                  </a:lnTo>
                  <a:lnTo>
                    <a:pt x="450987" y="273050"/>
                  </a:lnTo>
                  <a:lnTo>
                    <a:pt x="451578" y="271780"/>
                  </a:lnTo>
                  <a:lnTo>
                    <a:pt x="452313" y="270510"/>
                  </a:lnTo>
                  <a:lnTo>
                    <a:pt x="452418" y="267970"/>
                  </a:lnTo>
                  <a:lnTo>
                    <a:pt x="452260" y="267970"/>
                  </a:lnTo>
                  <a:lnTo>
                    <a:pt x="441034" y="222250"/>
                  </a:lnTo>
                  <a:lnTo>
                    <a:pt x="501684" y="222250"/>
                  </a:lnTo>
                  <a:lnTo>
                    <a:pt x="501878" y="219880"/>
                  </a:lnTo>
                  <a:lnTo>
                    <a:pt x="501892" y="219710"/>
                  </a:lnTo>
                  <a:lnTo>
                    <a:pt x="500893" y="218440"/>
                  </a:lnTo>
                  <a:lnTo>
                    <a:pt x="500065" y="218440"/>
                  </a:lnTo>
                  <a:lnTo>
                    <a:pt x="498908" y="217170"/>
                  </a:lnTo>
                  <a:lnTo>
                    <a:pt x="441900" y="204470"/>
                  </a:lnTo>
                  <a:lnTo>
                    <a:pt x="425002" y="204470"/>
                  </a:lnTo>
                  <a:lnTo>
                    <a:pt x="382366" y="194310"/>
                  </a:lnTo>
                  <a:close/>
                </a:path>
                <a:path w="659129" h="621029">
                  <a:moveTo>
                    <a:pt x="501144" y="222250"/>
                  </a:moveTo>
                  <a:lnTo>
                    <a:pt x="441034" y="222250"/>
                  </a:lnTo>
                  <a:lnTo>
                    <a:pt x="486276" y="233680"/>
                  </a:lnTo>
                  <a:lnTo>
                    <a:pt x="490725" y="233680"/>
                  </a:lnTo>
                  <a:lnTo>
                    <a:pt x="491592" y="232410"/>
                  </a:lnTo>
                  <a:lnTo>
                    <a:pt x="493593" y="231140"/>
                  </a:lnTo>
                  <a:lnTo>
                    <a:pt x="494883" y="229870"/>
                  </a:lnTo>
                  <a:lnTo>
                    <a:pt x="498092" y="226060"/>
                  </a:lnTo>
                  <a:lnTo>
                    <a:pt x="499355" y="224790"/>
                  </a:lnTo>
                  <a:lnTo>
                    <a:pt x="501144" y="222250"/>
                  </a:lnTo>
                  <a:close/>
                </a:path>
                <a:path w="659129" h="621029">
                  <a:moveTo>
                    <a:pt x="427987" y="147320"/>
                  </a:moveTo>
                  <a:lnTo>
                    <a:pt x="425842" y="147320"/>
                  </a:lnTo>
                  <a:lnTo>
                    <a:pt x="424921" y="148590"/>
                  </a:lnTo>
                  <a:lnTo>
                    <a:pt x="422763" y="149860"/>
                  </a:lnTo>
                  <a:lnTo>
                    <a:pt x="421462" y="151130"/>
                  </a:lnTo>
                  <a:lnTo>
                    <a:pt x="418515" y="153670"/>
                  </a:lnTo>
                  <a:lnTo>
                    <a:pt x="417436" y="154940"/>
                  </a:lnTo>
                  <a:lnTo>
                    <a:pt x="415963" y="157480"/>
                  </a:lnTo>
                  <a:lnTo>
                    <a:pt x="415463" y="157480"/>
                  </a:lnTo>
                  <a:lnTo>
                    <a:pt x="414938" y="158750"/>
                  </a:lnTo>
                  <a:lnTo>
                    <a:pt x="414860" y="161290"/>
                  </a:lnTo>
                  <a:lnTo>
                    <a:pt x="425002" y="204470"/>
                  </a:lnTo>
                  <a:lnTo>
                    <a:pt x="441900" y="204470"/>
                  </a:lnTo>
                  <a:lnTo>
                    <a:pt x="429646" y="151130"/>
                  </a:lnTo>
                  <a:lnTo>
                    <a:pt x="429328" y="149860"/>
                  </a:lnTo>
                  <a:lnTo>
                    <a:pt x="428933" y="148590"/>
                  </a:lnTo>
                  <a:lnTo>
                    <a:pt x="427987" y="147320"/>
                  </a:lnTo>
                  <a:close/>
                </a:path>
                <a:path w="659129" h="621029">
                  <a:moveTo>
                    <a:pt x="510623" y="85090"/>
                  </a:moveTo>
                  <a:lnTo>
                    <a:pt x="493891" y="85090"/>
                  </a:lnTo>
                  <a:lnTo>
                    <a:pt x="482475" y="90170"/>
                  </a:lnTo>
                  <a:lnTo>
                    <a:pt x="457475" y="121920"/>
                  </a:lnTo>
                  <a:lnTo>
                    <a:pt x="456492" y="128270"/>
                  </a:lnTo>
                  <a:lnTo>
                    <a:pt x="456917" y="134620"/>
                  </a:lnTo>
                  <a:lnTo>
                    <a:pt x="457002" y="135890"/>
                  </a:lnTo>
                  <a:lnTo>
                    <a:pt x="457087" y="137160"/>
                  </a:lnTo>
                  <a:lnTo>
                    <a:pt x="457172" y="138430"/>
                  </a:lnTo>
                  <a:lnTo>
                    <a:pt x="457257" y="139700"/>
                  </a:lnTo>
                  <a:lnTo>
                    <a:pt x="483002" y="179070"/>
                  </a:lnTo>
                  <a:lnTo>
                    <a:pt x="520816" y="193040"/>
                  </a:lnTo>
                  <a:lnTo>
                    <a:pt x="526926" y="191770"/>
                  </a:lnTo>
                  <a:lnTo>
                    <a:pt x="538960" y="185420"/>
                  </a:lnTo>
                  <a:lnTo>
                    <a:pt x="544882" y="181610"/>
                  </a:lnTo>
                  <a:lnTo>
                    <a:pt x="551447" y="175260"/>
                  </a:lnTo>
                  <a:lnTo>
                    <a:pt x="520539" y="175260"/>
                  </a:lnTo>
                  <a:lnTo>
                    <a:pt x="512318" y="173990"/>
                  </a:lnTo>
                  <a:lnTo>
                    <a:pt x="508285" y="172720"/>
                  </a:lnTo>
                  <a:lnTo>
                    <a:pt x="500379" y="168910"/>
                  </a:lnTo>
                  <a:lnTo>
                    <a:pt x="492471" y="161290"/>
                  </a:lnTo>
                  <a:lnTo>
                    <a:pt x="502573" y="151130"/>
                  </a:lnTo>
                  <a:lnTo>
                    <a:pt x="482934" y="151130"/>
                  </a:lnTo>
                  <a:lnTo>
                    <a:pt x="472652" y="128270"/>
                  </a:lnTo>
                  <a:lnTo>
                    <a:pt x="472530" y="127000"/>
                  </a:lnTo>
                  <a:lnTo>
                    <a:pt x="493788" y="100330"/>
                  </a:lnTo>
                  <a:lnTo>
                    <a:pt x="534982" y="100330"/>
                  </a:lnTo>
                  <a:lnTo>
                    <a:pt x="531506" y="96520"/>
                  </a:lnTo>
                  <a:lnTo>
                    <a:pt x="526558" y="92710"/>
                  </a:lnTo>
                  <a:lnTo>
                    <a:pt x="516031" y="87630"/>
                  </a:lnTo>
                  <a:lnTo>
                    <a:pt x="510623" y="85090"/>
                  </a:lnTo>
                  <a:close/>
                </a:path>
                <a:path w="659129" h="621029">
                  <a:moveTo>
                    <a:pt x="562803" y="134620"/>
                  </a:moveTo>
                  <a:lnTo>
                    <a:pt x="559892" y="134620"/>
                  </a:lnTo>
                  <a:lnTo>
                    <a:pt x="558890" y="135890"/>
                  </a:lnTo>
                  <a:lnTo>
                    <a:pt x="558229" y="137160"/>
                  </a:lnTo>
                  <a:lnTo>
                    <a:pt x="556854" y="140970"/>
                  </a:lnTo>
                  <a:lnTo>
                    <a:pt x="555890" y="142240"/>
                  </a:lnTo>
                  <a:lnTo>
                    <a:pt x="553406" y="148590"/>
                  </a:lnTo>
                  <a:lnTo>
                    <a:pt x="547574" y="157480"/>
                  </a:lnTo>
                  <a:lnTo>
                    <a:pt x="544846" y="160020"/>
                  </a:lnTo>
                  <a:lnTo>
                    <a:pt x="537212" y="167640"/>
                  </a:lnTo>
                  <a:lnTo>
                    <a:pt x="532998" y="171450"/>
                  </a:lnTo>
                  <a:lnTo>
                    <a:pt x="524676" y="175260"/>
                  </a:lnTo>
                  <a:lnTo>
                    <a:pt x="551447" y="175260"/>
                  </a:lnTo>
                  <a:lnTo>
                    <a:pt x="554074" y="172720"/>
                  </a:lnTo>
                  <a:lnTo>
                    <a:pt x="556990" y="168910"/>
                  </a:lnTo>
                  <a:lnTo>
                    <a:pt x="561930" y="162560"/>
                  </a:lnTo>
                  <a:lnTo>
                    <a:pt x="563980" y="158750"/>
                  </a:lnTo>
                  <a:lnTo>
                    <a:pt x="567240" y="153670"/>
                  </a:lnTo>
                  <a:lnTo>
                    <a:pt x="568438" y="151130"/>
                  </a:lnTo>
                  <a:lnTo>
                    <a:pt x="570351" y="144780"/>
                  </a:lnTo>
                  <a:lnTo>
                    <a:pt x="570290" y="143510"/>
                  </a:lnTo>
                  <a:lnTo>
                    <a:pt x="570030" y="142240"/>
                  </a:lnTo>
                  <a:lnTo>
                    <a:pt x="569808" y="142240"/>
                  </a:lnTo>
                  <a:lnTo>
                    <a:pt x="569182" y="140970"/>
                  </a:lnTo>
                  <a:lnTo>
                    <a:pt x="568802" y="140970"/>
                  </a:lnTo>
                  <a:lnTo>
                    <a:pt x="567913" y="139700"/>
                  </a:lnTo>
                  <a:lnTo>
                    <a:pt x="567352" y="138430"/>
                  </a:lnTo>
                  <a:lnTo>
                    <a:pt x="565732" y="137160"/>
                  </a:lnTo>
                  <a:lnTo>
                    <a:pt x="564896" y="135890"/>
                  </a:lnTo>
                  <a:lnTo>
                    <a:pt x="563430" y="135890"/>
                  </a:lnTo>
                  <a:lnTo>
                    <a:pt x="562803" y="134620"/>
                  </a:lnTo>
                  <a:close/>
                </a:path>
                <a:path w="659129" h="621029">
                  <a:moveTo>
                    <a:pt x="534982" y="100330"/>
                  </a:moveTo>
                  <a:lnTo>
                    <a:pt x="493788" y="100330"/>
                  </a:lnTo>
                  <a:lnTo>
                    <a:pt x="507978" y="101600"/>
                  </a:lnTo>
                  <a:lnTo>
                    <a:pt x="514873" y="106680"/>
                  </a:lnTo>
                  <a:lnTo>
                    <a:pt x="521567" y="113030"/>
                  </a:lnTo>
                  <a:lnTo>
                    <a:pt x="482934" y="151130"/>
                  </a:lnTo>
                  <a:lnTo>
                    <a:pt x="502573" y="151130"/>
                  </a:lnTo>
                  <a:lnTo>
                    <a:pt x="540454" y="113030"/>
                  </a:lnTo>
                  <a:lnTo>
                    <a:pt x="541192" y="111760"/>
                  </a:lnTo>
                  <a:lnTo>
                    <a:pt x="541298" y="110490"/>
                  </a:lnTo>
                  <a:lnTo>
                    <a:pt x="541405" y="109220"/>
                  </a:lnTo>
                  <a:lnTo>
                    <a:pt x="541511" y="107950"/>
                  </a:lnTo>
                  <a:lnTo>
                    <a:pt x="540564" y="105410"/>
                  </a:lnTo>
                  <a:lnTo>
                    <a:pt x="536140" y="101600"/>
                  </a:lnTo>
                  <a:lnTo>
                    <a:pt x="534982" y="100330"/>
                  </a:lnTo>
                  <a:close/>
                </a:path>
                <a:path w="659129" h="621029">
                  <a:moveTo>
                    <a:pt x="537446" y="39370"/>
                  </a:moveTo>
                  <a:lnTo>
                    <a:pt x="533408" y="39370"/>
                  </a:lnTo>
                  <a:lnTo>
                    <a:pt x="531715" y="40640"/>
                  </a:lnTo>
                  <a:lnTo>
                    <a:pt x="530711" y="41910"/>
                  </a:lnTo>
                  <a:lnTo>
                    <a:pt x="528332" y="44450"/>
                  </a:lnTo>
                  <a:lnTo>
                    <a:pt x="527394" y="45720"/>
                  </a:lnTo>
                  <a:lnTo>
                    <a:pt x="526070" y="46990"/>
                  </a:lnTo>
                  <a:lnTo>
                    <a:pt x="525139" y="49530"/>
                  </a:lnTo>
                  <a:lnTo>
                    <a:pt x="525348" y="50800"/>
                  </a:lnTo>
                  <a:lnTo>
                    <a:pt x="525623" y="50800"/>
                  </a:lnTo>
                  <a:lnTo>
                    <a:pt x="597543" y="123190"/>
                  </a:lnTo>
                  <a:lnTo>
                    <a:pt x="600961" y="123190"/>
                  </a:lnTo>
                  <a:lnTo>
                    <a:pt x="601794" y="121920"/>
                  </a:lnTo>
                  <a:lnTo>
                    <a:pt x="603697" y="120650"/>
                  </a:lnTo>
                  <a:lnTo>
                    <a:pt x="604807" y="119380"/>
                  </a:lnTo>
                  <a:lnTo>
                    <a:pt x="607400" y="116840"/>
                  </a:lnTo>
                  <a:lnTo>
                    <a:pt x="608432" y="115570"/>
                  </a:lnTo>
                  <a:lnTo>
                    <a:pt x="609914" y="114300"/>
                  </a:lnTo>
                  <a:lnTo>
                    <a:pt x="610417" y="113030"/>
                  </a:lnTo>
                  <a:lnTo>
                    <a:pt x="610948" y="111760"/>
                  </a:lnTo>
                  <a:lnTo>
                    <a:pt x="610886" y="110490"/>
                  </a:lnTo>
                  <a:lnTo>
                    <a:pt x="610637" y="109220"/>
                  </a:lnTo>
                  <a:lnTo>
                    <a:pt x="560538" y="59690"/>
                  </a:lnTo>
                  <a:lnTo>
                    <a:pt x="559619" y="52070"/>
                  </a:lnTo>
                  <a:lnTo>
                    <a:pt x="559620" y="49530"/>
                  </a:lnTo>
                  <a:lnTo>
                    <a:pt x="547265" y="49530"/>
                  </a:lnTo>
                  <a:lnTo>
                    <a:pt x="537446" y="39370"/>
                  </a:lnTo>
                  <a:close/>
                </a:path>
                <a:path w="659129" h="621029">
                  <a:moveTo>
                    <a:pt x="617353" y="20320"/>
                  </a:moveTo>
                  <a:lnTo>
                    <a:pt x="586623" y="20320"/>
                  </a:lnTo>
                  <a:lnTo>
                    <a:pt x="589669" y="21590"/>
                  </a:lnTo>
                  <a:lnTo>
                    <a:pt x="595875" y="25400"/>
                  </a:lnTo>
                  <a:lnTo>
                    <a:pt x="599453" y="29210"/>
                  </a:lnTo>
                  <a:lnTo>
                    <a:pt x="645552" y="74930"/>
                  </a:lnTo>
                  <a:lnTo>
                    <a:pt x="648983" y="74930"/>
                  </a:lnTo>
                  <a:lnTo>
                    <a:pt x="649801" y="73660"/>
                  </a:lnTo>
                  <a:lnTo>
                    <a:pt x="651705" y="72390"/>
                  </a:lnTo>
                  <a:lnTo>
                    <a:pt x="652842" y="71120"/>
                  </a:lnTo>
                  <a:lnTo>
                    <a:pt x="655435" y="68580"/>
                  </a:lnTo>
                  <a:lnTo>
                    <a:pt x="656440" y="68580"/>
                  </a:lnTo>
                  <a:lnTo>
                    <a:pt x="657922" y="66040"/>
                  </a:lnTo>
                  <a:lnTo>
                    <a:pt x="658426" y="64770"/>
                  </a:lnTo>
                  <a:lnTo>
                    <a:pt x="658958" y="63500"/>
                  </a:lnTo>
                  <a:lnTo>
                    <a:pt x="658895" y="62230"/>
                  </a:lnTo>
                  <a:lnTo>
                    <a:pt x="658644" y="62230"/>
                  </a:lnTo>
                  <a:lnTo>
                    <a:pt x="617353" y="20320"/>
                  </a:lnTo>
                  <a:close/>
                </a:path>
                <a:path w="659129" h="621029">
                  <a:moveTo>
                    <a:pt x="582146" y="0"/>
                  </a:moveTo>
                  <a:lnTo>
                    <a:pt x="547462" y="33020"/>
                  </a:lnTo>
                  <a:lnTo>
                    <a:pt x="546841" y="41910"/>
                  </a:lnTo>
                  <a:lnTo>
                    <a:pt x="547265" y="49530"/>
                  </a:lnTo>
                  <a:lnTo>
                    <a:pt x="559620" y="49530"/>
                  </a:lnTo>
                  <a:lnTo>
                    <a:pt x="559622" y="44450"/>
                  </a:lnTo>
                  <a:lnTo>
                    <a:pt x="561477" y="34290"/>
                  </a:lnTo>
                  <a:lnTo>
                    <a:pt x="563561" y="29210"/>
                  </a:lnTo>
                  <a:lnTo>
                    <a:pt x="569315" y="24130"/>
                  </a:lnTo>
                  <a:lnTo>
                    <a:pt x="571999" y="21590"/>
                  </a:lnTo>
                  <a:lnTo>
                    <a:pt x="577711" y="20320"/>
                  </a:lnTo>
                  <a:lnTo>
                    <a:pt x="617353" y="20320"/>
                  </a:lnTo>
                  <a:lnTo>
                    <a:pt x="609796" y="12700"/>
                  </a:lnTo>
                  <a:lnTo>
                    <a:pt x="605031" y="8890"/>
                  </a:lnTo>
                  <a:lnTo>
                    <a:pt x="596082" y="3810"/>
                  </a:lnTo>
                  <a:lnTo>
                    <a:pt x="591505" y="1270"/>
                  </a:lnTo>
                  <a:lnTo>
                    <a:pt x="5821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447177" y="5227063"/>
              <a:ext cx="1441086" cy="1400871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1016624" y="3107826"/>
            <a:ext cx="304800" cy="353695"/>
          </a:xfrm>
          <a:prstGeom prst="rect">
            <a:avLst/>
          </a:prstGeom>
        </p:spPr>
        <p:txBody>
          <a:bodyPr vert="vert270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b="1" spc="-25" dirty="0">
                <a:latin typeface="Calibri"/>
                <a:cs typeface="Calibri"/>
              </a:rPr>
              <a:t>MB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5324439" y="1867860"/>
            <a:ext cx="125730" cy="503555"/>
            <a:chOff x="5324439" y="1867860"/>
            <a:chExt cx="125730" cy="503555"/>
          </a:xfrm>
        </p:grpSpPr>
        <p:pic>
          <p:nvPicPr>
            <p:cNvPr id="53" name="object 5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324439" y="1867860"/>
              <a:ext cx="125530" cy="12553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324439" y="2245627"/>
              <a:ext cx="125530" cy="125529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5493684" y="1675002"/>
            <a:ext cx="1096645" cy="781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77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img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size </a:t>
            </a:r>
            <a:r>
              <a:rPr sz="1800" dirty="0">
                <a:latin typeface="Calibri"/>
                <a:cs typeface="Calibri"/>
              </a:rPr>
              <a:t>mem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usage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3528" y="274022"/>
            <a:ext cx="49822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Boot</a:t>
            </a:r>
            <a:r>
              <a:rPr spc="-70" dirty="0"/>
              <a:t> </a:t>
            </a:r>
            <a:r>
              <a:rPr dirty="0"/>
              <a:t>Times</a:t>
            </a:r>
            <a:r>
              <a:rPr spc="-70" dirty="0"/>
              <a:t> </a:t>
            </a:r>
            <a:r>
              <a:rPr dirty="0"/>
              <a:t>(log</a:t>
            </a:r>
            <a:r>
              <a:rPr spc="-70" dirty="0"/>
              <a:t> </a:t>
            </a:r>
            <a:r>
              <a:rPr spc="-10" dirty="0"/>
              <a:t>scale)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70545" y="1722181"/>
            <a:ext cx="6263640" cy="2993390"/>
            <a:chOff x="1870545" y="1722181"/>
            <a:chExt cx="6263640" cy="2993390"/>
          </a:xfrm>
        </p:grpSpPr>
        <p:sp>
          <p:nvSpPr>
            <p:cNvPr id="4" name="object 4"/>
            <p:cNvSpPr/>
            <p:nvPr/>
          </p:nvSpPr>
          <p:spPr>
            <a:xfrm>
              <a:off x="1941202" y="1726943"/>
              <a:ext cx="6188710" cy="2186305"/>
            </a:xfrm>
            <a:custGeom>
              <a:avLst/>
              <a:gdLst/>
              <a:ahLst/>
              <a:cxnLst/>
              <a:rect l="l" t="t" r="r" b="b"/>
              <a:pathLst>
                <a:path w="6188709" h="2186304">
                  <a:moveTo>
                    <a:pt x="0" y="2186246"/>
                  </a:moveTo>
                  <a:lnTo>
                    <a:pt x="6188188" y="2186246"/>
                  </a:lnTo>
                </a:path>
                <a:path w="6188709" h="2186304">
                  <a:moveTo>
                    <a:pt x="0" y="1458883"/>
                  </a:moveTo>
                  <a:lnTo>
                    <a:pt x="6188188" y="1458883"/>
                  </a:lnTo>
                </a:path>
                <a:path w="6188709" h="2186304">
                  <a:moveTo>
                    <a:pt x="0" y="727363"/>
                  </a:moveTo>
                  <a:lnTo>
                    <a:pt x="6188188" y="727363"/>
                  </a:lnTo>
                </a:path>
                <a:path w="6188709" h="2186304">
                  <a:moveTo>
                    <a:pt x="0" y="0"/>
                  </a:moveTo>
                  <a:lnTo>
                    <a:pt x="6188188" y="0"/>
                  </a:lnTo>
                </a:path>
              </a:pathLst>
            </a:custGeom>
            <a:ln w="9524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1308" y="1841270"/>
              <a:ext cx="444730" cy="28096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6614" y="2086495"/>
              <a:ext cx="444730" cy="25644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27763" y="2261062"/>
              <a:ext cx="448887" cy="23899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13069" y="2406534"/>
              <a:ext cx="444730" cy="22444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98374" y="2701636"/>
              <a:ext cx="444730" cy="194933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79523" y="2784764"/>
              <a:ext cx="444730" cy="186620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64828" y="3532909"/>
              <a:ext cx="444730" cy="11180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07873" y="1863209"/>
              <a:ext cx="353523" cy="278006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75491" y="2285853"/>
              <a:ext cx="353523" cy="235742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91681" y="2109312"/>
              <a:ext cx="353524" cy="253396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59299" y="2431258"/>
              <a:ext cx="353523" cy="221201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43107" y="2722430"/>
              <a:ext cx="353524" cy="192084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626916" y="2806980"/>
              <a:ext cx="353524" cy="183629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510726" y="3555896"/>
              <a:ext cx="353522" cy="108737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942730" y="1726802"/>
              <a:ext cx="0" cy="2916555"/>
            </a:xfrm>
            <a:custGeom>
              <a:avLst/>
              <a:gdLst/>
              <a:ahLst/>
              <a:cxnLst/>
              <a:rect l="l" t="t" r="r" b="b"/>
              <a:pathLst>
                <a:path h="2916554">
                  <a:moveTo>
                    <a:pt x="0" y="2916473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870545" y="1726943"/>
              <a:ext cx="71120" cy="2916555"/>
            </a:xfrm>
            <a:custGeom>
              <a:avLst/>
              <a:gdLst/>
              <a:ahLst/>
              <a:cxnLst/>
              <a:rect l="l" t="t" r="r" b="b"/>
              <a:pathLst>
                <a:path w="71119" h="2916554">
                  <a:moveTo>
                    <a:pt x="0" y="2916332"/>
                  </a:moveTo>
                  <a:lnTo>
                    <a:pt x="70658" y="2916332"/>
                  </a:lnTo>
                </a:path>
                <a:path w="71119" h="2916554">
                  <a:moveTo>
                    <a:pt x="0" y="2186246"/>
                  </a:moveTo>
                  <a:lnTo>
                    <a:pt x="70658" y="2186246"/>
                  </a:lnTo>
                </a:path>
                <a:path w="71119" h="2916554">
                  <a:moveTo>
                    <a:pt x="0" y="1458883"/>
                  </a:moveTo>
                  <a:lnTo>
                    <a:pt x="70658" y="1458883"/>
                  </a:lnTo>
                </a:path>
                <a:path w="71119" h="2916554">
                  <a:moveTo>
                    <a:pt x="0" y="727363"/>
                  </a:moveTo>
                  <a:lnTo>
                    <a:pt x="70658" y="727363"/>
                  </a:lnTo>
                </a:path>
                <a:path w="71119" h="2916554">
                  <a:moveTo>
                    <a:pt x="0" y="0"/>
                  </a:moveTo>
                  <a:lnTo>
                    <a:pt x="70658" y="0"/>
                  </a:lnTo>
                </a:path>
              </a:pathLst>
            </a:custGeom>
            <a:ln w="9524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41202" y="4643276"/>
              <a:ext cx="6188710" cy="72390"/>
            </a:xfrm>
            <a:custGeom>
              <a:avLst/>
              <a:gdLst/>
              <a:ahLst/>
              <a:cxnLst/>
              <a:rect l="l" t="t" r="r" b="b"/>
              <a:pathLst>
                <a:path w="6188709" h="72389">
                  <a:moveTo>
                    <a:pt x="1528" y="0"/>
                  </a:moveTo>
                  <a:lnTo>
                    <a:pt x="6188188" y="0"/>
                  </a:lnTo>
                </a:path>
                <a:path w="6188709" h="72389">
                  <a:moveTo>
                    <a:pt x="0" y="1434"/>
                  </a:moveTo>
                  <a:lnTo>
                    <a:pt x="0" y="72091"/>
                  </a:lnTo>
                </a:path>
                <a:path w="6188709" h="72389">
                  <a:moveTo>
                    <a:pt x="885304" y="1434"/>
                  </a:moveTo>
                  <a:lnTo>
                    <a:pt x="885304" y="72091"/>
                  </a:lnTo>
                </a:path>
                <a:path w="6188709" h="72389">
                  <a:moveTo>
                    <a:pt x="1770610" y="1434"/>
                  </a:moveTo>
                  <a:lnTo>
                    <a:pt x="1770610" y="72091"/>
                  </a:lnTo>
                </a:path>
                <a:path w="6188709" h="72389">
                  <a:moveTo>
                    <a:pt x="2651759" y="1434"/>
                  </a:moveTo>
                  <a:lnTo>
                    <a:pt x="2651759" y="72091"/>
                  </a:lnTo>
                </a:path>
                <a:path w="6188709" h="72389">
                  <a:moveTo>
                    <a:pt x="3537064" y="1434"/>
                  </a:moveTo>
                  <a:lnTo>
                    <a:pt x="3537064" y="72091"/>
                  </a:lnTo>
                </a:path>
                <a:path w="6188709" h="72389">
                  <a:moveTo>
                    <a:pt x="4422370" y="1434"/>
                  </a:moveTo>
                  <a:lnTo>
                    <a:pt x="4422370" y="72091"/>
                  </a:lnTo>
                </a:path>
                <a:path w="6188709" h="72389">
                  <a:moveTo>
                    <a:pt x="5303519" y="1434"/>
                  </a:moveTo>
                  <a:lnTo>
                    <a:pt x="5303519" y="72091"/>
                  </a:lnTo>
                </a:path>
                <a:path w="6188709" h="72389">
                  <a:moveTo>
                    <a:pt x="6188188" y="1434"/>
                  </a:moveTo>
                  <a:lnTo>
                    <a:pt x="6188188" y="72091"/>
                  </a:lnTo>
                </a:path>
              </a:pathLst>
            </a:custGeom>
            <a:ln w="9524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024019" y="2166462"/>
            <a:ext cx="488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2988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07828" y="2343003"/>
            <a:ext cx="488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1711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91636" y="2488407"/>
            <a:ext cx="488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1081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743107" y="2722430"/>
            <a:ext cx="353695" cy="192087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4445">
              <a:lnSpc>
                <a:spcPct val="100000"/>
              </a:lnSpc>
              <a:spcBef>
                <a:spcPts val="550"/>
              </a:spcBef>
            </a:pPr>
            <a:r>
              <a:rPr sz="1800" spc="-25" dirty="0">
                <a:latin typeface="Calibri"/>
                <a:cs typeface="Calibri"/>
              </a:rPr>
              <a:t>431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26916" y="2806980"/>
            <a:ext cx="353695" cy="183642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2540">
              <a:lnSpc>
                <a:spcPct val="100000"/>
              </a:lnSpc>
              <a:spcBef>
                <a:spcPts val="550"/>
              </a:spcBef>
            </a:pPr>
            <a:r>
              <a:rPr sz="1800" spc="-25" dirty="0">
                <a:latin typeface="Calibri"/>
                <a:cs typeface="Calibri"/>
              </a:rPr>
              <a:t>330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510726" y="3555896"/>
            <a:ext cx="353695" cy="108775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550"/>
              </a:spcBef>
            </a:pPr>
            <a:r>
              <a:rPr sz="1800" spc="-25" dirty="0">
                <a:latin typeface="Calibri"/>
                <a:cs typeface="Calibri"/>
              </a:rPr>
              <a:t>31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38702" y="1507845"/>
            <a:ext cx="1490345" cy="71247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800" spc="-10" dirty="0">
                <a:latin typeface="Calibri"/>
                <a:cs typeface="Calibri"/>
              </a:rPr>
              <a:t>10000</a:t>
            </a:r>
            <a:endParaRPr sz="1800">
              <a:latin typeface="Calibri"/>
              <a:cs typeface="Calibri"/>
            </a:endParaRPr>
          </a:p>
          <a:p>
            <a:pPr marL="1014094">
              <a:lnSpc>
                <a:spcPct val="100000"/>
              </a:lnSpc>
              <a:spcBef>
                <a:spcPts val="540"/>
              </a:spcBef>
            </a:pPr>
            <a:r>
              <a:rPr sz="1800" spc="-20" dirty="0">
                <a:latin typeface="Calibri"/>
                <a:cs typeface="Calibri"/>
              </a:rPr>
              <a:t>6500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02153" y="4493416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86291" y="3764297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70427" y="3035179"/>
            <a:ext cx="373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100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54564" y="2306060"/>
            <a:ext cx="488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1000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331849" y="4898635"/>
            <a:ext cx="1988418" cy="114097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537497" y="4880098"/>
            <a:ext cx="647045" cy="675639"/>
          </a:xfrm>
          <a:prstGeom prst="rect">
            <a:avLst/>
          </a:prstGeom>
        </p:spPr>
      </p:pic>
      <p:sp>
        <p:nvSpPr>
          <p:cNvPr id="35" name="object 35"/>
          <p:cNvSpPr/>
          <p:nvPr/>
        </p:nvSpPr>
        <p:spPr>
          <a:xfrm>
            <a:off x="4388579" y="4898590"/>
            <a:ext cx="699770" cy="661670"/>
          </a:xfrm>
          <a:custGeom>
            <a:avLst/>
            <a:gdLst/>
            <a:ahLst/>
            <a:cxnLst/>
            <a:rect l="l" t="t" r="r" b="b"/>
            <a:pathLst>
              <a:path w="699770" h="661670">
                <a:moveTo>
                  <a:pt x="13600" y="566419"/>
                </a:moveTo>
                <a:lnTo>
                  <a:pt x="9224" y="566419"/>
                </a:lnTo>
                <a:lnTo>
                  <a:pt x="7320" y="567689"/>
                </a:lnTo>
                <a:lnTo>
                  <a:pt x="6183" y="568960"/>
                </a:lnTo>
                <a:lnTo>
                  <a:pt x="3590" y="571500"/>
                </a:lnTo>
                <a:lnTo>
                  <a:pt x="2585" y="572769"/>
                </a:lnTo>
                <a:lnTo>
                  <a:pt x="1103" y="575310"/>
                </a:lnTo>
                <a:lnTo>
                  <a:pt x="599" y="575310"/>
                </a:lnTo>
                <a:lnTo>
                  <a:pt x="67" y="576579"/>
                </a:lnTo>
                <a:lnTo>
                  <a:pt x="0" y="577850"/>
                </a:lnTo>
                <a:lnTo>
                  <a:pt x="259" y="579119"/>
                </a:lnTo>
                <a:lnTo>
                  <a:pt x="508" y="579119"/>
                </a:lnTo>
                <a:lnTo>
                  <a:pt x="17750" y="596900"/>
                </a:lnTo>
                <a:lnTo>
                  <a:pt x="7414" y="607060"/>
                </a:lnTo>
                <a:lnTo>
                  <a:pt x="28581" y="607060"/>
                </a:lnTo>
                <a:lnTo>
                  <a:pt x="74117" y="652779"/>
                </a:lnTo>
                <a:lnTo>
                  <a:pt x="78058" y="656589"/>
                </a:lnTo>
                <a:lnTo>
                  <a:pt x="85628" y="660400"/>
                </a:lnTo>
                <a:lnTo>
                  <a:pt x="89349" y="661669"/>
                </a:lnTo>
                <a:lnTo>
                  <a:pt x="100295" y="661669"/>
                </a:lnTo>
                <a:lnTo>
                  <a:pt x="121108" y="643889"/>
                </a:lnTo>
                <a:lnTo>
                  <a:pt x="98360" y="643889"/>
                </a:lnTo>
                <a:lnTo>
                  <a:pt x="90478" y="641350"/>
                </a:lnTo>
                <a:lnTo>
                  <a:pt x="86067" y="638810"/>
                </a:lnTo>
                <a:lnTo>
                  <a:pt x="41673" y="594360"/>
                </a:lnTo>
                <a:lnTo>
                  <a:pt x="53061" y="582929"/>
                </a:lnTo>
                <a:lnTo>
                  <a:pt x="30844" y="582929"/>
                </a:lnTo>
                <a:lnTo>
                  <a:pt x="13600" y="566419"/>
                </a:lnTo>
                <a:close/>
              </a:path>
              <a:path w="699770" h="661670">
                <a:moveTo>
                  <a:pt x="116182" y="627379"/>
                </a:moveTo>
                <a:lnTo>
                  <a:pt x="112391" y="627379"/>
                </a:lnTo>
                <a:lnTo>
                  <a:pt x="112036" y="628650"/>
                </a:lnTo>
                <a:lnTo>
                  <a:pt x="111455" y="629919"/>
                </a:lnTo>
                <a:lnTo>
                  <a:pt x="111072" y="631189"/>
                </a:lnTo>
                <a:lnTo>
                  <a:pt x="110125" y="632460"/>
                </a:lnTo>
                <a:lnTo>
                  <a:pt x="109532" y="633729"/>
                </a:lnTo>
                <a:lnTo>
                  <a:pt x="108112" y="636269"/>
                </a:lnTo>
                <a:lnTo>
                  <a:pt x="107151" y="637539"/>
                </a:lnTo>
                <a:lnTo>
                  <a:pt x="102199" y="642619"/>
                </a:lnTo>
                <a:lnTo>
                  <a:pt x="98360" y="643889"/>
                </a:lnTo>
                <a:lnTo>
                  <a:pt x="121108" y="643889"/>
                </a:lnTo>
                <a:lnTo>
                  <a:pt x="121953" y="642619"/>
                </a:lnTo>
                <a:lnTo>
                  <a:pt x="122612" y="641350"/>
                </a:lnTo>
                <a:lnTo>
                  <a:pt x="123562" y="638810"/>
                </a:lnTo>
                <a:lnTo>
                  <a:pt x="123786" y="637539"/>
                </a:lnTo>
                <a:lnTo>
                  <a:pt x="123732" y="636269"/>
                </a:lnTo>
                <a:lnTo>
                  <a:pt x="123389" y="635000"/>
                </a:lnTo>
                <a:lnTo>
                  <a:pt x="122072" y="632460"/>
                </a:lnTo>
                <a:lnTo>
                  <a:pt x="120978" y="631189"/>
                </a:lnTo>
                <a:lnTo>
                  <a:pt x="118501" y="628650"/>
                </a:lnTo>
                <a:lnTo>
                  <a:pt x="117657" y="628650"/>
                </a:lnTo>
                <a:lnTo>
                  <a:pt x="116182" y="627379"/>
                </a:lnTo>
                <a:close/>
              </a:path>
              <a:path w="699770" h="661670">
                <a:moveTo>
                  <a:pt x="114562" y="626110"/>
                </a:moveTo>
                <a:lnTo>
                  <a:pt x="113760" y="626110"/>
                </a:lnTo>
                <a:lnTo>
                  <a:pt x="113390" y="627379"/>
                </a:lnTo>
                <a:lnTo>
                  <a:pt x="115563" y="627379"/>
                </a:lnTo>
                <a:lnTo>
                  <a:pt x="114562" y="626110"/>
                </a:lnTo>
                <a:close/>
              </a:path>
              <a:path w="699770" h="661670">
                <a:moveTo>
                  <a:pt x="144484" y="619760"/>
                </a:moveTo>
                <a:lnTo>
                  <a:pt x="141461" y="619760"/>
                </a:lnTo>
                <a:lnTo>
                  <a:pt x="143065" y="621029"/>
                </a:lnTo>
                <a:lnTo>
                  <a:pt x="144484" y="619760"/>
                </a:lnTo>
                <a:close/>
              </a:path>
              <a:path w="699770" h="661670">
                <a:moveTo>
                  <a:pt x="104891" y="557529"/>
                </a:moveTo>
                <a:lnTo>
                  <a:pt x="78367" y="557529"/>
                </a:lnTo>
                <a:lnTo>
                  <a:pt x="141001" y="619760"/>
                </a:lnTo>
                <a:lnTo>
                  <a:pt x="145313" y="619760"/>
                </a:lnTo>
                <a:lnTo>
                  <a:pt x="147206" y="617219"/>
                </a:lnTo>
                <a:lnTo>
                  <a:pt x="148337" y="617219"/>
                </a:lnTo>
                <a:lnTo>
                  <a:pt x="150859" y="614679"/>
                </a:lnTo>
                <a:lnTo>
                  <a:pt x="151832" y="613410"/>
                </a:lnTo>
                <a:lnTo>
                  <a:pt x="153305" y="610869"/>
                </a:lnTo>
                <a:lnTo>
                  <a:pt x="153818" y="610869"/>
                </a:lnTo>
                <a:lnTo>
                  <a:pt x="154396" y="609600"/>
                </a:lnTo>
                <a:lnTo>
                  <a:pt x="154344" y="607060"/>
                </a:lnTo>
                <a:lnTo>
                  <a:pt x="154094" y="607060"/>
                </a:lnTo>
                <a:lnTo>
                  <a:pt x="104891" y="557529"/>
                </a:lnTo>
                <a:close/>
              </a:path>
              <a:path w="699770" h="661670">
                <a:moveTo>
                  <a:pt x="28581" y="607060"/>
                </a:moveTo>
                <a:lnTo>
                  <a:pt x="7123" y="607060"/>
                </a:lnTo>
                <a:lnTo>
                  <a:pt x="6805" y="608329"/>
                </a:lnTo>
                <a:lnTo>
                  <a:pt x="7317" y="609600"/>
                </a:lnTo>
                <a:lnTo>
                  <a:pt x="7712" y="610869"/>
                </a:lnTo>
                <a:lnTo>
                  <a:pt x="8818" y="612139"/>
                </a:lnTo>
                <a:lnTo>
                  <a:pt x="9596" y="613410"/>
                </a:lnTo>
                <a:lnTo>
                  <a:pt x="12494" y="615950"/>
                </a:lnTo>
                <a:lnTo>
                  <a:pt x="14102" y="617219"/>
                </a:lnTo>
                <a:lnTo>
                  <a:pt x="16739" y="618489"/>
                </a:lnTo>
                <a:lnTo>
                  <a:pt x="17796" y="618489"/>
                </a:lnTo>
                <a:lnTo>
                  <a:pt x="28581" y="607060"/>
                </a:lnTo>
                <a:close/>
              </a:path>
              <a:path w="699770" h="661670">
                <a:moveTo>
                  <a:pt x="83444" y="535939"/>
                </a:moveTo>
                <a:lnTo>
                  <a:pt x="78106" y="535939"/>
                </a:lnTo>
                <a:lnTo>
                  <a:pt x="30844" y="582929"/>
                </a:lnTo>
                <a:lnTo>
                  <a:pt x="53061" y="582929"/>
                </a:lnTo>
                <a:lnTo>
                  <a:pt x="78367" y="557529"/>
                </a:lnTo>
                <a:lnTo>
                  <a:pt x="104891" y="557529"/>
                </a:lnTo>
                <a:lnTo>
                  <a:pt x="83444" y="535939"/>
                </a:lnTo>
                <a:close/>
              </a:path>
              <a:path w="699770" h="661670">
                <a:moveTo>
                  <a:pt x="118101" y="499109"/>
                </a:moveTo>
                <a:lnTo>
                  <a:pt x="114062" y="499109"/>
                </a:lnTo>
                <a:lnTo>
                  <a:pt x="112370" y="500379"/>
                </a:lnTo>
                <a:lnTo>
                  <a:pt x="111365" y="501650"/>
                </a:lnTo>
                <a:lnTo>
                  <a:pt x="108986" y="504189"/>
                </a:lnTo>
                <a:lnTo>
                  <a:pt x="108047" y="505459"/>
                </a:lnTo>
                <a:lnTo>
                  <a:pt x="106724" y="506729"/>
                </a:lnTo>
                <a:lnTo>
                  <a:pt x="106273" y="508000"/>
                </a:lnTo>
                <a:lnTo>
                  <a:pt x="105793" y="509269"/>
                </a:lnTo>
                <a:lnTo>
                  <a:pt x="106001" y="510539"/>
                </a:lnTo>
                <a:lnTo>
                  <a:pt x="106278" y="510539"/>
                </a:lnTo>
                <a:lnTo>
                  <a:pt x="178197" y="582929"/>
                </a:lnTo>
                <a:lnTo>
                  <a:pt x="181615" y="582929"/>
                </a:lnTo>
                <a:lnTo>
                  <a:pt x="182448" y="581660"/>
                </a:lnTo>
                <a:lnTo>
                  <a:pt x="184350" y="580389"/>
                </a:lnTo>
                <a:lnTo>
                  <a:pt x="185460" y="579119"/>
                </a:lnTo>
                <a:lnTo>
                  <a:pt x="188053" y="576579"/>
                </a:lnTo>
                <a:lnTo>
                  <a:pt x="189086" y="576579"/>
                </a:lnTo>
                <a:lnTo>
                  <a:pt x="190567" y="574039"/>
                </a:lnTo>
                <a:lnTo>
                  <a:pt x="191071" y="572769"/>
                </a:lnTo>
                <a:lnTo>
                  <a:pt x="191603" y="571500"/>
                </a:lnTo>
                <a:lnTo>
                  <a:pt x="191541" y="570229"/>
                </a:lnTo>
                <a:lnTo>
                  <a:pt x="191291" y="570229"/>
                </a:lnTo>
                <a:lnTo>
                  <a:pt x="141192" y="519429"/>
                </a:lnTo>
                <a:lnTo>
                  <a:pt x="140272" y="511809"/>
                </a:lnTo>
                <a:lnTo>
                  <a:pt x="140274" y="509269"/>
                </a:lnTo>
                <a:lnTo>
                  <a:pt x="127920" y="509269"/>
                </a:lnTo>
                <a:lnTo>
                  <a:pt x="118101" y="499109"/>
                </a:lnTo>
                <a:close/>
              </a:path>
              <a:path w="699770" h="661670">
                <a:moveTo>
                  <a:pt x="12627" y="565150"/>
                </a:moveTo>
                <a:lnTo>
                  <a:pt x="11482" y="565150"/>
                </a:lnTo>
                <a:lnTo>
                  <a:pt x="10055" y="566419"/>
                </a:lnTo>
                <a:lnTo>
                  <a:pt x="13153" y="566419"/>
                </a:lnTo>
                <a:lnTo>
                  <a:pt x="12627" y="565150"/>
                </a:lnTo>
                <a:close/>
              </a:path>
              <a:path w="699770" h="661670">
                <a:moveTo>
                  <a:pt x="198007" y="480059"/>
                </a:moveTo>
                <a:lnTo>
                  <a:pt x="161290" y="480059"/>
                </a:lnTo>
                <a:lnTo>
                  <a:pt x="167276" y="481329"/>
                </a:lnTo>
                <a:lnTo>
                  <a:pt x="170324" y="482600"/>
                </a:lnTo>
                <a:lnTo>
                  <a:pt x="176528" y="486409"/>
                </a:lnTo>
                <a:lnTo>
                  <a:pt x="180107" y="488950"/>
                </a:lnTo>
                <a:lnTo>
                  <a:pt x="226206" y="534669"/>
                </a:lnTo>
                <a:lnTo>
                  <a:pt x="230456" y="534669"/>
                </a:lnTo>
                <a:lnTo>
                  <a:pt x="232359" y="532129"/>
                </a:lnTo>
                <a:lnTo>
                  <a:pt x="233497" y="532129"/>
                </a:lnTo>
                <a:lnTo>
                  <a:pt x="236089" y="529589"/>
                </a:lnTo>
                <a:lnTo>
                  <a:pt x="237095" y="528319"/>
                </a:lnTo>
                <a:lnTo>
                  <a:pt x="238577" y="525779"/>
                </a:lnTo>
                <a:lnTo>
                  <a:pt x="239080" y="525779"/>
                </a:lnTo>
                <a:lnTo>
                  <a:pt x="239612" y="523239"/>
                </a:lnTo>
                <a:lnTo>
                  <a:pt x="239549" y="521969"/>
                </a:lnTo>
                <a:lnTo>
                  <a:pt x="239298" y="521969"/>
                </a:lnTo>
                <a:lnTo>
                  <a:pt x="198007" y="480059"/>
                </a:lnTo>
                <a:close/>
              </a:path>
              <a:path w="699770" h="661670">
                <a:moveTo>
                  <a:pt x="54479" y="505459"/>
                </a:moveTo>
                <a:lnTo>
                  <a:pt x="50044" y="505459"/>
                </a:lnTo>
                <a:lnTo>
                  <a:pt x="47402" y="506729"/>
                </a:lnTo>
                <a:lnTo>
                  <a:pt x="41221" y="513079"/>
                </a:lnTo>
                <a:lnTo>
                  <a:pt x="39637" y="515619"/>
                </a:lnTo>
                <a:lnTo>
                  <a:pt x="39531" y="520700"/>
                </a:lnTo>
                <a:lnTo>
                  <a:pt x="41034" y="523239"/>
                </a:lnTo>
                <a:lnTo>
                  <a:pt x="47106" y="529589"/>
                </a:lnTo>
                <a:lnTo>
                  <a:pt x="49720" y="530860"/>
                </a:lnTo>
                <a:lnTo>
                  <a:pt x="54156" y="530860"/>
                </a:lnTo>
                <a:lnTo>
                  <a:pt x="56796" y="529589"/>
                </a:lnTo>
                <a:lnTo>
                  <a:pt x="62979" y="523239"/>
                </a:lnTo>
                <a:lnTo>
                  <a:pt x="64562" y="520700"/>
                </a:lnTo>
                <a:lnTo>
                  <a:pt x="64669" y="515619"/>
                </a:lnTo>
                <a:lnTo>
                  <a:pt x="63165" y="513079"/>
                </a:lnTo>
                <a:lnTo>
                  <a:pt x="60104" y="510539"/>
                </a:lnTo>
                <a:lnTo>
                  <a:pt x="57094" y="506729"/>
                </a:lnTo>
                <a:lnTo>
                  <a:pt x="54479" y="505459"/>
                </a:lnTo>
                <a:close/>
              </a:path>
              <a:path w="699770" h="661670">
                <a:moveTo>
                  <a:pt x="196077" y="421639"/>
                </a:moveTo>
                <a:lnTo>
                  <a:pt x="191867" y="421639"/>
                </a:lnTo>
                <a:lnTo>
                  <a:pt x="191013" y="422909"/>
                </a:lnTo>
                <a:lnTo>
                  <a:pt x="189066" y="424179"/>
                </a:lnTo>
                <a:lnTo>
                  <a:pt x="187789" y="425450"/>
                </a:lnTo>
                <a:lnTo>
                  <a:pt x="184632" y="427989"/>
                </a:lnTo>
                <a:lnTo>
                  <a:pt x="183436" y="430529"/>
                </a:lnTo>
                <a:lnTo>
                  <a:pt x="181804" y="431800"/>
                </a:lnTo>
                <a:lnTo>
                  <a:pt x="181369" y="433069"/>
                </a:lnTo>
                <a:lnTo>
                  <a:pt x="181265" y="434339"/>
                </a:lnTo>
                <a:lnTo>
                  <a:pt x="181555" y="435609"/>
                </a:lnTo>
                <a:lnTo>
                  <a:pt x="182817" y="436879"/>
                </a:lnTo>
                <a:lnTo>
                  <a:pt x="183897" y="436879"/>
                </a:lnTo>
                <a:lnTo>
                  <a:pt x="278668" y="480059"/>
                </a:lnTo>
                <a:lnTo>
                  <a:pt x="279351" y="481329"/>
                </a:lnTo>
                <a:lnTo>
                  <a:pt x="283404" y="481329"/>
                </a:lnTo>
                <a:lnTo>
                  <a:pt x="298358" y="515619"/>
                </a:lnTo>
                <a:lnTo>
                  <a:pt x="298780" y="516889"/>
                </a:lnTo>
                <a:lnTo>
                  <a:pt x="299280" y="516889"/>
                </a:lnTo>
                <a:lnTo>
                  <a:pt x="300440" y="518159"/>
                </a:lnTo>
                <a:lnTo>
                  <a:pt x="303508" y="518159"/>
                </a:lnTo>
                <a:lnTo>
                  <a:pt x="305454" y="515619"/>
                </a:lnTo>
                <a:lnTo>
                  <a:pt x="306624" y="515619"/>
                </a:lnTo>
                <a:lnTo>
                  <a:pt x="310624" y="510539"/>
                </a:lnTo>
                <a:lnTo>
                  <a:pt x="312360" y="509269"/>
                </a:lnTo>
                <a:lnTo>
                  <a:pt x="314043" y="505459"/>
                </a:lnTo>
                <a:lnTo>
                  <a:pt x="314199" y="504189"/>
                </a:lnTo>
                <a:lnTo>
                  <a:pt x="313672" y="502919"/>
                </a:lnTo>
                <a:lnTo>
                  <a:pt x="292819" y="458469"/>
                </a:lnTo>
                <a:lnTo>
                  <a:pt x="274318" y="458469"/>
                </a:lnTo>
                <a:lnTo>
                  <a:pt x="197025" y="422909"/>
                </a:lnTo>
                <a:lnTo>
                  <a:pt x="196077" y="421639"/>
                </a:lnTo>
                <a:close/>
              </a:path>
              <a:path w="699770" h="661670">
                <a:moveTo>
                  <a:pt x="162800" y="461009"/>
                </a:moveTo>
                <a:lnTo>
                  <a:pt x="158043" y="461009"/>
                </a:lnTo>
                <a:lnTo>
                  <a:pt x="148375" y="463550"/>
                </a:lnTo>
                <a:lnTo>
                  <a:pt x="127540" y="499109"/>
                </a:lnTo>
                <a:lnTo>
                  <a:pt x="127637" y="504189"/>
                </a:lnTo>
                <a:lnTo>
                  <a:pt x="127708" y="505459"/>
                </a:lnTo>
                <a:lnTo>
                  <a:pt x="127779" y="506729"/>
                </a:lnTo>
                <a:lnTo>
                  <a:pt x="127849" y="508000"/>
                </a:lnTo>
                <a:lnTo>
                  <a:pt x="127920" y="509269"/>
                </a:lnTo>
                <a:lnTo>
                  <a:pt x="140274" y="509269"/>
                </a:lnTo>
                <a:lnTo>
                  <a:pt x="140276" y="505459"/>
                </a:lnTo>
                <a:lnTo>
                  <a:pt x="142130" y="494029"/>
                </a:lnTo>
                <a:lnTo>
                  <a:pt x="144216" y="488950"/>
                </a:lnTo>
                <a:lnTo>
                  <a:pt x="149969" y="483869"/>
                </a:lnTo>
                <a:lnTo>
                  <a:pt x="152652" y="481329"/>
                </a:lnTo>
                <a:lnTo>
                  <a:pt x="158366" y="480059"/>
                </a:lnTo>
                <a:lnTo>
                  <a:pt x="198007" y="480059"/>
                </a:lnTo>
                <a:lnTo>
                  <a:pt x="190450" y="472439"/>
                </a:lnTo>
                <a:lnTo>
                  <a:pt x="185685" y="468629"/>
                </a:lnTo>
                <a:lnTo>
                  <a:pt x="176735" y="463550"/>
                </a:lnTo>
                <a:lnTo>
                  <a:pt x="172159" y="462279"/>
                </a:lnTo>
                <a:lnTo>
                  <a:pt x="162800" y="461009"/>
                </a:lnTo>
                <a:close/>
              </a:path>
              <a:path w="699770" h="661670">
                <a:moveTo>
                  <a:pt x="249274" y="367029"/>
                </a:moveTo>
                <a:lnTo>
                  <a:pt x="246919" y="367029"/>
                </a:lnTo>
                <a:lnTo>
                  <a:pt x="245972" y="368300"/>
                </a:lnTo>
                <a:lnTo>
                  <a:pt x="243815" y="369569"/>
                </a:lnTo>
                <a:lnTo>
                  <a:pt x="242539" y="370839"/>
                </a:lnTo>
                <a:lnTo>
                  <a:pt x="239382" y="373379"/>
                </a:lnTo>
                <a:lnTo>
                  <a:pt x="238159" y="374650"/>
                </a:lnTo>
                <a:lnTo>
                  <a:pt x="236631" y="377189"/>
                </a:lnTo>
                <a:lnTo>
                  <a:pt x="236170" y="378459"/>
                </a:lnTo>
                <a:lnTo>
                  <a:pt x="235856" y="379729"/>
                </a:lnTo>
                <a:lnTo>
                  <a:pt x="236119" y="381000"/>
                </a:lnTo>
                <a:lnTo>
                  <a:pt x="236805" y="382269"/>
                </a:lnTo>
                <a:lnTo>
                  <a:pt x="274557" y="458469"/>
                </a:lnTo>
                <a:lnTo>
                  <a:pt x="292819" y="458469"/>
                </a:lnTo>
                <a:lnTo>
                  <a:pt x="251802" y="370839"/>
                </a:lnTo>
                <a:lnTo>
                  <a:pt x="250537" y="368300"/>
                </a:lnTo>
                <a:lnTo>
                  <a:pt x="249274" y="367029"/>
                </a:lnTo>
                <a:close/>
              </a:path>
              <a:path w="699770" h="661670">
                <a:moveTo>
                  <a:pt x="271550" y="345439"/>
                </a:moveTo>
                <a:lnTo>
                  <a:pt x="268761" y="345439"/>
                </a:lnTo>
                <a:lnTo>
                  <a:pt x="267394" y="346709"/>
                </a:lnTo>
                <a:lnTo>
                  <a:pt x="266552" y="346709"/>
                </a:lnTo>
                <a:lnTo>
                  <a:pt x="264552" y="349250"/>
                </a:lnTo>
                <a:lnTo>
                  <a:pt x="263288" y="350519"/>
                </a:lnTo>
                <a:lnTo>
                  <a:pt x="260079" y="353059"/>
                </a:lnTo>
                <a:lnTo>
                  <a:pt x="258777" y="354329"/>
                </a:lnTo>
                <a:lnTo>
                  <a:pt x="256934" y="356869"/>
                </a:lnTo>
                <a:lnTo>
                  <a:pt x="256396" y="358139"/>
                </a:lnTo>
                <a:lnTo>
                  <a:pt x="256081" y="359409"/>
                </a:lnTo>
                <a:lnTo>
                  <a:pt x="256265" y="360679"/>
                </a:lnTo>
                <a:lnTo>
                  <a:pt x="257319" y="360679"/>
                </a:lnTo>
                <a:lnTo>
                  <a:pt x="258161" y="361950"/>
                </a:lnTo>
                <a:lnTo>
                  <a:pt x="259318" y="361950"/>
                </a:lnTo>
                <a:lnTo>
                  <a:pt x="313641" y="374650"/>
                </a:lnTo>
                <a:lnTo>
                  <a:pt x="326473" y="431800"/>
                </a:lnTo>
                <a:lnTo>
                  <a:pt x="326842" y="433069"/>
                </a:lnTo>
                <a:lnTo>
                  <a:pt x="327788" y="434339"/>
                </a:lnTo>
                <a:lnTo>
                  <a:pt x="329935" y="434339"/>
                </a:lnTo>
                <a:lnTo>
                  <a:pt x="330870" y="433069"/>
                </a:lnTo>
                <a:lnTo>
                  <a:pt x="333080" y="431800"/>
                </a:lnTo>
                <a:lnTo>
                  <a:pt x="334394" y="430529"/>
                </a:lnTo>
                <a:lnTo>
                  <a:pt x="337394" y="427989"/>
                </a:lnTo>
                <a:lnTo>
                  <a:pt x="338538" y="426719"/>
                </a:lnTo>
                <a:lnTo>
                  <a:pt x="340169" y="424179"/>
                </a:lnTo>
                <a:lnTo>
                  <a:pt x="340761" y="424179"/>
                </a:lnTo>
                <a:lnTo>
                  <a:pt x="341497" y="421639"/>
                </a:lnTo>
                <a:lnTo>
                  <a:pt x="341602" y="420369"/>
                </a:lnTo>
                <a:lnTo>
                  <a:pt x="341444" y="419100"/>
                </a:lnTo>
                <a:lnTo>
                  <a:pt x="330217" y="374650"/>
                </a:lnTo>
                <a:lnTo>
                  <a:pt x="390329" y="374650"/>
                </a:lnTo>
                <a:lnTo>
                  <a:pt x="390867" y="373379"/>
                </a:lnTo>
                <a:lnTo>
                  <a:pt x="391234" y="372109"/>
                </a:lnTo>
                <a:lnTo>
                  <a:pt x="391076" y="370839"/>
                </a:lnTo>
                <a:lnTo>
                  <a:pt x="390076" y="369569"/>
                </a:lnTo>
                <a:lnTo>
                  <a:pt x="388091" y="369569"/>
                </a:lnTo>
                <a:lnTo>
                  <a:pt x="331083" y="355600"/>
                </a:lnTo>
                <a:lnTo>
                  <a:pt x="314186" y="355600"/>
                </a:lnTo>
                <a:lnTo>
                  <a:pt x="271550" y="345439"/>
                </a:lnTo>
                <a:close/>
              </a:path>
              <a:path w="699770" h="661670">
                <a:moveTo>
                  <a:pt x="390329" y="374650"/>
                </a:moveTo>
                <a:lnTo>
                  <a:pt x="330217" y="374650"/>
                </a:lnTo>
                <a:lnTo>
                  <a:pt x="375460" y="384809"/>
                </a:lnTo>
                <a:lnTo>
                  <a:pt x="379907" y="384809"/>
                </a:lnTo>
                <a:lnTo>
                  <a:pt x="380776" y="383539"/>
                </a:lnTo>
                <a:lnTo>
                  <a:pt x="382778" y="382269"/>
                </a:lnTo>
                <a:lnTo>
                  <a:pt x="384067" y="381000"/>
                </a:lnTo>
                <a:lnTo>
                  <a:pt x="387276" y="378459"/>
                </a:lnTo>
                <a:lnTo>
                  <a:pt x="388538" y="375919"/>
                </a:lnTo>
                <a:lnTo>
                  <a:pt x="390329" y="374650"/>
                </a:lnTo>
                <a:close/>
              </a:path>
              <a:path w="699770" h="661670">
                <a:moveTo>
                  <a:pt x="317171" y="298450"/>
                </a:moveTo>
                <a:lnTo>
                  <a:pt x="316552" y="298450"/>
                </a:lnTo>
                <a:lnTo>
                  <a:pt x="315026" y="299719"/>
                </a:lnTo>
                <a:lnTo>
                  <a:pt x="314104" y="299719"/>
                </a:lnTo>
                <a:lnTo>
                  <a:pt x="311947" y="300989"/>
                </a:lnTo>
                <a:lnTo>
                  <a:pt x="310645" y="302259"/>
                </a:lnTo>
                <a:lnTo>
                  <a:pt x="307699" y="306069"/>
                </a:lnTo>
                <a:lnTo>
                  <a:pt x="306619" y="306069"/>
                </a:lnTo>
                <a:lnTo>
                  <a:pt x="305146" y="308609"/>
                </a:lnTo>
                <a:lnTo>
                  <a:pt x="304647" y="308609"/>
                </a:lnTo>
                <a:lnTo>
                  <a:pt x="304121" y="309880"/>
                </a:lnTo>
                <a:lnTo>
                  <a:pt x="304149" y="313689"/>
                </a:lnTo>
                <a:lnTo>
                  <a:pt x="314186" y="355600"/>
                </a:lnTo>
                <a:lnTo>
                  <a:pt x="331083" y="355600"/>
                </a:lnTo>
                <a:lnTo>
                  <a:pt x="318828" y="302259"/>
                </a:lnTo>
                <a:lnTo>
                  <a:pt x="318512" y="300989"/>
                </a:lnTo>
                <a:lnTo>
                  <a:pt x="318117" y="299719"/>
                </a:lnTo>
                <a:lnTo>
                  <a:pt x="317171" y="298450"/>
                </a:lnTo>
                <a:close/>
              </a:path>
              <a:path w="699770" h="661670">
                <a:moveTo>
                  <a:pt x="409294" y="325119"/>
                </a:moveTo>
                <a:lnTo>
                  <a:pt x="404449" y="325119"/>
                </a:lnTo>
                <a:lnTo>
                  <a:pt x="401659" y="326389"/>
                </a:lnTo>
                <a:lnTo>
                  <a:pt x="395240" y="334009"/>
                </a:lnTo>
                <a:lnTo>
                  <a:pt x="393611" y="336550"/>
                </a:lnTo>
                <a:lnTo>
                  <a:pt x="393616" y="341629"/>
                </a:lnTo>
                <a:lnTo>
                  <a:pt x="395488" y="344169"/>
                </a:lnTo>
                <a:lnTo>
                  <a:pt x="402869" y="351789"/>
                </a:lnTo>
                <a:lnTo>
                  <a:pt x="405900" y="353059"/>
                </a:lnTo>
                <a:lnTo>
                  <a:pt x="410747" y="353059"/>
                </a:lnTo>
                <a:lnTo>
                  <a:pt x="413537" y="351789"/>
                </a:lnTo>
                <a:lnTo>
                  <a:pt x="419955" y="345439"/>
                </a:lnTo>
                <a:lnTo>
                  <a:pt x="421585" y="342900"/>
                </a:lnTo>
                <a:lnTo>
                  <a:pt x="421580" y="337819"/>
                </a:lnTo>
                <a:lnTo>
                  <a:pt x="419707" y="334009"/>
                </a:lnTo>
                <a:lnTo>
                  <a:pt x="415964" y="331469"/>
                </a:lnTo>
                <a:lnTo>
                  <a:pt x="412325" y="327659"/>
                </a:lnTo>
                <a:lnTo>
                  <a:pt x="409294" y="325119"/>
                </a:lnTo>
                <a:close/>
              </a:path>
              <a:path w="699770" h="661670">
                <a:moveTo>
                  <a:pt x="450523" y="313689"/>
                </a:moveTo>
                <a:lnTo>
                  <a:pt x="447554" y="313689"/>
                </a:lnTo>
                <a:lnTo>
                  <a:pt x="449097" y="314959"/>
                </a:lnTo>
                <a:lnTo>
                  <a:pt x="450523" y="313689"/>
                </a:lnTo>
                <a:close/>
              </a:path>
              <a:path w="699770" h="661670">
                <a:moveTo>
                  <a:pt x="353926" y="194310"/>
                </a:moveTo>
                <a:lnTo>
                  <a:pt x="350418" y="194310"/>
                </a:lnTo>
                <a:lnTo>
                  <a:pt x="349599" y="195579"/>
                </a:lnTo>
                <a:lnTo>
                  <a:pt x="347696" y="196850"/>
                </a:lnTo>
                <a:lnTo>
                  <a:pt x="346558" y="198119"/>
                </a:lnTo>
                <a:lnTo>
                  <a:pt x="343965" y="200660"/>
                </a:lnTo>
                <a:lnTo>
                  <a:pt x="342960" y="201929"/>
                </a:lnTo>
                <a:lnTo>
                  <a:pt x="341478" y="203200"/>
                </a:lnTo>
                <a:lnTo>
                  <a:pt x="340961" y="204469"/>
                </a:lnTo>
                <a:lnTo>
                  <a:pt x="340377" y="205739"/>
                </a:lnTo>
                <a:lnTo>
                  <a:pt x="340833" y="208279"/>
                </a:lnTo>
                <a:lnTo>
                  <a:pt x="447106" y="313689"/>
                </a:lnTo>
                <a:lnTo>
                  <a:pt x="451356" y="313689"/>
                </a:lnTo>
                <a:lnTo>
                  <a:pt x="453257" y="312419"/>
                </a:lnTo>
                <a:lnTo>
                  <a:pt x="454369" y="311150"/>
                </a:lnTo>
                <a:lnTo>
                  <a:pt x="456962" y="308609"/>
                </a:lnTo>
                <a:lnTo>
                  <a:pt x="457995" y="307339"/>
                </a:lnTo>
                <a:lnTo>
                  <a:pt x="459475" y="304800"/>
                </a:lnTo>
                <a:lnTo>
                  <a:pt x="459978" y="304800"/>
                </a:lnTo>
                <a:lnTo>
                  <a:pt x="460510" y="303530"/>
                </a:lnTo>
                <a:lnTo>
                  <a:pt x="460448" y="300989"/>
                </a:lnTo>
                <a:lnTo>
                  <a:pt x="460198" y="300989"/>
                </a:lnTo>
                <a:lnTo>
                  <a:pt x="420367" y="261619"/>
                </a:lnTo>
                <a:lnTo>
                  <a:pt x="503071" y="261619"/>
                </a:lnTo>
                <a:lnTo>
                  <a:pt x="504647" y="260350"/>
                </a:lnTo>
                <a:lnTo>
                  <a:pt x="505185" y="259080"/>
                </a:lnTo>
                <a:lnTo>
                  <a:pt x="418551" y="259080"/>
                </a:lnTo>
                <a:lnTo>
                  <a:pt x="353926" y="194310"/>
                </a:lnTo>
                <a:close/>
              </a:path>
              <a:path w="699770" h="661670">
                <a:moveTo>
                  <a:pt x="503071" y="261619"/>
                </a:moveTo>
                <a:lnTo>
                  <a:pt x="420367" y="261619"/>
                </a:lnTo>
                <a:lnTo>
                  <a:pt x="489659" y="270509"/>
                </a:lnTo>
                <a:lnTo>
                  <a:pt x="493462" y="270509"/>
                </a:lnTo>
                <a:lnTo>
                  <a:pt x="495091" y="269239"/>
                </a:lnTo>
                <a:lnTo>
                  <a:pt x="495998" y="269239"/>
                </a:lnTo>
                <a:lnTo>
                  <a:pt x="497997" y="266700"/>
                </a:lnTo>
                <a:lnTo>
                  <a:pt x="499206" y="265430"/>
                </a:lnTo>
                <a:lnTo>
                  <a:pt x="501992" y="262889"/>
                </a:lnTo>
                <a:lnTo>
                  <a:pt x="503071" y="261619"/>
                </a:lnTo>
                <a:close/>
              </a:path>
              <a:path w="699770" h="661670">
                <a:moveTo>
                  <a:pt x="430499" y="186689"/>
                </a:moveTo>
                <a:lnTo>
                  <a:pt x="426847" y="186689"/>
                </a:lnTo>
                <a:lnTo>
                  <a:pt x="425993" y="187960"/>
                </a:lnTo>
                <a:lnTo>
                  <a:pt x="424050" y="189229"/>
                </a:lnTo>
                <a:lnTo>
                  <a:pt x="422908" y="190500"/>
                </a:lnTo>
                <a:lnTo>
                  <a:pt x="420338" y="193039"/>
                </a:lnTo>
                <a:lnTo>
                  <a:pt x="419300" y="194310"/>
                </a:lnTo>
                <a:lnTo>
                  <a:pt x="417675" y="195579"/>
                </a:lnTo>
                <a:lnTo>
                  <a:pt x="417057" y="196850"/>
                </a:lnTo>
                <a:lnTo>
                  <a:pt x="416220" y="198119"/>
                </a:lnTo>
                <a:lnTo>
                  <a:pt x="415686" y="200660"/>
                </a:lnTo>
                <a:lnTo>
                  <a:pt x="415733" y="201929"/>
                </a:lnTo>
                <a:lnTo>
                  <a:pt x="415843" y="204469"/>
                </a:lnTo>
                <a:lnTo>
                  <a:pt x="418299" y="254000"/>
                </a:lnTo>
                <a:lnTo>
                  <a:pt x="418425" y="256539"/>
                </a:lnTo>
                <a:lnTo>
                  <a:pt x="418551" y="259080"/>
                </a:lnTo>
                <a:lnTo>
                  <a:pt x="505185" y="259080"/>
                </a:lnTo>
                <a:lnTo>
                  <a:pt x="505763" y="257809"/>
                </a:lnTo>
                <a:lnTo>
                  <a:pt x="505644" y="256539"/>
                </a:lnTo>
                <a:lnTo>
                  <a:pt x="505381" y="255269"/>
                </a:lnTo>
                <a:lnTo>
                  <a:pt x="504484" y="255269"/>
                </a:lnTo>
                <a:lnTo>
                  <a:pt x="503828" y="254000"/>
                </a:lnTo>
                <a:lnTo>
                  <a:pt x="500934" y="254000"/>
                </a:lnTo>
                <a:lnTo>
                  <a:pt x="433020" y="245110"/>
                </a:lnTo>
                <a:lnTo>
                  <a:pt x="432900" y="200660"/>
                </a:lnTo>
                <a:lnTo>
                  <a:pt x="432823" y="191769"/>
                </a:lnTo>
                <a:lnTo>
                  <a:pt x="432650" y="190500"/>
                </a:lnTo>
                <a:lnTo>
                  <a:pt x="432065" y="187960"/>
                </a:lnTo>
                <a:lnTo>
                  <a:pt x="431604" y="187960"/>
                </a:lnTo>
                <a:lnTo>
                  <a:pt x="430499" y="186689"/>
                </a:lnTo>
                <a:close/>
              </a:path>
              <a:path w="699770" h="661670">
                <a:moveTo>
                  <a:pt x="453015" y="163829"/>
                </a:moveTo>
                <a:lnTo>
                  <a:pt x="450660" y="163829"/>
                </a:lnTo>
                <a:lnTo>
                  <a:pt x="449239" y="165100"/>
                </a:lnTo>
                <a:lnTo>
                  <a:pt x="448384" y="165100"/>
                </a:lnTo>
                <a:lnTo>
                  <a:pt x="446383" y="166369"/>
                </a:lnTo>
                <a:lnTo>
                  <a:pt x="445121" y="167639"/>
                </a:lnTo>
                <a:lnTo>
                  <a:pt x="442384" y="171450"/>
                </a:lnTo>
                <a:lnTo>
                  <a:pt x="441397" y="171450"/>
                </a:lnTo>
                <a:lnTo>
                  <a:pt x="439872" y="173989"/>
                </a:lnTo>
                <a:lnTo>
                  <a:pt x="439332" y="173989"/>
                </a:lnTo>
                <a:lnTo>
                  <a:pt x="438701" y="175260"/>
                </a:lnTo>
                <a:lnTo>
                  <a:pt x="438809" y="177800"/>
                </a:lnTo>
                <a:lnTo>
                  <a:pt x="439072" y="177800"/>
                </a:lnTo>
                <a:lnTo>
                  <a:pt x="439652" y="179069"/>
                </a:lnTo>
                <a:lnTo>
                  <a:pt x="440822" y="179069"/>
                </a:lnTo>
                <a:lnTo>
                  <a:pt x="442032" y="180339"/>
                </a:lnTo>
                <a:lnTo>
                  <a:pt x="443598" y="180339"/>
                </a:lnTo>
                <a:lnTo>
                  <a:pt x="535273" y="224789"/>
                </a:lnTo>
                <a:lnTo>
                  <a:pt x="539023" y="224789"/>
                </a:lnTo>
                <a:lnTo>
                  <a:pt x="540759" y="223519"/>
                </a:lnTo>
                <a:lnTo>
                  <a:pt x="541771" y="222250"/>
                </a:lnTo>
                <a:lnTo>
                  <a:pt x="544087" y="220979"/>
                </a:lnTo>
                <a:lnTo>
                  <a:pt x="545456" y="219710"/>
                </a:lnTo>
                <a:lnTo>
                  <a:pt x="548613" y="217169"/>
                </a:lnTo>
                <a:lnTo>
                  <a:pt x="549888" y="214629"/>
                </a:lnTo>
                <a:lnTo>
                  <a:pt x="551835" y="213360"/>
                </a:lnTo>
                <a:lnTo>
                  <a:pt x="552557" y="212089"/>
                </a:lnTo>
                <a:lnTo>
                  <a:pt x="553506" y="209550"/>
                </a:lnTo>
                <a:lnTo>
                  <a:pt x="553730" y="209550"/>
                </a:lnTo>
                <a:lnTo>
                  <a:pt x="553676" y="208279"/>
                </a:lnTo>
                <a:lnTo>
                  <a:pt x="553478" y="207010"/>
                </a:lnTo>
                <a:lnTo>
                  <a:pt x="551684" y="203200"/>
                </a:lnTo>
                <a:lnTo>
                  <a:pt x="533605" y="203200"/>
                </a:lnTo>
                <a:lnTo>
                  <a:pt x="453701" y="165100"/>
                </a:lnTo>
                <a:lnTo>
                  <a:pt x="453015" y="163829"/>
                </a:lnTo>
                <a:close/>
              </a:path>
              <a:path w="699770" h="661670">
                <a:moveTo>
                  <a:pt x="507555" y="110489"/>
                </a:moveTo>
                <a:lnTo>
                  <a:pt x="502687" y="110489"/>
                </a:lnTo>
                <a:lnTo>
                  <a:pt x="501001" y="111760"/>
                </a:lnTo>
                <a:lnTo>
                  <a:pt x="499974" y="113029"/>
                </a:lnTo>
                <a:lnTo>
                  <a:pt x="497345" y="115569"/>
                </a:lnTo>
                <a:lnTo>
                  <a:pt x="496241" y="116839"/>
                </a:lnTo>
                <a:lnTo>
                  <a:pt x="494662" y="119379"/>
                </a:lnTo>
                <a:lnTo>
                  <a:pt x="494123" y="119379"/>
                </a:lnTo>
                <a:lnTo>
                  <a:pt x="493544" y="120650"/>
                </a:lnTo>
                <a:lnTo>
                  <a:pt x="493530" y="123189"/>
                </a:lnTo>
                <a:lnTo>
                  <a:pt x="493741" y="123189"/>
                </a:lnTo>
                <a:lnTo>
                  <a:pt x="494111" y="124460"/>
                </a:lnTo>
                <a:lnTo>
                  <a:pt x="532897" y="201929"/>
                </a:lnTo>
                <a:lnTo>
                  <a:pt x="533605" y="203200"/>
                </a:lnTo>
                <a:lnTo>
                  <a:pt x="551684" y="203200"/>
                </a:lnTo>
                <a:lnTo>
                  <a:pt x="509819" y="114300"/>
                </a:lnTo>
                <a:lnTo>
                  <a:pt x="509304" y="114300"/>
                </a:lnTo>
                <a:lnTo>
                  <a:pt x="508186" y="111760"/>
                </a:lnTo>
                <a:lnTo>
                  <a:pt x="507555" y="110489"/>
                </a:lnTo>
                <a:close/>
              </a:path>
              <a:path w="699770" h="661670">
                <a:moveTo>
                  <a:pt x="533499" y="83819"/>
                </a:moveTo>
                <a:lnTo>
                  <a:pt x="529460" y="83819"/>
                </a:lnTo>
                <a:lnTo>
                  <a:pt x="527768" y="85089"/>
                </a:lnTo>
                <a:lnTo>
                  <a:pt x="526764" y="86360"/>
                </a:lnTo>
                <a:lnTo>
                  <a:pt x="524384" y="88900"/>
                </a:lnTo>
                <a:lnTo>
                  <a:pt x="523445" y="90169"/>
                </a:lnTo>
                <a:lnTo>
                  <a:pt x="522122" y="91439"/>
                </a:lnTo>
                <a:lnTo>
                  <a:pt x="521671" y="92710"/>
                </a:lnTo>
                <a:lnTo>
                  <a:pt x="521191" y="93979"/>
                </a:lnTo>
                <a:lnTo>
                  <a:pt x="521399" y="95250"/>
                </a:lnTo>
                <a:lnTo>
                  <a:pt x="521676" y="95250"/>
                </a:lnTo>
                <a:lnTo>
                  <a:pt x="593596" y="167639"/>
                </a:lnTo>
                <a:lnTo>
                  <a:pt x="597014" y="167639"/>
                </a:lnTo>
                <a:lnTo>
                  <a:pt x="597846" y="166369"/>
                </a:lnTo>
                <a:lnTo>
                  <a:pt x="599748" y="165100"/>
                </a:lnTo>
                <a:lnTo>
                  <a:pt x="600858" y="163829"/>
                </a:lnTo>
                <a:lnTo>
                  <a:pt x="603451" y="161289"/>
                </a:lnTo>
                <a:lnTo>
                  <a:pt x="604484" y="160019"/>
                </a:lnTo>
                <a:lnTo>
                  <a:pt x="605966" y="158750"/>
                </a:lnTo>
                <a:lnTo>
                  <a:pt x="606469" y="157479"/>
                </a:lnTo>
                <a:lnTo>
                  <a:pt x="607001" y="156210"/>
                </a:lnTo>
                <a:lnTo>
                  <a:pt x="606939" y="154939"/>
                </a:lnTo>
                <a:lnTo>
                  <a:pt x="606689" y="154939"/>
                </a:lnTo>
                <a:lnTo>
                  <a:pt x="556590" y="104139"/>
                </a:lnTo>
                <a:lnTo>
                  <a:pt x="555692" y="96519"/>
                </a:lnTo>
                <a:lnTo>
                  <a:pt x="555659" y="93979"/>
                </a:lnTo>
                <a:lnTo>
                  <a:pt x="543317" y="93979"/>
                </a:lnTo>
                <a:lnTo>
                  <a:pt x="533499" y="83819"/>
                </a:lnTo>
                <a:close/>
              </a:path>
              <a:path w="699770" h="661670">
                <a:moveTo>
                  <a:pt x="610528" y="66039"/>
                </a:moveTo>
                <a:lnTo>
                  <a:pt x="575172" y="66039"/>
                </a:lnTo>
                <a:lnTo>
                  <a:pt x="581068" y="67310"/>
                </a:lnTo>
                <a:lnTo>
                  <a:pt x="584067" y="68579"/>
                </a:lnTo>
                <a:lnTo>
                  <a:pt x="590174" y="72389"/>
                </a:lnTo>
                <a:lnTo>
                  <a:pt x="593201" y="74929"/>
                </a:lnTo>
                <a:lnTo>
                  <a:pt x="639827" y="120650"/>
                </a:lnTo>
                <a:lnTo>
                  <a:pt x="640274" y="121919"/>
                </a:lnTo>
                <a:lnTo>
                  <a:pt x="641818" y="121919"/>
                </a:lnTo>
                <a:lnTo>
                  <a:pt x="643244" y="120650"/>
                </a:lnTo>
                <a:lnTo>
                  <a:pt x="644090" y="120650"/>
                </a:lnTo>
                <a:lnTo>
                  <a:pt x="646046" y="119379"/>
                </a:lnTo>
                <a:lnTo>
                  <a:pt x="647143" y="118110"/>
                </a:lnTo>
                <a:lnTo>
                  <a:pt x="649629" y="115569"/>
                </a:lnTo>
                <a:lnTo>
                  <a:pt x="650634" y="114300"/>
                </a:lnTo>
                <a:lnTo>
                  <a:pt x="652118" y="113029"/>
                </a:lnTo>
                <a:lnTo>
                  <a:pt x="652635" y="111760"/>
                </a:lnTo>
                <a:lnTo>
                  <a:pt x="653219" y="110489"/>
                </a:lnTo>
                <a:lnTo>
                  <a:pt x="653169" y="109219"/>
                </a:lnTo>
                <a:lnTo>
                  <a:pt x="652919" y="107950"/>
                </a:lnTo>
                <a:lnTo>
                  <a:pt x="610528" y="66039"/>
                </a:lnTo>
                <a:close/>
              </a:path>
              <a:path w="699770" h="661670">
                <a:moveTo>
                  <a:pt x="504752" y="109219"/>
                </a:moveTo>
                <a:lnTo>
                  <a:pt x="503436" y="110489"/>
                </a:lnTo>
                <a:lnTo>
                  <a:pt x="505791" y="110489"/>
                </a:lnTo>
                <a:lnTo>
                  <a:pt x="504752" y="109219"/>
                </a:lnTo>
                <a:close/>
              </a:path>
              <a:path w="699770" h="661670">
                <a:moveTo>
                  <a:pt x="583463" y="46989"/>
                </a:moveTo>
                <a:lnTo>
                  <a:pt x="574503" y="46989"/>
                </a:lnTo>
                <a:lnTo>
                  <a:pt x="568441" y="48260"/>
                </a:lnTo>
                <a:lnTo>
                  <a:pt x="543439" y="77469"/>
                </a:lnTo>
                <a:lnTo>
                  <a:pt x="542907" y="86360"/>
                </a:lnTo>
                <a:lnTo>
                  <a:pt x="543043" y="88900"/>
                </a:lnTo>
                <a:lnTo>
                  <a:pt x="543112" y="90169"/>
                </a:lnTo>
                <a:lnTo>
                  <a:pt x="543180" y="91439"/>
                </a:lnTo>
                <a:lnTo>
                  <a:pt x="543249" y="92710"/>
                </a:lnTo>
                <a:lnTo>
                  <a:pt x="543317" y="93979"/>
                </a:lnTo>
                <a:lnTo>
                  <a:pt x="555659" y="93979"/>
                </a:lnTo>
                <a:lnTo>
                  <a:pt x="572344" y="66039"/>
                </a:lnTo>
                <a:lnTo>
                  <a:pt x="610528" y="66039"/>
                </a:lnTo>
                <a:lnTo>
                  <a:pt x="602820" y="58419"/>
                </a:lnTo>
                <a:lnTo>
                  <a:pt x="601966" y="49529"/>
                </a:lnTo>
                <a:lnTo>
                  <a:pt x="589381" y="49529"/>
                </a:lnTo>
                <a:lnTo>
                  <a:pt x="583463" y="46989"/>
                </a:lnTo>
                <a:close/>
              </a:path>
              <a:path w="699770" h="661670">
                <a:moveTo>
                  <a:pt x="656136" y="19050"/>
                </a:moveTo>
                <a:lnTo>
                  <a:pt x="621412" y="19050"/>
                </a:lnTo>
                <a:lnTo>
                  <a:pt x="627299" y="20319"/>
                </a:lnTo>
                <a:lnTo>
                  <a:pt x="630271" y="21589"/>
                </a:lnTo>
                <a:lnTo>
                  <a:pt x="639269" y="29210"/>
                </a:lnTo>
                <a:lnTo>
                  <a:pt x="685895" y="74929"/>
                </a:lnTo>
                <a:lnTo>
                  <a:pt x="690208" y="74929"/>
                </a:lnTo>
                <a:lnTo>
                  <a:pt x="692103" y="72389"/>
                </a:lnTo>
                <a:lnTo>
                  <a:pt x="693233" y="72389"/>
                </a:lnTo>
                <a:lnTo>
                  <a:pt x="695810" y="69850"/>
                </a:lnTo>
                <a:lnTo>
                  <a:pt x="696808" y="68579"/>
                </a:lnTo>
                <a:lnTo>
                  <a:pt x="698280" y="66039"/>
                </a:lnTo>
                <a:lnTo>
                  <a:pt x="698779" y="66039"/>
                </a:lnTo>
                <a:lnTo>
                  <a:pt x="699305" y="64769"/>
                </a:lnTo>
                <a:lnTo>
                  <a:pt x="699239" y="62229"/>
                </a:lnTo>
                <a:lnTo>
                  <a:pt x="698987" y="62229"/>
                </a:lnTo>
                <a:lnTo>
                  <a:pt x="656136" y="19050"/>
                </a:lnTo>
                <a:close/>
              </a:path>
              <a:path w="699770" h="661670">
                <a:moveTo>
                  <a:pt x="622837" y="0"/>
                </a:moveTo>
                <a:lnTo>
                  <a:pt x="592208" y="22860"/>
                </a:lnTo>
                <a:lnTo>
                  <a:pt x="589217" y="40639"/>
                </a:lnTo>
                <a:lnTo>
                  <a:pt x="589271" y="46989"/>
                </a:lnTo>
                <a:lnTo>
                  <a:pt x="589381" y="49529"/>
                </a:lnTo>
                <a:lnTo>
                  <a:pt x="601966" y="49529"/>
                </a:lnTo>
                <a:lnTo>
                  <a:pt x="601887" y="43179"/>
                </a:lnTo>
                <a:lnTo>
                  <a:pt x="603286" y="33019"/>
                </a:lnTo>
                <a:lnTo>
                  <a:pt x="605133" y="27939"/>
                </a:lnTo>
                <a:lnTo>
                  <a:pt x="610538" y="22860"/>
                </a:lnTo>
                <a:lnTo>
                  <a:pt x="613110" y="21589"/>
                </a:lnTo>
                <a:lnTo>
                  <a:pt x="618573" y="20319"/>
                </a:lnTo>
                <a:lnTo>
                  <a:pt x="621412" y="19050"/>
                </a:lnTo>
                <a:lnTo>
                  <a:pt x="656136" y="19050"/>
                </a:lnTo>
                <a:lnTo>
                  <a:pt x="653615" y="16510"/>
                </a:lnTo>
                <a:lnTo>
                  <a:pt x="649612" y="12700"/>
                </a:lnTo>
                <a:lnTo>
                  <a:pt x="645400" y="8889"/>
                </a:lnTo>
                <a:lnTo>
                  <a:pt x="636555" y="3810"/>
                </a:lnTo>
                <a:lnTo>
                  <a:pt x="6228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3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311457" y="4898727"/>
            <a:ext cx="2427446" cy="1400734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830870" y="2449089"/>
            <a:ext cx="304800" cy="1471930"/>
          </a:xfrm>
          <a:prstGeom prst="rect">
            <a:avLst/>
          </a:prstGeom>
        </p:spPr>
        <p:txBody>
          <a:bodyPr vert="vert270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b="1" dirty="0">
                <a:latin typeface="Calibri"/>
                <a:cs typeface="Calibri"/>
              </a:rPr>
              <a:t>Boot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Time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(ms)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3499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RTT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21209" y="1502145"/>
            <a:ext cx="6559550" cy="3096260"/>
            <a:chOff x="1721209" y="1502145"/>
            <a:chExt cx="6559550" cy="3096260"/>
          </a:xfrm>
        </p:grpSpPr>
        <p:sp>
          <p:nvSpPr>
            <p:cNvPr id="4" name="object 4"/>
            <p:cNvSpPr/>
            <p:nvPr/>
          </p:nvSpPr>
          <p:spPr>
            <a:xfrm>
              <a:off x="1791869" y="1506907"/>
              <a:ext cx="6483985" cy="2643505"/>
            </a:xfrm>
            <a:custGeom>
              <a:avLst/>
              <a:gdLst/>
              <a:ahLst/>
              <a:cxnLst/>
              <a:rect l="l" t="t" r="r" b="b"/>
              <a:pathLst>
                <a:path w="6483984" h="2643504">
                  <a:moveTo>
                    <a:pt x="0" y="2643446"/>
                  </a:moveTo>
                  <a:lnTo>
                    <a:pt x="6483926" y="2643446"/>
                  </a:lnTo>
                </a:path>
                <a:path w="6483984" h="2643504">
                  <a:moveTo>
                    <a:pt x="0" y="2265217"/>
                  </a:moveTo>
                  <a:lnTo>
                    <a:pt x="6483926" y="2265217"/>
                  </a:lnTo>
                </a:path>
                <a:path w="6483984" h="2643504">
                  <a:moveTo>
                    <a:pt x="0" y="1886988"/>
                  </a:moveTo>
                  <a:lnTo>
                    <a:pt x="6483926" y="1886988"/>
                  </a:lnTo>
                </a:path>
                <a:path w="6483984" h="2643504">
                  <a:moveTo>
                    <a:pt x="0" y="1508759"/>
                  </a:moveTo>
                  <a:lnTo>
                    <a:pt x="6483926" y="1508759"/>
                  </a:lnTo>
                </a:path>
                <a:path w="6483984" h="2643504">
                  <a:moveTo>
                    <a:pt x="0" y="1130530"/>
                  </a:moveTo>
                  <a:lnTo>
                    <a:pt x="6483926" y="1130530"/>
                  </a:lnTo>
                </a:path>
                <a:path w="6483984" h="2643504">
                  <a:moveTo>
                    <a:pt x="0" y="752301"/>
                  </a:moveTo>
                  <a:lnTo>
                    <a:pt x="6483926" y="752301"/>
                  </a:lnTo>
                </a:path>
                <a:path w="6483984" h="2643504">
                  <a:moveTo>
                    <a:pt x="0" y="378228"/>
                  </a:moveTo>
                  <a:lnTo>
                    <a:pt x="6483926" y="378228"/>
                  </a:lnTo>
                </a:path>
                <a:path w="6483984" h="2643504">
                  <a:moveTo>
                    <a:pt x="0" y="0"/>
                  </a:moveTo>
                  <a:lnTo>
                    <a:pt x="6483926" y="0"/>
                  </a:lnTo>
                </a:path>
              </a:pathLst>
            </a:custGeom>
            <a:ln w="9524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24148" y="1936865"/>
              <a:ext cx="461356" cy="259772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1017" y="3067396"/>
              <a:ext cx="461356" cy="146719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77887" y="3142211"/>
              <a:ext cx="461356" cy="139238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04756" y="3370811"/>
              <a:ext cx="461356" cy="11637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31625" y="3823855"/>
              <a:ext cx="461356" cy="71073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58494" y="4127268"/>
              <a:ext cx="461356" cy="40732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81206" y="4202084"/>
              <a:ext cx="465512" cy="33250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70929" y="1958628"/>
              <a:ext cx="370500" cy="25672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97181" y="3091217"/>
              <a:ext cx="370500" cy="143461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23434" y="3166723"/>
              <a:ext cx="370500" cy="135910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49685" y="3393241"/>
              <a:ext cx="370502" cy="113258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75938" y="3846277"/>
              <a:ext cx="370500" cy="67955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02191" y="4148301"/>
              <a:ext cx="370500" cy="37753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628444" y="4223807"/>
              <a:ext cx="370499" cy="30202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793053" y="1505592"/>
              <a:ext cx="0" cy="3020695"/>
            </a:xfrm>
            <a:custGeom>
              <a:avLst/>
              <a:gdLst/>
              <a:ahLst/>
              <a:cxnLst/>
              <a:rect l="l" t="t" r="r" b="b"/>
              <a:pathLst>
                <a:path h="3020695">
                  <a:moveTo>
                    <a:pt x="0" y="3020238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721209" y="1506907"/>
              <a:ext cx="71120" cy="3017520"/>
            </a:xfrm>
            <a:custGeom>
              <a:avLst/>
              <a:gdLst/>
              <a:ahLst/>
              <a:cxnLst/>
              <a:rect l="l" t="t" r="r" b="b"/>
              <a:pathLst>
                <a:path w="71119" h="3017520">
                  <a:moveTo>
                    <a:pt x="0" y="3017519"/>
                  </a:moveTo>
                  <a:lnTo>
                    <a:pt x="70659" y="3017519"/>
                  </a:lnTo>
                </a:path>
                <a:path w="71119" h="3017520">
                  <a:moveTo>
                    <a:pt x="0" y="2643446"/>
                  </a:moveTo>
                  <a:lnTo>
                    <a:pt x="70659" y="2643446"/>
                  </a:lnTo>
                </a:path>
                <a:path w="71119" h="3017520">
                  <a:moveTo>
                    <a:pt x="0" y="2265217"/>
                  </a:moveTo>
                  <a:lnTo>
                    <a:pt x="70659" y="2265217"/>
                  </a:lnTo>
                </a:path>
                <a:path w="71119" h="3017520">
                  <a:moveTo>
                    <a:pt x="0" y="1886988"/>
                  </a:moveTo>
                  <a:lnTo>
                    <a:pt x="70659" y="1886988"/>
                  </a:lnTo>
                </a:path>
                <a:path w="71119" h="3017520">
                  <a:moveTo>
                    <a:pt x="0" y="1508759"/>
                  </a:moveTo>
                  <a:lnTo>
                    <a:pt x="70659" y="1508759"/>
                  </a:lnTo>
                </a:path>
                <a:path w="71119" h="3017520">
                  <a:moveTo>
                    <a:pt x="0" y="1130530"/>
                  </a:moveTo>
                  <a:lnTo>
                    <a:pt x="70659" y="1130530"/>
                  </a:lnTo>
                </a:path>
                <a:path w="71119" h="3017520">
                  <a:moveTo>
                    <a:pt x="0" y="752301"/>
                  </a:moveTo>
                  <a:lnTo>
                    <a:pt x="70659" y="752301"/>
                  </a:lnTo>
                </a:path>
                <a:path w="71119" h="3017520">
                  <a:moveTo>
                    <a:pt x="0" y="378228"/>
                  </a:moveTo>
                  <a:lnTo>
                    <a:pt x="70659" y="378228"/>
                  </a:lnTo>
                </a:path>
                <a:path w="71119" h="3017520">
                  <a:moveTo>
                    <a:pt x="0" y="0"/>
                  </a:moveTo>
                  <a:lnTo>
                    <a:pt x="70659" y="0"/>
                  </a:lnTo>
                </a:path>
              </a:pathLst>
            </a:custGeom>
            <a:ln w="9524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791869" y="4524427"/>
              <a:ext cx="6485255" cy="74295"/>
            </a:xfrm>
            <a:custGeom>
              <a:avLst/>
              <a:gdLst/>
              <a:ahLst/>
              <a:cxnLst/>
              <a:rect l="l" t="t" r="r" b="b"/>
              <a:pathLst>
                <a:path w="6485255" h="74295">
                  <a:moveTo>
                    <a:pt x="1184" y="1403"/>
                  </a:moveTo>
                  <a:lnTo>
                    <a:pt x="6484951" y="1404"/>
                  </a:lnTo>
                </a:path>
                <a:path w="6485255" h="74295">
                  <a:moveTo>
                    <a:pt x="0" y="0"/>
                  </a:moveTo>
                  <a:lnTo>
                    <a:pt x="0" y="73942"/>
                  </a:lnTo>
                </a:path>
                <a:path w="6485255" h="74295">
                  <a:moveTo>
                    <a:pt x="926868" y="0"/>
                  </a:moveTo>
                  <a:lnTo>
                    <a:pt x="926868" y="73942"/>
                  </a:lnTo>
                </a:path>
                <a:path w="6485255" h="74295">
                  <a:moveTo>
                    <a:pt x="1853737" y="0"/>
                  </a:moveTo>
                  <a:lnTo>
                    <a:pt x="1853737" y="73942"/>
                  </a:lnTo>
                </a:path>
                <a:path w="6485255" h="74295">
                  <a:moveTo>
                    <a:pt x="2780606" y="0"/>
                  </a:moveTo>
                  <a:lnTo>
                    <a:pt x="2780606" y="73942"/>
                  </a:lnTo>
                </a:path>
                <a:path w="6485255" h="74295">
                  <a:moveTo>
                    <a:pt x="3707475" y="0"/>
                  </a:moveTo>
                  <a:lnTo>
                    <a:pt x="3707475" y="73942"/>
                  </a:lnTo>
                </a:path>
                <a:path w="6485255" h="74295">
                  <a:moveTo>
                    <a:pt x="4634344" y="0"/>
                  </a:moveTo>
                  <a:lnTo>
                    <a:pt x="4634344" y="73942"/>
                  </a:lnTo>
                </a:path>
                <a:path w="6485255" h="74295">
                  <a:moveTo>
                    <a:pt x="5557057" y="0"/>
                  </a:moveTo>
                  <a:lnTo>
                    <a:pt x="5557057" y="73942"/>
                  </a:lnTo>
                </a:path>
                <a:path w="6485255" h="74295">
                  <a:moveTo>
                    <a:pt x="6483926" y="0"/>
                  </a:moveTo>
                  <a:lnTo>
                    <a:pt x="6483926" y="73942"/>
                  </a:lnTo>
                </a:path>
              </a:pathLst>
            </a:custGeom>
            <a:ln w="9524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070929" y="1958628"/>
            <a:ext cx="370840" cy="256730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550"/>
              </a:spcBef>
            </a:pPr>
            <a:r>
              <a:rPr sz="1800" spc="-25" dirty="0">
                <a:latin typeface="Calibri"/>
                <a:cs typeface="Calibri"/>
              </a:rPr>
              <a:t>34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97181" y="3091217"/>
            <a:ext cx="370840" cy="143510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550"/>
              </a:spcBef>
            </a:pPr>
            <a:r>
              <a:rPr sz="1800" spc="-25" dirty="0">
                <a:latin typeface="Calibri"/>
                <a:cs typeface="Calibri"/>
              </a:rPr>
              <a:t>19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23434" y="3166723"/>
            <a:ext cx="370840" cy="135953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550"/>
              </a:spcBef>
            </a:pPr>
            <a:r>
              <a:rPr sz="1800" spc="-25" dirty="0">
                <a:latin typeface="Calibri"/>
                <a:cs typeface="Calibri"/>
              </a:rPr>
              <a:t>18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06374" y="3450391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15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775938" y="3846277"/>
            <a:ext cx="370840" cy="68008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sz="1800" spc="-50" dirty="0">
                <a:latin typeface="Calibri"/>
                <a:cs typeface="Calibri"/>
              </a:rPr>
              <a:t>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16811" y="416896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628444" y="4223808"/>
            <a:ext cx="370840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" algn="ctr">
              <a:lnSpc>
                <a:spcPts val="1830"/>
              </a:lnSpc>
            </a:pPr>
            <a:r>
              <a:rPr sz="1800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36612" y="1252522"/>
            <a:ext cx="257175" cy="3423285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800" spc="-25" dirty="0">
                <a:latin typeface="Calibri"/>
                <a:cs typeface="Calibri"/>
              </a:rPr>
              <a:t>40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800" spc="-25" dirty="0">
                <a:latin typeface="Calibri"/>
                <a:cs typeface="Calibri"/>
              </a:rPr>
              <a:t>35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800" spc="-25" dirty="0">
                <a:latin typeface="Calibri"/>
                <a:cs typeface="Calibri"/>
              </a:rPr>
              <a:t>30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800" spc="-25" dirty="0">
                <a:latin typeface="Calibri"/>
                <a:cs typeface="Calibri"/>
              </a:rPr>
              <a:t>25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800" spc="-25" dirty="0">
                <a:latin typeface="Calibri"/>
                <a:cs typeface="Calibri"/>
              </a:rPr>
              <a:t>20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800" spc="-25" dirty="0">
                <a:latin typeface="Calibri"/>
                <a:cs typeface="Calibri"/>
              </a:rPr>
              <a:t>15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800" spc="-25" dirty="0"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  <a:p>
            <a:pPr marL="128270">
              <a:lnSpc>
                <a:spcPct val="100000"/>
              </a:lnSpc>
              <a:spcBef>
                <a:spcPts val="815"/>
              </a:spcBef>
            </a:pPr>
            <a:r>
              <a:rPr sz="1800" spc="-50" dirty="0"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  <a:p>
            <a:pPr marL="128270">
              <a:lnSpc>
                <a:spcPct val="100000"/>
              </a:lnSpc>
              <a:spcBef>
                <a:spcPts val="815"/>
              </a:spcBef>
            </a:pP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203393" y="4782098"/>
            <a:ext cx="1104513" cy="1099820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534949" y="4781146"/>
            <a:ext cx="1625558" cy="1141024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427708" y="4781284"/>
            <a:ext cx="2511148" cy="1400733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198938" y="4762653"/>
            <a:ext cx="647045" cy="675640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677998" y="2702859"/>
            <a:ext cx="304800" cy="852169"/>
          </a:xfrm>
          <a:prstGeom prst="rect">
            <a:avLst/>
          </a:prstGeom>
        </p:spPr>
        <p:txBody>
          <a:bodyPr vert="vert270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b="1" dirty="0">
                <a:latin typeface="Calibri"/>
                <a:cs typeface="Calibri"/>
              </a:rPr>
              <a:t>RTT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(ms)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1869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Throughput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74677" y="1641550"/>
            <a:ext cx="5975985" cy="3204845"/>
            <a:chOff x="1674677" y="1641550"/>
            <a:chExt cx="5975985" cy="3204845"/>
          </a:xfrm>
        </p:grpSpPr>
        <p:sp>
          <p:nvSpPr>
            <p:cNvPr id="4" name="object 4"/>
            <p:cNvSpPr/>
            <p:nvPr/>
          </p:nvSpPr>
          <p:spPr>
            <a:xfrm>
              <a:off x="1749491" y="1646313"/>
              <a:ext cx="5896610" cy="2606040"/>
            </a:xfrm>
            <a:custGeom>
              <a:avLst/>
              <a:gdLst/>
              <a:ahLst/>
              <a:cxnLst/>
              <a:rect l="l" t="t" r="r" b="b"/>
              <a:pathLst>
                <a:path w="5896609" h="2606040">
                  <a:moveTo>
                    <a:pt x="0" y="2606039"/>
                  </a:moveTo>
                  <a:lnTo>
                    <a:pt x="5896247" y="2606039"/>
                  </a:lnTo>
                </a:path>
                <a:path w="5896609" h="2606040">
                  <a:moveTo>
                    <a:pt x="0" y="2086494"/>
                  </a:moveTo>
                  <a:lnTo>
                    <a:pt x="5896247" y="2086494"/>
                  </a:lnTo>
                </a:path>
                <a:path w="5896609" h="2606040">
                  <a:moveTo>
                    <a:pt x="0" y="1562792"/>
                  </a:moveTo>
                  <a:lnTo>
                    <a:pt x="5896247" y="1562792"/>
                  </a:lnTo>
                </a:path>
                <a:path w="5896609" h="2606040">
                  <a:moveTo>
                    <a:pt x="0" y="1043247"/>
                  </a:moveTo>
                  <a:lnTo>
                    <a:pt x="5896247" y="1043247"/>
                  </a:lnTo>
                </a:path>
                <a:path w="5896609" h="2606040">
                  <a:moveTo>
                    <a:pt x="0" y="523701"/>
                  </a:moveTo>
                  <a:lnTo>
                    <a:pt x="5896247" y="523701"/>
                  </a:lnTo>
                </a:path>
                <a:path w="5896609" h="2606040">
                  <a:moveTo>
                    <a:pt x="0" y="0"/>
                  </a:moveTo>
                  <a:lnTo>
                    <a:pt x="5896247" y="0"/>
                  </a:lnTo>
                </a:path>
              </a:pathLst>
            </a:custGeom>
            <a:ln w="9524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2832" y="3703319"/>
              <a:ext cx="332509" cy="10764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26574" y="3628505"/>
              <a:ext cx="332509" cy="11513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66160" y="3545377"/>
              <a:ext cx="332509" cy="123444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09902" y="3258588"/>
              <a:ext cx="332509" cy="152122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53643" y="2402377"/>
              <a:ext cx="332509" cy="237744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97385" y="2256905"/>
              <a:ext cx="328352" cy="252291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36969" y="2173777"/>
              <a:ext cx="332509" cy="260604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23902" y="2722417"/>
              <a:ext cx="332509" cy="20573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67643" y="2776451"/>
              <a:ext cx="332509" cy="200336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07228" y="3474719"/>
              <a:ext cx="332509" cy="130509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50971" y="3453937"/>
              <a:ext cx="332509" cy="132588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494712" y="2468879"/>
              <a:ext cx="332509" cy="231093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334297" y="2265217"/>
              <a:ext cx="332509" cy="251459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78039" y="3050771"/>
              <a:ext cx="332509" cy="172904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929029" y="2746759"/>
              <a:ext cx="481407" cy="202665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613955" y="3496988"/>
              <a:ext cx="481406" cy="127642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771491" y="2798858"/>
              <a:ext cx="481407" cy="197455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456417" y="3283380"/>
              <a:ext cx="481407" cy="149003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298879" y="2423745"/>
              <a:ext cx="481407" cy="234967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983805" y="2194509"/>
              <a:ext cx="481407" cy="257890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141342" y="2277867"/>
              <a:ext cx="481408" cy="249554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748501" y="1647468"/>
              <a:ext cx="0" cy="3126105"/>
            </a:xfrm>
            <a:custGeom>
              <a:avLst/>
              <a:gdLst/>
              <a:ahLst/>
              <a:cxnLst/>
              <a:rect l="l" t="t" r="r" b="b"/>
              <a:pathLst>
                <a:path h="3126104">
                  <a:moveTo>
                    <a:pt x="0" y="3125948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74677" y="1646313"/>
              <a:ext cx="74295" cy="3126105"/>
            </a:xfrm>
            <a:custGeom>
              <a:avLst/>
              <a:gdLst/>
              <a:ahLst/>
              <a:cxnLst/>
              <a:rect l="l" t="t" r="r" b="b"/>
              <a:pathLst>
                <a:path w="74294" h="3126104">
                  <a:moveTo>
                    <a:pt x="0" y="3125585"/>
                  </a:moveTo>
                  <a:lnTo>
                    <a:pt x="73824" y="3125585"/>
                  </a:lnTo>
                </a:path>
                <a:path w="74294" h="3126104">
                  <a:moveTo>
                    <a:pt x="0" y="2606039"/>
                  </a:moveTo>
                  <a:lnTo>
                    <a:pt x="73824" y="2606039"/>
                  </a:lnTo>
                </a:path>
                <a:path w="74294" h="3126104">
                  <a:moveTo>
                    <a:pt x="0" y="2086494"/>
                  </a:moveTo>
                  <a:lnTo>
                    <a:pt x="73824" y="2086494"/>
                  </a:lnTo>
                </a:path>
                <a:path w="74294" h="3126104">
                  <a:moveTo>
                    <a:pt x="0" y="1562792"/>
                  </a:moveTo>
                  <a:lnTo>
                    <a:pt x="73824" y="1562792"/>
                  </a:lnTo>
                </a:path>
                <a:path w="74294" h="3126104">
                  <a:moveTo>
                    <a:pt x="0" y="1043247"/>
                  </a:moveTo>
                  <a:lnTo>
                    <a:pt x="73824" y="1043247"/>
                  </a:lnTo>
                </a:path>
                <a:path w="74294" h="3126104">
                  <a:moveTo>
                    <a:pt x="0" y="523701"/>
                  </a:moveTo>
                  <a:lnTo>
                    <a:pt x="73824" y="523701"/>
                  </a:lnTo>
                </a:path>
                <a:path w="74294" h="3126104">
                  <a:moveTo>
                    <a:pt x="0" y="0"/>
                  </a:moveTo>
                  <a:lnTo>
                    <a:pt x="73824" y="0"/>
                  </a:lnTo>
                </a:path>
              </a:pathLst>
            </a:custGeom>
            <a:ln w="9524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48501" y="4771899"/>
              <a:ext cx="5897245" cy="74295"/>
            </a:xfrm>
            <a:custGeom>
              <a:avLst/>
              <a:gdLst/>
              <a:ahLst/>
              <a:cxnLst/>
              <a:rect l="l" t="t" r="r" b="b"/>
              <a:pathLst>
                <a:path w="5897245" h="74295">
                  <a:moveTo>
                    <a:pt x="0" y="1517"/>
                  </a:moveTo>
                  <a:lnTo>
                    <a:pt x="5897237" y="1518"/>
                  </a:lnTo>
                </a:path>
                <a:path w="5897245" h="74295">
                  <a:moveTo>
                    <a:pt x="990" y="0"/>
                  </a:moveTo>
                  <a:lnTo>
                    <a:pt x="990" y="74055"/>
                  </a:lnTo>
                </a:path>
                <a:path w="5897245" h="74295">
                  <a:moveTo>
                    <a:pt x="840574" y="0"/>
                  </a:moveTo>
                  <a:lnTo>
                    <a:pt x="840574" y="74055"/>
                  </a:lnTo>
                </a:path>
                <a:path w="5897245" h="74295">
                  <a:moveTo>
                    <a:pt x="1684316" y="0"/>
                  </a:moveTo>
                  <a:lnTo>
                    <a:pt x="1684316" y="74055"/>
                  </a:lnTo>
                </a:path>
                <a:path w="5897245" h="74295">
                  <a:moveTo>
                    <a:pt x="2528058" y="0"/>
                  </a:moveTo>
                  <a:lnTo>
                    <a:pt x="2528058" y="74055"/>
                  </a:lnTo>
                </a:path>
                <a:path w="5897245" h="74295">
                  <a:moveTo>
                    <a:pt x="3371800" y="0"/>
                  </a:moveTo>
                  <a:lnTo>
                    <a:pt x="3371800" y="74055"/>
                  </a:lnTo>
                </a:path>
                <a:path w="5897245" h="74295">
                  <a:moveTo>
                    <a:pt x="4211385" y="0"/>
                  </a:moveTo>
                  <a:lnTo>
                    <a:pt x="4211385" y="74055"/>
                  </a:lnTo>
                </a:path>
                <a:path w="5897245" h="74295">
                  <a:moveTo>
                    <a:pt x="5055127" y="0"/>
                  </a:moveTo>
                  <a:lnTo>
                    <a:pt x="5055127" y="74055"/>
                  </a:lnTo>
                </a:path>
                <a:path w="5897245" h="74295">
                  <a:moveTo>
                    <a:pt x="5897237" y="0"/>
                  </a:moveTo>
                  <a:lnTo>
                    <a:pt x="5897237" y="74055"/>
                  </a:lnTo>
                </a:path>
              </a:pathLst>
            </a:custGeom>
            <a:ln w="9524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169043" y="1801352"/>
              <a:ext cx="125529" cy="12553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169043" y="2179119"/>
              <a:ext cx="125529" cy="12552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292062" y="2539591"/>
            <a:ext cx="257175" cy="2383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40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sz="1800" spc="-25" dirty="0">
                <a:latin typeface="Calibri"/>
                <a:cs typeface="Calibri"/>
              </a:rPr>
              <a:t>30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45"/>
              </a:spcBef>
            </a:pPr>
            <a:r>
              <a:rPr sz="1800" spc="-25" dirty="0">
                <a:latin typeface="Calibri"/>
                <a:cs typeface="Calibri"/>
              </a:rPr>
              <a:t>20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sz="1800" spc="-25" dirty="0"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  <a:p>
            <a:pPr marL="128270">
              <a:lnSpc>
                <a:spcPct val="100000"/>
              </a:lnSpc>
              <a:spcBef>
                <a:spcPts val="1945"/>
              </a:spcBef>
            </a:pP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92062" y="2018598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50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92062" y="1497608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60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4" name="object 34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076695" y="5028775"/>
            <a:ext cx="1144861" cy="1140980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364713" y="5028731"/>
            <a:ext cx="1541672" cy="1100771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4089891" y="5029117"/>
            <a:ext cx="659130" cy="621030"/>
          </a:xfrm>
          <a:custGeom>
            <a:avLst/>
            <a:gdLst/>
            <a:ahLst/>
            <a:cxnLst/>
            <a:rect l="l" t="t" r="r" b="b"/>
            <a:pathLst>
              <a:path w="659129" h="621029">
                <a:moveTo>
                  <a:pt x="13601" y="525780"/>
                </a:moveTo>
                <a:lnTo>
                  <a:pt x="9224" y="525780"/>
                </a:lnTo>
                <a:lnTo>
                  <a:pt x="7321" y="527050"/>
                </a:lnTo>
                <a:lnTo>
                  <a:pt x="6183" y="528320"/>
                </a:lnTo>
                <a:lnTo>
                  <a:pt x="3590" y="530860"/>
                </a:lnTo>
                <a:lnTo>
                  <a:pt x="2585" y="532130"/>
                </a:lnTo>
                <a:lnTo>
                  <a:pt x="1103" y="534670"/>
                </a:lnTo>
                <a:lnTo>
                  <a:pt x="600" y="534670"/>
                </a:lnTo>
                <a:lnTo>
                  <a:pt x="68" y="535940"/>
                </a:lnTo>
                <a:lnTo>
                  <a:pt x="0" y="537210"/>
                </a:lnTo>
                <a:lnTo>
                  <a:pt x="259" y="538480"/>
                </a:lnTo>
                <a:lnTo>
                  <a:pt x="509" y="538480"/>
                </a:lnTo>
                <a:lnTo>
                  <a:pt x="17752" y="556260"/>
                </a:lnTo>
                <a:lnTo>
                  <a:pt x="7415" y="566420"/>
                </a:lnTo>
                <a:lnTo>
                  <a:pt x="28581" y="566420"/>
                </a:lnTo>
                <a:lnTo>
                  <a:pt x="74117" y="612140"/>
                </a:lnTo>
                <a:lnTo>
                  <a:pt x="78058" y="615950"/>
                </a:lnTo>
                <a:lnTo>
                  <a:pt x="85628" y="619760"/>
                </a:lnTo>
                <a:lnTo>
                  <a:pt x="89349" y="621030"/>
                </a:lnTo>
                <a:lnTo>
                  <a:pt x="100296" y="621030"/>
                </a:lnTo>
                <a:lnTo>
                  <a:pt x="121109" y="603250"/>
                </a:lnTo>
                <a:lnTo>
                  <a:pt x="98361" y="603250"/>
                </a:lnTo>
                <a:lnTo>
                  <a:pt x="90479" y="600710"/>
                </a:lnTo>
                <a:lnTo>
                  <a:pt x="86069" y="598170"/>
                </a:lnTo>
                <a:lnTo>
                  <a:pt x="41675" y="553720"/>
                </a:lnTo>
                <a:lnTo>
                  <a:pt x="53062" y="542290"/>
                </a:lnTo>
                <a:lnTo>
                  <a:pt x="30844" y="542290"/>
                </a:lnTo>
                <a:lnTo>
                  <a:pt x="13601" y="525780"/>
                </a:lnTo>
                <a:close/>
              </a:path>
              <a:path w="659129" h="621029">
                <a:moveTo>
                  <a:pt x="116183" y="586740"/>
                </a:moveTo>
                <a:lnTo>
                  <a:pt x="112392" y="586740"/>
                </a:lnTo>
                <a:lnTo>
                  <a:pt x="112036" y="588010"/>
                </a:lnTo>
                <a:lnTo>
                  <a:pt x="111456" y="589280"/>
                </a:lnTo>
                <a:lnTo>
                  <a:pt x="111074" y="590550"/>
                </a:lnTo>
                <a:lnTo>
                  <a:pt x="110126" y="591820"/>
                </a:lnTo>
                <a:lnTo>
                  <a:pt x="109533" y="593090"/>
                </a:lnTo>
                <a:lnTo>
                  <a:pt x="108112" y="595630"/>
                </a:lnTo>
                <a:lnTo>
                  <a:pt x="107151" y="596900"/>
                </a:lnTo>
                <a:lnTo>
                  <a:pt x="102200" y="601980"/>
                </a:lnTo>
                <a:lnTo>
                  <a:pt x="98361" y="603250"/>
                </a:lnTo>
                <a:lnTo>
                  <a:pt x="121109" y="603250"/>
                </a:lnTo>
                <a:lnTo>
                  <a:pt x="121954" y="601980"/>
                </a:lnTo>
                <a:lnTo>
                  <a:pt x="122613" y="600710"/>
                </a:lnTo>
                <a:lnTo>
                  <a:pt x="123563" y="598170"/>
                </a:lnTo>
                <a:lnTo>
                  <a:pt x="123786" y="596900"/>
                </a:lnTo>
                <a:lnTo>
                  <a:pt x="123733" y="595630"/>
                </a:lnTo>
                <a:lnTo>
                  <a:pt x="123390" y="594360"/>
                </a:lnTo>
                <a:lnTo>
                  <a:pt x="122073" y="591820"/>
                </a:lnTo>
                <a:lnTo>
                  <a:pt x="120980" y="590550"/>
                </a:lnTo>
                <a:lnTo>
                  <a:pt x="118501" y="588010"/>
                </a:lnTo>
                <a:lnTo>
                  <a:pt x="117657" y="588010"/>
                </a:lnTo>
                <a:lnTo>
                  <a:pt x="116183" y="586740"/>
                </a:lnTo>
                <a:close/>
              </a:path>
              <a:path w="659129" h="621029">
                <a:moveTo>
                  <a:pt x="114564" y="585470"/>
                </a:moveTo>
                <a:lnTo>
                  <a:pt x="113760" y="585470"/>
                </a:lnTo>
                <a:lnTo>
                  <a:pt x="113391" y="586740"/>
                </a:lnTo>
                <a:lnTo>
                  <a:pt x="115563" y="586740"/>
                </a:lnTo>
                <a:lnTo>
                  <a:pt x="114564" y="585470"/>
                </a:lnTo>
                <a:close/>
              </a:path>
              <a:path w="659129" h="621029">
                <a:moveTo>
                  <a:pt x="144484" y="579120"/>
                </a:moveTo>
                <a:lnTo>
                  <a:pt x="141462" y="579120"/>
                </a:lnTo>
                <a:lnTo>
                  <a:pt x="143065" y="580390"/>
                </a:lnTo>
                <a:lnTo>
                  <a:pt x="144484" y="579120"/>
                </a:lnTo>
                <a:close/>
              </a:path>
              <a:path w="659129" h="621029">
                <a:moveTo>
                  <a:pt x="104891" y="516890"/>
                </a:moveTo>
                <a:lnTo>
                  <a:pt x="78367" y="516890"/>
                </a:lnTo>
                <a:lnTo>
                  <a:pt x="141001" y="579120"/>
                </a:lnTo>
                <a:lnTo>
                  <a:pt x="145313" y="579120"/>
                </a:lnTo>
                <a:lnTo>
                  <a:pt x="147208" y="576580"/>
                </a:lnTo>
                <a:lnTo>
                  <a:pt x="148337" y="576580"/>
                </a:lnTo>
                <a:lnTo>
                  <a:pt x="150859" y="574040"/>
                </a:lnTo>
                <a:lnTo>
                  <a:pt x="151832" y="572770"/>
                </a:lnTo>
                <a:lnTo>
                  <a:pt x="153306" y="570230"/>
                </a:lnTo>
                <a:lnTo>
                  <a:pt x="153818" y="570230"/>
                </a:lnTo>
                <a:lnTo>
                  <a:pt x="154396" y="568960"/>
                </a:lnTo>
                <a:lnTo>
                  <a:pt x="154345" y="566420"/>
                </a:lnTo>
                <a:lnTo>
                  <a:pt x="154095" y="566420"/>
                </a:lnTo>
                <a:lnTo>
                  <a:pt x="104891" y="516890"/>
                </a:lnTo>
                <a:close/>
              </a:path>
              <a:path w="659129" h="621029">
                <a:moveTo>
                  <a:pt x="28581" y="566420"/>
                </a:moveTo>
                <a:lnTo>
                  <a:pt x="7124" y="566420"/>
                </a:lnTo>
                <a:lnTo>
                  <a:pt x="6807" y="567690"/>
                </a:lnTo>
                <a:lnTo>
                  <a:pt x="7319" y="568960"/>
                </a:lnTo>
                <a:lnTo>
                  <a:pt x="7712" y="570230"/>
                </a:lnTo>
                <a:lnTo>
                  <a:pt x="8820" y="571500"/>
                </a:lnTo>
                <a:lnTo>
                  <a:pt x="9596" y="572770"/>
                </a:lnTo>
                <a:lnTo>
                  <a:pt x="12495" y="575310"/>
                </a:lnTo>
                <a:lnTo>
                  <a:pt x="14102" y="576580"/>
                </a:lnTo>
                <a:lnTo>
                  <a:pt x="16741" y="577850"/>
                </a:lnTo>
                <a:lnTo>
                  <a:pt x="17796" y="577850"/>
                </a:lnTo>
                <a:lnTo>
                  <a:pt x="28581" y="566420"/>
                </a:lnTo>
                <a:close/>
              </a:path>
              <a:path w="659129" h="621029">
                <a:moveTo>
                  <a:pt x="83444" y="495300"/>
                </a:moveTo>
                <a:lnTo>
                  <a:pt x="78107" y="495300"/>
                </a:lnTo>
                <a:lnTo>
                  <a:pt x="30844" y="542290"/>
                </a:lnTo>
                <a:lnTo>
                  <a:pt x="53062" y="542290"/>
                </a:lnTo>
                <a:lnTo>
                  <a:pt x="78367" y="516890"/>
                </a:lnTo>
                <a:lnTo>
                  <a:pt x="104891" y="516890"/>
                </a:lnTo>
                <a:lnTo>
                  <a:pt x="83444" y="495300"/>
                </a:lnTo>
                <a:close/>
              </a:path>
              <a:path w="659129" h="621029">
                <a:moveTo>
                  <a:pt x="118101" y="458470"/>
                </a:moveTo>
                <a:lnTo>
                  <a:pt x="114063" y="458470"/>
                </a:lnTo>
                <a:lnTo>
                  <a:pt x="112370" y="459740"/>
                </a:lnTo>
                <a:lnTo>
                  <a:pt x="111366" y="461010"/>
                </a:lnTo>
                <a:lnTo>
                  <a:pt x="108987" y="463550"/>
                </a:lnTo>
                <a:lnTo>
                  <a:pt x="108049" y="464820"/>
                </a:lnTo>
                <a:lnTo>
                  <a:pt x="106725" y="466090"/>
                </a:lnTo>
                <a:lnTo>
                  <a:pt x="106273" y="467360"/>
                </a:lnTo>
                <a:lnTo>
                  <a:pt x="105793" y="468630"/>
                </a:lnTo>
                <a:lnTo>
                  <a:pt x="106003" y="469900"/>
                </a:lnTo>
                <a:lnTo>
                  <a:pt x="106278" y="469900"/>
                </a:lnTo>
                <a:lnTo>
                  <a:pt x="178198" y="542290"/>
                </a:lnTo>
                <a:lnTo>
                  <a:pt x="181616" y="542290"/>
                </a:lnTo>
                <a:lnTo>
                  <a:pt x="182449" y="541020"/>
                </a:lnTo>
                <a:lnTo>
                  <a:pt x="184351" y="539750"/>
                </a:lnTo>
                <a:lnTo>
                  <a:pt x="185461" y="538480"/>
                </a:lnTo>
                <a:lnTo>
                  <a:pt x="188055" y="535940"/>
                </a:lnTo>
                <a:lnTo>
                  <a:pt x="189087" y="535940"/>
                </a:lnTo>
                <a:lnTo>
                  <a:pt x="190568" y="533400"/>
                </a:lnTo>
                <a:lnTo>
                  <a:pt x="191071" y="532130"/>
                </a:lnTo>
                <a:lnTo>
                  <a:pt x="191603" y="530860"/>
                </a:lnTo>
                <a:lnTo>
                  <a:pt x="191541" y="529590"/>
                </a:lnTo>
                <a:lnTo>
                  <a:pt x="191292" y="529590"/>
                </a:lnTo>
                <a:lnTo>
                  <a:pt x="141193" y="478790"/>
                </a:lnTo>
                <a:lnTo>
                  <a:pt x="140274" y="471170"/>
                </a:lnTo>
                <a:lnTo>
                  <a:pt x="140275" y="468630"/>
                </a:lnTo>
                <a:lnTo>
                  <a:pt x="127920" y="468630"/>
                </a:lnTo>
                <a:lnTo>
                  <a:pt x="118101" y="458470"/>
                </a:lnTo>
                <a:close/>
              </a:path>
              <a:path w="659129" h="621029">
                <a:moveTo>
                  <a:pt x="12628" y="524510"/>
                </a:moveTo>
                <a:lnTo>
                  <a:pt x="11482" y="524510"/>
                </a:lnTo>
                <a:lnTo>
                  <a:pt x="10055" y="525780"/>
                </a:lnTo>
                <a:lnTo>
                  <a:pt x="13154" y="525780"/>
                </a:lnTo>
                <a:lnTo>
                  <a:pt x="12628" y="524510"/>
                </a:lnTo>
                <a:close/>
              </a:path>
              <a:path w="659129" h="621029">
                <a:moveTo>
                  <a:pt x="198008" y="439420"/>
                </a:moveTo>
                <a:lnTo>
                  <a:pt x="161291" y="439420"/>
                </a:lnTo>
                <a:lnTo>
                  <a:pt x="167276" y="440690"/>
                </a:lnTo>
                <a:lnTo>
                  <a:pt x="170324" y="441960"/>
                </a:lnTo>
                <a:lnTo>
                  <a:pt x="176529" y="445770"/>
                </a:lnTo>
                <a:lnTo>
                  <a:pt x="180108" y="448310"/>
                </a:lnTo>
                <a:lnTo>
                  <a:pt x="226207" y="494030"/>
                </a:lnTo>
                <a:lnTo>
                  <a:pt x="230456" y="494030"/>
                </a:lnTo>
                <a:lnTo>
                  <a:pt x="232359" y="491490"/>
                </a:lnTo>
                <a:lnTo>
                  <a:pt x="233497" y="491490"/>
                </a:lnTo>
                <a:lnTo>
                  <a:pt x="236090" y="488950"/>
                </a:lnTo>
                <a:lnTo>
                  <a:pt x="237095" y="487680"/>
                </a:lnTo>
                <a:lnTo>
                  <a:pt x="238577" y="485140"/>
                </a:lnTo>
                <a:lnTo>
                  <a:pt x="239081" y="485140"/>
                </a:lnTo>
                <a:lnTo>
                  <a:pt x="239613" y="482600"/>
                </a:lnTo>
                <a:lnTo>
                  <a:pt x="239549" y="481330"/>
                </a:lnTo>
                <a:lnTo>
                  <a:pt x="239299" y="481330"/>
                </a:lnTo>
                <a:lnTo>
                  <a:pt x="198008" y="439420"/>
                </a:lnTo>
                <a:close/>
              </a:path>
              <a:path w="659129" h="621029">
                <a:moveTo>
                  <a:pt x="54480" y="464820"/>
                </a:moveTo>
                <a:lnTo>
                  <a:pt x="50045" y="464820"/>
                </a:lnTo>
                <a:lnTo>
                  <a:pt x="47404" y="466090"/>
                </a:lnTo>
                <a:lnTo>
                  <a:pt x="41222" y="472440"/>
                </a:lnTo>
                <a:lnTo>
                  <a:pt x="39637" y="474980"/>
                </a:lnTo>
                <a:lnTo>
                  <a:pt x="39532" y="480060"/>
                </a:lnTo>
                <a:lnTo>
                  <a:pt x="41036" y="482600"/>
                </a:lnTo>
                <a:lnTo>
                  <a:pt x="47108" y="488950"/>
                </a:lnTo>
                <a:lnTo>
                  <a:pt x="49721" y="490220"/>
                </a:lnTo>
                <a:lnTo>
                  <a:pt x="54156" y="490220"/>
                </a:lnTo>
                <a:lnTo>
                  <a:pt x="56798" y="488950"/>
                </a:lnTo>
                <a:lnTo>
                  <a:pt x="62979" y="482600"/>
                </a:lnTo>
                <a:lnTo>
                  <a:pt x="64564" y="480060"/>
                </a:lnTo>
                <a:lnTo>
                  <a:pt x="64669" y="474980"/>
                </a:lnTo>
                <a:lnTo>
                  <a:pt x="63165" y="472440"/>
                </a:lnTo>
                <a:lnTo>
                  <a:pt x="60105" y="469900"/>
                </a:lnTo>
                <a:lnTo>
                  <a:pt x="57094" y="466090"/>
                </a:lnTo>
                <a:lnTo>
                  <a:pt x="54480" y="464820"/>
                </a:lnTo>
                <a:close/>
              </a:path>
              <a:path w="659129" h="621029">
                <a:moveTo>
                  <a:pt x="196077" y="381000"/>
                </a:moveTo>
                <a:lnTo>
                  <a:pt x="191869" y="381000"/>
                </a:lnTo>
                <a:lnTo>
                  <a:pt x="191013" y="382270"/>
                </a:lnTo>
                <a:lnTo>
                  <a:pt x="189067" y="383540"/>
                </a:lnTo>
                <a:lnTo>
                  <a:pt x="187789" y="384810"/>
                </a:lnTo>
                <a:lnTo>
                  <a:pt x="184633" y="387350"/>
                </a:lnTo>
                <a:lnTo>
                  <a:pt x="183436" y="389890"/>
                </a:lnTo>
                <a:lnTo>
                  <a:pt x="181804" y="391160"/>
                </a:lnTo>
                <a:lnTo>
                  <a:pt x="181371" y="392430"/>
                </a:lnTo>
                <a:lnTo>
                  <a:pt x="181265" y="393700"/>
                </a:lnTo>
                <a:lnTo>
                  <a:pt x="181556" y="394970"/>
                </a:lnTo>
                <a:lnTo>
                  <a:pt x="182819" y="396240"/>
                </a:lnTo>
                <a:lnTo>
                  <a:pt x="183898" y="396240"/>
                </a:lnTo>
                <a:lnTo>
                  <a:pt x="278669" y="439420"/>
                </a:lnTo>
                <a:lnTo>
                  <a:pt x="279353" y="440690"/>
                </a:lnTo>
                <a:lnTo>
                  <a:pt x="283405" y="440690"/>
                </a:lnTo>
                <a:lnTo>
                  <a:pt x="298359" y="474980"/>
                </a:lnTo>
                <a:lnTo>
                  <a:pt x="298780" y="476250"/>
                </a:lnTo>
                <a:lnTo>
                  <a:pt x="299280" y="476250"/>
                </a:lnTo>
                <a:lnTo>
                  <a:pt x="300441" y="477520"/>
                </a:lnTo>
                <a:lnTo>
                  <a:pt x="303508" y="477520"/>
                </a:lnTo>
                <a:lnTo>
                  <a:pt x="305455" y="474980"/>
                </a:lnTo>
                <a:lnTo>
                  <a:pt x="306626" y="474980"/>
                </a:lnTo>
                <a:lnTo>
                  <a:pt x="310625" y="469900"/>
                </a:lnTo>
                <a:lnTo>
                  <a:pt x="312360" y="468630"/>
                </a:lnTo>
                <a:lnTo>
                  <a:pt x="314043" y="464820"/>
                </a:lnTo>
                <a:lnTo>
                  <a:pt x="314200" y="463550"/>
                </a:lnTo>
                <a:lnTo>
                  <a:pt x="313673" y="462280"/>
                </a:lnTo>
                <a:lnTo>
                  <a:pt x="292819" y="417830"/>
                </a:lnTo>
                <a:lnTo>
                  <a:pt x="274319" y="417830"/>
                </a:lnTo>
                <a:lnTo>
                  <a:pt x="197026" y="382270"/>
                </a:lnTo>
                <a:lnTo>
                  <a:pt x="196077" y="381000"/>
                </a:lnTo>
                <a:close/>
              </a:path>
              <a:path w="659129" h="621029">
                <a:moveTo>
                  <a:pt x="162801" y="420370"/>
                </a:moveTo>
                <a:lnTo>
                  <a:pt x="158045" y="420370"/>
                </a:lnTo>
                <a:lnTo>
                  <a:pt x="148376" y="422910"/>
                </a:lnTo>
                <a:lnTo>
                  <a:pt x="127540" y="458470"/>
                </a:lnTo>
                <a:lnTo>
                  <a:pt x="127637" y="463550"/>
                </a:lnTo>
                <a:lnTo>
                  <a:pt x="127708" y="464820"/>
                </a:lnTo>
                <a:lnTo>
                  <a:pt x="127779" y="466090"/>
                </a:lnTo>
                <a:lnTo>
                  <a:pt x="127849" y="467360"/>
                </a:lnTo>
                <a:lnTo>
                  <a:pt x="127920" y="468630"/>
                </a:lnTo>
                <a:lnTo>
                  <a:pt x="140275" y="468630"/>
                </a:lnTo>
                <a:lnTo>
                  <a:pt x="140277" y="464820"/>
                </a:lnTo>
                <a:lnTo>
                  <a:pt x="142130" y="453390"/>
                </a:lnTo>
                <a:lnTo>
                  <a:pt x="144216" y="448310"/>
                </a:lnTo>
                <a:lnTo>
                  <a:pt x="149970" y="443230"/>
                </a:lnTo>
                <a:lnTo>
                  <a:pt x="152653" y="440690"/>
                </a:lnTo>
                <a:lnTo>
                  <a:pt x="158366" y="439420"/>
                </a:lnTo>
                <a:lnTo>
                  <a:pt x="198008" y="439420"/>
                </a:lnTo>
                <a:lnTo>
                  <a:pt x="190451" y="431800"/>
                </a:lnTo>
                <a:lnTo>
                  <a:pt x="185686" y="427990"/>
                </a:lnTo>
                <a:lnTo>
                  <a:pt x="176737" y="422910"/>
                </a:lnTo>
                <a:lnTo>
                  <a:pt x="172159" y="421640"/>
                </a:lnTo>
                <a:lnTo>
                  <a:pt x="162801" y="420370"/>
                </a:lnTo>
                <a:close/>
              </a:path>
              <a:path w="659129" h="621029">
                <a:moveTo>
                  <a:pt x="249275" y="326390"/>
                </a:moveTo>
                <a:lnTo>
                  <a:pt x="246919" y="326390"/>
                </a:lnTo>
                <a:lnTo>
                  <a:pt x="245972" y="327660"/>
                </a:lnTo>
                <a:lnTo>
                  <a:pt x="243815" y="328930"/>
                </a:lnTo>
                <a:lnTo>
                  <a:pt x="242539" y="330200"/>
                </a:lnTo>
                <a:lnTo>
                  <a:pt x="239383" y="332740"/>
                </a:lnTo>
                <a:lnTo>
                  <a:pt x="238159" y="334010"/>
                </a:lnTo>
                <a:lnTo>
                  <a:pt x="236631" y="336550"/>
                </a:lnTo>
                <a:lnTo>
                  <a:pt x="236171" y="337820"/>
                </a:lnTo>
                <a:lnTo>
                  <a:pt x="235856" y="339090"/>
                </a:lnTo>
                <a:lnTo>
                  <a:pt x="236120" y="340360"/>
                </a:lnTo>
                <a:lnTo>
                  <a:pt x="236805" y="341630"/>
                </a:lnTo>
                <a:lnTo>
                  <a:pt x="274557" y="417830"/>
                </a:lnTo>
                <a:lnTo>
                  <a:pt x="292819" y="417830"/>
                </a:lnTo>
                <a:lnTo>
                  <a:pt x="251804" y="330200"/>
                </a:lnTo>
                <a:lnTo>
                  <a:pt x="250537" y="327660"/>
                </a:lnTo>
                <a:lnTo>
                  <a:pt x="249275" y="326390"/>
                </a:lnTo>
                <a:close/>
              </a:path>
              <a:path w="659129" h="621029">
                <a:moveTo>
                  <a:pt x="271551" y="304800"/>
                </a:moveTo>
                <a:lnTo>
                  <a:pt x="268761" y="304800"/>
                </a:lnTo>
                <a:lnTo>
                  <a:pt x="267394" y="306070"/>
                </a:lnTo>
                <a:lnTo>
                  <a:pt x="266552" y="306070"/>
                </a:lnTo>
                <a:lnTo>
                  <a:pt x="264552" y="308610"/>
                </a:lnTo>
                <a:lnTo>
                  <a:pt x="263290" y="309880"/>
                </a:lnTo>
                <a:lnTo>
                  <a:pt x="260080" y="312420"/>
                </a:lnTo>
                <a:lnTo>
                  <a:pt x="258777" y="313690"/>
                </a:lnTo>
                <a:lnTo>
                  <a:pt x="256936" y="316230"/>
                </a:lnTo>
                <a:lnTo>
                  <a:pt x="256396" y="317500"/>
                </a:lnTo>
                <a:lnTo>
                  <a:pt x="256081" y="318770"/>
                </a:lnTo>
                <a:lnTo>
                  <a:pt x="256266" y="320040"/>
                </a:lnTo>
                <a:lnTo>
                  <a:pt x="257321" y="320040"/>
                </a:lnTo>
                <a:lnTo>
                  <a:pt x="258163" y="321310"/>
                </a:lnTo>
                <a:lnTo>
                  <a:pt x="259320" y="321310"/>
                </a:lnTo>
                <a:lnTo>
                  <a:pt x="313641" y="334010"/>
                </a:lnTo>
                <a:lnTo>
                  <a:pt x="326475" y="391160"/>
                </a:lnTo>
                <a:lnTo>
                  <a:pt x="326843" y="392430"/>
                </a:lnTo>
                <a:lnTo>
                  <a:pt x="327789" y="393700"/>
                </a:lnTo>
                <a:lnTo>
                  <a:pt x="329937" y="393700"/>
                </a:lnTo>
                <a:lnTo>
                  <a:pt x="330871" y="392430"/>
                </a:lnTo>
                <a:lnTo>
                  <a:pt x="333080" y="391160"/>
                </a:lnTo>
                <a:lnTo>
                  <a:pt x="334394" y="389890"/>
                </a:lnTo>
                <a:lnTo>
                  <a:pt x="337394" y="387350"/>
                </a:lnTo>
                <a:lnTo>
                  <a:pt x="338538" y="386080"/>
                </a:lnTo>
                <a:lnTo>
                  <a:pt x="340170" y="383540"/>
                </a:lnTo>
                <a:lnTo>
                  <a:pt x="340762" y="383540"/>
                </a:lnTo>
                <a:lnTo>
                  <a:pt x="341497" y="381000"/>
                </a:lnTo>
                <a:lnTo>
                  <a:pt x="341603" y="379730"/>
                </a:lnTo>
                <a:lnTo>
                  <a:pt x="341444" y="378460"/>
                </a:lnTo>
                <a:lnTo>
                  <a:pt x="330217" y="334010"/>
                </a:lnTo>
                <a:lnTo>
                  <a:pt x="390329" y="334010"/>
                </a:lnTo>
                <a:lnTo>
                  <a:pt x="390869" y="332740"/>
                </a:lnTo>
                <a:lnTo>
                  <a:pt x="391234" y="331470"/>
                </a:lnTo>
                <a:lnTo>
                  <a:pt x="391077" y="330200"/>
                </a:lnTo>
                <a:lnTo>
                  <a:pt x="390076" y="328930"/>
                </a:lnTo>
                <a:lnTo>
                  <a:pt x="388091" y="328930"/>
                </a:lnTo>
                <a:lnTo>
                  <a:pt x="331083" y="314960"/>
                </a:lnTo>
                <a:lnTo>
                  <a:pt x="314187" y="314960"/>
                </a:lnTo>
                <a:lnTo>
                  <a:pt x="271551" y="304800"/>
                </a:lnTo>
                <a:close/>
              </a:path>
              <a:path w="659129" h="621029">
                <a:moveTo>
                  <a:pt x="390329" y="334010"/>
                </a:moveTo>
                <a:lnTo>
                  <a:pt x="330217" y="334010"/>
                </a:lnTo>
                <a:lnTo>
                  <a:pt x="375461" y="344170"/>
                </a:lnTo>
                <a:lnTo>
                  <a:pt x="379909" y="344170"/>
                </a:lnTo>
                <a:lnTo>
                  <a:pt x="380777" y="342900"/>
                </a:lnTo>
                <a:lnTo>
                  <a:pt x="382777" y="341630"/>
                </a:lnTo>
                <a:lnTo>
                  <a:pt x="384068" y="340360"/>
                </a:lnTo>
                <a:lnTo>
                  <a:pt x="387277" y="337820"/>
                </a:lnTo>
                <a:lnTo>
                  <a:pt x="388539" y="335280"/>
                </a:lnTo>
                <a:lnTo>
                  <a:pt x="390329" y="334010"/>
                </a:lnTo>
                <a:close/>
              </a:path>
              <a:path w="659129" h="621029">
                <a:moveTo>
                  <a:pt x="317172" y="257810"/>
                </a:moveTo>
                <a:lnTo>
                  <a:pt x="316553" y="257810"/>
                </a:lnTo>
                <a:lnTo>
                  <a:pt x="315026" y="259080"/>
                </a:lnTo>
                <a:lnTo>
                  <a:pt x="314105" y="259080"/>
                </a:lnTo>
                <a:lnTo>
                  <a:pt x="311948" y="260350"/>
                </a:lnTo>
                <a:lnTo>
                  <a:pt x="310647" y="261620"/>
                </a:lnTo>
                <a:lnTo>
                  <a:pt x="307700" y="265430"/>
                </a:lnTo>
                <a:lnTo>
                  <a:pt x="306621" y="265430"/>
                </a:lnTo>
                <a:lnTo>
                  <a:pt x="305147" y="267970"/>
                </a:lnTo>
                <a:lnTo>
                  <a:pt x="304647" y="267970"/>
                </a:lnTo>
                <a:lnTo>
                  <a:pt x="304123" y="269240"/>
                </a:lnTo>
                <a:lnTo>
                  <a:pt x="304149" y="273050"/>
                </a:lnTo>
                <a:lnTo>
                  <a:pt x="314187" y="314960"/>
                </a:lnTo>
                <a:lnTo>
                  <a:pt x="331083" y="314960"/>
                </a:lnTo>
                <a:lnTo>
                  <a:pt x="318829" y="261620"/>
                </a:lnTo>
                <a:lnTo>
                  <a:pt x="318513" y="260350"/>
                </a:lnTo>
                <a:lnTo>
                  <a:pt x="318118" y="259080"/>
                </a:lnTo>
                <a:lnTo>
                  <a:pt x="317172" y="257810"/>
                </a:lnTo>
                <a:close/>
              </a:path>
              <a:path w="659129" h="621029">
                <a:moveTo>
                  <a:pt x="409295" y="284480"/>
                </a:moveTo>
                <a:lnTo>
                  <a:pt x="404449" y="284480"/>
                </a:lnTo>
                <a:lnTo>
                  <a:pt x="401659" y="285750"/>
                </a:lnTo>
                <a:lnTo>
                  <a:pt x="395240" y="293370"/>
                </a:lnTo>
                <a:lnTo>
                  <a:pt x="393611" y="295910"/>
                </a:lnTo>
                <a:lnTo>
                  <a:pt x="393616" y="300990"/>
                </a:lnTo>
                <a:lnTo>
                  <a:pt x="395489" y="303530"/>
                </a:lnTo>
                <a:lnTo>
                  <a:pt x="402870" y="311150"/>
                </a:lnTo>
                <a:lnTo>
                  <a:pt x="405902" y="312420"/>
                </a:lnTo>
                <a:lnTo>
                  <a:pt x="410747" y="312420"/>
                </a:lnTo>
                <a:lnTo>
                  <a:pt x="413537" y="311150"/>
                </a:lnTo>
                <a:lnTo>
                  <a:pt x="419955" y="304800"/>
                </a:lnTo>
                <a:lnTo>
                  <a:pt x="421585" y="302260"/>
                </a:lnTo>
                <a:lnTo>
                  <a:pt x="421580" y="297180"/>
                </a:lnTo>
                <a:lnTo>
                  <a:pt x="419708" y="293370"/>
                </a:lnTo>
                <a:lnTo>
                  <a:pt x="415964" y="290830"/>
                </a:lnTo>
                <a:lnTo>
                  <a:pt x="412325" y="287020"/>
                </a:lnTo>
                <a:lnTo>
                  <a:pt x="409295" y="284480"/>
                </a:lnTo>
                <a:close/>
              </a:path>
              <a:path w="659129" h="621029">
                <a:moveTo>
                  <a:pt x="382366" y="194310"/>
                </a:moveTo>
                <a:lnTo>
                  <a:pt x="379576" y="194310"/>
                </a:lnTo>
                <a:lnTo>
                  <a:pt x="378209" y="195580"/>
                </a:lnTo>
                <a:lnTo>
                  <a:pt x="377367" y="195580"/>
                </a:lnTo>
                <a:lnTo>
                  <a:pt x="375367" y="196850"/>
                </a:lnTo>
                <a:lnTo>
                  <a:pt x="374105" y="198120"/>
                </a:lnTo>
                <a:lnTo>
                  <a:pt x="370894" y="201930"/>
                </a:lnTo>
                <a:lnTo>
                  <a:pt x="369592" y="203200"/>
                </a:lnTo>
                <a:lnTo>
                  <a:pt x="367751" y="205740"/>
                </a:lnTo>
                <a:lnTo>
                  <a:pt x="367211" y="205740"/>
                </a:lnTo>
                <a:lnTo>
                  <a:pt x="367090" y="208087"/>
                </a:lnTo>
                <a:lnTo>
                  <a:pt x="367080" y="208280"/>
                </a:lnTo>
                <a:lnTo>
                  <a:pt x="368136" y="209550"/>
                </a:lnTo>
                <a:lnTo>
                  <a:pt x="368976" y="209550"/>
                </a:lnTo>
                <a:lnTo>
                  <a:pt x="370133" y="210820"/>
                </a:lnTo>
                <a:lnTo>
                  <a:pt x="424456" y="222250"/>
                </a:lnTo>
                <a:lnTo>
                  <a:pt x="437290" y="280670"/>
                </a:lnTo>
                <a:lnTo>
                  <a:pt x="437658" y="281940"/>
                </a:lnTo>
                <a:lnTo>
                  <a:pt x="438604" y="283210"/>
                </a:lnTo>
                <a:lnTo>
                  <a:pt x="440752" y="283210"/>
                </a:lnTo>
                <a:lnTo>
                  <a:pt x="441686" y="281940"/>
                </a:lnTo>
                <a:lnTo>
                  <a:pt x="443895" y="280670"/>
                </a:lnTo>
                <a:lnTo>
                  <a:pt x="445209" y="279400"/>
                </a:lnTo>
                <a:lnTo>
                  <a:pt x="448209" y="276860"/>
                </a:lnTo>
                <a:lnTo>
                  <a:pt x="449353" y="275590"/>
                </a:lnTo>
                <a:lnTo>
                  <a:pt x="450985" y="273050"/>
                </a:lnTo>
                <a:lnTo>
                  <a:pt x="451577" y="271780"/>
                </a:lnTo>
                <a:lnTo>
                  <a:pt x="452313" y="270510"/>
                </a:lnTo>
                <a:lnTo>
                  <a:pt x="452418" y="267970"/>
                </a:lnTo>
                <a:lnTo>
                  <a:pt x="452259" y="267970"/>
                </a:lnTo>
                <a:lnTo>
                  <a:pt x="441032" y="222250"/>
                </a:lnTo>
                <a:lnTo>
                  <a:pt x="501684" y="222250"/>
                </a:lnTo>
                <a:lnTo>
                  <a:pt x="501878" y="219878"/>
                </a:lnTo>
                <a:lnTo>
                  <a:pt x="501892" y="219710"/>
                </a:lnTo>
                <a:lnTo>
                  <a:pt x="500891" y="218440"/>
                </a:lnTo>
                <a:lnTo>
                  <a:pt x="500063" y="218440"/>
                </a:lnTo>
                <a:lnTo>
                  <a:pt x="498906" y="217170"/>
                </a:lnTo>
                <a:lnTo>
                  <a:pt x="441899" y="204470"/>
                </a:lnTo>
                <a:lnTo>
                  <a:pt x="425002" y="204470"/>
                </a:lnTo>
                <a:lnTo>
                  <a:pt x="382366" y="194310"/>
                </a:lnTo>
                <a:close/>
              </a:path>
              <a:path w="659129" h="621029">
                <a:moveTo>
                  <a:pt x="501144" y="222250"/>
                </a:moveTo>
                <a:lnTo>
                  <a:pt x="441032" y="222250"/>
                </a:lnTo>
                <a:lnTo>
                  <a:pt x="486276" y="233680"/>
                </a:lnTo>
                <a:lnTo>
                  <a:pt x="490724" y="233680"/>
                </a:lnTo>
                <a:lnTo>
                  <a:pt x="491592" y="232410"/>
                </a:lnTo>
                <a:lnTo>
                  <a:pt x="493593" y="231140"/>
                </a:lnTo>
                <a:lnTo>
                  <a:pt x="494883" y="229870"/>
                </a:lnTo>
                <a:lnTo>
                  <a:pt x="498091" y="226060"/>
                </a:lnTo>
                <a:lnTo>
                  <a:pt x="499353" y="224790"/>
                </a:lnTo>
                <a:lnTo>
                  <a:pt x="501144" y="222250"/>
                </a:lnTo>
                <a:close/>
              </a:path>
              <a:path w="659129" h="621029">
                <a:moveTo>
                  <a:pt x="427987" y="147320"/>
                </a:moveTo>
                <a:lnTo>
                  <a:pt x="425841" y="147320"/>
                </a:lnTo>
                <a:lnTo>
                  <a:pt x="424920" y="148590"/>
                </a:lnTo>
                <a:lnTo>
                  <a:pt x="422762" y="149860"/>
                </a:lnTo>
                <a:lnTo>
                  <a:pt x="421460" y="151130"/>
                </a:lnTo>
                <a:lnTo>
                  <a:pt x="418514" y="153670"/>
                </a:lnTo>
                <a:lnTo>
                  <a:pt x="417436" y="154940"/>
                </a:lnTo>
                <a:lnTo>
                  <a:pt x="415963" y="157480"/>
                </a:lnTo>
                <a:lnTo>
                  <a:pt x="415462" y="157480"/>
                </a:lnTo>
                <a:lnTo>
                  <a:pt x="414936" y="158750"/>
                </a:lnTo>
                <a:lnTo>
                  <a:pt x="414859" y="161290"/>
                </a:lnTo>
                <a:lnTo>
                  <a:pt x="425002" y="204470"/>
                </a:lnTo>
                <a:lnTo>
                  <a:pt x="441899" y="204470"/>
                </a:lnTo>
                <a:lnTo>
                  <a:pt x="429644" y="151130"/>
                </a:lnTo>
                <a:lnTo>
                  <a:pt x="429328" y="149860"/>
                </a:lnTo>
                <a:lnTo>
                  <a:pt x="428933" y="148590"/>
                </a:lnTo>
                <a:lnTo>
                  <a:pt x="427987" y="147320"/>
                </a:lnTo>
                <a:close/>
              </a:path>
              <a:path w="659129" h="621029">
                <a:moveTo>
                  <a:pt x="510622" y="85090"/>
                </a:moveTo>
                <a:lnTo>
                  <a:pt x="493890" y="85090"/>
                </a:lnTo>
                <a:lnTo>
                  <a:pt x="482474" y="90170"/>
                </a:lnTo>
                <a:lnTo>
                  <a:pt x="457475" y="121920"/>
                </a:lnTo>
                <a:lnTo>
                  <a:pt x="456492" y="128270"/>
                </a:lnTo>
                <a:lnTo>
                  <a:pt x="456916" y="134620"/>
                </a:lnTo>
                <a:lnTo>
                  <a:pt x="457001" y="135890"/>
                </a:lnTo>
                <a:lnTo>
                  <a:pt x="457086" y="137160"/>
                </a:lnTo>
                <a:lnTo>
                  <a:pt x="457171" y="138430"/>
                </a:lnTo>
                <a:lnTo>
                  <a:pt x="483001" y="179070"/>
                </a:lnTo>
                <a:lnTo>
                  <a:pt x="520816" y="193040"/>
                </a:lnTo>
                <a:lnTo>
                  <a:pt x="526926" y="191770"/>
                </a:lnTo>
                <a:lnTo>
                  <a:pt x="538958" y="185420"/>
                </a:lnTo>
                <a:lnTo>
                  <a:pt x="544880" y="181610"/>
                </a:lnTo>
                <a:lnTo>
                  <a:pt x="551446" y="175260"/>
                </a:lnTo>
                <a:lnTo>
                  <a:pt x="520538" y="175260"/>
                </a:lnTo>
                <a:lnTo>
                  <a:pt x="512317" y="173990"/>
                </a:lnTo>
                <a:lnTo>
                  <a:pt x="508285" y="172720"/>
                </a:lnTo>
                <a:lnTo>
                  <a:pt x="500379" y="168910"/>
                </a:lnTo>
                <a:lnTo>
                  <a:pt x="492470" y="161290"/>
                </a:lnTo>
                <a:lnTo>
                  <a:pt x="502572" y="151130"/>
                </a:lnTo>
                <a:lnTo>
                  <a:pt x="482934" y="151130"/>
                </a:lnTo>
                <a:lnTo>
                  <a:pt x="472652" y="128270"/>
                </a:lnTo>
                <a:lnTo>
                  <a:pt x="472530" y="127000"/>
                </a:lnTo>
                <a:lnTo>
                  <a:pt x="493787" y="100330"/>
                </a:lnTo>
                <a:lnTo>
                  <a:pt x="534982" y="100330"/>
                </a:lnTo>
                <a:lnTo>
                  <a:pt x="531506" y="96520"/>
                </a:lnTo>
                <a:lnTo>
                  <a:pt x="526557" y="92710"/>
                </a:lnTo>
                <a:lnTo>
                  <a:pt x="516030" y="87630"/>
                </a:lnTo>
                <a:lnTo>
                  <a:pt x="510622" y="85090"/>
                </a:lnTo>
                <a:close/>
              </a:path>
              <a:path w="659129" h="621029">
                <a:moveTo>
                  <a:pt x="562803" y="134620"/>
                </a:moveTo>
                <a:lnTo>
                  <a:pt x="559892" y="134620"/>
                </a:lnTo>
                <a:lnTo>
                  <a:pt x="558890" y="135890"/>
                </a:lnTo>
                <a:lnTo>
                  <a:pt x="558229" y="137160"/>
                </a:lnTo>
                <a:lnTo>
                  <a:pt x="556854" y="140970"/>
                </a:lnTo>
                <a:lnTo>
                  <a:pt x="555889" y="142240"/>
                </a:lnTo>
                <a:lnTo>
                  <a:pt x="553405" y="148590"/>
                </a:lnTo>
                <a:lnTo>
                  <a:pt x="547573" y="157480"/>
                </a:lnTo>
                <a:lnTo>
                  <a:pt x="544846" y="160020"/>
                </a:lnTo>
                <a:lnTo>
                  <a:pt x="537212" y="167640"/>
                </a:lnTo>
                <a:lnTo>
                  <a:pt x="532998" y="171450"/>
                </a:lnTo>
                <a:lnTo>
                  <a:pt x="524675" y="175260"/>
                </a:lnTo>
                <a:lnTo>
                  <a:pt x="551446" y="175260"/>
                </a:lnTo>
                <a:lnTo>
                  <a:pt x="554073" y="172720"/>
                </a:lnTo>
                <a:lnTo>
                  <a:pt x="556988" y="168910"/>
                </a:lnTo>
                <a:lnTo>
                  <a:pt x="561930" y="162560"/>
                </a:lnTo>
                <a:lnTo>
                  <a:pt x="563980" y="158750"/>
                </a:lnTo>
                <a:lnTo>
                  <a:pt x="567239" y="153670"/>
                </a:lnTo>
                <a:lnTo>
                  <a:pt x="568438" y="151130"/>
                </a:lnTo>
                <a:lnTo>
                  <a:pt x="570351" y="144780"/>
                </a:lnTo>
                <a:lnTo>
                  <a:pt x="570290" y="143510"/>
                </a:lnTo>
                <a:lnTo>
                  <a:pt x="570029" y="142240"/>
                </a:lnTo>
                <a:lnTo>
                  <a:pt x="569807" y="142240"/>
                </a:lnTo>
                <a:lnTo>
                  <a:pt x="569180" y="140970"/>
                </a:lnTo>
                <a:lnTo>
                  <a:pt x="568802" y="140970"/>
                </a:lnTo>
                <a:lnTo>
                  <a:pt x="567913" y="139700"/>
                </a:lnTo>
                <a:lnTo>
                  <a:pt x="567352" y="138430"/>
                </a:lnTo>
                <a:lnTo>
                  <a:pt x="565732" y="137160"/>
                </a:lnTo>
                <a:lnTo>
                  <a:pt x="564894" y="135890"/>
                </a:lnTo>
                <a:lnTo>
                  <a:pt x="563430" y="135890"/>
                </a:lnTo>
                <a:lnTo>
                  <a:pt x="562803" y="134620"/>
                </a:lnTo>
                <a:close/>
              </a:path>
              <a:path w="659129" h="621029">
                <a:moveTo>
                  <a:pt x="534982" y="100330"/>
                </a:moveTo>
                <a:lnTo>
                  <a:pt x="493787" y="100330"/>
                </a:lnTo>
                <a:lnTo>
                  <a:pt x="507977" y="101600"/>
                </a:lnTo>
                <a:lnTo>
                  <a:pt x="514871" y="106680"/>
                </a:lnTo>
                <a:lnTo>
                  <a:pt x="521567" y="113030"/>
                </a:lnTo>
                <a:lnTo>
                  <a:pt x="482934" y="151130"/>
                </a:lnTo>
                <a:lnTo>
                  <a:pt x="502572" y="151130"/>
                </a:lnTo>
                <a:lnTo>
                  <a:pt x="540453" y="113030"/>
                </a:lnTo>
                <a:lnTo>
                  <a:pt x="541192" y="111760"/>
                </a:lnTo>
                <a:lnTo>
                  <a:pt x="541298" y="110490"/>
                </a:lnTo>
                <a:lnTo>
                  <a:pt x="541405" y="109220"/>
                </a:lnTo>
                <a:lnTo>
                  <a:pt x="541511" y="107950"/>
                </a:lnTo>
                <a:lnTo>
                  <a:pt x="540564" y="105410"/>
                </a:lnTo>
                <a:lnTo>
                  <a:pt x="536140" y="101600"/>
                </a:lnTo>
                <a:lnTo>
                  <a:pt x="534982" y="100330"/>
                </a:lnTo>
                <a:close/>
              </a:path>
              <a:path w="659129" h="621029">
                <a:moveTo>
                  <a:pt x="537446" y="39370"/>
                </a:moveTo>
                <a:lnTo>
                  <a:pt x="533407" y="39370"/>
                </a:lnTo>
                <a:lnTo>
                  <a:pt x="531715" y="40640"/>
                </a:lnTo>
                <a:lnTo>
                  <a:pt x="530711" y="41910"/>
                </a:lnTo>
                <a:lnTo>
                  <a:pt x="528331" y="44450"/>
                </a:lnTo>
                <a:lnTo>
                  <a:pt x="527392" y="45720"/>
                </a:lnTo>
                <a:lnTo>
                  <a:pt x="526069" y="46990"/>
                </a:lnTo>
                <a:lnTo>
                  <a:pt x="525618" y="48260"/>
                </a:lnTo>
                <a:lnTo>
                  <a:pt x="525138" y="49530"/>
                </a:lnTo>
                <a:lnTo>
                  <a:pt x="525346" y="50800"/>
                </a:lnTo>
                <a:lnTo>
                  <a:pt x="525623" y="50800"/>
                </a:lnTo>
                <a:lnTo>
                  <a:pt x="597543" y="123190"/>
                </a:lnTo>
                <a:lnTo>
                  <a:pt x="600961" y="123190"/>
                </a:lnTo>
                <a:lnTo>
                  <a:pt x="601793" y="121920"/>
                </a:lnTo>
                <a:lnTo>
                  <a:pt x="603695" y="120650"/>
                </a:lnTo>
                <a:lnTo>
                  <a:pt x="604807" y="119380"/>
                </a:lnTo>
                <a:lnTo>
                  <a:pt x="607399" y="116840"/>
                </a:lnTo>
                <a:lnTo>
                  <a:pt x="608431" y="115570"/>
                </a:lnTo>
                <a:lnTo>
                  <a:pt x="609913" y="114300"/>
                </a:lnTo>
                <a:lnTo>
                  <a:pt x="610416" y="113030"/>
                </a:lnTo>
                <a:lnTo>
                  <a:pt x="610948" y="111760"/>
                </a:lnTo>
                <a:lnTo>
                  <a:pt x="610886" y="110490"/>
                </a:lnTo>
                <a:lnTo>
                  <a:pt x="610636" y="109220"/>
                </a:lnTo>
                <a:lnTo>
                  <a:pt x="560537" y="59690"/>
                </a:lnTo>
                <a:lnTo>
                  <a:pt x="559617" y="52070"/>
                </a:lnTo>
                <a:lnTo>
                  <a:pt x="559619" y="49530"/>
                </a:lnTo>
                <a:lnTo>
                  <a:pt x="547265" y="49530"/>
                </a:lnTo>
                <a:lnTo>
                  <a:pt x="537446" y="39370"/>
                </a:lnTo>
                <a:close/>
              </a:path>
              <a:path w="659129" h="621029">
                <a:moveTo>
                  <a:pt x="617352" y="20320"/>
                </a:moveTo>
                <a:lnTo>
                  <a:pt x="586621" y="20320"/>
                </a:lnTo>
                <a:lnTo>
                  <a:pt x="589669" y="21590"/>
                </a:lnTo>
                <a:lnTo>
                  <a:pt x="595873" y="25400"/>
                </a:lnTo>
                <a:lnTo>
                  <a:pt x="599452" y="29210"/>
                </a:lnTo>
                <a:lnTo>
                  <a:pt x="645551" y="74930"/>
                </a:lnTo>
                <a:lnTo>
                  <a:pt x="648982" y="74930"/>
                </a:lnTo>
                <a:lnTo>
                  <a:pt x="649801" y="73660"/>
                </a:lnTo>
                <a:lnTo>
                  <a:pt x="651704" y="72390"/>
                </a:lnTo>
                <a:lnTo>
                  <a:pt x="652842" y="71120"/>
                </a:lnTo>
                <a:lnTo>
                  <a:pt x="655434" y="68580"/>
                </a:lnTo>
                <a:lnTo>
                  <a:pt x="656440" y="68580"/>
                </a:lnTo>
                <a:lnTo>
                  <a:pt x="657922" y="66040"/>
                </a:lnTo>
                <a:lnTo>
                  <a:pt x="658425" y="64770"/>
                </a:lnTo>
                <a:lnTo>
                  <a:pt x="658957" y="63500"/>
                </a:lnTo>
                <a:lnTo>
                  <a:pt x="658895" y="62230"/>
                </a:lnTo>
                <a:lnTo>
                  <a:pt x="658643" y="62230"/>
                </a:lnTo>
                <a:lnTo>
                  <a:pt x="617352" y="20320"/>
                </a:lnTo>
                <a:close/>
              </a:path>
              <a:path w="659129" h="621029">
                <a:moveTo>
                  <a:pt x="582146" y="0"/>
                </a:moveTo>
                <a:lnTo>
                  <a:pt x="547461" y="33020"/>
                </a:lnTo>
                <a:lnTo>
                  <a:pt x="546841" y="41910"/>
                </a:lnTo>
                <a:lnTo>
                  <a:pt x="546982" y="44450"/>
                </a:lnTo>
                <a:lnTo>
                  <a:pt x="547053" y="45720"/>
                </a:lnTo>
                <a:lnTo>
                  <a:pt x="547124" y="46990"/>
                </a:lnTo>
                <a:lnTo>
                  <a:pt x="547195" y="48260"/>
                </a:lnTo>
                <a:lnTo>
                  <a:pt x="547265" y="49530"/>
                </a:lnTo>
                <a:lnTo>
                  <a:pt x="559619" y="49530"/>
                </a:lnTo>
                <a:lnTo>
                  <a:pt x="559621" y="44450"/>
                </a:lnTo>
                <a:lnTo>
                  <a:pt x="561475" y="34290"/>
                </a:lnTo>
                <a:lnTo>
                  <a:pt x="563561" y="29210"/>
                </a:lnTo>
                <a:lnTo>
                  <a:pt x="569314" y="24130"/>
                </a:lnTo>
                <a:lnTo>
                  <a:pt x="571997" y="21590"/>
                </a:lnTo>
                <a:lnTo>
                  <a:pt x="577710" y="20320"/>
                </a:lnTo>
                <a:lnTo>
                  <a:pt x="617352" y="20320"/>
                </a:lnTo>
                <a:lnTo>
                  <a:pt x="609795" y="12700"/>
                </a:lnTo>
                <a:lnTo>
                  <a:pt x="605030" y="8890"/>
                </a:lnTo>
                <a:lnTo>
                  <a:pt x="596080" y="3810"/>
                </a:lnTo>
                <a:lnTo>
                  <a:pt x="591505" y="1270"/>
                </a:lnTo>
                <a:lnTo>
                  <a:pt x="5821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object 3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861607" y="5021389"/>
            <a:ext cx="2414316" cy="1408214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835154" y="1861429"/>
            <a:ext cx="304800" cy="1795780"/>
          </a:xfrm>
          <a:prstGeom prst="rect">
            <a:avLst/>
          </a:prstGeom>
        </p:spPr>
        <p:txBody>
          <a:bodyPr vert="vert270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b="1" dirty="0">
                <a:latin typeface="Calibri"/>
                <a:cs typeface="Calibri"/>
              </a:rPr>
              <a:t>Throughput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(Gb/s)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338288" y="1608493"/>
            <a:ext cx="248920" cy="781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77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Tx Rx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8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633220"/>
            <a:ext cx="7992745" cy="351282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5080" indent="-342900">
              <a:lnSpc>
                <a:spcPts val="3800"/>
              </a:lnSpc>
              <a:spcBef>
                <a:spcPts val="260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Common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lore: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VMs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provide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good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isola</a:t>
            </a:r>
            <a:r>
              <a:rPr lang="en-US" sz="3200" dirty="0">
                <a:latin typeface="Calibri"/>
                <a:cs typeface="Calibri"/>
              </a:rPr>
              <a:t>ti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but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heavyweight</a:t>
            </a:r>
            <a:endParaRPr sz="3200" dirty="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509"/>
              </a:spcBef>
              <a:buFont typeface="Arial"/>
              <a:buChar char="–"/>
              <a:tabLst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Results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standard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VMs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conﬁrm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this</a:t>
            </a:r>
            <a:endParaRPr sz="2800" dirty="0">
              <a:latin typeface="Calibri"/>
              <a:cs typeface="Calibri"/>
            </a:endParaRPr>
          </a:p>
          <a:p>
            <a:pPr marL="355600" marR="2075180" indent="-342900">
              <a:lnSpc>
                <a:spcPct val="100000"/>
              </a:lnSpc>
              <a:spcBef>
                <a:spcPts val="83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Containers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provide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lighter-weight virtualiza</a:t>
            </a:r>
            <a:r>
              <a:rPr lang="en-US" sz="3200" spc="-10" dirty="0">
                <a:latin typeface="Calibri"/>
                <a:cs typeface="Calibri"/>
              </a:rPr>
              <a:t>ti</a:t>
            </a:r>
            <a:r>
              <a:rPr sz="3200" spc="-10" dirty="0">
                <a:latin typeface="Calibri"/>
                <a:cs typeface="Calibri"/>
              </a:rPr>
              <a:t>on</a:t>
            </a:r>
            <a:endParaRPr sz="3200" dirty="0">
              <a:latin typeface="Calibri"/>
              <a:cs typeface="Calibri"/>
            </a:endParaRPr>
          </a:p>
          <a:p>
            <a:pPr marL="749300" marR="363855" lvl="1" indent="-279400">
              <a:lnSpc>
                <a:spcPts val="3329"/>
              </a:lnSpc>
              <a:spcBef>
                <a:spcPts val="755"/>
              </a:spcBef>
              <a:buFont typeface="Arial"/>
              <a:buChar char="–"/>
              <a:tabLst>
                <a:tab pos="749300" algn="l"/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	But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lang="en-US" sz="2800" spc="-20" dirty="0" err="1">
                <a:latin typeface="Calibri"/>
                <a:cs typeface="Calibri"/>
              </a:rPr>
              <a:t>Ti</a:t>
            </a:r>
            <a:r>
              <a:rPr sz="2800" dirty="0" err="1">
                <a:latin typeface="Calibri"/>
                <a:cs typeface="Calibri"/>
              </a:rPr>
              <a:t>nyﬁed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VMs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especially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unikernels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yield </a:t>
            </a:r>
            <a:r>
              <a:rPr sz="2800" dirty="0">
                <a:latin typeface="Calibri"/>
                <a:cs typeface="Calibri"/>
              </a:rPr>
              <a:t>comparable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performance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8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633220"/>
            <a:ext cx="7992745" cy="351282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5080" indent="-342900">
              <a:lnSpc>
                <a:spcPts val="3800"/>
              </a:lnSpc>
              <a:spcBef>
                <a:spcPts val="260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Common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lore: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VMs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provide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good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isola</a:t>
            </a:r>
            <a:r>
              <a:rPr lang="en-US" sz="3200" dirty="0">
                <a:latin typeface="Calibri"/>
                <a:cs typeface="Calibri"/>
              </a:rPr>
              <a:t>ti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but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heavyweight</a:t>
            </a:r>
            <a:endParaRPr sz="3200" dirty="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509"/>
              </a:spcBef>
              <a:buFont typeface="Arial"/>
              <a:buChar char="–"/>
              <a:tabLst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Results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standard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VMs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conﬁrm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this</a:t>
            </a:r>
            <a:endParaRPr sz="2800" dirty="0">
              <a:latin typeface="Calibri"/>
              <a:cs typeface="Calibri"/>
            </a:endParaRPr>
          </a:p>
          <a:p>
            <a:pPr marL="355600" marR="2075180" indent="-342900">
              <a:lnSpc>
                <a:spcPct val="100000"/>
              </a:lnSpc>
              <a:spcBef>
                <a:spcPts val="83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Containers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provide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lighter-weight virtualiza</a:t>
            </a:r>
            <a:r>
              <a:rPr lang="en-US" sz="3200" spc="-10" dirty="0">
                <a:latin typeface="Calibri"/>
                <a:cs typeface="Calibri"/>
              </a:rPr>
              <a:t>ti</a:t>
            </a:r>
            <a:r>
              <a:rPr sz="3200" spc="-10" dirty="0">
                <a:latin typeface="Calibri"/>
                <a:cs typeface="Calibri"/>
              </a:rPr>
              <a:t>on</a:t>
            </a:r>
            <a:endParaRPr sz="3200" dirty="0">
              <a:latin typeface="Calibri"/>
              <a:cs typeface="Calibri"/>
            </a:endParaRPr>
          </a:p>
          <a:p>
            <a:pPr marL="749300" marR="363855" lvl="1" indent="-279400">
              <a:lnSpc>
                <a:spcPts val="3329"/>
              </a:lnSpc>
              <a:spcBef>
                <a:spcPts val="755"/>
              </a:spcBef>
              <a:buFont typeface="Arial"/>
              <a:buChar char="–"/>
              <a:tabLst>
                <a:tab pos="749300" algn="l"/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	But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lang="en-US" sz="2800" spc="-20" dirty="0" err="1">
                <a:latin typeface="Calibri"/>
                <a:cs typeface="Calibri"/>
              </a:rPr>
              <a:t>Ti</a:t>
            </a:r>
            <a:r>
              <a:rPr sz="2800" dirty="0" err="1">
                <a:latin typeface="Calibri"/>
                <a:cs typeface="Calibri"/>
              </a:rPr>
              <a:t>nyﬁed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VMs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especially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unikernels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yield </a:t>
            </a:r>
            <a:r>
              <a:rPr sz="2800" dirty="0">
                <a:latin typeface="Calibri"/>
                <a:cs typeface="Calibri"/>
              </a:rPr>
              <a:t>comparable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performance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50219" y="4918584"/>
            <a:ext cx="1037429" cy="1646919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046" y="101918"/>
            <a:ext cx="7313295" cy="995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ts val="3820"/>
              </a:lnSpc>
              <a:spcBef>
                <a:spcPts val="100"/>
              </a:spcBef>
            </a:pPr>
            <a:r>
              <a:rPr sz="3200" b="1" dirty="0">
                <a:latin typeface="Calibri"/>
                <a:cs typeface="Calibri"/>
              </a:rPr>
              <a:t>Poten</a:t>
            </a:r>
            <a:r>
              <a:rPr lang="en-US" sz="3200" b="1" dirty="0">
                <a:latin typeface="Calibri"/>
                <a:cs typeface="Calibri"/>
              </a:rPr>
              <a:t>ti</a:t>
            </a:r>
            <a:r>
              <a:rPr sz="3200" b="1" dirty="0">
                <a:latin typeface="Calibri"/>
                <a:cs typeface="Calibri"/>
              </a:rPr>
              <a:t>al</a:t>
            </a:r>
            <a:r>
              <a:rPr sz="3200" b="1" spc="1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Contribu</a:t>
            </a:r>
            <a:r>
              <a:rPr lang="en-US" sz="3200" b="1" dirty="0">
                <a:latin typeface="Calibri"/>
                <a:cs typeface="Calibri"/>
              </a:rPr>
              <a:t>ti</a:t>
            </a:r>
            <a:r>
              <a:rPr sz="3200" b="1" dirty="0">
                <a:latin typeface="Calibri"/>
                <a:cs typeface="Calibri"/>
              </a:rPr>
              <a:t>ons</a:t>
            </a:r>
            <a:r>
              <a:rPr sz="3200" b="1" spc="145" dirty="0">
                <a:latin typeface="Calibri"/>
                <a:cs typeface="Calibri"/>
              </a:rPr>
              <a:t> </a:t>
            </a:r>
            <a:r>
              <a:rPr sz="3200" b="1" spc="-25" dirty="0">
                <a:latin typeface="Calibri"/>
                <a:cs typeface="Calibri"/>
              </a:rPr>
              <a:t>to</a:t>
            </a:r>
            <a:endParaRPr sz="3200" dirty="0">
              <a:latin typeface="Calibri"/>
              <a:cs typeface="Calibri"/>
            </a:endParaRPr>
          </a:p>
          <a:p>
            <a:pPr algn="ctr">
              <a:lnSpc>
                <a:spcPts val="3820"/>
              </a:lnSpc>
            </a:pPr>
            <a:r>
              <a:rPr sz="3200" b="1" spc="85" dirty="0">
                <a:latin typeface="Calibri"/>
                <a:cs typeface="Calibri"/>
              </a:rPr>
              <a:t>draT-</a:t>
            </a:r>
            <a:r>
              <a:rPr sz="3200" b="1" spc="-10" dirty="0">
                <a:latin typeface="Calibri"/>
                <a:cs typeface="Calibri"/>
              </a:rPr>
              <a:t>natarajan-nfvrg-containers-for-nfv-</a:t>
            </a:r>
            <a:r>
              <a:rPr sz="3200" b="1" spc="-25" dirty="0">
                <a:latin typeface="Calibri"/>
                <a:cs typeface="Calibri"/>
              </a:rPr>
              <a:t>01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39" y="1582420"/>
            <a:ext cx="7448550" cy="3985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1660" lvl="2" indent="-568960">
              <a:lnSpc>
                <a:spcPts val="2390"/>
              </a:lnSpc>
              <a:spcBef>
                <a:spcPts val="100"/>
              </a:spcBef>
              <a:buAutoNum type="arabicPeriod"/>
              <a:tabLst>
                <a:tab pos="581660" algn="l"/>
              </a:tabLst>
            </a:pPr>
            <a:r>
              <a:rPr sz="2000" spc="-10" dirty="0">
                <a:latin typeface="Calibri"/>
                <a:cs typeface="Calibri"/>
              </a:rPr>
              <a:t>Challenges</a:t>
            </a:r>
            <a:endParaRPr sz="2000" dirty="0">
              <a:latin typeface="Calibri"/>
              <a:cs typeface="Calibri"/>
            </a:endParaRPr>
          </a:p>
          <a:p>
            <a:pPr marL="375920" lvl="3" indent="-133985">
              <a:lnSpc>
                <a:spcPts val="2390"/>
              </a:lnSpc>
              <a:buChar char="-"/>
              <a:tabLst>
                <a:tab pos="375920" algn="l"/>
              </a:tabLst>
            </a:pPr>
            <a:r>
              <a:rPr sz="2000" dirty="0">
                <a:latin typeface="Calibri"/>
                <a:cs typeface="Calibri"/>
              </a:rPr>
              <a:t>VNF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provisioning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ti</a:t>
            </a:r>
            <a:r>
              <a:rPr sz="2000" spc="-25" dirty="0">
                <a:latin typeface="Calibri"/>
                <a:cs typeface="Calibri"/>
              </a:rPr>
              <a:t>me</a:t>
            </a:r>
            <a:endParaRPr sz="2000" dirty="0">
              <a:latin typeface="Calibri"/>
              <a:cs typeface="Calibri"/>
            </a:endParaRPr>
          </a:p>
          <a:p>
            <a:pPr marL="376555" lvl="3" indent="-134620">
              <a:lnSpc>
                <a:spcPct val="100000"/>
              </a:lnSpc>
              <a:buChar char="-"/>
              <a:tabLst>
                <a:tab pos="376555" algn="l"/>
              </a:tabLst>
            </a:pPr>
            <a:r>
              <a:rPr sz="2000" dirty="0">
                <a:latin typeface="Calibri"/>
                <a:cs typeface="Calibri"/>
              </a:rPr>
              <a:t>Run</a:t>
            </a:r>
            <a:r>
              <a:rPr lang="en-US" sz="2000" dirty="0">
                <a:latin typeface="Calibri"/>
                <a:cs typeface="Calibri"/>
              </a:rPr>
              <a:t>ti</a:t>
            </a:r>
            <a:r>
              <a:rPr sz="2000" dirty="0">
                <a:latin typeface="Calibri"/>
                <a:cs typeface="Calibri"/>
              </a:rPr>
              <a:t>me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performance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(throughput,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scaling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up/down)</a:t>
            </a:r>
            <a:endParaRPr sz="2000" dirty="0">
              <a:latin typeface="Calibri"/>
              <a:cs typeface="Calibri"/>
            </a:endParaRPr>
          </a:p>
          <a:p>
            <a:pPr marL="261620" indent="-248920">
              <a:lnSpc>
                <a:spcPct val="100000"/>
              </a:lnSpc>
              <a:spcBef>
                <a:spcPts val="2400"/>
              </a:spcBef>
              <a:buAutoNum type="arabicPeriod" startAt="3"/>
              <a:tabLst>
                <a:tab pos="261620" algn="l"/>
              </a:tabLst>
            </a:pPr>
            <a:r>
              <a:rPr sz="2000" dirty="0">
                <a:latin typeface="Calibri"/>
                <a:cs typeface="Calibri"/>
              </a:rPr>
              <a:t>Beneﬁts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Containers</a:t>
            </a:r>
            <a:endParaRPr sz="2000" dirty="0">
              <a:latin typeface="Calibri"/>
              <a:cs typeface="Calibri"/>
            </a:endParaRPr>
          </a:p>
          <a:p>
            <a:pPr marL="319405" lvl="1" indent="-134620">
              <a:lnSpc>
                <a:spcPct val="100000"/>
              </a:lnSpc>
              <a:buChar char="-"/>
              <a:tabLst>
                <a:tab pos="319405" algn="l"/>
              </a:tabLst>
            </a:pPr>
            <a:r>
              <a:rPr sz="2000" dirty="0">
                <a:latin typeface="Calibri"/>
                <a:cs typeface="Calibri"/>
              </a:rPr>
              <a:t>Service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agility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VMs</a:t>
            </a:r>
            <a:endParaRPr sz="2000" dirty="0">
              <a:latin typeface="Calibri"/>
              <a:cs typeface="Calibri"/>
            </a:endParaRPr>
          </a:p>
          <a:p>
            <a:pPr marL="319405" lvl="1" indent="-134620">
              <a:lnSpc>
                <a:spcPct val="100000"/>
              </a:lnSpc>
              <a:buChar char="-"/>
              <a:tabLst>
                <a:tab pos="319405" algn="l"/>
              </a:tabLst>
            </a:pPr>
            <a:r>
              <a:rPr sz="2000" dirty="0">
                <a:latin typeface="Calibri"/>
                <a:cs typeface="Calibri"/>
              </a:rPr>
              <a:t>Containers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lang="en-US" sz="2000" dirty="0">
                <a:latin typeface="Calibri"/>
                <a:cs typeface="Calibri"/>
              </a:rPr>
              <a:t>tt</a:t>
            </a:r>
            <a:r>
              <a:rPr sz="2000" dirty="0">
                <a:latin typeface="Calibri"/>
                <a:cs typeface="Calibri"/>
              </a:rPr>
              <a:t>er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run</a:t>
            </a:r>
            <a:r>
              <a:rPr lang="en-US" sz="2000" dirty="0">
                <a:latin typeface="Calibri"/>
                <a:cs typeface="Calibri"/>
              </a:rPr>
              <a:t>ti</a:t>
            </a:r>
            <a:r>
              <a:rPr sz="2000" dirty="0">
                <a:latin typeface="Calibri"/>
                <a:cs typeface="Calibri"/>
              </a:rPr>
              <a:t>me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performance</a:t>
            </a:r>
            <a:endParaRPr sz="2000" dirty="0">
              <a:latin typeface="Calibri"/>
              <a:cs typeface="Calibri"/>
            </a:endParaRPr>
          </a:p>
          <a:p>
            <a:pPr marL="319405" lvl="1" indent="-134620">
              <a:lnSpc>
                <a:spcPct val="100000"/>
              </a:lnSpc>
              <a:buChar char="-"/>
              <a:tabLst>
                <a:tab pos="319405" algn="l"/>
              </a:tabLst>
            </a:pPr>
            <a:r>
              <a:rPr sz="2000" spc="-10" dirty="0">
                <a:latin typeface="Calibri"/>
                <a:cs typeface="Calibri"/>
              </a:rPr>
              <a:t>Auto-</a:t>
            </a:r>
            <a:r>
              <a:rPr sz="2000" dirty="0">
                <a:latin typeface="Calibri"/>
                <a:cs typeface="Calibri"/>
              </a:rPr>
              <a:t>scaling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VNFs</a:t>
            </a:r>
            <a:endParaRPr sz="2000" dirty="0">
              <a:latin typeface="Calibri"/>
              <a:cs typeface="Calibri"/>
            </a:endParaRPr>
          </a:p>
          <a:p>
            <a:pPr marL="319405" lvl="1" indent="-134620">
              <a:lnSpc>
                <a:spcPct val="100000"/>
              </a:lnSpc>
              <a:buChar char="-"/>
              <a:tabLst>
                <a:tab pos="319405" algn="l"/>
              </a:tabLst>
            </a:pPr>
            <a:r>
              <a:rPr sz="2000" spc="-10" dirty="0">
                <a:latin typeface="Calibri"/>
                <a:cs typeface="Calibri"/>
              </a:rPr>
              <a:t>Cross-</a:t>
            </a:r>
            <a:r>
              <a:rPr sz="2000" dirty="0">
                <a:latin typeface="Calibri"/>
                <a:cs typeface="Calibri"/>
              </a:rPr>
              <a:t>VNF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compa</a:t>
            </a:r>
            <a:r>
              <a:rPr lang="en-US" sz="2000" dirty="0">
                <a:latin typeface="Calibri"/>
                <a:cs typeface="Calibri"/>
              </a:rPr>
              <a:t>ti</a:t>
            </a:r>
            <a:r>
              <a:rPr sz="2000" dirty="0">
                <a:latin typeface="Calibri"/>
                <a:cs typeface="Calibri"/>
              </a:rPr>
              <a:t>bility: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container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unikernel/minimalis</a:t>
            </a:r>
            <a:r>
              <a:rPr lang="en-US" sz="2000" dirty="0">
                <a:latin typeface="Calibri"/>
                <a:cs typeface="Calibri"/>
              </a:rPr>
              <a:t>ti</a:t>
            </a:r>
            <a:r>
              <a:rPr sz="2000" dirty="0">
                <a:latin typeface="Calibri"/>
                <a:cs typeface="Calibri"/>
              </a:rPr>
              <a:t>c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distro</a:t>
            </a:r>
            <a:endParaRPr sz="2000" dirty="0">
              <a:latin typeface="Calibri"/>
              <a:cs typeface="Calibri"/>
            </a:endParaRPr>
          </a:p>
          <a:p>
            <a:pPr marL="319405" lvl="1" indent="-134620">
              <a:lnSpc>
                <a:spcPct val="100000"/>
              </a:lnSpc>
              <a:buChar char="-"/>
              <a:tabLst>
                <a:tab pos="319405" algn="l"/>
              </a:tabLst>
            </a:pPr>
            <a:r>
              <a:rPr sz="2000" dirty="0">
                <a:latin typeface="Calibri"/>
                <a:cs typeface="Calibri"/>
              </a:rPr>
              <a:t>Overall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performance: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VMs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25%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throughput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containers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2000" dirty="0">
                <a:latin typeface="Calibri"/>
                <a:cs typeface="Calibri"/>
              </a:rPr>
              <a:t>5.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Conclusion</a:t>
            </a:r>
            <a:endParaRPr sz="2000" dirty="0">
              <a:latin typeface="Calibri"/>
              <a:cs typeface="Calibri"/>
            </a:endParaRPr>
          </a:p>
          <a:p>
            <a:pPr marL="184785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-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Containers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signiﬁcant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advantages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hypervisor-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solu</a:t>
            </a:r>
            <a:r>
              <a:rPr lang="en-US" sz="2000" spc="-10" dirty="0">
                <a:latin typeface="Calibri"/>
                <a:cs typeface="Calibri"/>
              </a:rPr>
              <a:t>ti</a:t>
            </a:r>
            <a:r>
              <a:rPr sz="2000" spc="-10" dirty="0">
                <a:latin typeface="Calibri"/>
                <a:cs typeface="Calibri"/>
              </a:rPr>
              <a:t>ons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Times New Roman"/>
        <a:ea typeface="Times New Roman"/>
        <a:cs typeface="Times New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D2A9"/>
        </a:solidFill>
        <a:ln w="9525" cap="flat">
          <a:solidFill>
            <a:srgbClr val="000000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Comic Sans MS"/>
            <a:ea typeface="Comic Sans MS"/>
            <a:cs typeface="Comic Sans MS"/>
            <a:sym typeface="Comic Sans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9525" cap="flat">
          <a:solidFill>
            <a:srgbClr val="000000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Comic Sans MS"/>
            <a:ea typeface="Comic Sans MS"/>
            <a:cs typeface="Comic Sans MS"/>
            <a:sym typeface="Comic Sans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10014</TotalTime>
  <Words>3145</Words>
  <Application>Microsoft Macintosh PowerPoint</Application>
  <PresentationFormat>On-screen Show (4:3)</PresentationFormat>
  <Paragraphs>697</Paragraphs>
  <Slides>71</Slides>
  <Notes>8</Notes>
  <HiddenSlides>19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71</vt:i4>
      </vt:variant>
    </vt:vector>
  </HeadingPairs>
  <TitlesOfParts>
    <vt:vector size="84" baseType="lpstr">
      <vt:lpstr>Microsoft YaHei</vt:lpstr>
      <vt:lpstr>Arial</vt:lpstr>
      <vt:lpstr>Calibri</vt:lpstr>
      <vt:lpstr>Calibri Light</vt:lpstr>
      <vt:lpstr>Comic Sans MS</vt:lpstr>
      <vt:lpstr>Courier New</vt:lpstr>
      <vt:lpstr>Helvetica</vt:lpstr>
      <vt:lpstr>Times New Roman</vt:lpstr>
      <vt:lpstr>Verdana</vt:lpstr>
      <vt:lpstr>Wingdings</vt:lpstr>
      <vt:lpstr>Office Theme</vt:lpstr>
      <vt:lpstr>White</vt:lpstr>
      <vt:lpstr>Simple Light</vt:lpstr>
      <vt:lpstr>Containers</vt:lpstr>
      <vt:lpstr>Virtual Appliances  &amp; Multi-Core</vt:lpstr>
      <vt:lpstr>Examples</vt:lpstr>
      <vt:lpstr>OS Virtualization</vt:lpstr>
      <vt:lpstr>Linux Containers (LXC)</vt:lpstr>
      <vt:lpstr>OS Mechanisms for LXC</vt:lpstr>
      <vt:lpstr>Linux Namespaces</vt:lpstr>
      <vt:lpstr>Linux cgroups </vt:lpstr>
      <vt:lpstr>Proportional Share Scheduling</vt:lpstr>
      <vt:lpstr>Share-based Schedulers</vt:lpstr>
      <vt:lpstr>Putting it all together</vt:lpstr>
      <vt:lpstr>Docker and Linux Containers</vt:lpstr>
      <vt:lpstr>Docker and Containers</vt:lpstr>
      <vt:lpstr>VMs vs. Containers</vt:lpstr>
      <vt:lpstr>Docker</vt:lpstr>
      <vt:lpstr>LXC Virtualization Using Docker</vt:lpstr>
      <vt:lpstr>Docker Images and Use</vt:lpstr>
      <vt:lpstr>Use of Virtualization Today</vt:lpstr>
      <vt:lpstr>Stages of Docker Containers</vt:lpstr>
      <vt:lpstr>Terminology </vt:lpstr>
      <vt:lpstr>Creating an Image </vt:lpstr>
      <vt:lpstr>PowerPoint Presentation</vt:lpstr>
      <vt:lpstr>Creating an Image Cont’d</vt:lpstr>
      <vt:lpstr>Docker Hub</vt:lpstr>
      <vt:lpstr>Pushing Image to a Registry </vt:lpstr>
      <vt:lpstr>Creating a Container </vt:lpstr>
      <vt:lpstr>Interacting with a Container</vt:lpstr>
      <vt:lpstr>VMs, Unikernels and Containers: Experiences on the Performance of Virtualization Technologies</vt:lpstr>
      <vt:lpstr>PowerPoint Presentation</vt:lpstr>
      <vt:lpstr>In the Beginning…</vt:lpstr>
      <vt:lpstr>In the Beginning…</vt:lpstr>
      <vt:lpstr>In the Beginning…</vt:lpstr>
      <vt:lpstr>In the Beginning…</vt:lpstr>
      <vt:lpstr>Virt. Technology Benchmarking</vt:lpstr>
      <vt:lpstr>Virt. Technology Benchmarking</vt:lpstr>
      <vt:lpstr>Virt. Technology Benchmarking</vt:lpstr>
      <vt:lpstr>Virt. Technology Benchmarking</vt:lpstr>
      <vt:lpstr>Virt. Technology Benchmarking</vt:lpstr>
      <vt:lpstr>Virt. Technology Benchmarking</vt:lpstr>
      <vt:lpstr>Virt. Technology Benchmarking</vt:lpstr>
      <vt:lpstr>Virt. Technology Benchmarking</vt:lpstr>
      <vt:lpstr>Virt. Technology Benchmarking</vt:lpstr>
      <vt:lpstr>Virtualization Technology Benchmarking</vt:lpstr>
      <vt:lpstr>Virtualization Technologies</vt:lpstr>
      <vt:lpstr>Virtualization Technologies</vt:lpstr>
      <vt:lpstr>Standard VM: Application on Top of Distro</vt:lpstr>
      <vt:lpstr>Most of the VM not Used…</vt:lpstr>
      <vt:lpstr>Tinyx: Keep Only What’s Needed</vt:lpstr>
      <vt:lpstr>Tinyx: Taylor-made Distro</vt:lpstr>
      <vt:lpstr>Tinyx: Taylor-made Distro</vt:lpstr>
      <vt:lpstr>Tinyx: Taylor-made Distro</vt:lpstr>
      <vt:lpstr>Tinyx: Taylor-made Distro</vt:lpstr>
      <vt:lpstr>Tinyx: Taylor-made Distro</vt:lpstr>
      <vt:lpstr>Virtualization Technologies</vt:lpstr>
      <vt:lpstr>Virtualization Technologies</vt:lpstr>
      <vt:lpstr>What’s a Unikernel?</vt:lpstr>
      <vt:lpstr>What’s a Unikernel?</vt:lpstr>
      <vt:lpstr>What’s a Unikernel?</vt:lpstr>
      <vt:lpstr>Unikernels for Benchmarking</vt:lpstr>
      <vt:lpstr>Unikernels for Benchmarking</vt:lpstr>
      <vt:lpstr>Unikernels for Benchmarking</vt:lpstr>
      <vt:lpstr>Unikernels for Benchmarking</vt:lpstr>
      <vt:lpstr>Nota Bene…</vt:lpstr>
      <vt:lpstr>RESULTS</vt:lpstr>
      <vt:lpstr>Image Size, Memory Usage (log scale)</vt:lpstr>
      <vt:lpstr>Boot Times (log scale)</vt:lpstr>
      <vt:lpstr>RTT</vt:lpstr>
      <vt:lpstr>Throughput</vt:lpstr>
      <vt:lpstr>Conclusions</vt:lpstr>
      <vt:lpstr>Conclusions</vt:lpstr>
      <vt:lpstr>Potential Contributions to draT-natarajan-nfvrg-containers-for-nfv-01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Containers</dc:title>
  <dc:creator>Microsoft Office User</dc:creator>
  <cp:lastModifiedBy>Microsoft Office User</cp:lastModifiedBy>
  <cp:revision>41</cp:revision>
  <dcterms:created xsi:type="dcterms:W3CDTF">2018-04-09T22:40:05Z</dcterms:created>
  <dcterms:modified xsi:type="dcterms:W3CDTF">2025-01-16T03:49:30Z</dcterms:modified>
</cp:coreProperties>
</file>