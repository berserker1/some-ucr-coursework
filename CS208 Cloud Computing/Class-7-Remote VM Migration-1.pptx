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  <p:sldMasterId id="2147483685" r:id="rId2"/>
    <p:sldMasterId id="2147483688" r:id="rId3"/>
  </p:sldMasterIdLst>
  <p:notesMasterIdLst>
    <p:notesMasterId r:id="rId39"/>
  </p:notesMasterIdLst>
  <p:handoutMasterIdLst>
    <p:handoutMasterId r:id="rId40"/>
  </p:handoutMasterIdLst>
  <p:sldIdLst>
    <p:sldId id="377" r:id="rId4"/>
    <p:sldId id="376" r:id="rId5"/>
    <p:sldId id="375" r:id="rId6"/>
    <p:sldId id="257" r:id="rId7"/>
    <p:sldId id="340" r:id="rId8"/>
    <p:sldId id="380" r:id="rId9"/>
    <p:sldId id="381" r:id="rId10"/>
    <p:sldId id="382" r:id="rId11"/>
    <p:sldId id="341" r:id="rId12"/>
    <p:sldId id="258" r:id="rId13"/>
    <p:sldId id="259" r:id="rId14"/>
    <p:sldId id="260" r:id="rId15"/>
    <p:sldId id="342" r:id="rId16"/>
    <p:sldId id="343" r:id="rId17"/>
    <p:sldId id="263" r:id="rId18"/>
    <p:sldId id="344" r:id="rId19"/>
    <p:sldId id="264" r:id="rId20"/>
    <p:sldId id="346" r:id="rId21"/>
    <p:sldId id="394" r:id="rId22"/>
    <p:sldId id="430" r:id="rId23"/>
    <p:sldId id="431" r:id="rId24"/>
    <p:sldId id="395" r:id="rId25"/>
    <p:sldId id="266" r:id="rId26"/>
    <p:sldId id="396" r:id="rId27"/>
    <p:sldId id="397" r:id="rId28"/>
    <p:sldId id="267" r:id="rId29"/>
    <p:sldId id="268" r:id="rId30"/>
    <p:sldId id="269" r:id="rId31"/>
    <p:sldId id="270" r:id="rId32"/>
    <p:sldId id="272" r:id="rId33"/>
    <p:sldId id="273" r:id="rId34"/>
    <p:sldId id="274" r:id="rId35"/>
    <p:sldId id="275" r:id="rId36"/>
    <p:sldId id="276" r:id="rId37"/>
    <p:sldId id="278" r:id="rId38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50000"/>
      </a:spcBef>
      <a:spcAft>
        <a:spcPct val="0"/>
      </a:spcAft>
      <a:defRPr sz="2400" kern="1200">
        <a:solidFill>
          <a:srgbClr val="CCCCCC"/>
        </a:solidFill>
        <a:latin typeface="Verdana" pitchFamily="-111" charset="0"/>
        <a:ea typeface="Arial" pitchFamily="-111" charset="-52"/>
        <a:cs typeface="Arial" pitchFamily="-111" charset="-52"/>
      </a:defRPr>
    </a:lvl1pPr>
    <a:lvl2pPr marL="457200" algn="ctr" rtl="0" eaLnBrk="0" fontAlgn="base" hangingPunct="0">
      <a:spcBef>
        <a:spcPct val="50000"/>
      </a:spcBef>
      <a:spcAft>
        <a:spcPct val="0"/>
      </a:spcAft>
      <a:defRPr sz="2400" kern="1200">
        <a:solidFill>
          <a:srgbClr val="CCCCCC"/>
        </a:solidFill>
        <a:latin typeface="Verdana" pitchFamily="-111" charset="0"/>
        <a:ea typeface="Arial" pitchFamily="-111" charset="-52"/>
        <a:cs typeface="Arial" pitchFamily="-111" charset="-52"/>
      </a:defRPr>
    </a:lvl2pPr>
    <a:lvl3pPr marL="914400" algn="ctr" rtl="0" eaLnBrk="0" fontAlgn="base" hangingPunct="0">
      <a:spcBef>
        <a:spcPct val="50000"/>
      </a:spcBef>
      <a:spcAft>
        <a:spcPct val="0"/>
      </a:spcAft>
      <a:defRPr sz="2400" kern="1200">
        <a:solidFill>
          <a:srgbClr val="CCCCCC"/>
        </a:solidFill>
        <a:latin typeface="Verdana" pitchFamily="-111" charset="0"/>
        <a:ea typeface="Arial" pitchFamily="-111" charset="-52"/>
        <a:cs typeface="Arial" pitchFamily="-111" charset="-52"/>
      </a:defRPr>
    </a:lvl3pPr>
    <a:lvl4pPr marL="1371600" algn="ctr" rtl="0" eaLnBrk="0" fontAlgn="base" hangingPunct="0">
      <a:spcBef>
        <a:spcPct val="50000"/>
      </a:spcBef>
      <a:spcAft>
        <a:spcPct val="0"/>
      </a:spcAft>
      <a:defRPr sz="2400" kern="1200">
        <a:solidFill>
          <a:srgbClr val="CCCCCC"/>
        </a:solidFill>
        <a:latin typeface="Verdana" pitchFamily="-111" charset="0"/>
        <a:ea typeface="Arial" pitchFamily="-111" charset="-52"/>
        <a:cs typeface="Arial" pitchFamily="-111" charset="-52"/>
      </a:defRPr>
    </a:lvl4pPr>
    <a:lvl5pPr marL="1828800" algn="ctr" rtl="0" eaLnBrk="0" fontAlgn="base" hangingPunct="0">
      <a:spcBef>
        <a:spcPct val="50000"/>
      </a:spcBef>
      <a:spcAft>
        <a:spcPct val="0"/>
      </a:spcAft>
      <a:defRPr sz="2400" kern="1200">
        <a:solidFill>
          <a:srgbClr val="CCCCCC"/>
        </a:solidFill>
        <a:latin typeface="Verdana" pitchFamily="-111" charset="0"/>
        <a:ea typeface="Arial" pitchFamily="-111" charset="-52"/>
        <a:cs typeface="Arial" pitchFamily="-111" charset="-52"/>
      </a:defRPr>
    </a:lvl5pPr>
    <a:lvl6pPr marL="2286000" algn="l" defTabSz="457200" rtl="0" eaLnBrk="1" latinLnBrk="0" hangingPunct="1">
      <a:defRPr sz="2400" kern="1200">
        <a:solidFill>
          <a:srgbClr val="CCCCCC"/>
        </a:solidFill>
        <a:latin typeface="Verdana" pitchFamily="-111" charset="0"/>
        <a:ea typeface="Arial" pitchFamily="-111" charset="-52"/>
        <a:cs typeface="Arial" pitchFamily="-111" charset="-52"/>
      </a:defRPr>
    </a:lvl6pPr>
    <a:lvl7pPr marL="2743200" algn="l" defTabSz="457200" rtl="0" eaLnBrk="1" latinLnBrk="0" hangingPunct="1">
      <a:defRPr sz="2400" kern="1200">
        <a:solidFill>
          <a:srgbClr val="CCCCCC"/>
        </a:solidFill>
        <a:latin typeface="Verdana" pitchFamily="-111" charset="0"/>
        <a:ea typeface="Arial" pitchFamily="-111" charset="-52"/>
        <a:cs typeface="Arial" pitchFamily="-111" charset="-52"/>
      </a:defRPr>
    </a:lvl7pPr>
    <a:lvl8pPr marL="3200400" algn="l" defTabSz="457200" rtl="0" eaLnBrk="1" latinLnBrk="0" hangingPunct="1">
      <a:defRPr sz="2400" kern="1200">
        <a:solidFill>
          <a:srgbClr val="CCCCCC"/>
        </a:solidFill>
        <a:latin typeface="Verdana" pitchFamily="-111" charset="0"/>
        <a:ea typeface="Arial" pitchFamily="-111" charset="-52"/>
        <a:cs typeface="Arial" pitchFamily="-111" charset="-52"/>
      </a:defRPr>
    </a:lvl8pPr>
    <a:lvl9pPr marL="3657600" algn="l" defTabSz="457200" rtl="0" eaLnBrk="1" latinLnBrk="0" hangingPunct="1">
      <a:defRPr sz="2400" kern="1200">
        <a:solidFill>
          <a:srgbClr val="CCCCCC"/>
        </a:solidFill>
        <a:latin typeface="Verdana" pitchFamily="-111" charset="0"/>
        <a:ea typeface="Arial" pitchFamily="-111" charset="-52"/>
        <a:cs typeface="Arial" pitchFamily="-111" charset="-52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orient="horz" pos="4181">
          <p15:clr>
            <a:srgbClr val="A4A3A4"/>
          </p15:clr>
        </p15:guide>
        <p15:guide id="3" orient="horz" pos="3959">
          <p15:clr>
            <a:srgbClr val="A4A3A4"/>
          </p15:clr>
        </p15:guide>
        <p15:guide id="4" pos="2879">
          <p15:clr>
            <a:srgbClr val="A4A3A4"/>
          </p15:clr>
        </p15:guide>
        <p15:guide id="5" pos="5508">
          <p15:clr>
            <a:srgbClr val="A4A3A4"/>
          </p15:clr>
        </p15:guide>
        <p15:guide id="6" pos="520">
          <p15:clr>
            <a:srgbClr val="A4A3A4"/>
          </p15:clr>
        </p15:guide>
        <p15:guide id="7" pos="25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7AB4"/>
    <a:srgbClr val="000000"/>
    <a:srgbClr val="0C2577"/>
    <a:srgbClr val="AC0003"/>
    <a:srgbClr val="4D4D4D"/>
    <a:srgbClr val="FA00A1"/>
    <a:srgbClr val="81017E"/>
    <a:srgbClr val="FFFCFF"/>
    <a:srgbClr val="FCFFFF"/>
    <a:srgbClr val="FFFF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50" autoAdjust="0"/>
    <p:restoredTop sz="82644" autoAdjust="0"/>
  </p:normalViewPr>
  <p:slideViewPr>
    <p:cSldViewPr snapToGrid="0" showGuides="1">
      <p:cViewPr varScale="1">
        <p:scale>
          <a:sx n="119" d="100"/>
          <a:sy n="119" d="100"/>
        </p:scale>
        <p:origin x="1360" y="184"/>
      </p:cViewPr>
      <p:guideLst>
        <p:guide orient="horz" pos="2159"/>
        <p:guide orient="horz" pos="4181"/>
        <p:guide orient="horz" pos="3959"/>
        <p:guide pos="2879"/>
        <p:guide pos="5508"/>
        <p:guide pos="520"/>
        <p:guide pos="2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57752"/>
          <c:y val="0.111674"/>
          <c:w val="0.83724799999999999"/>
          <c:h val="0.7168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Sent</c:v>
                </c:pt>
              </c:strCache>
            </c:strRef>
          </c:tx>
          <c:spPr>
            <a:solidFill>
              <a:srgbClr val="3B6C9D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242987</c:v>
                </c:pt>
                <c:pt idx="1">
                  <c:v>11511</c:v>
                </c:pt>
                <c:pt idx="2">
                  <c:v>4146</c:v>
                </c:pt>
                <c:pt idx="3">
                  <c:v>4199</c:v>
                </c:pt>
                <c:pt idx="4">
                  <c:v>3528</c:v>
                </c:pt>
                <c:pt idx="5">
                  <c:v>3367</c:v>
                </c:pt>
                <c:pt idx="6">
                  <c:v>3630</c:v>
                </c:pt>
                <c:pt idx="7">
                  <c:v>3438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D1-C740-B48A-2A83ED2246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Dirtied</c:v>
                </c:pt>
              </c:strCache>
            </c:strRef>
          </c:tx>
          <c:spPr>
            <a:solidFill>
              <a:srgbClr val="FF8647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21791</c:v>
                </c:pt>
                <c:pt idx="1">
                  <c:v>11474</c:v>
                </c:pt>
                <c:pt idx="2">
                  <c:v>10275</c:v>
                </c:pt>
                <c:pt idx="3">
                  <c:v>10152</c:v>
                </c:pt>
                <c:pt idx="4">
                  <c:v>10308</c:v>
                </c:pt>
                <c:pt idx="5">
                  <c:v>9916</c:v>
                </c:pt>
                <c:pt idx="6">
                  <c:v>11299</c:v>
                </c:pt>
                <c:pt idx="7">
                  <c:v>11023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D1-C740-B48A-2A83ED2246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1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600" b="1" i="0" u="none" strike="noStrike">
                    <a:solidFill>
                      <a:srgbClr val="000000"/>
                    </a:solidFill>
                    <a:latin typeface="Helvetica Neue"/>
                  </a:defRPr>
                </a:pPr>
                <a:r>
                  <a:rPr lang="en-US" sz="1600" b="1" i="0" u="none" strike="noStrike">
                    <a:solidFill>
                      <a:srgbClr val="000000"/>
                    </a:solidFill>
                    <a:latin typeface="Helvetica Neue"/>
                  </a:rPr>
                  <a:t>Iteration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14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15000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sz="1600" b="1" i="0" u="none" strike="noStrike">
                    <a:solidFill>
                      <a:srgbClr val="000000"/>
                    </a:solidFill>
                    <a:latin typeface="Helvetica Neue"/>
                  </a:defRPr>
                </a:pPr>
                <a:r>
                  <a:rPr lang="en-US" sz="1200" b="1" i="0" u="none" strike="noStrike" dirty="0">
                    <a:solidFill>
                      <a:srgbClr val="000000"/>
                    </a:solidFill>
                    <a:latin typeface="Helvetica Neue"/>
                  </a:rPr>
                  <a:t>Number of Pages</a:t>
                </a:r>
              </a:p>
            </c:rich>
          </c:tx>
          <c:layout>
            <c:manualLayout>
              <c:xMode val="edge"/>
              <c:yMode val="edge"/>
              <c:x val="5.3390507420019336E-3"/>
              <c:y val="0.13882712144758871"/>
            </c:manualLayout>
          </c:layout>
          <c:overlay val="1"/>
        </c:title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14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crossBetween val="between"/>
        <c:majorUnit val="3750"/>
        <c:minorUnit val="1875"/>
      </c:valAx>
      <c:spPr>
        <a:solidFill>
          <a:srgbClr val="FFFFFF"/>
        </a:solidFill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210816"/>
          <c:y val="0.101107"/>
          <c:w val="0.78662799999999999"/>
          <c:h val="9.8517999999999994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1" i="0" u="none" strike="noStrike">
              <a:solidFill>
                <a:srgbClr val="000000"/>
              </a:solidFill>
              <a:latin typeface="Helvetica Neue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0926"/>
          <c:y val="8.33985E-2"/>
          <c:w val="0.77567299999999995"/>
          <c:h val="0.638472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Default</c:v>
                </c:pt>
              </c:strCache>
            </c:strRef>
          </c:tx>
          <c:spPr>
            <a:solidFill>
              <a:srgbClr val="FF6A00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Sheet1!$B$1:$D$1</c:f>
              <c:strCache>
                <c:ptCount val="3"/>
                <c:pt idx="0">
                  <c:v>Memory </c:v>
                </c:pt>
                <c:pt idx="1">
                  <c:v>Disk</c:v>
                </c:pt>
                <c:pt idx="2">
                  <c:v>Total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13.308</c:v>
                </c:pt>
                <c:pt idx="1">
                  <c:v>24.1</c:v>
                </c:pt>
                <c:pt idx="2">
                  <c:v>37.4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73-484B-B17E-5EC75BA1B75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Optimized</c:v>
                </c:pt>
              </c:strCache>
            </c:strRef>
          </c:tx>
          <c:spPr>
            <a:solidFill>
              <a:srgbClr val="008EEA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Sheet1!$B$1:$D$1</c:f>
              <c:strCache>
                <c:ptCount val="3"/>
                <c:pt idx="0">
                  <c:v>Memory </c:v>
                </c:pt>
                <c:pt idx="1">
                  <c:v>Disk</c:v>
                </c:pt>
                <c:pt idx="2">
                  <c:v>Total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  <c:pt idx="0">
                  <c:v>4.1550000000000002</c:v>
                </c:pt>
                <c:pt idx="1">
                  <c:v>14.4</c:v>
                </c:pt>
                <c:pt idx="2">
                  <c:v>18.5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73-484B-B17E-5EC75BA1B7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3200" b="0" i="0" u="none" strike="noStrike">
                <a:solidFill>
                  <a:srgbClr val="232323"/>
                </a:solidFill>
                <a:latin typeface="Gill Sans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sz="3200" b="0" i="0" u="none" strike="noStrike">
                    <a:solidFill>
                      <a:srgbClr val="232323"/>
                    </a:solidFill>
                    <a:latin typeface="Gill Sans"/>
                  </a:defRPr>
                </a:pPr>
                <a:r>
                  <a:rPr lang="en-US" sz="2000" b="0" i="0" u="none" strike="noStrike" dirty="0">
                    <a:solidFill>
                      <a:srgbClr val="232323"/>
                    </a:solidFill>
                    <a:latin typeface="Gill Sans"/>
                  </a:rPr>
                  <a:t>GB Transferred</a:t>
                </a:r>
              </a:p>
            </c:rich>
          </c:tx>
          <c:overlay val="1"/>
        </c:title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2600" b="0" i="0" u="none" strike="noStrike">
                <a:solidFill>
                  <a:srgbClr val="232323"/>
                </a:solidFill>
                <a:latin typeface="Gill Sans"/>
              </a:defRPr>
            </a:pPr>
            <a:endParaRPr lang="en-US"/>
          </a:p>
        </c:txPr>
        <c:crossAx val="2094734552"/>
        <c:crosses val="autoZero"/>
        <c:crossBetween val="between"/>
        <c:majorUnit val="6.6666699999999999"/>
        <c:minorUnit val="3.3333300000000001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39741100000000001"/>
          <c:y val="0.84850199999999998"/>
          <c:w val="0.60258900000000004"/>
          <c:h val="0.15149799999999999"/>
        </c:manualLayout>
      </c:layout>
      <c:overlay val="1"/>
      <c:spPr>
        <a:noFill/>
        <a:ln w="12700" cap="flat">
          <a:noFill/>
          <a:round/>
        </a:ln>
        <a:effectLst/>
      </c:spPr>
      <c:txPr>
        <a:bodyPr rot="0"/>
        <a:lstStyle/>
        <a:p>
          <a:pPr>
            <a:defRPr sz="2600" b="0" i="0" u="none" strike="noStrike">
              <a:solidFill>
                <a:srgbClr val="232323"/>
              </a:solidFill>
              <a:latin typeface="Gill Sans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D6E04C-261E-9A4B-87FA-9E0A5C547B79}" type="datetimeFigureOut">
              <a:rPr lang="en-US" smtClean="0"/>
              <a:pPr/>
              <a:t>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196CD-80A8-F445-AD79-F2399E701B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pitchFamily="-111" charset="-52"/>
              </a:defRPr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pitchFamily="-111" charset="-52"/>
              </a:defRPr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pitchFamily="-111" charset="-52"/>
              </a:defRPr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pitchFamily="-111" charset="-52"/>
              </a:defRPr>
            </a:lvl1pPr>
          </a:lstStyle>
          <a:p>
            <a:fld id="{A3AD1AF0-EF42-6547-B48F-38F182FBCF9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-52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-52"/>
        <a:ea typeface="ＭＳ Ｐゴシック" pitchFamily="-111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-52"/>
        <a:ea typeface="ＭＳ Ｐゴシック" pitchFamily="-111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-52"/>
        <a:ea typeface="ＭＳ Ｐゴシック" pitchFamily="-111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-52"/>
        <a:ea typeface="ＭＳ Ｐゴシック" pitchFamily="-11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C92AD5E-7123-463A-BC49-7A76D2745459}" type="slidenum">
              <a:rPr lang="en-US" smtClean="0">
                <a:latin typeface="Arial" pitchFamily="34" charset="0"/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2050" y="711200"/>
            <a:ext cx="4557713" cy="34178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BDFC348E-AB86-488C-9F03-2A5D9FE34A01}" type="slidenum">
              <a:rPr lang="en-GB"/>
              <a:pPr/>
              <a:t>3</a:t>
            </a:fld>
            <a:endParaRPr lang="en-GB"/>
          </a:p>
        </p:txBody>
      </p:sp>
      <p:sp>
        <p:nvSpPr>
          <p:cNvPr id="45059" name="Text Box 1"/>
          <p:cNvSpPr txBox="1">
            <a:spLocks noChangeArrowheads="1"/>
          </p:cNvSpPr>
          <p:nvPr/>
        </p:nvSpPr>
        <p:spPr bwMode="auto">
          <a:xfrm>
            <a:off x="1146175" y="685800"/>
            <a:ext cx="4548188" cy="34115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1432" tIns="45716" rIns="91432" bIns="45716" anchor="ctr"/>
          <a:lstStyle/>
          <a:p>
            <a:endParaRPr lang="en-US"/>
          </a:p>
        </p:txBody>
      </p:sp>
      <p:sp>
        <p:nvSpPr>
          <p:cNvPr id="45060" name="Text Box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8938" cy="4097338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EE9CF1CC-5E03-4919-9240-0DBF30F2B285}" type="slidenum">
              <a:rPr lang="en-GB"/>
              <a:pPr/>
              <a:t>5</a:t>
            </a:fld>
            <a:endParaRPr lang="en-GB"/>
          </a:p>
        </p:txBody>
      </p:sp>
      <p:sp>
        <p:nvSpPr>
          <p:cNvPr id="54275" name="Text Box 1"/>
          <p:cNvSpPr txBox="1">
            <a:spLocks noChangeArrowheads="1"/>
          </p:cNvSpPr>
          <p:nvPr/>
        </p:nvSpPr>
        <p:spPr bwMode="auto">
          <a:xfrm>
            <a:off x="1146175" y="685800"/>
            <a:ext cx="4548188" cy="34115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76" name="Text Box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8938" cy="4106863"/>
          </a:xfrm>
          <a:solidFill>
            <a:srgbClr val="FFFFFF"/>
          </a:solidFill>
          <a:ln w="9360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>
              <a:lnSpc>
                <a:spcPct val="95000"/>
              </a:lnSpc>
              <a:spcBef>
                <a:spcPts val="350"/>
              </a:spcBef>
              <a:spcAft>
                <a:spcPts val="350"/>
              </a:spcAft>
              <a:tabLst>
                <a:tab pos="228600" algn="l"/>
                <a:tab pos="344488" algn="l"/>
                <a:tab pos="801688" algn="l"/>
                <a:tab pos="1258888" algn="l"/>
                <a:tab pos="1716088" algn="l"/>
                <a:tab pos="2173288" algn="l"/>
                <a:tab pos="2630488" algn="l"/>
                <a:tab pos="3087688" algn="l"/>
                <a:tab pos="3544888" algn="l"/>
                <a:tab pos="4002088" algn="l"/>
                <a:tab pos="4459288" algn="l"/>
                <a:tab pos="4916488" algn="l"/>
                <a:tab pos="5373688" algn="l"/>
                <a:tab pos="5830888" algn="l"/>
                <a:tab pos="6288088" algn="l"/>
                <a:tab pos="6745288" algn="l"/>
                <a:tab pos="7202488" algn="l"/>
                <a:tab pos="7659688" algn="l"/>
                <a:tab pos="8116888" algn="l"/>
                <a:tab pos="8574088" algn="l"/>
                <a:tab pos="9031288" algn="l"/>
              </a:tabLst>
            </a:pPr>
            <a:r>
              <a:rPr lang="en-US" sz="1800" dirty="0">
                <a:latin typeface="Verdana" charset="0"/>
              </a:rPr>
              <a:t>Existing cloud systems not enterprise ready:</a:t>
            </a:r>
          </a:p>
          <a:p>
            <a:pPr marL="546100" lvl="3">
              <a:lnSpc>
                <a:spcPct val="95000"/>
              </a:lnSpc>
              <a:spcAft>
                <a:spcPts val="300"/>
              </a:spcAft>
              <a:buClr>
                <a:srgbClr val="4D4D4D"/>
              </a:buClr>
              <a:buSzPct val="80000"/>
              <a:buFont typeface="Arial" charset="0"/>
              <a:buChar char="•"/>
              <a:tabLst>
                <a:tab pos="228600" algn="l"/>
                <a:tab pos="344488" algn="l"/>
                <a:tab pos="801688" algn="l"/>
                <a:tab pos="1258888" algn="l"/>
                <a:tab pos="1716088" algn="l"/>
                <a:tab pos="2173288" algn="l"/>
                <a:tab pos="2630488" algn="l"/>
                <a:tab pos="3087688" algn="l"/>
                <a:tab pos="3544888" algn="l"/>
                <a:tab pos="4002088" algn="l"/>
                <a:tab pos="4459288" algn="l"/>
                <a:tab pos="4916488" algn="l"/>
                <a:tab pos="5373688" algn="l"/>
                <a:tab pos="5830888" algn="l"/>
                <a:tab pos="6288088" algn="l"/>
                <a:tab pos="6745288" algn="l"/>
                <a:tab pos="7202488" algn="l"/>
                <a:tab pos="7659688" algn="l"/>
                <a:tab pos="8116888" algn="l"/>
                <a:tab pos="8574088" algn="l"/>
                <a:tab pos="9031288" algn="l"/>
              </a:tabLst>
            </a:pPr>
            <a:r>
              <a:rPr lang="en-US" sz="1400" dirty="0">
                <a:latin typeface="Verdana" charset="0"/>
              </a:rPr>
              <a:t>No control over network management (no choice of IP </a:t>
            </a:r>
            <a:r>
              <a:rPr lang="en-US" sz="1400" dirty="0" err="1">
                <a:latin typeface="Verdana" charset="0"/>
              </a:rPr>
              <a:t>addr</a:t>
            </a:r>
            <a:r>
              <a:rPr lang="en-US" sz="1400" dirty="0">
                <a:latin typeface="Verdana" charset="0"/>
              </a:rPr>
              <a:t>, no integration with own VPN)</a:t>
            </a:r>
          </a:p>
          <a:p>
            <a:pPr marL="546100" lvl="3">
              <a:lnSpc>
                <a:spcPct val="95000"/>
              </a:lnSpc>
              <a:spcAft>
                <a:spcPts val="300"/>
              </a:spcAft>
              <a:buClr>
                <a:srgbClr val="4D4D4D"/>
              </a:buClr>
              <a:buSzPct val="80000"/>
              <a:buFont typeface="Arial" charset="0"/>
              <a:buChar char="•"/>
              <a:tabLst>
                <a:tab pos="228600" algn="l"/>
                <a:tab pos="344488" algn="l"/>
                <a:tab pos="801688" algn="l"/>
                <a:tab pos="1258888" algn="l"/>
                <a:tab pos="1716088" algn="l"/>
                <a:tab pos="2173288" algn="l"/>
                <a:tab pos="2630488" algn="l"/>
                <a:tab pos="3087688" algn="l"/>
                <a:tab pos="3544888" algn="l"/>
                <a:tab pos="4002088" algn="l"/>
                <a:tab pos="4459288" algn="l"/>
                <a:tab pos="4916488" algn="l"/>
                <a:tab pos="5373688" algn="l"/>
                <a:tab pos="5830888" algn="l"/>
                <a:tab pos="6288088" algn="l"/>
                <a:tab pos="6745288" algn="l"/>
                <a:tab pos="7202488" algn="l"/>
                <a:tab pos="7659688" algn="l"/>
                <a:tab pos="8116888" algn="l"/>
                <a:tab pos="8574088" algn="l"/>
                <a:tab pos="9031288" algn="l"/>
              </a:tabLst>
            </a:pPr>
            <a:r>
              <a:rPr lang="en-US" sz="1400" dirty="0">
                <a:latin typeface="Verdana" charset="0"/>
              </a:rPr>
              <a:t>No control of Network Resources (bandwidth, traffic isolation, etc)</a:t>
            </a:r>
          </a:p>
          <a:p>
            <a:pPr marL="546100" lvl="3">
              <a:lnSpc>
                <a:spcPct val="95000"/>
              </a:lnSpc>
              <a:spcAft>
                <a:spcPts val="300"/>
              </a:spcAft>
              <a:buClr>
                <a:srgbClr val="4D4D4D"/>
              </a:buClr>
              <a:buSzPct val="80000"/>
              <a:buFont typeface="Arial" charset="0"/>
              <a:buChar char="•"/>
              <a:tabLst>
                <a:tab pos="228600" algn="l"/>
                <a:tab pos="344488" algn="l"/>
                <a:tab pos="801688" algn="l"/>
                <a:tab pos="1258888" algn="l"/>
                <a:tab pos="1716088" algn="l"/>
                <a:tab pos="2173288" algn="l"/>
                <a:tab pos="2630488" algn="l"/>
                <a:tab pos="3087688" algn="l"/>
                <a:tab pos="3544888" algn="l"/>
                <a:tab pos="4002088" algn="l"/>
                <a:tab pos="4459288" algn="l"/>
                <a:tab pos="4916488" algn="l"/>
                <a:tab pos="5373688" algn="l"/>
                <a:tab pos="5830888" algn="l"/>
                <a:tab pos="6288088" algn="l"/>
                <a:tab pos="6745288" algn="l"/>
                <a:tab pos="7202488" algn="l"/>
                <a:tab pos="7659688" algn="l"/>
                <a:tab pos="8116888" algn="l"/>
                <a:tab pos="8574088" algn="l"/>
                <a:tab pos="9031288" algn="l"/>
              </a:tabLst>
            </a:pPr>
            <a:r>
              <a:rPr lang="en-US" sz="1400" dirty="0">
                <a:latin typeface="Verdana" charset="0"/>
              </a:rPr>
              <a:t>Lack of network security and isolation</a:t>
            </a:r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350"/>
              </a:spcAft>
              <a:buClrTx/>
              <a:buSzTx/>
              <a:buFontTx/>
              <a:buNone/>
              <a:tabLst>
                <a:tab pos="228600" algn="l"/>
                <a:tab pos="344488" algn="l"/>
                <a:tab pos="801688" algn="l"/>
                <a:tab pos="1258888" algn="l"/>
                <a:tab pos="1716088" algn="l"/>
                <a:tab pos="2173288" algn="l"/>
                <a:tab pos="2630488" algn="l"/>
                <a:tab pos="3087688" algn="l"/>
                <a:tab pos="3544888" algn="l"/>
                <a:tab pos="4002088" algn="l"/>
                <a:tab pos="4459288" algn="l"/>
                <a:tab pos="4916488" algn="l"/>
                <a:tab pos="5373688" algn="l"/>
                <a:tab pos="5830888" algn="l"/>
                <a:tab pos="6288088" algn="l"/>
                <a:tab pos="6745288" algn="l"/>
                <a:tab pos="7202488" algn="l"/>
                <a:tab pos="7659688" algn="l"/>
                <a:tab pos="8116888" algn="l"/>
                <a:tab pos="8574088" algn="l"/>
                <a:tab pos="9031288" algn="l"/>
              </a:tabLst>
            </a:pPr>
            <a:r>
              <a:rPr lang="en-US" sz="1600" dirty="0" err="1">
                <a:latin typeface="Verdana" charset="0"/>
              </a:rPr>
              <a:t>CloudNet</a:t>
            </a:r>
            <a:r>
              <a:rPr lang="en-US" sz="1600" dirty="0">
                <a:latin typeface="Verdana" charset="0"/>
              </a:rPr>
              <a:t>: Enterprise-Ready Virtual Private Clouds</a:t>
            </a:r>
            <a:r>
              <a:rPr lang="en-US" dirty="0">
                <a:latin typeface="Verdana" charset="0"/>
              </a:rPr>
              <a:t> </a:t>
            </a:r>
          </a:p>
          <a:p>
            <a:pPr marL="546100" lvl="3">
              <a:lnSpc>
                <a:spcPct val="95000"/>
              </a:lnSpc>
              <a:spcAft>
                <a:spcPts val="300"/>
              </a:spcAft>
              <a:buClr>
                <a:srgbClr val="4D4D4D"/>
              </a:buClr>
              <a:buSzPct val="80000"/>
              <a:buFont typeface="Arial" charset="0"/>
              <a:buChar char="•"/>
              <a:tabLst>
                <a:tab pos="228600" algn="l"/>
                <a:tab pos="344488" algn="l"/>
                <a:tab pos="801688" algn="l"/>
                <a:tab pos="1258888" algn="l"/>
                <a:tab pos="1716088" algn="l"/>
                <a:tab pos="2173288" algn="l"/>
                <a:tab pos="2630488" algn="l"/>
                <a:tab pos="3087688" algn="l"/>
                <a:tab pos="3544888" algn="l"/>
                <a:tab pos="4002088" algn="l"/>
                <a:tab pos="4459288" algn="l"/>
                <a:tab pos="4916488" algn="l"/>
                <a:tab pos="5373688" algn="l"/>
                <a:tab pos="5830888" algn="l"/>
                <a:tab pos="6288088" algn="l"/>
                <a:tab pos="6745288" algn="l"/>
                <a:tab pos="7202488" algn="l"/>
                <a:tab pos="7659688" algn="l"/>
                <a:tab pos="8116888" algn="l"/>
                <a:tab pos="8574088" algn="l"/>
                <a:tab pos="9031288" algn="l"/>
              </a:tabLst>
            </a:pPr>
            <a:r>
              <a:rPr lang="en-US" sz="1400" dirty="0">
                <a:latin typeface="Verdana" charset="0"/>
              </a:rPr>
              <a:t>Use VPNs to separate customer resources</a:t>
            </a:r>
          </a:p>
          <a:p>
            <a:pPr marL="546100" lvl="3">
              <a:lnSpc>
                <a:spcPct val="95000"/>
              </a:lnSpc>
              <a:spcAft>
                <a:spcPts val="300"/>
              </a:spcAft>
              <a:buClr>
                <a:srgbClr val="4D4D4D"/>
              </a:buClr>
              <a:buSzPct val="80000"/>
              <a:buFont typeface="Arial" charset="0"/>
              <a:buChar char="•"/>
              <a:tabLst>
                <a:tab pos="228600" algn="l"/>
                <a:tab pos="344488" algn="l"/>
                <a:tab pos="801688" algn="l"/>
                <a:tab pos="1258888" algn="l"/>
                <a:tab pos="1716088" algn="l"/>
                <a:tab pos="2173288" algn="l"/>
                <a:tab pos="2630488" algn="l"/>
                <a:tab pos="3087688" algn="l"/>
                <a:tab pos="3544888" algn="l"/>
                <a:tab pos="4002088" algn="l"/>
                <a:tab pos="4459288" algn="l"/>
                <a:tab pos="4916488" algn="l"/>
                <a:tab pos="5373688" algn="l"/>
                <a:tab pos="5830888" algn="l"/>
                <a:tab pos="6288088" algn="l"/>
                <a:tab pos="6745288" algn="l"/>
                <a:tab pos="7202488" algn="l"/>
                <a:tab pos="7659688" algn="l"/>
                <a:tab pos="8116888" algn="l"/>
                <a:tab pos="8574088" algn="l"/>
                <a:tab pos="9031288" algn="l"/>
              </a:tabLst>
            </a:pPr>
            <a:r>
              <a:rPr lang="en-US" sz="1400" dirty="0">
                <a:latin typeface="Verdana" charset="0"/>
              </a:rPr>
              <a:t>Customer’s cloud resources are only reachable from other VPN end points</a:t>
            </a:r>
          </a:p>
          <a:p>
            <a:pPr marL="546100" lvl="3">
              <a:lnSpc>
                <a:spcPct val="95000"/>
              </a:lnSpc>
              <a:spcAft>
                <a:spcPts val="300"/>
              </a:spcAft>
              <a:buClr>
                <a:srgbClr val="4D4D4D"/>
              </a:buClr>
              <a:buSzPct val="80000"/>
              <a:buFont typeface="Arial" charset="0"/>
              <a:buChar char="•"/>
              <a:tabLst>
                <a:tab pos="228600" algn="l"/>
                <a:tab pos="344488" algn="l"/>
                <a:tab pos="801688" algn="l"/>
                <a:tab pos="1258888" algn="l"/>
                <a:tab pos="1716088" algn="l"/>
                <a:tab pos="2173288" algn="l"/>
                <a:tab pos="2630488" algn="l"/>
                <a:tab pos="3087688" algn="l"/>
                <a:tab pos="3544888" algn="l"/>
                <a:tab pos="4002088" algn="l"/>
                <a:tab pos="4459288" algn="l"/>
                <a:tab pos="4916488" algn="l"/>
                <a:tab pos="5373688" algn="l"/>
                <a:tab pos="5830888" algn="l"/>
                <a:tab pos="6288088" algn="l"/>
                <a:tab pos="6745288" algn="l"/>
                <a:tab pos="7202488" algn="l"/>
                <a:tab pos="7659688" algn="l"/>
                <a:tab pos="8116888" algn="l"/>
                <a:tab pos="8574088" algn="l"/>
                <a:tab pos="9031288" algn="l"/>
              </a:tabLst>
            </a:pPr>
            <a:r>
              <a:rPr lang="en-US" sz="1400" dirty="0">
                <a:latin typeface="Verdana" charset="0"/>
              </a:rPr>
              <a:t>More flexible control of how IP addresses are assigned</a:t>
            </a:r>
          </a:p>
          <a:p>
            <a:pPr marL="546100" lvl="3">
              <a:lnSpc>
                <a:spcPct val="95000"/>
              </a:lnSpc>
              <a:spcAft>
                <a:spcPts val="300"/>
              </a:spcAft>
              <a:buClr>
                <a:srgbClr val="4D4D4D"/>
              </a:buClr>
              <a:buSzPct val="80000"/>
              <a:buFont typeface="Arial" charset="0"/>
              <a:buChar char="•"/>
              <a:tabLst>
                <a:tab pos="228600" algn="l"/>
                <a:tab pos="344488" algn="l"/>
                <a:tab pos="801688" algn="l"/>
                <a:tab pos="1258888" algn="l"/>
                <a:tab pos="1716088" algn="l"/>
                <a:tab pos="2173288" algn="l"/>
                <a:tab pos="2630488" algn="l"/>
                <a:tab pos="3087688" algn="l"/>
                <a:tab pos="3544888" algn="l"/>
                <a:tab pos="4002088" algn="l"/>
                <a:tab pos="4459288" algn="l"/>
                <a:tab pos="4916488" algn="l"/>
                <a:tab pos="5373688" algn="l"/>
                <a:tab pos="5830888" algn="l"/>
                <a:tab pos="6288088" algn="l"/>
                <a:tab pos="6745288" algn="l"/>
                <a:tab pos="7202488" algn="l"/>
                <a:tab pos="7659688" algn="l"/>
                <a:tab pos="8116888" algn="l"/>
                <a:tab pos="8574088" algn="l"/>
                <a:tab pos="9031288" algn="l"/>
              </a:tabLst>
            </a:pPr>
            <a:r>
              <a:rPr lang="en-US" sz="1400" dirty="0">
                <a:latin typeface="Verdana" charset="0"/>
              </a:rPr>
              <a:t>Physical network is transparent to customer</a:t>
            </a:r>
          </a:p>
          <a:p>
            <a:pPr>
              <a:tabLst>
                <a:tab pos="228600" algn="l"/>
                <a:tab pos="344488" algn="l"/>
                <a:tab pos="801688" algn="l"/>
                <a:tab pos="1258888" algn="l"/>
                <a:tab pos="1716088" algn="l"/>
                <a:tab pos="2173288" algn="l"/>
                <a:tab pos="2630488" algn="l"/>
                <a:tab pos="3087688" algn="l"/>
                <a:tab pos="3544888" algn="l"/>
                <a:tab pos="4002088" algn="l"/>
                <a:tab pos="4459288" algn="l"/>
                <a:tab pos="4916488" algn="l"/>
                <a:tab pos="5373688" algn="l"/>
                <a:tab pos="5830888" algn="l"/>
                <a:tab pos="6288088" algn="l"/>
                <a:tab pos="6745288" algn="l"/>
                <a:tab pos="7202488" algn="l"/>
                <a:tab pos="7659688" algn="l"/>
                <a:tab pos="8116888" algn="l"/>
                <a:tab pos="8574088" algn="l"/>
                <a:tab pos="9031288" algn="l"/>
              </a:tabLst>
            </a:pP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50DC0B-A61D-42D0-B172-987121BAB59B}" type="slidenum">
              <a:rPr lang="en-US" smtClean="0">
                <a:ea typeface="ＭＳ Ｐゴシック" pitchFamily="34" charset="-128"/>
              </a:rPr>
              <a:pPr/>
              <a:t>6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14A48E-D259-419E-84B8-76A23B9B50CC}" type="slidenum">
              <a:rPr lang="en-US" smtClean="0">
                <a:ea typeface="ＭＳ Ｐゴシック" pitchFamily="34" charset="-128"/>
              </a:rPr>
              <a:pPr/>
              <a:t>7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508871-1D6B-4BD5-B0DB-2B4AC3724C03}" type="slidenum">
              <a:rPr lang="en-US" smtClean="0">
                <a:ea typeface="ＭＳ Ｐゴシック" pitchFamily="34" charset="-128"/>
              </a:rPr>
              <a:pPr/>
              <a:t>8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944D4A26-7F48-47E9-B5FE-7846819949FD}" type="slidenum">
              <a:rPr lang="en-US"/>
              <a:pPr/>
              <a:t>9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46600" cy="3409950"/>
          </a:xfrm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" name="Shape 10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57799" marR="57799" defTabSz="1295400">
              <a:spcBef>
                <a:spcPts val="500"/>
              </a:spcBef>
              <a:buClr>
                <a:srgbClr val="000000"/>
              </a:buClr>
              <a:buFont typeface="Arial"/>
              <a:defRPr sz="18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ADD MIGRATION ANIMATION</a:t>
            </a:r>
          </a:p>
        </p:txBody>
      </p:sp>
    </p:spTree>
    <p:extLst>
      <p:ext uri="{BB962C8B-B14F-4D97-AF65-F5344CB8AC3E}">
        <p14:creationId xmlns:p14="http://schemas.microsoft.com/office/powerpoint/2010/main" val="3971505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SHORTEN talk, mention network stuff and migration</a:t>
            </a:r>
          </a:p>
        </p:txBody>
      </p:sp>
    </p:spTree>
    <p:extLst>
      <p:ext uri="{BB962C8B-B14F-4D97-AF65-F5344CB8AC3E}">
        <p14:creationId xmlns:p14="http://schemas.microsoft.com/office/powerpoint/2010/main" val="7483108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CEA09B53-67B0-4923-A2A7-2E5FE62894D8}" type="slidenum">
              <a:rPr lang="en-US"/>
              <a:pPr/>
              <a:t>13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46600" cy="3409950"/>
          </a:xfrm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8B943249-E770-42F1-809B-B6993EF7E300}" type="slidenum">
              <a:rPr lang="en-US"/>
              <a:pPr/>
              <a:t>14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46600" cy="3409950"/>
          </a:xfrm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6500B6BD-10F6-4C76-9D73-4CA8D6154BA3}" type="slidenum">
              <a:rPr lang="en-US"/>
              <a:pPr/>
              <a:t>16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46600" cy="3409950"/>
          </a:xfrm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Here I explain the basic components of cloudnet and give some more details about what support you would need to add to a system like amazon ec2 to make this work (interface with ISP to control VPN setup at PE routers / connection to VLANs within cloud site) 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9" name="Shape 23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why is this hard or different?</a:t>
            </a:r>
          </a:p>
        </p:txBody>
      </p:sp>
    </p:spTree>
    <p:extLst>
      <p:ext uri="{BB962C8B-B14F-4D97-AF65-F5344CB8AC3E}">
        <p14:creationId xmlns:p14="http://schemas.microsoft.com/office/powerpoint/2010/main" val="6778883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87AB643B-1834-4F75-963C-3C9E128CE6DD}" type="slidenum">
              <a:rPr lang="en-US"/>
              <a:pPr/>
              <a:t>18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solidFill>
            <a:srgbClr val="FFFFFF"/>
          </a:solidFill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738118-BC72-4153-9532-EEEDA40D1B3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1D2D54-6B2C-4D5F-823B-BBDC34FC331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-111" charset="-52"/>
                <a:cs typeface="Arial" pitchFamily="-111" charset="-5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-111" charset="-52"/>
              <a:cs typeface="Arial" pitchFamily="-111" charset="-52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pitchFamily="12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62718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1B6384-37F5-4E09-A50C-9A185612372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-111" charset="-52"/>
                <a:cs typeface="Arial" pitchFamily="-111" charset="-5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-111" charset="-52"/>
              <a:cs typeface="Arial" pitchFamily="-111" charset="-52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pitchFamily="12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02634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86AE75-0361-4096-9BE2-9FAC4F77E78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0BE7D6-4D58-493C-809A-B0B2F8892552}" type="slidenum">
              <a:rPr lang="en-US" smtClean="0">
                <a:ea typeface="ＭＳ Ｐゴシック" pitchFamily="34" charset="-128"/>
              </a:rPr>
              <a:pPr>
                <a:defRPr/>
              </a:pPr>
              <a:t>24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0" name="Shape 30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647700"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clarify async/sync </a:t>
            </a:r>
          </a:p>
        </p:txBody>
      </p:sp>
    </p:spTree>
    <p:extLst>
      <p:ext uri="{BB962C8B-B14F-4D97-AF65-F5344CB8AC3E}">
        <p14:creationId xmlns:p14="http://schemas.microsoft.com/office/powerpoint/2010/main" val="27640457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32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0" name="Shape 33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64770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mention applies to disk as well</a:t>
            </a:r>
          </a:p>
          <a:p>
            <a:pPr defTabSz="64770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Find numbers of disk redundancy</a:t>
            </a:r>
          </a:p>
        </p:txBody>
      </p:sp>
    </p:spTree>
    <p:extLst>
      <p:ext uri="{BB962C8B-B14F-4D97-AF65-F5344CB8AC3E}">
        <p14:creationId xmlns:p14="http://schemas.microsoft.com/office/powerpoint/2010/main" val="3073673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orMiguel 2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87"/>
            <a:ext cx="9144001" cy="6858000"/>
          </a:xfrm>
          <a:prstGeom prst="rect">
            <a:avLst/>
          </a:prstGeom>
        </p:spPr>
      </p:pic>
      <p:pic>
        <p:nvPicPr>
          <p:cNvPr id="17" name="Picture 16" descr="att_globe_rgb_grd_pos_2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gray">
          <a:xfrm>
            <a:off x="8077200" y="381000"/>
            <a:ext cx="548640" cy="548640"/>
          </a:xfrm>
          <a:prstGeom prst="rect">
            <a:avLst/>
          </a:prstGeom>
        </p:spPr>
      </p:pic>
      <p:sp>
        <p:nvSpPr>
          <p:cNvPr id="12" name="Text Placeholder 21"/>
          <p:cNvSpPr>
            <a:spLocks noGrp="1"/>
          </p:cNvSpPr>
          <p:nvPr>
            <p:ph type="body" sz="quarter" idx="10"/>
          </p:nvPr>
        </p:nvSpPr>
        <p:spPr bwMode="gray">
          <a:xfrm>
            <a:off x="403225" y="1905000"/>
            <a:ext cx="6388100" cy="685800"/>
          </a:xfrm>
          <a:prstGeom prst="rect">
            <a:avLst/>
          </a:prstGeom>
        </p:spPr>
        <p:txBody>
          <a:bodyPr vert="horz" lIns="0" tIns="0" rIns="0" bIns="0"/>
          <a:lstStyle>
            <a:lvl1pPr>
              <a:defRPr sz="2200">
                <a:solidFill>
                  <a:schemeClr val="bg2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 bwMode="gray">
          <a:xfrm>
            <a:off x="403225" y="274638"/>
            <a:ext cx="6248400" cy="1143000"/>
          </a:xfrm>
          <a:prstGeom prst="rect">
            <a:avLst/>
          </a:prstGeom>
        </p:spPr>
        <p:txBody>
          <a:bodyPr vert="horz"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398463" y="6361987"/>
            <a:ext cx="5495925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600" dirty="0">
                <a:solidFill>
                  <a:schemeClr val="accent1"/>
                </a:solidFill>
              </a:rPr>
              <a:t>© 2010 AT&amp;T Intellectual Property. All rights reserved. AT&amp;T, the AT&amp;T</a:t>
            </a:r>
            <a:r>
              <a:rPr lang="en-US" sz="600" baseline="0" dirty="0">
                <a:solidFill>
                  <a:schemeClr val="accent1"/>
                </a:solidFill>
              </a:rPr>
              <a:t> </a:t>
            </a:r>
            <a:r>
              <a:rPr lang="en-US" sz="600" dirty="0">
                <a:solidFill>
                  <a:schemeClr val="accent1"/>
                </a:solidFill>
              </a:rPr>
              <a:t>logo and all other AT&amp;T marks contained herein are trademarks of AT&amp;T</a:t>
            </a:r>
            <a:r>
              <a:rPr lang="en-US" sz="600" baseline="0" dirty="0">
                <a:solidFill>
                  <a:schemeClr val="accent1"/>
                </a:solidFill>
              </a:rPr>
              <a:t> </a:t>
            </a:r>
            <a:r>
              <a:rPr lang="en-US" sz="600" dirty="0">
                <a:solidFill>
                  <a:schemeClr val="accent1"/>
                </a:solidFill>
              </a:rPr>
              <a:t>Intellectual Property and/or AT&amp;T affiliated companies. All other marks</a:t>
            </a:r>
            <a:r>
              <a:rPr lang="en-US" sz="600" baseline="0" dirty="0">
                <a:solidFill>
                  <a:schemeClr val="accent1"/>
                </a:solidFill>
              </a:rPr>
              <a:t> </a:t>
            </a:r>
            <a:r>
              <a:rPr lang="en-US" sz="600" dirty="0">
                <a:solidFill>
                  <a:schemeClr val="accent1"/>
                </a:solidFill>
              </a:rPr>
              <a:t>contained herein are the property of their respective owners.</a:t>
            </a:r>
          </a:p>
        </p:txBody>
      </p:sp>
      <p:sp>
        <p:nvSpPr>
          <p:cNvPr id="8" name="Freeform 49"/>
          <p:cNvSpPr>
            <a:spLocks/>
          </p:cNvSpPr>
          <p:nvPr userDrawn="1"/>
        </p:nvSpPr>
        <p:spPr bwMode="auto">
          <a:xfrm>
            <a:off x="3733800" y="2196307"/>
            <a:ext cx="4648200" cy="2735636"/>
          </a:xfrm>
          <a:custGeom>
            <a:avLst/>
            <a:gdLst/>
            <a:ahLst/>
            <a:cxnLst>
              <a:cxn ang="0">
                <a:pos x="1783" y="1"/>
              </a:cxn>
              <a:cxn ang="0">
                <a:pos x="1691" y="162"/>
              </a:cxn>
              <a:cxn ang="0">
                <a:pos x="1726" y="338"/>
              </a:cxn>
              <a:cxn ang="0">
                <a:pos x="1816" y="610"/>
              </a:cxn>
              <a:cxn ang="0">
                <a:pos x="1356" y="1070"/>
              </a:cxn>
              <a:cxn ang="0">
                <a:pos x="534" y="1070"/>
              </a:cxn>
              <a:cxn ang="0">
                <a:pos x="0" y="535"/>
              </a:cxn>
              <a:cxn ang="0">
                <a:pos x="534" y="0"/>
              </a:cxn>
              <a:cxn ang="0">
                <a:pos x="1783" y="1"/>
              </a:cxn>
            </a:cxnLst>
            <a:rect l="0" t="0" r="r" b="b"/>
            <a:pathLst>
              <a:path w="1816" h="1070">
                <a:moveTo>
                  <a:pt x="1783" y="1"/>
                </a:moveTo>
                <a:cubicBezTo>
                  <a:pt x="1783" y="1"/>
                  <a:pt x="1704" y="77"/>
                  <a:pt x="1691" y="162"/>
                </a:cubicBezTo>
                <a:cubicBezTo>
                  <a:pt x="1681" y="223"/>
                  <a:pt x="1686" y="275"/>
                  <a:pt x="1726" y="338"/>
                </a:cubicBezTo>
                <a:cubicBezTo>
                  <a:pt x="1782" y="414"/>
                  <a:pt x="1816" y="508"/>
                  <a:pt x="1816" y="610"/>
                </a:cubicBezTo>
                <a:cubicBezTo>
                  <a:pt x="1816" y="864"/>
                  <a:pt x="1610" y="1070"/>
                  <a:pt x="1356" y="1070"/>
                </a:cubicBezTo>
                <a:cubicBezTo>
                  <a:pt x="534" y="1070"/>
                  <a:pt x="534" y="1070"/>
                  <a:pt x="534" y="1070"/>
                </a:cubicBezTo>
                <a:cubicBezTo>
                  <a:pt x="239" y="1070"/>
                  <a:pt x="0" y="830"/>
                  <a:pt x="0" y="535"/>
                </a:cubicBezTo>
                <a:cubicBezTo>
                  <a:pt x="0" y="240"/>
                  <a:pt x="239" y="0"/>
                  <a:pt x="534" y="0"/>
                </a:cubicBezTo>
                <a:lnTo>
                  <a:pt x="1783" y="1"/>
                </a:lnTo>
                <a:close/>
              </a:path>
            </a:pathLst>
          </a:custGeom>
          <a:blipFill dpi="0" rotWithShape="1">
            <a:blip r:embed="rId4"/>
            <a:srcRect/>
            <a:stretch>
              <a:fillRect l="-14000" t="-20000" r="-15000" b="-24000"/>
            </a:stretch>
          </a:blip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vrn_bus_exp_cvr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4114800" cy="3583143"/>
          </a:xfrm>
          <a:prstGeom prst="rect">
            <a:avLst/>
          </a:prstGeom>
        </p:spPr>
      </p:pic>
      <p:sp>
        <p:nvSpPr>
          <p:cNvPr id="7" name="Title 19"/>
          <p:cNvSpPr>
            <a:spLocks noGrp="1"/>
          </p:cNvSpPr>
          <p:nvPr>
            <p:ph type="title"/>
          </p:nvPr>
        </p:nvSpPr>
        <p:spPr>
          <a:xfrm>
            <a:off x="1079500" y="3810000"/>
            <a:ext cx="7162799" cy="6858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32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"/>
          </p:nvPr>
        </p:nvSpPr>
        <p:spPr bwMode="gray">
          <a:xfrm>
            <a:off x="1079500" y="4521200"/>
            <a:ext cx="6781800" cy="685800"/>
          </a:xfrm>
          <a:prstGeom prst="rect">
            <a:avLst/>
          </a:prstGeom>
        </p:spPr>
        <p:txBody>
          <a:bodyPr vert="horz" lIns="0" tIns="0" rIns="0" bIns="0"/>
          <a:lstStyle>
            <a:lvl1pPr>
              <a:defRPr sz="2200">
                <a:solidFill>
                  <a:schemeClr val="accent1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EFE11F-158B-594E-8BEE-CC26B87FEB3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07229" y="1954213"/>
            <a:ext cx="8335133" cy="2858560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buSzPct val="100000"/>
              <a:defRPr sz="2000"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buSzPct val="100000"/>
              <a:defRPr sz="18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buSzPct val="100000"/>
              <a:defRPr sz="16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buSzPct val="100000"/>
              <a:defRPr sz="1600">
                <a:solidFill>
                  <a:schemeClr val="accent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5"/>
          <p:cNvSpPr>
            <a:spLocks noGrp="1"/>
          </p:cNvSpPr>
          <p:nvPr>
            <p:ph type="title"/>
          </p:nvPr>
        </p:nvSpPr>
        <p:spPr>
          <a:xfrm>
            <a:off x="410444" y="381000"/>
            <a:ext cx="8328744" cy="83820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EFE11F-158B-594E-8BEE-CC26B87FEB3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07230" y="1954213"/>
            <a:ext cx="3941762" cy="308716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buSzPct val="100000"/>
              <a:defRPr sz="1800"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buSzPct val="100000"/>
              <a:defRPr sz="17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buSzPct val="100000"/>
              <a:defRPr sz="15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buSzPct val="100000"/>
              <a:defRPr sz="1500">
                <a:solidFill>
                  <a:schemeClr val="accent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795838" y="1954213"/>
            <a:ext cx="3943350" cy="308716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buSzPct val="100000"/>
              <a:defRPr sz="1800"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buSzPct val="100000"/>
              <a:defRPr sz="17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buSzPct val="100000"/>
              <a:defRPr sz="15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buSzPct val="100000"/>
              <a:defRPr sz="1500">
                <a:solidFill>
                  <a:schemeClr val="accent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5"/>
          <p:cNvSpPr>
            <a:spLocks noGrp="1"/>
          </p:cNvSpPr>
          <p:nvPr>
            <p:ph type="title"/>
          </p:nvPr>
        </p:nvSpPr>
        <p:spPr>
          <a:xfrm>
            <a:off x="410444" y="381000"/>
            <a:ext cx="8328744" cy="83820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EFE11F-158B-594E-8BEE-CC26B87FEB3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07230" y="2640013"/>
            <a:ext cx="3941762" cy="3087160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buSzPct val="100000"/>
              <a:defRPr sz="2000"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buSzPct val="100000"/>
              <a:defRPr sz="18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buSzPct val="100000"/>
              <a:defRPr sz="16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buSzPct val="100000"/>
              <a:defRPr sz="1600">
                <a:solidFill>
                  <a:schemeClr val="accent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4795910" y="2640013"/>
            <a:ext cx="3943350" cy="3087160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buSzPct val="100000"/>
              <a:defRPr sz="2000"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buSzPct val="100000"/>
              <a:defRPr sz="18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buSzPct val="100000"/>
              <a:defRPr sz="16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buSzPct val="100000"/>
              <a:defRPr sz="1600">
                <a:solidFill>
                  <a:schemeClr val="accent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07230" y="1954213"/>
            <a:ext cx="3936170" cy="63976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954213"/>
            <a:ext cx="3938660" cy="63976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5"/>
          <p:cNvSpPr>
            <a:spLocks noGrp="1"/>
          </p:cNvSpPr>
          <p:nvPr>
            <p:ph type="title"/>
          </p:nvPr>
        </p:nvSpPr>
        <p:spPr>
          <a:xfrm>
            <a:off x="410444" y="381000"/>
            <a:ext cx="8328744" cy="83820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EFE11F-158B-594E-8BEE-CC26B87FEB3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1284475" y="2669756"/>
            <a:ext cx="3150531" cy="343421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400"/>
              </a:spcBef>
              <a:spcAft>
                <a:spcPts val="0"/>
              </a:spcAft>
              <a:defRPr sz="1800">
                <a:solidFill>
                  <a:schemeClr val="accent1"/>
                </a:solidFill>
              </a:defRPr>
            </a:lvl1pPr>
            <a:lvl2pPr marL="287338" indent="-195263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Lucida Grande"/>
              <a:buChar char="•"/>
              <a:defRPr sz="1800">
                <a:solidFill>
                  <a:schemeClr val="accent1"/>
                </a:solidFill>
              </a:defRPr>
            </a:lvl2pPr>
            <a:lvl3pPr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3pPr>
            <a:lvl4pPr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defRPr sz="1800">
                <a:solidFill>
                  <a:schemeClr val="accent1"/>
                </a:solidFill>
              </a:defRPr>
            </a:lvl4pPr>
            <a:lvl5pPr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4591050" y="2669756"/>
            <a:ext cx="3295682" cy="343421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400"/>
              </a:spcBef>
              <a:spcAft>
                <a:spcPts val="0"/>
              </a:spcAft>
              <a:defRPr sz="1800">
                <a:solidFill>
                  <a:schemeClr val="accent1"/>
                </a:solidFill>
              </a:defRPr>
            </a:lvl1pPr>
            <a:lvl2pPr marL="287338" indent="-195263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defRPr sz="1800">
                <a:solidFill>
                  <a:schemeClr val="accent1"/>
                </a:solidFill>
              </a:defRPr>
            </a:lvl2pPr>
            <a:lvl3pPr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3pPr>
            <a:lvl4pPr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defRPr sz="1800">
                <a:solidFill>
                  <a:schemeClr val="accent1"/>
                </a:solidFill>
              </a:defRPr>
            </a:lvl4pPr>
            <a:lvl5pPr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Line 6"/>
          <p:cNvSpPr>
            <a:spLocks noChangeShapeType="1"/>
          </p:cNvSpPr>
          <p:nvPr userDrawn="1"/>
        </p:nvSpPr>
        <p:spPr bwMode="auto">
          <a:xfrm>
            <a:off x="4529138" y="2562225"/>
            <a:ext cx="0" cy="34798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Line 7"/>
          <p:cNvSpPr>
            <a:spLocks noChangeShapeType="1"/>
          </p:cNvSpPr>
          <p:nvPr userDrawn="1"/>
        </p:nvSpPr>
        <p:spPr bwMode="auto">
          <a:xfrm>
            <a:off x="1271588" y="2566988"/>
            <a:ext cx="656113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 bwMode="gray">
          <a:xfrm>
            <a:off x="1270071" y="1981200"/>
            <a:ext cx="6603858" cy="533400"/>
          </a:xfrm>
          <a:prstGeom prst="rect">
            <a:avLst/>
          </a:prstGeom>
        </p:spPr>
        <p:txBody>
          <a:bodyPr vert="horz" bIns="0" anchor="b" anchorCtr="0"/>
          <a:lstStyle>
            <a:lvl1pPr algn="ctr">
              <a:defRPr>
                <a:solidFill>
                  <a:srgbClr val="80808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15"/>
          <p:cNvSpPr>
            <a:spLocks noGrp="1"/>
          </p:cNvSpPr>
          <p:nvPr>
            <p:ph type="title"/>
          </p:nvPr>
        </p:nvSpPr>
        <p:spPr>
          <a:xfrm>
            <a:off x="410444" y="381000"/>
            <a:ext cx="8328744" cy="83820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DEFE11F-158B-594E-8BEE-CC26B87FEB3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5"/>
          <p:cNvSpPr>
            <a:spLocks noGrp="1"/>
          </p:cNvSpPr>
          <p:nvPr>
            <p:ph type="title"/>
          </p:nvPr>
        </p:nvSpPr>
        <p:spPr>
          <a:xfrm>
            <a:off x="410444" y="381000"/>
            <a:ext cx="8328744" cy="83820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EFE11F-158B-594E-8BEE-CC26B87FEB3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018463" cy="590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5900"/>
            <a:ext cx="8018463" cy="40322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Page </a:t>
            </a:r>
            <a:fld id="{D4EBAE04-3149-4D95-88BB-3CF445D0C1F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037513" cy="838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838" y="1485900"/>
            <a:ext cx="8037512" cy="40513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C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7030A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Page </a:t>
            </a:r>
            <a:fld id="{E218AC47-F4D5-4A58-A0C0-0DD466A5F1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ver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intrnl_cnsmr_3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971800"/>
            <a:ext cx="7119938" cy="3894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11"/>
          <p:cNvSpPr txBox="1"/>
          <p:nvPr userDrawn="1"/>
        </p:nvSpPr>
        <p:spPr>
          <a:xfrm>
            <a:off x="414338" y="6075363"/>
            <a:ext cx="4613275" cy="55403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bg1"/>
                </a:solidFill>
                <a:latin typeface="Verdana" pitchFamily="-111" charset="0"/>
                <a:ea typeface="Arial" pitchFamily="-111" charset="-52"/>
                <a:cs typeface="Arial" pitchFamily="-111" charset="-52"/>
              </a:rPr>
              <a:t>© 2010 AT&amp;T Intellectual Property. All rights reserved. AT&amp;T, the AT&amp;T logo and all other AT&amp;T marks contained herein are trademarks of AT&amp;T Intellectual Property and/or AT&amp;T affiliated companies. All other marks contained herein are the property of their respective owners.</a:t>
            </a:r>
          </a:p>
        </p:txBody>
      </p:sp>
      <p:pic>
        <p:nvPicPr>
          <p:cNvPr id="6" name="Picture 6" descr="att_globe_rgb_grd_pos_2.jp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01000" y="377825"/>
            <a:ext cx="754063" cy="725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401639" y="381000"/>
            <a:ext cx="7370763" cy="8382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"/>
          </p:nvPr>
        </p:nvSpPr>
        <p:spPr bwMode="gray">
          <a:xfrm>
            <a:off x="401638" y="4572000"/>
            <a:ext cx="3103562" cy="838200"/>
          </a:xfrm>
          <a:prstGeom prst="rect">
            <a:avLst/>
          </a:prstGeom>
        </p:spPr>
        <p:txBody>
          <a:bodyPr vert="horz" lIns="0" tIns="0" rIns="0" bIns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037513" cy="838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171575" y="6605588"/>
            <a:ext cx="1647825" cy="152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Page </a:t>
            </a:r>
            <a:fld id="{16288CE3-BF29-4B19-8508-0E0BFBAF5C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88159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m Wood - UMass Amherst"/>
          <p:cNvSpPr/>
          <p:nvPr/>
        </p:nvSpPr>
        <p:spPr>
          <a:xfrm>
            <a:off x="3274284" y="6530703"/>
            <a:ext cx="2588081" cy="288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000">
                <a:solidFill>
                  <a:srgbClr val="797979"/>
                </a:solidFill>
              </a:defRPr>
            </a:lvl1pPr>
          </a:lstStyle>
          <a:p>
            <a:r>
              <a:rPr sz="1406"/>
              <a:t>Tim Wood - UMass Amherst</a:t>
            </a:r>
          </a:p>
        </p:txBody>
      </p:sp>
      <p:sp>
        <p:nvSpPr>
          <p:cNvPr id="22" name="Title Text"/>
          <p:cNvSpPr txBox="1">
            <a:spLocks noGrp="1"/>
          </p:cNvSpPr>
          <p:nvPr>
            <p:ph type="title"/>
          </p:nvPr>
        </p:nvSpPr>
        <p:spPr>
          <a:xfrm>
            <a:off x="214312" y="178594"/>
            <a:ext cx="8688586" cy="910828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41A2E3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" y="1098351"/>
            <a:ext cx="8688586" cy="5357813"/>
          </a:xfrm>
          <a:prstGeom prst="rect">
            <a:avLst/>
          </a:prstGeom>
        </p:spPr>
        <p:txBody>
          <a:bodyPr/>
          <a:lstStyle>
            <a:lvl1pPr marL="473257" indent="-250022" algn="l">
              <a:spcBef>
                <a:spcPts val="562"/>
              </a:spcBef>
              <a:buSzPct val="100000"/>
              <a:buChar char="•"/>
              <a:defRPr sz="2883">
                <a:solidFill>
                  <a:srgbClr val="000000"/>
                </a:solidFill>
              </a:defRPr>
            </a:lvl1pPr>
            <a:lvl2pPr marL="785785" indent="-250022" algn="l">
              <a:lnSpc>
                <a:spcPct val="90000"/>
              </a:lnSpc>
              <a:spcBef>
                <a:spcPts val="562"/>
              </a:spcBef>
              <a:buSzPct val="100000"/>
              <a:buChar char="•"/>
              <a:defRPr sz="2250">
                <a:solidFill>
                  <a:srgbClr val="232323"/>
                </a:solidFill>
              </a:defRPr>
            </a:lvl2pPr>
            <a:lvl3pPr marL="1098313" indent="-250022" algn="l">
              <a:lnSpc>
                <a:spcPct val="90000"/>
              </a:lnSpc>
              <a:spcBef>
                <a:spcPts val="562"/>
              </a:spcBef>
              <a:buSzPct val="100000"/>
              <a:buChar char="•"/>
              <a:defRPr sz="2109">
                <a:solidFill>
                  <a:srgbClr val="232323"/>
                </a:solidFill>
              </a:defRPr>
            </a:lvl3pPr>
            <a:lvl4pPr marL="1410840" indent="-250022" algn="l">
              <a:lnSpc>
                <a:spcPct val="70000"/>
              </a:lnSpc>
              <a:spcBef>
                <a:spcPts val="422"/>
              </a:spcBef>
              <a:buSzPct val="100000"/>
              <a:buChar char="•"/>
              <a:defRPr sz="1969">
                <a:solidFill>
                  <a:srgbClr val="232323"/>
                </a:solidFill>
              </a:defRPr>
            </a:lvl4pPr>
            <a:lvl5pPr marL="1723368" indent="-250022" algn="l">
              <a:lnSpc>
                <a:spcPct val="60000"/>
              </a:lnSpc>
              <a:spcBef>
                <a:spcPts val="422"/>
              </a:spcBef>
              <a:buSzPct val="100000"/>
              <a:buChar char="•"/>
              <a:defRPr sz="1828">
                <a:solidFill>
                  <a:srgbClr val="232323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8648" y="6507033"/>
            <a:ext cx="383118" cy="2973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606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988851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0" y="0"/>
            <a:ext cx="9153525" cy="6858000"/>
            <a:chOff x="0" y="0"/>
            <a:chExt cx="5766" cy="4320"/>
          </a:xfrm>
        </p:grpSpPr>
        <p:sp>
          <p:nvSpPr>
            <p:cNvPr id="5" name="Freeform 4"/>
            <p:cNvSpPr>
              <a:spLocks/>
            </p:cNvSpPr>
            <p:nvPr/>
          </p:nvSpPr>
          <p:spPr bwMode="auto">
            <a:xfrm>
              <a:off x="0" y="0"/>
              <a:ext cx="5766" cy="1131"/>
            </a:xfrm>
            <a:custGeom>
              <a:avLst/>
              <a:gdLst/>
              <a:ahLst/>
              <a:cxnLst>
                <a:cxn ang="0">
                  <a:pos x="0" y="960"/>
                </a:cxn>
                <a:cxn ang="0">
                  <a:pos x="3006" y="1110"/>
                </a:cxn>
                <a:cxn ang="0">
                  <a:pos x="5766" y="1086"/>
                </a:cxn>
                <a:cxn ang="0">
                  <a:pos x="5760" y="0"/>
                </a:cxn>
                <a:cxn ang="0">
                  <a:pos x="0" y="0"/>
                </a:cxn>
                <a:cxn ang="0">
                  <a:pos x="0" y="960"/>
                </a:cxn>
              </a:cxnLst>
              <a:rect l="0" t="0" r="r" b="b"/>
              <a:pathLst>
                <a:path w="5766" h="1131">
                  <a:moveTo>
                    <a:pt x="0" y="960"/>
                  </a:moveTo>
                  <a:cubicBezTo>
                    <a:pt x="1236" y="1062"/>
                    <a:pt x="2045" y="1089"/>
                    <a:pt x="3006" y="1110"/>
                  </a:cubicBezTo>
                  <a:cubicBezTo>
                    <a:pt x="3967" y="1131"/>
                    <a:pt x="4608" y="1110"/>
                    <a:pt x="5766" y="1086"/>
                  </a:cubicBezTo>
                  <a:cubicBezTo>
                    <a:pt x="5763" y="543"/>
                    <a:pt x="5760" y="0"/>
                    <a:pt x="5760" y="0"/>
                  </a:cubicBezTo>
                  <a:lnTo>
                    <a:pt x="0" y="0"/>
                  </a:lnTo>
                  <a:cubicBezTo>
                    <a:pt x="0" y="0"/>
                    <a:pt x="0" y="960"/>
                    <a:pt x="0" y="960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>
              <a:noFill/>
              <a:prstDash val="solid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US">
                <a:latin typeface="Verdana" pitchFamily="124" charset="0"/>
                <a:ea typeface="ＭＳ Ｐゴシック" pitchFamily="124" charset="-128"/>
                <a:cs typeface="Arial" charset="0"/>
              </a:endParaRPr>
            </a:p>
          </p:txBody>
        </p:sp>
        <p:grpSp>
          <p:nvGrpSpPr>
            <p:cNvPr id="3" name="Group 15"/>
            <p:cNvGrpSpPr>
              <a:grpSpLocks/>
            </p:cNvGrpSpPr>
            <p:nvPr userDrawn="1"/>
          </p:nvGrpSpPr>
          <p:grpSpPr bwMode="auto">
            <a:xfrm>
              <a:off x="0" y="2916"/>
              <a:ext cx="5760" cy="1404"/>
              <a:chOff x="0" y="2916"/>
              <a:chExt cx="5760" cy="1404"/>
            </a:xfrm>
          </p:grpSpPr>
          <p:sp>
            <p:nvSpPr>
              <p:cNvPr id="7" name="Freeform 9"/>
              <p:cNvSpPr>
                <a:spLocks/>
              </p:cNvSpPr>
              <p:nvPr/>
            </p:nvSpPr>
            <p:spPr bwMode="auto">
              <a:xfrm>
                <a:off x="0" y="2916"/>
                <a:ext cx="5760" cy="1404"/>
              </a:xfrm>
              <a:custGeom>
                <a:avLst/>
                <a:gdLst/>
                <a:ahLst/>
                <a:cxnLst>
                  <a:cxn ang="0">
                    <a:pos x="5760" y="0"/>
                  </a:cxn>
                  <a:cxn ang="0">
                    <a:pos x="3348" y="157"/>
                  </a:cxn>
                  <a:cxn ang="0">
                    <a:pos x="1146" y="192"/>
                  </a:cxn>
                  <a:cxn ang="0">
                    <a:pos x="378" y="186"/>
                  </a:cxn>
                  <a:cxn ang="0">
                    <a:pos x="0" y="180"/>
                  </a:cxn>
                  <a:cxn ang="0">
                    <a:pos x="0" y="1404"/>
                  </a:cxn>
                  <a:cxn ang="0">
                    <a:pos x="5760" y="1404"/>
                  </a:cxn>
                  <a:cxn ang="0">
                    <a:pos x="5760" y="0"/>
                  </a:cxn>
                </a:cxnLst>
                <a:rect l="0" t="0" r="r" b="b"/>
                <a:pathLst>
                  <a:path w="5760" h="1404">
                    <a:moveTo>
                      <a:pt x="5760" y="0"/>
                    </a:moveTo>
                    <a:cubicBezTo>
                      <a:pt x="4939" y="62"/>
                      <a:pt x="4117" y="125"/>
                      <a:pt x="3348" y="157"/>
                    </a:cubicBezTo>
                    <a:cubicBezTo>
                      <a:pt x="2577" y="191"/>
                      <a:pt x="1641" y="187"/>
                      <a:pt x="1146" y="192"/>
                    </a:cubicBezTo>
                    <a:cubicBezTo>
                      <a:pt x="651" y="197"/>
                      <a:pt x="690" y="186"/>
                      <a:pt x="378" y="186"/>
                    </a:cubicBezTo>
                    <a:cubicBezTo>
                      <a:pt x="372" y="180"/>
                      <a:pt x="0" y="180"/>
                      <a:pt x="0" y="180"/>
                    </a:cubicBezTo>
                    <a:lnTo>
                      <a:pt x="0" y="1404"/>
                    </a:lnTo>
                    <a:lnTo>
                      <a:pt x="5760" y="1404"/>
                    </a:lnTo>
                    <a:lnTo>
                      <a:pt x="5760" y="0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defRPr/>
                </a:pPr>
                <a:endParaRPr lang="en-US">
                  <a:latin typeface="Verdana" pitchFamily="124" charset="0"/>
                  <a:ea typeface="ＭＳ Ｐゴシック" pitchFamily="124" charset="-128"/>
                  <a:cs typeface="Arial" charset="0"/>
                </a:endParaRPr>
              </a:p>
            </p:txBody>
          </p:sp>
          <p:pic>
            <p:nvPicPr>
              <p:cNvPr id="8" name="Picture 11" descr="att_title_logo150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4566" y="3637"/>
                <a:ext cx="979" cy="4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9" name="Text Box 19"/>
          <p:cNvSpPr txBox="1">
            <a:spLocks noChangeArrowheads="1"/>
          </p:cNvSpPr>
          <p:nvPr/>
        </p:nvSpPr>
        <p:spPr bwMode="auto">
          <a:xfrm>
            <a:off x="58738" y="6477000"/>
            <a:ext cx="3917950" cy="36512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900">
                <a:solidFill>
                  <a:srgbClr val="067AB4"/>
                </a:solidFill>
                <a:latin typeface="Arial" charset="0"/>
                <a:ea typeface="ＭＳ Ｐゴシック" pitchFamily="124" charset="-128"/>
                <a:cs typeface="Arial" charset="0"/>
              </a:rPr>
              <a:t>© 2009 AT&amp;T Intellectual Property. All rights reserved. </a:t>
            </a:r>
            <a:br>
              <a:rPr lang="en-US" sz="900">
                <a:solidFill>
                  <a:srgbClr val="067AB4"/>
                </a:solidFill>
                <a:latin typeface="Arial" charset="0"/>
                <a:ea typeface="ＭＳ Ｐゴシック" pitchFamily="124" charset="-128"/>
                <a:cs typeface="Arial" charset="0"/>
              </a:rPr>
            </a:br>
            <a:r>
              <a:rPr lang="en-US" sz="900">
                <a:solidFill>
                  <a:srgbClr val="067AB4"/>
                </a:solidFill>
                <a:latin typeface="Arial" charset="0"/>
                <a:ea typeface="ＭＳ Ｐゴシック" pitchFamily="124" charset="-128"/>
                <a:cs typeface="Arial" charset="0"/>
              </a:rPr>
              <a:t>AT&amp;T and the AT&amp;T logo are trademarks of AT&amp;T Intellectual Property.</a:t>
            </a:r>
            <a:endParaRPr lang="en-US" sz="900">
              <a:latin typeface="Arial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333375" y="2292350"/>
            <a:ext cx="8367713" cy="1116013"/>
          </a:xfrm>
          <a:ln w="9525"/>
        </p:spPr>
        <p:txBody>
          <a:bodyPr lIns="91440" tIns="45720" rIns="91440" bIns="45720" anchor="ctr"/>
          <a:lstStyle>
            <a:lvl1pPr>
              <a:lnSpc>
                <a:spcPct val="10000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33375" y="3282950"/>
            <a:ext cx="8367713" cy="1138238"/>
          </a:xfrm>
          <a:ln w="9525"/>
        </p:spPr>
        <p:txBody>
          <a:bodyPr lIns="91440" tIns="45720" rIns="91440" bIns="45720"/>
          <a:lstStyle>
            <a:lvl1pPr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57590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fld id="{1CB37EF6-CD61-4551-B5EC-6F5C1DC8A938}" type="datetime4">
              <a:rPr lang="en-US"/>
              <a:pPr>
                <a:defRPr/>
              </a:pPr>
              <a:t>February 2, 2025</a:t>
            </a:fld>
            <a:endParaRPr lang="en-US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C5B3DCD1-3784-457B-93FB-79DF119AF9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81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fld id="{32FD518A-1D72-400E-8F04-36B82F3AD3FC}" type="datetime4">
              <a:rPr lang="en-US"/>
              <a:pPr>
                <a:defRPr/>
              </a:pPr>
              <a:t>February 2, 2025</a:t>
            </a:fld>
            <a:endParaRPr lang="en-US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90D7A1B2-AB52-4425-803B-C9DDD7FAC3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915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7838" y="1485900"/>
            <a:ext cx="3941762" cy="4051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485900"/>
            <a:ext cx="3943350" cy="4051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fld id="{7EE152C5-1333-46D6-9C1B-DAE614E53905}" type="datetime4">
              <a:rPr lang="en-US"/>
              <a:pPr>
                <a:defRPr/>
              </a:pPr>
              <a:t>February 2, 2025</a:t>
            </a:fld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170D5570-D3BD-46A6-A41F-F6B4E89A2C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541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fld id="{FBA13AEF-0E2F-4049-8CBA-DEC4CFB46239}" type="datetime4">
              <a:rPr lang="en-US"/>
              <a:pPr>
                <a:defRPr/>
              </a:pPr>
              <a:t>February 2, 2025</a:t>
            </a:fld>
            <a:endParaRPr lang="en-US"/>
          </a:p>
        </p:txBody>
      </p:sp>
      <p:sp>
        <p:nvSpPr>
          <p:cNvPr id="8" name="Rectangle 2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A58D632C-108B-40D9-A7FC-1E421E73EF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4999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fld id="{ADD4C494-529F-4A99-AF59-65584324DEAC}" type="datetime4">
              <a:rPr lang="en-US"/>
              <a:pPr>
                <a:defRPr/>
              </a:pPr>
              <a:t>February 2, 2025</a:t>
            </a:fld>
            <a:endParaRPr lang="en-US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11E40846-653B-45A2-8F6C-13F92CAA0F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898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fld id="{985B60FB-F2BD-4568-8AFC-40EB82DB720D}" type="datetime4">
              <a:rPr lang="en-US"/>
              <a:pPr>
                <a:defRPr/>
              </a:pPr>
              <a:t>February 2, 2025</a:t>
            </a:fld>
            <a:endParaRPr lang="en-US"/>
          </a:p>
        </p:txBody>
      </p:sp>
      <p:sp>
        <p:nvSpPr>
          <p:cNvPr id="3" name="Rectangle 2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BAD85596-FCEA-4389-B3AB-3F750BDC55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0638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fld id="{544C0B52-E33F-4569-8079-455BF25B3433}" type="datetime4">
              <a:rPr lang="en-US"/>
              <a:pPr>
                <a:defRPr/>
              </a:pPr>
              <a:t>February 2, 2025</a:t>
            </a:fld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737AD1B3-8719-4739-A9EA-740440A889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1682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fld id="{5AB082F6-CD2E-4988-9C33-5CA8DCAF372A}" type="datetime4">
              <a:rPr lang="en-US"/>
              <a:pPr>
                <a:defRPr/>
              </a:pPr>
              <a:t>February 2, 2025</a:t>
            </a:fld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45D5FC3D-E0C1-43FA-87BF-EC2B8B755C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945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fld id="{FE94D637-675B-4952-B16C-E27E229F5FDA}" type="datetime4">
              <a:rPr lang="en-US"/>
              <a:pPr>
                <a:defRPr/>
              </a:pPr>
              <a:t>February 2, 2025</a:t>
            </a:fld>
            <a:endParaRPr lang="en-US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D812DD2D-10B0-4AFC-8C13-D20D6BB1DA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9539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00813" y="457200"/>
            <a:ext cx="2014537" cy="5080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5891213" cy="5080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fld id="{B2E06D6F-1D3C-4EB7-B25F-1FD4F81FC5E2}" type="datetime4">
              <a:rPr lang="en-US"/>
              <a:pPr>
                <a:defRPr/>
              </a:pPr>
              <a:t>February 2, 2025</a:t>
            </a:fld>
            <a:endParaRPr lang="en-US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ＭＳ Ｐゴシック" pitchFamily="124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DEA09409-7EAC-4673-8920-58F1C98749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43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lobe_Alone_rgb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5329" y="6282264"/>
            <a:ext cx="369437" cy="369437"/>
          </a:xfrm>
          <a:prstGeom prst="rect">
            <a:avLst/>
          </a:prstGeom>
        </p:spPr>
      </p:pic>
      <p:sp>
        <p:nvSpPr>
          <p:cNvPr id="6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402165" y="6341880"/>
            <a:ext cx="385235" cy="152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accent1"/>
                </a:solidFill>
              </a:defRPr>
            </a:lvl1pPr>
          </a:lstStyle>
          <a:p>
            <a:fld id="{1DEFE11F-158B-594E-8BEE-CC26B87FEB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28675" y="6361987"/>
            <a:ext cx="5495925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600" dirty="0">
                <a:solidFill>
                  <a:schemeClr val="accent1"/>
                </a:solidFill>
              </a:rPr>
              <a:t>© 2011 AT&amp;T Intellectual Property. All rights reserved. AT&amp;T, the AT&amp;T</a:t>
            </a:r>
            <a:r>
              <a:rPr lang="en-US" sz="600" baseline="0" dirty="0">
                <a:solidFill>
                  <a:schemeClr val="accent1"/>
                </a:solidFill>
              </a:rPr>
              <a:t> </a:t>
            </a:r>
            <a:r>
              <a:rPr lang="en-US" sz="600" dirty="0">
                <a:solidFill>
                  <a:schemeClr val="accent1"/>
                </a:solidFill>
              </a:rPr>
              <a:t>logo and all other AT&amp;T marks contained herein are trademarks of AT&amp;T</a:t>
            </a:r>
            <a:r>
              <a:rPr lang="en-US" sz="600" baseline="0" dirty="0">
                <a:solidFill>
                  <a:schemeClr val="accent1"/>
                </a:solidFill>
              </a:rPr>
              <a:t> </a:t>
            </a:r>
            <a:r>
              <a:rPr lang="en-US" sz="600" dirty="0">
                <a:solidFill>
                  <a:schemeClr val="accent1"/>
                </a:solidFill>
              </a:rPr>
              <a:t>Intellectual Property and/or AT&amp;T affiliated companies. All other marks</a:t>
            </a:r>
            <a:r>
              <a:rPr lang="en-US" sz="600" baseline="0" dirty="0">
                <a:solidFill>
                  <a:schemeClr val="accent1"/>
                </a:solidFill>
              </a:rPr>
              <a:t> </a:t>
            </a:r>
            <a:r>
              <a:rPr lang="en-US" sz="600" dirty="0">
                <a:solidFill>
                  <a:schemeClr val="accent1"/>
                </a:solidFill>
              </a:rPr>
              <a:t>contained herein are the property of their respective owners.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6" r:id="rId2"/>
    <p:sldLayoutId id="2147483657" r:id="rId3"/>
    <p:sldLayoutId id="2147483658" r:id="rId4"/>
    <p:sldLayoutId id="2147483659" r:id="rId5"/>
    <p:sldLayoutId id="2147483662" r:id="rId6"/>
    <p:sldLayoutId id="2147483660" r:id="rId7"/>
    <p:sldLayoutId id="2147483666" r:id="rId8"/>
    <p:sldLayoutId id="2147483667" r:id="rId9"/>
    <p:sldLayoutId id="2147483682" r:id="rId10"/>
    <p:sldLayoutId id="2147483683" r:id="rId11"/>
  </p:sldLayoutIdLst>
  <p:hf hdr="0" dt="0"/>
  <p:txStyles>
    <p:titleStyle>
      <a:lvl1pPr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+mj-lt"/>
          <a:ea typeface="+mj-ea"/>
          <a:cs typeface="+mj-cs"/>
        </a:defRPr>
      </a:lvl1pPr>
      <a:lvl2pPr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-111" charset="0"/>
        </a:defRPr>
      </a:lvl2pPr>
      <a:lvl3pPr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-111" charset="0"/>
        </a:defRPr>
      </a:lvl3pPr>
      <a:lvl4pPr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-111" charset="0"/>
        </a:defRPr>
      </a:lvl4pPr>
      <a:lvl5pPr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-111" charset="0"/>
        </a:defRPr>
      </a:lvl5pPr>
      <a:lvl6pPr marL="457200"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-111" charset="0"/>
        </a:defRPr>
      </a:lvl6pPr>
      <a:lvl7pPr marL="914400"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-111" charset="0"/>
        </a:defRPr>
      </a:lvl7pPr>
      <a:lvl8pPr marL="1371600"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-111" charset="0"/>
        </a:defRPr>
      </a:lvl8pPr>
      <a:lvl9pPr marL="1828800"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-111" charset="0"/>
        </a:defRPr>
      </a:lvl9pPr>
    </p:titleStyle>
    <p:bodyStyle>
      <a:lvl1pPr algn="l" defTabSz="947738" rtl="0" eaLnBrk="0" fontAlgn="base" hangingPunct="0">
        <a:spcBef>
          <a:spcPct val="20000"/>
        </a:spcBef>
        <a:spcAft>
          <a:spcPct val="20000"/>
        </a:spcAft>
        <a:buClr>
          <a:schemeClr val="tx2"/>
        </a:buClr>
        <a:buSzPct val="100000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234950" indent="-233363" algn="l" defTabSz="947738" rtl="0" eaLnBrk="0" fontAlgn="base" hangingPunct="0">
        <a:spcBef>
          <a:spcPct val="10000"/>
        </a:spcBef>
        <a:spcAft>
          <a:spcPct val="30000"/>
        </a:spcAft>
        <a:buClr>
          <a:schemeClr val="tx1"/>
        </a:buClr>
        <a:buSzPct val="80000"/>
        <a:buChar char="•"/>
        <a:defRPr sz="2000">
          <a:solidFill>
            <a:schemeClr val="tx1"/>
          </a:solidFill>
          <a:latin typeface="+mn-lt"/>
          <a:ea typeface="ＭＳ Ｐゴシック" pitchFamily="-111" charset="-128"/>
        </a:defRPr>
      </a:lvl2pPr>
      <a:lvl3pPr marL="461963" indent="-225425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IB Wb Regular" pitchFamily="-111" charset="0"/>
        <a:buChar char="–"/>
        <a:defRPr>
          <a:solidFill>
            <a:schemeClr val="tx1"/>
          </a:solidFill>
          <a:latin typeface="+mn-lt"/>
          <a:ea typeface="ＭＳ Ｐゴシック" pitchFamily="-111" charset="-128"/>
        </a:defRPr>
      </a:lvl3pPr>
      <a:lvl4pPr marL="692150" indent="-22860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Char char="•"/>
        <a:defRPr sz="1600">
          <a:solidFill>
            <a:schemeClr val="tx1"/>
          </a:solidFill>
          <a:latin typeface="+mn-lt"/>
          <a:ea typeface="ＭＳ Ｐゴシック" pitchFamily="-111" charset="-128"/>
        </a:defRPr>
      </a:lvl4pPr>
      <a:lvl5pPr marL="9159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-111" charset="0"/>
        <a:buChar char="–"/>
        <a:defRPr sz="1600">
          <a:solidFill>
            <a:schemeClr val="tx1"/>
          </a:solidFill>
          <a:latin typeface="+mn-lt"/>
          <a:ea typeface="ＭＳ Ｐゴシック" pitchFamily="-111" charset="-128"/>
        </a:defRPr>
      </a:lvl5pPr>
      <a:lvl6pPr marL="13731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-111" charset="0"/>
        <a:buChar char="–"/>
        <a:defRPr sz="1600">
          <a:solidFill>
            <a:schemeClr val="tx1"/>
          </a:solidFill>
          <a:latin typeface="+mn-lt"/>
          <a:ea typeface="ＭＳ Ｐゴシック" pitchFamily="-111" charset="-128"/>
        </a:defRPr>
      </a:lvl6pPr>
      <a:lvl7pPr marL="18303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-111" charset="0"/>
        <a:buChar char="–"/>
        <a:defRPr sz="1600">
          <a:solidFill>
            <a:schemeClr val="tx1"/>
          </a:solidFill>
          <a:latin typeface="+mn-lt"/>
          <a:ea typeface="ＭＳ Ｐゴシック" pitchFamily="-111" charset="-128"/>
        </a:defRPr>
      </a:lvl7pPr>
      <a:lvl8pPr marL="22875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-111" charset="0"/>
        <a:buChar char="–"/>
        <a:defRPr sz="1600">
          <a:solidFill>
            <a:schemeClr val="tx1"/>
          </a:solidFill>
          <a:latin typeface="+mn-lt"/>
          <a:ea typeface="ＭＳ Ｐゴシック" pitchFamily="-111" charset="-128"/>
        </a:defRPr>
      </a:lvl8pPr>
      <a:lvl9pPr marL="27447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-111" charset="0"/>
        <a:buChar char="–"/>
        <a:defRPr sz="1600">
          <a:solidFill>
            <a:schemeClr val="tx1"/>
          </a:solidFill>
          <a:latin typeface="+mn-lt"/>
          <a:ea typeface="ＭＳ Ｐゴシック" pitchFamily="-11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uds-1.jpg" descr="clouds-1.jp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-969" y="-35719"/>
            <a:ext cx="9277946" cy="693127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892969" y="1151930"/>
            <a:ext cx="7358063" cy="2321719"/>
          </a:xfrm>
          <a:prstGeom prst="rect">
            <a:avLst/>
          </a:prstGeom>
          <a:ln w="12700">
            <a:miter lim="400000"/>
          </a:ln>
          <a:effectLst>
            <a:outerShdw blurRad="38100" dist="12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b"/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892969" y="3536156"/>
            <a:ext cx="7358063" cy="2178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75976" y="6471314"/>
            <a:ext cx="383118" cy="29738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1266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7222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transition spd="med"/>
  <p:txStyles>
    <p:titleStyle>
      <a:lvl1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ln>
            <a:noFill/>
          </a:ln>
          <a:solidFill>
            <a:srgbClr val="001E57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ln>
            <a:noFill/>
          </a:ln>
          <a:solidFill>
            <a:srgbClr val="001E57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ln>
            <a:noFill/>
          </a:ln>
          <a:solidFill>
            <a:srgbClr val="001E57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ln>
            <a:noFill/>
          </a:ln>
          <a:solidFill>
            <a:srgbClr val="001E57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ln>
            <a:noFill/>
          </a:ln>
          <a:solidFill>
            <a:srgbClr val="001E57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ln>
            <a:noFill/>
          </a:ln>
          <a:solidFill>
            <a:srgbClr val="001E57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ln>
            <a:noFill/>
          </a:ln>
          <a:solidFill>
            <a:srgbClr val="001E57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ln>
            <a:noFill/>
          </a:ln>
          <a:solidFill>
            <a:srgbClr val="001E57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ln>
            <a:noFill/>
          </a:ln>
          <a:solidFill>
            <a:srgbClr val="001E57"/>
          </a:solidFill>
          <a:uFillTx/>
          <a:latin typeface="+mn-lt"/>
          <a:ea typeface="+mn-ea"/>
          <a:cs typeface="+mn-cs"/>
          <a:sym typeface="Gill Sans"/>
        </a:defRPr>
      </a:lvl9pPr>
    </p:titleStyle>
    <p:bodyStyle>
      <a:lvl1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31" b="0" i="0" u="none" strike="noStrike" cap="none" spc="0" baseline="0">
          <a:ln>
            <a:noFill/>
          </a:ln>
          <a:solidFill>
            <a:srgbClr val="001E57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31" b="0" i="0" u="none" strike="noStrike" cap="none" spc="0" baseline="0">
          <a:ln>
            <a:noFill/>
          </a:ln>
          <a:solidFill>
            <a:srgbClr val="001E57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31" b="0" i="0" u="none" strike="noStrike" cap="none" spc="0" baseline="0">
          <a:ln>
            <a:noFill/>
          </a:ln>
          <a:solidFill>
            <a:srgbClr val="001E57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31" b="0" i="0" u="none" strike="noStrike" cap="none" spc="0" baseline="0">
          <a:ln>
            <a:noFill/>
          </a:ln>
          <a:solidFill>
            <a:srgbClr val="001E57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31" b="0" i="0" u="none" strike="noStrike" cap="none" spc="0" baseline="0">
          <a:ln>
            <a:noFill/>
          </a:ln>
          <a:solidFill>
            <a:srgbClr val="001E57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250022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31" b="0" i="0" u="none" strike="noStrike" cap="none" spc="0" baseline="0">
          <a:ln>
            <a:noFill/>
          </a:ln>
          <a:solidFill>
            <a:srgbClr val="001E57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500045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31" b="0" i="0" u="none" strike="noStrike" cap="none" spc="0" baseline="0">
          <a:ln>
            <a:noFill/>
          </a:ln>
          <a:solidFill>
            <a:srgbClr val="001E57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750067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31" b="0" i="0" u="none" strike="noStrike" cap="none" spc="0" baseline="0">
          <a:ln>
            <a:noFill/>
          </a:ln>
          <a:solidFill>
            <a:srgbClr val="001E57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000089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31" b="0" i="0" u="none" strike="noStrike" cap="none" spc="0" baseline="0">
          <a:ln>
            <a:noFill/>
          </a:ln>
          <a:solidFill>
            <a:srgbClr val="001E57"/>
          </a:solidFill>
          <a:uFillTx/>
          <a:latin typeface="+mn-lt"/>
          <a:ea typeface="+mn-ea"/>
          <a:cs typeface="+mn-cs"/>
          <a:sym typeface="Gill Sans"/>
        </a:defRPr>
      </a:lvl9pPr>
    </p:bodyStyle>
    <p:otherStyle>
      <a:lvl1pPr marL="0" marR="0" indent="0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0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0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0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0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0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0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0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0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32" descr="option1_orng_slideTop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1" descr="option1_orng_slideBottom2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0" y="6121400"/>
            <a:ext cx="91440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037513" cy="83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7838" y="1485900"/>
            <a:ext cx="8037512" cy="405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4573588" y="6604000"/>
            <a:ext cx="184150" cy="2143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defRPr/>
            </a:pPr>
            <a:endParaRPr lang="en-US" sz="900">
              <a:solidFill>
                <a:srgbClr val="000000"/>
              </a:solidFill>
              <a:latin typeface="Arial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34842" name="Rectangle 2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1575" y="6605588"/>
            <a:ext cx="164782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900">
                <a:solidFill>
                  <a:srgbClr val="4D4D4D"/>
                </a:solidFill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fld id="{ACC8AB43-1C1F-4750-8F29-2D6CE6C0EC06}" type="datetime4">
              <a:rPr lang="en-US"/>
              <a:pPr>
                <a:defRPr/>
              </a:pPr>
              <a:t>February 2, 2025</a:t>
            </a:fld>
            <a:endParaRPr lang="en-US"/>
          </a:p>
        </p:txBody>
      </p:sp>
      <p:sp>
        <p:nvSpPr>
          <p:cNvPr id="34843" name="Rectangle 2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1000" y="6604000"/>
            <a:ext cx="817563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900">
                <a:solidFill>
                  <a:srgbClr val="4D4D4D"/>
                </a:solidFill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AC1437DD-98A3-4BED-80D5-836FAF86ED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4849" name="Rectangle 33"/>
          <p:cNvSpPr>
            <a:spLocks noChangeArrowheads="1"/>
          </p:cNvSpPr>
          <p:nvPr userDrawn="1"/>
        </p:nvSpPr>
        <p:spPr bwMode="auto">
          <a:xfrm>
            <a:off x="3200400" y="6553200"/>
            <a:ext cx="306705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900">
                <a:solidFill>
                  <a:srgbClr val="067AB4"/>
                </a:solidFill>
                <a:latin typeface="Arial" charset="0"/>
                <a:ea typeface="ＭＳ Ｐゴシック" pitchFamily="124" charset="-128"/>
                <a:cs typeface="Arial" charset="0"/>
              </a:rPr>
              <a:t>© 2009 AT&amp;T Intellectual Property.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36288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 ftr="0" dt="0"/>
  <p:txStyles>
    <p:titleStyle>
      <a:lvl1pPr algn="r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3800" b="1">
          <a:solidFill>
            <a:schemeClr val="accent1"/>
          </a:solidFill>
          <a:latin typeface="+mj-lt"/>
          <a:ea typeface="+mj-ea"/>
          <a:cs typeface="+mj-cs"/>
        </a:defRPr>
      </a:lvl1pPr>
      <a:lvl2pPr algn="r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3800" b="1">
          <a:solidFill>
            <a:schemeClr val="accent1"/>
          </a:solidFill>
          <a:latin typeface="Verdana" pitchFamily="124" charset="0"/>
        </a:defRPr>
      </a:lvl2pPr>
      <a:lvl3pPr algn="r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3800" b="1">
          <a:solidFill>
            <a:schemeClr val="accent1"/>
          </a:solidFill>
          <a:latin typeface="Verdana" pitchFamily="124" charset="0"/>
        </a:defRPr>
      </a:lvl3pPr>
      <a:lvl4pPr algn="r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3800" b="1">
          <a:solidFill>
            <a:schemeClr val="accent1"/>
          </a:solidFill>
          <a:latin typeface="Verdana" pitchFamily="124" charset="0"/>
        </a:defRPr>
      </a:lvl4pPr>
      <a:lvl5pPr algn="r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3800" b="1">
          <a:solidFill>
            <a:schemeClr val="accent1"/>
          </a:solidFill>
          <a:latin typeface="Verdana" pitchFamily="124" charset="0"/>
        </a:defRPr>
      </a:lvl5pPr>
      <a:lvl6pPr marL="457200" algn="r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3800" b="1">
          <a:solidFill>
            <a:schemeClr val="accent1"/>
          </a:solidFill>
          <a:latin typeface="Verdana" pitchFamily="124" charset="0"/>
        </a:defRPr>
      </a:lvl6pPr>
      <a:lvl7pPr marL="914400" algn="r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3800" b="1">
          <a:solidFill>
            <a:schemeClr val="accent1"/>
          </a:solidFill>
          <a:latin typeface="Verdana" pitchFamily="124" charset="0"/>
        </a:defRPr>
      </a:lvl7pPr>
      <a:lvl8pPr marL="1371600" algn="r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3800" b="1">
          <a:solidFill>
            <a:schemeClr val="accent1"/>
          </a:solidFill>
          <a:latin typeface="Verdana" pitchFamily="124" charset="0"/>
        </a:defRPr>
      </a:lvl8pPr>
      <a:lvl9pPr marL="1828800" algn="r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3800" b="1">
          <a:solidFill>
            <a:schemeClr val="accent1"/>
          </a:solidFill>
          <a:latin typeface="Verdana" pitchFamily="124" charset="0"/>
        </a:defRPr>
      </a:lvl9pPr>
    </p:titleStyle>
    <p:bodyStyle>
      <a:lvl1pPr marL="342900" indent="-342900" algn="l" defTabSz="947738" rtl="0" eaLnBrk="0" fontAlgn="base" hangingPunct="0">
        <a:spcBef>
          <a:spcPct val="20000"/>
        </a:spcBef>
        <a:spcAft>
          <a:spcPct val="20000"/>
        </a:spcAft>
        <a:buClr>
          <a:schemeClr val="tx2"/>
        </a:buClr>
        <a:buSzPct val="100000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234950" indent="-233363" algn="l" defTabSz="947738" rtl="0" eaLnBrk="0" fontAlgn="base" hangingPunct="0">
        <a:spcBef>
          <a:spcPct val="10000"/>
        </a:spcBef>
        <a:spcAft>
          <a:spcPct val="30000"/>
        </a:spcAft>
        <a:buClr>
          <a:schemeClr val="tx1"/>
        </a:buClr>
        <a:buSzPct val="80000"/>
        <a:buChar char="•"/>
        <a:defRPr sz="2000">
          <a:solidFill>
            <a:schemeClr val="tx1"/>
          </a:solidFill>
          <a:latin typeface="+mn-lt"/>
        </a:defRPr>
      </a:lvl2pPr>
      <a:lvl3pPr marL="461963" indent="-225425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IB Wb Regular" charset="0"/>
        <a:buChar char="–"/>
        <a:defRPr>
          <a:solidFill>
            <a:schemeClr val="tx1"/>
          </a:solidFill>
          <a:latin typeface="+mn-lt"/>
        </a:defRPr>
      </a:lvl3pPr>
      <a:lvl4pPr marL="692150" indent="-22860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Char char="•"/>
        <a:defRPr sz="1600">
          <a:solidFill>
            <a:schemeClr val="tx1"/>
          </a:solidFill>
          <a:latin typeface="+mn-lt"/>
        </a:defRPr>
      </a:lvl4pPr>
      <a:lvl5pPr marL="9159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34" charset="0"/>
        <a:buChar char="–"/>
        <a:defRPr sz="1600">
          <a:solidFill>
            <a:schemeClr val="tx1"/>
          </a:solidFill>
          <a:latin typeface="+mn-lt"/>
        </a:defRPr>
      </a:lvl5pPr>
      <a:lvl6pPr marL="13731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124" charset="0"/>
        <a:buChar char="–"/>
        <a:defRPr sz="1600">
          <a:solidFill>
            <a:schemeClr val="tx1"/>
          </a:solidFill>
          <a:latin typeface="+mn-lt"/>
        </a:defRPr>
      </a:lvl6pPr>
      <a:lvl7pPr marL="18303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124" charset="0"/>
        <a:buChar char="–"/>
        <a:defRPr sz="1600">
          <a:solidFill>
            <a:schemeClr val="tx1"/>
          </a:solidFill>
          <a:latin typeface="+mn-lt"/>
        </a:defRPr>
      </a:lvl7pPr>
      <a:lvl8pPr marL="22875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124" charset="0"/>
        <a:buChar char="–"/>
        <a:defRPr sz="1600">
          <a:solidFill>
            <a:schemeClr val="tx1"/>
          </a:solidFill>
          <a:latin typeface="+mn-lt"/>
        </a:defRPr>
      </a:lvl8pPr>
      <a:lvl9pPr marL="27447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124" charset="0"/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abs/10.1145/2007477.195269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wmf"/><Relationship Id="rId5" Type="http://schemas.openxmlformats.org/officeDocument/2006/relationships/image" Target="../media/image26.png"/><Relationship Id="rId10" Type="http://schemas.openxmlformats.org/officeDocument/2006/relationships/image" Target="../media/image29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png"/><Relationship Id="rId5" Type="http://schemas.openxmlformats.org/officeDocument/2006/relationships/image" Target="../media/image34.gif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9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36.wmf"/><Relationship Id="rId4" Type="http://schemas.openxmlformats.org/officeDocument/2006/relationships/image" Target="../media/image1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18.png"/><Relationship Id="rId4" Type="http://schemas.openxmlformats.org/officeDocument/2006/relationships/image" Target="../media/image3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24"/>
          <p:cNvSpPr>
            <a:spLocks noGrp="1"/>
          </p:cNvSpPr>
          <p:nvPr>
            <p:ph type="title"/>
          </p:nvPr>
        </p:nvSpPr>
        <p:spPr bwMode="auto">
          <a:xfrm>
            <a:off x="228600" y="1005024"/>
            <a:ext cx="8382000" cy="1194486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2800" dirty="0">
                <a:solidFill>
                  <a:schemeClr val="tx2"/>
                </a:solidFill>
              </a:rPr>
              <a:t>Networking the Cloud: Remote Replication of VMs over the WAN</a:t>
            </a:r>
            <a:br>
              <a:rPr lang="en-US" sz="3200" dirty="0"/>
            </a:br>
            <a:br>
              <a:rPr lang="en-US" sz="3600" dirty="0"/>
            </a:br>
            <a:endParaRPr lang="en-US" sz="3600" dirty="0"/>
          </a:p>
        </p:txBody>
      </p:sp>
      <p:sp>
        <p:nvSpPr>
          <p:cNvPr id="12291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0" y="2514600"/>
            <a:ext cx="9144000" cy="838200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b="1" dirty="0">
                <a:solidFill>
                  <a:srgbClr val="067AB4"/>
                </a:solidFill>
              </a:rPr>
              <a:t>K. K. </a:t>
            </a:r>
            <a:r>
              <a:rPr lang="en-US" sz="2400" b="1" dirty="0" err="1">
                <a:solidFill>
                  <a:srgbClr val="067AB4"/>
                </a:solidFill>
              </a:rPr>
              <a:t>Ramakrishnan</a:t>
            </a:r>
            <a:endParaRPr lang="en-US" sz="2400" b="1" dirty="0">
              <a:solidFill>
                <a:srgbClr val="067AB4"/>
              </a:solidFill>
            </a:endParaRPr>
          </a:p>
          <a:p>
            <a:pPr marL="0" indent="0" algn="ctr"/>
            <a:r>
              <a:rPr lang="en-US" dirty="0">
                <a:solidFill>
                  <a:schemeClr val="tx2"/>
                </a:solidFill>
              </a:rPr>
              <a:t>CS 208, Class 7</a:t>
            </a:r>
            <a:endParaRPr lang="en-US" sz="2800" dirty="0">
              <a:solidFill>
                <a:srgbClr val="404040"/>
              </a:solidFill>
            </a:endParaRPr>
          </a:p>
          <a:p>
            <a:pPr marL="0" indent="0"/>
            <a:endParaRPr lang="en-US" sz="2800" dirty="0">
              <a:solidFill>
                <a:srgbClr val="40404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9DF509-C9F0-5C4A-91A3-F067A390E742}"/>
              </a:ext>
            </a:extLst>
          </p:cNvPr>
          <p:cNvSpPr txBox="1"/>
          <p:nvPr/>
        </p:nvSpPr>
        <p:spPr>
          <a:xfrm>
            <a:off x="0" y="4811150"/>
            <a:ext cx="9045526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tx2"/>
                </a:solidFill>
              </a:rPr>
              <a:t>Paper: Tim Wood </a:t>
            </a:r>
            <a:r>
              <a:rPr lang="en-US" sz="1600" dirty="0" err="1">
                <a:solidFill>
                  <a:schemeClr val="tx2"/>
                </a:solidFill>
              </a:rPr>
              <a:t>et.al</a:t>
            </a:r>
            <a:r>
              <a:rPr lang="en-US" sz="1600" dirty="0">
                <a:solidFill>
                  <a:schemeClr val="tx2"/>
                </a:solidFill>
              </a:rPr>
              <a:t>.,</a:t>
            </a:r>
          </a:p>
          <a:p>
            <a:pPr algn="l"/>
            <a:r>
              <a:rPr lang="en-US" sz="1600" dirty="0">
                <a:solidFill>
                  <a:schemeClr val="tx2"/>
                </a:solidFill>
              </a:rPr>
              <a:t>“</a:t>
            </a:r>
            <a:r>
              <a:rPr lang="en-US" sz="1600" dirty="0" err="1">
                <a:solidFill>
                  <a:schemeClr val="tx2"/>
                </a:solidFill>
              </a:rPr>
              <a:t>CloudNet</a:t>
            </a:r>
            <a:r>
              <a:rPr lang="en-US" sz="1600" dirty="0">
                <a:solidFill>
                  <a:schemeClr val="tx2"/>
                </a:solidFill>
              </a:rPr>
              <a:t>: dynamic pooling of cloud resources by live WAN migration of virtual machines”, VEE’11 (</a:t>
            </a:r>
            <a:r>
              <a:rPr lang="en-US" sz="1600" dirty="0">
                <a:solidFill>
                  <a:schemeClr val="tx2"/>
                </a:solidFill>
                <a:hlinkClick r:id="rId3"/>
              </a:rPr>
              <a:t>https://dl.acm.org/doi/abs/10.1145/2007477.1952699</a:t>
            </a:r>
            <a:r>
              <a:rPr lang="en-US" sz="1600" dirty="0">
                <a:solidFill>
                  <a:schemeClr val="tx2"/>
                </a:solidFill>
              </a:rPr>
              <a:t>)</a:t>
            </a:r>
          </a:p>
          <a:p>
            <a:pPr algn="l"/>
            <a:r>
              <a:rPr lang="en-US" sz="1600" dirty="0">
                <a:solidFill>
                  <a:schemeClr val="tx2"/>
                </a:solidFill>
              </a:rPr>
              <a:t>Also, IEEE/ACM Transactions on Networking Oct. 2015</a:t>
            </a:r>
          </a:p>
          <a:p>
            <a:pPr algn="l"/>
            <a:r>
              <a:rPr lang="en-US" sz="1600" dirty="0">
                <a:solidFill>
                  <a:schemeClr val="tx2"/>
                </a:solidFill>
              </a:rPr>
              <a:t>(Please read: http://</a:t>
            </a:r>
            <a:r>
              <a:rPr lang="en-US" sz="1600" dirty="0" err="1">
                <a:solidFill>
                  <a:schemeClr val="tx2"/>
                </a:solidFill>
              </a:rPr>
              <a:t>none.cs.umass.edu</a:t>
            </a:r>
            <a:r>
              <a:rPr lang="en-US" sz="1600" dirty="0">
                <a:solidFill>
                  <a:schemeClr val="tx2"/>
                </a:solidFill>
              </a:rPr>
              <a:t>/papers/pdf/TON15-cloudnet.pdf)</a:t>
            </a:r>
          </a:p>
          <a:p>
            <a:pPr algn="l"/>
            <a:endParaRPr lang="en-US" sz="1600" dirty="0">
              <a:solidFill>
                <a:schemeClr val="tx2"/>
              </a:solidFill>
            </a:endParaRPr>
          </a:p>
          <a:p>
            <a:pPr algn="l"/>
            <a:endParaRPr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39EBB1-A79A-4CF5-A699-299C2723ACC9}" type="slidenum">
              <a:rPr lang="en-US"/>
              <a:pPr/>
              <a:t>2</a:t>
            </a:fld>
            <a:endParaRPr lang="en-US"/>
          </a:p>
        </p:txBody>
      </p:sp>
      <p:sp>
        <p:nvSpPr>
          <p:cNvPr id="22529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457200"/>
            <a:ext cx="8686800" cy="838200"/>
          </a:xfrm>
          <a:ln/>
        </p:spPr>
        <p:txBody>
          <a:bodyPr/>
          <a:lstStyle/>
          <a:p>
            <a:r>
              <a:rPr lang="en-US" dirty="0"/>
              <a:t>Public, Private, Hybrid Clouds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3497" y="1114727"/>
            <a:ext cx="8627953" cy="4969202"/>
          </a:xfrm>
          <a:ln/>
        </p:spPr>
        <p:txBody>
          <a:bodyPr/>
          <a:lstStyle/>
          <a:p>
            <a:pPr marL="473257"/>
            <a:r>
              <a:rPr lang="en-US" dirty="0"/>
              <a:t>Not all enterprises are comfortable with using </a:t>
            </a:r>
            <a:r>
              <a:rPr lang="en-US" b="1" dirty="0"/>
              <a:t>public cloud</a:t>
            </a:r>
            <a:r>
              <a:rPr lang="en-US" dirty="0"/>
              <a:t> services</a:t>
            </a:r>
          </a:p>
          <a:p>
            <a:pPr marL="785785" lvl="1"/>
            <a:r>
              <a:rPr lang="en-US" dirty="0"/>
              <a:t>Don’t want to share CPU cycles or disks with competitors</a:t>
            </a:r>
          </a:p>
          <a:p>
            <a:pPr marL="785785" lvl="1"/>
            <a:r>
              <a:rPr lang="en-US" dirty="0"/>
              <a:t>Privacy and regulatory concerns</a:t>
            </a:r>
          </a:p>
          <a:p>
            <a:pPr marL="2473435" lvl="4">
              <a:lnSpc>
                <a:spcPct val="90000"/>
              </a:lnSpc>
            </a:pPr>
            <a:endParaRPr lang="en-US" dirty="0"/>
          </a:p>
          <a:p>
            <a:pPr marL="473257">
              <a:lnSpc>
                <a:spcPct val="60000"/>
              </a:lnSpc>
            </a:pPr>
            <a:r>
              <a:rPr lang="en-US" dirty="0"/>
              <a:t>Private Cloud</a:t>
            </a:r>
          </a:p>
          <a:p>
            <a:pPr marL="785785" lvl="1"/>
            <a:r>
              <a:rPr lang="en-US" dirty="0"/>
              <a:t>Use cloud computing concepts in a private data center</a:t>
            </a:r>
          </a:p>
          <a:p>
            <a:pPr marL="1098313" lvl="2"/>
            <a:r>
              <a:rPr lang="en-US" dirty="0"/>
              <a:t>Automate VM management and deployment</a:t>
            </a:r>
          </a:p>
          <a:p>
            <a:pPr marL="1098313" lvl="2"/>
            <a:r>
              <a:rPr lang="en-US" dirty="0"/>
              <a:t>Provides same convenience as public cloud</a:t>
            </a:r>
          </a:p>
          <a:p>
            <a:pPr marL="1098313" lvl="2"/>
            <a:r>
              <a:rPr lang="en-US" dirty="0"/>
              <a:t>May have higher cost</a:t>
            </a:r>
          </a:p>
          <a:p>
            <a:pPr marL="2473435" lvl="4">
              <a:lnSpc>
                <a:spcPct val="90000"/>
              </a:lnSpc>
            </a:pPr>
            <a:endParaRPr lang="en-US" dirty="0"/>
          </a:p>
          <a:p>
            <a:pPr marL="473257">
              <a:lnSpc>
                <a:spcPct val="60000"/>
              </a:lnSpc>
            </a:pPr>
            <a:r>
              <a:rPr lang="en-US" dirty="0"/>
              <a:t>Hybrid Model</a:t>
            </a:r>
          </a:p>
          <a:p>
            <a:pPr marL="785785" lvl="1"/>
            <a:r>
              <a:rPr lang="en-US" dirty="0"/>
              <a:t>Move resources between private and public depending on load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Oval 3"/>
          <p:cNvSpPr>
            <a:spLocks noChangeArrowheads="1"/>
          </p:cNvSpPr>
          <p:nvPr/>
        </p:nvSpPr>
        <p:spPr bwMode="auto">
          <a:xfrm>
            <a:off x="4724400" y="1905000"/>
            <a:ext cx="3200400" cy="1676400"/>
          </a:xfrm>
          <a:prstGeom prst="ellipse">
            <a:avLst/>
          </a:prstGeom>
          <a:gradFill rotWithShape="0">
            <a:gsLst>
              <a:gs pos="0">
                <a:srgbClr val="1DFFC4"/>
              </a:gs>
              <a:gs pos="100000">
                <a:srgbClr val="18D2A1"/>
              </a:gs>
            </a:gsLst>
            <a:path path="shape">
              <a:fillToRect l="50000" t="50000" r="50000" b="50000"/>
            </a:path>
          </a:gradFill>
          <a:ln w="9398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dirty="0">
                <a:solidFill>
                  <a:srgbClr val="000000"/>
                </a:solidFill>
              </a:rPr>
              <a:t>Private</a:t>
            </a:r>
            <a:br>
              <a:rPr lang="en-US" sz="1800" dirty="0">
                <a:solidFill>
                  <a:srgbClr val="000000"/>
                </a:solidFill>
              </a:rPr>
            </a:br>
            <a:r>
              <a:rPr lang="en-US" sz="1800" dirty="0">
                <a:solidFill>
                  <a:srgbClr val="000000"/>
                </a:solidFill>
              </a:rPr>
              <a:t>Cloud</a:t>
            </a:r>
          </a:p>
        </p:txBody>
      </p:sp>
      <p:sp>
        <p:nvSpPr>
          <p:cNvPr id="44034" name="Rectangle 1"/>
          <p:cNvSpPr>
            <a:spLocks noGrp="1" noChangeArrowheads="1"/>
          </p:cNvSpPr>
          <p:nvPr>
            <p:ph type="title"/>
          </p:nvPr>
        </p:nvSpPr>
        <p:spPr>
          <a:xfrm>
            <a:off x="410444" y="381000"/>
            <a:ext cx="8328744" cy="838200"/>
          </a:xfrm>
        </p:spPr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/>
              <a:t>Deployment Models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410444" y="3962400"/>
            <a:ext cx="8382000" cy="2133600"/>
          </a:xfrm>
          <a:prstGeom prst="rect">
            <a:avLst/>
          </a:prstGeom>
        </p:spPr>
        <p:txBody>
          <a:bodyPr lIns="0"/>
          <a:lstStyle/>
          <a:p>
            <a:pPr marL="457200" indent="-457200">
              <a:spcBef>
                <a:spcPts val="600"/>
              </a:spcBef>
              <a:spcAft>
                <a:spcPts val="0"/>
              </a:spcAft>
              <a:tabLst>
                <a:tab pos="457200" algn="l"/>
                <a:tab pos="573088" algn="l"/>
                <a:tab pos="1030288" algn="l"/>
                <a:tab pos="1487488" algn="l"/>
                <a:tab pos="1944688" algn="l"/>
                <a:tab pos="2401888" algn="l"/>
                <a:tab pos="2859088" algn="l"/>
                <a:tab pos="3316288" algn="l"/>
                <a:tab pos="3773488" algn="l"/>
                <a:tab pos="4230688" algn="l"/>
                <a:tab pos="4687888" algn="l"/>
                <a:tab pos="5145088" algn="l"/>
                <a:tab pos="5602288" algn="l"/>
                <a:tab pos="6059488" algn="l"/>
                <a:tab pos="6516688" algn="l"/>
                <a:tab pos="6973888" algn="l"/>
                <a:tab pos="7431088" algn="l"/>
                <a:tab pos="7888288" algn="l"/>
                <a:tab pos="8345488" algn="l"/>
                <a:tab pos="8802688" algn="l"/>
                <a:tab pos="9259888" algn="l"/>
              </a:tabLst>
            </a:pPr>
            <a:r>
              <a:rPr lang="en-US" b="1" dirty="0"/>
              <a:t>Hybrid cloud:</a:t>
            </a:r>
          </a:p>
          <a:p>
            <a:pPr marL="230188" indent="-230188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Verdana" charset="0"/>
              <a:buChar char="•"/>
              <a:tabLst>
                <a:tab pos="573088" algn="l"/>
                <a:tab pos="1030288" algn="l"/>
                <a:tab pos="1487488" algn="l"/>
                <a:tab pos="1944688" algn="l"/>
                <a:tab pos="2401888" algn="l"/>
                <a:tab pos="2859088" algn="l"/>
                <a:tab pos="3316288" algn="l"/>
                <a:tab pos="3773488" algn="l"/>
                <a:tab pos="4230688" algn="l"/>
                <a:tab pos="4687888" algn="l"/>
                <a:tab pos="5145088" algn="l"/>
                <a:tab pos="5602288" algn="l"/>
                <a:tab pos="6059488" algn="l"/>
                <a:tab pos="6516688" algn="l"/>
                <a:tab pos="6973888" algn="l"/>
                <a:tab pos="7431088" algn="l"/>
                <a:tab pos="7888288" algn="l"/>
                <a:tab pos="8345488" algn="l"/>
                <a:tab pos="8802688" algn="l"/>
                <a:tab pos="9259888" algn="l"/>
              </a:tabLst>
            </a:pPr>
            <a:r>
              <a:rPr lang="en-US" sz="1800" dirty="0">
                <a:solidFill>
                  <a:srgbClr val="000000"/>
                </a:solidFill>
              </a:rPr>
              <a:t>Typically rely on company’s own resources, flex to public cloud resources at peak loads</a:t>
            </a:r>
          </a:p>
          <a:p>
            <a:pPr marL="230188" indent="-230188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Verdana" charset="0"/>
              <a:buChar char="•"/>
              <a:tabLst>
                <a:tab pos="573088" algn="l"/>
                <a:tab pos="1030288" algn="l"/>
                <a:tab pos="1487488" algn="l"/>
                <a:tab pos="1944688" algn="l"/>
                <a:tab pos="2401888" algn="l"/>
                <a:tab pos="2859088" algn="l"/>
                <a:tab pos="3316288" algn="l"/>
                <a:tab pos="3773488" algn="l"/>
                <a:tab pos="4230688" algn="l"/>
                <a:tab pos="4687888" algn="l"/>
                <a:tab pos="5145088" algn="l"/>
                <a:tab pos="5602288" algn="l"/>
                <a:tab pos="6059488" algn="l"/>
                <a:tab pos="6516688" algn="l"/>
                <a:tab pos="6973888" algn="l"/>
                <a:tab pos="7431088" algn="l"/>
                <a:tab pos="7888288" algn="l"/>
                <a:tab pos="8345488" algn="l"/>
                <a:tab pos="8802688" algn="l"/>
                <a:tab pos="9259888" algn="l"/>
              </a:tabLst>
            </a:pPr>
            <a:r>
              <a:rPr lang="en-US" sz="1800" dirty="0">
                <a:solidFill>
                  <a:srgbClr val="000000"/>
                </a:solidFill>
              </a:rPr>
              <a:t>Cost efficient</a:t>
            </a:r>
          </a:p>
          <a:p>
            <a:pPr marL="230188" indent="-230188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Verdana" charset="0"/>
              <a:buChar char="•"/>
              <a:tabLst>
                <a:tab pos="573088" algn="l"/>
                <a:tab pos="1030288" algn="l"/>
                <a:tab pos="1487488" algn="l"/>
                <a:tab pos="1944688" algn="l"/>
                <a:tab pos="2401888" algn="l"/>
                <a:tab pos="2859088" algn="l"/>
                <a:tab pos="3316288" algn="l"/>
                <a:tab pos="3773488" algn="l"/>
                <a:tab pos="4230688" algn="l"/>
                <a:tab pos="4687888" algn="l"/>
                <a:tab pos="5145088" algn="l"/>
                <a:tab pos="5602288" algn="l"/>
                <a:tab pos="6059488" algn="l"/>
                <a:tab pos="6516688" algn="l"/>
                <a:tab pos="6973888" algn="l"/>
                <a:tab pos="7431088" algn="l"/>
                <a:tab pos="7888288" algn="l"/>
                <a:tab pos="8345488" algn="l"/>
                <a:tab pos="8802688" algn="l"/>
                <a:tab pos="9259888" algn="l"/>
              </a:tabLst>
            </a:pPr>
            <a:r>
              <a:rPr lang="en-US" sz="1800" dirty="0">
                <a:solidFill>
                  <a:srgbClr val="000000"/>
                </a:solidFill>
              </a:rPr>
              <a:t>Can be made seamless (e.g., the same programming APIs in both clouds)</a:t>
            </a:r>
          </a:p>
        </p:txBody>
      </p:sp>
      <p:sp>
        <p:nvSpPr>
          <p:cNvPr id="44035" name="Oval 2"/>
          <p:cNvSpPr>
            <a:spLocks noChangeArrowheads="1"/>
          </p:cNvSpPr>
          <p:nvPr/>
        </p:nvSpPr>
        <p:spPr bwMode="auto">
          <a:xfrm>
            <a:off x="1219200" y="1905000"/>
            <a:ext cx="3200400" cy="1676400"/>
          </a:xfrm>
          <a:prstGeom prst="ellipse">
            <a:avLst/>
          </a:prstGeom>
          <a:gradFill rotWithShape="0">
            <a:gsLst>
              <a:gs pos="0">
                <a:srgbClr val="FFF5C9"/>
              </a:gs>
              <a:gs pos="100000">
                <a:srgbClr val="FFD10D"/>
              </a:gs>
            </a:gsLst>
            <a:path path="shape">
              <a:fillToRect l="50000" t="50000" r="50000" b="50000"/>
            </a:path>
          </a:gradFill>
          <a:ln w="9398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dirty="0">
                <a:solidFill>
                  <a:srgbClr val="000000"/>
                </a:solidFill>
              </a:rPr>
              <a:t>Public </a:t>
            </a:r>
            <a:br>
              <a:rPr lang="en-US" sz="1800" dirty="0">
                <a:solidFill>
                  <a:srgbClr val="000000"/>
                </a:solidFill>
              </a:rPr>
            </a:br>
            <a:r>
              <a:rPr lang="en-US" sz="1800" dirty="0">
                <a:solidFill>
                  <a:srgbClr val="000000"/>
                </a:solidFill>
              </a:rPr>
              <a:t>Clouds</a:t>
            </a:r>
          </a:p>
        </p:txBody>
      </p:sp>
      <p:sp>
        <p:nvSpPr>
          <p:cNvPr id="11268" name="Oval 4"/>
          <p:cNvSpPr>
            <a:spLocks noChangeArrowheads="1"/>
          </p:cNvSpPr>
          <p:nvPr/>
        </p:nvSpPr>
        <p:spPr bwMode="auto">
          <a:xfrm>
            <a:off x="3429000" y="1295400"/>
            <a:ext cx="4572000" cy="2514600"/>
          </a:xfrm>
          <a:prstGeom prst="ellipse">
            <a:avLst/>
          </a:prstGeom>
          <a:gradFill rotWithShape="1">
            <a:gsLst>
              <a:gs pos="0">
                <a:srgbClr val="00FFFF">
                  <a:alpha val="1999"/>
                </a:srgbClr>
              </a:gs>
              <a:gs pos="100000">
                <a:srgbClr val="DFFFFF"/>
              </a:gs>
            </a:gsLst>
            <a:path path="shape">
              <a:fillToRect l="50000" t="50000" r="50000" b="50000"/>
            </a:path>
          </a:gradFill>
          <a:ln w="9398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4649788" y="1524000"/>
            <a:ext cx="1501775" cy="349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>
                <a:solidFill>
                  <a:srgbClr val="000000"/>
                </a:solidFill>
              </a:rPr>
              <a:t>Hybrid Cloud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02165" y="6341880"/>
            <a:ext cx="385235" cy="152400"/>
          </a:xfrm>
        </p:spPr>
        <p:txBody>
          <a:bodyPr/>
          <a:lstStyle/>
          <a:p>
            <a:fld id="{1DEFE11F-158B-594E-8BEE-CC26B87FEB38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loud Isol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Cloud Isolation</a:t>
            </a:r>
          </a:p>
        </p:txBody>
      </p:sp>
      <p:sp>
        <p:nvSpPr>
          <p:cNvPr id="41" name="Cloud data centers are isolated from one another and the enterprise…"/>
          <p:cNvSpPr txBox="1">
            <a:spLocks noGrp="1"/>
          </p:cNvSpPr>
          <p:nvPr>
            <p:ph type="body" sz="half" idx="1"/>
          </p:nvPr>
        </p:nvSpPr>
        <p:spPr>
          <a:xfrm>
            <a:off x="214312" y="1346633"/>
            <a:ext cx="4607719" cy="5357813"/>
          </a:xfrm>
          <a:prstGeom prst="rect">
            <a:avLst/>
          </a:prstGeom>
        </p:spPr>
        <p:txBody>
          <a:bodyPr/>
          <a:lstStyle/>
          <a:p>
            <a:r>
              <a:rPr dirty="0"/>
              <a:t>Cloud data centers are isolated from one another and the enterprise</a:t>
            </a:r>
          </a:p>
          <a:p>
            <a:pPr lvl="1"/>
            <a:endParaRPr dirty="0"/>
          </a:p>
          <a:p>
            <a:r>
              <a:rPr dirty="0"/>
              <a:t>Complicates</a:t>
            </a:r>
          </a:p>
          <a:p>
            <a:pPr lvl="1"/>
            <a:r>
              <a:rPr dirty="0"/>
              <a:t>Deployment</a:t>
            </a:r>
          </a:p>
          <a:p>
            <a:pPr lvl="1"/>
            <a:r>
              <a:rPr dirty="0"/>
              <a:t>Security</a:t>
            </a:r>
          </a:p>
          <a:p>
            <a:pPr lvl="1"/>
            <a:r>
              <a:rPr dirty="0"/>
              <a:t>Resource management </a:t>
            </a:r>
          </a:p>
        </p:txBody>
      </p:sp>
      <p:sp>
        <p:nvSpPr>
          <p:cNvPr id="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76106" y="6460635"/>
            <a:ext cx="184346" cy="29738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 kern="0">
                <a:latin typeface="Gill Sans"/>
                <a:cs typeface="Gill Sans"/>
                <a:sym typeface="Gill Sans"/>
              </a:rPr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t>4</a:t>
            </a:fld>
            <a:endParaRPr kern="0">
              <a:latin typeface="Gill Sans"/>
              <a:cs typeface="Gill Sans"/>
              <a:sym typeface="Gill Sans"/>
            </a:endParaRPr>
          </a:p>
        </p:txBody>
      </p:sp>
      <p:pic>
        <p:nvPicPr>
          <p:cNvPr id="43" name="united-states-map.gif" descr="united-states-ma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1673316"/>
            <a:ext cx="4045148" cy="244327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6" name="Group"/>
          <p:cNvGrpSpPr/>
          <p:nvPr/>
        </p:nvGrpSpPr>
        <p:grpSpPr>
          <a:xfrm>
            <a:off x="4964906" y="3241476"/>
            <a:ext cx="1678781" cy="1062633"/>
            <a:chOff x="0" y="0"/>
            <a:chExt cx="2387600" cy="1511300"/>
          </a:xfrm>
        </p:grpSpPr>
        <p:sp>
          <p:nvSpPr>
            <p:cNvPr id="44" name="Oval"/>
            <p:cNvSpPr/>
            <p:nvPr/>
          </p:nvSpPr>
          <p:spPr>
            <a:xfrm>
              <a:off x="0" y="0"/>
              <a:ext cx="1638300" cy="1511300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45" name="Oval"/>
            <p:cNvSpPr/>
            <p:nvPr/>
          </p:nvSpPr>
          <p:spPr>
            <a:xfrm>
              <a:off x="749300" y="266700"/>
              <a:ext cx="1638300" cy="1041400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</p:grpSp>
      <p:sp>
        <p:nvSpPr>
          <p:cNvPr id="47" name="Oval"/>
          <p:cNvSpPr/>
          <p:nvPr/>
        </p:nvSpPr>
        <p:spPr>
          <a:xfrm>
            <a:off x="6072188" y="3464719"/>
            <a:ext cx="1598414" cy="383977"/>
          </a:xfrm>
          <a:prstGeom prst="ellipse">
            <a:avLst/>
          </a:prstGeom>
          <a:solidFill>
            <a:srgbClr val="FF8647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pic>
        <p:nvPicPr>
          <p:cNvPr id="48" name="ICON_Datacenter_1_R2_Q308.png" descr="ICON_Datacenter_1_R2_Q308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563321" y="2544961"/>
            <a:ext cx="616148" cy="1178719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image.pdf" descr="image.pdf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152680" y="2089547"/>
            <a:ext cx="964406" cy="482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ICON_Datacenter_1_R2_Q308.png" descr="ICON_Datacenter_1_R2_Q308.png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304485" y="1348383"/>
            <a:ext cx="616148" cy="117871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7" name="Group"/>
          <p:cNvGrpSpPr/>
          <p:nvPr/>
        </p:nvGrpSpPr>
        <p:grpSpPr>
          <a:xfrm>
            <a:off x="5786437" y="3741539"/>
            <a:ext cx="2538375" cy="2616251"/>
            <a:chOff x="0" y="0"/>
            <a:chExt cx="3610133" cy="3720889"/>
          </a:xfrm>
        </p:grpSpPr>
        <p:sp>
          <p:nvSpPr>
            <p:cNvPr id="51" name="Oval"/>
            <p:cNvSpPr/>
            <p:nvPr/>
          </p:nvSpPr>
          <p:spPr>
            <a:xfrm>
              <a:off x="0" y="2095500"/>
              <a:ext cx="3594100" cy="1028701"/>
            </a:xfrm>
            <a:prstGeom prst="ellipse">
              <a:avLst/>
            </a:prstGeom>
            <a:solidFill>
              <a:srgbClr val="FF8647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pic>
          <p:nvPicPr>
            <p:cNvPr id="52" name="ICON_Datacenter_1_R2_Q308.png" descr="ICON_Datacenter_1_R2_Q308.png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6937" y="898525"/>
              <a:ext cx="876301" cy="1676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3" name="Enterprise View"/>
            <p:cNvSpPr/>
            <p:nvPr/>
          </p:nvSpPr>
          <p:spPr>
            <a:xfrm>
              <a:off x="10287" y="2972011"/>
              <a:ext cx="3599846" cy="7488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r>
                <a:rPr sz="2953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rPr>
                <a:t>Enterprise View</a:t>
              </a:r>
            </a:p>
          </p:txBody>
        </p:sp>
        <p:pic>
          <p:nvPicPr>
            <p:cNvPr id="54" name="ICON_Datacenter_1_R2_Q308.png" descr="ICON_Datacenter_1_R2_Q308.png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58900" y="1168400"/>
              <a:ext cx="876300" cy="1676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" name="ICON_Datacenter_1_R2_Q308.png" descr="ICON_Datacenter_1_R2_Q308.png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11337" y="1431925"/>
              <a:ext cx="876301" cy="1676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6" name="Line"/>
            <p:cNvSpPr/>
            <p:nvPr/>
          </p:nvSpPr>
          <p:spPr>
            <a:xfrm flipV="1">
              <a:off x="1621366" y="0"/>
              <a:ext cx="1" cy="914558"/>
            </a:xfrm>
            <a:prstGeom prst="line">
              <a:avLst/>
            </a:prstGeom>
            <a:noFill/>
            <a:ln w="762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</p:grpSp>
      <p:sp>
        <p:nvSpPr>
          <p:cNvPr id="58" name="Need a way to flexibly manage IT resources  across data centers"/>
          <p:cNvSpPr/>
          <p:nvPr/>
        </p:nvSpPr>
        <p:spPr>
          <a:xfrm>
            <a:off x="553641" y="4900649"/>
            <a:ext cx="4563070" cy="1857375"/>
          </a:xfrm>
          <a:prstGeom prst="roundRect">
            <a:avLst>
              <a:gd name="adj" fmla="val 7212"/>
            </a:avLst>
          </a:prstGeom>
          <a:solidFill>
            <a:srgbClr val="CCE8B5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562"/>
              </a:spcBef>
              <a:spcAft>
                <a:spcPts val="0"/>
              </a:spcAft>
              <a:defRPr sz="4100"/>
            </a:pPr>
            <a:r>
              <a:rPr sz="2883" kern="0">
                <a:solidFill>
                  <a:srgbClr val="000000"/>
                </a:solidFill>
                <a:latin typeface="Gill Sans"/>
                <a:cs typeface="Gill Sans"/>
                <a:sym typeface="Gill Sans"/>
              </a:rPr>
              <a:t>Need a way to flexibly manage IT resources </a:t>
            </a:r>
            <a:br>
              <a:rPr sz="2883" kern="0">
                <a:solidFill>
                  <a:srgbClr val="000000"/>
                </a:solidFill>
                <a:latin typeface="Gill Sans"/>
                <a:cs typeface="Gill Sans"/>
                <a:sym typeface="Gill Sans"/>
              </a:rPr>
            </a:br>
            <a:r>
              <a:rPr sz="2883" kern="0">
                <a:solidFill>
                  <a:srgbClr val="000000"/>
                </a:solidFill>
                <a:latin typeface="Gill Sans"/>
                <a:cs typeface="Gill Sans"/>
                <a:sym typeface="Gill Sans"/>
              </a:rPr>
              <a:t>across data centers</a:t>
            </a:r>
          </a:p>
        </p:txBody>
      </p:sp>
      <p:pic>
        <p:nvPicPr>
          <p:cNvPr id="59" name="image.pdf" descr="image.pdf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920258" y="2107406"/>
            <a:ext cx="964406" cy="482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ICON_Datacenter_1_R2_Q308.png" descr="ICON_Datacenter_1_R2_Q308.png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089922" y="1348383"/>
            <a:ext cx="616148" cy="117871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542597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Text Box 2"/>
          <p:cNvSpPr txBox="1">
            <a:spLocks noChangeArrowheads="1"/>
          </p:cNvSpPr>
          <p:nvPr/>
        </p:nvSpPr>
        <p:spPr bwMode="auto">
          <a:xfrm>
            <a:off x="410444" y="1322037"/>
            <a:ext cx="8305800" cy="66408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ct val="95000"/>
              </a:lnSpc>
              <a:spcBef>
                <a:spcPts val="350"/>
              </a:spcBef>
              <a:spcAft>
                <a:spcPts val="350"/>
              </a:spcAft>
              <a:tabLst>
                <a:tab pos="228600" algn="l"/>
                <a:tab pos="344488" algn="l"/>
                <a:tab pos="801688" algn="l"/>
                <a:tab pos="1258888" algn="l"/>
                <a:tab pos="1716088" algn="l"/>
                <a:tab pos="2173288" algn="l"/>
                <a:tab pos="2630488" algn="l"/>
                <a:tab pos="3087688" algn="l"/>
                <a:tab pos="3544888" algn="l"/>
                <a:tab pos="4002088" algn="l"/>
                <a:tab pos="4459288" algn="l"/>
                <a:tab pos="4916488" algn="l"/>
                <a:tab pos="5373688" algn="l"/>
                <a:tab pos="5830888" algn="l"/>
                <a:tab pos="6288088" algn="l"/>
                <a:tab pos="6745288" algn="l"/>
                <a:tab pos="7202488" algn="l"/>
                <a:tab pos="7659688" algn="l"/>
                <a:tab pos="8116888" algn="l"/>
                <a:tab pos="8574088" algn="l"/>
                <a:tab pos="9031288" algn="l"/>
              </a:tabLst>
            </a:pPr>
            <a:r>
              <a:rPr lang="en-US" sz="1600" b="1" dirty="0">
                <a:solidFill>
                  <a:srgbClr val="067AB4"/>
                </a:solidFill>
                <a:latin typeface="Verdana" charset="0"/>
              </a:rPr>
              <a:t>Issue: </a:t>
            </a:r>
            <a:r>
              <a:rPr lang="en-US" sz="1600" dirty="0">
                <a:solidFill>
                  <a:srgbClr val="000000"/>
                </a:solidFill>
                <a:latin typeface="Verdana" charset="0"/>
              </a:rPr>
              <a:t>Cloud platforms often not optimized for enterprise use.</a:t>
            </a:r>
          </a:p>
          <a:p>
            <a:pPr algn="l">
              <a:lnSpc>
                <a:spcPct val="95000"/>
              </a:lnSpc>
              <a:spcBef>
                <a:spcPts val="350"/>
              </a:spcBef>
              <a:spcAft>
                <a:spcPts val="350"/>
              </a:spcAft>
              <a:tabLst>
                <a:tab pos="228600" algn="l"/>
                <a:tab pos="344488" algn="l"/>
                <a:tab pos="801688" algn="l"/>
                <a:tab pos="1258888" algn="l"/>
                <a:tab pos="1716088" algn="l"/>
                <a:tab pos="2173288" algn="l"/>
                <a:tab pos="2630488" algn="l"/>
                <a:tab pos="3087688" algn="l"/>
                <a:tab pos="3544888" algn="l"/>
                <a:tab pos="4002088" algn="l"/>
                <a:tab pos="4459288" algn="l"/>
                <a:tab pos="4916488" algn="l"/>
                <a:tab pos="5373688" algn="l"/>
                <a:tab pos="5830888" algn="l"/>
                <a:tab pos="6288088" algn="l"/>
                <a:tab pos="6745288" algn="l"/>
                <a:tab pos="7202488" algn="l"/>
                <a:tab pos="7659688" algn="l"/>
                <a:tab pos="8116888" algn="l"/>
                <a:tab pos="8574088" algn="l"/>
                <a:tab pos="9031288" algn="l"/>
              </a:tabLst>
            </a:pPr>
            <a:r>
              <a:rPr lang="en-US" sz="1600" dirty="0">
                <a:solidFill>
                  <a:srgbClr val="000000"/>
                </a:solidFill>
                <a:latin typeface="Verdana" charset="0"/>
              </a:rPr>
              <a:t>Example: Think about Payroll Processing</a:t>
            </a:r>
          </a:p>
          <a:p>
            <a:pPr marL="0" lvl="1" indent="0" algn="l">
              <a:lnSpc>
                <a:spcPct val="95000"/>
              </a:lnSpc>
              <a:spcBef>
                <a:spcPts val="300"/>
              </a:spcBef>
              <a:spcAft>
                <a:spcPts val="350"/>
              </a:spcAft>
              <a:buClrTx/>
              <a:buSzTx/>
              <a:tabLst>
                <a:tab pos="228600" algn="l"/>
                <a:tab pos="344488" algn="l"/>
                <a:tab pos="801688" algn="l"/>
                <a:tab pos="1258888" algn="l"/>
                <a:tab pos="1716088" algn="l"/>
                <a:tab pos="2173288" algn="l"/>
                <a:tab pos="2630488" algn="l"/>
                <a:tab pos="3087688" algn="l"/>
                <a:tab pos="3544888" algn="l"/>
                <a:tab pos="4002088" algn="l"/>
                <a:tab pos="4459288" algn="l"/>
                <a:tab pos="4916488" algn="l"/>
                <a:tab pos="5373688" algn="l"/>
                <a:tab pos="5830888" algn="l"/>
                <a:tab pos="6288088" algn="l"/>
                <a:tab pos="6745288" algn="l"/>
                <a:tab pos="7202488" algn="l"/>
                <a:tab pos="7659688" algn="l"/>
                <a:tab pos="8116888" algn="l"/>
                <a:tab pos="8574088" algn="l"/>
                <a:tab pos="9031288" algn="l"/>
              </a:tabLst>
            </a:pPr>
            <a:endParaRPr lang="en-US" sz="1600" dirty="0">
              <a:solidFill>
                <a:srgbClr val="000000"/>
              </a:solidFill>
              <a:latin typeface="Verdana" charset="0"/>
              <a:cs typeface="Arial" charset="0"/>
            </a:endParaRPr>
          </a:p>
          <a:p>
            <a:pPr algn="l">
              <a:lnSpc>
                <a:spcPct val="95000"/>
              </a:lnSpc>
              <a:spcBef>
                <a:spcPts val="150"/>
              </a:spcBef>
              <a:spcAft>
                <a:spcPts val="450"/>
              </a:spcAft>
              <a:buClrTx/>
              <a:buSzTx/>
              <a:buFontTx/>
              <a:buNone/>
              <a:tabLst>
                <a:tab pos="228600" algn="l"/>
                <a:tab pos="344488" algn="l"/>
                <a:tab pos="801688" algn="l"/>
                <a:tab pos="1258888" algn="l"/>
                <a:tab pos="1716088" algn="l"/>
                <a:tab pos="2173288" algn="l"/>
                <a:tab pos="2630488" algn="l"/>
                <a:tab pos="3087688" algn="l"/>
                <a:tab pos="3544888" algn="l"/>
                <a:tab pos="4002088" algn="l"/>
                <a:tab pos="4459288" algn="l"/>
                <a:tab pos="4916488" algn="l"/>
                <a:tab pos="5373688" algn="l"/>
                <a:tab pos="5830888" algn="l"/>
                <a:tab pos="6288088" algn="l"/>
                <a:tab pos="6745288" algn="l"/>
                <a:tab pos="7202488" algn="l"/>
                <a:tab pos="7659688" algn="l"/>
                <a:tab pos="8116888" algn="l"/>
                <a:tab pos="8574088" algn="l"/>
                <a:tab pos="9031288" algn="l"/>
              </a:tabLst>
            </a:pPr>
            <a:endParaRPr lang="en-US" sz="1800" dirty="0">
              <a:solidFill>
                <a:srgbClr val="000000"/>
              </a:solidFill>
              <a:latin typeface="Verdana" charset="0"/>
              <a:cs typeface="Arial" charset="0"/>
            </a:endParaRPr>
          </a:p>
          <a:p>
            <a:pPr algn="l">
              <a:lnSpc>
                <a:spcPct val="95000"/>
              </a:lnSpc>
              <a:spcBef>
                <a:spcPts val="150"/>
              </a:spcBef>
              <a:spcAft>
                <a:spcPts val="450"/>
              </a:spcAft>
              <a:buClrTx/>
              <a:buSzTx/>
              <a:buFontTx/>
              <a:buNone/>
              <a:tabLst>
                <a:tab pos="228600" algn="l"/>
                <a:tab pos="344488" algn="l"/>
                <a:tab pos="801688" algn="l"/>
                <a:tab pos="1258888" algn="l"/>
                <a:tab pos="1716088" algn="l"/>
                <a:tab pos="2173288" algn="l"/>
                <a:tab pos="2630488" algn="l"/>
                <a:tab pos="3087688" algn="l"/>
                <a:tab pos="3544888" algn="l"/>
                <a:tab pos="4002088" algn="l"/>
                <a:tab pos="4459288" algn="l"/>
                <a:tab pos="4916488" algn="l"/>
                <a:tab pos="5373688" algn="l"/>
                <a:tab pos="5830888" algn="l"/>
                <a:tab pos="6288088" algn="l"/>
                <a:tab pos="6745288" algn="l"/>
                <a:tab pos="7202488" algn="l"/>
                <a:tab pos="7659688" algn="l"/>
                <a:tab pos="8116888" algn="l"/>
                <a:tab pos="8574088" algn="l"/>
                <a:tab pos="9031288" algn="l"/>
              </a:tabLst>
            </a:pPr>
            <a:endParaRPr lang="en-US" sz="1800" dirty="0">
              <a:solidFill>
                <a:srgbClr val="000000"/>
              </a:solidFill>
              <a:latin typeface="Verdana" charset="0"/>
              <a:cs typeface="Arial" charset="0"/>
            </a:endParaRP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3048000" y="4663728"/>
            <a:ext cx="3048000" cy="1600200"/>
            <a:chOff x="1920" y="2976"/>
            <a:chExt cx="1920" cy="1008"/>
          </a:xfrm>
        </p:grpSpPr>
        <p:pic>
          <p:nvPicPr>
            <p:cNvPr id="53265" name="Picture 2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920" y="2976"/>
              <a:ext cx="1920" cy="10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3266" name="Rectangle 14"/>
            <p:cNvSpPr>
              <a:spLocks noChangeArrowheads="1"/>
            </p:cNvSpPr>
            <p:nvPr/>
          </p:nvSpPr>
          <p:spPr bwMode="auto">
            <a:xfrm>
              <a:off x="2219" y="3552"/>
              <a:ext cx="147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2000" b="1" dirty="0">
                  <a:solidFill>
                    <a:srgbClr val="4D4D4D"/>
                  </a:solidFill>
                </a:rPr>
                <a:t>Cloud Platform</a:t>
              </a:r>
              <a:endParaRPr lang="en-US" sz="2000" b="1" dirty="0">
                <a:solidFill>
                  <a:srgbClr val="CCCCCC"/>
                </a:solidFill>
              </a:endParaRPr>
            </a:p>
          </p:txBody>
        </p:sp>
      </p:grpSp>
      <p:sp>
        <p:nvSpPr>
          <p:cNvPr id="80" name="AutoShape 10"/>
          <p:cNvSpPr>
            <a:spLocks noChangeArrowheads="1"/>
          </p:cNvSpPr>
          <p:nvPr/>
        </p:nvSpPr>
        <p:spPr bwMode="auto">
          <a:xfrm>
            <a:off x="3962400" y="4784378"/>
            <a:ext cx="1219200" cy="863600"/>
          </a:xfrm>
          <a:prstGeom prst="roundRect">
            <a:avLst>
              <a:gd name="adj" fmla="val 16667"/>
            </a:avLst>
          </a:prstGeom>
          <a:solidFill>
            <a:srgbClr val="6EBB1F"/>
          </a:solidFill>
          <a:ln w="12700">
            <a:noFill/>
            <a:round/>
            <a:headEnd/>
            <a:tailEnd/>
          </a:ln>
        </p:spPr>
        <p:txBody>
          <a:bodyPr wrap="none" anchor="ctr"/>
          <a:lstStyle/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sz="1600">
                <a:solidFill>
                  <a:srgbClr val="FFFFFF"/>
                </a:solidFill>
              </a:rPr>
              <a:t>Processing</a:t>
            </a:r>
            <a:br>
              <a:rPr lang="en-US" sz="1600">
                <a:solidFill>
                  <a:srgbClr val="FFFFFF"/>
                </a:solidFill>
              </a:rPr>
            </a:br>
            <a:r>
              <a:rPr lang="en-US" sz="1600">
                <a:solidFill>
                  <a:srgbClr val="FFFFFF"/>
                </a:solidFill>
              </a:rPr>
              <a:t>Tier</a:t>
            </a:r>
          </a:p>
        </p:txBody>
      </p:sp>
      <p:cxnSp>
        <p:nvCxnSpPr>
          <p:cNvPr id="81" name="AutoShape 11"/>
          <p:cNvCxnSpPr>
            <a:cxnSpLocks noChangeShapeType="1"/>
            <a:endCxn id="80" idx="0"/>
          </p:cNvCxnSpPr>
          <p:nvPr/>
        </p:nvCxnSpPr>
        <p:spPr bwMode="auto">
          <a:xfrm>
            <a:off x="4572000" y="4358928"/>
            <a:ext cx="0" cy="425450"/>
          </a:xfrm>
          <a:prstGeom prst="straightConnector1">
            <a:avLst/>
          </a:prstGeom>
          <a:noFill/>
          <a:ln w="76200">
            <a:solidFill>
              <a:srgbClr val="AC0003"/>
            </a:solidFill>
            <a:round/>
            <a:headEnd/>
            <a:tailEnd type="triangle" w="sm" len="sm"/>
          </a:ln>
        </p:spPr>
      </p:cxnSp>
      <p:sp>
        <p:nvSpPr>
          <p:cNvPr id="51211" name="Rectangle 22"/>
          <p:cNvSpPr>
            <a:spLocks noChangeArrowheads="1"/>
          </p:cNvSpPr>
          <p:nvPr/>
        </p:nvSpPr>
        <p:spPr bwMode="auto">
          <a:xfrm>
            <a:off x="914400" y="2834928"/>
            <a:ext cx="7239000" cy="1600200"/>
          </a:xfrm>
          <a:prstGeom prst="rect">
            <a:avLst/>
          </a:prstGeom>
          <a:solidFill>
            <a:srgbClr val="CCCCCC"/>
          </a:solidFill>
          <a:ln w="12700">
            <a:solidFill>
              <a:srgbClr val="4D4D4D"/>
            </a:solidFill>
            <a:miter lim="800000"/>
            <a:headEnd/>
            <a:tailEnd/>
          </a:ln>
        </p:spPr>
        <p:txBody>
          <a:bodyPr wrap="none" anchor="ctr"/>
          <a:lstStyle/>
          <a:p>
            <a:pPr defTabSz="914400" eaLnBrk="1" hangingPunct="1">
              <a:lnSpc>
                <a:spcPct val="100000"/>
              </a:lnSpc>
              <a:buClrTx/>
              <a:buSzTx/>
              <a:buFontTx/>
              <a:buNone/>
            </a:pPr>
            <a:endParaRPr lang="en-US" sz="1800">
              <a:solidFill>
                <a:srgbClr val="4D4D4D"/>
              </a:solidFill>
            </a:endParaRPr>
          </a:p>
        </p:txBody>
      </p:sp>
      <p:sp>
        <p:nvSpPr>
          <p:cNvPr id="51212" name="AutoShape 4"/>
          <p:cNvSpPr>
            <a:spLocks noChangeArrowheads="1"/>
          </p:cNvSpPr>
          <p:nvPr/>
        </p:nvSpPr>
        <p:spPr bwMode="auto">
          <a:xfrm>
            <a:off x="1066800" y="3215928"/>
            <a:ext cx="1828800" cy="1143000"/>
          </a:xfrm>
          <a:prstGeom prst="roundRect">
            <a:avLst>
              <a:gd name="adj" fmla="val 16667"/>
            </a:avLst>
          </a:prstGeom>
          <a:solidFill>
            <a:srgbClr val="067AB4"/>
          </a:solidFill>
          <a:ln w="12700">
            <a:noFill/>
            <a:round/>
            <a:headEnd/>
            <a:tailEnd/>
          </a:ln>
        </p:spPr>
        <p:txBody>
          <a:bodyPr wrap="none" anchor="ctr"/>
          <a:lstStyle/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sz="1600" dirty="0">
                <a:solidFill>
                  <a:srgbClr val="FFFFFF"/>
                </a:solidFill>
              </a:rPr>
              <a:t>Front End</a:t>
            </a:r>
            <a:br>
              <a:rPr lang="en-US" sz="1600" dirty="0">
                <a:solidFill>
                  <a:srgbClr val="FFFFFF"/>
                </a:solidFill>
              </a:rPr>
            </a:br>
            <a:r>
              <a:rPr lang="en-US" sz="1600" dirty="0">
                <a:solidFill>
                  <a:srgbClr val="FFFFFF"/>
                </a:solidFill>
              </a:rPr>
              <a:t> &amp; Reports</a:t>
            </a:r>
          </a:p>
        </p:txBody>
      </p:sp>
      <p:sp>
        <p:nvSpPr>
          <p:cNvPr id="51213" name="AutoShape 6"/>
          <p:cNvSpPr>
            <a:spLocks noChangeArrowheads="1"/>
          </p:cNvSpPr>
          <p:nvPr/>
        </p:nvSpPr>
        <p:spPr bwMode="auto">
          <a:xfrm>
            <a:off x="6172200" y="3215928"/>
            <a:ext cx="1828800" cy="1143000"/>
          </a:xfrm>
          <a:prstGeom prst="roundRect">
            <a:avLst>
              <a:gd name="adj" fmla="val 16667"/>
            </a:avLst>
          </a:prstGeom>
          <a:solidFill>
            <a:srgbClr val="067AB4"/>
          </a:solidFill>
          <a:ln w="12700">
            <a:noFill/>
            <a:round/>
            <a:headEnd/>
            <a:tailEnd/>
          </a:ln>
        </p:spPr>
        <p:txBody>
          <a:bodyPr wrap="none" anchor="ctr"/>
          <a:lstStyle/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sz="1600">
                <a:solidFill>
                  <a:srgbClr val="FFFFFF"/>
                </a:solidFill>
              </a:rPr>
              <a:t>Data Store</a:t>
            </a:r>
          </a:p>
        </p:txBody>
      </p:sp>
      <p:sp>
        <p:nvSpPr>
          <p:cNvPr id="51216" name="AutoShape 5"/>
          <p:cNvSpPr>
            <a:spLocks noChangeArrowheads="1"/>
          </p:cNvSpPr>
          <p:nvPr/>
        </p:nvSpPr>
        <p:spPr bwMode="auto">
          <a:xfrm>
            <a:off x="3657600" y="3215928"/>
            <a:ext cx="1828800" cy="1143000"/>
          </a:xfrm>
          <a:prstGeom prst="roundRect">
            <a:avLst>
              <a:gd name="adj" fmla="val 16667"/>
            </a:avLst>
          </a:prstGeom>
          <a:solidFill>
            <a:srgbClr val="6EBB1F"/>
          </a:solidFill>
          <a:ln w="12700">
            <a:noFill/>
            <a:round/>
            <a:headEnd/>
            <a:tailEnd/>
          </a:ln>
        </p:spPr>
        <p:txBody>
          <a:bodyPr wrap="none" anchor="ctr"/>
          <a:lstStyle/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sz="1600">
                <a:solidFill>
                  <a:srgbClr val="FFFFFF"/>
                </a:solidFill>
              </a:rPr>
              <a:t>Processing</a:t>
            </a:r>
            <a:br>
              <a:rPr lang="en-US" sz="1600">
                <a:solidFill>
                  <a:srgbClr val="FFFFFF"/>
                </a:solidFill>
              </a:rPr>
            </a:br>
            <a:r>
              <a:rPr lang="en-US" sz="1600">
                <a:solidFill>
                  <a:srgbClr val="FFFFFF"/>
                </a:solidFill>
              </a:rPr>
              <a:t>Tier</a:t>
            </a:r>
          </a:p>
        </p:txBody>
      </p:sp>
      <p:cxnSp>
        <p:nvCxnSpPr>
          <p:cNvPr id="51217" name="AutoShape 7"/>
          <p:cNvCxnSpPr>
            <a:cxnSpLocks noChangeShapeType="1"/>
            <a:stCxn id="51212" idx="3"/>
            <a:endCxn id="51216" idx="1"/>
          </p:cNvCxnSpPr>
          <p:nvPr/>
        </p:nvCxnSpPr>
        <p:spPr bwMode="auto">
          <a:xfrm flipV="1">
            <a:off x="2895600" y="3787428"/>
            <a:ext cx="762000" cy="76200"/>
          </a:xfrm>
          <a:prstGeom prst="straightConnector1">
            <a:avLst/>
          </a:prstGeom>
          <a:noFill/>
          <a:ln w="38100">
            <a:solidFill>
              <a:srgbClr val="4D4D4D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51218" name="AutoShape 8"/>
          <p:cNvCxnSpPr>
            <a:cxnSpLocks noChangeShapeType="1"/>
            <a:stCxn id="51216" idx="3"/>
            <a:endCxn id="51213" idx="1"/>
          </p:cNvCxnSpPr>
          <p:nvPr/>
        </p:nvCxnSpPr>
        <p:spPr bwMode="auto">
          <a:xfrm>
            <a:off x="5486400" y="3787428"/>
            <a:ext cx="685800" cy="76200"/>
          </a:xfrm>
          <a:prstGeom prst="straightConnector1">
            <a:avLst/>
          </a:prstGeom>
          <a:noFill/>
          <a:ln w="38100">
            <a:solidFill>
              <a:srgbClr val="4D4D4D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51215" name="Oval 19"/>
          <p:cNvSpPr>
            <a:spLocks noChangeArrowheads="1"/>
          </p:cNvSpPr>
          <p:nvPr/>
        </p:nvSpPr>
        <p:spPr bwMode="auto">
          <a:xfrm>
            <a:off x="990600" y="2606328"/>
            <a:ext cx="1828800" cy="533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D4D4D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sz="1800">
                <a:solidFill>
                  <a:srgbClr val="FF1002"/>
                </a:solidFill>
                <a:latin typeface="Comic Sans MS" charset="0"/>
              </a:rPr>
              <a:t>Acme LAN</a:t>
            </a:r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410444" y="381000"/>
            <a:ext cx="8618146" cy="700548"/>
          </a:xfrm>
        </p:spPr>
        <p:txBody>
          <a:bodyPr/>
          <a:lstStyle/>
          <a:p>
            <a:pPr algn="ctr"/>
            <a:r>
              <a:rPr lang="en-US" dirty="0"/>
              <a:t>Motivation</a:t>
            </a:r>
            <a:endParaRPr lang="en-US" sz="2000" b="0" dirty="0"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02165" y="6341880"/>
            <a:ext cx="385235" cy="152400"/>
          </a:xfrm>
        </p:spPr>
        <p:txBody>
          <a:bodyPr/>
          <a:lstStyle/>
          <a:p>
            <a:fld id="{1DEFE11F-158B-594E-8BEE-CC26B87FEB38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82" name="AutoShape 12"/>
          <p:cNvCxnSpPr>
            <a:cxnSpLocks noChangeShapeType="1"/>
            <a:stCxn id="51212" idx="2"/>
            <a:endCxn id="80" idx="1"/>
          </p:cNvCxnSpPr>
          <p:nvPr/>
        </p:nvCxnSpPr>
        <p:spPr bwMode="auto">
          <a:xfrm rot="16200000" flipH="1">
            <a:off x="2543175" y="3796953"/>
            <a:ext cx="857250" cy="1981200"/>
          </a:xfrm>
          <a:prstGeom prst="bentConnector2">
            <a:avLst/>
          </a:prstGeom>
          <a:noFill/>
          <a:ln w="76200">
            <a:solidFill>
              <a:srgbClr val="6EBB1F"/>
            </a:solidFill>
            <a:miter lim="800000"/>
            <a:headEnd type="triangle" w="med" len="sm"/>
            <a:tailEnd type="triangle" w="med" len="sm"/>
          </a:ln>
        </p:spPr>
      </p:cxnSp>
      <p:cxnSp>
        <p:nvCxnSpPr>
          <p:cNvPr id="83" name="AutoShape 17"/>
          <p:cNvCxnSpPr>
            <a:cxnSpLocks noChangeShapeType="1"/>
            <a:stCxn id="80" idx="3"/>
            <a:endCxn id="51213" idx="2"/>
          </p:cNvCxnSpPr>
          <p:nvPr/>
        </p:nvCxnSpPr>
        <p:spPr bwMode="auto">
          <a:xfrm flipV="1">
            <a:off x="5181600" y="4358928"/>
            <a:ext cx="1905000" cy="857250"/>
          </a:xfrm>
          <a:prstGeom prst="bentConnector2">
            <a:avLst/>
          </a:prstGeom>
          <a:noFill/>
          <a:ln w="76200">
            <a:solidFill>
              <a:srgbClr val="6EBB1F"/>
            </a:solidFill>
            <a:miter lim="800000"/>
            <a:headEnd type="triangle" w="med" len="sm"/>
            <a:tailEnd type="triangle" w="med" len="sm"/>
          </a:ln>
        </p:spPr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xit" presetSubtype="0" fill="hold" grpId="1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51211" grpId="0" animBg="1"/>
      <p:bldP spid="51212" grpId="0" animBg="1"/>
      <p:bldP spid="51213" grpId="0" animBg="1"/>
      <p:bldP spid="51216" grpId="0" animBg="1"/>
      <p:bldP spid="51216" grpId="1" animBg="1"/>
      <p:bldP spid="512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1"/>
          <p:cNvSpPr>
            <a:spLocks noChangeArrowheads="1"/>
          </p:cNvSpPr>
          <p:nvPr/>
        </p:nvSpPr>
        <p:spPr bwMode="auto">
          <a:xfrm>
            <a:off x="5638800" y="4179888"/>
            <a:ext cx="220980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en-US" sz="2000" dirty="0">
                <a:solidFill>
                  <a:schemeClr val="folHlink"/>
                </a:solidFill>
              </a:rPr>
              <a:t>Cloud Platform</a:t>
            </a:r>
          </a:p>
        </p:txBody>
      </p:sp>
      <p:sp>
        <p:nvSpPr>
          <p:cNvPr id="12291" name="Rectangle 10"/>
          <p:cNvSpPr>
            <a:spLocks noChangeArrowheads="1"/>
          </p:cNvSpPr>
          <p:nvPr/>
        </p:nvSpPr>
        <p:spPr bwMode="auto">
          <a:xfrm>
            <a:off x="990600" y="3654425"/>
            <a:ext cx="2209800" cy="2971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en-US">
                <a:solidFill>
                  <a:schemeClr val="folHlink"/>
                </a:solidFill>
                <a:latin typeface="Comic Sans MS" pitchFamily="66" charset="0"/>
              </a:rPr>
              <a:t>   Acme LAN</a:t>
            </a:r>
            <a:endParaRPr lang="en-US">
              <a:solidFill>
                <a:schemeClr val="folHlink"/>
              </a:solidFill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#1: Transparency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382000" cy="1736124"/>
          </a:xfrm>
        </p:spPr>
        <p:txBody>
          <a:bodyPr/>
          <a:lstStyle/>
          <a:p>
            <a:pPr marL="0" indent="0">
              <a:buFontTx/>
              <a:buChar char="•"/>
            </a:pPr>
            <a:r>
              <a:rPr lang="en-US" dirty="0"/>
              <a:t>Application may have been written for LAN environment</a:t>
            </a:r>
          </a:p>
          <a:p>
            <a:pPr lvl="2"/>
            <a:r>
              <a:rPr lang="en-US" dirty="0"/>
              <a:t>Might utilize broadcast or LAN service discovery</a:t>
            </a:r>
          </a:p>
          <a:p>
            <a:pPr marL="0" indent="0">
              <a:buFontTx/>
              <a:buChar char="•"/>
            </a:pPr>
            <a:r>
              <a:rPr lang="en-US" dirty="0"/>
              <a:t>Must add Internet gateways for apps previously only on LAN</a:t>
            </a:r>
          </a:p>
          <a:p>
            <a:pPr marL="0" indent="0"/>
            <a:r>
              <a:rPr lang="en-US" dirty="0"/>
              <a:t>  - </a:t>
            </a:r>
            <a:r>
              <a:rPr lang="en-US" sz="1800" dirty="0"/>
              <a:t>Must now communicate via public IPs and/or configure DNS</a:t>
            </a:r>
          </a:p>
        </p:txBody>
      </p:sp>
      <p:sp>
        <p:nvSpPr>
          <p:cNvPr id="12294" name="AutoShape 4"/>
          <p:cNvSpPr>
            <a:spLocks noChangeArrowheads="1"/>
          </p:cNvSpPr>
          <p:nvPr/>
        </p:nvSpPr>
        <p:spPr bwMode="auto">
          <a:xfrm>
            <a:off x="1143000" y="4187825"/>
            <a:ext cx="1905000" cy="990600"/>
          </a:xfrm>
          <a:prstGeom prst="roundRect">
            <a:avLst>
              <a:gd name="adj" fmla="val 16667"/>
            </a:avLst>
          </a:prstGeom>
          <a:solidFill>
            <a:srgbClr val="0C2577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Front End</a:t>
            </a: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295" name="AutoShape 5"/>
          <p:cNvSpPr>
            <a:spLocks noChangeArrowheads="1"/>
          </p:cNvSpPr>
          <p:nvPr/>
        </p:nvSpPr>
        <p:spPr bwMode="auto">
          <a:xfrm>
            <a:off x="1143000" y="5483225"/>
            <a:ext cx="1905000" cy="838200"/>
          </a:xfrm>
          <a:prstGeom prst="roundRect">
            <a:avLst>
              <a:gd name="adj" fmla="val 16667"/>
            </a:avLst>
          </a:prstGeom>
          <a:solidFill>
            <a:srgbClr val="0C2577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Data Store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296" name="AutoShape 7"/>
          <p:cNvSpPr>
            <a:spLocks noChangeArrowheads="1"/>
          </p:cNvSpPr>
          <p:nvPr/>
        </p:nvSpPr>
        <p:spPr bwMode="auto">
          <a:xfrm>
            <a:off x="5867399" y="4721225"/>
            <a:ext cx="1801483" cy="99060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Processing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proc.cloud.co</a:t>
            </a:r>
            <a:r>
              <a:rPr lang="en-US" sz="1800" b="1" u="sng" dirty="0">
                <a:solidFill>
                  <a:schemeClr val="bg1"/>
                </a:solidFill>
              </a:rPr>
              <a:t>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297" name="Picture 27" descr="ICON_Cloud_Q30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9000" y="4760913"/>
            <a:ext cx="1830388" cy="903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8" name="Picture 26" descr="ICON_Building_Q30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0" y="3352800"/>
            <a:ext cx="812800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477" name="AutoShape 21"/>
          <p:cNvCxnSpPr>
            <a:cxnSpLocks noChangeShapeType="1"/>
            <a:stCxn id="12296" idx="1"/>
          </p:cNvCxnSpPr>
          <p:nvPr/>
        </p:nvCxnSpPr>
        <p:spPr bwMode="auto">
          <a:xfrm rot="10800000">
            <a:off x="5259391" y="5213351"/>
            <a:ext cx="608009" cy="3174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hlink"/>
            </a:solidFill>
            <a:miter lim="800000"/>
            <a:headEnd/>
            <a:tailEnd/>
          </a:ln>
        </p:spPr>
      </p:cxnSp>
      <p:sp>
        <p:nvSpPr>
          <p:cNvPr id="19478" name="AutoShape 22"/>
          <p:cNvSpPr>
            <a:spLocks noChangeArrowheads="1"/>
          </p:cNvSpPr>
          <p:nvPr/>
        </p:nvSpPr>
        <p:spPr bwMode="auto">
          <a:xfrm>
            <a:off x="3962400" y="2881223"/>
            <a:ext cx="4802038" cy="115737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2200" dirty="0">
                <a:solidFill>
                  <a:srgbClr val="000000"/>
                </a:solidFill>
              </a:rPr>
              <a:t>Lack of transparency causes application modifications and infrastructure reconfigurations</a:t>
            </a: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3048000" y="4419600"/>
            <a:ext cx="1296988" cy="457200"/>
            <a:chOff x="1920" y="2784"/>
            <a:chExt cx="817" cy="288"/>
          </a:xfrm>
        </p:grpSpPr>
        <p:cxnSp>
          <p:nvCxnSpPr>
            <p:cNvPr id="12309" name="AutoShape 20"/>
            <p:cNvCxnSpPr>
              <a:cxnSpLocks noChangeShapeType="1"/>
              <a:stCxn id="12294" idx="3"/>
            </p:cNvCxnSpPr>
            <p:nvPr/>
          </p:nvCxnSpPr>
          <p:spPr bwMode="auto">
            <a:xfrm>
              <a:off x="1920" y="2950"/>
              <a:ext cx="817" cy="49"/>
            </a:xfrm>
            <a:prstGeom prst="bentConnector2">
              <a:avLst/>
            </a:prstGeom>
            <a:noFill/>
            <a:ln w="50800">
              <a:solidFill>
                <a:schemeClr val="hlink"/>
              </a:solidFill>
              <a:miter lim="800000"/>
              <a:headEnd/>
              <a:tailEnd/>
            </a:ln>
          </p:spPr>
        </p:cxnSp>
        <p:sp>
          <p:nvSpPr>
            <p:cNvPr id="12310" name="Rectangle 23"/>
            <p:cNvSpPr>
              <a:spLocks noChangeArrowheads="1"/>
            </p:cNvSpPr>
            <p:nvPr/>
          </p:nvSpPr>
          <p:spPr bwMode="auto">
            <a:xfrm>
              <a:off x="2016" y="2784"/>
              <a:ext cx="384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GW</a:t>
              </a:r>
            </a:p>
          </p:txBody>
        </p: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3048000" y="5638800"/>
            <a:ext cx="1296988" cy="457200"/>
            <a:chOff x="1920" y="3552"/>
            <a:chExt cx="817" cy="288"/>
          </a:xfrm>
        </p:grpSpPr>
        <p:cxnSp>
          <p:nvCxnSpPr>
            <p:cNvPr id="12307" name="AutoShape 19"/>
            <p:cNvCxnSpPr>
              <a:cxnSpLocks noChangeShapeType="1"/>
              <a:stCxn id="12295" idx="3"/>
            </p:cNvCxnSpPr>
            <p:nvPr/>
          </p:nvCxnSpPr>
          <p:spPr bwMode="auto">
            <a:xfrm flipV="1">
              <a:off x="1920" y="3568"/>
              <a:ext cx="817" cy="150"/>
            </a:xfrm>
            <a:prstGeom prst="bentConnector2">
              <a:avLst/>
            </a:prstGeom>
            <a:noFill/>
            <a:ln w="50800">
              <a:solidFill>
                <a:schemeClr val="hlink"/>
              </a:solidFill>
              <a:miter lim="800000"/>
              <a:headEnd/>
              <a:tailEnd/>
            </a:ln>
          </p:spPr>
        </p:cxnSp>
        <p:sp>
          <p:nvSpPr>
            <p:cNvPr id="12308" name="Rectangle 24"/>
            <p:cNvSpPr>
              <a:spLocks noChangeArrowheads="1"/>
            </p:cNvSpPr>
            <p:nvPr/>
          </p:nvSpPr>
          <p:spPr bwMode="auto">
            <a:xfrm>
              <a:off x="2016" y="3552"/>
              <a:ext cx="384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GW</a:t>
              </a:r>
            </a:p>
          </p:txBody>
        </p:sp>
      </p:grpSp>
      <p:sp>
        <p:nvSpPr>
          <p:cNvPr id="19483" name="Text Box 27"/>
          <p:cNvSpPr txBox="1">
            <a:spLocks noChangeArrowheads="1"/>
          </p:cNvSpPr>
          <p:nvPr/>
        </p:nvSpPr>
        <p:spPr bwMode="auto">
          <a:xfrm>
            <a:off x="1091151" y="4691063"/>
            <a:ext cx="198964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 dirty="0">
                <a:solidFill>
                  <a:schemeClr val="bg1"/>
                </a:solidFill>
              </a:rPr>
              <a:t>front.acme.com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9484" name="Text Box 28"/>
          <p:cNvSpPr txBox="1">
            <a:spLocks noChangeArrowheads="1"/>
          </p:cNvSpPr>
          <p:nvPr/>
        </p:nvSpPr>
        <p:spPr bwMode="auto">
          <a:xfrm>
            <a:off x="1125554" y="5895975"/>
            <a:ext cx="193354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 dirty="0">
                <a:solidFill>
                  <a:schemeClr val="bg1"/>
                </a:solidFill>
              </a:rPr>
              <a:t>data.acme.com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2305" name="Picture 29" descr="earth4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14800" y="4953000"/>
            <a:ext cx="4794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306" name="Slide Number Placeholder 2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pitchFamily="34" charset="-128"/>
              </a:rPr>
              <a:t>Page </a:t>
            </a:r>
            <a:fld id="{C9A3E47E-BD44-474F-8557-51D51828E521}" type="slidenum">
              <a:rPr lang="en-US" smtClean="0">
                <a:ea typeface="ＭＳ Ｐゴシック" pitchFamily="34" charset="-128"/>
              </a:rPr>
              <a:pPr/>
              <a:t>6</a:t>
            </a:fld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8" grpId="0" animBg="1"/>
      <p:bldP spid="19483" grpId="0"/>
      <p:bldP spid="1948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5638800" y="4183063"/>
            <a:ext cx="2209800" cy="2446337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en-US" sz="2000" dirty="0">
                <a:solidFill>
                  <a:schemeClr val="folHlink"/>
                </a:solidFill>
              </a:rPr>
              <a:t>Cloud Platform</a:t>
            </a: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990600" y="3657600"/>
            <a:ext cx="2209800" cy="2971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en-US">
                <a:solidFill>
                  <a:schemeClr val="folHlink"/>
                </a:solidFill>
                <a:latin typeface="Comic Sans MS" pitchFamily="66" charset="0"/>
              </a:rPr>
              <a:t>   Acme LAN</a:t>
            </a:r>
            <a:endParaRPr lang="en-US">
              <a:solidFill>
                <a:schemeClr val="folHlink"/>
              </a:solidFill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#2: Security</a:t>
            </a: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77838" y="1009292"/>
            <a:ext cx="8037512" cy="2286000"/>
          </a:xfrm>
        </p:spPr>
        <p:txBody>
          <a:bodyPr/>
          <a:lstStyle/>
          <a:p>
            <a:pPr marL="0" indent="0"/>
            <a:r>
              <a:rPr lang="en-US" dirty="0"/>
              <a:t>Enterprise’s servers are now accessible from the public Internet!</a:t>
            </a:r>
            <a:endParaRPr lang="en-US" sz="2400" dirty="0"/>
          </a:p>
          <a:p>
            <a:pPr lvl="2"/>
            <a:r>
              <a:rPr lang="en-US" dirty="0"/>
              <a:t>Servers formerly on secure LAN now exposed to malicious users</a:t>
            </a:r>
          </a:p>
          <a:p>
            <a:pPr marL="0" indent="0"/>
            <a:r>
              <a:rPr lang="en-US" dirty="0"/>
              <a:t>Must configure firewall rules to limit access</a:t>
            </a:r>
            <a:endParaRPr lang="en-US" sz="2400" dirty="0"/>
          </a:p>
          <a:p>
            <a:pPr lvl="2"/>
            <a:r>
              <a:rPr lang="en-US" dirty="0"/>
              <a:t>Fine grained rules are difficult to manage in dynamic environments</a:t>
            </a:r>
          </a:p>
        </p:txBody>
      </p:sp>
      <p:sp>
        <p:nvSpPr>
          <p:cNvPr id="13318" name="AutoShape 6"/>
          <p:cNvSpPr>
            <a:spLocks noChangeArrowheads="1"/>
          </p:cNvSpPr>
          <p:nvPr/>
        </p:nvSpPr>
        <p:spPr bwMode="auto">
          <a:xfrm>
            <a:off x="1143000" y="4191000"/>
            <a:ext cx="1905000" cy="990600"/>
          </a:xfrm>
          <a:prstGeom prst="roundRect">
            <a:avLst>
              <a:gd name="adj" fmla="val 16667"/>
            </a:avLst>
          </a:prstGeom>
          <a:solidFill>
            <a:srgbClr val="0C2577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Front End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front.acme.com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319" name="AutoShape 7"/>
          <p:cNvSpPr>
            <a:spLocks noChangeArrowheads="1"/>
          </p:cNvSpPr>
          <p:nvPr/>
        </p:nvSpPr>
        <p:spPr bwMode="auto">
          <a:xfrm>
            <a:off x="1143000" y="5486400"/>
            <a:ext cx="1905000" cy="838200"/>
          </a:xfrm>
          <a:prstGeom prst="roundRect">
            <a:avLst>
              <a:gd name="adj" fmla="val 16667"/>
            </a:avLst>
          </a:prstGeom>
          <a:solidFill>
            <a:srgbClr val="0C2577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Data Store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data.acme.com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320" name="AutoShape 8"/>
          <p:cNvSpPr>
            <a:spLocks noChangeArrowheads="1"/>
          </p:cNvSpPr>
          <p:nvPr/>
        </p:nvSpPr>
        <p:spPr bwMode="auto">
          <a:xfrm>
            <a:off x="5867400" y="4716463"/>
            <a:ext cx="1752600" cy="99060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Processing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proc.cloud.com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321" name="Picture 27" descr="ICON_Cloud_Q30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9000" y="4764088"/>
            <a:ext cx="1830388" cy="903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2" name="Picture 26" descr="ICON_Building_Q30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0" y="3352800"/>
            <a:ext cx="812800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323" name="AutoShape 11"/>
          <p:cNvCxnSpPr>
            <a:cxnSpLocks noChangeShapeType="1"/>
            <a:stCxn id="13319" idx="3"/>
          </p:cNvCxnSpPr>
          <p:nvPr/>
        </p:nvCxnSpPr>
        <p:spPr bwMode="auto">
          <a:xfrm flipV="1">
            <a:off x="3048000" y="5667375"/>
            <a:ext cx="1296988" cy="238125"/>
          </a:xfrm>
          <a:prstGeom prst="bentConnector2">
            <a:avLst/>
          </a:prstGeom>
          <a:noFill/>
          <a:ln w="50800">
            <a:solidFill>
              <a:schemeClr val="hlink"/>
            </a:solidFill>
            <a:miter lim="800000"/>
            <a:headEnd/>
            <a:tailEnd/>
          </a:ln>
        </p:spPr>
      </p:cxnSp>
      <p:cxnSp>
        <p:nvCxnSpPr>
          <p:cNvPr id="13324" name="AutoShape 12"/>
          <p:cNvCxnSpPr>
            <a:cxnSpLocks noChangeShapeType="1"/>
            <a:stCxn id="13318" idx="3"/>
          </p:cNvCxnSpPr>
          <p:nvPr/>
        </p:nvCxnSpPr>
        <p:spPr bwMode="auto">
          <a:xfrm>
            <a:off x="3048000" y="4686300"/>
            <a:ext cx="1296988" cy="77788"/>
          </a:xfrm>
          <a:prstGeom prst="bentConnector2">
            <a:avLst/>
          </a:prstGeom>
          <a:noFill/>
          <a:ln w="50800">
            <a:solidFill>
              <a:schemeClr val="hlink"/>
            </a:solidFill>
            <a:miter lim="800000"/>
            <a:headEnd/>
            <a:tailEnd/>
          </a:ln>
        </p:spPr>
      </p:cxnSp>
      <p:cxnSp>
        <p:nvCxnSpPr>
          <p:cNvPr id="13325" name="AutoShape 13"/>
          <p:cNvCxnSpPr>
            <a:cxnSpLocks noChangeShapeType="1"/>
            <a:stCxn id="13320" idx="1"/>
          </p:cNvCxnSpPr>
          <p:nvPr/>
        </p:nvCxnSpPr>
        <p:spPr bwMode="auto">
          <a:xfrm rot="10800000" flipV="1">
            <a:off x="5259388" y="5211763"/>
            <a:ext cx="608012" cy="4762"/>
          </a:xfrm>
          <a:prstGeom prst="bentConnector3">
            <a:avLst>
              <a:gd name="adj1" fmla="val 49870"/>
            </a:avLst>
          </a:prstGeom>
          <a:noFill/>
          <a:ln w="50800">
            <a:solidFill>
              <a:schemeClr val="hlink"/>
            </a:solidFill>
            <a:miter lim="800000"/>
            <a:headEnd/>
            <a:tailEnd/>
          </a:ln>
        </p:spPr>
      </p:cxnSp>
      <p:pic>
        <p:nvPicPr>
          <p:cNvPr id="20494" name="Picture 45" descr="ICON_Firewall_Q30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971800" y="4038600"/>
            <a:ext cx="1066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95" name="Picture 45" descr="ICON_Firewall_Q30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971800" y="5257800"/>
            <a:ext cx="1066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96" name="Picture 45" descr="ICON_Firewall_Q30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800600" y="4648200"/>
            <a:ext cx="1066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97" name="AutoShape 17"/>
          <p:cNvSpPr>
            <a:spLocks noChangeArrowheads="1"/>
          </p:cNvSpPr>
          <p:nvPr/>
        </p:nvSpPr>
        <p:spPr bwMode="auto">
          <a:xfrm>
            <a:off x="5867400" y="5867400"/>
            <a:ext cx="1752600" cy="685800"/>
          </a:xfrm>
          <a:prstGeom prst="roundRect">
            <a:avLst>
              <a:gd name="adj" fmla="val 16667"/>
            </a:avLst>
          </a:prstGeom>
          <a:solidFill>
            <a:srgbClr val="860005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Hacker123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hax.cloud.com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20498" name="Picture 45" descr="ICON_Firewall_Q30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477000" y="5486400"/>
            <a:ext cx="6096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0" name="Picture 20" descr="devil on computer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038600" y="3276600"/>
            <a:ext cx="1447800" cy="113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01" name="Line 21"/>
          <p:cNvSpPr>
            <a:spLocks noChangeShapeType="1"/>
          </p:cNvSpPr>
          <p:nvPr/>
        </p:nvSpPr>
        <p:spPr bwMode="auto">
          <a:xfrm flipH="1">
            <a:off x="3810000" y="4114800"/>
            <a:ext cx="685800" cy="457200"/>
          </a:xfrm>
          <a:prstGeom prst="line">
            <a:avLst/>
          </a:prstGeom>
          <a:noFill/>
          <a:ln w="50800">
            <a:solidFill>
              <a:srgbClr val="FF100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03" name="Line 23"/>
          <p:cNvSpPr>
            <a:spLocks noChangeShapeType="1"/>
          </p:cNvSpPr>
          <p:nvPr/>
        </p:nvSpPr>
        <p:spPr bwMode="auto">
          <a:xfrm>
            <a:off x="4876800" y="4114800"/>
            <a:ext cx="457200" cy="762000"/>
          </a:xfrm>
          <a:prstGeom prst="line">
            <a:avLst/>
          </a:prstGeom>
          <a:noFill/>
          <a:ln w="50800">
            <a:solidFill>
              <a:srgbClr val="FF100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9" name="AutoShape 19"/>
          <p:cNvSpPr>
            <a:spLocks noChangeArrowheads="1"/>
          </p:cNvSpPr>
          <p:nvPr/>
        </p:nvSpPr>
        <p:spPr bwMode="auto">
          <a:xfrm>
            <a:off x="4002657" y="2819400"/>
            <a:ext cx="4865297" cy="11430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Lack of secure cloud connections exposes enterprise to threats from both in and out of the cloud</a:t>
            </a:r>
          </a:p>
        </p:txBody>
      </p:sp>
      <p:pic>
        <p:nvPicPr>
          <p:cNvPr id="13335" name="Picture 24" descr="earth41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114800" y="4953000"/>
            <a:ext cx="4794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02" name="Line 22"/>
          <p:cNvSpPr>
            <a:spLocks noChangeShapeType="1"/>
          </p:cNvSpPr>
          <p:nvPr/>
        </p:nvSpPr>
        <p:spPr bwMode="auto">
          <a:xfrm flipH="1">
            <a:off x="4191000" y="4191000"/>
            <a:ext cx="457200" cy="1066800"/>
          </a:xfrm>
          <a:prstGeom prst="line">
            <a:avLst/>
          </a:prstGeom>
          <a:noFill/>
          <a:ln w="50800">
            <a:solidFill>
              <a:srgbClr val="FF100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7" name="Slide Number Placeholder 2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pitchFamily="34" charset="-128"/>
              </a:rPr>
              <a:t>Page </a:t>
            </a:r>
            <a:fld id="{9BEBAA89-E676-4DF8-B8A4-1D59425CFA8B}" type="slidenum">
              <a:rPr lang="en-US" smtClean="0">
                <a:ea typeface="ＭＳ Ｐゴシック" pitchFamily="34" charset="-128"/>
              </a:rPr>
              <a:pPr/>
              <a:t>7</a:t>
            </a:fld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7" grpId="0" animBg="1"/>
      <p:bldP spid="20501" grpId="0" animBg="1"/>
      <p:bldP spid="20503" grpId="0" animBg="1"/>
      <p:bldP spid="20499" grpId="0" animBg="1"/>
      <p:bldP spid="2050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5638800" y="4183063"/>
            <a:ext cx="2209800" cy="2446337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en-US" sz="2000" dirty="0">
                <a:solidFill>
                  <a:schemeClr val="folHlink"/>
                </a:solidFill>
              </a:rPr>
              <a:t>Cloud Platform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990600" y="3657600"/>
            <a:ext cx="2209800" cy="2971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en-US">
                <a:solidFill>
                  <a:schemeClr val="folHlink"/>
                </a:solidFill>
                <a:latin typeface="Comic Sans MS" pitchFamily="66" charset="0"/>
              </a:rPr>
              <a:t>   Acme LAN</a:t>
            </a:r>
            <a:endParaRPr lang="en-US">
              <a:solidFill>
                <a:schemeClr val="folHlink"/>
              </a:solidFill>
            </a:endParaRP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" y="457200"/>
            <a:ext cx="8610600" cy="838200"/>
          </a:xfrm>
        </p:spPr>
        <p:txBody>
          <a:bodyPr/>
          <a:lstStyle/>
          <a:p>
            <a:r>
              <a:rPr lang="en-US"/>
              <a:t>Problem #3</a:t>
            </a:r>
            <a:r>
              <a:rPr lang="en-US" sz="3400"/>
              <a:t>:</a:t>
            </a:r>
            <a:r>
              <a:rPr lang="en-US" sz="3000"/>
              <a:t> Flexible Resource Mgmt</a:t>
            </a:r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77838" y="1179188"/>
            <a:ext cx="8037512" cy="1952206"/>
          </a:xfrm>
        </p:spPr>
        <p:txBody>
          <a:bodyPr/>
          <a:lstStyle/>
          <a:p>
            <a:pPr marL="0" indent="0"/>
            <a:r>
              <a:rPr lang="en-US" dirty="0"/>
              <a:t>Benefit of cloud computing: ability to easily adjust resource capacities and add new VMs</a:t>
            </a:r>
            <a:endParaRPr lang="en-US" sz="2400" dirty="0"/>
          </a:p>
          <a:p>
            <a:pPr lvl="2"/>
            <a:r>
              <a:rPr lang="en-US" dirty="0"/>
              <a:t>After a change must deal with transparency and security issues all over again!</a:t>
            </a:r>
          </a:p>
          <a:p>
            <a:pPr lvl="2"/>
            <a:r>
              <a:rPr lang="en-US" dirty="0"/>
              <a:t>Current platforms do not support network resource reservation (Bandwidth/</a:t>
            </a:r>
            <a:r>
              <a:rPr lang="en-US" dirty="0" err="1"/>
              <a:t>QoS</a:t>
            </a:r>
            <a:r>
              <a:rPr lang="en-US" dirty="0"/>
              <a:t> guarantees)</a:t>
            </a:r>
          </a:p>
        </p:txBody>
      </p:sp>
      <p:sp>
        <p:nvSpPr>
          <p:cNvPr id="14342" name="AutoShape 6"/>
          <p:cNvSpPr>
            <a:spLocks noChangeArrowheads="1"/>
          </p:cNvSpPr>
          <p:nvPr/>
        </p:nvSpPr>
        <p:spPr bwMode="auto">
          <a:xfrm>
            <a:off x="1143000" y="4191000"/>
            <a:ext cx="1905000" cy="990600"/>
          </a:xfrm>
          <a:prstGeom prst="roundRect">
            <a:avLst>
              <a:gd name="adj" fmla="val 16667"/>
            </a:avLst>
          </a:prstGeom>
          <a:solidFill>
            <a:srgbClr val="0C2577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Front End</a:t>
            </a:r>
          </a:p>
          <a:p>
            <a:pPr algn="ctr"/>
            <a:r>
              <a:rPr lang="en-US" sz="1800" b="1" dirty="0">
                <a:solidFill>
                  <a:schemeClr val="bg1"/>
                </a:solidFill>
              </a:rPr>
              <a:t>front.acme.com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4343" name="AutoShape 7"/>
          <p:cNvSpPr>
            <a:spLocks noChangeArrowheads="1"/>
          </p:cNvSpPr>
          <p:nvPr/>
        </p:nvSpPr>
        <p:spPr bwMode="auto">
          <a:xfrm>
            <a:off x="1143000" y="5486400"/>
            <a:ext cx="1905000" cy="838200"/>
          </a:xfrm>
          <a:prstGeom prst="roundRect">
            <a:avLst>
              <a:gd name="adj" fmla="val 16667"/>
            </a:avLst>
          </a:prstGeom>
          <a:solidFill>
            <a:srgbClr val="0C2577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Data Store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data.acme.com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344" name="AutoShape 8"/>
          <p:cNvSpPr>
            <a:spLocks noChangeArrowheads="1"/>
          </p:cNvSpPr>
          <p:nvPr/>
        </p:nvSpPr>
        <p:spPr bwMode="auto">
          <a:xfrm>
            <a:off x="5867400" y="4716463"/>
            <a:ext cx="1752600" cy="99060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Processing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proc.cloud.com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4345" name="Picture 27" descr="ICON_Cloud_Q30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9000" y="4764088"/>
            <a:ext cx="1830388" cy="903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6" name="Picture 26" descr="ICON_Building_Q30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0" y="3352800"/>
            <a:ext cx="812800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4347" name="AutoShape 11"/>
          <p:cNvCxnSpPr>
            <a:cxnSpLocks noChangeShapeType="1"/>
            <a:stCxn id="14343" idx="3"/>
          </p:cNvCxnSpPr>
          <p:nvPr/>
        </p:nvCxnSpPr>
        <p:spPr bwMode="auto">
          <a:xfrm flipV="1">
            <a:off x="3048000" y="5667375"/>
            <a:ext cx="1296988" cy="238125"/>
          </a:xfrm>
          <a:prstGeom prst="bentConnector2">
            <a:avLst/>
          </a:prstGeom>
          <a:noFill/>
          <a:ln w="50800">
            <a:solidFill>
              <a:schemeClr val="hlink"/>
            </a:solidFill>
            <a:miter lim="800000"/>
            <a:headEnd/>
            <a:tailEnd/>
          </a:ln>
        </p:spPr>
      </p:cxnSp>
      <p:cxnSp>
        <p:nvCxnSpPr>
          <p:cNvPr id="14348" name="AutoShape 12"/>
          <p:cNvCxnSpPr>
            <a:cxnSpLocks noChangeShapeType="1"/>
            <a:stCxn id="14342" idx="3"/>
          </p:cNvCxnSpPr>
          <p:nvPr/>
        </p:nvCxnSpPr>
        <p:spPr bwMode="auto">
          <a:xfrm>
            <a:off x="3048000" y="4686300"/>
            <a:ext cx="1296988" cy="77788"/>
          </a:xfrm>
          <a:prstGeom prst="bentConnector2">
            <a:avLst/>
          </a:prstGeom>
          <a:noFill/>
          <a:ln w="50800">
            <a:solidFill>
              <a:schemeClr val="hlink"/>
            </a:solidFill>
            <a:miter lim="800000"/>
            <a:headEnd/>
            <a:tailEnd/>
          </a:ln>
        </p:spPr>
      </p:cxnSp>
      <p:cxnSp>
        <p:nvCxnSpPr>
          <p:cNvPr id="14349" name="AutoShape 13"/>
          <p:cNvCxnSpPr>
            <a:cxnSpLocks noChangeShapeType="1"/>
            <a:stCxn id="14344" idx="1"/>
          </p:cNvCxnSpPr>
          <p:nvPr/>
        </p:nvCxnSpPr>
        <p:spPr bwMode="auto">
          <a:xfrm rot="10800000" flipV="1">
            <a:off x="5259388" y="5211763"/>
            <a:ext cx="608012" cy="4762"/>
          </a:xfrm>
          <a:prstGeom prst="bentConnector3">
            <a:avLst>
              <a:gd name="adj1" fmla="val 49870"/>
            </a:avLst>
          </a:prstGeom>
          <a:noFill/>
          <a:ln w="50800">
            <a:solidFill>
              <a:schemeClr val="hlink"/>
            </a:solidFill>
            <a:miter lim="800000"/>
            <a:headEnd/>
            <a:tailEnd/>
          </a:ln>
        </p:spPr>
      </p:cxnSp>
      <p:pic>
        <p:nvPicPr>
          <p:cNvPr id="14350" name="Picture 45" descr="ICON_Firewall_Q30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971800" y="4038600"/>
            <a:ext cx="1066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51" name="Picture 45" descr="ICON_Firewall_Q30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971800" y="5257800"/>
            <a:ext cx="1066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21" name="AutoShape 17"/>
          <p:cNvSpPr>
            <a:spLocks noChangeArrowheads="1"/>
          </p:cNvSpPr>
          <p:nvPr/>
        </p:nvSpPr>
        <p:spPr bwMode="auto">
          <a:xfrm>
            <a:off x="5867400" y="5791200"/>
            <a:ext cx="1752600" cy="76200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Processing #2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proc2.cloud.com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21522" name="AutoShape 18"/>
          <p:cNvCxnSpPr>
            <a:cxnSpLocks noChangeShapeType="1"/>
            <a:stCxn id="21521" idx="1"/>
          </p:cNvCxnSpPr>
          <p:nvPr/>
        </p:nvCxnSpPr>
        <p:spPr bwMode="auto">
          <a:xfrm rot="10800000">
            <a:off x="5181600" y="5556250"/>
            <a:ext cx="685800" cy="615950"/>
          </a:xfrm>
          <a:prstGeom prst="bentConnector2">
            <a:avLst/>
          </a:prstGeom>
          <a:noFill/>
          <a:ln w="50800">
            <a:solidFill>
              <a:schemeClr val="hlink"/>
            </a:solidFill>
            <a:miter lim="800000"/>
            <a:headEnd/>
            <a:tailEnd/>
          </a:ln>
        </p:spPr>
      </p:cxnSp>
      <p:pic>
        <p:nvPicPr>
          <p:cNvPr id="14354" name="Picture 45" descr="ICON_Firewall_Q30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48200" y="4572000"/>
            <a:ext cx="1066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23" name="Picture 45" descr="ICON_Firewall_Q30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48200" y="5562600"/>
            <a:ext cx="1066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24" name="AutoShape 20"/>
          <p:cNvSpPr>
            <a:spLocks noChangeArrowheads="1"/>
          </p:cNvSpPr>
          <p:nvPr/>
        </p:nvSpPr>
        <p:spPr bwMode="auto">
          <a:xfrm>
            <a:off x="4485736" y="2971800"/>
            <a:ext cx="4582064" cy="11430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Enterprises want control over network resources. Cloud must support dynamic changes</a:t>
            </a:r>
          </a:p>
        </p:txBody>
      </p:sp>
      <p:sp>
        <p:nvSpPr>
          <p:cNvPr id="21525" name="Oval 21"/>
          <p:cNvSpPr>
            <a:spLocks noChangeArrowheads="1"/>
          </p:cNvSpPr>
          <p:nvPr/>
        </p:nvSpPr>
        <p:spPr bwMode="auto">
          <a:xfrm>
            <a:off x="3276600" y="426720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+1</a:t>
            </a:r>
          </a:p>
        </p:txBody>
      </p:sp>
      <p:sp>
        <p:nvSpPr>
          <p:cNvPr id="21526" name="Oval 22"/>
          <p:cNvSpPr>
            <a:spLocks noChangeArrowheads="1"/>
          </p:cNvSpPr>
          <p:nvPr/>
        </p:nvSpPr>
        <p:spPr bwMode="auto">
          <a:xfrm>
            <a:off x="3200400" y="556260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+1</a:t>
            </a:r>
          </a:p>
        </p:txBody>
      </p:sp>
      <p:sp>
        <p:nvSpPr>
          <p:cNvPr id="21527" name="Oval 23"/>
          <p:cNvSpPr>
            <a:spLocks noChangeArrowheads="1"/>
          </p:cNvSpPr>
          <p:nvPr/>
        </p:nvSpPr>
        <p:spPr bwMode="auto">
          <a:xfrm>
            <a:off x="5029200" y="487680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+1</a:t>
            </a:r>
          </a:p>
        </p:txBody>
      </p:sp>
      <p:pic>
        <p:nvPicPr>
          <p:cNvPr id="14360" name="Picture 24" descr="earth4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114800" y="4953000"/>
            <a:ext cx="4794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61" name="Slide Number Placeholder 2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pitchFamily="34" charset="-128"/>
              </a:rPr>
              <a:t>Page </a:t>
            </a:r>
            <a:fld id="{00ED855E-2F06-49B4-9045-1AFC8797ADB5}" type="slidenum">
              <a:rPr lang="en-US" smtClean="0">
                <a:ea typeface="ＭＳ Ｐゴシック" pitchFamily="34" charset="-128"/>
              </a:rPr>
              <a:pPr/>
              <a:t>8</a:t>
            </a:fld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1" grpId="0" animBg="1"/>
      <p:bldP spid="21524" grpId="0" animBg="1"/>
      <p:bldP spid="21525" grpId="0" animBg="1"/>
      <p:bldP spid="21526" grpId="0" animBg="1"/>
      <p:bldP spid="215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Key Observation</a:t>
            </a:r>
          </a:p>
        </p:txBody>
      </p:sp>
      <p:sp>
        <p:nvSpPr>
          <p:cNvPr id="55299" name="Rectangle 15"/>
          <p:cNvSpPr>
            <a:spLocks noChangeArrowheads="1"/>
          </p:cNvSpPr>
          <p:nvPr/>
        </p:nvSpPr>
        <p:spPr bwMode="auto">
          <a:xfrm>
            <a:off x="0" y="1037938"/>
            <a:ext cx="914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FontTx/>
              <a:buNone/>
            </a:pPr>
            <a:r>
              <a:rPr lang="en-US" sz="1800" dirty="0">
                <a:solidFill>
                  <a:srgbClr val="4D4D4D"/>
                </a:solidFill>
                <a:latin typeface="Verdana" charset="0"/>
              </a:rPr>
              <a:t>Existing cloud platforms primarily cover computation and storage</a:t>
            </a:r>
            <a:r>
              <a:rPr lang="en-US" sz="2000" dirty="0">
                <a:solidFill>
                  <a:srgbClr val="4D4D4D"/>
                </a:solidFill>
                <a:latin typeface="Verdana" charset="0"/>
              </a:rPr>
              <a:t> </a:t>
            </a:r>
            <a:endParaRPr lang="en-US" sz="2000" dirty="0">
              <a:solidFill>
                <a:srgbClr val="4D4D4D"/>
              </a:solidFill>
            </a:endParaRPr>
          </a:p>
        </p:txBody>
      </p:sp>
      <p:pic>
        <p:nvPicPr>
          <p:cNvPr id="71" name="Picture 356" descr="ICON_CPU_Q30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2600" y="1957523"/>
            <a:ext cx="709613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" name="Picture 382" descr="ICON_DiscDrive_Q30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34200" y="226232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" name="Picture 357" descr="ICON_NIC_Q30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69038" y="3618048"/>
            <a:ext cx="1046162" cy="123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" name="AutoShape 32"/>
          <p:cNvSpPr>
            <a:spLocks noChangeArrowheads="1"/>
          </p:cNvSpPr>
          <p:nvPr/>
        </p:nvSpPr>
        <p:spPr bwMode="auto">
          <a:xfrm>
            <a:off x="1524000" y="5124639"/>
            <a:ext cx="6019800" cy="838200"/>
          </a:xfrm>
          <a:prstGeom prst="roundRect">
            <a:avLst>
              <a:gd name="adj" fmla="val 16667"/>
            </a:avLst>
          </a:prstGeom>
          <a:solidFill>
            <a:srgbClr val="067AB4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charset="0"/>
              </a:rPr>
              <a:t>Enterprise Clouds need control </a:t>
            </a:r>
            <a:b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charset="0"/>
              </a:rPr>
            </a:b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charset="0"/>
              </a:rPr>
              <a:t>over the network as well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75" name="Rectangle 45"/>
          <p:cNvSpPr>
            <a:spLocks noChangeArrowheads="1"/>
          </p:cNvSpPr>
          <p:nvPr/>
        </p:nvSpPr>
        <p:spPr bwMode="auto">
          <a:xfrm>
            <a:off x="6464300" y="2278198"/>
            <a:ext cx="4508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+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</a:endParaRPr>
          </a:p>
        </p:txBody>
      </p:sp>
      <p:sp>
        <p:nvSpPr>
          <p:cNvPr id="76" name="Rectangle 46"/>
          <p:cNvSpPr>
            <a:spLocks noChangeArrowheads="1"/>
          </p:cNvSpPr>
          <p:nvPr/>
        </p:nvSpPr>
        <p:spPr bwMode="auto">
          <a:xfrm>
            <a:off x="6553200" y="3252923"/>
            <a:ext cx="4508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+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</a:endParaRPr>
          </a:p>
        </p:txBody>
      </p:sp>
      <p:grpSp>
        <p:nvGrpSpPr>
          <p:cNvPr id="77" name="Group 51"/>
          <p:cNvGrpSpPr>
            <a:grpSpLocks/>
          </p:cNvGrpSpPr>
          <p:nvPr/>
        </p:nvGrpSpPr>
        <p:grpSpPr bwMode="auto">
          <a:xfrm>
            <a:off x="990600" y="1741626"/>
            <a:ext cx="4038600" cy="3111503"/>
            <a:chOff x="624" y="1304"/>
            <a:chExt cx="2544" cy="1960"/>
          </a:xfrm>
        </p:grpSpPr>
        <p:grpSp>
          <p:nvGrpSpPr>
            <p:cNvPr id="78" name="Group 49"/>
            <p:cNvGrpSpPr>
              <a:grpSpLocks/>
            </p:cNvGrpSpPr>
            <p:nvPr/>
          </p:nvGrpSpPr>
          <p:grpSpPr bwMode="auto">
            <a:xfrm>
              <a:off x="624" y="1872"/>
              <a:ext cx="2544" cy="1344"/>
              <a:chOff x="624" y="1872"/>
              <a:chExt cx="2544" cy="1344"/>
            </a:xfrm>
          </p:grpSpPr>
          <p:pic>
            <p:nvPicPr>
              <p:cNvPr id="81" name="Picture 30"/>
              <p:cNvPicPr>
                <a:picLocks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1152" y="2256"/>
                <a:ext cx="1488" cy="7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82" name="Oval 27"/>
              <p:cNvSpPr>
                <a:spLocks noChangeArrowheads="1"/>
              </p:cNvSpPr>
              <p:nvPr/>
            </p:nvSpPr>
            <p:spPr bwMode="auto">
              <a:xfrm>
                <a:off x="1152" y="1872"/>
                <a:ext cx="1488" cy="240"/>
              </a:xfrm>
              <a:prstGeom prst="ellipse">
                <a:avLst/>
              </a:prstGeom>
              <a:solidFill>
                <a:srgbClr val="B1C2D8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83" name="Picture 5" descr="ICON_NetworkSwitch_Q308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1536" y="1968"/>
                <a:ext cx="624" cy="4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4" name="Picture 28" descr="earth41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1776" y="2448"/>
                <a:ext cx="302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85" name="Group 33"/>
              <p:cNvGrpSpPr>
                <a:grpSpLocks/>
              </p:cNvGrpSpPr>
              <p:nvPr/>
            </p:nvGrpSpPr>
            <p:grpSpPr bwMode="auto">
              <a:xfrm>
                <a:off x="2640" y="2448"/>
                <a:ext cx="528" cy="480"/>
                <a:chOff x="528" y="3552"/>
                <a:chExt cx="528" cy="480"/>
              </a:xfrm>
            </p:grpSpPr>
            <p:sp>
              <p:nvSpPr>
                <p:cNvPr id="92" name="Oval 34"/>
                <p:cNvSpPr>
                  <a:spLocks noChangeArrowheads="1"/>
                </p:cNvSpPr>
                <p:nvPr/>
              </p:nvSpPr>
              <p:spPr bwMode="auto">
                <a:xfrm>
                  <a:off x="528" y="3888"/>
                  <a:ext cx="528" cy="144"/>
                </a:xfrm>
                <a:prstGeom prst="ellipse">
                  <a:avLst/>
                </a:prstGeom>
                <a:solidFill>
                  <a:srgbClr val="6EBB1F"/>
                </a:solidFill>
                <a:ln w="19050">
                  <a:solidFill>
                    <a:srgbClr val="4D4D4D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4D4D4D"/>
                    </a:solidFill>
                    <a:effectLst/>
                    <a:uLnTx/>
                    <a:uFillTx/>
                  </a:endParaRPr>
                </a:p>
              </p:txBody>
            </p:sp>
            <p:pic>
              <p:nvPicPr>
                <p:cNvPr id="93" name="Picture 214" descr="ICON_People_Green_Q408"/>
                <p:cNvPicPr>
                  <a:picLocks noChangeAspect="1" noChangeArrowheads="1"/>
                </p:cNvPicPr>
                <p:nvPr/>
              </p:nvPicPr>
              <p:blipFill>
                <a:blip r:embed="rId9"/>
                <a:srcRect/>
                <a:stretch>
                  <a:fillRect/>
                </a:stretch>
              </p:blipFill>
              <p:spPr bwMode="auto">
                <a:xfrm>
                  <a:off x="576" y="3552"/>
                  <a:ext cx="418" cy="4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grpSp>
            <p:nvGrpSpPr>
              <p:cNvPr id="86" name="Group 36"/>
              <p:cNvGrpSpPr>
                <a:grpSpLocks/>
              </p:cNvGrpSpPr>
              <p:nvPr/>
            </p:nvGrpSpPr>
            <p:grpSpPr bwMode="auto">
              <a:xfrm>
                <a:off x="624" y="2304"/>
                <a:ext cx="528" cy="480"/>
                <a:chOff x="528" y="3552"/>
                <a:chExt cx="528" cy="480"/>
              </a:xfrm>
            </p:grpSpPr>
            <p:sp>
              <p:nvSpPr>
                <p:cNvPr id="90" name="Oval 37"/>
                <p:cNvSpPr>
                  <a:spLocks noChangeArrowheads="1"/>
                </p:cNvSpPr>
                <p:nvPr/>
              </p:nvSpPr>
              <p:spPr bwMode="auto">
                <a:xfrm>
                  <a:off x="528" y="3888"/>
                  <a:ext cx="528" cy="144"/>
                </a:xfrm>
                <a:prstGeom prst="ellipse">
                  <a:avLst/>
                </a:prstGeom>
                <a:solidFill>
                  <a:srgbClr val="6EBB1F"/>
                </a:solidFill>
                <a:ln w="19050">
                  <a:solidFill>
                    <a:srgbClr val="4D4D4D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4D4D4D"/>
                    </a:solidFill>
                    <a:effectLst/>
                    <a:uLnTx/>
                    <a:uFillTx/>
                  </a:endParaRPr>
                </a:p>
              </p:txBody>
            </p:sp>
            <p:pic>
              <p:nvPicPr>
                <p:cNvPr id="91" name="Picture 214" descr="ICON_People_Green_Q408"/>
                <p:cNvPicPr>
                  <a:picLocks noChangeAspect="1" noChangeArrowheads="1"/>
                </p:cNvPicPr>
                <p:nvPr/>
              </p:nvPicPr>
              <p:blipFill>
                <a:blip r:embed="rId9"/>
                <a:srcRect/>
                <a:stretch>
                  <a:fillRect/>
                </a:stretch>
              </p:blipFill>
              <p:spPr bwMode="auto">
                <a:xfrm>
                  <a:off x="576" y="3552"/>
                  <a:ext cx="418" cy="4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grpSp>
            <p:nvGrpSpPr>
              <p:cNvPr id="87" name="Group 39"/>
              <p:cNvGrpSpPr>
                <a:grpSpLocks/>
              </p:cNvGrpSpPr>
              <p:nvPr/>
            </p:nvGrpSpPr>
            <p:grpSpPr bwMode="auto">
              <a:xfrm>
                <a:off x="1296" y="2736"/>
                <a:ext cx="528" cy="480"/>
                <a:chOff x="672" y="2736"/>
                <a:chExt cx="528" cy="480"/>
              </a:xfrm>
            </p:grpSpPr>
            <p:sp>
              <p:nvSpPr>
                <p:cNvPr id="88" name="Oval 40"/>
                <p:cNvSpPr>
                  <a:spLocks noChangeArrowheads="1"/>
                </p:cNvSpPr>
                <p:nvPr/>
              </p:nvSpPr>
              <p:spPr bwMode="auto">
                <a:xfrm>
                  <a:off x="672" y="3072"/>
                  <a:ext cx="528" cy="144"/>
                </a:xfrm>
                <a:prstGeom prst="ellipse">
                  <a:avLst/>
                </a:prstGeom>
                <a:solidFill>
                  <a:srgbClr val="FF7200"/>
                </a:solidFill>
                <a:ln w="19050">
                  <a:solidFill>
                    <a:srgbClr val="4D4D4D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4D4D4D"/>
                    </a:solidFill>
                    <a:effectLst/>
                    <a:uLnTx/>
                    <a:uFillTx/>
                  </a:endParaRPr>
                </a:p>
              </p:txBody>
            </p:sp>
            <p:pic>
              <p:nvPicPr>
                <p:cNvPr id="89" name="Picture 217" descr="ICON_People_Orange_Q408"/>
                <p:cNvPicPr>
                  <a:picLocks noChangeAspect="1" noChangeArrowheads="1"/>
                </p:cNvPicPr>
                <p:nvPr/>
              </p:nvPicPr>
              <p:blipFill>
                <a:blip r:embed="rId10"/>
                <a:srcRect/>
                <a:stretch>
                  <a:fillRect/>
                </a:stretch>
              </p:blipFill>
              <p:spPr bwMode="auto">
                <a:xfrm>
                  <a:off x="720" y="2736"/>
                  <a:ext cx="430" cy="4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</p:grpSp>
        <p:sp>
          <p:nvSpPr>
            <p:cNvPr id="79" name="Text Box 47"/>
            <p:cNvSpPr txBox="1">
              <a:spLocks noChangeArrowheads="1"/>
            </p:cNvSpPr>
            <p:nvPr/>
          </p:nvSpPr>
          <p:spPr bwMode="auto">
            <a:xfrm>
              <a:off x="1296" y="1304"/>
              <a:ext cx="117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</a:rPr>
                <a:t>Cloud Platform</a:t>
              </a:r>
            </a:p>
          </p:txBody>
        </p:sp>
        <p:sp>
          <p:nvSpPr>
            <p:cNvPr id="80" name="Text Box 48"/>
            <p:cNvSpPr txBox="1">
              <a:spLocks noChangeArrowheads="1"/>
            </p:cNvSpPr>
            <p:nvPr/>
          </p:nvSpPr>
          <p:spPr bwMode="auto">
            <a:xfrm>
              <a:off x="1920" y="3014"/>
              <a:ext cx="124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</a:rPr>
                <a:t>Enterprise Sites</a:t>
              </a:r>
            </a:p>
          </p:txBody>
        </p:sp>
      </p:grpSp>
      <p:grpSp>
        <p:nvGrpSpPr>
          <p:cNvPr id="94" name="Group 9"/>
          <p:cNvGrpSpPr>
            <a:grpSpLocks/>
          </p:cNvGrpSpPr>
          <p:nvPr/>
        </p:nvGrpSpPr>
        <p:grpSpPr bwMode="auto">
          <a:xfrm>
            <a:off x="3152775" y="2319473"/>
            <a:ext cx="733425" cy="628650"/>
            <a:chOff x="4848" y="2640"/>
            <a:chExt cx="336" cy="288"/>
          </a:xfrm>
        </p:grpSpPr>
        <p:sp>
          <p:nvSpPr>
            <p:cNvPr id="95" name="AutoShape 10"/>
            <p:cNvSpPr>
              <a:spLocks noChangeArrowheads="1"/>
            </p:cNvSpPr>
            <p:nvPr/>
          </p:nvSpPr>
          <p:spPr bwMode="auto">
            <a:xfrm>
              <a:off x="4944" y="2640"/>
              <a:ext cx="240" cy="192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96" name="AutoShape 11"/>
            <p:cNvSpPr>
              <a:spLocks noChangeArrowheads="1"/>
            </p:cNvSpPr>
            <p:nvPr/>
          </p:nvSpPr>
          <p:spPr bwMode="auto">
            <a:xfrm>
              <a:off x="4896" y="2688"/>
              <a:ext cx="240" cy="192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97" name="AutoShape 12"/>
            <p:cNvSpPr>
              <a:spLocks noChangeArrowheads="1"/>
            </p:cNvSpPr>
            <p:nvPr/>
          </p:nvSpPr>
          <p:spPr bwMode="auto">
            <a:xfrm>
              <a:off x="4848" y="2736"/>
              <a:ext cx="240" cy="192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VM</a:t>
              </a:r>
            </a:p>
          </p:txBody>
        </p:sp>
      </p:grpSp>
      <p:grpSp>
        <p:nvGrpSpPr>
          <p:cNvPr id="98" name="Group 24"/>
          <p:cNvGrpSpPr>
            <a:grpSpLocks/>
          </p:cNvGrpSpPr>
          <p:nvPr/>
        </p:nvGrpSpPr>
        <p:grpSpPr bwMode="auto">
          <a:xfrm>
            <a:off x="1981200" y="2262323"/>
            <a:ext cx="571500" cy="676275"/>
            <a:chOff x="2304" y="1632"/>
            <a:chExt cx="360" cy="426"/>
          </a:xfrm>
        </p:grpSpPr>
        <p:sp>
          <p:nvSpPr>
            <p:cNvPr id="99" name="AutoShape 16"/>
            <p:cNvSpPr>
              <a:spLocks noChangeArrowheads="1"/>
            </p:cNvSpPr>
            <p:nvPr/>
          </p:nvSpPr>
          <p:spPr bwMode="auto">
            <a:xfrm>
              <a:off x="2400" y="1632"/>
              <a:ext cx="264" cy="330"/>
            </a:xfrm>
            <a:prstGeom prst="can">
              <a:avLst>
                <a:gd name="adj" fmla="val 31250"/>
              </a:avLst>
            </a:prstGeom>
            <a:solidFill>
              <a:srgbClr val="4D4D4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AutoShape 17"/>
            <p:cNvSpPr>
              <a:spLocks noChangeArrowheads="1"/>
            </p:cNvSpPr>
            <p:nvPr/>
          </p:nvSpPr>
          <p:spPr bwMode="auto">
            <a:xfrm>
              <a:off x="2352" y="1680"/>
              <a:ext cx="264" cy="330"/>
            </a:xfrm>
            <a:prstGeom prst="can">
              <a:avLst>
                <a:gd name="adj" fmla="val 31250"/>
              </a:avLst>
            </a:prstGeom>
            <a:solidFill>
              <a:srgbClr val="4D4D4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AutoShape 18"/>
            <p:cNvSpPr>
              <a:spLocks noChangeArrowheads="1"/>
            </p:cNvSpPr>
            <p:nvPr/>
          </p:nvSpPr>
          <p:spPr bwMode="auto">
            <a:xfrm>
              <a:off x="2304" y="1728"/>
              <a:ext cx="264" cy="330"/>
            </a:xfrm>
            <a:prstGeom prst="can">
              <a:avLst>
                <a:gd name="adj" fmla="val 31250"/>
              </a:avLst>
            </a:prstGeom>
            <a:solidFill>
              <a:srgbClr val="4D4D4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Disk</a:t>
              </a: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2" name="Freeform 42"/>
          <p:cNvSpPr>
            <a:spLocks/>
          </p:cNvSpPr>
          <p:nvPr/>
        </p:nvSpPr>
        <p:spPr bwMode="auto">
          <a:xfrm>
            <a:off x="1828800" y="2186123"/>
            <a:ext cx="2276475" cy="922338"/>
          </a:xfrm>
          <a:custGeom>
            <a:avLst/>
            <a:gdLst>
              <a:gd name="T0" fmla="*/ 2147483647 w 1434"/>
              <a:gd name="T1" fmla="*/ 2147483647 h 581"/>
              <a:gd name="T2" fmla="*/ 2147483647 w 1434"/>
              <a:gd name="T3" fmla="*/ 2147483647 h 581"/>
              <a:gd name="T4" fmla="*/ 2147483647 w 1434"/>
              <a:gd name="T5" fmla="*/ 2147483647 h 581"/>
              <a:gd name="T6" fmla="*/ 2147483647 w 1434"/>
              <a:gd name="T7" fmla="*/ 2147483647 h 581"/>
              <a:gd name="T8" fmla="*/ 2147483647 w 1434"/>
              <a:gd name="T9" fmla="*/ 2147483647 h 581"/>
              <a:gd name="T10" fmla="*/ 2147483647 w 1434"/>
              <a:gd name="T11" fmla="*/ 2147483647 h 581"/>
              <a:gd name="T12" fmla="*/ 2147483647 w 1434"/>
              <a:gd name="T13" fmla="*/ 2147483647 h 581"/>
              <a:gd name="T14" fmla="*/ 2147483647 w 1434"/>
              <a:gd name="T15" fmla="*/ 2147483647 h 581"/>
              <a:gd name="T16" fmla="*/ 2147483647 w 1434"/>
              <a:gd name="T17" fmla="*/ 2147483647 h 581"/>
              <a:gd name="T18" fmla="*/ 2147483647 w 1434"/>
              <a:gd name="T19" fmla="*/ 2147483647 h 581"/>
              <a:gd name="T20" fmla="*/ 2147483647 w 1434"/>
              <a:gd name="T21" fmla="*/ 2147483647 h 581"/>
              <a:gd name="T22" fmla="*/ 2147483647 w 1434"/>
              <a:gd name="T23" fmla="*/ 2147483647 h 581"/>
              <a:gd name="T24" fmla="*/ 2147483647 w 1434"/>
              <a:gd name="T25" fmla="*/ 2147483647 h 581"/>
              <a:gd name="T26" fmla="*/ 2147483647 w 1434"/>
              <a:gd name="T27" fmla="*/ 2147483647 h 581"/>
              <a:gd name="T28" fmla="*/ 2147483647 w 1434"/>
              <a:gd name="T29" fmla="*/ 2147483647 h 581"/>
              <a:gd name="T30" fmla="*/ 2147483647 w 1434"/>
              <a:gd name="T31" fmla="*/ 2147483647 h 581"/>
              <a:gd name="T32" fmla="*/ 2147483647 w 1434"/>
              <a:gd name="T33" fmla="*/ 2147483647 h 581"/>
              <a:gd name="T34" fmla="*/ 2147483647 w 1434"/>
              <a:gd name="T35" fmla="*/ 2147483647 h 581"/>
              <a:gd name="T36" fmla="*/ 2147483647 w 1434"/>
              <a:gd name="T37" fmla="*/ 2147483647 h 581"/>
              <a:gd name="T38" fmla="*/ 2147483647 w 1434"/>
              <a:gd name="T39" fmla="*/ 2147483647 h 581"/>
              <a:gd name="T40" fmla="*/ 2147483647 w 1434"/>
              <a:gd name="T41" fmla="*/ 2147483647 h 581"/>
              <a:gd name="T42" fmla="*/ 2147483647 w 1434"/>
              <a:gd name="T43" fmla="*/ 2147483647 h 581"/>
              <a:gd name="T44" fmla="*/ 2147483647 w 1434"/>
              <a:gd name="T45" fmla="*/ 2147483647 h 581"/>
              <a:gd name="T46" fmla="*/ 2147483647 w 1434"/>
              <a:gd name="T47" fmla="*/ 2147483647 h 581"/>
              <a:gd name="T48" fmla="*/ 2147483647 w 1434"/>
              <a:gd name="T49" fmla="*/ 2147483647 h 581"/>
              <a:gd name="T50" fmla="*/ 2147483647 w 1434"/>
              <a:gd name="T51" fmla="*/ 2147483647 h 581"/>
              <a:gd name="T52" fmla="*/ 2147483647 w 1434"/>
              <a:gd name="T53" fmla="*/ 2147483647 h 581"/>
              <a:gd name="T54" fmla="*/ 2147483647 w 1434"/>
              <a:gd name="T55" fmla="*/ 0 h 581"/>
              <a:gd name="T56" fmla="*/ 2147483647 w 1434"/>
              <a:gd name="T57" fmla="*/ 2147483647 h 581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1434"/>
              <a:gd name="T88" fmla="*/ 0 h 581"/>
              <a:gd name="T89" fmla="*/ 1434 w 1434"/>
              <a:gd name="T90" fmla="*/ 581 h 581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1434" h="581">
                <a:moveTo>
                  <a:pt x="569" y="5"/>
                </a:moveTo>
                <a:cubicBezTo>
                  <a:pt x="484" y="6"/>
                  <a:pt x="399" y="6"/>
                  <a:pt x="315" y="10"/>
                </a:cubicBezTo>
                <a:cubicBezTo>
                  <a:pt x="290" y="10"/>
                  <a:pt x="268" y="29"/>
                  <a:pt x="246" y="37"/>
                </a:cubicBezTo>
                <a:cubicBezTo>
                  <a:pt x="200" y="52"/>
                  <a:pt x="154" y="61"/>
                  <a:pt x="108" y="74"/>
                </a:cubicBezTo>
                <a:cubicBezTo>
                  <a:pt x="48" y="113"/>
                  <a:pt x="58" y="142"/>
                  <a:pt x="28" y="201"/>
                </a:cubicBezTo>
                <a:cubicBezTo>
                  <a:pt x="15" y="268"/>
                  <a:pt x="22" y="236"/>
                  <a:pt x="7" y="296"/>
                </a:cubicBezTo>
                <a:cubicBezTo>
                  <a:pt x="11" y="347"/>
                  <a:pt x="0" y="436"/>
                  <a:pt x="55" y="471"/>
                </a:cubicBezTo>
                <a:cubicBezTo>
                  <a:pt x="63" y="498"/>
                  <a:pt x="75" y="527"/>
                  <a:pt x="108" y="535"/>
                </a:cubicBezTo>
                <a:cubicBezTo>
                  <a:pt x="122" y="538"/>
                  <a:pt x="150" y="545"/>
                  <a:pt x="150" y="545"/>
                </a:cubicBezTo>
                <a:cubicBezTo>
                  <a:pt x="182" y="543"/>
                  <a:pt x="214" y="544"/>
                  <a:pt x="246" y="540"/>
                </a:cubicBezTo>
                <a:cubicBezTo>
                  <a:pt x="272" y="536"/>
                  <a:pt x="301" y="519"/>
                  <a:pt x="330" y="514"/>
                </a:cubicBezTo>
                <a:cubicBezTo>
                  <a:pt x="351" y="499"/>
                  <a:pt x="375" y="493"/>
                  <a:pt x="399" y="482"/>
                </a:cubicBezTo>
                <a:cubicBezTo>
                  <a:pt x="415" y="465"/>
                  <a:pt x="428" y="462"/>
                  <a:pt x="447" y="450"/>
                </a:cubicBezTo>
                <a:cubicBezTo>
                  <a:pt x="457" y="415"/>
                  <a:pt x="442" y="448"/>
                  <a:pt x="468" y="429"/>
                </a:cubicBezTo>
                <a:cubicBezTo>
                  <a:pt x="502" y="402"/>
                  <a:pt x="553" y="403"/>
                  <a:pt x="611" y="392"/>
                </a:cubicBezTo>
                <a:cubicBezTo>
                  <a:pt x="659" y="396"/>
                  <a:pt x="659" y="388"/>
                  <a:pt x="706" y="403"/>
                </a:cubicBezTo>
                <a:cubicBezTo>
                  <a:pt x="738" y="425"/>
                  <a:pt x="794" y="438"/>
                  <a:pt x="828" y="456"/>
                </a:cubicBezTo>
                <a:cubicBezTo>
                  <a:pt x="915" y="501"/>
                  <a:pt x="935" y="565"/>
                  <a:pt x="1035" y="577"/>
                </a:cubicBezTo>
                <a:cubicBezTo>
                  <a:pt x="1122" y="573"/>
                  <a:pt x="1204" y="581"/>
                  <a:pt x="1279" y="535"/>
                </a:cubicBezTo>
                <a:cubicBezTo>
                  <a:pt x="1295" y="508"/>
                  <a:pt x="1308" y="518"/>
                  <a:pt x="1325" y="493"/>
                </a:cubicBezTo>
                <a:cubicBezTo>
                  <a:pt x="1335" y="476"/>
                  <a:pt x="1361" y="461"/>
                  <a:pt x="1373" y="445"/>
                </a:cubicBezTo>
                <a:cubicBezTo>
                  <a:pt x="1389" y="408"/>
                  <a:pt x="1372" y="393"/>
                  <a:pt x="1379" y="386"/>
                </a:cubicBezTo>
                <a:cubicBezTo>
                  <a:pt x="1386" y="377"/>
                  <a:pt x="1394" y="369"/>
                  <a:pt x="1401" y="360"/>
                </a:cubicBezTo>
                <a:cubicBezTo>
                  <a:pt x="1414" y="339"/>
                  <a:pt x="1419" y="313"/>
                  <a:pt x="1427" y="291"/>
                </a:cubicBezTo>
                <a:cubicBezTo>
                  <a:pt x="1433" y="235"/>
                  <a:pt x="1434" y="247"/>
                  <a:pt x="1427" y="180"/>
                </a:cubicBezTo>
                <a:cubicBezTo>
                  <a:pt x="1418" y="111"/>
                  <a:pt x="1331" y="60"/>
                  <a:pt x="1273" y="42"/>
                </a:cubicBezTo>
                <a:cubicBezTo>
                  <a:pt x="1217" y="4"/>
                  <a:pt x="1253" y="20"/>
                  <a:pt x="1152" y="16"/>
                </a:cubicBezTo>
                <a:cubicBezTo>
                  <a:pt x="1035" y="10"/>
                  <a:pt x="919" y="3"/>
                  <a:pt x="802" y="0"/>
                </a:cubicBezTo>
                <a:cubicBezTo>
                  <a:pt x="607" y="5"/>
                  <a:pt x="685" y="5"/>
                  <a:pt x="569" y="5"/>
                </a:cubicBezTo>
                <a:close/>
              </a:path>
            </a:pathLst>
          </a:custGeom>
          <a:solidFill>
            <a:srgbClr val="067AB4">
              <a:alpha val="23137"/>
            </a:srgbClr>
          </a:solidFill>
          <a:ln w="57150">
            <a:solidFill>
              <a:srgbClr val="FF72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</a:endParaRPr>
          </a:p>
        </p:txBody>
      </p:sp>
      <p:sp>
        <p:nvSpPr>
          <p:cNvPr id="103" name="Freeform 44"/>
          <p:cNvSpPr>
            <a:spLocks/>
          </p:cNvSpPr>
          <p:nvPr/>
        </p:nvSpPr>
        <p:spPr bwMode="auto">
          <a:xfrm>
            <a:off x="1752600" y="2186123"/>
            <a:ext cx="2438400" cy="2154238"/>
          </a:xfrm>
          <a:custGeom>
            <a:avLst/>
            <a:gdLst>
              <a:gd name="T0" fmla="*/ 2147483647 w 1474"/>
              <a:gd name="T1" fmla="*/ 2147483647 h 1357"/>
              <a:gd name="T2" fmla="*/ 2147483647 w 1474"/>
              <a:gd name="T3" fmla="*/ 2147483647 h 1357"/>
              <a:gd name="T4" fmla="*/ 2147483647 w 1474"/>
              <a:gd name="T5" fmla="*/ 2147483647 h 1357"/>
              <a:gd name="T6" fmla="*/ 2147483647 w 1474"/>
              <a:gd name="T7" fmla="*/ 2147483647 h 1357"/>
              <a:gd name="T8" fmla="*/ 2147483647 w 1474"/>
              <a:gd name="T9" fmla="*/ 2147483647 h 1357"/>
              <a:gd name="T10" fmla="*/ 2147483647 w 1474"/>
              <a:gd name="T11" fmla="*/ 2147483647 h 1357"/>
              <a:gd name="T12" fmla="*/ 2147483647 w 1474"/>
              <a:gd name="T13" fmla="*/ 2147483647 h 1357"/>
              <a:gd name="T14" fmla="*/ 2147483647 w 1474"/>
              <a:gd name="T15" fmla="*/ 2147483647 h 1357"/>
              <a:gd name="T16" fmla="*/ 2147483647 w 1474"/>
              <a:gd name="T17" fmla="*/ 2147483647 h 1357"/>
              <a:gd name="T18" fmla="*/ 2147483647 w 1474"/>
              <a:gd name="T19" fmla="*/ 2147483647 h 1357"/>
              <a:gd name="T20" fmla="*/ 0 w 1474"/>
              <a:gd name="T21" fmla="*/ 2147483647 h 1357"/>
              <a:gd name="T22" fmla="*/ 2147483647 w 1474"/>
              <a:gd name="T23" fmla="*/ 2147483647 h 1357"/>
              <a:gd name="T24" fmla="*/ 2147483647 w 1474"/>
              <a:gd name="T25" fmla="*/ 2147483647 h 1357"/>
              <a:gd name="T26" fmla="*/ 2147483647 w 1474"/>
              <a:gd name="T27" fmla="*/ 2147483647 h 1357"/>
              <a:gd name="T28" fmla="*/ 2147483647 w 1474"/>
              <a:gd name="T29" fmla="*/ 2147483647 h 1357"/>
              <a:gd name="T30" fmla="*/ 2147483647 w 1474"/>
              <a:gd name="T31" fmla="*/ 2147483647 h 1357"/>
              <a:gd name="T32" fmla="*/ 2147483647 w 1474"/>
              <a:gd name="T33" fmla="*/ 2147483647 h 1357"/>
              <a:gd name="T34" fmla="*/ 2147483647 w 1474"/>
              <a:gd name="T35" fmla="*/ 2147483647 h 1357"/>
              <a:gd name="T36" fmla="*/ 2147483647 w 1474"/>
              <a:gd name="T37" fmla="*/ 2147483647 h 1357"/>
              <a:gd name="T38" fmla="*/ 2147483647 w 1474"/>
              <a:gd name="T39" fmla="*/ 2147483647 h 1357"/>
              <a:gd name="T40" fmla="*/ 2147483647 w 1474"/>
              <a:gd name="T41" fmla="*/ 2147483647 h 1357"/>
              <a:gd name="T42" fmla="*/ 2147483647 w 1474"/>
              <a:gd name="T43" fmla="*/ 2147483647 h 1357"/>
              <a:gd name="T44" fmla="*/ 2147483647 w 1474"/>
              <a:gd name="T45" fmla="*/ 2147483647 h 1357"/>
              <a:gd name="T46" fmla="*/ 2147483647 w 1474"/>
              <a:gd name="T47" fmla="*/ 2147483647 h 1357"/>
              <a:gd name="T48" fmla="*/ 2147483647 w 1474"/>
              <a:gd name="T49" fmla="*/ 2147483647 h 1357"/>
              <a:gd name="T50" fmla="*/ 2147483647 w 1474"/>
              <a:gd name="T51" fmla="*/ 2147483647 h 1357"/>
              <a:gd name="T52" fmla="*/ 2147483647 w 1474"/>
              <a:gd name="T53" fmla="*/ 2147483647 h 1357"/>
              <a:gd name="T54" fmla="*/ 2147483647 w 1474"/>
              <a:gd name="T55" fmla="*/ 2147483647 h 1357"/>
              <a:gd name="T56" fmla="*/ 2147483647 w 1474"/>
              <a:gd name="T57" fmla="*/ 2147483647 h 1357"/>
              <a:gd name="T58" fmla="*/ 2147483647 w 1474"/>
              <a:gd name="T59" fmla="*/ 2147483647 h 1357"/>
              <a:gd name="T60" fmla="*/ 2147483647 w 1474"/>
              <a:gd name="T61" fmla="*/ 2147483647 h 1357"/>
              <a:gd name="T62" fmla="*/ 2147483647 w 1474"/>
              <a:gd name="T63" fmla="*/ 2147483647 h 1357"/>
              <a:gd name="T64" fmla="*/ 2147483647 w 1474"/>
              <a:gd name="T65" fmla="*/ 2147483647 h 1357"/>
              <a:gd name="T66" fmla="*/ 2147483647 w 1474"/>
              <a:gd name="T67" fmla="*/ 2147483647 h 1357"/>
              <a:gd name="T68" fmla="*/ 2147483647 w 1474"/>
              <a:gd name="T69" fmla="*/ 2147483647 h 1357"/>
              <a:gd name="T70" fmla="*/ 2147483647 w 1474"/>
              <a:gd name="T71" fmla="*/ 2147483647 h 1357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1474"/>
              <a:gd name="T109" fmla="*/ 0 h 1357"/>
              <a:gd name="T110" fmla="*/ 1474 w 1474"/>
              <a:gd name="T111" fmla="*/ 1357 h 1357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1474" h="1357">
                <a:moveTo>
                  <a:pt x="737" y="17"/>
                </a:moveTo>
                <a:cubicBezTo>
                  <a:pt x="637" y="40"/>
                  <a:pt x="530" y="10"/>
                  <a:pt x="430" y="1"/>
                </a:cubicBezTo>
                <a:cubicBezTo>
                  <a:pt x="384" y="2"/>
                  <a:pt x="337" y="3"/>
                  <a:pt x="292" y="6"/>
                </a:cubicBezTo>
                <a:cubicBezTo>
                  <a:pt x="275" y="6"/>
                  <a:pt x="259" y="7"/>
                  <a:pt x="244" y="11"/>
                </a:cubicBezTo>
                <a:cubicBezTo>
                  <a:pt x="225" y="14"/>
                  <a:pt x="191" y="27"/>
                  <a:pt x="191" y="27"/>
                </a:cubicBezTo>
                <a:cubicBezTo>
                  <a:pt x="170" y="47"/>
                  <a:pt x="155" y="56"/>
                  <a:pt x="144" y="80"/>
                </a:cubicBezTo>
                <a:cubicBezTo>
                  <a:pt x="128" y="111"/>
                  <a:pt x="127" y="136"/>
                  <a:pt x="106" y="165"/>
                </a:cubicBezTo>
                <a:cubicBezTo>
                  <a:pt x="94" y="200"/>
                  <a:pt x="85" y="235"/>
                  <a:pt x="75" y="271"/>
                </a:cubicBezTo>
                <a:cubicBezTo>
                  <a:pt x="76" y="311"/>
                  <a:pt x="77" y="352"/>
                  <a:pt x="80" y="393"/>
                </a:cubicBezTo>
                <a:cubicBezTo>
                  <a:pt x="82" y="424"/>
                  <a:pt x="116" y="433"/>
                  <a:pt x="133" y="456"/>
                </a:cubicBezTo>
                <a:cubicBezTo>
                  <a:pt x="147" y="475"/>
                  <a:pt x="152" y="500"/>
                  <a:pt x="175" y="515"/>
                </a:cubicBezTo>
                <a:cubicBezTo>
                  <a:pt x="209" y="537"/>
                  <a:pt x="304" y="540"/>
                  <a:pt x="355" y="552"/>
                </a:cubicBezTo>
                <a:cubicBezTo>
                  <a:pt x="360" y="567"/>
                  <a:pt x="357" y="589"/>
                  <a:pt x="371" y="599"/>
                </a:cubicBezTo>
                <a:cubicBezTo>
                  <a:pt x="382" y="607"/>
                  <a:pt x="421" y="633"/>
                  <a:pt x="424" y="637"/>
                </a:cubicBezTo>
                <a:cubicBezTo>
                  <a:pt x="432" y="648"/>
                  <a:pt x="436" y="658"/>
                  <a:pt x="451" y="663"/>
                </a:cubicBezTo>
                <a:cubicBezTo>
                  <a:pt x="471" y="670"/>
                  <a:pt x="493" y="672"/>
                  <a:pt x="514" y="679"/>
                </a:cubicBezTo>
                <a:cubicBezTo>
                  <a:pt x="527" y="703"/>
                  <a:pt x="530" y="719"/>
                  <a:pt x="536" y="748"/>
                </a:cubicBezTo>
                <a:cubicBezTo>
                  <a:pt x="529" y="774"/>
                  <a:pt x="530" y="786"/>
                  <a:pt x="504" y="795"/>
                </a:cubicBezTo>
                <a:cubicBezTo>
                  <a:pt x="478" y="812"/>
                  <a:pt x="448" y="819"/>
                  <a:pt x="419" y="827"/>
                </a:cubicBezTo>
                <a:cubicBezTo>
                  <a:pt x="368" y="864"/>
                  <a:pt x="305" y="881"/>
                  <a:pt x="244" y="891"/>
                </a:cubicBezTo>
                <a:cubicBezTo>
                  <a:pt x="197" y="913"/>
                  <a:pt x="145" y="942"/>
                  <a:pt x="96" y="954"/>
                </a:cubicBezTo>
                <a:cubicBezTo>
                  <a:pt x="63" y="970"/>
                  <a:pt x="20" y="967"/>
                  <a:pt x="0" y="997"/>
                </a:cubicBezTo>
                <a:cubicBezTo>
                  <a:pt x="5" y="1028"/>
                  <a:pt x="0" y="1043"/>
                  <a:pt x="27" y="1060"/>
                </a:cubicBezTo>
                <a:cubicBezTo>
                  <a:pt x="66" y="1058"/>
                  <a:pt x="105" y="1059"/>
                  <a:pt x="144" y="1055"/>
                </a:cubicBezTo>
                <a:cubicBezTo>
                  <a:pt x="155" y="1053"/>
                  <a:pt x="179" y="1033"/>
                  <a:pt x="191" y="1029"/>
                </a:cubicBezTo>
                <a:cubicBezTo>
                  <a:pt x="217" y="1017"/>
                  <a:pt x="244" y="1009"/>
                  <a:pt x="271" y="997"/>
                </a:cubicBezTo>
                <a:cubicBezTo>
                  <a:pt x="278" y="993"/>
                  <a:pt x="285" y="990"/>
                  <a:pt x="292" y="986"/>
                </a:cubicBezTo>
                <a:cubicBezTo>
                  <a:pt x="299" y="981"/>
                  <a:pt x="305" y="973"/>
                  <a:pt x="313" y="970"/>
                </a:cubicBezTo>
                <a:cubicBezTo>
                  <a:pt x="346" y="953"/>
                  <a:pt x="398" y="948"/>
                  <a:pt x="435" y="944"/>
                </a:cubicBezTo>
                <a:cubicBezTo>
                  <a:pt x="474" y="916"/>
                  <a:pt x="421" y="949"/>
                  <a:pt x="477" y="928"/>
                </a:cubicBezTo>
                <a:cubicBezTo>
                  <a:pt x="507" y="915"/>
                  <a:pt x="529" y="893"/>
                  <a:pt x="562" y="886"/>
                </a:cubicBezTo>
                <a:cubicBezTo>
                  <a:pt x="602" y="858"/>
                  <a:pt x="603" y="911"/>
                  <a:pt x="610" y="939"/>
                </a:cubicBezTo>
                <a:cubicBezTo>
                  <a:pt x="606" y="1008"/>
                  <a:pt x="617" y="1091"/>
                  <a:pt x="573" y="1150"/>
                </a:cubicBezTo>
                <a:cubicBezTo>
                  <a:pt x="564" y="1182"/>
                  <a:pt x="556" y="1203"/>
                  <a:pt x="541" y="1235"/>
                </a:cubicBezTo>
                <a:cubicBezTo>
                  <a:pt x="529" y="1285"/>
                  <a:pt x="517" y="1312"/>
                  <a:pt x="546" y="1357"/>
                </a:cubicBezTo>
                <a:cubicBezTo>
                  <a:pt x="569" y="1355"/>
                  <a:pt x="592" y="1357"/>
                  <a:pt x="615" y="1352"/>
                </a:cubicBezTo>
                <a:cubicBezTo>
                  <a:pt x="627" y="1348"/>
                  <a:pt x="634" y="1334"/>
                  <a:pt x="647" y="1331"/>
                </a:cubicBezTo>
                <a:cubicBezTo>
                  <a:pt x="655" y="1304"/>
                  <a:pt x="677" y="1287"/>
                  <a:pt x="689" y="1262"/>
                </a:cubicBezTo>
                <a:cubicBezTo>
                  <a:pt x="695" y="1247"/>
                  <a:pt x="700" y="1229"/>
                  <a:pt x="705" y="1214"/>
                </a:cubicBezTo>
                <a:cubicBezTo>
                  <a:pt x="716" y="1116"/>
                  <a:pt x="744" y="1024"/>
                  <a:pt x="763" y="928"/>
                </a:cubicBezTo>
                <a:cubicBezTo>
                  <a:pt x="768" y="897"/>
                  <a:pt x="781" y="883"/>
                  <a:pt x="811" y="875"/>
                </a:cubicBezTo>
                <a:cubicBezTo>
                  <a:pt x="823" y="871"/>
                  <a:pt x="848" y="864"/>
                  <a:pt x="848" y="864"/>
                </a:cubicBezTo>
                <a:cubicBezTo>
                  <a:pt x="955" y="871"/>
                  <a:pt x="977" y="882"/>
                  <a:pt x="1071" y="917"/>
                </a:cubicBezTo>
                <a:cubicBezTo>
                  <a:pt x="1121" y="955"/>
                  <a:pt x="1132" y="946"/>
                  <a:pt x="1182" y="976"/>
                </a:cubicBezTo>
                <a:cubicBezTo>
                  <a:pt x="1255" y="1019"/>
                  <a:pt x="1214" y="1007"/>
                  <a:pt x="1261" y="1018"/>
                </a:cubicBezTo>
                <a:cubicBezTo>
                  <a:pt x="1291" y="1039"/>
                  <a:pt x="1332" y="1045"/>
                  <a:pt x="1367" y="1060"/>
                </a:cubicBezTo>
                <a:cubicBezTo>
                  <a:pt x="1382" y="1066"/>
                  <a:pt x="1415" y="1076"/>
                  <a:pt x="1415" y="1076"/>
                </a:cubicBezTo>
                <a:cubicBezTo>
                  <a:pt x="1431" y="1074"/>
                  <a:pt x="1448" y="1076"/>
                  <a:pt x="1463" y="1071"/>
                </a:cubicBezTo>
                <a:cubicBezTo>
                  <a:pt x="1474" y="1066"/>
                  <a:pt x="1463" y="1029"/>
                  <a:pt x="1463" y="1029"/>
                </a:cubicBezTo>
                <a:cubicBezTo>
                  <a:pt x="1450" y="1009"/>
                  <a:pt x="1418" y="1006"/>
                  <a:pt x="1399" y="1002"/>
                </a:cubicBezTo>
                <a:cubicBezTo>
                  <a:pt x="1380" y="990"/>
                  <a:pt x="1377" y="977"/>
                  <a:pt x="1357" y="970"/>
                </a:cubicBezTo>
                <a:cubicBezTo>
                  <a:pt x="1332" y="934"/>
                  <a:pt x="1361" y="968"/>
                  <a:pt x="1330" y="949"/>
                </a:cubicBezTo>
                <a:cubicBezTo>
                  <a:pt x="1276" y="915"/>
                  <a:pt x="1296" y="917"/>
                  <a:pt x="1240" y="907"/>
                </a:cubicBezTo>
                <a:cubicBezTo>
                  <a:pt x="1214" y="902"/>
                  <a:pt x="1166" y="886"/>
                  <a:pt x="1166" y="886"/>
                </a:cubicBezTo>
                <a:cubicBezTo>
                  <a:pt x="1125" y="858"/>
                  <a:pt x="1177" y="890"/>
                  <a:pt x="1129" y="870"/>
                </a:cubicBezTo>
                <a:cubicBezTo>
                  <a:pt x="1110" y="862"/>
                  <a:pt x="1096" y="849"/>
                  <a:pt x="1076" y="843"/>
                </a:cubicBezTo>
                <a:cubicBezTo>
                  <a:pt x="1062" y="799"/>
                  <a:pt x="1028" y="813"/>
                  <a:pt x="996" y="795"/>
                </a:cubicBezTo>
                <a:cubicBezTo>
                  <a:pt x="985" y="788"/>
                  <a:pt x="965" y="774"/>
                  <a:pt x="965" y="774"/>
                </a:cubicBezTo>
                <a:cubicBezTo>
                  <a:pt x="959" y="760"/>
                  <a:pt x="947" y="741"/>
                  <a:pt x="959" y="727"/>
                </a:cubicBezTo>
                <a:cubicBezTo>
                  <a:pt x="971" y="712"/>
                  <a:pt x="1012" y="705"/>
                  <a:pt x="1012" y="705"/>
                </a:cubicBezTo>
                <a:cubicBezTo>
                  <a:pt x="1028" y="681"/>
                  <a:pt x="1034" y="665"/>
                  <a:pt x="1049" y="642"/>
                </a:cubicBezTo>
                <a:cubicBezTo>
                  <a:pt x="1057" y="610"/>
                  <a:pt x="1085" y="579"/>
                  <a:pt x="1113" y="562"/>
                </a:cubicBezTo>
                <a:cubicBezTo>
                  <a:pt x="1122" y="555"/>
                  <a:pt x="1145" y="552"/>
                  <a:pt x="1145" y="552"/>
                </a:cubicBezTo>
                <a:cubicBezTo>
                  <a:pt x="1175" y="531"/>
                  <a:pt x="1220" y="526"/>
                  <a:pt x="1256" y="515"/>
                </a:cubicBezTo>
                <a:cubicBezTo>
                  <a:pt x="1284" y="458"/>
                  <a:pt x="1249" y="515"/>
                  <a:pt x="1283" y="488"/>
                </a:cubicBezTo>
                <a:cubicBezTo>
                  <a:pt x="1287" y="484"/>
                  <a:pt x="1288" y="476"/>
                  <a:pt x="1293" y="472"/>
                </a:cubicBezTo>
                <a:cubicBezTo>
                  <a:pt x="1302" y="462"/>
                  <a:pt x="1315" y="455"/>
                  <a:pt x="1325" y="446"/>
                </a:cubicBezTo>
                <a:cubicBezTo>
                  <a:pt x="1333" y="418"/>
                  <a:pt x="1339" y="414"/>
                  <a:pt x="1367" y="403"/>
                </a:cubicBezTo>
                <a:cubicBezTo>
                  <a:pt x="1378" y="387"/>
                  <a:pt x="1383" y="373"/>
                  <a:pt x="1389" y="356"/>
                </a:cubicBezTo>
                <a:cubicBezTo>
                  <a:pt x="1392" y="345"/>
                  <a:pt x="1399" y="324"/>
                  <a:pt x="1399" y="324"/>
                </a:cubicBezTo>
                <a:cubicBezTo>
                  <a:pt x="1402" y="263"/>
                  <a:pt x="1423" y="145"/>
                  <a:pt x="1378" y="91"/>
                </a:cubicBezTo>
                <a:cubicBezTo>
                  <a:pt x="1350" y="58"/>
                  <a:pt x="1315" y="57"/>
                  <a:pt x="1277" y="48"/>
                </a:cubicBezTo>
                <a:cubicBezTo>
                  <a:pt x="1092" y="0"/>
                  <a:pt x="949" y="17"/>
                  <a:pt x="737" y="17"/>
                </a:cubicBezTo>
                <a:close/>
              </a:path>
            </a:pathLst>
          </a:custGeom>
          <a:solidFill>
            <a:srgbClr val="067AB4">
              <a:alpha val="21960"/>
            </a:srgbClr>
          </a:solidFill>
          <a:ln w="57150">
            <a:solidFill>
              <a:srgbClr val="FF72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</a:endParaRPr>
          </a:p>
        </p:txBody>
      </p:sp>
      <p:sp>
        <p:nvSpPr>
          <p:cNvPr id="10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02165" y="6341880"/>
            <a:ext cx="385235" cy="152400"/>
          </a:xfrm>
        </p:spPr>
        <p:txBody>
          <a:bodyPr/>
          <a:lstStyle/>
          <a:p>
            <a:fld id="{1DEFE11F-158B-594E-8BEE-CC26B87FEB38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5" grpId="0"/>
      <p:bldP spid="76" grpId="0"/>
      <p:bldP spid="102" grpId="0" animBg="1"/>
      <p:bldP spid="102" grpId="1" animBg="1"/>
      <p:bldP spid="10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lexible cross data center resource pools…"/>
          <p:cNvSpPr txBox="1">
            <a:spLocks noGrp="1"/>
          </p:cNvSpPr>
          <p:nvPr>
            <p:ph type="body" sz="half" idx="1"/>
          </p:nvPr>
        </p:nvSpPr>
        <p:spPr>
          <a:xfrm>
            <a:off x="214312" y="1098351"/>
            <a:ext cx="8688586" cy="1750219"/>
          </a:xfrm>
          <a:prstGeom prst="rect">
            <a:avLst/>
          </a:prstGeom>
        </p:spPr>
        <p:txBody>
          <a:bodyPr/>
          <a:lstStyle/>
          <a:p>
            <a:r>
              <a:t>Flexible cross data center resource pools</a:t>
            </a:r>
          </a:p>
          <a:p>
            <a:pPr lvl="1"/>
            <a:r>
              <a:t>A secure collection of server, storage, and network resources </a:t>
            </a:r>
          </a:p>
          <a:p>
            <a:pPr lvl="1"/>
            <a:r>
              <a:t>Seamlessly connected across cloud and enterprise data centers</a:t>
            </a:r>
          </a:p>
          <a:p>
            <a:pPr lvl="1"/>
            <a:r>
              <a:t>Supports dynamic application placement across sites</a:t>
            </a:r>
          </a:p>
        </p:txBody>
      </p:sp>
      <p:sp>
        <p:nvSpPr>
          <p:cNvPr id="63" name="Vision: Virtual Cloud Poo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Vision: Virtual Cloud Pools</a:t>
            </a:r>
          </a:p>
        </p:txBody>
      </p:sp>
      <p:grpSp>
        <p:nvGrpSpPr>
          <p:cNvPr id="101" name="Group"/>
          <p:cNvGrpSpPr/>
          <p:nvPr/>
        </p:nvGrpSpPr>
        <p:grpSpPr>
          <a:xfrm>
            <a:off x="313512" y="3420070"/>
            <a:ext cx="8501062" cy="2205634"/>
            <a:chOff x="0" y="0"/>
            <a:chExt cx="12090398" cy="3136899"/>
          </a:xfrm>
        </p:grpSpPr>
        <p:pic>
          <p:nvPicPr>
            <p:cNvPr id="64" name="image.pdf" descr="image.pdf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34009" y="937416"/>
              <a:ext cx="4701376" cy="18886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5" name="earth41.png" descr="earth41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57211" y="1530194"/>
              <a:ext cx="740212" cy="7597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6" name="ICON_Cloud_Q308.png" descr="ICON_Cloud_Q308.png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25089" y="1888618"/>
              <a:ext cx="2826035" cy="10415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7" name="Rounded Rectangle"/>
            <p:cNvSpPr/>
            <p:nvPr/>
          </p:nvSpPr>
          <p:spPr>
            <a:xfrm>
              <a:off x="2825714" y="1882139"/>
              <a:ext cx="5654762" cy="1254761"/>
            </a:xfrm>
            <a:prstGeom prst="roundRect">
              <a:avLst>
                <a:gd name="adj" fmla="val 15182"/>
              </a:avLst>
            </a:prstGeom>
            <a:solidFill>
              <a:srgbClr val="77BB41">
                <a:alpha val="50000"/>
              </a:srgbClr>
            </a:solidFill>
            <a:ln w="25400" cap="flat">
              <a:solidFill>
                <a:srgbClr val="000000">
                  <a:alpha val="50000"/>
                </a:srgbClr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pic>
          <p:nvPicPr>
            <p:cNvPr id="68" name="ICON_Cloud_Q308.png" descr="ICON_Cloud_Q308.png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35387" y="608095"/>
              <a:ext cx="2826035" cy="9239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9" name="Shape"/>
            <p:cNvSpPr/>
            <p:nvPr/>
          </p:nvSpPr>
          <p:spPr>
            <a:xfrm>
              <a:off x="7598750" y="272340"/>
              <a:ext cx="2591963" cy="2573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9" h="21316" extrusionOk="0">
                  <a:moveTo>
                    <a:pt x="21110" y="2375"/>
                  </a:moveTo>
                  <a:cubicBezTo>
                    <a:pt x="20681" y="751"/>
                    <a:pt x="16680" y="162"/>
                    <a:pt x="15434" y="102"/>
                  </a:cubicBezTo>
                  <a:cubicBezTo>
                    <a:pt x="13883" y="20"/>
                    <a:pt x="12331" y="20"/>
                    <a:pt x="10779" y="0"/>
                  </a:cubicBezTo>
                  <a:cubicBezTo>
                    <a:pt x="7982" y="41"/>
                    <a:pt x="6206" y="122"/>
                    <a:pt x="3756" y="447"/>
                  </a:cubicBezTo>
                  <a:cubicBezTo>
                    <a:pt x="1899" y="1056"/>
                    <a:pt x="571" y="1096"/>
                    <a:pt x="0" y="3268"/>
                  </a:cubicBezTo>
                  <a:cubicBezTo>
                    <a:pt x="41" y="4060"/>
                    <a:pt x="20" y="4852"/>
                    <a:pt x="122" y="5644"/>
                  </a:cubicBezTo>
                  <a:cubicBezTo>
                    <a:pt x="184" y="6273"/>
                    <a:pt x="-41" y="7126"/>
                    <a:pt x="469" y="7552"/>
                  </a:cubicBezTo>
                  <a:cubicBezTo>
                    <a:pt x="816" y="7836"/>
                    <a:pt x="1102" y="8181"/>
                    <a:pt x="1490" y="8465"/>
                  </a:cubicBezTo>
                  <a:cubicBezTo>
                    <a:pt x="2266" y="9014"/>
                    <a:pt x="3858" y="9115"/>
                    <a:pt x="4777" y="9237"/>
                  </a:cubicBezTo>
                  <a:cubicBezTo>
                    <a:pt x="5328" y="9379"/>
                    <a:pt x="5880" y="9480"/>
                    <a:pt x="6472" y="9582"/>
                  </a:cubicBezTo>
                  <a:cubicBezTo>
                    <a:pt x="6941" y="9744"/>
                    <a:pt x="7390" y="9866"/>
                    <a:pt x="7840" y="10150"/>
                  </a:cubicBezTo>
                  <a:cubicBezTo>
                    <a:pt x="8146" y="10638"/>
                    <a:pt x="7982" y="10313"/>
                    <a:pt x="8166" y="10820"/>
                  </a:cubicBezTo>
                  <a:cubicBezTo>
                    <a:pt x="8227" y="11044"/>
                    <a:pt x="8411" y="11511"/>
                    <a:pt x="8411" y="11511"/>
                  </a:cubicBezTo>
                  <a:cubicBezTo>
                    <a:pt x="8432" y="12323"/>
                    <a:pt x="8472" y="13155"/>
                    <a:pt x="8513" y="13987"/>
                  </a:cubicBezTo>
                  <a:cubicBezTo>
                    <a:pt x="8595" y="17377"/>
                    <a:pt x="7411" y="20524"/>
                    <a:pt x="11004" y="21316"/>
                  </a:cubicBezTo>
                  <a:cubicBezTo>
                    <a:pt x="13188" y="21235"/>
                    <a:pt x="15822" y="21600"/>
                    <a:pt x="17823" y="20402"/>
                  </a:cubicBezTo>
                  <a:cubicBezTo>
                    <a:pt x="18129" y="19935"/>
                    <a:pt x="18476" y="19468"/>
                    <a:pt x="18946" y="19164"/>
                  </a:cubicBezTo>
                  <a:cubicBezTo>
                    <a:pt x="19477" y="18332"/>
                    <a:pt x="19517" y="17540"/>
                    <a:pt x="19967" y="16687"/>
                  </a:cubicBezTo>
                  <a:cubicBezTo>
                    <a:pt x="20089" y="16017"/>
                    <a:pt x="20416" y="15408"/>
                    <a:pt x="20661" y="14779"/>
                  </a:cubicBezTo>
                  <a:cubicBezTo>
                    <a:pt x="20804" y="13317"/>
                    <a:pt x="21334" y="12018"/>
                    <a:pt x="21559" y="10597"/>
                  </a:cubicBezTo>
                  <a:cubicBezTo>
                    <a:pt x="21518" y="8445"/>
                    <a:pt x="21518" y="6293"/>
                    <a:pt x="21437" y="4162"/>
                  </a:cubicBezTo>
                  <a:cubicBezTo>
                    <a:pt x="21396" y="3532"/>
                    <a:pt x="21110" y="2984"/>
                    <a:pt x="21110" y="2375"/>
                  </a:cubicBezTo>
                  <a:close/>
                </a:path>
              </a:pathLst>
            </a:custGeom>
            <a:solidFill>
              <a:srgbClr val="FF8700">
                <a:alpha val="47058"/>
              </a:srgbClr>
            </a:solidFill>
            <a:ln w="25400" cap="flat">
              <a:solidFill>
                <a:srgbClr val="60606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grpSp>
          <p:nvGrpSpPr>
            <p:cNvPr id="73" name="Group"/>
            <p:cNvGrpSpPr/>
            <p:nvPr/>
          </p:nvGrpSpPr>
          <p:grpSpPr>
            <a:xfrm>
              <a:off x="9124208" y="490459"/>
              <a:ext cx="827224" cy="703982"/>
              <a:chOff x="0" y="0"/>
              <a:chExt cx="827222" cy="703981"/>
            </a:xfrm>
          </p:grpSpPr>
          <p:sp>
            <p:nvSpPr>
              <p:cNvPr id="70" name="Rounded Rectangle"/>
              <p:cNvSpPr/>
              <p:nvPr/>
            </p:nvSpPr>
            <p:spPr>
              <a:xfrm>
                <a:off x="234380" y="0"/>
                <a:ext cx="592843" cy="468709"/>
              </a:xfrm>
              <a:prstGeom prst="roundRect">
                <a:avLst>
                  <a:gd name="adj" fmla="val 10838"/>
                </a:avLst>
              </a:prstGeom>
              <a:solidFill>
                <a:srgbClr val="FF8700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1" name="Rounded Rectangle"/>
              <p:cNvSpPr/>
              <p:nvPr/>
            </p:nvSpPr>
            <p:spPr>
              <a:xfrm>
                <a:off x="110297" y="117636"/>
                <a:ext cx="592843" cy="468709"/>
              </a:xfrm>
              <a:prstGeom prst="roundRect">
                <a:avLst>
                  <a:gd name="adj" fmla="val 10838"/>
                </a:avLst>
              </a:prstGeom>
              <a:solidFill>
                <a:srgbClr val="FF8700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2" name="Rounded Rectangle"/>
              <p:cNvSpPr/>
              <p:nvPr/>
            </p:nvSpPr>
            <p:spPr>
              <a:xfrm>
                <a:off x="0" y="235273"/>
                <a:ext cx="592843" cy="468709"/>
              </a:xfrm>
              <a:prstGeom prst="roundRect">
                <a:avLst>
                  <a:gd name="adj" fmla="val 10838"/>
                </a:avLst>
              </a:prstGeom>
              <a:solidFill>
                <a:srgbClr val="FF8700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</p:grpSp>
        <p:grpSp>
          <p:nvGrpSpPr>
            <p:cNvPr id="77" name="Group"/>
            <p:cNvGrpSpPr/>
            <p:nvPr/>
          </p:nvGrpSpPr>
          <p:grpSpPr>
            <a:xfrm>
              <a:off x="7952311" y="490459"/>
              <a:ext cx="827222" cy="703982"/>
              <a:chOff x="0" y="0"/>
              <a:chExt cx="827220" cy="703981"/>
            </a:xfrm>
          </p:grpSpPr>
          <p:sp>
            <p:nvSpPr>
              <p:cNvPr id="74" name="Rounded Rectangle"/>
              <p:cNvSpPr/>
              <p:nvPr/>
            </p:nvSpPr>
            <p:spPr>
              <a:xfrm>
                <a:off x="234378" y="0"/>
                <a:ext cx="592843" cy="468709"/>
              </a:xfrm>
              <a:prstGeom prst="roundRect">
                <a:avLst>
                  <a:gd name="adj" fmla="val 10838"/>
                </a:avLst>
              </a:prstGeom>
              <a:solidFill>
                <a:srgbClr val="FF8700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5" name="Rounded Rectangle"/>
              <p:cNvSpPr/>
              <p:nvPr/>
            </p:nvSpPr>
            <p:spPr>
              <a:xfrm>
                <a:off x="110295" y="117636"/>
                <a:ext cx="592843" cy="468709"/>
              </a:xfrm>
              <a:prstGeom prst="roundRect">
                <a:avLst>
                  <a:gd name="adj" fmla="val 10838"/>
                </a:avLst>
              </a:prstGeom>
              <a:solidFill>
                <a:srgbClr val="FF8700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6" name="Rounded Rectangle"/>
              <p:cNvSpPr/>
              <p:nvPr/>
            </p:nvSpPr>
            <p:spPr>
              <a:xfrm>
                <a:off x="0" y="235273"/>
                <a:ext cx="592843" cy="468709"/>
              </a:xfrm>
              <a:prstGeom prst="roundRect">
                <a:avLst>
                  <a:gd name="adj" fmla="val 10838"/>
                </a:avLst>
              </a:prstGeom>
              <a:solidFill>
                <a:srgbClr val="FF8700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</p:grpSp>
        <p:grpSp>
          <p:nvGrpSpPr>
            <p:cNvPr id="81" name="Group"/>
            <p:cNvGrpSpPr/>
            <p:nvPr/>
          </p:nvGrpSpPr>
          <p:grpSpPr>
            <a:xfrm>
              <a:off x="8765747" y="1888618"/>
              <a:ext cx="827224" cy="703063"/>
              <a:chOff x="0" y="0"/>
              <a:chExt cx="827222" cy="703062"/>
            </a:xfrm>
          </p:grpSpPr>
          <p:sp>
            <p:nvSpPr>
              <p:cNvPr id="78" name="Rounded Rectangle"/>
              <p:cNvSpPr/>
              <p:nvPr/>
            </p:nvSpPr>
            <p:spPr>
              <a:xfrm>
                <a:off x="234380" y="0"/>
                <a:ext cx="592843" cy="468709"/>
              </a:xfrm>
              <a:prstGeom prst="roundRect">
                <a:avLst>
                  <a:gd name="adj" fmla="val 10838"/>
                </a:avLst>
              </a:prstGeom>
              <a:solidFill>
                <a:srgbClr val="FF8700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9" name="Rounded Rectangle"/>
              <p:cNvSpPr/>
              <p:nvPr/>
            </p:nvSpPr>
            <p:spPr>
              <a:xfrm>
                <a:off x="124084" y="110284"/>
                <a:ext cx="592843" cy="468709"/>
              </a:xfrm>
              <a:prstGeom prst="roundRect">
                <a:avLst>
                  <a:gd name="adj" fmla="val 10838"/>
                </a:avLst>
              </a:prstGeom>
              <a:solidFill>
                <a:srgbClr val="FF8700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" name="Rounded Rectangle"/>
              <p:cNvSpPr/>
              <p:nvPr/>
            </p:nvSpPr>
            <p:spPr>
              <a:xfrm>
                <a:off x="0" y="234354"/>
                <a:ext cx="592843" cy="468709"/>
              </a:xfrm>
              <a:prstGeom prst="roundRect">
                <a:avLst>
                  <a:gd name="adj" fmla="val 10838"/>
                </a:avLst>
              </a:prstGeom>
              <a:solidFill>
                <a:srgbClr val="FF8700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</p:grpSp>
        <p:grpSp>
          <p:nvGrpSpPr>
            <p:cNvPr id="85" name="Group"/>
            <p:cNvGrpSpPr/>
            <p:nvPr/>
          </p:nvGrpSpPr>
          <p:grpSpPr>
            <a:xfrm>
              <a:off x="7530123" y="2000129"/>
              <a:ext cx="828142" cy="703983"/>
              <a:chOff x="0" y="0"/>
              <a:chExt cx="828140" cy="703981"/>
            </a:xfrm>
          </p:grpSpPr>
          <p:sp>
            <p:nvSpPr>
              <p:cNvPr id="82" name="Rounded Rectangle"/>
              <p:cNvSpPr/>
              <p:nvPr/>
            </p:nvSpPr>
            <p:spPr>
              <a:xfrm>
                <a:off x="235298" y="0"/>
                <a:ext cx="592843" cy="468709"/>
              </a:xfrm>
              <a:prstGeom prst="roundRect">
                <a:avLst>
                  <a:gd name="adj" fmla="val 10838"/>
                </a:avLst>
              </a:prstGeom>
              <a:solidFill>
                <a:srgbClr val="7FC328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3" name="Rounded Rectangle"/>
              <p:cNvSpPr/>
              <p:nvPr/>
            </p:nvSpPr>
            <p:spPr>
              <a:xfrm>
                <a:off x="117649" y="117636"/>
                <a:ext cx="592843" cy="468709"/>
              </a:xfrm>
              <a:prstGeom prst="roundRect">
                <a:avLst>
                  <a:gd name="adj" fmla="val 10838"/>
                </a:avLst>
              </a:prstGeom>
              <a:solidFill>
                <a:srgbClr val="7FC328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4" name="Rounded Rectangle"/>
              <p:cNvSpPr/>
              <p:nvPr/>
            </p:nvSpPr>
            <p:spPr>
              <a:xfrm>
                <a:off x="0" y="235273"/>
                <a:ext cx="592843" cy="468709"/>
              </a:xfrm>
              <a:prstGeom prst="roundRect">
                <a:avLst>
                  <a:gd name="adj" fmla="val 10838"/>
                </a:avLst>
              </a:prstGeom>
              <a:solidFill>
                <a:srgbClr val="7FC328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</p:grpSp>
        <p:sp>
          <p:nvSpPr>
            <p:cNvPr id="86" name="Line"/>
            <p:cNvSpPr/>
            <p:nvPr/>
          </p:nvSpPr>
          <p:spPr>
            <a:xfrm flipH="1">
              <a:off x="3237147" y="1530194"/>
              <a:ext cx="5681287" cy="2519"/>
            </a:xfrm>
            <a:prstGeom prst="line">
              <a:avLst/>
            </a:prstGeom>
            <a:noFill/>
            <a:ln w="76200" cap="flat">
              <a:solidFill>
                <a:srgbClr val="FF87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87" name="Line"/>
            <p:cNvSpPr/>
            <p:nvPr/>
          </p:nvSpPr>
          <p:spPr>
            <a:xfrm flipH="1">
              <a:off x="4053459" y="2509519"/>
              <a:ext cx="3382669" cy="20390"/>
            </a:xfrm>
            <a:prstGeom prst="line">
              <a:avLst/>
            </a:prstGeom>
            <a:noFill/>
            <a:ln w="76200" cap="flat">
              <a:solidFill>
                <a:srgbClr val="7FC328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88" name="Line"/>
            <p:cNvSpPr/>
            <p:nvPr/>
          </p:nvSpPr>
          <p:spPr>
            <a:xfrm>
              <a:off x="4121969" y="2509252"/>
              <a:ext cx="1" cy="316784"/>
            </a:xfrm>
            <a:prstGeom prst="line">
              <a:avLst/>
            </a:prstGeom>
            <a:noFill/>
            <a:ln w="76200" cap="flat">
              <a:solidFill>
                <a:srgbClr val="7FC328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89" name="Line"/>
            <p:cNvSpPr/>
            <p:nvPr/>
          </p:nvSpPr>
          <p:spPr>
            <a:xfrm flipV="1">
              <a:off x="4188453" y="1061486"/>
              <a:ext cx="2452" cy="468709"/>
            </a:xfrm>
            <a:prstGeom prst="line">
              <a:avLst/>
            </a:prstGeom>
            <a:noFill/>
            <a:ln w="76200" cap="flat">
              <a:solidFill>
                <a:srgbClr val="FF87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90" name="Enterprise…"/>
            <p:cNvSpPr/>
            <p:nvPr/>
          </p:nvSpPr>
          <p:spPr>
            <a:xfrm>
              <a:off x="0" y="1041635"/>
              <a:ext cx="2093790" cy="15761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06060"/>
                </a:buClr>
                <a:defRPr sz="3000">
                  <a:solidFill>
                    <a:srgbClr val="232323"/>
                  </a:solidFill>
                </a:defRPr>
              </a:pPr>
              <a:r>
                <a:rPr sz="2109" kern="0">
                  <a:solidFill>
                    <a:srgbClr val="232323"/>
                  </a:solidFill>
                  <a:latin typeface="Gill Sans"/>
                  <a:cs typeface="Gill Sans"/>
                  <a:sym typeface="Gill Sans"/>
                </a:rPr>
                <a:t>Enterprise</a:t>
              </a:r>
            </a:p>
            <a:p>
              <a:pPr defTabSz="410751" eaLnBrk="1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06060"/>
                </a:buClr>
                <a:defRPr sz="3000">
                  <a:solidFill>
                    <a:srgbClr val="232323"/>
                  </a:solidFill>
                </a:defRPr>
              </a:pPr>
              <a:r>
                <a:rPr sz="2109" kern="0">
                  <a:solidFill>
                    <a:srgbClr val="232323"/>
                  </a:solidFill>
                  <a:latin typeface="Gill Sans"/>
                  <a:cs typeface="Gill Sans"/>
                  <a:sym typeface="Gill Sans"/>
                </a:rPr>
                <a:t>Sites</a:t>
              </a:r>
            </a:p>
          </p:txBody>
        </p:sp>
        <p:sp>
          <p:nvSpPr>
            <p:cNvPr id="91" name="Cloud…"/>
            <p:cNvSpPr/>
            <p:nvPr/>
          </p:nvSpPr>
          <p:spPr>
            <a:xfrm>
              <a:off x="10241138" y="1102567"/>
              <a:ext cx="1849261" cy="12853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06060"/>
                </a:buClr>
                <a:defRPr sz="3000">
                  <a:solidFill>
                    <a:srgbClr val="232323"/>
                  </a:solidFill>
                </a:defRPr>
              </a:pPr>
              <a:r>
                <a:rPr sz="2109" kern="0">
                  <a:solidFill>
                    <a:srgbClr val="232323"/>
                  </a:solidFill>
                  <a:latin typeface="Gill Sans"/>
                  <a:cs typeface="Gill Sans"/>
                  <a:sym typeface="Gill Sans"/>
                </a:rPr>
                <a:t>Cloud</a:t>
              </a:r>
            </a:p>
            <a:p>
              <a:pPr defTabSz="410751" eaLnBrk="1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06060"/>
                </a:buClr>
                <a:defRPr sz="3000">
                  <a:solidFill>
                    <a:srgbClr val="232323"/>
                  </a:solidFill>
                </a:defRPr>
              </a:pPr>
              <a:r>
                <a:rPr sz="2109" kern="0">
                  <a:solidFill>
                    <a:srgbClr val="232323"/>
                  </a:solidFill>
                  <a:latin typeface="Gill Sans"/>
                  <a:cs typeface="Gill Sans"/>
                  <a:sym typeface="Gill Sans"/>
                </a:rPr>
                <a:t>Sites</a:t>
              </a:r>
            </a:p>
          </p:txBody>
        </p:sp>
        <p:grpSp>
          <p:nvGrpSpPr>
            <p:cNvPr id="94" name="Group"/>
            <p:cNvGrpSpPr/>
            <p:nvPr/>
          </p:nvGrpSpPr>
          <p:grpSpPr>
            <a:xfrm>
              <a:off x="2065251" y="468708"/>
              <a:ext cx="1295982" cy="1185557"/>
              <a:chOff x="0" y="0"/>
              <a:chExt cx="1295980" cy="1185556"/>
            </a:xfrm>
          </p:grpSpPr>
          <p:sp>
            <p:nvSpPr>
              <p:cNvPr id="92" name="Oval"/>
              <p:cNvSpPr/>
              <p:nvPr/>
            </p:nvSpPr>
            <p:spPr>
              <a:xfrm>
                <a:off x="0" y="827132"/>
                <a:ext cx="1295981" cy="358425"/>
              </a:xfrm>
              <a:prstGeom prst="ellipse">
                <a:avLst/>
              </a:prstGeom>
              <a:solidFill>
                <a:srgbClr val="FF8700"/>
              </a:solidFill>
              <a:ln w="19050" cap="flat">
                <a:solidFill>
                  <a:srgbClr val="606060"/>
                </a:solidFill>
                <a:prstDash val="solid"/>
                <a:round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pic>
            <p:nvPicPr>
              <p:cNvPr id="93" name="ICON_People_Orange_Q408.png" descr="ICON_People_Orange_Q408.png"/>
              <p:cNvPicPr>
                <a:picLocks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296" y="0"/>
                <a:ext cx="1053942" cy="115921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97" name="Group"/>
            <p:cNvGrpSpPr/>
            <p:nvPr/>
          </p:nvGrpSpPr>
          <p:grpSpPr>
            <a:xfrm>
              <a:off x="3595611" y="0"/>
              <a:ext cx="1295981" cy="1185557"/>
              <a:chOff x="0" y="0"/>
              <a:chExt cx="1295980" cy="1185556"/>
            </a:xfrm>
          </p:grpSpPr>
          <p:sp>
            <p:nvSpPr>
              <p:cNvPr id="95" name="Oval"/>
              <p:cNvSpPr/>
              <p:nvPr/>
            </p:nvSpPr>
            <p:spPr>
              <a:xfrm>
                <a:off x="0" y="827132"/>
                <a:ext cx="1295981" cy="358425"/>
              </a:xfrm>
              <a:prstGeom prst="ellipse">
                <a:avLst/>
              </a:prstGeom>
              <a:solidFill>
                <a:srgbClr val="FF8700"/>
              </a:solidFill>
              <a:ln w="19050" cap="flat">
                <a:solidFill>
                  <a:srgbClr val="606060"/>
                </a:solidFill>
                <a:prstDash val="solid"/>
                <a:round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pic>
            <p:nvPicPr>
              <p:cNvPr id="96" name="ICON_People_Orange_Q408.png" descr="ICON_People_Orange_Q408.png"/>
              <p:cNvPicPr>
                <a:picLocks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296" y="0"/>
                <a:ext cx="1053942" cy="115921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100" name="Group"/>
            <p:cNvGrpSpPr/>
            <p:nvPr/>
          </p:nvGrpSpPr>
          <p:grpSpPr>
            <a:xfrm>
              <a:off x="3002768" y="1888618"/>
              <a:ext cx="1295982" cy="1171772"/>
              <a:chOff x="0" y="0"/>
              <a:chExt cx="1295980" cy="1171770"/>
            </a:xfrm>
          </p:grpSpPr>
          <p:sp>
            <p:nvSpPr>
              <p:cNvPr id="98" name="Oval"/>
              <p:cNvSpPr/>
              <p:nvPr/>
            </p:nvSpPr>
            <p:spPr>
              <a:xfrm>
                <a:off x="0" y="813346"/>
                <a:ext cx="1295981" cy="358425"/>
              </a:xfrm>
              <a:prstGeom prst="ellipse">
                <a:avLst/>
              </a:prstGeom>
              <a:solidFill>
                <a:srgbClr val="7FC328"/>
              </a:solidFill>
              <a:ln w="19050" cap="flat">
                <a:solidFill>
                  <a:srgbClr val="606060"/>
                </a:solidFill>
                <a:prstDash val="solid"/>
                <a:round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pic>
            <p:nvPicPr>
              <p:cNvPr id="99" name="ICON_People_Green_Q408.png" descr="ICON_People_Green_Q408.png"/>
              <p:cNvPicPr>
                <a:picLocks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4083" y="0"/>
                <a:ext cx="1024530" cy="117177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14575" y="6445829"/>
            <a:ext cx="184346" cy="29738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 kern="0">
                <a:latin typeface="Gill Sans"/>
                <a:cs typeface="Gill Sans"/>
                <a:sym typeface="Gill Sans"/>
              </a:rPr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t>10</a:t>
            </a:fld>
            <a:endParaRPr kern="0" dirty="0">
              <a:latin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14266857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loud Pool Use Ca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Cloud Pool Use Cases</a:t>
            </a:r>
          </a:p>
        </p:txBody>
      </p:sp>
      <p:sp>
        <p:nvSpPr>
          <p:cNvPr id="107" name="Enterprise Consolidation…"/>
          <p:cNvSpPr txBox="1">
            <a:spLocks noGrp="1"/>
          </p:cNvSpPr>
          <p:nvPr>
            <p:ph type="body" idx="1"/>
          </p:nvPr>
        </p:nvSpPr>
        <p:spPr>
          <a:xfrm>
            <a:off x="214313" y="1098351"/>
            <a:ext cx="6563320" cy="5357813"/>
          </a:xfrm>
          <a:prstGeom prst="rect">
            <a:avLst/>
          </a:prstGeom>
        </p:spPr>
        <p:txBody>
          <a:bodyPr/>
          <a:lstStyle/>
          <a:p>
            <a:r>
              <a:t>Enterprise Consolidation</a:t>
            </a:r>
          </a:p>
          <a:p>
            <a:pPr lvl="1"/>
            <a:r>
              <a:t>Simplify deployment into the cloud </a:t>
            </a:r>
          </a:p>
          <a:p>
            <a:pPr lvl="1"/>
            <a:r>
              <a:t>Minimize downtime and reconfiguration</a:t>
            </a:r>
          </a:p>
          <a:p>
            <a:pPr lvl="1"/>
            <a:endParaRPr/>
          </a:p>
          <a:p>
            <a:r>
              <a:t>Cloud Bursting</a:t>
            </a:r>
          </a:p>
          <a:p>
            <a:pPr lvl="1"/>
            <a:r>
              <a:t>Many applications cannot be easily replicated</a:t>
            </a:r>
          </a:p>
          <a:p>
            <a:pPr lvl="1"/>
            <a:r>
              <a:t>WAN Migration enables dynamic placement</a:t>
            </a:r>
          </a:p>
          <a:p>
            <a:pPr lvl="1"/>
            <a:r>
              <a:t>Minimize performance impact</a:t>
            </a:r>
          </a:p>
          <a:p>
            <a:pPr lvl="1"/>
            <a:endParaRPr/>
          </a:p>
          <a:p>
            <a:r>
              <a:t>Follow the Sun</a:t>
            </a:r>
          </a:p>
          <a:p>
            <a:pPr lvl="1"/>
            <a:r>
              <a:t>Application moves to be </a:t>
            </a:r>
            <a:br/>
            <a:r>
              <a:t>closer to clients or data</a:t>
            </a:r>
          </a:p>
          <a:p>
            <a:pPr lvl="1"/>
            <a:r>
              <a:t>Minimize planning time and</a:t>
            </a:r>
            <a:br/>
            <a:r>
              <a:t>migration bandwidth cost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64305" y="6456164"/>
            <a:ext cx="184346" cy="29738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 kern="0">
                <a:latin typeface="Gill Sans"/>
                <a:cs typeface="Gill Sans"/>
                <a:sym typeface="Gill Sans"/>
              </a:rPr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t>11</a:t>
            </a:fld>
            <a:endParaRPr kern="0" dirty="0">
              <a:latin typeface="Gill Sans"/>
              <a:cs typeface="Gill Sans"/>
              <a:sym typeface="Gill Sans"/>
            </a:endParaRPr>
          </a:p>
        </p:txBody>
      </p:sp>
      <p:pic>
        <p:nvPicPr>
          <p:cNvPr id="109" name="ICON_Building_Q308.png" descr="ICON_Building_Q308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304610" y="1098352"/>
            <a:ext cx="651868" cy="7590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ICON_Building_Q308.png" descr="ICON_Building_Q308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134821" y="1500188"/>
            <a:ext cx="812602" cy="9376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" name="ICON_Building_Q308.png" descr="ICON_Building_Q308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27539" y="1098352"/>
            <a:ext cx="651868" cy="759024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Line"/>
          <p:cNvSpPr/>
          <p:nvPr/>
        </p:nvSpPr>
        <p:spPr>
          <a:xfrm flipH="1" flipV="1">
            <a:off x="6417468" y="1440656"/>
            <a:ext cx="940594" cy="619125"/>
          </a:xfrm>
          <a:prstGeom prst="line">
            <a:avLst/>
          </a:prstGeom>
          <a:ln w="762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321457" eaLnBrk="1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113" name="Line"/>
          <p:cNvSpPr/>
          <p:nvPr/>
        </p:nvSpPr>
        <p:spPr>
          <a:xfrm flipV="1">
            <a:off x="7670602" y="1437679"/>
            <a:ext cx="878086" cy="625079"/>
          </a:xfrm>
          <a:prstGeom prst="line">
            <a:avLst/>
          </a:prstGeom>
          <a:ln w="762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321457" eaLnBrk="1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pic>
        <p:nvPicPr>
          <p:cNvPr id="114" name="ICON_Building_Q308.png" descr="ICON_Building_Q308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04359" y="3009305"/>
            <a:ext cx="937617" cy="10804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ICON_Cloud_Q308.png" descr="ICON_Cloud_Q308.png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741840" y="3299619"/>
            <a:ext cx="1339454" cy="714376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Rounded Rectangle"/>
          <p:cNvSpPr/>
          <p:nvPr/>
        </p:nvSpPr>
        <p:spPr>
          <a:xfrm>
            <a:off x="6888864" y="3286590"/>
            <a:ext cx="346389" cy="273523"/>
          </a:xfrm>
          <a:prstGeom prst="roundRect">
            <a:avLst>
              <a:gd name="adj" fmla="val 13059"/>
            </a:avLst>
          </a:prstGeom>
          <a:solidFill>
            <a:srgbClr val="96D35F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sp>
        <p:nvSpPr>
          <p:cNvPr id="117" name="Rounded Rectangle"/>
          <p:cNvSpPr/>
          <p:nvPr/>
        </p:nvSpPr>
        <p:spPr>
          <a:xfrm>
            <a:off x="6307373" y="3292730"/>
            <a:ext cx="346388" cy="273523"/>
          </a:xfrm>
          <a:prstGeom prst="roundRect">
            <a:avLst>
              <a:gd name="adj" fmla="val 13059"/>
            </a:avLst>
          </a:prstGeom>
          <a:solidFill>
            <a:srgbClr val="96D35F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sp>
        <p:nvSpPr>
          <p:cNvPr id="118" name="Rounded Rectangle"/>
          <p:cNvSpPr/>
          <p:nvPr/>
        </p:nvSpPr>
        <p:spPr>
          <a:xfrm>
            <a:off x="6600115" y="3629270"/>
            <a:ext cx="346388" cy="273523"/>
          </a:xfrm>
          <a:prstGeom prst="roundRect">
            <a:avLst>
              <a:gd name="adj" fmla="val 13059"/>
            </a:avLst>
          </a:prstGeom>
          <a:solidFill>
            <a:srgbClr val="96D35F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sp>
        <p:nvSpPr>
          <p:cNvPr id="119" name="Rounded Rectangle"/>
          <p:cNvSpPr/>
          <p:nvPr/>
        </p:nvSpPr>
        <p:spPr>
          <a:xfrm>
            <a:off x="6884790" y="3286125"/>
            <a:ext cx="346388" cy="273523"/>
          </a:xfrm>
          <a:prstGeom prst="roundRect">
            <a:avLst>
              <a:gd name="adj" fmla="val 13059"/>
            </a:avLst>
          </a:prstGeom>
          <a:solidFill>
            <a:srgbClr val="B51A00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sp>
        <p:nvSpPr>
          <p:cNvPr id="120" name="Rounded Rectangle"/>
          <p:cNvSpPr/>
          <p:nvPr/>
        </p:nvSpPr>
        <p:spPr>
          <a:xfrm>
            <a:off x="6304360" y="3295055"/>
            <a:ext cx="346388" cy="273523"/>
          </a:xfrm>
          <a:prstGeom prst="roundRect">
            <a:avLst>
              <a:gd name="adj" fmla="val 13059"/>
            </a:avLst>
          </a:prstGeom>
          <a:solidFill>
            <a:srgbClr val="B51A00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sp>
        <p:nvSpPr>
          <p:cNvPr id="121" name="Rounded Rectangle"/>
          <p:cNvSpPr/>
          <p:nvPr/>
        </p:nvSpPr>
        <p:spPr>
          <a:xfrm>
            <a:off x="6599040" y="3625453"/>
            <a:ext cx="346388" cy="273523"/>
          </a:xfrm>
          <a:prstGeom prst="roundRect">
            <a:avLst>
              <a:gd name="adj" fmla="val 13059"/>
            </a:avLst>
          </a:prstGeom>
          <a:solidFill>
            <a:srgbClr val="B51A00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sp>
        <p:nvSpPr>
          <p:cNvPr id="122" name="Rounded Rectangle"/>
          <p:cNvSpPr/>
          <p:nvPr/>
        </p:nvSpPr>
        <p:spPr>
          <a:xfrm>
            <a:off x="8036719" y="3634383"/>
            <a:ext cx="346388" cy="273523"/>
          </a:xfrm>
          <a:prstGeom prst="roundRect">
            <a:avLst>
              <a:gd name="adj" fmla="val 13059"/>
            </a:avLst>
          </a:prstGeom>
          <a:solidFill>
            <a:srgbClr val="96D35F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sp>
        <p:nvSpPr>
          <p:cNvPr id="123" name="Rounded Rectangle"/>
          <p:cNvSpPr/>
          <p:nvPr/>
        </p:nvSpPr>
        <p:spPr>
          <a:xfrm>
            <a:off x="8626079" y="3625453"/>
            <a:ext cx="346388" cy="273523"/>
          </a:xfrm>
          <a:prstGeom prst="roundRect">
            <a:avLst>
              <a:gd name="adj" fmla="val 13059"/>
            </a:avLst>
          </a:prstGeom>
          <a:solidFill>
            <a:srgbClr val="96D35F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pic>
        <p:nvPicPr>
          <p:cNvPr id="125" name="map.gif" descr="map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301" y="4352758"/>
            <a:ext cx="4411266" cy="229677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8" name="Group"/>
          <p:cNvGrpSpPr/>
          <p:nvPr/>
        </p:nvGrpSpPr>
        <p:grpSpPr>
          <a:xfrm>
            <a:off x="4538439" y="4729436"/>
            <a:ext cx="757221" cy="691850"/>
            <a:chOff x="0" y="0"/>
            <a:chExt cx="1076935" cy="983963"/>
          </a:xfrm>
        </p:grpSpPr>
        <p:sp>
          <p:nvSpPr>
            <p:cNvPr id="126" name="Oval"/>
            <p:cNvSpPr/>
            <p:nvPr/>
          </p:nvSpPr>
          <p:spPr>
            <a:xfrm>
              <a:off x="0" y="686486"/>
              <a:ext cx="1076936" cy="297478"/>
            </a:xfrm>
            <a:prstGeom prst="ellipse">
              <a:avLst/>
            </a:prstGeom>
            <a:solidFill>
              <a:srgbClr val="FF8700"/>
            </a:solidFill>
            <a:ln w="19050" cap="flat">
              <a:solidFill>
                <a:srgbClr val="606060"/>
              </a:solidFill>
              <a:prstDash val="solid"/>
              <a:round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pic>
          <p:nvPicPr>
            <p:cNvPr id="127" name="ICON_People_Orange_Q408.png" descr="ICON_People_Orange_Q408.png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654" y="0"/>
              <a:ext cx="875806" cy="9620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31" name="Group"/>
          <p:cNvGrpSpPr/>
          <p:nvPr/>
        </p:nvGrpSpPr>
        <p:grpSpPr>
          <a:xfrm>
            <a:off x="6393656" y="4259461"/>
            <a:ext cx="757221" cy="691850"/>
            <a:chOff x="0" y="0"/>
            <a:chExt cx="1076935" cy="983963"/>
          </a:xfrm>
        </p:grpSpPr>
        <p:sp>
          <p:nvSpPr>
            <p:cNvPr id="129" name="Oval"/>
            <p:cNvSpPr/>
            <p:nvPr/>
          </p:nvSpPr>
          <p:spPr>
            <a:xfrm>
              <a:off x="0" y="686486"/>
              <a:ext cx="1076936" cy="297478"/>
            </a:xfrm>
            <a:prstGeom prst="ellipse">
              <a:avLst/>
            </a:prstGeom>
            <a:solidFill>
              <a:srgbClr val="FF8700"/>
            </a:solidFill>
            <a:ln w="19050" cap="flat">
              <a:solidFill>
                <a:srgbClr val="606060"/>
              </a:solidFill>
              <a:prstDash val="solid"/>
              <a:round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pic>
          <p:nvPicPr>
            <p:cNvPr id="130" name="ICON_People_Orange_Q408.png" descr="ICON_People_Orange_Q408.png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654" y="0"/>
              <a:ext cx="875806" cy="9620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34" name="Group"/>
          <p:cNvGrpSpPr/>
          <p:nvPr/>
        </p:nvGrpSpPr>
        <p:grpSpPr>
          <a:xfrm>
            <a:off x="7492008" y="5438180"/>
            <a:ext cx="757221" cy="691850"/>
            <a:chOff x="0" y="0"/>
            <a:chExt cx="1076935" cy="983963"/>
          </a:xfrm>
        </p:grpSpPr>
        <p:sp>
          <p:nvSpPr>
            <p:cNvPr id="132" name="Oval"/>
            <p:cNvSpPr/>
            <p:nvPr/>
          </p:nvSpPr>
          <p:spPr>
            <a:xfrm>
              <a:off x="0" y="686486"/>
              <a:ext cx="1076936" cy="297478"/>
            </a:xfrm>
            <a:prstGeom prst="ellipse">
              <a:avLst/>
            </a:prstGeom>
            <a:solidFill>
              <a:srgbClr val="FF8700"/>
            </a:solidFill>
            <a:ln w="19050" cap="flat">
              <a:solidFill>
                <a:srgbClr val="606060"/>
              </a:solidFill>
              <a:prstDash val="solid"/>
              <a:round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pic>
          <p:nvPicPr>
            <p:cNvPr id="133" name="ICON_People_Orange_Q408.png" descr="ICON_People_Orange_Q408.png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654" y="0"/>
              <a:ext cx="875806" cy="9620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5" name="Rounded Rectangle"/>
          <p:cNvSpPr/>
          <p:nvPr/>
        </p:nvSpPr>
        <p:spPr>
          <a:xfrm>
            <a:off x="5214938" y="4738365"/>
            <a:ext cx="508992" cy="401837"/>
          </a:xfrm>
          <a:prstGeom prst="roundRect">
            <a:avLst>
              <a:gd name="adj" fmla="val 8889"/>
            </a:avLst>
          </a:prstGeom>
          <a:solidFill>
            <a:srgbClr val="96D35F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grpSp>
        <p:nvGrpSpPr>
          <p:cNvPr id="138" name="Group"/>
          <p:cNvGrpSpPr/>
          <p:nvPr/>
        </p:nvGrpSpPr>
        <p:grpSpPr>
          <a:xfrm>
            <a:off x="4536281" y="4732734"/>
            <a:ext cx="757221" cy="691850"/>
            <a:chOff x="0" y="0"/>
            <a:chExt cx="1076935" cy="983963"/>
          </a:xfrm>
        </p:grpSpPr>
        <p:sp>
          <p:nvSpPr>
            <p:cNvPr id="136" name="Oval"/>
            <p:cNvSpPr/>
            <p:nvPr/>
          </p:nvSpPr>
          <p:spPr>
            <a:xfrm>
              <a:off x="0" y="686486"/>
              <a:ext cx="1076936" cy="297478"/>
            </a:xfrm>
            <a:prstGeom prst="ellipse">
              <a:avLst/>
            </a:prstGeom>
            <a:solidFill>
              <a:srgbClr val="FF8700"/>
            </a:solidFill>
            <a:ln w="19050" cap="flat">
              <a:solidFill>
                <a:srgbClr val="606060"/>
              </a:solidFill>
              <a:prstDash val="solid"/>
              <a:round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pic>
          <p:nvPicPr>
            <p:cNvPr id="137" name="ICON_People_Orange_Q408.png" descr="ICON_People_Orange_Q408.png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654" y="0"/>
              <a:ext cx="875806" cy="9620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8416098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xit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4" dur="750" fill="hold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9" presetClass="exit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8" dur="750" fill="hold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fill="hold" grpId="0" nodeType="afterEffect">
                                  <p:stCondLst>
                                    <p:cond delay="1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0"/>
                            </p:stCondLst>
                            <p:childTnLst>
                              <p:par>
                                <p:cTn id="6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190430 0.050781" pathEditMode="relative">
                                      <p:cBhvr>
                                        <p:cTn id="68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-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189453 0.049479" pathEditMode="relative">
                                      <p:cBhvr>
                                        <p:cTn id="71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000"/>
                            </p:stCondLst>
                            <p:childTnLst>
                              <p:par>
                                <p:cTn id="81" presetID="9" presetClass="exit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2" dur="1000" fill="hold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4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9" presetClass="exit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08" dur="500" fill="hold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133789 0.037760" pathEditMode="relative">
                                      <p:cBhvr>
                                        <p:cTn id="112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9" presetClass="entr" fill="hold" grpId="0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9" presetClass="exit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19" dur="500" fill="hold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3789 0.037760 L 0.291992 0.205729" pathEditMode="relative">
                                      <p:cBhvr>
                                        <p:cTn id="123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9" presetClass="entr" fill="hold" grpId="0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000"/>
                            </p:stCondLst>
                            <p:childTnLst>
                              <p:par>
                                <p:cTn id="129" presetID="9" presetClass="exit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30" dur="500" fill="hold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1992 0.205729 L 0.000000 0.019531" pathEditMode="relative">
                                      <p:cBhvr>
                                        <p:cTn id="134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uild="p" animBg="1" advAuto="0"/>
      <p:bldP spid="109" grpId="0" animBg="1" advAuto="0"/>
      <p:bldP spid="111" grpId="0" animBg="1" advAuto="0"/>
      <p:bldP spid="112" grpId="0" animBg="1" advAuto="0"/>
      <p:bldP spid="113" grpId="0" animBg="1" advAuto="0"/>
      <p:bldP spid="114" grpId="0" animBg="1" advAuto="0"/>
      <p:bldP spid="115" grpId="0" animBg="1" advAuto="0"/>
      <p:bldP spid="116" grpId="0" animBg="1" advAuto="0"/>
      <p:bldP spid="116" grpId="1" animBg="1" advAuto="0"/>
      <p:bldP spid="117" grpId="0" animBg="1" advAuto="0"/>
      <p:bldP spid="117" grpId="1" animBg="1" advAuto="0"/>
      <p:bldP spid="118" grpId="0" animBg="1" advAuto="0"/>
      <p:bldP spid="119" grpId="0" animBg="1" advAuto="0"/>
      <p:bldP spid="120" grpId="0" animBg="1" advAuto="0"/>
      <p:bldP spid="121" grpId="0" animBg="1" advAuto="0"/>
      <p:bldP spid="121" grpId="1" animBg="1" advAuto="0"/>
      <p:bldP spid="122" grpId="0" animBg="1" advAuto="0"/>
      <p:bldP spid="123" grpId="0" animBg="1" advAuto="0"/>
      <p:bldP spid="125" grpId="0" animBg="1" advAuto="0"/>
      <p:bldP spid="128" grpId="0" animBg="1" advAuto="0"/>
      <p:bldP spid="128" grpId="1" animBg="1" advAuto="0"/>
      <p:bldP spid="131" grpId="0" animBg="1" advAuto="0"/>
      <p:bldP spid="131" grpId="1" animBg="1" advAuto="0"/>
      <p:bldP spid="134" grpId="0" animBg="1" advAuto="0"/>
      <p:bldP spid="134" grpId="1" animBg="1" advAuto="0"/>
      <p:bldP spid="135" grpId="0" animBg="1" advAuto="0"/>
      <p:bldP spid="138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Dynamic Cloud Poo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Dynamic Cloud Pools</a:t>
            </a:r>
          </a:p>
        </p:txBody>
      </p:sp>
      <p:sp>
        <p:nvSpPr>
          <p:cNvPr id="144" name="Goals:…"/>
          <p:cNvSpPr txBox="1">
            <a:spLocks noGrp="1"/>
          </p:cNvSpPr>
          <p:nvPr>
            <p:ph type="body" sz="half" idx="1"/>
          </p:nvPr>
        </p:nvSpPr>
        <p:spPr>
          <a:xfrm>
            <a:off x="214312" y="1098352"/>
            <a:ext cx="8688586" cy="2482453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Goals:</a:t>
            </a:r>
          </a:p>
          <a:p>
            <a:pPr lvl="1"/>
            <a:r>
              <a:t>Seamlessly and securely connect enterprise and cloud data centers</a:t>
            </a:r>
          </a:p>
          <a:p>
            <a:pPr lvl="1"/>
            <a:r>
              <a:t>Enable efficient migration of resources between data centers</a:t>
            </a:r>
          </a:p>
          <a:p>
            <a:pPr>
              <a:defRPr b="1"/>
            </a:pPr>
            <a:r>
              <a:t>Challenges</a:t>
            </a:r>
          </a:p>
          <a:p>
            <a:pPr lvl="1"/>
            <a:r>
              <a:t>Networking: security, transparency, flexibility</a:t>
            </a:r>
          </a:p>
          <a:p>
            <a:pPr lvl="1"/>
            <a:r>
              <a:t>WAN Migration: Efficiency, application performance impact</a:t>
            </a:r>
          </a:p>
        </p:txBody>
      </p:sp>
      <p:sp>
        <p:nvSpPr>
          <p:cNvPr id="1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2606" y="6509183"/>
            <a:ext cx="184346" cy="29738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 kern="0">
                <a:latin typeface="Gill Sans"/>
                <a:cs typeface="Gill Sans"/>
                <a:sym typeface="Gill Sans"/>
              </a:rPr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t>12</a:t>
            </a:fld>
            <a:endParaRPr kern="0" dirty="0">
              <a:latin typeface="Gill Sans"/>
              <a:cs typeface="Gill Sans"/>
              <a:sym typeface="Gill Sans"/>
            </a:endParaRPr>
          </a:p>
        </p:txBody>
      </p:sp>
      <p:pic>
        <p:nvPicPr>
          <p:cNvPr id="146" name="ICON_Firewall_Q308.png" descr="ICON_Firewall_Q308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01899" y="5411391"/>
            <a:ext cx="964406" cy="891853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ICON_Building_Q308.png" descr="ICON_Building_Q308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9" y="5411391"/>
            <a:ext cx="896318" cy="103584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ICON_Cloud_Q308.png" descr="ICON_Cloud_Q308.png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794992" y="4670227"/>
            <a:ext cx="1126257" cy="7166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ICON_Firewall_Q308.png" descr="ICON_Firewall_Q308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321718" y="4402336"/>
            <a:ext cx="964407" cy="891853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ICON_Datacenter_1_R2_Q308.png" descr="ICON_Datacenter_1_R2_Q308.png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205758" y="4196953"/>
            <a:ext cx="571501" cy="10983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earth41.png" descr="earth41.png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820207" y="5250657"/>
            <a:ext cx="432494" cy="443356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Line"/>
          <p:cNvSpPr/>
          <p:nvPr/>
        </p:nvSpPr>
        <p:spPr>
          <a:xfrm flipV="1">
            <a:off x="1259086" y="5476875"/>
            <a:ext cx="702469" cy="440532"/>
          </a:xfrm>
          <a:prstGeom prst="line">
            <a:avLst/>
          </a:prstGeom>
          <a:ln w="76200">
            <a:solidFill>
              <a:srgbClr val="000000"/>
            </a:solidFill>
            <a:miter lim="400000"/>
          </a:ln>
        </p:spPr>
        <p:txBody>
          <a:bodyPr lIns="0" tIns="0" rIns="0" bIns="0"/>
          <a:lstStyle/>
          <a:p>
            <a:pPr algn="l" defTabSz="321457" eaLnBrk="1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157" name="Group"/>
          <p:cNvGrpSpPr/>
          <p:nvPr/>
        </p:nvGrpSpPr>
        <p:grpSpPr>
          <a:xfrm>
            <a:off x="2104429" y="5488781"/>
            <a:ext cx="1682875" cy="1228577"/>
            <a:chOff x="0" y="0"/>
            <a:chExt cx="2393420" cy="1747308"/>
          </a:xfrm>
        </p:grpSpPr>
        <p:pic>
          <p:nvPicPr>
            <p:cNvPr id="153" name="ICON_Cloud_Q308.png" descr="ICON_Cloud_Q308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1633" y="728133"/>
              <a:ext cx="1601788" cy="101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4" name="ICON_Firewall_Q308.png" descr="ICON_Firewall_Q308.png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270933" y="169333"/>
              <a:ext cx="1371601" cy="12684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5" name="ICON_Datacenter_1_R2_Q308.png" descr="ICON_Datacenter_1_R2_Q308.png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52033" y="16933"/>
              <a:ext cx="812801" cy="1562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6" name="Line"/>
            <p:cNvSpPr/>
            <p:nvPr/>
          </p:nvSpPr>
          <p:spPr>
            <a:xfrm>
              <a:off x="0" y="0"/>
              <a:ext cx="1117601" cy="1024467"/>
            </a:xfrm>
            <a:prstGeom prst="line">
              <a:avLst/>
            </a:prstGeom>
            <a:noFill/>
            <a:ln w="762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</p:grpSp>
      <p:sp>
        <p:nvSpPr>
          <p:cNvPr id="158" name="Line"/>
          <p:cNvSpPr/>
          <p:nvPr/>
        </p:nvSpPr>
        <p:spPr>
          <a:xfrm flipV="1">
            <a:off x="2068711" y="5072063"/>
            <a:ext cx="797719" cy="333375"/>
          </a:xfrm>
          <a:prstGeom prst="line">
            <a:avLst/>
          </a:prstGeom>
          <a:ln w="76200">
            <a:solidFill>
              <a:srgbClr val="000000"/>
            </a:solidFill>
            <a:miter lim="400000"/>
          </a:ln>
        </p:spPr>
        <p:txBody>
          <a:bodyPr lIns="0" tIns="0" rIns="0" bIns="0"/>
          <a:lstStyle/>
          <a:p>
            <a:pPr algn="l" defTabSz="321457" eaLnBrk="1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162" name="Group"/>
          <p:cNvGrpSpPr/>
          <p:nvPr/>
        </p:nvGrpSpPr>
        <p:grpSpPr>
          <a:xfrm>
            <a:off x="803672" y="3848695"/>
            <a:ext cx="1765102" cy="1651993"/>
            <a:chOff x="0" y="0"/>
            <a:chExt cx="2510366" cy="2349500"/>
          </a:xfrm>
        </p:grpSpPr>
        <p:pic>
          <p:nvPicPr>
            <p:cNvPr id="159" name="devil on computer.png" descr="devil on computer.png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2057401" cy="16129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0" name="Line"/>
            <p:cNvSpPr/>
            <p:nvPr/>
          </p:nvSpPr>
          <p:spPr>
            <a:xfrm flipV="1">
              <a:off x="973666" y="1346200"/>
              <a:ext cx="135468" cy="1003300"/>
            </a:xfrm>
            <a:prstGeom prst="line">
              <a:avLst/>
            </a:prstGeom>
            <a:noFill/>
            <a:ln w="114300" cap="flat">
              <a:solidFill>
                <a:srgbClr val="B51A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61" name="Line"/>
            <p:cNvSpPr/>
            <p:nvPr/>
          </p:nvSpPr>
          <p:spPr>
            <a:xfrm flipH="1" flipV="1">
              <a:off x="1557866" y="1193800"/>
              <a:ext cx="952501" cy="452967"/>
            </a:xfrm>
            <a:prstGeom prst="line">
              <a:avLst/>
            </a:prstGeom>
            <a:noFill/>
            <a:ln w="114300" cap="flat">
              <a:solidFill>
                <a:srgbClr val="B51A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</p:grpSp>
      <p:grpSp>
        <p:nvGrpSpPr>
          <p:cNvPr id="165" name="Group"/>
          <p:cNvGrpSpPr/>
          <p:nvPr/>
        </p:nvGrpSpPr>
        <p:grpSpPr>
          <a:xfrm>
            <a:off x="4107658" y="4105200"/>
            <a:ext cx="4884540" cy="2198044"/>
            <a:chOff x="0" y="0"/>
            <a:chExt cx="6946901" cy="3126106"/>
          </a:xfrm>
        </p:grpSpPr>
        <p:pic>
          <p:nvPicPr>
            <p:cNvPr id="163" name="bwdefxen.pdf" descr="bwdefxen.pdf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0"/>
              <a:ext cx="6946901" cy="31261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4" name="Downtime (sec)"/>
            <p:cNvSpPr/>
            <p:nvPr/>
          </p:nvSpPr>
          <p:spPr>
            <a:xfrm rot="16200000">
              <a:off x="-869004" y="1120866"/>
              <a:ext cx="2371020" cy="51797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 sz="2700"/>
              </a:lvl1pPr>
            </a:lstStyle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r>
                <a:rPr sz="1898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rPr>
                <a:t>Downtime (sec)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364194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 advAuto="0"/>
      <p:bldP spid="162" grpId="0" animBg="1" advAuto="0"/>
      <p:bldP spid="165" grpId="0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0" name="Rectangle 2"/>
          <p:cNvSpPr>
            <a:spLocks noGrp="1" noChangeArrowheads="1"/>
          </p:cNvSpPr>
          <p:nvPr>
            <p:ph type="title"/>
          </p:nvPr>
        </p:nvSpPr>
        <p:spPr>
          <a:xfrm>
            <a:off x="410444" y="381000"/>
            <a:ext cx="8328744" cy="838200"/>
          </a:xfrm>
        </p:spPr>
        <p:txBody>
          <a:bodyPr/>
          <a:lstStyle/>
          <a:p>
            <a:pPr algn="l"/>
            <a:r>
              <a:rPr lang="en-US" dirty="0"/>
              <a:t>Virtual Private Clouds</a:t>
            </a:r>
          </a:p>
        </p:txBody>
      </p:sp>
      <p:pic>
        <p:nvPicPr>
          <p:cNvPr id="80" name="Picture 17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38400" y="3130850"/>
            <a:ext cx="30480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" name="Picture 27" descr="ICON_Cloud_Q308"/>
          <p:cNvPicPr>
            <a:picLocks noChangeAspect="1" noChangeArrowheads="1"/>
          </p:cNvPicPr>
          <p:nvPr/>
        </p:nvPicPr>
        <p:blipFill>
          <a:blip r:embed="rId4">
            <a:lum bright="12000"/>
            <a:grayscl/>
          </a:blip>
          <a:srcRect/>
          <a:stretch>
            <a:fillRect/>
          </a:stretch>
        </p:blipFill>
        <p:spPr bwMode="auto">
          <a:xfrm>
            <a:off x="5486400" y="2913363"/>
            <a:ext cx="1830388" cy="598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" name="Picture 27" descr="ICON_Cloud_Q308"/>
          <p:cNvPicPr>
            <a:picLocks noChangeAspect="1" noChangeArrowheads="1"/>
          </p:cNvPicPr>
          <p:nvPr/>
        </p:nvPicPr>
        <p:blipFill>
          <a:blip r:embed="rId4">
            <a:lum bright="12000"/>
            <a:grayscl/>
          </a:blip>
          <a:srcRect/>
          <a:stretch>
            <a:fillRect/>
          </a:stretch>
        </p:blipFill>
        <p:spPr bwMode="auto">
          <a:xfrm>
            <a:off x="5410200" y="3740450"/>
            <a:ext cx="1830388" cy="67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3" name="Freeform 39"/>
          <p:cNvSpPr>
            <a:spLocks/>
          </p:cNvSpPr>
          <p:nvPr/>
        </p:nvSpPr>
        <p:spPr bwMode="auto">
          <a:xfrm>
            <a:off x="5715000" y="2695875"/>
            <a:ext cx="1679575" cy="1689100"/>
          </a:xfrm>
          <a:custGeom>
            <a:avLst/>
            <a:gdLst>
              <a:gd name="T0" fmla="*/ 2147483647 w 1058"/>
              <a:gd name="T1" fmla="*/ 2147483647 h 1064"/>
              <a:gd name="T2" fmla="*/ 2147483647 w 1058"/>
              <a:gd name="T3" fmla="*/ 2147483647 h 1064"/>
              <a:gd name="T4" fmla="*/ 2147483647 w 1058"/>
              <a:gd name="T5" fmla="*/ 0 h 1064"/>
              <a:gd name="T6" fmla="*/ 2147483647 w 1058"/>
              <a:gd name="T7" fmla="*/ 2147483647 h 1064"/>
              <a:gd name="T8" fmla="*/ 2147483647 w 1058"/>
              <a:gd name="T9" fmla="*/ 2147483647 h 1064"/>
              <a:gd name="T10" fmla="*/ 2147483647 w 1058"/>
              <a:gd name="T11" fmla="*/ 2147483647 h 1064"/>
              <a:gd name="T12" fmla="*/ 2147483647 w 1058"/>
              <a:gd name="T13" fmla="*/ 2147483647 h 1064"/>
              <a:gd name="T14" fmla="*/ 2147483647 w 1058"/>
              <a:gd name="T15" fmla="*/ 2147483647 h 1064"/>
              <a:gd name="T16" fmla="*/ 2147483647 w 1058"/>
              <a:gd name="T17" fmla="*/ 2147483647 h 1064"/>
              <a:gd name="T18" fmla="*/ 2147483647 w 1058"/>
              <a:gd name="T19" fmla="*/ 2147483647 h 1064"/>
              <a:gd name="T20" fmla="*/ 2147483647 w 1058"/>
              <a:gd name="T21" fmla="*/ 2147483647 h 1064"/>
              <a:gd name="T22" fmla="*/ 2147483647 w 1058"/>
              <a:gd name="T23" fmla="*/ 2147483647 h 1064"/>
              <a:gd name="T24" fmla="*/ 2147483647 w 1058"/>
              <a:gd name="T25" fmla="*/ 2147483647 h 1064"/>
              <a:gd name="T26" fmla="*/ 2147483647 w 1058"/>
              <a:gd name="T27" fmla="*/ 2147483647 h 1064"/>
              <a:gd name="T28" fmla="*/ 2147483647 w 1058"/>
              <a:gd name="T29" fmla="*/ 2147483647 h 1064"/>
              <a:gd name="T30" fmla="*/ 2147483647 w 1058"/>
              <a:gd name="T31" fmla="*/ 2147483647 h 1064"/>
              <a:gd name="T32" fmla="*/ 2147483647 w 1058"/>
              <a:gd name="T33" fmla="*/ 2147483647 h 1064"/>
              <a:gd name="T34" fmla="*/ 2147483647 w 1058"/>
              <a:gd name="T35" fmla="*/ 2147483647 h 1064"/>
              <a:gd name="T36" fmla="*/ 2147483647 w 1058"/>
              <a:gd name="T37" fmla="*/ 2147483647 h 1064"/>
              <a:gd name="T38" fmla="*/ 2147483647 w 1058"/>
              <a:gd name="T39" fmla="*/ 2147483647 h 1064"/>
              <a:gd name="T40" fmla="*/ 2147483647 w 1058"/>
              <a:gd name="T41" fmla="*/ 2147483647 h 1064"/>
              <a:gd name="T42" fmla="*/ 2147483647 w 1058"/>
              <a:gd name="T43" fmla="*/ 2147483647 h 1064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1058"/>
              <a:gd name="T67" fmla="*/ 0 h 1064"/>
              <a:gd name="T68" fmla="*/ 1058 w 1058"/>
              <a:gd name="T69" fmla="*/ 1064 h 1064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1058" h="1064">
                <a:moveTo>
                  <a:pt x="1036" y="117"/>
                </a:moveTo>
                <a:cubicBezTo>
                  <a:pt x="1015" y="37"/>
                  <a:pt x="819" y="8"/>
                  <a:pt x="758" y="5"/>
                </a:cubicBezTo>
                <a:cubicBezTo>
                  <a:pt x="682" y="1"/>
                  <a:pt x="606" y="1"/>
                  <a:pt x="530" y="0"/>
                </a:cubicBezTo>
                <a:cubicBezTo>
                  <a:pt x="393" y="2"/>
                  <a:pt x="306" y="6"/>
                  <a:pt x="186" y="22"/>
                </a:cubicBezTo>
                <a:cubicBezTo>
                  <a:pt x="95" y="52"/>
                  <a:pt x="30" y="54"/>
                  <a:pt x="2" y="161"/>
                </a:cubicBezTo>
                <a:cubicBezTo>
                  <a:pt x="4" y="200"/>
                  <a:pt x="3" y="239"/>
                  <a:pt x="8" y="278"/>
                </a:cubicBezTo>
                <a:cubicBezTo>
                  <a:pt x="11" y="309"/>
                  <a:pt x="0" y="351"/>
                  <a:pt x="25" y="372"/>
                </a:cubicBezTo>
                <a:cubicBezTo>
                  <a:pt x="42" y="386"/>
                  <a:pt x="56" y="403"/>
                  <a:pt x="75" y="417"/>
                </a:cubicBezTo>
                <a:cubicBezTo>
                  <a:pt x="113" y="444"/>
                  <a:pt x="191" y="449"/>
                  <a:pt x="236" y="455"/>
                </a:cubicBezTo>
                <a:cubicBezTo>
                  <a:pt x="263" y="462"/>
                  <a:pt x="290" y="467"/>
                  <a:pt x="319" y="472"/>
                </a:cubicBezTo>
                <a:cubicBezTo>
                  <a:pt x="342" y="480"/>
                  <a:pt x="364" y="486"/>
                  <a:pt x="386" y="500"/>
                </a:cubicBezTo>
                <a:cubicBezTo>
                  <a:pt x="401" y="524"/>
                  <a:pt x="393" y="508"/>
                  <a:pt x="402" y="533"/>
                </a:cubicBezTo>
                <a:cubicBezTo>
                  <a:pt x="405" y="544"/>
                  <a:pt x="414" y="567"/>
                  <a:pt x="414" y="567"/>
                </a:cubicBezTo>
                <a:cubicBezTo>
                  <a:pt x="415" y="607"/>
                  <a:pt x="417" y="648"/>
                  <a:pt x="419" y="689"/>
                </a:cubicBezTo>
                <a:cubicBezTo>
                  <a:pt x="423" y="856"/>
                  <a:pt x="365" y="1011"/>
                  <a:pt x="541" y="1050"/>
                </a:cubicBezTo>
                <a:cubicBezTo>
                  <a:pt x="648" y="1046"/>
                  <a:pt x="777" y="1064"/>
                  <a:pt x="875" y="1005"/>
                </a:cubicBezTo>
                <a:cubicBezTo>
                  <a:pt x="890" y="982"/>
                  <a:pt x="907" y="959"/>
                  <a:pt x="930" y="944"/>
                </a:cubicBezTo>
                <a:cubicBezTo>
                  <a:pt x="956" y="903"/>
                  <a:pt x="958" y="864"/>
                  <a:pt x="980" y="822"/>
                </a:cubicBezTo>
                <a:cubicBezTo>
                  <a:pt x="986" y="789"/>
                  <a:pt x="1002" y="759"/>
                  <a:pt x="1014" y="728"/>
                </a:cubicBezTo>
                <a:cubicBezTo>
                  <a:pt x="1021" y="656"/>
                  <a:pt x="1047" y="592"/>
                  <a:pt x="1058" y="522"/>
                </a:cubicBezTo>
                <a:cubicBezTo>
                  <a:pt x="1056" y="416"/>
                  <a:pt x="1056" y="310"/>
                  <a:pt x="1052" y="205"/>
                </a:cubicBezTo>
                <a:cubicBezTo>
                  <a:pt x="1050" y="174"/>
                  <a:pt x="1036" y="147"/>
                  <a:pt x="1036" y="117"/>
                </a:cubicBezTo>
                <a:close/>
              </a:path>
            </a:pathLst>
          </a:custGeom>
          <a:solidFill>
            <a:srgbClr val="FF7200">
              <a:alpha val="47058"/>
            </a:srgbClr>
          </a:solidFill>
          <a:ln w="9525">
            <a:solidFill>
              <a:srgbClr val="4D4D4D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</a:endParaRPr>
          </a:p>
        </p:txBody>
      </p:sp>
      <p:sp>
        <p:nvSpPr>
          <p:cNvPr id="84" name="Rectangle 3"/>
          <p:cNvSpPr txBox="1">
            <a:spLocks noChangeArrowheads="1"/>
          </p:cNvSpPr>
          <p:nvPr/>
        </p:nvSpPr>
        <p:spPr bwMode="auto">
          <a:xfrm>
            <a:off x="410444" y="1117840"/>
            <a:ext cx="8305800" cy="5334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47738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ＭＳ Ｐゴシック" charset="-128"/>
                <a:cs typeface="ＭＳ Ｐゴシック" charset="-128"/>
              </a:rPr>
              <a:t>A Virtual Private Cloud is…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ＭＳ Ｐゴシック" charset="-128"/>
                <a:cs typeface="ＭＳ Ｐゴシック" charset="-128"/>
              </a:rPr>
              <a:t> </a:t>
            </a:r>
          </a:p>
          <a:p>
            <a:pPr marL="230188" marR="0" lvl="2" indent="-230188" algn="l" defTabSz="94773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>
                <a:srgbClr val="4D4D4D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charset="-128"/>
              </a:rPr>
              <a:t>A 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charset="-128"/>
              </a:rPr>
              <a:t>secure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charset="-128"/>
              </a:rPr>
              <a:t> collection of server, storage, and network resources spanning one or more cloud data centers</a:t>
            </a:r>
          </a:p>
          <a:p>
            <a:pPr marL="230188" marR="0" lvl="2" indent="-230188" algn="l" defTabSz="94773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>
                <a:srgbClr val="4D4D4D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charset="-128"/>
              </a:rPr>
              <a:t>That is 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charset="-128"/>
              </a:rPr>
              <a:t>seamlessly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charset="-128"/>
              </a:rPr>
              <a:t> connected to one or more enterprise sites</a:t>
            </a:r>
          </a:p>
          <a:p>
            <a:pPr marL="234950" marR="0" lvl="1" indent="-233363" algn="l" defTabSz="947738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30000"/>
              </a:spcAft>
              <a:buClr>
                <a:srgbClr val="4D4D4D"/>
              </a:buClr>
              <a:buSzPct val="80000"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Verdana"/>
              <a:ea typeface="ＭＳ Ｐゴシック" charset="-128"/>
            </a:endParaRPr>
          </a:p>
          <a:p>
            <a:pPr marL="234950" marR="0" lvl="1" indent="-233363" algn="l" defTabSz="947738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30000"/>
              </a:spcAft>
              <a:buClr>
                <a:srgbClr val="4D4D4D"/>
              </a:buClr>
              <a:buSzPct val="80000"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Verdana"/>
              <a:ea typeface="ＭＳ Ｐゴシック" charset="-128"/>
            </a:endParaRPr>
          </a:p>
          <a:p>
            <a:pPr marL="234950" marR="0" lvl="1" indent="-233363" algn="l" defTabSz="947738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30000"/>
              </a:spcAft>
              <a:buClr>
                <a:srgbClr val="4D4D4D"/>
              </a:buClr>
              <a:buSzPct val="80000"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Verdana"/>
              <a:ea typeface="ＭＳ Ｐゴシック" charset="-128"/>
            </a:endParaRPr>
          </a:p>
          <a:p>
            <a:pPr marL="234950" marR="0" lvl="1" indent="-233363" algn="l" defTabSz="947738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30000"/>
              </a:spcAft>
              <a:buClr>
                <a:srgbClr val="4D4D4D"/>
              </a:buClr>
              <a:buSzPct val="80000"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Verdana"/>
              <a:ea typeface="ＭＳ Ｐゴシック" charset="-128"/>
            </a:endParaRPr>
          </a:p>
          <a:p>
            <a:pPr marL="234950" marR="0" lvl="1" indent="-233363" algn="l" defTabSz="947738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30000"/>
              </a:spcAft>
              <a:buClr>
                <a:srgbClr val="4D4D4D"/>
              </a:buClr>
              <a:buSzPct val="80000"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Verdana"/>
              <a:ea typeface="ＭＳ Ｐゴシック" charset="-128"/>
            </a:endParaRPr>
          </a:p>
          <a:p>
            <a:pPr marL="0" marR="0" lvl="1" indent="1588" algn="l" defTabSz="947738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30000"/>
              </a:spcAft>
              <a:buClr>
                <a:srgbClr val="4D4D4D"/>
              </a:buClr>
              <a:buSzPct val="80000"/>
              <a:buFontTx/>
              <a:buNone/>
              <a:tabLst/>
              <a:defRPr/>
            </a:pPr>
            <a:b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/>
                <a:ea typeface="ＭＳ Ｐゴシック" charset="-128"/>
              </a:rPr>
            </a:b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ＭＳ Ｐゴシック" charset="-128"/>
              </a:rPr>
              <a:t>Virtual Private Networks (VPNs)</a:t>
            </a:r>
          </a:p>
          <a:p>
            <a:pPr marL="230188" marR="0" lvl="2" indent="-230188" algn="l" defTabSz="94773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>
                <a:srgbClr val="4D4D4D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charset="-128"/>
              </a:rPr>
              <a:t>Layer 3 and Layer 2 MPLS based VPNs</a:t>
            </a:r>
          </a:p>
          <a:p>
            <a:pPr marL="230188" marR="0" lvl="2" indent="-230188" algn="l" defTabSz="94773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>
                <a:srgbClr val="4D4D4D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charset="-128"/>
              </a:rPr>
              <a:t>Created by network provider with no end host configuration</a:t>
            </a:r>
          </a:p>
          <a:p>
            <a:pPr marL="230188" marR="0" lvl="2" indent="-230188" algn="l" defTabSz="94773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>
                <a:srgbClr val="4D4D4D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charset="-128"/>
              </a:rPr>
              <a:t>Already used by many businesses!</a:t>
            </a:r>
          </a:p>
        </p:txBody>
      </p:sp>
      <p:grpSp>
        <p:nvGrpSpPr>
          <p:cNvPr id="85" name="Group 26"/>
          <p:cNvGrpSpPr>
            <a:grpSpLocks/>
          </p:cNvGrpSpPr>
          <p:nvPr/>
        </p:nvGrpSpPr>
        <p:grpSpPr bwMode="auto">
          <a:xfrm>
            <a:off x="6705600" y="2837163"/>
            <a:ext cx="533400" cy="457200"/>
            <a:chOff x="4848" y="2640"/>
            <a:chExt cx="336" cy="288"/>
          </a:xfrm>
        </p:grpSpPr>
        <p:sp>
          <p:nvSpPr>
            <p:cNvPr id="86" name="AutoShape 25"/>
            <p:cNvSpPr>
              <a:spLocks noChangeArrowheads="1"/>
            </p:cNvSpPr>
            <p:nvPr/>
          </p:nvSpPr>
          <p:spPr bwMode="auto">
            <a:xfrm>
              <a:off x="4944" y="2640"/>
              <a:ext cx="240" cy="192"/>
            </a:xfrm>
            <a:prstGeom prst="roundRect">
              <a:avLst>
                <a:gd name="adj" fmla="val 16667"/>
              </a:avLst>
            </a:prstGeom>
            <a:solidFill>
              <a:srgbClr val="FF7200"/>
            </a:solidFill>
            <a:ln w="9525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AutoShape 23"/>
            <p:cNvSpPr>
              <a:spLocks noChangeArrowheads="1"/>
            </p:cNvSpPr>
            <p:nvPr/>
          </p:nvSpPr>
          <p:spPr bwMode="auto">
            <a:xfrm>
              <a:off x="4896" y="2688"/>
              <a:ext cx="240" cy="192"/>
            </a:xfrm>
            <a:prstGeom prst="roundRect">
              <a:avLst>
                <a:gd name="adj" fmla="val 16667"/>
              </a:avLst>
            </a:prstGeom>
            <a:solidFill>
              <a:srgbClr val="FF7200"/>
            </a:solidFill>
            <a:ln w="9525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AutoShape 24"/>
            <p:cNvSpPr>
              <a:spLocks noChangeArrowheads="1"/>
            </p:cNvSpPr>
            <p:nvPr/>
          </p:nvSpPr>
          <p:spPr bwMode="auto">
            <a:xfrm>
              <a:off x="4848" y="2736"/>
              <a:ext cx="240" cy="192"/>
            </a:xfrm>
            <a:prstGeom prst="roundRect">
              <a:avLst>
                <a:gd name="adj" fmla="val 16667"/>
              </a:avLst>
            </a:prstGeom>
            <a:solidFill>
              <a:srgbClr val="FF7200"/>
            </a:solidFill>
            <a:ln w="9525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VM</a:t>
              </a:r>
            </a:p>
          </p:txBody>
        </p:sp>
      </p:grpSp>
      <p:grpSp>
        <p:nvGrpSpPr>
          <p:cNvPr id="89" name="Group 27"/>
          <p:cNvGrpSpPr>
            <a:grpSpLocks/>
          </p:cNvGrpSpPr>
          <p:nvPr/>
        </p:nvGrpSpPr>
        <p:grpSpPr bwMode="auto">
          <a:xfrm>
            <a:off x="5943600" y="2837163"/>
            <a:ext cx="533400" cy="457200"/>
            <a:chOff x="4848" y="2640"/>
            <a:chExt cx="336" cy="288"/>
          </a:xfrm>
        </p:grpSpPr>
        <p:sp>
          <p:nvSpPr>
            <p:cNvPr id="90" name="AutoShape 28"/>
            <p:cNvSpPr>
              <a:spLocks noChangeArrowheads="1"/>
            </p:cNvSpPr>
            <p:nvPr/>
          </p:nvSpPr>
          <p:spPr bwMode="auto">
            <a:xfrm>
              <a:off x="4944" y="2640"/>
              <a:ext cx="240" cy="192"/>
            </a:xfrm>
            <a:prstGeom prst="roundRect">
              <a:avLst>
                <a:gd name="adj" fmla="val 16667"/>
              </a:avLst>
            </a:prstGeom>
            <a:solidFill>
              <a:srgbClr val="FF7200"/>
            </a:solidFill>
            <a:ln w="9525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AutoShape 29"/>
            <p:cNvSpPr>
              <a:spLocks noChangeArrowheads="1"/>
            </p:cNvSpPr>
            <p:nvPr/>
          </p:nvSpPr>
          <p:spPr bwMode="auto">
            <a:xfrm>
              <a:off x="4896" y="2688"/>
              <a:ext cx="240" cy="192"/>
            </a:xfrm>
            <a:prstGeom prst="roundRect">
              <a:avLst>
                <a:gd name="adj" fmla="val 16667"/>
              </a:avLst>
            </a:prstGeom>
            <a:solidFill>
              <a:srgbClr val="FF7200"/>
            </a:solidFill>
            <a:ln w="9525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AutoShape 30"/>
            <p:cNvSpPr>
              <a:spLocks noChangeArrowheads="1"/>
            </p:cNvSpPr>
            <p:nvPr/>
          </p:nvSpPr>
          <p:spPr bwMode="auto">
            <a:xfrm>
              <a:off x="4848" y="2736"/>
              <a:ext cx="240" cy="192"/>
            </a:xfrm>
            <a:prstGeom prst="roundRect">
              <a:avLst>
                <a:gd name="adj" fmla="val 16667"/>
              </a:avLst>
            </a:prstGeom>
            <a:solidFill>
              <a:srgbClr val="FF7200"/>
            </a:solidFill>
            <a:ln w="9525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VM</a:t>
              </a:r>
            </a:p>
          </p:txBody>
        </p:sp>
      </p:grpSp>
      <p:grpSp>
        <p:nvGrpSpPr>
          <p:cNvPr id="93" name="Group 31"/>
          <p:cNvGrpSpPr>
            <a:grpSpLocks/>
          </p:cNvGrpSpPr>
          <p:nvPr/>
        </p:nvGrpSpPr>
        <p:grpSpPr bwMode="auto">
          <a:xfrm>
            <a:off x="6477000" y="3740450"/>
            <a:ext cx="533400" cy="457200"/>
            <a:chOff x="4848" y="2640"/>
            <a:chExt cx="336" cy="288"/>
          </a:xfrm>
        </p:grpSpPr>
        <p:sp>
          <p:nvSpPr>
            <p:cNvPr id="94" name="AutoShape 32"/>
            <p:cNvSpPr>
              <a:spLocks noChangeArrowheads="1"/>
            </p:cNvSpPr>
            <p:nvPr/>
          </p:nvSpPr>
          <p:spPr bwMode="auto">
            <a:xfrm>
              <a:off x="4944" y="2640"/>
              <a:ext cx="240" cy="192"/>
            </a:xfrm>
            <a:prstGeom prst="roundRect">
              <a:avLst>
                <a:gd name="adj" fmla="val 16667"/>
              </a:avLst>
            </a:prstGeom>
            <a:solidFill>
              <a:srgbClr val="FF7200"/>
            </a:solidFill>
            <a:ln w="9525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95" name="AutoShape 33"/>
            <p:cNvSpPr>
              <a:spLocks noChangeArrowheads="1"/>
            </p:cNvSpPr>
            <p:nvPr/>
          </p:nvSpPr>
          <p:spPr bwMode="auto">
            <a:xfrm>
              <a:off x="4896" y="2688"/>
              <a:ext cx="240" cy="192"/>
            </a:xfrm>
            <a:prstGeom prst="roundRect">
              <a:avLst>
                <a:gd name="adj" fmla="val 16667"/>
              </a:avLst>
            </a:prstGeom>
            <a:solidFill>
              <a:srgbClr val="FF7200"/>
            </a:solidFill>
            <a:ln w="9525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96" name="AutoShape 34"/>
            <p:cNvSpPr>
              <a:spLocks noChangeArrowheads="1"/>
            </p:cNvSpPr>
            <p:nvPr/>
          </p:nvSpPr>
          <p:spPr bwMode="auto">
            <a:xfrm>
              <a:off x="4848" y="2736"/>
              <a:ext cx="240" cy="192"/>
            </a:xfrm>
            <a:prstGeom prst="roundRect">
              <a:avLst>
                <a:gd name="adj" fmla="val 16667"/>
              </a:avLst>
            </a:prstGeom>
            <a:solidFill>
              <a:srgbClr val="FF7200"/>
            </a:solidFill>
            <a:ln w="9525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VM</a:t>
              </a:r>
            </a:p>
          </p:txBody>
        </p:sp>
      </p:grpSp>
      <p:sp>
        <p:nvSpPr>
          <p:cNvPr id="97" name="Freeform 40"/>
          <p:cNvSpPr>
            <a:spLocks/>
          </p:cNvSpPr>
          <p:nvPr/>
        </p:nvSpPr>
        <p:spPr bwMode="auto">
          <a:xfrm>
            <a:off x="5308600" y="3740450"/>
            <a:ext cx="1016000" cy="674688"/>
          </a:xfrm>
          <a:custGeom>
            <a:avLst/>
            <a:gdLst>
              <a:gd name="T0" fmla="*/ 2147483647 w 640"/>
              <a:gd name="T1" fmla="*/ 2147483647 h 425"/>
              <a:gd name="T2" fmla="*/ 2147483647 w 640"/>
              <a:gd name="T3" fmla="*/ 2147483647 h 425"/>
              <a:gd name="T4" fmla="*/ 2147483647 w 640"/>
              <a:gd name="T5" fmla="*/ 2147483647 h 425"/>
              <a:gd name="T6" fmla="*/ 2147483647 w 640"/>
              <a:gd name="T7" fmla="*/ 2147483647 h 425"/>
              <a:gd name="T8" fmla="*/ 2147483647 w 640"/>
              <a:gd name="T9" fmla="*/ 2147483647 h 425"/>
              <a:gd name="T10" fmla="*/ 2147483647 w 640"/>
              <a:gd name="T11" fmla="*/ 2147483647 h 425"/>
              <a:gd name="T12" fmla="*/ 0 w 640"/>
              <a:gd name="T13" fmla="*/ 2147483647 h 425"/>
              <a:gd name="T14" fmla="*/ 2147483647 w 640"/>
              <a:gd name="T15" fmla="*/ 2147483647 h 425"/>
              <a:gd name="T16" fmla="*/ 2147483647 w 640"/>
              <a:gd name="T17" fmla="*/ 2147483647 h 425"/>
              <a:gd name="T18" fmla="*/ 2147483647 w 640"/>
              <a:gd name="T19" fmla="*/ 2147483647 h 425"/>
              <a:gd name="T20" fmla="*/ 2147483647 w 640"/>
              <a:gd name="T21" fmla="*/ 2147483647 h 425"/>
              <a:gd name="T22" fmla="*/ 2147483647 w 640"/>
              <a:gd name="T23" fmla="*/ 2147483647 h 425"/>
              <a:gd name="T24" fmla="*/ 2147483647 w 640"/>
              <a:gd name="T25" fmla="*/ 2147483647 h 425"/>
              <a:gd name="T26" fmla="*/ 2147483647 w 640"/>
              <a:gd name="T27" fmla="*/ 2147483647 h 425"/>
              <a:gd name="T28" fmla="*/ 2147483647 w 640"/>
              <a:gd name="T29" fmla="*/ 2147483647 h 4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640"/>
              <a:gd name="T46" fmla="*/ 0 h 425"/>
              <a:gd name="T47" fmla="*/ 640 w 640"/>
              <a:gd name="T48" fmla="*/ 425 h 42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640" h="425">
                <a:moveTo>
                  <a:pt x="623" y="322"/>
                </a:moveTo>
                <a:cubicBezTo>
                  <a:pt x="602" y="245"/>
                  <a:pt x="640" y="111"/>
                  <a:pt x="578" y="44"/>
                </a:cubicBezTo>
                <a:cubicBezTo>
                  <a:pt x="564" y="0"/>
                  <a:pt x="466" y="8"/>
                  <a:pt x="434" y="6"/>
                </a:cubicBezTo>
                <a:cubicBezTo>
                  <a:pt x="365" y="8"/>
                  <a:pt x="301" y="9"/>
                  <a:pt x="234" y="17"/>
                </a:cubicBezTo>
                <a:cubicBezTo>
                  <a:pt x="197" y="20"/>
                  <a:pt x="163" y="35"/>
                  <a:pt x="128" y="44"/>
                </a:cubicBezTo>
                <a:cubicBezTo>
                  <a:pt x="107" y="58"/>
                  <a:pt x="85" y="64"/>
                  <a:pt x="61" y="72"/>
                </a:cubicBezTo>
                <a:cubicBezTo>
                  <a:pt x="45" y="103"/>
                  <a:pt x="19" y="131"/>
                  <a:pt x="0" y="161"/>
                </a:cubicBezTo>
                <a:cubicBezTo>
                  <a:pt x="3" y="203"/>
                  <a:pt x="2" y="247"/>
                  <a:pt x="11" y="289"/>
                </a:cubicBezTo>
                <a:cubicBezTo>
                  <a:pt x="15" y="308"/>
                  <a:pt x="40" y="328"/>
                  <a:pt x="56" y="339"/>
                </a:cubicBezTo>
                <a:cubicBezTo>
                  <a:pt x="128" y="388"/>
                  <a:pt x="197" y="399"/>
                  <a:pt x="284" y="411"/>
                </a:cubicBezTo>
                <a:cubicBezTo>
                  <a:pt x="390" y="408"/>
                  <a:pt x="472" y="425"/>
                  <a:pt x="562" y="383"/>
                </a:cubicBezTo>
                <a:cubicBezTo>
                  <a:pt x="565" y="375"/>
                  <a:pt x="567" y="366"/>
                  <a:pt x="573" y="361"/>
                </a:cubicBezTo>
                <a:cubicBezTo>
                  <a:pt x="576" y="357"/>
                  <a:pt x="585" y="359"/>
                  <a:pt x="589" y="356"/>
                </a:cubicBezTo>
                <a:cubicBezTo>
                  <a:pt x="593" y="351"/>
                  <a:pt x="602" y="306"/>
                  <a:pt x="606" y="306"/>
                </a:cubicBezTo>
                <a:cubicBezTo>
                  <a:pt x="613" y="306"/>
                  <a:pt x="617" y="316"/>
                  <a:pt x="623" y="322"/>
                </a:cubicBezTo>
                <a:close/>
              </a:path>
            </a:pathLst>
          </a:custGeom>
          <a:solidFill>
            <a:srgbClr val="6EBB1F">
              <a:alpha val="45882"/>
            </a:srgbClr>
          </a:solidFill>
          <a:ln w="9525">
            <a:solidFill>
              <a:srgbClr val="4D4D4D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</a:endParaRPr>
          </a:p>
        </p:txBody>
      </p:sp>
      <p:grpSp>
        <p:nvGrpSpPr>
          <p:cNvPr id="98" name="Group 35"/>
          <p:cNvGrpSpPr>
            <a:grpSpLocks/>
          </p:cNvGrpSpPr>
          <p:nvPr/>
        </p:nvGrpSpPr>
        <p:grpSpPr bwMode="auto">
          <a:xfrm>
            <a:off x="5673725" y="3815063"/>
            <a:ext cx="533400" cy="457200"/>
            <a:chOff x="4848" y="2640"/>
            <a:chExt cx="336" cy="288"/>
          </a:xfrm>
        </p:grpSpPr>
        <p:sp>
          <p:nvSpPr>
            <p:cNvPr id="99" name="AutoShape 36"/>
            <p:cNvSpPr>
              <a:spLocks noChangeArrowheads="1"/>
            </p:cNvSpPr>
            <p:nvPr/>
          </p:nvSpPr>
          <p:spPr bwMode="auto">
            <a:xfrm>
              <a:off x="4944" y="2640"/>
              <a:ext cx="240" cy="192"/>
            </a:xfrm>
            <a:prstGeom prst="roundRect">
              <a:avLst>
                <a:gd name="adj" fmla="val 16667"/>
              </a:avLst>
            </a:prstGeom>
            <a:solidFill>
              <a:srgbClr val="6EBB1F"/>
            </a:solidFill>
            <a:ln w="9525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AutoShape 37"/>
            <p:cNvSpPr>
              <a:spLocks noChangeArrowheads="1"/>
            </p:cNvSpPr>
            <p:nvPr/>
          </p:nvSpPr>
          <p:spPr bwMode="auto">
            <a:xfrm>
              <a:off x="4896" y="2688"/>
              <a:ext cx="240" cy="192"/>
            </a:xfrm>
            <a:prstGeom prst="roundRect">
              <a:avLst>
                <a:gd name="adj" fmla="val 16667"/>
              </a:avLst>
            </a:prstGeom>
            <a:solidFill>
              <a:srgbClr val="6EBB1F"/>
            </a:solidFill>
            <a:ln w="9525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AutoShape 38"/>
            <p:cNvSpPr>
              <a:spLocks noChangeArrowheads="1"/>
            </p:cNvSpPr>
            <p:nvPr/>
          </p:nvSpPr>
          <p:spPr bwMode="auto">
            <a:xfrm>
              <a:off x="4848" y="2736"/>
              <a:ext cx="240" cy="192"/>
            </a:xfrm>
            <a:prstGeom prst="roundRect">
              <a:avLst>
                <a:gd name="adj" fmla="val 16667"/>
              </a:avLst>
            </a:prstGeom>
            <a:solidFill>
              <a:srgbClr val="6EBB1F"/>
            </a:solidFill>
            <a:ln w="9525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VM</a:t>
              </a:r>
            </a:p>
          </p:txBody>
        </p:sp>
      </p:grpSp>
      <p:sp>
        <p:nvSpPr>
          <p:cNvPr id="102" name="Line 42"/>
          <p:cNvSpPr>
            <a:spLocks noChangeShapeType="1"/>
          </p:cNvSpPr>
          <p:nvPr/>
        </p:nvSpPr>
        <p:spPr bwMode="auto">
          <a:xfrm flipH="1">
            <a:off x="2895600" y="3511850"/>
            <a:ext cx="3581400" cy="0"/>
          </a:xfrm>
          <a:prstGeom prst="line">
            <a:avLst/>
          </a:prstGeom>
          <a:noFill/>
          <a:ln w="76200">
            <a:solidFill>
              <a:srgbClr val="FF7200"/>
            </a:solidFill>
            <a:round/>
            <a:headEnd type="oval" w="sm" len="med"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3" name="Line 46"/>
          <p:cNvSpPr>
            <a:spLocks noChangeShapeType="1"/>
          </p:cNvSpPr>
          <p:nvPr/>
        </p:nvSpPr>
        <p:spPr bwMode="auto">
          <a:xfrm flipH="1">
            <a:off x="3429000" y="4045250"/>
            <a:ext cx="1981200" cy="0"/>
          </a:xfrm>
          <a:prstGeom prst="line">
            <a:avLst/>
          </a:prstGeom>
          <a:noFill/>
          <a:ln w="76200">
            <a:solidFill>
              <a:srgbClr val="6EBB1F"/>
            </a:solidFill>
            <a:round/>
            <a:headEnd type="oval" w="sm" len="med"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4" name="Line 47"/>
          <p:cNvSpPr>
            <a:spLocks noChangeShapeType="1"/>
          </p:cNvSpPr>
          <p:nvPr/>
        </p:nvSpPr>
        <p:spPr bwMode="auto">
          <a:xfrm>
            <a:off x="3467100" y="4045250"/>
            <a:ext cx="0" cy="304800"/>
          </a:xfrm>
          <a:prstGeom prst="line">
            <a:avLst/>
          </a:prstGeom>
          <a:noFill/>
          <a:ln w="76200">
            <a:solidFill>
              <a:srgbClr val="6EBB1F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5" name="Line 48"/>
          <p:cNvSpPr>
            <a:spLocks noChangeShapeType="1"/>
          </p:cNvSpPr>
          <p:nvPr/>
        </p:nvSpPr>
        <p:spPr bwMode="auto">
          <a:xfrm flipV="1">
            <a:off x="3505200" y="3207050"/>
            <a:ext cx="0" cy="304800"/>
          </a:xfrm>
          <a:prstGeom prst="line">
            <a:avLst/>
          </a:prstGeom>
          <a:noFill/>
          <a:ln w="76200">
            <a:solidFill>
              <a:srgbClr val="FF72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6" name="Text Box 50"/>
          <p:cNvSpPr txBox="1">
            <a:spLocks noChangeArrowheads="1"/>
          </p:cNvSpPr>
          <p:nvPr/>
        </p:nvSpPr>
        <p:spPr bwMode="auto">
          <a:xfrm>
            <a:off x="1044153" y="3588050"/>
            <a:ext cx="136768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Enterprise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Sites</a:t>
            </a:r>
          </a:p>
        </p:txBody>
      </p:sp>
      <p:sp>
        <p:nvSpPr>
          <p:cNvPr id="107" name="Text Box 51"/>
          <p:cNvSpPr txBox="1">
            <a:spLocks noChangeArrowheads="1"/>
          </p:cNvSpPr>
          <p:nvPr/>
        </p:nvSpPr>
        <p:spPr bwMode="auto">
          <a:xfrm>
            <a:off x="7385590" y="3359450"/>
            <a:ext cx="84029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Cloud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Sites</a:t>
            </a:r>
          </a:p>
        </p:txBody>
      </p:sp>
      <p:grpSp>
        <p:nvGrpSpPr>
          <p:cNvPr id="108" name="Group 12"/>
          <p:cNvGrpSpPr>
            <a:grpSpLocks/>
          </p:cNvGrpSpPr>
          <p:nvPr/>
        </p:nvGrpSpPr>
        <p:grpSpPr bwMode="auto">
          <a:xfrm>
            <a:off x="2133600" y="2826050"/>
            <a:ext cx="838200" cy="762000"/>
            <a:chOff x="672" y="2736"/>
            <a:chExt cx="528" cy="480"/>
          </a:xfrm>
        </p:grpSpPr>
        <p:sp>
          <p:nvSpPr>
            <p:cNvPr id="109" name="Oval 11"/>
            <p:cNvSpPr>
              <a:spLocks noChangeArrowheads="1"/>
            </p:cNvSpPr>
            <p:nvPr/>
          </p:nvSpPr>
          <p:spPr bwMode="auto">
            <a:xfrm>
              <a:off x="672" y="3072"/>
              <a:ext cx="528" cy="144"/>
            </a:xfrm>
            <a:prstGeom prst="ellipse">
              <a:avLst/>
            </a:prstGeom>
            <a:solidFill>
              <a:srgbClr val="FF7200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endParaRPr>
            </a:p>
          </p:txBody>
        </p:sp>
        <p:pic>
          <p:nvPicPr>
            <p:cNvPr id="110" name="Picture 217" descr="ICON_People_Orange_Q408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20" y="2736"/>
              <a:ext cx="430" cy="4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11" name="Group 13"/>
          <p:cNvGrpSpPr>
            <a:grpSpLocks/>
          </p:cNvGrpSpPr>
          <p:nvPr/>
        </p:nvGrpSpPr>
        <p:grpSpPr bwMode="auto">
          <a:xfrm>
            <a:off x="3124200" y="2521250"/>
            <a:ext cx="838200" cy="762000"/>
            <a:chOff x="672" y="2736"/>
            <a:chExt cx="528" cy="480"/>
          </a:xfrm>
        </p:grpSpPr>
        <p:sp>
          <p:nvSpPr>
            <p:cNvPr id="112" name="Oval 14"/>
            <p:cNvSpPr>
              <a:spLocks noChangeArrowheads="1"/>
            </p:cNvSpPr>
            <p:nvPr/>
          </p:nvSpPr>
          <p:spPr bwMode="auto">
            <a:xfrm>
              <a:off x="672" y="3072"/>
              <a:ext cx="528" cy="144"/>
            </a:xfrm>
            <a:prstGeom prst="ellipse">
              <a:avLst/>
            </a:prstGeom>
            <a:solidFill>
              <a:srgbClr val="FF7200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endParaRPr>
            </a:p>
          </p:txBody>
        </p:sp>
        <p:pic>
          <p:nvPicPr>
            <p:cNvPr id="113" name="Picture 217" descr="ICON_People_Orange_Q408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20" y="2736"/>
              <a:ext cx="430" cy="4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14" name="Group 44"/>
          <p:cNvGrpSpPr>
            <a:grpSpLocks/>
          </p:cNvGrpSpPr>
          <p:nvPr/>
        </p:nvGrpSpPr>
        <p:grpSpPr bwMode="auto">
          <a:xfrm>
            <a:off x="2743200" y="3740450"/>
            <a:ext cx="838200" cy="762000"/>
            <a:chOff x="528" y="3552"/>
            <a:chExt cx="528" cy="480"/>
          </a:xfrm>
        </p:grpSpPr>
        <p:sp>
          <p:nvSpPr>
            <p:cNvPr id="115" name="Oval 43"/>
            <p:cNvSpPr>
              <a:spLocks noChangeArrowheads="1"/>
            </p:cNvSpPr>
            <p:nvPr/>
          </p:nvSpPr>
          <p:spPr bwMode="auto">
            <a:xfrm>
              <a:off x="528" y="3888"/>
              <a:ext cx="528" cy="144"/>
            </a:xfrm>
            <a:prstGeom prst="ellipse">
              <a:avLst/>
            </a:prstGeom>
            <a:solidFill>
              <a:srgbClr val="6EBB1F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endParaRPr>
            </a:p>
          </p:txBody>
        </p:sp>
        <p:pic>
          <p:nvPicPr>
            <p:cNvPr id="116" name="Picture 214" descr="ICON_People_Green_Q408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76" y="3552"/>
              <a:ext cx="418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17" name="Picture 53" descr="earth41"/>
          <p:cNvPicPr>
            <a:picLocks noChangeAspect="1" noChangeArrowheads="1"/>
          </p:cNvPicPr>
          <p:nvPr/>
        </p:nvPicPr>
        <p:blipFill>
          <a:blip r:embed="rId7">
            <a:lum bright="24000"/>
            <a:grayscl/>
          </a:blip>
          <a:srcRect/>
          <a:stretch>
            <a:fillRect/>
          </a:stretch>
        </p:blipFill>
        <p:spPr bwMode="auto">
          <a:xfrm>
            <a:off x="3810000" y="3511850"/>
            <a:ext cx="4794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02165" y="6341880"/>
            <a:ext cx="385235" cy="152400"/>
          </a:xfrm>
        </p:spPr>
        <p:txBody>
          <a:bodyPr/>
          <a:lstStyle/>
          <a:p>
            <a:fld id="{1DEFE11F-158B-594E-8BEE-CC26B87FEB38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4" grpId="0" build="p"/>
      <p:bldP spid="97" grpId="0" animBg="1"/>
      <p:bldP spid="102" grpId="0" animBg="1"/>
      <p:bldP spid="103" grpId="0" animBg="1"/>
      <p:bldP spid="104" grpId="0" animBg="1"/>
      <p:bldP spid="10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10444" y="381000"/>
            <a:ext cx="8328744" cy="838200"/>
          </a:xfrm>
        </p:spPr>
        <p:txBody>
          <a:bodyPr/>
          <a:lstStyle/>
          <a:p>
            <a:pPr algn="ctr"/>
            <a:r>
              <a:rPr lang="en-US" sz="2800" dirty="0"/>
              <a:t>VPC Benefits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02165" y="6341880"/>
            <a:ext cx="385235" cy="152400"/>
          </a:xfrm>
        </p:spPr>
        <p:txBody>
          <a:bodyPr/>
          <a:lstStyle/>
          <a:p>
            <a:fld id="{1DEFE11F-158B-594E-8BEE-CC26B87FEB3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45805" y="1117840"/>
            <a:ext cx="8613059" cy="5334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 algn="l" defTabSz="947738">
              <a:spcBef>
                <a:spcPct val="20000"/>
              </a:spcBef>
              <a:spcAft>
                <a:spcPct val="20000"/>
              </a:spcAft>
              <a:buClr>
                <a:srgbClr val="067AB4"/>
              </a:buClr>
              <a:buSzPct val="100000"/>
            </a:pPr>
            <a:r>
              <a:rPr lang="en-US" sz="2000" b="1" i="1" dirty="0">
                <a:solidFill>
                  <a:srgbClr val="067AB4"/>
                </a:solidFill>
                <a:latin typeface="Verdana" charset="0"/>
              </a:rPr>
              <a:t>Virtual Private Clouds</a:t>
            </a:r>
            <a:r>
              <a:rPr lang="en-US" sz="2000" b="1" dirty="0">
                <a:solidFill>
                  <a:srgbClr val="067AB4"/>
                </a:solidFill>
                <a:latin typeface="Verdana" charset="0"/>
              </a:rPr>
              <a:t>: </a:t>
            </a:r>
            <a:r>
              <a:rPr lang="en-US" sz="2000" dirty="0">
                <a:solidFill>
                  <a:srgbClr val="000000"/>
                </a:solidFill>
                <a:latin typeface="Verdana" charset="0"/>
                <a:cs typeface="Arial" charset="0"/>
              </a:rPr>
              <a:t>Collection of cloud resources presented to customer as a private set of cloud resources, transparently and securely connected to customer VPN. </a:t>
            </a:r>
          </a:p>
          <a:p>
            <a:pPr lvl="0" algn="l" defTabSz="947738">
              <a:spcBef>
                <a:spcPct val="20000"/>
              </a:spcBef>
              <a:spcAft>
                <a:spcPct val="20000"/>
              </a:spcAft>
              <a:buClr>
                <a:srgbClr val="067AB4"/>
              </a:buClr>
              <a:buSzPct val="100000"/>
            </a:pPr>
            <a:r>
              <a:rPr lang="en-US" sz="2000" b="1" kern="0" dirty="0">
                <a:solidFill>
                  <a:srgbClr val="FF7200"/>
                </a:solidFill>
                <a:latin typeface="Verdana"/>
                <a:ea typeface="+mn-ea"/>
                <a:cs typeface="+mn-cs"/>
              </a:rPr>
              <a:t>For the customer:</a:t>
            </a:r>
            <a:endParaRPr lang="en-US" sz="2000" kern="0" dirty="0">
              <a:solidFill>
                <a:srgbClr val="FF7200"/>
              </a:solidFill>
              <a:latin typeface="Verdana"/>
              <a:ea typeface="+mn-ea"/>
              <a:cs typeface="+mn-cs"/>
            </a:endParaRPr>
          </a:p>
          <a:p>
            <a:pPr marL="230188" lvl="2" indent="-230188" algn="l" defTabSz="947738">
              <a:spcBef>
                <a:spcPct val="0"/>
              </a:spcBef>
              <a:spcAft>
                <a:spcPct val="20000"/>
              </a:spcAft>
              <a:buClr>
                <a:srgbClr val="000000"/>
              </a:buClr>
              <a:buSzPct val="80000"/>
              <a:buFont typeface="Arial" pitchFamily="34" charset="0"/>
              <a:buChar char="•"/>
            </a:pPr>
            <a:r>
              <a:rPr lang="en-US" sz="2000" kern="0" dirty="0">
                <a:solidFill>
                  <a:srgbClr val="000000"/>
                </a:solidFill>
                <a:latin typeface="Verdana"/>
              </a:rPr>
              <a:t>Isolates network &amp; compute resources</a:t>
            </a:r>
          </a:p>
          <a:p>
            <a:pPr marL="461963" lvl="3" indent="-231775" algn="l" defTabSz="947738">
              <a:spcBef>
                <a:spcPct val="0"/>
              </a:spcBef>
              <a:spcAft>
                <a:spcPct val="20000"/>
              </a:spcAft>
              <a:buClr>
                <a:srgbClr val="000000"/>
              </a:buClr>
              <a:buSzPct val="80000"/>
              <a:buFont typeface="Verdana" pitchFamily="34" charset="0"/>
              <a:buChar char="–"/>
            </a:pPr>
            <a:r>
              <a:rPr lang="en-US" sz="1800" kern="0" dirty="0">
                <a:solidFill>
                  <a:srgbClr val="000000"/>
                </a:solidFill>
                <a:latin typeface="Verdana"/>
              </a:rPr>
              <a:t>Cloud resources are only accessible through VPN</a:t>
            </a:r>
          </a:p>
          <a:p>
            <a:pPr marL="230188" lvl="2" indent="-230188" algn="l" defTabSz="947738">
              <a:spcBef>
                <a:spcPct val="0"/>
              </a:spcBef>
              <a:spcAft>
                <a:spcPct val="20000"/>
              </a:spcAft>
              <a:buClr>
                <a:srgbClr val="000000"/>
              </a:buClr>
              <a:buSzPct val="80000"/>
              <a:buFont typeface="Arial" pitchFamily="34" charset="0"/>
              <a:buChar char="•"/>
            </a:pPr>
            <a:r>
              <a:rPr lang="en-US" sz="2000" kern="0" dirty="0">
                <a:solidFill>
                  <a:srgbClr val="000000"/>
                </a:solidFill>
                <a:latin typeface="Verdana"/>
              </a:rPr>
              <a:t>Simplifies deployment since the Cloud looks the same as local resources</a:t>
            </a:r>
            <a:br>
              <a:rPr lang="en-US" sz="1800" kern="0" dirty="0">
                <a:solidFill>
                  <a:srgbClr val="000000"/>
                </a:solidFill>
                <a:latin typeface="Verdana"/>
              </a:rPr>
            </a:br>
            <a:endParaRPr lang="en-US" sz="1800" kern="0" dirty="0">
              <a:solidFill>
                <a:srgbClr val="000000"/>
              </a:solidFill>
              <a:latin typeface="Verdana"/>
            </a:endParaRPr>
          </a:p>
          <a:p>
            <a:pPr lvl="0" algn="l" defTabSz="947738">
              <a:spcBef>
                <a:spcPct val="20000"/>
              </a:spcBef>
              <a:spcAft>
                <a:spcPct val="20000"/>
              </a:spcAft>
              <a:buClr>
                <a:srgbClr val="000000"/>
              </a:buClr>
              <a:buSzPct val="100000"/>
            </a:pPr>
            <a:r>
              <a:rPr lang="en-US" sz="2000" b="1" kern="0" dirty="0">
                <a:solidFill>
                  <a:srgbClr val="FF7200"/>
                </a:solidFill>
                <a:latin typeface="Verdana"/>
                <a:ea typeface="+mn-ea"/>
                <a:cs typeface="+mn-cs"/>
              </a:rPr>
              <a:t>For the cloud service provider:</a:t>
            </a:r>
          </a:p>
          <a:p>
            <a:pPr marL="230188" lvl="2" indent="-230188" algn="l" defTabSz="947738">
              <a:spcBef>
                <a:spcPct val="0"/>
              </a:spcBef>
              <a:spcAft>
                <a:spcPct val="20000"/>
              </a:spcAft>
              <a:buClr>
                <a:srgbClr val="000000"/>
              </a:buClr>
              <a:buSzPct val="80000"/>
              <a:buFont typeface="Arial" pitchFamily="34" charset="0"/>
              <a:buChar char="•"/>
            </a:pPr>
            <a:r>
              <a:rPr lang="en-US" sz="2000" kern="0" dirty="0">
                <a:solidFill>
                  <a:srgbClr val="000000"/>
                </a:solidFill>
                <a:latin typeface="Verdana"/>
              </a:rPr>
              <a:t>Provides mechanism for control over resource reservation within provider network</a:t>
            </a:r>
          </a:p>
          <a:p>
            <a:pPr marL="230188" lvl="2" indent="-230188" algn="l" defTabSz="947738">
              <a:spcBef>
                <a:spcPct val="0"/>
              </a:spcBef>
              <a:spcAft>
                <a:spcPct val="20000"/>
              </a:spcAft>
              <a:buClr>
                <a:srgbClr val="000000"/>
              </a:buClr>
              <a:buSzPct val="80000"/>
              <a:buFont typeface="Arial" pitchFamily="34" charset="0"/>
              <a:buChar char="•"/>
            </a:pPr>
            <a:r>
              <a:rPr lang="en-US" sz="2000" kern="0" dirty="0">
                <a:solidFill>
                  <a:srgbClr val="000000"/>
                </a:solidFill>
                <a:latin typeface="Verdana"/>
              </a:rPr>
              <a:t>Simplifies management of multiple data centers by combining them into large resource pools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eamless Data Center Connec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rPr sz="4400" dirty="0"/>
              <a:t>Seamless Data Center Connections</a:t>
            </a:r>
          </a:p>
        </p:txBody>
      </p:sp>
      <p:sp>
        <p:nvSpPr>
          <p:cNvPr id="176" name="CloudNet: Use Virtual Private Networks (VPNs)…"/>
          <p:cNvSpPr txBox="1">
            <a:spLocks noGrp="1"/>
          </p:cNvSpPr>
          <p:nvPr>
            <p:ph type="body" idx="1"/>
          </p:nvPr>
        </p:nvSpPr>
        <p:spPr>
          <a:xfrm>
            <a:off x="214313" y="1098351"/>
            <a:ext cx="8108156" cy="5357813"/>
          </a:xfrm>
          <a:prstGeom prst="rect">
            <a:avLst/>
          </a:prstGeom>
        </p:spPr>
        <p:txBody>
          <a:bodyPr/>
          <a:lstStyle/>
          <a:p>
            <a:r>
              <a:rPr b="1" dirty="0" err="1"/>
              <a:t>CloudNet</a:t>
            </a:r>
            <a:r>
              <a:rPr b="1" dirty="0"/>
              <a:t>:</a:t>
            </a:r>
            <a:r>
              <a:rPr dirty="0"/>
              <a:t> Use Virtual Private Networks (VPNs)</a:t>
            </a:r>
          </a:p>
          <a:p>
            <a:pPr lvl="1"/>
            <a:r>
              <a:rPr dirty="0"/>
              <a:t>Creates secure end-to-end network paths</a:t>
            </a:r>
          </a:p>
          <a:p>
            <a:pPr lvl="1"/>
            <a:r>
              <a:rPr dirty="0"/>
              <a:t>Simpler configuration than firewalls</a:t>
            </a:r>
          </a:p>
          <a:p>
            <a:pPr lvl="1"/>
            <a:r>
              <a:rPr dirty="0"/>
              <a:t>Managed by network provider with no end host configuration</a:t>
            </a:r>
          </a:p>
          <a:p>
            <a:pPr lvl="2"/>
            <a:endParaRPr dirty="0"/>
          </a:p>
          <a:p>
            <a:r>
              <a:rPr dirty="0"/>
              <a:t>Layer 2 Virtual Private LAN Service (VPLS)</a:t>
            </a:r>
          </a:p>
          <a:p>
            <a:pPr lvl="1"/>
            <a:r>
              <a:rPr dirty="0"/>
              <a:t>Bridges the local networks at multiple sites </a:t>
            </a:r>
          </a:p>
          <a:p>
            <a:pPr lvl="1"/>
            <a:r>
              <a:rPr lang="en-US" dirty="0"/>
              <a:t>Used to m</a:t>
            </a:r>
            <a:r>
              <a:rPr dirty="0"/>
              <a:t>ake cloud resources look as if </a:t>
            </a:r>
            <a:r>
              <a:rPr lang="en-US" dirty="0"/>
              <a:t>they are </a:t>
            </a:r>
            <a:r>
              <a:rPr dirty="0"/>
              <a:t>directly attached to enterprise LAN</a:t>
            </a:r>
          </a:p>
          <a:p>
            <a:pPr lvl="1"/>
            <a:endParaRPr dirty="0"/>
          </a:p>
          <a:p>
            <a:r>
              <a:rPr dirty="0"/>
              <a:t>Allows existing VM migration techniques to work over the WAN!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370240-0488-5441-8683-A96FFB0DDE49}"/>
              </a:ext>
            </a:extLst>
          </p:cNvPr>
          <p:cNvSpPr/>
          <p:nvPr/>
        </p:nvSpPr>
        <p:spPr>
          <a:xfrm>
            <a:off x="8760535" y="6508106"/>
            <a:ext cx="3129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86CB4B4D-7CA3-9044-876B-883B54F8677D}" type="slidenum">
              <a:rPr lang="en-US" sz="1000" kern="0">
                <a:solidFill>
                  <a:schemeClr val="tx1"/>
                </a:solidFill>
                <a:latin typeface="Gill Sans"/>
                <a:cs typeface="Gill Sans"/>
                <a:sym typeface="Gill Sans"/>
              </a:rPr>
              <a:pPr/>
              <a:t>15</a:t>
            </a:fld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02564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CloudNet</a:t>
            </a:r>
            <a:endParaRPr lang="en-US" dirty="0"/>
          </a:p>
        </p:txBody>
      </p:sp>
      <p:sp>
        <p:nvSpPr>
          <p:cNvPr id="63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02165" y="6341880"/>
            <a:ext cx="385235" cy="152400"/>
          </a:xfrm>
        </p:spPr>
        <p:txBody>
          <a:bodyPr/>
          <a:lstStyle/>
          <a:p>
            <a:fld id="{1DEFE11F-158B-594E-8BEE-CC26B87FEB3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22" name="AutoShape 27"/>
          <p:cNvSpPr>
            <a:spLocks noChangeArrowheads="1"/>
          </p:cNvSpPr>
          <p:nvPr/>
        </p:nvSpPr>
        <p:spPr bwMode="auto">
          <a:xfrm>
            <a:off x="228600" y="2659596"/>
            <a:ext cx="2971800" cy="457200"/>
          </a:xfrm>
          <a:prstGeom prst="roundRect">
            <a:avLst>
              <a:gd name="adj" fmla="val 16667"/>
            </a:avLst>
          </a:prstGeom>
          <a:solidFill>
            <a:srgbClr val="AC0003">
              <a:alpha val="50196"/>
            </a:srgbClr>
          </a:solidFill>
          <a:ln w="9525">
            <a:solidFill>
              <a:srgbClr val="4D4D4D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3" name="AutoShape 26"/>
          <p:cNvSpPr>
            <a:spLocks noChangeArrowheads="1"/>
          </p:cNvSpPr>
          <p:nvPr/>
        </p:nvSpPr>
        <p:spPr bwMode="auto">
          <a:xfrm>
            <a:off x="228600" y="1059396"/>
            <a:ext cx="2667000" cy="457200"/>
          </a:xfrm>
          <a:prstGeom prst="roundRect">
            <a:avLst>
              <a:gd name="adj" fmla="val 16667"/>
            </a:avLst>
          </a:prstGeom>
          <a:solidFill>
            <a:srgbClr val="067AB4">
              <a:alpha val="38039"/>
            </a:srgbClr>
          </a:solidFill>
          <a:ln w="9525">
            <a:solidFill>
              <a:srgbClr val="4D4D4D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4" name="AutoShape 25"/>
          <p:cNvSpPr>
            <a:spLocks noChangeArrowheads="1"/>
          </p:cNvSpPr>
          <p:nvPr/>
        </p:nvSpPr>
        <p:spPr bwMode="auto">
          <a:xfrm>
            <a:off x="5410200" y="4031196"/>
            <a:ext cx="3505200" cy="1981200"/>
          </a:xfrm>
          <a:prstGeom prst="roundRect">
            <a:avLst>
              <a:gd name="adj" fmla="val 16667"/>
            </a:avLst>
          </a:prstGeom>
          <a:solidFill>
            <a:srgbClr val="067AB4">
              <a:alpha val="38039"/>
            </a:srgbClr>
          </a:solidFill>
          <a:ln w="9525">
            <a:solidFill>
              <a:srgbClr val="4D4D4D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Cloud Manager</a:t>
            </a:r>
          </a:p>
        </p:txBody>
      </p:sp>
      <p:sp>
        <p:nvSpPr>
          <p:cNvPr id="125" name="AutoShape 24"/>
          <p:cNvSpPr>
            <a:spLocks noChangeArrowheads="1"/>
          </p:cNvSpPr>
          <p:nvPr/>
        </p:nvSpPr>
        <p:spPr bwMode="auto">
          <a:xfrm>
            <a:off x="2209800" y="4031196"/>
            <a:ext cx="2895600" cy="1981200"/>
          </a:xfrm>
          <a:prstGeom prst="roundRect">
            <a:avLst>
              <a:gd name="adj" fmla="val 16667"/>
            </a:avLst>
          </a:prstGeom>
          <a:solidFill>
            <a:srgbClr val="AC0003">
              <a:alpha val="50196"/>
            </a:srgbClr>
          </a:solidFill>
          <a:ln w="9525">
            <a:solidFill>
              <a:srgbClr val="4D4D4D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Network Manager</a:t>
            </a:r>
          </a:p>
        </p:txBody>
      </p:sp>
      <p:sp>
        <p:nvSpPr>
          <p:cNvPr id="126" name="Rectangle 3"/>
          <p:cNvSpPr txBox="1">
            <a:spLocks noChangeArrowheads="1"/>
          </p:cNvSpPr>
          <p:nvPr/>
        </p:nvSpPr>
        <p:spPr bwMode="auto">
          <a:xfrm>
            <a:off x="457200" y="1135596"/>
            <a:ext cx="8305800" cy="3276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47738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charset="-128"/>
                <a:cs typeface="ＭＳ Ｐゴシック" charset="-128"/>
              </a:rPr>
              <a:t>Cloud Manager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Verdana"/>
              <a:ea typeface="ＭＳ Ｐゴシック" charset="-128"/>
              <a:cs typeface="ＭＳ Ｐゴシック" charset="-128"/>
            </a:endParaRPr>
          </a:p>
          <a:p>
            <a:pPr marL="234950" marR="0" lvl="1" indent="-233363" algn="l" defTabSz="947738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30000"/>
              </a:spcAft>
              <a:buClr>
                <a:srgbClr val="4D4D4D"/>
              </a:buClr>
              <a:buSzPct val="80000"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/>
                <a:ea typeface="ＭＳ Ｐゴシック" charset="-128"/>
              </a:rPr>
              <a:t>Allocates computation and storage resources</a:t>
            </a:r>
          </a:p>
          <a:p>
            <a:pPr marL="234950" marR="0" lvl="1" indent="-233363" algn="l" defTabSz="947738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30000"/>
              </a:spcAft>
              <a:buClr>
                <a:srgbClr val="4D4D4D"/>
              </a:buClr>
              <a:buSzPct val="80000"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/>
                <a:ea typeface="ＭＳ Ｐゴシック" charset="-128"/>
              </a:rPr>
              <a:t>Manages VLAN assignment within cloud network</a:t>
            </a:r>
          </a:p>
          <a:p>
            <a:pPr marL="0" marR="0" lvl="0" indent="0" algn="l" defTabSz="947738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Verdana"/>
              <a:ea typeface="ＭＳ Ｐゴシック" charset="-128"/>
              <a:cs typeface="ＭＳ Ｐゴシック" charset="-128"/>
            </a:endParaRPr>
          </a:p>
          <a:p>
            <a:pPr marL="0" marR="0" lvl="0" indent="0" algn="l" defTabSz="947738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charset="-128"/>
                <a:cs typeface="ＭＳ Ｐゴシック" charset="-128"/>
              </a:rPr>
              <a:t>Network Manager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Verdana"/>
              <a:ea typeface="ＭＳ Ｐゴシック" charset="-128"/>
              <a:cs typeface="ＭＳ Ｐゴシック" charset="-128"/>
            </a:endParaRPr>
          </a:p>
          <a:p>
            <a:pPr marL="234950" marR="0" lvl="1" indent="-233363" algn="l" defTabSz="947738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30000"/>
              </a:spcAft>
              <a:buClr>
                <a:srgbClr val="4D4D4D"/>
              </a:buClr>
              <a:buSzPct val="80000"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/>
                <a:ea typeface="ＭＳ Ｐゴシック" charset="-128"/>
              </a:rPr>
              <a:t>Creates and configures VPN endpoints</a:t>
            </a:r>
          </a:p>
          <a:p>
            <a:pPr marL="234950" marR="0" lvl="1" indent="-233363" algn="l" defTabSz="947738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30000"/>
              </a:spcAft>
              <a:buClr>
                <a:srgbClr val="4D4D4D"/>
              </a:buClr>
              <a:buSzPct val="80000"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/>
                <a:ea typeface="ＭＳ Ｐゴシック" charset="-128"/>
              </a:rPr>
              <a:t>Reserves network resources</a:t>
            </a:r>
          </a:p>
        </p:txBody>
      </p:sp>
      <p:grpSp>
        <p:nvGrpSpPr>
          <p:cNvPr id="127" name="Group 5"/>
          <p:cNvGrpSpPr>
            <a:grpSpLocks/>
          </p:cNvGrpSpPr>
          <p:nvPr/>
        </p:nvGrpSpPr>
        <p:grpSpPr bwMode="auto">
          <a:xfrm>
            <a:off x="228600" y="4259796"/>
            <a:ext cx="838200" cy="762000"/>
            <a:chOff x="528" y="3552"/>
            <a:chExt cx="528" cy="480"/>
          </a:xfrm>
        </p:grpSpPr>
        <p:sp>
          <p:nvSpPr>
            <p:cNvPr id="128" name="Oval 6"/>
            <p:cNvSpPr>
              <a:spLocks noChangeArrowheads="1"/>
            </p:cNvSpPr>
            <p:nvPr/>
          </p:nvSpPr>
          <p:spPr bwMode="auto">
            <a:xfrm>
              <a:off x="528" y="3888"/>
              <a:ext cx="528" cy="144"/>
            </a:xfrm>
            <a:prstGeom prst="ellipse">
              <a:avLst/>
            </a:prstGeom>
            <a:solidFill>
              <a:srgbClr val="6EBB1F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29" name="Picture 214" descr="ICON_People_Green_Q408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6" y="3552"/>
              <a:ext cx="418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30" name="Picture 8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38400" y="4488396"/>
            <a:ext cx="22860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1" name="Picture 9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93938" y="4564596"/>
            <a:ext cx="75406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2" name="Picture 10" descr="earth41"/>
          <p:cNvPicPr>
            <a:picLocks noChangeAspect="1" noChangeArrowheads="1"/>
          </p:cNvPicPr>
          <p:nvPr/>
        </p:nvPicPr>
        <p:blipFill>
          <a:blip r:embed="rId6">
            <a:lum bright="24000"/>
            <a:grayscl/>
          </a:blip>
          <a:srcRect/>
          <a:stretch>
            <a:fillRect/>
          </a:stretch>
        </p:blipFill>
        <p:spPr bwMode="auto">
          <a:xfrm>
            <a:off x="3352800" y="4945596"/>
            <a:ext cx="4794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" name="Picture 11"/>
          <p:cNvPicPr>
            <a:picLocks noChangeArrowheads="1"/>
          </p:cNvPicPr>
          <p:nvPr/>
        </p:nvPicPr>
        <p:blipFill>
          <a:blip r:embed="rId5">
            <a:grayscl/>
          </a:blip>
          <a:srcRect/>
          <a:stretch>
            <a:fillRect/>
          </a:stretch>
        </p:blipFill>
        <p:spPr bwMode="auto">
          <a:xfrm>
            <a:off x="1150938" y="4564596"/>
            <a:ext cx="75406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4" name="Picture 12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67200" y="4945596"/>
            <a:ext cx="754063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5" name="Picture 13"/>
          <p:cNvPicPr>
            <a:picLocks noChangeArrowheads="1"/>
          </p:cNvPicPr>
          <p:nvPr/>
        </p:nvPicPr>
        <p:blipFill>
          <a:blip r:embed="rId5">
            <a:grayscl/>
          </a:blip>
          <a:srcRect/>
          <a:stretch>
            <a:fillRect/>
          </a:stretch>
        </p:blipFill>
        <p:spPr bwMode="auto">
          <a:xfrm>
            <a:off x="5494338" y="4716996"/>
            <a:ext cx="75406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6" name="Picture 14"/>
          <p:cNvPicPr>
            <a:picLocks noChangeArrowheads="1"/>
          </p:cNvPicPr>
          <p:nvPr/>
        </p:nvPicPr>
        <p:blipFill>
          <a:blip r:embed="rId5">
            <a:grayscl/>
          </a:blip>
          <a:srcRect/>
          <a:stretch>
            <a:fillRect/>
          </a:stretch>
        </p:blipFill>
        <p:spPr bwMode="auto">
          <a:xfrm>
            <a:off x="5494338" y="5313896"/>
            <a:ext cx="75406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37" name="Group 23"/>
          <p:cNvGrpSpPr>
            <a:grpSpLocks/>
          </p:cNvGrpSpPr>
          <p:nvPr/>
        </p:nvGrpSpPr>
        <p:grpSpPr bwMode="auto">
          <a:xfrm>
            <a:off x="7391400" y="4640796"/>
            <a:ext cx="1371600" cy="533400"/>
            <a:chOff x="4752" y="1152"/>
            <a:chExt cx="864" cy="336"/>
          </a:xfrm>
        </p:grpSpPr>
        <p:sp>
          <p:nvSpPr>
            <p:cNvPr id="138" name="Rectangle 17"/>
            <p:cNvSpPr>
              <a:spLocks noChangeArrowheads="1"/>
            </p:cNvSpPr>
            <p:nvPr/>
          </p:nvSpPr>
          <p:spPr bwMode="auto">
            <a:xfrm>
              <a:off x="4752" y="1152"/>
              <a:ext cx="864" cy="336"/>
            </a:xfrm>
            <a:prstGeom prst="rect">
              <a:avLst/>
            </a:prstGeom>
            <a:solidFill>
              <a:srgbClr val="CDD8DD"/>
            </a:solidFill>
            <a:ln w="9525">
              <a:solidFill>
                <a:srgbClr val="4D4D4D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39" name="Group 138"/>
            <p:cNvGrpSpPr>
              <a:grpSpLocks/>
            </p:cNvGrpSpPr>
            <p:nvPr/>
          </p:nvGrpSpPr>
          <p:grpSpPr bwMode="auto">
            <a:xfrm>
              <a:off x="5472" y="1248"/>
              <a:ext cx="96" cy="144"/>
              <a:chOff x="5472" y="1632"/>
              <a:chExt cx="96" cy="144"/>
            </a:xfrm>
          </p:grpSpPr>
          <p:sp>
            <p:nvSpPr>
              <p:cNvPr id="140" name="Line 19"/>
              <p:cNvSpPr>
                <a:spLocks noChangeShapeType="1"/>
              </p:cNvSpPr>
              <p:nvPr/>
            </p:nvSpPr>
            <p:spPr bwMode="auto">
              <a:xfrm>
                <a:off x="5472" y="1632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1" name="Line 20"/>
              <p:cNvSpPr>
                <a:spLocks noChangeShapeType="1"/>
              </p:cNvSpPr>
              <p:nvPr/>
            </p:nvSpPr>
            <p:spPr bwMode="auto">
              <a:xfrm>
                <a:off x="5472" y="1680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2" name="Line 21"/>
              <p:cNvSpPr>
                <a:spLocks noChangeShapeType="1"/>
              </p:cNvSpPr>
              <p:nvPr/>
            </p:nvSpPr>
            <p:spPr bwMode="auto">
              <a:xfrm>
                <a:off x="5472" y="1728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3" name="Line 22"/>
              <p:cNvSpPr>
                <a:spLocks noChangeShapeType="1"/>
              </p:cNvSpPr>
              <p:nvPr/>
            </p:nvSpPr>
            <p:spPr bwMode="auto">
              <a:xfrm>
                <a:off x="5472" y="1776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</p:grpSp>
      <p:cxnSp>
        <p:nvCxnSpPr>
          <p:cNvPr id="144" name="AutoShape 28"/>
          <p:cNvCxnSpPr>
            <a:cxnSpLocks noChangeShapeType="1"/>
          </p:cNvCxnSpPr>
          <p:nvPr/>
        </p:nvCxnSpPr>
        <p:spPr bwMode="auto">
          <a:xfrm>
            <a:off x="1905000" y="4786846"/>
            <a:ext cx="388938" cy="0"/>
          </a:xfrm>
          <a:prstGeom prst="straightConnector1">
            <a:avLst/>
          </a:prstGeom>
          <a:noFill/>
          <a:ln w="50800">
            <a:solidFill>
              <a:srgbClr val="6EBB1F"/>
            </a:solidFill>
            <a:round/>
            <a:headEnd/>
            <a:tailEnd/>
          </a:ln>
        </p:spPr>
      </p:cxnSp>
      <p:cxnSp>
        <p:nvCxnSpPr>
          <p:cNvPr id="145" name="AutoShape 30"/>
          <p:cNvCxnSpPr>
            <a:cxnSpLocks noChangeShapeType="1"/>
          </p:cNvCxnSpPr>
          <p:nvPr/>
        </p:nvCxnSpPr>
        <p:spPr bwMode="auto">
          <a:xfrm flipV="1">
            <a:off x="5021263" y="4939246"/>
            <a:ext cx="473075" cy="228600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rgbClr val="6EBB1F"/>
            </a:solidFill>
            <a:miter lim="800000"/>
            <a:headEnd/>
            <a:tailEnd/>
          </a:ln>
        </p:spPr>
      </p:cxnSp>
      <p:cxnSp>
        <p:nvCxnSpPr>
          <p:cNvPr id="146" name="AutoShape 31"/>
          <p:cNvCxnSpPr>
            <a:cxnSpLocks noChangeShapeType="1"/>
          </p:cNvCxnSpPr>
          <p:nvPr/>
        </p:nvCxnSpPr>
        <p:spPr bwMode="auto">
          <a:xfrm flipV="1">
            <a:off x="6248400" y="4907496"/>
            <a:ext cx="1143000" cy="31750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rgbClr val="6EBB1F"/>
            </a:solidFill>
            <a:miter lim="800000"/>
            <a:headEnd/>
            <a:tailEnd/>
          </a:ln>
        </p:spPr>
      </p:cxnSp>
      <p:sp>
        <p:nvSpPr>
          <p:cNvPr id="147" name="AutoShape 33"/>
          <p:cNvSpPr>
            <a:spLocks noChangeArrowheads="1"/>
          </p:cNvSpPr>
          <p:nvPr/>
        </p:nvSpPr>
        <p:spPr bwMode="auto">
          <a:xfrm>
            <a:off x="7543800" y="4716996"/>
            <a:ext cx="381000" cy="381000"/>
          </a:xfrm>
          <a:prstGeom prst="roundRect">
            <a:avLst>
              <a:gd name="adj" fmla="val 16667"/>
            </a:avLst>
          </a:prstGeom>
          <a:solidFill>
            <a:srgbClr val="6EBB1F"/>
          </a:solidFill>
          <a:ln w="9525">
            <a:solidFill>
              <a:srgbClr val="4D4D4D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VM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8" name="AutoShape 34"/>
          <p:cNvSpPr>
            <a:spLocks noChangeArrowheads="1"/>
          </p:cNvSpPr>
          <p:nvPr/>
        </p:nvSpPr>
        <p:spPr bwMode="auto">
          <a:xfrm>
            <a:off x="8001000" y="4716996"/>
            <a:ext cx="381000" cy="381000"/>
          </a:xfrm>
          <a:prstGeom prst="roundRect">
            <a:avLst>
              <a:gd name="adj" fmla="val 16667"/>
            </a:avLst>
          </a:prstGeom>
          <a:solidFill>
            <a:srgbClr val="6EBB1F"/>
          </a:solidFill>
          <a:ln w="9525">
            <a:solidFill>
              <a:srgbClr val="4D4D4D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VM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9" name="AutoShape 35"/>
          <p:cNvSpPr>
            <a:spLocks noChangeArrowheads="1"/>
          </p:cNvSpPr>
          <p:nvPr/>
        </p:nvSpPr>
        <p:spPr bwMode="auto">
          <a:xfrm>
            <a:off x="6477000" y="4793196"/>
            <a:ext cx="685800" cy="304800"/>
          </a:xfrm>
          <a:prstGeom prst="roundRect">
            <a:avLst>
              <a:gd name="adj" fmla="val 16667"/>
            </a:avLst>
          </a:prstGeom>
          <a:solidFill>
            <a:srgbClr val="6EBB1F"/>
          </a:solidFill>
          <a:ln w="9525">
            <a:solidFill>
              <a:srgbClr val="4D4D4D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VLAN</a:t>
            </a:r>
          </a:p>
        </p:txBody>
      </p:sp>
      <p:sp>
        <p:nvSpPr>
          <p:cNvPr id="150" name="Line 36"/>
          <p:cNvSpPr>
            <a:spLocks noChangeShapeType="1"/>
          </p:cNvSpPr>
          <p:nvPr/>
        </p:nvSpPr>
        <p:spPr bwMode="auto">
          <a:xfrm>
            <a:off x="2819400" y="4869396"/>
            <a:ext cx="1600200" cy="228600"/>
          </a:xfrm>
          <a:prstGeom prst="line">
            <a:avLst/>
          </a:prstGeom>
          <a:noFill/>
          <a:ln w="76200">
            <a:solidFill>
              <a:srgbClr val="6EBB1F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1" name="AutoShape 37"/>
          <p:cNvSpPr>
            <a:spLocks noChangeArrowheads="1"/>
          </p:cNvSpPr>
          <p:nvPr/>
        </p:nvSpPr>
        <p:spPr bwMode="auto">
          <a:xfrm>
            <a:off x="3276600" y="4793196"/>
            <a:ext cx="685800" cy="304800"/>
          </a:xfrm>
          <a:prstGeom prst="roundRect">
            <a:avLst>
              <a:gd name="adj" fmla="val 16667"/>
            </a:avLst>
          </a:prstGeom>
          <a:solidFill>
            <a:srgbClr val="6EBB1F"/>
          </a:solidFill>
          <a:ln w="9525">
            <a:solidFill>
              <a:srgbClr val="4D4D4D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VPN</a:t>
            </a:r>
          </a:p>
        </p:txBody>
      </p:sp>
      <p:grpSp>
        <p:nvGrpSpPr>
          <p:cNvPr id="152" name="Group 38"/>
          <p:cNvGrpSpPr>
            <a:grpSpLocks/>
          </p:cNvGrpSpPr>
          <p:nvPr/>
        </p:nvGrpSpPr>
        <p:grpSpPr bwMode="auto">
          <a:xfrm>
            <a:off x="7391400" y="5250396"/>
            <a:ext cx="1371600" cy="533400"/>
            <a:chOff x="4752" y="1152"/>
            <a:chExt cx="864" cy="336"/>
          </a:xfrm>
        </p:grpSpPr>
        <p:sp>
          <p:nvSpPr>
            <p:cNvPr id="153" name="Rectangle 39"/>
            <p:cNvSpPr>
              <a:spLocks noChangeArrowheads="1"/>
            </p:cNvSpPr>
            <p:nvPr/>
          </p:nvSpPr>
          <p:spPr bwMode="auto">
            <a:xfrm>
              <a:off x="4752" y="1152"/>
              <a:ext cx="864" cy="336"/>
            </a:xfrm>
            <a:prstGeom prst="rect">
              <a:avLst/>
            </a:prstGeom>
            <a:solidFill>
              <a:srgbClr val="CDD8DD"/>
            </a:solidFill>
            <a:ln w="9525">
              <a:solidFill>
                <a:srgbClr val="4D4D4D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54" name="Group 40"/>
            <p:cNvGrpSpPr>
              <a:grpSpLocks/>
            </p:cNvGrpSpPr>
            <p:nvPr/>
          </p:nvGrpSpPr>
          <p:grpSpPr bwMode="auto">
            <a:xfrm>
              <a:off x="5472" y="1248"/>
              <a:ext cx="96" cy="144"/>
              <a:chOff x="5472" y="1632"/>
              <a:chExt cx="96" cy="144"/>
            </a:xfrm>
          </p:grpSpPr>
          <p:sp>
            <p:nvSpPr>
              <p:cNvPr id="155" name="Line 41"/>
              <p:cNvSpPr>
                <a:spLocks noChangeShapeType="1"/>
              </p:cNvSpPr>
              <p:nvPr/>
            </p:nvSpPr>
            <p:spPr bwMode="auto">
              <a:xfrm>
                <a:off x="5472" y="1632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6" name="Line 42"/>
              <p:cNvSpPr>
                <a:spLocks noChangeShapeType="1"/>
              </p:cNvSpPr>
              <p:nvPr/>
            </p:nvSpPr>
            <p:spPr bwMode="auto">
              <a:xfrm>
                <a:off x="5472" y="1680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" name="Line 43"/>
              <p:cNvSpPr>
                <a:spLocks noChangeShapeType="1"/>
              </p:cNvSpPr>
              <p:nvPr/>
            </p:nvSpPr>
            <p:spPr bwMode="auto">
              <a:xfrm>
                <a:off x="5472" y="1728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" name="Line 44"/>
              <p:cNvSpPr>
                <a:spLocks noChangeShapeType="1"/>
              </p:cNvSpPr>
              <p:nvPr/>
            </p:nvSpPr>
            <p:spPr bwMode="auto">
              <a:xfrm>
                <a:off x="5472" y="1776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159" name="AutoShape 45"/>
          <p:cNvSpPr>
            <a:spLocks noChangeArrowheads="1"/>
          </p:cNvSpPr>
          <p:nvPr/>
        </p:nvSpPr>
        <p:spPr bwMode="auto">
          <a:xfrm>
            <a:off x="7543800" y="5326596"/>
            <a:ext cx="381000" cy="381000"/>
          </a:xfrm>
          <a:prstGeom prst="roundRect">
            <a:avLst>
              <a:gd name="adj" fmla="val 16667"/>
            </a:avLst>
          </a:prstGeom>
          <a:solidFill>
            <a:srgbClr val="FF7200"/>
          </a:solidFill>
          <a:ln w="9525">
            <a:solidFill>
              <a:srgbClr val="4D4D4D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VM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0" name="AutoShape 46"/>
          <p:cNvSpPr>
            <a:spLocks noChangeArrowheads="1"/>
          </p:cNvSpPr>
          <p:nvPr/>
        </p:nvSpPr>
        <p:spPr bwMode="auto">
          <a:xfrm>
            <a:off x="8001000" y="5326596"/>
            <a:ext cx="381000" cy="381000"/>
          </a:xfrm>
          <a:prstGeom prst="roundRect">
            <a:avLst>
              <a:gd name="adj" fmla="val 16667"/>
            </a:avLst>
          </a:prstGeom>
          <a:solidFill>
            <a:srgbClr val="FF7200"/>
          </a:solidFill>
          <a:ln w="9525">
            <a:solidFill>
              <a:srgbClr val="4D4D4D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VM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61" name="Picture 48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6000" y="5326596"/>
            <a:ext cx="754063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2" name="Picture 49"/>
          <p:cNvPicPr>
            <a:picLocks noChangeArrowheads="1"/>
          </p:cNvPicPr>
          <p:nvPr/>
        </p:nvPicPr>
        <p:blipFill>
          <a:blip r:embed="rId5">
            <a:grayscl/>
          </a:blip>
          <a:srcRect/>
          <a:stretch>
            <a:fillRect/>
          </a:stretch>
        </p:blipFill>
        <p:spPr bwMode="auto">
          <a:xfrm>
            <a:off x="1143000" y="5326596"/>
            <a:ext cx="754063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63" name="AutoShape 50"/>
          <p:cNvCxnSpPr>
            <a:cxnSpLocks noChangeShapeType="1"/>
          </p:cNvCxnSpPr>
          <p:nvPr/>
        </p:nvCxnSpPr>
        <p:spPr bwMode="auto">
          <a:xfrm>
            <a:off x="1897063" y="5548846"/>
            <a:ext cx="388937" cy="0"/>
          </a:xfrm>
          <a:prstGeom prst="straightConnector1">
            <a:avLst/>
          </a:prstGeom>
          <a:noFill/>
          <a:ln w="50800">
            <a:solidFill>
              <a:srgbClr val="FF7200"/>
            </a:solidFill>
            <a:round/>
            <a:headEnd/>
            <a:tailEnd/>
          </a:ln>
        </p:spPr>
      </p:cxnSp>
      <p:grpSp>
        <p:nvGrpSpPr>
          <p:cNvPr id="164" name="Group 51"/>
          <p:cNvGrpSpPr>
            <a:grpSpLocks/>
          </p:cNvGrpSpPr>
          <p:nvPr/>
        </p:nvGrpSpPr>
        <p:grpSpPr bwMode="auto">
          <a:xfrm>
            <a:off x="228600" y="5097996"/>
            <a:ext cx="838200" cy="762000"/>
            <a:chOff x="672" y="2736"/>
            <a:chExt cx="528" cy="480"/>
          </a:xfrm>
        </p:grpSpPr>
        <p:sp>
          <p:nvSpPr>
            <p:cNvPr id="165" name="Oval 52"/>
            <p:cNvSpPr>
              <a:spLocks noChangeArrowheads="1"/>
            </p:cNvSpPr>
            <p:nvPr/>
          </p:nvSpPr>
          <p:spPr bwMode="auto">
            <a:xfrm>
              <a:off x="672" y="3072"/>
              <a:ext cx="528" cy="144"/>
            </a:xfrm>
            <a:prstGeom prst="ellipse">
              <a:avLst/>
            </a:prstGeom>
            <a:solidFill>
              <a:srgbClr val="FF7200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66" name="Picture 217" descr="ICON_People_Orange_Q408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720" y="2736"/>
              <a:ext cx="430" cy="4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167" name="AutoShape 54"/>
          <p:cNvCxnSpPr>
            <a:cxnSpLocks noChangeShapeType="1"/>
          </p:cNvCxnSpPr>
          <p:nvPr/>
        </p:nvCxnSpPr>
        <p:spPr bwMode="auto">
          <a:xfrm flipV="1">
            <a:off x="6248400" y="5517096"/>
            <a:ext cx="1143000" cy="19050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rgbClr val="FF7200"/>
            </a:solidFill>
            <a:miter lim="800000"/>
            <a:headEnd/>
            <a:tailEnd/>
          </a:ln>
        </p:spPr>
      </p:cxnSp>
      <p:cxnSp>
        <p:nvCxnSpPr>
          <p:cNvPr id="168" name="AutoShape 56"/>
          <p:cNvCxnSpPr>
            <a:cxnSpLocks noChangeShapeType="1"/>
          </p:cNvCxnSpPr>
          <p:nvPr/>
        </p:nvCxnSpPr>
        <p:spPr bwMode="auto">
          <a:xfrm rot="10800000">
            <a:off x="5021263" y="5167846"/>
            <a:ext cx="473075" cy="368300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rgbClr val="FF7200"/>
            </a:solidFill>
            <a:miter lim="800000"/>
            <a:headEnd/>
            <a:tailEnd/>
          </a:ln>
        </p:spPr>
      </p:cxnSp>
      <p:sp>
        <p:nvSpPr>
          <p:cNvPr id="169" name="Line 58"/>
          <p:cNvSpPr>
            <a:spLocks noChangeShapeType="1"/>
          </p:cNvSpPr>
          <p:nvPr/>
        </p:nvSpPr>
        <p:spPr bwMode="auto">
          <a:xfrm flipV="1">
            <a:off x="2895600" y="5326596"/>
            <a:ext cx="1600200" cy="228600"/>
          </a:xfrm>
          <a:prstGeom prst="line">
            <a:avLst/>
          </a:prstGeom>
          <a:noFill/>
          <a:ln w="76200">
            <a:solidFill>
              <a:srgbClr val="FF720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0" name="AutoShape 57"/>
          <p:cNvSpPr>
            <a:spLocks noChangeArrowheads="1"/>
          </p:cNvSpPr>
          <p:nvPr/>
        </p:nvSpPr>
        <p:spPr bwMode="auto">
          <a:xfrm>
            <a:off x="3352800" y="5250396"/>
            <a:ext cx="685800" cy="304800"/>
          </a:xfrm>
          <a:prstGeom prst="roundRect">
            <a:avLst>
              <a:gd name="adj" fmla="val 16667"/>
            </a:avLst>
          </a:prstGeom>
          <a:solidFill>
            <a:srgbClr val="FF7200"/>
          </a:solidFill>
          <a:ln w="9525">
            <a:solidFill>
              <a:srgbClr val="4D4D4D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VPN</a:t>
            </a:r>
          </a:p>
        </p:txBody>
      </p:sp>
      <p:sp>
        <p:nvSpPr>
          <p:cNvPr id="171" name="AutoShape 59"/>
          <p:cNvSpPr>
            <a:spLocks noChangeArrowheads="1"/>
          </p:cNvSpPr>
          <p:nvPr/>
        </p:nvSpPr>
        <p:spPr bwMode="auto">
          <a:xfrm>
            <a:off x="6477000" y="5326596"/>
            <a:ext cx="685800" cy="304800"/>
          </a:xfrm>
          <a:prstGeom prst="roundRect">
            <a:avLst>
              <a:gd name="adj" fmla="val 16667"/>
            </a:avLst>
          </a:prstGeom>
          <a:solidFill>
            <a:srgbClr val="FF7200"/>
          </a:solidFill>
          <a:ln w="9525">
            <a:solidFill>
              <a:srgbClr val="4D4D4D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VLAN</a:t>
            </a:r>
          </a:p>
        </p:txBody>
      </p:sp>
      <p:grpSp>
        <p:nvGrpSpPr>
          <p:cNvPr id="172" name="Group 66"/>
          <p:cNvGrpSpPr>
            <a:grpSpLocks/>
          </p:cNvGrpSpPr>
          <p:nvPr/>
        </p:nvGrpSpPr>
        <p:grpSpPr bwMode="auto">
          <a:xfrm>
            <a:off x="6219538" y="3395082"/>
            <a:ext cx="2466975" cy="444500"/>
            <a:chOff x="4065" y="1968"/>
            <a:chExt cx="1554" cy="280"/>
          </a:xfrm>
        </p:grpSpPr>
        <p:sp>
          <p:nvSpPr>
            <p:cNvPr id="173" name="Text Box 60"/>
            <p:cNvSpPr txBox="1">
              <a:spLocks noChangeArrowheads="1"/>
            </p:cNvSpPr>
            <p:nvPr/>
          </p:nvSpPr>
          <p:spPr bwMode="auto">
            <a:xfrm>
              <a:off x="4600" y="1995"/>
              <a:ext cx="101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Provider Edge</a:t>
              </a:r>
            </a:p>
          </p:txBody>
        </p:sp>
        <p:pic>
          <p:nvPicPr>
            <p:cNvPr id="174" name="Picture 61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065" y="1968"/>
              <a:ext cx="475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75" name="Group 65"/>
          <p:cNvGrpSpPr>
            <a:grpSpLocks/>
          </p:cNvGrpSpPr>
          <p:nvPr/>
        </p:nvGrpSpPr>
        <p:grpSpPr bwMode="auto">
          <a:xfrm>
            <a:off x="6219539" y="2856927"/>
            <a:ext cx="2617788" cy="449263"/>
            <a:chOff x="4065" y="2261"/>
            <a:chExt cx="1649" cy="283"/>
          </a:xfrm>
        </p:grpSpPr>
        <p:pic>
          <p:nvPicPr>
            <p:cNvPr id="176" name="Picture 62"/>
            <p:cNvPicPr>
              <a:picLocks noChangeArrowheads="1"/>
            </p:cNvPicPr>
            <p:nvPr/>
          </p:nvPicPr>
          <p:blipFill>
            <a:blip r:embed="rId5">
              <a:grayscl/>
            </a:blip>
            <a:srcRect/>
            <a:stretch>
              <a:fillRect/>
            </a:stretch>
          </p:blipFill>
          <p:spPr bwMode="auto">
            <a:xfrm>
              <a:off x="4065" y="2264"/>
              <a:ext cx="475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7" name="Text Box 63"/>
            <p:cNvSpPr txBox="1">
              <a:spLocks noChangeArrowheads="1"/>
            </p:cNvSpPr>
            <p:nvPr/>
          </p:nvSpPr>
          <p:spPr bwMode="auto">
            <a:xfrm>
              <a:off x="4605" y="2261"/>
              <a:ext cx="110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Customer Edge</a:t>
              </a:r>
            </a:p>
          </p:txBody>
        </p:sp>
      </p:grpSp>
      <p:sp>
        <p:nvSpPr>
          <p:cNvPr id="178" name="Text Box 64"/>
          <p:cNvSpPr txBox="1">
            <a:spLocks noChangeArrowheads="1"/>
          </p:cNvSpPr>
          <p:nvPr/>
        </p:nvSpPr>
        <p:spPr bwMode="auto">
          <a:xfrm>
            <a:off x="6143338" y="2441348"/>
            <a:ext cx="1073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Routers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9" name="Line 67"/>
          <p:cNvSpPr>
            <a:spLocks noChangeShapeType="1"/>
          </p:cNvSpPr>
          <p:nvPr/>
        </p:nvSpPr>
        <p:spPr bwMode="auto">
          <a:xfrm>
            <a:off x="4724400" y="4564596"/>
            <a:ext cx="1066800" cy="0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/>
      <p:bldP spid="123" grpId="0" animBg="1"/>
      <p:bldP spid="124" grpId="0" animBg="1"/>
      <p:bldP spid="125" grpId="0" animBg="1"/>
      <p:bldP spid="17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Manipulating VPN endpoints can be slow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Manipulating VPN endpoints can be slow</a:t>
            </a:r>
          </a:p>
          <a:p>
            <a:pPr lvl="1"/>
            <a:r>
              <a:t>Manual process, can take days... must reduce this to seconds</a:t>
            </a:r>
          </a:p>
          <a:p>
            <a:r>
              <a:t>CloudNet automates VPN endpoint reconfiguration</a:t>
            </a:r>
          </a:p>
          <a:p>
            <a:pPr lvl="2"/>
            <a:endParaRPr/>
          </a:p>
          <a:p>
            <a:pPr lvl="2"/>
            <a:endParaRPr/>
          </a:p>
          <a:p>
            <a:pPr lvl="4"/>
            <a:endParaRPr/>
          </a:p>
          <a:p>
            <a:pPr lvl="1"/>
            <a:endParaRPr/>
          </a:p>
          <a:p>
            <a:pPr lvl="1"/>
            <a:endParaRPr/>
          </a:p>
          <a:p>
            <a:pPr lvl="1"/>
            <a:endParaRPr/>
          </a:p>
          <a:p>
            <a:pPr lvl="1"/>
            <a:endParaRPr/>
          </a:p>
          <a:p>
            <a:r>
              <a:t>Centralized VPN Controller</a:t>
            </a:r>
          </a:p>
          <a:p>
            <a:pPr lvl="1"/>
            <a:r>
              <a:t>Acts as route reflector between sites</a:t>
            </a:r>
          </a:p>
          <a:p>
            <a:pPr lvl="1"/>
            <a:r>
              <a:t>Can adjust ruleset to modify VPN topology</a:t>
            </a:r>
          </a:p>
          <a:p>
            <a:pPr lvl="1"/>
            <a:r>
              <a:t>Route updates propagated via BGP</a:t>
            </a:r>
          </a:p>
        </p:txBody>
      </p:sp>
      <p:grpSp>
        <p:nvGrpSpPr>
          <p:cNvPr id="208" name="Group"/>
          <p:cNvGrpSpPr/>
          <p:nvPr/>
        </p:nvGrpSpPr>
        <p:grpSpPr>
          <a:xfrm>
            <a:off x="696516" y="2705695"/>
            <a:ext cx="7870404" cy="2232422"/>
            <a:chOff x="0" y="17195"/>
            <a:chExt cx="11193462" cy="3175000"/>
          </a:xfrm>
        </p:grpSpPr>
        <p:sp>
          <p:nvSpPr>
            <p:cNvPr id="180" name="Oval"/>
            <p:cNvSpPr/>
            <p:nvPr/>
          </p:nvSpPr>
          <p:spPr>
            <a:xfrm rot="21565693">
              <a:off x="219698" y="293001"/>
              <a:ext cx="1828801" cy="393701"/>
            </a:xfrm>
            <a:prstGeom prst="ellipse">
              <a:avLst/>
            </a:prstGeom>
            <a:solidFill>
              <a:srgbClr val="A8C6FE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181" name="Oval"/>
            <p:cNvSpPr/>
            <p:nvPr/>
          </p:nvSpPr>
          <p:spPr>
            <a:xfrm rot="21565693">
              <a:off x="8661400" y="715695"/>
              <a:ext cx="2247901" cy="584201"/>
            </a:xfrm>
            <a:prstGeom prst="ellipse">
              <a:avLst/>
            </a:prstGeom>
            <a:solidFill>
              <a:srgbClr val="A8C6FE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182" name="Oval"/>
            <p:cNvSpPr/>
            <p:nvPr/>
          </p:nvSpPr>
          <p:spPr>
            <a:xfrm>
              <a:off x="8661400" y="2607995"/>
              <a:ext cx="2247900" cy="584201"/>
            </a:xfrm>
            <a:prstGeom prst="ellipse">
              <a:avLst/>
            </a:prstGeom>
            <a:solidFill>
              <a:srgbClr val="FFA57D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183" name="Oval"/>
            <p:cNvSpPr/>
            <p:nvPr/>
          </p:nvSpPr>
          <p:spPr>
            <a:xfrm>
              <a:off x="0" y="1083995"/>
              <a:ext cx="1930400" cy="393701"/>
            </a:xfrm>
            <a:prstGeom prst="ellipse">
              <a:avLst/>
            </a:prstGeom>
            <a:solidFill>
              <a:srgbClr val="FFA57D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pic>
          <p:nvPicPr>
            <p:cNvPr id="184" name="ICON_Cloud_Q308.png" descr="ICON_Cloud_Q308.png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9500" y="477570"/>
              <a:ext cx="1854200" cy="8128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5" name="Line"/>
            <p:cNvSpPr/>
            <p:nvPr/>
          </p:nvSpPr>
          <p:spPr>
            <a:xfrm>
              <a:off x="3479800" y="927361"/>
              <a:ext cx="1693334" cy="1439335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86" name="Line"/>
            <p:cNvSpPr/>
            <p:nvPr/>
          </p:nvSpPr>
          <p:spPr>
            <a:xfrm flipH="1" flipV="1">
              <a:off x="6184900" y="2612201"/>
              <a:ext cx="2273300" cy="8495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187" name="Line"/>
            <p:cNvSpPr/>
            <p:nvPr/>
          </p:nvSpPr>
          <p:spPr>
            <a:xfrm flipH="1">
              <a:off x="6053666" y="842695"/>
              <a:ext cx="2370667" cy="1642535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pic>
          <p:nvPicPr>
            <p:cNvPr id="188" name="cisco-router-icon.jpg" descr="cisco-router-icon.jpg"/>
            <p:cNvPicPr>
              <a:picLocks noChangeAspect="1"/>
            </p:cNvPicPr>
            <p:nvPr/>
          </p:nvPicPr>
          <p:blipFill>
            <a:blip r:embed="rId4"/>
            <a:srcRect l="9443" t="14178" r="11798" b="14630"/>
            <a:stretch>
              <a:fillRect/>
            </a:stretch>
          </p:blipFill>
          <p:spPr>
            <a:xfrm>
              <a:off x="8089988" y="182165"/>
              <a:ext cx="1212867" cy="9146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83" extrusionOk="0">
                  <a:moveTo>
                    <a:pt x="10863" y="0"/>
                  </a:moveTo>
                  <a:cubicBezTo>
                    <a:pt x="9547" y="-1"/>
                    <a:pt x="8162" y="50"/>
                    <a:pt x="7785" y="112"/>
                  </a:cubicBezTo>
                  <a:cubicBezTo>
                    <a:pt x="4065" y="722"/>
                    <a:pt x="1037" y="2612"/>
                    <a:pt x="195" y="4850"/>
                  </a:cubicBezTo>
                  <a:cubicBezTo>
                    <a:pt x="17" y="5321"/>
                    <a:pt x="15" y="5385"/>
                    <a:pt x="4" y="10778"/>
                  </a:cubicBezTo>
                  <a:cubicBezTo>
                    <a:pt x="-7" y="16170"/>
                    <a:pt x="-8" y="16238"/>
                    <a:pt x="166" y="16715"/>
                  </a:cubicBezTo>
                  <a:cubicBezTo>
                    <a:pt x="385" y="17315"/>
                    <a:pt x="939" y="18141"/>
                    <a:pt x="1465" y="18654"/>
                  </a:cubicBezTo>
                  <a:cubicBezTo>
                    <a:pt x="2729" y="19884"/>
                    <a:pt x="4906" y="20914"/>
                    <a:pt x="7262" y="21397"/>
                  </a:cubicBezTo>
                  <a:cubicBezTo>
                    <a:pt x="8094" y="21568"/>
                    <a:pt x="8640" y="21599"/>
                    <a:pt x="11033" y="21575"/>
                  </a:cubicBezTo>
                  <a:cubicBezTo>
                    <a:pt x="13541" y="21551"/>
                    <a:pt x="13930" y="21515"/>
                    <a:pt x="14838" y="21294"/>
                  </a:cubicBezTo>
                  <a:cubicBezTo>
                    <a:pt x="18124" y="20497"/>
                    <a:pt x="20634" y="18758"/>
                    <a:pt x="21383" y="16753"/>
                  </a:cubicBezTo>
                  <a:cubicBezTo>
                    <a:pt x="21564" y="16269"/>
                    <a:pt x="21568" y="16223"/>
                    <a:pt x="21574" y="11387"/>
                  </a:cubicBezTo>
                  <a:cubicBezTo>
                    <a:pt x="21582" y="5155"/>
                    <a:pt x="21592" y="5408"/>
                    <a:pt x="21398" y="4869"/>
                  </a:cubicBezTo>
                  <a:cubicBezTo>
                    <a:pt x="20625" y="2730"/>
                    <a:pt x="17915" y="958"/>
                    <a:pt x="14288" y="215"/>
                  </a:cubicBezTo>
                  <a:cubicBezTo>
                    <a:pt x="13439" y="41"/>
                    <a:pt x="12834" y="1"/>
                    <a:pt x="10863" y="0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pic>
          <p:nvPicPr>
            <p:cNvPr id="189" name="cisco-router-icon.jpg" descr="cisco-router-icon.jpg"/>
            <p:cNvPicPr>
              <a:picLocks noChangeAspect="1"/>
            </p:cNvPicPr>
            <p:nvPr/>
          </p:nvPicPr>
          <p:blipFill>
            <a:blip r:embed="rId4"/>
            <a:srcRect l="9443" t="14178" r="11798" b="14630"/>
            <a:stretch>
              <a:fillRect/>
            </a:stretch>
          </p:blipFill>
          <p:spPr>
            <a:xfrm>
              <a:off x="8089988" y="2036365"/>
              <a:ext cx="1212867" cy="9146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83" extrusionOk="0">
                  <a:moveTo>
                    <a:pt x="10863" y="0"/>
                  </a:moveTo>
                  <a:cubicBezTo>
                    <a:pt x="9547" y="-1"/>
                    <a:pt x="8162" y="50"/>
                    <a:pt x="7785" y="112"/>
                  </a:cubicBezTo>
                  <a:cubicBezTo>
                    <a:pt x="4065" y="722"/>
                    <a:pt x="1037" y="2612"/>
                    <a:pt x="195" y="4850"/>
                  </a:cubicBezTo>
                  <a:cubicBezTo>
                    <a:pt x="17" y="5321"/>
                    <a:pt x="15" y="5385"/>
                    <a:pt x="4" y="10778"/>
                  </a:cubicBezTo>
                  <a:cubicBezTo>
                    <a:pt x="-7" y="16170"/>
                    <a:pt x="-8" y="16238"/>
                    <a:pt x="166" y="16715"/>
                  </a:cubicBezTo>
                  <a:cubicBezTo>
                    <a:pt x="385" y="17315"/>
                    <a:pt x="939" y="18141"/>
                    <a:pt x="1465" y="18654"/>
                  </a:cubicBezTo>
                  <a:cubicBezTo>
                    <a:pt x="2729" y="19884"/>
                    <a:pt x="4906" y="20914"/>
                    <a:pt x="7262" y="21397"/>
                  </a:cubicBezTo>
                  <a:cubicBezTo>
                    <a:pt x="8094" y="21568"/>
                    <a:pt x="8640" y="21599"/>
                    <a:pt x="11033" y="21575"/>
                  </a:cubicBezTo>
                  <a:cubicBezTo>
                    <a:pt x="13541" y="21551"/>
                    <a:pt x="13930" y="21515"/>
                    <a:pt x="14838" y="21294"/>
                  </a:cubicBezTo>
                  <a:cubicBezTo>
                    <a:pt x="18124" y="20497"/>
                    <a:pt x="20634" y="18758"/>
                    <a:pt x="21383" y="16753"/>
                  </a:cubicBezTo>
                  <a:cubicBezTo>
                    <a:pt x="21564" y="16269"/>
                    <a:pt x="21568" y="16223"/>
                    <a:pt x="21574" y="11387"/>
                  </a:cubicBezTo>
                  <a:cubicBezTo>
                    <a:pt x="21582" y="5155"/>
                    <a:pt x="21592" y="5408"/>
                    <a:pt x="21398" y="4869"/>
                  </a:cubicBezTo>
                  <a:cubicBezTo>
                    <a:pt x="20625" y="2730"/>
                    <a:pt x="17915" y="958"/>
                    <a:pt x="14288" y="215"/>
                  </a:cubicBezTo>
                  <a:cubicBezTo>
                    <a:pt x="13439" y="41"/>
                    <a:pt x="12834" y="1"/>
                    <a:pt x="10863" y="0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grpSp>
          <p:nvGrpSpPr>
            <p:cNvPr id="193" name="Group"/>
            <p:cNvGrpSpPr/>
            <p:nvPr/>
          </p:nvGrpSpPr>
          <p:grpSpPr>
            <a:xfrm>
              <a:off x="558800" y="791895"/>
              <a:ext cx="687407" cy="584277"/>
              <a:chOff x="0" y="0"/>
              <a:chExt cx="687406" cy="584276"/>
            </a:xfrm>
          </p:grpSpPr>
          <p:sp>
            <p:nvSpPr>
              <p:cNvPr id="190" name="Rounded Rectangle"/>
              <p:cNvSpPr/>
              <p:nvPr/>
            </p:nvSpPr>
            <p:spPr>
              <a:xfrm>
                <a:off x="194765" y="0"/>
                <a:ext cx="492642" cy="389010"/>
              </a:xfrm>
              <a:prstGeom prst="roundRect">
                <a:avLst>
                  <a:gd name="adj" fmla="val 13059"/>
                </a:avLst>
              </a:prstGeom>
              <a:solidFill>
                <a:srgbClr val="FF4013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91" name="Rounded Rectangle"/>
              <p:cNvSpPr/>
              <p:nvPr/>
            </p:nvSpPr>
            <p:spPr>
              <a:xfrm>
                <a:off x="91654" y="97633"/>
                <a:ext cx="492642" cy="389010"/>
              </a:xfrm>
              <a:prstGeom prst="roundRect">
                <a:avLst>
                  <a:gd name="adj" fmla="val 13059"/>
                </a:avLst>
              </a:prstGeom>
              <a:solidFill>
                <a:srgbClr val="FF4013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92" name="Rounded Rectangle"/>
              <p:cNvSpPr/>
              <p:nvPr/>
            </p:nvSpPr>
            <p:spPr>
              <a:xfrm>
                <a:off x="0" y="195267"/>
                <a:ext cx="492641" cy="389010"/>
              </a:xfrm>
              <a:prstGeom prst="roundRect">
                <a:avLst>
                  <a:gd name="adj" fmla="val 13059"/>
                </a:avLst>
              </a:prstGeom>
              <a:solidFill>
                <a:srgbClr val="FF4013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</p:grpSp>
        <p:pic>
          <p:nvPicPr>
            <p:cNvPr id="194" name="ICON_Building_Q308.png" descr="ICON_Building_Q308.png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75862" y="17195"/>
              <a:ext cx="1117601" cy="1295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5" name="cisco-router-icon.jpg" descr="cisco-router-icon.jpg"/>
            <p:cNvPicPr>
              <a:picLocks noChangeAspect="1"/>
            </p:cNvPicPr>
            <p:nvPr/>
          </p:nvPicPr>
          <p:blipFill>
            <a:blip r:embed="rId4"/>
            <a:srcRect l="9443" t="14178" r="11798" b="14630"/>
            <a:stretch>
              <a:fillRect/>
            </a:stretch>
          </p:blipFill>
          <p:spPr>
            <a:xfrm>
              <a:off x="2694748" y="204870"/>
              <a:ext cx="1212868" cy="9146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83" extrusionOk="0">
                  <a:moveTo>
                    <a:pt x="10863" y="0"/>
                  </a:moveTo>
                  <a:cubicBezTo>
                    <a:pt x="9547" y="-1"/>
                    <a:pt x="8162" y="50"/>
                    <a:pt x="7785" y="112"/>
                  </a:cubicBezTo>
                  <a:cubicBezTo>
                    <a:pt x="4065" y="722"/>
                    <a:pt x="1037" y="2612"/>
                    <a:pt x="195" y="4850"/>
                  </a:cubicBezTo>
                  <a:cubicBezTo>
                    <a:pt x="17" y="5321"/>
                    <a:pt x="15" y="5385"/>
                    <a:pt x="4" y="10778"/>
                  </a:cubicBezTo>
                  <a:cubicBezTo>
                    <a:pt x="-7" y="16170"/>
                    <a:pt x="-8" y="16238"/>
                    <a:pt x="166" y="16715"/>
                  </a:cubicBezTo>
                  <a:cubicBezTo>
                    <a:pt x="385" y="17315"/>
                    <a:pt x="939" y="18141"/>
                    <a:pt x="1465" y="18654"/>
                  </a:cubicBezTo>
                  <a:cubicBezTo>
                    <a:pt x="2729" y="19884"/>
                    <a:pt x="4906" y="20914"/>
                    <a:pt x="7262" y="21397"/>
                  </a:cubicBezTo>
                  <a:cubicBezTo>
                    <a:pt x="8094" y="21568"/>
                    <a:pt x="8640" y="21599"/>
                    <a:pt x="11033" y="21575"/>
                  </a:cubicBezTo>
                  <a:cubicBezTo>
                    <a:pt x="13541" y="21551"/>
                    <a:pt x="13930" y="21515"/>
                    <a:pt x="14838" y="21294"/>
                  </a:cubicBezTo>
                  <a:cubicBezTo>
                    <a:pt x="18124" y="20497"/>
                    <a:pt x="20634" y="18758"/>
                    <a:pt x="21383" y="16753"/>
                  </a:cubicBezTo>
                  <a:cubicBezTo>
                    <a:pt x="21564" y="16269"/>
                    <a:pt x="21568" y="16223"/>
                    <a:pt x="21574" y="11387"/>
                  </a:cubicBezTo>
                  <a:cubicBezTo>
                    <a:pt x="21582" y="5155"/>
                    <a:pt x="21592" y="5408"/>
                    <a:pt x="21398" y="4869"/>
                  </a:cubicBezTo>
                  <a:cubicBezTo>
                    <a:pt x="20625" y="2730"/>
                    <a:pt x="17915" y="958"/>
                    <a:pt x="14288" y="215"/>
                  </a:cubicBezTo>
                  <a:cubicBezTo>
                    <a:pt x="13439" y="41"/>
                    <a:pt x="12834" y="1"/>
                    <a:pt x="10863" y="0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pic>
          <p:nvPicPr>
            <p:cNvPr id="196" name="ICON_Building_Q308.png" descr="ICON_Building_Q308.png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71100" y="1782495"/>
              <a:ext cx="1117600" cy="1295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97" name="Rounded Rectangle"/>
            <p:cNvSpPr/>
            <p:nvPr/>
          </p:nvSpPr>
          <p:spPr>
            <a:xfrm>
              <a:off x="9580065" y="2353995"/>
              <a:ext cx="492642" cy="389010"/>
            </a:xfrm>
            <a:prstGeom prst="roundRect">
              <a:avLst>
                <a:gd name="adj" fmla="val 13059"/>
              </a:avLst>
            </a:prstGeom>
            <a:solidFill>
              <a:srgbClr val="FF4013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198" name="Rounded Rectangle"/>
            <p:cNvSpPr/>
            <p:nvPr/>
          </p:nvSpPr>
          <p:spPr>
            <a:xfrm>
              <a:off x="9476954" y="2451629"/>
              <a:ext cx="492642" cy="389010"/>
            </a:xfrm>
            <a:prstGeom prst="roundRect">
              <a:avLst>
                <a:gd name="adj" fmla="val 13059"/>
              </a:avLst>
            </a:prstGeom>
            <a:solidFill>
              <a:srgbClr val="FF4013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199" name="Rounded Rectangle"/>
            <p:cNvSpPr/>
            <p:nvPr/>
          </p:nvSpPr>
          <p:spPr>
            <a:xfrm>
              <a:off x="9643565" y="461695"/>
              <a:ext cx="492642" cy="389010"/>
            </a:xfrm>
            <a:prstGeom prst="roundRect">
              <a:avLst>
                <a:gd name="adj" fmla="val 13059"/>
              </a:avLst>
            </a:prstGeom>
            <a:solidFill>
              <a:srgbClr val="3A88FE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200" name="Rounded Rectangle"/>
            <p:cNvSpPr/>
            <p:nvPr/>
          </p:nvSpPr>
          <p:spPr>
            <a:xfrm>
              <a:off x="9540454" y="559329"/>
              <a:ext cx="492642" cy="389010"/>
            </a:xfrm>
            <a:prstGeom prst="roundRect">
              <a:avLst>
                <a:gd name="adj" fmla="val 13059"/>
              </a:avLst>
            </a:prstGeom>
            <a:solidFill>
              <a:srgbClr val="3A88FE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201" name="Rounded Rectangle"/>
            <p:cNvSpPr/>
            <p:nvPr/>
          </p:nvSpPr>
          <p:spPr>
            <a:xfrm>
              <a:off x="9448800" y="656962"/>
              <a:ext cx="492641" cy="389010"/>
            </a:xfrm>
            <a:prstGeom prst="roundRect">
              <a:avLst>
                <a:gd name="adj" fmla="val 13059"/>
              </a:avLst>
            </a:prstGeom>
            <a:solidFill>
              <a:srgbClr val="3A88FE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202" name="Rounded Rectangle"/>
            <p:cNvSpPr/>
            <p:nvPr/>
          </p:nvSpPr>
          <p:spPr>
            <a:xfrm>
              <a:off x="939800" y="17195"/>
              <a:ext cx="492641" cy="389010"/>
            </a:xfrm>
            <a:prstGeom prst="roundRect">
              <a:avLst>
                <a:gd name="adj" fmla="val 13059"/>
              </a:avLst>
            </a:prstGeom>
            <a:solidFill>
              <a:srgbClr val="3A88FE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203" name="Rounded Rectangle"/>
            <p:cNvSpPr/>
            <p:nvPr/>
          </p:nvSpPr>
          <p:spPr>
            <a:xfrm>
              <a:off x="838200" y="118795"/>
              <a:ext cx="492641" cy="389010"/>
            </a:xfrm>
            <a:prstGeom prst="roundRect">
              <a:avLst>
                <a:gd name="adj" fmla="val 13059"/>
              </a:avLst>
            </a:prstGeom>
            <a:solidFill>
              <a:srgbClr val="3A88FE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204" name="Rounded Rectangle"/>
            <p:cNvSpPr/>
            <p:nvPr/>
          </p:nvSpPr>
          <p:spPr>
            <a:xfrm>
              <a:off x="749300" y="207695"/>
              <a:ext cx="492641" cy="389010"/>
            </a:xfrm>
            <a:prstGeom prst="roundRect">
              <a:avLst>
                <a:gd name="adj" fmla="val 13059"/>
              </a:avLst>
            </a:prstGeom>
            <a:solidFill>
              <a:srgbClr val="3A88FE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205" name="Line"/>
            <p:cNvSpPr/>
            <p:nvPr/>
          </p:nvSpPr>
          <p:spPr>
            <a:xfrm flipH="1">
              <a:off x="1485900" y="1096695"/>
              <a:ext cx="1807634" cy="228603"/>
            </a:xfrm>
            <a:prstGeom prst="line">
              <a:avLst/>
            </a:prstGeom>
            <a:noFill/>
            <a:ln w="76200" cap="flat">
              <a:solidFill>
                <a:srgbClr val="8311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206" name="Line"/>
            <p:cNvSpPr/>
            <p:nvPr/>
          </p:nvSpPr>
          <p:spPr>
            <a:xfrm flipH="1">
              <a:off x="1464733" y="402428"/>
              <a:ext cx="1913467" cy="67737"/>
            </a:xfrm>
            <a:prstGeom prst="line">
              <a:avLst/>
            </a:prstGeom>
            <a:noFill/>
            <a:ln w="76200" cap="flat">
              <a:solidFill>
                <a:srgbClr val="1A0A53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pic>
          <p:nvPicPr>
            <p:cNvPr id="207" name="cisco-router-icon.jpg" descr="cisco-router-icon.jpg"/>
            <p:cNvPicPr>
              <a:picLocks noChangeAspect="1"/>
            </p:cNvPicPr>
            <p:nvPr/>
          </p:nvPicPr>
          <p:blipFill>
            <a:blip r:embed="rId4"/>
            <a:srcRect l="9443" t="14178" r="11798" b="14630"/>
            <a:stretch>
              <a:fillRect/>
            </a:stretch>
          </p:blipFill>
          <p:spPr>
            <a:xfrm>
              <a:off x="5067388" y="2036365"/>
              <a:ext cx="1212867" cy="9146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83" extrusionOk="0">
                  <a:moveTo>
                    <a:pt x="10863" y="0"/>
                  </a:moveTo>
                  <a:cubicBezTo>
                    <a:pt x="9547" y="-1"/>
                    <a:pt x="8162" y="50"/>
                    <a:pt x="7785" y="112"/>
                  </a:cubicBezTo>
                  <a:cubicBezTo>
                    <a:pt x="4065" y="722"/>
                    <a:pt x="1037" y="2612"/>
                    <a:pt x="195" y="4850"/>
                  </a:cubicBezTo>
                  <a:cubicBezTo>
                    <a:pt x="17" y="5321"/>
                    <a:pt x="15" y="5385"/>
                    <a:pt x="4" y="10778"/>
                  </a:cubicBezTo>
                  <a:cubicBezTo>
                    <a:pt x="-7" y="16170"/>
                    <a:pt x="-8" y="16238"/>
                    <a:pt x="166" y="16715"/>
                  </a:cubicBezTo>
                  <a:cubicBezTo>
                    <a:pt x="385" y="17315"/>
                    <a:pt x="939" y="18141"/>
                    <a:pt x="1465" y="18654"/>
                  </a:cubicBezTo>
                  <a:cubicBezTo>
                    <a:pt x="2729" y="19884"/>
                    <a:pt x="4906" y="20914"/>
                    <a:pt x="7262" y="21397"/>
                  </a:cubicBezTo>
                  <a:cubicBezTo>
                    <a:pt x="8094" y="21568"/>
                    <a:pt x="8640" y="21599"/>
                    <a:pt x="11033" y="21575"/>
                  </a:cubicBezTo>
                  <a:cubicBezTo>
                    <a:pt x="13541" y="21551"/>
                    <a:pt x="13930" y="21515"/>
                    <a:pt x="14838" y="21294"/>
                  </a:cubicBezTo>
                  <a:cubicBezTo>
                    <a:pt x="18124" y="20497"/>
                    <a:pt x="20634" y="18758"/>
                    <a:pt x="21383" y="16753"/>
                  </a:cubicBezTo>
                  <a:cubicBezTo>
                    <a:pt x="21564" y="16269"/>
                    <a:pt x="21568" y="16223"/>
                    <a:pt x="21574" y="11387"/>
                  </a:cubicBezTo>
                  <a:cubicBezTo>
                    <a:pt x="21582" y="5155"/>
                    <a:pt x="21592" y="5408"/>
                    <a:pt x="21398" y="4869"/>
                  </a:cubicBezTo>
                  <a:cubicBezTo>
                    <a:pt x="20625" y="2730"/>
                    <a:pt x="17915" y="958"/>
                    <a:pt x="14288" y="215"/>
                  </a:cubicBezTo>
                  <a:cubicBezTo>
                    <a:pt x="13439" y="41"/>
                    <a:pt x="12834" y="1"/>
                    <a:pt x="10863" y="0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209" name="Dynamic VPN Endpoi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3600" dirty="0"/>
              <a:t>Dynamic VPN Endpoints</a:t>
            </a:r>
          </a:p>
        </p:txBody>
      </p:sp>
      <p:sp>
        <p:nvSpPr>
          <p:cNvPr id="2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10725" y="6560611"/>
            <a:ext cx="184346" cy="29738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 kern="0">
                <a:latin typeface="Gill Sans"/>
                <a:cs typeface="Gill Sans"/>
                <a:sym typeface="Gill Sans"/>
              </a:rPr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t>17</a:t>
            </a:fld>
            <a:endParaRPr kern="0" dirty="0">
              <a:latin typeface="Gill Sans"/>
              <a:cs typeface="Gill Sans"/>
              <a:sym typeface="Gill Sans"/>
            </a:endParaRPr>
          </a:p>
        </p:txBody>
      </p:sp>
      <p:grpSp>
        <p:nvGrpSpPr>
          <p:cNvPr id="214" name="Group"/>
          <p:cNvGrpSpPr/>
          <p:nvPr/>
        </p:nvGrpSpPr>
        <p:grpSpPr>
          <a:xfrm>
            <a:off x="2169914" y="4036127"/>
            <a:ext cx="2303860" cy="794835"/>
            <a:chOff x="0" y="182165"/>
            <a:chExt cx="3276600" cy="1130430"/>
          </a:xfrm>
        </p:grpSpPr>
        <p:sp>
          <p:nvSpPr>
            <p:cNvPr id="211" name="Line"/>
            <p:cNvSpPr/>
            <p:nvPr/>
          </p:nvSpPr>
          <p:spPr>
            <a:xfrm flipH="1">
              <a:off x="1316562" y="762289"/>
              <a:ext cx="1960038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pic>
          <p:nvPicPr>
            <p:cNvPr id="212" name="ICON_Cloud_Q308.png" descr="ICON_Cloud_Q308.png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99795"/>
              <a:ext cx="1854200" cy="8128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3" name="cisco-router-icon.jpg" descr="cisco-router-icon.jpg"/>
            <p:cNvPicPr>
              <a:picLocks noChangeAspect="1"/>
            </p:cNvPicPr>
            <p:nvPr/>
          </p:nvPicPr>
          <p:blipFill>
            <a:blip r:embed="rId4"/>
            <a:srcRect l="9443" t="14178" r="11798" b="14630"/>
            <a:stretch>
              <a:fillRect/>
            </a:stretch>
          </p:blipFill>
          <p:spPr>
            <a:xfrm>
              <a:off x="381088" y="182165"/>
              <a:ext cx="1212867" cy="9146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83" extrusionOk="0">
                  <a:moveTo>
                    <a:pt x="10863" y="0"/>
                  </a:moveTo>
                  <a:cubicBezTo>
                    <a:pt x="9547" y="-1"/>
                    <a:pt x="8162" y="50"/>
                    <a:pt x="7785" y="112"/>
                  </a:cubicBezTo>
                  <a:cubicBezTo>
                    <a:pt x="4065" y="722"/>
                    <a:pt x="1037" y="2612"/>
                    <a:pt x="195" y="4850"/>
                  </a:cubicBezTo>
                  <a:cubicBezTo>
                    <a:pt x="17" y="5321"/>
                    <a:pt x="15" y="5385"/>
                    <a:pt x="4" y="10778"/>
                  </a:cubicBezTo>
                  <a:cubicBezTo>
                    <a:pt x="-7" y="16170"/>
                    <a:pt x="-8" y="16238"/>
                    <a:pt x="166" y="16715"/>
                  </a:cubicBezTo>
                  <a:cubicBezTo>
                    <a:pt x="385" y="17315"/>
                    <a:pt x="939" y="18141"/>
                    <a:pt x="1465" y="18654"/>
                  </a:cubicBezTo>
                  <a:cubicBezTo>
                    <a:pt x="2729" y="19884"/>
                    <a:pt x="4906" y="20914"/>
                    <a:pt x="7262" y="21397"/>
                  </a:cubicBezTo>
                  <a:cubicBezTo>
                    <a:pt x="8094" y="21568"/>
                    <a:pt x="8640" y="21599"/>
                    <a:pt x="11033" y="21575"/>
                  </a:cubicBezTo>
                  <a:cubicBezTo>
                    <a:pt x="13541" y="21551"/>
                    <a:pt x="13930" y="21515"/>
                    <a:pt x="14838" y="21294"/>
                  </a:cubicBezTo>
                  <a:cubicBezTo>
                    <a:pt x="18124" y="20497"/>
                    <a:pt x="20634" y="18758"/>
                    <a:pt x="21383" y="16753"/>
                  </a:cubicBezTo>
                  <a:cubicBezTo>
                    <a:pt x="21564" y="16269"/>
                    <a:pt x="21568" y="16223"/>
                    <a:pt x="21574" y="11387"/>
                  </a:cubicBezTo>
                  <a:cubicBezTo>
                    <a:pt x="21582" y="5155"/>
                    <a:pt x="21592" y="5408"/>
                    <a:pt x="21398" y="4869"/>
                  </a:cubicBezTo>
                  <a:cubicBezTo>
                    <a:pt x="20625" y="2730"/>
                    <a:pt x="17915" y="958"/>
                    <a:pt x="14288" y="215"/>
                  </a:cubicBezTo>
                  <a:cubicBezTo>
                    <a:pt x="13439" y="41"/>
                    <a:pt x="12834" y="1"/>
                    <a:pt x="10863" y="0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grpSp>
        <p:nvGrpSpPr>
          <p:cNvPr id="219" name="Group"/>
          <p:cNvGrpSpPr/>
          <p:nvPr/>
        </p:nvGrpSpPr>
        <p:grpSpPr>
          <a:xfrm>
            <a:off x="580430" y="4295180"/>
            <a:ext cx="2553891" cy="437555"/>
            <a:chOff x="0" y="0"/>
            <a:chExt cx="3632200" cy="622300"/>
          </a:xfrm>
        </p:grpSpPr>
        <p:grpSp>
          <p:nvGrpSpPr>
            <p:cNvPr id="217" name="Group"/>
            <p:cNvGrpSpPr/>
            <p:nvPr/>
          </p:nvGrpSpPr>
          <p:grpSpPr>
            <a:xfrm>
              <a:off x="0" y="228600"/>
              <a:ext cx="3153834" cy="393700"/>
              <a:chOff x="0" y="0"/>
              <a:chExt cx="3153833" cy="393700"/>
            </a:xfrm>
          </p:grpSpPr>
          <p:sp>
            <p:nvSpPr>
              <p:cNvPr id="215" name="Oval"/>
              <p:cNvSpPr/>
              <p:nvPr/>
            </p:nvSpPr>
            <p:spPr>
              <a:xfrm>
                <a:off x="0" y="0"/>
                <a:ext cx="1930400" cy="393700"/>
              </a:xfrm>
              <a:prstGeom prst="ellipse">
                <a:avLst/>
              </a:prstGeom>
              <a:solidFill>
                <a:srgbClr val="FFA57D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16" name="Line"/>
              <p:cNvSpPr/>
              <p:nvPr/>
            </p:nvSpPr>
            <p:spPr>
              <a:xfrm flipH="1">
                <a:off x="1375833" y="97366"/>
                <a:ext cx="1778001" cy="50801"/>
              </a:xfrm>
              <a:prstGeom prst="line">
                <a:avLst/>
              </a:prstGeom>
              <a:noFill/>
              <a:ln w="76200" cap="flat">
                <a:solidFill>
                  <a:srgbClr val="8311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algn="l" defTabSz="321457" eaLnBrk="1" fontAlgn="auto">
                  <a:spcBef>
                    <a:spcPts val="0"/>
                  </a:spcBef>
                  <a:spcAft>
                    <a:spcPts val="0"/>
                  </a:spcAft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844" kern="0">
                  <a:solidFill>
                    <a:srgbClr val="000000"/>
                  </a:solidFill>
                  <a:latin typeface="Helvetica"/>
                  <a:sym typeface="Helvetica"/>
                </a:endParaRPr>
              </a:p>
            </p:txBody>
          </p:sp>
        </p:grpSp>
        <p:sp>
          <p:nvSpPr>
            <p:cNvPr id="218" name="Triangle"/>
            <p:cNvSpPr/>
            <p:nvPr/>
          </p:nvSpPr>
          <p:spPr>
            <a:xfrm>
              <a:off x="2971800" y="0"/>
              <a:ext cx="660401" cy="4445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BE38F3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232" name="Group"/>
          <p:cNvGrpSpPr/>
          <p:nvPr/>
        </p:nvGrpSpPr>
        <p:grpSpPr>
          <a:xfrm>
            <a:off x="2786062" y="2821781"/>
            <a:ext cx="4259461" cy="1785938"/>
            <a:chOff x="0" y="0"/>
            <a:chExt cx="6057900" cy="2540000"/>
          </a:xfrm>
        </p:grpSpPr>
        <p:sp>
          <p:nvSpPr>
            <p:cNvPr id="220" name="Triangle"/>
            <p:cNvSpPr/>
            <p:nvPr/>
          </p:nvSpPr>
          <p:spPr>
            <a:xfrm>
              <a:off x="0" y="609600"/>
              <a:ext cx="660400" cy="4445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96D35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221" name="Triangle"/>
            <p:cNvSpPr/>
            <p:nvPr/>
          </p:nvSpPr>
          <p:spPr>
            <a:xfrm>
              <a:off x="0" y="0"/>
              <a:ext cx="660400" cy="4445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FFFC41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222" name="Triangle"/>
            <p:cNvSpPr/>
            <p:nvPr/>
          </p:nvSpPr>
          <p:spPr>
            <a:xfrm>
              <a:off x="5397500" y="2095500"/>
              <a:ext cx="660400" cy="4445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E32400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 b="1"/>
              </a:pPr>
              <a:endParaRPr sz="2812" b="1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223" name="Triangle"/>
            <p:cNvSpPr/>
            <p:nvPr/>
          </p:nvSpPr>
          <p:spPr>
            <a:xfrm>
              <a:off x="5397500" y="292100"/>
              <a:ext cx="660400" cy="4445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0061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grpSp>
          <p:nvGrpSpPr>
            <p:cNvPr id="231" name="Group"/>
            <p:cNvGrpSpPr/>
            <p:nvPr/>
          </p:nvGrpSpPr>
          <p:grpSpPr>
            <a:xfrm>
              <a:off x="1498600" y="12700"/>
              <a:ext cx="2463800" cy="2087167"/>
              <a:chOff x="0" y="0"/>
              <a:chExt cx="2463800" cy="2087166"/>
            </a:xfrm>
          </p:grpSpPr>
          <p:sp>
            <p:nvSpPr>
              <p:cNvPr id="224" name="Callout"/>
              <p:cNvSpPr/>
              <p:nvPr/>
            </p:nvSpPr>
            <p:spPr>
              <a:xfrm>
                <a:off x="0" y="0"/>
                <a:ext cx="2463800" cy="20871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5" y="0"/>
                    </a:moveTo>
                    <a:cubicBezTo>
                      <a:pt x="481" y="0"/>
                      <a:pt x="0" y="567"/>
                      <a:pt x="0" y="1269"/>
                    </a:cubicBezTo>
                    <a:lnTo>
                      <a:pt x="0" y="13977"/>
                    </a:lnTo>
                    <a:cubicBezTo>
                      <a:pt x="0" y="14679"/>
                      <a:pt x="481" y="15246"/>
                      <a:pt x="1075" y="15246"/>
                    </a:cubicBezTo>
                    <a:lnTo>
                      <a:pt x="9203" y="15246"/>
                    </a:lnTo>
                    <a:lnTo>
                      <a:pt x="10316" y="21600"/>
                    </a:lnTo>
                    <a:lnTo>
                      <a:pt x="11433" y="15246"/>
                    </a:lnTo>
                    <a:lnTo>
                      <a:pt x="20525" y="15246"/>
                    </a:lnTo>
                    <a:cubicBezTo>
                      <a:pt x="21119" y="15246"/>
                      <a:pt x="21600" y="14679"/>
                      <a:pt x="21600" y="13977"/>
                    </a:cubicBezTo>
                    <a:lnTo>
                      <a:pt x="21600" y="1269"/>
                    </a:lnTo>
                    <a:cubicBezTo>
                      <a:pt x="21600" y="567"/>
                      <a:pt x="21119" y="0"/>
                      <a:pt x="20525" y="0"/>
                    </a:cubicBezTo>
                    <a:lnTo>
                      <a:pt x="1075" y="0"/>
                    </a:lnTo>
                    <a:close/>
                  </a:path>
                </a:pathLst>
              </a:custGeom>
              <a:solidFill>
                <a:srgbClr val="D4E3FE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25" name="Triangle"/>
              <p:cNvSpPr/>
              <p:nvPr/>
            </p:nvSpPr>
            <p:spPr>
              <a:xfrm>
                <a:off x="63500" y="177800"/>
                <a:ext cx="660401" cy="4445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FFFC41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26" name="Triangle"/>
              <p:cNvSpPr/>
              <p:nvPr/>
            </p:nvSpPr>
            <p:spPr>
              <a:xfrm>
                <a:off x="76200" y="850900"/>
                <a:ext cx="660401" cy="4445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96D35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27" name="Triangle"/>
              <p:cNvSpPr/>
              <p:nvPr/>
            </p:nvSpPr>
            <p:spPr>
              <a:xfrm>
                <a:off x="990600" y="177800"/>
                <a:ext cx="660401" cy="4445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0061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28" name="Triangle"/>
              <p:cNvSpPr/>
              <p:nvPr/>
            </p:nvSpPr>
            <p:spPr>
              <a:xfrm>
                <a:off x="901700" y="850900"/>
                <a:ext cx="660401" cy="4445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E32400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 b="1"/>
                </a:pPr>
                <a:endParaRPr sz="2812" b="1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29" name="+"/>
              <p:cNvSpPr/>
              <p:nvPr/>
            </p:nvSpPr>
            <p:spPr>
              <a:xfrm>
                <a:off x="662468" y="210"/>
                <a:ext cx="417209" cy="74887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35719" tIns="35719" rIns="35719" bIns="35719" numCol="1" anchor="ctr">
                <a:sp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sz="2953" kern="0">
                    <a:solidFill>
                      <a:srgbClr val="000000"/>
                    </a:solidFill>
                    <a:latin typeface="Gill Sans"/>
                    <a:cs typeface="Gill Sans"/>
                    <a:sym typeface="Gill Sans"/>
                  </a:rPr>
                  <a:t>+</a:t>
                </a:r>
              </a:p>
            </p:txBody>
          </p:sp>
          <p:sp>
            <p:nvSpPr>
              <p:cNvPr id="230" name="+"/>
              <p:cNvSpPr/>
              <p:nvPr/>
            </p:nvSpPr>
            <p:spPr>
              <a:xfrm>
                <a:off x="588494" y="584410"/>
                <a:ext cx="417209" cy="74887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35719" tIns="35719" rIns="35719" bIns="35719" numCol="1" anchor="ctr">
                <a:sp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sz="2953" kern="0">
                    <a:solidFill>
                      <a:srgbClr val="000000"/>
                    </a:solidFill>
                    <a:latin typeface="Gill Sans"/>
                    <a:cs typeface="Gill Sans"/>
                    <a:sym typeface="Gill Sans"/>
                  </a:rPr>
                  <a:t>+</a:t>
                </a:r>
              </a:p>
            </p:txBody>
          </p:sp>
        </p:grpSp>
      </p:grpSp>
      <p:sp>
        <p:nvSpPr>
          <p:cNvPr id="233" name="VPN Controller"/>
          <p:cNvSpPr/>
          <p:nvPr/>
        </p:nvSpPr>
        <p:spPr>
          <a:xfrm>
            <a:off x="3661172" y="2480551"/>
            <a:ext cx="2229778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>
              <a:spcBef>
                <a:spcPts val="800"/>
              </a:spcBef>
              <a:defRPr sz="3000" b="1"/>
            </a:lvl1pPr>
          </a:lstStyle>
          <a:p>
            <a:pPr defTabSz="410751" eaLnBrk="1" fontAlgn="auto">
              <a:spcBef>
                <a:spcPts val="562"/>
              </a:spcBef>
              <a:spcAft>
                <a:spcPts val="0"/>
              </a:spcAft>
            </a:pPr>
            <a:r>
              <a:rPr sz="2109" kern="0">
                <a:solidFill>
                  <a:srgbClr val="000000"/>
                </a:solidFill>
                <a:latin typeface="Gill Sans"/>
                <a:cs typeface="Gill Sans"/>
                <a:sym typeface="Gill Sans"/>
              </a:rPr>
              <a:t>VPN Controller</a:t>
            </a:r>
          </a:p>
        </p:txBody>
      </p:sp>
      <p:sp>
        <p:nvSpPr>
          <p:cNvPr id="234" name="Rounded Rectangle"/>
          <p:cNvSpPr/>
          <p:nvPr/>
        </p:nvSpPr>
        <p:spPr>
          <a:xfrm>
            <a:off x="7295555" y="4486055"/>
            <a:ext cx="346388" cy="273523"/>
          </a:xfrm>
          <a:prstGeom prst="roundRect">
            <a:avLst>
              <a:gd name="adj" fmla="val 13059"/>
            </a:avLst>
          </a:prstGeom>
          <a:solidFill>
            <a:srgbClr val="FF4013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grpSp>
        <p:nvGrpSpPr>
          <p:cNvPr id="237" name="Group"/>
          <p:cNvGrpSpPr/>
          <p:nvPr/>
        </p:nvGrpSpPr>
        <p:grpSpPr>
          <a:xfrm>
            <a:off x="4816122" y="3241625"/>
            <a:ext cx="693497" cy="526555"/>
            <a:chOff x="4295" y="-12489"/>
            <a:chExt cx="986306" cy="748878"/>
          </a:xfrm>
        </p:grpSpPr>
        <p:sp>
          <p:nvSpPr>
            <p:cNvPr id="235" name="Triangle"/>
            <p:cNvSpPr/>
            <p:nvPr/>
          </p:nvSpPr>
          <p:spPr>
            <a:xfrm>
              <a:off x="330200" y="228600"/>
              <a:ext cx="660401" cy="4445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BE38F3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236" name="+"/>
            <p:cNvSpPr/>
            <p:nvPr/>
          </p:nvSpPr>
          <p:spPr>
            <a:xfrm>
              <a:off x="4295" y="-12489"/>
              <a:ext cx="417209" cy="7488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r>
                <a:rPr sz="2953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539210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build="p" animBg="1" advAuto="0"/>
      <p:bldP spid="214" grpId="0" animBg="1" advAuto="0"/>
      <p:bldP spid="219" grpId="0" animBg="1" advAuto="0"/>
      <p:bldP spid="232" grpId="0" animBg="1" advAuto="0"/>
      <p:bldP spid="233" grpId="0" animBg="1" advAuto="0"/>
      <p:bldP spid="237" grpId="0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CloudNet</a:t>
            </a:r>
            <a:r>
              <a:rPr lang="en-US" dirty="0"/>
              <a:t> System Components</a:t>
            </a:r>
          </a:p>
        </p:txBody>
      </p:sp>
      <p:sp>
        <p:nvSpPr>
          <p:cNvPr id="112" name="Cloud"/>
          <p:cNvSpPr>
            <a:spLocks noChangeAspect="1" noEditPoints="1" noChangeArrowheads="1"/>
          </p:cNvSpPr>
          <p:nvPr/>
        </p:nvSpPr>
        <p:spPr bwMode="auto">
          <a:xfrm>
            <a:off x="3886200" y="2382304"/>
            <a:ext cx="4010025" cy="1701800"/>
          </a:xfrm>
          <a:custGeom>
            <a:avLst/>
            <a:gdLst>
              <a:gd name="T0" fmla="*/ 12439 w 21600"/>
              <a:gd name="T1" fmla="*/ 850900 h 21600"/>
              <a:gd name="T2" fmla="*/ 2005013 w 21600"/>
              <a:gd name="T3" fmla="*/ 1699988 h 21600"/>
              <a:gd name="T4" fmla="*/ 4006683 w 21600"/>
              <a:gd name="T5" fmla="*/ 850900 h 21600"/>
              <a:gd name="T6" fmla="*/ 2005013 w 21600"/>
              <a:gd name="T7" fmla="*/ 97302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gradFill rotWithShape="0">
            <a:gsLst>
              <a:gs pos="0">
                <a:srgbClr val="99CCFF"/>
              </a:gs>
              <a:gs pos="50000">
                <a:srgbClr val="FFFFFF"/>
              </a:gs>
              <a:gs pos="100000">
                <a:srgbClr val="99CCFF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7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cs typeface="ＭＳ Ｐゴシック" charset="-128"/>
            </a:endParaRPr>
          </a:p>
        </p:txBody>
      </p:sp>
      <p:sp>
        <p:nvSpPr>
          <p:cNvPr id="113" name="Rectangle 4"/>
          <p:cNvSpPr>
            <a:spLocks noChangeArrowheads="1"/>
          </p:cNvSpPr>
          <p:nvPr/>
        </p:nvSpPr>
        <p:spPr bwMode="auto">
          <a:xfrm>
            <a:off x="635000" y="2631948"/>
            <a:ext cx="854075" cy="276999"/>
          </a:xfrm>
          <a:prstGeom prst="rect">
            <a:avLst/>
          </a:prstGeom>
          <a:solidFill>
            <a:srgbClr val="6EBB1F"/>
          </a:solidFill>
          <a:ln w="12700">
            <a:solidFill>
              <a:srgbClr val="4D4D4D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Server</a:t>
            </a:r>
          </a:p>
        </p:txBody>
      </p:sp>
      <p:sp>
        <p:nvSpPr>
          <p:cNvPr id="114" name="Rectangle 5"/>
          <p:cNvSpPr>
            <a:spLocks noChangeArrowheads="1"/>
          </p:cNvSpPr>
          <p:nvPr/>
        </p:nvSpPr>
        <p:spPr bwMode="auto">
          <a:xfrm>
            <a:off x="628650" y="3065336"/>
            <a:ext cx="854075" cy="276999"/>
          </a:xfrm>
          <a:prstGeom prst="rect">
            <a:avLst/>
          </a:prstGeom>
          <a:solidFill>
            <a:srgbClr val="F6EB23"/>
          </a:solidFill>
          <a:ln w="12700">
            <a:solidFill>
              <a:srgbClr val="4D4D4D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Server</a:t>
            </a:r>
          </a:p>
        </p:txBody>
      </p:sp>
      <p:sp>
        <p:nvSpPr>
          <p:cNvPr id="115" name="Rectangle 6"/>
          <p:cNvSpPr>
            <a:spLocks noChangeArrowheads="1"/>
          </p:cNvSpPr>
          <p:nvPr/>
        </p:nvSpPr>
        <p:spPr bwMode="auto">
          <a:xfrm>
            <a:off x="633413" y="3486023"/>
            <a:ext cx="854075" cy="276999"/>
          </a:xfrm>
          <a:prstGeom prst="rect">
            <a:avLst/>
          </a:prstGeom>
          <a:solidFill>
            <a:srgbClr val="F6EB23"/>
          </a:solidFill>
          <a:ln w="12700">
            <a:solidFill>
              <a:srgbClr val="4D4D4D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Server</a:t>
            </a:r>
          </a:p>
        </p:txBody>
      </p:sp>
      <p:sp>
        <p:nvSpPr>
          <p:cNvPr id="116" name="Rectangle 7"/>
          <p:cNvSpPr>
            <a:spLocks noChangeArrowheads="1"/>
          </p:cNvSpPr>
          <p:nvPr/>
        </p:nvSpPr>
        <p:spPr bwMode="auto">
          <a:xfrm>
            <a:off x="638175" y="3919411"/>
            <a:ext cx="854075" cy="276999"/>
          </a:xfrm>
          <a:prstGeom prst="rect">
            <a:avLst/>
          </a:prstGeom>
          <a:solidFill>
            <a:srgbClr val="6EBB1F"/>
          </a:solidFill>
          <a:ln w="12700">
            <a:solidFill>
              <a:srgbClr val="4D4D4D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Server</a:t>
            </a:r>
          </a:p>
        </p:txBody>
      </p:sp>
      <p:sp>
        <p:nvSpPr>
          <p:cNvPr id="117" name="Rectangle 8"/>
          <p:cNvSpPr>
            <a:spLocks noChangeArrowheads="1"/>
          </p:cNvSpPr>
          <p:nvPr/>
        </p:nvSpPr>
        <p:spPr bwMode="auto">
          <a:xfrm>
            <a:off x="633413" y="4341686"/>
            <a:ext cx="854075" cy="276999"/>
          </a:xfrm>
          <a:prstGeom prst="rect">
            <a:avLst/>
          </a:prstGeom>
          <a:solidFill>
            <a:srgbClr val="20F6E8"/>
          </a:solidFill>
          <a:ln w="12700">
            <a:solidFill>
              <a:srgbClr val="4D4D4D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Server</a:t>
            </a:r>
          </a:p>
        </p:txBody>
      </p:sp>
      <p:sp>
        <p:nvSpPr>
          <p:cNvPr id="118" name="Rectangle 9"/>
          <p:cNvSpPr>
            <a:spLocks noChangeArrowheads="1"/>
          </p:cNvSpPr>
          <p:nvPr/>
        </p:nvSpPr>
        <p:spPr bwMode="auto">
          <a:xfrm>
            <a:off x="3852813" y="3105688"/>
            <a:ext cx="470000" cy="369332"/>
          </a:xfrm>
          <a:prstGeom prst="rect">
            <a:avLst/>
          </a:prstGeom>
          <a:solidFill>
            <a:srgbClr val="B30A3C"/>
          </a:solidFill>
          <a:ln w="12700">
            <a:solidFill>
              <a:srgbClr val="4D4D4D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</a:rPr>
              <a:t>PE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</a:endParaRPr>
          </a:p>
        </p:txBody>
      </p:sp>
      <p:sp>
        <p:nvSpPr>
          <p:cNvPr id="119" name="Rectangle 10"/>
          <p:cNvSpPr>
            <a:spLocks noChangeArrowheads="1"/>
          </p:cNvSpPr>
          <p:nvPr/>
        </p:nvSpPr>
        <p:spPr bwMode="auto">
          <a:xfrm>
            <a:off x="2357065" y="3483384"/>
            <a:ext cx="700833" cy="461665"/>
          </a:xfrm>
          <a:prstGeom prst="rect">
            <a:avLst/>
          </a:prstGeom>
          <a:solidFill>
            <a:srgbClr val="BC5500"/>
          </a:solidFill>
          <a:ln w="12700">
            <a:solidFill>
              <a:srgbClr val="4D4D4D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CE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Router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</a:endParaRPr>
          </a:p>
        </p:txBody>
      </p:sp>
      <p:sp>
        <p:nvSpPr>
          <p:cNvPr id="120" name="Rectangle 11"/>
          <p:cNvSpPr>
            <a:spLocks noChangeArrowheads="1"/>
          </p:cNvSpPr>
          <p:nvPr/>
        </p:nvSpPr>
        <p:spPr bwMode="auto">
          <a:xfrm>
            <a:off x="6667450" y="2251613"/>
            <a:ext cx="470000" cy="369332"/>
          </a:xfrm>
          <a:prstGeom prst="rect">
            <a:avLst/>
          </a:prstGeom>
          <a:solidFill>
            <a:srgbClr val="B30A3C"/>
          </a:solidFill>
          <a:ln w="12700">
            <a:solidFill>
              <a:srgbClr val="4D4D4D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</a:rPr>
              <a:t>PE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</a:endParaRPr>
          </a:p>
        </p:txBody>
      </p:sp>
      <p:sp>
        <p:nvSpPr>
          <p:cNvPr id="121" name="Cloud"/>
          <p:cNvSpPr>
            <a:spLocks noChangeAspect="1" noEditPoints="1" noChangeArrowheads="1"/>
          </p:cNvSpPr>
          <p:nvPr/>
        </p:nvSpPr>
        <p:spPr bwMode="auto">
          <a:xfrm>
            <a:off x="5862638" y="1544104"/>
            <a:ext cx="1262062" cy="534988"/>
          </a:xfrm>
          <a:custGeom>
            <a:avLst/>
            <a:gdLst>
              <a:gd name="T0" fmla="*/ 3915 w 21600"/>
              <a:gd name="T1" fmla="*/ 267494 h 21600"/>
              <a:gd name="T2" fmla="*/ 631031 w 21600"/>
              <a:gd name="T3" fmla="*/ 534418 h 21600"/>
              <a:gd name="T4" fmla="*/ 1261010 w 21600"/>
              <a:gd name="T5" fmla="*/ 267494 h 21600"/>
              <a:gd name="T6" fmla="*/ 631031 w 21600"/>
              <a:gd name="T7" fmla="*/ 30588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6EB2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7"/>
              </a:srgbClr>
            </a:outerShdw>
          </a:effectLst>
        </p:spPr>
        <p:txBody>
          <a:bodyPr/>
          <a:lstStyle/>
          <a:p>
            <a:pPr defTabSz="914400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en-US" sz="1400">
                <a:solidFill>
                  <a:srgbClr val="4D4D4D"/>
                </a:solidFill>
                <a:cs typeface="ＭＳ Ｐゴシック" charset="-128"/>
              </a:rPr>
              <a:t>VPN A</a:t>
            </a:r>
          </a:p>
        </p:txBody>
      </p:sp>
      <p:sp>
        <p:nvSpPr>
          <p:cNvPr id="122" name="Cloud"/>
          <p:cNvSpPr>
            <a:spLocks noChangeAspect="1" noEditPoints="1" noChangeArrowheads="1"/>
          </p:cNvSpPr>
          <p:nvPr/>
        </p:nvSpPr>
        <p:spPr bwMode="auto">
          <a:xfrm>
            <a:off x="7543800" y="3372904"/>
            <a:ext cx="1262063" cy="534988"/>
          </a:xfrm>
          <a:custGeom>
            <a:avLst/>
            <a:gdLst>
              <a:gd name="T0" fmla="*/ 3915 w 21600"/>
              <a:gd name="T1" fmla="*/ 267494 h 21600"/>
              <a:gd name="T2" fmla="*/ 631032 w 21600"/>
              <a:gd name="T3" fmla="*/ 534418 h 21600"/>
              <a:gd name="T4" fmla="*/ 1261011 w 21600"/>
              <a:gd name="T5" fmla="*/ 267494 h 21600"/>
              <a:gd name="T6" fmla="*/ 631032 w 21600"/>
              <a:gd name="T7" fmla="*/ 30588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6EB2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7"/>
              </a:srgbClr>
            </a:outerShdw>
          </a:effectLst>
        </p:spPr>
        <p:txBody>
          <a:bodyPr/>
          <a:lstStyle/>
          <a:p>
            <a:pPr defTabSz="914400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en-US" sz="1400">
                <a:solidFill>
                  <a:srgbClr val="4D4D4D"/>
                </a:solidFill>
                <a:cs typeface="ＭＳ Ｐゴシック" charset="-128"/>
              </a:rPr>
              <a:t>VPN A</a:t>
            </a:r>
          </a:p>
        </p:txBody>
      </p:sp>
      <p:sp>
        <p:nvSpPr>
          <p:cNvPr id="123" name="Cloud"/>
          <p:cNvSpPr>
            <a:spLocks noChangeAspect="1" noEditPoints="1" noChangeArrowheads="1"/>
          </p:cNvSpPr>
          <p:nvPr/>
        </p:nvSpPr>
        <p:spPr bwMode="auto">
          <a:xfrm>
            <a:off x="7510463" y="3928529"/>
            <a:ext cx="1262062" cy="534988"/>
          </a:xfrm>
          <a:custGeom>
            <a:avLst/>
            <a:gdLst>
              <a:gd name="T0" fmla="*/ 3915 w 21600"/>
              <a:gd name="T1" fmla="*/ 267494 h 21600"/>
              <a:gd name="T2" fmla="*/ 631031 w 21600"/>
              <a:gd name="T3" fmla="*/ 534418 h 21600"/>
              <a:gd name="T4" fmla="*/ 1261010 w 21600"/>
              <a:gd name="T5" fmla="*/ 267494 h 21600"/>
              <a:gd name="T6" fmla="*/ 631031 w 21600"/>
              <a:gd name="T7" fmla="*/ 30588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20F6E8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7"/>
              </a:srgbClr>
            </a:outerShdw>
          </a:effectLst>
        </p:spPr>
        <p:txBody>
          <a:bodyPr/>
          <a:lstStyle/>
          <a:p>
            <a:pPr defTabSz="914400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en-US" sz="1400">
                <a:solidFill>
                  <a:srgbClr val="4D4D4D"/>
                </a:solidFill>
                <a:cs typeface="ＭＳ Ｐゴシック" charset="-128"/>
              </a:rPr>
              <a:t>VPN B</a:t>
            </a:r>
          </a:p>
        </p:txBody>
      </p:sp>
      <p:sp>
        <p:nvSpPr>
          <p:cNvPr id="124" name="Cloud"/>
          <p:cNvSpPr>
            <a:spLocks noChangeAspect="1" noEditPoints="1" noChangeArrowheads="1"/>
          </p:cNvSpPr>
          <p:nvPr/>
        </p:nvSpPr>
        <p:spPr bwMode="auto">
          <a:xfrm>
            <a:off x="7248525" y="1806042"/>
            <a:ext cx="1262063" cy="534987"/>
          </a:xfrm>
          <a:custGeom>
            <a:avLst/>
            <a:gdLst>
              <a:gd name="T0" fmla="*/ 3915 w 21600"/>
              <a:gd name="T1" fmla="*/ 267494 h 21600"/>
              <a:gd name="T2" fmla="*/ 631032 w 21600"/>
              <a:gd name="T3" fmla="*/ 534417 h 21600"/>
              <a:gd name="T4" fmla="*/ 1261011 w 21600"/>
              <a:gd name="T5" fmla="*/ 267494 h 21600"/>
              <a:gd name="T6" fmla="*/ 631032 w 21600"/>
              <a:gd name="T7" fmla="*/ 30588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20F6E8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7"/>
              </a:srgbClr>
            </a:outerShdw>
          </a:effectLst>
        </p:spPr>
        <p:txBody>
          <a:bodyPr/>
          <a:lstStyle/>
          <a:p>
            <a:pPr defTabSz="914400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en-US" sz="1400">
                <a:solidFill>
                  <a:srgbClr val="4D4D4D"/>
                </a:solidFill>
                <a:cs typeface="ＭＳ Ｐゴシック" charset="-128"/>
              </a:rPr>
              <a:t>VPN B</a:t>
            </a:r>
          </a:p>
        </p:txBody>
      </p:sp>
      <p:sp>
        <p:nvSpPr>
          <p:cNvPr id="125" name="Rectangle 16"/>
          <p:cNvSpPr>
            <a:spLocks noChangeArrowheads="1"/>
          </p:cNvSpPr>
          <p:nvPr/>
        </p:nvSpPr>
        <p:spPr bwMode="auto">
          <a:xfrm>
            <a:off x="4554228" y="2086126"/>
            <a:ext cx="1180131" cy="646331"/>
          </a:xfrm>
          <a:prstGeom prst="rect">
            <a:avLst/>
          </a:prstGeom>
          <a:solidFill>
            <a:srgbClr val="B30A3C"/>
          </a:solidFill>
          <a:ln w="12700">
            <a:solidFill>
              <a:srgbClr val="4D4D4D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</a:rPr>
              <a:t>Network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</a:rPr>
              <a:t>Manager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</a:endParaRPr>
          </a:p>
        </p:txBody>
      </p:sp>
      <p:sp>
        <p:nvSpPr>
          <p:cNvPr id="126" name="Rectangle 17"/>
          <p:cNvSpPr>
            <a:spLocks noChangeArrowheads="1"/>
          </p:cNvSpPr>
          <p:nvPr/>
        </p:nvSpPr>
        <p:spPr bwMode="auto">
          <a:xfrm>
            <a:off x="304800" y="2031765"/>
            <a:ext cx="3276600" cy="2682278"/>
          </a:xfrm>
          <a:prstGeom prst="rect">
            <a:avLst/>
          </a:prstGeom>
          <a:noFill/>
          <a:ln w="28575" cap="rnd">
            <a:solidFill>
              <a:srgbClr val="4D4D4D"/>
            </a:solidFill>
            <a:prstDash val="sysDot"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</a:endParaRPr>
          </a:p>
        </p:txBody>
      </p:sp>
      <p:sp>
        <p:nvSpPr>
          <p:cNvPr id="127" name="Line 18"/>
          <p:cNvSpPr>
            <a:spLocks noChangeShapeType="1"/>
          </p:cNvSpPr>
          <p:nvPr/>
        </p:nvSpPr>
        <p:spPr bwMode="auto">
          <a:xfrm>
            <a:off x="6619875" y="2033054"/>
            <a:ext cx="182563" cy="2079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8" name="Line 19"/>
          <p:cNvSpPr>
            <a:spLocks noChangeShapeType="1"/>
          </p:cNvSpPr>
          <p:nvPr/>
        </p:nvSpPr>
        <p:spPr bwMode="auto">
          <a:xfrm flipH="1">
            <a:off x="7175500" y="2271179"/>
            <a:ext cx="315913" cy="1222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9" name="Line 20"/>
          <p:cNvSpPr>
            <a:spLocks noChangeShapeType="1"/>
          </p:cNvSpPr>
          <p:nvPr/>
        </p:nvSpPr>
        <p:spPr bwMode="auto">
          <a:xfrm flipV="1">
            <a:off x="7239000" y="3677704"/>
            <a:ext cx="304800" cy="381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0" name="Line 21"/>
          <p:cNvSpPr>
            <a:spLocks noChangeShapeType="1"/>
          </p:cNvSpPr>
          <p:nvPr/>
        </p:nvSpPr>
        <p:spPr bwMode="auto">
          <a:xfrm>
            <a:off x="7270750" y="4176179"/>
            <a:ext cx="306388" cy="238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1" name="Line 22"/>
          <p:cNvSpPr>
            <a:spLocks noChangeShapeType="1"/>
          </p:cNvSpPr>
          <p:nvPr/>
        </p:nvSpPr>
        <p:spPr bwMode="auto">
          <a:xfrm>
            <a:off x="1524000" y="2750604"/>
            <a:ext cx="838200" cy="990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2" name="Line 23"/>
          <p:cNvSpPr>
            <a:spLocks noChangeShapeType="1"/>
          </p:cNvSpPr>
          <p:nvPr/>
        </p:nvSpPr>
        <p:spPr bwMode="auto">
          <a:xfrm>
            <a:off x="1506538" y="3225267"/>
            <a:ext cx="855662" cy="5159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3" name="Line 24"/>
          <p:cNvSpPr>
            <a:spLocks noChangeShapeType="1"/>
          </p:cNvSpPr>
          <p:nvPr/>
        </p:nvSpPr>
        <p:spPr bwMode="auto">
          <a:xfrm>
            <a:off x="1493838" y="3641192"/>
            <a:ext cx="868362" cy="1762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4" name="Line 25"/>
          <p:cNvSpPr>
            <a:spLocks noChangeShapeType="1"/>
          </p:cNvSpPr>
          <p:nvPr/>
        </p:nvSpPr>
        <p:spPr bwMode="auto">
          <a:xfrm flipV="1">
            <a:off x="1512888" y="3893604"/>
            <a:ext cx="849312" cy="1682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5" name="Line 26"/>
          <p:cNvSpPr>
            <a:spLocks noChangeShapeType="1"/>
          </p:cNvSpPr>
          <p:nvPr/>
        </p:nvSpPr>
        <p:spPr bwMode="auto">
          <a:xfrm flipV="1">
            <a:off x="1500188" y="3893604"/>
            <a:ext cx="862012" cy="5603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6" name="Line 27"/>
          <p:cNvSpPr>
            <a:spLocks noChangeShapeType="1"/>
          </p:cNvSpPr>
          <p:nvPr/>
        </p:nvSpPr>
        <p:spPr bwMode="auto">
          <a:xfrm flipH="1">
            <a:off x="3124200" y="3372904"/>
            <a:ext cx="685800" cy="3683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7" name="Line 28"/>
          <p:cNvSpPr>
            <a:spLocks noChangeShapeType="1"/>
          </p:cNvSpPr>
          <p:nvPr/>
        </p:nvSpPr>
        <p:spPr bwMode="auto">
          <a:xfrm flipH="1">
            <a:off x="4267200" y="2763304"/>
            <a:ext cx="304800" cy="30480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 type="triangle" w="med" len="med"/>
            <a:tailEnd type="triangle" w="med" len="med"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8" name="Line 29"/>
          <p:cNvSpPr>
            <a:spLocks noChangeShapeType="1"/>
          </p:cNvSpPr>
          <p:nvPr/>
        </p:nvSpPr>
        <p:spPr bwMode="auto">
          <a:xfrm flipH="1">
            <a:off x="5791200" y="2423579"/>
            <a:ext cx="819150" cy="46038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 type="triangle" w="med" len="med"/>
            <a:tailEnd type="triangle" w="med" len="med"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9" name="Line 30"/>
          <p:cNvSpPr>
            <a:spLocks noChangeShapeType="1"/>
          </p:cNvSpPr>
          <p:nvPr/>
        </p:nvSpPr>
        <p:spPr bwMode="auto">
          <a:xfrm flipH="1" flipV="1">
            <a:off x="5029200" y="2750604"/>
            <a:ext cx="1736725" cy="1376363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 type="triangle" w="med" len="med"/>
            <a:tailEnd type="triangle" w="med" len="med"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0" name="Rectangle 3"/>
          <p:cNvSpPr>
            <a:spLocks noChangeArrowheads="1"/>
          </p:cNvSpPr>
          <p:nvPr/>
        </p:nvSpPr>
        <p:spPr bwMode="auto">
          <a:xfrm>
            <a:off x="516385" y="5341404"/>
            <a:ext cx="2590800" cy="1047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169863" marR="0" lvl="0" indent="-169863" algn="l" defTabSz="947738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High level abstraction:</a:t>
            </a:r>
          </a:p>
          <a:p>
            <a:pPr marL="169863" marR="0" lvl="0" indent="-169863" algn="l" defTabSz="947738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Create compute resources</a:t>
            </a:r>
          </a:p>
          <a:p>
            <a:pPr marL="169863" marR="0" lvl="0" indent="-169863" algn="l" defTabSz="947738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Map into VPN</a:t>
            </a:r>
          </a:p>
          <a:p>
            <a:pPr marL="169863" marR="0" lvl="0" indent="-169863" algn="l" defTabSz="947738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Cross domain interaction</a:t>
            </a:r>
          </a:p>
        </p:txBody>
      </p:sp>
      <p:pic>
        <p:nvPicPr>
          <p:cNvPr id="141" name="Picture 3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5350" y="897992"/>
            <a:ext cx="8032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2" name="Rectangle 36"/>
          <p:cNvSpPr>
            <a:spLocks noChangeArrowheads="1"/>
          </p:cNvSpPr>
          <p:nvPr/>
        </p:nvSpPr>
        <p:spPr bwMode="auto">
          <a:xfrm>
            <a:off x="2426090" y="1124309"/>
            <a:ext cx="707245" cy="307777"/>
          </a:xfrm>
          <a:prstGeom prst="rect">
            <a:avLst/>
          </a:prstGeom>
          <a:solidFill>
            <a:srgbClr val="81017E"/>
          </a:solidFill>
          <a:ln w="12700">
            <a:solidFill>
              <a:srgbClr val="4D4D4D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</a:rPr>
              <a:t>Portal</a:t>
            </a:r>
          </a:p>
        </p:txBody>
      </p:sp>
      <p:sp>
        <p:nvSpPr>
          <p:cNvPr id="143" name="Line 38"/>
          <p:cNvSpPr>
            <a:spLocks noChangeShapeType="1"/>
          </p:cNvSpPr>
          <p:nvPr/>
        </p:nvSpPr>
        <p:spPr bwMode="auto">
          <a:xfrm flipH="1">
            <a:off x="2851150" y="1455204"/>
            <a:ext cx="1797050" cy="7064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4" name="Line 39"/>
          <p:cNvSpPr>
            <a:spLocks noChangeShapeType="1"/>
          </p:cNvSpPr>
          <p:nvPr/>
        </p:nvSpPr>
        <p:spPr bwMode="auto">
          <a:xfrm>
            <a:off x="4648200" y="1455204"/>
            <a:ext cx="381000" cy="6223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5" name="Line 40"/>
          <p:cNvSpPr>
            <a:spLocks noChangeShapeType="1"/>
          </p:cNvSpPr>
          <p:nvPr/>
        </p:nvSpPr>
        <p:spPr bwMode="auto">
          <a:xfrm flipH="1">
            <a:off x="1489075" y="2361667"/>
            <a:ext cx="820738" cy="331787"/>
          </a:xfrm>
          <a:prstGeom prst="line">
            <a:avLst/>
          </a:prstGeom>
          <a:noFill/>
          <a:ln w="28575">
            <a:solidFill>
              <a:srgbClr val="CCCCCC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6" name="Line 41"/>
          <p:cNvSpPr>
            <a:spLocks noChangeShapeType="1"/>
          </p:cNvSpPr>
          <p:nvPr/>
        </p:nvSpPr>
        <p:spPr bwMode="auto">
          <a:xfrm>
            <a:off x="2743200" y="2839504"/>
            <a:ext cx="0" cy="596900"/>
          </a:xfrm>
          <a:prstGeom prst="line">
            <a:avLst/>
          </a:prstGeom>
          <a:noFill/>
          <a:ln w="28575">
            <a:solidFill>
              <a:srgbClr val="CCCCCC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7" name="Line 42"/>
          <p:cNvSpPr>
            <a:spLocks noChangeShapeType="1"/>
          </p:cNvSpPr>
          <p:nvPr/>
        </p:nvSpPr>
        <p:spPr bwMode="auto">
          <a:xfrm flipH="1">
            <a:off x="1476375" y="2531529"/>
            <a:ext cx="806450" cy="601663"/>
          </a:xfrm>
          <a:prstGeom prst="line">
            <a:avLst/>
          </a:prstGeom>
          <a:noFill/>
          <a:ln w="28575">
            <a:solidFill>
              <a:srgbClr val="CCCCCC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8" name="Line 43"/>
          <p:cNvSpPr>
            <a:spLocks noChangeShapeType="1"/>
          </p:cNvSpPr>
          <p:nvPr/>
        </p:nvSpPr>
        <p:spPr bwMode="auto">
          <a:xfrm flipH="1">
            <a:off x="1506538" y="2744254"/>
            <a:ext cx="782637" cy="833438"/>
          </a:xfrm>
          <a:prstGeom prst="line">
            <a:avLst/>
          </a:prstGeom>
          <a:noFill/>
          <a:ln w="28575">
            <a:solidFill>
              <a:srgbClr val="CCCCCC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9" name="Line 44"/>
          <p:cNvSpPr>
            <a:spLocks noChangeShapeType="1"/>
          </p:cNvSpPr>
          <p:nvPr/>
        </p:nvSpPr>
        <p:spPr bwMode="auto">
          <a:xfrm flipH="1">
            <a:off x="1500188" y="2872842"/>
            <a:ext cx="819150" cy="1089025"/>
          </a:xfrm>
          <a:prstGeom prst="line">
            <a:avLst/>
          </a:prstGeom>
          <a:noFill/>
          <a:ln w="28575">
            <a:solidFill>
              <a:srgbClr val="CCCCCC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0" name="Line 45"/>
          <p:cNvSpPr>
            <a:spLocks noChangeShapeType="1"/>
          </p:cNvSpPr>
          <p:nvPr/>
        </p:nvSpPr>
        <p:spPr bwMode="auto">
          <a:xfrm flipH="1">
            <a:off x="1493838" y="2891892"/>
            <a:ext cx="1014412" cy="1492250"/>
          </a:xfrm>
          <a:prstGeom prst="line">
            <a:avLst/>
          </a:prstGeom>
          <a:noFill/>
          <a:ln w="28575">
            <a:solidFill>
              <a:srgbClr val="CCCCCC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1" name="Rectangle 46"/>
          <p:cNvSpPr>
            <a:spLocks noChangeArrowheads="1"/>
          </p:cNvSpPr>
          <p:nvPr/>
        </p:nvSpPr>
        <p:spPr bwMode="auto">
          <a:xfrm>
            <a:off x="2343109" y="2241344"/>
            <a:ext cx="960519" cy="523220"/>
          </a:xfrm>
          <a:prstGeom prst="rect">
            <a:avLst/>
          </a:prstGeom>
          <a:solidFill>
            <a:srgbClr val="FF7200"/>
          </a:solidFill>
          <a:ln w="12700">
            <a:solidFill>
              <a:srgbClr val="4D4D4D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Cloud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Manager</a:t>
            </a:r>
          </a:p>
        </p:txBody>
      </p:sp>
      <p:sp>
        <p:nvSpPr>
          <p:cNvPr id="152" name="Text Box 47"/>
          <p:cNvSpPr txBox="1">
            <a:spLocks noChangeArrowheads="1"/>
          </p:cNvSpPr>
          <p:nvPr/>
        </p:nvSpPr>
        <p:spPr bwMode="auto">
          <a:xfrm>
            <a:off x="390840" y="2077504"/>
            <a:ext cx="170751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Cloud Platform</a:t>
            </a:r>
          </a:p>
        </p:txBody>
      </p:sp>
      <p:sp>
        <p:nvSpPr>
          <p:cNvPr id="153" name="Line 48"/>
          <p:cNvSpPr>
            <a:spLocks noChangeShapeType="1"/>
          </p:cNvSpPr>
          <p:nvPr/>
        </p:nvSpPr>
        <p:spPr bwMode="auto">
          <a:xfrm flipV="1">
            <a:off x="3352800" y="2271179"/>
            <a:ext cx="1219200" cy="2635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4" name="Text Box 49"/>
          <p:cNvSpPr txBox="1">
            <a:spLocks noChangeArrowheads="1"/>
          </p:cNvSpPr>
          <p:nvPr/>
        </p:nvSpPr>
        <p:spPr bwMode="auto">
          <a:xfrm>
            <a:off x="5805361" y="2903004"/>
            <a:ext cx="179889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AT&amp;T Backbone</a:t>
            </a:r>
          </a:p>
        </p:txBody>
      </p:sp>
      <p:sp>
        <p:nvSpPr>
          <p:cNvPr id="155" name="Rectangle 50"/>
          <p:cNvSpPr>
            <a:spLocks noChangeArrowheads="1"/>
          </p:cNvSpPr>
          <p:nvPr/>
        </p:nvSpPr>
        <p:spPr bwMode="auto">
          <a:xfrm>
            <a:off x="6789688" y="3983576"/>
            <a:ext cx="470000" cy="369332"/>
          </a:xfrm>
          <a:prstGeom prst="rect">
            <a:avLst/>
          </a:prstGeom>
          <a:solidFill>
            <a:srgbClr val="B30A3C"/>
          </a:solidFill>
          <a:ln w="12700">
            <a:solidFill>
              <a:srgbClr val="4D4D4D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</a:rPr>
              <a:t>PE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</a:endParaRPr>
          </a:p>
        </p:txBody>
      </p:sp>
      <p:sp>
        <p:nvSpPr>
          <p:cNvPr id="156" name="Line 51"/>
          <p:cNvSpPr>
            <a:spLocks noChangeShapeType="1"/>
          </p:cNvSpPr>
          <p:nvPr/>
        </p:nvSpPr>
        <p:spPr bwMode="auto">
          <a:xfrm flipH="1">
            <a:off x="3733800" y="1772704"/>
            <a:ext cx="0" cy="3429000"/>
          </a:xfrm>
          <a:prstGeom prst="line">
            <a:avLst/>
          </a:prstGeom>
          <a:noFill/>
          <a:ln w="19050">
            <a:solidFill>
              <a:srgbClr val="4D4D4D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7" name="Line 52"/>
          <p:cNvSpPr>
            <a:spLocks noChangeShapeType="1"/>
          </p:cNvSpPr>
          <p:nvPr/>
        </p:nvSpPr>
        <p:spPr bwMode="auto">
          <a:xfrm>
            <a:off x="3962400" y="5112804"/>
            <a:ext cx="4114800" cy="0"/>
          </a:xfrm>
          <a:prstGeom prst="line">
            <a:avLst/>
          </a:prstGeom>
          <a:noFill/>
          <a:ln w="22225">
            <a:solidFill>
              <a:srgbClr val="4D4D4D"/>
            </a:solidFill>
            <a:round/>
            <a:headEnd type="triangle" w="med" len="med"/>
            <a:tailEnd type="triangle" w="med" len="med"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8" name="Line 53"/>
          <p:cNvSpPr>
            <a:spLocks noChangeShapeType="1"/>
          </p:cNvSpPr>
          <p:nvPr/>
        </p:nvSpPr>
        <p:spPr bwMode="auto">
          <a:xfrm>
            <a:off x="762000" y="5112804"/>
            <a:ext cx="2819400" cy="0"/>
          </a:xfrm>
          <a:prstGeom prst="line">
            <a:avLst/>
          </a:prstGeom>
          <a:noFill/>
          <a:ln w="22225">
            <a:solidFill>
              <a:srgbClr val="4D4D4D"/>
            </a:solidFill>
            <a:round/>
            <a:headEnd type="triangle" w="med" len="med"/>
            <a:tailEnd type="triangle" w="med" len="med"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9" name="Text Box 54"/>
          <p:cNvSpPr txBox="1">
            <a:spLocks noChangeArrowheads="1"/>
          </p:cNvSpPr>
          <p:nvPr/>
        </p:nvSpPr>
        <p:spPr bwMode="auto">
          <a:xfrm>
            <a:off x="4862796" y="4731804"/>
            <a:ext cx="212109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Network Domain</a:t>
            </a:r>
          </a:p>
        </p:txBody>
      </p:sp>
      <p:sp>
        <p:nvSpPr>
          <p:cNvPr id="160" name="Text Box 55"/>
          <p:cNvSpPr txBox="1">
            <a:spLocks noChangeArrowheads="1"/>
          </p:cNvSpPr>
          <p:nvPr/>
        </p:nvSpPr>
        <p:spPr bwMode="auto">
          <a:xfrm>
            <a:off x="1299974" y="4731804"/>
            <a:ext cx="1811714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Cloud Domain</a:t>
            </a:r>
          </a:p>
        </p:txBody>
      </p:sp>
      <p:sp>
        <p:nvSpPr>
          <p:cNvPr id="161" name="Rectangle 3"/>
          <p:cNvSpPr>
            <a:spLocks noChangeArrowheads="1"/>
          </p:cNvSpPr>
          <p:nvPr/>
        </p:nvSpPr>
        <p:spPr bwMode="auto">
          <a:xfrm>
            <a:off x="2971800" y="5341404"/>
            <a:ext cx="2590800" cy="1047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169863" marR="0" lvl="0" indent="-169863" algn="l" defTabSz="947738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Cloud Manager:</a:t>
            </a:r>
          </a:p>
          <a:p>
            <a:pPr marL="169863" marR="0" lvl="0" indent="-169863" algn="l" defTabSz="947738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Create compute resources</a:t>
            </a:r>
          </a:p>
          <a:p>
            <a:pPr marL="169863" marR="0" lvl="0" indent="-169863" algn="l" defTabSz="947738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Map into VPN (cloud side)</a:t>
            </a:r>
          </a:p>
        </p:txBody>
      </p:sp>
      <p:sp>
        <p:nvSpPr>
          <p:cNvPr id="162" name="Rectangle 3"/>
          <p:cNvSpPr>
            <a:spLocks noChangeArrowheads="1"/>
          </p:cNvSpPr>
          <p:nvPr/>
        </p:nvSpPr>
        <p:spPr bwMode="auto">
          <a:xfrm>
            <a:off x="5715000" y="5341404"/>
            <a:ext cx="2819400" cy="1047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169863" marR="0" lvl="0" indent="-169863" algn="l" defTabSz="947738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Network Manager (RR-IRSCP):</a:t>
            </a:r>
          </a:p>
          <a:p>
            <a:pPr marL="169863" marR="0" lvl="0" indent="-169863" algn="l" defTabSz="947738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VPN management (network side)</a:t>
            </a:r>
          </a:p>
          <a:p>
            <a:pPr marL="169863" marR="0" lvl="0" indent="-169863" algn="l" defTabSz="947738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Dynamic VPN mapping/stitching </a:t>
            </a:r>
          </a:p>
        </p:txBody>
      </p:sp>
      <p:sp>
        <p:nvSpPr>
          <p:cNvPr id="163" name="Rectangle 55"/>
          <p:cNvSpPr>
            <a:spLocks noChangeArrowheads="1"/>
          </p:cNvSpPr>
          <p:nvPr/>
        </p:nvSpPr>
        <p:spPr bwMode="auto">
          <a:xfrm>
            <a:off x="4114800" y="921804"/>
            <a:ext cx="1219200" cy="523220"/>
          </a:xfrm>
          <a:prstGeom prst="rect">
            <a:avLst/>
          </a:prstGeom>
          <a:solidFill>
            <a:srgbClr val="3366FF"/>
          </a:solidFill>
          <a:ln w="12700">
            <a:solidFill>
              <a:srgbClr val="4D4D4D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</a:rPr>
              <a:t>CloudNet</a:t>
            </a:r>
            <a:br>
              <a:rPr lang="en-US" sz="1400" kern="0" dirty="0"/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</a:rPr>
              <a:t>Controller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charset="0"/>
              <a:cs typeface="Arial" charset="0"/>
            </a:endParaRPr>
          </a:p>
        </p:txBody>
      </p:sp>
      <p:cxnSp>
        <p:nvCxnSpPr>
          <p:cNvPr id="164" name="Straight Arrow Connector 58"/>
          <p:cNvCxnSpPr>
            <a:cxnSpLocks noChangeShapeType="1"/>
            <a:stCxn id="142" idx="3"/>
            <a:endCxn id="163" idx="1"/>
          </p:cNvCxnSpPr>
          <p:nvPr/>
        </p:nvCxnSpPr>
        <p:spPr bwMode="auto">
          <a:xfrm flipV="1">
            <a:off x="3133335" y="1183414"/>
            <a:ext cx="981465" cy="94784"/>
          </a:xfrm>
          <a:prstGeom prst="straightConnector1">
            <a:avLst/>
          </a:prstGeom>
          <a:noFill/>
          <a:ln w="38100">
            <a:solidFill>
              <a:srgbClr val="4D4D4D"/>
            </a:solidFill>
            <a:round/>
            <a:headEnd/>
            <a:tailEnd type="arrow" w="med" len="med"/>
          </a:ln>
        </p:spPr>
      </p:cxnSp>
      <p:cxnSp>
        <p:nvCxnSpPr>
          <p:cNvPr id="165" name="Straight Arrow Connector 59"/>
          <p:cNvCxnSpPr>
            <a:cxnSpLocks noChangeShapeType="1"/>
            <a:endCxn id="142" idx="1"/>
          </p:cNvCxnSpPr>
          <p:nvPr/>
        </p:nvCxnSpPr>
        <p:spPr bwMode="auto">
          <a:xfrm flipV="1">
            <a:off x="1698625" y="1278198"/>
            <a:ext cx="727465" cy="794"/>
          </a:xfrm>
          <a:prstGeom prst="straightConnector1">
            <a:avLst/>
          </a:prstGeom>
          <a:noFill/>
          <a:ln w="38100">
            <a:solidFill>
              <a:srgbClr val="4D4D4D"/>
            </a:solidFill>
            <a:round/>
            <a:headEnd/>
            <a:tailEnd type="arrow" w="med" len="med"/>
          </a:ln>
        </p:spPr>
      </p:cxnSp>
      <p:sp>
        <p:nvSpPr>
          <p:cNvPr id="166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02165" y="6341880"/>
            <a:ext cx="385235" cy="152400"/>
          </a:xfrm>
        </p:spPr>
        <p:txBody>
          <a:bodyPr/>
          <a:lstStyle/>
          <a:p>
            <a:fld id="{1DEFE11F-158B-594E-8BEE-CC26B87FEB38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pitchFamily="34" charset="-128"/>
              </a:rPr>
              <a:t>Page </a:t>
            </a:r>
            <a:fld id="{A13A3A66-D61A-4208-A900-74C7AB10FEE6}" type="slidenum">
              <a:rPr lang="en-US" smtClean="0">
                <a:ea typeface="ＭＳ Ｐゴシック" pitchFamily="34" charset="-128"/>
              </a:rPr>
              <a:pPr/>
              <a:t>19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48167"/>
            <a:ext cx="9144000" cy="838200"/>
          </a:xfrm>
        </p:spPr>
        <p:txBody>
          <a:bodyPr/>
          <a:lstStyle/>
          <a:p>
            <a:r>
              <a:rPr lang="en-US" dirty="0" err="1">
                <a:solidFill>
                  <a:schemeClr val="tx2"/>
                </a:solidFill>
              </a:rPr>
              <a:t>CloudNet</a:t>
            </a:r>
            <a:r>
              <a:rPr lang="en-US" dirty="0">
                <a:solidFill>
                  <a:schemeClr val="tx2"/>
                </a:solidFill>
              </a:rPr>
              <a:t> System Components-Network Domain</a:t>
            </a:r>
          </a:p>
        </p:txBody>
      </p:sp>
      <p:sp>
        <p:nvSpPr>
          <p:cNvPr id="76804" name="Rectangle 3"/>
          <p:cNvSpPr>
            <a:spLocks noChangeArrowheads="1"/>
          </p:cNvSpPr>
          <p:nvPr/>
        </p:nvSpPr>
        <p:spPr bwMode="auto">
          <a:xfrm>
            <a:off x="293688" y="4591050"/>
            <a:ext cx="8037512" cy="1047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169863" indent="-169863" defTabSz="947738" eaLnBrk="0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rgbClr val="000000"/>
              </a:buClr>
              <a:buSzPct val="100000"/>
              <a:buFontTx/>
              <a:buChar char="•"/>
            </a:pPr>
            <a:endParaRPr lang="en-US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424964" name="Cloud"/>
          <p:cNvSpPr>
            <a:spLocks noChangeAspect="1" noEditPoints="1" noChangeArrowheads="1"/>
          </p:cNvSpPr>
          <p:nvPr/>
        </p:nvSpPr>
        <p:spPr bwMode="auto">
          <a:xfrm>
            <a:off x="3490913" y="2233613"/>
            <a:ext cx="3624262" cy="1401762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gradFill rotWithShape="0">
            <a:gsLst>
              <a:gs pos="0">
                <a:srgbClr val="99CCFF"/>
              </a:gs>
              <a:gs pos="50000">
                <a:schemeClr val="bg1"/>
              </a:gs>
              <a:gs pos="100000">
                <a:srgbClr val="99CCFF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en-US" sz="900">
              <a:solidFill>
                <a:srgbClr val="4D4D4D"/>
              </a:solidFill>
              <a:latin typeface="Arial" charset="0"/>
              <a:ea typeface="ＭＳ Ｐゴシック" pitchFamily="124" charset="-128"/>
              <a:cs typeface="+mn-cs"/>
            </a:endParaRPr>
          </a:p>
          <a:p>
            <a:pPr eaLnBrk="0" hangingPunct="0">
              <a:defRPr/>
            </a:pPr>
            <a:endParaRPr lang="en-US" sz="1400">
              <a:solidFill>
                <a:srgbClr val="4D4D4D"/>
              </a:solidFill>
              <a:latin typeface="Arial" charset="0"/>
              <a:ea typeface="ＭＳ Ｐゴシック" pitchFamily="124" charset="-128"/>
              <a:cs typeface="+mn-cs"/>
            </a:endParaRPr>
          </a:p>
        </p:txBody>
      </p:sp>
      <p:sp>
        <p:nvSpPr>
          <p:cNvPr id="76806" name="Rectangle 5"/>
          <p:cNvSpPr>
            <a:spLocks noChangeArrowheads="1"/>
          </p:cNvSpPr>
          <p:nvPr/>
        </p:nvSpPr>
        <p:spPr bwMode="auto">
          <a:xfrm>
            <a:off x="5956300" y="1998663"/>
            <a:ext cx="492125" cy="369887"/>
          </a:xfrm>
          <a:prstGeom prst="rect">
            <a:avLst/>
          </a:prstGeom>
          <a:solidFill>
            <a:srgbClr val="B30A3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>
                <a:solidFill>
                  <a:srgbClr val="CCCCCC"/>
                </a:solidFill>
                <a:ea typeface="ＭＳ Ｐゴシック" pitchFamily="34" charset="-128"/>
              </a:rPr>
              <a:t>PE</a:t>
            </a:r>
            <a:endParaRPr lang="en-US" sz="2000">
              <a:solidFill>
                <a:srgbClr val="CCCCCC"/>
              </a:solidFill>
              <a:ea typeface="ＭＳ Ｐゴシック" pitchFamily="34" charset="-128"/>
            </a:endParaRPr>
          </a:p>
        </p:txBody>
      </p:sp>
      <p:sp>
        <p:nvSpPr>
          <p:cNvPr id="76807" name="Rectangle 6"/>
          <p:cNvSpPr>
            <a:spLocks noChangeArrowheads="1"/>
          </p:cNvSpPr>
          <p:nvPr/>
        </p:nvSpPr>
        <p:spPr bwMode="auto">
          <a:xfrm>
            <a:off x="6065838" y="3424238"/>
            <a:ext cx="492125" cy="369887"/>
          </a:xfrm>
          <a:prstGeom prst="rect">
            <a:avLst/>
          </a:prstGeom>
          <a:solidFill>
            <a:srgbClr val="B30A3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dirty="0">
                <a:solidFill>
                  <a:srgbClr val="CCCCCC"/>
                </a:solidFill>
                <a:ea typeface="ＭＳ Ｐゴシック" pitchFamily="34" charset="-128"/>
              </a:rPr>
              <a:t>PE</a:t>
            </a:r>
            <a:endParaRPr lang="en-US" sz="2000" dirty="0">
              <a:solidFill>
                <a:srgbClr val="CCCCCC"/>
              </a:solidFill>
              <a:ea typeface="ＭＳ Ｐゴシック" pitchFamily="34" charset="-128"/>
            </a:endParaRPr>
          </a:p>
        </p:txBody>
      </p:sp>
      <p:sp>
        <p:nvSpPr>
          <p:cNvPr id="424967" name="Cloud"/>
          <p:cNvSpPr>
            <a:spLocks noChangeAspect="1" noEditPoints="1" noChangeArrowheads="1"/>
          </p:cNvSpPr>
          <p:nvPr/>
        </p:nvSpPr>
        <p:spPr bwMode="auto">
          <a:xfrm>
            <a:off x="5262563" y="1452563"/>
            <a:ext cx="1139825" cy="43815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6EB2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r>
              <a:rPr lang="en-US" sz="1400">
                <a:solidFill>
                  <a:srgbClr val="4D4D4D"/>
                </a:solidFill>
                <a:latin typeface="Arial" charset="0"/>
                <a:ea typeface="ＭＳ Ｐゴシック" pitchFamily="124" charset="-128"/>
                <a:cs typeface="+mn-cs"/>
              </a:rPr>
              <a:t>VPN A</a:t>
            </a:r>
          </a:p>
        </p:txBody>
      </p:sp>
      <p:sp>
        <p:nvSpPr>
          <p:cNvPr id="424968" name="Cloud"/>
          <p:cNvSpPr>
            <a:spLocks noChangeAspect="1" noEditPoints="1" noChangeArrowheads="1"/>
          </p:cNvSpPr>
          <p:nvPr/>
        </p:nvSpPr>
        <p:spPr bwMode="auto">
          <a:xfrm>
            <a:off x="5942013" y="3978275"/>
            <a:ext cx="1141412" cy="441325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6EB2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r>
              <a:rPr lang="en-US" sz="1400">
                <a:solidFill>
                  <a:srgbClr val="4D4D4D"/>
                </a:solidFill>
                <a:latin typeface="Arial" charset="0"/>
                <a:ea typeface="ＭＳ Ｐゴシック" pitchFamily="124" charset="-128"/>
                <a:cs typeface="+mn-cs"/>
              </a:rPr>
              <a:t>VPN A</a:t>
            </a:r>
          </a:p>
        </p:txBody>
      </p:sp>
      <p:sp>
        <p:nvSpPr>
          <p:cNvPr id="424969" name="Cloud"/>
          <p:cNvSpPr>
            <a:spLocks noChangeAspect="1" noEditPoints="1" noChangeArrowheads="1"/>
          </p:cNvSpPr>
          <p:nvPr/>
        </p:nvSpPr>
        <p:spPr bwMode="auto">
          <a:xfrm>
            <a:off x="6751638" y="3360738"/>
            <a:ext cx="1141412" cy="441325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20F6E8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r>
              <a:rPr lang="en-US" sz="1400">
                <a:solidFill>
                  <a:srgbClr val="4D4D4D"/>
                </a:solidFill>
                <a:latin typeface="Arial" charset="0"/>
                <a:ea typeface="ＭＳ Ｐゴシック" pitchFamily="124" charset="-128"/>
                <a:cs typeface="+mn-cs"/>
              </a:rPr>
              <a:t>VPN B</a:t>
            </a:r>
          </a:p>
        </p:txBody>
      </p:sp>
      <p:sp>
        <p:nvSpPr>
          <p:cNvPr id="424970" name="Cloud"/>
          <p:cNvSpPr>
            <a:spLocks noChangeAspect="1" noEditPoints="1" noChangeArrowheads="1"/>
          </p:cNvSpPr>
          <p:nvPr/>
        </p:nvSpPr>
        <p:spPr bwMode="auto">
          <a:xfrm>
            <a:off x="6515100" y="1666875"/>
            <a:ext cx="1141413" cy="441325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20F6E8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r>
              <a:rPr lang="en-US" sz="1400">
                <a:solidFill>
                  <a:srgbClr val="4D4D4D"/>
                </a:solidFill>
                <a:latin typeface="Arial" charset="0"/>
                <a:ea typeface="ＭＳ Ｐゴシック" pitchFamily="124" charset="-128"/>
                <a:cs typeface="+mn-cs"/>
              </a:rPr>
              <a:t>VPN B</a:t>
            </a:r>
          </a:p>
        </p:txBody>
      </p:sp>
      <p:sp>
        <p:nvSpPr>
          <p:cNvPr id="76812" name="Rectangle 11"/>
          <p:cNvSpPr>
            <a:spLocks noChangeArrowheads="1"/>
          </p:cNvSpPr>
          <p:nvPr/>
        </p:nvSpPr>
        <p:spPr bwMode="auto">
          <a:xfrm>
            <a:off x="4345034" y="2001987"/>
            <a:ext cx="614271" cy="461665"/>
          </a:xfrm>
          <a:prstGeom prst="rect">
            <a:avLst/>
          </a:prstGeom>
          <a:solidFill>
            <a:srgbClr val="B30A3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dirty="0">
                <a:solidFill>
                  <a:srgbClr val="CCCCCC"/>
                </a:solidFill>
                <a:ea typeface="ＭＳ Ｐゴシック" pitchFamily="34" charset="-128"/>
              </a:rPr>
              <a:t>RR</a:t>
            </a:r>
            <a:endParaRPr lang="en-US" sz="2000" dirty="0">
              <a:solidFill>
                <a:srgbClr val="CCCCCC"/>
              </a:solidFill>
              <a:ea typeface="ＭＳ Ｐゴシック" pitchFamily="34" charset="-128"/>
            </a:endParaRPr>
          </a:p>
        </p:txBody>
      </p:sp>
      <p:sp>
        <p:nvSpPr>
          <p:cNvPr id="76813" name="Line 12"/>
          <p:cNvSpPr>
            <a:spLocks noChangeShapeType="1"/>
          </p:cNvSpPr>
          <p:nvPr/>
        </p:nvSpPr>
        <p:spPr bwMode="auto">
          <a:xfrm>
            <a:off x="5946775" y="1852613"/>
            <a:ext cx="165100" cy="17303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6814" name="Line 13"/>
          <p:cNvSpPr>
            <a:spLocks noChangeShapeType="1"/>
          </p:cNvSpPr>
          <p:nvPr/>
        </p:nvSpPr>
        <p:spPr bwMode="auto">
          <a:xfrm flipH="1">
            <a:off x="6448425" y="2049463"/>
            <a:ext cx="285750" cy="10001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815" name="Line 14"/>
          <p:cNvSpPr>
            <a:spLocks noChangeShapeType="1"/>
          </p:cNvSpPr>
          <p:nvPr/>
        </p:nvSpPr>
        <p:spPr bwMode="auto">
          <a:xfrm>
            <a:off x="6297613" y="3784600"/>
            <a:ext cx="101600" cy="20955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816" name="Line 15"/>
          <p:cNvSpPr>
            <a:spLocks noChangeShapeType="1"/>
          </p:cNvSpPr>
          <p:nvPr/>
        </p:nvSpPr>
        <p:spPr bwMode="auto">
          <a:xfrm>
            <a:off x="6535738" y="3619500"/>
            <a:ext cx="276225" cy="17463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817" name="Line 16"/>
          <p:cNvSpPr>
            <a:spLocks noChangeShapeType="1"/>
          </p:cNvSpPr>
          <p:nvPr/>
        </p:nvSpPr>
        <p:spPr bwMode="auto">
          <a:xfrm flipH="1">
            <a:off x="1624013" y="2727325"/>
            <a:ext cx="839787" cy="635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818" name="Line 17"/>
          <p:cNvSpPr>
            <a:spLocks noChangeShapeType="1"/>
          </p:cNvSpPr>
          <p:nvPr/>
        </p:nvSpPr>
        <p:spPr bwMode="auto">
          <a:xfrm flipH="1">
            <a:off x="3665538" y="2230438"/>
            <a:ext cx="560387" cy="612775"/>
          </a:xfrm>
          <a:prstGeom prst="line">
            <a:avLst/>
          </a:prstGeom>
          <a:noFill/>
          <a:ln w="22225">
            <a:solidFill>
              <a:schemeClr val="tx2"/>
            </a:solidFill>
            <a:prstDash val="dash"/>
            <a:round/>
            <a:headEnd type="triangle" w="med" len="med"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819" name="Line 18"/>
          <p:cNvSpPr>
            <a:spLocks noChangeShapeType="1"/>
          </p:cNvSpPr>
          <p:nvPr/>
        </p:nvSpPr>
        <p:spPr bwMode="auto">
          <a:xfrm flipH="1">
            <a:off x="5095875" y="2193925"/>
            <a:ext cx="877888" cy="11113"/>
          </a:xfrm>
          <a:prstGeom prst="line">
            <a:avLst/>
          </a:prstGeom>
          <a:noFill/>
          <a:ln w="22225">
            <a:solidFill>
              <a:schemeClr val="tx2"/>
            </a:solidFill>
            <a:prstDash val="dash"/>
            <a:round/>
            <a:headEnd type="triangle" w="med" len="med"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820" name="Line 19"/>
          <p:cNvSpPr>
            <a:spLocks noChangeShapeType="1"/>
          </p:cNvSpPr>
          <p:nvPr/>
        </p:nvSpPr>
        <p:spPr bwMode="auto">
          <a:xfrm flipH="1" flipV="1">
            <a:off x="4592638" y="2419350"/>
            <a:ext cx="1487487" cy="1157288"/>
          </a:xfrm>
          <a:prstGeom prst="line">
            <a:avLst/>
          </a:prstGeom>
          <a:noFill/>
          <a:ln w="22225">
            <a:solidFill>
              <a:schemeClr val="tx2"/>
            </a:solidFill>
            <a:prstDash val="dash"/>
            <a:round/>
            <a:headEnd type="triangle" w="med" len="med"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821" name="Rectangle 20"/>
          <p:cNvSpPr>
            <a:spLocks noChangeArrowheads="1"/>
          </p:cNvSpPr>
          <p:nvPr/>
        </p:nvSpPr>
        <p:spPr bwMode="auto">
          <a:xfrm>
            <a:off x="2446338" y="2579688"/>
            <a:ext cx="1230312" cy="1087437"/>
          </a:xfrm>
          <a:prstGeom prst="rect">
            <a:avLst/>
          </a:prstGeom>
          <a:solidFill>
            <a:srgbClr val="B30A3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 dirty="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6822" name="Line 21"/>
          <p:cNvSpPr>
            <a:spLocks noChangeShapeType="1"/>
          </p:cNvSpPr>
          <p:nvPr/>
        </p:nvSpPr>
        <p:spPr bwMode="auto">
          <a:xfrm flipH="1" flipV="1">
            <a:off x="1295400" y="2895600"/>
            <a:ext cx="1149350" cy="23813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823" name="Line 22"/>
          <p:cNvSpPr>
            <a:spLocks noChangeShapeType="1"/>
          </p:cNvSpPr>
          <p:nvPr/>
        </p:nvSpPr>
        <p:spPr bwMode="auto">
          <a:xfrm flipH="1">
            <a:off x="1609725" y="3074988"/>
            <a:ext cx="841375" cy="635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824" name="Line 23"/>
          <p:cNvSpPr>
            <a:spLocks noChangeShapeType="1"/>
          </p:cNvSpPr>
          <p:nvPr/>
        </p:nvSpPr>
        <p:spPr bwMode="auto">
          <a:xfrm flipH="1">
            <a:off x="1609725" y="3221038"/>
            <a:ext cx="841375" cy="635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825" name="Line 24"/>
          <p:cNvSpPr>
            <a:spLocks noChangeShapeType="1"/>
          </p:cNvSpPr>
          <p:nvPr/>
        </p:nvSpPr>
        <p:spPr bwMode="auto">
          <a:xfrm flipH="1">
            <a:off x="1219200" y="3367088"/>
            <a:ext cx="1231900" cy="6191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826" name="Line 25"/>
          <p:cNvSpPr>
            <a:spLocks noChangeShapeType="1"/>
          </p:cNvSpPr>
          <p:nvPr/>
        </p:nvSpPr>
        <p:spPr bwMode="auto">
          <a:xfrm flipH="1">
            <a:off x="1609725" y="3511550"/>
            <a:ext cx="841375" cy="7938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827" name="Rectangle 26"/>
          <p:cNvSpPr>
            <a:spLocks noChangeArrowheads="1"/>
          </p:cNvSpPr>
          <p:nvPr/>
        </p:nvSpPr>
        <p:spPr bwMode="auto">
          <a:xfrm>
            <a:off x="2444750" y="2674938"/>
            <a:ext cx="341313" cy="103187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6828" name="Rectangle 27"/>
          <p:cNvSpPr>
            <a:spLocks noChangeArrowheads="1"/>
          </p:cNvSpPr>
          <p:nvPr/>
        </p:nvSpPr>
        <p:spPr bwMode="auto">
          <a:xfrm>
            <a:off x="2444750" y="2855913"/>
            <a:ext cx="341313" cy="104775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6829" name="Rectangle 28"/>
          <p:cNvSpPr>
            <a:spLocks noChangeArrowheads="1"/>
          </p:cNvSpPr>
          <p:nvPr/>
        </p:nvSpPr>
        <p:spPr bwMode="auto">
          <a:xfrm>
            <a:off x="2444750" y="3014663"/>
            <a:ext cx="341313" cy="104775"/>
          </a:xfrm>
          <a:prstGeom prst="rect">
            <a:avLst/>
          </a:prstGeom>
          <a:solidFill>
            <a:schemeClr val="hlink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6830" name="Rectangle 29"/>
          <p:cNvSpPr>
            <a:spLocks noChangeArrowheads="1"/>
          </p:cNvSpPr>
          <p:nvPr/>
        </p:nvSpPr>
        <p:spPr bwMode="auto">
          <a:xfrm>
            <a:off x="2444750" y="3160713"/>
            <a:ext cx="341313" cy="104775"/>
          </a:xfrm>
          <a:prstGeom prst="rect">
            <a:avLst/>
          </a:prstGeom>
          <a:solidFill>
            <a:srgbClr val="FF00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6831" name="Rectangle 30"/>
          <p:cNvSpPr>
            <a:spLocks noChangeArrowheads="1"/>
          </p:cNvSpPr>
          <p:nvPr/>
        </p:nvSpPr>
        <p:spPr bwMode="auto">
          <a:xfrm>
            <a:off x="2444750" y="3306763"/>
            <a:ext cx="341313" cy="103187"/>
          </a:xfrm>
          <a:prstGeom prst="rect">
            <a:avLst/>
          </a:prstGeom>
          <a:solidFill>
            <a:schemeClr val="folHlink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6832" name="Rectangle 31"/>
          <p:cNvSpPr>
            <a:spLocks noChangeArrowheads="1"/>
          </p:cNvSpPr>
          <p:nvPr/>
        </p:nvSpPr>
        <p:spPr bwMode="auto">
          <a:xfrm>
            <a:off x="2444750" y="3451225"/>
            <a:ext cx="341313" cy="10477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6833" name="Text Box 32"/>
          <p:cNvSpPr txBox="1">
            <a:spLocks noChangeArrowheads="1"/>
          </p:cNvSpPr>
          <p:nvPr/>
        </p:nvSpPr>
        <p:spPr bwMode="auto">
          <a:xfrm>
            <a:off x="2870200" y="2890838"/>
            <a:ext cx="701675" cy="461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solidFill>
                  <a:srgbClr val="CCCCCC"/>
                </a:solidFill>
                <a:ea typeface="ＭＳ Ｐゴシック" pitchFamily="34" charset="-128"/>
              </a:rPr>
              <a:t>PE</a:t>
            </a:r>
          </a:p>
        </p:txBody>
      </p:sp>
      <p:sp>
        <p:nvSpPr>
          <p:cNvPr id="76834" name="Rectangle 33"/>
          <p:cNvSpPr>
            <a:spLocks noChangeArrowheads="1"/>
          </p:cNvSpPr>
          <p:nvPr/>
        </p:nvSpPr>
        <p:spPr bwMode="auto">
          <a:xfrm>
            <a:off x="3048000" y="1143000"/>
            <a:ext cx="1597025" cy="307975"/>
          </a:xfrm>
          <a:prstGeom prst="rect">
            <a:avLst/>
          </a:prstGeom>
          <a:solidFill>
            <a:srgbClr val="B30A3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400">
                <a:solidFill>
                  <a:srgbClr val="CCCCCC"/>
                </a:solidFill>
                <a:ea typeface="ＭＳ Ｐゴシック" pitchFamily="34" charset="-128"/>
              </a:rPr>
              <a:t>Network Manager</a:t>
            </a:r>
          </a:p>
        </p:txBody>
      </p:sp>
      <p:sp>
        <p:nvSpPr>
          <p:cNvPr id="76835" name="Line 34"/>
          <p:cNvSpPr>
            <a:spLocks noChangeShapeType="1"/>
          </p:cNvSpPr>
          <p:nvPr/>
        </p:nvSpPr>
        <p:spPr bwMode="auto">
          <a:xfrm>
            <a:off x="3886200" y="1447800"/>
            <a:ext cx="628650" cy="6096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836" name="Line 35"/>
          <p:cNvSpPr>
            <a:spLocks noChangeShapeType="1"/>
          </p:cNvSpPr>
          <p:nvPr/>
        </p:nvSpPr>
        <p:spPr bwMode="auto">
          <a:xfrm flipH="1">
            <a:off x="2159000" y="2081213"/>
            <a:ext cx="0" cy="21717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837" name="Rectangle 36"/>
          <p:cNvSpPr>
            <a:spLocks noChangeArrowheads="1"/>
          </p:cNvSpPr>
          <p:nvPr/>
        </p:nvSpPr>
        <p:spPr bwMode="auto">
          <a:xfrm>
            <a:off x="7620000" y="2305050"/>
            <a:ext cx="914400" cy="914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6838" name="Rectangle 37"/>
          <p:cNvSpPr>
            <a:spLocks noChangeArrowheads="1"/>
          </p:cNvSpPr>
          <p:nvPr/>
        </p:nvSpPr>
        <p:spPr bwMode="auto">
          <a:xfrm>
            <a:off x="7986713" y="952500"/>
            <a:ext cx="914400" cy="914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6839" name="Rectangle 38"/>
          <p:cNvSpPr>
            <a:spLocks noChangeArrowheads="1"/>
          </p:cNvSpPr>
          <p:nvPr/>
        </p:nvSpPr>
        <p:spPr bwMode="auto">
          <a:xfrm>
            <a:off x="609600" y="1266825"/>
            <a:ext cx="341313" cy="104775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6840" name="Rectangle 39"/>
          <p:cNvSpPr>
            <a:spLocks noChangeArrowheads="1"/>
          </p:cNvSpPr>
          <p:nvPr/>
        </p:nvSpPr>
        <p:spPr bwMode="auto">
          <a:xfrm>
            <a:off x="609600" y="1647825"/>
            <a:ext cx="341313" cy="103188"/>
          </a:xfrm>
          <a:prstGeom prst="rect">
            <a:avLst/>
          </a:prstGeom>
          <a:solidFill>
            <a:schemeClr val="folHlink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6841" name="Rectangle 40"/>
          <p:cNvSpPr>
            <a:spLocks noChangeArrowheads="1"/>
          </p:cNvSpPr>
          <p:nvPr/>
        </p:nvSpPr>
        <p:spPr bwMode="auto">
          <a:xfrm>
            <a:off x="1600200" y="1647825"/>
            <a:ext cx="341313" cy="104775"/>
          </a:xfrm>
          <a:prstGeom prst="rect">
            <a:avLst/>
          </a:prstGeom>
          <a:solidFill>
            <a:srgbClr val="20F6E8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6842" name="Rectangle 41"/>
          <p:cNvSpPr>
            <a:spLocks noChangeArrowheads="1"/>
          </p:cNvSpPr>
          <p:nvPr/>
        </p:nvSpPr>
        <p:spPr bwMode="auto">
          <a:xfrm>
            <a:off x="1600200" y="1266825"/>
            <a:ext cx="341313" cy="103188"/>
          </a:xfrm>
          <a:prstGeom prst="rect">
            <a:avLst/>
          </a:prstGeom>
          <a:solidFill>
            <a:srgbClr val="F6EB23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6844" name="Line 43"/>
          <p:cNvSpPr>
            <a:spLocks noChangeShapeType="1"/>
          </p:cNvSpPr>
          <p:nvPr/>
        </p:nvSpPr>
        <p:spPr bwMode="auto">
          <a:xfrm>
            <a:off x="1066800" y="1343025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6845" name="Line 44"/>
          <p:cNvSpPr>
            <a:spLocks noChangeShapeType="1"/>
          </p:cNvSpPr>
          <p:nvPr/>
        </p:nvSpPr>
        <p:spPr bwMode="auto">
          <a:xfrm>
            <a:off x="1066800" y="1724025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50" name="Group 49"/>
          <p:cNvGrpSpPr/>
          <p:nvPr/>
        </p:nvGrpSpPr>
        <p:grpSpPr>
          <a:xfrm>
            <a:off x="211664" y="1122889"/>
            <a:ext cx="1905000" cy="1219200"/>
            <a:chOff x="287867" y="1173691"/>
            <a:chExt cx="1905000" cy="1219200"/>
          </a:xfrm>
        </p:grpSpPr>
        <p:sp>
          <p:nvSpPr>
            <p:cNvPr id="76843" name="Text Box 42"/>
            <p:cNvSpPr txBox="1">
              <a:spLocks noChangeArrowheads="1"/>
            </p:cNvSpPr>
            <p:nvPr/>
          </p:nvSpPr>
          <p:spPr bwMode="auto">
            <a:xfrm>
              <a:off x="289455" y="1888067"/>
              <a:ext cx="1903412" cy="4619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dirty="0">
                  <a:solidFill>
                    <a:srgbClr val="4D4D4D"/>
                  </a:solidFill>
                  <a:ea typeface="ＭＳ Ｐゴシック" pitchFamily="34" charset="-128"/>
                </a:rPr>
                <a:t>Remapping</a:t>
              </a:r>
            </a:p>
          </p:txBody>
        </p:sp>
        <p:sp>
          <p:nvSpPr>
            <p:cNvPr id="76846" name="Rectangle 45"/>
            <p:cNvSpPr>
              <a:spLocks noChangeArrowheads="1"/>
            </p:cNvSpPr>
            <p:nvPr/>
          </p:nvSpPr>
          <p:spPr bwMode="auto">
            <a:xfrm>
              <a:off x="287867" y="1173691"/>
              <a:ext cx="1905000" cy="1219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endParaRPr lang="en-US" sz="2400">
                <a:solidFill>
                  <a:srgbClr val="4D4D4D"/>
                </a:solidFill>
                <a:ea typeface="ＭＳ Ｐゴシック" pitchFamily="34" charset="-128"/>
              </a:endParaRPr>
            </a:p>
          </p:txBody>
        </p:sp>
      </p:grpSp>
      <p:sp>
        <p:nvSpPr>
          <p:cNvPr id="76847" name="Rectangle 3"/>
          <p:cNvSpPr>
            <a:spLocks noChangeArrowheads="1"/>
          </p:cNvSpPr>
          <p:nvPr/>
        </p:nvSpPr>
        <p:spPr bwMode="auto">
          <a:xfrm>
            <a:off x="120580" y="4467225"/>
            <a:ext cx="8370277" cy="217064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169863" indent="-169863" algn="l" defTabSz="947738" eaLnBrk="0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rgbClr val="000000"/>
              </a:buClr>
              <a:buSzPct val="100000"/>
              <a:buFontTx/>
              <a:buChar char="•"/>
            </a:pPr>
            <a:r>
              <a:rPr lang="en-US" sz="2000" dirty="0">
                <a:solidFill>
                  <a:srgbClr val="4D4D4D"/>
                </a:solidFill>
                <a:ea typeface="ＭＳ Ｐゴシック" pitchFamily="34" charset="-128"/>
              </a:rPr>
              <a:t>Network side: Dynamic VPN mapping with Route Reflector (RR)</a:t>
            </a:r>
          </a:p>
          <a:p>
            <a:pPr marL="169863" indent="-169863" algn="l" defTabSz="947738" eaLnBrk="0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rgbClr val="000000"/>
              </a:buClr>
              <a:buSzPct val="100000"/>
              <a:buFontTx/>
              <a:buChar char="•"/>
            </a:pPr>
            <a:r>
              <a:rPr lang="en-US" sz="2000" dirty="0">
                <a:solidFill>
                  <a:srgbClr val="4D4D4D"/>
                </a:solidFill>
                <a:ea typeface="ＭＳ Ｐゴシック" pitchFamily="34" charset="-128"/>
              </a:rPr>
              <a:t>On PE connected to cloud platform</a:t>
            </a:r>
          </a:p>
          <a:p>
            <a:pPr marL="517525" lvl="1" indent="-233363" algn="l" defTabSz="947738" eaLnBrk="0" hangingPunct="0">
              <a:lnSpc>
                <a:spcPct val="90000"/>
              </a:lnSpc>
              <a:spcBef>
                <a:spcPct val="10000"/>
              </a:spcBef>
              <a:spcAft>
                <a:spcPct val="30000"/>
              </a:spcAft>
              <a:buClr>
                <a:srgbClr val="4D4D4D"/>
              </a:buClr>
              <a:buSzPct val="80000"/>
              <a:buFontTx/>
              <a:buChar char="•"/>
            </a:pPr>
            <a:r>
              <a:rPr lang="en-US" sz="2000" dirty="0">
                <a:solidFill>
                  <a:srgbClr val="4D4D4D"/>
                </a:solidFill>
                <a:ea typeface="ＭＳ Ｐゴシック" pitchFamily="34" charset="-128"/>
              </a:rPr>
              <a:t>Pre-configure VPN interfaces with Route-targets</a:t>
            </a:r>
          </a:p>
          <a:p>
            <a:pPr marL="169863" indent="-169863" algn="l" defTabSz="947738" eaLnBrk="0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rgbClr val="000000"/>
              </a:buClr>
              <a:buSzPct val="100000"/>
              <a:buFontTx/>
              <a:buChar char="•"/>
            </a:pPr>
            <a:r>
              <a:rPr lang="en-US" sz="2000" dirty="0">
                <a:solidFill>
                  <a:srgbClr val="4D4D4D"/>
                </a:solidFill>
                <a:ea typeface="ＭＳ Ｐゴシック" pitchFamily="34" charset="-128"/>
              </a:rPr>
              <a:t>RR re-writes the RTs as needed to dynamically map these interfaces into specific VPNs</a:t>
            </a:r>
          </a:p>
        </p:txBody>
      </p:sp>
      <p:sp>
        <p:nvSpPr>
          <p:cNvPr id="425010" name="Cloud"/>
          <p:cNvSpPr>
            <a:spLocks noChangeAspect="1" noEditPoints="1" noChangeArrowheads="1"/>
          </p:cNvSpPr>
          <p:nvPr/>
        </p:nvSpPr>
        <p:spPr bwMode="auto">
          <a:xfrm>
            <a:off x="152400" y="2667000"/>
            <a:ext cx="1141413" cy="441325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6EB2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r>
              <a:rPr lang="en-US" sz="1400">
                <a:solidFill>
                  <a:srgbClr val="4D4D4D"/>
                </a:solidFill>
                <a:latin typeface="Arial" charset="0"/>
                <a:ea typeface="ＭＳ Ｐゴシック" pitchFamily="124" charset="-128"/>
                <a:cs typeface="+mn-cs"/>
              </a:rPr>
              <a:t>VPN A</a:t>
            </a:r>
          </a:p>
        </p:txBody>
      </p:sp>
      <p:sp>
        <p:nvSpPr>
          <p:cNvPr id="425011" name="Cloud"/>
          <p:cNvSpPr>
            <a:spLocks noChangeAspect="1" noEditPoints="1" noChangeArrowheads="1"/>
          </p:cNvSpPr>
          <p:nvPr/>
        </p:nvSpPr>
        <p:spPr bwMode="auto">
          <a:xfrm>
            <a:off x="152400" y="3276600"/>
            <a:ext cx="1141413" cy="441325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20F6E8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r>
              <a:rPr lang="en-US" sz="1400">
                <a:solidFill>
                  <a:srgbClr val="4D4D4D"/>
                </a:solidFill>
                <a:latin typeface="Arial" charset="0"/>
                <a:ea typeface="ＭＳ Ｐゴシック" pitchFamily="124" charset="-128"/>
                <a:cs typeface="+mn-cs"/>
              </a:rPr>
              <a:t>VPN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22E8A-192A-8B47-BC5E-AC26817354F8}"/>
              </a:ext>
            </a:extLst>
          </p:cNvPr>
          <p:cNvSpPr txBox="1"/>
          <p:nvPr/>
        </p:nvSpPr>
        <p:spPr>
          <a:xfrm>
            <a:off x="2608586" y="2133220"/>
            <a:ext cx="537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RTs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129C0DA-11E9-EE49-80AE-F6D9E9494382}"/>
              </a:ext>
            </a:extLst>
          </p:cNvPr>
          <p:cNvCxnSpPr>
            <a:stCxn id="2" idx="2"/>
          </p:cNvCxnSpPr>
          <p:nvPr/>
        </p:nvCxnSpPr>
        <p:spPr bwMode="auto">
          <a:xfrm flipH="1">
            <a:off x="2764255" y="2471774"/>
            <a:ext cx="112995" cy="191050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 bwMode="auto">
          <a:xfrm>
            <a:off x="4242486" y="3123168"/>
            <a:ext cx="3708400" cy="179863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/>
              <a:ea typeface="+mn-ea"/>
              <a:cs typeface="Arial" charset="0"/>
            </a:endParaRPr>
          </a:p>
        </p:txBody>
      </p:sp>
      <p:sp>
        <p:nvSpPr>
          <p:cNvPr id="2867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6200" y="6638844"/>
            <a:ext cx="817563" cy="152400"/>
          </a:xfrm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+mn-cs"/>
              </a:rPr>
              <a:t>Page </a:t>
            </a:r>
            <a:fld id="{7B3A53AA-8547-4DDD-BC9E-8EB58F4AA42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charset="0"/>
              <a:ea typeface="ＭＳ Ｐゴシック" pitchFamily="124" charset="-128"/>
              <a:cs typeface="+mn-cs"/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915400" cy="990600"/>
          </a:xfrm>
        </p:spPr>
        <p:txBody>
          <a:bodyPr/>
          <a:lstStyle/>
          <a:p>
            <a:pPr algn="ctr"/>
            <a:r>
              <a:rPr lang="en-US"/>
              <a:t> Dynamic VPN re-mapping</a:t>
            </a:r>
            <a:br>
              <a:rPr lang="en-US"/>
            </a:br>
            <a:r>
              <a:rPr lang="en-US" sz="2600"/>
              <a:t>VPLS example</a:t>
            </a:r>
            <a:endParaRPr lang="en-US"/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153" y="4942125"/>
            <a:ext cx="8776447" cy="1676400"/>
          </a:xfrm>
        </p:spPr>
        <p:txBody>
          <a:bodyPr/>
          <a:lstStyle/>
          <a:p>
            <a:pPr marL="0" indent="0">
              <a:lnSpc>
                <a:spcPct val="90000"/>
              </a:lnSpc>
              <a:buFontTx/>
              <a:buChar char="•"/>
            </a:pPr>
            <a:r>
              <a:rPr lang="en-US" sz="1600" dirty="0"/>
              <a:t>VPLS VPN membership determined by route-targets associated with the VPN interfaces and distributed via BGP</a:t>
            </a:r>
          </a:p>
          <a:p>
            <a:pPr marL="0" indent="0">
              <a:lnSpc>
                <a:spcPct val="90000"/>
              </a:lnSpc>
              <a:buFontTx/>
              <a:buChar char="•"/>
            </a:pPr>
            <a:r>
              <a:rPr lang="en-US" sz="1600" dirty="0"/>
              <a:t>VPLS VPN information distributed between PEs using BGP via IRSCP (acting as a route-reflector)</a:t>
            </a:r>
          </a:p>
          <a:p>
            <a:pPr marL="0" indent="0">
              <a:lnSpc>
                <a:spcPct val="90000"/>
              </a:lnSpc>
              <a:buFontTx/>
              <a:buChar char="•"/>
            </a:pPr>
            <a:r>
              <a:rPr lang="en-US" sz="1600" dirty="0"/>
              <a:t>IRSCP re-writes route-targets as needed to facilitate mapping</a:t>
            </a:r>
          </a:p>
          <a:p>
            <a:pPr marL="0" indent="0">
              <a:lnSpc>
                <a:spcPct val="90000"/>
              </a:lnSpc>
              <a:buFontTx/>
              <a:buChar char="•"/>
            </a:pPr>
            <a:r>
              <a:rPr lang="en-US" sz="1600" dirty="0"/>
              <a:t>Map </a:t>
            </a:r>
            <a:r>
              <a:rPr lang="en-US" sz="1600" b="1" dirty="0">
                <a:solidFill>
                  <a:srgbClr val="7030A0"/>
                </a:solidFill>
              </a:rPr>
              <a:t>purple</a:t>
            </a:r>
            <a:r>
              <a:rPr lang="en-US" sz="1600" b="1" dirty="0"/>
              <a:t> </a:t>
            </a:r>
            <a:r>
              <a:rPr lang="en-US" sz="1600" b="1" dirty="0">
                <a:solidFill>
                  <a:srgbClr val="7030A0"/>
                </a:solidFill>
              </a:rPr>
              <a:t>VPLS VPN </a:t>
            </a:r>
            <a:r>
              <a:rPr lang="en-US" sz="1600" dirty="0"/>
              <a:t>into </a:t>
            </a:r>
            <a:r>
              <a:rPr lang="en-US" sz="1600" b="1" dirty="0">
                <a:solidFill>
                  <a:srgbClr val="00B050"/>
                </a:solidFill>
              </a:rPr>
              <a:t>green</a:t>
            </a:r>
            <a:r>
              <a:rPr lang="en-US" sz="1600" b="1" dirty="0"/>
              <a:t> </a:t>
            </a:r>
            <a:r>
              <a:rPr lang="en-US" sz="1600" b="1" dirty="0">
                <a:solidFill>
                  <a:srgbClr val="00B050"/>
                </a:solidFill>
              </a:rPr>
              <a:t>VPLS VPN</a:t>
            </a:r>
            <a:r>
              <a:rPr lang="en-US" sz="1600" dirty="0"/>
              <a:t> </a:t>
            </a:r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609600" y="1447800"/>
            <a:ext cx="854075" cy="892175"/>
          </a:xfrm>
          <a:prstGeom prst="rect">
            <a:avLst/>
          </a:prstGeom>
          <a:solidFill>
            <a:srgbClr val="00823B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host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rcs4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3318" name="Rectangle 5"/>
          <p:cNvSpPr>
            <a:spLocks noChangeArrowheads="1"/>
          </p:cNvSpPr>
          <p:nvPr/>
        </p:nvSpPr>
        <p:spPr bwMode="auto">
          <a:xfrm>
            <a:off x="5410200" y="4038600"/>
            <a:ext cx="854075" cy="892175"/>
          </a:xfrm>
          <a:prstGeom prst="rect">
            <a:avLst/>
          </a:prstGeom>
          <a:solidFill>
            <a:srgbClr val="FA00A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host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rcs3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393481" y="1309856"/>
            <a:ext cx="849912" cy="1015663"/>
          </a:xfrm>
          <a:prstGeom prst="rect">
            <a:avLst/>
          </a:prstGeom>
          <a:solidFill>
            <a:srgbClr val="00823B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host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rcs5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2209800" y="1828800"/>
            <a:ext cx="766763" cy="474663"/>
          </a:xfrm>
          <a:prstGeom prst="rect">
            <a:avLst/>
          </a:prstGeom>
          <a:solidFill>
            <a:srgbClr val="28B3F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PE1</a:t>
            </a: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4338638" y="3259138"/>
            <a:ext cx="766762" cy="474662"/>
          </a:xfrm>
          <a:prstGeom prst="rect">
            <a:avLst/>
          </a:prstGeom>
          <a:solidFill>
            <a:srgbClr val="28B3F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PE3</a:t>
            </a: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938838" y="1676400"/>
            <a:ext cx="766762" cy="474663"/>
          </a:xfrm>
          <a:prstGeom prst="rect">
            <a:avLst/>
          </a:prstGeom>
          <a:solidFill>
            <a:srgbClr val="28B3F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PE2</a:t>
            </a: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4191000" y="2286000"/>
            <a:ext cx="381000" cy="474663"/>
          </a:xfrm>
          <a:prstGeom prst="rect">
            <a:avLst/>
          </a:prstGeom>
          <a:solidFill>
            <a:srgbClr val="28B3F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P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3888466" y="1225699"/>
            <a:ext cx="1140056" cy="461665"/>
          </a:xfrm>
          <a:prstGeom prst="rect">
            <a:avLst/>
          </a:prstGeom>
          <a:solidFill>
            <a:srgbClr val="B30A3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Arial" pitchFamily="-111" charset="-52"/>
              </a:rPr>
              <a:t>IRSCP</a:t>
            </a:r>
          </a:p>
        </p:txBody>
      </p:sp>
      <p:sp>
        <p:nvSpPr>
          <p:cNvPr id="13325" name="Text Box 12"/>
          <p:cNvSpPr txBox="1">
            <a:spLocks noChangeArrowheads="1"/>
          </p:cNvSpPr>
          <p:nvPr/>
        </p:nvSpPr>
        <p:spPr bwMode="auto">
          <a:xfrm>
            <a:off x="304800" y="2438400"/>
            <a:ext cx="1577975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10.100.2.7</a:t>
            </a:r>
          </a:p>
        </p:txBody>
      </p:sp>
      <p:sp>
        <p:nvSpPr>
          <p:cNvPr id="13326" name="Text Box 13"/>
          <p:cNvSpPr txBox="1">
            <a:spLocks noChangeArrowheads="1"/>
          </p:cNvSpPr>
          <p:nvPr/>
        </p:nvSpPr>
        <p:spPr bwMode="auto">
          <a:xfrm>
            <a:off x="7086600" y="2362200"/>
            <a:ext cx="1577975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10.100.2.5</a:t>
            </a:r>
          </a:p>
        </p:txBody>
      </p:sp>
      <p:sp>
        <p:nvSpPr>
          <p:cNvPr id="13327" name="Text Box 14"/>
          <p:cNvSpPr txBox="1">
            <a:spLocks noChangeArrowheads="1"/>
          </p:cNvSpPr>
          <p:nvPr/>
        </p:nvSpPr>
        <p:spPr bwMode="auto">
          <a:xfrm>
            <a:off x="6324600" y="4114800"/>
            <a:ext cx="1577975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10.100.2.6</a:t>
            </a:r>
          </a:p>
        </p:txBody>
      </p:sp>
      <p:sp>
        <p:nvSpPr>
          <p:cNvPr id="13328" name="Line 17"/>
          <p:cNvSpPr>
            <a:spLocks noChangeShapeType="1"/>
          </p:cNvSpPr>
          <p:nvPr/>
        </p:nvSpPr>
        <p:spPr bwMode="auto">
          <a:xfrm>
            <a:off x="1447800" y="1981200"/>
            <a:ext cx="7620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3329" name="Line 18"/>
          <p:cNvSpPr>
            <a:spLocks noChangeShapeType="1"/>
          </p:cNvSpPr>
          <p:nvPr/>
        </p:nvSpPr>
        <p:spPr bwMode="auto">
          <a:xfrm>
            <a:off x="2971800" y="2057400"/>
            <a:ext cx="12192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3330" name="Line 19"/>
          <p:cNvSpPr>
            <a:spLocks noChangeShapeType="1"/>
          </p:cNvSpPr>
          <p:nvPr/>
        </p:nvSpPr>
        <p:spPr bwMode="auto">
          <a:xfrm flipV="1">
            <a:off x="4572000" y="1905000"/>
            <a:ext cx="1371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3331" name="Line 20"/>
          <p:cNvSpPr>
            <a:spLocks noChangeShapeType="1"/>
          </p:cNvSpPr>
          <p:nvPr/>
        </p:nvSpPr>
        <p:spPr bwMode="auto">
          <a:xfrm flipH="1" flipV="1">
            <a:off x="4343400" y="1676400"/>
            <a:ext cx="762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3332" name="Line 21"/>
          <p:cNvSpPr>
            <a:spLocks noChangeShapeType="1"/>
          </p:cNvSpPr>
          <p:nvPr/>
        </p:nvSpPr>
        <p:spPr bwMode="auto">
          <a:xfrm flipV="1">
            <a:off x="6705600" y="1828800"/>
            <a:ext cx="6858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3333" name="Line 22"/>
          <p:cNvSpPr>
            <a:spLocks noChangeShapeType="1"/>
          </p:cNvSpPr>
          <p:nvPr/>
        </p:nvSpPr>
        <p:spPr bwMode="auto">
          <a:xfrm>
            <a:off x="4419600" y="2743200"/>
            <a:ext cx="2286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3334" name="Line 23"/>
          <p:cNvSpPr>
            <a:spLocks noChangeShapeType="1"/>
          </p:cNvSpPr>
          <p:nvPr/>
        </p:nvSpPr>
        <p:spPr bwMode="auto">
          <a:xfrm>
            <a:off x="4800600" y="3733800"/>
            <a:ext cx="9906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3335" name="Line 24"/>
          <p:cNvSpPr>
            <a:spLocks noChangeShapeType="1"/>
          </p:cNvSpPr>
          <p:nvPr/>
        </p:nvSpPr>
        <p:spPr bwMode="auto">
          <a:xfrm>
            <a:off x="1447800" y="1828800"/>
            <a:ext cx="762000" cy="76200"/>
          </a:xfrm>
          <a:prstGeom prst="line">
            <a:avLst/>
          </a:prstGeom>
          <a:noFill/>
          <a:ln w="98425">
            <a:solidFill>
              <a:srgbClr val="00FF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3336" name="Line 25"/>
          <p:cNvSpPr>
            <a:spLocks noChangeShapeType="1"/>
          </p:cNvSpPr>
          <p:nvPr/>
        </p:nvSpPr>
        <p:spPr bwMode="auto">
          <a:xfrm flipV="1">
            <a:off x="6705600" y="1676400"/>
            <a:ext cx="685800" cy="76200"/>
          </a:xfrm>
          <a:prstGeom prst="line">
            <a:avLst/>
          </a:prstGeom>
          <a:noFill/>
          <a:ln w="98425">
            <a:solidFill>
              <a:srgbClr val="00FF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3337" name="Line 26"/>
          <p:cNvSpPr>
            <a:spLocks noChangeShapeType="1"/>
          </p:cNvSpPr>
          <p:nvPr/>
        </p:nvSpPr>
        <p:spPr bwMode="auto">
          <a:xfrm>
            <a:off x="5029200" y="3733800"/>
            <a:ext cx="914400" cy="304800"/>
          </a:xfrm>
          <a:prstGeom prst="line">
            <a:avLst/>
          </a:prstGeom>
          <a:noFill/>
          <a:ln w="98425">
            <a:solidFill>
              <a:srgbClr val="FF00FF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3338" name="Rectangle 27"/>
          <p:cNvSpPr>
            <a:spLocks noChangeArrowheads="1"/>
          </p:cNvSpPr>
          <p:nvPr/>
        </p:nvSpPr>
        <p:spPr bwMode="auto">
          <a:xfrm>
            <a:off x="1828800" y="1371600"/>
            <a:ext cx="11239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RT 222:1</a:t>
            </a:r>
          </a:p>
        </p:txBody>
      </p:sp>
      <p:sp>
        <p:nvSpPr>
          <p:cNvPr id="13339" name="Rectangle 28"/>
          <p:cNvSpPr>
            <a:spLocks noChangeArrowheads="1"/>
          </p:cNvSpPr>
          <p:nvPr/>
        </p:nvSpPr>
        <p:spPr bwMode="auto">
          <a:xfrm>
            <a:off x="6267450" y="1219200"/>
            <a:ext cx="11239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RT 222:1</a:t>
            </a:r>
          </a:p>
        </p:txBody>
      </p:sp>
      <p:sp>
        <p:nvSpPr>
          <p:cNvPr id="13340" name="Rectangle 29"/>
          <p:cNvSpPr>
            <a:spLocks noChangeArrowheads="1"/>
          </p:cNvSpPr>
          <p:nvPr/>
        </p:nvSpPr>
        <p:spPr bwMode="auto">
          <a:xfrm>
            <a:off x="5867400" y="3581400"/>
            <a:ext cx="11239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RT 222:2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4780F2-0E37-1643-894D-6EB6B70630DB}"/>
              </a:ext>
            </a:extLst>
          </p:cNvPr>
          <p:cNvSpPr txBox="1"/>
          <p:nvPr/>
        </p:nvSpPr>
        <p:spPr>
          <a:xfrm>
            <a:off x="127343" y="3036565"/>
            <a:ext cx="37084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tx2"/>
                </a:solidFill>
              </a:rPr>
              <a:t>AT&amp;T:  Intelligent Routing Service Control Point (IRSCP) technology improves network traffic flow and integrates with private VPNs. IRSCP is part of AT&amp;T's </a:t>
            </a:r>
            <a:r>
              <a:rPr lang="en-US" sz="1400" dirty="0" err="1">
                <a:solidFill>
                  <a:schemeClr val="tx2"/>
                </a:solidFill>
              </a:rPr>
              <a:t>NetBond</a:t>
            </a:r>
            <a:r>
              <a:rPr lang="en-US" sz="1400" dirty="0">
                <a:solidFill>
                  <a:schemeClr val="tx2"/>
                </a:solidFill>
              </a:rPr>
              <a:t> service, which helps businesses use the cloud within their VPN networks</a:t>
            </a:r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800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+mn-cs"/>
              </a:rPr>
              <a:t>Page </a:t>
            </a:r>
            <a:fld id="{4E495E9A-F203-4B6F-A5C4-F841113BE2C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charset="0"/>
              <a:ea typeface="ＭＳ Ｐゴシック" pitchFamily="124" charset="-128"/>
              <a:cs typeface="+mn-cs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838200"/>
          </a:xfrm>
        </p:spPr>
        <p:txBody>
          <a:bodyPr/>
          <a:lstStyle/>
          <a:p>
            <a:pPr algn="ctr"/>
            <a:r>
              <a:rPr lang="en-US"/>
              <a:t> Dynamic VPN re-mapping</a:t>
            </a:r>
            <a:br>
              <a:rPr lang="en-US"/>
            </a:br>
            <a:r>
              <a:rPr lang="en-US" sz="2600"/>
              <a:t>VPLS example</a:t>
            </a:r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609600" y="1447800"/>
            <a:ext cx="854075" cy="892175"/>
          </a:xfrm>
          <a:prstGeom prst="rect">
            <a:avLst/>
          </a:prstGeom>
          <a:solidFill>
            <a:srgbClr val="B30A3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host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rcs4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4038600" y="4038600"/>
            <a:ext cx="854075" cy="892175"/>
          </a:xfrm>
          <a:prstGeom prst="rect">
            <a:avLst/>
          </a:prstGeom>
          <a:solidFill>
            <a:srgbClr val="B30A3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host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rcs3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7391400" y="1371600"/>
            <a:ext cx="854075" cy="892175"/>
          </a:xfrm>
          <a:prstGeom prst="rect">
            <a:avLst/>
          </a:prstGeom>
          <a:solidFill>
            <a:srgbClr val="B30A3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host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rcs5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2209800" y="1828800"/>
            <a:ext cx="766763" cy="474663"/>
          </a:xfrm>
          <a:prstGeom prst="rect">
            <a:avLst/>
          </a:prstGeom>
          <a:solidFill>
            <a:srgbClr val="28B3F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PE1</a:t>
            </a:r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4338638" y="3259138"/>
            <a:ext cx="766762" cy="474662"/>
          </a:xfrm>
          <a:prstGeom prst="rect">
            <a:avLst/>
          </a:prstGeom>
          <a:solidFill>
            <a:srgbClr val="28B3F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PE3</a:t>
            </a:r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5938838" y="1676400"/>
            <a:ext cx="766762" cy="474663"/>
          </a:xfrm>
          <a:prstGeom prst="rect">
            <a:avLst/>
          </a:prstGeom>
          <a:solidFill>
            <a:srgbClr val="28B3F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PE2</a:t>
            </a:r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4191000" y="2286000"/>
            <a:ext cx="381000" cy="474663"/>
          </a:xfrm>
          <a:prstGeom prst="rect">
            <a:avLst/>
          </a:prstGeom>
          <a:solidFill>
            <a:srgbClr val="28B3F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P</a:t>
            </a:r>
          </a:p>
        </p:txBody>
      </p:sp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3879850" y="1211263"/>
            <a:ext cx="1157288" cy="490537"/>
          </a:xfrm>
          <a:prstGeom prst="rect">
            <a:avLst/>
          </a:prstGeom>
          <a:solidFill>
            <a:srgbClr val="28B3F8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IRSCP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304800" y="2438400"/>
            <a:ext cx="1577975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10.100.2.7</a:t>
            </a:r>
          </a:p>
        </p:txBody>
      </p:sp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7086600" y="2362200"/>
            <a:ext cx="1577975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10.100.2.5</a:t>
            </a:r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3886200" y="5029200"/>
            <a:ext cx="1577975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124" charset="0"/>
                <a:ea typeface="ＭＳ Ｐゴシック" pitchFamily="124" charset="-128"/>
                <a:cs typeface="Arial" charset="0"/>
              </a:rPr>
              <a:t>10.100.2.6</a:t>
            </a:r>
          </a:p>
        </p:txBody>
      </p:sp>
      <p:sp>
        <p:nvSpPr>
          <p:cNvPr id="14351" name="Line 17"/>
          <p:cNvSpPr>
            <a:spLocks noChangeShapeType="1"/>
          </p:cNvSpPr>
          <p:nvPr/>
        </p:nvSpPr>
        <p:spPr bwMode="auto">
          <a:xfrm>
            <a:off x="1447800" y="1981200"/>
            <a:ext cx="7620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4352" name="Line 18"/>
          <p:cNvSpPr>
            <a:spLocks noChangeShapeType="1"/>
          </p:cNvSpPr>
          <p:nvPr/>
        </p:nvSpPr>
        <p:spPr bwMode="auto">
          <a:xfrm>
            <a:off x="2971800" y="2057400"/>
            <a:ext cx="12192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4353" name="Line 19"/>
          <p:cNvSpPr>
            <a:spLocks noChangeShapeType="1"/>
          </p:cNvSpPr>
          <p:nvPr/>
        </p:nvSpPr>
        <p:spPr bwMode="auto">
          <a:xfrm flipV="1">
            <a:off x="4572000" y="1905000"/>
            <a:ext cx="1371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4354" name="Line 20"/>
          <p:cNvSpPr>
            <a:spLocks noChangeShapeType="1"/>
          </p:cNvSpPr>
          <p:nvPr/>
        </p:nvSpPr>
        <p:spPr bwMode="auto">
          <a:xfrm flipH="1" flipV="1">
            <a:off x="4343400" y="1676400"/>
            <a:ext cx="762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4355" name="Line 21"/>
          <p:cNvSpPr>
            <a:spLocks noChangeShapeType="1"/>
          </p:cNvSpPr>
          <p:nvPr/>
        </p:nvSpPr>
        <p:spPr bwMode="auto">
          <a:xfrm flipV="1">
            <a:off x="6705600" y="1828800"/>
            <a:ext cx="6858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4356" name="Line 22"/>
          <p:cNvSpPr>
            <a:spLocks noChangeShapeType="1"/>
          </p:cNvSpPr>
          <p:nvPr/>
        </p:nvSpPr>
        <p:spPr bwMode="auto">
          <a:xfrm>
            <a:off x="4419600" y="2743200"/>
            <a:ext cx="2286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4357" name="Line 23"/>
          <p:cNvSpPr>
            <a:spLocks noChangeShapeType="1"/>
          </p:cNvSpPr>
          <p:nvPr/>
        </p:nvSpPr>
        <p:spPr bwMode="auto">
          <a:xfrm flipH="1">
            <a:off x="4419600" y="3733800"/>
            <a:ext cx="2286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4358" name="Line 24"/>
          <p:cNvSpPr>
            <a:spLocks noChangeShapeType="1"/>
          </p:cNvSpPr>
          <p:nvPr/>
        </p:nvSpPr>
        <p:spPr bwMode="auto">
          <a:xfrm>
            <a:off x="1447800" y="1828800"/>
            <a:ext cx="762000" cy="76200"/>
          </a:xfrm>
          <a:prstGeom prst="line">
            <a:avLst/>
          </a:prstGeom>
          <a:noFill/>
          <a:ln w="98425">
            <a:solidFill>
              <a:srgbClr val="00FF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4359" name="Line 25"/>
          <p:cNvSpPr>
            <a:spLocks noChangeShapeType="1"/>
          </p:cNvSpPr>
          <p:nvPr/>
        </p:nvSpPr>
        <p:spPr bwMode="auto">
          <a:xfrm flipV="1">
            <a:off x="6705600" y="1676400"/>
            <a:ext cx="685800" cy="76200"/>
          </a:xfrm>
          <a:prstGeom prst="line">
            <a:avLst/>
          </a:prstGeom>
          <a:noFill/>
          <a:ln w="98425">
            <a:solidFill>
              <a:srgbClr val="00FF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4360" name="Line 26"/>
          <p:cNvSpPr>
            <a:spLocks noChangeShapeType="1"/>
          </p:cNvSpPr>
          <p:nvPr/>
        </p:nvSpPr>
        <p:spPr bwMode="auto">
          <a:xfrm flipH="1">
            <a:off x="4572000" y="3733800"/>
            <a:ext cx="228600" cy="304800"/>
          </a:xfrm>
          <a:prstGeom prst="line">
            <a:avLst/>
          </a:prstGeom>
          <a:noFill/>
          <a:ln w="98425">
            <a:solidFill>
              <a:srgbClr val="FF00FF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4361" name="Text Box 27"/>
          <p:cNvSpPr txBox="1">
            <a:spLocks noChangeArrowheads="1"/>
          </p:cNvSpPr>
          <p:nvPr/>
        </p:nvSpPr>
        <p:spPr bwMode="auto">
          <a:xfrm>
            <a:off x="152400" y="2759902"/>
            <a:ext cx="3200400" cy="28702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policy-statement FROM-PE3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term a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    from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        protocol [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bgp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l2vpn ];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        community 2222; # purple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    then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        community delete 2222;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        community add 2221; #green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        accept;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}</a:t>
            </a:r>
          </a:p>
        </p:txBody>
      </p:sp>
      <p:sp>
        <p:nvSpPr>
          <p:cNvPr id="14362" name="Text Box 28"/>
          <p:cNvSpPr txBox="1">
            <a:spLocks noChangeArrowheads="1"/>
          </p:cNvSpPr>
          <p:nvPr/>
        </p:nvSpPr>
        <p:spPr bwMode="auto">
          <a:xfrm>
            <a:off x="5326694" y="3263030"/>
            <a:ext cx="3276600" cy="28702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policy-statement TO-PE3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term a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    from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        protocol [ bgp l2vpn ];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        community 2221; #green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    then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        community delete 2221;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        community add 2222; # purple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        accept;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    }     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} </a:t>
            </a:r>
          </a:p>
        </p:txBody>
      </p:sp>
      <p:sp>
        <p:nvSpPr>
          <p:cNvPr id="14363" name="Text Box 29"/>
          <p:cNvSpPr txBox="1">
            <a:spLocks noChangeArrowheads="1"/>
          </p:cNvSpPr>
          <p:nvPr/>
        </p:nvSpPr>
        <p:spPr bwMode="auto">
          <a:xfrm>
            <a:off x="2078038" y="6327775"/>
            <a:ext cx="4030662" cy="53022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community 2221 members target:222:1; #green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community 2222 members target:222:2; # purple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124" charset="0"/>
              <a:ea typeface="ＭＳ Ｐゴシック" pitchFamily="124" charset="-128"/>
              <a:cs typeface="Arial" charset="0"/>
            </a:endParaRPr>
          </a:p>
        </p:txBody>
      </p:sp>
      <p:sp>
        <p:nvSpPr>
          <p:cNvPr id="14364" name="Rectangle 31"/>
          <p:cNvSpPr>
            <a:spLocks noChangeArrowheads="1"/>
          </p:cNvSpPr>
          <p:nvPr/>
        </p:nvSpPr>
        <p:spPr bwMode="auto">
          <a:xfrm>
            <a:off x="1828800" y="1371600"/>
            <a:ext cx="11239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RT 222:1</a:t>
            </a:r>
          </a:p>
        </p:txBody>
      </p:sp>
      <p:sp>
        <p:nvSpPr>
          <p:cNvPr id="14365" name="Rectangle 32"/>
          <p:cNvSpPr>
            <a:spLocks noChangeArrowheads="1"/>
          </p:cNvSpPr>
          <p:nvPr/>
        </p:nvSpPr>
        <p:spPr bwMode="auto">
          <a:xfrm>
            <a:off x="6096000" y="1219200"/>
            <a:ext cx="11239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RT 222:1</a:t>
            </a:r>
          </a:p>
        </p:txBody>
      </p:sp>
      <p:sp>
        <p:nvSpPr>
          <p:cNvPr id="14366" name="Rectangle 33"/>
          <p:cNvSpPr>
            <a:spLocks noChangeArrowheads="1"/>
          </p:cNvSpPr>
          <p:nvPr/>
        </p:nvSpPr>
        <p:spPr bwMode="auto">
          <a:xfrm>
            <a:off x="3352800" y="3733800"/>
            <a:ext cx="11239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charset="0"/>
                <a:ea typeface="ＭＳ Ｐゴシック" pitchFamily="124" charset="-128"/>
                <a:cs typeface="Arial" charset="0"/>
              </a:rPr>
              <a:t>RT 222:2</a:t>
            </a:r>
          </a:p>
        </p:txBody>
      </p:sp>
    </p:spTree>
    <p:extLst>
      <p:ext uri="{BB962C8B-B14F-4D97-AF65-F5344CB8AC3E}">
        <p14:creationId xmlns:p14="http://schemas.microsoft.com/office/powerpoint/2010/main" val="3581273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pitchFamily="34" charset="-128"/>
              </a:rPr>
              <a:t>Page </a:t>
            </a:r>
            <a:fld id="{B4CE681C-548A-41A3-87B1-04ABE4A7E0E9}" type="slidenum">
              <a:rPr lang="en-US" smtClean="0">
                <a:ea typeface="ＭＳ Ｐゴシック" pitchFamily="34" charset="-128"/>
              </a:rPr>
              <a:pPr/>
              <a:t>22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042400" cy="8382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System Components - Cloud Domain</a:t>
            </a:r>
          </a:p>
        </p:txBody>
      </p:sp>
      <p:sp>
        <p:nvSpPr>
          <p:cNvPr id="77828" name="Rectangle 3"/>
          <p:cNvSpPr>
            <a:spLocks noChangeArrowheads="1"/>
          </p:cNvSpPr>
          <p:nvPr/>
        </p:nvSpPr>
        <p:spPr bwMode="auto">
          <a:xfrm>
            <a:off x="280988" y="4640257"/>
            <a:ext cx="8482012" cy="1047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169863" indent="-169863" algn="l" defTabSz="947738" eaLnBrk="0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rgbClr val="000000"/>
              </a:buClr>
              <a:buSzPct val="100000"/>
            </a:pPr>
            <a:r>
              <a:rPr lang="en-US" sz="1800" dirty="0">
                <a:solidFill>
                  <a:srgbClr val="4D4D4D"/>
                </a:solidFill>
                <a:ea typeface="ＭＳ Ｐゴシック" pitchFamily="34" charset="-128"/>
              </a:rPr>
              <a:t>On Cloud Computing Platform side, the Cloud Manager :</a:t>
            </a:r>
          </a:p>
          <a:p>
            <a:pPr marL="169863" indent="-169863" algn="l" defTabSz="947738" eaLnBrk="0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rgbClr val="000000"/>
              </a:buClr>
              <a:buSzPct val="100000"/>
              <a:buFontTx/>
              <a:buChar char="•"/>
            </a:pPr>
            <a:r>
              <a:rPr lang="en-US" sz="1800" dirty="0">
                <a:solidFill>
                  <a:srgbClr val="4D4D4D"/>
                </a:solidFill>
                <a:ea typeface="ＭＳ Ｐゴシック" pitchFamily="34" charset="-128"/>
              </a:rPr>
              <a:t>Dynamically creates and configures a logical router on a physical router platform</a:t>
            </a:r>
          </a:p>
          <a:p>
            <a:pPr marL="169863" indent="-169863" algn="l" defTabSz="947738" eaLnBrk="0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rgbClr val="000000"/>
              </a:buClr>
              <a:buSzPct val="100000"/>
              <a:buFontTx/>
              <a:buChar char="•"/>
            </a:pPr>
            <a:r>
              <a:rPr lang="en-US" sz="1800" dirty="0">
                <a:solidFill>
                  <a:srgbClr val="4D4D4D"/>
                </a:solidFill>
                <a:ea typeface="ＭＳ Ｐゴシック" pitchFamily="34" charset="-128"/>
              </a:rPr>
              <a:t>Create virtual machines with requested images and configuration</a:t>
            </a:r>
          </a:p>
          <a:p>
            <a:pPr marL="169863" indent="-169863" algn="l" defTabSz="947738" eaLnBrk="0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rgbClr val="000000"/>
              </a:buClr>
              <a:buSzPct val="100000"/>
              <a:buFontTx/>
              <a:buChar char="•"/>
            </a:pPr>
            <a:r>
              <a:rPr lang="en-US" sz="1800" dirty="0">
                <a:solidFill>
                  <a:srgbClr val="4D4D4D"/>
                </a:solidFill>
                <a:ea typeface="ＭＳ Ｐゴシック" pitchFamily="34" charset="-128"/>
              </a:rPr>
              <a:t>Hook all of them together with appropriate VLANs</a:t>
            </a:r>
          </a:p>
        </p:txBody>
      </p:sp>
      <p:sp>
        <p:nvSpPr>
          <p:cNvPr id="77829" name="Rectangle 4"/>
          <p:cNvSpPr>
            <a:spLocks noChangeArrowheads="1"/>
          </p:cNvSpPr>
          <p:nvPr/>
        </p:nvSpPr>
        <p:spPr bwMode="auto">
          <a:xfrm>
            <a:off x="7693025" y="4775200"/>
            <a:ext cx="914400" cy="914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7830" name="Rectangle 5"/>
          <p:cNvSpPr>
            <a:spLocks noChangeArrowheads="1"/>
          </p:cNvSpPr>
          <p:nvPr/>
        </p:nvSpPr>
        <p:spPr bwMode="auto">
          <a:xfrm>
            <a:off x="1619250" y="2390775"/>
            <a:ext cx="709613" cy="26035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en-US" sz="1000">
                <a:solidFill>
                  <a:srgbClr val="4D4D4D"/>
                </a:solidFill>
                <a:ea typeface="ＭＳ Ｐゴシック" pitchFamily="34" charset="-128"/>
              </a:rPr>
              <a:t>Server</a:t>
            </a:r>
          </a:p>
        </p:txBody>
      </p:sp>
      <p:sp>
        <p:nvSpPr>
          <p:cNvPr id="77831" name="Rectangle 6"/>
          <p:cNvSpPr>
            <a:spLocks noChangeArrowheads="1"/>
          </p:cNvSpPr>
          <p:nvPr/>
        </p:nvSpPr>
        <p:spPr bwMode="auto">
          <a:xfrm>
            <a:off x="1614488" y="2716213"/>
            <a:ext cx="708025" cy="260350"/>
          </a:xfrm>
          <a:prstGeom prst="rect">
            <a:avLst/>
          </a:prstGeom>
          <a:solidFill>
            <a:srgbClr val="F6EB2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en-US" sz="1000">
                <a:solidFill>
                  <a:srgbClr val="4D4D4D"/>
                </a:solidFill>
                <a:ea typeface="ＭＳ Ｐゴシック" pitchFamily="34" charset="-128"/>
              </a:rPr>
              <a:t>Server</a:t>
            </a:r>
          </a:p>
        </p:txBody>
      </p:sp>
      <p:sp>
        <p:nvSpPr>
          <p:cNvPr id="77832" name="Rectangle 7"/>
          <p:cNvSpPr>
            <a:spLocks noChangeArrowheads="1"/>
          </p:cNvSpPr>
          <p:nvPr/>
        </p:nvSpPr>
        <p:spPr bwMode="auto">
          <a:xfrm>
            <a:off x="1617663" y="3033713"/>
            <a:ext cx="709612" cy="26035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en-US" sz="1000">
                <a:solidFill>
                  <a:srgbClr val="4D4D4D"/>
                </a:solidFill>
                <a:ea typeface="ＭＳ Ｐゴシック" pitchFamily="34" charset="-128"/>
              </a:rPr>
              <a:t>Server</a:t>
            </a:r>
          </a:p>
        </p:txBody>
      </p:sp>
      <p:sp>
        <p:nvSpPr>
          <p:cNvPr id="77833" name="Rectangle 8"/>
          <p:cNvSpPr>
            <a:spLocks noChangeArrowheads="1"/>
          </p:cNvSpPr>
          <p:nvPr/>
        </p:nvSpPr>
        <p:spPr bwMode="auto">
          <a:xfrm>
            <a:off x="1622425" y="3357563"/>
            <a:ext cx="708025" cy="260350"/>
          </a:xfrm>
          <a:prstGeom prst="rect">
            <a:avLst/>
          </a:prstGeom>
          <a:solidFill>
            <a:srgbClr val="20F6E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en-US" sz="1000">
                <a:solidFill>
                  <a:srgbClr val="4D4D4D"/>
                </a:solidFill>
                <a:ea typeface="ＭＳ Ｐゴシック" pitchFamily="34" charset="-128"/>
              </a:rPr>
              <a:t>Server</a:t>
            </a:r>
          </a:p>
        </p:txBody>
      </p:sp>
      <p:sp>
        <p:nvSpPr>
          <p:cNvPr id="77834" name="Rectangle 9"/>
          <p:cNvSpPr>
            <a:spLocks noChangeArrowheads="1"/>
          </p:cNvSpPr>
          <p:nvPr/>
        </p:nvSpPr>
        <p:spPr bwMode="auto">
          <a:xfrm>
            <a:off x="1617663" y="3675063"/>
            <a:ext cx="709612" cy="26035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en-US" sz="1000">
                <a:solidFill>
                  <a:srgbClr val="4D4D4D"/>
                </a:solidFill>
                <a:ea typeface="ＭＳ Ｐゴシック" pitchFamily="34" charset="-128"/>
              </a:rPr>
              <a:t>Server</a:t>
            </a:r>
          </a:p>
        </p:txBody>
      </p:sp>
      <p:sp>
        <p:nvSpPr>
          <p:cNvPr id="77835" name="Rectangle 10"/>
          <p:cNvSpPr>
            <a:spLocks noChangeArrowheads="1"/>
          </p:cNvSpPr>
          <p:nvPr/>
        </p:nvSpPr>
        <p:spPr bwMode="auto">
          <a:xfrm>
            <a:off x="1244600" y="1436688"/>
            <a:ext cx="4676775" cy="2947987"/>
          </a:xfrm>
          <a:prstGeom prst="rect">
            <a:avLst/>
          </a:prstGeom>
          <a:noFill/>
          <a:ln w="28575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7836" name="Line 11"/>
          <p:cNvSpPr>
            <a:spLocks noChangeShapeType="1"/>
          </p:cNvSpPr>
          <p:nvPr/>
        </p:nvSpPr>
        <p:spPr bwMode="auto">
          <a:xfrm>
            <a:off x="2336800" y="2520950"/>
            <a:ext cx="406400" cy="6985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37" name="Line 12"/>
          <p:cNvSpPr>
            <a:spLocks noChangeShapeType="1"/>
          </p:cNvSpPr>
          <p:nvPr/>
        </p:nvSpPr>
        <p:spPr bwMode="auto">
          <a:xfrm>
            <a:off x="2332038" y="3176588"/>
            <a:ext cx="1600200" cy="2063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38" name="Line 13"/>
          <p:cNvSpPr>
            <a:spLocks noChangeShapeType="1"/>
          </p:cNvSpPr>
          <p:nvPr/>
        </p:nvSpPr>
        <p:spPr bwMode="auto">
          <a:xfrm flipV="1">
            <a:off x="2336800" y="3784600"/>
            <a:ext cx="1609725" cy="1588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39" name="Line 14"/>
          <p:cNvSpPr>
            <a:spLocks noChangeShapeType="1"/>
          </p:cNvSpPr>
          <p:nvPr/>
        </p:nvSpPr>
        <p:spPr bwMode="auto">
          <a:xfrm flipH="1">
            <a:off x="2317750" y="2097088"/>
            <a:ext cx="690563" cy="6985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40" name="Line 15"/>
          <p:cNvSpPr>
            <a:spLocks noChangeShapeType="1"/>
          </p:cNvSpPr>
          <p:nvPr/>
        </p:nvSpPr>
        <p:spPr bwMode="auto">
          <a:xfrm flipH="1">
            <a:off x="2336800" y="2119313"/>
            <a:ext cx="830263" cy="1298575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41" name="Rectangle 16"/>
          <p:cNvSpPr>
            <a:spLocks noChangeArrowheads="1"/>
          </p:cNvSpPr>
          <p:nvPr/>
        </p:nvSpPr>
        <p:spPr bwMode="auto">
          <a:xfrm>
            <a:off x="2760663" y="1549400"/>
            <a:ext cx="895350" cy="57308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200">
                <a:solidFill>
                  <a:srgbClr val="4D4D4D"/>
                </a:solidFill>
                <a:ea typeface="ＭＳ Ｐゴシック" pitchFamily="34" charset="-128"/>
              </a:rPr>
              <a:t>Cloud </a:t>
            </a:r>
          </a:p>
          <a:p>
            <a:pPr eaLnBrk="0" hangingPunct="0"/>
            <a:r>
              <a:rPr lang="en-US" sz="1200">
                <a:solidFill>
                  <a:srgbClr val="4D4D4D"/>
                </a:solidFill>
                <a:ea typeface="ＭＳ Ｐゴシック" pitchFamily="34" charset="-128"/>
              </a:rPr>
              <a:t>Manager</a:t>
            </a:r>
          </a:p>
        </p:txBody>
      </p:sp>
      <p:sp>
        <p:nvSpPr>
          <p:cNvPr id="77842" name="Line 17"/>
          <p:cNvSpPr>
            <a:spLocks noChangeShapeType="1"/>
          </p:cNvSpPr>
          <p:nvPr/>
        </p:nvSpPr>
        <p:spPr bwMode="auto">
          <a:xfrm flipH="1">
            <a:off x="5800725" y="2921000"/>
            <a:ext cx="615950" cy="3175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43" name="Rectangle 18"/>
          <p:cNvSpPr>
            <a:spLocks noChangeArrowheads="1"/>
          </p:cNvSpPr>
          <p:nvPr/>
        </p:nvSpPr>
        <p:spPr bwMode="auto">
          <a:xfrm>
            <a:off x="6405563" y="2822575"/>
            <a:ext cx="904875" cy="715963"/>
          </a:xfrm>
          <a:prstGeom prst="rect">
            <a:avLst/>
          </a:prstGeom>
          <a:solidFill>
            <a:srgbClr val="B30A3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7844" name="Line 19"/>
          <p:cNvSpPr>
            <a:spLocks noChangeShapeType="1"/>
          </p:cNvSpPr>
          <p:nvPr/>
        </p:nvSpPr>
        <p:spPr bwMode="auto">
          <a:xfrm flipH="1">
            <a:off x="5789613" y="3149600"/>
            <a:ext cx="620712" cy="3175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45" name="Line 20"/>
          <p:cNvSpPr>
            <a:spLocks noChangeShapeType="1"/>
          </p:cNvSpPr>
          <p:nvPr/>
        </p:nvSpPr>
        <p:spPr bwMode="auto">
          <a:xfrm flipH="1">
            <a:off x="5789613" y="3246438"/>
            <a:ext cx="620712" cy="3175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46" name="Line 21"/>
          <p:cNvSpPr>
            <a:spLocks noChangeShapeType="1"/>
          </p:cNvSpPr>
          <p:nvPr/>
        </p:nvSpPr>
        <p:spPr bwMode="auto">
          <a:xfrm flipH="1">
            <a:off x="5789613" y="3436938"/>
            <a:ext cx="620712" cy="476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47" name="Rectangle 22"/>
          <p:cNvSpPr>
            <a:spLocks noChangeArrowheads="1"/>
          </p:cNvSpPr>
          <p:nvPr/>
        </p:nvSpPr>
        <p:spPr bwMode="auto">
          <a:xfrm>
            <a:off x="6403975" y="2886075"/>
            <a:ext cx="250825" cy="68263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7848" name="Rectangle 23"/>
          <p:cNvSpPr>
            <a:spLocks noChangeArrowheads="1"/>
          </p:cNvSpPr>
          <p:nvPr/>
        </p:nvSpPr>
        <p:spPr bwMode="auto">
          <a:xfrm>
            <a:off x="6403975" y="3005138"/>
            <a:ext cx="250825" cy="68262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7849" name="Rectangle 24"/>
          <p:cNvSpPr>
            <a:spLocks noChangeArrowheads="1"/>
          </p:cNvSpPr>
          <p:nvPr/>
        </p:nvSpPr>
        <p:spPr bwMode="auto">
          <a:xfrm>
            <a:off x="6403975" y="3108325"/>
            <a:ext cx="250825" cy="69850"/>
          </a:xfrm>
          <a:prstGeom prst="rect">
            <a:avLst/>
          </a:prstGeom>
          <a:solidFill>
            <a:schemeClr val="hlink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7850" name="Rectangle 25"/>
          <p:cNvSpPr>
            <a:spLocks noChangeArrowheads="1"/>
          </p:cNvSpPr>
          <p:nvPr/>
        </p:nvSpPr>
        <p:spPr bwMode="auto">
          <a:xfrm>
            <a:off x="6403975" y="3205163"/>
            <a:ext cx="250825" cy="69850"/>
          </a:xfrm>
          <a:prstGeom prst="rect">
            <a:avLst/>
          </a:prstGeom>
          <a:solidFill>
            <a:srgbClr val="FF00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7851" name="Rectangle 26"/>
          <p:cNvSpPr>
            <a:spLocks noChangeArrowheads="1"/>
          </p:cNvSpPr>
          <p:nvPr/>
        </p:nvSpPr>
        <p:spPr bwMode="auto">
          <a:xfrm>
            <a:off x="6403975" y="3302000"/>
            <a:ext cx="250825" cy="68263"/>
          </a:xfrm>
          <a:prstGeom prst="rect">
            <a:avLst/>
          </a:prstGeom>
          <a:solidFill>
            <a:schemeClr val="folHlink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7852" name="Rectangle 27"/>
          <p:cNvSpPr>
            <a:spLocks noChangeArrowheads="1"/>
          </p:cNvSpPr>
          <p:nvPr/>
        </p:nvSpPr>
        <p:spPr bwMode="auto">
          <a:xfrm>
            <a:off x="6403975" y="3397250"/>
            <a:ext cx="250825" cy="69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7853" name="Text Box 28"/>
          <p:cNvSpPr txBox="1">
            <a:spLocks noChangeArrowheads="1"/>
          </p:cNvSpPr>
          <p:nvPr/>
        </p:nvSpPr>
        <p:spPr bwMode="auto">
          <a:xfrm>
            <a:off x="6718299" y="2934226"/>
            <a:ext cx="56303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dirty="0">
                <a:solidFill>
                  <a:srgbClr val="CCCCCC"/>
                </a:solidFill>
                <a:ea typeface="ＭＳ Ｐゴシック" pitchFamily="34" charset="-128"/>
              </a:rPr>
              <a:t>PE</a:t>
            </a:r>
          </a:p>
        </p:txBody>
      </p:sp>
      <p:sp>
        <p:nvSpPr>
          <p:cNvPr id="77854" name="Line 29"/>
          <p:cNvSpPr>
            <a:spLocks noChangeShapeType="1"/>
          </p:cNvSpPr>
          <p:nvPr/>
        </p:nvSpPr>
        <p:spPr bwMode="auto">
          <a:xfrm flipH="1">
            <a:off x="6194425" y="1363663"/>
            <a:ext cx="0" cy="317976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55" name="Rectangle 30"/>
          <p:cNvSpPr>
            <a:spLocks noChangeArrowheads="1"/>
          </p:cNvSpPr>
          <p:nvPr/>
        </p:nvSpPr>
        <p:spPr bwMode="auto">
          <a:xfrm>
            <a:off x="3944938" y="2455863"/>
            <a:ext cx="1843087" cy="1509712"/>
          </a:xfrm>
          <a:prstGeom prst="rect">
            <a:avLst/>
          </a:prstGeom>
          <a:solidFill>
            <a:srgbClr val="BC55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7856" name="Rectangle 31"/>
          <p:cNvSpPr>
            <a:spLocks noChangeArrowheads="1"/>
          </p:cNvSpPr>
          <p:nvPr/>
        </p:nvSpPr>
        <p:spPr bwMode="auto">
          <a:xfrm>
            <a:off x="4727575" y="3725863"/>
            <a:ext cx="722313" cy="652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7857" name="Rectangle 32"/>
          <p:cNvSpPr>
            <a:spLocks noChangeArrowheads="1"/>
          </p:cNvSpPr>
          <p:nvPr/>
        </p:nvSpPr>
        <p:spPr bwMode="auto">
          <a:xfrm>
            <a:off x="5241925" y="2867025"/>
            <a:ext cx="427038" cy="292100"/>
          </a:xfrm>
          <a:prstGeom prst="rect">
            <a:avLst/>
          </a:prstGeom>
          <a:solidFill>
            <a:srgbClr val="F6EB2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en-US" sz="1200">
                <a:solidFill>
                  <a:srgbClr val="4D4D4D"/>
                </a:solidFill>
                <a:ea typeface="ＭＳ Ｐゴシック" pitchFamily="34" charset="-128"/>
              </a:rPr>
              <a:t>CE</a:t>
            </a:r>
          </a:p>
        </p:txBody>
      </p:sp>
      <p:sp>
        <p:nvSpPr>
          <p:cNvPr id="77858" name="Rectangle 33"/>
          <p:cNvSpPr>
            <a:spLocks noChangeArrowheads="1"/>
          </p:cNvSpPr>
          <p:nvPr/>
        </p:nvSpPr>
        <p:spPr bwMode="auto">
          <a:xfrm>
            <a:off x="4826000" y="3232150"/>
            <a:ext cx="423863" cy="292100"/>
          </a:xfrm>
          <a:prstGeom prst="rect">
            <a:avLst/>
          </a:prstGeom>
          <a:solidFill>
            <a:srgbClr val="20F6E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en-US" sz="1200">
                <a:solidFill>
                  <a:srgbClr val="4D4D4D"/>
                </a:solidFill>
                <a:ea typeface="ＭＳ Ｐゴシック" pitchFamily="34" charset="-128"/>
              </a:rPr>
              <a:t>CE</a:t>
            </a:r>
          </a:p>
        </p:txBody>
      </p:sp>
      <p:sp>
        <p:nvSpPr>
          <p:cNvPr id="77859" name="Line 34"/>
          <p:cNvSpPr>
            <a:spLocks noChangeShapeType="1"/>
          </p:cNvSpPr>
          <p:nvPr/>
        </p:nvSpPr>
        <p:spPr bwMode="auto">
          <a:xfrm flipH="1">
            <a:off x="5646738" y="3046413"/>
            <a:ext cx="757237" cy="476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60" name="Line 35"/>
          <p:cNvSpPr>
            <a:spLocks noChangeShapeType="1"/>
          </p:cNvSpPr>
          <p:nvPr/>
        </p:nvSpPr>
        <p:spPr bwMode="auto">
          <a:xfrm flipH="1">
            <a:off x="5232400" y="3341688"/>
            <a:ext cx="1177925" cy="476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61" name="Text Box 36"/>
          <p:cNvSpPr txBox="1">
            <a:spLocks noChangeArrowheads="1"/>
          </p:cNvSpPr>
          <p:nvPr/>
        </p:nvSpPr>
        <p:spPr bwMode="auto">
          <a:xfrm>
            <a:off x="4313238" y="3595688"/>
            <a:ext cx="954087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>
                <a:solidFill>
                  <a:srgbClr val="FFFF00"/>
                </a:solidFill>
                <a:ea typeface="ＭＳ Ｐゴシック" pitchFamily="34" charset="-128"/>
              </a:rPr>
              <a:t>Router</a:t>
            </a:r>
          </a:p>
        </p:txBody>
      </p:sp>
      <p:sp>
        <p:nvSpPr>
          <p:cNvPr id="77862" name="Line 37"/>
          <p:cNvSpPr>
            <a:spLocks noChangeShapeType="1"/>
          </p:cNvSpPr>
          <p:nvPr/>
        </p:nvSpPr>
        <p:spPr bwMode="auto">
          <a:xfrm>
            <a:off x="3294063" y="2124075"/>
            <a:ext cx="1539875" cy="120015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63" name="Line 38"/>
          <p:cNvSpPr>
            <a:spLocks noChangeShapeType="1"/>
          </p:cNvSpPr>
          <p:nvPr/>
        </p:nvSpPr>
        <p:spPr bwMode="auto">
          <a:xfrm>
            <a:off x="3625850" y="2117725"/>
            <a:ext cx="1631950" cy="890588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64" name="Line 39"/>
          <p:cNvSpPr>
            <a:spLocks noChangeShapeType="1"/>
          </p:cNvSpPr>
          <p:nvPr/>
        </p:nvSpPr>
        <p:spPr bwMode="auto">
          <a:xfrm>
            <a:off x="2347913" y="3492500"/>
            <a:ext cx="395287" cy="127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65" name="Line 40"/>
          <p:cNvSpPr>
            <a:spLocks noChangeShapeType="1"/>
          </p:cNvSpPr>
          <p:nvPr/>
        </p:nvSpPr>
        <p:spPr bwMode="auto">
          <a:xfrm>
            <a:off x="2341563" y="2863850"/>
            <a:ext cx="401637" cy="3175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66" name="Text Box 41"/>
          <p:cNvSpPr txBox="1">
            <a:spLocks noChangeArrowheads="1"/>
          </p:cNvSpPr>
          <p:nvPr/>
        </p:nvSpPr>
        <p:spPr bwMode="auto">
          <a:xfrm>
            <a:off x="2084388" y="4065588"/>
            <a:ext cx="2871787" cy="339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>
                <a:solidFill>
                  <a:srgbClr val="4D4D4D"/>
                </a:solidFill>
                <a:ea typeface="ＭＳ Ｐゴシック" pitchFamily="34" charset="-128"/>
              </a:rPr>
              <a:t>Cloud Computing Platform</a:t>
            </a:r>
          </a:p>
        </p:txBody>
      </p:sp>
      <p:sp>
        <p:nvSpPr>
          <p:cNvPr id="77867" name="Rectangle 43"/>
          <p:cNvSpPr>
            <a:spLocks noChangeArrowheads="1"/>
          </p:cNvSpPr>
          <p:nvPr/>
        </p:nvSpPr>
        <p:spPr bwMode="auto">
          <a:xfrm>
            <a:off x="7162800" y="1952625"/>
            <a:ext cx="341313" cy="104775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7868" name="Rectangle 44"/>
          <p:cNvSpPr>
            <a:spLocks noChangeArrowheads="1"/>
          </p:cNvSpPr>
          <p:nvPr/>
        </p:nvSpPr>
        <p:spPr bwMode="auto">
          <a:xfrm>
            <a:off x="7162800" y="2333625"/>
            <a:ext cx="341313" cy="103188"/>
          </a:xfrm>
          <a:prstGeom prst="rect">
            <a:avLst/>
          </a:prstGeom>
          <a:solidFill>
            <a:schemeClr val="folHlink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7869" name="Rectangle 45"/>
          <p:cNvSpPr>
            <a:spLocks noChangeArrowheads="1"/>
          </p:cNvSpPr>
          <p:nvPr/>
        </p:nvSpPr>
        <p:spPr bwMode="auto">
          <a:xfrm>
            <a:off x="8153400" y="2333625"/>
            <a:ext cx="341313" cy="104775"/>
          </a:xfrm>
          <a:prstGeom prst="rect">
            <a:avLst/>
          </a:prstGeom>
          <a:solidFill>
            <a:srgbClr val="20F6E8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7870" name="Rectangle 46"/>
          <p:cNvSpPr>
            <a:spLocks noChangeArrowheads="1"/>
          </p:cNvSpPr>
          <p:nvPr/>
        </p:nvSpPr>
        <p:spPr bwMode="auto">
          <a:xfrm>
            <a:off x="8153400" y="1952625"/>
            <a:ext cx="341313" cy="103188"/>
          </a:xfrm>
          <a:prstGeom prst="rect">
            <a:avLst/>
          </a:prstGeom>
          <a:solidFill>
            <a:srgbClr val="F6EB23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7871" name="Text Box 47"/>
          <p:cNvSpPr txBox="1">
            <a:spLocks noChangeArrowheads="1"/>
          </p:cNvSpPr>
          <p:nvPr/>
        </p:nvSpPr>
        <p:spPr bwMode="auto">
          <a:xfrm>
            <a:off x="6935788" y="1371600"/>
            <a:ext cx="1903412" cy="461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solidFill>
                  <a:srgbClr val="4D4D4D"/>
                </a:solidFill>
                <a:ea typeface="ＭＳ Ｐゴシック" pitchFamily="34" charset="-128"/>
              </a:rPr>
              <a:t>Remapping</a:t>
            </a:r>
          </a:p>
        </p:txBody>
      </p:sp>
      <p:sp>
        <p:nvSpPr>
          <p:cNvPr id="77872" name="Line 48"/>
          <p:cNvSpPr>
            <a:spLocks noChangeShapeType="1"/>
          </p:cNvSpPr>
          <p:nvPr/>
        </p:nvSpPr>
        <p:spPr bwMode="auto">
          <a:xfrm>
            <a:off x="7620000" y="2028825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873" name="Line 49"/>
          <p:cNvSpPr>
            <a:spLocks noChangeShapeType="1"/>
          </p:cNvSpPr>
          <p:nvPr/>
        </p:nvSpPr>
        <p:spPr bwMode="auto">
          <a:xfrm>
            <a:off x="7620000" y="2409825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874" name="Rectangle 50"/>
          <p:cNvSpPr>
            <a:spLocks noChangeArrowheads="1"/>
          </p:cNvSpPr>
          <p:nvPr/>
        </p:nvSpPr>
        <p:spPr bwMode="auto">
          <a:xfrm>
            <a:off x="6934200" y="1419225"/>
            <a:ext cx="1905000" cy="1219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7875" name="Rectangle 51"/>
          <p:cNvSpPr>
            <a:spLocks noChangeArrowheads="1"/>
          </p:cNvSpPr>
          <p:nvPr/>
        </p:nvSpPr>
        <p:spPr bwMode="auto">
          <a:xfrm>
            <a:off x="2743200" y="2438400"/>
            <a:ext cx="855663" cy="1450975"/>
          </a:xfrm>
          <a:prstGeom prst="rect">
            <a:avLst/>
          </a:prstGeom>
          <a:solidFill>
            <a:srgbClr val="BC55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endParaRPr lang="en-US" sz="2400">
              <a:solidFill>
                <a:srgbClr val="4D4D4D"/>
              </a:solidFill>
              <a:ea typeface="ＭＳ Ｐゴシック" pitchFamily="34" charset="-128"/>
            </a:endParaRPr>
          </a:p>
        </p:txBody>
      </p:sp>
      <p:sp>
        <p:nvSpPr>
          <p:cNvPr id="77876" name="Line 52"/>
          <p:cNvSpPr>
            <a:spLocks noChangeShapeType="1"/>
          </p:cNvSpPr>
          <p:nvPr/>
        </p:nvSpPr>
        <p:spPr bwMode="auto">
          <a:xfrm>
            <a:off x="3200400" y="2133600"/>
            <a:ext cx="76200" cy="3048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77" name="Line 53"/>
          <p:cNvSpPr>
            <a:spLocks noChangeShapeType="1"/>
          </p:cNvSpPr>
          <p:nvPr/>
        </p:nvSpPr>
        <p:spPr bwMode="auto">
          <a:xfrm>
            <a:off x="3581400" y="2667000"/>
            <a:ext cx="381000" cy="762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78" name="Line 54"/>
          <p:cNvSpPr>
            <a:spLocks noChangeShapeType="1"/>
          </p:cNvSpPr>
          <p:nvPr/>
        </p:nvSpPr>
        <p:spPr bwMode="auto">
          <a:xfrm>
            <a:off x="3581400" y="2940050"/>
            <a:ext cx="381000" cy="3175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79" name="Text Box 55"/>
          <p:cNvSpPr txBox="1">
            <a:spLocks noChangeArrowheads="1"/>
          </p:cNvSpPr>
          <p:nvPr/>
        </p:nvSpPr>
        <p:spPr bwMode="auto">
          <a:xfrm>
            <a:off x="2743200" y="3556000"/>
            <a:ext cx="787400" cy="3381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>
                <a:solidFill>
                  <a:srgbClr val="FFFF00"/>
                </a:solidFill>
                <a:ea typeface="ＭＳ Ｐゴシック" pitchFamily="34" charset="-128"/>
              </a:rPr>
              <a:t>Switch</a:t>
            </a:r>
          </a:p>
        </p:txBody>
      </p:sp>
      <p:sp>
        <p:nvSpPr>
          <p:cNvPr id="77880" name="Line 56"/>
          <p:cNvSpPr>
            <a:spLocks noChangeShapeType="1"/>
          </p:cNvSpPr>
          <p:nvPr/>
        </p:nvSpPr>
        <p:spPr bwMode="auto">
          <a:xfrm>
            <a:off x="3581400" y="3505200"/>
            <a:ext cx="381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81" name="Line 57"/>
          <p:cNvSpPr>
            <a:spLocks noChangeShapeType="1"/>
          </p:cNvSpPr>
          <p:nvPr/>
        </p:nvSpPr>
        <p:spPr bwMode="auto">
          <a:xfrm>
            <a:off x="2286000" y="2895600"/>
            <a:ext cx="2971800" cy="152400"/>
          </a:xfrm>
          <a:prstGeom prst="line">
            <a:avLst/>
          </a:prstGeom>
          <a:noFill/>
          <a:ln w="38100">
            <a:solidFill>
              <a:srgbClr val="F6EB23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882" name="Line 58"/>
          <p:cNvSpPr>
            <a:spLocks noChangeShapeType="1"/>
          </p:cNvSpPr>
          <p:nvPr/>
        </p:nvSpPr>
        <p:spPr bwMode="auto">
          <a:xfrm flipV="1">
            <a:off x="2362200" y="3429000"/>
            <a:ext cx="2514600" cy="0"/>
          </a:xfrm>
          <a:prstGeom prst="line">
            <a:avLst/>
          </a:prstGeom>
          <a:noFill/>
          <a:ln w="38100">
            <a:solidFill>
              <a:srgbClr val="20F6E8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WAN Migration Challeng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3200" dirty="0"/>
              <a:t>WAN Migration Challenges</a:t>
            </a:r>
          </a:p>
        </p:txBody>
      </p:sp>
      <p:sp>
        <p:nvSpPr>
          <p:cNvPr id="246" name="Existing approaches not well optimized for WA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Existing approaches not well optimized for WAN</a:t>
            </a:r>
          </a:p>
          <a:p>
            <a:pPr lvl="1"/>
            <a:r>
              <a:rPr dirty="0"/>
              <a:t>Requires high bandwidth, low latency links (e.g. </a:t>
            </a:r>
            <a:r>
              <a:rPr lang="en-US" dirty="0"/>
              <a:t>~1G</a:t>
            </a:r>
            <a:r>
              <a:rPr dirty="0"/>
              <a:t>bps / 5msec)</a:t>
            </a:r>
          </a:p>
          <a:p>
            <a:pPr lvl="2"/>
            <a:r>
              <a:rPr dirty="0"/>
              <a:t>[VMware/Cisco 09, </a:t>
            </a:r>
            <a:r>
              <a:rPr dirty="0" err="1"/>
              <a:t>Travostino</a:t>
            </a:r>
            <a:r>
              <a:rPr dirty="0"/>
              <a:t> 06]</a:t>
            </a:r>
          </a:p>
          <a:p>
            <a:pPr lvl="1"/>
            <a:r>
              <a:rPr dirty="0"/>
              <a:t>Focus only on storage or ignore it completely</a:t>
            </a:r>
          </a:p>
          <a:p>
            <a:pPr lvl="2"/>
            <a:r>
              <a:rPr dirty="0"/>
              <a:t>[Bradford 07, Ruth 06]</a:t>
            </a:r>
          </a:p>
          <a:p>
            <a:pPr lvl="2"/>
            <a:endParaRPr dirty="0"/>
          </a:p>
          <a:p>
            <a:r>
              <a:rPr dirty="0"/>
              <a:t>Need to support mov</a:t>
            </a:r>
            <a:r>
              <a:rPr lang="en-US" dirty="0"/>
              <a:t>ement of the</a:t>
            </a:r>
            <a:r>
              <a:rPr dirty="0"/>
              <a:t> full VM state</a:t>
            </a:r>
          </a:p>
          <a:p>
            <a:pPr lvl="1"/>
            <a:r>
              <a:rPr dirty="0"/>
              <a:t>Disk storage</a:t>
            </a:r>
          </a:p>
          <a:p>
            <a:pPr lvl="1"/>
            <a:r>
              <a:rPr dirty="0"/>
              <a:t>Memory data</a:t>
            </a:r>
          </a:p>
          <a:p>
            <a:pPr lvl="1"/>
            <a:r>
              <a:rPr dirty="0"/>
              <a:t>Processor state</a:t>
            </a:r>
          </a:p>
          <a:p>
            <a:pPr lvl="1"/>
            <a:endParaRPr dirty="0"/>
          </a:p>
          <a:p>
            <a:r>
              <a:rPr dirty="0"/>
              <a:t>All with minimal impact on application performance</a:t>
            </a:r>
          </a:p>
        </p:txBody>
      </p:sp>
      <p:sp>
        <p:nvSpPr>
          <p:cNvPr id="2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69849" y="6560611"/>
            <a:ext cx="266098" cy="29738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 kern="0">
                <a:latin typeface="Gill Sans"/>
                <a:cs typeface="Gill Sans"/>
                <a:sym typeface="Gill Sans"/>
              </a:rPr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t>23</a:t>
            </a:fld>
            <a:endParaRPr kern="0" dirty="0">
              <a:latin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43039318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AutoShape 149"/>
          <p:cNvSpPr>
            <a:spLocks noChangeArrowheads="1"/>
          </p:cNvSpPr>
          <p:nvPr/>
        </p:nvSpPr>
        <p:spPr bwMode="auto">
          <a:xfrm>
            <a:off x="4953000" y="4119563"/>
            <a:ext cx="4114800" cy="16002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8851" name="AutoShape 148"/>
          <p:cNvSpPr>
            <a:spLocks noChangeArrowheads="1"/>
          </p:cNvSpPr>
          <p:nvPr/>
        </p:nvSpPr>
        <p:spPr bwMode="auto">
          <a:xfrm>
            <a:off x="4953000" y="1681163"/>
            <a:ext cx="4114800" cy="16002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8852" name="Line 141"/>
          <p:cNvSpPr>
            <a:spLocks noChangeShapeType="1"/>
          </p:cNvSpPr>
          <p:nvPr/>
        </p:nvSpPr>
        <p:spPr bwMode="auto">
          <a:xfrm>
            <a:off x="7086600" y="49212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8853" name="Line 139"/>
          <p:cNvSpPr>
            <a:spLocks noChangeShapeType="1"/>
          </p:cNvSpPr>
          <p:nvPr/>
        </p:nvSpPr>
        <p:spPr bwMode="auto">
          <a:xfrm>
            <a:off x="3962400" y="5002213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78854" name="Picture 3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57400" y="2519363"/>
            <a:ext cx="22860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17"/>
          <p:cNvGrpSpPr>
            <a:grpSpLocks/>
          </p:cNvGrpSpPr>
          <p:nvPr/>
        </p:nvGrpSpPr>
        <p:grpSpPr bwMode="auto">
          <a:xfrm>
            <a:off x="5181600" y="4424363"/>
            <a:ext cx="914400" cy="1143000"/>
            <a:chOff x="384" y="2016"/>
            <a:chExt cx="576" cy="768"/>
          </a:xfrm>
        </p:grpSpPr>
        <p:sp>
          <p:nvSpPr>
            <p:cNvPr id="78939" name="AutoShape 118"/>
            <p:cNvSpPr>
              <a:spLocks noChangeArrowheads="1"/>
            </p:cNvSpPr>
            <p:nvPr/>
          </p:nvSpPr>
          <p:spPr bwMode="auto">
            <a:xfrm>
              <a:off x="384" y="2064"/>
              <a:ext cx="576" cy="720"/>
            </a:xfrm>
            <a:prstGeom prst="can">
              <a:avLst>
                <a:gd name="adj" fmla="val 31250"/>
              </a:avLst>
            </a:prstGeom>
            <a:solidFill>
              <a:srgbClr val="62626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78940" name="Picture 119"/>
            <p:cNvPicPr>
              <a:picLocks noChangeArrowheads="1"/>
            </p:cNvPicPr>
            <p:nvPr/>
          </p:nvPicPr>
          <p:blipFill>
            <a:blip r:embed="rId5" cstate="print">
              <a:grayscl/>
            </a:blip>
            <a:srcRect b="28572"/>
            <a:stretch>
              <a:fillRect/>
            </a:stretch>
          </p:blipFill>
          <p:spPr bwMode="auto">
            <a:xfrm>
              <a:off x="384" y="2016"/>
              <a:ext cx="571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116"/>
          <p:cNvGrpSpPr>
            <a:grpSpLocks/>
          </p:cNvGrpSpPr>
          <p:nvPr/>
        </p:nvGrpSpPr>
        <p:grpSpPr bwMode="auto">
          <a:xfrm>
            <a:off x="5181600" y="1985963"/>
            <a:ext cx="914400" cy="1143000"/>
            <a:chOff x="384" y="2016"/>
            <a:chExt cx="576" cy="768"/>
          </a:xfrm>
        </p:grpSpPr>
        <p:sp>
          <p:nvSpPr>
            <p:cNvPr id="78937" name="AutoShape 113"/>
            <p:cNvSpPr>
              <a:spLocks noChangeArrowheads="1"/>
            </p:cNvSpPr>
            <p:nvPr/>
          </p:nvSpPr>
          <p:spPr bwMode="auto">
            <a:xfrm>
              <a:off x="384" y="2064"/>
              <a:ext cx="576" cy="720"/>
            </a:xfrm>
            <a:prstGeom prst="can">
              <a:avLst>
                <a:gd name="adj" fmla="val 31250"/>
              </a:avLst>
            </a:prstGeom>
            <a:solidFill>
              <a:srgbClr val="62626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78938" name="Picture 114"/>
            <p:cNvPicPr>
              <a:picLocks noChangeArrowheads="1"/>
            </p:cNvPicPr>
            <p:nvPr/>
          </p:nvPicPr>
          <p:blipFill>
            <a:blip r:embed="rId5" cstate="print">
              <a:grayscl/>
            </a:blip>
            <a:srcRect b="28572"/>
            <a:stretch>
              <a:fillRect/>
            </a:stretch>
          </p:blipFill>
          <p:spPr bwMode="auto">
            <a:xfrm>
              <a:off x="384" y="2016"/>
              <a:ext cx="571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78857" name="Picture 4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0" y="4729163"/>
            <a:ext cx="906463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858" name="Text Box 10"/>
          <p:cNvSpPr txBox="1">
            <a:spLocks noChangeArrowheads="1"/>
          </p:cNvSpPr>
          <p:nvPr/>
        </p:nvSpPr>
        <p:spPr bwMode="auto">
          <a:xfrm>
            <a:off x="4038600" y="4419600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626262"/>
                </a:solidFill>
              </a:rPr>
              <a:t>PE</a:t>
            </a:r>
          </a:p>
        </p:txBody>
      </p:sp>
      <p:pic>
        <p:nvPicPr>
          <p:cNvPr id="78859" name="Picture 11"/>
          <p:cNvPicPr>
            <a:picLocks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00800" y="4881563"/>
            <a:ext cx="76517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60" name="Picture 34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0" y="2671763"/>
            <a:ext cx="906463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861" name="Rectangle 41"/>
          <p:cNvSpPr>
            <a:spLocks noChangeArrowheads="1"/>
          </p:cNvSpPr>
          <p:nvPr/>
        </p:nvSpPr>
        <p:spPr bwMode="auto">
          <a:xfrm>
            <a:off x="7543800" y="2214563"/>
            <a:ext cx="1371600" cy="533400"/>
          </a:xfrm>
          <a:prstGeom prst="rect">
            <a:avLst/>
          </a:prstGeom>
          <a:solidFill>
            <a:srgbClr val="CDD8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78862" name="Picture 48"/>
          <p:cNvPicPr>
            <a:picLocks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00800" y="2443163"/>
            <a:ext cx="76517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863" name="Rectangle 66"/>
          <p:cNvSpPr>
            <a:spLocks noChangeArrowheads="1"/>
          </p:cNvSpPr>
          <p:nvPr/>
        </p:nvSpPr>
        <p:spPr bwMode="auto">
          <a:xfrm>
            <a:off x="7543800" y="4652963"/>
            <a:ext cx="1371600" cy="533400"/>
          </a:xfrm>
          <a:prstGeom prst="rect">
            <a:avLst/>
          </a:prstGeom>
          <a:solidFill>
            <a:srgbClr val="CDD8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20" name="Freeform 100"/>
          <p:cNvSpPr>
            <a:spLocks/>
          </p:cNvSpPr>
          <p:nvPr/>
        </p:nvSpPr>
        <p:spPr bwMode="auto">
          <a:xfrm>
            <a:off x="3795713" y="2157413"/>
            <a:ext cx="4891087" cy="3181350"/>
          </a:xfrm>
          <a:custGeom>
            <a:avLst/>
            <a:gdLst>
              <a:gd name="T0" fmla="*/ 2147483647 w 3081"/>
              <a:gd name="T1" fmla="*/ 2147483647 h 2004"/>
              <a:gd name="T2" fmla="*/ 2147483647 w 3081"/>
              <a:gd name="T3" fmla="*/ 2147483647 h 2004"/>
              <a:gd name="T4" fmla="*/ 2147483647 w 3081"/>
              <a:gd name="T5" fmla="*/ 2147483647 h 2004"/>
              <a:gd name="T6" fmla="*/ 2147483647 w 3081"/>
              <a:gd name="T7" fmla="*/ 2147483647 h 2004"/>
              <a:gd name="T8" fmla="*/ 2147483647 w 3081"/>
              <a:gd name="T9" fmla="*/ 2147483647 h 2004"/>
              <a:gd name="T10" fmla="*/ 2147483647 w 3081"/>
              <a:gd name="T11" fmla="*/ 2147483647 h 2004"/>
              <a:gd name="T12" fmla="*/ 2147483647 w 3081"/>
              <a:gd name="T13" fmla="*/ 2147483647 h 2004"/>
              <a:gd name="T14" fmla="*/ 2147483647 w 3081"/>
              <a:gd name="T15" fmla="*/ 2147483647 h 2004"/>
              <a:gd name="T16" fmla="*/ 2147483647 w 3081"/>
              <a:gd name="T17" fmla="*/ 2147483647 h 2004"/>
              <a:gd name="T18" fmla="*/ 2147483647 w 3081"/>
              <a:gd name="T19" fmla="*/ 2147483647 h 2004"/>
              <a:gd name="T20" fmla="*/ 2147483647 w 3081"/>
              <a:gd name="T21" fmla="*/ 2147483647 h 2004"/>
              <a:gd name="T22" fmla="*/ 2147483647 w 3081"/>
              <a:gd name="T23" fmla="*/ 2147483647 h 2004"/>
              <a:gd name="T24" fmla="*/ 2147483647 w 3081"/>
              <a:gd name="T25" fmla="*/ 2147483647 h 2004"/>
              <a:gd name="T26" fmla="*/ 2147483647 w 3081"/>
              <a:gd name="T27" fmla="*/ 2147483647 h 2004"/>
              <a:gd name="T28" fmla="*/ 2147483647 w 3081"/>
              <a:gd name="T29" fmla="*/ 2147483647 h 2004"/>
              <a:gd name="T30" fmla="*/ 2147483647 w 3081"/>
              <a:gd name="T31" fmla="*/ 2147483647 h 2004"/>
              <a:gd name="T32" fmla="*/ 2147483647 w 3081"/>
              <a:gd name="T33" fmla="*/ 2147483647 h 2004"/>
              <a:gd name="T34" fmla="*/ 2147483647 w 3081"/>
              <a:gd name="T35" fmla="*/ 2147483647 h 2004"/>
              <a:gd name="T36" fmla="*/ 2147483647 w 3081"/>
              <a:gd name="T37" fmla="*/ 2147483647 h 2004"/>
              <a:gd name="T38" fmla="*/ 2147483647 w 3081"/>
              <a:gd name="T39" fmla="*/ 2147483647 h 2004"/>
              <a:gd name="T40" fmla="*/ 2147483647 w 3081"/>
              <a:gd name="T41" fmla="*/ 2147483647 h 2004"/>
              <a:gd name="T42" fmla="*/ 2147483647 w 3081"/>
              <a:gd name="T43" fmla="*/ 2147483647 h 2004"/>
              <a:gd name="T44" fmla="*/ 2147483647 w 3081"/>
              <a:gd name="T45" fmla="*/ 2147483647 h 2004"/>
              <a:gd name="T46" fmla="*/ 2147483647 w 3081"/>
              <a:gd name="T47" fmla="*/ 2147483647 h 2004"/>
              <a:gd name="T48" fmla="*/ 2147483647 w 3081"/>
              <a:gd name="T49" fmla="*/ 2147483647 h 2004"/>
              <a:gd name="T50" fmla="*/ 2147483647 w 3081"/>
              <a:gd name="T51" fmla="*/ 2147483647 h 2004"/>
              <a:gd name="T52" fmla="*/ 2147483647 w 3081"/>
              <a:gd name="T53" fmla="*/ 2147483647 h 2004"/>
              <a:gd name="T54" fmla="*/ 2147483647 w 3081"/>
              <a:gd name="T55" fmla="*/ 2147483647 h 2004"/>
              <a:gd name="T56" fmla="*/ 2147483647 w 3081"/>
              <a:gd name="T57" fmla="*/ 2147483647 h 2004"/>
              <a:gd name="T58" fmla="*/ 2147483647 w 3081"/>
              <a:gd name="T59" fmla="*/ 2147483647 h 2004"/>
              <a:gd name="T60" fmla="*/ 2147483647 w 3081"/>
              <a:gd name="T61" fmla="*/ 2147483647 h 2004"/>
              <a:gd name="T62" fmla="*/ 2147483647 w 3081"/>
              <a:gd name="T63" fmla="*/ 2147483647 h 2004"/>
              <a:gd name="T64" fmla="*/ 2147483647 w 3081"/>
              <a:gd name="T65" fmla="*/ 2147483647 h 2004"/>
              <a:gd name="T66" fmla="*/ 2147483647 w 3081"/>
              <a:gd name="T67" fmla="*/ 2147483647 h 2004"/>
              <a:gd name="T68" fmla="*/ 2147483647 w 3081"/>
              <a:gd name="T69" fmla="*/ 2147483647 h 2004"/>
              <a:gd name="T70" fmla="*/ 2147483647 w 3081"/>
              <a:gd name="T71" fmla="*/ 2147483647 h 2004"/>
              <a:gd name="T72" fmla="*/ 2147483647 w 3081"/>
              <a:gd name="T73" fmla="*/ 2147483647 h 2004"/>
              <a:gd name="T74" fmla="*/ 2147483647 w 3081"/>
              <a:gd name="T75" fmla="*/ 2147483647 h 2004"/>
              <a:gd name="T76" fmla="*/ 2147483647 w 3081"/>
              <a:gd name="T77" fmla="*/ 2147483647 h 2004"/>
              <a:gd name="T78" fmla="*/ 2147483647 w 3081"/>
              <a:gd name="T79" fmla="*/ 2147483647 h 2004"/>
              <a:gd name="T80" fmla="*/ 2147483647 w 3081"/>
              <a:gd name="T81" fmla="*/ 2147483647 h 2004"/>
              <a:gd name="T82" fmla="*/ 2147483647 w 3081"/>
              <a:gd name="T83" fmla="*/ 2147483647 h 2004"/>
              <a:gd name="T84" fmla="*/ 2147483647 w 3081"/>
              <a:gd name="T85" fmla="*/ 2147483647 h 2004"/>
              <a:gd name="T86" fmla="*/ 2147483647 w 3081"/>
              <a:gd name="T87" fmla="*/ 2147483647 h 2004"/>
              <a:gd name="T88" fmla="*/ 2147483647 w 3081"/>
              <a:gd name="T89" fmla="*/ 2147483647 h 2004"/>
              <a:gd name="T90" fmla="*/ 2147483647 w 3081"/>
              <a:gd name="T91" fmla="*/ 2147483647 h 2004"/>
              <a:gd name="T92" fmla="*/ 2147483647 w 3081"/>
              <a:gd name="T93" fmla="*/ 2147483647 h 2004"/>
              <a:gd name="T94" fmla="*/ 2147483647 w 3081"/>
              <a:gd name="T95" fmla="*/ 2147483647 h 2004"/>
              <a:gd name="T96" fmla="*/ 2147483647 w 3081"/>
              <a:gd name="T97" fmla="*/ 2147483647 h 2004"/>
              <a:gd name="T98" fmla="*/ 2147483647 w 3081"/>
              <a:gd name="T99" fmla="*/ 2147483647 h 2004"/>
              <a:gd name="T100" fmla="*/ 2147483647 w 3081"/>
              <a:gd name="T101" fmla="*/ 2147483647 h 2004"/>
              <a:gd name="T102" fmla="*/ 2147483647 w 3081"/>
              <a:gd name="T103" fmla="*/ 2147483647 h 2004"/>
              <a:gd name="T104" fmla="*/ 2147483647 w 3081"/>
              <a:gd name="T105" fmla="*/ 2147483647 h 2004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3081"/>
              <a:gd name="T160" fmla="*/ 0 h 2004"/>
              <a:gd name="T161" fmla="*/ 3081 w 3081"/>
              <a:gd name="T162" fmla="*/ 2004 h 2004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3081" h="2004">
                <a:moveTo>
                  <a:pt x="2368" y="420"/>
                </a:moveTo>
                <a:cubicBezTo>
                  <a:pt x="2389" y="419"/>
                  <a:pt x="2448" y="419"/>
                  <a:pt x="2496" y="420"/>
                </a:cubicBezTo>
                <a:cubicBezTo>
                  <a:pt x="2544" y="421"/>
                  <a:pt x="2572" y="435"/>
                  <a:pt x="2656" y="428"/>
                </a:cubicBezTo>
                <a:cubicBezTo>
                  <a:pt x="2740" y="421"/>
                  <a:pt x="2935" y="411"/>
                  <a:pt x="3000" y="380"/>
                </a:cubicBezTo>
                <a:cubicBezTo>
                  <a:pt x="3065" y="349"/>
                  <a:pt x="3037" y="292"/>
                  <a:pt x="3048" y="244"/>
                </a:cubicBezTo>
                <a:cubicBezTo>
                  <a:pt x="3059" y="196"/>
                  <a:pt x="3081" y="128"/>
                  <a:pt x="3064" y="92"/>
                </a:cubicBezTo>
                <a:cubicBezTo>
                  <a:pt x="3047" y="56"/>
                  <a:pt x="2995" y="43"/>
                  <a:pt x="2944" y="28"/>
                </a:cubicBezTo>
                <a:cubicBezTo>
                  <a:pt x="2893" y="13"/>
                  <a:pt x="2812" y="8"/>
                  <a:pt x="2760" y="4"/>
                </a:cubicBezTo>
                <a:cubicBezTo>
                  <a:pt x="2708" y="0"/>
                  <a:pt x="2673" y="1"/>
                  <a:pt x="2632" y="4"/>
                </a:cubicBezTo>
                <a:cubicBezTo>
                  <a:pt x="2591" y="7"/>
                  <a:pt x="2547" y="12"/>
                  <a:pt x="2512" y="20"/>
                </a:cubicBezTo>
                <a:cubicBezTo>
                  <a:pt x="2477" y="28"/>
                  <a:pt x="2448" y="36"/>
                  <a:pt x="2424" y="52"/>
                </a:cubicBezTo>
                <a:cubicBezTo>
                  <a:pt x="2400" y="68"/>
                  <a:pt x="2409" y="97"/>
                  <a:pt x="2368" y="116"/>
                </a:cubicBezTo>
                <a:cubicBezTo>
                  <a:pt x="2327" y="135"/>
                  <a:pt x="2228" y="160"/>
                  <a:pt x="2176" y="164"/>
                </a:cubicBezTo>
                <a:cubicBezTo>
                  <a:pt x="2124" y="168"/>
                  <a:pt x="2119" y="151"/>
                  <a:pt x="2056" y="140"/>
                </a:cubicBezTo>
                <a:cubicBezTo>
                  <a:pt x="1993" y="129"/>
                  <a:pt x="1884" y="104"/>
                  <a:pt x="1800" y="100"/>
                </a:cubicBezTo>
                <a:cubicBezTo>
                  <a:pt x="1716" y="96"/>
                  <a:pt x="1617" y="113"/>
                  <a:pt x="1552" y="116"/>
                </a:cubicBezTo>
                <a:cubicBezTo>
                  <a:pt x="1487" y="119"/>
                  <a:pt x="1504" y="116"/>
                  <a:pt x="1408" y="116"/>
                </a:cubicBezTo>
                <a:cubicBezTo>
                  <a:pt x="1312" y="116"/>
                  <a:pt x="1085" y="107"/>
                  <a:pt x="976" y="116"/>
                </a:cubicBezTo>
                <a:cubicBezTo>
                  <a:pt x="867" y="125"/>
                  <a:pt x="817" y="149"/>
                  <a:pt x="752" y="172"/>
                </a:cubicBezTo>
                <a:cubicBezTo>
                  <a:pt x="687" y="195"/>
                  <a:pt x="635" y="221"/>
                  <a:pt x="584" y="252"/>
                </a:cubicBezTo>
                <a:cubicBezTo>
                  <a:pt x="533" y="283"/>
                  <a:pt x="527" y="299"/>
                  <a:pt x="448" y="356"/>
                </a:cubicBezTo>
                <a:cubicBezTo>
                  <a:pt x="369" y="413"/>
                  <a:pt x="184" y="524"/>
                  <a:pt x="112" y="596"/>
                </a:cubicBezTo>
                <a:cubicBezTo>
                  <a:pt x="40" y="668"/>
                  <a:pt x="32" y="668"/>
                  <a:pt x="16" y="788"/>
                </a:cubicBezTo>
                <a:cubicBezTo>
                  <a:pt x="0" y="908"/>
                  <a:pt x="8" y="1188"/>
                  <a:pt x="16" y="1316"/>
                </a:cubicBezTo>
                <a:cubicBezTo>
                  <a:pt x="24" y="1444"/>
                  <a:pt x="32" y="1492"/>
                  <a:pt x="64" y="1556"/>
                </a:cubicBezTo>
                <a:cubicBezTo>
                  <a:pt x="96" y="1620"/>
                  <a:pt x="144" y="1652"/>
                  <a:pt x="208" y="1700"/>
                </a:cubicBezTo>
                <a:cubicBezTo>
                  <a:pt x="272" y="1748"/>
                  <a:pt x="368" y="1812"/>
                  <a:pt x="448" y="1844"/>
                </a:cubicBezTo>
                <a:cubicBezTo>
                  <a:pt x="528" y="1876"/>
                  <a:pt x="592" y="1868"/>
                  <a:pt x="688" y="1892"/>
                </a:cubicBezTo>
                <a:cubicBezTo>
                  <a:pt x="784" y="1916"/>
                  <a:pt x="904" y="1972"/>
                  <a:pt x="1024" y="1988"/>
                </a:cubicBezTo>
                <a:cubicBezTo>
                  <a:pt x="1144" y="2004"/>
                  <a:pt x="1312" y="1988"/>
                  <a:pt x="1408" y="1988"/>
                </a:cubicBezTo>
                <a:cubicBezTo>
                  <a:pt x="1504" y="1988"/>
                  <a:pt x="1472" y="1996"/>
                  <a:pt x="1600" y="1988"/>
                </a:cubicBezTo>
                <a:cubicBezTo>
                  <a:pt x="1728" y="1980"/>
                  <a:pt x="2039" y="1951"/>
                  <a:pt x="2176" y="1940"/>
                </a:cubicBezTo>
                <a:cubicBezTo>
                  <a:pt x="2313" y="1929"/>
                  <a:pt x="2320" y="1928"/>
                  <a:pt x="2424" y="1924"/>
                </a:cubicBezTo>
                <a:cubicBezTo>
                  <a:pt x="2528" y="1920"/>
                  <a:pt x="2712" y="1932"/>
                  <a:pt x="2800" y="1916"/>
                </a:cubicBezTo>
                <a:cubicBezTo>
                  <a:pt x="2888" y="1900"/>
                  <a:pt x="2923" y="1857"/>
                  <a:pt x="2952" y="1828"/>
                </a:cubicBezTo>
                <a:cubicBezTo>
                  <a:pt x="2981" y="1799"/>
                  <a:pt x="2979" y="1777"/>
                  <a:pt x="2976" y="1740"/>
                </a:cubicBezTo>
                <a:cubicBezTo>
                  <a:pt x="2973" y="1703"/>
                  <a:pt x="2965" y="1635"/>
                  <a:pt x="2936" y="1604"/>
                </a:cubicBezTo>
                <a:cubicBezTo>
                  <a:pt x="2907" y="1573"/>
                  <a:pt x="2855" y="1564"/>
                  <a:pt x="2800" y="1556"/>
                </a:cubicBezTo>
                <a:cubicBezTo>
                  <a:pt x="2745" y="1548"/>
                  <a:pt x="2672" y="1548"/>
                  <a:pt x="2608" y="1556"/>
                </a:cubicBezTo>
                <a:cubicBezTo>
                  <a:pt x="2544" y="1564"/>
                  <a:pt x="2512" y="1588"/>
                  <a:pt x="2416" y="1604"/>
                </a:cubicBezTo>
                <a:cubicBezTo>
                  <a:pt x="2320" y="1620"/>
                  <a:pt x="2168" y="1644"/>
                  <a:pt x="2032" y="1652"/>
                </a:cubicBezTo>
                <a:cubicBezTo>
                  <a:pt x="1896" y="1660"/>
                  <a:pt x="1752" y="1652"/>
                  <a:pt x="1600" y="1652"/>
                </a:cubicBezTo>
                <a:cubicBezTo>
                  <a:pt x="1448" y="1652"/>
                  <a:pt x="1272" y="1660"/>
                  <a:pt x="1120" y="1652"/>
                </a:cubicBezTo>
                <a:cubicBezTo>
                  <a:pt x="968" y="1644"/>
                  <a:pt x="824" y="1652"/>
                  <a:pt x="688" y="1604"/>
                </a:cubicBezTo>
                <a:cubicBezTo>
                  <a:pt x="552" y="1556"/>
                  <a:pt x="376" y="1460"/>
                  <a:pt x="304" y="1364"/>
                </a:cubicBezTo>
                <a:cubicBezTo>
                  <a:pt x="232" y="1268"/>
                  <a:pt x="256" y="1124"/>
                  <a:pt x="256" y="1028"/>
                </a:cubicBezTo>
                <a:cubicBezTo>
                  <a:pt x="256" y="932"/>
                  <a:pt x="256" y="860"/>
                  <a:pt x="304" y="788"/>
                </a:cubicBezTo>
                <a:cubicBezTo>
                  <a:pt x="352" y="716"/>
                  <a:pt x="456" y="644"/>
                  <a:pt x="544" y="596"/>
                </a:cubicBezTo>
                <a:cubicBezTo>
                  <a:pt x="632" y="548"/>
                  <a:pt x="648" y="524"/>
                  <a:pt x="832" y="500"/>
                </a:cubicBezTo>
                <a:cubicBezTo>
                  <a:pt x="1016" y="476"/>
                  <a:pt x="1432" y="460"/>
                  <a:pt x="1648" y="452"/>
                </a:cubicBezTo>
                <a:cubicBezTo>
                  <a:pt x="1864" y="444"/>
                  <a:pt x="2033" y="453"/>
                  <a:pt x="2128" y="452"/>
                </a:cubicBezTo>
                <a:cubicBezTo>
                  <a:pt x="2223" y="451"/>
                  <a:pt x="2192" y="449"/>
                  <a:pt x="2216" y="444"/>
                </a:cubicBezTo>
                <a:cubicBezTo>
                  <a:pt x="2240" y="439"/>
                  <a:pt x="2260" y="425"/>
                  <a:pt x="2272" y="420"/>
                </a:cubicBezTo>
              </a:path>
            </a:pathLst>
          </a:custGeom>
          <a:solidFill>
            <a:schemeClr val="hlink">
              <a:alpha val="56862"/>
            </a:schemeClr>
          </a:solidFill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8865" name="Rectangle 2"/>
          <p:cNvSpPr>
            <a:spLocks noGrp="1" noChangeArrowheads="1"/>
          </p:cNvSpPr>
          <p:nvPr>
            <p:ph type="title"/>
          </p:nvPr>
        </p:nvSpPr>
        <p:spPr>
          <a:xfrm>
            <a:off x="347133" y="101600"/>
            <a:ext cx="8037513" cy="838200"/>
          </a:xfrm>
        </p:spPr>
        <p:txBody>
          <a:bodyPr/>
          <a:lstStyle/>
          <a:p>
            <a:r>
              <a:rPr lang="en-US" dirty="0"/>
              <a:t>WAN Migration</a:t>
            </a:r>
          </a:p>
        </p:txBody>
      </p:sp>
      <p:sp>
        <p:nvSpPr>
          <p:cNvPr id="30738" name="AutoShape 18"/>
          <p:cNvSpPr>
            <a:spLocks noChangeArrowheads="1"/>
          </p:cNvSpPr>
          <p:nvPr/>
        </p:nvSpPr>
        <p:spPr bwMode="auto">
          <a:xfrm>
            <a:off x="3581400" y="4849813"/>
            <a:ext cx="381000" cy="304800"/>
          </a:xfrm>
          <a:prstGeom prst="diamond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0742" name="AutoShape 22"/>
          <p:cNvCxnSpPr>
            <a:cxnSpLocks noChangeShapeType="1"/>
          </p:cNvCxnSpPr>
          <p:nvPr/>
        </p:nvCxnSpPr>
        <p:spPr bwMode="auto">
          <a:xfrm>
            <a:off x="6934200" y="4919663"/>
            <a:ext cx="685800" cy="0"/>
          </a:xfrm>
          <a:prstGeom prst="straightConnector1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</p:spPr>
      </p:cxnSp>
      <p:pic>
        <p:nvPicPr>
          <p:cNvPr id="78868" name="Picture 27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52600" y="2671763"/>
            <a:ext cx="906463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869" name="Text Box 31"/>
          <p:cNvSpPr txBox="1">
            <a:spLocks noChangeArrowheads="1"/>
          </p:cNvSpPr>
          <p:nvPr/>
        </p:nvSpPr>
        <p:spPr bwMode="auto">
          <a:xfrm>
            <a:off x="1975446" y="2362200"/>
            <a:ext cx="50045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626262"/>
                </a:solidFill>
              </a:rPr>
              <a:t>PE</a:t>
            </a:r>
          </a:p>
        </p:txBody>
      </p:sp>
      <p:sp>
        <p:nvSpPr>
          <p:cNvPr id="78870" name="AutoShape 32"/>
          <p:cNvSpPr>
            <a:spLocks noChangeArrowheads="1"/>
          </p:cNvSpPr>
          <p:nvPr/>
        </p:nvSpPr>
        <p:spPr bwMode="auto">
          <a:xfrm>
            <a:off x="2438400" y="2747963"/>
            <a:ext cx="381000" cy="304800"/>
          </a:xfrm>
          <a:prstGeom prst="diamond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8871" name="Text Box 33"/>
          <p:cNvSpPr txBox="1">
            <a:spLocks noChangeArrowheads="1"/>
          </p:cNvSpPr>
          <p:nvPr/>
        </p:nvSpPr>
        <p:spPr bwMode="auto">
          <a:xfrm>
            <a:off x="348894" y="1833563"/>
            <a:ext cx="20104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</a:rPr>
              <a:t>Customer Site</a:t>
            </a:r>
          </a:p>
        </p:txBody>
      </p:sp>
      <p:sp>
        <p:nvSpPr>
          <p:cNvPr id="78872" name="Text Box 40"/>
          <p:cNvSpPr txBox="1">
            <a:spLocks noChangeArrowheads="1"/>
          </p:cNvSpPr>
          <p:nvPr/>
        </p:nvSpPr>
        <p:spPr bwMode="auto">
          <a:xfrm>
            <a:off x="4032846" y="2362200"/>
            <a:ext cx="50045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626262"/>
                </a:solidFill>
              </a:rPr>
              <a:t>PE</a:t>
            </a:r>
            <a:endParaRPr lang="en-US" dirty="0">
              <a:solidFill>
                <a:srgbClr val="626262"/>
              </a:solidFill>
            </a:endParaRPr>
          </a:p>
        </p:txBody>
      </p:sp>
      <p:sp>
        <p:nvSpPr>
          <p:cNvPr id="78873" name="AutoShape 42"/>
          <p:cNvSpPr>
            <a:spLocks noChangeArrowheads="1"/>
          </p:cNvSpPr>
          <p:nvPr/>
        </p:nvSpPr>
        <p:spPr bwMode="auto">
          <a:xfrm>
            <a:off x="7620000" y="22907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>
                <a:solidFill>
                  <a:schemeClr val="bg1"/>
                </a:solidFill>
              </a:rPr>
              <a:t>A</a:t>
            </a:r>
            <a:endParaRPr lang="en-US" sz="1400"/>
          </a:p>
        </p:txBody>
      </p: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5257800" y="2366963"/>
            <a:ext cx="762000" cy="400050"/>
            <a:chOff x="3936" y="960"/>
            <a:chExt cx="576" cy="336"/>
          </a:xfrm>
        </p:grpSpPr>
        <p:sp>
          <p:nvSpPr>
            <p:cNvPr id="78933" name="AutoShape 44"/>
            <p:cNvSpPr>
              <a:spLocks noChangeArrowheads="1"/>
            </p:cNvSpPr>
            <p:nvPr/>
          </p:nvSpPr>
          <p:spPr bwMode="auto">
            <a:xfrm>
              <a:off x="3936" y="960"/>
              <a:ext cx="576" cy="336"/>
            </a:xfrm>
            <a:prstGeom prst="can">
              <a:avLst>
                <a:gd name="adj" fmla="val 37500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" name="Group 45"/>
            <p:cNvGrpSpPr>
              <a:grpSpLocks/>
            </p:cNvGrpSpPr>
            <p:nvPr/>
          </p:nvGrpSpPr>
          <p:grpSpPr bwMode="auto">
            <a:xfrm>
              <a:off x="4080" y="998"/>
              <a:ext cx="259" cy="58"/>
              <a:chOff x="1920" y="2928"/>
              <a:chExt cx="259" cy="144"/>
            </a:xfrm>
          </p:grpSpPr>
          <p:sp>
            <p:nvSpPr>
              <p:cNvPr id="78935" name="Line 46"/>
              <p:cNvSpPr>
                <a:spLocks noChangeShapeType="1"/>
              </p:cNvSpPr>
              <p:nvPr/>
            </p:nvSpPr>
            <p:spPr bwMode="auto">
              <a:xfrm flipV="1">
                <a:off x="1920" y="2928"/>
                <a:ext cx="259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936" name="Line 47"/>
              <p:cNvSpPr>
                <a:spLocks noChangeShapeType="1"/>
              </p:cNvSpPr>
              <p:nvPr/>
            </p:nvSpPr>
            <p:spPr bwMode="auto">
              <a:xfrm>
                <a:off x="1920" y="2928"/>
                <a:ext cx="259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78875" name="AutoShape 49"/>
          <p:cNvSpPr>
            <a:spLocks noChangeArrowheads="1"/>
          </p:cNvSpPr>
          <p:nvPr/>
        </p:nvSpPr>
        <p:spPr bwMode="auto">
          <a:xfrm>
            <a:off x="3657600" y="2747963"/>
            <a:ext cx="381000" cy="304800"/>
          </a:xfrm>
          <a:prstGeom prst="diamond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8876" name="AutoShape 51"/>
          <p:cNvCxnSpPr>
            <a:cxnSpLocks noChangeShapeType="1"/>
            <a:stCxn id="78875" idx="3"/>
            <a:endCxn id="78933" idx="2"/>
          </p:cNvCxnSpPr>
          <p:nvPr/>
        </p:nvCxnSpPr>
        <p:spPr bwMode="auto">
          <a:xfrm flipV="1">
            <a:off x="4038600" y="2566988"/>
            <a:ext cx="1219200" cy="333375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</p:spPr>
      </p:cxnSp>
      <p:cxnSp>
        <p:nvCxnSpPr>
          <p:cNvPr id="78877" name="AutoShape 52"/>
          <p:cNvCxnSpPr>
            <a:cxnSpLocks noChangeShapeType="1"/>
            <a:stCxn id="78933" idx="4"/>
          </p:cNvCxnSpPr>
          <p:nvPr/>
        </p:nvCxnSpPr>
        <p:spPr bwMode="auto">
          <a:xfrm flipV="1">
            <a:off x="6019800" y="2481263"/>
            <a:ext cx="533400" cy="85725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</p:spPr>
      </p:cxnSp>
      <p:cxnSp>
        <p:nvCxnSpPr>
          <p:cNvPr id="78878" name="AutoShape 53"/>
          <p:cNvCxnSpPr>
            <a:cxnSpLocks noChangeShapeType="1"/>
            <a:endCxn id="78873" idx="1"/>
          </p:cNvCxnSpPr>
          <p:nvPr/>
        </p:nvCxnSpPr>
        <p:spPr bwMode="auto">
          <a:xfrm>
            <a:off x="6934200" y="2481263"/>
            <a:ext cx="685800" cy="0"/>
          </a:xfrm>
          <a:prstGeom prst="straightConnector1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</p:spPr>
      </p:cxnSp>
      <p:sp>
        <p:nvSpPr>
          <p:cNvPr id="78879" name="Text Box 54"/>
          <p:cNvSpPr txBox="1">
            <a:spLocks noChangeArrowheads="1"/>
          </p:cNvSpPr>
          <p:nvPr/>
        </p:nvSpPr>
        <p:spPr bwMode="auto">
          <a:xfrm>
            <a:off x="7162800" y="1757363"/>
            <a:ext cx="1944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Cloud Site 1</a:t>
            </a:r>
          </a:p>
        </p:txBody>
      </p:sp>
      <p:grpSp>
        <p:nvGrpSpPr>
          <p:cNvPr id="6" name="Group 55"/>
          <p:cNvGrpSpPr>
            <a:grpSpLocks/>
          </p:cNvGrpSpPr>
          <p:nvPr/>
        </p:nvGrpSpPr>
        <p:grpSpPr bwMode="auto">
          <a:xfrm>
            <a:off x="8686800" y="2366963"/>
            <a:ext cx="152400" cy="228600"/>
            <a:chOff x="5472" y="1632"/>
            <a:chExt cx="96" cy="144"/>
          </a:xfrm>
        </p:grpSpPr>
        <p:sp>
          <p:nvSpPr>
            <p:cNvPr id="78929" name="Line 56"/>
            <p:cNvSpPr>
              <a:spLocks noChangeShapeType="1"/>
            </p:cNvSpPr>
            <p:nvPr/>
          </p:nvSpPr>
          <p:spPr bwMode="auto">
            <a:xfrm>
              <a:off x="5472" y="163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30" name="Line 57"/>
            <p:cNvSpPr>
              <a:spLocks noChangeShapeType="1"/>
            </p:cNvSpPr>
            <p:nvPr/>
          </p:nvSpPr>
          <p:spPr bwMode="auto">
            <a:xfrm>
              <a:off x="5472" y="168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31" name="Line 58"/>
            <p:cNvSpPr>
              <a:spLocks noChangeShapeType="1"/>
            </p:cNvSpPr>
            <p:nvPr/>
          </p:nvSpPr>
          <p:spPr bwMode="auto">
            <a:xfrm>
              <a:off x="5472" y="172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32" name="Line 59"/>
            <p:cNvSpPr>
              <a:spLocks noChangeShapeType="1"/>
            </p:cNvSpPr>
            <p:nvPr/>
          </p:nvSpPr>
          <p:spPr bwMode="auto">
            <a:xfrm>
              <a:off x="5472" y="177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8881" name="Line 60"/>
          <p:cNvSpPr>
            <a:spLocks noChangeShapeType="1"/>
          </p:cNvSpPr>
          <p:nvPr/>
        </p:nvSpPr>
        <p:spPr bwMode="auto">
          <a:xfrm>
            <a:off x="2819400" y="2900363"/>
            <a:ext cx="838200" cy="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138"/>
          <p:cNvGrpSpPr>
            <a:grpSpLocks/>
          </p:cNvGrpSpPr>
          <p:nvPr/>
        </p:nvGrpSpPr>
        <p:grpSpPr bwMode="auto">
          <a:xfrm>
            <a:off x="3962399" y="3281363"/>
            <a:ext cx="3232150" cy="1295400"/>
            <a:chOff x="2496" y="1824"/>
            <a:chExt cx="2036" cy="816"/>
          </a:xfrm>
        </p:grpSpPr>
        <p:sp>
          <p:nvSpPr>
            <p:cNvPr id="78927" name="Line 63"/>
            <p:cNvSpPr>
              <a:spLocks noChangeShapeType="1"/>
            </p:cNvSpPr>
            <p:nvPr/>
          </p:nvSpPr>
          <p:spPr bwMode="auto">
            <a:xfrm flipV="1">
              <a:off x="2496" y="1824"/>
              <a:ext cx="0" cy="816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prstDash val="sysDot"/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28" name="Text Box 64"/>
            <p:cNvSpPr txBox="1">
              <a:spLocks noChangeArrowheads="1"/>
            </p:cNvSpPr>
            <p:nvPr/>
          </p:nvSpPr>
          <p:spPr bwMode="auto">
            <a:xfrm>
              <a:off x="2816" y="2016"/>
              <a:ext cx="17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chemeClr val="tx2"/>
                  </a:solidFill>
                </a:rPr>
                <a:t>Layer 2 VPN (VPLS)</a:t>
              </a:r>
            </a:p>
          </p:txBody>
        </p:sp>
      </p:grpSp>
      <p:sp>
        <p:nvSpPr>
          <p:cNvPr id="78883" name="Line 68"/>
          <p:cNvSpPr>
            <a:spLocks noChangeShapeType="1"/>
          </p:cNvSpPr>
          <p:nvPr/>
        </p:nvSpPr>
        <p:spPr bwMode="auto">
          <a:xfrm>
            <a:off x="8686800" y="48053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8884" name="Line 69"/>
          <p:cNvSpPr>
            <a:spLocks noChangeShapeType="1"/>
          </p:cNvSpPr>
          <p:nvPr/>
        </p:nvSpPr>
        <p:spPr bwMode="auto">
          <a:xfrm>
            <a:off x="8686800" y="48815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8885" name="Line 70"/>
          <p:cNvSpPr>
            <a:spLocks noChangeShapeType="1"/>
          </p:cNvSpPr>
          <p:nvPr/>
        </p:nvSpPr>
        <p:spPr bwMode="auto">
          <a:xfrm>
            <a:off x="8686800" y="49577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8886" name="Line 71"/>
          <p:cNvSpPr>
            <a:spLocks noChangeShapeType="1"/>
          </p:cNvSpPr>
          <p:nvPr/>
        </p:nvSpPr>
        <p:spPr bwMode="auto">
          <a:xfrm>
            <a:off x="8686800" y="50339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18" name="AutoShape 98"/>
          <p:cNvSpPr>
            <a:spLocks noChangeArrowheads="1"/>
          </p:cNvSpPr>
          <p:nvPr/>
        </p:nvSpPr>
        <p:spPr bwMode="auto">
          <a:xfrm>
            <a:off x="7620000" y="4729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>
                <a:solidFill>
                  <a:schemeClr val="bg1"/>
                </a:solidFill>
              </a:rPr>
              <a:t>B</a:t>
            </a:r>
            <a:endParaRPr lang="en-US" sz="1400"/>
          </a:p>
        </p:txBody>
      </p:sp>
      <p:sp>
        <p:nvSpPr>
          <p:cNvPr id="30819" name="AutoShape 99"/>
          <p:cNvSpPr>
            <a:spLocks noChangeArrowheads="1"/>
          </p:cNvSpPr>
          <p:nvPr/>
        </p:nvSpPr>
        <p:spPr bwMode="auto">
          <a:xfrm>
            <a:off x="8153400" y="22907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>
                <a:solidFill>
                  <a:schemeClr val="bg1"/>
                </a:solidFill>
              </a:rPr>
              <a:t>B</a:t>
            </a:r>
            <a:endParaRPr lang="en-US" sz="1400"/>
          </a:p>
        </p:txBody>
      </p:sp>
      <p:cxnSp>
        <p:nvCxnSpPr>
          <p:cNvPr id="30821" name="AutoShape 101"/>
          <p:cNvCxnSpPr>
            <a:cxnSpLocks noChangeShapeType="1"/>
            <a:stCxn id="30820" idx="3"/>
            <a:endCxn id="30820" idx="36"/>
          </p:cNvCxnSpPr>
          <p:nvPr/>
        </p:nvCxnSpPr>
        <p:spPr bwMode="auto">
          <a:xfrm flipH="1">
            <a:off x="8456613" y="2760663"/>
            <a:ext cx="101600" cy="1943100"/>
          </a:xfrm>
          <a:prstGeom prst="curvedConnector3">
            <a:avLst>
              <a:gd name="adj1" fmla="val -351565"/>
            </a:avLst>
          </a:prstGeom>
          <a:noFill/>
          <a:ln w="38100">
            <a:solidFill>
              <a:schemeClr val="accent2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30824" name="Text Box 104"/>
          <p:cNvSpPr txBox="1">
            <a:spLocks noChangeArrowheads="1"/>
          </p:cNvSpPr>
          <p:nvPr/>
        </p:nvSpPr>
        <p:spPr bwMode="auto">
          <a:xfrm>
            <a:off x="7021513" y="4271963"/>
            <a:ext cx="9286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ARP!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30827" name="Text Box 107"/>
          <p:cNvSpPr txBox="1">
            <a:spLocks noChangeArrowheads="1"/>
          </p:cNvSpPr>
          <p:nvPr/>
        </p:nvSpPr>
        <p:spPr bwMode="auto">
          <a:xfrm>
            <a:off x="7086600" y="2824163"/>
            <a:ext cx="928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ARP!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78892" name="AutoShape 109"/>
          <p:cNvSpPr>
            <a:spLocks noChangeArrowheads="1"/>
          </p:cNvSpPr>
          <p:nvPr/>
        </p:nvSpPr>
        <p:spPr bwMode="auto">
          <a:xfrm>
            <a:off x="762000" y="5867400"/>
            <a:ext cx="7010400" cy="838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Take advantage of LAN migration techniques, suitably enhanced, to move across WAN</a:t>
            </a:r>
            <a:endParaRPr lang="en-US" sz="2000" dirty="0">
              <a:solidFill>
                <a:schemeClr val="bg2"/>
              </a:solidFill>
            </a:endParaRPr>
          </a:p>
        </p:txBody>
      </p:sp>
      <p:grpSp>
        <p:nvGrpSpPr>
          <p:cNvPr id="8" name="Group 142"/>
          <p:cNvGrpSpPr>
            <a:grpSpLocks/>
          </p:cNvGrpSpPr>
          <p:nvPr/>
        </p:nvGrpSpPr>
        <p:grpSpPr bwMode="auto">
          <a:xfrm>
            <a:off x="304800" y="5338768"/>
            <a:ext cx="2133600" cy="369888"/>
            <a:chOff x="144" y="2422"/>
            <a:chExt cx="1344" cy="233"/>
          </a:xfrm>
        </p:grpSpPr>
        <p:sp>
          <p:nvSpPr>
            <p:cNvPr id="78925" name="AutoShape 120"/>
            <p:cNvSpPr>
              <a:spLocks noChangeArrowheads="1"/>
            </p:cNvSpPr>
            <p:nvPr/>
          </p:nvSpPr>
          <p:spPr bwMode="auto">
            <a:xfrm>
              <a:off x="144" y="2448"/>
              <a:ext cx="240" cy="192"/>
            </a:xfrm>
            <a:prstGeom prst="diamond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26" name="Text Box 121"/>
            <p:cNvSpPr txBox="1">
              <a:spLocks noChangeArrowheads="1"/>
            </p:cNvSpPr>
            <p:nvPr/>
          </p:nvSpPr>
          <p:spPr bwMode="auto">
            <a:xfrm>
              <a:off x="386" y="2422"/>
              <a:ext cx="110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tx2"/>
                  </a:solidFill>
                </a:rPr>
                <a:t>VPN endpoint</a:t>
              </a:r>
            </a:p>
          </p:txBody>
        </p:sp>
      </p:grpSp>
      <p:grpSp>
        <p:nvGrpSpPr>
          <p:cNvPr id="9" name="Group 144"/>
          <p:cNvGrpSpPr>
            <a:grpSpLocks/>
          </p:cNvGrpSpPr>
          <p:nvPr/>
        </p:nvGrpSpPr>
        <p:grpSpPr bwMode="auto">
          <a:xfrm>
            <a:off x="246063" y="4271963"/>
            <a:ext cx="1709738" cy="447675"/>
            <a:chOff x="155" y="2758"/>
            <a:chExt cx="1077" cy="282"/>
          </a:xfrm>
        </p:grpSpPr>
        <p:pic>
          <p:nvPicPr>
            <p:cNvPr id="78923" name="Picture 122"/>
            <p:cNvPicPr>
              <a:picLocks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55" y="2758"/>
              <a:ext cx="480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8924" name="Text Box 123"/>
            <p:cNvSpPr txBox="1">
              <a:spLocks noChangeArrowheads="1"/>
            </p:cNvSpPr>
            <p:nvPr/>
          </p:nvSpPr>
          <p:spPr bwMode="auto">
            <a:xfrm>
              <a:off x="633" y="2758"/>
              <a:ext cx="5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tx2"/>
                  </a:solidFill>
                </a:rPr>
                <a:t>Router</a:t>
              </a:r>
            </a:p>
          </p:txBody>
        </p:sp>
      </p:grpSp>
      <p:sp>
        <p:nvSpPr>
          <p:cNvPr id="78895" name="Text Box 125"/>
          <p:cNvSpPr txBox="1">
            <a:spLocks noChangeArrowheads="1"/>
          </p:cNvSpPr>
          <p:nvPr/>
        </p:nvSpPr>
        <p:spPr bwMode="auto">
          <a:xfrm>
            <a:off x="7123113" y="5186363"/>
            <a:ext cx="19446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Cloud Site 2</a:t>
            </a:r>
          </a:p>
        </p:txBody>
      </p:sp>
      <p:pic>
        <p:nvPicPr>
          <p:cNvPr id="78896" name="Picture 126" descr="earth41"/>
          <p:cNvPicPr>
            <a:picLocks noChangeAspect="1" noChangeArrowheads="1"/>
          </p:cNvPicPr>
          <p:nvPr/>
        </p:nvPicPr>
        <p:blipFill>
          <a:blip r:embed="rId7" cstate="print">
            <a:lum bright="24000"/>
            <a:grayscl/>
          </a:blip>
          <a:srcRect/>
          <a:stretch>
            <a:fillRect/>
          </a:stretch>
        </p:blipFill>
        <p:spPr bwMode="auto">
          <a:xfrm>
            <a:off x="2895600" y="3662363"/>
            <a:ext cx="4794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81" name="Line 61"/>
          <p:cNvSpPr>
            <a:spLocks noChangeShapeType="1"/>
          </p:cNvSpPr>
          <p:nvPr/>
        </p:nvSpPr>
        <p:spPr bwMode="auto">
          <a:xfrm>
            <a:off x="2819400" y="3128963"/>
            <a:ext cx="838200" cy="1600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" name="Group 127"/>
          <p:cNvGrpSpPr>
            <a:grpSpLocks/>
          </p:cNvGrpSpPr>
          <p:nvPr/>
        </p:nvGrpSpPr>
        <p:grpSpPr bwMode="auto">
          <a:xfrm>
            <a:off x="838200" y="2290763"/>
            <a:ext cx="838200" cy="762000"/>
            <a:chOff x="528" y="3552"/>
            <a:chExt cx="528" cy="480"/>
          </a:xfrm>
        </p:grpSpPr>
        <p:sp>
          <p:nvSpPr>
            <p:cNvPr id="78921" name="Oval 128"/>
            <p:cNvSpPr>
              <a:spLocks noChangeArrowheads="1"/>
            </p:cNvSpPr>
            <p:nvPr/>
          </p:nvSpPr>
          <p:spPr bwMode="auto">
            <a:xfrm>
              <a:off x="528" y="3888"/>
              <a:ext cx="528" cy="144"/>
            </a:xfrm>
            <a:prstGeom prst="ellipse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78922" name="Picture 214" descr="ICON_People_Green_Q408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576" y="3552"/>
              <a:ext cx="418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78899" name="Line 124"/>
          <p:cNvSpPr>
            <a:spLocks noChangeShapeType="1"/>
          </p:cNvSpPr>
          <p:nvPr/>
        </p:nvSpPr>
        <p:spPr bwMode="auto">
          <a:xfrm>
            <a:off x="1524000" y="2976563"/>
            <a:ext cx="381000" cy="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" name="Group 145"/>
          <p:cNvGrpSpPr>
            <a:grpSpLocks/>
          </p:cNvGrpSpPr>
          <p:nvPr/>
        </p:nvGrpSpPr>
        <p:grpSpPr bwMode="auto">
          <a:xfrm>
            <a:off x="246063" y="4779963"/>
            <a:ext cx="1474787" cy="523875"/>
            <a:chOff x="155" y="3078"/>
            <a:chExt cx="929" cy="330"/>
          </a:xfrm>
        </p:grpSpPr>
        <p:pic>
          <p:nvPicPr>
            <p:cNvPr id="78919" name="Picture 130"/>
            <p:cNvPicPr>
              <a:picLocks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55" y="3078"/>
              <a:ext cx="33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8920" name="Text Box 131"/>
            <p:cNvSpPr txBox="1">
              <a:spLocks noChangeArrowheads="1"/>
            </p:cNvSpPr>
            <p:nvPr/>
          </p:nvSpPr>
          <p:spPr bwMode="auto">
            <a:xfrm>
              <a:off x="485" y="3126"/>
              <a:ext cx="5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tx2"/>
                  </a:solidFill>
                </a:rPr>
                <a:t>Switch</a:t>
              </a:r>
            </a:p>
          </p:txBody>
        </p:sp>
      </p:grpSp>
      <p:sp>
        <p:nvSpPr>
          <p:cNvPr id="78901" name="AutoShape 132"/>
          <p:cNvSpPr>
            <a:spLocks noChangeArrowheads="1"/>
          </p:cNvSpPr>
          <p:nvPr/>
        </p:nvSpPr>
        <p:spPr bwMode="auto">
          <a:xfrm>
            <a:off x="6400800" y="2366963"/>
            <a:ext cx="685800" cy="304800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VLAN</a:t>
            </a:r>
          </a:p>
        </p:txBody>
      </p:sp>
      <p:grpSp>
        <p:nvGrpSpPr>
          <p:cNvPr id="12" name="Group 136"/>
          <p:cNvGrpSpPr>
            <a:grpSpLocks/>
          </p:cNvGrpSpPr>
          <p:nvPr/>
        </p:nvGrpSpPr>
        <p:grpSpPr bwMode="auto">
          <a:xfrm>
            <a:off x="3962400" y="4805363"/>
            <a:ext cx="2057400" cy="400050"/>
            <a:chOff x="2496" y="2784"/>
            <a:chExt cx="1296" cy="252"/>
          </a:xfrm>
        </p:grpSpPr>
        <p:grpSp>
          <p:nvGrpSpPr>
            <p:cNvPr id="13" name="Group 134"/>
            <p:cNvGrpSpPr>
              <a:grpSpLocks/>
            </p:cNvGrpSpPr>
            <p:nvPr/>
          </p:nvGrpSpPr>
          <p:grpSpPr bwMode="auto">
            <a:xfrm>
              <a:off x="2496" y="2784"/>
              <a:ext cx="1296" cy="252"/>
              <a:chOff x="2496" y="2784"/>
              <a:chExt cx="1296" cy="252"/>
            </a:xfrm>
          </p:grpSpPr>
          <p:sp>
            <p:nvSpPr>
              <p:cNvPr id="78917" name="AutoShape 14"/>
              <p:cNvSpPr>
                <a:spLocks noChangeArrowheads="1"/>
              </p:cNvSpPr>
              <p:nvPr/>
            </p:nvSpPr>
            <p:spPr bwMode="auto">
              <a:xfrm>
                <a:off x="3312" y="2784"/>
                <a:ext cx="480" cy="252"/>
              </a:xfrm>
              <a:prstGeom prst="can">
                <a:avLst>
                  <a:gd name="adj" fmla="val 37500"/>
                </a:avLst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78918" name="AutoShape 20"/>
              <p:cNvCxnSpPr>
                <a:cxnSpLocks noChangeShapeType="1"/>
                <a:stCxn id="30738" idx="3"/>
                <a:endCxn id="78917" idx="2"/>
              </p:cNvCxnSpPr>
              <p:nvPr/>
            </p:nvCxnSpPr>
            <p:spPr bwMode="auto">
              <a:xfrm>
                <a:off x="2496" y="2908"/>
                <a:ext cx="816" cy="2"/>
              </a:xfrm>
              <a:prstGeom prst="bentConnector3">
                <a:avLst>
                  <a:gd name="adj1" fmla="val 50000"/>
                </a:avLst>
              </a:prstGeom>
              <a:noFill/>
              <a:ln w="38100">
                <a:solidFill>
                  <a:schemeClr val="hlink"/>
                </a:solidFill>
                <a:miter lim="800000"/>
                <a:headEnd/>
                <a:tailEnd/>
              </a:ln>
            </p:spPr>
          </p:cxnSp>
        </p:grpSp>
        <p:grpSp>
          <p:nvGrpSpPr>
            <p:cNvPr id="14" name="Group 15"/>
            <p:cNvGrpSpPr>
              <a:grpSpLocks/>
            </p:cNvGrpSpPr>
            <p:nvPr/>
          </p:nvGrpSpPr>
          <p:grpSpPr bwMode="auto">
            <a:xfrm>
              <a:off x="3432" y="2813"/>
              <a:ext cx="216" cy="43"/>
              <a:chOff x="1920" y="2928"/>
              <a:chExt cx="259" cy="144"/>
            </a:xfrm>
          </p:grpSpPr>
          <p:sp>
            <p:nvSpPr>
              <p:cNvPr id="78915" name="Line 16"/>
              <p:cNvSpPr>
                <a:spLocks noChangeShapeType="1"/>
              </p:cNvSpPr>
              <p:nvPr/>
            </p:nvSpPr>
            <p:spPr bwMode="auto">
              <a:xfrm flipV="1">
                <a:off x="1920" y="2928"/>
                <a:ext cx="259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916" name="Line 17"/>
              <p:cNvSpPr>
                <a:spLocks noChangeShapeType="1"/>
              </p:cNvSpPr>
              <p:nvPr/>
            </p:nvSpPr>
            <p:spPr bwMode="auto">
              <a:xfrm>
                <a:off x="1920" y="2928"/>
                <a:ext cx="259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cxnSp>
        <p:nvCxnSpPr>
          <p:cNvPr id="78903" name="AutoShape 140"/>
          <p:cNvCxnSpPr>
            <a:cxnSpLocks noChangeShapeType="1"/>
            <a:stCxn id="78917" idx="4"/>
            <a:endCxn id="78912" idx="1"/>
          </p:cNvCxnSpPr>
          <p:nvPr/>
        </p:nvCxnSpPr>
        <p:spPr bwMode="auto">
          <a:xfrm flipV="1">
            <a:off x="6019800" y="4957763"/>
            <a:ext cx="381000" cy="4762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grpSp>
        <p:nvGrpSpPr>
          <p:cNvPr id="15" name="Group 135"/>
          <p:cNvGrpSpPr>
            <a:grpSpLocks/>
          </p:cNvGrpSpPr>
          <p:nvPr/>
        </p:nvGrpSpPr>
        <p:grpSpPr bwMode="auto">
          <a:xfrm>
            <a:off x="6019800" y="4805363"/>
            <a:ext cx="1066800" cy="304800"/>
            <a:chOff x="3792" y="2784"/>
            <a:chExt cx="672" cy="192"/>
          </a:xfrm>
        </p:grpSpPr>
        <p:cxnSp>
          <p:nvCxnSpPr>
            <p:cNvPr id="78911" name="AutoShape 21"/>
            <p:cNvCxnSpPr>
              <a:cxnSpLocks noChangeShapeType="1"/>
              <a:stCxn id="78917" idx="4"/>
            </p:cNvCxnSpPr>
            <p:nvPr/>
          </p:nvCxnSpPr>
          <p:spPr bwMode="auto">
            <a:xfrm flipV="1">
              <a:off x="3792" y="2856"/>
              <a:ext cx="336" cy="54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</p:spPr>
        </p:cxnSp>
        <p:sp>
          <p:nvSpPr>
            <p:cNvPr id="78912" name="AutoShape 133"/>
            <p:cNvSpPr>
              <a:spLocks noChangeArrowheads="1"/>
            </p:cNvSpPr>
            <p:nvPr/>
          </p:nvSpPr>
          <p:spPr bwMode="auto">
            <a:xfrm>
              <a:off x="4032" y="2784"/>
              <a:ext cx="432" cy="192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VLAN</a:t>
              </a:r>
            </a:p>
          </p:txBody>
        </p:sp>
      </p:grpSp>
      <p:grpSp>
        <p:nvGrpSpPr>
          <p:cNvPr id="16" name="Group 137"/>
          <p:cNvGrpSpPr>
            <a:grpSpLocks/>
          </p:cNvGrpSpPr>
          <p:nvPr/>
        </p:nvGrpSpPr>
        <p:grpSpPr bwMode="auto">
          <a:xfrm>
            <a:off x="4051300" y="2506663"/>
            <a:ext cx="3492500" cy="2349500"/>
            <a:chOff x="2552" y="1336"/>
            <a:chExt cx="2200" cy="1480"/>
          </a:xfrm>
        </p:grpSpPr>
        <p:sp>
          <p:nvSpPr>
            <p:cNvPr id="78909" name="Line 103"/>
            <p:cNvSpPr>
              <a:spLocks noChangeShapeType="1"/>
            </p:cNvSpPr>
            <p:nvPr/>
          </p:nvSpPr>
          <p:spPr bwMode="auto">
            <a:xfrm flipH="1">
              <a:off x="4416" y="2784"/>
              <a:ext cx="33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sysDot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10" name="Freeform 106"/>
            <p:cNvSpPr>
              <a:spLocks/>
            </p:cNvSpPr>
            <p:nvPr/>
          </p:nvSpPr>
          <p:spPr bwMode="auto">
            <a:xfrm>
              <a:off x="2552" y="1336"/>
              <a:ext cx="1816" cy="1480"/>
            </a:xfrm>
            <a:custGeom>
              <a:avLst/>
              <a:gdLst>
                <a:gd name="T0" fmla="*/ 1816 w 1816"/>
                <a:gd name="T1" fmla="*/ 1448 h 1480"/>
                <a:gd name="T2" fmla="*/ 424 w 1816"/>
                <a:gd name="T3" fmla="*/ 1352 h 1480"/>
                <a:gd name="T4" fmla="*/ 40 w 1816"/>
                <a:gd name="T5" fmla="*/ 680 h 1480"/>
                <a:gd name="T6" fmla="*/ 664 w 1816"/>
                <a:gd name="T7" fmla="*/ 104 h 1480"/>
                <a:gd name="T8" fmla="*/ 1528 w 1816"/>
                <a:gd name="T9" fmla="*/ 56 h 14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16"/>
                <a:gd name="T16" fmla="*/ 0 h 1480"/>
                <a:gd name="T17" fmla="*/ 1816 w 1816"/>
                <a:gd name="T18" fmla="*/ 1480 h 14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16" h="1480">
                  <a:moveTo>
                    <a:pt x="1816" y="1448"/>
                  </a:moveTo>
                  <a:cubicBezTo>
                    <a:pt x="1268" y="1464"/>
                    <a:pt x="720" y="1480"/>
                    <a:pt x="424" y="1352"/>
                  </a:cubicBezTo>
                  <a:cubicBezTo>
                    <a:pt x="128" y="1224"/>
                    <a:pt x="0" y="888"/>
                    <a:pt x="40" y="680"/>
                  </a:cubicBezTo>
                  <a:cubicBezTo>
                    <a:pt x="80" y="472"/>
                    <a:pt x="416" y="208"/>
                    <a:pt x="664" y="104"/>
                  </a:cubicBezTo>
                  <a:cubicBezTo>
                    <a:pt x="912" y="0"/>
                    <a:pt x="1220" y="28"/>
                    <a:pt x="1528" y="56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prstDash val="sysDot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8906" name="Text Box 146"/>
          <p:cNvSpPr txBox="1">
            <a:spLocks noChangeArrowheads="1"/>
          </p:cNvSpPr>
          <p:nvPr/>
        </p:nvSpPr>
        <p:spPr bwMode="auto">
          <a:xfrm>
            <a:off x="5323360" y="1676400"/>
            <a:ext cx="5261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626262"/>
                </a:solidFill>
              </a:rPr>
              <a:t>CE</a:t>
            </a:r>
          </a:p>
        </p:txBody>
      </p:sp>
      <p:sp>
        <p:nvSpPr>
          <p:cNvPr id="78907" name="Text Box 147"/>
          <p:cNvSpPr txBox="1">
            <a:spLocks noChangeArrowheads="1"/>
          </p:cNvSpPr>
          <p:nvPr/>
        </p:nvSpPr>
        <p:spPr bwMode="auto">
          <a:xfrm>
            <a:off x="5321772" y="4114800"/>
            <a:ext cx="5261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626262"/>
                </a:solidFill>
              </a:rPr>
              <a:t>CE</a:t>
            </a:r>
          </a:p>
        </p:txBody>
      </p:sp>
      <p:sp>
        <p:nvSpPr>
          <p:cNvPr id="78908" name="Rectangle 150"/>
          <p:cNvSpPr>
            <a:spLocks noChangeArrowheads="1"/>
          </p:cNvSpPr>
          <p:nvPr/>
        </p:nvSpPr>
        <p:spPr bwMode="auto">
          <a:xfrm>
            <a:off x="1105237" y="1143000"/>
            <a:ext cx="69557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Verdana" pitchFamily="34" charset="0"/>
              </a:rPr>
              <a:t>Layer 2 VPNs make WAN act like a LAN</a:t>
            </a:r>
          </a:p>
        </p:txBody>
      </p:sp>
    </p:spTree>
    <p:custDataLst>
      <p:tags r:id="rId1"/>
    </p:custDataLst>
  </p:cSld>
  <p:clrMapOvr>
    <a:masterClrMapping/>
  </p:clrMapOvr>
  <p:transition advTm="15766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3081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0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1000"/>
                                        <p:tgtEl>
                                          <p:spTgt spid="30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30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0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30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0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0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0" grpId="0" animBg="1"/>
      <p:bldP spid="30738" grpId="0" animBg="1"/>
      <p:bldP spid="30818" grpId="0" animBg="1"/>
      <p:bldP spid="30819" grpId="0" animBg="1"/>
      <p:bldP spid="30819" grpId="1" animBg="1"/>
      <p:bldP spid="30824" grpId="0"/>
      <p:bldP spid="30827" grpId="0"/>
      <p:bldP spid="3078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WAN Migration Optimization</a:t>
            </a:r>
          </a:p>
        </p:txBody>
      </p:sp>
      <p:sp>
        <p:nvSpPr>
          <p:cNvPr id="79875" name="Content Placeholder 2"/>
          <p:cNvSpPr>
            <a:spLocks noGrp="1"/>
          </p:cNvSpPr>
          <p:nvPr>
            <p:ph idx="1"/>
          </p:nvPr>
        </p:nvSpPr>
        <p:spPr>
          <a:xfrm>
            <a:off x="152400" y="1485900"/>
            <a:ext cx="8839200" cy="4610100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dirty="0"/>
              <a:t>Once connectivity is setup, migration requires</a:t>
            </a:r>
          </a:p>
          <a:p>
            <a:pPr lvl="2">
              <a:buFont typeface="Arial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Storage Migration</a:t>
            </a:r>
          </a:p>
          <a:p>
            <a:pPr lvl="2">
              <a:buFont typeface="Arial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Live Memory Migration</a:t>
            </a:r>
          </a:p>
          <a:p>
            <a:pPr lvl="1"/>
            <a:r>
              <a:rPr lang="en-US" b="1" dirty="0"/>
              <a:t>Storage Migration </a:t>
            </a:r>
            <a:r>
              <a:rPr lang="en-US" dirty="0"/>
              <a:t>is done through a combination of</a:t>
            </a:r>
          </a:p>
          <a:p>
            <a:pPr lvl="2">
              <a:buFont typeface="Arial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Asynchronous Copy of disk storage to remote site initially</a:t>
            </a:r>
          </a:p>
          <a:p>
            <a:pPr lvl="2">
              <a:buFont typeface="Arial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Synchronous copy of incremental updates subsequently during live memory migration</a:t>
            </a:r>
          </a:p>
          <a:p>
            <a:pPr lvl="2">
              <a:buFont typeface="Arial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Linux provides a capability for this: DRBD (</a:t>
            </a:r>
            <a:r>
              <a:rPr lang="en-US" b="1" dirty="0"/>
              <a:t>Distributed Replicated Block Device)</a:t>
            </a:r>
            <a:endParaRPr lang="en-US" dirty="0">
              <a:solidFill>
                <a:schemeClr val="tx2"/>
              </a:solidFill>
            </a:endParaRPr>
          </a:p>
          <a:p>
            <a:pPr lvl="1"/>
            <a:r>
              <a:rPr lang="en-US" b="1" dirty="0"/>
              <a:t>Live Memory Migration </a:t>
            </a:r>
            <a:r>
              <a:rPr lang="en-US" dirty="0"/>
              <a:t>needs to balance multiple needs</a:t>
            </a:r>
          </a:p>
          <a:p>
            <a:pPr lvl="2">
              <a:buFont typeface="Arial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Total Migration Time for live memory (reduced application performance)</a:t>
            </a:r>
          </a:p>
          <a:p>
            <a:pPr lvl="2">
              <a:buFont typeface="Arial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Pause Time (application has to be quiescent for final transfer)</a:t>
            </a:r>
          </a:p>
          <a:p>
            <a:pPr lvl="2">
              <a:buFont typeface="Arial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Amount of Data Transfer (Bandwidth Requirement)</a:t>
            </a:r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pitchFamily="34" charset="-128"/>
              </a:rPr>
              <a:t>Page </a:t>
            </a:r>
            <a:fld id="{5172E367-9C92-4ECE-9277-8467BAEC2828}" type="slidenum">
              <a:rPr lang="en-US" smtClean="0">
                <a:ea typeface="ＭＳ Ｐゴシック" pitchFamily="34" charset="-128"/>
              </a:rPr>
              <a:pPr/>
              <a:t>25</a:t>
            </a:fld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"/>
          <p:cNvSpPr/>
          <p:nvPr/>
        </p:nvSpPr>
        <p:spPr>
          <a:xfrm>
            <a:off x="1535906" y="1768078"/>
            <a:ext cx="5045273" cy="616148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sp>
        <p:nvSpPr>
          <p:cNvPr id="250" name="VM Migration Proced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3200" dirty="0"/>
              <a:t>VM Migration Procedure</a:t>
            </a:r>
          </a:p>
        </p:txBody>
      </p:sp>
      <p:sp>
        <p:nvSpPr>
          <p:cNvPr id="251" name="Disk"/>
          <p:cNvSpPr/>
          <p:nvPr/>
        </p:nvSpPr>
        <p:spPr>
          <a:xfrm rot="16200767">
            <a:off x="1443123" y="2513647"/>
            <a:ext cx="535404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800">
                <a:solidFill>
                  <a:srgbClr val="232323"/>
                </a:solidFill>
              </a:defRPr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1969" kern="0">
                <a:latin typeface="Gill Sans"/>
                <a:cs typeface="Gill Sans"/>
                <a:sym typeface="Gill Sans"/>
              </a:rPr>
              <a:t>Disk</a:t>
            </a:r>
          </a:p>
        </p:txBody>
      </p:sp>
      <p:sp>
        <p:nvSpPr>
          <p:cNvPr id="252" name="Mem"/>
          <p:cNvSpPr/>
          <p:nvPr/>
        </p:nvSpPr>
        <p:spPr>
          <a:xfrm rot="16200767">
            <a:off x="1422832" y="1896007"/>
            <a:ext cx="583494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800"/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1969" kern="0">
                <a:solidFill>
                  <a:srgbClr val="000000"/>
                </a:solidFill>
                <a:latin typeface="Gill Sans"/>
                <a:cs typeface="Gill Sans"/>
                <a:sym typeface="Gill Sans"/>
              </a:rPr>
              <a:t>Mem</a:t>
            </a:r>
          </a:p>
        </p:txBody>
      </p:sp>
      <p:sp>
        <p:nvSpPr>
          <p:cNvPr id="253" name="Net"/>
          <p:cNvSpPr/>
          <p:nvPr/>
        </p:nvSpPr>
        <p:spPr>
          <a:xfrm rot="16200767">
            <a:off x="1478136" y="1270929"/>
            <a:ext cx="472886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800">
                <a:solidFill>
                  <a:srgbClr val="232323"/>
                </a:solidFill>
              </a:defRPr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1969" kern="0">
                <a:latin typeface="Gill Sans"/>
                <a:cs typeface="Gill Sans"/>
                <a:sym typeface="Gill Sans"/>
              </a:rPr>
              <a:t>Net</a:t>
            </a:r>
          </a:p>
        </p:txBody>
      </p:sp>
      <p:sp>
        <p:nvSpPr>
          <p:cNvPr id="254" name="Line"/>
          <p:cNvSpPr/>
          <p:nvPr/>
        </p:nvSpPr>
        <p:spPr>
          <a:xfrm flipH="1">
            <a:off x="1904800" y="2982527"/>
            <a:ext cx="4834171" cy="6"/>
          </a:xfrm>
          <a:prstGeom prst="line">
            <a:avLst/>
          </a:prstGeom>
          <a:ln w="63500">
            <a:solidFill>
              <a:srgbClr val="232323"/>
            </a:solidFill>
            <a:miter lim="400000"/>
          </a:ln>
        </p:spPr>
        <p:txBody>
          <a:bodyPr lIns="0" tIns="0" rIns="0" bIns="0"/>
          <a:lstStyle/>
          <a:p>
            <a:pPr algn="l" defTabSz="321457" eaLnBrk="1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55" name="Asynchronous Copy"/>
          <p:cNvSpPr/>
          <p:nvPr/>
        </p:nvSpPr>
        <p:spPr>
          <a:xfrm>
            <a:off x="1919883" y="2473523"/>
            <a:ext cx="2375297" cy="437555"/>
          </a:xfrm>
          <a:prstGeom prst="rect">
            <a:avLst/>
          </a:prstGeom>
          <a:solidFill>
            <a:srgbClr val="CCE8B5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>
              <a:defRPr sz="2800"/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1969" kern="0">
                <a:solidFill>
                  <a:srgbClr val="000000"/>
                </a:solidFill>
                <a:latin typeface="Gill Sans"/>
                <a:cs typeface="Gill Sans"/>
                <a:sym typeface="Gill Sans"/>
              </a:rPr>
              <a:t>Asynchronous Copy</a:t>
            </a:r>
          </a:p>
        </p:txBody>
      </p:sp>
      <p:sp>
        <p:nvSpPr>
          <p:cNvPr id="256" name="Synchronous Copy"/>
          <p:cNvSpPr/>
          <p:nvPr/>
        </p:nvSpPr>
        <p:spPr>
          <a:xfrm>
            <a:off x="4313039" y="2473523"/>
            <a:ext cx="2160984" cy="437555"/>
          </a:xfrm>
          <a:prstGeom prst="rect">
            <a:avLst/>
          </a:prstGeom>
          <a:solidFill>
            <a:srgbClr val="FF6A00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1969" kern="0">
                <a:latin typeface="Gill Sans"/>
                <a:cs typeface="Gill Sans"/>
                <a:sym typeface="Gill Sans"/>
              </a:rPr>
              <a:t>Synchronous Copy</a:t>
            </a:r>
          </a:p>
        </p:txBody>
      </p:sp>
      <p:sp>
        <p:nvSpPr>
          <p:cNvPr id="257" name="Live Mem Transfer"/>
          <p:cNvSpPr/>
          <p:nvPr/>
        </p:nvSpPr>
        <p:spPr>
          <a:xfrm>
            <a:off x="4313039" y="1875234"/>
            <a:ext cx="2000250" cy="437555"/>
          </a:xfrm>
          <a:prstGeom prst="rect">
            <a:avLst/>
          </a:prstGeom>
          <a:solidFill>
            <a:srgbClr val="FFC677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>
              <a:defRPr sz="2700"/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1898" kern="0">
                <a:solidFill>
                  <a:srgbClr val="000000"/>
                </a:solidFill>
                <a:latin typeface="Gill Sans"/>
                <a:cs typeface="Gill Sans"/>
                <a:sym typeface="Gill Sans"/>
              </a:rPr>
              <a:t>Live Mem Transfer</a:t>
            </a:r>
          </a:p>
        </p:txBody>
      </p:sp>
      <p:sp>
        <p:nvSpPr>
          <p:cNvPr id="258" name="Time"/>
          <p:cNvSpPr/>
          <p:nvPr/>
        </p:nvSpPr>
        <p:spPr>
          <a:xfrm>
            <a:off x="3876109" y="2938523"/>
            <a:ext cx="670056" cy="418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200">
                <a:solidFill>
                  <a:srgbClr val="232323"/>
                </a:solidFill>
              </a:defRPr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250" kern="0">
                <a:latin typeface="Gill Sans"/>
                <a:cs typeface="Gill Sans"/>
                <a:sym typeface="Gill Sans"/>
              </a:rPr>
              <a:t>Time</a:t>
            </a:r>
          </a:p>
        </p:txBody>
      </p:sp>
      <p:sp>
        <p:nvSpPr>
          <p:cNvPr id="259" name="ARP"/>
          <p:cNvSpPr/>
          <p:nvPr/>
        </p:nvSpPr>
        <p:spPr>
          <a:xfrm>
            <a:off x="6844613" y="1125081"/>
            <a:ext cx="520976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800">
                <a:solidFill>
                  <a:srgbClr val="232323"/>
                </a:solidFill>
              </a:defRPr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1969" kern="0">
                <a:latin typeface="Gill Sans"/>
                <a:cs typeface="Gill Sans"/>
                <a:sym typeface="Gill Sans"/>
              </a:rPr>
              <a:t>ARP</a:t>
            </a:r>
          </a:p>
        </p:txBody>
      </p:sp>
      <p:sp>
        <p:nvSpPr>
          <p:cNvPr id="260" name="VPN Setup"/>
          <p:cNvSpPr/>
          <p:nvPr/>
        </p:nvSpPr>
        <p:spPr>
          <a:xfrm>
            <a:off x="2216464" y="1098292"/>
            <a:ext cx="1192635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800">
                <a:solidFill>
                  <a:srgbClr val="232323"/>
                </a:solidFill>
              </a:defRPr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1969" kern="0">
                <a:latin typeface="Gill Sans"/>
                <a:cs typeface="Gill Sans"/>
                <a:sym typeface="Gill Sans"/>
              </a:rPr>
              <a:t>VPN Setup</a:t>
            </a:r>
          </a:p>
        </p:txBody>
      </p:sp>
      <p:sp>
        <p:nvSpPr>
          <p:cNvPr id="261" name="Pause VM"/>
          <p:cNvSpPr/>
          <p:nvPr/>
        </p:nvSpPr>
        <p:spPr>
          <a:xfrm>
            <a:off x="6700688" y="1660862"/>
            <a:ext cx="1072409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800">
                <a:solidFill>
                  <a:srgbClr val="232323"/>
                </a:solidFill>
              </a:defRPr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1969" kern="0">
                <a:latin typeface="Gill Sans"/>
                <a:cs typeface="Gill Sans"/>
                <a:sym typeface="Gill Sans"/>
              </a:rPr>
              <a:t>Pause VM</a:t>
            </a:r>
          </a:p>
        </p:txBody>
      </p:sp>
      <p:grpSp>
        <p:nvGrpSpPr>
          <p:cNvPr id="264" name="Group"/>
          <p:cNvGrpSpPr/>
          <p:nvPr/>
        </p:nvGrpSpPr>
        <p:grpSpPr>
          <a:xfrm>
            <a:off x="6331149" y="1875234"/>
            <a:ext cx="372071" cy="437555"/>
            <a:chOff x="0" y="0"/>
            <a:chExt cx="529166" cy="622300"/>
          </a:xfrm>
        </p:grpSpPr>
        <p:sp>
          <p:nvSpPr>
            <p:cNvPr id="262" name="Rectangle"/>
            <p:cNvSpPr/>
            <p:nvPr/>
          </p:nvSpPr>
          <p:spPr>
            <a:xfrm>
              <a:off x="0" y="0"/>
              <a:ext cx="177800" cy="622300"/>
            </a:xfrm>
            <a:prstGeom prst="rect">
              <a:avLst/>
            </a:prstGeom>
            <a:solidFill>
              <a:srgbClr val="831100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263" name="Line"/>
            <p:cNvSpPr/>
            <p:nvPr/>
          </p:nvSpPr>
          <p:spPr>
            <a:xfrm flipV="1">
              <a:off x="156633" y="59266"/>
              <a:ext cx="372534" cy="25400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</p:grpSp>
      <p:grpSp>
        <p:nvGrpSpPr>
          <p:cNvPr id="267" name="Group"/>
          <p:cNvGrpSpPr/>
          <p:nvPr/>
        </p:nvGrpSpPr>
        <p:grpSpPr>
          <a:xfrm>
            <a:off x="6456164" y="1268015"/>
            <a:ext cx="366117" cy="437555"/>
            <a:chOff x="0" y="0"/>
            <a:chExt cx="520700" cy="622300"/>
          </a:xfrm>
        </p:grpSpPr>
        <p:sp>
          <p:nvSpPr>
            <p:cNvPr id="265" name="Rectangle"/>
            <p:cNvSpPr/>
            <p:nvPr/>
          </p:nvSpPr>
          <p:spPr>
            <a:xfrm>
              <a:off x="0" y="0"/>
              <a:ext cx="177800" cy="622300"/>
            </a:xfrm>
            <a:prstGeom prst="rect">
              <a:avLst/>
            </a:prstGeom>
            <a:solidFill>
              <a:srgbClr val="831100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266" name="Line"/>
            <p:cNvSpPr/>
            <p:nvPr/>
          </p:nvSpPr>
          <p:spPr>
            <a:xfrm flipV="1">
              <a:off x="249766" y="93133"/>
              <a:ext cx="270934" cy="16933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</p:grpSp>
      <p:grpSp>
        <p:nvGrpSpPr>
          <p:cNvPr id="270" name="Group"/>
          <p:cNvGrpSpPr/>
          <p:nvPr/>
        </p:nvGrpSpPr>
        <p:grpSpPr>
          <a:xfrm>
            <a:off x="1910953" y="1232297"/>
            <a:ext cx="279797" cy="437555"/>
            <a:chOff x="0" y="0"/>
            <a:chExt cx="397933" cy="622300"/>
          </a:xfrm>
        </p:grpSpPr>
        <p:sp>
          <p:nvSpPr>
            <p:cNvPr id="268" name="Rectangle"/>
            <p:cNvSpPr/>
            <p:nvPr/>
          </p:nvSpPr>
          <p:spPr>
            <a:xfrm>
              <a:off x="0" y="0"/>
              <a:ext cx="177800" cy="622300"/>
            </a:xfrm>
            <a:prstGeom prst="rect">
              <a:avLst/>
            </a:prstGeom>
            <a:solidFill>
              <a:srgbClr val="CCE8B5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sp>
          <p:nvSpPr>
            <p:cNvPr id="269" name="Line"/>
            <p:cNvSpPr/>
            <p:nvPr/>
          </p:nvSpPr>
          <p:spPr>
            <a:xfrm flipV="1">
              <a:off x="215900" y="59266"/>
              <a:ext cx="182034" cy="27093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</p:grpSp>
      <p:sp>
        <p:nvSpPr>
          <p:cNvPr id="2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69849" y="6496828"/>
            <a:ext cx="266098" cy="29738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 kern="0">
                <a:latin typeface="Gill Sans"/>
                <a:cs typeface="Gill Sans"/>
                <a:sym typeface="Gill Sans"/>
              </a:rPr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t>26</a:t>
            </a:fld>
            <a:endParaRPr kern="0" dirty="0">
              <a:latin typeface="Gill Sans"/>
              <a:cs typeface="Gill Sans"/>
              <a:sym typeface="Gill Sans"/>
            </a:endParaRPr>
          </a:p>
        </p:txBody>
      </p:sp>
      <p:sp>
        <p:nvSpPr>
          <p:cNvPr id="272" name="Rounded Rectangle"/>
          <p:cNvSpPr/>
          <p:nvPr/>
        </p:nvSpPr>
        <p:spPr>
          <a:xfrm>
            <a:off x="814667" y="3481855"/>
            <a:ext cx="1786636" cy="1107283"/>
          </a:xfrm>
          <a:prstGeom prst="roundRect">
            <a:avLst>
              <a:gd name="adj" fmla="val 2419"/>
            </a:avLst>
          </a:prstGeom>
          <a:gradFill>
            <a:gsLst>
              <a:gs pos="0">
                <a:srgbClr val="D6D6D6"/>
              </a:gs>
              <a:gs pos="100000">
                <a:srgbClr val="9B9B9B"/>
              </a:gs>
            </a:gsLst>
            <a:lin ang="5400000"/>
          </a:gradFill>
          <a:ln>
            <a:solidFill>
              <a:srgbClr val="797979"/>
            </a:solidFill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endParaRPr sz="844" kern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Gill Sans"/>
              <a:cs typeface="Gill Sans"/>
              <a:sym typeface="Gill Sans"/>
            </a:endParaRPr>
          </a:p>
        </p:txBody>
      </p:sp>
      <p:sp>
        <p:nvSpPr>
          <p:cNvPr id="273" name="VM  Memory"/>
          <p:cNvSpPr/>
          <p:nvPr/>
        </p:nvSpPr>
        <p:spPr>
          <a:xfrm>
            <a:off x="900485" y="3599532"/>
            <a:ext cx="1612935" cy="894344"/>
          </a:xfrm>
          <a:prstGeom prst="roundRect">
            <a:avLst>
              <a:gd name="adj" fmla="val 7988"/>
            </a:avLst>
          </a:prstGeom>
          <a:solidFill>
            <a:srgbClr val="96D35F"/>
          </a:solidFill>
          <a:ln>
            <a:solidFill>
              <a:srgbClr val="EBEBEB"/>
            </a:solidFill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r>
              <a:rPr sz="2250" b="1" ker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"/>
                <a:cs typeface="Gill Sans"/>
                <a:sym typeface="Gill Sans"/>
              </a:rPr>
              <a:t>VM </a:t>
            </a:r>
            <a:br>
              <a:rPr sz="2250" b="1" ker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"/>
                <a:cs typeface="Gill Sans"/>
                <a:sym typeface="Gill Sans"/>
              </a:rPr>
            </a:br>
            <a:r>
              <a:rPr sz="2250" b="1" ker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"/>
                <a:cs typeface="Gill Sans"/>
                <a:sym typeface="Gill Sans"/>
              </a:rPr>
              <a:t>Memory</a:t>
            </a:r>
          </a:p>
        </p:txBody>
      </p:sp>
      <p:grpSp>
        <p:nvGrpSpPr>
          <p:cNvPr id="278" name="Group"/>
          <p:cNvGrpSpPr/>
          <p:nvPr/>
        </p:nvGrpSpPr>
        <p:grpSpPr>
          <a:xfrm>
            <a:off x="723304" y="4625578"/>
            <a:ext cx="1973462" cy="678657"/>
            <a:chOff x="0" y="0"/>
            <a:chExt cx="2806700" cy="965199"/>
          </a:xfrm>
        </p:grpSpPr>
        <p:pic>
          <p:nvPicPr>
            <p:cNvPr id="274" name="ICON_Server_flat_Q408.png" descr="ICON_Server_flat_Q408.png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54000"/>
              <a:ext cx="2806700" cy="711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77" name="Group"/>
            <p:cNvGrpSpPr/>
            <p:nvPr/>
          </p:nvGrpSpPr>
          <p:grpSpPr>
            <a:xfrm>
              <a:off x="-1" y="-1"/>
              <a:ext cx="2806701" cy="228602"/>
              <a:chOff x="0" y="0"/>
              <a:chExt cx="2806700" cy="228600"/>
            </a:xfrm>
          </p:grpSpPr>
          <p:pic>
            <p:nvPicPr>
              <p:cNvPr id="275" name="image.png" descr="image.png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806700" cy="22860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76" name="image.png" descr="image.png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18" y="6578"/>
                <a:ext cx="2749029" cy="1069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pic>
        <p:nvPicPr>
          <p:cNvPr id="279" name="ICON_DiscDrive_Q308.png" descr="ICON_DiscDrive_Q308.png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134071" y="5161359"/>
            <a:ext cx="1160859" cy="79474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84" name="Group"/>
          <p:cNvGrpSpPr/>
          <p:nvPr/>
        </p:nvGrpSpPr>
        <p:grpSpPr>
          <a:xfrm>
            <a:off x="6420445" y="4616648"/>
            <a:ext cx="1973462" cy="678657"/>
            <a:chOff x="0" y="0"/>
            <a:chExt cx="2806700" cy="965199"/>
          </a:xfrm>
        </p:grpSpPr>
        <p:pic>
          <p:nvPicPr>
            <p:cNvPr id="280" name="ICON_Server_flat_Q408.png" descr="ICON_Server_flat_Q408.png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54000"/>
              <a:ext cx="2806700" cy="711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83" name="Group"/>
            <p:cNvGrpSpPr/>
            <p:nvPr/>
          </p:nvGrpSpPr>
          <p:grpSpPr>
            <a:xfrm>
              <a:off x="-1" y="-1"/>
              <a:ext cx="2806701" cy="228602"/>
              <a:chOff x="0" y="0"/>
              <a:chExt cx="2806700" cy="228600"/>
            </a:xfrm>
          </p:grpSpPr>
          <p:pic>
            <p:nvPicPr>
              <p:cNvPr id="281" name="image.png" descr="image.png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806700" cy="22860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82" name="image.png" descr="image.png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18" y="6578"/>
                <a:ext cx="2749029" cy="1069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sp>
        <p:nvSpPr>
          <p:cNvPr id="285" name="West Coast"/>
          <p:cNvSpPr/>
          <p:nvPr/>
        </p:nvSpPr>
        <p:spPr>
          <a:xfrm>
            <a:off x="564017" y="5974109"/>
            <a:ext cx="1936429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953" kern="0">
                <a:solidFill>
                  <a:srgbClr val="000000"/>
                </a:solidFill>
                <a:latin typeface="Gill Sans"/>
                <a:cs typeface="Gill Sans"/>
                <a:sym typeface="Gill Sans"/>
              </a:rPr>
              <a:t>West Coast</a:t>
            </a:r>
          </a:p>
        </p:txBody>
      </p:sp>
      <p:sp>
        <p:nvSpPr>
          <p:cNvPr id="286" name="East Coast"/>
          <p:cNvSpPr/>
          <p:nvPr/>
        </p:nvSpPr>
        <p:spPr>
          <a:xfrm>
            <a:off x="6555209" y="5902672"/>
            <a:ext cx="1712008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953" kern="0">
                <a:solidFill>
                  <a:srgbClr val="000000"/>
                </a:solidFill>
                <a:latin typeface="Gill Sans"/>
                <a:cs typeface="Gill Sans"/>
                <a:sym typeface="Gill Sans"/>
              </a:rPr>
              <a:t>East Coast</a:t>
            </a:r>
          </a:p>
        </p:txBody>
      </p:sp>
      <p:pic>
        <p:nvPicPr>
          <p:cNvPr id="287" name="ICON_DiscDrive_Q308.png" descr="ICON_DiscDrive_Q308.png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831211" y="5152430"/>
            <a:ext cx="1160859" cy="794742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Line"/>
          <p:cNvSpPr/>
          <p:nvPr/>
        </p:nvSpPr>
        <p:spPr>
          <a:xfrm flipH="1">
            <a:off x="2178844" y="5822156"/>
            <a:ext cx="4758480" cy="1"/>
          </a:xfrm>
          <a:prstGeom prst="line">
            <a:avLst/>
          </a:prstGeom>
          <a:ln w="63500">
            <a:solidFill>
              <a:srgbClr val="77BB41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321457" eaLnBrk="1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grpSp>
        <p:nvGrpSpPr>
          <p:cNvPr id="292" name="Group"/>
          <p:cNvGrpSpPr/>
          <p:nvPr/>
        </p:nvGrpSpPr>
        <p:grpSpPr>
          <a:xfrm>
            <a:off x="2790785" y="4670227"/>
            <a:ext cx="3537338" cy="386039"/>
            <a:chOff x="0" y="0"/>
            <a:chExt cx="5030879" cy="549032"/>
          </a:xfrm>
        </p:grpSpPr>
        <p:sp>
          <p:nvSpPr>
            <p:cNvPr id="289" name="Line"/>
            <p:cNvSpPr/>
            <p:nvPr/>
          </p:nvSpPr>
          <p:spPr>
            <a:xfrm>
              <a:off x="755282" y="309033"/>
              <a:ext cx="3675158" cy="1"/>
            </a:xfrm>
            <a:prstGeom prst="line">
              <a:avLst/>
            </a:prstGeom>
            <a:noFill/>
            <a:ln w="76200" cap="flat">
              <a:solidFill>
                <a:srgbClr val="11053B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pic>
          <p:nvPicPr>
            <p:cNvPr id="290" name="image.pdf" descr="image.pdf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3922"/>
              <a:ext cx="897397" cy="5451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1" name="image.pdf" descr="image.pdf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33482" y="0"/>
              <a:ext cx="897398" cy="5451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93" name="Rounded Rectangle"/>
          <p:cNvSpPr/>
          <p:nvPr/>
        </p:nvSpPr>
        <p:spPr>
          <a:xfrm>
            <a:off x="6518672" y="3482579"/>
            <a:ext cx="1786636" cy="1107283"/>
          </a:xfrm>
          <a:prstGeom prst="roundRect">
            <a:avLst>
              <a:gd name="adj" fmla="val 2419"/>
            </a:avLst>
          </a:prstGeom>
          <a:gradFill>
            <a:gsLst>
              <a:gs pos="0">
                <a:srgbClr val="D6D6D6"/>
              </a:gs>
              <a:gs pos="100000">
                <a:srgbClr val="9B9B9B"/>
              </a:gs>
            </a:gsLst>
            <a:lin ang="5400000"/>
          </a:gradFill>
          <a:ln>
            <a:solidFill>
              <a:srgbClr val="797979"/>
            </a:solidFill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endParaRPr sz="844" kern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Gill Sans"/>
              <a:cs typeface="Gill Sans"/>
              <a:sym typeface="Gill Sans"/>
            </a:endParaRPr>
          </a:p>
        </p:txBody>
      </p:sp>
      <p:sp>
        <p:nvSpPr>
          <p:cNvPr id="294" name="VM  Memory"/>
          <p:cNvSpPr/>
          <p:nvPr/>
        </p:nvSpPr>
        <p:spPr>
          <a:xfrm>
            <a:off x="6604491" y="3600256"/>
            <a:ext cx="1612934" cy="894344"/>
          </a:xfrm>
          <a:prstGeom prst="roundRect">
            <a:avLst>
              <a:gd name="adj" fmla="val 7988"/>
            </a:avLst>
          </a:prstGeom>
          <a:solidFill>
            <a:srgbClr val="831100"/>
          </a:solidFill>
          <a:ln>
            <a:solidFill>
              <a:srgbClr val="EBEBEB"/>
            </a:solidFill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r>
              <a:rPr sz="2250" b="1" ker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"/>
                <a:cs typeface="Gill Sans"/>
                <a:sym typeface="Gill Sans"/>
              </a:rPr>
              <a:t>VM </a:t>
            </a:r>
            <a:br>
              <a:rPr sz="2250" b="1" ker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"/>
                <a:cs typeface="Gill Sans"/>
                <a:sym typeface="Gill Sans"/>
              </a:rPr>
            </a:br>
            <a:r>
              <a:rPr sz="2250" b="1" ker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"/>
                <a:cs typeface="Gill Sans"/>
                <a:sym typeface="Gill Sans"/>
              </a:rPr>
              <a:t>Memory</a:t>
            </a:r>
          </a:p>
        </p:txBody>
      </p:sp>
      <p:sp>
        <p:nvSpPr>
          <p:cNvPr id="295" name="Line"/>
          <p:cNvSpPr/>
          <p:nvPr/>
        </p:nvSpPr>
        <p:spPr>
          <a:xfrm flipH="1">
            <a:off x="2178844" y="5822156"/>
            <a:ext cx="4758480" cy="1"/>
          </a:xfrm>
          <a:prstGeom prst="line">
            <a:avLst/>
          </a:prstGeom>
          <a:ln w="63500">
            <a:solidFill>
              <a:srgbClr val="D95000"/>
            </a:solidFill>
            <a:miter lim="400000"/>
            <a:headEnd type="stealth"/>
            <a:tailEnd type="stealth"/>
          </a:ln>
        </p:spPr>
        <p:txBody>
          <a:bodyPr lIns="0" tIns="0" rIns="0" bIns="0"/>
          <a:lstStyle/>
          <a:p>
            <a:pPr algn="l" defTabSz="321457" eaLnBrk="1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6" name="Line"/>
          <p:cNvSpPr/>
          <p:nvPr/>
        </p:nvSpPr>
        <p:spPr>
          <a:xfrm flipH="1">
            <a:off x="2268141" y="3946922"/>
            <a:ext cx="4661312" cy="1"/>
          </a:xfrm>
          <a:prstGeom prst="line">
            <a:avLst/>
          </a:prstGeom>
          <a:ln w="63500">
            <a:solidFill>
              <a:srgbClr val="FEC7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321457" eaLnBrk="1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297" name="VM  Memory"/>
          <p:cNvSpPr/>
          <p:nvPr/>
        </p:nvSpPr>
        <p:spPr>
          <a:xfrm>
            <a:off x="901899" y="3589734"/>
            <a:ext cx="1612934" cy="894344"/>
          </a:xfrm>
          <a:prstGeom prst="roundRect">
            <a:avLst>
              <a:gd name="adj" fmla="val 7988"/>
            </a:avLst>
          </a:prstGeom>
          <a:solidFill>
            <a:srgbClr val="831100"/>
          </a:solidFill>
          <a:ln>
            <a:solidFill>
              <a:srgbClr val="EBEBEB"/>
            </a:solidFill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r>
              <a:rPr sz="2250" b="1" ker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"/>
                <a:cs typeface="Gill Sans"/>
                <a:sym typeface="Gill Sans"/>
              </a:rPr>
              <a:t>VM </a:t>
            </a:r>
            <a:br>
              <a:rPr sz="2250" b="1" ker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"/>
                <a:cs typeface="Gill Sans"/>
                <a:sym typeface="Gill Sans"/>
              </a:rPr>
            </a:br>
            <a:r>
              <a:rPr sz="2250" b="1" ker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"/>
                <a:cs typeface="Gill Sans"/>
                <a:sym typeface="Gill Sans"/>
              </a:rPr>
              <a:t>Memory</a:t>
            </a:r>
          </a:p>
        </p:txBody>
      </p:sp>
      <p:sp>
        <p:nvSpPr>
          <p:cNvPr id="298" name="VM  Memory"/>
          <p:cNvSpPr/>
          <p:nvPr/>
        </p:nvSpPr>
        <p:spPr>
          <a:xfrm>
            <a:off x="6607969" y="3598664"/>
            <a:ext cx="1612934" cy="894344"/>
          </a:xfrm>
          <a:prstGeom prst="roundRect">
            <a:avLst>
              <a:gd name="adj" fmla="val 7988"/>
            </a:avLst>
          </a:prstGeom>
          <a:solidFill>
            <a:srgbClr val="77BB41"/>
          </a:solidFill>
          <a:ln>
            <a:solidFill>
              <a:srgbClr val="EBEBEB"/>
            </a:solidFill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r>
              <a:rPr sz="2250" b="1" ker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"/>
                <a:cs typeface="Gill Sans"/>
                <a:sym typeface="Gill Sans"/>
              </a:rPr>
              <a:t>VM </a:t>
            </a:r>
            <a:br>
              <a:rPr sz="2250" b="1" ker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"/>
                <a:cs typeface="Gill Sans"/>
                <a:sym typeface="Gill Sans"/>
              </a:rPr>
            </a:br>
            <a:r>
              <a:rPr sz="2250" b="1" ker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"/>
                <a:cs typeface="Gill Sans"/>
                <a:sym typeface="Gill Sans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165596155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5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50"/>
                            </p:stCondLst>
                            <p:childTnLst>
                              <p:par>
                                <p:cTn id="33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75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58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25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5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"/>
                            </p:stCondLst>
                            <p:childTnLst>
                              <p:par>
                                <p:cTn id="70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" grpId="0" animBg="1" advAuto="0"/>
      <p:bldP spid="256" grpId="0" animBg="1" advAuto="0"/>
      <p:bldP spid="257" grpId="0" animBg="1" advAuto="0"/>
      <p:bldP spid="259" grpId="0" animBg="1" advAuto="0"/>
      <p:bldP spid="260" grpId="0" animBg="1" advAuto="0"/>
      <p:bldP spid="261" grpId="0" animBg="1" advAuto="0"/>
      <p:bldP spid="264" grpId="0" animBg="1" advAuto="0"/>
      <p:bldP spid="267" grpId="0" animBg="1" advAuto="0"/>
      <p:bldP spid="270" grpId="0" animBg="1" advAuto="0"/>
      <p:bldP spid="288" grpId="0" animBg="1" advAuto="0"/>
      <p:bldP spid="292" grpId="0" animBg="1" advAuto="0"/>
      <p:bldP spid="293" grpId="0" animBg="1" advAuto="0"/>
      <p:bldP spid="294" grpId="0" animBg="1" advAuto="0"/>
      <p:bldP spid="295" grpId="0" animBg="1" advAuto="0"/>
      <p:bldP spid="296" grpId="0" animBg="1" advAuto="0"/>
      <p:bldP spid="297" grpId="0" animBg="1" advAuto="0"/>
      <p:bldP spid="298" grpId="0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ounded Rectangle"/>
          <p:cNvSpPr/>
          <p:nvPr/>
        </p:nvSpPr>
        <p:spPr>
          <a:xfrm>
            <a:off x="5268516" y="1991320"/>
            <a:ext cx="3536156" cy="2286000"/>
          </a:xfrm>
          <a:prstGeom prst="roundRect">
            <a:avLst>
              <a:gd name="adj" fmla="val 5859"/>
            </a:avLst>
          </a:prstGeom>
          <a:solidFill>
            <a:srgbClr val="EBEBEB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sp>
        <p:nvSpPr>
          <p:cNvPr id="304" name="Rectangle"/>
          <p:cNvSpPr/>
          <p:nvPr/>
        </p:nvSpPr>
        <p:spPr>
          <a:xfrm>
            <a:off x="7349133" y="2116336"/>
            <a:ext cx="767953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sp>
        <p:nvSpPr>
          <p:cNvPr id="305" name="Rounded Rectangle"/>
          <p:cNvSpPr/>
          <p:nvPr/>
        </p:nvSpPr>
        <p:spPr>
          <a:xfrm>
            <a:off x="339328" y="1973461"/>
            <a:ext cx="3009305" cy="2303859"/>
          </a:xfrm>
          <a:prstGeom prst="roundRect">
            <a:avLst>
              <a:gd name="adj" fmla="val 5814"/>
            </a:avLst>
          </a:prstGeom>
          <a:solidFill>
            <a:srgbClr val="EBEBEB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sp>
        <p:nvSpPr>
          <p:cNvPr id="306" name="Optimizing WAN Migr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3600" dirty="0"/>
              <a:t>Optimizing WAN Migration</a:t>
            </a:r>
          </a:p>
        </p:txBody>
      </p:sp>
      <p:sp>
        <p:nvSpPr>
          <p:cNvPr id="307" name="Redundancy Elimination: detect identical regions in memory or disk and only send once"/>
          <p:cNvSpPr txBox="1">
            <a:spLocks noGrp="1"/>
          </p:cNvSpPr>
          <p:nvPr>
            <p:ph type="body" sz="quarter" idx="1"/>
          </p:nvPr>
        </p:nvSpPr>
        <p:spPr>
          <a:xfrm>
            <a:off x="223242" y="1098351"/>
            <a:ext cx="8688586" cy="1035844"/>
          </a:xfrm>
          <a:prstGeom prst="rect">
            <a:avLst/>
          </a:prstGeom>
        </p:spPr>
        <p:txBody>
          <a:bodyPr/>
          <a:lstStyle/>
          <a:p>
            <a:pPr marL="448864" indent="-225630">
              <a:defRPr sz="3700"/>
            </a:pPr>
            <a:r>
              <a:rPr sz="2400" b="1" dirty="0"/>
              <a:t>Redundancy Elimination</a:t>
            </a:r>
            <a:r>
              <a:rPr sz="2400" dirty="0"/>
              <a:t>: detect identical regions in memory or disk and only send once</a:t>
            </a:r>
          </a:p>
        </p:txBody>
      </p:sp>
      <p:sp>
        <p:nvSpPr>
          <p:cNvPr id="3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915776" y="6645102"/>
            <a:ext cx="214001" cy="21289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 kern="0">
                <a:latin typeface="Gill Sans"/>
                <a:cs typeface="Gill Sans"/>
                <a:sym typeface="Gill Sans"/>
              </a:rPr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t>27</a:t>
            </a:fld>
            <a:endParaRPr kern="0" dirty="0">
              <a:latin typeface="Gill Sans"/>
              <a:cs typeface="Gill Sans"/>
              <a:sym typeface="Gill Sans"/>
            </a:endParaRPr>
          </a:p>
        </p:txBody>
      </p:sp>
      <p:graphicFrame>
        <p:nvGraphicFramePr>
          <p:cNvPr id="309" name="Table"/>
          <p:cNvGraphicFramePr/>
          <p:nvPr/>
        </p:nvGraphicFramePr>
        <p:xfrm>
          <a:off x="689013" y="2053828"/>
          <a:ext cx="767953" cy="2805452"/>
        </p:xfrm>
        <a:graphic>
          <a:graphicData uri="http://schemas.openxmlformats.org/drawingml/2006/table">
            <a:tbl>
              <a:tblPr/>
              <a:tblGrid>
                <a:gridCol w="767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5134">
                <a:tc>
                  <a:txBody>
                    <a:bodyPr/>
                    <a:lstStyle/>
                    <a:p>
                      <a:pPr defTabSz="914400">
                        <a:lnSpc>
                          <a:spcPct val="1000"/>
                        </a:lnSpc>
                        <a:tabLst>
                          <a:tab pos="914400" algn="l"/>
                        </a:tabLst>
                        <a:defRPr sz="900" b="1"/>
                      </a:pPr>
                      <a:endParaRPr sz="600"/>
                    </a:p>
                  </a:txBody>
                  <a:tcPr marL="0" marR="0" marT="0" marB="0" anchor="ctr" horzOverflow="overflow">
                    <a:solidFill>
                      <a:srgbClr val="77BB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053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/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77BB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053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FF6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053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77BB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053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3A8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053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FF6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053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F5E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0" name="VM Memory"/>
          <p:cNvSpPr/>
          <p:nvPr/>
        </p:nvSpPr>
        <p:spPr>
          <a:xfrm>
            <a:off x="456498" y="3860187"/>
            <a:ext cx="1447512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/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109" kern="0">
                <a:solidFill>
                  <a:srgbClr val="000000"/>
                </a:solidFill>
                <a:latin typeface="Gill Sans"/>
                <a:cs typeface="Gill Sans"/>
                <a:sym typeface="Gill Sans"/>
              </a:rPr>
              <a:t>VM Memory</a:t>
            </a:r>
          </a:p>
        </p:txBody>
      </p:sp>
      <p:sp>
        <p:nvSpPr>
          <p:cNvPr id="311" name="Line"/>
          <p:cNvSpPr/>
          <p:nvPr/>
        </p:nvSpPr>
        <p:spPr>
          <a:xfrm flipH="1">
            <a:off x="3254490" y="2652120"/>
            <a:ext cx="1859245" cy="1"/>
          </a:xfrm>
          <a:prstGeom prst="line">
            <a:avLst/>
          </a:prstGeom>
          <a:ln w="76200">
            <a:solidFill>
              <a:srgbClr val="232323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321457" eaLnBrk="1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kern="0">
              <a:solidFill>
                <a:srgbClr val="000000"/>
              </a:solidFill>
              <a:latin typeface="Helvetica"/>
              <a:sym typeface="Helvetica"/>
            </a:endParaRPr>
          </a:p>
        </p:txBody>
      </p:sp>
      <p:sp>
        <p:nvSpPr>
          <p:cNvPr id="312" name="Cache"/>
          <p:cNvSpPr/>
          <p:nvPr/>
        </p:nvSpPr>
        <p:spPr>
          <a:xfrm>
            <a:off x="1777008" y="2250281"/>
            <a:ext cx="1419820" cy="901898"/>
          </a:xfrm>
          <a:prstGeom prst="roundRect">
            <a:avLst>
              <a:gd name="adj" fmla="val 14851"/>
            </a:avLst>
          </a:prstGeom>
          <a:solidFill>
            <a:srgbClr val="D4E3FE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/>
          <a:lstStyle>
            <a:lvl1pPr>
              <a:defRPr sz="4000"/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rPr>
              <a:t>Cache</a:t>
            </a:r>
          </a:p>
        </p:txBody>
      </p:sp>
      <p:graphicFrame>
        <p:nvGraphicFramePr>
          <p:cNvPr id="313" name="Table"/>
          <p:cNvGraphicFramePr/>
          <p:nvPr/>
        </p:nvGraphicFramePr>
        <p:xfrm>
          <a:off x="1910953" y="2768203"/>
          <a:ext cx="1134072" cy="425053"/>
        </p:xfrm>
        <a:graphic>
          <a:graphicData uri="http://schemas.openxmlformats.org/drawingml/2006/table">
            <a:tbl>
              <a:tblPr/>
              <a:tblGrid>
                <a:gridCol w="283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5053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F5EC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FF6A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3A88F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77BB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4" name="VM Memory"/>
          <p:cNvSpPr/>
          <p:nvPr/>
        </p:nvSpPr>
        <p:spPr>
          <a:xfrm>
            <a:off x="7016379" y="3895906"/>
            <a:ext cx="1447512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/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109" kern="0">
                <a:solidFill>
                  <a:srgbClr val="000000"/>
                </a:solidFill>
                <a:latin typeface="Gill Sans"/>
                <a:cs typeface="Gill Sans"/>
                <a:sym typeface="Gill Sans"/>
              </a:rPr>
              <a:t>VM Memory</a:t>
            </a:r>
          </a:p>
        </p:txBody>
      </p:sp>
      <p:sp>
        <p:nvSpPr>
          <p:cNvPr id="315" name="Cache"/>
          <p:cNvSpPr/>
          <p:nvPr/>
        </p:nvSpPr>
        <p:spPr>
          <a:xfrm>
            <a:off x="5366742" y="2250281"/>
            <a:ext cx="1419820" cy="901898"/>
          </a:xfrm>
          <a:prstGeom prst="roundRect">
            <a:avLst>
              <a:gd name="adj" fmla="val 14851"/>
            </a:avLst>
          </a:prstGeom>
          <a:solidFill>
            <a:srgbClr val="D4E3FE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/>
          <a:lstStyle>
            <a:lvl1pPr>
              <a:defRPr sz="4000"/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rPr>
              <a:t>Cache</a:t>
            </a:r>
          </a:p>
        </p:txBody>
      </p:sp>
      <p:graphicFrame>
        <p:nvGraphicFramePr>
          <p:cNvPr id="316" name="Table"/>
          <p:cNvGraphicFramePr/>
          <p:nvPr/>
        </p:nvGraphicFramePr>
        <p:xfrm>
          <a:off x="1232297" y="3580805"/>
          <a:ext cx="767953" cy="425053"/>
        </p:xfrm>
        <a:graphic>
          <a:graphicData uri="http://schemas.openxmlformats.org/drawingml/2006/table">
            <a:tbl>
              <a:tblPr/>
              <a:tblGrid>
                <a:gridCol w="767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053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F5E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7" name="Table"/>
          <p:cNvGraphicFramePr/>
          <p:nvPr/>
        </p:nvGraphicFramePr>
        <p:xfrm>
          <a:off x="1232297" y="3321844"/>
          <a:ext cx="767953" cy="425053"/>
        </p:xfrm>
        <a:graphic>
          <a:graphicData uri="http://schemas.openxmlformats.org/drawingml/2006/table">
            <a:tbl>
              <a:tblPr/>
              <a:tblGrid>
                <a:gridCol w="767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053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FF6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8" name="Table"/>
          <p:cNvGraphicFramePr/>
          <p:nvPr/>
        </p:nvGraphicFramePr>
        <p:xfrm>
          <a:off x="1232297" y="3071813"/>
          <a:ext cx="767953" cy="425053"/>
        </p:xfrm>
        <a:graphic>
          <a:graphicData uri="http://schemas.openxmlformats.org/drawingml/2006/table">
            <a:tbl>
              <a:tblPr/>
              <a:tblGrid>
                <a:gridCol w="767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053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3A8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9" name="Table"/>
          <p:cNvGraphicFramePr/>
          <p:nvPr/>
        </p:nvGraphicFramePr>
        <p:xfrm>
          <a:off x="1241227" y="2812852"/>
          <a:ext cx="767953" cy="425053"/>
        </p:xfrm>
        <a:graphic>
          <a:graphicData uri="http://schemas.openxmlformats.org/drawingml/2006/table">
            <a:tbl>
              <a:tblPr/>
              <a:tblGrid>
                <a:gridCol w="767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053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77BB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0" name="Table"/>
          <p:cNvGraphicFramePr/>
          <p:nvPr/>
        </p:nvGraphicFramePr>
        <p:xfrm>
          <a:off x="5598914" y="3036094"/>
          <a:ext cx="767953" cy="425053"/>
        </p:xfrm>
        <a:graphic>
          <a:graphicData uri="http://schemas.openxmlformats.org/drawingml/2006/table">
            <a:tbl>
              <a:tblPr/>
              <a:tblGrid>
                <a:gridCol w="767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053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FF6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1" name="Table"/>
          <p:cNvGraphicFramePr/>
          <p:nvPr/>
        </p:nvGraphicFramePr>
        <p:xfrm>
          <a:off x="5688211" y="3036094"/>
          <a:ext cx="767953" cy="425053"/>
        </p:xfrm>
        <a:graphic>
          <a:graphicData uri="http://schemas.openxmlformats.org/drawingml/2006/table">
            <a:tbl>
              <a:tblPr/>
              <a:tblGrid>
                <a:gridCol w="767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053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77BB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2" name="Table"/>
          <p:cNvGraphicFramePr/>
          <p:nvPr/>
        </p:nvGraphicFramePr>
        <p:xfrm>
          <a:off x="5777508" y="3036094"/>
          <a:ext cx="767953" cy="425053"/>
        </p:xfrm>
        <a:graphic>
          <a:graphicData uri="http://schemas.openxmlformats.org/drawingml/2006/table">
            <a:tbl>
              <a:tblPr/>
              <a:tblGrid>
                <a:gridCol w="767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053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77BB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3" name="Table"/>
          <p:cNvGraphicFramePr/>
          <p:nvPr/>
        </p:nvGraphicFramePr>
        <p:xfrm>
          <a:off x="5482828" y="2768203"/>
          <a:ext cx="1134072" cy="425053"/>
        </p:xfrm>
        <a:graphic>
          <a:graphicData uri="http://schemas.openxmlformats.org/drawingml/2006/table">
            <a:tbl>
              <a:tblPr/>
              <a:tblGrid>
                <a:gridCol w="283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5053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F5EC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FF6A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3A88FE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30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defRPr>
                      </a:pPr>
                      <a:endParaRPr sz="2300"/>
                    </a:p>
                  </a:txBody>
                  <a:tcPr marL="35719" marR="35719" marT="35719" marB="35719" anchor="ctr" horzOverflow="overflow">
                    <a:solidFill>
                      <a:srgbClr val="77BB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4" name="Destination"/>
          <p:cNvSpPr/>
          <p:nvPr/>
        </p:nvSpPr>
        <p:spPr>
          <a:xfrm>
            <a:off x="5313224" y="3904836"/>
            <a:ext cx="1341715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/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109" kern="0">
                <a:solidFill>
                  <a:srgbClr val="000000"/>
                </a:solidFill>
                <a:latin typeface="Gill Sans"/>
                <a:cs typeface="Gill Sans"/>
                <a:sym typeface="Gill Sans"/>
              </a:rPr>
              <a:t>Destination</a:t>
            </a:r>
          </a:p>
        </p:txBody>
      </p:sp>
      <p:sp>
        <p:nvSpPr>
          <p:cNvPr id="325" name="Source"/>
          <p:cNvSpPr/>
          <p:nvPr/>
        </p:nvSpPr>
        <p:spPr>
          <a:xfrm>
            <a:off x="2412696" y="3886977"/>
            <a:ext cx="835166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/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109" kern="0">
                <a:solidFill>
                  <a:srgbClr val="000000"/>
                </a:solidFill>
                <a:latin typeface="Gill Sans"/>
                <a:cs typeface="Gill Sans"/>
                <a:sym typeface="Gill Sans"/>
              </a:rPr>
              <a:t>Source</a:t>
            </a:r>
          </a:p>
        </p:txBody>
      </p:sp>
      <p:grpSp>
        <p:nvGrpSpPr>
          <p:cNvPr id="328" name="Group"/>
          <p:cNvGrpSpPr/>
          <p:nvPr/>
        </p:nvGrpSpPr>
        <p:grpSpPr>
          <a:xfrm>
            <a:off x="2277070" y="3772793"/>
            <a:ext cx="4509492" cy="2759273"/>
            <a:chOff x="0" y="0"/>
            <a:chExt cx="6413500" cy="3924300"/>
          </a:xfrm>
        </p:grpSpPr>
        <p:sp>
          <p:nvSpPr>
            <p:cNvPr id="326" name="Rounded Rectangle"/>
            <p:cNvSpPr/>
            <p:nvPr/>
          </p:nvSpPr>
          <p:spPr>
            <a:xfrm>
              <a:off x="0" y="0"/>
              <a:ext cx="6413500" cy="3924300"/>
            </a:xfrm>
            <a:prstGeom prst="roundRect">
              <a:avLst>
                <a:gd name="adj" fmla="val 4854"/>
              </a:avLst>
            </a:prstGeom>
            <a:solidFill>
              <a:srgbClr val="CCE8B5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pic>
          <p:nvPicPr>
            <p:cNvPr id="327" name="cbr-rotated.pdf" descr="cbr-rotated.pd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450" y="203615"/>
              <a:ext cx="5283201" cy="33328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61111326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669922 0.000000" pathEditMode="relative">
                                      <p:cBhvr>
                                        <p:cTn id="12" dur="10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669922 0.000000" pathEditMode="relative">
                                      <p:cBhvr>
                                        <p:cTn id="21" dur="10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669922 0.000000" pathEditMode="relative">
                                      <p:cBhvr>
                                        <p:cTn id="27" dur="10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668945 0.000000" pathEditMode="relative">
                                      <p:cBhvr>
                                        <p:cTn id="33" dur="10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192383 -0.065104" pathEditMode="relative">
                                      <p:cBhvr>
                                        <p:cTn id="40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182617 -0.101562" pathEditMode="relative">
                                      <p:cBhvr>
                                        <p:cTn id="47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172852 -0.138021" pathEditMode="relative">
                                      <p:cBhvr>
                                        <p:cTn id="53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" grpId="0" animBg="1" advAuto="0"/>
      <p:bldP spid="316" grpId="0" animBg="1" advAuto="0"/>
      <p:bldP spid="317" grpId="0" animBg="1" advAuto="0"/>
      <p:bldP spid="318" grpId="0" animBg="1" advAuto="0"/>
      <p:bldP spid="319" grpId="0" animBg="1" advAuto="0"/>
      <p:bldP spid="320" grpId="0" animBg="1" advAuto="0"/>
      <p:bldP spid="321" grpId="0" animBg="1" advAuto="0"/>
      <p:bldP spid="322" grpId="0" animBg="1" advAuto="0"/>
      <p:bldP spid="323" grpId="0" animBg="1" advAuto="0"/>
      <p:bldP spid="328" grpId="0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age Deltas: only send delta for partially changed data blocks during the migration"/>
          <p:cNvSpPr txBox="1">
            <a:spLocks noGrp="1"/>
          </p:cNvSpPr>
          <p:nvPr>
            <p:ph type="body" sz="quarter" idx="1"/>
          </p:nvPr>
        </p:nvSpPr>
        <p:spPr>
          <a:xfrm>
            <a:off x="214312" y="1098352"/>
            <a:ext cx="8688586" cy="910828"/>
          </a:xfrm>
          <a:prstGeom prst="rect">
            <a:avLst/>
          </a:prstGeom>
        </p:spPr>
        <p:txBody>
          <a:bodyPr/>
          <a:lstStyle/>
          <a:p>
            <a:pPr marL="448864" indent="-225630">
              <a:defRPr sz="3700"/>
            </a:pPr>
            <a:r>
              <a:rPr sz="2400" b="1" dirty="0"/>
              <a:t>Page Deltas: only send delta for partially changed data blocks during the migration</a:t>
            </a:r>
          </a:p>
        </p:txBody>
      </p:sp>
      <p:sp>
        <p:nvSpPr>
          <p:cNvPr id="333" name="Delta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3600" dirty="0"/>
              <a:t>Deltas</a:t>
            </a:r>
          </a:p>
        </p:txBody>
      </p:sp>
      <p:sp>
        <p:nvSpPr>
          <p:cNvPr id="3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31044" y="6477133"/>
            <a:ext cx="361286" cy="38086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 kern="0">
                <a:latin typeface="Gill Sans"/>
                <a:cs typeface="Gill Sans"/>
                <a:sym typeface="Gill Sans"/>
              </a:rPr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t>28</a:t>
            </a:fld>
            <a:endParaRPr kern="0" dirty="0">
              <a:latin typeface="Gill Sans"/>
              <a:cs typeface="Gill Sans"/>
              <a:sym typeface="Gill Sans"/>
            </a:endParaRPr>
          </a:p>
        </p:txBody>
      </p:sp>
      <p:grpSp>
        <p:nvGrpSpPr>
          <p:cNvPr id="338" name="Group"/>
          <p:cNvGrpSpPr/>
          <p:nvPr/>
        </p:nvGrpSpPr>
        <p:grpSpPr>
          <a:xfrm>
            <a:off x="3726548" y="2143125"/>
            <a:ext cx="2619484" cy="927695"/>
            <a:chOff x="0" y="0"/>
            <a:chExt cx="3725488" cy="1319389"/>
          </a:xfrm>
        </p:grpSpPr>
        <p:sp>
          <p:nvSpPr>
            <p:cNvPr id="335" name="Line"/>
            <p:cNvSpPr/>
            <p:nvPr/>
          </p:nvSpPr>
          <p:spPr>
            <a:xfrm flipH="1">
              <a:off x="0" y="668866"/>
              <a:ext cx="3725488" cy="2"/>
            </a:xfrm>
            <a:prstGeom prst="line">
              <a:avLst/>
            </a:prstGeom>
            <a:noFill/>
            <a:ln w="762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36" name="Cache"/>
            <p:cNvSpPr/>
            <p:nvPr/>
          </p:nvSpPr>
          <p:spPr>
            <a:xfrm>
              <a:off x="707120" y="0"/>
              <a:ext cx="2298701" cy="1282700"/>
            </a:xfrm>
            <a:prstGeom prst="roundRect">
              <a:avLst>
                <a:gd name="adj" fmla="val 14851"/>
              </a:avLst>
            </a:prstGeom>
            <a:solidFill>
              <a:srgbClr val="D4E3FE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t">
              <a:noAutofit/>
            </a:bodyPr>
            <a:lstStyle>
              <a:lvl1pPr>
                <a:defRPr sz="4000"/>
              </a:lvl1pPr>
            </a:lstStyle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r>
                <a: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rPr>
                <a:t>Cache</a:t>
              </a:r>
            </a:p>
          </p:txBody>
        </p:sp>
        <p:graphicFrame>
          <p:nvGraphicFramePr>
            <p:cNvPr id="337" name="Table"/>
            <p:cNvGraphicFramePr/>
            <p:nvPr/>
          </p:nvGraphicFramePr>
          <p:xfrm>
            <a:off x="935720" y="596900"/>
            <a:ext cx="2709333" cy="722489"/>
          </p:xfrm>
          <a:graphic>
            <a:graphicData uri="http://schemas.openxmlformats.org/drawingml/2006/table">
              <a:tbl>
                <a:tblPr/>
                <a:tblGrid>
                  <a:gridCol w="4762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762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7625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47625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</a:tblGrid>
                <a:tr h="508000"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 b="1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50800" marR="50800" marT="50800" marB="50800" anchor="ctr" horzOverflow="overflow">
                      <a:solidFill>
                        <a:srgbClr val="77BB4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 b="1">
                            <a:solidFill>
                              <a:srgbClr val="FFFFFF"/>
                            </a:solidFill>
                          </a:rPr>
                          <a:t>2</a:t>
                        </a:r>
                      </a:p>
                    </a:txBody>
                    <a:tcPr marL="50800" marR="50800" marT="50800" marB="50800" anchor="ctr" horzOverflow="overflow">
                      <a:solidFill>
                        <a:srgbClr val="74A7F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 b="1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</a:rPr>
                          <a:t>3</a:t>
                        </a:r>
                      </a:p>
                    </a:txBody>
                    <a:tcPr marL="50800" marR="50800" marT="50800" marB="50800" anchor="ctr" horzOverflow="overflow">
                      <a:solidFill>
                        <a:srgbClr val="FF6A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 b="1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</a:rPr>
                          <a:t>4</a:t>
                        </a:r>
                      </a:p>
                    </a:txBody>
                    <a:tcPr marL="50800" marR="50800" marT="50800" marB="50800" anchor="ctr" horzOverflow="overflow">
                      <a:solidFill>
                        <a:srgbClr val="3C081B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grpSp>
        <p:nvGrpSpPr>
          <p:cNvPr id="343" name="Group"/>
          <p:cNvGrpSpPr/>
          <p:nvPr/>
        </p:nvGrpSpPr>
        <p:grpSpPr>
          <a:xfrm>
            <a:off x="1680208" y="2125266"/>
            <a:ext cx="1930400" cy="1358547"/>
            <a:chOff x="0" y="0"/>
            <a:chExt cx="2745455" cy="1932155"/>
          </a:xfrm>
        </p:grpSpPr>
        <p:grpSp>
          <p:nvGrpSpPr>
            <p:cNvPr id="341" name="Group"/>
            <p:cNvGrpSpPr/>
            <p:nvPr/>
          </p:nvGrpSpPr>
          <p:grpSpPr>
            <a:xfrm>
              <a:off x="0" y="0"/>
              <a:ext cx="2745455" cy="1806219"/>
              <a:chOff x="0" y="0"/>
              <a:chExt cx="2745455" cy="1806218"/>
            </a:xfrm>
          </p:grpSpPr>
          <p:graphicFrame>
            <p:nvGraphicFramePr>
              <p:cNvPr id="339" name="Table"/>
              <p:cNvGraphicFramePr/>
              <p:nvPr/>
            </p:nvGraphicFramePr>
            <p:xfrm>
              <a:off x="0" y="0"/>
              <a:ext cx="2745455" cy="1806218"/>
            </p:xfrm>
            <a:graphic>
              <a:graphicData uri="http://schemas.openxmlformats.org/drawingml/2006/table">
                <a:tbl>
                  <a:tblPr/>
                  <a:tblGrid>
                    <a:gridCol w="1930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634999">
                    <a:tc>
                      <a:txBody>
                        <a:bodyPr/>
                        <a:lstStyle/>
                        <a:p>
                          <a:pPr defTabSz="914400">
                            <a:tabLst>
                              <a:tab pos="914400" algn="l"/>
                            </a:tabLst>
                            <a:defRPr sz="1800"/>
                          </a:pPr>
                          <a:r>
                            <a:rPr sz="3000" b="1">
                              <a:solidFill>
                                <a:srgbClr val="FFFFFF"/>
                              </a:solidFill>
                            </a:rPr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solidFill>
                          <a:srgbClr val="74A7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34999">
                    <a:tc>
                      <a:txBody>
                        <a:bodyPr/>
                        <a:lstStyle/>
                        <a:p>
                          <a:pPr defTabSz="914400">
                            <a:lnSpc>
                              <a:spcPct val="1000"/>
                            </a:lnSpc>
                            <a:tabLst>
                              <a:tab pos="914400" algn="l"/>
                            </a:tabLst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0" marR="0" marT="0" marB="0" anchor="ctr" horzOverflow="overflow">
                        <a:solidFill>
                          <a:srgbClr val="F5EC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  <p:sp>
            <p:nvSpPr>
              <p:cNvPr id="340" name="Rectangle"/>
              <p:cNvSpPr/>
              <p:nvPr/>
            </p:nvSpPr>
            <p:spPr>
              <a:xfrm>
                <a:off x="1293369" y="0"/>
                <a:ext cx="622301" cy="609600"/>
              </a:xfrm>
              <a:prstGeom prst="rect">
                <a:avLst/>
              </a:prstGeom>
              <a:solidFill>
                <a:srgbClr val="BE38F3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  <a:defRPr sz="4000"/>
                </a:pPr>
                <a:endParaRPr sz="2812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endParaRPr>
              </a:p>
            </p:txBody>
          </p:sp>
        </p:grpSp>
        <p:sp>
          <p:nvSpPr>
            <p:cNvPr id="342" name="To send"/>
            <p:cNvSpPr/>
            <p:nvPr/>
          </p:nvSpPr>
          <p:spPr>
            <a:xfrm>
              <a:off x="144044" y="1275656"/>
              <a:ext cx="1627796" cy="6564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 sz="3600">
                  <a:solidFill>
                    <a:srgbClr val="232323"/>
                  </a:solidFill>
                </a:defRPr>
              </a:lvl1pPr>
            </a:lstStyle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r>
                <a:rPr sz="2531" kern="0" dirty="0">
                  <a:latin typeface="Gill Sans"/>
                  <a:cs typeface="Gill Sans"/>
                  <a:sym typeface="Gill Sans"/>
                </a:rPr>
                <a:t>To send</a:t>
              </a:r>
            </a:p>
          </p:txBody>
        </p:sp>
      </p:grpSp>
      <p:pic>
        <p:nvPicPr>
          <p:cNvPr id="344" name="delta-hist-kernel.pdf" descr="delta-hist-kernel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5" y="4384477"/>
            <a:ext cx="4576466" cy="1830587"/>
          </a:xfrm>
          <a:prstGeom prst="rect">
            <a:avLst/>
          </a:prstGeom>
          <a:ln w="12700">
            <a:miter lim="400000"/>
          </a:ln>
        </p:spPr>
      </p:pic>
      <p:sp>
        <p:nvSpPr>
          <p:cNvPr id="345" name="Destination"/>
          <p:cNvSpPr/>
          <p:nvPr/>
        </p:nvSpPr>
        <p:spPr>
          <a:xfrm>
            <a:off x="6189271" y="3050860"/>
            <a:ext cx="1593386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600">
                <a:solidFill>
                  <a:srgbClr val="232323"/>
                </a:solidFill>
              </a:defRPr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531" kern="0" dirty="0">
                <a:latin typeface="Gill Sans"/>
                <a:cs typeface="Gill Sans"/>
                <a:sym typeface="Gill Sans"/>
              </a:rPr>
              <a:t>Destination</a:t>
            </a:r>
          </a:p>
        </p:txBody>
      </p:sp>
      <p:graphicFrame>
        <p:nvGraphicFramePr>
          <p:cNvPr id="346" name="Table"/>
          <p:cNvGraphicFramePr/>
          <p:nvPr/>
        </p:nvGraphicFramePr>
        <p:xfrm>
          <a:off x="1946672" y="2571750"/>
          <a:ext cx="1357313" cy="446484"/>
        </p:xfrm>
        <a:graphic>
          <a:graphicData uri="http://schemas.openxmlformats.org/drawingml/2006/table">
            <a:tbl>
              <a:tblPr/>
              <a:tblGrid>
                <a:gridCol w="1357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484">
                <a:tc>
                  <a:txBody>
                    <a:bodyPr/>
                    <a:lstStyle/>
                    <a:p>
                      <a:pPr defTabSz="914400">
                        <a:lnSpc>
                          <a:spcPct val="1000"/>
                        </a:lnSpc>
                        <a:tabLst>
                          <a:tab pos="914400" algn="l"/>
                        </a:tabLst>
                      </a:pPr>
                      <a:r>
                        <a:rPr sz="2100" b="1" dirty="0"/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F5E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7" name="Table"/>
          <p:cNvGraphicFramePr/>
          <p:nvPr/>
        </p:nvGraphicFramePr>
        <p:xfrm>
          <a:off x="4625578" y="2928938"/>
          <a:ext cx="937617" cy="446484"/>
        </p:xfrm>
        <a:graphic>
          <a:graphicData uri="http://schemas.openxmlformats.org/drawingml/2006/table">
            <a:tbl>
              <a:tblPr/>
              <a:tblGrid>
                <a:gridCol w="937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484">
                <a:tc>
                  <a:txBody>
                    <a:bodyPr/>
                    <a:lstStyle/>
                    <a:p>
                      <a:pPr defTabSz="914400">
                        <a:lnSpc>
                          <a:spcPct val="1000"/>
                        </a:lnSpc>
                        <a:tabLst>
                          <a:tab pos="914400" algn="l"/>
                        </a:tabLst>
                      </a:pPr>
                      <a:r>
                        <a:rPr sz="21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solidFill>
                      <a:srgbClr val="74A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8" name="Rectangle"/>
          <p:cNvSpPr/>
          <p:nvPr/>
        </p:nvSpPr>
        <p:spPr>
          <a:xfrm>
            <a:off x="3140387" y="2125266"/>
            <a:ext cx="437555" cy="428625"/>
          </a:xfrm>
          <a:prstGeom prst="rect">
            <a:avLst/>
          </a:prstGeom>
          <a:solidFill>
            <a:srgbClr val="BE38F3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pic>
        <p:nvPicPr>
          <p:cNvPr id="349" name="delta-hist-tpcw.pdf" descr="delta-hist-tpcw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530" y="4453389"/>
            <a:ext cx="4576466" cy="1830587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Page Diff Size"/>
          <p:cNvSpPr/>
          <p:nvPr/>
        </p:nvSpPr>
        <p:spPr>
          <a:xfrm>
            <a:off x="3933041" y="3711657"/>
            <a:ext cx="2332370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600" b="1">
                <a:solidFill>
                  <a:srgbClr val="232323"/>
                </a:solidFill>
              </a:defRPr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531" kern="0">
                <a:latin typeface="Gill Sans"/>
                <a:cs typeface="Gill Sans"/>
                <a:sym typeface="Gill Sans"/>
              </a:rPr>
              <a:t>Page Diff Size</a:t>
            </a:r>
          </a:p>
        </p:txBody>
      </p:sp>
      <p:sp>
        <p:nvSpPr>
          <p:cNvPr id="351" name="Kernel compile"/>
          <p:cNvSpPr/>
          <p:nvPr/>
        </p:nvSpPr>
        <p:spPr>
          <a:xfrm>
            <a:off x="1586103" y="4086704"/>
            <a:ext cx="2077493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600">
                <a:solidFill>
                  <a:srgbClr val="232323"/>
                </a:solidFill>
              </a:defRPr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531" kern="0">
                <a:latin typeface="Gill Sans"/>
                <a:cs typeface="Gill Sans"/>
                <a:sym typeface="Gill Sans"/>
              </a:rPr>
              <a:t>Kernel compile</a:t>
            </a:r>
          </a:p>
        </p:txBody>
      </p:sp>
      <p:sp>
        <p:nvSpPr>
          <p:cNvPr id="352" name="TPCW"/>
          <p:cNvSpPr/>
          <p:nvPr/>
        </p:nvSpPr>
        <p:spPr>
          <a:xfrm>
            <a:off x="6846763" y="4086704"/>
            <a:ext cx="100027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600">
                <a:solidFill>
                  <a:srgbClr val="232323"/>
                </a:solidFill>
              </a:defRPr>
            </a:lvl1pPr>
          </a:lstStyle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531" kern="0">
                <a:latin typeface="Gill Sans"/>
                <a:cs typeface="Gill Sans"/>
                <a:sym typeface="Gill Sans"/>
              </a:rPr>
              <a:t>TPCW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52B657-B6D3-F348-BB9C-54B119809C99}"/>
              </a:ext>
            </a:extLst>
          </p:cNvPr>
          <p:cNvSpPr txBox="1"/>
          <p:nvPr/>
        </p:nvSpPr>
        <p:spPr>
          <a:xfrm>
            <a:off x="6222210" y="4453389"/>
            <a:ext cx="2433358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defTabSz="584200" fontAlgn="auto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FF0000"/>
                </a:solidFill>
              </a:rPr>
              <a:t>web e-Commerce benchmark.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27498264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478516 0.000000" pathEditMode="relative">
                                      <p:cBhvr>
                                        <p:cTn id="9" dur="10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184570 -0.118490" pathEditMode="relative">
                                      <p:cBhvr>
                                        <p:cTn id="16" dur="75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5 -3.7037E-6 L 0.4507 -3.7037E-6 " pathEditMode="relative" rAng="0" ptsTypes="AA">
                                      <p:cBhvr>
                                        <p:cTn id="23" dur="75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41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 animBg="1" advAuto="0"/>
      <p:bldP spid="346" grpId="0" animBg="1" advAuto="0"/>
      <p:bldP spid="347" grpId="0" animBg="1" advAuto="0"/>
      <p:bldP spid="348" grpId="0" animBg="1" advAuto="0"/>
      <p:bldP spid="349" grpId="0" animBg="1" advAuto="0"/>
      <p:bldP spid="350" grpId="0" animBg="1" advAuto="0"/>
      <p:bldP spid="351" grpId="0" animBg="1" advAuto="0"/>
      <p:bldP spid="352" grpId="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4" name="2D Column Chart"/>
          <p:cNvGraphicFramePr/>
          <p:nvPr>
            <p:extLst>
              <p:ext uri="{D42A27DB-BD31-4B8C-83A1-F6EECF244321}">
                <p14:modId xmlns:p14="http://schemas.microsoft.com/office/powerpoint/2010/main" val="130555903"/>
              </p:ext>
            </p:extLst>
          </p:nvPr>
        </p:nvGraphicFramePr>
        <p:xfrm>
          <a:off x="4389163" y="1459441"/>
          <a:ext cx="4757400" cy="27302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5" name="Rectangle"/>
          <p:cNvSpPr/>
          <p:nvPr/>
        </p:nvSpPr>
        <p:spPr>
          <a:xfrm>
            <a:off x="5241727" y="1491258"/>
            <a:ext cx="3946922" cy="214313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sp>
        <p:nvSpPr>
          <p:cNvPr id="356" name="Smart Sto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3600" dirty="0"/>
              <a:t>Smart Stop</a:t>
            </a:r>
          </a:p>
        </p:txBody>
      </p:sp>
      <p:sp>
        <p:nvSpPr>
          <p:cNvPr id="357" name="When to stop iterating?…"/>
          <p:cNvSpPr txBox="1">
            <a:spLocks noGrp="1"/>
          </p:cNvSpPr>
          <p:nvPr>
            <p:ph type="body" idx="1"/>
          </p:nvPr>
        </p:nvSpPr>
        <p:spPr>
          <a:xfrm>
            <a:off x="214312" y="1098351"/>
            <a:ext cx="8929688" cy="5357813"/>
          </a:xfrm>
          <a:prstGeom prst="rect">
            <a:avLst/>
          </a:prstGeom>
        </p:spPr>
        <p:txBody>
          <a:bodyPr/>
          <a:lstStyle/>
          <a:p>
            <a:r>
              <a:rPr dirty="0"/>
              <a:t>When to stop iterating?</a:t>
            </a:r>
          </a:p>
          <a:p>
            <a:pPr lvl="1"/>
            <a:r>
              <a:rPr dirty="0"/>
              <a:t>Xen: when very few pages </a:t>
            </a:r>
            <a:br>
              <a:rPr dirty="0"/>
            </a:br>
            <a:r>
              <a:rPr dirty="0"/>
              <a:t>left or after 30 iterations</a:t>
            </a:r>
          </a:p>
          <a:p>
            <a:pPr marL="2473435" lvl="7" indent="-250022" algn="l">
              <a:lnSpc>
                <a:spcPct val="60000"/>
              </a:lnSpc>
              <a:spcBef>
                <a:spcPts val="422"/>
              </a:spcBef>
              <a:buSzPct val="100000"/>
              <a:buChar char="•"/>
              <a:defRPr sz="2600">
                <a:solidFill>
                  <a:srgbClr val="232323"/>
                </a:solidFill>
              </a:defRPr>
            </a:pPr>
            <a:endParaRPr dirty="0"/>
          </a:p>
          <a:p>
            <a:r>
              <a:rPr dirty="0"/>
              <a:t>Goals:</a:t>
            </a:r>
          </a:p>
          <a:p>
            <a:pPr lvl="1"/>
            <a:r>
              <a:rPr dirty="0"/>
              <a:t>Minimize total migration time</a:t>
            </a:r>
          </a:p>
          <a:p>
            <a:pPr lvl="1"/>
            <a:r>
              <a:rPr dirty="0"/>
              <a:t>Minimize pause time</a:t>
            </a:r>
          </a:p>
          <a:p>
            <a:pPr marL="2473435" lvl="7" indent="-250022" algn="l">
              <a:lnSpc>
                <a:spcPct val="60000"/>
              </a:lnSpc>
              <a:spcBef>
                <a:spcPts val="422"/>
              </a:spcBef>
              <a:buSzPct val="100000"/>
              <a:buChar char="•"/>
              <a:defRPr sz="2600">
                <a:solidFill>
                  <a:srgbClr val="232323"/>
                </a:solidFill>
              </a:defRPr>
            </a:pPr>
            <a:endParaRPr dirty="0"/>
          </a:p>
          <a:p>
            <a:r>
              <a:rPr dirty="0"/>
              <a:t>Iterate until </a:t>
            </a:r>
            <a:r>
              <a:rPr sz="2391" dirty="0">
                <a:solidFill>
                  <a:srgbClr val="444444"/>
                </a:solidFill>
                <a:latin typeface="Monaco"/>
                <a:ea typeface="Monaco"/>
                <a:cs typeface="Monaco"/>
                <a:sym typeface="Monaco"/>
              </a:rPr>
              <a:t>Sent &lt; Dirtied</a:t>
            </a:r>
          </a:p>
          <a:p>
            <a:pPr lvl="1"/>
            <a:r>
              <a:rPr dirty="0"/>
              <a:t>Reduce total time</a:t>
            </a:r>
          </a:p>
          <a:p>
            <a:r>
              <a:rPr dirty="0"/>
              <a:t>Then, find local minimum for </a:t>
            </a:r>
            <a:r>
              <a:rPr sz="2391" dirty="0">
                <a:solidFill>
                  <a:srgbClr val="444444"/>
                </a:solidFill>
                <a:latin typeface="Monaco"/>
                <a:ea typeface="Monaco"/>
                <a:cs typeface="Monaco"/>
                <a:sym typeface="Monaco"/>
              </a:rPr>
              <a:t>Dirtied</a:t>
            </a:r>
          </a:p>
          <a:p>
            <a:pPr lvl="1"/>
            <a:r>
              <a:rPr dirty="0"/>
              <a:t>Reduce pause time</a:t>
            </a:r>
          </a:p>
        </p:txBody>
      </p:sp>
      <p:sp>
        <p:nvSpPr>
          <p:cNvPr id="3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54597" y="4486971"/>
            <a:ext cx="266098" cy="29738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 kern="0">
                <a:latin typeface="Gill Sans"/>
                <a:cs typeface="Gill Sans"/>
                <a:sym typeface="Gill Sans"/>
              </a:rPr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t>29</a:t>
            </a:fld>
            <a:endParaRPr kern="0">
              <a:latin typeface="Gill Sans"/>
              <a:cs typeface="Gill Sans"/>
              <a:sym typeface="Gill Sans"/>
            </a:endParaRPr>
          </a:p>
        </p:txBody>
      </p:sp>
      <p:sp>
        <p:nvSpPr>
          <p:cNvPr id="359" name="Oval"/>
          <p:cNvSpPr/>
          <p:nvPr/>
        </p:nvSpPr>
        <p:spPr>
          <a:xfrm>
            <a:off x="6813352" y="2125266"/>
            <a:ext cx="535781" cy="598289"/>
          </a:xfrm>
          <a:prstGeom prst="ellipse">
            <a:avLst/>
          </a:prstGeom>
          <a:ln w="101600">
            <a:solidFill>
              <a:srgbClr val="E324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sp>
        <p:nvSpPr>
          <p:cNvPr id="360" name="Rectangle"/>
          <p:cNvSpPr/>
          <p:nvPr/>
        </p:nvSpPr>
        <p:spPr>
          <a:xfrm>
            <a:off x="4650214" y="1251863"/>
            <a:ext cx="607219" cy="339328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 dirty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sp>
        <p:nvSpPr>
          <p:cNvPr id="361" name="Rectangle"/>
          <p:cNvSpPr/>
          <p:nvPr/>
        </p:nvSpPr>
        <p:spPr>
          <a:xfrm>
            <a:off x="5607844" y="1598414"/>
            <a:ext cx="151805" cy="178594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sp>
        <p:nvSpPr>
          <p:cNvPr id="362" name="Rectangle"/>
          <p:cNvSpPr/>
          <p:nvPr/>
        </p:nvSpPr>
        <p:spPr>
          <a:xfrm>
            <a:off x="5435080" y="1205508"/>
            <a:ext cx="151805" cy="2527102"/>
          </a:xfrm>
          <a:prstGeom prst="rect">
            <a:avLst/>
          </a:prstGeom>
          <a:solidFill>
            <a:srgbClr val="3C6D99"/>
          </a:solidFill>
          <a:ln w="25400">
            <a:miter lim="400000"/>
          </a:ln>
        </p:spPr>
        <p:txBody>
          <a:bodyPr lIns="35719" tIns="35719" rIns="35719" bIns="35719" anchor="ctr"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  <a:defRPr sz="4000"/>
            </a:pPr>
            <a:endParaRPr sz="2812" kern="0">
              <a:solidFill>
                <a:srgbClr val="000000"/>
              </a:solidFill>
              <a:latin typeface="Gill Sans"/>
              <a:cs typeface="Gill Sans"/>
              <a:sym typeface="Gill Sans"/>
            </a:endParaRPr>
          </a:p>
        </p:txBody>
      </p:sp>
      <p:grpSp>
        <p:nvGrpSpPr>
          <p:cNvPr id="367" name="Group"/>
          <p:cNvGrpSpPr/>
          <p:nvPr/>
        </p:nvGrpSpPr>
        <p:grpSpPr>
          <a:xfrm>
            <a:off x="5259170" y="1017812"/>
            <a:ext cx="724325" cy="1036017"/>
            <a:chOff x="5926" y="-6595"/>
            <a:chExt cx="1030149" cy="1473445"/>
          </a:xfrm>
        </p:grpSpPr>
        <p:sp>
          <p:nvSpPr>
            <p:cNvPr id="363" name="Line"/>
            <p:cNvSpPr/>
            <p:nvPr/>
          </p:nvSpPr>
          <p:spPr>
            <a:xfrm flipH="1">
              <a:off x="108117" y="1250950"/>
              <a:ext cx="736601" cy="2159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64" name="242,987"/>
            <p:cNvSpPr/>
            <p:nvPr/>
          </p:nvSpPr>
          <p:spPr>
            <a:xfrm>
              <a:off x="5926" y="-6595"/>
              <a:ext cx="674829" cy="3179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 sz="1400"/>
              </a:lvl1pPr>
            </a:lstStyle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r>
                <a:rPr sz="984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rPr>
                <a:t>242,987</a:t>
              </a:r>
            </a:p>
          </p:txBody>
        </p:sp>
        <p:sp>
          <p:nvSpPr>
            <p:cNvPr id="365" name="Line"/>
            <p:cNvSpPr/>
            <p:nvPr/>
          </p:nvSpPr>
          <p:spPr>
            <a:xfrm flipH="1">
              <a:off x="108117" y="1174750"/>
              <a:ext cx="736601" cy="2159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 eaLnBrk="1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kern="0">
                <a:solidFill>
                  <a:srgbClr val="000000"/>
                </a:solidFill>
                <a:latin typeface="Helvetica"/>
                <a:sym typeface="Helvetica"/>
              </a:endParaRPr>
            </a:p>
          </p:txBody>
        </p:sp>
        <p:sp>
          <p:nvSpPr>
            <p:cNvPr id="366" name="21,791"/>
            <p:cNvSpPr/>
            <p:nvPr/>
          </p:nvSpPr>
          <p:spPr>
            <a:xfrm>
              <a:off x="450159" y="774455"/>
              <a:ext cx="585916" cy="3179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 sz="1400"/>
              </a:lvl1pPr>
            </a:lstStyle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r>
                <a:rPr sz="984" kern="0">
                  <a:solidFill>
                    <a:srgbClr val="000000"/>
                  </a:solidFill>
                  <a:latin typeface="Gill Sans"/>
                  <a:cs typeface="Gill Sans"/>
                  <a:sym typeface="Gill Sans"/>
                </a:rPr>
                <a:t>21,791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8158907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" grpId="0" build="p" animBg="1" advAuto="0"/>
      <p:bldP spid="359" grpId="0" animBg="1" advAuto="0"/>
      <p:bldP spid="362" grpId="0" animBg="1" advAuto="0"/>
      <p:bldP spid="367" grpId="0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Implemen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3200" dirty="0"/>
              <a:t>Implementation</a:t>
            </a:r>
          </a:p>
        </p:txBody>
      </p:sp>
      <p:sp>
        <p:nvSpPr>
          <p:cNvPr id="374" name="Uses Xen for memory migra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Uses Xen for memory migration</a:t>
            </a:r>
          </a:p>
          <a:p>
            <a:pPr lvl="1"/>
            <a:r>
              <a:rPr dirty="0"/>
              <a:t>Added in-memory cache for redundancy and deltas</a:t>
            </a:r>
          </a:p>
          <a:p>
            <a:pPr lvl="1"/>
            <a:r>
              <a:rPr dirty="0"/>
              <a:t>Modified control algorithm for smart stop</a:t>
            </a:r>
          </a:p>
          <a:p>
            <a:pPr marL="2473435" lvl="7" indent="-250022" algn="l">
              <a:lnSpc>
                <a:spcPct val="60000"/>
              </a:lnSpc>
              <a:spcBef>
                <a:spcPts val="422"/>
              </a:spcBef>
              <a:buSzPct val="100000"/>
              <a:buChar char="•"/>
              <a:defRPr sz="2600">
                <a:solidFill>
                  <a:srgbClr val="232323"/>
                </a:solidFill>
              </a:defRPr>
            </a:pPr>
            <a:endParaRPr dirty="0"/>
          </a:p>
          <a:p>
            <a:r>
              <a:rPr dirty="0"/>
              <a:t>Disk migration based on </a:t>
            </a:r>
            <a:r>
              <a:rPr lang="en-US" dirty="0"/>
              <a:t>Distributed Replicated Block Device (</a:t>
            </a:r>
            <a:r>
              <a:rPr dirty="0"/>
              <a:t>DRBD</a:t>
            </a:r>
            <a:r>
              <a:rPr lang="en-US" dirty="0"/>
              <a:t>)</a:t>
            </a:r>
            <a:endParaRPr dirty="0"/>
          </a:p>
          <a:p>
            <a:pPr lvl="1"/>
            <a:r>
              <a:rPr dirty="0"/>
              <a:t>Has sync and </a:t>
            </a:r>
            <a:r>
              <a:rPr dirty="0" err="1"/>
              <a:t>async</a:t>
            </a:r>
            <a:r>
              <a:rPr dirty="0"/>
              <a:t> modes</a:t>
            </a:r>
          </a:p>
          <a:p>
            <a:pPr lvl="1"/>
            <a:r>
              <a:rPr dirty="0"/>
              <a:t>Evaluated benefits of redundancy elimination with traces</a:t>
            </a:r>
          </a:p>
          <a:p>
            <a:pPr marL="2473435" lvl="7" indent="-250022" algn="l">
              <a:lnSpc>
                <a:spcPct val="60000"/>
              </a:lnSpc>
              <a:spcBef>
                <a:spcPts val="422"/>
              </a:spcBef>
              <a:buSzPct val="100000"/>
              <a:buChar char="•"/>
              <a:defRPr sz="2600">
                <a:solidFill>
                  <a:srgbClr val="232323"/>
                </a:solidFill>
              </a:defRPr>
            </a:pPr>
            <a:endParaRPr dirty="0"/>
          </a:p>
          <a:p>
            <a:r>
              <a:rPr dirty="0"/>
              <a:t>VPN controller manages Juniper M7i routers</a:t>
            </a:r>
          </a:p>
          <a:p>
            <a:pPr lvl="1"/>
            <a:r>
              <a:rPr dirty="0"/>
              <a:t>Can be remotely configured</a:t>
            </a:r>
          </a:p>
          <a:p>
            <a:pPr marL="2473435" lvl="7" indent="-250022" algn="l">
              <a:lnSpc>
                <a:spcPct val="60000"/>
              </a:lnSpc>
              <a:spcBef>
                <a:spcPts val="422"/>
              </a:spcBef>
              <a:buSzPct val="100000"/>
              <a:buChar char="•"/>
              <a:defRPr sz="2600">
                <a:solidFill>
                  <a:srgbClr val="232323"/>
                </a:solidFill>
              </a:defRPr>
            </a:pPr>
            <a:endParaRPr dirty="0"/>
          </a:p>
          <a:p>
            <a:r>
              <a:rPr dirty="0"/>
              <a:t>Migration wrapper coordinates network, storage, and memory operations</a:t>
            </a:r>
          </a:p>
        </p:txBody>
      </p:sp>
      <p:sp>
        <p:nvSpPr>
          <p:cNvPr id="3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46318" y="6507033"/>
            <a:ext cx="307777" cy="29738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2130620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CloudNet Testbe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3200" dirty="0" err="1"/>
              <a:t>CloudNet</a:t>
            </a:r>
            <a:r>
              <a:rPr sz="3200" dirty="0"/>
              <a:t> Testbed</a:t>
            </a:r>
          </a:p>
        </p:txBody>
      </p:sp>
      <p:sp>
        <p:nvSpPr>
          <p:cNvPr id="378" name="Testbed for exploring cloud servic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Testbed for exploring cloud services</a:t>
            </a:r>
          </a:p>
          <a:p>
            <a:pPr marL="2223413" lvl="6" indent="-250022" algn="l">
              <a:lnSpc>
                <a:spcPct val="60000"/>
              </a:lnSpc>
              <a:spcBef>
                <a:spcPts val="422"/>
              </a:spcBef>
              <a:buSzPct val="100000"/>
              <a:buChar char="•"/>
              <a:defRPr sz="2600">
                <a:solidFill>
                  <a:srgbClr val="232323"/>
                </a:solidFill>
              </a:defRPr>
            </a:pPr>
            <a:endParaRPr dirty="0"/>
          </a:p>
          <a:p>
            <a:r>
              <a:rPr dirty="0"/>
              <a:t>3 sites spread across the US</a:t>
            </a:r>
          </a:p>
          <a:p>
            <a:pPr lvl="1"/>
            <a:r>
              <a:rPr dirty="0"/>
              <a:t>Illinois, Texas, and California</a:t>
            </a:r>
          </a:p>
          <a:p>
            <a:pPr lvl="1"/>
            <a:r>
              <a:rPr dirty="0"/>
              <a:t>Small cluster of servers </a:t>
            </a:r>
            <a:br>
              <a:rPr dirty="0"/>
            </a:br>
            <a:r>
              <a:rPr dirty="0"/>
              <a:t>at each site</a:t>
            </a:r>
          </a:p>
          <a:p>
            <a:pPr marL="1973391" lvl="5" indent="-250022" algn="l">
              <a:lnSpc>
                <a:spcPct val="60000"/>
              </a:lnSpc>
              <a:spcBef>
                <a:spcPts val="422"/>
              </a:spcBef>
              <a:buSzPct val="100000"/>
              <a:buChar char="•"/>
              <a:defRPr sz="2600">
                <a:solidFill>
                  <a:srgbClr val="232323"/>
                </a:solidFill>
              </a:defRPr>
            </a:pPr>
            <a:endParaRPr dirty="0"/>
          </a:p>
          <a:p>
            <a:r>
              <a:rPr dirty="0"/>
              <a:t>Can create multiple V</a:t>
            </a:r>
            <a:r>
              <a:rPr lang="en-US" dirty="0"/>
              <a:t>PC</a:t>
            </a:r>
            <a:r>
              <a:rPr dirty="0"/>
              <a:t>s </a:t>
            </a:r>
            <a:br>
              <a:rPr dirty="0"/>
            </a:br>
            <a:r>
              <a:rPr dirty="0"/>
              <a:t>with resources at each site </a:t>
            </a:r>
          </a:p>
          <a:p>
            <a:pPr marL="2473435" lvl="7" indent="-250022" algn="l">
              <a:lnSpc>
                <a:spcPct val="60000"/>
              </a:lnSpc>
              <a:spcBef>
                <a:spcPts val="422"/>
              </a:spcBef>
              <a:buSzPct val="100000"/>
              <a:buChar char="•"/>
              <a:defRPr sz="2600">
                <a:solidFill>
                  <a:srgbClr val="232323"/>
                </a:solidFill>
              </a:defRPr>
            </a:pPr>
            <a:endParaRPr dirty="0"/>
          </a:p>
          <a:p>
            <a:r>
              <a:rPr dirty="0"/>
              <a:t>Migrations performed over </a:t>
            </a:r>
            <a:br>
              <a:rPr dirty="0"/>
            </a:br>
            <a:r>
              <a:rPr dirty="0"/>
              <a:t>active AT&amp;T network links</a:t>
            </a:r>
          </a:p>
        </p:txBody>
      </p:sp>
      <p:grpSp>
        <p:nvGrpSpPr>
          <p:cNvPr id="386" name="Group"/>
          <p:cNvGrpSpPr/>
          <p:nvPr/>
        </p:nvGrpSpPr>
        <p:grpSpPr>
          <a:xfrm>
            <a:off x="5139531" y="2334113"/>
            <a:ext cx="4058047" cy="2443270"/>
            <a:chOff x="0" y="0"/>
            <a:chExt cx="5771444" cy="3474872"/>
          </a:xfrm>
        </p:grpSpPr>
        <p:pic>
          <p:nvPicPr>
            <p:cNvPr id="379" name="united-states-map.gif" descr="united-states-map.gi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44" y="0"/>
              <a:ext cx="5753101" cy="34748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0" name="ICON_Datacenter_3_R2_Q308.png" descr="ICON_Datacenter_3_R2_Q308.png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49172"/>
              <a:ext cx="673101" cy="80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1" name="ICON_Datacenter_3_R2_Q308.png" descr="ICON_Datacenter_3_R2_Q308.png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04344" y="1696872"/>
              <a:ext cx="673101" cy="80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2" name="ICON_Datacenter_3_R2_Q308.png" descr="ICON_Datacenter_3_R2_Q308.png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79044" y="769772"/>
              <a:ext cx="673101" cy="80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83" name="Line"/>
            <p:cNvSpPr/>
            <p:nvPr/>
          </p:nvSpPr>
          <p:spPr>
            <a:xfrm flipH="1">
              <a:off x="733777" y="1201572"/>
              <a:ext cx="2319868" cy="203200"/>
            </a:xfrm>
            <a:prstGeom prst="line">
              <a:avLst/>
            </a:prstGeom>
            <a:noFill/>
            <a:ln w="76200" cap="flat">
              <a:solidFill>
                <a:srgbClr val="B51A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384" name="Line"/>
            <p:cNvSpPr/>
            <p:nvPr/>
          </p:nvSpPr>
          <p:spPr>
            <a:xfrm flipH="1" flipV="1">
              <a:off x="716844" y="1624906"/>
              <a:ext cx="1591734" cy="321733"/>
            </a:xfrm>
            <a:prstGeom prst="line">
              <a:avLst/>
            </a:prstGeom>
            <a:noFill/>
            <a:ln w="76200" cap="flat">
              <a:solidFill>
                <a:srgbClr val="B51A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385" name="Line"/>
            <p:cNvSpPr/>
            <p:nvPr/>
          </p:nvSpPr>
          <p:spPr>
            <a:xfrm flipH="1">
              <a:off x="2901244" y="1455572"/>
              <a:ext cx="402168" cy="406401"/>
            </a:xfrm>
            <a:prstGeom prst="line">
              <a:avLst/>
            </a:prstGeom>
            <a:noFill/>
            <a:ln w="76200" cap="flat">
              <a:solidFill>
                <a:srgbClr val="B51A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</p:grp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46318" y="6507033"/>
            <a:ext cx="307777" cy="29738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31</a:t>
            </a:fld>
            <a:endParaRPr/>
          </a:p>
        </p:txBody>
      </p:sp>
      <p:pic>
        <p:nvPicPr>
          <p:cNvPr id="388" name="att-logo.jpg" descr="att-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485" y="4786313"/>
            <a:ext cx="1330524" cy="133052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53115716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roup"/>
          <p:cNvGrpSpPr/>
          <p:nvPr/>
        </p:nvGrpSpPr>
        <p:grpSpPr>
          <a:xfrm>
            <a:off x="4071937" y="1309587"/>
            <a:ext cx="4876802" cy="2618894"/>
            <a:chOff x="0" y="-1"/>
            <a:chExt cx="6935895" cy="3724648"/>
          </a:xfrm>
        </p:grpSpPr>
        <p:grpSp>
          <p:nvGrpSpPr>
            <p:cNvPr id="393" name="Group"/>
            <p:cNvGrpSpPr/>
            <p:nvPr/>
          </p:nvGrpSpPr>
          <p:grpSpPr>
            <a:xfrm>
              <a:off x="0" y="-1"/>
              <a:ext cx="6935895" cy="3724648"/>
              <a:chOff x="0" y="0"/>
              <a:chExt cx="6935894" cy="3724646"/>
            </a:xfrm>
          </p:grpSpPr>
          <p:pic>
            <p:nvPicPr>
              <p:cNvPr id="390" name="tx-il.png" descr="tx-il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6935894" cy="372464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91" name="Line"/>
              <p:cNvSpPr/>
              <p:nvPr/>
            </p:nvSpPr>
            <p:spPr>
              <a:xfrm flipV="1">
                <a:off x="149896" y="3566528"/>
                <a:ext cx="1028854" cy="1"/>
              </a:xfrm>
              <a:prstGeom prst="line">
                <a:avLst/>
              </a:prstGeom>
              <a:noFill/>
              <a:ln w="25400" cap="flat">
                <a:solidFill>
                  <a:srgbClr val="FFFFFF"/>
                </a:solidFill>
                <a:prstDash val="solid"/>
                <a:round/>
                <a:headEnd type="triangle" w="med" len="sm"/>
                <a:tailEnd type="triangle" w="med" len="sm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algn="l" defTabSz="321457" eaLnBrk="1" fontAlgn="auto">
                  <a:spcBef>
                    <a:spcPts val="0"/>
                  </a:spcBef>
                  <a:spcAft>
                    <a:spcPts val="0"/>
                  </a:spcAft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844" kern="0">
                  <a:solidFill>
                    <a:srgbClr val="000000"/>
                  </a:solidFill>
                  <a:latin typeface="Helvetica"/>
                  <a:sym typeface="Helvetica"/>
                </a:endParaRPr>
              </a:p>
            </p:txBody>
          </p:sp>
          <p:sp>
            <p:nvSpPr>
              <p:cNvPr id="392" name="500 mi"/>
              <p:cNvSpPr/>
              <p:nvPr/>
            </p:nvSpPr>
            <p:spPr>
              <a:xfrm>
                <a:off x="281409" y="3201818"/>
                <a:ext cx="670270" cy="34881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35719" tIns="35719" rIns="35719" bIns="35719" numCol="1" anchor="ctr">
                <a:spAutoFit/>
              </a:bodyPr>
              <a:lstStyle>
                <a:lvl1pPr>
                  <a:defRPr sz="1600">
                    <a:solidFill>
                      <a:srgbClr val="EBEBEB"/>
                    </a:solidFill>
                    <a:uFill>
                      <a:solidFill>
                        <a:srgbClr val="EBEBEB"/>
                      </a:solidFill>
                    </a:uFill>
                  </a:defRPr>
                </a:lvl1pPr>
              </a:lstStyle>
              <a:p>
                <a:pPr defTabSz="410751" eaLnBrk="1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sz="1125" kern="0">
                    <a:latin typeface="Gill Sans"/>
                    <a:cs typeface="Gill Sans"/>
                    <a:sym typeface="Gill Sans"/>
                  </a:rPr>
                  <a:t>500 mi</a:t>
                </a:r>
              </a:p>
            </p:txBody>
          </p:sp>
        </p:grpSp>
        <p:sp>
          <p:nvSpPr>
            <p:cNvPr id="394" name="Line"/>
            <p:cNvSpPr/>
            <p:nvPr/>
          </p:nvSpPr>
          <p:spPr>
            <a:xfrm>
              <a:off x="3709058" y="1299774"/>
              <a:ext cx="933216" cy="1016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254" y="17871"/>
                  </a:lnTo>
                  <a:lnTo>
                    <a:pt x="3763" y="15171"/>
                  </a:lnTo>
                  <a:lnTo>
                    <a:pt x="8083" y="14143"/>
                  </a:lnTo>
                  <a:lnTo>
                    <a:pt x="12960" y="11057"/>
                  </a:lnTo>
                  <a:lnTo>
                    <a:pt x="15050" y="9771"/>
                  </a:lnTo>
                  <a:lnTo>
                    <a:pt x="16583" y="7457"/>
                  </a:lnTo>
                  <a:lnTo>
                    <a:pt x="17141" y="5271"/>
                  </a:lnTo>
                  <a:lnTo>
                    <a:pt x="19788" y="1671"/>
                  </a:lnTo>
                  <a:lnTo>
                    <a:pt x="21600" y="0"/>
                  </a:lnTo>
                </a:path>
              </a:pathLst>
            </a:custGeom>
            <a:noFill/>
            <a:ln w="76200" cap="flat">
              <a:solidFill>
                <a:srgbClr val="FFAA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endParaRPr sz="2953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</p:grpSp>
      <p:sp>
        <p:nvSpPr>
          <p:cNvPr id="396" name="Eval: Cloud Burs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Eval: Cloud Burst</a:t>
            </a:r>
          </a:p>
        </p:txBody>
      </p:sp>
      <p:sp>
        <p:nvSpPr>
          <p:cNvPr id="397" name="From Richardson, TX  to Chicago, IL…"/>
          <p:cNvSpPr txBox="1">
            <a:spLocks noGrp="1"/>
          </p:cNvSpPr>
          <p:nvPr>
            <p:ph type="body" idx="1"/>
          </p:nvPr>
        </p:nvSpPr>
        <p:spPr>
          <a:xfrm>
            <a:off x="214312" y="1098351"/>
            <a:ext cx="4981681" cy="5357813"/>
          </a:xfrm>
          <a:prstGeom prst="rect">
            <a:avLst/>
          </a:prstGeom>
        </p:spPr>
        <p:txBody>
          <a:bodyPr/>
          <a:lstStyle/>
          <a:p>
            <a:pPr marL="424471" indent="-201237">
              <a:defRPr sz="3300"/>
            </a:pPr>
            <a:r>
              <a:rPr sz="2400" dirty="0"/>
              <a:t>From Richardson, TX </a:t>
            </a:r>
            <a:br>
              <a:rPr sz="2400" dirty="0"/>
            </a:br>
            <a:r>
              <a:rPr sz="2400" dirty="0"/>
              <a:t>to Chicago, IL</a:t>
            </a:r>
          </a:p>
          <a:p>
            <a:pPr marL="738905" lvl="1" indent="-203143">
              <a:defRPr sz="2600"/>
            </a:pPr>
            <a:r>
              <a:rPr sz="2400" b="1" dirty="0"/>
              <a:t>465 </a:t>
            </a:r>
            <a:r>
              <a:rPr sz="2400" b="1" dirty="0" err="1"/>
              <a:t>Mbps</a:t>
            </a:r>
            <a:r>
              <a:rPr sz="2400" b="1" dirty="0"/>
              <a:t> </a:t>
            </a:r>
            <a:r>
              <a:rPr sz="2400" dirty="0"/>
              <a:t>link</a:t>
            </a:r>
          </a:p>
          <a:p>
            <a:pPr marL="738905" lvl="1" indent="-203143">
              <a:defRPr sz="2600"/>
            </a:pPr>
            <a:r>
              <a:rPr sz="2400" b="1" dirty="0"/>
              <a:t>27 </a:t>
            </a:r>
            <a:r>
              <a:rPr sz="2400" b="1" dirty="0" err="1"/>
              <a:t>msec</a:t>
            </a:r>
            <a:r>
              <a:rPr sz="2400" b="1" dirty="0"/>
              <a:t> </a:t>
            </a:r>
            <a:r>
              <a:rPr sz="2400" dirty="0"/>
              <a:t>RTT</a:t>
            </a:r>
          </a:p>
          <a:p>
            <a:pPr marL="738905" lvl="1" indent="-203143">
              <a:defRPr sz="2600"/>
            </a:pPr>
            <a:r>
              <a:rPr sz="2400" dirty="0"/>
              <a:t>&gt;1200 KM distance</a:t>
            </a:r>
          </a:p>
          <a:p>
            <a:pPr marL="424471" indent="-201237">
              <a:defRPr sz="3300"/>
            </a:pPr>
            <a:r>
              <a:rPr sz="2400" dirty="0"/>
              <a:t>Simultaneous migration </a:t>
            </a:r>
            <a:br>
              <a:rPr sz="2400" dirty="0"/>
            </a:br>
            <a:r>
              <a:rPr sz="2400" dirty="0"/>
              <a:t>of </a:t>
            </a:r>
            <a:r>
              <a:rPr sz="2400" b="1" dirty="0"/>
              <a:t>four</a:t>
            </a:r>
            <a:r>
              <a:rPr sz="2400" dirty="0"/>
              <a:t> VMs</a:t>
            </a:r>
          </a:p>
          <a:p>
            <a:pPr marL="738905" lvl="1" indent="-203143">
              <a:defRPr sz="2600"/>
            </a:pPr>
            <a:r>
              <a:rPr sz="2400" dirty="0"/>
              <a:t>10GB disk</a:t>
            </a:r>
            <a:br>
              <a:rPr sz="2400" dirty="0"/>
            </a:br>
            <a:r>
              <a:rPr sz="2400" dirty="0"/>
              <a:t>+ 1.7GB RAM per VM</a:t>
            </a:r>
          </a:p>
          <a:p>
            <a:pPr marL="424471" indent="-201237">
              <a:defRPr sz="3300"/>
            </a:pPr>
            <a:r>
              <a:rPr sz="2400" dirty="0"/>
              <a:t>Total BW consumption lowered </a:t>
            </a:r>
            <a:br>
              <a:rPr sz="2400" dirty="0"/>
            </a:br>
            <a:r>
              <a:rPr sz="2400" dirty="0"/>
              <a:t>from </a:t>
            </a:r>
            <a:r>
              <a:rPr sz="2400" b="1" dirty="0"/>
              <a:t>37GB to 18GB</a:t>
            </a:r>
          </a:p>
          <a:p>
            <a:pPr marL="424471" indent="-201237">
              <a:defRPr sz="3300"/>
            </a:pPr>
            <a:r>
              <a:rPr sz="2400" dirty="0"/>
              <a:t>Memory migration time reduced </a:t>
            </a:r>
            <a:br>
              <a:rPr sz="2400" dirty="0"/>
            </a:br>
            <a:r>
              <a:rPr sz="2400" dirty="0"/>
              <a:t>from </a:t>
            </a:r>
            <a:r>
              <a:rPr sz="2400" b="1" dirty="0"/>
              <a:t>245 to 87 sec</a:t>
            </a:r>
          </a:p>
          <a:p>
            <a:pPr marL="424471" indent="-201237">
              <a:defRPr sz="3300"/>
            </a:pPr>
            <a:r>
              <a:rPr sz="2400" dirty="0"/>
              <a:t>Downtime </a:t>
            </a:r>
            <a:r>
              <a:rPr sz="2400" b="1" dirty="0"/>
              <a:t>halved</a:t>
            </a:r>
            <a:r>
              <a:rPr sz="2400" dirty="0"/>
              <a:t> from 6 to 3 sec</a:t>
            </a:r>
          </a:p>
        </p:txBody>
      </p:sp>
      <p:graphicFrame>
        <p:nvGraphicFramePr>
          <p:cNvPr id="398" name="2D Column Chart"/>
          <p:cNvGraphicFramePr/>
          <p:nvPr>
            <p:extLst>
              <p:ext uri="{D42A27DB-BD31-4B8C-83A1-F6EECF244321}">
                <p14:modId xmlns:p14="http://schemas.microsoft.com/office/powerpoint/2010/main" val="3642241269"/>
              </p:ext>
            </p:extLst>
          </p:nvPr>
        </p:nvGraphicFramePr>
        <p:xfrm>
          <a:off x="4683733" y="2812791"/>
          <a:ext cx="4412629" cy="38546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2641" y="6456164"/>
            <a:ext cx="266098" cy="29738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 kern="0">
                <a:latin typeface="Gill Sans"/>
                <a:cs typeface="Gill Sans"/>
                <a:sym typeface="Gill Sans"/>
              </a:rPr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t>32</a:t>
            </a:fld>
            <a:endParaRPr kern="0" dirty="0">
              <a:latin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186212441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" dur="250" fill="hold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9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9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50"/>
                                        <p:tgtEl>
                                          <p:spTgt spid="39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9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9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50"/>
                                        <p:tgtEl>
                                          <p:spTgt spid="39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9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9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250"/>
                                        <p:tgtEl>
                                          <p:spTgt spid="39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" grpId="0" animBg="1" advAuto="0"/>
      <p:bldGraphic spid="398" grpId="0">
        <p:bldSub>
          <a:bldChart bld="series"/>
        </p:bldSub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CloudNet reduces migration tim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CloudNet reduces migration time</a:t>
            </a:r>
          </a:p>
          <a:p>
            <a:pPr lvl="1"/>
            <a:r>
              <a:t>Shorter period with lower application performance </a:t>
            </a:r>
          </a:p>
          <a:p>
            <a:pPr lvl="1"/>
            <a:endParaRPr/>
          </a:p>
          <a:p>
            <a:pPr lvl="1"/>
            <a:endParaRPr/>
          </a:p>
          <a:p>
            <a:pPr lvl="1"/>
            <a:endParaRPr/>
          </a:p>
          <a:p>
            <a:pPr lvl="1"/>
            <a:endParaRPr/>
          </a:p>
          <a:p>
            <a:pPr lvl="1"/>
            <a:endParaRPr/>
          </a:p>
          <a:p>
            <a:pPr lvl="1"/>
            <a:endParaRPr/>
          </a:p>
          <a:p>
            <a:pPr lvl="1"/>
            <a:endParaRPr/>
          </a:p>
          <a:p>
            <a:pPr lvl="1"/>
            <a:endParaRPr/>
          </a:p>
          <a:p>
            <a:pPr lvl="1"/>
            <a:endParaRPr/>
          </a:p>
          <a:p>
            <a:r>
              <a:t>Synchronous disk replication reduces application performance if latency is high</a:t>
            </a:r>
          </a:p>
        </p:txBody>
      </p:sp>
      <p:sp>
        <p:nvSpPr>
          <p:cNvPr id="402" name="Eval: Application Performan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8100"/>
            </a:lvl1pPr>
          </a:lstStyle>
          <a:p>
            <a:r>
              <a:rPr sz="3200" dirty="0" err="1"/>
              <a:t>Eval</a:t>
            </a:r>
            <a:r>
              <a:rPr sz="3200" dirty="0"/>
              <a:t>: Application Performance</a:t>
            </a:r>
          </a:p>
        </p:txBody>
      </p:sp>
      <p:sp>
        <p:nvSpPr>
          <p:cNvPr id="4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54597" y="4486971"/>
            <a:ext cx="266098" cy="29738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 kern="0">
                <a:latin typeface="Gill Sans"/>
                <a:cs typeface="Gill Sans"/>
                <a:sym typeface="Gill Sans"/>
              </a:rPr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t>33</a:t>
            </a:fld>
            <a:endParaRPr kern="0">
              <a:latin typeface="Gill Sans"/>
              <a:cs typeface="Gill Sans"/>
              <a:sym typeface="Gill Sans"/>
            </a:endParaRPr>
          </a:p>
        </p:txBody>
      </p:sp>
      <p:grpSp>
        <p:nvGrpSpPr>
          <p:cNvPr id="406" name="Group"/>
          <p:cNvGrpSpPr/>
          <p:nvPr/>
        </p:nvGrpSpPr>
        <p:grpSpPr>
          <a:xfrm>
            <a:off x="750094" y="2178844"/>
            <a:ext cx="7474148" cy="2678906"/>
            <a:chOff x="0" y="0"/>
            <a:chExt cx="10629900" cy="3810000"/>
          </a:xfrm>
        </p:grpSpPr>
        <p:sp>
          <p:nvSpPr>
            <p:cNvPr id="404" name="Rectangle"/>
            <p:cNvSpPr/>
            <p:nvPr/>
          </p:nvSpPr>
          <p:spPr>
            <a:xfrm>
              <a:off x="0" y="0"/>
              <a:ext cx="10629900" cy="381000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 eaLnBrk="1" fontAlgn="auto">
                <a:spcBef>
                  <a:spcPts val="0"/>
                </a:spcBef>
                <a:spcAft>
                  <a:spcPts val="0"/>
                </a:spcAft>
                <a:defRPr sz="4000"/>
              </a:pPr>
              <a:endParaRPr sz="2812" kern="0">
                <a:solidFill>
                  <a:srgbClr val="000000"/>
                </a:solidFill>
                <a:latin typeface="Gill Sans"/>
                <a:cs typeface="Gill Sans"/>
                <a:sym typeface="Gill Sans"/>
              </a:endParaRPr>
            </a:p>
          </p:txBody>
        </p:sp>
        <p:pic>
          <p:nvPicPr>
            <p:cNvPr id="405" name="wan-tpcw-mig.pdf" descr="wan-tpcw-mig.pd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9400" y="139700"/>
              <a:ext cx="10020301" cy="35747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334208857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Eval: Network Impac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3200" dirty="0" err="1"/>
              <a:t>Eval</a:t>
            </a:r>
            <a:r>
              <a:rPr sz="3200" dirty="0"/>
              <a:t>: Network Impact</a:t>
            </a:r>
          </a:p>
        </p:txBody>
      </p:sp>
      <p:sp>
        <p:nvSpPr>
          <p:cNvPr id="409" name="Bandwidth: length of migration and pause time…"/>
          <p:cNvSpPr txBox="1">
            <a:spLocks noGrp="1"/>
          </p:cNvSpPr>
          <p:nvPr>
            <p:ph type="body" idx="1"/>
          </p:nvPr>
        </p:nvSpPr>
        <p:spPr>
          <a:xfrm>
            <a:off x="214312" y="1098352"/>
            <a:ext cx="8688586" cy="2973586"/>
          </a:xfrm>
          <a:prstGeom prst="rect">
            <a:avLst/>
          </a:prstGeom>
        </p:spPr>
        <p:txBody>
          <a:bodyPr/>
          <a:lstStyle/>
          <a:p>
            <a:r>
              <a:rPr b="1" dirty="0"/>
              <a:t>Bandwidth</a:t>
            </a:r>
            <a:r>
              <a:rPr dirty="0"/>
              <a:t>: length of migration and pause time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b="1" dirty="0"/>
              <a:t>Latency</a:t>
            </a:r>
            <a:r>
              <a:rPr dirty="0"/>
              <a:t>: </a:t>
            </a:r>
            <a:r>
              <a:rPr lang="en-US" dirty="0"/>
              <a:t>network latency impact</a:t>
            </a:r>
            <a:endParaRPr dirty="0"/>
          </a:p>
        </p:txBody>
      </p:sp>
      <p:sp>
        <p:nvSpPr>
          <p:cNvPr id="4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69849" y="6466084"/>
            <a:ext cx="266098" cy="29738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defTabSz="410751" eaLnBrk="1" fontAlgn="auto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 kern="0">
                <a:latin typeface="Gill Sans"/>
                <a:cs typeface="Gill Sans"/>
                <a:sym typeface="Gill Sans"/>
              </a:rPr>
              <a:pPr defTabSz="410751" eaLnBrk="1" fontAlgn="auto">
                <a:spcBef>
                  <a:spcPts val="0"/>
                </a:spcBef>
                <a:spcAft>
                  <a:spcPts val="0"/>
                </a:spcAft>
              </a:pPr>
              <a:t>34</a:t>
            </a:fld>
            <a:endParaRPr kern="0" dirty="0">
              <a:latin typeface="Gill Sans"/>
              <a:cs typeface="Gill Sans"/>
              <a:sym typeface="Gill Sans"/>
            </a:endParaRPr>
          </a:p>
        </p:txBody>
      </p:sp>
      <p:pic>
        <p:nvPicPr>
          <p:cNvPr id="411" name="bw-tpcw-times.pdf" descr="bw-tpcw-times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942" y="1660922"/>
            <a:ext cx="6143626" cy="1902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412" name="latency-tpcw.pdf" descr="latency-tpcw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942" y="4125611"/>
            <a:ext cx="6629401" cy="20716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37049390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Conclus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3200" dirty="0"/>
              <a:t>Conclusions</a:t>
            </a:r>
          </a:p>
        </p:txBody>
      </p:sp>
      <p:sp>
        <p:nvSpPr>
          <p:cNvPr id="419" name="CloudNet: end-to-end support for WAN migra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CloudNet</a:t>
            </a:r>
            <a:r>
              <a:rPr dirty="0"/>
              <a:t>: end-to-end support for WAN migration</a:t>
            </a:r>
          </a:p>
          <a:p>
            <a:pPr lvl="1"/>
            <a:r>
              <a:rPr dirty="0"/>
              <a:t>Network reconfiguration</a:t>
            </a:r>
          </a:p>
          <a:p>
            <a:pPr lvl="1"/>
            <a:r>
              <a:rPr dirty="0"/>
              <a:t>Optimized memory and storage transfer</a:t>
            </a:r>
          </a:p>
          <a:p>
            <a:pPr marL="2473435" lvl="7" indent="-250022" algn="l">
              <a:lnSpc>
                <a:spcPct val="60000"/>
              </a:lnSpc>
              <a:spcBef>
                <a:spcPts val="422"/>
              </a:spcBef>
              <a:buSzPct val="100000"/>
              <a:buChar char="•"/>
              <a:defRPr sz="2600">
                <a:solidFill>
                  <a:srgbClr val="232323"/>
                </a:solidFill>
              </a:defRPr>
            </a:pPr>
            <a:endParaRPr dirty="0"/>
          </a:p>
          <a:p>
            <a:r>
              <a:rPr dirty="0"/>
              <a:t>Minimizes migration cost</a:t>
            </a:r>
          </a:p>
          <a:p>
            <a:pPr lvl="1"/>
            <a:r>
              <a:rPr dirty="0"/>
              <a:t>Bandwidth: Eliminate redundant data</a:t>
            </a:r>
          </a:p>
          <a:p>
            <a:pPr lvl="1"/>
            <a:r>
              <a:rPr dirty="0"/>
              <a:t>Time: Reduce unnecessary iterations</a:t>
            </a:r>
          </a:p>
          <a:p>
            <a:pPr marL="2473435" lvl="7" indent="-250022" algn="l">
              <a:lnSpc>
                <a:spcPct val="60000"/>
              </a:lnSpc>
              <a:spcBef>
                <a:spcPts val="422"/>
              </a:spcBef>
              <a:buSzPct val="100000"/>
              <a:buChar char="•"/>
              <a:defRPr sz="2600">
                <a:solidFill>
                  <a:srgbClr val="232323"/>
                </a:solidFill>
              </a:defRPr>
            </a:pPr>
            <a:endParaRPr dirty="0"/>
          </a:p>
          <a:p>
            <a:r>
              <a:rPr dirty="0"/>
              <a:t>Reduces application impact</a:t>
            </a:r>
          </a:p>
          <a:p>
            <a:pPr lvl="1"/>
            <a:r>
              <a:rPr dirty="0"/>
              <a:t>Asynchronous bulk disk transfer</a:t>
            </a:r>
          </a:p>
          <a:p>
            <a:pPr lvl="1"/>
            <a:r>
              <a:rPr dirty="0"/>
              <a:t>Minimize pause time</a:t>
            </a:r>
            <a:endParaRPr lang="en-US" dirty="0"/>
          </a:p>
          <a:p>
            <a:pPr marL="223235" indent="0">
              <a:buNone/>
            </a:pPr>
            <a:r>
              <a:rPr lang="en-US" sz="1800" dirty="0"/>
              <a:t>T. Wood et al., "</a:t>
            </a:r>
            <a:r>
              <a:rPr lang="en-US" sz="1800" dirty="0" err="1"/>
              <a:t>CloudNet</a:t>
            </a:r>
            <a:r>
              <a:rPr lang="en-US" sz="1800" dirty="0"/>
              <a:t>: Dynamic Pooling of Cloud Resources by Live WAN Migration of Virtual Machines," in IEEE/ACM Transactions on Networking, vol. 23, no. 5, pp. 1568-1583, Oct. 2015, </a:t>
            </a:r>
            <a:r>
              <a:rPr lang="en-US" sz="1800" dirty="0" err="1"/>
              <a:t>doi</a:t>
            </a:r>
            <a:r>
              <a:rPr lang="en-US" sz="1800"/>
              <a:t>: 10.1109/TNET.2014.2343945.</a:t>
            </a:r>
            <a:endParaRPr sz="1800"/>
          </a:p>
        </p:txBody>
      </p:sp>
      <p:sp>
        <p:nvSpPr>
          <p:cNvPr id="4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46318" y="6507033"/>
            <a:ext cx="307777" cy="29738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5240554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9|15|7.9|2.:|31.1|31.7|14.9|15.5"/>
</p:tagLst>
</file>

<file path=ppt/theme/theme1.xml><?xml version="1.0" encoding="utf-8"?>
<a:theme xmlns:a="http://schemas.openxmlformats.org/drawingml/2006/main" name="att_gvt_bus_exp">
  <a:themeElements>
    <a:clrScheme name="att_opt2_orng_073107 1">
      <a:dk1>
        <a:srgbClr val="4D4D4D"/>
      </a:dk1>
      <a:lt1>
        <a:srgbClr val="FFFFFF"/>
      </a:lt1>
      <a:dk2>
        <a:srgbClr val="000000"/>
      </a:dk2>
      <a:lt2>
        <a:srgbClr val="CCCCCC"/>
      </a:lt2>
      <a:accent1>
        <a:srgbClr val="067AB4"/>
      </a:accent1>
      <a:accent2>
        <a:srgbClr val="FF7200"/>
      </a:accent2>
      <a:accent3>
        <a:srgbClr val="FFFFFF"/>
      </a:accent3>
      <a:accent4>
        <a:srgbClr val="404040"/>
      </a:accent4>
      <a:accent5>
        <a:srgbClr val="AABED6"/>
      </a:accent5>
      <a:accent6>
        <a:srgbClr val="E76700"/>
      </a:accent6>
      <a:hlink>
        <a:srgbClr val="6EBB1F"/>
      </a:hlink>
      <a:folHlink>
        <a:srgbClr val="0C2577"/>
      </a:folHlink>
    </a:clrScheme>
    <a:fontScheme name="att_opt2_orng_073107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CCCCCC"/>
            </a:solidFill>
            <a:effectLst/>
            <a:latin typeface="Verdana" pitchFamily="-111" charset="0"/>
            <a:ea typeface="Arial" pitchFamily="-111" charset="-52"/>
            <a:cs typeface="Arial" pitchFamily="-111" charset="-5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CCCCCC"/>
            </a:solidFill>
            <a:effectLst/>
            <a:latin typeface="Verdana" pitchFamily="-111" charset="0"/>
            <a:ea typeface="Arial" pitchFamily="-111" charset="-52"/>
            <a:cs typeface="Arial" pitchFamily="-111" charset="-52"/>
          </a:defRPr>
        </a:defPPr>
      </a:lstStyle>
    </a:lnDef>
  </a:objectDefaults>
  <a:extraClrSchemeLst>
    <a:extraClrScheme>
      <a:clrScheme name="att_opt2_orng_073107 1">
        <a:dk1>
          <a:srgbClr val="4D4D4D"/>
        </a:dk1>
        <a:lt1>
          <a:srgbClr val="FFFFFF"/>
        </a:lt1>
        <a:dk2>
          <a:srgbClr val="000000"/>
        </a:dk2>
        <a:lt2>
          <a:srgbClr val="CCCCCC"/>
        </a:lt2>
        <a:accent1>
          <a:srgbClr val="067AB4"/>
        </a:accent1>
        <a:accent2>
          <a:srgbClr val="FF7200"/>
        </a:accent2>
        <a:accent3>
          <a:srgbClr val="FFFFFF"/>
        </a:accent3>
        <a:accent4>
          <a:srgbClr val="404040"/>
        </a:accent4>
        <a:accent5>
          <a:srgbClr val="AABED6"/>
        </a:accent5>
        <a:accent6>
          <a:srgbClr val="E76700"/>
        </a:accent6>
        <a:hlink>
          <a:srgbClr val="6EBB1F"/>
        </a:hlink>
        <a:folHlink>
          <a:srgbClr val="0C25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4E3FE"/>
        </a:solid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att_opt1_orng_073107">
  <a:themeElements>
    <a:clrScheme name="att_opt1_orng_073107 1">
      <a:dk1>
        <a:srgbClr val="4D4D4D"/>
      </a:dk1>
      <a:lt1>
        <a:srgbClr val="FFFFFF"/>
      </a:lt1>
      <a:dk2>
        <a:srgbClr val="000000"/>
      </a:dk2>
      <a:lt2>
        <a:srgbClr val="CCCCCC"/>
      </a:lt2>
      <a:accent1>
        <a:srgbClr val="067AB4"/>
      </a:accent1>
      <a:accent2>
        <a:srgbClr val="FF7200"/>
      </a:accent2>
      <a:accent3>
        <a:srgbClr val="FFFFFF"/>
      </a:accent3>
      <a:accent4>
        <a:srgbClr val="404040"/>
      </a:accent4>
      <a:accent5>
        <a:srgbClr val="AABED6"/>
      </a:accent5>
      <a:accent6>
        <a:srgbClr val="E76700"/>
      </a:accent6>
      <a:hlink>
        <a:srgbClr val="6EBB1F"/>
      </a:hlink>
      <a:folHlink>
        <a:srgbClr val="0C2577"/>
      </a:folHlink>
    </a:clrScheme>
    <a:fontScheme name="att_opt1_orng_073107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CCCCCC"/>
            </a:solidFill>
            <a:effectLst/>
            <a:latin typeface="Verdana" pitchFamily="12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CCCCCC"/>
            </a:solidFill>
            <a:effectLst/>
            <a:latin typeface="Verdana" pitchFamily="124" charset="0"/>
            <a:cs typeface="Arial" charset="0"/>
          </a:defRPr>
        </a:defPPr>
      </a:lstStyle>
    </a:lnDef>
  </a:objectDefaults>
  <a:extraClrSchemeLst>
    <a:extraClrScheme>
      <a:clrScheme name="att_opt1_orng_073107 1">
        <a:dk1>
          <a:srgbClr val="4D4D4D"/>
        </a:dk1>
        <a:lt1>
          <a:srgbClr val="FFFFFF"/>
        </a:lt1>
        <a:dk2>
          <a:srgbClr val="000000"/>
        </a:dk2>
        <a:lt2>
          <a:srgbClr val="CCCCCC"/>
        </a:lt2>
        <a:accent1>
          <a:srgbClr val="067AB4"/>
        </a:accent1>
        <a:accent2>
          <a:srgbClr val="FF7200"/>
        </a:accent2>
        <a:accent3>
          <a:srgbClr val="FFFFFF"/>
        </a:accent3>
        <a:accent4>
          <a:srgbClr val="404040"/>
        </a:accent4>
        <a:accent5>
          <a:srgbClr val="AABED6"/>
        </a:accent5>
        <a:accent6>
          <a:srgbClr val="E76700"/>
        </a:accent6>
        <a:hlink>
          <a:srgbClr val="6EBB1F"/>
        </a:hlink>
        <a:folHlink>
          <a:srgbClr val="0C25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20912</TotalTime>
  <Words>2410</Words>
  <Application>Microsoft Macintosh PowerPoint</Application>
  <PresentationFormat>On-screen Show (4:3)</PresentationFormat>
  <Paragraphs>591</Paragraphs>
  <Slides>35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IB Wb Regular</vt:lpstr>
      <vt:lpstr>Arial</vt:lpstr>
      <vt:lpstr>Comic Sans MS</vt:lpstr>
      <vt:lpstr>Gill Sans</vt:lpstr>
      <vt:lpstr>Helvetica</vt:lpstr>
      <vt:lpstr>Helvetica Neue</vt:lpstr>
      <vt:lpstr>Lucida Grande</vt:lpstr>
      <vt:lpstr>Monaco</vt:lpstr>
      <vt:lpstr>Verdana</vt:lpstr>
      <vt:lpstr>att_gvt_bus_exp</vt:lpstr>
      <vt:lpstr>White</vt:lpstr>
      <vt:lpstr>att_opt1_orng_073107</vt:lpstr>
      <vt:lpstr>Networking the Cloud: Remote Replication of VMs over the WAN  </vt:lpstr>
      <vt:lpstr>Public, Private, Hybrid Clouds</vt:lpstr>
      <vt:lpstr>Deployment Models</vt:lpstr>
      <vt:lpstr>Cloud Isolation</vt:lpstr>
      <vt:lpstr>Motivation</vt:lpstr>
      <vt:lpstr>Problem #1: Transparency</vt:lpstr>
      <vt:lpstr>Problem #2: Security</vt:lpstr>
      <vt:lpstr>Problem #3: Flexible Resource Mgmt</vt:lpstr>
      <vt:lpstr>Key Observation</vt:lpstr>
      <vt:lpstr>Vision: Virtual Cloud Pools</vt:lpstr>
      <vt:lpstr>Cloud Pool Use Cases</vt:lpstr>
      <vt:lpstr>Dynamic Cloud Pools</vt:lpstr>
      <vt:lpstr>Virtual Private Clouds</vt:lpstr>
      <vt:lpstr>VPC Benefits</vt:lpstr>
      <vt:lpstr>Seamless Data Center Connections</vt:lpstr>
      <vt:lpstr>CloudNet</vt:lpstr>
      <vt:lpstr>Dynamic VPN Endpoints</vt:lpstr>
      <vt:lpstr>CloudNet System Components</vt:lpstr>
      <vt:lpstr>CloudNet System Components-Network Domain</vt:lpstr>
      <vt:lpstr> Dynamic VPN re-mapping VPLS example</vt:lpstr>
      <vt:lpstr> Dynamic VPN re-mapping VPLS example</vt:lpstr>
      <vt:lpstr>System Components - Cloud Domain</vt:lpstr>
      <vt:lpstr>WAN Migration Challenges</vt:lpstr>
      <vt:lpstr>WAN Migration</vt:lpstr>
      <vt:lpstr>WAN Migration Optimization</vt:lpstr>
      <vt:lpstr>VM Migration Procedure</vt:lpstr>
      <vt:lpstr>Optimizing WAN Migration</vt:lpstr>
      <vt:lpstr>Deltas</vt:lpstr>
      <vt:lpstr>Smart Stop</vt:lpstr>
      <vt:lpstr>Implementation</vt:lpstr>
      <vt:lpstr>CloudNet Testbed</vt:lpstr>
      <vt:lpstr>Eval: Cloud Burst</vt:lpstr>
      <vt:lpstr>Eval: Application Performance</vt:lpstr>
      <vt:lpstr>Eval: Network Impact</vt:lpstr>
      <vt:lpstr>Conclusions</vt:lpstr>
    </vt:vector>
  </TitlesOfParts>
  <Company>A Guys Creations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 ME FIRST – THEN DELETE THE SLIDE</dc:title>
  <dc:creator>Andrew Johnson</dc:creator>
  <cp:lastModifiedBy>Microsoft Office User</cp:lastModifiedBy>
  <cp:revision>341</cp:revision>
  <cp:lastPrinted>2011-09-23T13:02:44Z</cp:lastPrinted>
  <dcterms:created xsi:type="dcterms:W3CDTF">2011-09-28T13:01:36Z</dcterms:created>
  <dcterms:modified xsi:type="dcterms:W3CDTF">2025-02-03T05:38:38Z</dcterms:modified>
</cp:coreProperties>
</file>