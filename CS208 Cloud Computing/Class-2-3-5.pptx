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4.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5.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87" r:id="rId2"/>
    <p:sldMasterId id="2147483703" r:id="rId3"/>
    <p:sldMasterId id="2147483719" r:id="rId4"/>
    <p:sldMasterId id="2147483731" r:id="rId5"/>
    <p:sldMasterId id="2147483745" r:id="rId6"/>
  </p:sldMasterIdLst>
  <p:notesMasterIdLst>
    <p:notesMasterId r:id="rId104"/>
  </p:notesMasterIdLst>
  <p:sldIdLst>
    <p:sldId id="257" r:id="rId7"/>
    <p:sldId id="718" r:id="rId8"/>
    <p:sldId id="256" r:id="rId9"/>
    <p:sldId id="713" r:id="rId10"/>
    <p:sldId id="706" r:id="rId11"/>
    <p:sldId id="714" r:id="rId12"/>
    <p:sldId id="711" r:id="rId13"/>
    <p:sldId id="260" r:id="rId14"/>
    <p:sldId id="258" r:id="rId15"/>
    <p:sldId id="736" r:id="rId16"/>
    <p:sldId id="712" r:id="rId17"/>
    <p:sldId id="259" r:id="rId18"/>
    <p:sldId id="737" r:id="rId19"/>
    <p:sldId id="728" r:id="rId20"/>
    <p:sldId id="707" r:id="rId21"/>
    <p:sldId id="738" r:id="rId22"/>
    <p:sldId id="708" r:id="rId23"/>
    <p:sldId id="720" r:id="rId24"/>
    <p:sldId id="709" r:id="rId25"/>
    <p:sldId id="710" r:id="rId26"/>
    <p:sldId id="749" r:id="rId27"/>
    <p:sldId id="266" r:id="rId28"/>
    <p:sldId id="267" r:id="rId29"/>
    <p:sldId id="740" r:id="rId30"/>
    <p:sldId id="741" r:id="rId31"/>
    <p:sldId id="263" r:id="rId32"/>
    <p:sldId id="300" r:id="rId33"/>
    <p:sldId id="264" r:id="rId34"/>
    <p:sldId id="301" r:id="rId35"/>
    <p:sldId id="742" r:id="rId36"/>
    <p:sldId id="298" r:id="rId37"/>
    <p:sldId id="743" r:id="rId38"/>
    <p:sldId id="744" r:id="rId39"/>
    <p:sldId id="745" r:id="rId40"/>
    <p:sldId id="309" r:id="rId41"/>
    <p:sldId id="746" r:id="rId42"/>
    <p:sldId id="302" r:id="rId43"/>
    <p:sldId id="303" r:id="rId44"/>
    <p:sldId id="304" r:id="rId45"/>
    <p:sldId id="305" r:id="rId46"/>
    <p:sldId id="308" r:id="rId47"/>
    <p:sldId id="747" r:id="rId48"/>
    <p:sldId id="748" r:id="rId49"/>
    <p:sldId id="284" r:id="rId50"/>
    <p:sldId id="285" r:id="rId51"/>
    <p:sldId id="544" r:id="rId52"/>
    <p:sldId id="286" r:id="rId53"/>
    <p:sldId id="290" r:id="rId54"/>
    <p:sldId id="287" r:id="rId55"/>
    <p:sldId id="288" r:id="rId56"/>
    <p:sldId id="289" r:id="rId57"/>
    <p:sldId id="291" r:id="rId58"/>
    <p:sldId id="292" r:id="rId59"/>
    <p:sldId id="293" r:id="rId60"/>
    <p:sldId id="294" r:id="rId61"/>
    <p:sldId id="295" r:id="rId62"/>
    <p:sldId id="296" r:id="rId63"/>
    <p:sldId id="297" r:id="rId64"/>
    <p:sldId id="311" r:id="rId65"/>
    <p:sldId id="310"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6" r:id="rId79"/>
    <p:sldId id="324" r:id="rId80"/>
    <p:sldId id="325" r:id="rId81"/>
    <p:sldId id="327" r:id="rId82"/>
    <p:sldId id="332" r:id="rId83"/>
    <p:sldId id="328" r:id="rId84"/>
    <p:sldId id="329" r:id="rId85"/>
    <p:sldId id="330" r:id="rId86"/>
    <p:sldId id="331" r:id="rId87"/>
    <p:sldId id="268" r:id="rId88"/>
    <p:sldId id="269" r:id="rId89"/>
    <p:sldId id="270" r:id="rId90"/>
    <p:sldId id="271" r:id="rId91"/>
    <p:sldId id="272" r:id="rId92"/>
    <p:sldId id="273" r:id="rId93"/>
    <p:sldId id="274" r:id="rId94"/>
    <p:sldId id="275" r:id="rId95"/>
    <p:sldId id="276" r:id="rId96"/>
    <p:sldId id="277" r:id="rId97"/>
    <p:sldId id="278" r:id="rId98"/>
    <p:sldId id="279" r:id="rId99"/>
    <p:sldId id="280" r:id="rId100"/>
    <p:sldId id="281" r:id="rId101"/>
    <p:sldId id="282" r:id="rId102"/>
    <p:sldId id="283" r:id="rId10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140"/>
    <p:restoredTop sz="96561"/>
  </p:normalViewPr>
  <p:slideViewPr>
    <p:cSldViewPr snapToGrid="0" snapToObjects="1">
      <p:cViewPr varScale="1">
        <p:scale>
          <a:sx n="119" d="100"/>
          <a:sy n="119" d="100"/>
        </p:scale>
        <p:origin x="1320" y="184"/>
      </p:cViewPr>
      <p:guideLst/>
    </p:cSldViewPr>
  </p:slideViewPr>
  <p:outlineViewPr>
    <p:cViewPr>
      <p:scale>
        <a:sx n="33" d="100"/>
        <a:sy n="33" d="100"/>
      </p:scale>
      <p:origin x="0" y="-5722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slide" Target="slides/slide78.xml"/><Relationship Id="rId89" Type="http://schemas.openxmlformats.org/officeDocument/2006/relationships/slide" Target="slides/slide83.xml"/><Relationship Id="rId16" Type="http://schemas.openxmlformats.org/officeDocument/2006/relationships/slide" Target="slides/slide10.xml"/><Relationship Id="rId107" Type="http://schemas.openxmlformats.org/officeDocument/2006/relationships/theme" Target="theme/theme1.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slide" Target="slides/slide73.xml"/><Relationship Id="rId102" Type="http://schemas.openxmlformats.org/officeDocument/2006/relationships/slide" Target="slides/slide96.xml"/><Relationship Id="rId5" Type="http://schemas.openxmlformats.org/officeDocument/2006/relationships/slideMaster" Target="slideMasters/slideMaster5.xml"/><Relationship Id="rId90" Type="http://schemas.openxmlformats.org/officeDocument/2006/relationships/slide" Target="slides/slide84.xml"/><Relationship Id="rId95" Type="http://schemas.openxmlformats.org/officeDocument/2006/relationships/slide" Target="slides/slide89.xml"/><Relationship Id="rId22" Type="http://schemas.openxmlformats.org/officeDocument/2006/relationships/slide" Target="slides/slide16.xml"/><Relationship Id="rId27" Type="http://schemas.openxmlformats.org/officeDocument/2006/relationships/slide" Target="slides/slide21.xml"/><Relationship Id="rId43" Type="http://schemas.openxmlformats.org/officeDocument/2006/relationships/slide" Target="slides/slide37.xml"/><Relationship Id="rId48" Type="http://schemas.openxmlformats.org/officeDocument/2006/relationships/slide" Target="slides/slide42.xml"/><Relationship Id="rId64" Type="http://schemas.openxmlformats.org/officeDocument/2006/relationships/slide" Target="slides/slide58.xml"/><Relationship Id="rId69" Type="http://schemas.openxmlformats.org/officeDocument/2006/relationships/slide" Target="slides/slide63.xml"/><Relationship Id="rId80" Type="http://schemas.openxmlformats.org/officeDocument/2006/relationships/slide" Target="slides/slide74.xml"/><Relationship Id="rId85" Type="http://schemas.openxmlformats.org/officeDocument/2006/relationships/slide" Target="slides/slide79.xml"/><Relationship Id="rId12" Type="http://schemas.openxmlformats.org/officeDocument/2006/relationships/slide" Target="slides/slide6.xml"/><Relationship Id="rId17" Type="http://schemas.openxmlformats.org/officeDocument/2006/relationships/slide" Target="slides/slide11.xml"/><Relationship Id="rId33" Type="http://schemas.openxmlformats.org/officeDocument/2006/relationships/slide" Target="slides/slide27.xml"/><Relationship Id="rId38" Type="http://schemas.openxmlformats.org/officeDocument/2006/relationships/slide" Target="slides/slide32.xml"/><Relationship Id="rId59" Type="http://schemas.openxmlformats.org/officeDocument/2006/relationships/slide" Target="slides/slide53.xml"/><Relationship Id="rId103" Type="http://schemas.openxmlformats.org/officeDocument/2006/relationships/slide" Target="slides/slide97.xml"/><Relationship Id="rId108" Type="http://schemas.openxmlformats.org/officeDocument/2006/relationships/tableStyles" Target="tableStyles.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slide" Target="slides/slide77.xml"/><Relationship Id="rId88" Type="http://schemas.openxmlformats.org/officeDocument/2006/relationships/slide" Target="slides/slide82.xml"/><Relationship Id="rId91" Type="http://schemas.openxmlformats.org/officeDocument/2006/relationships/slide" Target="slides/slide85.xml"/><Relationship Id="rId96" Type="http://schemas.openxmlformats.org/officeDocument/2006/relationships/slide" Target="slides/slide90.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6" Type="http://schemas.openxmlformats.org/officeDocument/2006/relationships/viewProps" Target="viewProps.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slide" Target="slides/slide80.xml"/><Relationship Id="rId94" Type="http://schemas.openxmlformats.org/officeDocument/2006/relationships/slide" Target="slides/slide88.xml"/><Relationship Id="rId99" Type="http://schemas.openxmlformats.org/officeDocument/2006/relationships/slide" Target="slides/slide93.xml"/><Relationship Id="rId101" Type="http://schemas.openxmlformats.org/officeDocument/2006/relationships/slide" Target="slides/slide95.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slide" Target="slides/slide91.xml"/><Relationship Id="rId104" Type="http://schemas.openxmlformats.org/officeDocument/2006/relationships/notesMaster" Target="notesMasters/notesMaster1.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slide" Target="slides/slide86.xml"/><Relationship Id="rId2" Type="http://schemas.openxmlformats.org/officeDocument/2006/relationships/slideMaster" Target="slideMasters/slideMaster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slide" Target="slides/slide81.xml"/><Relationship Id="rId61" Type="http://schemas.openxmlformats.org/officeDocument/2006/relationships/slide" Target="slides/slide55.xml"/><Relationship Id="rId82" Type="http://schemas.openxmlformats.org/officeDocument/2006/relationships/slide" Target="slides/slide76.xml"/><Relationship Id="rId19" Type="http://schemas.openxmlformats.org/officeDocument/2006/relationships/slide" Target="slides/slide13.xml"/><Relationship Id="rId14" Type="http://schemas.openxmlformats.org/officeDocument/2006/relationships/slide" Target="slides/slide8.xml"/><Relationship Id="rId30" Type="http://schemas.openxmlformats.org/officeDocument/2006/relationships/slide" Target="slides/slide24.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slide" Target="slides/slide71.xml"/><Relationship Id="rId100" Type="http://schemas.openxmlformats.org/officeDocument/2006/relationships/slide" Target="slides/slide94.xml"/><Relationship Id="rId105" Type="http://schemas.openxmlformats.org/officeDocument/2006/relationships/presProps" Target="presProps.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93" Type="http://schemas.openxmlformats.org/officeDocument/2006/relationships/slide" Target="slides/slide87.xml"/><Relationship Id="rId98" Type="http://schemas.openxmlformats.org/officeDocument/2006/relationships/slide" Target="slides/slide92.xml"/><Relationship Id="rId3" Type="http://schemas.openxmlformats.org/officeDocument/2006/relationships/slideMaster" Target="slideMasters/slideMaster3.xml"/><Relationship Id="rId25" Type="http://schemas.openxmlformats.org/officeDocument/2006/relationships/slide" Target="slides/slide19.xml"/><Relationship Id="rId46" Type="http://schemas.openxmlformats.org/officeDocument/2006/relationships/slide" Target="slides/slide40.xml"/><Relationship Id="rId67"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62ADBF-66AD-1446-A81A-489830130802}" type="datetimeFigureOut">
              <a:rPr lang="en-US" smtClean="0"/>
              <a:t>1/5/25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DA000A-A90A-9F4F-8D29-AB19E38E4810}" type="slidenum">
              <a:rPr lang="en-US" smtClean="0"/>
              <a:t>‹#›</a:t>
            </a:fld>
            <a:endParaRPr lang="en-US"/>
          </a:p>
        </p:txBody>
      </p:sp>
    </p:spTree>
    <p:extLst>
      <p:ext uri="{BB962C8B-B14F-4D97-AF65-F5344CB8AC3E}">
        <p14:creationId xmlns:p14="http://schemas.microsoft.com/office/powerpoint/2010/main" val="2151393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credit: IBM</a:t>
            </a:r>
          </a:p>
        </p:txBody>
      </p:sp>
      <p:sp>
        <p:nvSpPr>
          <p:cNvPr id="4" name="Slide Number Placeholder 3"/>
          <p:cNvSpPr>
            <a:spLocks noGrp="1"/>
          </p:cNvSpPr>
          <p:nvPr>
            <p:ph type="sldNum" sz="quarter" idx="10"/>
          </p:nvPr>
        </p:nvSpPr>
        <p:spPr/>
        <p:txBody>
          <a:bodyPr/>
          <a:lstStyle/>
          <a:p>
            <a:pPr>
              <a:defRPr/>
            </a:pPr>
            <a:fld id="{EE789F37-CBEE-1440-B38F-F74B24D5A425}" type="slidenum">
              <a:rPr lang="en-US" smtClean="0"/>
              <a:pPr>
                <a:defRPr/>
              </a:pPr>
              <a:t>7</a:t>
            </a:fld>
            <a:endParaRPr lang="en-US"/>
          </a:p>
        </p:txBody>
      </p:sp>
    </p:spTree>
    <p:extLst>
      <p:ext uri="{BB962C8B-B14F-4D97-AF65-F5344CB8AC3E}">
        <p14:creationId xmlns:p14="http://schemas.microsoft.com/office/powerpoint/2010/main" val="23261563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8FB7A3-D6D9-1246-BF73-A60ABF4438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612533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charset="0"/>
                <a:ea typeface="ＭＳ Ｐゴシック" charset="-128"/>
                <a:cs typeface="+mn-cs"/>
              </a:rPr>
              <a:t>Christo Wilson</a:t>
            </a:r>
          </a:p>
        </p:txBody>
      </p:sp>
      <p:sp>
        <p:nvSpPr>
          <p:cNvPr id="5" name="Date Placeholder 4"/>
          <p:cNvSpPr>
            <a:spLocks noGrp="1"/>
          </p:cNvSpPr>
          <p:nvPr>
            <p:ph type="dt" idx="11"/>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charset="0"/>
                <a:ea typeface="ＭＳ Ｐゴシック" charset="-128"/>
                <a:cs typeface="+mn-cs"/>
              </a:rPr>
              <a:t>8/22/2012</a:t>
            </a:r>
          </a:p>
        </p:txBody>
      </p:sp>
      <p:sp>
        <p:nvSpPr>
          <p:cNvPr id="6" name="Footer Placeholder 5"/>
          <p:cNvSpPr>
            <a:spLocks noGrp="1"/>
          </p:cNvSpPr>
          <p:nvPr>
            <p:ph type="ftr" sz="quarter" idx="12"/>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charset="0"/>
                <a:ea typeface="ＭＳ Ｐゴシック" charset="-128"/>
                <a:cs typeface="+mn-cs"/>
              </a:rPr>
              <a:t>Defense</a:t>
            </a:r>
          </a:p>
        </p:txBody>
      </p:sp>
      <p:sp>
        <p:nvSpPr>
          <p:cNvPr id="7" name="Slide Number Placeholder 6"/>
          <p:cNvSpPr>
            <a:spLocks noGrp="1"/>
          </p:cNvSpPr>
          <p:nvPr>
            <p:ph type="sldNum" sz="quarter" idx="13"/>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77FBF96E-C445-4FF1-86A3-96F5585B6DBD}" type="slidenum">
              <a:rPr kumimoji="0" lang="en-US" sz="1200" b="0" i="0" u="none" strike="noStrike" kern="1200" cap="none" spc="0" normalizeH="0" baseline="0" noProof="0" smtClean="0">
                <a:ln>
                  <a:noFill/>
                </a:ln>
                <a:solidFill>
                  <a:srgbClr val="000000"/>
                </a:solidFill>
                <a:effectLst/>
                <a:uLnTx/>
                <a:uFillTx/>
                <a:latin typeface="Arial"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39</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Tree>
    <p:extLst>
      <p:ext uri="{BB962C8B-B14F-4D97-AF65-F5344CB8AC3E}">
        <p14:creationId xmlns:p14="http://schemas.microsoft.com/office/powerpoint/2010/main" val="41507136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915F4F2D-DE28-4108-ACCB-E4DE347C9910}" type="slidenum">
              <a:rPr kumimoji="0" lang="en-US" sz="1200" b="0" i="0" u="none" strike="noStrike" kern="1200" cap="none" spc="0" normalizeH="0" baseline="0" noProof="0" smtClean="0">
                <a:ln>
                  <a:noFill/>
                </a:ln>
                <a:solidFill>
                  <a:srgbClr val="000000"/>
                </a:solidFill>
                <a:effectLst/>
                <a:uLnTx/>
                <a:uFillTx/>
                <a:latin typeface="Arial"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60</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Tree>
    <p:extLst>
      <p:ext uri="{BB962C8B-B14F-4D97-AF65-F5344CB8AC3E}">
        <p14:creationId xmlns:p14="http://schemas.microsoft.com/office/powerpoint/2010/main" val="41155754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8FB7A3-D6D9-1246-BF73-A60ABF4438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411893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DA000A-A90A-9F4F-8D29-AB19E38E4810}" type="slidenum">
              <a:rPr lang="en-US" smtClean="0"/>
              <a:t>85</a:t>
            </a:fld>
            <a:endParaRPr lang="en-US"/>
          </a:p>
        </p:txBody>
      </p:sp>
    </p:spTree>
    <p:extLst>
      <p:ext uri="{BB962C8B-B14F-4D97-AF65-F5344CB8AC3E}">
        <p14:creationId xmlns:p14="http://schemas.microsoft.com/office/powerpoint/2010/main" val="165514863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Slide">
    <p:spTree>
      <p:nvGrpSpPr>
        <p:cNvPr id="1" name=""/>
        <p:cNvGrpSpPr/>
        <p:nvPr/>
      </p:nvGrpSpPr>
      <p:grpSpPr>
        <a:xfrm>
          <a:off x="0" y="0"/>
          <a:ext cx="0" cy="0"/>
          <a:chOff x="0" y="0"/>
          <a:chExt cx="0" cy="0"/>
        </a:xfrm>
      </p:grpSpPr>
      <p:pic>
        <p:nvPicPr>
          <p:cNvPr id="7" name="Picture 6" descr="forMiguel 2.jpg"/>
          <p:cNvPicPr>
            <a:picLocks noChangeAspect="1"/>
          </p:cNvPicPr>
          <p:nvPr userDrawn="1"/>
        </p:nvPicPr>
        <p:blipFill>
          <a:blip r:embed="rId2"/>
          <a:stretch>
            <a:fillRect/>
          </a:stretch>
        </p:blipFill>
        <p:spPr>
          <a:xfrm>
            <a:off x="1" y="-1587"/>
            <a:ext cx="9144001" cy="6858000"/>
          </a:xfrm>
          <a:prstGeom prst="rect">
            <a:avLst/>
          </a:prstGeom>
        </p:spPr>
      </p:pic>
      <p:pic>
        <p:nvPicPr>
          <p:cNvPr id="17" name="Picture 16" descr="att_globe_rgb_grd_pos_2.jpg"/>
          <p:cNvPicPr>
            <a:picLocks noChangeAspect="1"/>
          </p:cNvPicPr>
          <p:nvPr userDrawn="1"/>
        </p:nvPicPr>
        <p:blipFill>
          <a:blip r:embed="rId3"/>
          <a:stretch>
            <a:fillRect/>
          </a:stretch>
        </p:blipFill>
        <p:spPr bwMode="gray">
          <a:xfrm>
            <a:off x="8077200" y="381000"/>
            <a:ext cx="548640" cy="548640"/>
          </a:xfrm>
          <a:prstGeom prst="rect">
            <a:avLst/>
          </a:prstGeom>
        </p:spPr>
      </p:pic>
      <p:sp>
        <p:nvSpPr>
          <p:cNvPr id="12" name="Text Placeholder 21"/>
          <p:cNvSpPr>
            <a:spLocks noGrp="1"/>
          </p:cNvSpPr>
          <p:nvPr>
            <p:ph type="body" sz="quarter" idx="10"/>
          </p:nvPr>
        </p:nvSpPr>
        <p:spPr bwMode="gray">
          <a:xfrm>
            <a:off x="403225" y="1905000"/>
            <a:ext cx="6388100" cy="685800"/>
          </a:xfrm>
          <a:prstGeom prst="rect">
            <a:avLst/>
          </a:prstGeom>
        </p:spPr>
        <p:txBody>
          <a:bodyPr vert="horz" lIns="0" tIns="0" rIns="0" bIns="0"/>
          <a:lstStyle>
            <a:lvl1pPr>
              <a:defRPr sz="2200">
                <a:solidFill>
                  <a:schemeClr val="bg2"/>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dirty="0"/>
              <a:t>Click to edit Master text styles</a:t>
            </a:r>
          </a:p>
        </p:txBody>
      </p:sp>
      <p:sp>
        <p:nvSpPr>
          <p:cNvPr id="14" name="Title 13"/>
          <p:cNvSpPr>
            <a:spLocks noGrp="1"/>
          </p:cNvSpPr>
          <p:nvPr>
            <p:ph type="title"/>
          </p:nvPr>
        </p:nvSpPr>
        <p:spPr bwMode="gray">
          <a:xfrm>
            <a:off x="403225" y="274638"/>
            <a:ext cx="6248400" cy="1143000"/>
          </a:xfrm>
          <a:prstGeom prst="rect">
            <a:avLst/>
          </a:prstGeom>
        </p:spPr>
        <p:txBody>
          <a:bodyPr vert="horz" lIns="0" tIns="0" rIns="0" bIns="0"/>
          <a:lstStyle>
            <a:lvl1pPr>
              <a:defRPr>
                <a:solidFill>
                  <a:schemeClr val="bg1"/>
                </a:solidFill>
              </a:defRPr>
            </a:lvl1pPr>
          </a:lstStyle>
          <a:p>
            <a:r>
              <a:rPr lang="en-US" dirty="0"/>
              <a:t>Click to edit Master title style</a:t>
            </a:r>
          </a:p>
        </p:txBody>
      </p:sp>
      <p:sp>
        <p:nvSpPr>
          <p:cNvPr id="10" name="TextBox 9"/>
          <p:cNvSpPr txBox="1"/>
          <p:nvPr userDrawn="1"/>
        </p:nvSpPr>
        <p:spPr>
          <a:xfrm>
            <a:off x="398464" y="6361987"/>
            <a:ext cx="5495925" cy="184666"/>
          </a:xfrm>
          <a:prstGeom prst="rect">
            <a:avLst/>
          </a:prstGeom>
          <a:noFill/>
        </p:spPr>
        <p:txBody>
          <a:bodyPr wrap="square" lIns="0" tIns="0" rIns="0" bIns="0" rtlCol="0" anchor="t" anchorCtr="0">
            <a:spAutoFit/>
          </a:bodyPr>
          <a:lstStyle/>
          <a:p>
            <a:pPr algn="l">
              <a:lnSpc>
                <a:spcPct val="100000"/>
              </a:lnSpc>
              <a:spcBef>
                <a:spcPts val="0"/>
              </a:spcBef>
            </a:pPr>
            <a:r>
              <a:rPr lang="en-US" sz="600" dirty="0">
                <a:solidFill>
                  <a:schemeClr val="accent1"/>
                </a:solidFill>
              </a:rPr>
              <a:t>© 2010 AT&amp;T Intellectual Property. All rights reserved. AT&amp;T, the AT&amp;T</a:t>
            </a:r>
            <a:r>
              <a:rPr lang="en-US" sz="600" baseline="0" dirty="0">
                <a:solidFill>
                  <a:schemeClr val="accent1"/>
                </a:solidFill>
              </a:rPr>
              <a:t> </a:t>
            </a:r>
            <a:r>
              <a:rPr lang="en-US" sz="600" dirty="0">
                <a:solidFill>
                  <a:schemeClr val="accent1"/>
                </a:solidFill>
              </a:rPr>
              <a:t>logo and all other AT&amp;T marks contained herein are trademarks of AT&amp;T</a:t>
            </a:r>
            <a:r>
              <a:rPr lang="en-US" sz="600" baseline="0" dirty="0">
                <a:solidFill>
                  <a:schemeClr val="accent1"/>
                </a:solidFill>
              </a:rPr>
              <a:t> </a:t>
            </a:r>
            <a:r>
              <a:rPr lang="en-US" sz="600" dirty="0">
                <a:solidFill>
                  <a:schemeClr val="accent1"/>
                </a:solidFill>
              </a:rPr>
              <a:t>Intellectual Property and/or AT&amp;T affiliated companies. All other marks</a:t>
            </a:r>
            <a:r>
              <a:rPr lang="en-US" sz="600" baseline="0" dirty="0">
                <a:solidFill>
                  <a:schemeClr val="accent1"/>
                </a:solidFill>
              </a:rPr>
              <a:t> </a:t>
            </a:r>
            <a:r>
              <a:rPr lang="en-US" sz="600" dirty="0">
                <a:solidFill>
                  <a:schemeClr val="accent1"/>
                </a:solidFill>
              </a:rPr>
              <a:t>contained herein are the property of their respective owners.</a:t>
            </a:r>
          </a:p>
        </p:txBody>
      </p:sp>
      <p:sp>
        <p:nvSpPr>
          <p:cNvPr id="8" name="Freeform 49"/>
          <p:cNvSpPr>
            <a:spLocks/>
          </p:cNvSpPr>
          <p:nvPr userDrawn="1"/>
        </p:nvSpPr>
        <p:spPr bwMode="auto">
          <a:xfrm>
            <a:off x="3733800" y="2196307"/>
            <a:ext cx="4648200" cy="2735636"/>
          </a:xfrm>
          <a:custGeom>
            <a:avLst/>
            <a:gdLst/>
            <a:ahLst/>
            <a:cxnLst>
              <a:cxn ang="0">
                <a:pos x="1783" y="1"/>
              </a:cxn>
              <a:cxn ang="0">
                <a:pos x="1691" y="162"/>
              </a:cxn>
              <a:cxn ang="0">
                <a:pos x="1726" y="338"/>
              </a:cxn>
              <a:cxn ang="0">
                <a:pos x="1816" y="610"/>
              </a:cxn>
              <a:cxn ang="0">
                <a:pos x="1356" y="1070"/>
              </a:cxn>
              <a:cxn ang="0">
                <a:pos x="534" y="1070"/>
              </a:cxn>
              <a:cxn ang="0">
                <a:pos x="0" y="535"/>
              </a:cxn>
              <a:cxn ang="0">
                <a:pos x="534" y="0"/>
              </a:cxn>
              <a:cxn ang="0">
                <a:pos x="1783" y="1"/>
              </a:cxn>
            </a:cxnLst>
            <a:rect l="0" t="0" r="r" b="b"/>
            <a:pathLst>
              <a:path w="1816" h="1070">
                <a:moveTo>
                  <a:pt x="1783" y="1"/>
                </a:moveTo>
                <a:cubicBezTo>
                  <a:pt x="1783" y="1"/>
                  <a:pt x="1704" y="77"/>
                  <a:pt x="1691" y="162"/>
                </a:cubicBezTo>
                <a:cubicBezTo>
                  <a:pt x="1681" y="223"/>
                  <a:pt x="1686" y="275"/>
                  <a:pt x="1726" y="338"/>
                </a:cubicBezTo>
                <a:cubicBezTo>
                  <a:pt x="1782" y="414"/>
                  <a:pt x="1816" y="508"/>
                  <a:pt x="1816" y="610"/>
                </a:cubicBezTo>
                <a:cubicBezTo>
                  <a:pt x="1816" y="864"/>
                  <a:pt x="1610" y="1070"/>
                  <a:pt x="1356" y="1070"/>
                </a:cubicBezTo>
                <a:cubicBezTo>
                  <a:pt x="534" y="1070"/>
                  <a:pt x="534" y="1070"/>
                  <a:pt x="534" y="1070"/>
                </a:cubicBezTo>
                <a:cubicBezTo>
                  <a:pt x="239" y="1070"/>
                  <a:pt x="0" y="830"/>
                  <a:pt x="0" y="535"/>
                </a:cubicBezTo>
                <a:cubicBezTo>
                  <a:pt x="0" y="240"/>
                  <a:pt x="239" y="0"/>
                  <a:pt x="534" y="0"/>
                </a:cubicBezTo>
                <a:lnTo>
                  <a:pt x="1783" y="1"/>
                </a:lnTo>
                <a:close/>
              </a:path>
            </a:pathLst>
          </a:custGeom>
          <a:blipFill dpi="0" rotWithShape="1">
            <a:blip r:embed="rId4"/>
            <a:srcRect/>
            <a:stretch>
              <a:fillRect l="-14000" t="-20000" r="-15000" b="-24000"/>
            </a:stretch>
          </a:blip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Tree>
    <p:extLst>
      <p:ext uri="{BB962C8B-B14F-4D97-AF65-F5344CB8AC3E}">
        <p14:creationId xmlns:p14="http://schemas.microsoft.com/office/powerpoint/2010/main" val="36025999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Divider Slide">
    <p:spTree>
      <p:nvGrpSpPr>
        <p:cNvPr id="1" name=""/>
        <p:cNvGrpSpPr/>
        <p:nvPr/>
      </p:nvGrpSpPr>
      <p:grpSpPr>
        <a:xfrm>
          <a:off x="0" y="0"/>
          <a:ext cx="0" cy="0"/>
          <a:chOff x="0" y="0"/>
          <a:chExt cx="0" cy="0"/>
        </a:xfrm>
      </p:grpSpPr>
      <p:pic>
        <p:nvPicPr>
          <p:cNvPr id="6" name="Picture 5" descr="gvrn_bus_exp_cvr.jpg"/>
          <p:cNvPicPr>
            <a:picLocks noChangeAspect="1"/>
          </p:cNvPicPr>
          <p:nvPr userDrawn="1"/>
        </p:nvPicPr>
        <p:blipFill>
          <a:blip r:embed="rId2"/>
          <a:stretch>
            <a:fillRect/>
          </a:stretch>
        </p:blipFill>
        <p:spPr>
          <a:xfrm>
            <a:off x="0" y="2"/>
            <a:ext cx="4114800" cy="3583143"/>
          </a:xfrm>
          <a:prstGeom prst="rect">
            <a:avLst/>
          </a:prstGeom>
        </p:spPr>
      </p:pic>
      <p:sp>
        <p:nvSpPr>
          <p:cNvPr id="7" name="Title 19"/>
          <p:cNvSpPr>
            <a:spLocks noGrp="1"/>
          </p:cNvSpPr>
          <p:nvPr>
            <p:ph type="title"/>
          </p:nvPr>
        </p:nvSpPr>
        <p:spPr>
          <a:xfrm>
            <a:off x="1079501" y="3810000"/>
            <a:ext cx="7162799" cy="685800"/>
          </a:xfrm>
          <a:prstGeom prst="rect">
            <a:avLst/>
          </a:prstGeom>
        </p:spPr>
        <p:txBody>
          <a:bodyPr lIns="0" tIns="0" rIns="0" bIns="0" anchor="t" anchorCtr="0"/>
          <a:lstStyle>
            <a:lvl1pPr>
              <a:defRPr sz="3200" b="0">
                <a:solidFill>
                  <a:schemeClr val="tx2"/>
                </a:solidFill>
              </a:defRPr>
            </a:lvl1pPr>
          </a:lstStyle>
          <a:p>
            <a:r>
              <a:rPr lang="en-US" dirty="0"/>
              <a:t>Click to edit Master title style</a:t>
            </a:r>
          </a:p>
        </p:txBody>
      </p:sp>
      <p:sp>
        <p:nvSpPr>
          <p:cNvPr id="12" name="Text Placeholder 21"/>
          <p:cNvSpPr>
            <a:spLocks noGrp="1"/>
          </p:cNvSpPr>
          <p:nvPr>
            <p:ph type="body" sz="quarter" idx="10"/>
          </p:nvPr>
        </p:nvSpPr>
        <p:spPr bwMode="gray">
          <a:xfrm>
            <a:off x="1079500" y="4521200"/>
            <a:ext cx="6781800" cy="685800"/>
          </a:xfrm>
          <a:prstGeom prst="rect">
            <a:avLst/>
          </a:prstGeom>
        </p:spPr>
        <p:txBody>
          <a:bodyPr vert="horz" lIns="0" tIns="0" rIns="0" bIns="0"/>
          <a:lstStyle>
            <a:lvl1pPr>
              <a:defRPr sz="2200">
                <a:solidFill>
                  <a:schemeClr val="accent1"/>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dirty="0"/>
              <a:t>Click to edit Master text styles</a:t>
            </a:r>
          </a:p>
        </p:txBody>
      </p:sp>
      <p:sp>
        <p:nvSpPr>
          <p:cNvPr id="8" name="Slide Number Placeholder 7"/>
          <p:cNvSpPr>
            <a:spLocks noGrp="1"/>
          </p:cNvSpPr>
          <p:nvPr>
            <p:ph type="sldNum" sz="quarter" idx="11"/>
          </p:nvPr>
        </p:nvSpPr>
        <p:spPr/>
        <p:txBody>
          <a:bodyPr/>
          <a:lstStyle/>
          <a:p>
            <a:fld id="{1DEFE11F-158B-594E-8BEE-CC26B87FEB38}" type="slidenum">
              <a:rPr lang="en-US" smtClean="0"/>
              <a:pPr/>
              <a:t>‹#›</a:t>
            </a:fld>
            <a:endParaRPr lang="en-US" dirty="0"/>
          </a:p>
        </p:txBody>
      </p:sp>
    </p:spTree>
    <p:extLst>
      <p:ext uri="{BB962C8B-B14F-4D97-AF65-F5344CB8AC3E}">
        <p14:creationId xmlns:p14="http://schemas.microsoft.com/office/powerpoint/2010/main" val="3124676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0" name="Content Placeholder 2"/>
          <p:cNvSpPr>
            <a:spLocks noGrp="1"/>
          </p:cNvSpPr>
          <p:nvPr>
            <p:ph sz="half" idx="10"/>
          </p:nvPr>
        </p:nvSpPr>
        <p:spPr bwMode="gray">
          <a:xfrm>
            <a:off x="407230" y="1954213"/>
            <a:ext cx="8335133" cy="2858560"/>
          </a:xfrm>
          <a:prstGeom prst="rect">
            <a:avLst/>
          </a:prstGeom>
        </p:spPr>
        <p:txBody>
          <a:bodyPr lIns="0" tIns="0" rIns="0" bIns="0"/>
          <a:lstStyle>
            <a:lvl1pPr>
              <a:defRPr sz="2000">
                <a:solidFill>
                  <a:schemeClr val="accent1"/>
                </a:solidFill>
              </a:defRPr>
            </a:lvl1pPr>
            <a:lvl2pPr>
              <a:buClr>
                <a:schemeClr val="accent1"/>
              </a:buClr>
              <a:buSzPct val="100000"/>
              <a:defRPr sz="2000">
                <a:solidFill>
                  <a:schemeClr val="accent1"/>
                </a:solidFill>
              </a:defRPr>
            </a:lvl2pPr>
            <a:lvl3pPr>
              <a:buClr>
                <a:schemeClr val="accent1"/>
              </a:buClr>
              <a:buSzPct val="100000"/>
              <a:defRPr sz="1800">
                <a:solidFill>
                  <a:schemeClr val="accent1"/>
                </a:solidFill>
              </a:defRPr>
            </a:lvl3pPr>
            <a:lvl4pPr>
              <a:buClr>
                <a:schemeClr val="accent1"/>
              </a:buClr>
              <a:buSzPct val="100000"/>
              <a:defRPr sz="1600">
                <a:solidFill>
                  <a:schemeClr val="accent1"/>
                </a:solidFill>
              </a:defRPr>
            </a:lvl4pPr>
            <a:lvl5pPr>
              <a:buClr>
                <a:schemeClr val="accent1"/>
              </a:buClr>
              <a:buSzPct val="100000"/>
              <a:defRPr sz="1600">
                <a:solidFill>
                  <a:schemeClr val="accent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5"/>
          <p:cNvSpPr>
            <a:spLocks noGrp="1"/>
          </p:cNvSpPr>
          <p:nvPr>
            <p:ph type="title"/>
          </p:nvPr>
        </p:nvSpPr>
        <p:spPr>
          <a:xfrm>
            <a:off x="410444" y="381000"/>
            <a:ext cx="8328744" cy="838200"/>
          </a:xfrm>
          <a:prstGeom prst="rect">
            <a:avLst/>
          </a:prstGeom>
        </p:spPr>
        <p:txBody>
          <a:bodyPr lIns="0" tIns="0" rIns="0" bIns="0"/>
          <a:lstStyle>
            <a:lvl1pPr>
              <a:defRPr sz="2600" b="1">
                <a:solidFill>
                  <a:schemeClr val="tx2"/>
                </a:solidFill>
              </a:defRPr>
            </a:lvl1pPr>
          </a:lstStyle>
          <a:p>
            <a:r>
              <a:rPr lang="en-US" dirty="0"/>
              <a:t>Click to edit Master title style</a:t>
            </a:r>
          </a:p>
        </p:txBody>
      </p:sp>
      <p:sp>
        <p:nvSpPr>
          <p:cNvPr id="6" name="Slide Number Placeholder 5"/>
          <p:cNvSpPr>
            <a:spLocks noGrp="1"/>
          </p:cNvSpPr>
          <p:nvPr>
            <p:ph type="sldNum" sz="quarter" idx="11"/>
          </p:nvPr>
        </p:nvSpPr>
        <p:spPr/>
        <p:txBody>
          <a:bodyPr/>
          <a:lstStyle/>
          <a:p>
            <a:fld id="{1DEFE11F-158B-594E-8BEE-CC26B87FEB38}" type="slidenum">
              <a:rPr lang="en-US" smtClean="0"/>
              <a:pPr/>
              <a:t>‹#›</a:t>
            </a:fld>
            <a:endParaRPr lang="en-US" dirty="0"/>
          </a:p>
        </p:txBody>
      </p:sp>
    </p:spTree>
    <p:extLst>
      <p:ext uri="{BB962C8B-B14F-4D97-AF65-F5344CB8AC3E}">
        <p14:creationId xmlns:p14="http://schemas.microsoft.com/office/powerpoint/2010/main" val="3224429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7" name="Content Placeholder 2"/>
          <p:cNvSpPr>
            <a:spLocks noGrp="1"/>
          </p:cNvSpPr>
          <p:nvPr>
            <p:ph sz="half" idx="10"/>
          </p:nvPr>
        </p:nvSpPr>
        <p:spPr bwMode="gray">
          <a:xfrm>
            <a:off x="407230" y="1954213"/>
            <a:ext cx="3941762" cy="3087160"/>
          </a:xfrm>
          <a:prstGeom prst="rect">
            <a:avLst/>
          </a:prstGeom>
        </p:spPr>
        <p:txBody>
          <a:bodyPr lIns="0" tIns="0" rIns="0" bIns="0"/>
          <a:lstStyle>
            <a:lvl1pPr>
              <a:defRPr sz="1800">
                <a:solidFill>
                  <a:schemeClr val="accent1"/>
                </a:solidFill>
              </a:defRPr>
            </a:lvl1pPr>
            <a:lvl2pPr>
              <a:buClr>
                <a:schemeClr val="accent1"/>
              </a:buClr>
              <a:buSzPct val="100000"/>
              <a:defRPr sz="1800">
                <a:solidFill>
                  <a:schemeClr val="accent1"/>
                </a:solidFill>
              </a:defRPr>
            </a:lvl2pPr>
            <a:lvl3pPr>
              <a:buClr>
                <a:schemeClr val="accent1"/>
              </a:buClr>
              <a:buSzPct val="100000"/>
              <a:defRPr sz="1700">
                <a:solidFill>
                  <a:schemeClr val="accent1"/>
                </a:solidFill>
              </a:defRPr>
            </a:lvl3pPr>
            <a:lvl4pPr>
              <a:buClr>
                <a:schemeClr val="accent1"/>
              </a:buClr>
              <a:buSzPct val="100000"/>
              <a:defRPr sz="1500">
                <a:solidFill>
                  <a:schemeClr val="accent1"/>
                </a:solidFill>
              </a:defRPr>
            </a:lvl4pPr>
            <a:lvl5pPr>
              <a:buClr>
                <a:schemeClr val="accent1"/>
              </a:buClr>
              <a:buSzPct val="100000"/>
              <a:defRPr sz="1500">
                <a:solidFill>
                  <a:schemeClr val="accent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3"/>
          <p:cNvSpPr>
            <a:spLocks noGrp="1"/>
          </p:cNvSpPr>
          <p:nvPr>
            <p:ph sz="half" idx="2"/>
          </p:nvPr>
        </p:nvSpPr>
        <p:spPr>
          <a:xfrm>
            <a:off x="4795838" y="1954213"/>
            <a:ext cx="3943350" cy="3087160"/>
          </a:xfrm>
          <a:prstGeom prst="rect">
            <a:avLst/>
          </a:prstGeom>
        </p:spPr>
        <p:txBody>
          <a:bodyPr lIns="0" tIns="0" rIns="0" bIns="0"/>
          <a:lstStyle>
            <a:lvl1pPr>
              <a:defRPr sz="1800">
                <a:solidFill>
                  <a:schemeClr val="accent1"/>
                </a:solidFill>
              </a:defRPr>
            </a:lvl1pPr>
            <a:lvl2pPr>
              <a:buClr>
                <a:schemeClr val="accent1"/>
              </a:buClr>
              <a:buSzPct val="100000"/>
              <a:defRPr sz="1800">
                <a:solidFill>
                  <a:schemeClr val="accent1"/>
                </a:solidFill>
              </a:defRPr>
            </a:lvl2pPr>
            <a:lvl3pPr>
              <a:buClr>
                <a:schemeClr val="accent1"/>
              </a:buClr>
              <a:buSzPct val="100000"/>
              <a:defRPr sz="1700">
                <a:solidFill>
                  <a:schemeClr val="accent1"/>
                </a:solidFill>
              </a:defRPr>
            </a:lvl3pPr>
            <a:lvl4pPr>
              <a:buClr>
                <a:schemeClr val="accent1"/>
              </a:buClr>
              <a:buSzPct val="100000"/>
              <a:defRPr sz="1500">
                <a:solidFill>
                  <a:schemeClr val="accent1"/>
                </a:solidFill>
              </a:defRPr>
            </a:lvl4pPr>
            <a:lvl5pPr>
              <a:buClr>
                <a:schemeClr val="accent1"/>
              </a:buClr>
              <a:buSzPct val="100000"/>
              <a:defRPr sz="1500">
                <a:solidFill>
                  <a:schemeClr val="accent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15"/>
          <p:cNvSpPr>
            <a:spLocks noGrp="1"/>
          </p:cNvSpPr>
          <p:nvPr>
            <p:ph type="title"/>
          </p:nvPr>
        </p:nvSpPr>
        <p:spPr>
          <a:xfrm>
            <a:off x="410444" y="381000"/>
            <a:ext cx="8328744" cy="838200"/>
          </a:xfrm>
          <a:prstGeom prst="rect">
            <a:avLst/>
          </a:prstGeom>
        </p:spPr>
        <p:txBody>
          <a:bodyPr lIns="0" tIns="0" rIns="0" bIns="0"/>
          <a:lstStyle>
            <a:lvl1pPr>
              <a:defRPr sz="2600" b="1">
                <a:solidFill>
                  <a:schemeClr val="tx2"/>
                </a:solidFill>
              </a:defRPr>
            </a:lvl1pPr>
          </a:lstStyle>
          <a:p>
            <a:r>
              <a:rPr lang="en-US" dirty="0"/>
              <a:t>Click to edit Master title style</a:t>
            </a:r>
          </a:p>
        </p:txBody>
      </p:sp>
      <p:sp>
        <p:nvSpPr>
          <p:cNvPr id="9" name="Slide Number Placeholder 8"/>
          <p:cNvSpPr>
            <a:spLocks noGrp="1"/>
          </p:cNvSpPr>
          <p:nvPr>
            <p:ph type="sldNum" sz="quarter" idx="11"/>
          </p:nvPr>
        </p:nvSpPr>
        <p:spPr/>
        <p:txBody>
          <a:bodyPr/>
          <a:lstStyle/>
          <a:p>
            <a:fld id="{1DEFE11F-158B-594E-8BEE-CC26B87FEB38}" type="slidenum">
              <a:rPr lang="en-US" smtClean="0"/>
              <a:pPr/>
              <a:t>‹#›</a:t>
            </a:fld>
            <a:endParaRPr lang="en-US" dirty="0"/>
          </a:p>
        </p:txBody>
      </p:sp>
    </p:spTree>
    <p:extLst>
      <p:ext uri="{BB962C8B-B14F-4D97-AF65-F5344CB8AC3E}">
        <p14:creationId xmlns:p14="http://schemas.microsoft.com/office/powerpoint/2010/main" val="2801638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Custom Layout">
    <p:spTree>
      <p:nvGrpSpPr>
        <p:cNvPr id="1" name=""/>
        <p:cNvGrpSpPr/>
        <p:nvPr/>
      </p:nvGrpSpPr>
      <p:grpSpPr>
        <a:xfrm>
          <a:off x="0" y="0"/>
          <a:ext cx="0" cy="0"/>
          <a:chOff x="0" y="0"/>
          <a:chExt cx="0" cy="0"/>
        </a:xfrm>
      </p:grpSpPr>
      <p:sp>
        <p:nvSpPr>
          <p:cNvPr id="6" name="Content Placeholder 2"/>
          <p:cNvSpPr>
            <a:spLocks noGrp="1"/>
          </p:cNvSpPr>
          <p:nvPr>
            <p:ph sz="half" idx="10"/>
          </p:nvPr>
        </p:nvSpPr>
        <p:spPr bwMode="gray">
          <a:xfrm>
            <a:off x="407230" y="2640013"/>
            <a:ext cx="3941762" cy="3087160"/>
          </a:xfrm>
          <a:prstGeom prst="rect">
            <a:avLst/>
          </a:prstGeom>
        </p:spPr>
        <p:txBody>
          <a:bodyPr lIns="0" tIns="0" rIns="0" bIns="0"/>
          <a:lstStyle>
            <a:lvl1pPr>
              <a:defRPr sz="2000">
                <a:solidFill>
                  <a:schemeClr val="accent1"/>
                </a:solidFill>
              </a:defRPr>
            </a:lvl1pPr>
            <a:lvl2pPr>
              <a:buClr>
                <a:schemeClr val="accent1"/>
              </a:buClr>
              <a:buSzPct val="100000"/>
              <a:defRPr sz="2000">
                <a:solidFill>
                  <a:schemeClr val="accent1"/>
                </a:solidFill>
              </a:defRPr>
            </a:lvl2pPr>
            <a:lvl3pPr>
              <a:buClr>
                <a:schemeClr val="accent1"/>
              </a:buClr>
              <a:buSzPct val="100000"/>
              <a:defRPr sz="1800">
                <a:solidFill>
                  <a:schemeClr val="accent1"/>
                </a:solidFill>
              </a:defRPr>
            </a:lvl3pPr>
            <a:lvl4pPr>
              <a:buClr>
                <a:schemeClr val="accent1"/>
              </a:buClr>
              <a:buSzPct val="100000"/>
              <a:defRPr sz="1600">
                <a:solidFill>
                  <a:schemeClr val="accent1"/>
                </a:solidFill>
              </a:defRPr>
            </a:lvl4pPr>
            <a:lvl5pPr>
              <a:buClr>
                <a:schemeClr val="accent1"/>
              </a:buClr>
              <a:buSzPct val="100000"/>
              <a:defRPr sz="1600">
                <a:solidFill>
                  <a:schemeClr val="accent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p:cNvSpPr>
            <a:spLocks noGrp="1"/>
          </p:cNvSpPr>
          <p:nvPr>
            <p:ph sz="half" idx="2"/>
          </p:nvPr>
        </p:nvSpPr>
        <p:spPr>
          <a:xfrm>
            <a:off x="4795910" y="2640013"/>
            <a:ext cx="3943350" cy="3087160"/>
          </a:xfrm>
          <a:prstGeom prst="rect">
            <a:avLst/>
          </a:prstGeom>
        </p:spPr>
        <p:txBody>
          <a:bodyPr lIns="0" tIns="0" rIns="0" bIns="0"/>
          <a:lstStyle>
            <a:lvl1pPr>
              <a:defRPr sz="2000">
                <a:solidFill>
                  <a:schemeClr val="accent1"/>
                </a:solidFill>
              </a:defRPr>
            </a:lvl1pPr>
            <a:lvl2pPr>
              <a:buClr>
                <a:schemeClr val="accent1"/>
              </a:buClr>
              <a:buSzPct val="100000"/>
              <a:defRPr sz="2000">
                <a:solidFill>
                  <a:schemeClr val="accent1"/>
                </a:solidFill>
              </a:defRPr>
            </a:lvl2pPr>
            <a:lvl3pPr>
              <a:buClr>
                <a:schemeClr val="accent1"/>
              </a:buClr>
              <a:buSzPct val="100000"/>
              <a:defRPr sz="1800">
                <a:solidFill>
                  <a:schemeClr val="accent1"/>
                </a:solidFill>
              </a:defRPr>
            </a:lvl3pPr>
            <a:lvl4pPr>
              <a:buClr>
                <a:schemeClr val="accent1"/>
              </a:buClr>
              <a:buSzPct val="100000"/>
              <a:defRPr sz="1600">
                <a:solidFill>
                  <a:schemeClr val="accent1"/>
                </a:solidFill>
              </a:defRPr>
            </a:lvl4pPr>
            <a:lvl5pPr>
              <a:buClr>
                <a:schemeClr val="accent1"/>
              </a:buClr>
              <a:buSzPct val="100000"/>
              <a:defRPr sz="1600">
                <a:solidFill>
                  <a:schemeClr val="accent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2"/>
          <p:cNvSpPr>
            <a:spLocks noGrp="1"/>
          </p:cNvSpPr>
          <p:nvPr>
            <p:ph type="body" idx="1"/>
          </p:nvPr>
        </p:nvSpPr>
        <p:spPr bwMode="gray">
          <a:xfrm>
            <a:off x="407230" y="1954213"/>
            <a:ext cx="3936170" cy="639762"/>
          </a:xfrm>
          <a:prstGeom prst="rect">
            <a:avLst/>
          </a:prstGeom>
        </p:spPr>
        <p:txBody>
          <a:bodyPr lIns="0" tIns="0" rIns="0" bIns="0"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4"/>
          <p:cNvSpPr>
            <a:spLocks noGrp="1"/>
          </p:cNvSpPr>
          <p:nvPr>
            <p:ph type="body" sz="quarter" idx="3"/>
          </p:nvPr>
        </p:nvSpPr>
        <p:spPr>
          <a:xfrm>
            <a:off x="4800601" y="1954213"/>
            <a:ext cx="3938660" cy="639762"/>
          </a:xfrm>
          <a:prstGeom prst="rect">
            <a:avLst/>
          </a:prstGeom>
        </p:spPr>
        <p:txBody>
          <a:bodyPr lIns="0" tIns="0" rIns="0" bIns="0"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itle 15"/>
          <p:cNvSpPr>
            <a:spLocks noGrp="1"/>
          </p:cNvSpPr>
          <p:nvPr>
            <p:ph type="title"/>
          </p:nvPr>
        </p:nvSpPr>
        <p:spPr>
          <a:xfrm>
            <a:off x="410444" y="381000"/>
            <a:ext cx="8328744" cy="838200"/>
          </a:xfrm>
          <a:prstGeom prst="rect">
            <a:avLst/>
          </a:prstGeom>
        </p:spPr>
        <p:txBody>
          <a:bodyPr lIns="0" tIns="0" rIns="0" bIns="0"/>
          <a:lstStyle>
            <a:lvl1pPr>
              <a:defRPr sz="2600" b="1">
                <a:solidFill>
                  <a:schemeClr val="tx2"/>
                </a:solidFill>
              </a:defRPr>
            </a:lvl1pPr>
          </a:lstStyle>
          <a:p>
            <a:r>
              <a:rPr lang="en-US" dirty="0"/>
              <a:t>Click to edit Master title style</a:t>
            </a:r>
          </a:p>
        </p:txBody>
      </p:sp>
      <p:sp>
        <p:nvSpPr>
          <p:cNvPr id="11" name="Slide Number Placeholder 10"/>
          <p:cNvSpPr>
            <a:spLocks noGrp="1"/>
          </p:cNvSpPr>
          <p:nvPr>
            <p:ph type="sldNum" sz="quarter" idx="11"/>
          </p:nvPr>
        </p:nvSpPr>
        <p:spPr/>
        <p:txBody>
          <a:bodyPr/>
          <a:lstStyle/>
          <a:p>
            <a:fld id="{1DEFE11F-158B-594E-8BEE-CC26B87FEB38}" type="slidenum">
              <a:rPr lang="en-US" smtClean="0"/>
              <a:pPr/>
              <a:t>‹#›</a:t>
            </a:fld>
            <a:endParaRPr lang="en-US" dirty="0"/>
          </a:p>
        </p:txBody>
      </p:sp>
    </p:spTree>
    <p:extLst>
      <p:ext uri="{BB962C8B-B14F-4D97-AF65-F5344CB8AC3E}">
        <p14:creationId xmlns:p14="http://schemas.microsoft.com/office/powerpoint/2010/main" val="1485917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4_Custom Layout">
    <p:spTree>
      <p:nvGrpSpPr>
        <p:cNvPr id="1" name=""/>
        <p:cNvGrpSpPr/>
        <p:nvPr/>
      </p:nvGrpSpPr>
      <p:grpSpPr>
        <a:xfrm>
          <a:off x="0" y="0"/>
          <a:ext cx="0" cy="0"/>
          <a:chOff x="0" y="0"/>
          <a:chExt cx="0" cy="0"/>
        </a:xfrm>
      </p:grpSpPr>
      <p:sp>
        <p:nvSpPr>
          <p:cNvPr id="6" name="Content Placeholder 2"/>
          <p:cNvSpPr>
            <a:spLocks noGrp="1"/>
          </p:cNvSpPr>
          <p:nvPr>
            <p:ph sz="half" idx="10"/>
          </p:nvPr>
        </p:nvSpPr>
        <p:spPr bwMode="gray">
          <a:xfrm>
            <a:off x="1284476" y="2669756"/>
            <a:ext cx="3150531" cy="3434210"/>
          </a:xfrm>
          <a:prstGeom prst="rect">
            <a:avLst/>
          </a:prstGeom>
        </p:spPr>
        <p:txBody>
          <a:bodyPr lIns="0" tIns="0" rIns="0" bIns="0"/>
          <a:lstStyle>
            <a:lvl1pPr>
              <a:spcBef>
                <a:spcPts val="400"/>
              </a:spcBef>
              <a:spcAft>
                <a:spcPts val="0"/>
              </a:spcAft>
              <a:defRPr sz="1800">
                <a:solidFill>
                  <a:schemeClr val="accent1"/>
                </a:solidFill>
              </a:defRPr>
            </a:lvl1pPr>
            <a:lvl2pPr marL="287338" indent="-195263">
              <a:spcBef>
                <a:spcPts val="400"/>
              </a:spcBef>
              <a:spcAft>
                <a:spcPts val="0"/>
              </a:spcAft>
              <a:buClr>
                <a:schemeClr val="accent1"/>
              </a:buClr>
              <a:buSzPct val="100000"/>
              <a:buFont typeface="Lucida Grande"/>
              <a:buChar char="•"/>
              <a:defRPr sz="1800">
                <a:solidFill>
                  <a:schemeClr val="accent1"/>
                </a:solidFill>
              </a:defRPr>
            </a:lvl2pPr>
            <a:lvl3pPr>
              <a:spcBef>
                <a:spcPts val="400"/>
              </a:spcBef>
              <a:spcAft>
                <a:spcPts val="0"/>
              </a:spcAft>
              <a:buClr>
                <a:schemeClr val="accent1"/>
              </a:buClr>
              <a:defRPr sz="1800">
                <a:solidFill>
                  <a:schemeClr val="accent1"/>
                </a:solidFill>
              </a:defRPr>
            </a:lvl3pPr>
            <a:lvl4pPr>
              <a:spcBef>
                <a:spcPts val="400"/>
              </a:spcBef>
              <a:spcAft>
                <a:spcPts val="0"/>
              </a:spcAft>
              <a:buClr>
                <a:schemeClr val="accent1"/>
              </a:buClr>
              <a:buSzPct val="100000"/>
              <a:defRPr sz="1800">
                <a:solidFill>
                  <a:schemeClr val="accent1"/>
                </a:solidFill>
              </a:defRPr>
            </a:lvl4pPr>
            <a:lvl5pPr>
              <a:spcBef>
                <a:spcPts val="400"/>
              </a:spcBef>
              <a:spcAft>
                <a:spcPts val="0"/>
              </a:spcAft>
              <a:buClr>
                <a:schemeClr val="accent1"/>
              </a:buClr>
              <a:defRPr sz="1800">
                <a:solidFill>
                  <a:schemeClr val="accent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p:cNvSpPr>
            <a:spLocks noGrp="1"/>
          </p:cNvSpPr>
          <p:nvPr>
            <p:ph sz="half" idx="2"/>
          </p:nvPr>
        </p:nvSpPr>
        <p:spPr>
          <a:xfrm>
            <a:off x="4591051" y="2669756"/>
            <a:ext cx="3295682" cy="3434210"/>
          </a:xfrm>
          <a:prstGeom prst="rect">
            <a:avLst/>
          </a:prstGeom>
        </p:spPr>
        <p:txBody>
          <a:bodyPr lIns="0" tIns="0" rIns="0" bIns="0"/>
          <a:lstStyle>
            <a:lvl1pPr>
              <a:spcBef>
                <a:spcPts val="400"/>
              </a:spcBef>
              <a:spcAft>
                <a:spcPts val="0"/>
              </a:spcAft>
              <a:defRPr sz="1800">
                <a:solidFill>
                  <a:schemeClr val="accent1"/>
                </a:solidFill>
              </a:defRPr>
            </a:lvl1pPr>
            <a:lvl2pPr marL="287338" indent="-195263">
              <a:spcBef>
                <a:spcPts val="400"/>
              </a:spcBef>
              <a:spcAft>
                <a:spcPts val="0"/>
              </a:spcAft>
              <a:buClr>
                <a:schemeClr val="accent1"/>
              </a:buClr>
              <a:buSzPct val="100000"/>
              <a:defRPr sz="1800">
                <a:solidFill>
                  <a:schemeClr val="accent1"/>
                </a:solidFill>
              </a:defRPr>
            </a:lvl2pPr>
            <a:lvl3pPr>
              <a:spcBef>
                <a:spcPts val="400"/>
              </a:spcBef>
              <a:spcAft>
                <a:spcPts val="0"/>
              </a:spcAft>
              <a:buClr>
                <a:schemeClr val="accent1"/>
              </a:buClr>
              <a:defRPr sz="1800">
                <a:solidFill>
                  <a:schemeClr val="accent1"/>
                </a:solidFill>
              </a:defRPr>
            </a:lvl3pPr>
            <a:lvl4pPr>
              <a:spcBef>
                <a:spcPts val="400"/>
              </a:spcBef>
              <a:spcAft>
                <a:spcPts val="0"/>
              </a:spcAft>
              <a:buClr>
                <a:schemeClr val="accent1"/>
              </a:buClr>
              <a:buSzPct val="100000"/>
              <a:defRPr sz="1800">
                <a:solidFill>
                  <a:schemeClr val="accent1"/>
                </a:solidFill>
              </a:defRPr>
            </a:lvl4pPr>
            <a:lvl5pPr>
              <a:spcBef>
                <a:spcPts val="400"/>
              </a:spcBef>
              <a:spcAft>
                <a:spcPts val="0"/>
              </a:spcAft>
              <a:buClr>
                <a:schemeClr val="accent1"/>
              </a:buClr>
              <a:defRPr sz="1800">
                <a:solidFill>
                  <a:schemeClr val="accent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Line 6"/>
          <p:cNvSpPr>
            <a:spLocks noChangeShapeType="1"/>
          </p:cNvSpPr>
          <p:nvPr userDrawn="1"/>
        </p:nvSpPr>
        <p:spPr bwMode="auto">
          <a:xfrm>
            <a:off x="4529138" y="2562225"/>
            <a:ext cx="0" cy="3479800"/>
          </a:xfrm>
          <a:prstGeom prst="line">
            <a:avLst/>
          </a:prstGeom>
          <a:noFill/>
          <a:ln w="19050">
            <a:solidFill>
              <a:schemeClr val="accent1"/>
            </a:solidFill>
            <a:round/>
            <a:headEnd/>
            <a:tailEnd/>
          </a:ln>
          <a:effectLst/>
        </p:spPr>
        <p:txBody>
          <a:bodyPr>
            <a:prstTxWarp prst="textNoShape">
              <a:avLst/>
            </a:prstTxWarp>
          </a:bodyPr>
          <a:lstStyle/>
          <a:p>
            <a:endParaRPr lang="en-US" sz="1800"/>
          </a:p>
        </p:txBody>
      </p:sp>
      <p:sp>
        <p:nvSpPr>
          <p:cNvPr id="15" name="Line 7"/>
          <p:cNvSpPr>
            <a:spLocks noChangeShapeType="1"/>
          </p:cNvSpPr>
          <p:nvPr userDrawn="1"/>
        </p:nvSpPr>
        <p:spPr bwMode="auto">
          <a:xfrm>
            <a:off x="1271589" y="2566988"/>
            <a:ext cx="6561137" cy="0"/>
          </a:xfrm>
          <a:prstGeom prst="line">
            <a:avLst/>
          </a:prstGeom>
          <a:noFill/>
          <a:ln w="19050">
            <a:solidFill>
              <a:schemeClr val="accent1"/>
            </a:solidFill>
            <a:round/>
            <a:headEnd/>
            <a:tailEnd/>
          </a:ln>
          <a:effectLst/>
        </p:spPr>
        <p:txBody>
          <a:bodyPr>
            <a:prstTxWarp prst="textNoShape">
              <a:avLst/>
            </a:prstTxWarp>
          </a:bodyPr>
          <a:lstStyle/>
          <a:p>
            <a:endParaRPr lang="en-US" sz="1800"/>
          </a:p>
        </p:txBody>
      </p:sp>
      <p:sp>
        <p:nvSpPr>
          <p:cNvPr id="17" name="Text Placeholder 16"/>
          <p:cNvSpPr>
            <a:spLocks noGrp="1"/>
          </p:cNvSpPr>
          <p:nvPr>
            <p:ph type="body" sz="quarter" idx="13"/>
          </p:nvPr>
        </p:nvSpPr>
        <p:spPr bwMode="gray">
          <a:xfrm>
            <a:off x="1270071" y="1981200"/>
            <a:ext cx="6603858" cy="533400"/>
          </a:xfrm>
          <a:prstGeom prst="rect">
            <a:avLst/>
          </a:prstGeom>
        </p:spPr>
        <p:txBody>
          <a:bodyPr vert="horz" bIns="0" anchor="b" anchorCtr="0"/>
          <a:lstStyle>
            <a:lvl1pPr algn="ctr">
              <a:defRPr>
                <a:solidFill>
                  <a:srgbClr val="808080"/>
                </a:solidFill>
              </a:defRPr>
            </a:lvl1pPr>
          </a:lstStyle>
          <a:p>
            <a:pPr lvl="0"/>
            <a:r>
              <a:rPr lang="en-US" dirty="0"/>
              <a:t>Click to edit Master text styles</a:t>
            </a:r>
          </a:p>
        </p:txBody>
      </p:sp>
      <p:sp>
        <p:nvSpPr>
          <p:cNvPr id="9" name="Title 15"/>
          <p:cNvSpPr>
            <a:spLocks noGrp="1"/>
          </p:cNvSpPr>
          <p:nvPr>
            <p:ph type="title"/>
          </p:nvPr>
        </p:nvSpPr>
        <p:spPr>
          <a:xfrm>
            <a:off x="410444" y="381000"/>
            <a:ext cx="8328744" cy="838200"/>
          </a:xfrm>
          <a:prstGeom prst="rect">
            <a:avLst/>
          </a:prstGeom>
        </p:spPr>
        <p:txBody>
          <a:bodyPr lIns="0" tIns="0" rIns="0" bIns="0"/>
          <a:lstStyle>
            <a:lvl1pPr>
              <a:defRPr sz="2600" b="1">
                <a:solidFill>
                  <a:schemeClr val="tx2"/>
                </a:solidFill>
              </a:defRPr>
            </a:lvl1pPr>
          </a:lstStyle>
          <a:p>
            <a:r>
              <a:rPr lang="en-US" dirty="0"/>
              <a:t>Click to edit Master title style</a:t>
            </a:r>
          </a:p>
        </p:txBody>
      </p:sp>
      <p:sp>
        <p:nvSpPr>
          <p:cNvPr id="11" name="Slide Number Placeholder 10"/>
          <p:cNvSpPr>
            <a:spLocks noGrp="1"/>
          </p:cNvSpPr>
          <p:nvPr>
            <p:ph type="sldNum" sz="quarter" idx="14"/>
          </p:nvPr>
        </p:nvSpPr>
        <p:spPr/>
        <p:txBody>
          <a:bodyPr/>
          <a:lstStyle/>
          <a:p>
            <a:fld id="{1DEFE11F-158B-594E-8BEE-CC26B87FEB38}" type="slidenum">
              <a:rPr lang="en-US" smtClean="0"/>
              <a:pPr/>
              <a:t>‹#›</a:t>
            </a:fld>
            <a:endParaRPr lang="en-US" dirty="0"/>
          </a:p>
        </p:txBody>
      </p:sp>
    </p:spTree>
    <p:extLst>
      <p:ext uri="{BB962C8B-B14F-4D97-AF65-F5344CB8AC3E}">
        <p14:creationId xmlns:p14="http://schemas.microsoft.com/office/powerpoint/2010/main" val="14624197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2_Custom Layout">
    <p:spTree>
      <p:nvGrpSpPr>
        <p:cNvPr id="1" name=""/>
        <p:cNvGrpSpPr/>
        <p:nvPr/>
      </p:nvGrpSpPr>
      <p:grpSpPr>
        <a:xfrm>
          <a:off x="0" y="0"/>
          <a:ext cx="0" cy="0"/>
          <a:chOff x="0" y="0"/>
          <a:chExt cx="0" cy="0"/>
        </a:xfrm>
      </p:grpSpPr>
      <p:sp>
        <p:nvSpPr>
          <p:cNvPr id="8" name="Title 15"/>
          <p:cNvSpPr>
            <a:spLocks noGrp="1"/>
          </p:cNvSpPr>
          <p:nvPr>
            <p:ph type="title"/>
          </p:nvPr>
        </p:nvSpPr>
        <p:spPr>
          <a:xfrm>
            <a:off x="410444" y="381000"/>
            <a:ext cx="8328744" cy="838200"/>
          </a:xfrm>
          <a:prstGeom prst="rect">
            <a:avLst/>
          </a:prstGeom>
        </p:spPr>
        <p:txBody>
          <a:bodyPr lIns="0" tIns="0" rIns="0" bIns="0"/>
          <a:lstStyle>
            <a:lvl1pPr>
              <a:defRPr sz="2600" b="1">
                <a:solidFill>
                  <a:schemeClr val="tx2"/>
                </a:solidFill>
              </a:defRPr>
            </a:lvl1pPr>
          </a:lstStyle>
          <a:p>
            <a:r>
              <a:rPr lang="en-US" dirty="0"/>
              <a:t>Click to edit Master title style</a:t>
            </a:r>
          </a:p>
        </p:txBody>
      </p:sp>
      <p:sp>
        <p:nvSpPr>
          <p:cNvPr id="4" name="Slide Number Placeholder 3"/>
          <p:cNvSpPr>
            <a:spLocks noGrp="1"/>
          </p:cNvSpPr>
          <p:nvPr>
            <p:ph type="sldNum" sz="quarter" idx="10"/>
          </p:nvPr>
        </p:nvSpPr>
        <p:spPr/>
        <p:txBody>
          <a:bodyPr/>
          <a:lstStyle/>
          <a:p>
            <a:fld id="{1DEFE11F-158B-594E-8BEE-CC26B87FEB38}" type="slidenum">
              <a:rPr lang="en-US" smtClean="0"/>
              <a:pPr/>
              <a:t>‹#›</a:t>
            </a:fld>
            <a:endParaRPr lang="en-US" dirty="0"/>
          </a:p>
        </p:txBody>
      </p:sp>
    </p:spTree>
    <p:extLst>
      <p:ext uri="{BB962C8B-B14F-4D97-AF65-F5344CB8AC3E}">
        <p14:creationId xmlns:p14="http://schemas.microsoft.com/office/powerpoint/2010/main" val="4200118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381001" y="228600"/>
            <a:ext cx="8018463" cy="59055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1" y="1485900"/>
            <a:ext cx="8018463" cy="4032250"/>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sldNum" idx="10"/>
          </p:nvPr>
        </p:nvSpPr>
        <p:spPr/>
        <p:txBody>
          <a:bodyPr/>
          <a:lstStyle>
            <a:lvl1pPr>
              <a:defRPr/>
            </a:lvl1pPr>
          </a:lstStyle>
          <a:p>
            <a:r>
              <a:rPr lang="en-US"/>
              <a:t>Page </a:t>
            </a:r>
            <a:fld id="{D4EBAE04-3149-4D95-88BB-3CF445D0C1FA}" type="slidenum">
              <a:rPr lang="en-US"/>
              <a:pPr/>
              <a:t>‹#›</a:t>
            </a:fld>
            <a:endParaRPr lang="en-US"/>
          </a:p>
        </p:txBody>
      </p:sp>
    </p:spTree>
    <p:extLst>
      <p:ext uri="{BB962C8B-B14F-4D97-AF65-F5344CB8AC3E}">
        <p14:creationId xmlns:p14="http://schemas.microsoft.com/office/powerpoint/2010/main" val="2103906528"/>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457200"/>
            <a:ext cx="8037513" cy="838200"/>
          </a:xfrm>
          <a:prstGeom prst="rect">
            <a:avLst/>
          </a:prstGeom>
        </p:spPr>
        <p:txBody>
          <a:bodyPr/>
          <a:lstStyle>
            <a:lvl1pPr>
              <a:defRPr>
                <a:solidFill>
                  <a:srgbClr val="000000"/>
                </a:solidFill>
              </a:defRPr>
            </a:lvl1pPr>
          </a:lstStyle>
          <a:p>
            <a:r>
              <a:rPr lang="en-US" dirty="0"/>
              <a:t>Click to edit Master title style</a:t>
            </a:r>
          </a:p>
        </p:txBody>
      </p:sp>
      <p:sp>
        <p:nvSpPr>
          <p:cNvPr id="3" name="Content Placeholder 2"/>
          <p:cNvSpPr>
            <a:spLocks noGrp="1"/>
          </p:cNvSpPr>
          <p:nvPr>
            <p:ph idx="1"/>
          </p:nvPr>
        </p:nvSpPr>
        <p:spPr>
          <a:xfrm>
            <a:off x="477838" y="1485900"/>
            <a:ext cx="8037512" cy="4051300"/>
          </a:xfrm>
          <a:prstGeom prst="rect">
            <a:avLst/>
          </a:prstGeom>
        </p:spPr>
        <p:txBody>
          <a:bodyPr/>
          <a:lstStyle>
            <a:lvl1pPr>
              <a:defRPr>
                <a:solidFill>
                  <a:srgbClr val="000000"/>
                </a:solidFill>
              </a:defRPr>
            </a:lvl1pPr>
            <a:lvl2pPr>
              <a:defRPr>
                <a:solidFill>
                  <a:srgbClr val="000000"/>
                </a:solidFill>
              </a:defRPr>
            </a:lvl2pPr>
            <a:lvl3pPr>
              <a:defRPr>
                <a:solidFill>
                  <a:srgbClr val="C00000"/>
                </a:solidFill>
              </a:defRPr>
            </a:lvl3pPr>
            <a:lvl4pPr>
              <a:defRPr>
                <a:solidFill>
                  <a:srgbClr val="000000"/>
                </a:solidFill>
              </a:defRPr>
            </a:lvl4pPr>
            <a:lvl5pPr>
              <a:defRPr>
                <a:solidFill>
                  <a:srgbClr val="7030A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r>
              <a:rPr lang="en-US"/>
              <a:t>Page </a:t>
            </a:r>
            <a:fld id="{E218AC47-F4D5-4A58-A0C0-0DD466A5F1E2}" type="slidenum">
              <a:rPr lang="en-US"/>
              <a:pPr>
                <a:defRPr/>
              </a:pPr>
              <a:t>‹#›</a:t>
            </a:fld>
            <a:endParaRPr lang="en-US"/>
          </a:p>
        </p:txBody>
      </p:sp>
    </p:spTree>
    <p:extLst>
      <p:ext uri="{BB962C8B-B14F-4D97-AF65-F5344CB8AC3E}">
        <p14:creationId xmlns:p14="http://schemas.microsoft.com/office/powerpoint/2010/main" val="14328038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1_Cover Slide">
    <p:spTree>
      <p:nvGrpSpPr>
        <p:cNvPr id="1" name=""/>
        <p:cNvGrpSpPr/>
        <p:nvPr/>
      </p:nvGrpSpPr>
      <p:grpSpPr>
        <a:xfrm>
          <a:off x="0" y="0"/>
          <a:ext cx="0" cy="0"/>
          <a:chOff x="0" y="0"/>
          <a:chExt cx="0" cy="0"/>
        </a:xfrm>
      </p:grpSpPr>
      <p:pic>
        <p:nvPicPr>
          <p:cNvPr id="4" name="Picture 7" descr="intrnl_cnsmr_3.jpg"/>
          <p:cNvPicPr>
            <a:picLocks noChangeAspect="1"/>
          </p:cNvPicPr>
          <p:nvPr userDrawn="1"/>
        </p:nvPicPr>
        <p:blipFill>
          <a:blip r:embed="rId2" cstate="print"/>
          <a:srcRect/>
          <a:stretch>
            <a:fillRect/>
          </a:stretch>
        </p:blipFill>
        <p:spPr bwMode="auto">
          <a:xfrm>
            <a:off x="1" y="2971800"/>
            <a:ext cx="7119938" cy="3894138"/>
          </a:xfrm>
          <a:prstGeom prst="rect">
            <a:avLst/>
          </a:prstGeom>
          <a:noFill/>
          <a:ln w="9525">
            <a:noFill/>
            <a:miter lim="800000"/>
            <a:headEnd/>
            <a:tailEnd/>
          </a:ln>
        </p:spPr>
      </p:pic>
      <p:sp>
        <p:nvSpPr>
          <p:cNvPr id="5" name="TextBox 11"/>
          <p:cNvSpPr txBox="1"/>
          <p:nvPr userDrawn="1"/>
        </p:nvSpPr>
        <p:spPr>
          <a:xfrm>
            <a:off x="414339" y="6075364"/>
            <a:ext cx="4613275" cy="553998"/>
          </a:xfrm>
          <a:prstGeom prst="rect">
            <a:avLst/>
          </a:prstGeom>
          <a:noFill/>
        </p:spPr>
        <p:txBody>
          <a:bodyPr lIns="0" tIns="0" rIns="0" bIns="0">
            <a:spAutoFit/>
          </a:bodyPr>
          <a:lstStyle/>
          <a:p>
            <a:pPr eaLnBrk="0" fontAlgn="auto" hangingPunct="0">
              <a:spcBef>
                <a:spcPts val="0"/>
              </a:spcBef>
              <a:spcAft>
                <a:spcPts val="0"/>
              </a:spcAft>
              <a:defRPr/>
            </a:pPr>
            <a:r>
              <a:rPr lang="en-US" sz="900" dirty="0">
                <a:solidFill>
                  <a:schemeClr val="bg1"/>
                </a:solidFill>
                <a:latin typeface="Verdana" pitchFamily="-111" charset="0"/>
                <a:ea typeface="Arial" pitchFamily="-111" charset="-52"/>
                <a:cs typeface="Arial" pitchFamily="-111" charset="-52"/>
              </a:rPr>
              <a:t>© 2010 AT&amp;T Intellectual Property. All rights reserved. AT&amp;T, the AT&amp;T logo and all other AT&amp;T marks contained herein are trademarks of AT&amp;T Intellectual Property and/or AT&amp;T affiliated companies. All other marks contained herein are the property of their respective owners.</a:t>
            </a:r>
          </a:p>
        </p:txBody>
      </p:sp>
      <p:pic>
        <p:nvPicPr>
          <p:cNvPr id="6" name="Picture 6" descr="att_globe_rgb_grd_pos_2.jpg"/>
          <p:cNvPicPr>
            <a:picLocks noChangeAspect="1"/>
          </p:cNvPicPr>
          <p:nvPr userDrawn="1"/>
        </p:nvPicPr>
        <p:blipFill>
          <a:blip r:embed="rId3" cstate="print"/>
          <a:srcRect/>
          <a:stretch>
            <a:fillRect/>
          </a:stretch>
        </p:blipFill>
        <p:spPr bwMode="auto">
          <a:xfrm>
            <a:off x="8001001" y="377825"/>
            <a:ext cx="754063" cy="725488"/>
          </a:xfrm>
          <a:prstGeom prst="rect">
            <a:avLst/>
          </a:prstGeom>
          <a:noFill/>
          <a:ln w="9525">
            <a:noFill/>
            <a:miter lim="800000"/>
            <a:headEnd/>
            <a:tailEnd/>
          </a:ln>
        </p:spPr>
      </p:pic>
      <p:sp>
        <p:nvSpPr>
          <p:cNvPr id="20" name="Title 19"/>
          <p:cNvSpPr>
            <a:spLocks noGrp="1"/>
          </p:cNvSpPr>
          <p:nvPr>
            <p:ph type="title"/>
          </p:nvPr>
        </p:nvSpPr>
        <p:spPr>
          <a:xfrm>
            <a:off x="401639" y="381000"/>
            <a:ext cx="7370763" cy="838200"/>
          </a:xfrm>
          <a:prstGeom prst="rect">
            <a:avLst/>
          </a:prstGeom>
        </p:spPr>
        <p:txBody>
          <a:bodyPr lIns="0" tIns="0" rIns="0" bIns="0"/>
          <a:lstStyle>
            <a:lvl1pPr>
              <a:defRPr>
                <a:solidFill>
                  <a:schemeClr val="tx1"/>
                </a:solidFill>
              </a:defRPr>
            </a:lvl1pPr>
          </a:lstStyle>
          <a:p>
            <a:r>
              <a:rPr lang="en-US" dirty="0"/>
              <a:t>Click to edit Master title style</a:t>
            </a:r>
          </a:p>
        </p:txBody>
      </p:sp>
      <p:sp>
        <p:nvSpPr>
          <p:cNvPr id="10" name="Text Placeholder 21"/>
          <p:cNvSpPr>
            <a:spLocks noGrp="1"/>
          </p:cNvSpPr>
          <p:nvPr>
            <p:ph type="body" sz="quarter" idx="10"/>
          </p:nvPr>
        </p:nvSpPr>
        <p:spPr bwMode="gray">
          <a:xfrm>
            <a:off x="401638" y="4572000"/>
            <a:ext cx="3103562" cy="838200"/>
          </a:xfrm>
          <a:prstGeom prst="rect">
            <a:avLst/>
          </a:prstGeom>
        </p:spPr>
        <p:txBody>
          <a:bodyPr vert="horz" lIns="0" tIns="0" rIns="0" bIns="0"/>
          <a:lstStyle>
            <a:lvl1pPr>
              <a:defRPr>
                <a:solidFill>
                  <a:schemeClr val="bg2"/>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dirty="0"/>
              <a:t>Click to edit Master text styles</a:t>
            </a:r>
          </a:p>
        </p:txBody>
      </p:sp>
    </p:spTree>
    <p:extLst>
      <p:ext uri="{BB962C8B-B14F-4D97-AF65-F5344CB8AC3E}">
        <p14:creationId xmlns:p14="http://schemas.microsoft.com/office/powerpoint/2010/main" val="2823316623"/>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1" y="457200"/>
            <a:ext cx="8037513" cy="838200"/>
          </a:xfrm>
          <a:prstGeom prst="rect">
            <a:avLst/>
          </a:prstGeom>
        </p:spPr>
        <p:txBody>
          <a:bodyPr/>
          <a:lstStyle/>
          <a:p>
            <a:r>
              <a:rPr lang="en-US"/>
              <a:t>Click to edit Master title style</a:t>
            </a:r>
          </a:p>
        </p:txBody>
      </p:sp>
      <p:sp>
        <p:nvSpPr>
          <p:cNvPr id="3" name="Rectangle 7"/>
          <p:cNvSpPr>
            <a:spLocks noGrp="1" noChangeArrowheads="1"/>
          </p:cNvSpPr>
          <p:nvPr>
            <p:ph type="dt" sz="half" idx="10"/>
          </p:nvPr>
        </p:nvSpPr>
        <p:spPr>
          <a:xfrm>
            <a:off x="1171576" y="6605588"/>
            <a:ext cx="1647825" cy="152400"/>
          </a:xfrm>
          <a:prstGeom prst="rect">
            <a:avLst/>
          </a:prstGeom>
          <a:ln/>
        </p:spPr>
        <p:txBody>
          <a:bodyPr/>
          <a:lstStyle>
            <a:lvl1pPr>
              <a:defRPr/>
            </a:lvl1pPr>
          </a:lstStyle>
          <a:p>
            <a:pPr>
              <a:defRPr/>
            </a:pPr>
            <a:endParaRPr lang="en-US"/>
          </a:p>
        </p:txBody>
      </p:sp>
      <p:sp>
        <p:nvSpPr>
          <p:cNvPr id="4" name="Rectangle 8"/>
          <p:cNvSpPr>
            <a:spLocks noGrp="1" noChangeArrowheads="1"/>
          </p:cNvSpPr>
          <p:nvPr>
            <p:ph type="sldNum" sz="quarter" idx="11"/>
          </p:nvPr>
        </p:nvSpPr>
        <p:spPr>
          <a:ln/>
        </p:spPr>
        <p:txBody>
          <a:bodyPr/>
          <a:lstStyle>
            <a:lvl1pPr>
              <a:defRPr/>
            </a:lvl1pPr>
          </a:lstStyle>
          <a:p>
            <a:pPr>
              <a:defRPr/>
            </a:pPr>
            <a:r>
              <a:rPr lang="en-US"/>
              <a:t>Page </a:t>
            </a:r>
            <a:fld id="{16288CE3-BF29-4B19-8508-0E0BFBAF5CEB}" type="slidenum">
              <a:rPr lang="en-US"/>
              <a:pPr>
                <a:defRPr/>
              </a:pPr>
              <a:t>‹#›</a:t>
            </a:fld>
            <a:endParaRPr lang="en-US"/>
          </a:p>
        </p:txBody>
      </p:sp>
    </p:spTree>
    <p:extLst>
      <p:ext uri="{BB962C8B-B14F-4D97-AF65-F5344CB8AC3E}">
        <p14:creationId xmlns:p14="http://schemas.microsoft.com/office/powerpoint/2010/main" val="21691967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Orange Divider">
    <p:spTree>
      <p:nvGrpSpPr>
        <p:cNvPr id="1" name=""/>
        <p:cNvGrpSpPr/>
        <p:nvPr/>
      </p:nvGrpSpPr>
      <p:grpSpPr>
        <a:xfrm>
          <a:off x="0" y="0"/>
          <a:ext cx="0" cy="0"/>
          <a:chOff x="0" y="0"/>
          <a:chExt cx="0" cy="0"/>
        </a:xfrm>
      </p:grpSpPr>
      <p:pic>
        <p:nvPicPr>
          <p:cNvPr id="10242" name="Picture 2" descr="\\psf\Host\Volumes\johbee\Documents\01_Freelance_Design\INTERBRAND\AT&amp;T\ABS_Template_2011\source\ATT_for_Andy_rd_3\ABS_ jpeg\network_artwork_org.png"/>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r="16637"/>
          <a:stretch>
            <a:fillRect/>
          </a:stretch>
        </p:blipFill>
        <p:spPr bwMode="white">
          <a:xfrm>
            <a:off x="-4874" y="-5487"/>
            <a:ext cx="9148874" cy="6863487"/>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3" name="Slide Number Placeholder 7"/>
          <p:cNvSpPr>
            <a:spLocks noGrp="1"/>
          </p:cNvSpPr>
          <p:nvPr>
            <p:ph type="sldNum" sz="quarter" idx="4"/>
          </p:nvPr>
        </p:nvSpPr>
        <p:spPr>
          <a:xfrm>
            <a:off x="399522" y="6314441"/>
            <a:ext cx="385235" cy="152400"/>
          </a:xfrm>
          <a:prstGeom prst="rect">
            <a:avLst/>
          </a:prstGeom>
        </p:spPr>
        <p:txBody>
          <a:bodyPr vert="horz" lIns="0" tIns="0" rIns="0" bIns="0" rtlCol="0" anchor="t" anchorCtr="0"/>
          <a:lstStyle>
            <a:lvl1pPr algn="l">
              <a:defRPr sz="1000" b="1" i="0">
                <a:solidFill>
                  <a:srgbClr val="FFFFFF"/>
                </a:solidFill>
                <a:latin typeface="Calibri"/>
                <a:cs typeface="Calibri"/>
              </a:defRPr>
            </a:lvl1pPr>
          </a:lstStyle>
          <a:p>
            <a:fld id="{1DEFE11F-158B-594E-8BEE-CC26B87FEB38}" type="slidenum">
              <a:rPr lang="en-US" smtClean="0"/>
              <a:pPr/>
              <a:t>‹#›</a:t>
            </a:fld>
            <a:endParaRPr lang="en-US" dirty="0"/>
          </a:p>
        </p:txBody>
      </p:sp>
      <p:sp>
        <p:nvSpPr>
          <p:cNvPr id="8" name="Title 19"/>
          <p:cNvSpPr>
            <a:spLocks noGrp="1"/>
          </p:cNvSpPr>
          <p:nvPr>
            <p:ph type="title" hasCustomPrompt="1"/>
          </p:nvPr>
        </p:nvSpPr>
        <p:spPr bwMode="auto">
          <a:xfrm>
            <a:off x="387351" y="1592469"/>
            <a:ext cx="7626350" cy="1057469"/>
          </a:xfrm>
          <a:prstGeom prst="rect">
            <a:avLst/>
          </a:prstGeom>
        </p:spPr>
        <p:txBody>
          <a:bodyPr lIns="0" tIns="0" rIns="0" bIns="0" anchor="b" anchorCtr="0">
            <a:noAutofit/>
          </a:bodyPr>
          <a:lstStyle>
            <a:lvl1pPr>
              <a:lnSpc>
                <a:spcPct val="90000"/>
              </a:lnSpc>
              <a:defRPr sz="3600" b="1" i="0">
                <a:solidFill>
                  <a:srgbClr val="FFFFFF"/>
                </a:solidFill>
                <a:latin typeface="Calibri"/>
                <a:cs typeface="Calibri"/>
              </a:defRPr>
            </a:lvl1pPr>
          </a:lstStyle>
          <a:p>
            <a:r>
              <a:rPr lang="en-US" dirty="0"/>
              <a:t>Click to edit Master divider style</a:t>
            </a:r>
          </a:p>
        </p:txBody>
      </p:sp>
      <p:sp>
        <p:nvSpPr>
          <p:cNvPr id="12" name="Text Placeholder 21"/>
          <p:cNvSpPr>
            <a:spLocks noGrp="1"/>
          </p:cNvSpPr>
          <p:nvPr>
            <p:ph type="body" sz="quarter" idx="10"/>
          </p:nvPr>
        </p:nvSpPr>
        <p:spPr bwMode="black">
          <a:xfrm>
            <a:off x="387350" y="2890178"/>
            <a:ext cx="5334000" cy="877824"/>
          </a:xfrm>
          <a:prstGeom prst="rect">
            <a:avLst/>
          </a:prstGeom>
        </p:spPr>
        <p:txBody>
          <a:bodyPr vert="horz" lIns="0" tIns="0" rIns="0" bIns="0">
            <a:noAutofit/>
          </a:bodyPr>
          <a:lstStyle>
            <a:lvl1pPr marL="0" indent="0">
              <a:spcBef>
                <a:spcPts val="0"/>
              </a:spcBef>
              <a:spcAft>
                <a:spcPts val="0"/>
              </a:spcAft>
              <a:buNone/>
              <a:defRPr sz="1600" b="0" i="0">
                <a:solidFill>
                  <a:srgbClr val="FFFFFF"/>
                </a:solidFill>
                <a:latin typeface="Calibri"/>
                <a:cs typeface="Calibri"/>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dirty="0"/>
              <a:t>Click to edit Master text styles</a:t>
            </a:r>
          </a:p>
        </p:txBody>
      </p:sp>
      <p:sp>
        <p:nvSpPr>
          <p:cNvPr id="9" name="TextBox 8"/>
          <p:cNvSpPr txBox="1"/>
          <p:nvPr userDrawn="1"/>
        </p:nvSpPr>
        <p:spPr>
          <a:xfrm>
            <a:off x="838202" y="6355083"/>
            <a:ext cx="3514725" cy="276999"/>
          </a:xfrm>
          <a:prstGeom prst="rect">
            <a:avLst/>
          </a:prstGeom>
          <a:noFill/>
        </p:spPr>
        <p:txBody>
          <a:bodyPr wrap="square" lIns="0" tIns="0" rIns="0" bIns="0" rtlCol="0" anchor="t" anchorCtr="0">
            <a:spAutoFit/>
          </a:bodyPr>
          <a:lstStyle/>
          <a:p>
            <a:pPr algn="l">
              <a:lnSpc>
                <a:spcPct val="100000"/>
              </a:lnSpc>
              <a:spcBef>
                <a:spcPts val="0"/>
              </a:spcBef>
            </a:pPr>
            <a:r>
              <a:rPr lang="en-US" sz="600" b="0" i="0" dirty="0">
                <a:solidFill>
                  <a:schemeClr val="bg1"/>
                </a:solidFill>
                <a:latin typeface="Calibri"/>
                <a:cs typeface="Calibri"/>
              </a:rPr>
              <a:t>© 2012 AT&amp;T Intellectual Property. All rights reserved. AT&amp;T, the AT&amp;T</a:t>
            </a:r>
            <a:r>
              <a:rPr lang="en-US" sz="600" b="0" i="0" baseline="0" dirty="0">
                <a:solidFill>
                  <a:schemeClr val="bg1"/>
                </a:solidFill>
                <a:latin typeface="Calibri"/>
                <a:cs typeface="Calibri"/>
              </a:rPr>
              <a:t> </a:t>
            </a:r>
            <a:r>
              <a:rPr lang="en-US" sz="600" b="0" i="0" dirty="0">
                <a:solidFill>
                  <a:schemeClr val="bg1"/>
                </a:solidFill>
                <a:latin typeface="Calibri"/>
                <a:cs typeface="Calibri"/>
              </a:rPr>
              <a:t>logo and all other AT&amp;T </a:t>
            </a:r>
            <a:br>
              <a:rPr lang="en-US" sz="600" b="0" i="0" dirty="0">
                <a:solidFill>
                  <a:schemeClr val="bg1"/>
                </a:solidFill>
                <a:latin typeface="Calibri"/>
                <a:cs typeface="Calibri"/>
              </a:rPr>
            </a:br>
            <a:r>
              <a:rPr lang="en-US" sz="600" b="0" i="0" dirty="0">
                <a:solidFill>
                  <a:schemeClr val="bg1"/>
                </a:solidFill>
                <a:latin typeface="Calibri"/>
                <a:cs typeface="Calibri"/>
              </a:rPr>
              <a:t>marks contained herein are trademarks of AT&amp;T</a:t>
            </a:r>
            <a:r>
              <a:rPr lang="en-US" sz="600" b="0" i="0" baseline="0" dirty="0">
                <a:solidFill>
                  <a:schemeClr val="bg1"/>
                </a:solidFill>
                <a:latin typeface="Calibri"/>
                <a:cs typeface="Calibri"/>
              </a:rPr>
              <a:t> </a:t>
            </a:r>
            <a:r>
              <a:rPr lang="en-US" sz="600" b="0" i="0" dirty="0">
                <a:solidFill>
                  <a:schemeClr val="bg1"/>
                </a:solidFill>
                <a:latin typeface="Calibri"/>
                <a:cs typeface="Calibri"/>
              </a:rPr>
              <a:t>Intellectual Property and/or AT&amp;T affiliated </a:t>
            </a:r>
            <a:br>
              <a:rPr lang="en-US" sz="600" b="0" i="0" dirty="0">
                <a:solidFill>
                  <a:schemeClr val="bg1"/>
                </a:solidFill>
                <a:latin typeface="Calibri"/>
                <a:cs typeface="Calibri"/>
              </a:rPr>
            </a:br>
            <a:r>
              <a:rPr lang="en-US" sz="600" b="0" i="0" dirty="0">
                <a:solidFill>
                  <a:schemeClr val="bg1"/>
                </a:solidFill>
                <a:latin typeface="Calibri"/>
                <a:cs typeface="Calibri"/>
              </a:rPr>
              <a:t>companies. All other marks</a:t>
            </a:r>
            <a:r>
              <a:rPr lang="en-US" sz="600" b="0" i="0" baseline="0" dirty="0">
                <a:solidFill>
                  <a:schemeClr val="bg1"/>
                </a:solidFill>
                <a:latin typeface="Calibri"/>
                <a:cs typeface="Calibri"/>
              </a:rPr>
              <a:t> </a:t>
            </a:r>
            <a:r>
              <a:rPr lang="en-US" sz="600" b="0" i="0" dirty="0">
                <a:solidFill>
                  <a:schemeClr val="bg1"/>
                </a:solidFill>
                <a:latin typeface="Calibri"/>
                <a:cs typeface="Calibri"/>
              </a:rPr>
              <a:t>contained herein are the property of their respective owners.</a:t>
            </a:r>
          </a:p>
        </p:txBody>
      </p:sp>
      <p:pic>
        <p:nvPicPr>
          <p:cNvPr id="10" name="Picture 9" descr="Globe_Alone_rgb.jpg"/>
          <p:cNvPicPr>
            <a:picLocks noChangeAspect="1"/>
          </p:cNvPicPr>
          <p:nvPr userDrawn="1"/>
        </p:nvPicPr>
        <p:blipFill>
          <a:blip r:embed="rId3" cstate="screen"/>
          <a:stretch>
            <a:fillRect/>
          </a:stretch>
        </p:blipFill>
        <p:spPr>
          <a:xfrm>
            <a:off x="8521701" y="6279947"/>
            <a:ext cx="382763" cy="382763"/>
          </a:xfrm>
          <a:prstGeom prst="rect">
            <a:avLst/>
          </a:prstGeom>
          <a:noFill/>
          <a:ln>
            <a:noFill/>
          </a:ln>
        </p:spPr>
      </p:pic>
    </p:spTree>
    <p:extLst>
      <p:ext uri="{BB962C8B-B14F-4D97-AF65-F5344CB8AC3E}">
        <p14:creationId xmlns:p14="http://schemas.microsoft.com/office/powerpoint/2010/main" val="177670056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8"/>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187" indent="0" algn="ctr">
              <a:buNone/>
              <a:defRPr/>
            </a:lvl2pPr>
            <a:lvl3pPr marL="914373" indent="0" algn="ctr">
              <a:buNone/>
              <a:defRPr/>
            </a:lvl3pPr>
            <a:lvl4pPr marL="1371560" indent="0" algn="ctr">
              <a:buNone/>
              <a:defRPr/>
            </a:lvl4pPr>
            <a:lvl5pPr marL="1828746" indent="0" algn="ctr">
              <a:buNone/>
              <a:defRPr/>
            </a:lvl5pPr>
            <a:lvl6pPr marL="2285933" indent="0" algn="ctr">
              <a:buNone/>
              <a:defRPr/>
            </a:lvl6pPr>
            <a:lvl7pPr marL="2743119" indent="0" algn="ctr">
              <a:buNone/>
              <a:defRPr/>
            </a:lvl7pPr>
            <a:lvl8pPr marL="3200304" indent="0" algn="ctr">
              <a:buNone/>
              <a:defRPr/>
            </a:lvl8pPr>
            <a:lvl9pPr marL="3657489"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fld id="{7E6E5836-59E0-4171-A839-FDF83D36B5CF}" type="datetime1">
              <a:rPr lang="en-US" altLang="en-US">
                <a:solidFill>
                  <a:srgbClr val="000000"/>
                </a:solidFill>
              </a:rPr>
              <a:pPr/>
              <a:t>1/5/25</a:t>
            </a:fld>
            <a:endParaRPr lang="en-US" alt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en-US">
                <a:solidFill>
                  <a:srgbClr val="000000"/>
                </a:solidFill>
              </a:rPr>
              <a:t>Introduction</a:t>
            </a:r>
          </a:p>
        </p:txBody>
      </p:sp>
      <p:sp>
        <p:nvSpPr>
          <p:cNvPr id="6" name="Rectangle 6"/>
          <p:cNvSpPr>
            <a:spLocks noGrp="1" noChangeArrowheads="1"/>
          </p:cNvSpPr>
          <p:nvPr>
            <p:ph type="sldNum" sz="quarter" idx="12"/>
          </p:nvPr>
        </p:nvSpPr>
        <p:spPr>
          <a:ln/>
        </p:spPr>
        <p:txBody>
          <a:bodyPr/>
          <a:lstStyle>
            <a:lvl1pPr>
              <a:defRPr/>
            </a:lvl1pPr>
          </a:lstStyle>
          <a:p>
            <a:r>
              <a:rPr lang="en-US" altLang="en-US">
                <a:solidFill>
                  <a:srgbClr val="000000"/>
                </a:solidFill>
              </a:rPr>
              <a:t>2-</a:t>
            </a:r>
            <a:fld id="{073C53EB-CE5A-4687-B480-2EC7B33C28B3}"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9587287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fld id="{FE26DC40-5BAE-4790-8293-5A9F4E9DFFE2}" type="datetime1">
              <a:rPr lang="en-US" altLang="en-US">
                <a:solidFill>
                  <a:srgbClr val="000000"/>
                </a:solidFill>
              </a:rPr>
              <a:pPr/>
              <a:t>1/5/25</a:t>
            </a:fld>
            <a:endParaRPr lang="en-US" alt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en-US">
                <a:solidFill>
                  <a:srgbClr val="000000"/>
                </a:solidFill>
              </a:rPr>
              <a:t>Introduction</a:t>
            </a:r>
          </a:p>
        </p:txBody>
      </p:sp>
      <p:sp>
        <p:nvSpPr>
          <p:cNvPr id="6" name="Rectangle 6"/>
          <p:cNvSpPr>
            <a:spLocks noGrp="1" noChangeArrowheads="1"/>
          </p:cNvSpPr>
          <p:nvPr>
            <p:ph type="sldNum" sz="quarter" idx="12"/>
          </p:nvPr>
        </p:nvSpPr>
        <p:spPr>
          <a:ln/>
        </p:spPr>
        <p:txBody>
          <a:bodyPr/>
          <a:lstStyle>
            <a:lvl1pPr>
              <a:defRPr/>
            </a:lvl1pPr>
          </a:lstStyle>
          <a:p>
            <a:r>
              <a:rPr lang="en-US" altLang="en-US">
                <a:solidFill>
                  <a:srgbClr val="000000"/>
                </a:solidFill>
              </a:rPr>
              <a:t>2-</a:t>
            </a:r>
            <a:fld id="{7B57F852-2704-4E86-A2AE-59F9E3637F46}"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4486613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3"/>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5"/>
            <a:ext cx="7772400" cy="1500187"/>
          </a:xfrm>
        </p:spPr>
        <p:txBody>
          <a:bodyPr anchor="b"/>
          <a:lstStyle>
            <a:lvl1pPr marL="0" indent="0">
              <a:buNone/>
              <a:defRPr sz="2000"/>
            </a:lvl1pPr>
            <a:lvl2pPr marL="457187" indent="0">
              <a:buNone/>
              <a:defRPr sz="1800"/>
            </a:lvl2pPr>
            <a:lvl3pPr marL="914373" indent="0">
              <a:buNone/>
              <a:defRPr sz="1600"/>
            </a:lvl3pPr>
            <a:lvl4pPr marL="1371560" indent="0">
              <a:buNone/>
              <a:defRPr sz="1400"/>
            </a:lvl4pPr>
            <a:lvl5pPr marL="1828746" indent="0">
              <a:buNone/>
              <a:defRPr sz="1400"/>
            </a:lvl5pPr>
            <a:lvl6pPr marL="2285933" indent="0">
              <a:buNone/>
              <a:defRPr sz="1400"/>
            </a:lvl6pPr>
            <a:lvl7pPr marL="2743119" indent="0">
              <a:buNone/>
              <a:defRPr sz="1400"/>
            </a:lvl7pPr>
            <a:lvl8pPr marL="3200304" indent="0">
              <a:buNone/>
              <a:defRPr sz="1400"/>
            </a:lvl8pPr>
            <a:lvl9pPr marL="3657489"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fld id="{EFA40466-3CCF-418B-9836-A274CF194698}" type="datetime1">
              <a:rPr lang="en-US" altLang="en-US">
                <a:solidFill>
                  <a:srgbClr val="000000"/>
                </a:solidFill>
              </a:rPr>
              <a:pPr/>
              <a:t>1/5/25</a:t>
            </a:fld>
            <a:endParaRPr lang="en-US" alt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en-US">
                <a:solidFill>
                  <a:srgbClr val="000000"/>
                </a:solidFill>
              </a:rPr>
              <a:t>Introduction</a:t>
            </a:r>
          </a:p>
        </p:txBody>
      </p:sp>
      <p:sp>
        <p:nvSpPr>
          <p:cNvPr id="6" name="Rectangle 6"/>
          <p:cNvSpPr>
            <a:spLocks noGrp="1" noChangeArrowheads="1"/>
          </p:cNvSpPr>
          <p:nvPr>
            <p:ph type="sldNum" sz="quarter" idx="12"/>
          </p:nvPr>
        </p:nvSpPr>
        <p:spPr>
          <a:ln/>
        </p:spPr>
        <p:txBody>
          <a:bodyPr/>
          <a:lstStyle>
            <a:lvl1pPr>
              <a:defRPr/>
            </a:lvl1pPr>
          </a:lstStyle>
          <a:p>
            <a:r>
              <a:rPr lang="en-US" altLang="en-US">
                <a:solidFill>
                  <a:srgbClr val="000000"/>
                </a:solidFill>
              </a:rPr>
              <a:t>2-</a:t>
            </a:r>
            <a:fld id="{8CB22825-8CF5-46B7-B8A8-7656483C804E}"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33921180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33402" y="1611316"/>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95803" y="1611316"/>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fld id="{47215619-F6E2-475D-8660-D647ECD63277}" type="datetime1">
              <a:rPr lang="en-US" altLang="en-US">
                <a:solidFill>
                  <a:srgbClr val="000000"/>
                </a:solidFill>
              </a:rPr>
              <a:pPr/>
              <a:t>1/5/25</a:t>
            </a:fld>
            <a:endParaRPr lang="en-US" alt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r>
              <a:rPr lang="en-US">
                <a:solidFill>
                  <a:srgbClr val="000000"/>
                </a:solidFill>
              </a:rPr>
              <a:t>Introduction</a:t>
            </a:r>
          </a:p>
        </p:txBody>
      </p:sp>
      <p:sp>
        <p:nvSpPr>
          <p:cNvPr id="7" name="Rectangle 6"/>
          <p:cNvSpPr>
            <a:spLocks noGrp="1" noChangeArrowheads="1"/>
          </p:cNvSpPr>
          <p:nvPr>
            <p:ph type="sldNum" sz="quarter" idx="12"/>
          </p:nvPr>
        </p:nvSpPr>
        <p:spPr>
          <a:ln/>
        </p:spPr>
        <p:txBody>
          <a:bodyPr/>
          <a:lstStyle>
            <a:lvl1pPr>
              <a:defRPr/>
            </a:lvl1pPr>
          </a:lstStyle>
          <a:p>
            <a:r>
              <a:rPr lang="en-US" altLang="en-US">
                <a:solidFill>
                  <a:srgbClr val="000000"/>
                </a:solidFill>
              </a:rPr>
              <a:t>2-</a:t>
            </a:r>
            <a:fld id="{B4B91E3B-60E9-484B-BA78-6C1786A8FD11}"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12951116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187" indent="0">
              <a:buNone/>
              <a:defRPr sz="2000" b="1"/>
            </a:lvl2pPr>
            <a:lvl3pPr marL="914373" indent="0">
              <a:buNone/>
              <a:defRPr sz="1800" b="1"/>
            </a:lvl3pPr>
            <a:lvl4pPr marL="1371560" indent="0">
              <a:buNone/>
              <a:defRPr sz="1600" b="1"/>
            </a:lvl4pPr>
            <a:lvl5pPr marL="1828746" indent="0">
              <a:buNone/>
              <a:defRPr sz="1600" b="1"/>
            </a:lvl5pPr>
            <a:lvl6pPr marL="2285933" indent="0">
              <a:buNone/>
              <a:defRPr sz="1600" b="1"/>
            </a:lvl6pPr>
            <a:lvl7pPr marL="2743119" indent="0">
              <a:buNone/>
              <a:defRPr sz="1600" b="1"/>
            </a:lvl7pPr>
            <a:lvl8pPr marL="3200304" indent="0">
              <a:buNone/>
              <a:defRPr sz="1600" b="1"/>
            </a:lvl8pPr>
            <a:lvl9pPr marL="3657489"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535113"/>
            <a:ext cx="4041775" cy="639762"/>
          </a:xfrm>
        </p:spPr>
        <p:txBody>
          <a:bodyPr anchor="b"/>
          <a:lstStyle>
            <a:lvl1pPr marL="0" indent="0">
              <a:buNone/>
              <a:defRPr sz="2400" b="1"/>
            </a:lvl1pPr>
            <a:lvl2pPr marL="457187" indent="0">
              <a:buNone/>
              <a:defRPr sz="2000" b="1"/>
            </a:lvl2pPr>
            <a:lvl3pPr marL="914373" indent="0">
              <a:buNone/>
              <a:defRPr sz="1800" b="1"/>
            </a:lvl3pPr>
            <a:lvl4pPr marL="1371560" indent="0">
              <a:buNone/>
              <a:defRPr sz="1600" b="1"/>
            </a:lvl4pPr>
            <a:lvl5pPr marL="1828746" indent="0">
              <a:buNone/>
              <a:defRPr sz="1600" b="1"/>
            </a:lvl5pPr>
            <a:lvl6pPr marL="2285933" indent="0">
              <a:buNone/>
              <a:defRPr sz="1600" b="1"/>
            </a:lvl6pPr>
            <a:lvl7pPr marL="2743119" indent="0">
              <a:buNone/>
              <a:defRPr sz="1600" b="1"/>
            </a:lvl7pPr>
            <a:lvl8pPr marL="3200304" indent="0">
              <a:buNone/>
              <a:defRPr sz="1600" b="1"/>
            </a:lvl8pPr>
            <a:lvl9pPr marL="365748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8"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fld id="{989BCABE-8A97-4B8C-BB5D-162D4005935C}" type="datetime1">
              <a:rPr lang="en-US" altLang="en-US">
                <a:solidFill>
                  <a:srgbClr val="000000"/>
                </a:solidFill>
              </a:rPr>
              <a:pPr/>
              <a:t>1/5/25</a:t>
            </a:fld>
            <a:endParaRPr lang="en-US" alt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r>
              <a:rPr lang="en-US">
                <a:solidFill>
                  <a:srgbClr val="000000"/>
                </a:solidFill>
              </a:rPr>
              <a:t>Introduction</a:t>
            </a:r>
          </a:p>
        </p:txBody>
      </p:sp>
      <p:sp>
        <p:nvSpPr>
          <p:cNvPr id="9" name="Rectangle 6"/>
          <p:cNvSpPr>
            <a:spLocks noGrp="1" noChangeArrowheads="1"/>
          </p:cNvSpPr>
          <p:nvPr>
            <p:ph type="sldNum" sz="quarter" idx="12"/>
          </p:nvPr>
        </p:nvSpPr>
        <p:spPr>
          <a:ln/>
        </p:spPr>
        <p:txBody>
          <a:bodyPr/>
          <a:lstStyle>
            <a:lvl1pPr>
              <a:defRPr/>
            </a:lvl1pPr>
          </a:lstStyle>
          <a:p>
            <a:r>
              <a:rPr lang="en-US" altLang="en-US">
                <a:solidFill>
                  <a:srgbClr val="000000"/>
                </a:solidFill>
              </a:rPr>
              <a:t>2-</a:t>
            </a:r>
            <a:fld id="{94E882EF-EE3A-4F5D-BE78-AACA70FC0D1C}"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7794991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fld id="{31421911-776B-419D-8814-943EDC3821D8}" type="datetime1">
              <a:rPr lang="en-US" altLang="en-US">
                <a:solidFill>
                  <a:srgbClr val="000000"/>
                </a:solidFill>
              </a:rPr>
              <a:pPr/>
              <a:t>1/5/25</a:t>
            </a:fld>
            <a:endParaRPr lang="en-US" alt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r>
              <a:rPr lang="en-US">
                <a:solidFill>
                  <a:srgbClr val="000000"/>
                </a:solidFill>
              </a:rPr>
              <a:t>Introduction</a:t>
            </a:r>
          </a:p>
        </p:txBody>
      </p:sp>
      <p:sp>
        <p:nvSpPr>
          <p:cNvPr id="5" name="Rectangle 6"/>
          <p:cNvSpPr>
            <a:spLocks noGrp="1" noChangeArrowheads="1"/>
          </p:cNvSpPr>
          <p:nvPr>
            <p:ph type="sldNum" sz="quarter" idx="12"/>
          </p:nvPr>
        </p:nvSpPr>
        <p:spPr>
          <a:ln/>
        </p:spPr>
        <p:txBody>
          <a:bodyPr/>
          <a:lstStyle>
            <a:lvl1pPr>
              <a:defRPr/>
            </a:lvl1pPr>
          </a:lstStyle>
          <a:p>
            <a:r>
              <a:rPr lang="en-US" altLang="en-US">
                <a:solidFill>
                  <a:srgbClr val="000000"/>
                </a:solidFill>
              </a:rPr>
              <a:t>2-</a:t>
            </a:r>
            <a:fld id="{10CD6BF4-D29D-41B3-B8FB-C5677FFAC723}"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5149751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DB9B61F8-7E64-4059-8E0F-5CB94B7DF7DC}" type="datetime1">
              <a:rPr lang="en-US" altLang="en-US">
                <a:solidFill>
                  <a:srgbClr val="000000"/>
                </a:solidFill>
              </a:rPr>
              <a:pPr/>
              <a:t>1/5/25</a:t>
            </a:fld>
            <a:endParaRPr lang="en-US" altLang="en-US">
              <a:solidFill>
                <a:srgbClr val="000000"/>
              </a:solidFill>
            </a:endParaRPr>
          </a:p>
        </p:txBody>
      </p:sp>
      <p:sp>
        <p:nvSpPr>
          <p:cNvPr id="3" name="Footer Placeholder 2"/>
          <p:cNvSpPr>
            <a:spLocks noGrp="1"/>
          </p:cNvSpPr>
          <p:nvPr>
            <p:ph type="ftr" sz="quarter" idx="11"/>
          </p:nvPr>
        </p:nvSpPr>
        <p:spPr/>
        <p:txBody>
          <a:bodyPr/>
          <a:lstStyle>
            <a:lvl1pPr>
              <a:defRPr/>
            </a:lvl1pPr>
          </a:lstStyle>
          <a:p>
            <a:pPr>
              <a:defRPr/>
            </a:pPr>
            <a:r>
              <a:rPr lang="en-US">
                <a:solidFill>
                  <a:srgbClr val="000000"/>
                </a:solidFill>
              </a:rPr>
              <a:t>Introduction</a:t>
            </a:r>
          </a:p>
        </p:txBody>
      </p:sp>
      <p:sp>
        <p:nvSpPr>
          <p:cNvPr id="4" name="Slide Number Placeholder 3"/>
          <p:cNvSpPr>
            <a:spLocks noGrp="1"/>
          </p:cNvSpPr>
          <p:nvPr>
            <p:ph type="sldNum" sz="quarter" idx="12"/>
          </p:nvPr>
        </p:nvSpPr>
        <p:spPr/>
        <p:txBody>
          <a:bodyPr/>
          <a:lstStyle>
            <a:lvl1pPr>
              <a:defRPr/>
            </a:lvl1pPr>
          </a:lstStyle>
          <a:p>
            <a:r>
              <a:rPr lang="en-US" altLang="en-US">
                <a:solidFill>
                  <a:srgbClr val="000000"/>
                </a:solidFill>
              </a:rPr>
              <a:t>1-</a:t>
            </a:r>
            <a:fld id="{14363131-8D3F-441C-AF54-0C6A0F614F81}"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40276623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73053"/>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3"/>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435100"/>
            <a:ext cx="3008313" cy="4691063"/>
          </a:xfrm>
        </p:spPr>
        <p:txBody>
          <a:bodyPr/>
          <a:lstStyle>
            <a:lvl1pPr marL="0" indent="0">
              <a:buNone/>
              <a:defRPr sz="1400"/>
            </a:lvl1pPr>
            <a:lvl2pPr marL="457187" indent="0">
              <a:buNone/>
              <a:defRPr sz="1200"/>
            </a:lvl2pPr>
            <a:lvl3pPr marL="914373" indent="0">
              <a:buNone/>
              <a:defRPr sz="1000"/>
            </a:lvl3pPr>
            <a:lvl4pPr marL="1371560" indent="0">
              <a:buNone/>
              <a:defRPr sz="900"/>
            </a:lvl4pPr>
            <a:lvl5pPr marL="1828746" indent="0">
              <a:buNone/>
              <a:defRPr sz="900"/>
            </a:lvl5pPr>
            <a:lvl6pPr marL="2285933" indent="0">
              <a:buNone/>
              <a:defRPr sz="900"/>
            </a:lvl6pPr>
            <a:lvl7pPr marL="2743119" indent="0">
              <a:buNone/>
              <a:defRPr sz="900"/>
            </a:lvl7pPr>
            <a:lvl8pPr marL="3200304" indent="0">
              <a:buNone/>
              <a:defRPr sz="900"/>
            </a:lvl8pPr>
            <a:lvl9pPr marL="365748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D86CB8F9-4204-4A3E-9A6F-F61482B2D8A6}" type="datetime1">
              <a:rPr lang="en-US" altLang="en-US">
                <a:solidFill>
                  <a:srgbClr val="000000"/>
                </a:solidFill>
              </a:rPr>
              <a:pPr/>
              <a:t>1/5/25</a:t>
            </a:fld>
            <a:endParaRPr lang="en-US"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pPr>
              <a:defRPr/>
            </a:pPr>
            <a:r>
              <a:rPr lang="en-US">
                <a:solidFill>
                  <a:srgbClr val="000000"/>
                </a:solidFill>
              </a:rPr>
              <a:t>Introduction</a:t>
            </a:r>
          </a:p>
        </p:txBody>
      </p:sp>
      <p:sp>
        <p:nvSpPr>
          <p:cNvPr id="7" name="Slide Number Placeholder 6"/>
          <p:cNvSpPr>
            <a:spLocks noGrp="1"/>
          </p:cNvSpPr>
          <p:nvPr>
            <p:ph type="sldNum" sz="quarter" idx="12"/>
          </p:nvPr>
        </p:nvSpPr>
        <p:spPr/>
        <p:txBody>
          <a:bodyPr/>
          <a:lstStyle>
            <a:lvl1pPr>
              <a:defRPr/>
            </a:lvl1pPr>
          </a:lstStyle>
          <a:p>
            <a:r>
              <a:rPr lang="en-US" altLang="en-US">
                <a:solidFill>
                  <a:srgbClr val="000000"/>
                </a:solidFill>
              </a:rPr>
              <a:t>1-</a:t>
            </a:r>
            <a:fld id="{92D9BC90-3623-4F14-B220-ACE13663C83C}"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9340582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187" indent="0">
              <a:buNone/>
              <a:defRPr sz="2800"/>
            </a:lvl2pPr>
            <a:lvl3pPr marL="914373" indent="0">
              <a:buNone/>
              <a:defRPr sz="2400"/>
            </a:lvl3pPr>
            <a:lvl4pPr marL="1371560" indent="0">
              <a:buNone/>
              <a:defRPr sz="2000"/>
            </a:lvl4pPr>
            <a:lvl5pPr marL="1828746" indent="0">
              <a:buNone/>
              <a:defRPr sz="2000"/>
            </a:lvl5pPr>
            <a:lvl6pPr marL="2285933" indent="0">
              <a:buNone/>
              <a:defRPr sz="2000"/>
            </a:lvl6pPr>
            <a:lvl7pPr marL="2743119" indent="0">
              <a:buNone/>
              <a:defRPr sz="2000"/>
            </a:lvl7pPr>
            <a:lvl8pPr marL="3200304" indent="0">
              <a:buNone/>
              <a:defRPr sz="2000"/>
            </a:lvl8pPr>
            <a:lvl9pPr marL="3657489" indent="0">
              <a:buNone/>
              <a:defRPr sz="20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187" indent="0">
              <a:buNone/>
              <a:defRPr sz="1200"/>
            </a:lvl2pPr>
            <a:lvl3pPr marL="914373" indent="0">
              <a:buNone/>
              <a:defRPr sz="1000"/>
            </a:lvl3pPr>
            <a:lvl4pPr marL="1371560" indent="0">
              <a:buNone/>
              <a:defRPr sz="900"/>
            </a:lvl4pPr>
            <a:lvl5pPr marL="1828746" indent="0">
              <a:buNone/>
              <a:defRPr sz="900"/>
            </a:lvl5pPr>
            <a:lvl6pPr marL="2285933" indent="0">
              <a:buNone/>
              <a:defRPr sz="900"/>
            </a:lvl6pPr>
            <a:lvl7pPr marL="2743119" indent="0">
              <a:buNone/>
              <a:defRPr sz="900"/>
            </a:lvl7pPr>
            <a:lvl8pPr marL="3200304" indent="0">
              <a:buNone/>
              <a:defRPr sz="900"/>
            </a:lvl8pPr>
            <a:lvl9pPr marL="3657489"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FD32E380-5DAA-41F7-ADDC-9396FD25F398}" type="datetime1">
              <a:rPr lang="en-US" altLang="en-US">
                <a:solidFill>
                  <a:srgbClr val="000000"/>
                </a:solidFill>
              </a:rPr>
              <a:pPr/>
              <a:t>1/5/25</a:t>
            </a:fld>
            <a:endParaRPr lang="en-US" alt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r>
              <a:rPr lang="en-US">
                <a:solidFill>
                  <a:srgbClr val="000000"/>
                </a:solidFill>
              </a:rPr>
              <a:t>Introduction</a:t>
            </a:r>
          </a:p>
        </p:txBody>
      </p:sp>
      <p:sp>
        <p:nvSpPr>
          <p:cNvPr id="7" name="Rectangle 6"/>
          <p:cNvSpPr>
            <a:spLocks noGrp="1" noChangeArrowheads="1"/>
          </p:cNvSpPr>
          <p:nvPr>
            <p:ph type="sldNum" sz="quarter" idx="12"/>
          </p:nvPr>
        </p:nvSpPr>
        <p:spPr>
          <a:ln/>
        </p:spPr>
        <p:txBody>
          <a:bodyPr/>
          <a:lstStyle>
            <a:lvl1pPr>
              <a:defRPr/>
            </a:lvl1pPr>
          </a:lstStyle>
          <a:p>
            <a:r>
              <a:rPr lang="en-US" altLang="en-US">
                <a:solidFill>
                  <a:srgbClr val="000000"/>
                </a:solidFill>
              </a:rPr>
              <a:t>2-</a:t>
            </a:r>
            <a:fld id="{E2D2F090-07E5-4060-BD76-BF2CC642FA02}"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35621468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A02ACD37-2538-4D76-8293-FEBE9003A5A9}" type="datetime1">
              <a:rPr lang="en-US" altLang="en-US">
                <a:solidFill>
                  <a:srgbClr val="000000"/>
                </a:solidFill>
              </a:rPr>
              <a:pPr/>
              <a:t>1/5/25</a:t>
            </a:fld>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Introduction</a:t>
            </a:r>
          </a:p>
        </p:txBody>
      </p:sp>
      <p:sp>
        <p:nvSpPr>
          <p:cNvPr id="6" name="Slide Number Placeholder 5"/>
          <p:cNvSpPr>
            <a:spLocks noGrp="1"/>
          </p:cNvSpPr>
          <p:nvPr>
            <p:ph type="sldNum" sz="quarter" idx="12"/>
          </p:nvPr>
        </p:nvSpPr>
        <p:spPr/>
        <p:txBody>
          <a:bodyPr/>
          <a:lstStyle>
            <a:lvl1pPr>
              <a:defRPr/>
            </a:lvl1pPr>
          </a:lstStyle>
          <a:p>
            <a:r>
              <a:rPr lang="en-US" altLang="en-US">
                <a:solidFill>
                  <a:srgbClr val="000000"/>
                </a:solidFill>
              </a:rPr>
              <a:t>1-</a:t>
            </a:r>
            <a:fld id="{6115EDD7-2835-402C-A56F-99BAF74A5524}"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922943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62700" y="228603"/>
            <a:ext cx="1943100" cy="60309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33403" y="228603"/>
            <a:ext cx="5676900" cy="60309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F8F1A2C0-B6B8-48B5-872E-E7A3CEC2B3A2}" type="datetime1">
              <a:rPr lang="en-US" altLang="en-US">
                <a:solidFill>
                  <a:srgbClr val="000000"/>
                </a:solidFill>
              </a:rPr>
              <a:pPr/>
              <a:t>1/5/25</a:t>
            </a:fld>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Introduction</a:t>
            </a:r>
          </a:p>
        </p:txBody>
      </p:sp>
      <p:sp>
        <p:nvSpPr>
          <p:cNvPr id="6" name="Slide Number Placeholder 5"/>
          <p:cNvSpPr>
            <a:spLocks noGrp="1"/>
          </p:cNvSpPr>
          <p:nvPr>
            <p:ph type="sldNum" sz="quarter" idx="12"/>
          </p:nvPr>
        </p:nvSpPr>
        <p:spPr/>
        <p:txBody>
          <a:bodyPr/>
          <a:lstStyle>
            <a:lvl1pPr>
              <a:defRPr/>
            </a:lvl1pPr>
          </a:lstStyle>
          <a:p>
            <a:r>
              <a:rPr lang="en-US" altLang="en-US">
                <a:solidFill>
                  <a:srgbClr val="000000"/>
                </a:solidFill>
              </a:rPr>
              <a:t>1-</a:t>
            </a:r>
            <a:fld id="{2526A1F3-A62D-4416-AD29-0286EBEE9397}"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10373064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Content Placeholder 2"/>
          <p:cNvSpPr>
            <a:spLocks noGrp="1"/>
          </p:cNvSpPr>
          <p:nvPr>
            <p:ph sz="half" idx="1"/>
          </p:nvPr>
        </p:nvSpPr>
        <p:spPr>
          <a:xfrm>
            <a:off x="533402" y="1611316"/>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495803" y="1611316"/>
            <a:ext cx="38100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495803" y="4011616"/>
            <a:ext cx="38100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p:txBody>
          <a:bodyPr/>
          <a:lstStyle>
            <a:lvl1pPr>
              <a:defRPr/>
            </a:lvl1pPr>
          </a:lstStyle>
          <a:p>
            <a:fld id="{93DEC4EE-1610-4D4F-A651-720D97FFC8FC}" type="datetime1">
              <a:rPr lang="en-US" altLang="en-US">
                <a:solidFill>
                  <a:srgbClr val="000000"/>
                </a:solidFill>
              </a:rPr>
              <a:pPr/>
              <a:t>1/5/25</a:t>
            </a:fld>
            <a:endParaRPr lang="en-US" altLang="en-US">
              <a:solidFill>
                <a:srgbClr val="000000"/>
              </a:solidFill>
            </a:endParaRPr>
          </a:p>
        </p:txBody>
      </p:sp>
      <p:sp>
        <p:nvSpPr>
          <p:cNvPr id="7" name="Footer Placeholder 6"/>
          <p:cNvSpPr>
            <a:spLocks noGrp="1"/>
          </p:cNvSpPr>
          <p:nvPr>
            <p:ph type="ftr" sz="quarter" idx="11"/>
          </p:nvPr>
        </p:nvSpPr>
        <p:spPr/>
        <p:txBody>
          <a:bodyPr/>
          <a:lstStyle>
            <a:lvl1pPr>
              <a:defRPr/>
            </a:lvl1pPr>
          </a:lstStyle>
          <a:p>
            <a:pPr>
              <a:defRPr/>
            </a:pPr>
            <a:r>
              <a:rPr lang="en-US">
                <a:solidFill>
                  <a:srgbClr val="000000"/>
                </a:solidFill>
              </a:rPr>
              <a:t>Introduction</a:t>
            </a:r>
          </a:p>
        </p:txBody>
      </p:sp>
      <p:sp>
        <p:nvSpPr>
          <p:cNvPr id="8" name="Slide Number Placeholder 7"/>
          <p:cNvSpPr>
            <a:spLocks noGrp="1"/>
          </p:cNvSpPr>
          <p:nvPr>
            <p:ph type="sldNum" sz="quarter" idx="12"/>
          </p:nvPr>
        </p:nvSpPr>
        <p:spPr/>
        <p:txBody>
          <a:bodyPr/>
          <a:lstStyle>
            <a:lvl1pPr>
              <a:defRPr/>
            </a:lvl1pPr>
          </a:lstStyle>
          <a:p>
            <a:r>
              <a:rPr lang="en-US" altLang="en-US">
                <a:solidFill>
                  <a:srgbClr val="000000"/>
                </a:solidFill>
              </a:rPr>
              <a:t>1</a:t>
            </a:r>
            <a:fld id="{7E205F02-5D9D-48E5-A3E2-6328A8154563}"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20545974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533402" y="1600201"/>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95803" y="1600201"/>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fld id="{8891EDBE-6097-43A8-983B-C33686176061}" type="datetime1">
              <a:rPr lang="en-US" altLang="en-US"/>
              <a:pPr/>
              <a:t>1/5/25</a:t>
            </a:fld>
            <a:endParaRPr lang="en-US" altLang="en-US"/>
          </a:p>
        </p:txBody>
      </p:sp>
      <p:sp>
        <p:nvSpPr>
          <p:cNvPr id="6" name="Rectangle 7"/>
          <p:cNvSpPr>
            <a:spLocks noGrp="1" noChangeArrowheads="1"/>
          </p:cNvSpPr>
          <p:nvPr>
            <p:ph type="ftr" sz="quarter" idx="11"/>
          </p:nvPr>
        </p:nvSpPr>
        <p:spPr>
          <a:ln/>
        </p:spPr>
        <p:txBody>
          <a:bodyPr/>
          <a:lstStyle>
            <a:lvl1pPr>
              <a:defRPr/>
            </a:lvl1pPr>
          </a:lstStyle>
          <a:p>
            <a:pPr>
              <a:defRPr/>
            </a:pPr>
            <a:r>
              <a:rPr lang="en-US"/>
              <a:t>Application Layer</a:t>
            </a:r>
          </a:p>
        </p:txBody>
      </p:sp>
      <p:sp>
        <p:nvSpPr>
          <p:cNvPr id="7" name="Rectangle 8"/>
          <p:cNvSpPr>
            <a:spLocks noGrp="1" noChangeArrowheads="1"/>
          </p:cNvSpPr>
          <p:nvPr>
            <p:ph type="sldNum" sz="quarter" idx="12"/>
          </p:nvPr>
        </p:nvSpPr>
        <p:spPr>
          <a:ln/>
        </p:spPr>
        <p:txBody>
          <a:bodyPr/>
          <a:lstStyle>
            <a:lvl1pPr>
              <a:defRPr/>
            </a:lvl1pPr>
          </a:lstStyle>
          <a:p>
            <a:r>
              <a:rPr lang="en-US" altLang="en-US"/>
              <a:t>2-</a:t>
            </a:r>
            <a:fld id="{8B82D872-44A0-41D7-B84E-8753956EFFF2}" type="slidenum">
              <a:rPr lang="en-US" altLang="en-US"/>
              <a:pPr/>
              <a:t>‹#›</a:t>
            </a:fld>
            <a:endParaRPr lang="en-US" altLang="en-US"/>
          </a:p>
        </p:txBody>
      </p:sp>
    </p:spTree>
    <p:extLst>
      <p:ext uri="{BB962C8B-B14F-4D97-AF65-F5344CB8AC3E}">
        <p14:creationId xmlns:p14="http://schemas.microsoft.com/office/powerpoint/2010/main" val="42662403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xAndChart">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533402" y="1600201"/>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p:cNvSpPr>
            <a:spLocks noGrp="1"/>
          </p:cNvSpPr>
          <p:nvPr>
            <p:ph type="chart" sz="half" idx="2"/>
          </p:nvPr>
        </p:nvSpPr>
        <p:spPr>
          <a:xfrm>
            <a:off x="4495803" y="1600201"/>
            <a:ext cx="3810000" cy="4648200"/>
          </a:xfrm>
        </p:spPr>
        <p:txBody>
          <a:bodyPr/>
          <a:lstStyle/>
          <a:p>
            <a:pPr lvl="0"/>
            <a:endParaRPr lang="en-US" noProof="0"/>
          </a:p>
        </p:txBody>
      </p:sp>
      <p:sp>
        <p:nvSpPr>
          <p:cNvPr id="5" name="Rectangle 4"/>
          <p:cNvSpPr>
            <a:spLocks noGrp="1" noChangeArrowheads="1"/>
          </p:cNvSpPr>
          <p:nvPr>
            <p:ph type="dt" sz="half" idx="10"/>
          </p:nvPr>
        </p:nvSpPr>
        <p:spPr>
          <a:ln/>
        </p:spPr>
        <p:txBody>
          <a:bodyPr/>
          <a:lstStyle>
            <a:lvl1pPr>
              <a:defRPr/>
            </a:lvl1pPr>
          </a:lstStyle>
          <a:p>
            <a:fld id="{1A6D2697-C926-4CDD-A45C-D8BEE4AABD33}" type="datetime1">
              <a:rPr lang="en-US" altLang="en-US"/>
              <a:pPr/>
              <a:t>1/5/25</a:t>
            </a:fld>
            <a:endParaRPr lang="en-US" altLang="en-US"/>
          </a:p>
        </p:txBody>
      </p:sp>
      <p:sp>
        <p:nvSpPr>
          <p:cNvPr id="6" name="Rectangle 7"/>
          <p:cNvSpPr>
            <a:spLocks noGrp="1" noChangeArrowheads="1"/>
          </p:cNvSpPr>
          <p:nvPr>
            <p:ph type="ftr" sz="quarter" idx="11"/>
          </p:nvPr>
        </p:nvSpPr>
        <p:spPr>
          <a:ln/>
        </p:spPr>
        <p:txBody>
          <a:bodyPr/>
          <a:lstStyle>
            <a:lvl1pPr>
              <a:defRPr/>
            </a:lvl1pPr>
          </a:lstStyle>
          <a:p>
            <a:pPr>
              <a:defRPr/>
            </a:pPr>
            <a:r>
              <a:rPr lang="en-US"/>
              <a:t>Application Layer</a:t>
            </a:r>
          </a:p>
        </p:txBody>
      </p:sp>
      <p:sp>
        <p:nvSpPr>
          <p:cNvPr id="7" name="Rectangle 8"/>
          <p:cNvSpPr>
            <a:spLocks noGrp="1" noChangeArrowheads="1"/>
          </p:cNvSpPr>
          <p:nvPr>
            <p:ph type="sldNum" sz="quarter" idx="12"/>
          </p:nvPr>
        </p:nvSpPr>
        <p:spPr>
          <a:ln/>
        </p:spPr>
        <p:txBody>
          <a:bodyPr/>
          <a:lstStyle>
            <a:lvl1pPr>
              <a:defRPr/>
            </a:lvl1pPr>
          </a:lstStyle>
          <a:p>
            <a:r>
              <a:rPr lang="en-US" altLang="en-US"/>
              <a:t>2-</a:t>
            </a:r>
            <a:fld id="{42BF4790-0D82-4DB6-9287-DC4166B70394}" type="slidenum">
              <a:rPr lang="en-US" altLang="en-US"/>
              <a:pPr/>
              <a:t>‹#›</a:t>
            </a:fld>
            <a:endParaRPr lang="en-US" altLang="en-US"/>
          </a:p>
        </p:txBody>
      </p:sp>
    </p:spTree>
    <p:extLst>
      <p:ext uri="{BB962C8B-B14F-4D97-AF65-F5344CB8AC3E}">
        <p14:creationId xmlns:p14="http://schemas.microsoft.com/office/powerpoint/2010/main" val="249813813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Content Placeholder 2"/>
          <p:cNvSpPr>
            <a:spLocks noGrp="1"/>
          </p:cNvSpPr>
          <p:nvPr>
            <p:ph sz="half" idx="1"/>
          </p:nvPr>
        </p:nvSpPr>
        <p:spPr>
          <a:xfrm>
            <a:off x="533400" y="1600202"/>
            <a:ext cx="77724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33400" y="4000502"/>
            <a:ext cx="77724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fld id="{C17BA8DE-CAE3-488D-B13C-DECCCFCA66E7}" type="datetime1">
              <a:rPr lang="en-US" altLang="en-US"/>
              <a:pPr/>
              <a:t>1/5/25</a:t>
            </a:fld>
            <a:endParaRPr lang="en-US" altLang="en-US"/>
          </a:p>
        </p:txBody>
      </p:sp>
      <p:sp>
        <p:nvSpPr>
          <p:cNvPr id="6" name="Rectangle 7"/>
          <p:cNvSpPr>
            <a:spLocks noGrp="1" noChangeArrowheads="1"/>
          </p:cNvSpPr>
          <p:nvPr>
            <p:ph type="ftr" sz="quarter" idx="11"/>
          </p:nvPr>
        </p:nvSpPr>
        <p:spPr>
          <a:ln/>
        </p:spPr>
        <p:txBody>
          <a:bodyPr/>
          <a:lstStyle>
            <a:lvl1pPr>
              <a:defRPr/>
            </a:lvl1pPr>
          </a:lstStyle>
          <a:p>
            <a:pPr>
              <a:defRPr/>
            </a:pPr>
            <a:r>
              <a:rPr lang="en-US"/>
              <a:t>Application Layer</a:t>
            </a:r>
          </a:p>
        </p:txBody>
      </p:sp>
      <p:sp>
        <p:nvSpPr>
          <p:cNvPr id="7" name="Rectangle 8"/>
          <p:cNvSpPr>
            <a:spLocks noGrp="1" noChangeArrowheads="1"/>
          </p:cNvSpPr>
          <p:nvPr>
            <p:ph type="sldNum" sz="quarter" idx="12"/>
          </p:nvPr>
        </p:nvSpPr>
        <p:spPr>
          <a:ln/>
        </p:spPr>
        <p:txBody>
          <a:bodyPr/>
          <a:lstStyle>
            <a:lvl1pPr>
              <a:defRPr/>
            </a:lvl1pPr>
          </a:lstStyle>
          <a:p>
            <a:r>
              <a:rPr lang="en-US" altLang="en-US"/>
              <a:t>2-</a:t>
            </a:r>
            <a:fld id="{DD25942D-568D-4C1B-8A8C-A75F252B2F1C}" type="slidenum">
              <a:rPr lang="en-US" altLang="en-US"/>
              <a:pPr/>
              <a:t>‹#›</a:t>
            </a:fld>
            <a:endParaRPr lang="en-US" altLang="en-US"/>
          </a:p>
        </p:txBody>
      </p:sp>
    </p:spTree>
    <p:extLst>
      <p:ext uri="{BB962C8B-B14F-4D97-AF65-F5344CB8AC3E}">
        <p14:creationId xmlns:p14="http://schemas.microsoft.com/office/powerpoint/2010/main" val="296239593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x">
  <p:cSld name="cs677">
    <p:spTree>
      <p:nvGrpSpPr>
        <p:cNvPr id="1" name=""/>
        <p:cNvGrpSpPr/>
        <p:nvPr/>
      </p:nvGrpSpPr>
      <p:grpSpPr>
        <a:xfrm>
          <a:off x="0" y="0"/>
          <a:ext cx="0" cy="0"/>
          <a:chOff x="0" y="0"/>
          <a:chExt cx="0" cy="0"/>
        </a:xfrm>
      </p:grpSpPr>
      <p:sp>
        <p:nvSpPr>
          <p:cNvPr id="14" name="Title Text"/>
          <p:cNvSpPr txBox="1">
            <a:spLocks noGrp="1"/>
          </p:cNvSpPr>
          <p:nvPr>
            <p:ph type="title"/>
          </p:nvPr>
        </p:nvSpPr>
        <p:spPr>
          <a:prstGeom prst="rect">
            <a:avLst/>
          </a:prstGeom>
        </p:spPr>
        <p:txBody>
          <a:bodyPr/>
          <a:lstStyle/>
          <a:p>
            <a:r>
              <a:t>Title Text</a:t>
            </a:r>
          </a:p>
        </p:txBody>
      </p:sp>
      <p:sp>
        <p:nvSpPr>
          <p:cNvPr id="15"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274564662"/>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B7329EC-83B4-8A42-B6D8-8C023A66771E}" type="slidenum">
              <a:rPr lang="en-US"/>
              <a:pPr>
                <a:defRPr/>
              </a:pPr>
              <a:t>‹#›</a:t>
            </a:fld>
            <a:endParaRPr lang="en-US" dirty="0"/>
          </a:p>
        </p:txBody>
      </p:sp>
    </p:spTree>
    <p:extLst>
      <p:ext uri="{BB962C8B-B14F-4D97-AF65-F5344CB8AC3E}">
        <p14:creationId xmlns:p14="http://schemas.microsoft.com/office/powerpoint/2010/main" val="24480484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7A6011A-2195-2341-8EF2-FDF9291F5318}" type="datetimeFigureOut">
              <a:rPr lang="en-US" smtClean="0"/>
              <a:t>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8C4014-1440-744A-A4A0-8373A3B5CC91}" type="slidenum">
              <a:rPr lang="en-US" smtClean="0"/>
              <a:t>‹#›</a:t>
            </a:fld>
            <a:endParaRPr lang="en-US"/>
          </a:p>
        </p:txBody>
      </p:sp>
    </p:spTree>
    <p:extLst>
      <p:ext uri="{BB962C8B-B14F-4D97-AF65-F5344CB8AC3E}">
        <p14:creationId xmlns:p14="http://schemas.microsoft.com/office/powerpoint/2010/main" val="29246657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A6011A-2195-2341-8EF2-FDF9291F5318}" type="datetimeFigureOut">
              <a:rPr lang="en-US" smtClean="0"/>
              <a:t>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8C4014-1440-744A-A4A0-8373A3B5CC91}" type="slidenum">
              <a:rPr lang="en-US" smtClean="0"/>
              <a:t>‹#›</a:t>
            </a:fld>
            <a:endParaRPr lang="en-US"/>
          </a:p>
        </p:txBody>
      </p:sp>
    </p:spTree>
    <p:extLst>
      <p:ext uri="{BB962C8B-B14F-4D97-AF65-F5344CB8AC3E}">
        <p14:creationId xmlns:p14="http://schemas.microsoft.com/office/powerpoint/2010/main" val="104035895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7A6011A-2195-2341-8EF2-FDF9291F5318}" type="datetimeFigureOut">
              <a:rPr lang="en-US" smtClean="0"/>
              <a:t>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8C4014-1440-744A-A4A0-8373A3B5CC91}" type="slidenum">
              <a:rPr lang="en-US" smtClean="0"/>
              <a:t>‹#›</a:t>
            </a:fld>
            <a:endParaRPr lang="en-US"/>
          </a:p>
        </p:txBody>
      </p:sp>
    </p:spTree>
    <p:extLst>
      <p:ext uri="{BB962C8B-B14F-4D97-AF65-F5344CB8AC3E}">
        <p14:creationId xmlns:p14="http://schemas.microsoft.com/office/powerpoint/2010/main" val="230915876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7A6011A-2195-2341-8EF2-FDF9291F5318}" type="datetimeFigureOut">
              <a:rPr lang="en-US" smtClean="0"/>
              <a:t>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8C4014-1440-744A-A4A0-8373A3B5CC91}" type="slidenum">
              <a:rPr lang="en-US" smtClean="0"/>
              <a:t>‹#›</a:t>
            </a:fld>
            <a:endParaRPr lang="en-US"/>
          </a:p>
        </p:txBody>
      </p:sp>
    </p:spTree>
    <p:extLst>
      <p:ext uri="{BB962C8B-B14F-4D97-AF65-F5344CB8AC3E}">
        <p14:creationId xmlns:p14="http://schemas.microsoft.com/office/powerpoint/2010/main" val="206237529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7A6011A-2195-2341-8EF2-FDF9291F5318}" type="datetimeFigureOut">
              <a:rPr lang="en-US" smtClean="0"/>
              <a:t>1/5/25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58C4014-1440-744A-A4A0-8373A3B5CC91}" type="slidenum">
              <a:rPr lang="en-US" smtClean="0"/>
              <a:t>‹#›</a:t>
            </a:fld>
            <a:endParaRPr lang="en-US"/>
          </a:p>
        </p:txBody>
      </p:sp>
    </p:spTree>
    <p:extLst>
      <p:ext uri="{BB962C8B-B14F-4D97-AF65-F5344CB8AC3E}">
        <p14:creationId xmlns:p14="http://schemas.microsoft.com/office/powerpoint/2010/main" val="15875809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7A6011A-2195-2341-8EF2-FDF9291F5318}" type="datetimeFigureOut">
              <a:rPr lang="en-US" smtClean="0"/>
              <a:t>1/5/25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58C4014-1440-744A-A4A0-8373A3B5CC91}" type="slidenum">
              <a:rPr lang="en-US" smtClean="0"/>
              <a:t>‹#›</a:t>
            </a:fld>
            <a:endParaRPr lang="en-US"/>
          </a:p>
        </p:txBody>
      </p:sp>
    </p:spTree>
    <p:extLst>
      <p:ext uri="{BB962C8B-B14F-4D97-AF65-F5344CB8AC3E}">
        <p14:creationId xmlns:p14="http://schemas.microsoft.com/office/powerpoint/2010/main" val="293996321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A6011A-2195-2341-8EF2-FDF9291F5318}" type="datetimeFigureOut">
              <a:rPr lang="en-US" smtClean="0"/>
              <a:t>1/5/25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58C4014-1440-744A-A4A0-8373A3B5CC91}" type="slidenum">
              <a:rPr lang="en-US" smtClean="0"/>
              <a:t>‹#›</a:t>
            </a:fld>
            <a:endParaRPr lang="en-US"/>
          </a:p>
        </p:txBody>
      </p:sp>
    </p:spTree>
    <p:extLst>
      <p:ext uri="{BB962C8B-B14F-4D97-AF65-F5344CB8AC3E}">
        <p14:creationId xmlns:p14="http://schemas.microsoft.com/office/powerpoint/2010/main" val="245971161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7A6011A-2195-2341-8EF2-FDF9291F5318}" type="datetimeFigureOut">
              <a:rPr lang="en-US" smtClean="0"/>
              <a:t>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8C4014-1440-744A-A4A0-8373A3B5CC91}" type="slidenum">
              <a:rPr lang="en-US" smtClean="0"/>
              <a:t>‹#›</a:t>
            </a:fld>
            <a:endParaRPr lang="en-US"/>
          </a:p>
        </p:txBody>
      </p:sp>
    </p:spTree>
    <p:extLst>
      <p:ext uri="{BB962C8B-B14F-4D97-AF65-F5344CB8AC3E}">
        <p14:creationId xmlns:p14="http://schemas.microsoft.com/office/powerpoint/2010/main" val="295642248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7A6011A-2195-2341-8EF2-FDF9291F5318}" type="datetimeFigureOut">
              <a:rPr lang="en-US" smtClean="0"/>
              <a:t>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8C4014-1440-744A-A4A0-8373A3B5CC91}" type="slidenum">
              <a:rPr lang="en-US" smtClean="0"/>
              <a:t>‹#›</a:t>
            </a:fld>
            <a:endParaRPr lang="en-US"/>
          </a:p>
        </p:txBody>
      </p:sp>
    </p:spTree>
    <p:extLst>
      <p:ext uri="{BB962C8B-B14F-4D97-AF65-F5344CB8AC3E}">
        <p14:creationId xmlns:p14="http://schemas.microsoft.com/office/powerpoint/2010/main" val="294248121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A6011A-2195-2341-8EF2-FDF9291F5318}" type="datetimeFigureOut">
              <a:rPr lang="en-US" smtClean="0"/>
              <a:t>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8C4014-1440-744A-A4A0-8373A3B5CC91}" type="slidenum">
              <a:rPr lang="en-US" smtClean="0"/>
              <a:t>‹#›</a:t>
            </a:fld>
            <a:endParaRPr lang="en-US"/>
          </a:p>
        </p:txBody>
      </p:sp>
    </p:spTree>
    <p:extLst>
      <p:ext uri="{BB962C8B-B14F-4D97-AF65-F5344CB8AC3E}">
        <p14:creationId xmlns:p14="http://schemas.microsoft.com/office/powerpoint/2010/main" val="45782365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A6011A-2195-2341-8EF2-FDF9291F5318}" type="datetimeFigureOut">
              <a:rPr lang="en-US" smtClean="0"/>
              <a:t>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8C4014-1440-744A-A4A0-8373A3B5CC91}" type="slidenum">
              <a:rPr lang="en-US" smtClean="0"/>
              <a:t>‹#›</a:t>
            </a:fld>
            <a:endParaRPr lang="en-US"/>
          </a:p>
        </p:txBody>
      </p:sp>
    </p:spTree>
    <p:extLst>
      <p:ext uri="{BB962C8B-B14F-4D97-AF65-F5344CB8AC3E}">
        <p14:creationId xmlns:p14="http://schemas.microsoft.com/office/powerpoint/2010/main" val="28615934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6082" name="Rectangle 2"/>
          <p:cNvSpPr>
            <a:spLocks noGrp="1" noChangeArrowheads="1"/>
          </p:cNvSpPr>
          <p:nvPr>
            <p:ph type="ctrTitle"/>
          </p:nvPr>
        </p:nvSpPr>
        <p:spPr>
          <a:xfrm>
            <a:off x="685800" y="2286000"/>
            <a:ext cx="7772400" cy="1143000"/>
          </a:xfrm>
        </p:spPr>
        <p:txBody>
          <a:bodyPr/>
          <a:lstStyle>
            <a:lvl1pPr>
              <a:defRPr/>
            </a:lvl1pPr>
          </a:lstStyle>
          <a:p>
            <a:r>
              <a:rPr lang="en-US"/>
              <a:t>Click to edit Master title style</a:t>
            </a:r>
          </a:p>
        </p:txBody>
      </p:sp>
      <p:sp>
        <p:nvSpPr>
          <p:cNvPr id="46083" name="Rectangle 3"/>
          <p:cNvSpPr>
            <a:spLocks noGrp="1" noChangeArrowheads="1"/>
          </p:cNvSpPr>
          <p:nvPr>
            <p:ph type="subTitle" idx="1"/>
          </p:nvPr>
        </p:nvSpPr>
        <p:spPr>
          <a:xfrm>
            <a:off x="1371600" y="3886200"/>
            <a:ext cx="6400800" cy="1752600"/>
          </a:xfrm>
        </p:spPr>
        <p:txBody>
          <a:bodyPr/>
          <a:lstStyle>
            <a:lvl1pPr marL="0" indent="0" algn="ctr">
              <a:buFont typeface="Times" charset="0"/>
              <a:buNone/>
              <a:defRPr/>
            </a:lvl1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A5AC3D1-AFF1-DF4D-BD59-FF8FD6CAE707}" type="slidenum">
              <a:rPr lang="en-US"/>
              <a:pPr>
                <a:defRPr/>
              </a:pPr>
              <a:t>‹#›</a:t>
            </a:fld>
            <a:endParaRPr lang="en-US" dirty="0"/>
          </a:p>
        </p:txBody>
      </p:sp>
    </p:spTree>
    <p:extLst>
      <p:ext uri="{BB962C8B-B14F-4D97-AF65-F5344CB8AC3E}">
        <p14:creationId xmlns:p14="http://schemas.microsoft.com/office/powerpoint/2010/main" val="425886195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B7329EC-83B4-8A42-B6D8-8C023A66771E}" type="slidenum">
              <a:rPr lang="en-US"/>
              <a:pPr>
                <a:defRPr/>
              </a:pPr>
              <a:t>‹#›</a:t>
            </a:fld>
            <a:endParaRPr lang="en-US" dirty="0"/>
          </a:p>
        </p:txBody>
      </p:sp>
    </p:spTree>
    <p:extLst>
      <p:ext uri="{BB962C8B-B14F-4D97-AF65-F5344CB8AC3E}">
        <p14:creationId xmlns:p14="http://schemas.microsoft.com/office/powerpoint/2010/main" val="181827349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852B3E44-AABB-B944-A29C-BA603115717C}" type="slidenum">
              <a:rPr lang="en-US"/>
              <a:pPr>
                <a:defRPr/>
              </a:pPr>
              <a:t>‹#›</a:t>
            </a:fld>
            <a:endParaRPr lang="en-US" dirty="0"/>
          </a:p>
        </p:txBody>
      </p:sp>
    </p:spTree>
    <p:extLst>
      <p:ext uri="{BB962C8B-B14F-4D97-AF65-F5344CB8AC3E}">
        <p14:creationId xmlns:p14="http://schemas.microsoft.com/office/powerpoint/2010/main" val="236813075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D4A5A0E-E26F-2848-B554-D5E7F0C01CF8}" type="slidenum">
              <a:rPr lang="en-US"/>
              <a:pPr>
                <a:defRPr/>
              </a:pPr>
              <a:t>‹#›</a:t>
            </a:fld>
            <a:endParaRPr lang="en-US" dirty="0"/>
          </a:p>
        </p:txBody>
      </p:sp>
    </p:spTree>
    <p:extLst>
      <p:ext uri="{BB962C8B-B14F-4D97-AF65-F5344CB8AC3E}">
        <p14:creationId xmlns:p14="http://schemas.microsoft.com/office/powerpoint/2010/main" val="319218951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B699624C-7FFE-1146-9456-F556B6104CF6}" type="slidenum">
              <a:rPr lang="en-US"/>
              <a:pPr>
                <a:defRPr/>
              </a:pPr>
              <a:t>‹#›</a:t>
            </a:fld>
            <a:endParaRPr lang="en-US" dirty="0"/>
          </a:p>
        </p:txBody>
      </p:sp>
    </p:spTree>
    <p:extLst>
      <p:ext uri="{BB962C8B-B14F-4D97-AF65-F5344CB8AC3E}">
        <p14:creationId xmlns:p14="http://schemas.microsoft.com/office/powerpoint/2010/main" val="24450697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98AF379E-9CCD-F647-B17B-2840AE865FE9}" type="slidenum">
              <a:rPr lang="en-US"/>
              <a:pPr>
                <a:defRPr/>
              </a:pPr>
              <a:t>‹#›</a:t>
            </a:fld>
            <a:endParaRPr lang="en-US" dirty="0"/>
          </a:p>
        </p:txBody>
      </p:sp>
    </p:spTree>
    <p:extLst>
      <p:ext uri="{BB962C8B-B14F-4D97-AF65-F5344CB8AC3E}">
        <p14:creationId xmlns:p14="http://schemas.microsoft.com/office/powerpoint/2010/main" val="250146588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1C2DE4F2-C219-5943-8F33-9B6D54E746FF}" type="slidenum">
              <a:rPr lang="en-US"/>
              <a:pPr>
                <a:defRPr/>
              </a:pPr>
              <a:t>‹#›</a:t>
            </a:fld>
            <a:endParaRPr lang="en-US" dirty="0"/>
          </a:p>
        </p:txBody>
      </p:sp>
    </p:spTree>
    <p:extLst>
      <p:ext uri="{BB962C8B-B14F-4D97-AF65-F5344CB8AC3E}">
        <p14:creationId xmlns:p14="http://schemas.microsoft.com/office/powerpoint/2010/main" val="410798488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71B0D86C-65CC-5549-9F75-20424D493941}" type="slidenum">
              <a:rPr lang="en-US"/>
              <a:pPr>
                <a:defRPr/>
              </a:pPr>
              <a:t>‹#›</a:t>
            </a:fld>
            <a:endParaRPr lang="en-US" dirty="0"/>
          </a:p>
        </p:txBody>
      </p:sp>
    </p:spTree>
    <p:extLst>
      <p:ext uri="{BB962C8B-B14F-4D97-AF65-F5344CB8AC3E}">
        <p14:creationId xmlns:p14="http://schemas.microsoft.com/office/powerpoint/2010/main" val="332402638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28208E46-4E7D-DA47-80AE-2167A5A5E9A9}" type="slidenum">
              <a:rPr lang="en-US"/>
              <a:pPr>
                <a:defRPr/>
              </a:pPr>
              <a:t>‹#›</a:t>
            </a:fld>
            <a:endParaRPr lang="en-US" dirty="0"/>
          </a:p>
        </p:txBody>
      </p:sp>
    </p:spTree>
    <p:extLst>
      <p:ext uri="{BB962C8B-B14F-4D97-AF65-F5344CB8AC3E}">
        <p14:creationId xmlns:p14="http://schemas.microsoft.com/office/powerpoint/2010/main" val="89821979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6CE1FAF-409E-5845-B682-2006D642DF8A}" type="slidenum">
              <a:rPr lang="en-US"/>
              <a:pPr>
                <a:defRPr/>
              </a:pPr>
              <a:t>‹#›</a:t>
            </a:fld>
            <a:endParaRPr lang="en-US" dirty="0"/>
          </a:p>
        </p:txBody>
      </p:sp>
    </p:spTree>
    <p:extLst>
      <p:ext uri="{BB962C8B-B14F-4D97-AF65-F5344CB8AC3E}">
        <p14:creationId xmlns:p14="http://schemas.microsoft.com/office/powerpoint/2010/main" val="229651004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A4E5AD1-324E-7A41-892C-18F203377F75}" type="slidenum">
              <a:rPr lang="en-US"/>
              <a:pPr>
                <a:defRPr/>
              </a:pPr>
              <a:t>‹#›</a:t>
            </a:fld>
            <a:endParaRPr lang="en-US" dirty="0"/>
          </a:p>
        </p:txBody>
      </p:sp>
    </p:spTree>
    <p:extLst>
      <p:ext uri="{BB962C8B-B14F-4D97-AF65-F5344CB8AC3E}">
        <p14:creationId xmlns:p14="http://schemas.microsoft.com/office/powerpoint/2010/main" val="18388120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OverTx" preserve="1">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Content Placeholder 2"/>
          <p:cNvSpPr>
            <a:spLocks noGrp="1"/>
          </p:cNvSpPr>
          <p:nvPr>
            <p:ph sz="quarter" idx="1"/>
          </p:nvPr>
        </p:nvSpPr>
        <p:spPr>
          <a:xfrm>
            <a:off x="685800"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685800" y="4114800"/>
            <a:ext cx="7772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C4D80F77-68FB-8F40-922D-04E03DF27F19}" type="slidenum">
              <a:rPr lang="en-US"/>
              <a:pPr>
                <a:defRPr/>
              </a:pPr>
              <a:t>‹#›</a:t>
            </a:fld>
            <a:endParaRPr lang="en-US" dirty="0"/>
          </a:p>
        </p:txBody>
      </p:sp>
    </p:spTree>
    <p:extLst>
      <p:ext uri="{BB962C8B-B14F-4D97-AF65-F5344CB8AC3E}">
        <p14:creationId xmlns:p14="http://schemas.microsoft.com/office/powerpoint/2010/main" val="251671287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Content Placeholder 2"/>
          <p:cNvSpPr>
            <a:spLocks noGrp="1"/>
          </p:cNvSpPr>
          <p:nvPr>
            <p:ph sz="half" idx="1"/>
          </p:nvPr>
        </p:nvSpPr>
        <p:spPr>
          <a:xfrm>
            <a:off x="685800" y="1981200"/>
            <a:ext cx="7772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5800" y="4114800"/>
            <a:ext cx="7772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2C85ED14-1037-8B4B-A4C0-53D82E1C0347}" type="slidenum">
              <a:rPr lang="en-US"/>
              <a:pPr>
                <a:defRPr/>
              </a:pPr>
              <a:t>‹#›</a:t>
            </a:fld>
            <a:endParaRPr lang="en-US" dirty="0"/>
          </a:p>
        </p:txBody>
      </p:sp>
    </p:spTree>
    <p:extLst>
      <p:ext uri="{BB962C8B-B14F-4D97-AF65-F5344CB8AC3E}">
        <p14:creationId xmlns:p14="http://schemas.microsoft.com/office/powerpoint/2010/main" val="427242840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41" descr="ppt_titlepage_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 name="Rectangle 3"/>
          <p:cNvSpPr>
            <a:spLocks noGrp="1" noChangeArrowheads="1"/>
          </p:cNvSpPr>
          <p:nvPr>
            <p:ph type="ctrTitle"/>
          </p:nvPr>
        </p:nvSpPr>
        <p:spPr>
          <a:xfrm>
            <a:off x="533400" y="762000"/>
            <a:ext cx="8077200" cy="2133600"/>
          </a:xfrm>
        </p:spPr>
        <p:txBody>
          <a:bodyPr/>
          <a:lstStyle>
            <a:lvl1pPr>
              <a:defRPr sz="3600"/>
            </a:lvl1pPr>
          </a:lstStyle>
          <a:p>
            <a:pPr lvl="0"/>
            <a:r>
              <a:rPr lang="en-US" noProof="0"/>
              <a:t>Click to edit Master title style</a:t>
            </a:r>
          </a:p>
        </p:txBody>
      </p:sp>
      <p:sp>
        <p:nvSpPr>
          <p:cNvPr id="5124" name="Rectangle 4"/>
          <p:cNvSpPr>
            <a:spLocks noGrp="1" noChangeArrowheads="1"/>
          </p:cNvSpPr>
          <p:nvPr>
            <p:ph type="subTitle" idx="1"/>
          </p:nvPr>
        </p:nvSpPr>
        <p:spPr>
          <a:xfrm>
            <a:off x="533400" y="3124200"/>
            <a:ext cx="8077200" cy="2362200"/>
          </a:xfrm>
        </p:spPr>
        <p:txBody>
          <a:bodyPr/>
          <a:lstStyle>
            <a:lvl1pPr marL="0" indent="0">
              <a:buFont typeface="Wingdings" charset="0"/>
              <a:buNone/>
              <a:defRPr sz="2400">
                <a:solidFill>
                  <a:srgbClr val="2D6CC0"/>
                </a:solidFill>
                <a:effectLst>
                  <a:outerShdw blurRad="38100" dist="38100" dir="2700000" algn="tl">
                    <a:srgbClr val="DDDDDD"/>
                  </a:outerShdw>
                </a:effectLst>
              </a:defRPr>
            </a:lvl1pPr>
          </a:lstStyle>
          <a:p>
            <a:pPr lvl="0"/>
            <a:r>
              <a:rPr lang="en-US" noProof="0"/>
              <a:t>Click to edit Master subtitle style</a:t>
            </a:r>
          </a:p>
        </p:txBody>
      </p:sp>
      <p:sp>
        <p:nvSpPr>
          <p:cNvPr id="5" name="Rectangle 5"/>
          <p:cNvSpPr>
            <a:spLocks noGrp="1" noChangeArrowheads="1"/>
          </p:cNvSpPr>
          <p:nvPr>
            <p:ph type="dt" sz="half" idx="10"/>
          </p:nvPr>
        </p:nvSpPr>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ftr" sz="quarter" idx="11"/>
          </p:nvPr>
        </p:nvSpPr>
        <p:spPr/>
        <p:txBody>
          <a:bodyPr/>
          <a:lstStyle>
            <a:lvl1pPr>
              <a:defRPr/>
            </a:lvl1pPr>
          </a:lstStyle>
          <a:p>
            <a:pPr>
              <a:defRPr/>
            </a:pPr>
            <a:endParaRPr lang="en-US">
              <a:solidFill>
                <a:srgbClr val="000000"/>
              </a:solidFill>
            </a:endParaRPr>
          </a:p>
        </p:txBody>
      </p:sp>
      <p:sp>
        <p:nvSpPr>
          <p:cNvPr id="7" name="Rectangle 7"/>
          <p:cNvSpPr>
            <a:spLocks noGrp="1" noChangeArrowheads="1"/>
          </p:cNvSpPr>
          <p:nvPr>
            <p:ph type="sldNum" sz="quarter" idx="12"/>
          </p:nvPr>
        </p:nvSpPr>
        <p:spPr/>
        <p:txBody>
          <a:bodyPr/>
          <a:lstStyle>
            <a:lvl1pPr>
              <a:defRPr smtClean="0"/>
            </a:lvl1pPr>
          </a:lstStyle>
          <a:p>
            <a:pPr>
              <a:defRPr/>
            </a:pPr>
            <a:fld id="{B181EED2-AF24-4842-AE21-65ABC8B561C7}"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30657917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7"/>
          <p:cNvSpPr>
            <a:spLocks noGrp="1" noChangeArrowheads="1"/>
          </p:cNvSpPr>
          <p:nvPr>
            <p:ph type="sldNum" sz="quarter" idx="12"/>
          </p:nvPr>
        </p:nvSpPr>
        <p:spPr>
          <a:ln/>
        </p:spPr>
        <p:txBody>
          <a:bodyPr/>
          <a:lstStyle>
            <a:lvl1pPr>
              <a:defRPr/>
            </a:lvl1pPr>
          </a:lstStyle>
          <a:p>
            <a:pPr>
              <a:defRPr/>
            </a:pPr>
            <a:fld id="{98B7AEE3-F706-9B46-8286-932510D8ADC9}"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202807137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5"/>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7"/>
          <p:cNvSpPr>
            <a:spLocks noGrp="1" noChangeArrowheads="1"/>
          </p:cNvSpPr>
          <p:nvPr>
            <p:ph type="sldNum" sz="quarter" idx="12"/>
          </p:nvPr>
        </p:nvSpPr>
        <p:spPr>
          <a:ln/>
        </p:spPr>
        <p:txBody>
          <a:bodyPr/>
          <a:lstStyle>
            <a:lvl1pPr>
              <a:defRPr/>
            </a:lvl1pPr>
          </a:lstStyle>
          <a:p>
            <a:pPr>
              <a:defRPr/>
            </a:pPr>
            <a:fld id="{FD88853B-FEF8-F646-8C1E-F899EDB722FE}"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54814982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24000"/>
            <a:ext cx="4038600" cy="47244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524000"/>
            <a:ext cx="4038600" cy="47244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7"/>
          <p:cNvSpPr>
            <a:spLocks noGrp="1" noChangeArrowheads="1"/>
          </p:cNvSpPr>
          <p:nvPr>
            <p:ph type="sldNum" sz="quarter" idx="12"/>
          </p:nvPr>
        </p:nvSpPr>
        <p:spPr>
          <a:ln/>
        </p:spPr>
        <p:txBody>
          <a:bodyPr/>
          <a:lstStyle>
            <a:lvl1pPr>
              <a:defRPr/>
            </a:lvl1pPr>
          </a:lstStyle>
          <a:p>
            <a:pPr>
              <a:defRPr/>
            </a:pPr>
            <a:fld id="{27EE424D-24E4-4946-ABFE-4213074519AA}"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56979664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6"/>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7"/>
          <p:cNvSpPr>
            <a:spLocks noGrp="1" noChangeArrowheads="1"/>
          </p:cNvSpPr>
          <p:nvPr>
            <p:ph type="sldNum" sz="quarter" idx="12"/>
          </p:nvPr>
        </p:nvSpPr>
        <p:spPr>
          <a:ln/>
        </p:spPr>
        <p:txBody>
          <a:bodyPr/>
          <a:lstStyle>
            <a:lvl1pPr>
              <a:defRPr/>
            </a:lvl1pPr>
          </a:lstStyle>
          <a:p>
            <a:pPr>
              <a:defRPr/>
            </a:pPr>
            <a:fld id="{54DBA80E-60A9-6B46-8B20-7CC28AEED77E}"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365444755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5" name="Rectangle 7"/>
          <p:cNvSpPr>
            <a:spLocks noGrp="1" noChangeArrowheads="1"/>
          </p:cNvSpPr>
          <p:nvPr>
            <p:ph type="sldNum" sz="quarter" idx="12"/>
          </p:nvPr>
        </p:nvSpPr>
        <p:spPr>
          <a:ln/>
        </p:spPr>
        <p:txBody>
          <a:bodyPr/>
          <a:lstStyle>
            <a:lvl1pPr>
              <a:defRPr/>
            </a:lvl1pPr>
          </a:lstStyle>
          <a:p>
            <a:pPr>
              <a:defRPr/>
            </a:pPr>
            <a:fld id="{4DD6FB6A-CBB4-1F46-ABF7-21C2053051B3}"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53121117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3" name="Rectangle 6"/>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4" name="Rectangle 7"/>
          <p:cNvSpPr>
            <a:spLocks noGrp="1" noChangeArrowheads="1"/>
          </p:cNvSpPr>
          <p:nvPr>
            <p:ph type="sldNum" sz="quarter" idx="12"/>
          </p:nvPr>
        </p:nvSpPr>
        <p:spPr>
          <a:ln/>
        </p:spPr>
        <p:txBody>
          <a:bodyPr/>
          <a:lstStyle>
            <a:lvl1pPr>
              <a:defRPr/>
            </a:lvl1pPr>
          </a:lstStyle>
          <a:p>
            <a:pPr>
              <a:defRPr/>
            </a:pPr>
            <a:fld id="{E8FFB127-6C86-3041-B75B-53B5176A15C8}"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84541490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7"/>
          <p:cNvSpPr>
            <a:spLocks noGrp="1" noChangeArrowheads="1"/>
          </p:cNvSpPr>
          <p:nvPr>
            <p:ph type="sldNum" sz="quarter" idx="12"/>
          </p:nvPr>
        </p:nvSpPr>
        <p:spPr>
          <a:ln/>
        </p:spPr>
        <p:txBody>
          <a:bodyPr/>
          <a:lstStyle>
            <a:lvl1pPr>
              <a:defRPr/>
            </a:lvl1pPr>
          </a:lstStyle>
          <a:p>
            <a:pPr>
              <a:defRPr/>
            </a:pPr>
            <a:fld id="{01433BBB-4B32-1340-AA84-A89F811AEA93}"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88965952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7"/>
          <p:cNvSpPr>
            <a:spLocks noGrp="1" noChangeArrowheads="1"/>
          </p:cNvSpPr>
          <p:nvPr>
            <p:ph type="sldNum" sz="quarter" idx="12"/>
          </p:nvPr>
        </p:nvSpPr>
        <p:spPr>
          <a:ln/>
        </p:spPr>
        <p:txBody>
          <a:bodyPr/>
          <a:lstStyle>
            <a:lvl1pPr>
              <a:defRPr/>
            </a:lvl1pPr>
          </a:lstStyle>
          <a:p>
            <a:pPr>
              <a:defRPr/>
            </a:pPr>
            <a:fld id="{E0270C7C-6FC6-364A-99A9-07F5B4E96582}"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411099983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7"/>
          <p:cNvSpPr>
            <a:spLocks noGrp="1" noChangeArrowheads="1"/>
          </p:cNvSpPr>
          <p:nvPr>
            <p:ph type="sldNum" sz="quarter" idx="12"/>
          </p:nvPr>
        </p:nvSpPr>
        <p:spPr>
          <a:ln/>
        </p:spPr>
        <p:txBody>
          <a:bodyPr/>
          <a:lstStyle>
            <a:lvl1pPr>
              <a:defRPr/>
            </a:lvl1pPr>
          </a:lstStyle>
          <a:p>
            <a:pPr>
              <a:defRPr/>
            </a:pPr>
            <a:fld id="{D6D3D8D9-D320-D344-B2B4-910ECA105594}"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62445245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85800"/>
            <a:ext cx="2057400" cy="5562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685800"/>
            <a:ext cx="6019800" cy="5562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7"/>
          <p:cNvSpPr>
            <a:spLocks noGrp="1" noChangeArrowheads="1"/>
          </p:cNvSpPr>
          <p:nvPr>
            <p:ph type="sldNum" sz="quarter" idx="12"/>
          </p:nvPr>
        </p:nvSpPr>
        <p:spPr>
          <a:ln/>
        </p:spPr>
        <p:txBody>
          <a:bodyPr/>
          <a:lstStyle>
            <a:lvl1pPr>
              <a:defRPr/>
            </a:lvl1pPr>
          </a:lstStyle>
          <a:p>
            <a:pPr>
              <a:defRPr/>
            </a:pPr>
            <a:fld id="{631B192A-B08F-3B49-9E4D-063E432B511B}"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602685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heme" Target="../theme/theme2.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4" Type="http://schemas.openxmlformats.org/officeDocument/2006/relationships/image" Target="../media/image9.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theme" Target="../theme/theme4.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slideLayout" Target="../slideLayouts/slideLayout53.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1.xml"/><Relationship Id="rId13" Type="http://schemas.openxmlformats.org/officeDocument/2006/relationships/image" Target="../media/image10.png"/><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theme" Target="../theme/theme6.xml"/><Relationship Id="rId2" Type="http://schemas.openxmlformats.org/officeDocument/2006/relationships/slideLayout" Target="../slideLayouts/slideLayout55.xml"/><Relationship Id="rId16" Type="http://schemas.openxmlformats.org/officeDocument/2006/relationships/image" Target="../media/image13.png"/><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5" Type="http://schemas.openxmlformats.org/officeDocument/2006/relationships/image" Target="../media/image12.png"/><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 Id="rId14" Type="http://schemas.openxmlformats.org/officeDocument/2006/relationships/image" Target="../media/image1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descr="Globe_Alone_rgb.jpg"/>
          <p:cNvPicPr>
            <a:picLocks noChangeAspect="1"/>
          </p:cNvPicPr>
          <p:nvPr/>
        </p:nvPicPr>
        <p:blipFill>
          <a:blip r:embed="rId14"/>
          <a:stretch>
            <a:fillRect/>
          </a:stretch>
        </p:blipFill>
        <p:spPr>
          <a:xfrm>
            <a:off x="8405330" y="6282266"/>
            <a:ext cx="369437" cy="369437"/>
          </a:xfrm>
          <a:prstGeom prst="rect">
            <a:avLst/>
          </a:prstGeom>
        </p:spPr>
      </p:pic>
      <p:sp>
        <p:nvSpPr>
          <p:cNvPr id="6" name="Slide Number Placeholder 7"/>
          <p:cNvSpPr>
            <a:spLocks noGrp="1"/>
          </p:cNvSpPr>
          <p:nvPr>
            <p:ph type="sldNum" sz="quarter" idx="4"/>
          </p:nvPr>
        </p:nvSpPr>
        <p:spPr>
          <a:xfrm>
            <a:off x="402166" y="6341880"/>
            <a:ext cx="385235" cy="152400"/>
          </a:xfrm>
          <a:prstGeom prst="rect">
            <a:avLst/>
          </a:prstGeom>
        </p:spPr>
        <p:txBody>
          <a:bodyPr vert="horz" lIns="0" tIns="0" rIns="0" bIns="0" rtlCol="0" anchor="t" anchorCtr="0"/>
          <a:lstStyle>
            <a:lvl1pPr algn="l">
              <a:defRPr sz="800" b="1">
                <a:solidFill>
                  <a:schemeClr val="accent1"/>
                </a:solidFill>
              </a:defRPr>
            </a:lvl1pPr>
          </a:lstStyle>
          <a:p>
            <a:fld id="{1DEFE11F-158B-594E-8BEE-CC26B87FEB38}" type="slidenum">
              <a:rPr lang="en-US" smtClean="0"/>
              <a:pPr/>
              <a:t>‹#›</a:t>
            </a:fld>
            <a:endParaRPr lang="en-US" dirty="0"/>
          </a:p>
        </p:txBody>
      </p:sp>
      <p:sp>
        <p:nvSpPr>
          <p:cNvPr id="9" name="TextBox 8"/>
          <p:cNvSpPr txBox="1"/>
          <p:nvPr/>
        </p:nvSpPr>
        <p:spPr>
          <a:xfrm>
            <a:off x="828676" y="6361987"/>
            <a:ext cx="5495925" cy="184666"/>
          </a:xfrm>
          <a:prstGeom prst="rect">
            <a:avLst/>
          </a:prstGeom>
          <a:noFill/>
        </p:spPr>
        <p:txBody>
          <a:bodyPr wrap="square" lIns="0" tIns="0" rIns="0" bIns="0" rtlCol="0" anchor="t" anchorCtr="0">
            <a:spAutoFit/>
          </a:bodyPr>
          <a:lstStyle/>
          <a:p>
            <a:pPr algn="l">
              <a:lnSpc>
                <a:spcPct val="100000"/>
              </a:lnSpc>
              <a:spcBef>
                <a:spcPts val="0"/>
              </a:spcBef>
            </a:pPr>
            <a:r>
              <a:rPr lang="en-US" sz="600" dirty="0">
                <a:solidFill>
                  <a:schemeClr val="accent1"/>
                </a:solidFill>
              </a:rPr>
              <a:t>© 2011 AT&amp;T Intellectual Property. All rights reserved. AT&amp;T, the AT&amp;T</a:t>
            </a:r>
            <a:r>
              <a:rPr lang="en-US" sz="600" baseline="0" dirty="0">
                <a:solidFill>
                  <a:schemeClr val="accent1"/>
                </a:solidFill>
              </a:rPr>
              <a:t> </a:t>
            </a:r>
            <a:r>
              <a:rPr lang="en-US" sz="600" dirty="0">
                <a:solidFill>
                  <a:schemeClr val="accent1"/>
                </a:solidFill>
              </a:rPr>
              <a:t>logo and all other AT&amp;T marks contained herein are trademarks of AT&amp;T</a:t>
            </a:r>
            <a:r>
              <a:rPr lang="en-US" sz="600" baseline="0" dirty="0">
                <a:solidFill>
                  <a:schemeClr val="accent1"/>
                </a:solidFill>
              </a:rPr>
              <a:t> </a:t>
            </a:r>
            <a:r>
              <a:rPr lang="en-US" sz="600" dirty="0">
                <a:solidFill>
                  <a:schemeClr val="accent1"/>
                </a:solidFill>
              </a:rPr>
              <a:t>Intellectual Property and/or AT&amp;T affiliated companies. All other marks</a:t>
            </a:r>
            <a:r>
              <a:rPr lang="en-US" sz="600" baseline="0" dirty="0">
                <a:solidFill>
                  <a:schemeClr val="accent1"/>
                </a:solidFill>
              </a:rPr>
              <a:t> </a:t>
            </a:r>
            <a:r>
              <a:rPr lang="en-US" sz="600" dirty="0">
                <a:solidFill>
                  <a:schemeClr val="accent1"/>
                </a:solidFill>
              </a:rPr>
              <a:t>contained herein are the property of their respective owners.</a:t>
            </a:r>
          </a:p>
        </p:txBody>
      </p:sp>
    </p:spTree>
    <p:extLst>
      <p:ext uri="{BB962C8B-B14F-4D97-AF65-F5344CB8AC3E}">
        <p14:creationId xmlns:p14="http://schemas.microsoft.com/office/powerpoint/2010/main" val="7339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1" r:id="rId10"/>
    <p:sldLayoutId id="2147483672" r:id="rId11"/>
    <p:sldLayoutId id="2147483673" r:id="rId12"/>
  </p:sldLayoutIdLst>
  <p:hf hdr="0" dt="0"/>
  <p:txStyles>
    <p:titleStyle>
      <a:lvl1pPr algn="l" defTabSz="947738" rtl="0" eaLnBrk="0" fontAlgn="base" hangingPunct="0">
        <a:lnSpc>
          <a:spcPct val="105000"/>
        </a:lnSpc>
        <a:spcBef>
          <a:spcPct val="0"/>
        </a:spcBef>
        <a:spcAft>
          <a:spcPct val="0"/>
        </a:spcAft>
        <a:defRPr sz="2600" b="1">
          <a:solidFill>
            <a:schemeClr val="accent1"/>
          </a:solidFill>
          <a:latin typeface="+mj-lt"/>
          <a:ea typeface="+mj-ea"/>
          <a:cs typeface="+mj-cs"/>
        </a:defRPr>
      </a:lvl1pPr>
      <a:lvl2pPr algn="l" defTabSz="947738" rtl="0" eaLnBrk="0" fontAlgn="base" hangingPunct="0">
        <a:lnSpc>
          <a:spcPct val="105000"/>
        </a:lnSpc>
        <a:spcBef>
          <a:spcPct val="0"/>
        </a:spcBef>
        <a:spcAft>
          <a:spcPct val="0"/>
        </a:spcAft>
        <a:defRPr sz="2600" b="1">
          <a:solidFill>
            <a:schemeClr val="accent1"/>
          </a:solidFill>
          <a:latin typeface="Verdana" pitchFamily="-111" charset="0"/>
        </a:defRPr>
      </a:lvl2pPr>
      <a:lvl3pPr algn="l" defTabSz="947738" rtl="0" eaLnBrk="0" fontAlgn="base" hangingPunct="0">
        <a:lnSpc>
          <a:spcPct val="105000"/>
        </a:lnSpc>
        <a:spcBef>
          <a:spcPct val="0"/>
        </a:spcBef>
        <a:spcAft>
          <a:spcPct val="0"/>
        </a:spcAft>
        <a:defRPr sz="2600" b="1">
          <a:solidFill>
            <a:schemeClr val="accent1"/>
          </a:solidFill>
          <a:latin typeface="Verdana" pitchFamily="-111" charset="0"/>
        </a:defRPr>
      </a:lvl3pPr>
      <a:lvl4pPr algn="l" defTabSz="947738" rtl="0" eaLnBrk="0" fontAlgn="base" hangingPunct="0">
        <a:lnSpc>
          <a:spcPct val="105000"/>
        </a:lnSpc>
        <a:spcBef>
          <a:spcPct val="0"/>
        </a:spcBef>
        <a:spcAft>
          <a:spcPct val="0"/>
        </a:spcAft>
        <a:defRPr sz="2600" b="1">
          <a:solidFill>
            <a:schemeClr val="accent1"/>
          </a:solidFill>
          <a:latin typeface="Verdana" pitchFamily="-111" charset="0"/>
        </a:defRPr>
      </a:lvl4pPr>
      <a:lvl5pPr algn="l" defTabSz="947738" rtl="0" eaLnBrk="0" fontAlgn="base" hangingPunct="0">
        <a:lnSpc>
          <a:spcPct val="105000"/>
        </a:lnSpc>
        <a:spcBef>
          <a:spcPct val="0"/>
        </a:spcBef>
        <a:spcAft>
          <a:spcPct val="0"/>
        </a:spcAft>
        <a:defRPr sz="2600" b="1">
          <a:solidFill>
            <a:schemeClr val="accent1"/>
          </a:solidFill>
          <a:latin typeface="Verdana" pitchFamily="-111" charset="0"/>
        </a:defRPr>
      </a:lvl5pPr>
      <a:lvl6pPr marL="457200" algn="l" defTabSz="947738" rtl="0" eaLnBrk="0" fontAlgn="base" hangingPunct="0">
        <a:lnSpc>
          <a:spcPct val="105000"/>
        </a:lnSpc>
        <a:spcBef>
          <a:spcPct val="0"/>
        </a:spcBef>
        <a:spcAft>
          <a:spcPct val="0"/>
        </a:spcAft>
        <a:defRPr sz="2600" b="1">
          <a:solidFill>
            <a:schemeClr val="accent1"/>
          </a:solidFill>
          <a:latin typeface="Verdana" pitchFamily="-111" charset="0"/>
        </a:defRPr>
      </a:lvl6pPr>
      <a:lvl7pPr marL="914400" algn="l" defTabSz="947738" rtl="0" eaLnBrk="0" fontAlgn="base" hangingPunct="0">
        <a:lnSpc>
          <a:spcPct val="105000"/>
        </a:lnSpc>
        <a:spcBef>
          <a:spcPct val="0"/>
        </a:spcBef>
        <a:spcAft>
          <a:spcPct val="0"/>
        </a:spcAft>
        <a:defRPr sz="2600" b="1">
          <a:solidFill>
            <a:schemeClr val="accent1"/>
          </a:solidFill>
          <a:latin typeface="Verdana" pitchFamily="-111" charset="0"/>
        </a:defRPr>
      </a:lvl7pPr>
      <a:lvl8pPr marL="1371600" algn="l" defTabSz="947738" rtl="0" eaLnBrk="0" fontAlgn="base" hangingPunct="0">
        <a:lnSpc>
          <a:spcPct val="105000"/>
        </a:lnSpc>
        <a:spcBef>
          <a:spcPct val="0"/>
        </a:spcBef>
        <a:spcAft>
          <a:spcPct val="0"/>
        </a:spcAft>
        <a:defRPr sz="2600" b="1">
          <a:solidFill>
            <a:schemeClr val="accent1"/>
          </a:solidFill>
          <a:latin typeface="Verdana" pitchFamily="-111" charset="0"/>
        </a:defRPr>
      </a:lvl8pPr>
      <a:lvl9pPr marL="1828800" algn="l" defTabSz="947738" rtl="0" eaLnBrk="0" fontAlgn="base" hangingPunct="0">
        <a:lnSpc>
          <a:spcPct val="105000"/>
        </a:lnSpc>
        <a:spcBef>
          <a:spcPct val="0"/>
        </a:spcBef>
        <a:spcAft>
          <a:spcPct val="0"/>
        </a:spcAft>
        <a:defRPr sz="2600" b="1">
          <a:solidFill>
            <a:schemeClr val="accent1"/>
          </a:solidFill>
          <a:latin typeface="Verdana" pitchFamily="-111" charset="0"/>
        </a:defRPr>
      </a:lvl9pPr>
    </p:titleStyle>
    <p:bodyStyle>
      <a:lvl1pPr algn="l" defTabSz="947738" rtl="0" eaLnBrk="0" fontAlgn="base" hangingPunct="0">
        <a:spcBef>
          <a:spcPct val="20000"/>
        </a:spcBef>
        <a:spcAft>
          <a:spcPct val="20000"/>
        </a:spcAft>
        <a:buClr>
          <a:schemeClr val="tx2"/>
        </a:buClr>
        <a:buSzPct val="100000"/>
        <a:defRPr sz="2000">
          <a:solidFill>
            <a:schemeClr val="tx1"/>
          </a:solidFill>
          <a:latin typeface="+mn-lt"/>
          <a:ea typeface="+mn-ea"/>
          <a:cs typeface="+mn-cs"/>
        </a:defRPr>
      </a:lvl1pPr>
      <a:lvl2pPr marL="234950" indent="-233363" algn="l" defTabSz="947738" rtl="0" eaLnBrk="0" fontAlgn="base" hangingPunct="0">
        <a:spcBef>
          <a:spcPct val="10000"/>
        </a:spcBef>
        <a:spcAft>
          <a:spcPct val="30000"/>
        </a:spcAft>
        <a:buClr>
          <a:schemeClr val="tx1"/>
        </a:buClr>
        <a:buSzPct val="80000"/>
        <a:buChar char="•"/>
        <a:defRPr sz="2000">
          <a:solidFill>
            <a:schemeClr val="tx1"/>
          </a:solidFill>
          <a:latin typeface="+mn-lt"/>
          <a:ea typeface="ＭＳ Ｐゴシック" pitchFamily="-111" charset="-128"/>
        </a:defRPr>
      </a:lvl2pPr>
      <a:lvl3pPr marL="461963" indent="-225425" algn="l" defTabSz="947738" rtl="0" eaLnBrk="0" fontAlgn="base" hangingPunct="0">
        <a:spcBef>
          <a:spcPct val="0"/>
        </a:spcBef>
        <a:spcAft>
          <a:spcPct val="20000"/>
        </a:spcAft>
        <a:buClr>
          <a:schemeClr val="tx1"/>
        </a:buClr>
        <a:buSzPct val="80000"/>
        <a:buFont typeface="IB Wb Regular" pitchFamily="-111" charset="0"/>
        <a:buChar char="–"/>
        <a:defRPr>
          <a:solidFill>
            <a:schemeClr val="tx1"/>
          </a:solidFill>
          <a:latin typeface="+mn-lt"/>
          <a:ea typeface="ＭＳ Ｐゴシック" pitchFamily="-111" charset="-128"/>
        </a:defRPr>
      </a:lvl3pPr>
      <a:lvl4pPr marL="692150" indent="-228600" algn="l" defTabSz="947738" rtl="0" eaLnBrk="0" fontAlgn="base" hangingPunct="0">
        <a:spcBef>
          <a:spcPct val="0"/>
        </a:spcBef>
        <a:spcAft>
          <a:spcPct val="20000"/>
        </a:spcAft>
        <a:buClr>
          <a:schemeClr val="tx1"/>
        </a:buClr>
        <a:buSzPct val="80000"/>
        <a:buChar char="•"/>
        <a:defRPr sz="1600">
          <a:solidFill>
            <a:schemeClr val="tx1"/>
          </a:solidFill>
          <a:latin typeface="+mn-lt"/>
          <a:ea typeface="ＭＳ Ｐゴシック" pitchFamily="-111" charset="-128"/>
        </a:defRPr>
      </a:lvl4pPr>
      <a:lvl5pPr marL="915988" indent="-222250" algn="l" defTabSz="947738" rtl="0" eaLnBrk="0" fontAlgn="base" hangingPunct="0">
        <a:spcBef>
          <a:spcPct val="0"/>
        </a:spcBef>
        <a:spcAft>
          <a:spcPct val="20000"/>
        </a:spcAft>
        <a:buClr>
          <a:schemeClr val="tx1"/>
        </a:buClr>
        <a:buSzPct val="80000"/>
        <a:buFont typeface="Verdana" pitchFamily="-111" charset="0"/>
        <a:buChar char="–"/>
        <a:defRPr sz="1600">
          <a:solidFill>
            <a:schemeClr val="tx1"/>
          </a:solidFill>
          <a:latin typeface="+mn-lt"/>
          <a:ea typeface="ＭＳ Ｐゴシック" pitchFamily="-111" charset="-128"/>
        </a:defRPr>
      </a:lvl5pPr>
      <a:lvl6pPr marL="1373188" indent="-222250" algn="l" defTabSz="947738" rtl="0" eaLnBrk="0" fontAlgn="base" hangingPunct="0">
        <a:spcBef>
          <a:spcPct val="0"/>
        </a:spcBef>
        <a:spcAft>
          <a:spcPct val="20000"/>
        </a:spcAft>
        <a:buClr>
          <a:schemeClr val="tx1"/>
        </a:buClr>
        <a:buSzPct val="80000"/>
        <a:buFont typeface="Verdana" pitchFamily="-111" charset="0"/>
        <a:buChar char="–"/>
        <a:defRPr sz="1600">
          <a:solidFill>
            <a:schemeClr val="tx1"/>
          </a:solidFill>
          <a:latin typeface="+mn-lt"/>
          <a:ea typeface="ＭＳ Ｐゴシック" pitchFamily="-111" charset="-128"/>
        </a:defRPr>
      </a:lvl6pPr>
      <a:lvl7pPr marL="1830388" indent="-222250" algn="l" defTabSz="947738" rtl="0" eaLnBrk="0" fontAlgn="base" hangingPunct="0">
        <a:spcBef>
          <a:spcPct val="0"/>
        </a:spcBef>
        <a:spcAft>
          <a:spcPct val="20000"/>
        </a:spcAft>
        <a:buClr>
          <a:schemeClr val="tx1"/>
        </a:buClr>
        <a:buSzPct val="80000"/>
        <a:buFont typeface="Verdana" pitchFamily="-111" charset="0"/>
        <a:buChar char="–"/>
        <a:defRPr sz="1600">
          <a:solidFill>
            <a:schemeClr val="tx1"/>
          </a:solidFill>
          <a:latin typeface="+mn-lt"/>
          <a:ea typeface="ＭＳ Ｐゴシック" pitchFamily="-111" charset="-128"/>
        </a:defRPr>
      </a:lvl7pPr>
      <a:lvl8pPr marL="2287588" indent="-222250" algn="l" defTabSz="947738" rtl="0" eaLnBrk="0" fontAlgn="base" hangingPunct="0">
        <a:spcBef>
          <a:spcPct val="0"/>
        </a:spcBef>
        <a:spcAft>
          <a:spcPct val="20000"/>
        </a:spcAft>
        <a:buClr>
          <a:schemeClr val="tx1"/>
        </a:buClr>
        <a:buSzPct val="80000"/>
        <a:buFont typeface="Verdana" pitchFamily="-111" charset="0"/>
        <a:buChar char="–"/>
        <a:defRPr sz="1600">
          <a:solidFill>
            <a:schemeClr val="tx1"/>
          </a:solidFill>
          <a:latin typeface="+mn-lt"/>
          <a:ea typeface="ＭＳ Ｐゴシック" pitchFamily="-111" charset="-128"/>
        </a:defRPr>
      </a:lvl8pPr>
      <a:lvl9pPr marL="2744788" indent="-222250" algn="l" defTabSz="947738" rtl="0" eaLnBrk="0" fontAlgn="base" hangingPunct="0">
        <a:spcBef>
          <a:spcPct val="0"/>
        </a:spcBef>
        <a:spcAft>
          <a:spcPct val="20000"/>
        </a:spcAft>
        <a:buClr>
          <a:schemeClr val="tx1"/>
        </a:buClr>
        <a:buSzPct val="80000"/>
        <a:buFont typeface="Verdana" pitchFamily="-111" charset="0"/>
        <a:buChar char="–"/>
        <a:defRPr sz="1600">
          <a:solidFill>
            <a:schemeClr val="tx1"/>
          </a:solidFill>
          <a:latin typeface="+mn-lt"/>
          <a:ea typeface="ＭＳ Ｐゴシック" pitchFamily="-111"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33400" y="228600"/>
            <a:ext cx="77724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37" tIns="45717" rIns="91437" bIns="45717"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533400" y="1611316"/>
            <a:ext cx="7772400" cy="4648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37" tIns="45717" rIns="91437" bIns="45717"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685802" y="6248400"/>
            <a:ext cx="1905000" cy="457200"/>
          </a:xfrm>
          <a:prstGeom prst="rect">
            <a:avLst/>
          </a:prstGeom>
          <a:noFill/>
          <a:ln w="9525">
            <a:noFill/>
            <a:miter lim="800000"/>
            <a:headEnd/>
            <a:tailEnd/>
          </a:ln>
          <a:effectLst/>
        </p:spPr>
        <p:txBody>
          <a:bodyPr vert="horz" wrap="square" lIns="91437" tIns="45717" rIns="91437" bIns="45717" numCol="1" anchor="t" anchorCtr="0" compatLnSpc="1">
            <a:prstTxWarp prst="textNoShape">
              <a:avLst/>
            </a:prstTxWarp>
          </a:bodyPr>
          <a:lstStyle>
            <a:lvl1pPr>
              <a:defRPr sz="1400">
                <a:latin typeface="Times New Roman" pitchFamily="18" charset="0"/>
              </a:defRPr>
            </a:lvl1pPr>
          </a:lstStyle>
          <a:p>
            <a:pPr eaLnBrk="0" fontAlgn="base" hangingPunct="0">
              <a:spcBef>
                <a:spcPct val="0"/>
              </a:spcBef>
              <a:spcAft>
                <a:spcPct val="0"/>
              </a:spcAft>
            </a:pPr>
            <a:fld id="{B1CEA366-81BC-45F4-9380-274A2B799574}" type="datetime1">
              <a:rPr lang="en-US" altLang="en-US">
                <a:solidFill>
                  <a:srgbClr val="000000"/>
                </a:solidFill>
                <a:ea typeface="ＭＳ Ｐゴシック" pitchFamily="34" charset="-128"/>
              </a:rPr>
              <a:pPr eaLnBrk="0" fontAlgn="base" hangingPunct="0">
                <a:spcBef>
                  <a:spcPct val="0"/>
                </a:spcBef>
                <a:spcAft>
                  <a:spcPct val="0"/>
                </a:spcAft>
              </a:pPr>
              <a:t>1/5/25</a:t>
            </a:fld>
            <a:endParaRPr lang="en-US" altLang="en-US">
              <a:solidFill>
                <a:srgbClr val="000000"/>
              </a:solidFill>
              <a:ea typeface="ＭＳ Ｐゴシック" pitchFamily="34" charset="-128"/>
            </a:endParaRPr>
          </a:p>
        </p:txBody>
      </p:sp>
      <p:sp>
        <p:nvSpPr>
          <p:cNvPr id="195589" name="Rectangle 5"/>
          <p:cNvSpPr>
            <a:spLocks noGrp="1" noChangeArrowheads="1"/>
          </p:cNvSpPr>
          <p:nvPr>
            <p:ph type="ftr" sz="quarter" idx="3"/>
          </p:nvPr>
        </p:nvSpPr>
        <p:spPr bwMode="auto">
          <a:xfrm>
            <a:off x="5576888" y="6467475"/>
            <a:ext cx="2895600" cy="287338"/>
          </a:xfrm>
          <a:prstGeom prst="rect">
            <a:avLst/>
          </a:prstGeom>
          <a:noFill/>
          <a:ln w="9525">
            <a:noFill/>
            <a:miter lim="800000"/>
            <a:headEnd/>
            <a:tailEnd/>
          </a:ln>
          <a:effectLst/>
        </p:spPr>
        <p:txBody>
          <a:bodyPr vert="horz" wrap="square" lIns="91437" tIns="45717" rIns="91437" bIns="45717" numCol="1" anchor="t" anchorCtr="0" compatLnSpc="1">
            <a:prstTxWarp prst="textNoShape">
              <a:avLst/>
            </a:prstTxWarp>
          </a:bodyPr>
          <a:lstStyle>
            <a:lvl1pPr algn="r">
              <a:defRPr sz="1200">
                <a:latin typeface="Tahoma" pitchFamily="34" charset="0"/>
                <a:ea typeface="+mn-ea"/>
                <a:cs typeface="+mn-cs"/>
              </a:defRPr>
            </a:lvl1pPr>
          </a:lstStyle>
          <a:p>
            <a:pPr eaLnBrk="0" fontAlgn="base" hangingPunct="0">
              <a:spcBef>
                <a:spcPct val="0"/>
              </a:spcBef>
              <a:spcAft>
                <a:spcPct val="0"/>
              </a:spcAft>
              <a:defRPr/>
            </a:pPr>
            <a:r>
              <a:rPr lang="en-US">
                <a:solidFill>
                  <a:srgbClr val="000000"/>
                </a:solidFill>
              </a:rPr>
              <a:t>Introduction</a:t>
            </a:r>
          </a:p>
        </p:txBody>
      </p:sp>
      <p:sp>
        <p:nvSpPr>
          <p:cNvPr id="195590" name="Rectangle 6"/>
          <p:cNvSpPr>
            <a:spLocks noGrp="1" noChangeArrowheads="1"/>
          </p:cNvSpPr>
          <p:nvPr>
            <p:ph type="sldNum" sz="quarter" idx="4"/>
          </p:nvPr>
        </p:nvSpPr>
        <p:spPr bwMode="auto">
          <a:xfrm>
            <a:off x="8324853" y="6462716"/>
            <a:ext cx="676275" cy="276225"/>
          </a:xfrm>
          <a:prstGeom prst="rect">
            <a:avLst/>
          </a:prstGeom>
          <a:noFill/>
          <a:ln w="9525">
            <a:noFill/>
            <a:miter lim="800000"/>
            <a:headEnd/>
            <a:tailEnd/>
          </a:ln>
          <a:effectLst/>
        </p:spPr>
        <p:txBody>
          <a:bodyPr vert="horz" wrap="square" lIns="91437" tIns="45717" rIns="91437" bIns="45717" numCol="1" anchor="t" anchorCtr="0" compatLnSpc="1">
            <a:prstTxWarp prst="textNoShape">
              <a:avLst/>
            </a:prstTxWarp>
          </a:bodyPr>
          <a:lstStyle>
            <a:lvl1pPr>
              <a:defRPr sz="1200">
                <a:latin typeface="Tahoma" pitchFamily="34" charset="0"/>
              </a:defRPr>
            </a:lvl1pPr>
          </a:lstStyle>
          <a:p>
            <a:pPr eaLnBrk="0" fontAlgn="base" hangingPunct="0">
              <a:spcBef>
                <a:spcPct val="0"/>
              </a:spcBef>
              <a:spcAft>
                <a:spcPct val="0"/>
              </a:spcAft>
            </a:pPr>
            <a:r>
              <a:rPr lang="en-US" altLang="en-US">
                <a:solidFill>
                  <a:srgbClr val="000000"/>
                </a:solidFill>
                <a:ea typeface="ＭＳ Ｐゴシック" pitchFamily="34" charset="-128"/>
              </a:rPr>
              <a:t>2-</a:t>
            </a:r>
            <a:fld id="{4456EA28-5B73-451B-8E74-50C687511E4B}" type="slidenum">
              <a:rPr lang="en-US" altLang="en-US">
                <a:solidFill>
                  <a:srgbClr val="000000"/>
                </a:solidFill>
                <a:ea typeface="ＭＳ Ｐゴシック" pitchFamily="34" charset="-128"/>
              </a:rPr>
              <a:pPr eaLnBrk="0" fontAlgn="base" hangingPunct="0">
                <a:spcBef>
                  <a:spcPct val="0"/>
                </a:spcBef>
                <a:spcAft>
                  <a:spcPct val="0"/>
                </a:spcAft>
              </a:pPr>
              <a:t>‹#›</a:t>
            </a:fld>
            <a:endParaRPr lang="en-US" altLang="en-US">
              <a:solidFill>
                <a:srgbClr val="000000"/>
              </a:solidFill>
              <a:ea typeface="ＭＳ Ｐゴシック" pitchFamily="34" charset="-128"/>
            </a:endParaRPr>
          </a:p>
        </p:txBody>
      </p:sp>
    </p:spTree>
    <p:extLst>
      <p:ext uri="{BB962C8B-B14F-4D97-AF65-F5344CB8AC3E}">
        <p14:creationId xmlns:p14="http://schemas.microsoft.com/office/powerpoint/2010/main" val="3508915647"/>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Lst>
  <p:hf hdr="0" dt="0"/>
  <p:txStyles>
    <p:titleStyle>
      <a:lvl1pPr algn="l" rtl="0" eaLnBrk="0" fontAlgn="base" hangingPunct="0">
        <a:spcBef>
          <a:spcPct val="0"/>
        </a:spcBef>
        <a:spcAft>
          <a:spcPct val="0"/>
        </a:spcAft>
        <a:defRPr sz="4400">
          <a:solidFill>
            <a:srgbClr val="000099"/>
          </a:solidFill>
          <a:latin typeface="+mj-lt"/>
          <a:ea typeface="ＭＳ Ｐゴシック" charset="0"/>
          <a:cs typeface="+mj-cs"/>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Arial" charset="0"/>
        </a:defRPr>
      </a:lvl5pPr>
      <a:lvl6pPr marL="457187" algn="l" rtl="0" fontAlgn="base">
        <a:spcBef>
          <a:spcPct val="0"/>
        </a:spcBef>
        <a:spcAft>
          <a:spcPct val="0"/>
        </a:spcAft>
        <a:defRPr sz="4400">
          <a:solidFill>
            <a:srgbClr val="000099"/>
          </a:solidFill>
          <a:latin typeface="Gill Sans MT" pitchFamily="34" charset="0"/>
          <a:cs typeface="Arial" charset="0"/>
        </a:defRPr>
      </a:lvl6pPr>
      <a:lvl7pPr marL="914373" algn="l" rtl="0" fontAlgn="base">
        <a:spcBef>
          <a:spcPct val="0"/>
        </a:spcBef>
        <a:spcAft>
          <a:spcPct val="0"/>
        </a:spcAft>
        <a:defRPr sz="4400">
          <a:solidFill>
            <a:srgbClr val="000099"/>
          </a:solidFill>
          <a:latin typeface="Gill Sans MT" pitchFamily="34" charset="0"/>
          <a:cs typeface="Arial" charset="0"/>
        </a:defRPr>
      </a:lvl7pPr>
      <a:lvl8pPr marL="1371560" algn="l" rtl="0" fontAlgn="base">
        <a:spcBef>
          <a:spcPct val="0"/>
        </a:spcBef>
        <a:spcAft>
          <a:spcPct val="0"/>
        </a:spcAft>
        <a:defRPr sz="4400">
          <a:solidFill>
            <a:srgbClr val="000099"/>
          </a:solidFill>
          <a:latin typeface="Gill Sans MT" pitchFamily="34" charset="0"/>
          <a:cs typeface="Arial" charset="0"/>
        </a:defRPr>
      </a:lvl8pPr>
      <a:lvl9pPr marL="1828746" algn="l" rtl="0" fontAlgn="base">
        <a:spcBef>
          <a:spcPct val="0"/>
        </a:spcBef>
        <a:spcAft>
          <a:spcPct val="0"/>
        </a:spcAft>
        <a:defRPr sz="4400">
          <a:solidFill>
            <a:srgbClr val="000099"/>
          </a:solidFill>
          <a:latin typeface="Gill Sans MT" pitchFamily="34" charset="0"/>
          <a:cs typeface="Arial" charset="0"/>
        </a:defRPr>
      </a:lvl9pPr>
    </p:titleStyle>
    <p:bodyStyle>
      <a:lvl1pPr marL="342889" indent="-342889" algn="l" rtl="0" eaLnBrk="0" fontAlgn="base" hangingPunct="0">
        <a:lnSpc>
          <a:spcPct val="85000"/>
        </a:lnSpc>
        <a:spcBef>
          <a:spcPct val="20000"/>
        </a:spcBef>
        <a:spcAft>
          <a:spcPct val="0"/>
        </a:spcAft>
        <a:buClr>
          <a:srgbClr val="000099"/>
        </a:buClr>
        <a:buSzPct val="65000"/>
        <a:buFont typeface="Wingdings" pitchFamily="2" charset="2"/>
        <a:buChar char="v"/>
        <a:defRPr sz="2800">
          <a:solidFill>
            <a:schemeClr val="tx1"/>
          </a:solidFill>
          <a:latin typeface="+mn-lt"/>
          <a:ea typeface="ＭＳ Ｐゴシック" charset="0"/>
          <a:cs typeface="+mn-cs"/>
        </a:defRPr>
      </a:lvl1pPr>
      <a:lvl2pPr marL="742928" indent="-285741" algn="l" rtl="0" eaLnBrk="0" fontAlgn="base" hangingPunct="0">
        <a:lnSpc>
          <a:spcPct val="85000"/>
        </a:lnSpc>
        <a:spcBef>
          <a:spcPct val="20000"/>
        </a:spcBef>
        <a:spcAft>
          <a:spcPct val="0"/>
        </a:spcAft>
        <a:buClr>
          <a:srgbClr val="000099"/>
        </a:buClr>
        <a:buFont typeface="Wingdings" pitchFamily="2" charset="2"/>
        <a:buChar char="§"/>
        <a:defRPr sz="2400">
          <a:solidFill>
            <a:schemeClr val="tx1"/>
          </a:solidFill>
          <a:latin typeface="+mn-lt"/>
          <a:ea typeface="Arial" charset="0"/>
          <a:cs typeface="+mn-cs"/>
        </a:defRPr>
      </a:lvl2pPr>
      <a:lvl3pPr marL="1142966" indent="-228593" algn="l" rtl="0" eaLnBrk="0" fontAlgn="base" hangingPunct="0">
        <a:spcBef>
          <a:spcPct val="20000"/>
        </a:spcBef>
        <a:spcAft>
          <a:spcPct val="0"/>
        </a:spcAft>
        <a:buChar char="•"/>
        <a:defRPr sz="2000">
          <a:solidFill>
            <a:schemeClr val="tx1"/>
          </a:solidFill>
          <a:latin typeface="Comic Sans MS" pitchFamily="66" charset="0"/>
          <a:ea typeface="Arial" charset="0"/>
          <a:cs typeface="+mn-cs"/>
        </a:defRPr>
      </a:lvl3pPr>
      <a:lvl4pPr marL="1600152" indent="-228593" algn="l" rtl="0" eaLnBrk="0" fontAlgn="base" hangingPunct="0">
        <a:spcBef>
          <a:spcPct val="20000"/>
        </a:spcBef>
        <a:spcAft>
          <a:spcPct val="0"/>
        </a:spcAft>
        <a:buChar char="–"/>
        <a:defRPr sz="2000">
          <a:solidFill>
            <a:schemeClr val="tx1"/>
          </a:solidFill>
          <a:latin typeface="Times New Roman" pitchFamily="18" charset="0"/>
          <a:ea typeface="Arial" charset="0"/>
          <a:cs typeface="+mn-cs"/>
        </a:defRPr>
      </a:lvl4pPr>
      <a:lvl5pPr marL="2057339" indent="-228593" algn="l" rtl="0" eaLnBrk="0" fontAlgn="base" hangingPunct="0">
        <a:spcBef>
          <a:spcPct val="20000"/>
        </a:spcBef>
        <a:spcAft>
          <a:spcPct val="0"/>
        </a:spcAft>
        <a:buChar char="»"/>
        <a:defRPr sz="2000">
          <a:solidFill>
            <a:schemeClr val="tx1"/>
          </a:solidFill>
          <a:latin typeface="Times New Roman" pitchFamily="18" charset="0"/>
          <a:ea typeface="Arial" charset="0"/>
          <a:cs typeface="+mn-cs"/>
        </a:defRPr>
      </a:lvl5pPr>
      <a:lvl6pPr marL="2514525" indent="-228593" algn="l" rtl="0" fontAlgn="base">
        <a:spcBef>
          <a:spcPct val="20000"/>
        </a:spcBef>
        <a:spcAft>
          <a:spcPct val="0"/>
        </a:spcAft>
        <a:buChar char="»"/>
        <a:defRPr sz="2000">
          <a:solidFill>
            <a:schemeClr val="tx1"/>
          </a:solidFill>
          <a:latin typeface="Times New Roman" pitchFamily="18" charset="0"/>
          <a:cs typeface="+mn-cs"/>
        </a:defRPr>
      </a:lvl6pPr>
      <a:lvl7pPr marL="2971711" indent="-228593" algn="l" rtl="0" fontAlgn="base">
        <a:spcBef>
          <a:spcPct val="20000"/>
        </a:spcBef>
        <a:spcAft>
          <a:spcPct val="0"/>
        </a:spcAft>
        <a:buChar char="»"/>
        <a:defRPr sz="2000">
          <a:solidFill>
            <a:schemeClr val="tx1"/>
          </a:solidFill>
          <a:latin typeface="Times New Roman" pitchFamily="18" charset="0"/>
          <a:cs typeface="+mn-cs"/>
        </a:defRPr>
      </a:lvl7pPr>
      <a:lvl8pPr marL="3428897" indent="-228593" algn="l" rtl="0" fontAlgn="base">
        <a:spcBef>
          <a:spcPct val="20000"/>
        </a:spcBef>
        <a:spcAft>
          <a:spcPct val="0"/>
        </a:spcAft>
        <a:buChar char="»"/>
        <a:defRPr sz="2000">
          <a:solidFill>
            <a:schemeClr val="tx1"/>
          </a:solidFill>
          <a:latin typeface="Times New Roman" pitchFamily="18" charset="0"/>
          <a:cs typeface="+mn-cs"/>
        </a:defRPr>
      </a:lvl8pPr>
      <a:lvl9pPr marL="3886083" indent="-228593" algn="l" rtl="0" fontAlgn="base">
        <a:spcBef>
          <a:spcPct val="20000"/>
        </a:spcBef>
        <a:spcAft>
          <a:spcPct val="0"/>
        </a:spcAft>
        <a:buChar char="»"/>
        <a:defRPr sz="2000">
          <a:solidFill>
            <a:schemeClr val="tx1"/>
          </a:solidFill>
          <a:latin typeface="Times New Roman" pitchFamily="18" charset="0"/>
          <a:cs typeface="+mn-cs"/>
        </a:defRPr>
      </a:lvl9pPr>
    </p:bodyStyle>
    <p:otherStyle>
      <a:defPPr>
        <a:defRPr lang="en-US"/>
      </a:defPPr>
      <a:lvl1pPr marL="0" algn="l" defTabSz="914373" rtl="0" eaLnBrk="1" latinLnBrk="0" hangingPunct="1">
        <a:defRPr sz="1800" kern="1200">
          <a:solidFill>
            <a:schemeClr val="tx1"/>
          </a:solidFill>
          <a:latin typeface="+mn-lt"/>
          <a:ea typeface="+mn-ea"/>
          <a:cs typeface="+mn-cs"/>
        </a:defRPr>
      </a:lvl1pPr>
      <a:lvl2pPr marL="457187" algn="l" defTabSz="914373" rtl="0" eaLnBrk="1" latinLnBrk="0" hangingPunct="1">
        <a:defRPr sz="1800" kern="1200">
          <a:solidFill>
            <a:schemeClr val="tx1"/>
          </a:solidFill>
          <a:latin typeface="+mn-lt"/>
          <a:ea typeface="+mn-ea"/>
          <a:cs typeface="+mn-cs"/>
        </a:defRPr>
      </a:lvl2pPr>
      <a:lvl3pPr marL="914373" algn="l" defTabSz="914373" rtl="0" eaLnBrk="1" latinLnBrk="0" hangingPunct="1">
        <a:defRPr sz="1800" kern="1200">
          <a:solidFill>
            <a:schemeClr val="tx1"/>
          </a:solidFill>
          <a:latin typeface="+mn-lt"/>
          <a:ea typeface="+mn-ea"/>
          <a:cs typeface="+mn-cs"/>
        </a:defRPr>
      </a:lvl3pPr>
      <a:lvl4pPr marL="1371560" algn="l" defTabSz="914373" rtl="0" eaLnBrk="1" latinLnBrk="0" hangingPunct="1">
        <a:defRPr sz="1800" kern="1200">
          <a:solidFill>
            <a:schemeClr val="tx1"/>
          </a:solidFill>
          <a:latin typeface="+mn-lt"/>
          <a:ea typeface="+mn-ea"/>
          <a:cs typeface="+mn-cs"/>
        </a:defRPr>
      </a:lvl4pPr>
      <a:lvl5pPr marL="1828746" algn="l" defTabSz="914373" rtl="0" eaLnBrk="1" latinLnBrk="0" hangingPunct="1">
        <a:defRPr sz="1800" kern="1200">
          <a:solidFill>
            <a:schemeClr val="tx1"/>
          </a:solidFill>
          <a:latin typeface="+mn-lt"/>
          <a:ea typeface="+mn-ea"/>
          <a:cs typeface="+mn-cs"/>
        </a:defRPr>
      </a:lvl5pPr>
      <a:lvl6pPr marL="2285933" algn="l" defTabSz="914373" rtl="0" eaLnBrk="1" latinLnBrk="0" hangingPunct="1">
        <a:defRPr sz="1800" kern="1200">
          <a:solidFill>
            <a:schemeClr val="tx1"/>
          </a:solidFill>
          <a:latin typeface="+mn-lt"/>
          <a:ea typeface="+mn-ea"/>
          <a:cs typeface="+mn-cs"/>
        </a:defRPr>
      </a:lvl6pPr>
      <a:lvl7pPr marL="2743119" algn="l" defTabSz="914373" rtl="0" eaLnBrk="1" latinLnBrk="0" hangingPunct="1">
        <a:defRPr sz="1800" kern="1200">
          <a:solidFill>
            <a:schemeClr val="tx1"/>
          </a:solidFill>
          <a:latin typeface="+mn-lt"/>
          <a:ea typeface="+mn-ea"/>
          <a:cs typeface="+mn-cs"/>
        </a:defRPr>
      </a:lvl7pPr>
      <a:lvl8pPr marL="3200304" algn="l" defTabSz="914373" rtl="0" eaLnBrk="1" latinLnBrk="0" hangingPunct="1">
        <a:defRPr sz="1800" kern="1200">
          <a:solidFill>
            <a:schemeClr val="tx1"/>
          </a:solidFill>
          <a:latin typeface="+mn-lt"/>
          <a:ea typeface="+mn-ea"/>
          <a:cs typeface="+mn-cs"/>
        </a:defRPr>
      </a:lvl8pPr>
      <a:lvl9pPr marL="3657489" algn="l" defTabSz="914373"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omputer Science"/>
          <p:cNvSpPr txBox="1"/>
          <p:nvPr/>
        </p:nvSpPr>
        <p:spPr>
          <a:xfrm>
            <a:off x="544512" y="6418262"/>
            <a:ext cx="1644624" cy="342901"/>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spAutoFit/>
          </a:bodyPr>
          <a:lstStyle>
            <a:lvl1pPr algn="l">
              <a:buClr>
                <a:srgbClr val="941100"/>
              </a:buClr>
              <a:buFont typeface="Comic Sans MS"/>
              <a:defRPr sz="1400">
                <a:solidFill>
                  <a:srgbClr val="941100"/>
                </a:solidFill>
                <a:uFill>
                  <a:solidFill>
                    <a:srgbClr val="941100"/>
                  </a:solidFill>
                </a:uFill>
              </a:defRPr>
            </a:lvl1pPr>
          </a:lstStyle>
          <a:p>
            <a:r>
              <a:t>Computer Science</a:t>
            </a:r>
          </a:p>
        </p:txBody>
      </p:sp>
      <p:sp>
        <p:nvSpPr>
          <p:cNvPr id="3" name="Lecture 4, page"/>
          <p:cNvSpPr txBox="1"/>
          <p:nvPr/>
        </p:nvSpPr>
        <p:spPr>
          <a:xfrm>
            <a:off x="7734357" y="6429375"/>
            <a:ext cx="1136536" cy="285626"/>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spAutoFit/>
          </a:bodyPr>
          <a:lstStyle>
            <a:lvl1pPr>
              <a:buClr>
                <a:srgbClr val="AB1500"/>
              </a:buClr>
              <a:buFont typeface="Times New Roman"/>
              <a:defRPr sz="1200">
                <a:solidFill>
                  <a:srgbClr val="AB1500"/>
                </a:solidFill>
                <a:uFill>
                  <a:solidFill>
                    <a:srgbClr val="AB1500"/>
                  </a:solidFill>
                </a:uFill>
                <a:latin typeface="+mn-lt"/>
                <a:ea typeface="+mn-ea"/>
                <a:cs typeface="+mn-cs"/>
                <a:sym typeface="Times New Roman"/>
              </a:defRPr>
            </a:lvl1pPr>
          </a:lstStyle>
          <a:p>
            <a:r>
              <a:t>Lecture 4, page </a:t>
            </a:r>
          </a:p>
        </p:txBody>
      </p:sp>
      <p:pic>
        <p:nvPicPr>
          <p:cNvPr id="4" name="newseal200.png" descr="newseal200.png"/>
          <p:cNvPicPr>
            <a:picLocks/>
          </p:cNvPicPr>
          <p:nvPr/>
        </p:nvPicPr>
        <p:blipFill>
          <a:blip r:embed="rId4"/>
          <a:stretch>
            <a:fillRect/>
          </a:stretch>
        </p:blipFill>
        <p:spPr>
          <a:xfrm>
            <a:off x="0" y="6248400"/>
            <a:ext cx="606425" cy="609600"/>
          </a:xfrm>
          <a:prstGeom prst="rect">
            <a:avLst/>
          </a:prstGeom>
          <a:ln w="12700">
            <a:miter lim="400000"/>
          </a:ln>
        </p:spPr>
      </p:pic>
      <p:sp>
        <p:nvSpPr>
          <p:cNvPr id="5" name="Title Text"/>
          <p:cNvSpPr txBox="1">
            <a:spLocks noGrp="1"/>
          </p:cNvSpPr>
          <p:nvPr>
            <p:ph type="title"/>
          </p:nvPr>
        </p:nvSpPr>
        <p:spPr>
          <a:xfrm>
            <a:off x="0" y="0"/>
            <a:ext cx="9144000" cy="11430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lstStyle/>
          <a:p>
            <a:r>
              <a:t>Title Text</a:t>
            </a:r>
          </a:p>
        </p:txBody>
      </p:sp>
      <p:sp>
        <p:nvSpPr>
          <p:cNvPr id="6" name="Body Level One…"/>
          <p:cNvSpPr txBox="1">
            <a:spLocks noGrp="1"/>
          </p:cNvSpPr>
          <p:nvPr>
            <p:ph type="body" idx="1"/>
          </p:nvPr>
        </p:nvSpPr>
        <p:spPr>
          <a:xfrm>
            <a:off x="234950" y="1600200"/>
            <a:ext cx="8674100" cy="52578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lstStyle>
            <a:lvl2pPr marL="783590" indent="-285750">
              <a:spcBef>
                <a:spcPts val="500"/>
              </a:spcBef>
              <a:buChar char="–"/>
              <a:defRPr sz="2400"/>
            </a:lvl2pPr>
            <a:lvl3pPr marL="1183639" indent="-228600">
              <a:spcBef>
                <a:spcPts val="500"/>
              </a:spcBef>
              <a:defRPr sz="2400"/>
            </a:lvl3pPr>
            <a:lvl4pPr marL="1640839" indent="-228600">
              <a:spcBef>
                <a:spcPts val="400"/>
              </a:spcBef>
              <a:buChar char="–"/>
              <a:defRPr sz="2000"/>
            </a:lvl4pPr>
            <a:lvl5pPr marL="2098039" indent="-228600">
              <a:spcBef>
                <a:spcPts val="400"/>
              </a:spcBef>
              <a:buChar char="»"/>
              <a:defRPr sz="2000"/>
            </a:lvl5pPr>
          </a:lstStyle>
          <a:p>
            <a:r>
              <a:t>Body Level One</a:t>
            </a:r>
          </a:p>
          <a:p>
            <a:pPr lvl="1"/>
            <a:r>
              <a:t>Body Level Two</a:t>
            </a:r>
          </a:p>
          <a:p>
            <a:pPr lvl="2"/>
            <a:r>
              <a:t>Body Level Three</a:t>
            </a:r>
          </a:p>
          <a:p>
            <a:pPr lvl="3"/>
            <a:r>
              <a:t>Body Level Four</a:t>
            </a:r>
          </a:p>
          <a:p>
            <a:pPr lvl="4"/>
            <a:r>
              <a:t>Body Level Five</a:t>
            </a:r>
          </a:p>
        </p:txBody>
      </p:sp>
      <p:sp>
        <p:nvSpPr>
          <p:cNvPr id="7" name="Slide Number"/>
          <p:cNvSpPr txBox="1">
            <a:spLocks noGrp="1"/>
          </p:cNvSpPr>
          <p:nvPr>
            <p:ph type="sldNum" sz="quarter" idx="2"/>
          </p:nvPr>
        </p:nvSpPr>
        <p:spPr>
          <a:xfrm>
            <a:off x="8756650" y="6451600"/>
            <a:ext cx="266700" cy="285626"/>
          </a:xfrm>
          <a:prstGeom prst="rect">
            <a:avLst/>
          </a:prstGeom>
          <a:ln w="12700">
            <a:miter lim="400000"/>
          </a:ln>
        </p:spPr>
        <p:txBody>
          <a:bodyPr wrap="none" lIns="50800" tIns="50800" rIns="50800" bIns="50800">
            <a:spAutoFit/>
          </a:bodyPr>
          <a:lstStyle>
            <a:lvl1pPr marL="0" marR="0" defTabSz="584200">
              <a:defRPr sz="1200">
                <a:solidFill>
                  <a:srgbClr val="9E1300"/>
                </a:solidFill>
                <a:latin typeface="+mn-lt"/>
                <a:ea typeface="+mn-ea"/>
                <a:cs typeface="+mn-cs"/>
                <a:sym typeface="Times New Roman"/>
              </a:defRPr>
            </a:lvl1pPr>
          </a:lstStyle>
          <a:p>
            <a:fld id="{86CB4B4D-7CA3-9044-876B-883B54F8677D}" type="slidenum">
              <a:t>‹#›</a:t>
            </a:fld>
            <a:endParaRPr/>
          </a:p>
        </p:txBody>
      </p:sp>
    </p:spTree>
    <p:extLst>
      <p:ext uri="{BB962C8B-B14F-4D97-AF65-F5344CB8AC3E}">
        <p14:creationId xmlns:p14="http://schemas.microsoft.com/office/powerpoint/2010/main" val="3195673484"/>
      </p:ext>
    </p:extLst>
  </p:cSld>
  <p:clrMap bg1="lt1" tx1="dk1" bg2="lt2" tx2="dk2" accent1="accent1" accent2="accent2" accent3="accent3" accent4="accent4" accent5="accent5" accent6="accent6" hlink="hlink" folHlink="folHlink"/>
  <p:sldLayoutIdLst>
    <p:sldLayoutId id="2147483704" r:id="rId1"/>
    <p:sldLayoutId id="2147483705" r:id="rId2"/>
  </p:sldLayoutIdLst>
  <p:transition spd="med"/>
  <p:txStyles>
    <p:titleStyle>
      <a:lvl1pPr marL="40639" marR="40639"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AB1500"/>
          </a:solidFill>
          <a:uFill>
            <a:solidFill>
              <a:srgbClr val="AB1500"/>
            </a:solidFill>
          </a:uFill>
          <a:latin typeface="+mj-lt"/>
          <a:ea typeface="+mj-ea"/>
          <a:cs typeface="+mj-cs"/>
          <a:sym typeface="Helvetica"/>
        </a:defRPr>
      </a:lvl1pPr>
      <a:lvl2pPr marL="40639" marR="40639" indent="2286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AB1500"/>
          </a:solidFill>
          <a:uFill>
            <a:solidFill>
              <a:srgbClr val="AB1500"/>
            </a:solidFill>
          </a:uFill>
          <a:latin typeface="+mj-lt"/>
          <a:ea typeface="+mj-ea"/>
          <a:cs typeface="+mj-cs"/>
          <a:sym typeface="Helvetica"/>
        </a:defRPr>
      </a:lvl2pPr>
      <a:lvl3pPr marL="40639" marR="40639" indent="4572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AB1500"/>
          </a:solidFill>
          <a:uFill>
            <a:solidFill>
              <a:srgbClr val="AB1500"/>
            </a:solidFill>
          </a:uFill>
          <a:latin typeface="+mj-lt"/>
          <a:ea typeface="+mj-ea"/>
          <a:cs typeface="+mj-cs"/>
          <a:sym typeface="Helvetica"/>
        </a:defRPr>
      </a:lvl3pPr>
      <a:lvl4pPr marL="40639" marR="40639" indent="6858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AB1500"/>
          </a:solidFill>
          <a:uFill>
            <a:solidFill>
              <a:srgbClr val="AB1500"/>
            </a:solidFill>
          </a:uFill>
          <a:latin typeface="+mj-lt"/>
          <a:ea typeface="+mj-ea"/>
          <a:cs typeface="+mj-cs"/>
          <a:sym typeface="Helvetica"/>
        </a:defRPr>
      </a:lvl4pPr>
      <a:lvl5pPr marL="40639" marR="40639" indent="9144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AB1500"/>
          </a:solidFill>
          <a:uFill>
            <a:solidFill>
              <a:srgbClr val="AB1500"/>
            </a:solidFill>
          </a:uFill>
          <a:latin typeface="+mj-lt"/>
          <a:ea typeface="+mj-ea"/>
          <a:cs typeface="+mj-cs"/>
          <a:sym typeface="Helvetica"/>
        </a:defRPr>
      </a:lvl5pPr>
      <a:lvl6pPr marL="40639" marR="40639" indent="11430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AB1500"/>
          </a:solidFill>
          <a:uFill>
            <a:solidFill>
              <a:srgbClr val="AB1500"/>
            </a:solidFill>
          </a:uFill>
          <a:latin typeface="+mj-lt"/>
          <a:ea typeface="+mj-ea"/>
          <a:cs typeface="+mj-cs"/>
          <a:sym typeface="Helvetica"/>
        </a:defRPr>
      </a:lvl6pPr>
      <a:lvl7pPr marL="40639" marR="40639" indent="13716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AB1500"/>
          </a:solidFill>
          <a:uFill>
            <a:solidFill>
              <a:srgbClr val="AB1500"/>
            </a:solidFill>
          </a:uFill>
          <a:latin typeface="+mj-lt"/>
          <a:ea typeface="+mj-ea"/>
          <a:cs typeface="+mj-cs"/>
          <a:sym typeface="Helvetica"/>
        </a:defRPr>
      </a:lvl7pPr>
      <a:lvl8pPr marL="40639" marR="40639" indent="16002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AB1500"/>
          </a:solidFill>
          <a:uFill>
            <a:solidFill>
              <a:srgbClr val="AB1500"/>
            </a:solidFill>
          </a:uFill>
          <a:latin typeface="+mj-lt"/>
          <a:ea typeface="+mj-ea"/>
          <a:cs typeface="+mj-cs"/>
          <a:sym typeface="Helvetica"/>
        </a:defRPr>
      </a:lvl8pPr>
      <a:lvl9pPr marL="40639" marR="40639" indent="18288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AB1500"/>
          </a:solidFill>
          <a:uFill>
            <a:solidFill>
              <a:srgbClr val="AB1500"/>
            </a:solidFill>
          </a:uFill>
          <a:latin typeface="+mj-lt"/>
          <a:ea typeface="+mj-ea"/>
          <a:cs typeface="+mj-cs"/>
          <a:sym typeface="Helvetica"/>
        </a:defRPr>
      </a:lvl9pPr>
    </p:titleStyle>
    <p:bodyStyle>
      <a:lvl1pPr marL="383540" marR="40639" indent="-342900" algn="l" defTabSz="914400" rtl="0" latinLnBrk="0">
        <a:lnSpc>
          <a:spcPct val="100000"/>
        </a:lnSpc>
        <a:spcBef>
          <a:spcPts val="600"/>
        </a:spcBef>
        <a:spcAft>
          <a:spcPts val="0"/>
        </a:spcAft>
        <a:buClr>
          <a:srgbClr val="434ED6"/>
        </a:buClr>
        <a:buSzPct val="100000"/>
        <a:buFont typeface="Times New Roman"/>
        <a:buChar char="•"/>
        <a:tabLst/>
        <a:defRPr sz="2800" b="0" i="0" u="none" strike="noStrike" cap="none" spc="0" baseline="0">
          <a:ln>
            <a:noFill/>
          </a:ln>
          <a:solidFill>
            <a:srgbClr val="000000"/>
          </a:solidFill>
          <a:uFill>
            <a:solidFill>
              <a:srgbClr val="000000"/>
            </a:solidFill>
          </a:uFill>
          <a:latin typeface="+mn-lt"/>
          <a:ea typeface="+mn-ea"/>
          <a:cs typeface="+mn-cs"/>
          <a:sym typeface="Times New Roman"/>
        </a:defRPr>
      </a:lvl1pPr>
      <a:lvl2pPr marL="831214" marR="40639" indent="-333374" algn="l" defTabSz="914400" rtl="0" latinLnBrk="0">
        <a:lnSpc>
          <a:spcPct val="100000"/>
        </a:lnSpc>
        <a:spcBef>
          <a:spcPts val="600"/>
        </a:spcBef>
        <a:spcAft>
          <a:spcPts val="0"/>
        </a:spcAft>
        <a:buClr>
          <a:srgbClr val="434ED6"/>
        </a:buClr>
        <a:buSzPct val="100000"/>
        <a:buFont typeface="Times New Roman"/>
        <a:buChar char="•"/>
        <a:tabLst/>
        <a:defRPr sz="2800" b="0" i="0" u="none" strike="noStrike" cap="none" spc="0" baseline="0">
          <a:ln>
            <a:noFill/>
          </a:ln>
          <a:solidFill>
            <a:srgbClr val="000000"/>
          </a:solidFill>
          <a:uFill>
            <a:solidFill>
              <a:srgbClr val="000000"/>
            </a:solidFill>
          </a:uFill>
          <a:latin typeface="+mn-lt"/>
          <a:ea typeface="+mn-ea"/>
          <a:cs typeface="+mn-cs"/>
          <a:sym typeface="Times New Roman"/>
        </a:defRPr>
      </a:lvl2pPr>
      <a:lvl3pPr marL="1221739" marR="40639" indent="-266700" algn="l" defTabSz="914400" rtl="0" latinLnBrk="0">
        <a:lnSpc>
          <a:spcPct val="100000"/>
        </a:lnSpc>
        <a:spcBef>
          <a:spcPts val="600"/>
        </a:spcBef>
        <a:spcAft>
          <a:spcPts val="0"/>
        </a:spcAft>
        <a:buClr>
          <a:srgbClr val="434ED6"/>
        </a:buClr>
        <a:buSzPct val="100000"/>
        <a:buFont typeface="Times New Roman"/>
        <a:buChar char="•"/>
        <a:tabLst/>
        <a:defRPr sz="2800" b="0" i="0" u="none" strike="noStrike" cap="none" spc="0" baseline="0">
          <a:ln>
            <a:noFill/>
          </a:ln>
          <a:solidFill>
            <a:srgbClr val="000000"/>
          </a:solidFill>
          <a:uFill>
            <a:solidFill>
              <a:srgbClr val="000000"/>
            </a:solidFill>
          </a:uFill>
          <a:latin typeface="+mn-lt"/>
          <a:ea typeface="+mn-ea"/>
          <a:cs typeface="+mn-cs"/>
          <a:sym typeface="Times New Roman"/>
        </a:defRPr>
      </a:lvl3pPr>
      <a:lvl4pPr marL="1732279" marR="40639" indent="-320039" algn="l" defTabSz="914400" rtl="0" latinLnBrk="0">
        <a:lnSpc>
          <a:spcPct val="100000"/>
        </a:lnSpc>
        <a:spcBef>
          <a:spcPts val="600"/>
        </a:spcBef>
        <a:spcAft>
          <a:spcPts val="0"/>
        </a:spcAft>
        <a:buClr>
          <a:srgbClr val="434ED6"/>
        </a:buClr>
        <a:buSzPct val="100000"/>
        <a:buFont typeface="Times New Roman"/>
        <a:buChar char="•"/>
        <a:tabLst/>
        <a:defRPr sz="2800" b="0" i="0" u="none" strike="noStrike" cap="none" spc="0" baseline="0">
          <a:ln>
            <a:noFill/>
          </a:ln>
          <a:solidFill>
            <a:srgbClr val="000000"/>
          </a:solidFill>
          <a:uFill>
            <a:solidFill>
              <a:srgbClr val="000000"/>
            </a:solidFill>
          </a:uFill>
          <a:latin typeface="+mn-lt"/>
          <a:ea typeface="+mn-ea"/>
          <a:cs typeface="+mn-cs"/>
          <a:sym typeface="Times New Roman"/>
        </a:defRPr>
      </a:lvl4pPr>
      <a:lvl5pPr marL="2189479" marR="40639" indent="-320039" algn="l" defTabSz="914400" rtl="0" latinLnBrk="0">
        <a:lnSpc>
          <a:spcPct val="100000"/>
        </a:lnSpc>
        <a:spcBef>
          <a:spcPts val="600"/>
        </a:spcBef>
        <a:spcAft>
          <a:spcPts val="0"/>
        </a:spcAft>
        <a:buClr>
          <a:srgbClr val="434ED6"/>
        </a:buClr>
        <a:buSzPct val="100000"/>
        <a:buFont typeface="Times New Roman"/>
        <a:buChar char="•"/>
        <a:tabLst/>
        <a:defRPr sz="2800" b="0" i="0" u="none" strike="noStrike" cap="none" spc="0" baseline="0">
          <a:ln>
            <a:noFill/>
          </a:ln>
          <a:solidFill>
            <a:srgbClr val="000000"/>
          </a:solidFill>
          <a:uFill>
            <a:solidFill>
              <a:srgbClr val="000000"/>
            </a:solidFill>
          </a:uFill>
          <a:latin typeface="+mn-lt"/>
          <a:ea typeface="+mn-ea"/>
          <a:cs typeface="+mn-cs"/>
          <a:sym typeface="Times New Roman"/>
        </a:defRPr>
      </a:lvl5pPr>
      <a:lvl6pPr marL="2189479" marR="40639" indent="-320039" algn="l" defTabSz="914400" rtl="0" latinLnBrk="0">
        <a:lnSpc>
          <a:spcPct val="100000"/>
        </a:lnSpc>
        <a:spcBef>
          <a:spcPts val="600"/>
        </a:spcBef>
        <a:spcAft>
          <a:spcPts val="0"/>
        </a:spcAft>
        <a:buClr>
          <a:srgbClr val="434ED6"/>
        </a:buClr>
        <a:buSzPct val="100000"/>
        <a:buFont typeface="Times New Roman"/>
        <a:buChar char="•"/>
        <a:tabLst/>
        <a:defRPr sz="2800" b="0" i="0" u="none" strike="noStrike" cap="none" spc="0" baseline="0">
          <a:ln>
            <a:noFill/>
          </a:ln>
          <a:solidFill>
            <a:srgbClr val="000000"/>
          </a:solidFill>
          <a:uFill>
            <a:solidFill>
              <a:srgbClr val="000000"/>
            </a:solidFill>
          </a:uFill>
          <a:latin typeface="+mn-lt"/>
          <a:ea typeface="+mn-ea"/>
          <a:cs typeface="+mn-cs"/>
          <a:sym typeface="Times New Roman"/>
        </a:defRPr>
      </a:lvl6pPr>
      <a:lvl7pPr marL="2189479" marR="40639" indent="-320039" algn="l" defTabSz="914400" rtl="0" latinLnBrk="0">
        <a:lnSpc>
          <a:spcPct val="100000"/>
        </a:lnSpc>
        <a:spcBef>
          <a:spcPts val="600"/>
        </a:spcBef>
        <a:spcAft>
          <a:spcPts val="0"/>
        </a:spcAft>
        <a:buClr>
          <a:srgbClr val="434ED6"/>
        </a:buClr>
        <a:buSzPct val="100000"/>
        <a:buFont typeface="Times New Roman"/>
        <a:buChar char="•"/>
        <a:tabLst/>
        <a:defRPr sz="2800" b="0" i="0" u="none" strike="noStrike" cap="none" spc="0" baseline="0">
          <a:ln>
            <a:noFill/>
          </a:ln>
          <a:solidFill>
            <a:srgbClr val="000000"/>
          </a:solidFill>
          <a:uFill>
            <a:solidFill>
              <a:srgbClr val="000000"/>
            </a:solidFill>
          </a:uFill>
          <a:latin typeface="+mn-lt"/>
          <a:ea typeface="+mn-ea"/>
          <a:cs typeface="+mn-cs"/>
          <a:sym typeface="Times New Roman"/>
        </a:defRPr>
      </a:lvl7pPr>
      <a:lvl8pPr marL="2189479" marR="40639" indent="-320039" algn="l" defTabSz="914400" rtl="0" latinLnBrk="0">
        <a:lnSpc>
          <a:spcPct val="100000"/>
        </a:lnSpc>
        <a:spcBef>
          <a:spcPts val="600"/>
        </a:spcBef>
        <a:spcAft>
          <a:spcPts val="0"/>
        </a:spcAft>
        <a:buClr>
          <a:srgbClr val="434ED6"/>
        </a:buClr>
        <a:buSzPct val="100000"/>
        <a:buFont typeface="Times New Roman"/>
        <a:buChar char="•"/>
        <a:tabLst/>
        <a:defRPr sz="2800" b="0" i="0" u="none" strike="noStrike" cap="none" spc="0" baseline="0">
          <a:ln>
            <a:noFill/>
          </a:ln>
          <a:solidFill>
            <a:srgbClr val="000000"/>
          </a:solidFill>
          <a:uFill>
            <a:solidFill>
              <a:srgbClr val="000000"/>
            </a:solidFill>
          </a:uFill>
          <a:latin typeface="+mn-lt"/>
          <a:ea typeface="+mn-ea"/>
          <a:cs typeface="+mn-cs"/>
          <a:sym typeface="Times New Roman"/>
        </a:defRPr>
      </a:lvl8pPr>
      <a:lvl9pPr marL="2189479" marR="40639" indent="-320039" algn="l" defTabSz="914400" rtl="0" latinLnBrk="0">
        <a:lnSpc>
          <a:spcPct val="100000"/>
        </a:lnSpc>
        <a:spcBef>
          <a:spcPts val="600"/>
        </a:spcBef>
        <a:spcAft>
          <a:spcPts val="0"/>
        </a:spcAft>
        <a:buClr>
          <a:srgbClr val="434ED6"/>
        </a:buClr>
        <a:buSzPct val="100000"/>
        <a:buFont typeface="Times New Roman"/>
        <a:buChar char="•"/>
        <a:tabLst/>
        <a:defRPr sz="2800" b="0" i="0" u="none" strike="noStrike" cap="none" spc="0" baseline="0">
          <a:ln>
            <a:noFill/>
          </a:ln>
          <a:solidFill>
            <a:srgbClr val="000000"/>
          </a:solidFill>
          <a:uFill>
            <a:solidFill>
              <a:srgbClr val="000000"/>
            </a:solidFill>
          </a:uFill>
          <a:latin typeface="+mn-lt"/>
          <a:ea typeface="+mn-ea"/>
          <a:cs typeface="+mn-cs"/>
          <a:sym typeface="Times New Roman"/>
        </a:defRPr>
      </a:lvl9pPr>
    </p:bodyStyle>
    <p:otherStyle>
      <a:lvl1pPr marL="0" marR="0" indent="0" algn="ctr" defTabSz="584200" latinLnBrk="0">
        <a:lnSpc>
          <a:spcPct val="100000"/>
        </a:lnSpc>
        <a:spcBef>
          <a:spcPts val="0"/>
        </a:spcBef>
        <a:spcAft>
          <a:spcPts val="0"/>
        </a:spcAft>
        <a:buClrTx/>
        <a:buSzTx/>
        <a:buFontTx/>
        <a:buNone/>
        <a:tabLst/>
        <a:defRPr sz="1200" b="0" i="0" u="none" strike="noStrike" cap="none" spc="0" baseline="0">
          <a:ln>
            <a:noFill/>
          </a:ln>
          <a:solidFill>
            <a:schemeClr val="tx1"/>
          </a:solidFill>
          <a:uFill>
            <a:solidFill>
              <a:srgbClr val="000000"/>
            </a:solidFill>
          </a:uFill>
          <a:latin typeface="+mn-lt"/>
          <a:ea typeface="+mn-ea"/>
          <a:cs typeface="+mn-cs"/>
          <a:sym typeface="Times New Roman"/>
        </a:defRPr>
      </a:lvl1pPr>
      <a:lvl2pPr marL="0" marR="0" indent="228600" algn="ctr" defTabSz="584200" latinLnBrk="0">
        <a:lnSpc>
          <a:spcPct val="100000"/>
        </a:lnSpc>
        <a:spcBef>
          <a:spcPts val="0"/>
        </a:spcBef>
        <a:spcAft>
          <a:spcPts val="0"/>
        </a:spcAft>
        <a:buClrTx/>
        <a:buSzTx/>
        <a:buFontTx/>
        <a:buNone/>
        <a:tabLst/>
        <a:defRPr sz="1200" b="0" i="0" u="none" strike="noStrike" cap="none" spc="0" baseline="0">
          <a:ln>
            <a:noFill/>
          </a:ln>
          <a:solidFill>
            <a:schemeClr val="tx1"/>
          </a:solidFill>
          <a:uFill>
            <a:solidFill>
              <a:srgbClr val="000000"/>
            </a:solidFill>
          </a:uFill>
          <a:latin typeface="+mn-lt"/>
          <a:ea typeface="+mn-ea"/>
          <a:cs typeface="+mn-cs"/>
          <a:sym typeface="Times New Roman"/>
        </a:defRPr>
      </a:lvl2pPr>
      <a:lvl3pPr marL="0" marR="0" indent="457200" algn="ctr" defTabSz="584200" latinLnBrk="0">
        <a:lnSpc>
          <a:spcPct val="100000"/>
        </a:lnSpc>
        <a:spcBef>
          <a:spcPts val="0"/>
        </a:spcBef>
        <a:spcAft>
          <a:spcPts val="0"/>
        </a:spcAft>
        <a:buClrTx/>
        <a:buSzTx/>
        <a:buFontTx/>
        <a:buNone/>
        <a:tabLst/>
        <a:defRPr sz="1200" b="0" i="0" u="none" strike="noStrike" cap="none" spc="0" baseline="0">
          <a:ln>
            <a:noFill/>
          </a:ln>
          <a:solidFill>
            <a:schemeClr val="tx1"/>
          </a:solidFill>
          <a:uFill>
            <a:solidFill>
              <a:srgbClr val="000000"/>
            </a:solidFill>
          </a:uFill>
          <a:latin typeface="+mn-lt"/>
          <a:ea typeface="+mn-ea"/>
          <a:cs typeface="+mn-cs"/>
          <a:sym typeface="Times New Roman"/>
        </a:defRPr>
      </a:lvl3pPr>
      <a:lvl4pPr marL="0" marR="0" indent="685800" algn="ctr" defTabSz="584200" latinLnBrk="0">
        <a:lnSpc>
          <a:spcPct val="100000"/>
        </a:lnSpc>
        <a:spcBef>
          <a:spcPts val="0"/>
        </a:spcBef>
        <a:spcAft>
          <a:spcPts val="0"/>
        </a:spcAft>
        <a:buClrTx/>
        <a:buSzTx/>
        <a:buFontTx/>
        <a:buNone/>
        <a:tabLst/>
        <a:defRPr sz="1200" b="0" i="0" u="none" strike="noStrike" cap="none" spc="0" baseline="0">
          <a:ln>
            <a:noFill/>
          </a:ln>
          <a:solidFill>
            <a:schemeClr val="tx1"/>
          </a:solidFill>
          <a:uFill>
            <a:solidFill>
              <a:srgbClr val="000000"/>
            </a:solidFill>
          </a:uFill>
          <a:latin typeface="+mn-lt"/>
          <a:ea typeface="+mn-ea"/>
          <a:cs typeface="+mn-cs"/>
          <a:sym typeface="Times New Roman"/>
        </a:defRPr>
      </a:lvl4pPr>
      <a:lvl5pPr marL="0" marR="0" indent="914400" algn="ctr" defTabSz="584200" latinLnBrk="0">
        <a:lnSpc>
          <a:spcPct val="100000"/>
        </a:lnSpc>
        <a:spcBef>
          <a:spcPts val="0"/>
        </a:spcBef>
        <a:spcAft>
          <a:spcPts val="0"/>
        </a:spcAft>
        <a:buClrTx/>
        <a:buSzTx/>
        <a:buFontTx/>
        <a:buNone/>
        <a:tabLst/>
        <a:defRPr sz="1200" b="0" i="0" u="none" strike="noStrike" cap="none" spc="0" baseline="0">
          <a:ln>
            <a:noFill/>
          </a:ln>
          <a:solidFill>
            <a:schemeClr val="tx1"/>
          </a:solidFill>
          <a:uFill>
            <a:solidFill>
              <a:srgbClr val="000000"/>
            </a:solidFill>
          </a:uFill>
          <a:latin typeface="+mn-lt"/>
          <a:ea typeface="+mn-ea"/>
          <a:cs typeface="+mn-cs"/>
          <a:sym typeface="Times New Roman"/>
        </a:defRPr>
      </a:lvl5pPr>
      <a:lvl6pPr marL="0" marR="0" indent="1143000" algn="ctr" defTabSz="584200" latinLnBrk="0">
        <a:lnSpc>
          <a:spcPct val="100000"/>
        </a:lnSpc>
        <a:spcBef>
          <a:spcPts val="0"/>
        </a:spcBef>
        <a:spcAft>
          <a:spcPts val="0"/>
        </a:spcAft>
        <a:buClrTx/>
        <a:buSzTx/>
        <a:buFontTx/>
        <a:buNone/>
        <a:tabLst/>
        <a:defRPr sz="1200" b="0" i="0" u="none" strike="noStrike" cap="none" spc="0" baseline="0">
          <a:ln>
            <a:noFill/>
          </a:ln>
          <a:solidFill>
            <a:schemeClr val="tx1"/>
          </a:solidFill>
          <a:uFill>
            <a:solidFill>
              <a:srgbClr val="000000"/>
            </a:solidFill>
          </a:uFill>
          <a:latin typeface="+mn-lt"/>
          <a:ea typeface="+mn-ea"/>
          <a:cs typeface="+mn-cs"/>
          <a:sym typeface="Times New Roman"/>
        </a:defRPr>
      </a:lvl6pPr>
      <a:lvl7pPr marL="0" marR="0" indent="1371600" algn="ctr" defTabSz="584200" latinLnBrk="0">
        <a:lnSpc>
          <a:spcPct val="100000"/>
        </a:lnSpc>
        <a:spcBef>
          <a:spcPts val="0"/>
        </a:spcBef>
        <a:spcAft>
          <a:spcPts val="0"/>
        </a:spcAft>
        <a:buClrTx/>
        <a:buSzTx/>
        <a:buFontTx/>
        <a:buNone/>
        <a:tabLst/>
        <a:defRPr sz="1200" b="0" i="0" u="none" strike="noStrike" cap="none" spc="0" baseline="0">
          <a:ln>
            <a:noFill/>
          </a:ln>
          <a:solidFill>
            <a:schemeClr val="tx1"/>
          </a:solidFill>
          <a:uFill>
            <a:solidFill>
              <a:srgbClr val="000000"/>
            </a:solidFill>
          </a:uFill>
          <a:latin typeface="+mn-lt"/>
          <a:ea typeface="+mn-ea"/>
          <a:cs typeface="+mn-cs"/>
          <a:sym typeface="Times New Roman"/>
        </a:defRPr>
      </a:lvl7pPr>
      <a:lvl8pPr marL="0" marR="0" indent="1600200" algn="ctr" defTabSz="584200" latinLnBrk="0">
        <a:lnSpc>
          <a:spcPct val="100000"/>
        </a:lnSpc>
        <a:spcBef>
          <a:spcPts val="0"/>
        </a:spcBef>
        <a:spcAft>
          <a:spcPts val="0"/>
        </a:spcAft>
        <a:buClrTx/>
        <a:buSzTx/>
        <a:buFontTx/>
        <a:buNone/>
        <a:tabLst/>
        <a:defRPr sz="1200" b="0" i="0" u="none" strike="noStrike" cap="none" spc="0" baseline="0">
          <a:ln>
            <a:noFill/>
          </a:ln>
          <a:solidFill>
            <a:schemeClr val="tx1"/>
          </a:solidFill>
          <a:uFill>
            <a:solidFill>
              <a:srgbClr val="000000"/>
            </a:solidFill>
          </a:uFill>
          <a:latin typeface="+mn-lt"/>
          <a:ea typeface="+mn-ea"/>
          <a:cs typeface="+mn-cs"/>
          <a:sym typeface="Times New Roman"/>
        </a:defRPr>
      </a:lvl8pPr>
      <a:lvl9pPr marL="0" marR="0" indent="1828800" algn="ctr" defTabSz="584200" latinLnBrk="0">
        <a:lnSpc>
          <a:spcPct val="100000"/>
        </a:lnSpc>
        <a:spcBef>
          <a:spcPts val="0"/>
        </a:spcBef>
        <a:spcAft>
          <a:spcPts val="0"/>
        </a:spcAft>
        <a:buClrTx/>
        <a:buSzTx/>
        <a:buFontTx/>
        <a:buNone/>
        <a:tabLst/>
        <a:defRPr sz="1200" b="0" i="0" u="none" strike="noStrike" cap="none" spc="0" baseline="0">
          <a:ln>
            <a:noFill/>
          </a:ln>
          <a:solidFill>
            <a:schemeClr val="tx1"/>
          </a:solidFill>
          <a:uFill>
            <a:solidFill>
              <a:srgbClr val="000000"/>
            </a:solidFill>
          </a:uFill>
          <a:latin typeface="+mn-lt"/>
          <a:ea typeface="+mn-ea"/>
          <a:cs typeface="+mn-cs"/>
          <a:sym typeface="Times New Roman"/>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A6011A-2195-2341-8EF2-FDF9291F5318}" type="datetimeFigureOut">
              <a:rPr lang="en-US" smtClean="0"/>
              <a:t>1/5/25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8C4014-1440-744A-A4A0-8373A3B5CC91}" type="slidenum">
              <a:rPr lang="en-US" smtClean="0"/>
              <a:t>‹#›</a:t>
            </a:fld>
            <a:endParaRPr lang="en-US"/>
          </a:p>
        </p:txBody>
      </p:sp>
    </p:spTree>
    <p:extLst>
      <p:ext uri="{BB962C8B-B14F-4D97-AF65-F5344CB8AC3E}">
        <p14:creationId xmlns:p14="http://schemas.microsoft.com/office/powerpoint/2010/main" val="500211080"/>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4B4B4B"/>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5060"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aseline="0">
                <a:ea typeface="Osaka" charset="-128"/>
                <a:cs typeface="Osaka" charset="-128"/>
              </a:defRPr>
            </a:lvl1pPr>
          </a:lstStyle>
          <a:p>
            <a:pPr>
              <a:defRPr/>
            </a:pPr>
            <a:endParaRPr lang="en-US"/>
          </a:p>
        </p:txBody>
      </p:sp>
      <p:sp>
        <p:nvSpPr>
          <p:cNvPr id="45061"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aseline="0">
                <a:ea typeface="Osaka" charset="-128"/>
                <a:cs typeface="Osaka" charset="-128"/>
              </a:defRPr>
            </a:lvl1pPr>
          </a:lstStyle>
          <a:p>
            <a:pPr>
              <a:defRPr/>
            </a:pPr>
            <a:endParaRPr lang="en-US"/>
          </a:p>
        </p:txBody>
      </p:sp>
      <p:sp>
        <p:nvSpPr>
          <p:cNvPr id="45062"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aseline="0">
                <a:ea typeface="Osaka" charset="-128"/>
                <a:cs typeface="Osaka" charset="-128"/>
              </a:defRPr>
            </a:lvl1pPr>
          </a:lstStyle>
          <a:p>
            <a:pPr>
              <a:defRPr/>
            </a:pPr>
            <a:fld id="{DD70851E-8164-1A4B-9C5E-51502E9C6432}" type="slidenum">
              <a:rPr lang="en-US"/>
              <a:pPr>
                <a:defRPr/>
              </a:pPr>
              <a:t>‹#›</a:t>
            </a:fld>
            <a:endParaRPr lang="en-US" dirty="0"/>
          </a:p>
        </p:txBody>
      </p:sp>
    </p:spTree>
    <p:extLst>
      <p:ext uri="{BB962C8B-B14F-4D97-AF65-F5344CB8AC3E}">
        <p14:creationId xmlns:p14="http://schemas.microsoft.com/office/powerpoint/2010/main" val="621470797"/>
      </p:ext>
    </p:extLst>
  </p:cSld>
  <p:clrMap bg1="dk2" tx1="lt1" bg2="dk1" tx2="lt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Lst>
  <p:hf hdr="0" ftr="0" dt="0"/>
  <p:txStyles>
    <p:titleStyle>
      <a:lvl1pPr algn="ctr" rtl="0" eaLnBrk="0" fontAlgn="base" hangingPunct="0">
        <a:spcBef>
          <a:spcPct val="0"/>
        </a:spcBef>
        <a:spcAft>
          <a:spcPct val="0"/>
        </a:spcAft>
        <a:defRPr sz="4400">
          <a:solidFill>
            <a:schemeClr val="folHlink"/>
          </a:solidFill>
          <a:latin typeface="+mj-lt"/>
          <a:ea typeface="+mj-ea"/>
          <a:cs typeface="+mj-cs"/>
        </a:defRPr>
      </a:lvl1pPr>
      <a:lvl2pPr algn="ctr" rtl="0" eaLnBrk="0" fontAlgn="base" hangingPunct="0">
        <a:spcBef>
          <a:spcPct val="0"/>
        </a:spcBef>
        <a:spcAft>
          <a:spcPct val="0"/>
        </a:spcAft>
        <a:defRPr sz="4400">
          <a:solidFill>
            <a:schemeClr val="folHlink"/>
          </a:solidFill>
          <a:latin typeface="Arial" charset="0"/>
          <a:ea typeface="Osaka" charset="-128"/>
          <a:cs typeface="Osaka" charset="-128"/>
        </a:defRPr>
      </a:lvl2pPr>
      <a:lvl3pPr algn="ctr" rtl="0" eaLnBrk="0" fontAlgn="base" hangingPunct="0">
        <a:spcBef>
          <a:spcPct val="0"/>
        </a:spcBef>
        <a:spcAft>
          <a:spcPct val="0"/>
        </a:spcAft>
        <a:defRPr sz="4400">
          <a:solidFill>
            <a:schemeClr val="folHlink"/>
          </a:solidFill>
          <a:latin typeface="Arial" charset="0"/>
          <a:ea typeface="Osaka" charset="-128"/>
          <a:cs typeface="Osaka" charset="-128"/>
        </a:defRPr>
      </a:lvl3pPr>
      <a:lvl4pPr algn="ctr" rtl="0" eaLnBrk="0" fontAlgn="base" hangingPunct="0">
        <a:spcBef>
          <a:spcPct val="0"/>
        </a:spcBef>
        <a:spcAft>
          <a:spcPct val="0"/>
        </a:spcAft>
        <a:defRPr sz="4400">
          <a:solidFill>
            <a:schemeClr val="folHlink"/>
          </a:solidFill>
          <a:latin typeface="Arial" charset="0"/>
          <a:ea typeface="Osaka" charset="-128"/>
          <a:cs typeface="Osaka" charset="-128"/>
        </a:defRPr>
      </a:lvl4pPr>
      <a:lvl5pPr algn="ctr" rtl="0" eaLnBrk="0" fontAlgn="base" hangingPunct="0">
        <a:spcBef>
          <a:spcPct val="0"/>
        </a:spcBef>
        <a:spcAft>
          <a:spcPct val="0"/>
        </a:spcAft>
        <a:defRPr sz="4400">
          <a:solidFill>
            <a:schemeClr val="folHlink"/>
          </a:solidFill>
          <a:latin typeface="Arial" charset="0"/>
          <a:ea typeface="Osaka" charset="-128"/>
          <a:cs typeface="Osaka" charset="-128"/>
        </a:defRPr>
      </a:lvl5pPr>
      <a:lvl6pPr marL="457200" algn="ctr" rtl="0" fontAlgn="base">
        <a:spcBef>
          <a:spcPct val="0"/>
        </a:spcBef>
        <a:spcAft>
          <a:spcPct val="0"/>
        </a:spcAft>
        <a:defRPr sz="4400">
          <a:solidFill>
            <a:schemeClr val="folHlink"/>
          </a:solidFill>
          <a:latin typeface="Arial" charset="0"/>
          <a:ea typeface="Osaka" charset="-128"/>
          <a:cs typeface="Osaka" charset="-128"/>
        </a:defRPr>
      </a:lvl6pPr>
      <a:lvl7pPr marL="914400" algn="ctr" rtl="0" fontAlgn="base">
        <a:spcBef>
          <a:spcPct val="0"/>
        </a:spcBef>
        <a:spcAft>
          <a:spcPct val="0"/>
        </a:spcAft>
        <a:defRPr sz="4400">
          <a:solidFill>
            <a:schemeClr val="folHlink"/>
          </a:solidFill>
          <a:latin typeface="Arial" charset="0"/>
          <a:ea typeface="Osaka" charset="-128"/>
          <a:cs typeface="Osaka" charset="-128"/>
        </a:defRPr>
      </a:lvl7pPr>
      <a:lvl8pPr marL="1371600" algn="ctr" rtl="0" fontAlgn="base">
        <a:spcBef>
          <a:spcPct val="0"/>
        </a:spcBef>
        <a:spcAft>
          <a:spcPct val="0"/>
        </a:spcAft>
        <a:defRPr sz="4400">
          <a:solidFill>
            <a:schemeClr val="folHlink"/>
          </a:solidFill>
          <a:latin typeface="Arial" charset="0"/>
          <a:ea typeface="Osaka" charset="-128"/>
          <a:cs typeface="Osaka" charset="-128"/>
        </a:defRPr>
      </a:lvl8pPr>
      <a:lvl9pPr marL="1828800" algn="ctr" rtl="0" fontAlgn="base">
        <a:spcBef>
          <a:spcPct val="0"/>
        </a:spcBef>
        <a:spcAft>
          <a:spcPct val="0"/>
        </a:spcAft>
        <a:defRPr sz="4400">
          <a:solidFill>
            <a:schemeClr val="folHlink"/>
          </a:solidFill>
          <a:latin typeface="Arial" charset="0"/>
          <a:ea typeface="Osaka" charset="-128"/>
          <a:cs typeface="Osaka" charset="-128"/>
        </a:defRPr>
      </a:lvl9pPr>
    </p:titleStyle>
    <p:bodyStyle>
      <a:lvl1pPr marL="342900" indent="-342900" algn="l" rtl="0" eaLnBrk="0" fontAlgn="base" hangingPunct="0">
        <a:spcBef>
          <a:spcPct val="20000"/>
        </a:spcBef>
        <a:spcAft>
          <a:spcPct val="0"/>
        </a:spcAft>
        <a:buClr>
          <a:schemeClr val="tx1"/>
        </a:buClr>
        <a:buSzPct val="120000"/>
        <a:buFont typeface="Times" charset="0"/>
        <a:buChar char="•"/>
        <a:defRPr sz="3200">
          <a:solidFill>
            <a:schemeClr val="tx1"/>
          </a:solidFill>
          <a:latin typeface="Chalkboard"/>
          <a:ea typeface="+mn-ea"/>
          <a:cs typeface="Chalkboard"/>
        </a:defRPr>
      </a:lvl1pPr>
      <a:lvl2pPr marL="742950" indent="-285750" algn="l" rtl="0" eaLnBrk="0" fontAlgn="base" hangingPunct="0">
        <a:spcBef>
          <a:spcPct val="20000"/>
        </a:spcBef>
        <a:spcAft>
          <a:spcPct val="0"/>
        </a:spcAft>
        <a:buClr>
          <a:schemeClr val="hlink"/>
        </a:buClr>
        <a:buSzPct val="80000"/>
        <a:buChar char="–"/>
        <a:defRPr sz="2800">
          <a:solidFill>
            <a:schemeClr val="tx1"/>
          </a:solidFill>
          <a:latin typeface="Chalkboard"/>
          <a:ea typeface="+mn-ea"/>
          <a:cs typeface="Chalkboard"/>
        </a:defRPr>
      </a:lvl2pPr>
      <a:lvl3pPr marL="1143000" indent="-228600" algn="l" rtl="0" eaLnBrk="0" fontAlgn="base" hangingPunct="0">
        <a:spcBef>
          <a:spcPct val="20000"/>
        </a:spcBef>
        <a:spcAft>
          <a:spcPct val="0"/>
        </a:spcAft>
        <a:buClr>
          <a:schemeClr val="tx1"/>
        </a:buClr>
        <a:buSzPct val="80000"/>
        <a:buFont typeface="Times" charset="0"/>
        <a:buChar char="•"/>
        <a:defRPr sz="2400">
          <a:solidFill>
            <a:schemeClr val="tx1"/>
          </a:solidFill>
          <a:latin typeface="Chalkboard"/>
          <a:ea typeface="+mn-ea"/>
          <a:cs typeface="Chalkboard"/>
        </a:defRPr>
      </a:lvl3pPr>
      <a:lvl4pPr marL="1600200" indent="-228600" algn="l" rtl="0" eaLnBrk="0" fontAlgn="base" hangingPunct="0">
        <a:spcBef>
          <a:spcPct val="20000"/>
        </a:spcBef>
        <a:spcAft>
          <a:spcPct val="0"/>
        </a:spcAft>
        <a:buChar char="–"/>
        <a:defRPr sz="2000">
          <a:solidFill>
            <a:schemeClr val="tx1"/>
          </a:solidFill>
          <a:latin typeface="Chalkboard"/>
          <a:ea typeface="+mn-ea"/>
          <a:cs typeface="Chalkboard"/>
        </a:defRPr>
      </a:lvl4pPr>
      <a:lvl5pPr marL="2057400" indent="-228600" algn="l" rtl="0" eaLnBrk="0" fontAlgn="base" hangingPunct="0">
        <a:spcBef>
          <a:spcPct val="20000"/>
        </a:spcBef>
        <a:spcAft>
          <a:spcPct val="0"/>
        </a:spcAft>
        <a:buChar char="»"/>
        <a:defRPr sz="2000">
          <a:solidFill>
            <a:schemeClr val="tx1"/>
          </a:solidFill>
          <a:latin typeface="Chalkboard"/>
          <a:ea typeface="+mn-ea"/>
          <a:cs typeface="Chalkboard"/>
        </a:defRPr>
      </a:lvl5pPr>
      <a:lvl6pPr marL="2514600" indent="-228600" algn="l" rtl="0" fontAlgn="base">
        <a:spcBef>
          <a:spcPct val="20000"/>
        </a:spcBef>
        <a:spcAft>
          <a:spcPct val="0"/>
        </a:spcAft>
        <a:buChar char="»"/>
        <a:defRPr sz="2000">
          <a:solidFill>
            <a:schemeClr val="tx1"/>
          </a:solidFill>
          <a:latin typeface="+mn-lt"/>
          <a:ea typeface="+mn-ea"/>
          <a:cs typeface="+mn-cs"/>
        </a:defRPr>
      </a:lvl6pPr>
      <a:lvl7pPr marL="2971800" indent="-228600" algn="l" rtl="0" fontAlgn="base">
        <a:spcBef>
          <a:spcPct val="20000"/>
        </a:spcBef>
        <a:spcAft>
          <a:spcPct val="0"/>
        </a:spcAft>
        <a:buChar char="»"/>
        <a:defRPr sz="2000">
          <a:solidFill>
            <a:schemeClr val="tx1"/>
          </a:solidFill>
          <a:latin typeface="+mn-lt"/>
          <a:ea typeface="+mn-ea"/>
          <a:cs typeface="+mn-cs"/>
        </a:defRPr>
      </a:lvl7pPr>
      <a:lvl8pPr marL="3429000" indent="-228600" algn="l" rtl="0" fontAlgn="base">
        <a:spcBef>
          <a:spcPct val="20000"/>
        </a:spcBef>
        <a:spcAft>
          <a:spcPct val="0"/>
        </a:spcAft>
        <a:buChar char="»"/>
        <a:defRPr sz="2000">
          <a:solidFill>
            <a:schemeClr val="tx1"/>
          </a:solidFill>
          <a:latin typeface="+mn-lt"/>
          <a:ea typeface="+mn-ea"/>
          <a:cs typeface="+mn-cs"/>
        </a:defRPr>
      </a:lvl8pPr>
      <a:lvl9pPr marL="3886200" indent="-228600" algn="l" rtl="0" fontAlgn="base">
        <a:spcBef>
          <a:spcPct val="20000"/>
        </a:spcBef>
        <a:spcAft>
          <a:spcPct val="0"/>
        </a:spcAft>
        <a:buChar char="»"/>
        <a:defRPr sz="20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40" descr="ppt_generic_backgrpund"/>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p:cNvSpPr>
            <a:spLocks noGrp="1" noChangeArrowheads="1"/>
          </p:cNvSpPr>
          <p:nvPr>
            <p:ph type="title"/>
          </p:nvPr>
        </p:nvSpPr>
        <p:spPr bwMode="auto">
          <a:xfrm>
            <a:off x="457200" y="685800"/>
            <a:ext cx="822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p:cNvSpPr>
            <a:spLocks noGrp="1" noChangeArrowheads="1"/>
          </p:cNvSpPr>
          <p:nvPr>
            <p:ph type="body" idx="1"/>
          </p:nvPr>
        </p:nvSpPr>
        <p:spPr bwMode="auto">
          <a:xfrm>
            <a:off x="457200" y="1524000"/>
            <a:ext cx="82296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1" name="Rectangle 5"/>
          <p:cNvSpPr>
            <a:spLocks noGrp="1" noChangeArrowheads="1"/>
          </p:cNvSpPr>
          <p:nvPr>
            <p:ph type="dt" sz="half" idx="2"/>
          </p:nvPr>
        </p:nvSpPr>
        <p:spPr bwMode="auto">
          <a:xfrm>
            <a:off x="457200" y="6400800"/>
            <a:ext cx="2133600" cy="304800"/>
          </a:xfrm>
          <a:prstGeom prst="rect">
            <a:avLst/>
          </a:prstGeom>
          <a:noFill/>
          <a:ln>
            <a:noFill/>
          </a:ln>
          <a:effectLst/>
          <a:extLst>
            <a:ext uri="{FAA26D3D-D897-4be2-8F04-BA451C77F1D7}">
              <ma14:placeholderFlag xmlns="" xmlns:ma14="http://schemas.microsoft.com/office/mac/drawingml/2011/main" val="1"/>
            </a:ext>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lvl1pPr eaLnBrk="1" hangingPunct="1">
              <a:defRPr sz="750">
                <a:ea typeface="ＭＳ Ｐゴシック" charset="0"/>
              </a:defRPr>
            </a:lvl1pPr>
          </a:lstStyle>
          <a:p>
            <a:pPr algn="l">
              <a:spcBef>
                <a:spcPct val="0"/>
              </a:spcBef>
              <a:defRPr/>
            </a:pPr>
            <a:endParaRPr lang="en-US">
              <a:solidFill>
                <a:srgbClr val="000000"/>
              </a:solidFill>
              <a:latin typeface="Arial" charset="0"/>
              <a:cs typeface=""/>
            </a:endParaRPr>
          </a:p>
        </p:txBody>
      </p:sp>
      <p:sp>
        <p:nvSpPr>
          <p:cNvPr id="4102" name="Rectangle 6"/>
          <p:cNvSpPr>
            <a:spLocks noGrp="1" noChangeArrowheads="1"/>
          </p:cNvSpPr>
          <p:nvPr>
            <p:ph type="ftr" sz="quarter" idx="3"/>
          </p:nvPr>
        </p:nvSpPr>
        <p:spPr bwMode="auto">
          <a:xfrm>
            <a:off x="3124200" y="6400800"/>
            <a:ext cx="2895600" cy="304800"/>
          </a:xfrm>
          <a:prstGeom prst="rect">
            <a:avLst/>
          </a:prstGeom>
          <a:noFill/>
          <a:ln>
            <a:noFill/>
          </a:ln>
          <a:effectLst/>
          <a:extLst>
            <a:ext uri="{FAA26D3D-D897-4be2-8F04-BA451C77F1D7}">
              <ma14:placeholderFlag xmlns="" xmlns:ma14="http://schemas.microsoft.com/office/mac/drawingml/2011/main" val="1"/>
            </a:ext>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lvl1pPr algn="ctr" eaLnBrk="1" hangingPunct="1">
              <a:defRPr sz="750">
                <a:ea typeface="ＭＳ Ｐゴシック" charset="0"/>
              </a:defRPr>
            </a:lvl1pPr>
          </a:lstStyle>
          <a:p>
            <a:pPr>
              <a:spcBef>
                <a:spcPct val="0"/>
              </a:spcBef>
              <a:defRPr/>
            </a:pPr>
            <a:endParaRPr lang="en-US">
              <a:solidFill>
                <a:srgbClr val="000000"/>
              </a:solidFill>
              <a:latin typeface="Arial" charset="0"/>
              <a:cs typeface=""/>
            </a:endParaRPr>
          </a:p>
        </p:txBody>
      </p:sp>
      <p:sp>
        <p:nvSpPr>
          <p:cNvPr id="4103" name="Rectangle 7"/>
          <p:cNvSpPr>
            <a:spLocks noGrp="1" noChangeArrowheads="1"/>
          </p:cNvSpPr>
          <p:nvPr>
            <p:ph type="sldNum" sz="quarter" idx="4"/>
          </p:nvPr>
        </p:nvSpPr>
        <p:spPr bwMode="auto">
          <a:xfrm>
            <a:off x="6553200" y="6400800"/>
            <a:ext cx="2133600" cy="304800"/>
          </a:xfrm>
          <a:prstGeom prst="rect">
            <a:avLst/>
          </a:prstGeom>
          <a:noFill/>
          <a:ln>
            <a:noFill/>
          </a:ln>
          <a:effectLst/>
          <a:extLst>
            <a:ext uri="{FAA26D3D-D897-4be2-8F04-BA451C77F1D7}">
              <ma14:placeholderFlag xmlns="" xmlns:ma14="http://schemas.microsoft.com/office/mac/drawingml/2011/main" val="1"/>
            </a:ext>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lvl1pPr algn="r" eaLnBrk="1" hangingPunct="1">
              <a:defRPr sz="750" smtClean="0"/>
            </a:lvl1pPr>
          </a:lstStyle>
          <a:p>
            <a:pPr>
              <a:spcBef>
                <a:spcPct val="0"/>
              </a:spcBef>
              <a:defRPr/>
            </a:pPr>
            <a:fld id="{136ED199-2A41-FA4B-83D5-EEE2F6C535BC}" type="slidenum">
              <a:rPr lang="en-US" altLang="en-US">
                <a:solidFill>
                  <a:srgbClr val="000000"/>
                </a:solidFill>
                <a:latin typeface="Arial" charset="0"/>
                <a:ea typeface="ＭＳ Ｐゴシック" charset="-128"/>
                <a:cs typeface=""/>
              </a:rPr>
              <a:pPr>
                <a:spcBef>
                  <a:spcPct val="0"/>
                </a:spcBef>
                <a:defRPr/>
              </a:pPr>
              <a:t>‹#›</a:t>
            </a:fld>
            <a:endParaRPr lang="en-US" altLang="en-US">
              <a:solidFill>
                <a:srgbClr val="000000"/>
              </a:solidFill>
              <a:latin typeface="Arial" charset="0"/>
              <a:ea typeface="ＭＳ Ｐゴシック" charset="-128"/>
              <a:cs typeface=""/>
            </a:endParaRPr>
          </a:p>
        </p:txBody>
      </p:sp>
    </p:spTree>
    <p:extLst>
      <p:ext uri="{BB962C8B-B14F-4D97-AF65-F5344CB8AC3E}">
        <p14:creationId xmlns:p14="http://schemas.microsoft.com/office/powerpoint/2010/main" val="3871460236"/>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Lst>
  <p:txStyles>
    <p:titleStyle>
      <a:lvl1pPr algn="l" rtl="0" eaLnBrk="0" fontAlgn="base" hangingPunct="0">
        <a:spcBef>
          <a:spcPct val="0"/>
        </a:spcBef>
        <a:spcAft>
          <a:spcPct val="0"/>
        </a:spcAft>
        <a:defRPr sz="2925" b="1">
          <a:solidFill>
            <a:schemeClr val="tx1"/>
          </a:solidFill>
          <a:latin typeface="+mj-lt"/>
          <a:ea typeface="+mj-ea"/>
          <a:cs typeface="+mj-cs"/>
        </a:defRPr>
      </a:lvl1pPr>
      <a:lvl2pPr algn="l" rtl="0" eaLnBrk="0" fontAlgn="base" hangingPunct="0">
        <a:spcBef>
          <a:spcPct val="0"/>
        </a:spcBef>
        <a:spcAft>
          <a:spcPct val="0"/>
        </a:spcAft>
        <a:defRPr sz="2925" b="1">
          <a:solidFill>
            <a:schemeClr val="tx1"/>
          </a:solidFill>
          <a:latin typeface="Arial" charset="0"/>
          <a:ea typeface="ＭＳ Ｐゴシック" charset="0"/>
        </a:defRPr>
      </a:lvl2pPr>
      <a:lvl3pPr algn="l" rtl="0" eaLnBrk="0" fontAlgn="base" hangingPunct="0">
        <a:spcBef>
          <a:spcPct val="0"/>
        </a:spcBef>
        <a:spcAft>
          <a:spcPct val="0"/>
        </a:spcAft>
        <a:defRPr sz="2925" b="1">
          <a:solidFill>
            <a:schemeClr val="tx1"/>
          </a:solidFill>
          <a:latin typeface="Arial" charset="0"/>
          <a:ea typeface="ＭＳ Ｐゴシック" charset="0"/>
        </a:defRPr>
      </a:lvl3pPr>
      <a:lvl4pPr algn="l" rtl="0" eaLnBrk="0" fontAlgn="base" hangingPunct="0">
        <a:spcBef>
          <a:spcPct val="0"/>
        </a:spcBef>
        <a:spcAft>
          <a:spcPct val="0"/>
        </a:spcAft>
        <a:defRPr sz="2925" b="1">
          <a:solidFill>
            <a:schemeClr val="tx1"/>
          </a:solidFill>
          <a:latin typeface="Arial" charset="0"/>
          <a:ea typeface="ＭＳ Ｐゴシック" charset="0"/>
        </a:defRPr>
      </a:lvl4pPr>
      <a:lvl5pPr algn="l" rtl="0" eaLnBrk="0" fontAlgn="base" hangingPunct="0">
        <a:spcBef>
          <a:spcPct val="0"/>
        </a:spcBef>
        <a:spcAft>
          <a:spcPct val="0"/>
        </a:spcAft>
        <a:defRPr sz="2925" b="1">
          <a:solidFill>
            <a:schemeClr val="tx1"/>
          </a:solidFill>
          <a:latin typeface="Arial" charset="0"/>
          <a:ea typeface="ＭＳ Ｐゴシック" charset="0"/>
        </a:defRPr>
      </a:lvl5pPr>
      <a:lvl6pPr marL="342900" algn="l" rtl="0" fontAlgn="base">
        <a:spcBef>
          <a:spcPct val="0"/>
        </a:spcBef>
        <a:spcAft>
          <a:spcPct val="0"/>
        </a:spcAft>
        <a:defRPr sz="2925" b="1">
          <a:solidFill>
            <a:schemeClr val="tx1"/>
          </a:solidFill>
          <a:latin typeface="Arial" charset="0"/>
          <a:ea typeface="ＭＳ Ｐゴシック" charset="0"/>
        </a:defRPr>
      </a:lvl6pPr>
      <a:lvl7pPr marL="685800" algn="l" rtl="0" fontAlgn="base">
        <a:spcBef>
          <a:spcPct val="0"/>
        </a:spcBef>
        <a:spcAft>
          <a:spcPct val="0"/>
        </a:spcAft>
        <a:defRPr sz="2925" b="1">
          <a:solidFill>
            <a:schemeClr val="tx1"/>
          </a:solidFill>
          <a:latin typeface="Arial" charset="0"/>
          <a:ea typeface="ＭＳ Ｐゴシック" charset="0"/>
        </a:defRPr>
      </a:lvl7pPr>
      <a:lvl8pPr marL="1028700" algn="l" rtl="0" fontAlgn="base">
        <a:spcBef>
          <a:spcPct val="0"/>
        </a:spcBef>
        <a:spcAft>
          <a:spcPct val="0"/>
        </a:spcAft>
        <a:defRPr sz="2925" b="1">
          <a:solidFill>
            <a:schemeClr val="tx1"/>
          </a:solidFill>
          <a:latin typeface="Arial" charset="0"/>
          <a:ea typeface="ＭＳ Ｐゴシック" charset="0"/>
        </a:defRPr>
      </a:lvl8pPr>
      <a:lvl9pPr marL="1371600" algn="l" rtl="0" fontAlgn="base">
        <a:spcBef>
          <a:spcPct val="0"/>
        </a:spcBef>
        <a:spcAft>
          <a:spcPct val="0"/>
        </a:spcAft>
        <a:defRPr sz="2925" b="1">
          <a:solidFill>
            <a:schemeClr val="tx1"/>
          </a:solidFill>
          <a:latin typeface="Arial" charset="0"/>
          <a:ea typeface="ＭＳ Ｐゴシック" charset="0"/>
        </a:defRPr>
      </a:lvl9pPr>
    </p:titleStyle>
    <p:bodyStyle>
      <a:lvl1pPr marL="257175" indent="-257175" algn="l" rtl="0" eaLnBrk="0" fontAlgn="base" hangingPunct="0">
        <a:spcBef>
          <a:spcPct val="20000"/>
        </a:spcBef>
        <a:spcAft>
          <a:spcPct val="0"/>
        </a:spcAft>
        <a:buClr>
          <a:schemeClr val="tx2"/>
        </a:buClr>
        <a:buSzPct val="70000"/>
        <a:buFont typeface="Wingdings" charset="2"/>
        <a:buBlip>
          <a:blip r:embed="rId14"/>
        </a:buBlip>
        <a:defRPr sz="2250">
          <a:solidFill>
            <a:schemeClr val="tx1"/>
          </a:solidFill>
          <a:latin typeface="+mn-lt"/>
          <a:ea typeface="+mn-ea"/>
          <a:cs typeface="+mn-cs"/>
        </a:defRPr>
      </a:lvl1pPr>
      <a:lvl2pPr marL="519113" indent="-260747" algn="l" rtl="0" eaLnBrk="0" fontAlgn="base" hangingPunct="0">
        <a:spcBef>
          <a:spcPct val="20000"/>
        </a:spcBef>
        <a:spcAft>
          <a:spcPct val="0"/>
        </a:spcAft>
        <a:buClr>
          <a:schemeClr val="accent2"/>
        </a:buClr>
        <a:buSzPct val="70000"/>
        <a:buFont typeface="Wingdings" charset="2"/>
        <a:buBlip>
          <a:blip r:embed="rId15"/>
        </a:buBlip>
        <a:defRPr sz="1950">
          <a:solidFill>
            <a:schemeClr val="tx1"/>
          </a:solidFill>
          <a:latin typeface="+mn-lt"/>
          <a:ea typeface="+mn-ea"/>
        </a:defRPr>
      </a:lvl2pPr>
      <a:lvl3pPr marL="740569" indent="-220266" algn="l" rtl="0" eaLnBrk="0" fontAlgn="base" hangingPunct="0">
        <a:spcBef>
          <a:spcPct val="20000"/>
        </a:spcBef>
        <a:spcAft>
          <a:spcPct val="0"/>
        </a:spcAft>
        <a:buClr>
          <a:schemeClr val="accent1"/>
        </a:buClr>
        <a:buSzPct val="70000"/>
        <a:buFont typeface="Wingdings" charset="2"/>
        <a:buBlip>
          <a:blip r:embed="rId16"/>
        </a:buBlip>
        <a:defRPr sz="1725">
          <a:solidFill>
            <a:schemeClr val="tx1"/>
          </a:solidFill>
          <a:latin typeface="+mn-lt"/>
          <a:ea typeface="+mn-ea"/>
        </a:defRPr>
      </a:lvl3pPr>
      <a:lvl4pPr marL="960835" indent="-219075" algn="l" rtl="0" eaLnBrk="0" fontAlgn="base" hangingPunct="0">
        <a:spcBef>
          <a:spcPct val="20000"/>
        </a:spcBef>
        <a:spcAft>
          <a:spcPct val="0"/>
        </a:spcAft>
        <a:buClr>
          <a:schemeClr val="tx2"/>
        </a:buClr>
        <a:buSzPct val="75000"/>
        <a:buFont typeface="Wingdings" charset="2"/>
        <a:buBlip>
          <a:blip r:embed="rId15"/>
        </a:buBlip>
        <a:defRPr sz="1500">
          <a:solidFill>
            <a:schemeClr val="tx1"/>
          </a:solidFill>
          <a:latin typeface="+mn-lt"/>
          <a:ea typeface="+mn-ea"/>
        </a:defRPr>
      </a:lvl4pPr>
      <a:lvl5pPr marL="1198960" indent="-236935" algn="l" rtl="0" eaLnBrk="0" fontAlgn="base" hangingPunct="0">
        <a:spcBef>
          <a:spcPct val="20000"/>
        </a:spcBef>
        <a:spcAft>
          <a:spcPct val="0"/>
        </a:spcAft>
        <a:buClr>
          <a:schemeClr val="folHlink"/>
        </a:buClr>
        <a:buSzPct val="80000"/>
        <a:buFont typeface="Wingdings" charset="2"/>
        <a:buBlip>
          <a:blip r:embed="rId16"/>
        </a:buBlip>
        <a:defRPr sz="1500">
          <a:solidFill>
            <a:schemeClr val="tx1"/>
          </a:solidFill>
          <a:latin typeface="+mn-lt"/>
          <a:ea typeface="+mn-ea"/>
        </a:defRPr>
      </a:lvl5pPr>
      <a:lvl6pPr marL="1541860" indent="-236935" algn="l" rtl="0" fontAlgn="base">
        <a:spcBef>
          <a:spcPct val="20000"/>
        </a:spcBef>
        <a:spcAft>
          <a:spcPct val="0"/>
        </a:spcAft>
        <a:buClr>
          <a:schemeClr val="folHlink"/>
        </a:buClr>
        <a:buSzPct val="80000"/>
        <a:buFont typeface="Wingdings" charset="0"/>
        <a:buBlip>
          <a:blip r:embed="rId16"/>
        </a:buBlip>
        <a:defRPr sz="1500">
          <a:solidFill>
            <a:schemeClr val="tx1"/>
          </a:solidFill>
          <a:latin typeface="+mn-lt"/>
          <a:ea typeface="+mn-ea"/>
        </a:defRPr>
      </a:lvl6pPr>
      <a:lvl7pPr marL="1884760" indent="-236935" algn="l" rtl="0" fontAlgn="base">
        <a:spcBef>
          <a:spcPct val="20000"/>
        </a:spcBef>
        <a:spcAft>
          <a:spcPct val="0"/>
        </a:spcAft>
        <a:buClr>
          <a:schemeClr val="folHlink"/>
        </a:buClr>
        <a:buSzPct val="80000"/>
        <a:buFont typeface="Wingdings" charset="0"/>
        <a:buBlip>
          <a:blip r:embed="rId16"/>
        </a:buBlip>
        <a:defRPr sz="1500">
          <a:solidFill>
            <a:schemeClr val="tx1"/>
          </a:solidFill>
          <a:latin typeface="+mn-lt"/>
          <a:ea typeface="+mn-ea"/>
        </a:defRPr>
      </a:lvl7pPr>
      <a:lvl8pPr marL="2227660" indent="-236935" algn="l" rtl="0" fontAlgn="base">
        <a:spcBef>
          <a:spcPct val="20000"/>
        </a:spcBef>
        <a:spcAft>
          <a:spcPct val="0"/>
        </a:spcAft>
        <a:buClr>
          <a:schemeClr val="folHlink"/>
        </a:buClr>
        <a:buSzPct val="80000"/>
        <a:buFont typeface="Wingdings" charset="0"/>
        <a:buBlip>
          <a:blip r:embed="rId16"/>
        </a:buBlip>
        <a:defRPr sz="1500">
          <a:solidFill>
            <a:schemeClr val="tx1"/>
          </a:solidFill>
          <a:latin typeface="+mn-lt"/>
          <a:ea typeface="+mn-ea"/>
        </a:defRPr>
      </a:lvl8pPr>
      <a:lvl9pPr marL="2570560" indent="-236935" algn="l" rtl="0" fontAlgn="base">
        <a:spcBef>
          <a:spcPct val="20000"/>
        </a:spcBef>
        <a:spcAft>
          <a:spcPct val="0"/>
        </a:spcAft>
        <a:buClr>
          <a:schemeClr val="folHlink"/>
        </a:buClr>
        <a:buSzPct val="80000"/>
        <a:buFont typeface="Wingdings" charset="0"/>
        <a:buBlip>
          <a:blip r:embed="rId16"/>
        </a:buBlip>
        <a:defRPr sz="1500">
          <a:solidFill>
            <a:schemeClr val="tx1"/>
          </a:solidFill>
          <a:latin typeface="+mn-lt"/>
          <a:ea typeface="+mn-ea"/>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hyperlink" Target="http://lass.cs.umass.edu/~shenoy/courses/spring16/readings/Barham05.pdf" TargetMode="External"/><Relationship Id="rId2" Type="http://schemas.openxmlformats.org/officeDocument/2006/relationships/hyperlink" Target="http://lass.cs.umass.edu/~shenoy/courses/spring16/readings/Rosenblum05.pdf" TargetMode="External"/><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3" Type="http://schemas.openxmlformats.org/officeDocument/2006/relationships/hyperlink" Target="https://www.sciencedirect.com/topics/computer-science/virtualizations" TargetMode="External"/><Relationship Id="rId2" Type="http://schemas.openxmlformats.org/officeDocument/2006/relationships/hyperlink" Target="https://www.sciencedirect.com/topics/computer-science/resource-configuration" TargetMode="External"/><Relationship Id="rId1" Type="http://schemas.openxmlformats.org/officeDocument/2006/relationships/slideLayout" Target="../slideLayouts/slideLayout29.xml"/><Relationship Id="rId6" Type="http://schemas.openxmlformats.org/officeDocument/2006/relationships/hyperlink" Target="https://www.sciencedirect.com/topics/computer-science/binary-translation" TargetMode="External"/><Relationship Id="rId5" Type="http://schemas.openxmlformats.org/officeDocument/2006/relationships/hyperlink" Target="https://www.sciencedirect.com/topics/computer-science/paravirtualization" TargetMode="External"/><Relationship Id="rId4" Type="http://schemas.openxmlformats.org/officeDocument/2006/relationships/hyperlink" Target="https://www.sciencedirect.com/topics/computer-science/virtualized-environment"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2" Type="http://schemas.openxmlformats.org/officeDocument/2006/relationships/hyperlink" Target="https://dl.acm.org/doi/pdf/10.1145/1189276.1189289" TargetMode="External"/><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33.xml.rels><?xml version="1.0" encoding="UTF-8" standalone="yes"?>
<Relationships xmlns="http://schemas.openxmlformats.org/package/2006/relationships"><Relationship Id="rId2" Type="http://schemas.openxmlformats.org/officeDocument/2006/relationships/hyperlink" Target="http://lass.cs.umass.edu/~shenoy/courses/spring16/readings/Barham05.pdf" TargetMode="External"/><Relationship Id="rId1" Type="http://schemas.openxmlformats.org/officeDocument/2006/relationships/slideLayout" Target="../slideLayouts/slideLayout42.xml"/></Relationships>
</file>

<file path=ppt/slides/_rels/slide3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42.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46.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image" Target="../media/image27.png"/><Relationship Id="rId1" Type="http://schemas.openxmlformats.org/officeDocument/2006/relationships/slideLayout" Target="../slideLayouts/slideLayout55.xml"/></Relationships>
</file>

<file path=ppt/slides/_rels/slide4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57.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4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62.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49.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6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78.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48.xml"/></Relationships>
</file>

<file path=ppt/slides/_rels/slide7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8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8.xml"/></Relationships>
</file>

<file path=ppt/slides/_rels/slide8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8.xml"/></Relationships>
</file>

<file path=ppt/slides/_rels/slide8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8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8.xml"/></Relationships>
</file>

<file path=ppt/slides/_rels/slide8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9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8.xml"/><Relationship Id="rId4" Type="http://schemas.openxmlformats.org/officeDocument/2006/relationships/image" Target="../media/image45.png"/></Relationships>
</file>

<file path=ppt/slides/_rels/slide9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9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8.xml"/></Relationships>
</file>

<file path=ppt/slides/_rels/slide9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8.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9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pPr algn="ctr"/>
            <a:r>
              <a:rPr lang="en-US" dirty="0"/>
              <a:t>Cloud Computing and </a:t>
            </a:r>
            <a:br>
              <a:rPr lang="en-US" dirty="0"/>
            </a:br>
            <a:r>
              <a:rPr lang="en-US" dirty="0"/>
              <a:t>Cloud Networking</a:t>
            </a:r>
          </a:p>
        </p:txBody>
      </p:sp>
      <p:sp>
        <p:nvSpPr>
          <p:cNvPr id="5" name="Subtitle 4"/>
          <p:cNvSpPr>
            <a:spLocks noGrp="1"/>
          </p:cNvSpPr>
          <p:nvPr>
            <p:ph type="subTitle" idx="1"/>
          </p:nvPr>
        </p:nvSpPr>
        <p:spPr>
          <a:xfrm>
            <a:off x="1143000" y="3886200"/>
            <a:ext cx="7010400" cy="1752600"/>
          </a:xfrm>
        </p:spPr>
        <p:txBody>
          <a:bodyPr/>
          <a:lstStyle/>
          <a:p>
            <a:r>
              <a:rPr lang="en-US" dirty="0"/>
              <a:t>K. K. Ramakrishnan</a:t>
            </a:r>
          </a:p>
          <a:p>
            <a:r>
              <a:rPr lang="en-US" dirty="0">
                <a:solidFill>
                  <a:srgbClr val="FF0000"/>
                </a:solidFill>
              </a:rPr>
              <a:t>kk@cs.ucr.edu</a:t>
            </a:r>
          </a:p>
          <a:p>
            <a:r>
              <a:rPr lang="en-US" dirty="0"/>
              <a:t>CS 208, Winter 2025</a:t>
            </a:r>
          </a:p>
          <a:p>
            <a:r>
              <a:rPr lang="en-US" dirty="0"/>
              <a:t>Tue-</a:t>
            </a:r>
            <a:r>
              <a:rPr lang="en-US" dirty="0" err="1"/>
              <a:t>Thur</a:t>
            </a:r>
            <a:r>
              <a:rPr lang="en-US" dirty="0"/>
              <a:t> 2 pm - 3:20 pm</a:t>
            </a:r>
          </a:p>
          <a:p>
            <a:r>
              <a:rPr lang="en-US" dirty="0"/>
              <a:t>Class 2, 3</a:t>
            </a:r>
          </a:p>
          <a:p>
            <a:endParaRPr lang="en-US" dirty="0"/>
          </a:p>
        </p:txBody>
      </p:sp>
    </p:spTree>
    <p:extLst>
      <p:ext uri="{BB962C8B-B14F-4D97-AF65-F5344CB8AC3E}">
        <p14:creationId xmlns:p14="http://schemas.microsoft.com/office/powerpoint/2010/main" val="24718237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CB88E99-BA73-5A47-A689-40C318EEC35C}"/>
              </a:ext>
            </a:extLst>
          </p:cNvPr>
          <p:cNvSpPr>
            <a:spLocks noGrp="1"/>
          </p:cNvSpPr>
          <p:nvPr>
            <p:ph type="ctrTitle"/>
          </p:nvPr>
        </p:nvSpPr>
        <p:spPr/>
        <p:txBody>
          <a:bodyPr/>
          <a:lstStyle/>
          <a:p>
            <a:pPr algn="ctr"/>
            <a:r>
              <a:rPr lang="en-US" dirty="0"/>
              <a:t>Virtualization in Operating Systems</a:t>
            </a:r>
          </a:p>
        </p:txBody>
      </p:sp>
      <p:sp>
        <p:nvSpPr>
          <p:cNvPr id="6" name="Subtitle 5">
            <a:extLst>
              <a:ext uri="{FF2B5EF4-FFF2-40B4-BE49-F238E27FC236}">
                <a16:creationId xmlns:a16="http://schemas.microsoft.com/office/drawing/2014/main" id="{32213F47-9AB9-A54A-A032-49129B999E38}"/>
              </a:ext>
            </a:extLst>
          </p:cNvPr>
          <p:cNvSpPr>
            <a:spLocks noGrp="1"/>
          </p:cNvSpPr>
          <p:nvPr>
            <p:ph type="subTitle" idx="1"/>
          </p:nvPr>
        </p:nvSpPr>
        <p:spPr/>
        <p:txBody>
          <a:bodyPr/>
          <a:lstStyle/>
          <a:p>
            <a:r>
              <a:rPr lang="en-US" dirty="0"/>
              <a:t>Class 2</a:t>
            </a:r>
          </a:p>
        </p:txBody>
      </p:sp>
      <p:sp>
        <p:nvSpPr>
          <p:cNvPr id="4" name="Slide Number Placeholder 3">
            <a:extLst>
              <a:ext uri="{FF2B5EF4-FFF2-40B4-BE49-F238E27FC236}">
                <a16:creationId xmlns:a16="http://schemas.microsoft.com/office/drawing/2014/main" id="{6178F530-D134-614F-A13E-43CA07750E2C}"/>
              </a:ext>
            </a:extLst>
          </p:cNvPr>
          <p:cNvSpPr>
            <a:spLocks noGrp="1"/>
          </p:cNvSpPr>
          <p:nvPr>
            <p:ph type="sldNum" sz="quarter" idx="12"/>
          </p:nvPr>
        </p:nvSpPr>
        <p:spPr>
          <a:prstGeom prst="rect">
            <a:avLst/>
          </a:prstGeom>
        </p:spPr>
        <p:txBody>
          <a:bodyPr/>
          <a:lstStyle/>
          <a:p>
            <a:pPr>
              <a:defRPr/>
            </a:pPr>
            <a:r>
              <a:rPr lang="en-US"/>
              <a:t>Page </a:t>
            </a:r>
            <a:fld id="{E218AC47-F4D5-4A58-A0C0-0DD466A5F1E2}" type="slidenum">
              <a:rPr lang="en-US" smtClean="0"/>
              <a:pPr>
                <a:defRPr/>
              </a:pPr>
              <a:t>2</a:t>
            </a:fld>
            <a:endParaRPr lang="en-US"/>
          </a:p>
        </p:txBody>
      </p:sp>
    </p:spTree>
    <p:extLst>
      <p:ext uri="{BB962C8B-B14F-4D97-AF65-F5344CB8AC3E}">
        <p14:creationId xmlns:p14="http://schemas.microsoft.com/office/powerpoint/2010/main" val="16678969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 name="Virtualization"/>
          <p:cNvSpPr txBox="1">
            <a:spLocks noGrp="1"/>
          </p:cNvSpPr>
          <p:nvPr>
            <p:ph type="title"/>
          </p:nvPr>
        </p:nvSpPr>
        <p:spPr>
          <a:prstGeom prst="rect">
            <a:avLst/>
          </a:prstGeom>
        </p:spPr>
        <p:txBody>
          <a:bodyPr/>
          <a:lstStyle/>
          <a:p>
            <a:r>
              <a:t>Virtualization	</a:t>
            </a:r>
          </a:p>
        </p:txBody>
      </p:sp>
      <p:sp>
        <p:nvSpPr>
          <p:cNvPr id="30" name="Virtualization: extend or replace an existing interface to mimic the behavior of another system.…"/>
          <p:cNvSpPr txBox="1">
            <a:spLocks noGrp="1"/>
          </p:cNvSpPr>
          <p:nvPr>
            <p:ph type="body" idx="1"/>
          </p:nvPr>
        </p:nvSpPr>
        <p:spPr>
          <a:xfrm>
            <a:off x="234950" y="3215601"/>
            <a:ext cx="8674100" cy="3352800"/>
          </a:xfrm>
          <a:prstGeom prst="rect">
            <a:avLst/>
          </a:prstGeom>
        </p:spPr>
        <p:txBody>
          <a:bodyPr/>
          <a:lstStyle/>
          <a:p>
            <a:r>
              <a:rPr dirty="0"/>
              <a:t>Virtualization: extend or replace an existing interface to mimic the behavior of another system.</a:t>
            </a:r>
          </a:p>
          <a:p>
            <a:pPr lvl="1"/>
            <a:r>
              <a:rPr dirty="0"/>
              <a:t>Introduced in 1970s: run legacy software on newer mainframe hardware</a:t>
            </a:r>
          </a:p>
          <a:p>
            <a:r>
              <a:rPr dirty="0"/>
              <a:t>Handle platform diversity by running apps in VMs</a:t>
            </a:r>
          </a:p>
          <a:p>
            <a:pPr lvl="1"/>
            <a:r>
              <a:rPr dirty="0"/>
              <a:t>Portability and flexibility </a:t>
            </a:r>
          </a:p>
        </p:txBody>
      </p:sp>
      <p:pic>
        <p:nvPicPr>
          <p:cNvPr id="31" name="image.png" descr="image.png"/>
          <p:cNvPicPr>
            <a:picLocks/>
          </p:cNvPicPr>
          <p:nvPr/>
        </p:nvPicPr>
        <p:blipFill>
          <a:blip r:embed="rId2"/>
          <a:stretch>
            <a:fillRect/>
          </a:stretch>
        </p:blipFill>
        <p:spPr>
          <a:xfrm>
            <a:off x="990600" y="1371600"/>
            <a:ext cx="2376488" cy="1828800"/>
          </a:xfrm>
          <a:prstGeom prst="rect">
            <a:avLst/>
          </a:prstGeom>
          <a:ln w="12700">
            <a:miter lim="400000"/>
          </a:ln>
        </p:spPr>
      </p:pic>
      <p:pic>
        <p:nvPicPr>
          <p:cNvPr id="32" name="image.png" descr="image.png"/>
          <p:cNvPicPr>
            <a:picLocks/>
          </p:cNvPicPr>
          <p:nvPr/>
        </p:nvPicPr>
        <p:blipFill>
          <a:blip r:embed="rId3"/>
          <a:stretch>
            <a:fillRect/>
          </a:stretch>
        </p:blipFill>
        <p:spPr>
          <a:xfrm>
            <a:off x="5867400" y="1306158"/>
            <a:ext cx="1865313" cy="1833563"/>
          </a:xfrm>
          <a:prstGeom prst="rect">
            <a:avLst/>
          </a:prstGeom>
          <a:ln w="12700">
            <a:miter lim="400000"/>
          </a:ln>
        </p:spPr>
      </p:pic>
      <p:sp>
        <p:nvSpPr>
          <p:cNvPr id="2" name="TextBox 1">
            <a:extLst>
              <a:ext uri="{FF2B5EF4-FFF2-40B4-BE49-F238E27FC236}">
                <a16:creationId xmlns:a16="http://schemas.microsoft.com/office/drawing/2014/main" id="{4CF75216-5CB0-4443-967A-5CC8148A384A}"/>
              </a:ext>
            </a:extLst>
          </p:cNvPr>
          <p:cNvSpPr txBox="1"/>
          <p:nvPr/>
        </p:nvSpPr>
        <p:spPr>
          <a:xfrm>
            <a:off x="1173112" y="5986435"/>
            <a:ext cx="6559809"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ctr" defTabSz="9144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chemeClr val="accent5"/>
                </a:solidFill>
                <a:effectLst/>
                <a:uFill>
                  <a:solidFill>
                    <a:srgbClr val="000000"/>
                  </a:solidFill>
                </a:uFill>
                <a:latin typeface="Comic Sans MS"/>
                <a:ea typeface="Comic Sans MS"/>
                <a:cs typeface="Comic Sans MS"/>
                <a:sym typeface="Comic Sans MS"/>
              </a:rPr>
              <a:t>Thanks to Prof. Prashant </a:t>
            </a:r>
            <a:r>
              <a:rPr kumimoji="0" lang="en-US" sz="2400" b="0" i="0" u="none" strike="noStrike" cap="none" spc="0" normalizeH="0" baseline="0" dirty="0" err="1">
                <a:ln>
                  <a:noFill/>
                </a:ln>
                <a:solidFill>
                  <a:schemeClr val="accent5"/>
                </a:solidFill>
                <a:effectLst/>
                <a:uFill>
                  <a:solidFill>
                    <a:srgbClr val="000000"/>
                  </a:solidFill>
                </a:uFill>
                <a:latin typeface="Comic Sans MS"/>
                <a:ea typeface="Comic Sans MS"/>
                <a:cs typeface="Comic Sans MS"/>
                <a:sym typeface="Comic Sans MS"/>
              </a:rPr>
              <a:t>Shenoy</a:t>
            </a:r>
            <a:r>
              <a:rPr kumimoji="0" lang="en-US" sz="2400" b="0" i="0" u="none" strike="noStrike" cap="none" spc="0" normalizeH="0" baseline="0" dirty="0">
                <a:ln>
                  <a:noFill/>
                </a:ln>
                <a:solidFill>
                  <a:schemeClr val="accent5"/>
                </a:solidFill>
                <a:effectLst/>
                <a:uFill>
                  <a:solidFill>
                    <a:srgbClr val="000000"/>
                  </a:solidFill>
                </a:uFill>
                <a:latin typeface="Comic Sans MS"/>
                <a:ea typeface="Comic Sans MS"/>
                <a:cs typeface="Comic Sans MS"/>
                <a:sym typeface="Comic Sans MS"/>
              </a:rPr>
              <a:t>, CS </a:t>
            </a:r>
            <a:r>
              <a:rPr kumimoji="0" lang="en-US" sz="2400" b="0" i="0" u="none" strike="noStrike" cap="none" spc="0" normalizeH="0" baseline="0" dirty="0" err="1">
                <a:ln>
                  <a:noFill/>
                </a:ln>
                <a:solidFill>
                  <a:schemeClr val="accent5"/>
                </a:solidFill>
                <a:effectLst/>
                <a:uFill>
                  <a:solidFill>
                    <a:srgbClr val="000000"/>
                  </a:solidFill>
                </a:uFill>
                <a:latin typeface="Comic Sans MS"/>
                <a:ea typeface="Comic Sans MS"/>
                <a:cs typeface="Comic Sans MS"/>
                <a:sym typeface="Comic Sans MS"/>
              </a:rPr>
              <a:t>Umass</a:t>
            </a:r>
            <a:r>
              <a:rPr kumimoji="0" lang="en-US" sz="2400" b="0" i="0" u="none" strike="noStrike" cap="none" spc="0" normalizeH="0" baseline="0" dirty="0">
                <a:ln>
                  <a:noFill/>
                </a:ln>
                <a:solidFill>
                  <a:schemeClr val="accent5"/>
                </a:solidFill>
                <a:effectLst/>
                <a:uFill>
                  <a:solidFill>
                    <a:srgbClr val="000000"/>
                  </a:solidFill>
                </a:uFill>
                <a:latin typeface="Comic Sans MS"/>
                <a:ea typeface="Comic Sans MS"/>
                <a:cs typeface="Comic Sans MS"/>
                <a:sym typeface="Comic Sans MS"/>
              </a:rPr>
              <a:t> </a:t>
            </a:r>
          </a:p>
          <a:p>
            <a:pPr marL="40639" marR="40639" indent="0" algn="ctr" defTabSz="9144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chemeClr val="accent5"/>
                </a:solidFill>
                <a:effectLst/>
                <a:uFill>
                  <a:solidFill>
                    <a:srgbClr val="000000"/>
                  </a:solidFill>
                </a:uFill>
                <a:latin typeface="Comic Sans MS"/>
                <a:ea typeface="Comic Sans MS"/>
                <a:cs typeface="Comic Sans MS"/>
                <a:sym typeface="Comic Sans MS"/>
              </a:rPr>
              <a:t>for many of the slides here</a:t>
            </a:r>
          </a:p>
        </p:txBody>
      </p:sp>
    </p:spTree>
    <p:extLst>
      <p:ext uri="{BB962C8B-B14F-4D97-AF65-F5344CB8AC3E}">
        <p14:creationId xmlns:p14="http://schemas.microsoft.com/office/powerpoint/2010/main" val="180079424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076FE-66FC-B147-B16B-0F79787B1009}"/>
              </a:ext>
            </a:extLst>
          </p:cNvPr>
          <p:cNvSpPr>
            <a:spLocks noGrp="1"/>
          </p:cNvSpPr>
          <p:nvPr>
            <p:ph type="title"/>
          </p:nvPr>
        </p:nvSpPr>
        <p:spPr/>
        <p:txBody>
          <a:bodyPr/>
          <a:lstStyle/>
          <a:p>
            <a:r>
              <a:rPr lang="en-US" dirty="0"/>
              <a:t>Papers to Read</a:t>
            </a:r>
          </a:p>
        </p:txBody>
      </p:sp>
      <p:sp>
        <p:nvSpPr>
          <p:cNvPr id="3" name="Content Placeholder 2">
            <a:extLst>
              <a:ext uri="{FF2B5EF4-FFF2-40B4-BE49-F238E27FC236}">
                <a16:creationId xmlns:a16="http://schemas.microsoft.com/office/drawing/2014/main" id="{608928F5-6010-7748-AD90-DB0AE842A17B}"/>
              </a:ext>
            </a:extLst>
          </p:cNvPr>
          <p:cNvSpPr>
            <a:spLocks noGrp="1"/>
          </p:cNvSpPr>
          <p:nvPr>
            <p:ph idx="1"/>
          </p:nvPr>
        </p:nvSpPr>
        <p:spPr>
          <a:xfrm>
            <a:off x="234950" y="1600200"/>
            <a:ext cx="8674100" cy="3873674"/>
          </a:xfrm>
        </p:spPr>
        <p:txBody>
          <a:bodyPr/>
          <a:lstStyle/>
          <a:p>
            <a:r>
              <a:rPr lang="en-US" dirty="0"/>
              <a:t>M. Rosenblum, T. </a:t>
            </a:r>
            <a:r>
              <a:rPr lang="en-US" dirty="0" err="1"/>
              <a:t>Garfinkel</a:t>
            </a:r>
            <a:r>
              <a:rPr lang="en-US" dirty="0"/>
              <a:t>, </a:t>
            </a:r>
            <a:r>
              <a:rPr lang="en-US" dirty="0">
                <a:hlinkClick r:id="rId2"/>
              </a:rPr>
              <a:t>Virtual machine monitors: current technology and future trends</a:t>
            </a:r>
            <a:r>
              <a:rPr lang="en-US" dirty="0"/>
              <a:t>, IEEE Computer, 38:5, May 2005. </a:t>
            </a:r>
          </a:p>
          <a:p>
            <a:r>
              <a:rPr lang="en-US" dirty="0"/>
              <a:t>Paul Barham, Boris </a:t>
            </a:r>
            <a:r>
              <a:rPr lang="en-US" dirty="0" err="1"/>
              <a:t>Dragovic</a:t>
            </a:r>
            <a:r>
              <a:rPr lang="en-US" dirty="0"/>
              <a:t>, Keir Fraser, Steven Hand, Tim Harris, Alex Ho, Rolf </a:t>
            </a:r>
            <a:r>
              <a:rPr lang="en-US" dirty="0" err="1"/>
              <a:t>Neugebauer</a:t>
            </a:r>
            <a:r>
              <a:rPr lang="en-US" dirty="0"/>
              <a:t>, Ian Pratt, and Andrew Warfield, </a:t>
            </a:r>
            <a:r>
              <a:rPr lang="en-US" dirty="0">
                <a:hlinkClick r:id="rId3"/>
              </a:rPr>
              <a:t>Xen and the art of Virtualization</a:t>
            </a:r>
            <a:r>
              <a:rPr lang="en-US" dirty="0"/>
              <a:t>, Proc. of SOSP, October 2003 </a:t>
            </a:r>
          </a:p>
          <a:p>
            <a:pPr marL="40640" indent="0">
              <a:buNone/>
            </a:pPr>
            <a:endParaRPr lang="en-US" dirty="0"/>
          </a:p>
        </p:txBody>
      </p:sp>
    </p:spTree>
    <p:extLst>
      <p:ext uri="{BB962C8B-B14F-4D97-AF65-F5344CB8AC3E}">
        <p14:creationId xmlns:p14="http://schemas.microsoft.com/office/powerpoint/2010/main" val="628218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 name="Types of Interfaces"/>
          <p:cNvSpPr txBox="1">
            <a:spLocks noGrp="1"/>
          </p:cNvSpPr>
          <p:nvPr>
            <p:ph type="title"/>
          </p:nvPr>
        </p:nvSpPr>
        <p:spPr>
          <a:prstGeom prst="rect">
            <a:avLst/>
          </a:prstGeom>
        </p:spPr>
        <p:txBody>
          <a:bodyPr/>
          <a:lstStyle/>
          <a:p>
            <a:r>
              <a:t>Types of Interfaces</a:t>
            </a:r>
          </a:p>
        </p:txBody>
      </p:sp>
      <p:sp>
        <p:nvSpPr>
          <p:cNvPr id="40" name="Different types of interfaces…"/>
          <p:cNvSpPr txBox="1">
            <a:spLocks noGrp="1"/>
          </p:cNvSpPr>
          <p:nvPr>
            <p:ph type="body" idx="1"/>
          </p:nvPr>
        </p:nvSpPr>
        <p:spPr>
          <a:xfrm>
            <a:off x="234950" y="3581400"/>
            <a:ext cx="8674100" cy="3276600"/>
          </a:xfrm>
          <a:prstGeom prst="rect">
            <a:avLst/>
          </a:prstGeom>
        </p:spPr>
        <p:txBody>
          <a:bodyPr/>
          <a:lstStyle/>
          <a:p>
            <a:pPr>
              <a:lnSpc>
                <a:spcPct val="90000"/>
              </a:lnSpc>
            </a:pPr>
            <a:r>
              <a:rPr dirty="0"/>
              <a:t>Different types of interfaces</a:t>
            </a:r>
          </a:p>
          <a:p>
            <a:pPr lvl="1">
              <a:lnSpc>
                <a:spcPct val="90000"/>
              </a:lnSpc>
            </a:pPr>
            <a:r>
              <a:rPr dirty="0"/>
              <a:t>Assembly instructions</a:t>
            </a:r>
          </a:p>
          <a:p>
            <a:pPr lvl="1">
              <a:lnSpc>
                <a:spcPct val="90000"/>
              </a:lnSpc>
            </a:pPr>
            <a:r>
              <a:rPr dirty="0"/>
              <a:t>System calls</a:t>
            </a:r>
          </a:p>
          <a:p>
            <a:pPr lvl="1">
              <a:lnSpc>
                <a:spcPct val="90000"/>
              </a:lnSpc>
            </a:pPr>
            <a:r>
              <a:rPr dirty="0"/>
              <a:t>APIs</a:t>
            </a:r>
          </a:p>
          <a:p>
            <a:pPr>
              <a:lnSpc>
                <a:spcPct val="90000"/>
              </a:lnSpc>
            </a:pPr>
            <a:r>
              <a:rPr dirty="0"/>
              <a:t>Depending on what is replaced /mimic</a:t>
            </a:r>
            <a:r>
              <a:rPr lang="en-US" dirty="0"/>
              <a:t>-</a:t>
            </a:r>
            <a:r>
              <a:rPr dirty="0" err="1"/>
              <a:t>ed</a:t>
            </a:r>
            <a:r>
              <a:rPr dirty="0"/>
              <a:t>, we obtain different forms of virtualization</a:t>
            </a:r>
          </a:p>
        </p:txBody>
      </p:sp>
      <p:pic>
        <p:nvPicPr>
          <p:cNvPr id="41" name="image.png" descr="image.png"/>
          <p:cNvPicPr>
            <a:picLocks/>
          </p:cNvPicPr>
          <p:nvPr/>
        </p:nvPicPr>
        <p:blipFill>
          <a:blip r:embed="rId2"/>
          <a:stretch>
            <a:fillRect/>
          </a:stretch>
        </p:blipFill>
        <p:spPr>
          <a:xfrm>
            <a:off x="2438400" y="1219200"/>
            <a:ext cx="4899025" cy="1830388"/>
          </a:xfrm>
          <a:prstGeom prst="rect">
            <a:avLst/>
          </a:prstGeom>
          <a:ln w="12700">
            <a:miter lim="400000"/>
          </a:ln>
        </p:spPr>
      </p:pic>
      <p:sp>
        <p:nvSpPr>
          <p:cNvPr id="42"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marL="0" marR="0" lvl="0" indent="0" algn="ctr" defTabSz="5842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rPr>
              <a:pPr marL="0" marR="0" lvl="0" indent="0" algn="ctr" defTabSz="584200" rtl="0" eaLnBrk="1" fontAlgn="auto" latinLnBrk="0" hangingPunct="0">
                <a:lnSpc>
                  <a:spcPct val="100000"/>
                </a:lnSpc>
                <a:spcBef>
                  <a:spcPts val="0"/>
                </a:spcBef>
                <a:spcAft>
                  <a:spcPts val="0"/>
                </a:spcAft>
                <a:buClrTx/>
                <a:buSzTx/>
                <a:buFontTx/>
                <a:buNone/>
                <a:tabLst/>
                <a:defRPr/>
              </a:pPr>
              <a:t>5</a:t>
            </a:fld>
            <a:endPar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endParaRPr>
          </a:p>
        </p:txBody>
      </p:sp>
    </p:spTree>
    <p:extLst>
      <p:ext uri="{BB962C8B-B14F-4D97-AF65-F5344CB8AC3E}">
        <p14:creationId xmlns:p14="http://schemas.microsoft.com/office/powerpoint/2010/main" val="221091037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F844E-4367-464E-9ACF-9EF0FAA5740E}"/>
              </a:ext>
            </a:extLst>
          </p:cNvPr>
          <p:cNvSpPr>
            <a:spLocks noGrp="1"/>
          </p:cNvSpPr>
          <p:nvPr>
            <p:ph type="title"/>
          </p:nvPr>
        </p:nvSpPr>
        <p:spPr>
          <a:xfrm>
            <a:off x="576898" y="477993"/>
            <a:ext cx="8037513" cy="838200"/>
          </a:xfrm>
        </p:spPr>
        <p:txBody>
          <a:bodyPr/>
          <a:lstStyle/>
          <a:p>
            <a:r>
              <a:rPr lang="en-US" dirty="0"/>
              <a:t>Types of Virtualization</a:t>
            </a:r>
          </a:p>
        </p:txBody>
      </p:sp>
      <p:sp>
        <p:nvSpPr>
          <p:cNvPr id="4" name="Slide Number Placeholder 3">
            <a:extLst>
              <a:ext uri="{FF2B5EF4-FFF2-40B4-BE49-F238E27FC236}">
                <a16:creationId xmlns:a16="http://schemas.microsoft.com/office/drawing/2014/main" id="{D86B9F47-3CE9-3F4F-8429-DDED199C0A21}"/>
              </a:ext>
            </a:extLst>
          </p:cNvPr>
          <p:cNvSpPr>
            <a:spLocks noGrp="1"/>
          </p:cNvSpPr>
          <p:nvPr>
            <p:ph type="sldNum" sz="quarter" idx="10"/>
          </p:nvPr>
        </p:nvSpPr>
        <p:spPr>
          <a:xfrm>
            <a:off x="191312" y="6487613"/>
            <a:ext cx="385235" cy="1524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67AB4"/>
                </a:solidFill>
                <a:effectLst/>
                <a:uLnTx/>
                <a:uFillTx/>
                <a:latin typeface="Verdana"/>
                <a:ea typeface="+mn-ea"/>
                <a:cs typeface="+mn-cs"/>
              </a:rPr>
              <a:t>Page </a:t>
            </a:r>
            <a:fld id="{E218AC47-F4D5-4A58-A0C0-0DD466A5F1E2}" type="slidenum">
              <a:rPr kumimoji="0" lang="en-US" sz="800" b="1" i="0" u="none" strike="noStrike" kern="1200" cap="none" spc="0" normalizeH="0" baseline="0" noProof="0" smtClean="0">
                <a:ln>
                  <a:noFill/>
                </a:ln>
                <a:solidFill>
                  <a:srgbClr val="067AB4"/>
                </a:solidFill>
                <a:effectLst/>
                <a:uLnTx/>
                <a:uFillTx/>
                <a:latin typeface="Verdan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800" b="1" i="0" u="none" strike="noStrike" kern="1200" cap="none" spc="0" normalizeH="0" baseline="0" noProof="0" dirty="0">
              <a:ln>
                <a:noFill/>
              </a:ln>
              <a:solidFill>
                <a:srgbClr val="067AB4"/>
              </a:solidFill>
              <a:effectLst/>
              <a:uLnTx/>
              <a:uFillTx/>
              <a:latin typeface="Verdana"/>
              <a:ea typeface="+mn-ea"/>
              <a:cs typeface="+mn-cs"/>
            </a:endParaRPr>
          </a:p>
        </p:txBody>
      </p:sp>
      <p:sp>
        <p:nvSpPr>
          <p:cNvPr id="5" name="Rectangle 4">
            <a:extLst>
              <a:ext uri="{FF2B5EF4-FFF2-40B4-BE49-F238E27FC236}">
                <a16:creationId xmlns:a16="http://schemas.microsoft.com/office/drawing/2014/main" id="{E4CE5225-423C-DC4F-884E-C9B3081F5E1E}"/>
              </a:ext>
            </a:extLst>
          </p:cNvPr>
          <p:cNvSpPr/>
          <p:nvPr/>
        </p:nvSpPr>
        <p:spPr bwMode="auto">
          <a:xfrm>
            <a:off x="164172" y="2993724"/>
            <a:ext cx="1531018" cy="369332"/>
          </a:xfrm>
          <a:prstGeom prst="rect">
            <a:avLst/>
          </a:prstGeom>
          <a:solidFill>
            <a:srgbClr val="FFFF0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Verdana" pitchFamily="-111" charset="0"/>
                <a:ea typeface="Arial" pitchFamily="-111" charset="-52"/>
                <a:cs typeface="Arial" pitchFamily="-111" charset="-52"/>
              </a:rPr>
              <a:t>Hardware</a:t>
            </a:r>
          </a:p>
        </p:txBody>
      </p:sp>
      <p:sp>
        <p:nvSpPr>
          <p:cNvPr id="6" name="Rectangle 5">
            <a:extLst>
              <a:ext uri="{FF2B5EF4-FFF2-40B4-BE49-F238E27FC236}">
                <a16:creationId xmlns:a16="http://schemas.microsoft.com/office/drawing/2014/main" id="{5CD8C9F2-0CC5-474E-97CB-E3D6B4F0C2C6}"/>
              </a:ext>
            </a:extLst>
          </p:cNvPr>
          <p:cNvSpPr/>
          <p:nvPr/>
        </p:nvSpPr>
        <p:spPr bwMode="auto">
          <a:xfrm>
            <a:off x="191312" y="2594980"/>
            <a:ext cx="1503878" cy="369332"/>
          </a:xfrm>
          <a:prstGeom prst="rect">
            <a:avLst/>
          </a:prstGeom>
          <a:solidFill>
            <a:schemeClr val="bg1">
              <a:lumMod val="95000"/>
            </a:scheme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Verdana" pitchFamily="-111" charset="0"/>
                <a:ea typeface="Arial" pitchFamily="-111" charset="-52"/>
                <a:cs typeface="Arial" pitchFamily="-111" charset="-52"/>
              </a:rPr>
              <a:t>OS</a:t>
            </a:r>
          </a:p>
        </p:txBody>
      </p:sp>
      <p:sp>
        <p:nvSpPr>
          <p:cNvPr id="10" name="Rectangle 9">
            <a:extLst>
              <a:ext uri="{FF2B5EF4-FFF2-40B4-BE49-F238E27FC236}">
                <a16:creationId xmlns:a16="http://schemas.microsoft.com/office/drawing/2014/main" id="{0191F1B5-8066-4542-BAF6-A1602F4D03A8}"/>
              </a:ext>
            </a:extLst>
          </p:cNvPr>
          <p:cNvSpPr/>
          <p:nvPr/>
        </p:nvSpPr>
        <p:spPr bwMode="auto">
          <a:xfrm>
            <a:off x="191312" y="1995820"/>
            <a:ext cx="1503878" cy="369332"/>
          </a:xfrm>
          <a:prstGeom prst="rect">
            <a:avLst/>
          </a:prstGeom>
          <a:solidFill>
            <a:schemeClr val="bg1">
              <a:lumMod val="95000"/>
            </a:scheme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Verdana" pitchFamily="-111" charset="0"/>
                <a:ea typeface="Arial" pitchFamily="-111" charset="-52"/>
                <a:cs typeface="Arial" pitchFamily="-111" charset="-52"/>
              </a:rPr>
              <a:t>Application</a:t>
            </a:r>
          </a:p>
        </p:txBody>
      </p:sp>
      <p:sp>
        <p:nvSpPr>
          <p:cNvPr id="33" name="Content Placeholder 2">
            <a:extLst>
              <a:ext uri="{FF2B5EF4-FFF2-40B4-BE49-F238E27FC236}">
                <a16:creationId xmlns:a16="http://schemas.microsoft.com/office/drawing/2014/main" id="{BBD642A3-4655-8647-8E4A-AB1866033033}"/>
              </a:ext>
            </a:extLst>
          </p:cNvPr>
          <p:cNvSpPr>
            <a:spLocks noGrp="1"/>
          </p:cNvSpPr>
          <p:nvPr>
            <p:ph idx="1"/>
          </p:nvPr>
        </p:nvSpPr>
        <p:spPr>
          <a:xfrm>
            <a:off x="191312" y="4192142"/>
            <a:ext cx="8800288" cy="1934023"/>
          </a:xfrm>
        </p:spPr>
        <p:txBody>
          <a:bodyPr/>
          <a:lstStyle/>
          <a:p>
            <a:pPr eaLnBrk="1" hangingPunct="1"/>
            <a:r>
              <a:rPr lang="en-US" dirty="0"/>
              <a:t>Virtual machines can be built in multiple ways</a:t>
            </a:r>
          </a:p>
          <a:p>
            <a:pPr eaLnBrk="1" hangingPunct="1"/>
            <a:r>
              <a:rPr lang="en-US" dirty="0"/>
              <a:t>1) With a VMM on top of the bare-metal: so hypervisor is in privileged mode, and mediates access to CPU, disk etc.</a:t>
            </a:r>
          </a:p>
          <a:p>
            <a:pPr eaLnBrk="1" hangingPunct="1"/>
            <a:r>
              <a:rPr lang="en-US" dirty="0"/>
              <a:t>2) VMM runs on top of Host OS.</a:t>
            </a:r>
          </a:p>
          <a:p>
            <a:pPr eaLnBrk="1" hangingPunct="1"/>
            <a:r>
              <a:rPr lang="en-US" dirty="0"/>
              <a:t>3) VMM implemented in dual mode: Part of VMM in user mode, part in kernel (OS needs modifications).</a:t>
            </a:r>
          </a:p>
          <a:p>
            <a:pPr eaLnBrk="1" hangingPunct="1"/>
            <a:endParaRPr lang="en-US" dirty="0">
              <a:latin typeface="Arial" charset="0"/>
              <a:cs typeface="Arial" charset="0"/>
            </a:endParaRPr>
          </a:p>
        </p:txBody>
      </p:sp>
      <p:grpSp>
        <p:nvGrpSpPr>
          <p:cNvPr id="7" name="Group 6">
            <a:extLst>
              <a:ext uri="{FF2B5EF4-FFF2-40B4-BE49-F238E27FC236}">
                <a16:creationId xmlns:a16="http://schemas.microsoft.com/office/drawing/2014/main" id="{62103669-3A96-724B-B8B2-40A2EACE12B9}"/>
              </a:ext>
            </a:extLst>
          </p:cNvPr>
          <p:cNvGrpSpPr/>
          <p:nvPr/>
        </p:nvGrpSpPr>
        <p:grpSpPr>
          <a:xfrm>
            <a:off x="150312" y="1130820"/>
            <a:ext cx="9059775" cy="2926809"/>
            <a:chOff x="150312" y="1130820"/>
            <a:chExt cx="9059775" cy="2926809"/>
          </a:xfrm>
        </p:grpSpPr>
        <p:grpSp>
          <p:nvGrpSpPr>
            <p:cNvPr id="3" name="Group 2">
              <a:extLst>
                <a:ext uri="{FF2B5EF4-FFF2-40B4-BE49-F238E27FC236}">
                  <a16:creationId xmlns:a16="http://schemas.microsoft.com/office/drawing/2014/main" id="{B307CC92-E3DD-7C4B-9509-4CC581FF41ED}"/>
                </a:ext>
              </a:extLst>
            </p:cNvPr>
            <p:cNvGrpSpPr/>
            <p:nvPr/>
          </p:nvGrpSpPr>
          <p:grpSpPr>
            <a:xfrm>
              <a:off x="150312" y="1130820"/>
              <a:ext cx="9059775" cy="2547474"/>
              <a:chOff x="150312" y="1130820"/>
              <a:chExt cx="9059775" cy="2547474"/>
            </a:xfrm>
          </p:grpSpPr>
          <p:cxnSp>
            <p:nvCxnSpPr>
              <p:cNvPr id="8" name="Straight Connector 7">
                <a:extLst>
                  <a:ext uri="{FF2B5EF4-FFF2-40B4-BE49-F238E27FC236}">
                    <a16:creationId xmlns:a16="http://schemas.microsoft.com/office/drawing/2014/main" id="{1805EB44-C9E5-094A-9892-96EF74D42880}"/>
                  </a:ext>
                </a:extLst>
              </p:cNvPr>
              <p:cNvCxnSpPr>
                <a:cxnSpLocks/>
              </p:cNvCxnSpPr>
              <p:nvPr/>
            </p:nvCxnSpPr>
            <p:spPr bwMode="auto">
              <a:xfrm flipV="1">
                <a:off x="150312" y="2480158"/>
                <a:ext cx="8993688" cy="1"/>
              </a:xfrm>
              <a:prstGeom prst="line">
                <a:avLst/>
              </a:prstGeom>
              <a:noFill/>
              <a:ln w="38100" cap="flat" cmpd="sng" algn="ctr">
                <a:solidFill>
                  <a:schemeClr val="accent1"/>
                </a:solidFill>
                <a:prstDash val="dash"/>
                <a:round/>
                <a:headEnd type="none" w="med" len="med"/>
                <a:tailEnd type="none" w="med" len="med"/>
              </a:ln>
              <a:effectLst/>
            </p:spPr>
          </p:cxnSp>
          <p:sp>
            <p:nvSpPr>
              <p:cNvPr id="11" name="Rectangle 10">
                <a:extLst>
                  <a:ext uri="{FF2B5EF4-FFF2-40B4-BE49-F238E27FC236}">
                    <a16:creationId xmlns:a16="http://schemas.microsoft.com/office/drawing/2014/main" id="{5D0B37F3-B487-C04B-9155-EAA2E0CC6A03}"/>
                  </a:ext>
                </a:extLst>
              </p:cNvPr>
              <p:cNvSpPr/>
              <p:nvPr/>
            </p:nvSpPr>
            <p:spPr bwMode="auto">
              <a:xfrm>
                <a:off x="1929009" y="3308962"/>
                <a:ext cx="1716065" cy="369332"/>
              </a:xfrm>
              <a:prstGeom prst="rect">
                <a:avLst/>
              </a:prstGeom>
              <a:solidFill>
                <a:srgbClr val="FFFF0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Verdana" pitchFamily="-111" charset="0"/>
                    <a:ea typeface="Arial" pitchFamily="-111" charset="-52"/>
                    <a:cs typeface="Arial" pitchFamily="-111" charset="-52"/>
                  </a:rPr>
                  <a:t>Hardware</a:t>
                </a:r>
              </a:p>
            </p:txBody>
          </p:sp>
          <p:sp>
            <p:nvSpPr>
              <p:cNvPr id="12" name="Rectangle 11">
                <a:extLst>
                  <a:ext uri="{FF2B5EF4-FFF2-40B4-BE49-F238E27FC236}">
                    <a16:creationId xmlns:a16="http://schemas.microsoft.com/office/drawing/2014/main" id="{69E6FF64-7022-724F-B303-5CDAB7582D2C}"/>
                  </a:ext>
                </a:extLst>
              </p:cNvPr>
              <p:cNvSpPr/>
              <p:nvPr/>
            </p:nvSpPr>
            <p:spPr bwMode="auto">
              <a:xfrm>
                <a:off x="1929009" y="2622120"/>
                <a:ext cx="1716065" cy="646331"/>
              </a:xfrm>
              <a:prstGeom prst="rect">
                <a:avLst/>
              </a:prstGeom>
              <a:solidFill>
                <a:srgbClr val="92D05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Verdana" pitchFamily="-111" charset="0"/>
                    <a:ea typeface="Arial" pitchFamily="-111" charset="-52"/>
                    <a:cs typeface="Arial" pitchFamily="-111" charset="-52"/>
                  </a:rPr>
                  <a:t>VMM (Hypervisor)</a:t>
                </a:r>
              </a:p>
            </p:txBody>
          </p:sp>
          <p:sp>
            <p:nvSpPr>
              <p:cNvPr id="13" name="Rectangle 12">
                <a:extLst>
                  <a:ext uri="{FF2B5EF4-FFF2-40B4-BE49-F238E27FC236}">
                    <a16:creationId xmlns:a16="http://schemas.microsoft.com/office/drawing/2014/main" id="{73390C15-4740-FA43-AD40-E0FFD110C695}"/>
                  </a:ext>
                </a:extLst>
              </p:cNvPr>
              <p:cNvSpPr/>
              <p:nvPr/>
            </p:nvSpPr>
            <p:spPr bwMode="auto">
              <a:xfrm>
                <a:off x="1929008" y="2007684"/>
                <a:ext cx="1716065" cy="369332"/>
              </a:xfrm>
              <a:prstGeom prst="rect">
                <a:avLst/>
              </a:prstGeom>
              <a:solidFill>
                <a:srgbClr val="00B0F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Verdana" pitchFamily="-111" charset="0"/>
                    <a:ea typeface="Arial" pitchFamily="-111" charset="-52"/>
                    <a:cs typeface="Arial" pitchFamily="-111" charset="-52"/>
                  </a:rPr>
                  <a:t>Guest OS</a:t>
                </a:r>
              </a:p>
            </p:txBody>
          </p:sp>
          <p:sp>
            <p:nvSpPr>
              <p:cNvPr id="14" name="Rectangle 13">
                <a:extLst>
                  <a:ext uri="{FF2B5EF4-FFF2-40B4-BE49-F238E27FC236}">
                    <a16:creationId xmlns:a16="http://schemas.microsoft.com/office/drawing/2014/main" id="{9B74C990-BDE7-8D46-ACF8-FC599505CB77}"/>
                  </a:ext>
                </a:extLst>
              </p:cNvPr>
              <p:cNvSpPr/>
              <p:nvPr/>
            </p:nvSpPr>
            <p:spPr bwMode="auto">
              <a:xfrm>
                <a:off x="1947039" y="1584550"/>
                <a:ext cx="1698033" cy="369332"/>
              </a:xfrm>
              <a:prstGeom prst="rect">
                <a:avLst/>
              </a:prstGeom>
              <a:solidFill>
                <a:schemeClr val="bg1">
                  <a:lumMod val="95000"/>
                </a:scheme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Verdana" pitchFamily="-111" charset="0"/>
                    <a:ea typeface="Arial" pitchFamily="-111" charset="-52"/>
                    <a:cs typeface="Arial" pitchFamily="-111" charset="-52"/>
                  </a:rPr>
                  <a:t>Applications</a:t>
                </a:r>
              </a:p>
            </p:txBody>
          </p:sp>
          <p:sp>
            <p:nvSpPr>
              <p:cNvPr id="15" name="Rectangle 14">
                <a:extLst>
                  <a:ext uri="{FF2B5EF4-FFF2-40B4-BE49-F238E27FC236}">
                    <a16:creationId xmlns:a16="http://schemas.microsoft.com/office/drawing/2014/main" id="{53291481-0798-8B4B-BBC4-B7C5C8FA3F2C}"/>
                  </a:ext>
                </a:extLst>
              </p:cNvPr>
              <p:cNvSpPr/>
              <p:nvPr/>
            </p:nvSpPr>
            <p:spPr bwMode="auto">
              <a:xfrm>
                <a:off x="4123147" y="3060530"/>
                <a:ext cx="1716065" cy="369332"/>
              </a:xfrm>
              <a:prstGeom prst="rect">
                <a:avLst/>
              </a:prstGeom>
              <a:solidFill>
                <a:srgbClr val="FFFF0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Verdana" pitchFamily="-111" charset="0"/>
                    <a:ea typeface="Arial" pitchFamily="-111" charset="-52"/>
                    <a:cs typeface="Arial" pitchFamily="-111" charset="-52"/>
                  </a:rPr>
                  <a:t>Hardware</a:t>
                </a:r>
              </a:p>
            </p:txBody>
          </p:sp>
          <p:sp>
            <p:nvSpPr>
              <p:cNvPr id="16" name="Rectangle 15">
                <a:extLst>
                  <a:ext uri="{FF2B5EF4-FFF2-40B4-BE49-F238E27FC236}">
                    <a16:creationId xmlns:a16="http://schemas.microsoft.com/office/drawing/2014/main" id="{B21FBDCA-1824-6B45-9963-F71034328843}"/>
                  </a:ext>
                </a:extLst>
              </p:cNvPr>
              <p:cNvSpPr/>
              <p:nvPr/>
            </p:nvSpPr>
            <p:spPr bwMode="auto">
              <a:xfrm>
                <a:off x="4123147" y="2611682"/>
                <a:ext cx="1716065" cy="369332"/>
              </a:xfrm>
              <a:prstGeom prst="rect">
                <a:avLst/>
              </a:prstGeom>
              <a:solidFill>
                <a:schemeClr val="bg1">
                  <a:lumMod val="95000"/>
                </a:scheme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Verdana" pitchFamily="-111" charset="0"/>
                    <a:ea typeface="Arial" pitchFamily="-111" charset="-52"/>
                    <a:cs typeface="Arial" pitchFamily="-111" charset="-52"/>
                  </a:rPr>
                  <a:t>Host OS</a:t>
                </a:r>
              </a:p>
            </p:txBody>
          </p:sp>
          <p:sp>
            <p:nvSpPr>
              <p:cNvPr id="17" name="Rectangle 16">
                <a:extLst>
                  <a:ext uri="{FF2B5EF4-FFF2-40B4-BE49-F238E27FC236}">
                    <a16:creationId xmlns:a16="http://schemas.microsoft.com/office/drawing/2014/main" id="{8E6FE459-9CC9-5647-9EF0-DB7F762749E0}"/>
                  </a:ext>
                </a:extLst>
              </p:cNvPr>
              <p:cNvSpPr/>
              <p:nvPr/>
            </p:nvSpPr>
            <p:spPr bwMode="auto">
              <a:xfrm>
                <a:off x="4123146" y="1997246"/>
                <a:ext cx="1716065" cy="369332"/>
              </a:xfrm>
              <a:prstGeom prst="rect">
                <a:avLst/>
              </a:prstGeom>
              <a:solidFill>
                <a:srgbClr val="92D05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Verdana" pitchFamily="-111" charset="0"/>
                    <a:ea typeface="Arial" pitchFamily="-111" charset="-52"/>
                    <a:cs typeface="Arial" pitchFamily="-111" charset="-52"/>
                  </a:rPr>
                  <a:t>VMM</a:t>
                </a:r>
              </a:p>
            </p:txBody>
          </p:sp>
          <p:sp>
            <p:nvSpPr>
              <p:cNvPr id="18" name="Rectangle 17">
                <a:extLst>
                  <a:ext uri="{FF2B5EF4-FFF2-40B4-BE49-F238E27FC236}">
                    <a16:creationId xmlns:a16="http://schemas.microsoft.com/office/drawing/2014/main" id="{DE7887B4-42D6-1C42-B83C-726511E1374D}"/>
                  </a:ext>
                </a:extLst>
              </p:cNvPr>
              <p:cNvSpPr/>
              <p:nvPr/>
            </p:nvSpPr>
            <p:spPr bwMode="auto">
              <a:xfrm>
                <a:off x="4141177" y="1574112"/>
                <a:ext cx="1698033" cy="369332"/>
              </a:xfrm>
              <a:prstGeom prst="rect">
                <a:avLst/>
              </a:prstGeom>
              <a:solidFill>
                <a:schemeClr val="bg1">
                  <a:lumMod val="95000"/>
                </a:scheme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Verdana" pitchFamily="-111" charset="0"/>
                    <a:ea typeface="Arial" pitchFamily="-111" charset="-52"/>
                    <a:cs typeface="Arial" pitchFamily="-111" charset="-52"/>
                  </a:rPr>
                  <a:t>Applications</a:t>
                </a:r>
              </a:p>
            </p:txBody>
          </p:sp>
          <p:sp>
            <p:nvSpPr>
              <p:cNvPr id="19" name="Rectangle 18">
                <a:extLst>
                  <a:ext uri="{FF2B5EF4-FFF2-40B4-BE49-F238E27FC236}">
                    <a16:creationId xmlns:a16="http://schemas.microsoft.com/office/drawing/2014/main" id="{BB0DCD91-96A5-C64B-8613-F6075A3A0D52}"/>
                  </a:ext>
                </a:extLst>
              </p:cNvPr>
              <p:cNvSpPr/>
              <p:nvPr/>
            </p:nvSpPr>
            <p:spPr bwMode="auto">
              <a:xfrm>
                <a:off x="6304758" y="3242439"/>
                <a:ext cx="1716065" cy="369332"/>
              </a:xfrm>
              <a:prstGeom prst="rect">
                <a:avLst/>
              </a:prstGeom>
              <a:solidFill>
                <a:srgbClr val="FFFF0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Verdana" pitchFamily="-111" charset="0"/>
                    <a:ea typeface="Arial" pitchFamily="-111" charset="-52"/>
                    <a:cs typeface="Arial" pitchFamily="-111" charset="-52"/>
                  </a:rPr>
                  <a:t>Hardware</a:t>
                </a:r>
              </a:p>
            </p:txBody>
          </p:sp>
          <p:sp>
            <p:nvSpPr>
              <p:cNvPr id="20" name="Rectangle 19">
                <a:extLst>
                  <a:ext uri="{FF2B5EF4-FFF2-40B4-BE49-F238E27FC236}">
                    <a16:creationId xmlns:a16="http://schemas.microsoft.com/office/drawing/2014/main" id="{C397CBDA-5313-1C43-A875-6BFC678C1E4F}"/>
                  </a:ext>
                </a:extLst>
              </p:cNvPr>
              <p:cNvSpPr/>
              <p:nvPr/>
            </p:nvSpPr>
            <p:spPr bwMode="auto">
              <a:xfrm>
                <a:off x="6304759" y="2613770"/>
                <a:ext cx="1716065" cy="630942"/>
              </a:xfrm>
              <a:prstGeom prst="rect">
                <a:avLst/>
              </a:prstGeom>
              <a:solidFill>
                <a:schemeClr val="bg1">
                  <a:lumMod val="95000"/>
                </a:scheme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Verdana" pitchFamily="-111" charset="0"/>
                    <a:ea typeface="Arial" pitchFamily="-111" charset="-52"/>
                    <a:cs typeface="Arial" pitchFamily="-111" charset="-52"/>
                  </a:rPr>
                  <a:t>Host </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Verdana" pitchFamily="-111" charset="0"/>
                    <a:ea typeface="Arial" pitchFamily="-111" charset="-52"/>
                    <a:cs typeface="Arial" pitchFamily="-111" charset="-52"/>
                  </a:rPr>
                  <a:t>OS</a:t>
                </a:r>
              </a:p>
            </p:txBody>
          </p:sp>
          <p:sp>
            <p:nvSpPr>
              <p:cNvPr id="21" name="Rectangle 20">
                <a:extLst>
                  <a:ext uri="{FF2B5EF4-FFF2-40B4-BE49-F238E27FC236}">
                    <a16:creationId xmlns:a16="http://schemas.microsoft.com/office/drawing/2014/main" id="{9298CC92-1829-0A4F-B59B-602F81DA85CC}"/>
                  </a:ext>
                </a:extLst>
              </p:cNvPr>
              <p:cNvSpPr/>
              <p:nvPr/>
            </p:nvSpPr>
            <p:spPr bwMode="auto">
              <a:xfrm>
                <a:off x="6304758" y="1999334"/>
                <a:ext cx="1716065" cy="369332"/>
              </a:xfrm>
              <a:prstGeom prst="rect">
                <a:avLst/>
              </a:prstGeom>
              <a:solidFill>
                <a:srgbClr val="92D05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Verdana" pitchFamily="-111" charset="0"/>
                    <a:ea typeface="Arial" pitchFamily="-111" charset="-52"/>
                    <a:cs typeface="Arial" pitchFamily="-111" charset="-52"/>
                  </a:rPr>
                  <a:t>VMM</a:t>
                </a:r>
              </a:p>
            </p:txBody>
          </p:sp>
          <p:sp>
            <p:nvSpPr>
              <p:cNvPr id="22" name="Rectangle 21">
                <a:extLst>
                  <a:ext uri="{FF2B5EF4-FFF2-40B4-BE49-F238E27FC236}">
                    <a16:creationId xmlns:a16="http://schemas.microsoft.com/office/drawing/2014/main" id="{70F6705B-C5AE-5645-9178-5A145A088C8C}"/>
                  </a:ext>
                </a:extLst>
              </p:cNvPr>
              <p:cNvSpPr/>
              <p:nvPr/>
            </p:nvSpPr>
            <p:spPr bwMode="auto">
              <a:xfrm>
                <a:off x="6322789" y="1130820"/>
                <a:ext cx="1698033" cy="369332"/>
              </a:xfrm>
              <a:prstGeom prst="rect">
                <a:avLst/>
              </a:prstGeom>
              <a:solidFill>
                <a:schemeClr val="bg1">
                  <a:lumMod val="95000"/>
                </a:scheme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Verdana" pitchFamily="-111" charset="0"/>
                    <a:ea typeface="Arial" pitchFamily="-111" charset="-52"/>
                    <a:cs typeface="Arial" pitchFamily="-111" charset="-52"/>
                  </a:rPr>
                  <a:t>Applications</a:t>
                </a:r>
              </a:p>
            </p:txBody>
          </p:sp>
          <p:sp>
            <p:nvSpPr>
              <p:cNvPr id="23" name="Rectangle 22">
                <a:extLst>
                  <a:ext uri="{FF2B5EF4-FFF2-40B4-BE49-F238E27FC236}">
                    <a16:creationId xmlns:a16="http://schemas.microsoft.com/office/drawing/2014/main" id="{667A8E50-E2D8-CC4D-9AD8-EA3BCBC4B422}"/>
                  </a:ext>
                </a:extLst>
              </p:cNvPr>
              <p:cNvSpPr/>
              <p:nvPr/>
            </p:nvSpPr>
            <p:spPr bwMode="auto">
              <a:xfrm>
                <a:off x="7127310" y="2611682"/>
                <a:ext cx="893512" cy="307777"/>
              </a:xfrm>
              <a:prstGeom prst="rect">
                <a:avLst/>
              </a:prstGeom>
              <a:solidFill>
                <a:srgbClr val="92D05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Verdana" pitchFamily="-111" charset="0"/>
                    <a:ea typeface="Arial" pitchFamily="-111" charset="-52"/>
                    <a:cs typeface="Arial" pitchFamily="-111" charset="-52"/>
                  </a:rPr>
                  <a:t>VMM</a:t>
                </a:r>
              </a:p>
            </p:txBody>
          </p:sp>
          <p:sp>
            <p:nvSpPr>
              <p:cNvPr id="24" name="Rectangle 23">
                <a:extLst>
                  <a:ext uri="{FF2B5EF4-FFF2-40B4-BE49-F238E27FC236}">
                    <a16:creationId xmlns:a16="http://schemas.microsoft.com/office/drawing/2014/main" id="{31FCA8DA-3103-1C42-A7BA-6359732A855B}"/>
                  </a:ext>
                </a:extLst>
              </p:cNvPr>
              <p:cNvSpPr/>
              <p:nvPr/>
            </p:nvSpPr>
            <p:spPr bwMode="auto">
              <a:xfrm>
                <a:off x="6302670" y="1596414"/>
                <a:ext cx="1716065" cy="369332"/>
              </a:xfrm>
              <a:prstGeom prst="rect">
                <a:avLst/>
              </a:prstGeom>
              <a:solidFill>
                <a:srgbClr val="00B0F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Verdana" pitchFamily="-111" charset="0"/>
                    <a:ea typeface="Arial" pitchFamily="-111" charset="-52"/>
                    <a:cs typeface="Arial" pitchFamily="-111" charset="-52"/>
                  </a:rPr>
                  <a:t>Guest OS</a:t>
                </a:r>
              </a:p>
            </p:txBody>
          </p:sp>
          <p:sp>
            <p:nvSpPr>
              <p:cNvPr id="26" name="TextBox 25">
                <a:extLst>
                  <a:ext uri="{FF2B5EF4-FFF2-40B4-BE49-F238E27FC236}">
                    <a16:creationId xmlns:a16="http://schemas.microsoft.com/office/drawing/2014/main" id="{45ABC47A-CD9C-1443-A310-64F430C526EE}"/>
                  </a:ext>
                </a:extLst>
              </p:cNvPr>
              <p:cNvSpPr txBox="1"/>
              <p:nvPr/>
            </p:nvSpPr>
            <p:spPr>
              <a:xfrm>
                <a:off x="7994136" y="2622120"/>
                <a:ext cx="1186543"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7200"/>
                    </a:solidFill>
                    <a:effectLst/>
                    <a:uLnTx/>
                    <a:uFillTx/>
                    <a:latin typeface="Verdana"/>
                    <a:ea typeface="+mn-ea"/>
                    <a:cs typeface="+mn-cs"/>
                  </a:rPr>
                  <a:t>Privileged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7200"/>
                    </a:solidFill>
                    <a:effectLst/>
                    <a:uLnTx/>
                    <a:uFillTx/>
                    <a:latin typeface="Verdana"/>
                    <a:ea typeface="+mn-ea"/>
                    <a:cs typeface="+mn-cs"/>
                  </a:rPr>
                  <a:t>mode</a:t>
                </a:r>
              </a:p>
            </p:txBody>
          </p:sp>
          <p:sp>
            <p:nvSpPr>
              <p:cNvPr id="27" name="TextBox 26">
                <a:extLst>
                  <a:ext uri="{FF2B5EF4-FFF2-40B4-BE49-F238E27FC236}">
                    <a16:creationId xmlns:a16="http://schemas.microsoft.com/office/drawing/2014/main" id="{2D89F27D-FA3B-9D4D-8582-AA236599DBE3}"/>
                  </a:ext>
                </a:extLst>
              </p:cNvPr>
              <p:cNvSpPr txBox="1"/>
              <p:nvPr/>
            </p:nvSpPr>
            <p:spPr>
              <a:xfrm>
                <a:off x="8018735" y="1636266"/>
                <a:ext cx="1191352"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7200"/>
                    </a:solidFill>
                    <a:effectLst/>
                    <a:uLnTx/>
                    <a:uFillTx/>
                    <a:latin typeface="Verdana"/>
                    <a:ea typeface="+mn-ea"/>
                    <a:cs typeface="+mn-cs"/>
                  </a:rPr>
                  <a:t>Non-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7200"/>
                    </a:solidFill>
                    <a:effectLst/>
                    <a:uLnTx/>
                    <a:uFillTx/>
                    <a:latin typeface="Verdana"/>
                    <a:ea typeface="+mn-ea"/>
                    <a:cs typeface="+mn-cs"/>
                  </a:rPr>
                  <a:t>privileged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7200"/>
                    </a:solidFill>
                    <a:effectLst/>
                    <a:uLnTx/>
                    <a:uFillTx/>
                    <a:latin typeface="Verdana"/>
                    <a:ea typeface="+mn-ea"/>
                    <a:cs typeface="+mn-cs"/>
                  </a:rPr>
                  <a:t>mode</a:t>
                </a:r>
              </a:p>
            </p:txBody>
          </p:sp>
        </p:grpSp>
        <p:sp>
          <p:nvSpPr>
            <p:cNvPr id="31" name="TextBox 30">
              <a:extLst>
                <a:ext uri="{FF2B5EF4-FFF2-40B4-BE49-F238E27FC236}">
                  <a16:creationId xmlns:a16="http://schemas.microsoft.com/office/drawing/2014/main" id="{F2F02E4D-3C7E-2049-9046-0EEFD9B685EE}"/>
                </a:ext>
              </a:extLst>
            </p:cNvPr>
            <p:cNvSpPr txBox="1"/>
            <p:nvPr/>
          </p:nvSpPr>
          <p:spPr>
            <a:xfrm>
              <a:off x="344888" y="3534409"/>
              <a:ext cx="944489"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67AB4">
                      <a:lumMod val="75000"/>
                    </a:srgbClr>
                  </a:solidFill>
                  <a:effectLst/>
                  <a:uLnTx/>
                  <a:uFillTx/>
                  <a:latin typeface="Verdana"/>
                  <a:ea typeface="+mn-ea"/>
                  <a:cs typeface="+mn-cs"/>
                </a:rPr>
                <a:t>Physical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67AB4">
                      <a:lumMod val="75000"/>
                    </a:srgbClr>
                  </a:solidFill>
                  <a:effectLst/>
                  <a:uLnTx/>
                  <a:uFillTx/>
                  <a:latin typeface="Verdana"/>
                  <a:ea typeface="+mn-ea"/>
                  <a:cs typeface="+mn-cs"/>
                </a:rPr>
                <a:t>machine</a:t>
              </a:r>
            </a:p>
          </p:txBody>
        </p:sp>
        <p:sp>
          <p:nvSpPr>
            <p:cNvPr id="32" name="TextBox 31">
              <a:extLst>
                <a:ext uri="{FF2B5EF4-FFF2-40B4-BE49-F238E27FC236}">
                  <a16:creationId xmlns:a16="http://schemas.microsoft.com/office/drawing/2014/main" id="{13EC5DB4-8DE6-B146-B9B1-0E2F9B0982F1}"/>
                </a:ext>
              </a:extLst>
            </p:cNvPr>
            <p:cNvSpPr txBox="1"/>
            <p:nvPr/>
          </p:nvSpPr>
          <p:spPr>
            <a:xfrm>
              <a:off x="2100616" y="3686809"/>
              <a:ext cx="109517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67AB4">
                      <a:lumMod val="75000"/>
                    </a:srgbClr>
                  </a:solidFill>
                  <a:effectLst/>
                  <a:uLnTx/>
                  <a:uFillTx/>
                  <a:latin typeface="Verdana"/>
                  <a:ea typeface="+mn-ea"/>
                  <a:cs typeface="+mn-cs"/>
                </a:rPr>
                <a:t>Native VM</a:t>
              </a:r>
            </a:p>
          </p:txBody>
        </p:sp>
        <p:sp>
          <p:nvSpPr>
            <p:cNvPr id="34" name="TextBox 33">
              <a:extLst>
                <a:ext uri="{FF2B5EF4-FFF2-40B4-BE49-F238E27FC236}">
                  <a16:creationId xmlns:a16="http://schemas.microsoft.com/office/drawing/2014/main" id="{0ED54567-F63E-CA47-B93E-D1D021EDB002}"/>
                </a:ext>
              </a:extLst>
            </p:cNvPr>
            <p:cNvSpPr txBox="1"/>
            <p:nvPr/>
          </p:nvSpPr>
          <p:spPr>
            <a:xfrm>
              <a:off x="4176814" y="3597383"/>
              <a:ext cx="1148071"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67AB4">
                      <a:lumMod val="75000"/>
                    </a:srgbClr>
                  </a:solidFill>
                  <a:effectLst/>
                  <a:uLnTx/>
                  <a:uFillTx/>
                  <a:latin typeface="Verdana"/>
                  <a:ea typeface="+mn-ea"/>
                  <a:cs typeface="+mn-cs"/>
                </a:rPr>
                <a:t>Hosted VM</a:t>
              </a:r>
            </a:p>
          </p:txBody>
        </p:sp>
        <p:sp>
          <p:nvSpPr>
            <p:cNvPr id="35" name="TextBox 34">
              <a:extLst>
                <a:ext uri="{FF2B5EF4-FFF2-40B4-BE49-F238E27FC236}">
                  <a16:creationId xmlns:a16="http://schemas.microsoft.com/office/drawing/2014/main" id="{B9D78436-03DB-234C-B41D-117616D2F1C1}"/>
                </a:ext>
              </a:extLst>
            </p:cNvPr>
            <p:cNvSpPr txBox="1"/>
            <p:nvPr/>
          </p:nvSpPr>
          <p:spPr>
            <a:xfrm>
              <a:off x="6553274" y="3686809"/>
              <a:ext cx="1491114"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67AB4">
                      <a:lumMod val="75000"/>
                    </a:srgbClr>
                  </a:solidFill>
                  <a:effectLst/>
                  <a:uLnTx/>
                  <a:uFillTx/>
                  <a:latin typeface="Verdana"/>
                  <a:ea typeface="+mn-ea"/>
                  <a:cs typeface="+mn-cs"/>
                </a:rPr>
                <a:t>Dual-Mode VM</a:t>
              </a:r>
            </a:p>
          </p:txBody>
        </p:sp>
      </p:grpSp>
    </p:spTree>
    <p:extLst>
      <p:ext uri="{BB962C8B-B14F-4D97-AF65-F5344CB8AC3E}">
        <p14:creationId xmlns:p14="http://schemas.microsoft.com/office/powerpoint/2010/main" val="5582433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75781" y="14527"/>
            <a:ext cx="8555277" cy="1143000"/>
          </a:xfrm>
        </p:spPr>
        <p:txBody>
          <a:bodyPr/>
          <a:lstStyle/>
          <a:p>
            <a:r>
              <a:rPr lang="en-US" dirty="0"/>
              <a:t>Two broad types of hypervisors</a:t>
            </a:r>
          </a:p>
        </p:txBody>
      </p:sp>
      <p:sp>
        <p:nvSpPr>
          <p:cNvPr id="3" name="Content Placeholder 2"/>
          <p:cNvSpPr>
            <a:spLocks noGrp="1"/>
          </p:cNvSpPr>
          <p:nvPr>
            <p:ph idx="1"/>
          </p:nvPr>
        </p:nvSpPr>
        <p:spPr>
          <a:xfrm>
            <a:off x="685800" y="4667600"/>
            <a:ext cx="7772400" cy="1752600"/>
          </a:xfrm>
        </p:spPr>
        <p:txBody>
          <a:bodyPr/>
          <a:lstStyle/>
          <a:p>
            <a:r>
              <a:rPr lang="en-US" sz="2000" dirty="0"/>
              <a:t>Type 1: Native (bare metal) - – example of Full/Native Virtualization</a:t>
            </a:r>
          </a:p>
          <a:p>
            <a:pPr lvl="1"/>
            <a:r>
              <a:rPr lang="en-US" sz="1800" dirty="0"/>
              <a:t>Hypervisor runs on top of the bare metal machine</a:t>
            </a:r>
          </a:p>
          <a:p>
            <a:pPr lvl="1"/>
            <a:r>
              <a:rPr lang="en-US" sz="1800" dirty="0"/>
              <a:t>e.g., VMWare Workstation</a:t>
            </a:r>
          </a:p>
          <a:p>
            <a:r>
              <a:rPr lang="en-US" sz="2000" dirty="0"/>
              <a:t>Type 2: Hosted Virtual Machines</a:t>
            </a:r>
          </a:p>
          <a:p>
            <a:pPr lvl="1"/>
            <a:r>
              <a:rPr lang="en-US" sz="1800" dirty="0"/>
              <a:t>Hypervisor is an emulator</a:t>
            </a:r>
          </a:p>
          <a:p>
            <a:pPr lvl="1"/>
            <a:r>
              <a:rPr lang="en-US" sz="1800" dirty="0"/>
              <a:t>e.g., KVM, QEMU</a:t>
            </a:r>
          </a:p>
        </p:txBody>
      </p:sp>
      <p:sp>
        <p:nvSpPr>
          <p:cNvPr id="4" name="Slide Number Placeholder 3"/>
          <p:cNvSpPr>
            <a:spLocks noGrp="1"/>
          </p:cNvSpPr>
          <p:nvPr>
            <p:ph type="sldNum" sz="quarter" idx="12"/>
          </p:nvPr>
        </p:nvSpPr>
        <p:spPr/>
        <p:txBody>
          <a:bodyPr/>
          <a:lstStyle/>
          <a:p>
            <a:pPr>
              <a:defRPr/>
            </a:pPr>
            <a:fld id="{9B7329EC-83B4-8A42-B6D8-8C023A66771E}" type="slidenum">
              <a:rPr lang="en-US" smtClean="0"/>
              <a:pPr>
                <a:defRPr/>
              </a:pPr>
              <a:t>7</a:t>
            </a:fld>
            <a:endParaRPr lang="en-US" dirty="0"/>
          </a:p>
        </p:txBody>
      </p:sp>
      <p:pic>
        <p:nvPicPr>
          <p:cNvPr id="6" name="Picture 5"/>
          <p:cNvPicPr>
            <a:picLocks noChangeAspect="1"/>
          </p:cNvPicPr>
          <p:nvPr/>
        </p:nvPicPr>
        <p:blipFill>
          <a:blip r:embed="rId3"/>
          <a:stretch>
            <a:fillRect/>
          </a:stretch>
        </p:blipFill>
        <p:spPr>
          <a:xfrm>
            <a:off x="1828800" y="990600"/>
            <a:ext cx="4749800" cy="3677000"/>
          </a:xfrm>
          <a:prstGeom prst="rect">
            <a:avLst/>
          </a:prstGeom>
        </p:spPr>
      </p:pic>
    </p:spTree>
    <p:extLst>
      <p:ext uri="{BB962C8B-B14F-4D97-AF65-F5344CB8AC3E}">
        <p14:creationId xmlns:p14="http://schemas.microsoft.com/office/powerpoint/2010/main" val="3219900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 name="Types of Hypervisors"/>
          <p:cNvSpPr txBox="1">
            <a:spLocks noGrp="1"/>
          </p:cNvSpPr>
          <p:nvPr>
            <p:ph type="title"/>
          </p:nvPr>
        </p:nvSpPr>
        <p:spPr>
          <a:prstGeom prst="rect">
            <a:avLst/>
          </a:prstGeom>
        </p:spPr>
        <p:txBody>
          <a:bodyPr/>
          <a:lstStyle/>
          <a:p>
            <a:r>
              <a:t>Types of Hypervisors</a:t>
            </a:r>
          </a:p>
        </p:txBody>
      </p:sp>
      <p:sp>
        <p:nvSpPr>
          <p:cNvPr id="65" name="Type 1: hypervisor runs on “bare metal”…"/>
          <p:cNvSpPr txBox="1">
            <a:spLocks noGrp="1"/>
          </p:cNvSpPr>
          <p:nvPr>
            <p:ph type="body" sz="half" idx="1"/>
          </p:nvPr>
        </p:nvSpPr>
        <p:spPr>
          <a:xfrm>
            <a:off x="234950" y="4114800"/>
            <a:ext cx="8674100" cy="2743200"/>
          </a:xfrm>
          <a:prstGeom prst="rect">
            <a:avLst/>
          </a:prstGeom>
        </p:spPr>
        <p:txBody>
          <a:bodyPr/>
          <a:lstStyle/>
          <a:p>
            <a:r>
              <a:rPr dirty="0"/>
              <a:t>Type 1: hypervisor runs on “bare metal”</a:t>
            </a:r>
          </a:p>
          <a:p>
            <a:r>
              <a:rPr dirty="0"/>
              <a:t>Type 2:  hypervisor runs on a host OS</a:t>
            </a:r>
            <a:r>
              <a:rPr lang="en-US" dirty="0"/>
              <a:t> (like hosted VMs)</a:t>
            </a:r>
            <a:endParaRPr dirty="0"/>
          </a:p>
          <a:p>
            <a:pPr lvl="1"/>
            <a:r>
              <a:rPr dirty="0"/>
              <a:t>Guest OS runs inside hypervisor</a:t>
            </a:r>
          </a:p>
          <a:p>
            <a:r>
              <a:rPr dirty="0"/>
              <a:t>Both VM types act like real hardware</a:t>
            </a:r>
            <a:r>
              <a:rPr lang="en-US" dirty="0"/>
              <a:t> from application standpoint</a:t>
            </a:r>
            <a:endParaRPr dirty="0"/>
          </a:p>
        </p:txBody>
      </p:sp>
      <p:pic>
        <p:nvPicPr>
          <p:cNvPr id="66" name="01-29.jpg" descr="01-29.jpg"/>
          <p:cNvPicPr>
            <a:picLocks/>
          </p:cNvPicPr>
          <p:nvPr/>
        </p:nvPicPr>
        <p:blipFill>
          <a:blip r:embed="rId2"/>
          <a:stretch>
            <a:fillRect/>
          </a:stretch>
        </p:blipFill>
        <p:spPr>
          <a:xfrm>
            <a:off x="914400" y="979714"/>
            <a:ext cx="7410450" cy="2990850"/>
          </a:xfrm>
          <a:prstGeom prst="rect">
            <a:avLst/>
          </a:prstGeom>
          <a:ln w="12700">
            <a:miter lim="400000"/>
          </a:ln>
        </p:spPr>
      </p:pic>
      <p:sp>
        <p:nvSpPr>
          <p:cNvPr id="67"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marL="0" marR="0" lvl="0" indent="0" algn="ctr" defTabSz="5842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rPr>
              <a:pPr marL="0" marR="0" lvl="0" indent="0" algn="ctr" defTabSz="584200" rtl="0" eaLnBrk="1" fontAlgn="auto" latinLnBrk="0" hangingPunct="0">
                <a:lnSpc>
                  <a:spcPct val="100000"/>
                </a:lnSpc>
                <a:spcBef>
                  <a:spcPts val="0"/>
                </a:spcBef>
                <a:spcAft>
                  <a:spcPts val="0"/>
                </a:spcAft>
                <a:buClrTx/>
                <a:buSzTx/>
                <a:buFontTx/>
                <a:buNone/>
                <a:tabLst/>
                <a:defRPr/>
              </a:pPr>
              <a:t>8</a:t>
            </a:fld>
            <a:endPar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endParaRPr>
          </a:p>
        </p:txBody>
      </p:sp>
    </p:spTree>
    <p:extLst>
      <p:ext uri="{BB962C8B-B14F-4D97-AF65-F5344CB8AC3E}">
        <p14:creationId xmlns:p14="http://schemas.microsoft.com/office/powerpoint/2010/main" val="2134413246"/>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 name="Types of Virtualization"/>
          <p:cNvSpPr txBox="1">
            <a:spLocks noGrp="1"/>
          </p:cNvSpPr>
          <p:nvPr>
            <p:ph type="title"/>
          </p:nvPr>
        </p:nvSpPr>
        <p:spPr>
          <a:prstGeom prst="rect">
            <a:avLst/>
          </a:prstGeom>
        </p:spPr>
        <p:txBody>
          <a:bodyPr/>
          <a:lstStyle/>
          <a:p>
            <a:r>
              <a:t>Types of Virtualization</a:t>
            </a:r>
          </a:p>
        </p:txBody>
      </p:sp>
      <p:sp>
        <p:nvSpPr>
          <p:cNvPr id="49" name="Emulation…"/>
          <p:cNvSpPr txBox="1">
            <a:spLocks noGrp="1"/>
          </p:cNvSpPr>
          <p:nvPr>
            <p:ph type="body" idx="1"/>
          </p:nvPr>
        </p:nvSpPr>
        <p:spPr>
          <a:prstGeom prst="rect">
            <a:avLst/>
          </a:prstGeom>
        </p:spPr>
        <p:txBody>
          <a:bodyPr/>
          <a:lstStyle/>
          <a:p>
            <a:r>
              <a:rPr lang="en-US" dirty="0"/>
              <a:t>Full/native Virtualization (Type 1)</a:t>
            </a:r>
          </a:p>
          <a:p>
            <a:pPr lvl="1"/>
            <a:r>
              <a:rPr lang="en-US" dirty="0"/>
              <a:t>VM simulates “enough” hardware to allow an unmodified guest OS to be run </a:t>
            </a:r>
            <a:r>
              <a:rPr lang="en-US" b="1" dirty="0"/>
              <a:t>in isolation </a:t>
            </a:r>
            <a:r>
              <a:rPr lang="en-US" dirty="0"/>
              <a:t>(isolation from one VM to another is an important characteristic for users sharing a cloud platform)</a:t>
            </a:r>
            <a:endParaRPr lang="en-US" b="1" dirty="0"/>
          </a:p>
          <a:p>
            <a:pPr lvl="2"/>
            <a:r>
              <a:rPr lang="en-US" dirty="0"/>
              <a:t>Same hardware CPU</a:t>
            </a:r>
          </a:p>
          <a:p>
            <a:pPr lvl="1"/>
            <a:r>
              <a:rPr lang="en-US" dirty="0"/>
              <a:t>IBM VM family, VMWare Workstation, Parallels, VirtualBox</a:t>
            </a:r>
          </a:p>
          <a:p>
            <a:r>
              <a:rPr dirty="0"/>
              <a:t>Emulation</a:t>
            </a:r>
            <a:r>
              <a:rPr lang="en-US" dirty="0"/>
              <a:t> (Type 2)</a:t>
            </a:r>
            <a:endParaRPr dirty="0"/>
          </a:p>
          <a:p>
            <a:pPr lvl="1"/>
            <a:r>
              <a:rPr dirty="0"/>
              <a:t>VM</a:t>
            </a:r>
            <a:r>
              <a:rPr lang="en-US" dirty="0"/>
              <a:t>M</a:t>
            </a:r>
            <a:r>
              <a:rPr dirty="0"/>
              <a:t> emulates/simulates complete hardware</a:t>
            </a:r>
          </a:p>
          <a:p>
            <a:pPr lvl="1"/>
            <a:r>
              <a:rPr dirty="0"/>
              <a:t>Unmodified guest OS for a different </a:t>
            </a:r>
            <a:r>
              <a:rPr lang="en-US" dirty="0"/>
              <a:t>'</a:t>
            </a:r>
            <a:r>
              <a:rPr dirty="0"/>
              <a:t>PC</a:t>
            </a:r>
            <a:r>
              <a:rPr lang="en-US" dirty="0"/>
              <a:t>'</a:t>
            </a:r>
            <a:r>
              <a:rPr dirty="0"/>
              <a:t> can be run</a:t>
            </a:r>
          </a:p>
          <a:p>
            <a:pPr lvl="2"/>
            <a:r>
              <a:rPr dirty="0" err="1"/>
              <a:t>Bochs</a:t>
            </a:r>
            <a:r>
              <a:rPr dirty="0"/>
              <a:t>, </a:t>
            </a:r>
            <a:r>
              <a:rPr dirty="0" err="1"/>
              <a:t>VirtualPC</a:t>
            </a:r>
            <a:r>
              <a:rPr dirty="0"/>
              <a:t> for Mac, QEMU</a:t>
            </a:r>
          </a:p>
        </p:txBody>
      </p:sp>
      <p:sp>
        <p:nvSpPr>
          <p:cNvPr id="50"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marL="0" marR="0" lvl="0" indent="0" algn="ctr" defTabSz="5842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rPr>
              <a:pPr marL="0" marR="0" lvl="0" indent="0" algn="ctr" defTabSz="584200" rtl="0" eaLnBrk="1" fontAlgn="auto" latinLnBrk="0" hangingPunct="0">
                <a:lnSpc>
                  <a:spcPct val="100000"/>
                </a:lnSpc>
                <a:spcBef>
                  <a:spcPts val="0"/>
                </a:spcBef>
                <a:spcAft>
                  <a:spcPts val="0"/>
                </a:spcAft>
                <a:buClrTx/>
                <a:buSzTx/>
                <a:buFontTx/>
                <a:buNone/>
                <a:tabLst/>
                <a:defRPr/>
              </a:pPr>
              <a:t>9</a:t>
            </a:fld>
            <a:endPar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endParaRPr>
          </a:p>
        </p:txBody>
      </p:sp>
    </p:spTree>
    <p:extLst>
      <p:ext uri="{BB962C8B-B14F-4D97-AF65-F5344CB8AC3E}">
        <p14:creationId xmlns:p14="http://schemas.microsoft.com/office/powerpoint/2010/main" val="3242124551"/>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6C289-6A95-604A-A261-49B86BD88FEF}"/>
              </a:ext>
            </a:extLst>
          </p:cNvPr>
          <p:cNvSpPr>
            <a:spLocks noGrp="1"/>
          </p:cNvSpPr>
          <p:nvPr>
            <p:ph type="title"/>
          </p:nvPr>
        </p:nvSpPr>
        <p:spPr/>
        <p:txBody>
          <a:bodyPr/>
          <a:lstStyle/>
          <a:p>
            <a:r>
              <a:rPr lang="en-US" dirty="0"/>
              <a:t>Protection through Isolation</a:t>
            </a:r>
          </a:p>
        </p:txBody>
      </p:sp>
      <p:sp>
        <p:nvSpPr>
          <p:cNvPr id="3" name="Content Placeholder 2">
            <a:extLst>
              <a:ext uri="{FF2B5EF4-FFF2-40B4-BE49-F238E27FC236}">
                <a16:creationId xmlns:a16="http://schemas.microsoft.com/office/drawing/2014/main" id="{C2D60ABE-24A5-0B45-9ED9-5C047600DCEC}"/>
              </a:ext>
            </a:extLst>
          </p:cNvPr>
          <p:cNvSpPr>
            <a:spLocks noGrp="1"/>
          </p:cNvSpPr>
          <p:nvPr>
            <p:ph idx="1"/>
          </p:nvPr>
        </p:nvSpPr>
        <p:spPr>
          <a:xfrm>
            <a:off x="1" y="958467"/>
            <a:ext cx="9066882" cy="5899533"/>
          </a:xfrm>
        </p:spPr>
        <p:txBody>
          <a:bodyPr/>
          <a:lstStyle/>
          <a:p>
            <a:r>
              <a:rPr lang="en-US" sz="2400" dirty="0"/>
              <a:t>Excerpted from Johanna Ullrich, Edgar R. </a:t>
            </a:r>
            <a:r>
              <a:rPr lang="en-US" sz="2400" dirty="0" err="1"/>
              <a:t>Weippl</a:t>
            </a:r>
            <a:r>
              <a:rPr lang="en-US" sz="2400" dirty="0"/>
              <a:t>, in “The Cloud Security Ecosystem”, 2015 (Elsevier)</a:t>
            </a:r>
          </a:p>
          <a:p>
            <a:r>
              <a:rPr lang="en-US" dirty="0"/>
              <a:t>Hypervisor provides efficient, isolated ‘duplicate’ of  physical machine for VMs.</a:t>
            </a:r>
          </a:p>
          <a:p>
            <a:r>
              <a:rPr lang="en-US" dirty="0"/>
              <a:t>All sensitive instructions, (those changing </a:t>
            </a:r>
            <a:r>
              <a:rPr lang="en-US" dirty="0">
                <a:hlinkClick r:id="rId2" tooltip="Learn more about Resource Configuration from ScienceDirect's AI-generated Topic Pages"/>
              </a:rPr>
              <a:t>resource availability or configuration</a:t>
            </a:r>
            <a:r>
              <a:rPr lang="en-US" dirty="0"/>
              <a:t>), must be privileged instructions, to build effective hypervisor </a:t>
            </a:r>
            <a:r>
              <a:rPr lang="en-US" sz="2000" dirty="0"/>
              <a:t>(</a:t>
            </a:r>
            <a:r>
              <a:rPr lang="en-US" sz="2000" dirty="0" err="1"/>
              <a:t>Popek</a:t>
            </a:r>
            <a:r>
              <a:rPr lang="en-US" sz="2000" dirty="0"/>
              <a:t> &amp; Goldberg, ‘74)</a:t>
            </a:r>
            <a:endParaRPr lang="en-US" dirty="0"/>
          </a:p>
          <a:p>
            <a:pPr lvl="1"/>
            <a:r>
              <a:rPr lang="en-US" dirty="0"/>
              <a:t>all sensitive instructions cross (go through) the hypervisor, which is able to control VMs appropriately.</a:t>
            </a:r>
          </a:p>
          <a:p>
            <a:pPr lvl="1"/>
            <a:r>
              <a:rPr lang="en-US" dirty="0"/>
              <a:t>This is </a:t>
            </a:r>
            <a:r>
              <a:rPr lang="en-US" i="1" u="sng" dirty="0">
                <a:solidFill>
                  <a:schemeClr val="accent1">
                    <a:lumMod val="75000"/>
                  </a:schemeClr>
                </a:solidFill>
              </a:rPr>
              <a:t>full</a:t>
            </a:r>
            <a:r>
              <a:rPr lang="en-US" i="1" dirty="0"/>
              <a:t> </a:t>
            </a:r>
            <a:r>
              <a:rPr lang="en-US" i="1" dirty="0">
                <a:hlinkClick r:id="rId3" tooltip="Learn more about Virtualizations from ScienceDirect's AI-generated Topic Pages"/>
              </a:rPr>
              <a:t>virtualization</a:t>
            </a:r>
            <a:r>
              <a:rPr lang="en-US" i="1" dirty="0"/>
              <a:t>: </a:t>
            </a:r>
            <a:r>
              <a:rPr lang="en-US" dirty="0"/>
              <a:t> advantage is host OS does not have to be adapted, i.e., it is unaware of its </a:t>
            </a:r>
            <a:r>
              <a:rPr lang="en-US" dirty="0">
                <a:hlinkClick r:id="rId4" tooltip="Learn more about Virtualized Environment from ScienceDirect's AI-generated Topic Pages"/>
              </a:rPr>
              <a:t>virtualized environment</a:t>
            </a:r>
            <a:r>
              <a:rPr lang="en-US" dirty="0"/>
              <a:t>.</a:t>
            </a:r>
          </a:p>
          <a:p>
            <a:r>
              <a:rPr lang="en-US" sz="2400" dirty="0"/>
              <a:t>But, often need # additional actions to be virtualizable, </a:t>
            </a:r>
            <a:r>
              <a:rPr lang="en-US" sz="2400" dirty="0">
                <a:sym typeface="Wingdings" pitchFamily="2" charset="2"/>
              </a:rPr>
              <a:t> </a:t>
            </a:r>
            <a:r>
              <a:rPr lang="en-US" sz="2400" i="1" dirty="0">
                <a:hlinkClick r:id="rId5" tooltip="Learn more about Paravirtualization from ScienceDirect's AI-generated Topic Pages"/>
              </a:rPr>
              <a:t>paravirtualizatio</a:t>
            </a:r>
            <a:r>
              <a:rPr lang="en-US" sz="2400" i="1" dirty="0"/>
              <a:t>n</a:t>
            </a:r>
            <a:r>
              <a:rPr lang="en-US" sz="2400" dirty="0"/>
              <a:t>, </a:t>
            </a:r>
            <a:r>
              <a:rPr lang="en-US" sz="2400" i="1" dirty="0">
                <a:hlinkClick r:id="rId6" tooltip="Learn more about Binary Translation from ScienceDirect's AI-generated Topic Pages"/>
              </a:rPr>
              <a:t>binary translation</a:t>
            </a:r>
            <a:r>
              <a:rPr lang="en-US" sz="2400" i="1" dirty="0"/>
              <a:t> &amp; hardware-assisted virtualization</a:t>
            </a:r>
            <a:endParaRPr lang="en-US" sz="2400" dirty="0"/>
          </a:p>
        </p:txBody>
      </p:sp>
    </p:spTree>
    <p:extLst>
      <p:ext uri="{BB962C8B-B14F-4D97-AF65-F5344CB8AC3E}">
        <p14:creationId xmlns:p14="http://schemas.microsoft.com/office/powerpoint/2010/main" val="3785411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7772400" cy="1143000"/>
          </a:xfrm>
        </p:spPr>
        <p:txBody>
          <a:bodyPr/>
          <a:lstStyle/>
          <a:p>
            <a:r>
              <a:rPr lang="en-US" dirty="0"/>
              <a:t>Hybrid organizations</a:t>
            </a:r>
          </a:p>
        </p:txBody>
      </p:sp>
      <p:sp>
        <p:nvSpPr>
          <p:cNvPr id="4" name="Slide Number Placeholder 3"/>
          <p:cNvSpPr>
            <a:spLocks noGrp="1"/>
          </p:cNvSpPr>
          <p:nvPr>
            <p:ph type="sldNum" sz="quarter" idx="12"/>
          </p:nvPr>
        </p:nvSpPr>
        <p:spPr/>
        <p:txBody>
          <a:bodyPr/>
          <a:lstStyle/>
          <a:p>
            <a:pPr>
              <a:defRPr/>
            </a:pPr>
            <a:fld id="{9B7329EC-83B4-8A42-B6D8-8C023A66771E}" type="slidenum">
              <a:rPr lang="en-US" smtClean="0"/>
              <a:pPr>
                <a:defRPr/>
              </a:pPr>
              <a:t>11</a:t>
            </a:fld>
            <a:endParaRPr lang="en-US" dirty="0"/>
          </a:p>
        </p:txBody>
      </p:sp>
      <p:pic>
        <p:nvPicPr>
          <p:cNvPr id="6" name="Picture 5"/>
          <p:cNvPicPr>
            <a:picLocks noChangeAspect="1"/>
          </p:cNvPicPr>
          <p:nvPr/>
        </p:nvPicPr>
        <p:blipFill>
          <a:blip r:embed="rId2"/>
          <a:stretch>
            <a:fillRect/>
          </a:stretch>
        </p:blipFill>
        <p:spPr>
          <a:xfrm>
            <a:off x="1066800" y="1524000"/>
            <a:ext cx="6308896" cy="3394983"/>
          </a:xfrm>
          <a:prstGeom prst="rect">
            <a:avLst/>
          </a:prstGeom>
        </p:spPr>
      </p:pic>
      <p:sp>
        <p:nvSpPr>
          <p:cNvPr id="7" name="Content Placeholder 6"/>
          <p:cNvSpPr>
            <a:spLocks noGrp="1"/>
          </p:cNvSpPr>
          <p:nvPr>
            <p:ph idx="1"/>
          </p:nvPr>
        </p:nvSpPr>
        <p:spPr>
          <a:xfrm>
            <a:off x="457200" y="4953000"/>
            <a:ext cx="8686800" cy="1905000"/>
          </a:xfrm>
        </p:spPr>
        <p:txBody>
          <a:bodyPr/>
          <a:lstStyle/>
          <a:p>
            <a:r>
              <a:rPr lang="en-US" dirty="0"/>
              <a:t>Hybrid hypervisors are popular: e.g., Xen</a:t>
            </a:r>
          </a:p>
          <a:p>
            <a:pPr lvl="1"/>
            <a:r>
              <a:rPr lang="en-US" dirty="0"/>
              <a:t>Mostly bare metal virtualization.</a:t>
            </a:r>
          </a:p>
          <a:p>
            <a:pPr lvl="1"/>
            <a:r>
              <a:rPr lang="en-US" dirty="0"/>
              <a:t>But, VM0/Dom0 to keep device drivers out of VMM</a:t>
            </a:r>
          </a:p>
          <a:p>
            <a:pPr lvl="1"/>
            <a:r>
              <a:rPr lang="en-US" dirty="0"/>
              <a:t>Paravirtualization (PV) front-end talks to Dom0</a:t>
            </a:r>
          </a:p>
        </p:txBody>
      </p:sp>
      <p:sp>
        <p:nvSpPr>
          <p:cNvPr id="3" name="TextBox 2">
            <a:extLst>
              <a:ext uri="{FF2B5EF4-FFF2-40B4-BE49-F238E27FC236}">
                <a16:creationId xmlns:a16="http://schemas.microsoft.com/office/drawing/2014/main" id="{8FF07D44-C5A2-5D46-9300-87268977686B}"/>
              </a:ext>
            </a:extLst>
          </p:cNvPr>
          <p:cNvSpPr txBox="1"/>
          <p:nvPr/>
        </p:nvSpPr>
        <p:spPr>
          <a:xfrm>
            <a:off x="7133514" y="3846946"/>
            <a:ext cx="742511" cy="379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ctr" defTabSz="9144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000000"/>
                </a:solidFill>
                <a:effectLst/>
                <a:uFill>
                  <a:solidFill>
                    <a:srgbClr val="000000"/>
                  </a:solidFill>
                </a:uFill>
                <a:latin typeface="Comic Sans MS"/>
                <a:ea typeface="Comic Sans MS"/>
                <a:cs typeface="Comic Sans MS"/>
                <a:sym typeface="Comic Sans MS"/>
              </a:rPr>
              <a:t>VMM</a:t>
            </a:r>
          </a:p>
        </p:txBody>
      </p:sp>
      <p:cxnSp>
        <p:nvCxnSpPr>
          <p:cNvPr id="8" name="Straight Connector 7">
            <a:extLst>
              <a:ext uri="{FF2B5EF4-FFF2-40B4-BE49-F238E27FC236}">
                <a16:creationId xmlns:a16="http://schemas.microsoft.com/office/drawing/2014/main" id="{0E7951A0-A4AB-F347-9D4B-1A66E3DCA119}"/>
              </a:ext>
            </a:extLst>
          </p:cNvPr>
          <p:cNvCxnSpPr/>
          <p:nvPr/>
        </p:nvCxnSpPr>
        <p:spPr>
          <a:xfrm>
            <a:off x="774551" y="3814672"/>
            <a:ext cx="7379745" cy="0"/>
          </a:xfrm>
          <a:prstGeom prst="line">
            <a:avLst/>
          </a:prstGeom>
          <a:noFill/>
          <a:ln w="28575" cap="flat">
            <a:solidFill>
              <a:srgbClr val="000000"/>
            </a:solidFill>
            <a:prstDash val="solid"/>
            <a:round/>
          </a:ln>
          <a:effectLst/>
          <a:sp3d/>
        </p:spPr>
        <p:style>
          <a:lnRef idx="0">
            <a:scrgbClr r="0" g="0" b="0"/>
          </a:lnRef>
          <a:fillRef idx="0">
            <a:scrgbClr r="0" g="0" b="0"/>
          </a:fillRef>
          <a:effectRef idx="0">
            <a:scrgbClr r="0" g="0" b="0"/>
          </a:effectRef>
          <a:fontRef idx="none"/>
        </p:style>
      </p:cxnSp>
      <p:sp>
        <p:nvSpPr>
          <p:cNvPr id="9" name="TextBox 8">
            <a:extLst>
              <a:ext uri="{FF2B5EF4-FFF2-40B4-BE49-F238E27FC236}">
                <a16:creationId xmlns:a16="http://schemas.microsoft.com/office/drawing/2014/main" id="{52DDD582-6BAC-A66D-D938-4FDA811E8138}"/>
              </a:ext>
            </a:extLst>
          </p:cNvPr>
          <p:cNvSpPr txBox="1"/>
          <p:nvPr/>
        </p:nvSpPr>
        <p:spPr>
          <a:xfrm>
            <a:off x="7408884" y="3365603"/>
            <a:ext cx="1372492" cy="379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ctr" defTabSz="9144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000000"/>
                </a:solidFill>
                <a:effectLst/>
                <a:uFill>
                  <a:solidFill>
                    <a:srgbClr val="000000"/>
                  </a:solidFill>
                </a:uFill>
                <a:latin typeface="Comic Sans MS"/>
                <a:ea typeface="Comic Sans MS"/>
                <a:cs typeface="Comic Sans MS"/>
                <a:sym typeface="Comic Sans MS"/>
              </a:rPr>
              <a:t>User space</a:t>
            </a:r>
          </a:p>
        </p:txBody>
      </p:sp>
    </p:spTree>
    <p:extLst>
      <p:ext uri="{BB962C8B-B14F-4D97-AF65-F5344CB8AC3E}">
        <p14:creationId xmlns:p14="http://schemas.microsoft.com/office/powerpoint/2010/main" val="2680107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 name="Types of virtualization"/>
          <p:cNvSpPr txBox="1">
            <a:spLocks noGrp="1"/>
          </p:cNvSpPr>
          <p:nvPr>
            <p:ph type="title"/>
          </p:nvPr>
        </p:nvSpPr>
        <p:spPr>
          <a:prstGeom prst="rect">
            <a:avLst/>
          </a:prstGeom>
        </p:spPr>
        <p:txBody>
          <a:bodyPr/>
          <a:lstStyle/>
          <a:p>
            <a:r>
              <a:rPr lang="en-US" dirty="0"/>
              <a:t>More on </a:t>
            </a:r>
            <a:r>
              <a:rPr dirty="0"/>
              <a:t>Types of virtualization</a:t>
            </a:r>
          </a:p>
        </p:txBody>
      </p:sp>
      <p:sp>
        <p:nvSpPr>
          <p:cNvPr id="57" name="Para-virtualization…"/>
          <p:cNvSpPr txBox="1">
            <a:spLocks noGrp="1"/>
          </p:cNvSpPr>
          <p:nvPr>
            <p:ph type="body" idx="1"/>
          </p:nvPr>
        </p:nvSpPr>
        <p:spPr>
          <a:xfrm>
            <a:off x="234950" y="1184213"/>
            <a:ext cx="8674100" cy="5410200"/>
          </a:xfrm>
          <a:prstGeom prst="rect">
            <a:avLst/>
          </a:prstGeom>
        </p:spPr>
        <p:txBody>
          <a:bodyPr/>
          <a:lstStyle/>
          <a:p>
            <a:pPr>
              <a:lnSpc>
                <a:spcPct val="90000"/>
              </a:lnSpc>
              <a:defRPr sz="2400"/>
            </a:pPr>
            <a:r>
              <a:rPr dirty="0"/>
              <a:t>Para-virtualization</a:t>
            </a:r>
          </a:p>
          <a:p>
            <a:pPr lvl="1">
              <a:lnSpc>
                <a:spcPct val="90000"/>
              </a:lnSpc>
              <a:defRPr sz="2000"/>
            </a:pPr>
            <a:r>
              <a:rPr dirty="0"/>
              <a:t>VM</a:t>
            </a:r>
            <a:r>
              <a:rPr lang="en-US" dirty="0"/>
              <a:t>M</a:t>
            </a:r>
            <a:r>
              <a:rPr dirty="0"/>
              <a:t> does not simulate </a:t>
            </a:r>
            <a:r>
              <a:rPr lang="en-US" dirty="0"/>
              <a:t>all of the </a:t>
            </a:r>
            <a:r>
              <a:rPr dirty="0"/>
              <a:t>hardware</a:t>
            </a:r>
            <a:r>
              <a:rPr lang="en-US" dirty="0"/>
              <a:t> capabilities</a:t>
            </a:r>
            <a:r>
              <a:rPr dirty="0"/>
              <a:t> </a:t>
            </a:r>
          </a:p>
          <a:p>
            <a:pPr lvl="1">
              <a:lnSpc>
                <a:spcPct val="90000"/>
              </a:lnSpc>
              <a:defRPr sz="2000"/>
            </a:pPr>
            <a:r>
              <a:rPr dirty="0"/>
              <a:t>Use special API that a modified guest OS must use</a:t>
            </a:r>
          </a:p>
          <a:p>
            <a:pPr lvl="1">
              <a:lnSpc>
                <a:spcPct val="90000"/>
              </a:lnSpc>
              <a:defRPr sz="2000"/>
            </a:pPr>
            <a:r>
              <a:rPr dirty="0" err="1"/>
              <a:t>Hypercalls</a:t>
            </a:r>
            <a:r>
              <a:rPr dirty="0"/>
              <a:t> trapped by the Hypervisor and serviced</a:t>
            </a:r>
            <a:r>
              <a:rPr lang="en-US" dirty="0"/>
              <a:t> through Dom0</a:t>
            </a:r>
            <a:endParaRPr dirty="0"/>
          </a:p>
          <a:p>
            <a:pPr lvl="1">
              <a:lnSpc>
                <a:spcPct val="90000"/>
              </a:lnSpc>
              <a:defRPr sz="2000"/>
            </a:pPr>
            <a:r>
              <a:rPr dirty="0"/>
              <a:t>Xen, VMWare  ESX Server</a:t>
            </a:r>
          </a:p>
          <a:p>
            <a:pPr>
              <a:lnSpc>
                <a:spcPct val="90000"/>
              </a:lnSpc>
              <a:defRPr sz="2400"/>
            </a:pPr>
            <a:r>
              <a:rPr dirty="0"/>
              <a:t>OS-level virtualization</a:t>
            </a:r>
          </a:p>
          <a:p>
            <a:pPr lvl="1">
              <a:lnSpc>
                <a:spcPct val="90000"/>
              </a:lnSpc>
              <a:defRPr sz="2000"/>
            </a:pPr>
            <a:r>
              <a:rPr dirty="0"/>
              <a:t>OS allows multiple </a:t>
            </a:r>
            <a:r>
              <a:rPr lang="en-US" dirty="0"/>
              <a:t>'</a:t>
            </a:r>
            <a:r>
              <a:rPr dirty="0"/>
              <a:t>secure</a:t>
            </a:r>
            <a:r>
              <a:rPr lang="en-US" dirty="0"/>
              <a:t>'</a:t>
            </a:r>
            <a:r>
              <a:rPr dirty="0"/>
              <a:t> virtual servers to be run</a:t>
            </a:r>
          </a:p>
          <a:p>
            <a:pPr lvl="1">
              <a:lnSpc>
                <a:spcPct val="90000"/>
              </a:lnSpc>
              <a:defRPr sz="2000"/>
            </a:pPr>
            <a:r>
              <a:rPr dirty="0"/>
              <a:t>Guest OS is the same as the host OS, but appears isolated</a:t>
            </a:r>
          </a:p>
          <a:p>
            <a:pPr lvl="2">
              <a:lnSpc>
                <a:spcPct val="90000"/>
              </a:lnSpc>
              <a:defRPr sz="2000"/>
            </a:pPr>
            <a:r>
              <a:rPr dirty="0"/>
              <a:t> apps see an isolated OS</a:t>
            </a:r>
          </a:p>
          <a:p>
            <a:pPr lvl="1">
              <a:lnSpc>
                <a:spcPct val="90000"/>
              </a:lnSpc>
              <a:defRPr sz="2000"/>
            </a:pPr>
            <a:r>
              <a:rPr dirty="0"/>
              <a:t>Solaris Containers, BSD Jails, Linux </a:t>
            </a:r>
            <a:r>
              <a:rPr dirty="0" err="1"/>
              <a:t>Vserver</a:t>
            </a:r>
            <a:r>
              <a:rPr dirty="0"/>
              <a:t>, Linux containers, Docker</a:t>
            </a:r>
          </a:p>
          <a:p>
            <a:pPr>
              <a:lnSpc>
                <a:spcPct val="90000"/>
              </a:lnSpc>
              <a:defRPr sz="2400"/>
            </a:pPr>
            <a:r>
              <a:rPr dirty="0"/>
              <a:t>Application level virtualization</a:t>
            </a:r>
          </a:p>
          <a:p>
            <a:pPr lvl="1">
              <a:lnSpc>
                <a:spcPct val="90000"/>
              </a:lnSpc>
              <a:defRPr sz="2000"/>
            </a:pPr>
            <a:r>
              <a:rPr dirty="0"/>
              <a:t>Application is give</a:t>
            </a:r>
            <a:r>
              <a:rPr lang="en-US" dirty="0"/>
              <a:t>n</a:t>
            </a:r>
            <a:r>
              <a:rPr dirty="0"/>
              <a:t> its own copy of components that are not shared</a:t>
            </a:r>
          </a:p>
          <a:p>
            <a:pPr lvl="2">
              <a:lnSpc>
                <a:spcPct val="90000"/>
              </a:lnSpc>
              <a:defRPr sz="2000"/>
            </a:pPr>
            <a:r>
              <a:rPr dirty="0"/>
              <a:t>(E.g., own registry files, global objects) - VE prevents conflicts</a:t>
            </a:r>
          </a:p>
          <a:p>
            <a:pPr lvl="1">
              <a:lnSpc>
                <a:spcPct val="90000"/>
              </a:lnSpc>
              <a:defRPr sz="2000"/>
            </a:pPr>
            <a:r>
              <a:rPr dirty="0"/>
              <a:t>JVM, Rosetta on Mac (also emulation), WINE</a:t>
            </a:r>
          </a:p>
        </p:txBody>
      </p:sp>
      <p:sp>
        <p:nvSpPr>
          <p:cNvPr id="58"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marL="0" marR="0" lvl="0" indent="0" algn="ctr" defTabSz="5842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rPr>
              <a:pPr marL="0" marR="0" lvl="0" indent="0" algn="ctr" defTabSz="584200" rtl="0" eaLnBrk="1" fontAlgn="auto" latinLnBrk="0" hangingPunct="0">
                <a:lnSpc>
                  <a:spcPct val="100000"/>
                </a:lnSpc>
                <a:spcBef>
                  <a:spcPts val="0"/>
                </a:spcBef>
                <a:spcAft>
                  <a:spcPts val="0"/>
                </a:spcAft>
                <a:buClrTx/>
                <a:buSzTx/>
                <a:buFontTx/>
                <a:buNone/>
                <a:tabLst/>
                <a:defRPr/>
              </a:pPr>
              <a:t>12</a:t>
            </a:fld>
            <a:endPar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endParaRPr>
          </a:p>
        </p:txBody>
      </p:sp>
    </p:spTree>
    <p:extLst>
      <p:ext uri="{BB962C8B-B14F-4D97-AF65-F5344CB8AC3E}">
        <p14:creationId xmlns:p14="http://schemas.microsoft.com/office/powerpoint/2010/main" val="693459530"/>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C7032-D454-F54F-ADC8-F7E46BD5644C}"/>
              </a:ext>
            </a:extLst>
          </p:cNvPr>
          <p:cNvSpPr>
            <a:spLocks noGrp="1"/>
          </p:cNvSpPr>
          <p:nvPr>
            <p:ph type="title"/>
          </p:nvPr>
        </p:nvSpPr>
        <p:spPr>
          <a:xfrm>
            <a:off x="0" y="0"/>
            <a:ext cx="9144000" cy="925416"/>
          </a:xfrm>
        </p:spPr>
        <p:txBody>
          <a:bodyPr/>
          <a:lstStyle/>
          <a:p>
            <a:r>
              <a:rPr lang="en-US" dirty="0"/>
              <a:t>Paravirtualization</a:t>
            </a:r>
          </a:p>
        </p:txBody>
      </p:sp>
      <p:sp>
        <p:nvSpPr>
          <p:cNvPr id="3" name="Content Placeholder 2">
            <a:extLst>
              <a:ext uri="{FF2B5EF4-FFF2-40B4-BE49-F238E27FC236}">
                <a16:creationId xmlns:a16="http://schemas.microsoft.com/office/drawing/2014/main" id="{A65730D3-05B8-F646-8AEB-7EC6873B8ED5}"/>
              </a:ext>
            </a:extLst>
          </p:cNvPr>
          <p:cNvSpPr>
            <a:spLocks noGrp="1"/>
          </p:cNvSpPr>
          <p:nvPr>
            <p:ph idx="1"/>
          </p:nvPr>
        </p:nvSpPr>
        <p:spPr>
          <a:xfrm>
            <a:off x="-1" y="694063"/>
            <a:ext cx="9143999" cy="6075801"/>
          </a:xfrm>
        </p:spPr>
        <p:txBody>
          <a:bodyPr/>
          <a:lstStyle/>
          <a:p>
            <a:r>
              <a:rPr lang="en-US" i="1" dirty="0"/>
              <a:t>Paravirtualization:</a:t>
            </a:r>
            <a:r>
              <a:rPr lang="en-US" dirty="0"/>
              <a:t> changes to the system in order to redirect privileged sensitive, instructions over to the hypervisor to regain full control on the resources</a:t>
            </a:r>
          </a:p>
          <a:p>
            <a:pPr lvl="1"/>
            <a:r>
              <a:rPr lang="en-US" dirty="0"/>
              <a:t>Redirect rather than ‘trap’</a:t>
            </a:r>
          </a:p>
          <a:p>
            <a:r>
              <a:rPr lang="en-US" sz="2400" dirty="0"/>
              <a:t>Privileged instructions: storage protection setting, interrupt handling, timer control, I/O, special processor status-setting instructions - executed only in special privileged mode for OS but not user program</a:t>
            </a:r>
          </a:p>
          <a:p>
            <a:r>
              <a:rPr lang="en-US" dirty="0"/>
              <a:t>Guest OS modified to work with hypervisor. OS is aware that it is virtualized.</a:t>
            </a:r>
          </a:p>
          <a:p>
            <a:pPr lvl="1"/>
            <a:r>
              <a:rPr lang="en-US" dirty="0"/>
              <a:t>Apps that run on top of altered OS  - no change required</a:t>
            </a:r>
          </a:p>
          <a:p>
            <a:r>
              <a:rPr lang="en-US" dirty="0"/>
              <a:t>OS mods require work; but performance improves</a:t>
            </a:r>
          </a:p>
          <a:p>
            <a:pPr lvl="1"/>
            <a:r>
              <a:rPr lang="en-US" dirty="0"/>
              <a:t>See: Crosby &amp; Brown, ACM Queue 2006 (</a:t>
            </a:r>
            <a:r>
              <a:rPr lang="en-US" dirty="0">
                <a:hlinkClick r:id="rId2"/>
              </a:rPr>
              <a:t>https://dl.acm.org/doi/pdf/10.1145/1189276.1189289</a:t>
            </a:r>
            <a:r>
              <a:rPr lang="en-US" dirty="0"/>
              <a:t>)</a:t>
            </a:r>
          </a:p>
          <a:p>
            <a:r>
              <a:rPr lang="en-US" dirty="0"/>
              <a:t>Paravirtualization, generally able to run on any system</a:t>
            </a:r>
          </a:p>
        </p:txBody>
      </p:sp>
    </p:spTree>
    <p:extLst>
      <p:ext uri="{BB962C8B-B14F-4D97-AF65-F5344CB8AC3E}">
        <p14:creationId xmlns:p14="http://schemas.microsoft.com/office/powerpoint/2010/main" val="37556944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7F662-1E9E-AF4A-AA83-90F3459638B8}"/>
              </a:ext>
            </a:extLst>
          </p:cNvPr>
          <p:cNvSpPr>
            <a:spLocks noGrp="1"/>
          </p:cNvSpPr>
          <p:nvPr>
            <p:ph type="title"/>
          </p:nvPr>
        </p:nvSpPr>
        <p:spPr/>
        <p:txBody>
          <a:bodyPr/>
          <a:lstStyle/>
          <a:p>
            <a:r>
              <a:rPr lang="en-US" dirty="0"/>
              <a:t>A note on Operating System Rings</a:t>
            </a:r>
          </a:p>
        </p:txBody>
      </p:sp>
      <p:sp>
        <p:nvSpPr>
          <p:cNvPr id="3" name="Content Placeholder 2">
            <a:extLst>
              <a:ext uri="{FF2B5EF4-FFF2-40B4-BE49-F238E27FC236}">
                <a16:creationId xmlns:a16="http://schemas.microsoft.com/office/drawing/2014/main" id="{EF5410C1-8C89-DC4C-A57B-E754843CD36E}"/>
              </a:ext>
            </a:extLst>
          </p:cNvPr>
          <p:cNvSpPr>
            <a:spLocks noGrp="1"/>
          </p:cNvSpPr>
          <p:nvPr>
            <p:ph idx="1"/>
          </p:nvPr>
        </p:nvSpPr>
        <p:spPr>
          <a:xfrm>
            <a:off x="45908" y="991519"/>
            <a:ext cx="6630311" cy="5866481"/>
          </a:xfrm>
        </p:spPr>
        <p:txBody>
          <a:bodyPr/>
          <a:lstStyle/>
          <a:p>
            <a:r>
              <a:rPr lang="en-US" dirty="0"/>
              <a:t>On most OSs, </a:t>
            </a:r>
            <a:r>
              <a:rPr lang="en-US" b="1" dirty="0"/>
              <a:t>Ring 0</a:t>
            </a:r>
            <a:r>
              <a:rPr lang="en-US" dirty="0"/>
              <a:t> is level with most privileges and interacts most directly with physical hardware - CPU and memory. </a:t>
            </a:r>
          </a:p>
          <a:p>
            <a:r>
              <a:rPr lang="en-US" dirty="0"/>
              <a:t>Special gates between </a:t>
            </a:r>
            <a:r>
              <a:rPr lang="en-US" b="1" dirty="0"/>
              <a:t>rings</a:t>
            </a:r>
            <a:r>
              <a:rPr lang="en-US" dirty="0"/>
              <a:t> are provided to allow an outer </a:t>
            </a:r>
            <a:r>
              <a:rPr lang="en-US" b="1" dirty="0"/>
              <a:t>ring</a:t>
            </a:r>
            <a:r>
              <a:rPr lang="en-US" dirty="0"/>
              <a:t> to access an inner </a:t>
            </a:r>
            <a:r>
              <a:rPr lang="en-US" b="1" dirty="0"/>
              <a:t>ring's</a:t>
            </a:r>
            <a:r>
              <a:rPr lang="en-US" dirty="0"/>
              <a:t> resources in a predefined manner, as opposed to allowing arbitrary usage.</a:t>
            </a:r>
          </a:p>
          <a:p>
            <a:r>
              <a:rPr lang="en-US" b="1" dirty="0"/>
              <a:t>Linux x86 ring usage: </a:t>
            </a:r>
            <a:r>
              <a:rPr lang="en-US" dirty="0"/>
              <a:t>Linux kernel only uses 0 and 3:</a:t>
            </a:r>
          </a:p>
          <a:p>
            <a:pPr lvl="1"/>
            <a:r>
              <a:rPr lang="en-US" dirty="0"/>
              <a:t>0 for kernel – can do anything</a:t>
            </a:r>
          </a:p>
          <a:p>
            <a:pPr lvl="1"/>
            <a:r>
              <a:rPr lang="en-US" dirty="0"/>
              <a:t>3 for users</a:t>
            </a:r>
          </a:p>
          <a:p>
            <a:r>
              <a:rPr lang="en-US" dirty="0"/>
              <a:t>ring 3 cannot run several instructions and write to several registers</a:t>
            </a:r>
          </a:p>
          <a:p>
            <a:endParaRPr lang="en-US" dirty="0"/>
          </a:p>
        </p:txBody>
      </p:sp>
      <p:pic>
        <p:nvPicPr>
          <p:cNvPr id="4" name="Picture 2">
            <a:extLst>
              <a:ext uri="{FF2B5EF4-FFF2-40B4-BE49-F238E27FC236}">
                <a16:creationId xmlns:a16="http://schemas.microsoft.com/office/drawing/2014/main" id="{D8E9227C-85DA-9049-8304-3954477613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7919" y="1685581"/>
            <a:ext cx="2620174" cy="41809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B846B68-2FA1-BD44-B648-A1913AC6DBFD}"/>
              </a:ext>
            </a:extLst>
          </p:cNvPr>
          <p:cNvSpPr txBox="1"/>
          <p:nvPr/>
        </p:nvSpPr>
        <p:spPr>
          <a:xfrm>
            <a:off x="6477919" y="5841289"/>
            <a:ext cx="2364750"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ctr" defTabSz="914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000000"/>
                </a:solidFill>
                <a:effectLst/>
                <a:uFill>
                  <a:solidFill>
                    <a:srgbClr val="000000"/>
                  </a:solidFill>
                </a:uFill>
                <a:latin typeface="Comic Sans MS"/>
                <a:ea typeface="Comic Sans MS"/>
                <a:cs typeface="Comic Sans MS"/>
                <a:sym typeface="Comic Sans MS"/>
              </a:rPr>
              <a:t>Focus only on </a:t>
            </a:r>
          </a:p>
          <a:p>
            <a:pPr marL="40639" marR="40639" indent="0" algn="ctr" defTabSz="914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000000"/>
                </a:solidFill>
                <a:effectLst/>
                <a:uFill>
                  <a:solidFill>
                    <a:srgbClr val="000000"/>
                  </a:solidFill>
                </a:uFill>
                <a:latin typeface="Comic Sans MS"/>
                <a:ea typeface="Comic Sans MS"/>
                <a:cs typeface="Comic Sans MS"/>
                <a:sym typeface="Comic Sans MS"/>
              </a:rPr>
              <a:t>Ring3: user space</a:t>
            </a:r>
          </a:p>
          <a:p>
            <a:pPr marL="40639" marR="40639" indent="0" algn="ctr" defTabSz="914400" rtl="0" fontAlgn="auto" latinLnBrk="0" hangingPunct="0">
              <a:lnSpc>
                <a:spcPct val="100000"/>
              </a:lnSpc>
              <a:spcBef>
                <a:spcPts val="0"/>
              </a:spcBef>
              <a:spcAft>
                <a:spcPts val="0"/>
              </a:spcAft>
              <a:buClrTx/>
              <a:buSzTx/>
              <a:buFontTx/>
              <a:buNone/>
              <a:tabLst/>
            </a:pPr>
            <a:r>
              <a:rPr lang="en-US" sz="1200" dirty="0">
                <a:solidFill>
                  <a:srgbClr val="000000"/>
                </a:solidFill>
                <a:uFill>
                  <a:solidFill>
                    <a:srgbClr val="000000"/>
                  </a:solidFill>
                </a:uFill>
                <a:latin typeface="Comic Sans MS"/>
                <a:ea typeface="Comic Sans MS"/>
                <a:cs typeface="Comic Sans MS"/>
                <a:sym typeface="Comic Sans MS"/>
              </a:rPr>
              <a:t>Ring0: kernel, </a:t>
            </a:r>
          </a:p>
          <a:p>
            <a:pPr marL="40639" marR="40639" indent="0" algn="ctr" defTabSz="914400" rtl="0" fontAlgn="auto" latinLnBrk="0" hangingPunct="0">
              <a:lnSpc>
                <a:spcPct val="100000"/>
              </a:lnSpc>
              <a:spcBef>
                <a:spcPts val="0"/>
              </a:spcBef>
              <a:spcAft>
                <a:spcPts val="0"/>
              </a:spcAft>
              <a:buClrTx/>
              <a:buSzTx/>
              <a:buFontTx/>
              <a:buNone/>
              <a:tabLst/>
            </a:pPr>
            <a:r>
              <a:rPr lang="en-US" sz="1200" dirty="0">
                <a:solidFill>
                  <a:srgbClr val="000000"/>
                </a:solidFill>
                <a:uFill>
                  <a:solidFill>
                    <a:srgbClr val="000000"/>
                  </a:solidFill>
                </a:uFill>
                <a:latin typeface="Comic Sans MS"/>
                <a:ea typeface="Comic Sans MS"/>
                <a:cs typeface="Comic Sans MS"/>
                <a:sym typeface="Comic Sans MS"/>
              </a:rPr>
              <a:t>Can run privileged instructions</a:t>
            </a:r>
            <a:endParaRPr kumimoji="0" lang="en-US" sz="1200" b="0" i="0" u="none" strike="noStrike" cap="none" spc="0" normalizeH="0" baseline="0" dirty="0">
              <a:ln>
                <a:noFill/>
              </a:ln>
              <a:solidFill>
                <a:srgbClr val="000000"/>
              </a:solidFill>
              <a:effectLst/>
              <a:uFill>
                <a:solidFill>
                  <a:srgbClr val="000000"/>
                </a:solidFill>
              </a:uFill>
              <a:latin typeface="Comic Sans MS"/>
              <a:ea typeface="Comic Sans MS"/>
              <a:cs typeface="Comic Sans MS"/>
              <a:sym typeface="Comic Sans MS"/>
            </a:endParaRPr>
          </a:p>
        </p:txBody>
      </p:sp>
      <p:sp>
        <p:nvSpPr>
          <p:cNvPr id="6" name="TextBox 5">
            <a:extLst>
              <a:ext uri="{FF2B5EF4-FFF2-40B4-BE49-F238E27FC236}">
                <a16:creationId xmlns:a16="http://schemas.microsoft.com/office/drawing/2014/main" id="{6E74EB3E-56F9-2D40-BA07-F294951BBD7F}"/>
              </a:ext>
            </a:extLst>
          </p:cNvPr>
          <p:cNvSpPr txBox="1"/>
          <p:nvPr/>
        </p:nvSpPr>
        <p:spPr>
          <a:xfrm>
            <a:off x="6477919" y="4625156"/>
            <a:ext cx="668773"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ctr" defTabSz="9144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rgbClr val="000000"/>
                </a:solidFill>
                <a:effectLst/>
                <a:uFill>
                  <a:solidFill>
                    <a:srgbClr val="000000"/>
                  </a:solidFill>
                </a:uFill>
                <a:latin typeface="+mn-ea"/>
                <a:cs typeface="Comic Sans MS"/>
                <a:sym typeface="Comic Sans MS"/>
              </a:rPr>
              <a:t>Ring 0</a:t>
            </a:r>
          </a:p>
        </p:txBody>
      </p:sp>
    </p:spTree>
    <p:extLst>
      <p:ext uri="{BB962C8B-B14F-4D97-AF65-F5344CB8AC3E}">
        <p14:creationId xmlns:p14="http://schemas.microsoft.com/office/powerpoint/2010/main" val="16074991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 name="How Virtualization works?"/>
          <p:cNvSpPr txBox="1">
            <a:spLocks noGrp="1"/>
          </p:cNvSpPr>
          <p:nvPr>
            <p:ph type="title"/>
          </p:nvPr>
        </p:nvSpPr>
        <p:spPr>
          <a:prstGeom prst="rect">
            <a:avLst/>
          </a:prstGeom>
        </p:spPr>
        <p:txBody>
          <a:bodyPr/>
          <a:lstStyle/>
          <a:p>
            <a:r>
              <a:rPr dirty="0"/>
              <a:t>How </a:t>
            </a:r>
            <a:r>
              <a:rPr lang="en-US" dirty="0"/>
              <a:t>does </a:t>
            </a:r>
            <a:r>
              <a:rPr dirty="0"/>
              <a:t>Virtualization work?</a:t>
            </a:r>
          </a:p>
        </p:txBody>
      </p:sp>
      <p:sp>
        <p:nvSpPr>
          <p:cNvPr id="74" name="CPU supports kernel and user mode  (ring0, ring3)…"/>
          <p:cNvSpPr txBox="1">
            <a:spLocks noGrp="1"/>
          </p:cNvSpPr>
          <p:nvPr>
            <p:ph type="body" idx="1"/>
          </p:nvPr>
        </p:nvSpPr>
        <p:spPr>
          <a:xfrm>
            <a:off x="152400" y="1143000"/>
            <a:ext cx="8756650" cy="5715000"/>
          </a:xfrm>
          <a:prstGeom prst="rect">
            <a:avLst/>
          </a:prstGeom>
        </p:spPr>
        <p:txBody>
          <a:bodyPr/>
          <a:lstStyle/>
          <a:p>
            <a:pPr>
              <a:lnSpc>
                <a:spcPct val="90000"/>
              </a:lnSpc>
              <a:defRPr sz="2400"/>
            </a:pPr>
            <a:r>
              <a:rPr dirty="0"/>
              <a:t>CPU supports kernel and user mode  (ring0, ring3)</a:t>
            </a:r>
          </a:p>
          <a:p>
            <a:pPr lvl="1">
              <a:lnSpc>
                <a:spcPct val="90000"/>
              </a:lnSpc>
              <a:defRPr sz="2000"/>
            </a:pPr>
            <a:r>
              <a:rPr lang="en-US" dirty="0"/>
              <a:t>There is a s</a:t>
            </a:r>
            <a:r>
              <a:rPr dirty="0"/>
              <a:t>et of instructions that can only be executed in kernel mode</a:t>
            </a:r>
          </a:p>
          <a:p>
            <a:pPr marL="1145539" lvl="2" indent="-190500">
              <a:lnSpc>
                <a:spcPct val="90000"/>
              </a:lnSpc>
            </a:pPr>
            <a:r>
              <a:rPr sz="2000" dirty="0"/>
              <a:t>I/O, change MMU settings </a:t>
            </a:r>
            <a:r>
              <a:rPr sz="2000" dirty="0" err="1"/>
              <a:t>etc</a:t>
            </a:r>
            <a:r>
              <a:rPr sz="2000" dirty="0"/>
              <a:t> -- </a:t>
            </a:r>
            <a:r>
              <a:rPr sz="2000" i="1" dirty="0"/>
              <a:t>sensitive instructions</a:t>
            </a:r>
          </a:p>
          <a:p>
            <a:pPr lvl="1">
              <a:lnSpc>
                <a:spcPct val="90000"/>
              </a:lnSpc>
              <a:defRPr sz="2000"/>
            </a:pPr>
            <a:r>
              <a:rPr dirty="0"/>
              <a:t>Privileged instructions:  </a:t>
            </a:r>
            <a:r>
              <a:rPr b="1" dirty="0"/>
              <a:t>cause a trap when executed in </a:t>
            </a:r>
            <a:r>
              <a:rPr lang="en-US" b="1" dirty="0"/>
              <a:t>user</a:t>
            </a:r>
            <a:r>
              <a:rPr b="1" dirty="0"/>
              <a:t> mode </a:t>
            </a:r>
          </a:p>
          <a:p>
            <a:pPr>
              <a:lnSpc>
                <a:spcPct val="90000"/>
              </a:lnSpc>
              <a:defRPr sz="2400"/>
            </a:pPr>
            <a:r>
              <a:rPr dirty="0"/>
              <a:t>Result: type 1 virtualization </a:t>
            </a:r>
            <a:r>
              <a:rPr lang="en-US" dirty="0"/>
              <a:t>is </a:t>
            </a:r>
            <a:r>
              <a:rPr dirty="0"/>
              <a:t>feasible if sensitive instruction subset </a:t>
            </a:r>
            <a:r>
              <a:rPr lang="en-US" dirty="0"/>
              <a:t>are handled by the VMM, since it runs in Privileged mode</a:t>
            </a:r>
            <a:endParaRPr dirty="0"/>
          </a:p>
          <a:p>
            <a:pPr>
              <a:lnSpc>
                <a:spcPct val="90000"/>
              </a:lnSpc>
              <a:defRPr sz="2400"/>
            </a:pPr>
            <a:r>
              <a:rPr b="1" dirty="0"/>
              <a:t>Intel 386: ignores sensitive instructions in user mode</a:t>
            </a:r>
          </a:p>
          <a:p>
            <a:pPr>
              <a:lnSpc>
                <a:spcPct val="90000"/>
              </a:lnSpc>
              <a:defRPr sz="2400"/>
            </a:pPr>
            <a:r>
              <a:rPr dirty="0"/>
              <a:t>Recent</a:t>
            </a:r>
            <a:r>
              <a:rPr lang="en-US" dirty="0"/>
              <a:t> (well – ‘old’ now)</a:t>
            </a:r>
            <a:r>
              <a:rPr dirty="0"/>
              <a:t> Intel/AMD CPUs have hardware support</a:t>
            </a:r>
          </a:p>
          <a:p>
            <a:pPr lvl="1">
              <a:lnSpc>
                <a:spcPct val="90000"/>
              </a:lnSpc>
              <a:defRPr sz="2000"/>
            </a:pPr>
            <a:r>
              <a:rPr dirty="0"/>
              <a:t>Intel VT, AMD  SVM</a:t>
            </a:r>
            <a:endParaRPr lang="en-US" dirty="0"/>
          </a:p>
          <a:p>
            <a:pPr lvl="1">
              <a:lnSpc>
                <a:spcPct val="90000"/>
              </a:lnSpc>
              <a:defRPr sz="2000"/>
            </a:pPr>
            <a:r>
              <a:rPr lang="en-US" i="1" dirty="0"/>
              <a:t>Intel</a:t>
            </a:r>
            <a:r>
              <a:rPr lang="en-US" dirty="0"/>
              <a:t>® </a:t>
            </a:r>
            <a:r>
              <a:rPr lang="en-US" i="1" dirty="0"/>
              <a:t>Virtualization Technology</a:t>
            </a:r>
            <a:r>
              <a:rPr lang="en-US" dirty="0"/>
              <a:t> provides hardware assist to the virtualization software, reducing its size, cost, and complexity. </a:t>
            </a:r>
            <a:endParaRPr dirty="0"/>
          </a:p>
          <a:p>
            <a:pPr lvl="2">
              <a:lnSpc>
                <a:spcPct val="90000"/>
              </a:lnSpc>
              <a:defRPr sz="2000"/>
            </a:pPr>
            <a:r>
              <a:rPr dirty="0"/>
              <a:t>Create </a:t>
            </a:r>
            <a:r>
              <a:rPr lang="en-US" dirty="0"/>
              <a:t>an environment</a:t>
            </a:r>
            <a:r>
              <a:rPr dirty="0"/>
              <a:t> where a VM and guest </a:t>
            </a:r>
            <a:r>
              <a:rPr lang="en-US" dirty="0"/>
              <a:t>OS </a:t>
            </a:r>
            <a:r>
              <a:rPr dirty="0"/>
              <a:t>can run</a:t>
            </a:r>
          </a:p>
          <a:p>
            <a:pPr lvl="2">
              <a:lnSpc>
                <a:spcPct val="90000"/>
              </a:lnSpc>
              <a:defRPr sz="2000"/>
            </a:pPr>
            <a:r>
              <a:rPr dirty="0"/>
              <a:t>Hypervisor uses hardware bitmap to specify which inst</a:t>
            </a:r>
            <a:r>
              <a:rPr lang="en-US" dirty="0"/>
              <a:t>.</a:t>
            </a:r>
            <a:r>
              <a:rPr dirty="0"/>
              <a:t> should trap</a:t>
            </a:r>
          </a:p>
          <a:p>
            <a:pPr lvl="2">
              <a:lnSpc>
                <a:spcPct val="90000"/>
              </a:lnSpc>
              <a:defRPr sz="2000"/>
            </a:pPr>
            <a:r>
              <a:rPr lang="en-US" dirty="0"/>
              <a:t>So, </a:t>
            </a:r>
            <a:r>
              <a:rPr dirty="0"/>
              <a:t>Sensitive inst</a:t>
            </a:r>
            <a:r>
              <a:rPr lang="en-US" dirty="0"/>
              <a:t>ruction</a:t>
            </a:r>
            <a:r>
              <a:rPr dirty="0"/>
              <a:t> in guest traps to hypervisor </a:t>
            </a:r>
          </a:p>
        </p:txBody>
      </p:sp>
      <p:sp>
        <p:nvSpPr>
          <p:cNvPr id="75"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marL="0" marR="0" lvl="0" indent="0" algn="ctr" defTabSz="5842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rPr>
              <a:pPr marL="0" marR="0" lvl="0" indent="0" algn="ctr" defTabSz="584200" rtl="0" eaLnBrk="1" fontAlgn="auto" latinLnBrk="0" hangingPunct="0">
                <a:lnSpc>
                  <a:spcPct val="100000"/>
                </a:lnSpc>
                <a:spcBef>
                  <a:spcPts val="0"/>
                </a:spcBef>
                <a:spcAft>
                  <a:spcPts val="0"/>
                </a:spcAft>
                <a:buClrTx/>
                <a:buSzTx/>
                <a:buFontTx/>
                <a:buNone/>
                <a:tabLst/>
                <a:defRPr/>
              </a:pPr>
              <a:t>15</a:t>
            </a:fld>
            <a:endPar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endParaRPr>
          </a:p>
        </p:txBody>
      </p:sp>
    </p:spTree>
    <p:extLst>
      <p:ext uri="{BB962C8B-B14F-4D97-AF65-F5344CB8AC3E}">
        <p14:creationId xmlns:p14="http://schemas.microsoft.com/office/powerpoint/2010/main" val="1539621782"/>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A0092-1A69-A84D-B8E5-444B34AE01F4}"/>
              </a:ext>
            </a:extLst>
          </p:cNvPr>
          <p:cNvSpPr>
            <a:spLocks noGrp="1"/>
          </p:cNvSpPr>
          <p:nvPr>
            <p:ph type="title"/>
          </p:nvPr>
        </p:nvSpPr>
        <p:spPr/>
        <p:txBody>
          <a:bodyPr/>
          <a:lstStyle/>
          <a:p>
            <a:r>
              <a:rPr lang="en-US" dirty="0"/>
              <a:t>Hardware Assisted Virtualization</a:t>
            </a:r>
          </a:p>
        </p:txBody>
      </p:sp>
      <p:sp>
        <p:nvSpPr>
          <p:cNvPr id="3" name="Content Placeholder 2">
            <a:extLst>
              <a:ext uri="{FF2B5EF4-FFF2-40B4-BE49-F238E27FC236}">
                <a16:creationId xmlns:a16="http://schemas.microsoft.com/office/drawing/2014/main" id="{591570B0-ADE1-BC4A-8599-070729522013}"/>
              </a:ext>
            </a:extLst>
          </p:cNvPr>
          <p:cNvSpPr>
            <a:spLocks noGrp="1"/>
          </p:cNvSpPr>
          <p:nvPr>
            <p:ph idx="1"/>
          </p:nvPr>
        </p:nvSpPr>
        <p:spPr>
          <a:xfrm>
            <a:off x="0" y="1143000"/>
            <a:ext cx="8831766" cy="5450594"/>
          </a:xfrm>
        </p:spPr>
        <p:txBody>
          <a:bodyPr/>
          <a:lstStyle/>
          <a:p>
            <a:r>
              <a:rPr lang="en-US" i="1" dirty="0"/>
              <a:t>Hardware-assisted virtualization:</a:t>
            </a:r>
            <a:r>
              <a:rPr lang="en-US" dirty="0"/>
              <a:t> achieved by additional functionality included into CPU, </a:t>
            </a:r>
          </a:p>
          <a:p>
            <a:pPr lvl="1"/>
            <a:r>
              <a:rPr lang="en-US" dirty="0"/>
              <a:t>specifically an additional execution mode called guest mode, dedicated to virtual instances</a:t>
            </a:r>
          </a:p>
          <a:p>
            <a:pPr lvl="1"/>
            <a:r>
              <a:rPr lang="en-US" dirty="0"/>
              <a:t>Requires specific hardware</a:t>
            </a:r>
          </a:p>
          <a:p>
            <a:r>
              <a:rPr lang="en-US" sz="2400" dirty="0"/>
              <a:t>Intel &amp; AMD - realized full virtualization &amp; paravirtualization were major challenges and created new processor extensions: VT-x &amp; AMD-V</a:t>
            </a:r>
          </a:p>
          <a:p>
            <a:r>
              <a:rPr lang="en-US" sz="2400" dirty="0"/>
              <a:t>virtualization-aware hardware provides the support to build the VMM and also ensures isolation of a guest OS.</a:t>
            </a:r>
          </a:p>
          <a:p>
            <a:r>
              <a:rPr lang="en-US" dirty="0"/>
              <a:t>representative of this virtualization type is the </a:t>
            </a:r>
            <a:r>
              <a:rPr lang="en-US" i="1" dirty="0"/>
              <a:t>Kernel-based Virtual Machine</a:t>
            </a:r>
            <a:r>
              <a:rPr lang="en-US" dirty="0"/>
              <a:t> (</a:t>
            </a:r>
            <a:r>
              <a:rPr lang="en-US" i="1" dirty="0"/>
              <a:t>KVM</a:t>
            </a:r>
            <a:r>
              <a:rPr lang="en-US" dirty="0"/>
              <a:t>)</a:t>
            </a:r>
          </a:p>
        </p:txBody>
      </p:sp>
    </p:spTree>
    <p:extLst>
      <p:ext uri="{BB962C8B-B14F-4D97-AF65-F5344CB8AC3E}">
        <p14:creationId xmlns:p14="http://schemas.microsoft.com/office/powerpoint/2010/main" val="33054384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 name="Type 1 hypervisor"/>
          <p:cNvSpPr txBox="1">
            <a:spLocks noGrp="1"/>
          </p:cNvSpPr>
          <p:nvPr>
            <p:ph type="title"/>
          </p:nvPr>
        </p:nvSpPr>
        <p:spPr>
          <a:prstGeom prst="rect">
            <a:avLst/>
          </a:prstGeom>
        </p:spPr>
        <p:txBody>
          <a:bodyPr/>
          <a:lstStyle/>
          <a:p>
            <a:r>
              <a:t>Type 1 hypervisor</a:t>
            </a:r>
          </a:p>
        </p:txBody>
      </p:sp>
      <p:sp>
        <p:nvSpPr>
          <p:cNvPr id="82" name="Unmodified OS is running in user mode (or ring 1)…"/>
          <p:cNvSpPr txBox="1">
            <a:spLocks noGrp="1"/>
          </p:cNvSpPr>
          <p:nvPr>
            <p:ph type="body" idx="1"/>
          </p:nvPr>
        </p:nvSpPr>
        <p:spPr>
          <a:xfrm>
            <a:off x="234950" y="3657600"/>
            <a:ext cx="8674100" cy="3200400"/>
          </a:xfrm>
          <a:prstGeom prst="rect">
            <a:avLst/>
          </a:prstGeom>
        </p:spPr>
        <p:txBody>
          <a:bodyPr/>
          <a:lstStyle/>
          <a:p>
            <a:pPr>
              <a:lnSpc>
                <a:spcPct val="90000"/>
              </a:lnSpc>
            </a:pPr>
            <a:r>
              <a:rPr dirty="0"/>
              <a:t>Unmodified OS is running in user mode</a:t>
            </a:r>
          </a:p>
          <a:p>
            <a:pPr lvl="1">
              <a:lnSpc>
                <a:spcPct val="90000"/>
              </a:lnSpc>
            </a:pPr>
            <a:r>
              <a:rPr dirty="0"/>
              <a:t>But it thinks it is running in kernel mode (</a:t>
            </a:r>
            <a:r>
              <a:rPr i="1" dirty="0"/>
              <a:t>virtual kernel mode)</a:t>
            </a:r>
          </a:p>
          <a:p>
            <a:pPr lvl="1">
              <a:lnSpc>
                <a:spcPct val="90000"/>
              </a:lnSpc>
            </a:pPr>
            <a:r>
              <a:rPr dirty="0"/>
              <a:t>privileged instructions trap; sensitive </a:t>
            </a:r>
            <a:r>
              <a:rPr dirty="0" err="1"/>
              <a:t>inst</a:t>
            </a:r>
            <a:r>
              <a:rPr dirty="0"/>
              <a:t>-&gt; use VT to trap</a:t>
            </a:r>
          </a:p>
          <a:p>
            <a:pPr lvl="1">
              <a:lnSpc>
                <a:spcPct val="90000"/>
              </a:lnSpc>
            </a:pPr>
            <a:r>
              <a:rPr dirty="0"/>
              <a:t>Hypervisor is the “real kernel” </a:t>
            </a:r>
          </a:p>
          <a:p>
            <a:pPr lvl="2">
              <a:lnSpc>
                <a:spcPct val="90000"/>
              </a:lnSpc>
            </a:pPr>
            <a:r>
              <a:rPr dirty="0"/>
              <a:t>Upon trap, executes privileged operations</a:t>
            </a:r>
          </a:p>
          <a:p>
            <a:pPr lvl="2">
              <a:lnSpc>
                <a:spcPct val="90000"/>
              </a:lnSpc>
            </a:pPr>
            <a:r>
              <a:rPr dirty="0"/>
              <a:t>emulates what the hardware would do</a:t>
            </a:r>
          </a:p>
        </p:txBody>
      </p:sp>
      <p:pic>
        <p:nvPicPr>
          <p:cNvPr id="83" name="image.png" descr="image.png"/>
          <p:cNvPicPr>
            <a:picLocks/>
          </p:cNvPicPr>
          <p:nvPr/>
        </p:nvPicPr>
        <p:blipFill>
          <a:blip r:embed="rId2"/>
          <a:stretch>
            <a:fillRect/>
          </a:stretch>
        </p:blipFill>
        <p:spPr>
          <a:xfrm>
            <a:off x="1524000" y="914400"/>
            <a:ext cx="6024563" cy="2198688"/>
          </a:xfrm>
          <a:prstGeom prst="rect">
            <a:avLst/>
          </a:prstGeom>
          <a:ln w="12700">
            <a:miter lim="400000"/>
          </a:ln>
        </p:spPr>
      </p:pic>
      <p:sp>
        <p:nvSpPr>
          <p:cNvPr id="84"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marL="0" marR="0" lvl="0" indent="0" algn="ctr" defTabSz="5842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rPr>
              <a:pPr marL="0" marR="0" lvl="0" indent="0" algn="ctr" defTabSz="584200" rtl="0" eaLnBrk="1" fontAlgn="auto" latinLnBrk="0" hangingPunct="0">
                <a:lnSpc>
                  <a:spcPct val="100000"/>
                </a:lnSpc>
                <a:spcBef>
                  <a:spcPts val="0"/>
                </a:spcBef>
                <a:spcAft>
                  <a:spcPts val="0"/>
                </a:spcAft>
                <a:buClrTx/>
                <a:buSzTx/>
                <a:buFontTx/>
                <a:buNone/>
                <a:tabLst/>
                <a:defRPr/>
              </a:pPr>
              <a:t>17</a:t>
            </a:fld>
            <a:endPar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endParaRPr>
          </a:p>
        </p:txBody>
      </p:sp>
    </p:spTree>
    <p:extLst>
      <p:ext uri="{BB962C8B-B14F-4D97-AF65-F5344CB8AC3E}">
        <p14:creationId xmlns:p14="http://schemas.microsoft.com/office/powerpoint/2010/main" val="623232014"/>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9445A-0B9F-5F4F-AFA3-B29C34222721}"/>
              </a:ext>
            </a:extLst>
          </p:cNvPr>
          <p:cNvSpPr>
            <a:spLocks noGrp="1"/>
          </p:cNvSpPr>
          <p:nvPr>
            <p:ph type="title"/>
          </p:nvPr>
        </p:nvSpPr>
        <p:spPr/>
        <p:txBody>
          <a:bodyPr/>
          <a:lstStyle/>
          <a:p>
            <a:r>
              <a:rPr lang="en-US" dirty="0"/>
              <a:t>Binary Translation</a:t>
            </a:r>
          </a:p>
        </p:txBody>
      </p:sp>
      <p:sp>
        <p:nvSpPr>
          <p:cNvPr id="3" name="Content Placeholder 2">
            <a:extLst>
              <a:ext uri="{FF2B5EF4-FFF2-40B4-BE49-F238E27FC236}">
                <a16:creationId xmlns:a16="http://schemas.microsoft.com/office/drawing/2014/main" id="{EE52D747-28FE-CA47-8E1A-61D36093C8B9}"/>
              </a:ext>
            </a:extLst>
          </p:cNvPr>
          <p:cNvSpPr>
            <a:spLocks noGrp="1"/>
          </p:cNvSpPr>
          <p:nvPr>
            <p:ph idx="1"/>
          </p:nvPr>
        </p:nvSpPr>
        <p:spPr/>
        <p:txBody>
          <a:bodyPr/>
          <a:lstStyle/>
          <a:p>
            <a:r>
              <a:rPr lang="en-US" dirty="0"/>
              <a:t>What did we do </a:t>
            </a:r>
            <a:r>
              <a:rPr lang="en-US" i="1" dirty="0"/>
              <a:t>before </a:t>
            </a:r>
            <a:r>
              <a:rPr lang="en-US" dirty="0"/>
              <a:t>hardware assist was available? </a:t>
            </a:r>
          </a:p>
          <a:p>
            <a:r>
              <a:rPr lang="en-US" dirty="0"/>
              <a:t>VMware example</a:t>
            </a:r>
          </a:p>
          <a:p>
            <a:pPr lvl="1"/>
            <a:r>
              <a:rPr lang="en-US" dirty="0"/>
              <a:t>Upon loading program: scans code for basic blocks</a:t>
            </a:r>
          </a:p>
          <a:p>
            <a:pPr lvl="2"/>
            <a:r>
              <a:rPr lang="en-US" dirty="0"/>
              <a:t>(</a:t>
            </a:r>
            <a:r>
              <a:rPr lang="en-US" b="1" dirty="0"/>
              <a:t>basic block: </a:t>
            </a:r>
            <a:r>
              <a:rPr lang="en-US" dirty="0"/>
              <a:t>straight-line code sequence with no branches)</a:t>
            </a:r>
          </a:p>
          <a:p>
            <a:pPr lvl="1"/>
            <a:r>
              <a:rPr lang="en-US" dirty="0"/>
              <a:t>If sensitive instructions, replace by VMware procedure</a:t>
            </a:r>
          </a:p>
          <a:p>
            <a:pPr lvl="2"/>
            <a:r>
              <a:rPr lang="en-US" dirty="0"/>
              <a:t>Binary translation</a:t>
            </a:r>
          </a:p>
          <a:p>
            <a:pPr lvl="1"/>
            <a:r>
              <a:rPr lang="en-US" dirty="0"/>
              <a:t>Conversion can be expensive: Cache the modified basic block in VMware cache for subsequent reuse</a:t>
            </a:r>
          </a:p>
          <a:p>
            <a:pPr lvl="2"/>
            <a:r>
              <a:rPr lang="en-US" dirty="0"/>
              <a:t>Execute; load next basic block etc.</a:t>
            </a:r>
          </a:p>
          <a:p>
            <a:endParaRPr lang="en-US" dirty="0"/>
          </a:p>
        </p:txBody>
      </p:sp>
    </p:spTree>
    <p:extLst>
      <p:ext uri="{BB962C8B-B14F-4D97-AF65-F5344CB8AC3E}">
        <p14:creationId xmlns:p14="http://schemas.microsoft.com/office/powerpoint/2010/main" val="28708641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0" name="Type 2 Hypervisor"/>
          <p:cNvSpPr txBox="1">
            <a:spLocks noGrp="1"/>
          </p:cNvSpPr>
          <p:nvPr>
            <p:ph type="title"/>
          </p:nvPr>
        </p:nvSpPr>
        <p:spPr>
          <a:xfrm>
            <a:off x="0" y="0"/>
            <a:ext cx="9144000" cy="764333"/>
          </a:xfrm>
          <a:prstGeom prst="rect">
            <a:avLst/>
          </a:prstGeom>
        </p:spPr>
        <p:txBody>
          <a:bodyPr/>
          <a:lstStyle/>
          <a:p>
            <a:r>
              <a:rPr dirty="0"/>
              <a:t>Type 2 Hypervisor</a:t>
            </a:r>
          </a:p>
        </p:txBody>
      </p:sp>
      <p:sp>
        <p:nvSpPr>
          <p:cNvPr id="91" name="VMWare example…"/>
          <p:cNvSpPr txBox="1">
            <a:spLocks noGrp="1"/>
          </p:cNvSpPr>
          <p:nvPr>
            <p:ph type="body" idx="1"/>
          </p:nvPr>
        </p:nvSpPr>
        <p:spPr>
          <a:xfrm>
            <a:off x="234950" y="4248443"/>
            <a:ext cx="8674100" cy="2540615"/>
          </a:xfrm>
          <a:prstGeom prst="rect">
            <a:avLst/>
          </a:prstGeom>
        </p:spPr>
        <p:txBody>
          <a:bodyPr/>
          <a:lstStyle/>
          <a:p>
            <a:r>
              <a:rPr dirty="0"/>
              <a:t>Type 2 hypervisors </a:t>
            </a:r>
            <a:r>
              <a:rPr lang="en-US" dirty="0"/>
              <a:t>can </a:t>
            </a:r>
            <a:r>
              <a:rPr dirty="0"/>
              <a:t>work without </a:t>
            </a:r>
            <a:r>
              <a:rPr lang="en-US" dirty="0"/>
              <a:t>virtualization technology (</a:t>
            </a:r>
            <a:r>
              <a:rPr dirty="0"/>
              <a:t>VT</a:t>
            </a:r>
            <a:r>
              <a:rPr lang="en-US" dirty="0"/>
              <a:t>)</a:t>
            </a:r>
            <a:r>
              <a:rPr dirty="0"/>
              <a:t> support</a:t>
            </a:r>
          </a:p>
          <a:p>
            <a:pPr lvl="1"/>
            <a:r>
              <a:rPr lang="en-US" dirty="0"/>
              <a:t>Host OS responsible for executing privileged instructions and is running in kernel mode (with privileges)</a:t>
            </a:r>
            <a:endParaRPr dirty="0"/>
          </a:p>
        </p:txBody>
      </p:sp>
      <p:sp>
        <p:nvSpPr>
          <p:cNvPr id="92"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marL="0" marR="0" lvl="0" indent="0" algn="ctr" defTabSz="5842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rPr>
              <a:pPr marL="0" marR="0" lvl="0" indent="0" algn="ctr" defTabSz="584200" rtl="0" eaLnBrk="1" fontAlgn="auto" latinLnBrk="0" hangingPunct="0">
                <a:lnSpc>
                  <a:spcPct val="100000"/>
                </a:lnSpc>
                <a:spcBef>
                  <a:spcPts val="0"/>
                </a:spcBef>
                <a:spcAft>
                  <a:spcPts val="0"/>
                </a:spcAft>
                <a:buClrTx/>
                <a:buSzTx/>
                <a:buFontTx/>
                <a:buNone/>
                <a:tabLst/>
                <a:defRPr/>
              </a:pPr>
              <a:t>19</a:t>
            </a:fld>
            <a:endPar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endParaRPr>
          </a:p>
        </p:txBody>
      </p:sp>
      <p:grpSp>
        <p:nvGrpSpPr>
          <p:cNvPr id="2" name="Group 1">
            <a:extLst>
              <a:ext uri="{FF2B5EF4-FFF2-40B4-BE49-F238E27FC236}">
                <a16:creationId xmlns:a16="http://schemas.microsoft.com/office/drawing/2014/main" id="{EF8C1044-D961-8645-8CBA-23DD4DEC6115}"/>
              </a:ext>
            </a:extLst>
          </p:cNvPr>
          <p:cNvGrpSpPr/>
          <p:nvPr/>
        </p:nvGrpSpPr>
        <p:grpSpPr>
          <a:xfrm>
            <a:off x="413657" y="931853"/>
            <a:ext cx="7112558" cy="2398353"/>
            <a:chOff x="3184481" y="931854"/>
            <a:chExt cx="2900633" cy="1784045"/>
          </a:xfrm>
        </p:grpSpPr>
        <p:sp>
          <p:nvSpPr>
            <p:cNvPr id="9" name="Rectangle 8">
              <a:extLst>
                <a:ext uri="{FF2B5EF4-FFF2-40B4-BE49-F238E27FC236}">
                  <a16:creationId xmlns:a16="http://schemas.microsoft.com/office/drawing/2014/main" id="{016A8D55-2C6B-B44C-9A45-8DE446297339}"/>
                </a:ext>
              </a:extLst>
            </p:cNvPr>
            <p:cNvSpPr/>
            <p:nvPr/>
          </p:nvSpPr>
          <p:spPr bwMode="auto">
            <a:xfrm>
              <a:off x="4123147" y="2418272"/>
              <a:ext cx="1716065" cy="297627"/>
            </a:xfrm>
            <a:prstGeom prst="rect">
              <a:avLst/>
            </a:prstGeom>
            <a:solidFill>
              <a:srgbClr val="FFFF0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Verdana" pitchFamily="-111" charset="0"/>
                  <a:ea typeface="Arial" pitchFamily="-111" charset="-52"/>
                  <a:cs typeface="Arial" pitchFamily="-111" charset="-52"/>
                </a:rPr>
                <a:t>Hardware</a:t>
              </a:r>
              <a:endParaRPr kumimoji="0" lang="en-US" sz="1800" b="0" i="0" u="none" strike="noStrike" kern="1200" cap="none" spc="0" normalizeH="0" baseline="0" noProof="0" dirty="0">
                <a:ln>
                  <a:noFill/>
                </a:ln>
                <a:solidFill>
                  <a:srgbClr val="000000"/>
                </a:solidFill>
                <a:effectLst/>
                <a:uLnTx/>
                <a:uFillTx/>
                <a:latin typeface="Verdana" pitchFamily="-111" charset="0"/>
                <a:ea typeface="Arial" pitchFamily="-111" charset="-52"/>
                <a:cs typeface="Arial" pitchFamily="-111" charset="-52"/>
              </a:endParaRPr>
            </a:p>
          </p:txBody>
        </p:sp>
        <p:sp>
          <p:nvSpPr>
            <p:cNvPr id="10" name="Rectangle 9">
              <a:extLst>
                <a:ext uri="{FF2B5EF4-FFF2-40B4-BE49-F238E27FC236}">
                  <a16:creationId xmlns:a16="http://schemas.microsoft.com/office/drawing/2014/main" id="{9D259D60-E323-664F-AC5F-211D4D729A39}"/>
                </a:ext>
              </a:extLst>
            </p:cNvPr>
            <p:cNvSpPr/>
            <p:nvPr/>
          </p:nvSpPr>
          <p:spPr bwMode="auto">
            <a:xfrm>
              <a:off x="4123147" y="1969424"/>
              <a:ext cx="1716065" cy="369332"/>
            </a:xfrm>
            <a:prstGeom prst="rect">
              <a:avLst/>
            </a:prstGeom>
            <a:solidFill>
              <a:schemeClr val="bg1">
                <a:lumMod val="95000"/>
              </a:scheme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Verdana" pitchFamily="-111" charset="0"/>
                  <a:ea typeface="Arial" pitchFamily="-111" charset="-52"/>
                  <a:cs typeface="Arial" pitchFamily="-111" charset="-52"/>
                </a:rPr>
                <a:t>Host OS</a:t>
              </a:r>
            </a:p>
          </p:txBody>
        </p:sp>
        <p:sp>
          <p:nvSpPr>
            <p:cNvPr id="11" name="Rectangle 10">
              <a:extLst>
                <a:ext uri="{FF2B5EF4-FFF2-40B4-BE49-F238E27FC236}">
                  <a16:creationId xmlns:a16="http://schemas.microsoft.com/office/drawing/2014/main" id="{04D05AC7-8490-3D49-8CC0-4CDC302D952E}"/>
                </a:ext>
              </a:extLst>
            </p:cNvPr>
            <p:cNvSpPr/>
            <p:nvPr/>
          </p:nvSpPr>
          <p:spPr bwMode="auto">
            <a:xfrm>
              <a:off x="4123146" y="1354988"/>
              <a:ext cx="1716065" cy="369332"/>
            </a:xfrm>
            <a:prstGeom prst="rect">
              <a:avLst/>
            </a:prstGeom>
            <a:solidFill>
              <a:srgbClr val="92D050"/>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Verdana" pitchFamily="-111" charset="0"/>
                  <a:ea typeface="Arial" pitchFamily="-111" charset="-52"/>
                  <a:cs typeface="Arial" pitchFamily="-111" charset="-52"/>
                </a:rPr>
                <a:t>VMM</a:t>
              </a:r>
            </a:p>
          </p:txBody>
        </p:sp>
        <p:sp>
          <p:nvSpPr>
            <p:cNvPr id="12" name="Rectangle 11">
              <a:extLst>
                <a:ext uri="{FF2B5EF4-FFF2-40B4-BE49-F238E27FC236}">
                  <a16:creationId xmlns:a16="http://schemas.microsoft.com/office/drawing/2014/main" id="{3A1B9D14-DB0D-5242-B002-776951E0ADCA}"/>
                </a:ext>
              </a:extLst>
            </p:cNvPr>
            <p:cNvSpPr/>
            <p:nvPr/>
          </p:nvSpPr>
          <p:spPr bwMode="auto">
            <a:xfrm>
              <a:off x="4141177" y="931854"/>
              <a:ext cx="1698033" cy="369332"/>
            </a:xfrm>
            <a:prstGeom prst="rect">
              <a:avLst/>
            </a:prstGeom>
            <a:solidFill>
              <a:schemeClr val="bg1">
                <a:lumMod val="95000"/>
              </a:scheme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Verdana" pitchFamily="-111" charset="0"/>
                  <a:ea typeface="Arial" pitchFamily="-111" charset="-52"/>
                  <a:cs typeface="Arial" pitchFamily="-111" charset="-52"/>
                </a:rPr>
                <a:t>Applications</a:t>
              </a:r>
            </a:p>
          </p:txBody>
        </p:sp>
        <p:sp>
          <p:nvSpPr>
            <p:cNvPr id="13" name="TextBox 12">
              <a:extLst>
                <a:ext uri="{FF2B5EF4-FFF2-40B4-BE49-F238E27FC236}">
                  <a16:creationId xmlns:a16="http://schemas.microsoft.com/office/drawing/2014/main" id="{4B0CEE68-ADED-A742-A9E3-58A69E842B37}"/>
                </a:ext>
              </a:extLst>
            </p:cNvPr>
            <p:cNvSpPr txBox="1"/>
            <p:nvPr/>
          </p:nvSpPr>
          <p:spPr>
            <a:xfrm>
              <a:off x="3184481" y="1256362"/>
              <a:ext cx="905637" cy="2747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067AB4">
                      <a:lumMod val="75000"/>
                    </a:srgbClr>
                  </a:solidFill>
                  <a:effectLst/>
                  <a:uLnTx/>
                  <a:uFillTx/>
                  <a:latin typeface="Verdana"/>
                  <a:ea typeface="+mn-ea"/>
                  <a:cs typeface="+mn-cs"/>
                </a:rPr>
                <a:t>Hosted VM</a:t>
              </a:r>
            </a:p>
          </p:txBody>
        </p:sp>
        <p:cxnSp>
          <p:nvCxnSpPr>
            <p:cNvPr id="14" name="Straight Connector 13">
              <a:extLst>
                <a:ext uri="{FF2B5EF4-FFF2-40B4-BE49-F238E27FC236}">
                  <a16:creationId xmlns:a16="http://schemas.microsoft.com/office/drawing/2014/main" id="{F6AC3768-533D-2248-BA61-67E172227C85}"/>
                </a:ext>
              </a:extLst>
            </p:cNvPr>
            <p:cNvCxnSpPr>
              <a:cxnSpLocks/>
            </p:cNvCxnSpPr>
            <p:nvPr/>
          </p:nvCxnSpPr>
          <p:spPr bwMode="auto">
            <a:xfrm>
              <a:off x="3537857" y="1859671"/>
              <a:ext cx="2547257" cy="1"/>
            </a:xfrm>
            <a:prstGeom prst="line">
              <a:avLst/>
            </a:prstGeom>
            <a:noFill/>
            <a:ln w="38100" cap="flat" cmpd="sng" algn="ctr">
              <a:solidFill>
                <a:schemeClr val="accent1"/>
              </a:solidFill>
              <a:prstDash val="dash"/>
              <a:round/>
              <a:headEnd type="none" w="med" len="med"/>
              <a:tailEnd type="none" w="med" len="med"/>
            </a:ln>
            <a:effectLst/>
          </p:spPr>
        </p:cxnSp>
      </p:grpSp>
    </p:spTree>
    <p:extLst>
      <p:ext uri="{BB962C8B-B14F-4D97-AF65-F5344CB8AC3E}">
        <p14:creationId xmlns:p14="http://schemas.microsoft.com/office/powerpoint/2010/main" val="1657818738"/>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8" name="Paravirtualization"/>
          <p:cNvSpPr txBox="1">
            <a:spLocks noGrp="1"/>
          </p:cNvSpPr>
          <p:nvPr>
            <p:ph type="title"/>
          </p:nvPr>
        </p:nvSpPr>
        <p:spPr>
          <a:prstGeom prst="rect">
            <a:avLst/>
          </a:prstGeom>
        </p:spPr>
        <p:txBody>
          <a:bodyPr/>
          <a:lstStyle/>
          <a:p>
            <a:r>
              <a:rPr lang="en-US" dirty="0"/>
              <a:t>True VMs vs. </a:t>
            </a:r>
            <a:r>
              <a:rPr dirty="0"/>
              <a:t>Paravirtualization</a:t>
            </a:r>
          </a:p>
        </p:txBody>
      </p:sp>
      <p:sp>
        <p:nvSpPr>
          <p:cNvPr id="99" name="Both type 1 and 2 hypervisors work on unmodified OS…"/>
          <p:cNvSpPr txBox="1">
            <a:spLocks noGrp="1"/>
          </p:cNvSpPr>
          <p:nvPr>
            <p:ph type="body" idx="1"/>
          </p:nvPr>
        </p:nvSpPr>
        <p:spPr>
          <a:xfrm>
            <a:off x="234950" y="3810000"/>
            <a:ext cx="8674100" cy="3048000"/>
          </a:xfrm>
          <a:prstGeom prst="rect">
            <a:avLst/>
          </a:prstGeom>
        </p:spPr>
        <p:txBody>
          <a:bodyPr/>
          <a:lstStyle/>
          <a:p>
            <a:pPr>
              <a:lnSpc>
                <a:spcPct val="90000"/>
              </a:lnSpc>
            </a:pPr>
            <a:r>
              <a:t>Both type 1 and 2 hypervisors work on unmodified OS</a:t>
            </a:r>
          </a:p>
          <a:p>
            <a:pPr>
              <a:lnSpc>
                <a:spcPct val="90000"/>
              </a:lnSpc>
            </a:pPr>
            <a:r>
              <a:t>Paravirtualization: modify OS kernel to replace all sensitive instructions with hypercalls</a:t>
            </a:r>
          </a:p>
          <a:p>
            <a:pPr lvl="1">
              <a:lnSpc>
                <a:spcPct val="90000"/>
              </a:lnSpc>
            </a:pPr>
            <a:r>
              <a:t>OS behaves like a user program making system calls</a:t>
            </a:r>
          </a:p>
          <a:p>
            <a:pPr lvl="1">
              <a:lnSpc>
                <a:spcPct val="90000"/>
              </a:lnSpc>
            </a:pPr>
            <a:r>
              <a:t>Hypervisor executes the privileged operation invoked by hypercall.</a:t>
            </a:r>
          </a:p>
        </p:txBody>
      </p:sp>
      <p:sp>
        <p:nvSpPr>
          <p:cNvPr id="10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marL="0" marR="0" lvl="0" indent="0" algn="ctr" defTabSz="5842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rPr>
              <a:pPr marL="0" marR="0" lvl="0" indent="0" algn="ctr" defTabSz="584200" rtl="0" eaLnBrk="1" fontAlgn="auto" latinLnBrk="0" hangingPunct="0">
                <a:lnSpc>
                  <a:spcPct val="100000"/>
                </a:lnSpc>
                <a:spcBef>
                  <a:spcPts val="0"/>
                </a:spcBef>
                <a:spcAft>
                  <a:spcPts val="0"/>
                </a:spcAft>
                <a:buClrTx/>
                <a:buSzTx/>
                <a:buFontTx/>
                <a:buNone/>
                <a:tabLst/>
                <a:defRPr/>
              </a:pPr>
              <a:t>20</a:t>
            </a:fld>
            <a:endPar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endParaRPr>
          </a:p>
        </p:txBody>
      </p:sp>
      <p:grpSp>
        <p:nvGrpSpPr>
          <p:cNvPr id="3" name="Group 2">
            <a:extLst>
              <a:ext uri="{FF2B5EF4-FFF2-40B4-BE49-F238E27FC236}">
                <a16:creationId xmlns:a16="http://schemas.microsoft.com/office/drawing/2014/main" id="{EB96A4F1-5860-8845-9B99-6F0FB7B8E2B2}"/>
              </a:ext>
            </a:extLst>
          </p:cNvPr>
          <p:cNvGrpSpPr/>
          <p:nvPr/>
        </p:nvGrpSpPr>
        <p:grpSpPr>
          <a:xfrm>
            <a:off x="576941" y="914400"/>
            <a:ext cx="8129376" cy="2419350"/>
            <a:chOff x="1523999" y="914400"/>
            <a:chExt cx="8129376" cy="2419350"/>
          </a:xfrm>
        </p:grpSpPr>
        <p:pic>
          <p:nvPicPr>
            <p:cNvPr id="100" name="image.png" descr="image.png"/>
            <p:cNvPicPr>
              <a:picLocks/>
            </p:cNvPicPr>
            <p:nvPr/>
          </p:nvPicPr>
          <p:blipFill>
            <a:blip r:embed="rId2"/>
            <a:stretch>
              <a:fillRect/>
            </a:stretch>
          </p:blipFill>
          <p:spPr>
            <a:xfrm>
              <a:off x="1523999" y="914400"/>
              <a:ext cx="7032171" cy="2419350"/>
            </a:xfrm>
            <a:prstGeom prst="rect">
              <a:avLst/>
            </a:prstGeom>
            <a:ln w="12700">
              <a:miter lim="400000"/>
            </a:ln>
          </p:spPr>
        </p:pic>
        <p:sp>
          <p:nvSpPr>
            <p:cNvPr id="2" name="TextBox 1">
              <a:extLst>
                <a:ext uri="{FF2B5EF4-FFF2-40B4-BE49-F238E27FC236}">
                  <a16:creationId xmlns:a16="http://schemas.microsoft.com/office/drawing/2014/main" id="{EF1892AB-8837-9F48-86C5-641C27DFEA1F}"/>
                </a:ext>
              </a:extLst>
            </p:cNvPr>
            <p:cNvSpPr txBox="1"/>
            <p:nvPr/>
          </p:nvSpPr>
          <p:spPr>
            <a:xfrm>
              <a:off x="7437704" y="1677809"/>
              <a:ext cx="2215671" cy="379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ctr" defTabSz="9144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000000"/>
                  </a:solidFill>
                  <a:effectLst/>
                  <a:uFill>
                    <a:solidFill>
                      <a:srgbClr val="000000"/>
                    </a:solidFill>
                  </a:uFill>
                  <a:latin typeface="Comic Sans MS"/>
                  <a:ea typeface="Comic Sans MS"/>
                  <a:cs typeface="Comic Sans MS"/>
                  <a:sym typeface="Comic Sans MS"/>
                </a:rPr>
                <a:t>Redirect/</a:t>
              </a:r>
              <a:r>
                <a:rPr kumimoji="0" lang="en-US" b="0" i="0" u="none" strike="noStrike" cap="none" spc="0" normalizeH="0" baseline="0" dirty="0" err="1">
                  <a:ln>
                    <a:noFill/>
                  </a:ln>
                  <a:solidFill>
                    <a:srgbClr val="000000"/>
                  </a:solidFill>
                  <a:effectLst/>
                  <a:uFill>
                    <a:solidFill>
                      <a:srgbClr val="000000"/>
                    </a:solidFill>
                  </a:uFill>
                  <a:latin typeface="Comic Sans MS"/>
                  <a:ea typeface="Comic Sans MS"/>
                  <a:cs typeface="Comic Sans MS"/>
                  <a:sym typeface="Comic Sans MS"/>
                </a:rPr>
                <a:t>hypercall</a:t>
              </a:r>
              <a:endParaRPr kumimoji="0" lang="en-US" b="0" i="0" u="none" strike="noStrike" cap="none" spc="0" normalizeH="0" baseline="0" dirty="0">
                <a:ln>
                  <a:noFill/>
                </a:ln>
                <a:solidFill>
                  <a:srgbClr val="000000"/>
                </a:solidFill>
                <a:effectLst/>
                <a:uFill>
                  <a:solidFill>
                    <a:srgbClr val="000000"/>
                  </a:solidFill>
                </a:uFill>
                <a:latin typeface="Comic Sans MS"/>
                <a:ea typeface="Comic Sans MS"/>
                <a:cs typeface="Comic Sans MS"/>
                <a:sym typeface="Comic Sans MS"/>
              </a:endParaRPr>
            </a:p>
          </p:txBody>
        </p:sp>
      </p:grpSp>
      <p:cxnSp>
        <p:nvCxnSpPr>
          <p:cNvPr id="5" name="Straight Connector 4">
            <a:extLst>
              <a:ext uri="{FF2B5EF4-FFF2-40B4-BE49-F238E27FC236}">
                <a16:creationId xmlns:a16="http://schemas.microsoft.com/office/drawing/2014/main" id="{454458D1-B42D-DFEC-6BB7-7F9C58B10171}"/>
              </a:ext>
            </a:extLst>
          </p:cNvPr>
          <p:cNvCxnSpPr>
            <a:cxnSpLocks/>
          </p:cNvCxnSpPr>
          <p:nvPr/>
        </p:nvCxnSpPr>
        <p:spPr>
          <a:xfrm>
            <a:off x="234950" y="2291379"/>
            <a:ext cx="7374162" cy="0"/>
          </a:xfrm>
          <a:prstGeom prst="line">
            <a:avLst/>
          </a:prstGeom>
          <a:noFill/>
          <a:ln w="38100" cap="flat">
            <a:solidFill>
              <a:srgbClr val="000000"/>
            </a:solidFill>
            <a:prstDash val="solid"/>
            <a:round/>
          </a:ln>
          <a:effectLst/>
          <a:sp3d/>
        </p:spPr>
        <p:style>
          <a:lnRef idx="0">
            <a:scrgbClr r="0" g="0" b="0"/>
          </a:lnRef>
          <a:fillRef idx="0">
            <a:scrgbClr r="0" g="0" b="0"/>
          </a:fillRef>
          <a:effectRef idx="0">
            <a:scrgbClr r="0" g="0" b="0"/>
          </a:effectRef>
          <a:fontRef idx="none"/>
        </p:style>
      </p:cxnSp>
      <p:sp>
        <p:nvSpPr>
          <p:cNvPr id="7" name="TextBox 6">
            <a:extLst>
              <a:ext uri="{FF2B5EF4-FFF2-40B4-BE49-F238E27FC236}">
                <a16:creationId xmlns:a16="http://schemas.microsoft.com/office/drawing/2014/main" id="{76426816-CBA6-277B-268E-0A71834F8046}"/>
              </a:ext>
            </a:extLst>
          </p:cNvPr>
          <p:cNvSpPr txBox="1"/>
          <p:nvPr/>
        </p:nvSpPr>
        <p:spPr>
          <a:xfrm>
            <a:off x="269173" y="1622717"/>
            <a:ext cx="716863"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ctr" defTabSz="914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
                  <a:solidFill>
                    <a:srgbClr val="000000"/>
                  </a:solidFill>
                </a:uFill>
                <a:latin typeface="Comic Sans MS"/>
                <a:ea typeface="Comic Sans MS"/>
                <a:cs typeface="Comic Sans MS"/>
                <a:sym typeface="Comic Sans MS"/>
              </a:rPr>
              <a:t>User </a:t>
            </a:r>
          </a:p>
          <a:p>
            <a:pPr marL="40639" marR="40639" indent="0" algn="ctr" defTabSz="914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
                  <a:solidFill>
                    <a:srgbClr val="000000"/>
                  </a:solidFill>
                </a:uFill>
                <a:latin typeface="Comic Sans MS"/>
                <a:ea typeface="Comic Sans MS"/>
                <a:cs typeface="Comic Sans MS"/>
                <a:sym typeface="Comic Sans MS"/>
              </a:rPr>
              <a:t>space</a:t>
            </a:r>
          </a:p>
        </p:txBody>
      </p:sp>
    </p:spTree>
    <p:extLst>
      <p:ext uri="{BB962C8B-B14F-4D97-AF65-F5344CB8AC3E}">
        <p14:creationId xmlns:p14="http://schemas.microsoft.com/office/powerpoint/2010/main" val="550896093"/>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7" name="Virtual machine Interface"/>
          <p:cNvSpPr txBox="1">
            <a:spLocks noGrp="1"/>
          </p:cNvSpPr>
          <p:nvPr>
            <p:ph type="title"/>
          </p:nvPr>
        </p:nvSpPr>
        <p:spPr>
          <a:prstGeom prst="rect">
            <a:avLst/>
          </a:prstGeom>
        </p:spPr>
        <p:txBody>
          <a:bodyPr/>
          <a:lstStyle/>
          <a:p>
            <a:r>
              <a:rPr lang="en-US" dirty="0"/>
              <a:t>Standard </a:t>
            </a:r>
            <a:r>
              <a:rPr dirty="0"/>
              <a:t>Virtual machine Interface</a:t>
            </a:r>
          </a:p>
        </p:txBody>
      </p:sp>
      <p:sp>
        <p:nvSpPr>
          <p:cNvPr id="108" name="Standardize the VM interface so kernel can run on bare hardware or any hypervisor"/>
          <p:cNvSpPr txBox="1">
            <a:spLocks noGrp="1"/>
          </p:cNvSpPr>
          <p:nvPr>
            <p:ph type="body" sz="half" idx="1"/>
          </p:nvPr>
        </p:nvSpPr>
        <p:spPr>
          <a:xfrm>
            <a:off x="234950" y="4063700"/>
            <a:ext cx="8674100" cy="2514600"/>
          </a:xfrm>
          <a:prstGeom prst="rect">
            <a:avLst/>
          </a:prstGeom>
        </p:spPr>
        <p:txBody>
          <a:bodyPr/>
          <a:lstStyle/>
          <a:p>
            <a:r>
              <a:rPr dirty="0"/>
              <a:t>Standardize the VM interface </a:t>
            </a:r>
            <a:r>
              <a:rPr lang="en-US" dirty="0"/>
              <a:t>(VMIL) </a:t>
            </a:r>
            <a:r>
              <a:rPr dirty="0"/>
              <a:t>so kernel can run on bare hardware or any hypervisor</a:t>
            </a:r>
            <a:endParaRPr lang="en-US" dirty="0"/>
          </a:p>
          <a:p>
            <a:pPr lvl="1"/>
            <a:r>
              <a:rPr lang="en-US" dirty="0"/>
              <a:t>Can help a VM run on bare hardware (like a Type 1)</a:t>
            </a:r>
          </a:p>
          <a:p>
            <a:pPr lvl="1"/>
            <a:r>
              <a:rPr lang="en-US" dirty="0"/>
              <a:t>Allows for VMs using binary translation (like a Type 2) – as if the VMWare is the OS after translation is performed</a:t>
            </a:r>
          </a:p>
          <a:p>
            <a:pPr lvl="1"/>
            <a:r>
              <a:rPr lang="en-US" dirty="0"/>
              <a:t>Allows for VMs to run on Xen (Paravirtualization)</a:t>
            </a:r>
            <a:endParaRPr dirty="0"/>
          </a:p>
        </p:txBody>
      </p:sp>
      <p:pic>
        <p:nvPicPr>
          <p:cNvPr id="109" name="image.png" descr="image.png"/>
          <p:cNvPicPr>
            <a:picLocks/>
          </p:cNvPicPr>
          <p:nvPr/>
        </p:nvPicPr>
        <p:blipFill>
          <a:blip r:embed="rId2"/>
          <a:stretch>
            <a:fillRect/>
          </a:stretch>
        </p:blipFill>
        <p:spPr>
          <a:xfrm>
            <a:off x="1676400" y="914400"/>
            <a:ext cx="5967413" cy="2808288"/>
          </a:xfrm>
          <a:prstGeom prst="rect">
            <a:avLst/>
          </a:prstGeom>
          <a:ln w="12700">
            <a:miter lim="400000"/>
          </a:ln>
        </p:spPr>
      </p:pic>
      <p:sp>
        <p:nvSpPr>
          <p:cNvPr id="110"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marL="0" marR="0" lvl="0" indent="0" algn="ctr" defTabSz="5842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rPr>
              <a:pPr marL="0" marR="0" lvl="0" indent="0" algn="ctr" defTabSz="584200" rtl="0" eaLnBrk="1" fontAlgn="auto" latinLnBrk="0" hangingPunct="0">
                <a:lnSpc>
                  <a:spcPct val="100000"/>
                </a:lnSpc>
                <a:spcBef>
                  <a:spcPts val="0"/>
                </a:spcBef>
                <a:spcAft>
                  <a:spcPts val="0"/>
                </a:spcAft>
                <a:buClrTx/>
                <a:buSzTx/>
                <a:buFontTx/>
                <a:buNone/>
                <a:tabLst/>
                <a:defRPr/>
              </a:pPr>
              <a:t>21</a:t>
            </a:fld>
            <a:endPar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endParaRPr>
          </a:p>
        </p:txBody>
      </p:sp>
      <p:sp>
        <p:nvSpPr>
          <p:cNvPr id="2" name="TextBox 1">
            <a:extLst>
              <a:ext uri="{FF2B5EF4-FFF2-40B4-BE49-F238E27FC236}">
                <a16:creationId xmlns:a16="http://schemas.microsoft.com/office/drawing/2014/main" id="{3B255628-D028-194E-B024-B5621F7C5EF4}"/>
              </a:ext>
            </a:extLst>
          </p:cNvPr>
          <p:cNvSpPr txBox="1"/>
          <p:nvPr/>
        </p:nvSpPr>
        <p:spPr>
          <a:xfrm>
            <a:off x="2019494" y="3607504"/>
            <a:ext cx="1180905" cy="379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lvl="0" indent="0" algn="ctr" defTabSz="914400" rtl="0" eaLnBrk="1" fontAlgn="auto" latinLnBrk="0" hangingPunct="0">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
                  <a:solidFill>
                    <a:srgbClr val="000000"/>
                  </a:solidFill>
                </a:uFill>
                <a:latin typeface="Comic Sans MS"/>
                <a:ea typeface="Comic Sans MS"/>
                <a:cs typeface="Comic Sans MS"/>
                <a:sym typeface="Comic Sans MS"/>
              </a:rPr>
              <a:t>Type 1</a:t>
            </a:r>
          </a:p>
        </p:txBody>
      </p:sp>
    </p:spTree>
    <p:extLst>
      <p:ext uri="{BB962C8B-B14F-4D97-AF65-F5344CB8AC3E}">
        <p14:creationId xmlns:p14="http://schemas.microsoft.com/office/powerpoint/2010/main" val="1093877551"/>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6" name="Memory virtualization"/>
          <p:cNvSpPr txBox="1">
            <a:spLocks noGrp="1"/>
          </p:cNvSpPr>
          <p:nvPr>
            <p:ph type="title"/>
          </p:nvPr>
        </p:nvSpPr>
        <p:spPr>
          <a:prstGeom prst="rect">
            <a:avLst/>
          </a:prstGeom>
        </p:spPr>
        <p:txBody>
          <a:bodyPr/>
          <a:lstStyle/>
          <a:p>
            <a:r>
              <a:t>Memory virtualization</a:t>
            </a:r>
          </a:p>
        </p:txBody>
      </p:sp>
      <p:sp>
        <p:nvSpPr>
          <p:cNvPr id="117" name="OS manages page tables…"/>
          <p:cNvSpPr txBox="1">
            <a:spLocks noGrp="1"/>
          </p:cNvSpPr>
          <p:nvPr>
            <p:ph type="body" idx="1"/>
          </p:nvPr>
        </p:nvSpPr>
        <p:spPr>
          <a:xfrm>
            <a:off x="0" y="938599"/>
            <a:ext cx="9023350" cy="5423053"/>
          </a:xfrm>
          <a:prstGeom prst="rect">
            <a:avLst/>
          </a:prstGeom>
        </p:spPr>
        <p:txBody>
          <a:bodyPr/>
          <a:lstStyle/>
          <a:p>
            <a:r>
              <a:rPr dirty="0"/>
              <a:t>OS manages page tables</a:t>
            </a:r>
          </a:p>
          <a:p>
            <a:pPr lvl="1"/>
            <a:r>
              <a:rPr dirty="0"/>
              <a:t>Creat</a:t>
            </a:r>
            <a:r>
              <a:rPr lang="en-US" dirty="0"/>
              <a:t>ing</a:t>
            </a:r>
            <a:r>
              <a:rPr dirty="0"/>
              <a:t> </a:t>
            </a:r>
            <a:r>
              <a:rPr lang="en-US" dirty="0"/>
              <a:t>a </a:t>
            </a:r>
            <a:r>
              <a:rPr dirty="0"/>
              <a:t>new </a:t>
            </a:r>
            <a:r>
              <a:rPr dirty="0" err="1"/>
              <a:t>pagetable</a:t>
            </a:r>
            <a:r>
              <a:rPr dirty="0"/>
              <a:t> is sensitive</a:t>
            </a:r>
            <a:r>
              <a:rPr lang="en-US" dirty="0"/>
              <a:t> priv. operation</a:t>
            </a:r>
            <a:r>
              <a:rPr dirty="0"/>
              <a:t> -&gt; traps to hypervisor</a:t>
            </a:r>
          </a:p>
          <a:p>
            <a:r>
              <a:rPr lang="en-US" dirty="0"/>
              <a:t>H</a:t>
            </a:r>
            <a:r>
              <a:rPr dirty="0"/>
              <a:t>ypervisor manages multiple OS</a:t>
            </a:r>
            <a:r>
              <a:rPr lang="en-US" dirty="0"/>
              <a:t>s</a:t>
            </a:r>
            <a:endParaRPr dirty="0"/>
          </a:p>
          <a:p>
            <a:pPr lvl="1"/>
            <a:r>
              <a:rPr dirty="0"/>
              <a:t>Need a second shadow page table </a:t>
            </a:r>
            <a:r>
              <a:rPr lang="en-US" dirty="0"/>
              <a:t>– perform two level mapping:</a:t>
            </a:r>
            <a:endParaRPr dirty="0"/>
          </a:p>
          <a:p>
            <a:pPr lvl="1"/>
            <a:r>
              <a:rPr lang="en-US" dirty="0"/>
              <a:t>A typical </a:t>
            </a:r>
            <a:r>
              <a:rPr dirty="0"/>
              <a:t>OS</a:t>
            </a:r>
            <a:r>
              <a:rPr lang="en-US" dirty="0"/>
              <a:t> translates</a:t>
            </a:r>
            <a:r>
              <a:rPr dirty="0"/>
              <a:t> VM virtual pages to  VM’s physical pages</a:t>
            </a:r>
          </a:p>
          <a:p>
            <a:pPr lvl="1"/>
            <a:r>
              <a:rPr dirty="0"/>
              <a:t>Hypervisor maps to actual page in shadow page table</a:t>
            </a:r>
          </a:p>
          <a:p>
            <a:pPr lvl="1"/>
            <a:r>
              <a:rPr dirty="0"/>
              <a:t>Need to catch changes to page table </a:t>
            </a:r>
            <a:r>
              <a:rPr lang="en-US" dirty="0"/>
              <a:t>(but that is not a privileged instruction) </a:t>
            </a:r>
          </a:p>
          <a:p>
            <a:pPr lvl="1"/>
            <a:r>
              <a:rPr dirty="0"/>
              <a:t>Change P</a:t>
            </a:r>
            <a:r>
              <a:rPr lang="en-US" dirty="0"/>
              <a:t>age </a:t>
            </a:r>
            <a:r>
              <a:rPr dirty="0"/>
              <a:t>T</a:t>
            </a:r>
            <a:r>
              <a:rPr lang="en-US" dirty="0"/>
              <a:t>able</a:t>
            </a:r>
            <a:r>
              <a:rPr dirty="0"/>
              <a:t> to read-only - page fault</a:t>
            </a:r>
            <a:r>
              <a:rPr lang="en-US" dirty="0"/>
              <a:t> on update</a:t>
            </a:r>
            <a:endParaRPr dirty="0"/>
          </a:p>
          <a:p>
            <a:pPr lvl="2"/>
            <a:r>
              <a:rPr dirty="0" err="1"/>
              <a:t>Paravirtualized</a:t>
            </a:r>
            <a:r>
              <a:rPr lang="en-US" dirty="0"/>
              <a:t> system</a:t>
            </a:r>
            <a:r>
              <a:rPr dirty="0"/>
              <a:t> - use </a:t>
            </a:r>
            <a:r>
              <a:rPr dirty="0" err="1"/>
              <a:t>hypercalls</a:t>
            </a:r>
            <a:r>
              <a:rPr dirty="0"/>
              <a:t> to inform</a:t>
            </a:r>
            <a:r>
              <a:rPr lang="en-US" dirty="0"/>
              <a:t> changes to page table</a:t>
            </a:r>
            <a:endParaRPr dirty="0"/>
          </a:p>
        </p:txBody>
      </p:sp>
      <p:sp>
        <p:nvSpPr>
          <p:cNvPr id="118"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marL="0" marR="0" lvl="0" indent="0" algn="ctr" defTabSz="5842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rPr>
              <a:pPr marL="0" marR="0" lvl="0" indent="0" algn="ctr" defTabSz="584200" rtl="0" eaLnBrk="1" fontAlgn="auto" latinLnBrk="0" hangingPunct="0">
                <a:lnSpc>
                  <a:spcPct val="100000"/>
                </a:lnSpc>
                <a:spcBef>
                  <a:spcPts val="0"/>
                </a:spcBef>
                <a:spcAft>
                  <a:spcPts val="0"/>
                </a:spcAft>
                <a:buClrTx/>
                <a:buSzTx/>
                <a:buFontTx/>
                <a:buNone/>
                <a:tabLst/>
                <a:defRPr/>
              </a:pPr>
              <a:t>22</a:t>
            </a:fld>
            <a:endPar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endParaRPr>
          </a:p>
        </p:txBody>
      </p:sp>
    </p:spTree>
    <p:extLst>
      <p:ext uri="{BB962C8B-B14F-4D97-AF65-F5344CB8AC3E}">
        <p14:creationId xmlns:p14="http://schemas.microsoft.com/office/powerpoint/2010/main" val="505421773"/>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3" name="I/O Virtualization"/>
          <p:cNvSpPr txBox="1">
            <a:spLocks noGrp="1"/>
          </p:cNvSpPr>
          <p:nvPr>
            <p:ph type="title"/>
          </p:nvPr>
        </p:nvSpPr>
        <p:spPr>
          <a:prstGeom prst="rect">
            <a:avLst/>
          </a:prstGeom>
        </p:spPr>
        <p:txBody>
          <a:bodyPr/>
          <a:lstStyle/>
          <a:p>
            <a:r>
              <a:t>I/O Virtualization</a:t>
            </a:r>
          </a:p>
        </p:txBody>
      </p:sp>
      <p:sp>
        <p:nvSpPr>
          <p:cNvPr id="124" name="Each guest OS thinks it “owns” the disk…"/>
          <p:cNvSpPr txBox="1">
            <a:spLocks noGrp="1"/>
          </p:cNvSpPr>
          <p:nvPr>
            <p:ph type="body" idx="1"/>
          </p:nvPr>
        </p:nvSpPr>
        <p:spPr>
          <a:prstGeom prst="rect">
            <a:avLst/>
          </a:prstGeom>
        </p:spPr>
        <p:txBody>
          <a:bodyPr/>
          <a:lstStyle/>
          <a:p>
            <a:r>
              <a:rPr dirty="0"/>
              <a:t>Each guest OS thinks it “owns” the disk</a:t>
            </a:r>
          </a:p>
          <a:p>
            <a:r>
              <a:rPr dirty="0"/>
              <a:t>Hypervisor creates “virtual disks” </a:t>
            </a:r>
          </a:p>
          <a:p>
            <a:pPr lvl="1"/>
            <a:r>
              <a:rPr dirty="0"/>
              <a:t>Large empty files on the physical disk that appear as “disks” to the guest OS</a:t>
            </a:r>
          </a:p>
          <a:p>
            <a:pPr lvl="2"/>
            <a:r>
              <a:rPr dirty="0"/>
              <a:t>Hypervisor converts block # to file offset for I/O</a:t>
            </a:r>
          </a:p>
          <a:p>
            <a:pPr lvl="1"/>
            <a:r>
              <a:rPr lang="en-US" dirty="0"/>
              <a:t>But </a:t>
            </a:r>
            <a:r>
              <a:rPr dirty="0"/>
              <a:t>DMA need</a:t>
            </a:r>
            <a:r>
              <a:rPr lang="en-US" dirty="0"/>
              <a:t>s</a:t>
            </a:r>
            <a:r>
              <a:rPr dirty="0"/>
              <a:t> physical addresses</a:t>
            </a:r>
          </a:p>
          <a:p>
            <a:pPr lvl="2"/>
            <a:r>
              <a:rPr dirty="0"/>
              <a:t>Hypervisor needs to</a:t>
            </a:r>
            <a:r>
              <a:rPr lang="en-US" dirty="0"/>
              <a:t> do the</a:t>
            </a:r>
            <a:r>
              <a:rPr dirty="0"/>
              <a:t> translat</a:t>
            </a:r>
            <a:r>
              <a:rPr lang="en-US" dirty="0"/>
              <a:t>ion to physical addresses</a:t>
            </a:r>
            <a:endParaRPr dirty="0"/>
          </a:p>
        </p:txBody>
      </p:sp>
      <p:sp>
        <p:nvSpPr>
          <p:cNvPr id="126"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marL="0" marR="0" lvl="0" indent="0" algn="ctr" defTabSz="5842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rPr>
              <a:pPr marL="0" marR="0" lvl="0" indent="0" algn="ctr" defTabSz="584200" rtl="0" eaLnBrk="1" fontAlgn="auto" latinLnBrk="0" hangingPunct="0">
                <a:lnSpc>
                  <a:spcPct val="100000"/>
                </a:lnSpc>
                <a:spcBef>
                  <a:spcPts val="0"/>
                </a:spcBef>
                <a:spcAft>
                  <a:spcPts val="0"/>
                </a:spcAft>
                <a:buClrTx/>
                <a:buSzTx/>
                <a:buFontTx/>
                <a:buNone/>
                <a:tabLst/>
                <a:defRPr/>
              </a:pPr>
              <a:t>23</a:t>
            </a:fld>
            <a:endPar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endParaRPr>
          </a:p>
        </p:txBody>
      </p:sp>
    </p:spTree>
    <p:extLst>
      <p:ext uri="{BB962C8B-B14F-4D97-AF65-F5344CB8AC3E}">
        <p14:creationId xmlns:p14="http://schemas.microsoft.com/office/powerpoint/2010/main" val="3732895728"/>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47D63-1A7B-C64B-9C2F-7C604909BEA8}"/>
              </a:ext>
            </a:extLst>
          </p:cNvPr>
          <p:cNvSpPr>
            <a:spLocks noGrp="1"/>
          </p:cNvSpPr>
          <p:nvPr>
            <p:ph type="ctrTitle"/>
          </p:nvPr>
        </p:nvSpPr>
        <p:spPr/>
        <p:txBody>
          <a:bodyPr>
            <a:normAutofit fontScale="90000"/>
          </a:bodyPr>
          <a:lstStyle/>
          <a:p>
            <a:r>
              <a:rPr lang="en-US" dirty="0"/>
              <a:t>More Details on Virtualization Functionality</a:t>
            </a:r>
          </a:p>
        </p:txBody>
      </p:sp>
      <p:sp>
        <p:nvSpPr>
          <p:cNvPr id="3" name="Subtitle 2">
            <a:extLst>
              <a:ext uri="{FF2B5EF4-FFF2-40B4-BE49-F238E27FC236}">
                <a16:creationId xmlns:a16="http://schemas.microsoft.com/office/drawing/2014/main" id="{0F799925-D091-BC43-AF8B-56E395CD1BCF}"/>
              </a:ext>
            </a:extLst>
          </p:cNvPr>
          <p:cNvSpPr>
            <a:spLocks noGrp="1"/>
          </p:cNvSpPr>
          <p:nvPr>
            <p:ph type="subTitle" idx="1"/>
          </p:nvPr>
        </p:nvSpPr>
        <p:spPr>
          <a:xfrm>
            <a:off x="901874" y="3602038"/>
            <a:ext cx="7556326" cy="1655762"/>
          </a:xfrm>
        </p:spPr>
        <p:txBody>
          <a:bodyPr/>
          <a:lstStyle/>
          <a:p>
            <a:r>
              <a:rPr lang="en-US" dirty="0"/>
              <a:t>Slides from Prof. </a:t>
            </a:r>
            <a:r>
              <a:rPr lang="en-US" dirty="0" err="1"/>
              <a:t>Nael</a:t>
            </a:r>
            <a:r>
              <a:rPr lang="en-US" dirty="0"/>
              <a:t> Abu-</a:t>
            </a:r>
            <a:r>
              <a:rPr lang="en-US" dirty="0" err="1"/>
              <a:t>Ghazaleh</a:t>
            </a:r>
            <a:r>
              <a:rPr lang="en-US" dirty="0"/>
              <a:t> @UCR in his OS Course</a:t>
            </a:r>
          </a:p>
          <a:p>
            <a:endParaRPr lang="en-US" dirty="0"/>
          </a:p>
        </p:txBody>
      </p:sp>
    </p:spTree>
    <p:extLst>
      <p:ext uri="{BB962C8B-B14F-4D97-AF65-F5344CB8AC3E}">
        <p14:creationId xmlns:p14="http://schemas.microsoft.com/office/powerpoint/2010/main" val="32959574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NUTS and BOLTS</a:t>
            </a:r>
          </a:p>
        </p:txBody>
      </p:sp>
      <p:sp>
        <p:nvSpPr>
          <p:cNvPr id="3" name="Text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852B3E44-AABB-B944-A29C-BA603115717C}" type="slidenum">
              <a:rPr kumimoji="0" lang="en-US" sz="1400" b="0" i="0" u="none" strike="noStrike" kern="1200" cap="none" spc="0" normalizeH="0" baseline="0" noProof="0" smtClean="0">
                <a:ln>
                  <a:noFill/>
                </a:ln>
                <a:solidFill>
                  <a:srgbClr val="FFFFFF"/>
                </a:solidFill>
                <a:effectLst/>
                <a:uLnTx/>
                <a:uFillTx/>
                <a:latin typeface="Arial" charset="0"/>
                <a:ea typeface="Osaka" charset="-128"/>
              </a:rPr>
              <a:pPr marL="0" marR="0" lvl="0" indent="0" algn="r" defTabSz="914400" rtl="0" eaLnBrk="0" fontAlgn="base" latinLnBrk="0" hangingPunct="0">
                <a:lnSpc>
                  <a:spcPct val="100000"/>
                </a:lnSpc>
                <a:spcBef>
                  <a:spcPct val="0"/>
                </a:spcBef>
                <a:spcAft>
                  <a:spcPct val="0"/>
                </a:spcAft>
                <a:buClrTx/>
                <a:buSzTx/>
                <a:buFontTx/>
                <a:buNone/>
                <a:tabLst/>
                <a:defRPr/>
              </a:pPr>
              <a:t>25</a:t>
            </a:fld>
            <a:endParaRPr kumimoji="0" lang="en-US" sz="1400" b="0" i="0" u="none" strike="noStrike" kern="1200" cap="none" spc="0" normalizeH="0" baseline="0" noProof="0" dirty="0">
              <a:ln>
                <a:noFill/>
              </a:ln>
              <a:solidFill>
                <a:srgbClr val="FFFFFF"/>
              </a:solidFill>
              <a:effectLst/>
              <a:uLnTx/>
              <a:uFillTx/>
              <a:latin typeface="Arial" charset="0"/>
              <a:ea typeface="Osaka" charset="-128"/>
            </a:endParaRPr>
          </a:p>
        </p:txBody>
      </p:sp>
    </p:spTree>
    <p:extLst>
      <p:ext uri="{BB962C8B-B14F-4D97-AF65-F5344CB8AC3E}">
        <p14:creationId xmlns:p14="http://schemas.microsoft.com/office/powerpoint/2010/main" val="12506195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7772400" cy="1143000"/>
          </a:xfrm>
        </p:spPr>
        <p:txBody>
          <a:bodyPr/>
          <a:lstStyle/>
          <a:p>
            <a:r>
              <a:rPr lang="en-US" dirty="0"/>
              <a:t>Full virtualization</a:t>
            </a:r>
          </a:p>
        </p:txBody>
      </p:sp>
      <p:sp>
        <p:nvSpPr>
          <p:cNvPr id="3" name="Content Placeholder 2"/>
          <p:cNvSpPr>
            <a:spLocks noGrp="1"/>
          </p:cNvSpPr>
          <p:nvPr>
            <p:ph idx="1"/>
          </p:nvPr>
        </p:nvSpPr>
        <p:spPr>
          <a:xfrm>
            <a:off x="457200" y="1371600"/>
            <a:ext cx="7772400" cy="4114800"/>
          </a:xfrm>
        </p:spPr>
        <p:txBody>
          <a:bodyPr/>
          <a:lstStyle/>
          <a:p>
            <a:r>
              <a:rPr lang="en-US" sz="2400" dirty="0"/>
              <a:t>Idea: run guest operating systems unmodified</a:t>
            </a:r>
          </a:p>
          <a:p>
            <a:endParaRPr lang="en-US" sz="2400" dirty="0"/>
          </a:p>
          <a:p>
            <a:r>
              <a:rPr lang="en-US" sz="2400" dirty="0"/>
              <a:t>However, hypervisor is the real privileged software</a:t>
            </a:r>
          </a:p>
          <a:p>
            <a:endParaRPr lang="en-US" sz="2400" dirty="0"/>
          </a:p>
          <a:p>
            <a:r>
              <a:rPr lang="en-US" sz="2400" dirty="0"/>
              <a:t>When OS executes privileged instruction, trap to hypervisor who executes it for the OS</a:t>
            </a:r>
          </a:p>
          <a:p>
            <a:endParaRPr lang="en-US" sz="2400" dirty="0"/>
          </a:p>
          <a:p>
            <a:r>
              <a:rPr lang="en-US" sz="2400" dirty="0"/>
              <a:t>This can be very expensive</a:t>
            </a:r>
          </a:p>
          <a:p>
            <a:endParaRPr lang="en-US" sz="2400" dirty="0"/>
          </a:p>
          <a:p>
            <a:r>
              <a:rPr lang="en-US" sz="2400" dirty="0"/>
              <a:t>Also, subject to quirks of the architecture</a:t>
            </a:r>
          </a:p>
          <a:p>
            <a:pPr lvl="1"/>
            <a:r>
              <a:rPr lang="en-US" sz="2000" dirty="0"/>
              <a:t>Example, x86 fails silently if some privileged instructions execute without privilege</a:t>
            </a:r>
          </a:p>
          <a:p>
            <a:pPr lvl="1"/>
            <a:r>
              <a:rPr lang="en-US" sz="2000" dirty="0"/>
              <a:t>E.g., </a:t>
            </a:r>
            <a:r>
              <a:rPr lang="en-US" sz="2000" dirty="0" err="1"/>
              <a:t>popf</a:t>
            </a:r>
            <a:endParaRPr lang="en-US" sz="2000" dirty="0"/>
          </a:p>
        </p:txBody>
      </p:sp>
      <p:sp>
        <p:nvSpPr>
          <p:cNvPr id="4" name="Slide Number Placeholder 3"/>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9B7329EC-83B4-8A42-B6D8-8C023A66771E}" type="slidenum">
              <a:rPr kumimoji="0" lang="en-US" sz="1400" b="0" i="0" u="none" strike="noStrike" kern="1200" cap="none" spc="0" normalizeH="0" baseline="0" noProof="0" smtClean="0">
                <a:ln>
                  <a:noFill/>
                </a:ln>
                <a:solidFill>
                  <a:srgbClr val="FFFFFF"/>
                </a:solidFill>
                <a:effectLst/>
                <a:uLnTx/>
                <a:uFillTx/>
                <a:latin typeface="Arial" charset="0"/>
                <a:ea typeface="Osaka" charset="-128"/>
              </a:rPr>
              <a:pPr marL="0" marR="0" lvl="0" indent="0" algn="r" defTabSz="914400" rtl="0" eaLnBrk="0" fontAlgn="base" latinLnBrk="0" hangingPunct="0">
                <a:lnSpc>
                  <a:spcPct val="100000"/>
                </a:lnSpc>
                <a:spcBef>
                  <a:spcPct val="0"/>
                </a:spcBef>
                <a:spcAft>
                  <a:spcPct val="0"/>
                </a:spcAft>
                <a:buClrTx/>
                <a:buSzTx/>
                <a:buFontTx/>
                <a:buNone/>
                <a:tabLst/>
                <a:defRPr/>
              </a:pPr>
              <a:t>26</a:t>
            </a:fld>
            <a:endParaRPr kumimoji="0" lang="en-US" sz="1400" b="0" i="0" u="none" strike="noStrike" kern="1200" cap="none" spc="0" normalizeH="0" baseline="0" noProof="0" dirty="0">
              <a:ln>
                <a:noFill/>
              </a:ln>
              <a:solidFill>
                <a:srgbClr val="FFFFFF"/>
              </a:solidFill>
              <a:effectLst/>
              <a:uLnTx/>
              <a:uFillTx/>
              <a:latin typeface="Arial" charset="0"/>
              <a:ea typeface="Osaka" charset="-128"/>
            </a:endParaRPr>
          </a:p>
        </p:txBody>
      </p:sp>
    </p:spTree>
    <p:extLst>
      <p:ext uri="{BB962C8B-B14F-4D97-AF65-F5344CB8AC3E}">
        <p14:creationId xmlns:p14="http://schemas.microsoft.com/office/powerpoint/2010/main" val="2051967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1" y="263913"/>
            <a:ext cx="9144000" cy="1143000"/>
          </a:xfrm>
        </p:spPr>
        <p:txBody>
          <a:bodyPr/>
          <a:lstStyle/>
          <a:p>
            <a:pPr eaLnBrk="1" hangingPunct="1"/>
            <a:r>
              <a:rPr lang="en-US" dirty="0">
                <a:latin typeface="Arial" charset="0"/>
              </a:rPr>
              <a:t>Example of Hypervisor Intervention: Disable Interrupts </a:t>
            </a:r>
          </a:p>
        </p:txBody>
      </p:sp>
      <p:sp>
        <p:nvSpPr>
          <p:cNvPr id="33795" name="Rectangle 3"/>
          <p:cNvSpPr>
            <a:spLocks noGrp="1" noChangeArrowheads="1"/>
          </p:cNvSpPr>
          <p:nvPr>
            <p:ph type="body" idx="1"/>
          </p:nvPr>
        </p:nvSpPr>
        <p:spPr>
          <a:xfrm>
            <a:off x="312234" y="1583473"/>
            <a:ext cx="8608742" cy="4512527"/>
          </a:xfrm>
        </p:spPr>
        <p:txBody>
          <a:bodyPr/>
          <a:lstStyle/>
          <a:p>
            <a:pPr eaLnBrk="1" hangingPunct="1">
              <a:lnSpc>
                <a:spcPct val="90000"/>
              </a:lnSpc>
            </a:pPr>
            <a:r>
              <a:rPr lang="en-US" sz="2800" dirty="0"/>
              <a:t>Guest OS tries to disable interrupts </a:t>
            </a:r>
          </a:p>
          <a:p>
            <a:pPr lvl="1" eaLnBrk="1" hangingPunct="1">
              <a:lnSpc>
                <a:spcPct val="90000"/>
              </a:lnSpc>
            </a:pPr>
            <a:r>
              <a:rPr lang="en-US" sz="2400" dirty="0"/>
              <a:t>the instruction is trapped by the VMM which makes a note that interrupts are disabled for that VM</a:t>
            </a:r>
          </a:p>
          <a:p>
            <a:pPr eaLnBrk="1" hangingPunct="1">
              <a:lnSpc>
                <a:spcPct val="90000"/>
              </a:lnSpc>
            </a:pPr>
            <a:endParaRPr lang="en-US" sz="2800" dirty="0"/>
          </a:p>
          <a:p>
            <a:pPr eaLnBrk="1" hangingPunct="1">
              <a:lnSpc>
                <a:spcPct val="90000"/>
              </a:lnSpc>
            </a:pPr>
            <a:r>
              <a:rPr lang="en-US" sz="2800" dirty="0"/>
              <a:t>Interrupts arrive for that machine</a:t>
            </a:r>
          </a:p>
          <a:p>
            <a:pPr lvl="1" eaLnBrk="1" hangingPunct="1">
              <a:lnSpc>
                <a:spcPct val="90000"/>
              </a:lnSpc>
            </a:pPr>
            <a:r>
              <a:rPr lang="en-US" sz="2400" dirty="0"/>
              <a:t>Buffered at the VMM layer until the guest OS enables interrupts.</a:t>
            </a:r>
          </a:p>
          <a:p>
            <a:pPr eaLnBrk="1" hangingPunct="1">
              <a:lnSpc>
                <a:spcPct val="90000"/>
              </a:lnSpc>
            </a:pPr>
            <a:endParaRPr lang="en-US" sz="2800" dirty="0"/>
          </a:p>
          <a:p>
            <a:pPr eaLnBrk="1" hangingPunct="1">
              <a:lnSpc>
                <a:spcPct val="90000"/>
              </a:lnSpc>
            </a:pPr>
            <a:r>
              <a:rPr lang="en-US" sz="2800" dirty="0"/>
              <a:t>Other interrupts are directed to VMs that have not disabled them</a:t>
            </a:r>
          </a:p>
          <a:p>
            <a:pPr eaLnBrk="1" hangingPunct="1">
              <a:lnSpc>
                <a:spcPct val="90000"/>
              </a:lnSpc>
            </a:pPr>
            <a:r>
              <a:rPr lang="en-US" sz="2800" dirty="0"/>
              <a:t>This action can be expensive</a:t>
            </a:r>
          </a:p>
        </p:txBody>
      </p:sp>
    </p:spTree>
    <p:extLst>
      <p:ext uri="{BB962C8B-B14F-4D97-AF65-F5344CB8AC3E}">
        <p14:creationId xmlns:p14="http://schemas.microsoft.com/office/powerpoint/2010/main" val="34991749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Binary translation--making full virtualization practical</a:t>
            </a:r>
          </a:p>
        </p:txBody>
      </p:sp>
      <p:sp>
        <p:nvSpPr>
          <p:cNvPr id="3" name="Content Placeholder 2"/>
          <p:cNvSpPr>
            <a:spLocks noGrp="1"/>
          </p:cNvSpPr>
          <p:nvPr>
            <p:ph idx="1"/>
          </p:nvPr>
        </p:nvSpPr>
        <p:spPr/>
        <p:txBody>
          <a:bodyPr/>
          <a:lstStyle/>
          <a:p>
            <a:r>
              <a:rPr lang="en-US" sz="2800" dirty="0"/>
              <a:t>Use binary translation to modify OS to </a:t>
            </a:r>
            <a:r>
              <a:rPr lang="en-US" sz="2800" b="1" dirty="0"/>
              <a:t>rewrite silent failure instructions</a:t>
            </a:r>
          </a:p>
          <a:p>
            <a:r>
              <a:rPr lang="en-US" sz="2800" dirty="0"/>
              <a:t>More aggressive translation can be used</a:t>
            </a:r>
          </a:p>
          <a:p>
            <a:pPr lvl="1"/>
            <a:r>
              <a:rPr lang="en-US" sz="2400" dirty="0"/>
              <a:t>Translate OS mode instructions to equivalent VMM instructions</a:t>
            </a:r>
          </a:p>
          <a:p>
            <a:pPr lvl="2"/>
            <a:r>
              <a:rPr lang="en-US" sz="2000" dirty="0"/>
              <a:t>Some operations still expensive </a:t>
            </a:r>
          </a:p>
          <a:p>
            <a:pPr lvl="2"/>
            <a:r>
              <a:rPr lang="en-US" sz="2000" dirty="0"/>
              <a:t>Cache for future use</a:t>
            </a:r>
          </a:p>
          <a:p>
            <a:pPr lvl="2"/>
            <a:r>
              <a:rPr lang="en-US" sz="2000" dirty="0"/>
              <a:t>Used by </a:t>
            </a:r>
            <a:r>
              <a:rPr lang="en-US" sz="2000" dirty="0" err="1"/>
              <a:t>VMWare</a:t>
            </a:r>
            <a:r>
              <a:rPr lang="en-US" sz="2000" dirty="0"/>
              <a:t> </a:t>
            </a:r>
            <a:r>
              <a:rPr lang="en-US" sz="2000" dirty="0" err="1"/>
              <a:t>ESXi</a:t>
            </a:r>
            <a:r>
              <a:rPr lang="en-US" sz="2000" dirty="0"/>
              <a:t> and Microsoft Virtual Server</a:t>
            </a:r>
          </a:p>
          <a:p>
            <a:r>
              <a:rPr lang="en-US" sz="2400" dirty="0"/>
              <a:t>Performance on x86 typically ~80-95% of native</a:t>
            </a:r>
          </a:p>
          <a:p>
            <a:endParaRPr lang="en-US" sz="2800" dirty="0"/>
          </a:p>
        </p:txBody>
      </p:sp>
      <p:sp>
        <p:nvSpPr>
          <p:cNvPr id="4" name="Slide Number Placeholder 3"/>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9B7329EC-83B4-8A42-B6D8-8C023A66771E}" type="slidenum">
              <a:rPr kumimoji="0" lang="en-US" sz="1400" b="0" i="0" u="none" strike="noStrike" kern="1200" cap="none" spc="0" normalizeH="0" baseline="0" noProof="0" smtClean="0">
                <a:ln>
                  <a:noFill/>
                </a:ln>
                <a:solidFill>
                  <a:srgbClr val="FFFFFF"/>
                </a:solidFill>
                <a:effectLst/>
                <a:uLnTx/>
                <a:uFillTx/>
                <a:latin typeface="Arial" charset="0"/>
                <a:ea typeface="Osaka" charset="-128"/>
              </a:rPr>
              <a:pPr marL="0" marR="0" lvl="0" indent="0" algn="r" defTabSz="914400" rtl="0" eaLnBrk="0" fontAlgn="base" latinLnBrk="0" hangingPunct="0">
                <a:lnSpc>
                  <a:spcPct val="100000"/>
                </a:lnSpc>
                <a:spcBef>
                  <a:spcPct val="0"/>
                </a:spcBef>
                <a:spcAft>
                  <a:spcPct val="0"/>
                </a:spcAft>
                <a:buClrTx/>
                <a:buSzTx/>
                <a:buFontTx/>
                <a:buNone/>
                <a:tabLst/>
                <a:defRPr/>
              </a:pPr>
              <a:t>28</a:t>
            </a:fld>
            <a:endParaRPr kumimoji="0" lang="en-US" sz="1400" b="0" i="0" u="none" strike="noStrike" kern="1200" cap="none" spc="0" normalizeH="0" baseline="0" noProof="0" dirty="0">
              <a:ln>
                <a:noFill/>
              </a:ln>
              <a:solidFill>
                <a:srgbClr val="FFFFFF"/>
              </a:solidFill>
              <a:effectLst/>
              <a:uLnTx/>
              <a:uFillTx/>
              <a:latin typeface="Arial" charset="0"/>
              <a:ea typeface="Osaka" charset="-128"/>
            </a:endParaRPr>
          </a:p>
        </p:txBody>
      </p:sp>
    </p:spTree>
    <p:extLst>
      <p:ext uri="{BB962C8B-B14F-4D97-AF65-F5344CB8AC3E}">
        <p14:creationId xmlns:p14="http://schemas.microsoft.com/office/powerpoint/2010/main" val="1274247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a:t>Binary Translation Example</a:t>
            </a:r>
          </a:p>
        </p:txBody>
      </p:sp>
      <p:sp>
        <p:nvSpPr>
          <p:cNvPr id="7" name="Text Placeholder 6"/>
          <p:cNvSpPr>
            <a:spLocks noGrp="1"/>
          </p:cNvSpPr>
          <p:nvPr>
            <p:ph type="body" idx="1"/>
          </p:nvPr>
        </p:nvSpPr>
        <p:spPr>
          <a:xfrm>
            <a:off x="457200" y="1009665"/>
            <a:ext cx="4040188" cy="639762"/>
          </a:xfrm>
          <a:solidFill>
            <a:schemeClr val="accent4"/>
          </a:solidFill>
        </p:spPr>
        <p:txBody>
          <a:bodyPr/>
          <a:lstStyle/>
          <a:p>
            <a:pPr algn="ctr"/>
            <a:r>
              <a:rPr lang="en-US" sz="2800" dirty="0">
                <a:solidFill>
                  <a:schemeClr val="bg1"/>
                </a:solidFill>
              </a:rPr>
              <a:t>Guest OS Assembly</a:t>
            </a:r>
          </a:p>
        </p:txBody>
      </p:sp>
      <p:sp>
        <p:nvSpPr>
          <p:cNvPr id="9" name="Text Placeholder 8"/>
          <p:cNvSpPr>
            <a:spLocks noGrp="1"/>
          </p:cNvSpPr>
          <p:nvPr>
            <p:ph type="body" sz="quarter" idx="3"/>
          </p:nvPr>
        </p:nvSpPr>
        <p:spPr>
          <a:xfrm>
            <a:off x="4645025" y="1009665"/>
            <a:ext cx="4041775" cy="639762"/>
          </a:xfrm>
          <a:solidFill>
            <a:schemeClr val="accent2"/>
          </a:solidFill>
        </p:spPr>
        <p:txBody>
          <a:bodyPr>
            <a:normAutofit/>
          </a:bodyPr>
          <a:lstStyle/>
          <a:p>
            <a:pPr algn="ctr"/>
            <a:r>
              <a:rPr lang="en-US" sz="2800" dirty="0">
                <a:solidFill>
                  <a:schemeClr val="bg1"/>
                </a:solidFill>
              </a:rPr>
              <a:t>Translated Assembly</a:t>
            </a:r>
          </a:p>
        </p:txBody>
      </p:sp>
      <p:sp>
        <p:nvSpPr>
          <p:cNvPr id="10" name="Content Placeholder 9"/>
          <p:cNvSpPr>
            <a:spLocks noGrp="1"/>
          </p:cNvSpPr>
          <p:nvPr>
            <p:ph sz="quarter" idx="4"/>
          </p:nvPr>
        </p:nvSpPr>
        <p:spPr>
          <a:xfrm>
            <a:off x="4645025" y="1649426"/>
            <a:ext cx="4382969" cy="4915141"/>
          </a:xfrm>
        </p:spPr>
        <p:txBody>
          <a:bodyPr>
            <a:normAutofit/>
          </a:bodyPr>
          <a:lstStyle/>
          <a:p>
            <a:pPr marL="0" indent="0">
              <a:buNone/>
            </a:pPr>
            <a:r>
              <a:rPr lang="en-US" sz="2000" dirty="0" err="1">
                <a:solidFill>
                  <a:schemeClr val="tx2"/>
                </a:solidFill>
              </a:rPr>
              <a:t>do_atomic_operation</a:t>
            </a:r>
            <a:r>
              <a:rPr lang="en-US" sz="2000" dirty="0">
                <a:solidFill>
                  <a:schemeClr val="tx2"/>
                </a:solidFill>
              </a:rPr>
              <a:t>:</a:t>
            </a:r>
          </a:p>
          <a:p>
            <a:pPr marL="0" indent="0">
              <a:buNone/>
            </a:pPr>
            <a:r>
              <a:rPr lang="en-US" sz="2000" dirty="0">
                <a:solidFill>
                  <a:schemeClr val="bg2">
                    <a:lumMod val="20000"/>
                    <a:lumOff val="80000"/>
                  </a:schemeClr>
                </a:solidFill>
              </a:rPr>
              <a:t>      call [</a:t>
            </a:r>
            <a:r>
              <a:rPr lang="en-US" sz="2000" dirty="0" err="1">
                <a:solidFill>
                  <a:schemeClr val="bg2">
                    <a:lumMod val="20000"/>
                    <a:lumOff val="80000"/>
                  </a:schemeClr>
                </a:solidFill>
              </a:rPr>
              <a:t>vmm_disable_interrupts</a:t>
            </a:r>
            <a:r>
              <a:rPr lang="en-US" sz="2000" dirty="0">
                <a:solidFill>
                  <a:schemeClr val="bg2">
                    <a:lumMod val="20000"/>
                    <a:lumOff val="80000"/>
                  </a:schemeClr>
                </a:solidFill>
              </a:rPr>
              <a:t>]</a:t>
            </a:r>
          </a:p>
          <a:p>
            <a:pPr marL="0" indent="0">
              <a:buNone/>
            </a:pPr>
            <a:r>
              <a:rPr lang="en-US" sz="2000" dirty="0">
                <a:solidFill>
                  <a:schemeClr val="bg2">
                    <a:lumMod val="20000"/>
                    <a:lumOff val="80000"/>
                  </a:schemeClr>
                </a:solidFill>
              </a:rPr>
              <a:t>      </a:t>
            </a:r>
            <a:r>
              <a:rPr lang="en-US" sz="2000" dirty="0" err="1">
                <a:solidFill>
                  <a:schemeClr val="bg2">
                    <a:lumMod val="20000"/>
                    <a:lumOff val="80000"/>
                  </a:schemeClr>
                </a:solidFill>
              </a:rPr>
              <a:t>mov</a:t>
            </a:r>
            <a:r>
              <a:rPr lang="en-US" sz="2000" dirty="0">
                <a:solidFill>
                  <a:schemeClr val="bg2">
                    <a:lumMod val="20000"/>
                    <a:lumOff val="80000"/>
                  </a:schemeClr>
                </a:solidFill>
              </a:rPr>
              <a:t> </a:t>
            </a:r>
            <a:r>
              <a:rPr lang="en-US" sz="2000" dirty="0" err="1">
                <a:solidFill>
                  <a:schemeClr val="bg2">
                    <a:lumMod val="20000"/>
                    <a:lumOff val="80000"/>
                  </a:schemeClr>
                </a:solidFill>
              </a:rPr>
              <a:t>eax</a:t>
            </a:r>
            <a:r>
              <a:rPr lang="en-US" sz="2000" dirty="0">
                <a:solidFill>
                  <a:schemeClr val="bg2">
                    <a:lumMod val="20000"/>
                    <a:lumOff val="80000"/>
                  </a:schemeClr>
                </a:solidFill>
              </a:rPr>
              <a:t>, 1</a:t>
            </a:r>
          </a:p>
          <a:p>
            <a:pPr marL="0" indent="0">
              <a:buNone/>
            </a:pPr>
            <a:r>
              <a:rPr lang="en-US" sz="2000" dirty="0">
                <a:solidFill>
                  <a:schemeClr val="bg2">
                    <a:lumMod val="20000"/>
                    <a:lumOff val="80000"/>
                  </a:schemeClr>
                </a:solidFill>
              </a:rPr>
              <a:t>      </a:t>
            </a:r>
            <a:r>
              <a:rPr lang="en-US" sz="2000" dirty="0" err="1">
                <a:solidFill>
                  <a:schemeClr val="bg2">
                    <a:lumMod val="20000"/>
                    <a:lumOff val="80000"/>
                  </a:schemeClr>
                </a:solidFill>
              </a:rPr>
              <a:t>xchg</a:t>
            </a:r>
            <a:r>
              <a:rPr lang="en-US" sz="2000" dirty="0">
                <a:solidFill>
                  <a:schemeClr val="bg2">
                    <a:lumMod val="20000"/>
                    <a:lumOff val="80000"/>
                  </a:schemeClr>
                </a:solidFill>
              </a:rPr>
              <a:t> </a:t>
            </a:r>
            <a:r>
              <a:rPr lang="en-US" sz="2000" dirty="0" err="1">
                <a:solidFill>
                  <a:schemeClr val="bg2">
                    <a:lumMod val="20000"/>
                    <a:lumOff val="80000"/>
                  </a:schemeClr>
                </a:solidFill>
              </a:rPr>
              <a:t>eax</a:t>
            </a:r>
            <a:r>
              <a:rPr lang="en-US" sz="2000" dirty="0">
                <a:solidFill>
                  <a:schemeClr val="bg2">
                    <a:lumMod val="20000"/>
                    <a:lumOff val="80000"/>
                  </a:schemeClr>
                </a:solidFill>
              </a:rPr>
              <a:t>, [</a:t>
            </a:r>
            <a:r>
              <a:rPr lang="en-US" sz="2000" dirty="0" err="1">
                <a:solidFill>
                  <a:schemeClr val="bg2">
                    <a:lumMod val="20000"/>
                    <a:lumOff val="80000"/>
                  </a:schemeClr>
                </a:solidFill>
              </a:rPr>
              <a:t>lock_addr</a:t>
            </a:r>
            <a:r>
              <a:rPr lang="en-US" sz="2000" dirty="0">
                <a:solidFill>
                  <a:schemeClr val="bg2">
                    <a:lumMod val="20000"/>
                    <a:lumOff val="80000"/>
                  </a:schemeClr>
                </a:solidFill>
              </a:rPr>
              <a:t>]</a:t>
            </a:r>
          </a:p>
          <a:p>
            <a:pPr marL="0" indent="0">
              <a:buNone/>
            </a:pPr>
            <a:r>
              <a:rPr lang="en-US" sz="2000" dirty="0">
                <a:solidFill>
                  <a:schemeClr val="bg2">
                    <a:lumMod val="20000"/>
                    <a:lumOff val="80000"/>
                  </a:schemeClr>
                </a:solidFill>
              </a:rPr>
              <a:t>      test </a:t>
            </a:r>
            <a:r>
              <a:rPr lang="en-US" sz="2000" dirty="0" err="1">
                <a:solidFill>
                  <a:schemeClr val="bg2">
                    <a:lumMod val="20000"/>
                    <a:lumOff val="80000"/>
                  </a:schemeClr>
                </a:solidFill>
              </a:rPr>
              <a:t>eax</a:t>
            </a:r>
            <a:r>
              <a:rPr lang="en-US" sz="2000" dirty="0">
                <a:solidFill>
                  <a:schemeClr val="bg2">
                    <a:lumMod val="20000"/>
                    <a:lumOff val="80000"/>
                  </a:schemeClr>
                </a:solidFill>
              </a:rPr>
              <a:t>, </a:t>
            </a:r>
            <a:r>
              <a:rPr lang="en-US" sz="2000" dirty="0" err="1">
                <a:solidFill>
                  <a:schemeClr val="bg2">
                    <a:lumMod val="20000"/>
                    <a:lumOff val="80000"/>
                  </a:schemeClr>
                </a:solidFill>
              </a:rPr>
              <a:t>eax</a:t>
            </a:r>
            <a:endParaRPr lang="en-US" sz="2000" dirty="0">
              <a:solidFill>
                <a:schemeClr val="bg2">
                  <a:lumMod val="20000"/>
                  <a:lumOff val="80000"/>
                </a:schemeClr>
              </a:solidFill>
            </a:endParaRPr>
          </a:p>
          <a:p>
            <a:pPr marL="0" indent="0">
              <a:buNone/>
            </a:pPr>
            <a:r>
              <a:rPr lang="en-US" sz="2000" dirty="0">
                <a:solidFill>
                  <a:schemeClr val="bg2">
                    <a:lumMod val="20000"/>
                    <a:lumOff val="80000"/>
                  </a:schemeClr>
                </a:solidFill>
              </a:rPr>
              <a:t>      </a:t>
            </a:r>
            <a:r>
              <a:rPr lang="en-US" sz="2000" dirty="0" err="1">
                <a:solidFill>
                  <a:schemeClr val="bg2">
                    <a:lumMod val="20000"/>
                    <a:lumOff val="80000"/>
                  </a:schemeClr>
                </a:solidFill>
              </a:rPr>
              <a:t>jnz</a:t>
            </a:r>
            <a:r>
              <a:rPr lang="en-US" sz="2000" dirty="0">
                <a:solidFill>
                  <a:schemeClr val="bg2">
                    <a:lumMod val="20000"/>
                    <a:lumOff val="80000"/>
                  </a:schemeClr>
                </a:solidFill>
              </a:rPr>
              <a:t> spinlock</a:t>
            </a:r>
          </a:p>
          <a:p>
            <a:pPr marL="0" indent="0">
              <a:buNone/>
            </a:pPr>
            <a:r>
              <a:rPr lang="en-US" sz="2000" dirty="0">
                <a:solidFill>
                  <a:schemeClr val="bg2">
                    <a:lumMod val="20000"/>
                    <a:lumOff val="80000"/>
                  </a:schemeClr>
                </a:solidFill>
              </a:rPr>
              <a:t>      …</a:t>
            </a:r>
          </a:p>
          <a:p>
            <a:pPr marL="0" indent="0">
              <a:buNone/>
            </a:pPr>
            <a:r>
              <a:rPr lang="en-US" sz="2000" dirty="0">
                <a:solidFill>
                  <a:schemeClr val="bg2">
                    <a:lumMod val="20000"/>
                    <a:lumOff val="80000"/>
                  </a:schemeClr>
                </a:solidFill>
              </a:rPr>
              <a:t>      …</a:t>
            </a:r>
          </a:p>
          <a:p>
            <a:pPr marL="0" indent="0">
              <a:buNone/>
            </a:pPr>
            <a:r>
              <a:rPr lang="en-US" sz="2000" dirty="0">
                <a:solidFill>
                  <a:schemeClr val="bg2">
                    <a:lumMod val="20000"/>
                    <a:lumOff val="80000"/>
                  </a:schemeClr>
                </a:solidFill>
              </a:rPr>
              <a:t>      </a:t>
            </a:r>
            <a:r>
              <a:rPr lang="en-US" sz="2000" dirty="0" err="1">
                <a:solidFill>
                  <a:schemeClr val="bg2">
                    <a:lumMod val="20000"/>
                    <a:lumOff val="80000"/>
                  </a:schemeClr>
                </a:solidFill>
              </a:rPr>
              <a:t>mov</a:t>
            </a:r>
            <a:r>
              <a:rPr lang="en-US" sz="2000" dirty="0">
                <a:solidFill>
                  <a:schemeClr val="bg2">
                    <a:lumMod val="20000"/>
                    <a:lumOff val="80000"/>
                  </a:schemeClr>
                </a:solidFill>
              </a:rPr>
              <a:t> [</a:t>
            </a:r>
            <a:r>
              <a:rPr lang="en-US" sz="2000" dirty="0" err="1">
                <a:solidFill>
                  <a:schemeClr val="bg2">
                    <a:lumMod val="20000"/>
                    <a:lumOff val="80000"/>
                  </a:schemeClr>
                </a:solidFill>
              </a:rPr>
              <a:t>lock_addr</a:t>
            </a:r>
            <a:r>
              <a:rPr lang="en-US" sz="2000" dirty="0">
                <a:solidFill>
                  <a:schemeClr val="bg2">
                    <a:lumMod val="20000"/>
                    <a:lumOff val="80000"/>
                  </a:schemeClr>
                </a:solidFill>
              </a:rPr>
              <a:t>], 0</a:t>
            </a:r>
          </a:p>
          <a:p>
            <a:pPr marL="0" indent="0">
              <a:buNone/>
            </a:pPr>
            <a:r>
              <a:rPr lang="en-US" sz="2000" dirty="0">
                <a:solidFill>
                  <a:schemeClr val="bg2">
                    <a:lumMod val="20000"/>
                    <a:lumOff val="80000"/>
                  </a:schemeClr>
                </a:solidFill>
              </a:rPr>
              <a:t>      call [</a:t>
            </a:r>
            <a:r>
              <a:rPr lang="en-US" sz="2000" dirty="0" err="1">
                <a:solidFill>
                  <a:schemeClr val="bg2">
                    <a:lumMod val="20000"/>
                    <a:lumOff val="80000"/>
                  </a:schemeClr>
                </a:solidFill>
              </a:rPr>
              <a:t>vmm_enable_interrupts</a:t>
            </a:r>
            <a:r>
              <a:rPr lang="en-US" sz="2000" dirty="0">
                <a:solidFill>
                  <a:schemeClr val="bg2">
                    <a:lumMod val="20000"/>
                    <a:lumOff val="80000"/>
                  </a:schemeClr>
                </a:solidFill>
              </a:rPr>
              <a:t>]</a:t>
            </a:r>
          </a:p>
          <a:p>
            <a:pPr marL="0" indent="0">
              <a:buNone/>
            </a:pPr>
            <a:r>
              <a:rPr lang="en-US" sz="2000" dirty="0">
                <a:solidFill>
                  <a:schemeClr val="bg2">
                    <a:lumMod val="20000"/>
                    <a:lumOff val="80000"/>
                  </a:schemeClr>
                </a:solidFill>
              </a:rPr>
              <a:t>      ret</a:t>
            </a:r>
          </a:p>
          <a:p>
            <a:pPr marL="0" indent="0">
              <a:buNone/>
            </a:pPr>
            <a:endParaRPr lang="en-US" sz="2000" dirty="0"/>
          </a:p>
        </p:txBody>
      </p:sp>
      <p:sp>
        <p:nvSpPr>
          <p:cNvPr id="4" name="Slide Number Placeholder 3"/>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283B9EA5-CE9A-4950-A80C-5ADF06B45BB8}" type="slidenum">
              <a:rPr kumimoji="0" lang="en-US" sz="1400" b="0" i="0" u="none" strike="noStrike" kern="1200" cap="none" spc="0" normalizeH="0" baseline="0" noProof="0" smtClean="0">
                <a:ln>
                  <a:noFill/>
                </a:ln>
                <a:solidFill>
                  <a:srgbClr val="FFFFFF"/>
                </a:solidFill>
                <a:effectLst/>
                <a:uLnTx/>
                <a:uFillTx/>
                <a:latin typeface="Arial" charset="0"/>
                <a:ea typeface="Osaka" charset="-128"/>
              </a:rPr>
              <a:pPr marL="0" marR="0" lvl="0" indent="0" algn="r" defTabSz="914400" rtl="0" eaLnBrk="0" fontAlgn="base" latinLnBrk="0" hangingPunct="0">
                <a:lnSpc>
                  <a:spcPct val="100000"/>
                </a:lnSpc>
                <a:spcBef>
                  <a:spcPct val="0"/>
                </a:spcBef>
                <a:spcAft>
                  <a:spcPct val="0"/>
                </a:spcAft>
                <a:buClrTx/>
                <a:buSzTx/>
                <a:buFontTx/>
                <a:buNone/>
                <a:tabLst/>
                <a:defRPr/>
              </a:pPr>
              <a:t>29</a:t>
            </a:fld>
            <a:endParaRPr kumimoji="0" lang="en-US" sz="1400" b="0" i="0" u="none" strike="noStrike" kern="1200" cap="none" spc="0" normalizeH="0" baseline="0" noProof="0" dirty="0">
              <a:ln>
                <a:noFill/>
              </a:ln>
              <a:solidFill>
                <a:srgbClr val="FFFFFF"/>
              </a:solidFill>
              <a:effectLst/>
              <a:uLnTx/>
              <a:uFillTx/>
              <a:latin typeface="Arial" charset="0"/>
              <a:ea typeface="Osaka" charset="-128"/>
            </a:endParaRPr>
          </a:p>
        </p:txBody>
      </p:sp>
      <p:sp>
        <p:nvSpPr>
          <p:cNvPr id="11" name="Content Placeholder 2"/>
          <p:cNvSpPr>
            <a:spLocks noGrp="1"/>
          </p:cNvSpPr>
          <p:nvPr>
            <p:ph sz="half" idx="2"/>
          </p:nvPr>
        </p:nvSpPr>
        <p:spPr>
          <a:xfrm>
            <a:off x="457200" y="1649427"/>
            <a:ext cx="4040188" cy="4539824"/>
          </a:xfrm>
        </p:spPr>
        <p:txBody>
          <a:bodyPr>
            <a:noAutofit/>
          </a:bodyPr>
          <a:lstStyle/>
          <a:p>
            <a:pPr marL="0" indent="0">
              <a:buNone/>
            </a:pPr>
            <a:r>
              <a:rPr lang="en-US" sz="2000" dirty="0" err="1">
                <a:solidFill>
                  <a:schemeClr val="tx2"/>
                </a:solidFill>
              </a:rPr>
              <a:t>do_atomic_operation</a:t>
            </a:r>
            <a:r>
              <a:rPr lang="en-US" sz="2000" dirty="0">
                <a:solidFill>
                  <a:schemeClr val="tx2"/>
                </a:solidFill>
              </a:rPr>
              <a:t>:</a:t>
            </a:r>
          </a:p>
          <a:p>
            <a:pPr marL="0" indent="0">
              <a:buNone/>
            </a:pPr>
            <a:r>
              <a:rPr lang="en-US" sz="2000" dirty="0">
                <a:solidFill>
                  <a:schemeClr val="bg1">
                    <a:lumMod val="50000"/>
                  </a:schemeClr>
                </a:solidFill>
              </a:rPr>
              <a:t>     </a:t>
            </a:r>
            <a:r>
              <a:rPr lang="en-US" sz="2000" dirty="0">
                <a:solidFill>
                  <a:srgbClr val="D1E0F0"/>
                </a:solidFill>
              </a:rPr>
              <a:t> cli</a:t>
            </a:r>
          </a:p>
          <a:p>
            <a:pPr marL="0" indent="0">
              <a:buNone/>
            </a:pPr>
            <a:r>
              <a:rPr lang="en-US" sz="2000" dirty="0">
                <a:solidFill>
                  <a:srgbClr val="D1E0F0"/>
                </a:solidFill>
              </a:rPr>
              <a:t>      </a:t>
            </a:r>
            <a:r>
              <a:rPr lang="en-US" sz="2000" dirty="0" err="1">
                <a:solidFill>
                  <a:srgbClr val="D1E0F0"/>
                </a:solidFill>
              </a:rPr>
              <a:t>mov</a:t>
            </a:r>
            <a:r>
              <a:rPr lang="en-US" sz="2000" dirty="0">
                <a:solidFill>
                  <a:srgbClr val="D1E0F0"/>
                </a:solidFill>
              </a:rPr>
              <a:t> </a:t>
            </a:r>
            <a:r>
              <a:rPr lang="en-US" sz="2000" dirty="0" err="1">
                <a:solidFill>
                  <a:srgbClr val="D1E0F0"/>
                </a:solidFill>
              </a:rPr>
              <a:t>eax</a:t>
            </a:r>
            <a:r>
              <a:rPr lang="en-US" sz="2000" dirty="0">
                <a:solidFill>
                  <a:srgbClr val="D1E0F0"/>
                </a:solidFill>
              </a:rPr>
              <a:t>, 1</a:t>
            </a:r>
          </a:p>
          <a:p>
            <a:pPr marL="0" indent="0">
              <a:buNone/>
            </a:pPr>
            <a:r>
              <a:rPr lang="en-US" sz="2000" dirty="0">
                <a:solidFill>
                  <a:srgbClr val="D1E0F0"/>
                </a:solidFill>
              </a:rPr>
              <a:t>      </a:t>
            </a:r>
            <a:r>
              <a:rPr lang="en-US" sz="2000" dirty="0" err="1">
                <a:solidFill>
                  <a:srgbClr val="D1E0F0"/>
                </a:solidFill>
              </a:rPr>
              <a:t>xchg</a:t>
            </a:r>
            <a:r>
              <a:rPr lang="en-US" sz="2000" dirty="0">
                <a:solidFill>
                  <a:srgbClr val="D1E0F0"/>
                </a:solidFill>
              </a:rPr>
              <a:t> </a:t>
            </a:r>
            <a:r>
              <a:rPr lang="en-US" sz="2000" dirty="0" err="1">
                <a:solidFill>
                  <a:srgbClr val="D1E0F0"/>
                </a:solidFill>
              </a:rPr>
              <a:t>eax</a:t>
            </a:r>
            <a:r>
              <a:rPr lang="en-US" sz="2000" dirty="0">
                <a:solidFill>
                  <a:srgbClr val="D1E0F0"/>
                </a:solidFill>
              </a:rPr>
              <a:t>, [</a:t>
            </a:r>
            <a:r>
              <a:rPr lang="en-US" sz="2000" dirty="0" err="1">
                <a:solidFill>
                  <a:srgbClr val="D1E0F0"/>
                </a:solidFill>
              </a:rPr>
              <a:t>lock_addr</a:t>
            </a:r>
            <a:r>
              <a:rPr lang="en-US" sz="2000" dirty="0">
                <a:solidFill>
                  <a:srgbClr val="D1E0F0"/>
                </a:solidFill>
              </a:rPr>
              <a:t>]</a:t>
            </a:r>
          </a:p>
          <a:p>
            <a:pPr marL="0" indent="0">
              <a:buNone/>
            </a:pPr>
            <a:r>
              <a:rPr lang="en-US" sz="2000" dirty="0">
                <a:solidFill>
                  <a:srgbClr val="D1E0F0"/>
                </a:solidFill>
              </a:rPr>
              <a:t>      test </a:t>
            </a:r>
            <a:r>
              <a:rPr lang="en-US" sz="2000" dirty="0" err="1">
                <a:solidFill>
                  <a:srgbClr val="D1E0F0"/>
                </a:solidFill>
              </a:rPr>
              <a:t>eax</a:t>
            </a:r>
            <a:r>
              <a:rPr lang="en-US" sz="2000" dirty="0">
                <a:solidFill>
                  <a:srgbClr val="D1E0F0"/>
                </a:solidFill>
              </a:rPr>
              <a:t>, </a:t>
            </a:r>
            <a:r>
              <a:rPr lang="en-US" sz="2000" dirty="0" err="1">
                <a:solidFill>
                  <a:srgbClr val="D1E0F0"/>
                </a:solidFill>
              </a:rPr>
              <a:t>eax</a:t>
            </a:r>
            <a:endParaRPr lang="en-US" sz="2000" dirty="0">
              <a:solidFill>
                <a:srgbClr val="D1E0F0"/>
              </a:solidFill>
            </a:endParaRPr>
          </a:p>
          <a:p>
            <a:pPr marL="0" indent="0">
              <a:buNone/>
            </a:pPr>
            <a:r>
              <a:rPr lang="en-US" sz="2000" dirty="0">
                <a:solidFill>
                  <a:srgbClr val="D1E0F0"/>
                </a:solidFill>
              </a:rPr>
              <a:t>      </a:t>
            </a:r>
            <a:r>
              <a:rPr lang="en-US" sz="2000" dirty="0" err="1">
                <a:solidFill>
                  <a:srgbClr val="D1E0F0"/>
                </a:solidFill>
              </a:rPr>
              <a:t>jnz</a:t>
            </a:r>
            <a:r>
              <a:rPr lang="en-US" sz="2000" dirty="0">
                <a:solidFill>
                  <a:srgbClr val="D1E0F0"/>
                </a:solidFill>
              </a:rPr>
              <a:t> spinlock</a:t>
            </a:r>
          </a:p>
          <a:p>
            <a:pPr marL="0" indent="0">
              <a:buNone/>
            </a:pPr>
            <a:r>
              <a:rPr lang="en-US" sz="2000" dirty="0">
                <a:solidFill>
                  <a:srgbClr val="D1E0F0"/>
                </a:solidFill>
              </a:rPr>
              <a:t>      …</a:t>
            </a:r>
          </a:p>
          <a:p>
            <a:pPr marL="0" indent="0">
              <a:buNone/>
            </a:pPr>
            <a:r>
              <a:rPr lang="en-US" sz="2000" dirty="0">
                <a:solidFill>
                  <a:srgbClr val="D1E0F0"/>
                </a:solidFill>
              </a:rPr>
              <a:t>      …</a:t>
            </a:r>
          </a:p>
          <a:p>
            <a:pPr marL="0" indent="0">
              <a:buNone/>
            </a:pPr>
            <a:r>
              <a:rPr lang="en-US" sz="2000" dirty="0">
                <a:solidFill>
                  <a:srgbClr val="D1E0F0"/>
                </a:solidFill>
              </a:rPr>
              <a:t>      </a:t>
            </a:r>
            <a:r>
              <a:rPr lang="en-US" sz="2000" dirty="0" err="1">
                <a:solidFill>
                  <a:srgbClr val="D1E0F0"/>
                </a:solidFill>
              </a:rPr>
              <a:t>mov</a:t>
            </a:r>
            <a:r>
              <a:rPr lang="en-US" sz="2000" dirty="0">
                <a:solidFill>
                  <a:srgbClr val="D1E0F0"/>
                </a:solidFill>
              </a:rPr>
              <a:t> [</a:t>
            </a:r>
            <a:r>
              <a:rPr lang="en-US" sz="2000" dirty="0" err="1">
                <a:solidFill>
                  <a:srgbClr val="D1E0F0"/>
                </a:solidFill>
              </a:rPr>
              <a:t>lock_addr</a:t>
            </a:r>
            <a:r>
              <a:rPr lang="en-US" sz="2000" dirty="0">
                <a:solidFill>
                  <a:srgbClr val="D1E0F0"/>
                </a:solidFill>
              </a:rPr>
              <a:t>], 0</a:t>
            </a:r>
          </a:p>
          <a:p>
            <a:pPr marL="0" indent="0">
              <a:buNone/>
            </a:pPr>
            <a:r>
              <a:rPr lang="en-US" sz="2000" dirty="0">
                <a:solidFill>
                  <a:srgbClr val="D1E0F0"/>
                </a:solidFill>
              </a:rPr>
              <a:t>      </a:t>
            </a:r>
            <a:r>
              <a:rPr lang="en-US" sz="2000" dirty="0" err="1">
                <a:solidFill>
                  <a:srgbClr val="D1E0F0"/>
                </a:solidFill>
              </a:rPr>
              <a:t>sti</a:t>
            </a:r>
            <a:endParaRPr lang="en-US" sz="2000" dirty="0">
              <a:solidFill>
                <a:srgbClr val="D1E0F0"/>
              </a:solidFill>
            </a:endParaRPr>
          </a:p>
          <a:p>
            <a:pPr marL="0" indent="0">
              <a:buNone/>
            </a:pPr>
            <a:r>
              <a:rPr lang="en-US" sz="2000" dirty="0">
                <a:solidFill>
                  <a:srgbClr val="D1E0F0"/>
                </a:solidFill>
              </a:rPr>
              <a:t>      ret</a:t>
            </a:r>
          </a:p>
        </p:txBody>
      </p:sp>
      <p:sp>
        <p:nvSpPr>
          <p:cNvPr id="12" name="Rectangle 11"/>
          <p:cNvSpPr/>
          <p:nvPr/>
        </p:nvSpPr>
        <p:spPr>
          <a:xfrm>
            <a:off x="990600" y="2057400"/>
            <a:ext cx="696036" cy="409432"/>
          </a:xfrm>
          <a:prstGeom prst="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25000" noProof="0">
              <a:ln>
                <a:noFill/>
              </a:ln>
              <a:solidFill>
                <a:srgbClr val="FFFFFF"/>
              </a:solidFill>
              <a:effectLst/>
              <a:uLnTx/>
              <a:uFillTx/>
              <a:latin typeface="Arial"/>
              <a:ea typeface="Osaka"/>
            </a:endParaRPr>
          </a:p>
        </p:txBody>
      </p:sp>
      <p:sp>
        <p:nvSpPr>
          <p:cNvPr id="13" name="Rectangle 12"/>
          <p:cNvSpPr/>
          <p:nvPr/>
        </p:nvSpPr>
        <p:spPr>
          <a:xfrm>
            <a:off x="990600" y="4953000"/>
            <a:ext cx="696036" cy="409432"/>
          </a:xfrm>
          <a:prstGeom prst="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25000" noProof="0">
              <a:ln>
                <a:noFill/>
              </a:ln>
              <a:solidFill>
                <a:srgbClr val="FFFFFF"/>
              </a:solidFill>
              <a:effectLst/>
              <a:uLnTx/>
              <a:uFillTx/>
              <a:latin typeface="Arial"/>
              <a:ea typeface="Osaka"/>
            </a:endParaRPr>
          </a:p>
        </p:txBody>
      </p:sp>
      <p:cxnSp>
        <p:nvCxnSpPr>
          <p:cNvPr id="15" name="Straight Arrow Connector 14"/>
          <p:cNvCxnSpPr>
            <a:stCxn id="12" idx="3"/>
          </p:cNvCxnSpPr>
          <p:nvPr/>
        </p:nvCxnSpPr>
        <p:spPr>
          <a:xfrm>
            <a:off x="1686636" y="2262116"/>
            <a:ext cx="3562065" cy="0"/>
          </a:xfrm>
          <a:prstGeom prst="straightConnector1">
            <a:avLst/>
          </a:prstGeom>
          <a:ln w="57150">
            <a:solidFill>
              <a:schemeClr val="accent2"/>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3" idx="3"/>
          </p:cNvCxnSpPr>
          <p:nvPr/>
        </p:nvCxnSpPr>
        <p:spPr>
          <a:xfrm>
            <a:off x="1686636" y="5157716"/>
            <a:ext cx="3548416" cy="0"/>
          </a:xfrm>
          <a:prstGeom prst="straightConnector1">
            <a:avLst/>
          </a:prstGeom>
          <a:ln w="57150">
            <a:solidFill>
              <a:schemeClr val="accent2"/>
            </a:solidFill>
            <a:tailEnd type="arrow"/>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4C84345-FAA2-BA40-89BD-8B55700C163C}"/>
              </a:ext>
            </a:extLst>
          </p:cNvPr>
          <p:cNvSpPr txBox="1"/>
          <p:nvPr/>
        </p:nvSpPr>
        <p:spPr>
          <a:xfrm>
            <a:off x="116006" y="6209301"/>
            <a:ext cx="557075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rial"/>
                <a:ea typeface="Osaka"/>
              </a:rPr>
              <a:t>CLI: </a:t>
            </a:r>
            <a:r>
              <a:rPr kumimoji="0" lang="en-US" sz="1800" b="1" i="0" u="none" strike="noStrike" kern="1200" cap="none" spc="0" normalizeH="0" baseline="0" noProof="0" dirty="0">
                <a:ln>
                  <a:noFill/>
                </a:ln>
                <a:solidFill>
                  <a:srgbClr val="FFFFFF"/>
                </a:solidFill>
                <a:effectLst/>
                <a:uLnTx/>
                <a:uFillTx/>
                <a:latin typeface="Arial"/>
                <a:ea typeface="Osaka"/>
              </a:rPr>
              <a:t>Clear Interrupt Flag; STI — Set Interrupt Flag</a:t>
            </a:r>
          </a:p>
        </p:txBody>
      </p:sp>
    </p:spTree>
    <p:extLst>
      <p:ext uri="{BB962C8B-B14F-4D97-AF65-F5344CB8AC3E}">
        <p14:creationId xmlns:p14="http://schemas.microsoft.com/office/powerpoint/2010/main" val="128391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arn(inVertical)">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9">
                                            <p:bg/>
                                          </p:spTgt>
                                        </p:tgtEl>
                                        <p:attrNameLst>
                                          <p:attrName>style.visibility</p:attrName>
                                        </p:attrNameLst>
                                      </p:cBhvr>
                                      <p:to>
                                        <p:strVal val="visible"/>
                                      </p:to>
                                    </p:set>
                                    <p:animEffect transition="in" filter="fade">
                                      <p:cBhvr>
                                        <p:cTn id="15" dur="500"/>
                                        <p:tgtEl>
                                          <p:spTgt spid="9">
                                            <p:bg/>
                                          </p:spTgt>
                                        </p:tgtEl>
                                      </p:cBhvr>
                                    </p:animEffect>
                                    <p:anim calcmode="lin" valueType="num">
                                      <p:cBhvr>
                                        <p:cTn id="16" dur="500" fill="hold"/>
                                        <p:tgtEl>
                                          <p:spTgt spid="9">
                                            <p:bg/>
                                          </p:spTgt>
                                        </p:tgtEl>
                                        <p:attrNameLst>
                                          <p:attrName>ppt_x</p:attrName>
                                        </p:attrNameLst>
                                      </p:cBhvr>
                                      <p:tavLst>
                                        <p:tav tm="0">
                                          <p:val>
                                            <p:strVal val="#ppt_x"/>
                                          </p:val>
                                        </p:tav>
                                        <p:tav tm="100000">
                                          <p:val>
                                            <p:strVal val="#ppt_x"/>
                                          </p:val>
                                        </p:tav>
                                      </p:tavLst>
                                    </p:anim>
                                    <p:anim calcmode="lin" valueType="num">
                                      <p:cBhvr>
                                        <p:cTn id="17" dur="500" fill="hold"/>
                                        <p:tgtEl>
                                          <p:spTgt spid="9">
                                            <p:bg/>
                                          </p:spTgt>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9">
                                            <p:txEl>
                                              <p:pRg st="0" end="0"/>
                                            </p:txEl>
                                          </p:spTgt>
                                        </p:tgtEl>
                                        <p:attrNameLst>
                                          <p:attrName>style.visibility</p:attrName>
                                        </p:attrNameLst>
                                      </p:cBhvr>
                                      <p:to>
                                        <p:strVal val="visible"/>
                                      </p:to>
                                    </p:set>
                                    <p:animEffect transition="in" filter="fade">
                                      <p:cBhvr>
                                        <p:cTn id="20" dur="500"/>
                                        <p:tgtEl>
                                          <p:spTgt spid="9">
                                            <p:txEl>
                                              <p:pRg st="0" end="0"/>
                                            </p:txEl>
                                          </p:spTgt>
                                        </p:tgtEl>
                                      </p:cBhvr>
                                    </p:animEffect>
                                    <p:anim calcmode="lin" valueType="num">
                                      <p:cBhvr>
                                        <p:cTn id="21"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22" dur="500" fill="hold"/>
                                        <p:tgtEl>
                                          <p:spTgt spid="9">
                                            <p:txEl>
                                              <p:pRg st="0" end="0"/>
                                            </p:txEl>
                                          </p:spTgt>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0">
                                            <p:txEl>
                                              <p:pRg st="0" end="0"/>
                                            </p:txEl>
                                          </p:spTgt>
                                        </p:tgtEl>
                                        <p:attrNameLst>
                                          <p:attrName>style.visibility</p:attrName>
                                        </p:attrNameLst>
                                      </p:cBhvr>
                                      <p:to>
                                        <p:strVal val="visible"/>
                                      </p:to>
                                    </p:set>
                                    <p:animEffect transition="in" filter="fade">
                                      <p:cBhvr>
                                        <p:cTn id="25" dur="500"/>
                                        <p:tgtEl>
                                          <p:spTgt spid="10">
                                            <p:txEl>
                                              <p:pRg st="0" end="0"/>
                                            </p:txEl>
                                          </p:spTgt>
                                        </p:tgtEl>
                                      </p:cBhvr>
                                    </p:animEffect>
                                    <p:anim calcmode="lin" valueType="num">
                                      <p:cBhvr>
                                        <p:cTn id="26"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7" dur="500" fill="hold"/>
                                        <p:tgtEl>
                                          <p:spTgt spid="10">
                                            <p:txEl>
                                              <p:pRg st="0" end="0"/>
                                            </p:txEl>
                                          </p:spTgt>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10">
                                            <p:txEl>
                                              <p:pRg st="1" end="1"/>
                                            </p:txEl>
                                          </p:spTgt>
                                        </p:tgtEl>
                                        <p:attrNameLst>
                                          <p:attrName>style.visibility</p:attrName>
                                        </p:attrNameLst>
                                      </p:cBhvr>
                                      <p:to>
                                        <p:strVal val="visible"/>
                                      </p:to>
                                    </p:set>
                                    <p:animEffect transition="in" filter="fade">
                                      <p:cBhvr>
                                        <p:cTn id="30" dur="500"/>
                                        <p:tgtEl>
                                          <p:spTgt spid="10">
                                            <p:txEl>
                                              <p:pRg st="1" end="1"/>
                                            </p:txEl>
                                          </p:spTgt>
                                        </p:tgtEl>
                                      </p:cBhvr>
                                    </p:animEffect>
                                    <p:anim calcmode="lin" valueType="num">
                                      <p:cBhvr>
                                        <p:cTn id="31"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2" dur="500" fill="hold"/>
                                        <p:tgtEl>
                                          <p:spTgt spid="10">
                                            <p:txEl>
                                              <p:pRg st="1" end="1"/>
                                            </p:txEl>
                                          </p:spTgt>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0">
                                            <p:txEl>
                                              <p:pRg st="2" end="2"/>
                                            </p:txEl>
                                          </p:spTgt>
                                        </p:tgtEl>
                                        <p:attrNameLst>
                                          <p:attrName>style.visibility</p:attrName>
                                        </p:attrNameLst>
                                      </p:cBhvr>
                                      <p:to>
                                        <p:strVal val="visible"/>
                                      </p:to>
                                    </p:set>
                                    <p:animEffect transition="in" filter="fade">
                                      <p:cBhvr>
                                        <p:cTn id="35" dur="500"/>
                                        <p:tgtEl>
                                          <p:spTgt spid="10">
                                            <p:txEl>
                                              <p:pRg st="2" end="2"/>
                                            </p:txEl>
                                          </p:spTgt>
                                        </p:tgtEl>
                                      </p:cBhvr>
                                    </p:animEffect>
                                    <p:anim calcmode="lin" valueType="num">
                                      <p:cBhvr>
                                        <p:cTn id="36"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37" dur="500" fill="hold"/>
                                        <p:tgtEl>
                                          <p:spTgt spid="10">
                                            <p:txEl>
                                              <p:pRg st="2" end="2"/>
                                            </p:txEl>
                                          </p:spTgt>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0">
                                            <p:txEl>
                                              <p:pRg st="3" end="3"/>
                                            </p:txEl>
                                          </p:spTgt>
                                        </p:tgtEl>
                                        <p:attrNameLst>
                                          <p:attrName>style.visibility</p:attrName>
                                        </p:attrNameLst>
                                      </p:cBhvr>
                                      <p:to>
                                        <p:strVal val="visible"/>
                                      </p:to>
                                    </p:set>
                                    <p:animEffect transition="in" filter="fade">
                                      <p:cBhvr>
                                        <p:cTn id="40" dur="500"/>
                                        <p:tgtEl>
                                          <p:spTgt spid="10">
                                            <p:txEl>
                                              <p:pRg st="3" end="3"/>
                                            </p:txEl>
                                          </p:spTgt>
                                        </p:tgtEl>
                                      </p:cBhvr>
                                    </p:animEffect>
                                    <p:anim calcmode="lin" valueType="num">
                                      <p:cBhvr>
                                        <p:cTn id="41"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42" dur="500" fill="hold"/>
                                        <p:tgtEl>
                                          <p:spTgt spid="10">
                                            <p:txEl>
                                              <p:pRg st="3" end="3"/>
                                            </p:txEl>
                                          </p:spTgt>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0">
                                            <p:txEl>
                                              <p:pRg st="4" end="4"/>
                                            </p:txEl>
                                          </p:spTgt>
                                        </p:tgtEl>
                                        <p:attrNameLst>
                                          <p:attrName>style.visibility</p:attrName>
                                        </p:attrNameLst>
                                      </p:cBhvr>
                                      <p:to>
                                        <p:strVal val="visible"/>
                                      </p:to>
                                    </p:set>
                                    <p:animEffect transition="in" filter="fade">
                                      <p:cBhvr>
                                        <p:cTn id="45" dur="500"/>
                                        <p:tgtEl>
                                          <p:spTgt spid="10">
                                            <p:txEl>
                                              <p:pRg st="4" end="4"/>
                                            </p:txEl>
                                          </p:spTgt>
                                        </p:tgtEl>
                                      </p:cBhvr>
                                    </p:animEffect>
                                    <p:anim calcmode="lin" valueType="num">
                                      <p:cBhvr>
                                        <p:cTn id="46"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47" dur="500" fill="hold"/>
                                        <p:tgtEl>
                                          <p:spTgt spid="10">
                                            <p:txEl>
                                              <p:pRg st="4" end="4"/>
                                            </p:txEl>
                                          </p:spTgt>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10">
                                            <p:txEl>
                                              <p:pRg st="5" end="5"/>
                                            </p:txEl>
                                          </p:spTgt>
                                        </p:tgtEl>
                                        <p:attrNameLst>
                                          <p:attrName>style.visibility</p:attrName>
                                        </p:attrNameLst>
                                      </p:cBhvr>
                                      <p:to>
                                        <p:strVal val="visible"/>
                                      </p:to>
                                    </p:set>
                                    <p:animEffect transition="in" filter="fade">
                                      <p:cBhvr>
                                        <p:cTn id="50" dur="500"/>
                                        <p:tgtEl>
                                          <p:spTgt spid="10">
                                            <p:txEl>
                                              <p:pRg st="5" end="5"/>
                                            </p:txEl>
                                          </p:spTgt>
                                        </p:tgtEl>
                                      </p:cBhvr>
                                    </p:animEffect>
                                    <p:anim calcmode="lin" valueType="num">
                                      <p:cBhvr>
                                        <p:cTn id="51" dur="5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52" dur="500" fill="hold"/>
                                        <p:tgtEl>
                                          <p:spTgt spid="10">
                                            <p:txEl>
                                              <p:pRg st="5" end="5"/>
                                            </p:txEl>
                                          </p:spTgt>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10">
                                            <p:txEl>
                                              <p:pRg st="6" end="6"/>
                                            </p:txEl>
                                          </p:spTgt>
                                        </p:tgtEl>
                                        <p:attrNameLst>
                                          <p:attrName>style.visibility</p:attrName>
                                        </p:attrNameLst>
                                      </p:cBhvr>
                                      <p:to>
                                        <p:strVal val="visible"/>
                                      </p:to>
                                    </p:set>
                                    <p:animEffect transition="in" filter="fade">
                                      <p:cBhvr>
                                        <p:cTn id="55" dur="500"/>
                                        <p:tgtEl>
                                          <p:spTgt spid="10">
                                            <p:txEl>
                                              <p:pRg st="6" end="6"/>
                                            </p:txEl>
                                          </p:spTgt>
                                        </p:tgtEl>
                                      </p:cBhvr>
                                    </p:animEffect>
                                    <p:anim calcmode="lin" valueType="num">
                                      <p:cBhvr>
                                        <p:cTn id="56" dur="5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57" dur="500" fill="hold"/>
                                        <p:tgtEl>
                                          <p:spTgt spid="10">
                                            <p:txEl>
                                              <p:pRg st="6" end="6"/>
                                            </p:txEl>
                                          </p:spTgt>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0">
                                            <p:txEl>
                                              <p:pRg st="7" end="7"/>
                                            </p:txEl>
                                          </p:spTgt>
                                        </p:tgtEl>
                                        <p:attrNameLst>
                                          <p:attrName>style.visibility</p:attrName>
                                        </p:attrNameLst>
                                      </p:cBhvr>
                                      <p:to>
                                        <p:strVal val="visible"/>
                                      </p:to>
                                    </p:set>
                                    <p:animEffect transition="in" filter="fade">
                                      <p:cBhvr>
                                        <p:cTn id="60" dur="500"/>
                                        <p:tgtEl>
                                          <p:spTgt spid="10">
                                            <p:txEl>
                                              <p:pRg st="7" end="7"/>
                                            </p:txEl>
                                          </p:spTgt>
                                        </p:tgtEl>
                                      </p:cBhvr>
                                    </p:animEffect>
                                    <p:anim calcmode="lin" valueType="num">
                                      <p:cBhvr>
                                        <p:cTn id="61" dur="500" fill="hold"/>
                                        <p:tgtEl>
                                          <p:spTgt spid="10">
                                            <p:txEl>
                                              <p:pRg st="7" end="7"/>
                                            </p:txEl>
                                          </p:spTgt>
                                        </p:tgtEl>
                                        <p:attrNameLst>
                                          <p:attrName>ppt_x</p:attrName>
                                        </p:attrNameLst>
                                      </p:cBhvr>
                                      <p:tavLst>
                                        <p:tav tm="0">
                                          <p:val>
                                            <p:strVal val="#ppt_x"/>
                                          </p:val>
                                        </p:tav>
                                        <p:tav tm="100000">
                                          <p:val>
                                            <p:strVal val="#ppt_x"/>
                                          </p:val>
                                        </p:tav>
                                      </p:tavLst>
                                    </p:anim>
                                    <p:anim calcmode="lin" valueType="num">
                                      <p:cBhvr>
                                        <p:cTn id="62" dur="500" fill="hold"/>
                                        <p:tgtEl>
                                          <p:spTgt spid="10">
                                            <p:txEl>
                                              <p:pRg st="7" end="7"/>
                                            </p:txEl>
                                          </p:spTgt>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10">
                                            <p:txEl>
                                              <p:pRg st="8" end="8"/>
                                            </p:txEl>
                                          </p:spTgt>
                                        </p:tgtEl>
                                        <p:attrNameLst>
                                          <p:attrName>style.visibility</p:attrName>
                                        </p:attrNameLst>
                                      </p:cBhvr>
                                      <p:to>
                                        <p:strVal val="visible"/>
                                      </p:to>
                                    </p:set>
                                    <p:animEffect transition="in" filter="fade">
                                      <p:cBhvr>
                                        <p:cTn id="65" dur="500"/>
                                        <p:tgtEl>
                                          <p:spTgt spid="10">
                                            <p:txEl>
                                              <p:pRg st="8" end="8"/>
                                            </p:txEl>
                                          </p:spTgt>
                                        </p:tgtEl>
                                      </p:cBhvr>
                                    </p:animEffect>
                                    <p:anim calcmode="lin" valueType="num">
                                      <p:cBhvr>
                                        <p:cTn id="66" dur="500" fill="hold"/>
                                        <p:tgtEl>
                                          <p:spTgt spid="10">
                                            <p:txEl>
                                              <p:pRg st="8" end="8"/>
                                            </p:txEl>
                                          </p:spTgt>
                                        </p:tgtEl>
                                        <p:attrNameLst>
                                          <p:attrName>ppt_x</p:attrName>
                                        </p:attrNameLst>
                                      </p:cBhvr>
                                      <p:tavLst>
                                        <p:tav tm="0">
                                          <p:val>
                                            <p:strVal val="#ppt_x"/>
                                          </p:val>
                                        </p:tav>
                                        <p:tav tm="100000">
                                          <p:val>
                                            <p:strVal val="#ppt_x"/>
                                          </p:val>
                                        </p:tav>
                                      </p:tavLst>
                                    </p:anim>
                                    <p:anim calcmode="lin" valueType="num">
                                      <p:cBhvr>
                                        <p:cTn id="67" dur="500" fill="hold"/>
                                        <p:tgtEl>
                                          <p:spTgt spid="10">
                                            <p:txEl>
                                              <p:pRg st="8" end="8"/>
                                            </p:txEl>
                                          </p:spTgt>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10">
                                            <p:txEl>
                                              <p:pRg st="9" end="9"/>
                                            </p:txEl>
                                          </p:spTgt>
                                        </p:tgtEl>
                                        <p:attrNameLst>
                                          <p:attrName>style.visibility</p:attrName>
                                        </p:attrNameLst>
                                      </p:cBhvr>
                                      <p:to>
                                        <p:strVal val="visible"/>
                                      </p:to>
                                    </p:set>
                                    <p:animEffect transition="in" filter="fade">
                                      <p:cBhvr>
                                        <p:cTn id="70" dur="500"/>
                                        <p:tgtEl>
                                          <p:spTgt spid="10">
                                            <p:txEl>
                                              <p:pRg st="9" end="9"/>
                                            </p:txEl>
                                          </p:spTgt>
                                        </p:tgtEl>
                                      </p:cBhvr>
                                    </p:animEffect>
                                    <p:anim calcmode="lin" valueType="num">
                                      <p:cBhvr>
                                        <p:cTn id="71" dur="500" fill="hold"/>
                                        <p:tgtEl>
                                          <p:spTgt spid="10">
                                            <p:txEl>
                                              <p:pRg st="9" end="9"/>
                                            </p:txEl>
                                          </p:spTgt>
                                        </p:tgtEl>
                                        <p:attrNameLst>
                                          <p:attrName>ppt_x</p:attrName>
                                        </p:attrNameLst>
                                      </p:cBhvr>
                                      <p:tavLst>
                                        <p:tav tm="0">
                                          <p:val>
                                            <p:strVal val="#ppt_x"/>
                                          </p:val>
                                        </p:tav>
                                        <p:tav tm="100000">
                                          <p:val>
                                            <p:strVal val="#ppt_x"/>
                                          </p:val>
                                        </p:tav>
                                      </p:tavLst>
                                    </p:anim>
                                    <p:anim calcmode="lin" valueType="num">
                                      <p:cBhvr>
                                        <p:cTn id="72" dur="500" fill="hold"/>
                                        <p:tgtEl>
                                          <p:spTgt spid="10">
                                            <p:txEl>
                                              <p:pRg st="9" end="9"/>
                                            </p:txEl>
                                          </p:spTgt>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10">
                                            <p:txEl>
                                              <p:pRg st="10" end="10"/>
                                            </p:txEl>
                                          </p:spTgt>
                                        </p:tgtEl>
                                        <p:attrNameLst>
                                          <p:attrName>style.visibility</p:attrName>
                                        </p:attrNameLst>
                                      </p:cBhvr>
                                      <p:to>
                                        <p:strVal val="visible"/>
                                      </p:to>
                                    </p:set>
                                    <p:animEffect transition="in" filter="fade">
                                      <p:cBhvr>
                                        <p:cTn id="75" dur="500"/>
                                        <p:tgtEl>
                                          <p:spTgt spid="10">
                                            <p:txEl>
                                              <p:pRg st="10" end="10"/>
                                            </p:txEl>
                                          </p:spTgt>
                                        </p:tgtEl>
                                      </p:cBhvr>
                                    </p:animEffect>
                                    <p:anim calcmode="lin" valueType="num">
                                      <p:cBhvr>
                                        <p:cTn id="76" dur="500" fill="hold"/>
                                        <p:tgtEl>
                                          <p:spTgt spid="10">
                                            <p:txEl>
                                              <p:pRg st="10" end="10"/>
                                            </p:txEl>
                                          </p:spTgt>
                                        </p:tgtEl>
                                        <p:attrNameLst>
                                          <p:attrName>ppt_x</p:attrName>
                                        </p:attrNameLst>
                                      </p:cBhvr>
                                      <p:tavLst>
                                        <p:tav tm="0">
                                          <p:val>
                                            <p:strVal val="#ppt_x"/>
                                          </p:val>
                                        </p:tav>
                                        <p:tav tm="100000">
                                          <p:val>
                                            <p:strVal val="#ppt_x"/>
                                          </p:val>
                                        </p:tav>
                                      </p:tavLst>
                                    </p:anim>
                                    <p:anim calcmode="lin" valueType="num">
                                      <p:cBhvr>
                                        <p:cTn id="77" dur="500" fill="hold"/>
                                        <p:tgtEl>
                                          <p:spTgt spid="10">
                                            <p:txEl>
                                              <p:pRg st="10" end="10"/>
                                            </p:txEl>
                                          </p:spTgt>
                                        </p:tgtEl>
                                        <p:attrNameLst>
                                          <p:attrName>ppt_y</p:attrName>
                                        </p:attrNameLst>
                                      </p:cBhvr>
                                      <p:tavLst>
                                        <p:tav tm="0">
                                          <p:val>
                                            <p:strVal val="#ppt_y+.1"/>
                                          </p:val>
                                        </p:tav>
                                        <p:tav tm="100000">
                                          <p:val>
                                            <p:strVal val="#ppt_y"/>
                                          </p:val>
                                        </p:tav>
                                      </p:tavLst>
                                    </p:anim>
                                  </p:childTnLst>
                                </p:cTn>
                              </p:par>
                            </p:childTnLst>
                          </p:cTn>
                        </p:par>
                        <p:par>
                          <p:cTn id="78" fill="hold">
                            <p:stCondLst>
                              <p:cond delay="500"/>
                            </p:stCondLst>
                            <p:childTnLst>
                              <p:par>
                                <p:cTn id="79" presetID="22" presetClass="entr" presetSubtype="8" fill="hold" nodeType="afterEffect">
                                  <p:stCondLst>
                                    <p:cond delay="0"/>
                                  </p:stCondLst>
                                  <p:childTnLst>
                                    <p:set>
                                      <p:cBhvr>
                                        <p:cTn id="80" dur="1" fill="hold">
                                          <p:stCondLst>
                                            <p:cond delay="0"/>
                                          </p:stCondLst>
                                        </p:cTn>
                                        <p:tgtEl>
                                          <p:spTgt spid="15"/>
                                        </p:tgtEl>
                                        <p:attrNameLst>
                                          <p:attrName>style.visibility</p:attrName>
                                        </p:attrNameLst>
                                      </p:cBhvr>
                                      <p:to>
                                        <p:strVal val="visible"/>
                                      </p:to>
                                    </p:set>
                                    <p:animEffect transition="in" filter="wipe(left)">
                                      <p:cBhvr>
                                        <p:cTn id="81" dur="500"/>
                                        <p:tgtEl>
                                          <p:spTgt spid="15"/>
                                        </p:tgtEl>
                                      </p:cBhvr>
                                    </p:animEffect>
                                  </p:childTnLst>
                                </p:cTn>
                              </p:par>
                              <p:par>
                                <p:cTn id="82" presetID="22" presetClass="entr" presetSubtype="8" fill="hold" nodeType="withEffect">
                                  <p:stCondLst>
                                    <p:cond delay="0"/>
                                  </p:stCondLst>
                                  <p:childTnLst>
                                    <p:set>
                                      <p:cBhvr>
                                        <p:cTn id="83" dur="1" fill="hold">
                                          <p:stCondLst>
                                            <p:cond delay="0"/>
                                          </p:stCondLst>
                                        </p:cTn>
                                        <p:tgtEl>
                                          <p:spTgt spid="16"/>
                                        </p:tgtEl>
                                        <p:attrNameLst>
                                          <p:attrName>style.visibility</p:attrName>
                                        </p:attrNameLst>
                                      </p:cBhvr>
                                      <p:to>
                                        <p:strVal val="visible"/>
                                      </p:to>
                                    </p:set>
                                    <p:animEffect transition="in" filter="wipe(left)">
                                      <p:cBhvr>
                                        <p:cTn id="8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animBg="1"/>
      <p:bldP spid="10" grpId="0" build="p"/>
      <p:bldP spid="12" grpId="0" animBg="1"/>
      <p:bldP spid="1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Paravirtualization</a:t>
            </a:r>
            <a:endParaRPr lang="en-US" dirty="0"/>
          </a:p>
        </p:txBody>
      </p:sp>
      <p:sp>
        <p:nvSpPr>
          <p:cNvPr id="3" name="Content Placeholder 2"/>
          <p:cNvSpPr>
            <a:spLocks noGrp="1"/>
          </p:cNvSpPr>
          <p:nvPr>
            <p:ph idx="1"/>
          </p:nvPr>
        </p:nvSpPr>
        <p:spPr>
          <a:xfrm>
            <a:off x="462579" y="1981200"/>
            <a:ext cx="8573845" cy="4114800"/>
          </a:xfrm>
        </p:spPr>
        <p:txBody>
          <a:bodyPr/>
          <a:lstStyle/>
          <a:p>
            <a:r>
              <a:rPr lang="en-US" dirty="0"/>
              <a:t>Modify the Guest OS to make it aware of the hypervisor</a:t>
            </a:r>
          </a:p>
          <a:p>
            <a:pPr lvl="1"/>
            <a:r>
              <a:rPr lang="en-US" dirty="0"/>
              <a:t>Can avoid these tricky features</a:t>
            </a:r>
          </a:p>
          <a:p>
            <a:pPr lvl="1"/>
            <a:r>
              <a:rPr lang="en-US" dirty="0"/>
              <a:t>OS is aware of the fact it is virtualized</a:t>
            </a:r>
          </a:p>
          <a:p>
            <a:pPr lvl="2"/>
            <a:r>
              <a:rPr lang="en-US" dirty="0"/>
              <a:t>Can implement optimizations</a:t>
            </a:r>
          </a:p>
          <a:p>
            <a:r>
              <a:rPr lang="en-US" dirty="0"/>
              <a:t>How does it Compare to binary translation?</a:t>
            </a:r>
          </a:p>
          <a:p>
            <a:r>
              <a:rPr lang="en-US" dirty="0"/>
              <a:t>Amount of code change?</a:t>
            </a:r>
          </a:p>
          <a:p>
            <a:pPr lvl="1"/>
            <a:r>
              <a:rPr lang="en-US" dirty="0"/>
              <a:t>1.36% of Linux, 0.04% for Windows</a:t>
            </a:r>
          </a:p>
        </p:txBody>
      </p:sp>
      <p:sp>
        <p:nvSpPr>
          <p:cNvPr id="4" name="Slide Number Placeholder 3"/>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9B7329EC-83B4-8A42-B6D8-8C023A66771E}" type="slidenum">
              <a:rPr kumimoji="0" lang="en-US" sz="1400" b="0" i="0" u="none" strike="noStrike" kern="1200" cap="none" spc="0" normalizeH="0" baseline="0" noProof="0" smtClean="0">
                <a:ln>
                  <a:noFill/>
                </a:ln>
                <a:solidFill>
                  <a:srgbClr val="FFFFFF"/>
                </a:solidFill>
                <a:effectLst/>
                <a:uLnTx/>
                <a:uFillTx/>
                <a:latin typeface="Arial" charset="0"/>
                <a:ea typeface="Osaka" charset="-128"/>
              </a:rPr>
              <a:pPr marL="0" marR="0" lvl="0" indent="0" algn="r" defTabSz="914400" rtl="0" eaLnBrk="0" fontAlgn="base" latinLnBrk="0" hangingPunct="0">
                <a:lnSpc>
                  <a:spcPct val="100000"/>
                </a:lnSpc>
                <a:spcBef>
                  <a:spcPct val="0"/>
                </a:spcBef>
                <a:spcAft>
                  <a:spcPct val="0"/>
                </a:spcAft>
                <a:buClrTx/>
                <a:buSzTx/>
                <a:buFontTx/>
                <a:buNone/>
                <a:tabLst/>
                <a:defRPr/>
              </a:pPr>
              <a:t>30</a:t>
            </a:fld>
            <a:endParaRPr kumimoji="0" lang="en-US" sz="1400" b="0" i="0" u="none" strike="noStrike" kern="1200" cap="none" spc="0" normalizeH="0" baseline="0" noProof="0" dirty="0">
              <a:ln>
                <a:noFill/>
              </a:ln>
              <a:solidFill>
                <a:srgbClr val="FFFFFF"/>
              </a:solidFill>
              <a:effectLst/>
              <a:uLnTx/>
              <a:uFillTx/>
              <a:latin typeface="Arial" charset="0"/>
              <a:ea typeface="Osaka" charset="-128"/>
            </a:endParaRPr>
          </a:p>
        </p:txBody>
      </p:sp>
    </p:spTree>
    <p:extLst>
      <p:ext uri="{BB962C8B-B14F-4D97-AF65-F5344CB8AC3E}">
        <p14:creationId xmlns:p14="http://schemas.microsoft.com/office/powerpoint/2010/main" val="33308214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83715"/>
            <a:ext cx="7772400" cy="1143000"/>
          </a:xfrm>
        </p:spPr>
        <p:txBody>
          <a:bodyPr/>
          <a:lstStyle/>
          <a:p>
            <a:r>
              <a:rPr lang="en-US" sz="3600" dirty="0"/>
              <a:t>Hardware supported virtualization (Intel VT-x, AMD-V)</a:t>
            </a:r>
          </a:p>
        </p:txBody>
      </p:sp>
      <p:sp>
        <p:nvSpPr>
          <p:cNvPr id="3" name="Content Placeholder 2"/>
          <p:cNvSpPr>
            <a:spLocks noGrp="1"/>
          </p:cNvSpPr>
          <p:nvPr>
            <p:ph idx="1"/>
          </p:nvPr>
        </p:nvSpPr>
        <p:spPr>
          <a:xfrm>
            <a:off x="304800" y="1326715"/>
            <a:ext cx="8153400" cy="4343400"/>
          </a:xfrm>
        </p:spPr>
        <p:txBody>
          <a:bodyPr/>
          <a:lstStyle/>
          <a:p>
            <a:r>
              <a:rPr lang="en-US" dirty="0"/>
              <a:t>Hardware support for virtualization</a:t>
            </a:r>
          </a:p>
          <a:p>
            <a:pPr lvl="1"/>
            <a:r>
              <a:rPr lang="en-US" i="1" dirty="0"/>
              <a:t>Intel</a:t>
            </a:r>
            <a:r>
              <a:rPr lang="en-US" dirty="0"/>
              <a:t>® </a:t>
            </a:r>
            <a:r>
              <a:rPr lang="en-US" i="1" dirty="0"/>
              <a:t>Virtualization Technology</a:t>
            </a:r>
            <a:r>
              <a:rPr lang="en-US" dirty="0"/>
              <a:t> hardware assist for virtualization</a:t>
            </a:r>
          </a:p>
          <a:p>
            <a:r>
              <a:rPr lang="en-US" dirty="0"/>
              <a:t>Makes implementing VMMs much simpler</a:t>
            </a:r>
          </a:p>
          <a:p>
            <a:r>
              <a:rPr lang="en-US" dirty="0"/>
              <a:t>Streamlines communication between VM and OS</a:t>
            </a:r>
          </a:p>
          <a:p>
            <a:r>
              <a:rPr lang="en-US" dirty="0"/>
              <a:t>Removes the need for </a:t>
            </a:r>
            <a:r>
              <a:rPr lang="en-US" dirty="0" err="1"/>
              <a:t>paravirtualization</a:t>
            </a:r>
            <a:r>
              <a:rPr lang="en-US" dirty="0"/>
              <a:t>/binary translation</a:t>
            </a:r>
          </a:p>
          <a:p>
            <a:r>
              <a:rPr lang="en-US" dirty="0"/>
              <a:t>EPT: Support for shadow page tables</a:t>
            </a:r>
          </a:p>
        </p:txBody>
      </p:sp>
      <p:sp>
        <p:nvSpPr>
          <p:cNvPr id="4" name="Slide Number Placeholder 3"/>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9B7329EC-83B4-8A42-B6D8-8C023A66771E}" type="slidenum">
              <a:rPr kumimoji="0" lang="en-US" sz="1400" b="0" i="0" u="none" strike="noStrike" kern="1200" cap="none" spc="0" normalizeH="0" baseline="0" noProof="0" smtClean="0">
                <a:ln>
                  <a:noFill/>
                </a:ln>
                <a:solidFill>
                  <a:srgbClr val="FFFFFF"/>
                </a:solidFill>
                <a:effectLst/>
                <a:uLnTx/>
                <a:uFillTx/>
                <a:latin typeface="Arial" charset="0"/>
                <a:ea typeface="Osaka" charset="-128"/>
              </a:rPr>
              <a:pPr marL="0" marR="0" lvl="0" indent="0" algn="r" defTabSz="914400" rtl="0" eaLnBrk="0" fontAlgn="base" latinLnBrk="0" hangingPunct="0">
                <a:lnSpc>
                  <a:spcPct val="100000"/>
                </a:lnSpc>
                <a:spcBef>
                  <a:spcPct val="0"/>
                </a:spcBef>
                <a:spcAft>
                  <a:spcPct val="0"/>
                </a:spcAft>
                <a:buClrTx/>
                <a:buSzTx/>
                <a:buFontTx/>
                <a:buNone/>
                <a:tabLst/>
                <a:defRPr/>
              </a:pPr>
              <a:t>31</a:t>
            </a:fld>
            <a:endParaRPr kumimoji="0" lang="en-US" sz="1400" b="0" i="0" u="none" strike="noStrike" kern="1200" cap="none" spc="0" normalizeH="0" baseline="0" noProof="0" dirty="0">
              <a:ln>
                <a:noFill/>
              </a:ln>
              <a:solidFill>
                <a:srgbClr val="FFFFFF"/>
              </a:solidFill>
              <a:effectLst/>
              <a:uLnTx/>
              <a:uFillTx/>
              <a:latin typeface="Arial" charset="0"/>
              <a:ea typeface="Osaka" charset="-128"/>
            </a:endParaRPr>
          </a:p>
        </p:txBody>
      </p:sp>
    </p:spTree>
    <p:extLst>
      <p:ext uri="{BB962C8B-B14F-4D97-AF65-F5344CB8AC3E}">
        <p14:creationId xmlns:p14="http://schemas.microsoft.com/office/powerpoint/2010/main" val="16748610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Virtualization Tasks</a:t>
            </a:r>
          </a:p>
        </p:txBody>
      </p:sp>
      <p:sp>
        <p:nvSpPr>
          <p:cNvPr id="3" name="Content Placeholder 2"/>
          <p:cNvSpPr>
            <a:spLocks noGrp="1"/>
          </p:cNvSpPr>
          <p:nvPr>
            <p:ph idx="1"/>
          </p:nvPr>
        </p:nvSpPr>
        <p:spPr/>
        <p:txBody>
          <a:bodyPr/>
          <a:lstStyle/>
          <a:p>
            <a:r>
              <a:rPr lang="en-US" sz="2800" dirty="0"/>
              <a:t>Virtualize hardware</a:t>
            </a:r>
          </a:p>
          <a:p>
            <a:pPr lvl="1"/>
            <a:r>
              <a:rPr lang="en-US" sz="2400" dirty="0"/>
              <a:t>Memory hierarchy</a:t>
            </a:r>
          </a:p>
          <a:p>
            <a:pPr lvl="1"/>
            <a:r>
              <a:rPr lang="en-US" sz="2400" dirty="0"/>
              <a:t>CPUs</a:t>
            </a:r>
          </a:p>
          <a:p>
            <a:pPr lvl="1"/>
            <a:r>
              <a:rPr lang="en-US" sz="2400" dirty="0"/>
              <a:t>Devices</a:t>
            </a:r>
          </a:p>
          <a:p>
            <a:r>
              <a:rPr lang="en-US" sz="2800" dirty="0"/>
              <a:t>Implement data and control transfer between guests and hypervisor</a:t>
            </a:r>
          </a:p>
          <a:p>
            <a:r>
              <a:rPr lang="en-US" sz="2800" dirty="0"/>
              <a:t>We’ll cover this by example – </a:t>
            </a:r>
            <a:r>
              <a:rPr lang="en-US" sz="2800" dirty="0" err="1"/>
              <a:t>Xen</a:t>
            </a:r>
            <a:r>
              <a:rPr lang="en-US" sz="2800" dirty="0"/>
              <a:t> paper</a:t>
            </a:r>
          </a:p>
          <a:p>
            <a:pPr lvl="1"/>
            <a:r>
              <a:rPr lang="en-US" sz="2400" dirty="0"/>
              <a:t>Slides modified from presentation by </a:t>
            </a:r>
            <a:r>
              <a:rPr lang="en-US" sz="2400" dirty="0" err="1"/>
              <a:t>Jianmin</a:t>
            </a:r>
            <a:r>
              <a:rPr lang="en-US" sz="2400" dirty="0"/>
              <a:t> Chen</a:t>
            </a:r>
          </a:p>
        </p:txBody>
      </p:sp>
      <p:sp>
        <p:nvSpPr>
          <p:cNvPr id="4" name="Slide Number Placeholder 3"/>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9B7329EC-83B4-8A42-B6D8-8C023A66771E}" type="slidenum">
              <a:rPr kumimoji="0" lang="en-US" sz="1400" b="0" i="0" u="none" strike="noStrike" kern="1200" cap="none" spc="0" normalizeH="0" baseline="0" noProof="0" smtClean="0">
                <a:ln>
                  <a:noFill/>
                </a:ln>
                <a:solidFill>
                  <a:srgbClr val="FFFFFF"/>
                </a:solidFill>
                <a:effectLst/>
                <a:uLnTx/>
                <a:uFillTx/>
                <a:latin typeface="Arial" charset="0"/>
                <a:ea typeface="Osaka" charset="-128"/>
              </a:rPr>
              <a:pPr marL="0" marR="0" lvl="0" indent="0" algn="r" defTabSz="914400" rtl="0" eaLnBrk="0" fontAlgn="base" latinLnBrk="0" hangingPunct="0">
                <a:lnSpc>
                  <a:spcPct val="100000"/>
                </a:lnSpc>
                <a:spcBef>
                  <a:spcPct val="0"/>
                </a:spcBef>
                <a:spcAft>
                  <a:spcPct val="0"/>
                </a:spcAft>
                <a:buClrTx/>
                <a:buSzTx/>
                <a:buFontTx/>
                <a:buNone/>
                <a:tabLst/>
                <a:defRPr/>
              </a:pPr>
              <a:t>32</a:t>
            </a:fld>
            <a:endParaRPr kumimoji="0" lang="en-US" sz="1400" b="0" i="0" u="none" strike="noStrike" kern="1200" cap="none" spc="0" normalizeH="0" baseline="0" noProof="0" dirty="0">
              <a:ln>
                <a:noFill/>
              </a:ln>
              <a:solidFill>
                <a:srgbClr val="FFFFFF"/>
              </a:solidFill>
              <a:effectLst/>
              <a:uLnTx/>
              <a:uFillTx/>
              <a:latin typeface="Arial" charset="0"/>
              <a:ea typeface="Osaka" charset="-128"/>
            </a:endParaRPr>
          </a:p>
        </p:txBody>
      </p:sp>
    </p:spTree>
    <p:extLst>
      <p:ext uri="{BB962C8B-B14F-4D97-AF65-F5344CB8AC3E}">
        <p14:creationId xmlns:p14="http://schemas.microsoft.com/office/powerpoint/2010/main" val="3423462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rrowheads="1"/>
          </p:cNvSpPr>
          <p:nvPr>
            <p:ph type="title"/>
          </p:nvPr>
        </p:nvSpPr>
        <p:spPr/>
        <p:txBody>
          <a:bodyPr/>
          <a:lstStyle/>
          <a:p>
            <a:r>
              <a:rPr lang="en-US" altLang="zh-CN" dirty="0"/>
              <a:t>Xen</a:t>
            </a:r>
          </a:p>
        </p:txBody>
      </p:sp>
      <p:sp>
        <p:nvSpPr>
          <p:cNvPr id="38915" name="Rectangle 3"/>
          <p:cNvSpPr>
            <a:spLocks noGrp="1" noRot="1" noChangeArrowheads="1"/>
          </p:cNvSpPr>
          <p:nvPr>
            <p:ph type="body" idx="1"/>
          </p:nvPr>
        </p:nvSpPr>
        <p:spPr/>
        <p:txBody>
          <a:bodyPr/>
          <a:lstStyle/>
          <a:p>
            <a:r>
              <a:rPr lang="en-US" altLang="zh-CN" dirty="0"/>
              <a:t>Design principles:</a:t>
            </a:r>
          </a:p>
          <a:p>
            <a:pPr lvl="1"/>
            <a:r>
              <a:rPr lang="en-US" altLang="zh-CN" dirty="0"/>
              <a:t>Unmodified applications: essential</a:t>
            </a:r>
          </a:p>
          <a:p>
            <a:pPr lvl="1"/>
            <a:r>
              <a:rPr lang="en-US" altLang="zh-CN" dirty="0"/>
              <a:t>Full-blown multi-task O/</a:t>
            </a:r>
            <a:r>
              <a:rPr lang="en-US" altLang="zh-CN" dirty="0" err="1"/>
              <a:t>Ss</a:t>
            </a:r>
            <a:r>
              <a:rPr lang="en-US" altLang="zh-CN" dirty="0"/>
              <a:t>: essential</a:t>
            </a:r>
          </a:p>
          <a:p>
            <a:pPr lvl="1"/>
            <a:r>
              <a:rPr lang="en-US" altLang="zh-CN" dirty="0"/>
              <a:t>Paravirtualization: necessary for performance and isolation</a:t>
            </a:r>
          </a:p>
          <a:p>
            <a:r>
              <a:rPr lang="en-US" sz="2400" b="1" dirty="0"/>
              <a:t>Paul Barham, Boris </a:t>
            </a:r>
            <a:r>
              <a:rPr lang="en-US" sz="2400" b="1" dirty="0" err="1"/>
              <a:t>Dragovic</a:t>
            </a:r>
            <a:r>
              <a:rPr lang="en-US" sz="2400" b="1" dirty="0"/>
              <a:t>, Keir Fraser, Steven Hand, Tim Harris, Alex Ho, Rolf Neugebauer, Ian Pratt, and Andrew Warfield, </a:t>
            </a:r>
            <a:r>
              <a:rPr lang="en-US" sz="2400" b="1" dirty="0">
                <a:hlinkClick r:id="rId2"/>
              </a:rPr>
              <a:t>Xen and the art of Virtualization</a:t>
            </a:r>
            <a:r>
              <a:rPr lang="en-US" sz="2400" b="1" dirty="0"/>
              <a:t>, Proc. of SOSP, October 2003 </a:t>
            </a:r>
          </a:p>
          <a:p>
            <a:endParaRPr lang="en-US" altLang="zh-CN" dirty="0"/>
          </a:p>
          <a:p>
            <a:endParaRPr lang="en-US" altLang="zh-CN" dirty="0"/>
          </a:p>
        </p:txBody>
      </p:sp>
    </p:spTree>
    <p:extLst>
      <p:ext uri="{BB962C8B-B14F-4D97-AF65-F5344CB8AC3E}">
        <p14:creationId xmlns:p14="http://schemas.microsoft.com/office/powerpoint/2010/main" val="20282313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rrowheads="1"/>
          </p:cNvSpPr>
          <p:nvPr>
            <p:ph type="title"/>
          </p:nvPr>
        </p:nvSpPr>
        <p:spPr>
          <a:xfrm>
            <a:off x="685800" y="85494"/>
            <a:ext cx="7772400" cy="773151"/>
          </a:xfrm>
        </p:spPr>
        <p:txBody>
          <a:bodyPr/>
          <a:lstStyle/>
          <a:p>
            <a:r>
              <a:rPr lang="en-US" altLang="zh-CN" dirty="0" err="1"/>
              <a:t>Xen</a:t>
            </a:r>
            <a:endParaRPr lang="en-US" altLang="zh-CN" dirty="0"/>
          </a:p>
        </p:txBody>
      </p:sp>
      <p:pic>
        <p:nvPicPr>
          <p:cNvPr id="56324" name="Picture 4" descr="{37E463D9-190A-4F51-92A4-2A2BC7D2098B}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117" y="858645"/>
            <a:ext cx="8631043" cy="5913861"/>
          </a:xfrm>
          <a:prstGeom prst="rect">
            <a:avLst/>
          </a:prstGeom>
          <a:noFill/>
          <a:extLst>
            <a:ext uri="{909E8E84-426E-40dd-AFC4-6F175D3DCCD1}">
              <a14:hiddenFill xmlns=""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69ECBD8-CE1F-9F4A-BF31-A71C5609AD33}"/>
              </a:ext>
            </a:extLst>
          </p:cNvPr>
          <p:cNvSpPr txBox="1"/>
          <p:nvPr/>
        </p:nvSpPr>
        <p:spPr>
          <a:xfrm>
            <a:off x="1088572" y="858645"/>
            <a:ext cx="1172116" cy="369332"/>
          </a:xfrm>
          <a:prstGeom prst="rect">
            <a:avLst/>
          </a:prstGeom>
          <a:noFill/>
        </p:spPr>
        <p:txBody>
          <a:bodyPr wrap="none" rtlCol="0">
            <a:spAutoFit/>
          </a:bodyPr>
          <a:lstStyle/>
          <a:p>
            <a:r>
              <a:rPr lang="en-US" dirty="0"/>
              <a:t>Domain 0</a:t>
            </a:r>
          </a:p>
        </p:txBody>
      </p:sp>
    </p:spTree>
    <p:extLst>
      <p:ext uri="{BB962C8B-B14F-4D97-AF65-F5344CB8AC3E}">
        <p14:creationId xmlns:p14="http://schemas.microsoft.com/office/powerpoint/2010/main" val="16366751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2673" y="0"/>
            <a:ext cx="7772400" cy="985652"/>
          </a:xfrm>
        </p:spPr>
        <p:txBody>
          <a:bodyPr/>
          <a:lstStyle/>
          <a:p>
            <a:r>
              <a:rPr lang="en-US" dirty="0"/>
              <a:t>Implementation summary</a:t>
            </a:r>
          </a:p>
        </p:txBody>
      </p:sp>
      <p:pic>
        <p:nvPicPr>
          <p:cNvPr id="5" name="Content Placeholder 4" descr="Screen Shot 2016-03-07 at 1.34.43 PM.png"/>
          <p:cNvPicPr>
            <a:picLocks noGrp="1" noChangeAspect="1"/>
          </p:cNvPicPr>
          <p:nvPr>
            <p:ph idx="1"/>
          </p:nvPr>
        </p:nvPicPr>
        <p:blipFill>
          <a:blip r:embed="rId2">
            <a:extLst>
              <a:ext uri="{28A0092B-C50C-407E-A947-70E740481C1C}">
                <a14:useLocalDpi xmlns:a14="http://schemas.microsoft.com/office/drawing/2010/main" val="0"/>
              </a:ext>
            </a:extLst>
          </a:blip>
          <a:srcRect t="-11519" b="-11519"/>
          <a:stretch>
            <a:fillRect/>
          </a:stretch>
        </p:blipFill>
        <p:spPr>
          <a:xfrm>
            <a:off x="0" y="391885"/>
            <a:ext cx="9144000" cy="6803571"/>
          </a:xfrm>
          <a:ln>
            <a:solidFill>
              <a:schemeClr val="accent1"/>
            </a:solidFill>
          </a:ln>
        </p:spPr>
      </p:pic>
      <p:sp>
        <p:nvSpPr>
          <p:cNvPr id="4" name="Slide Number Placeholder 3"/>
          <p:cNvSpPr>
            <a:spLocks noGrp="1"/>
          </p:cNvSpPr>
          <p:nvPr>
            <p:ph type="sldNum" sz="quarter" idx="12"/>
          </p:nvPr>
        </p:nvSpPr>
        <p:spPr>
          <a:xfrm>
            <a:off x="7239000" y="6482575"/>
            <a:ext cx="1905000" cy="457200"/>
          </a:xfrm>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9B7329EC-83B4-8A42-B6D8-8C023A66771E}" type="slidenum">
              <a:rPr kumimoji="0" lang="en-US" sz="1400" b="0" i="0" u="none" strike="noStrike" kern="1200" cap="none" spc="0" normalizeH="0" baseline="0" noProof="0" smtClean="0">
                <a:ln>
                  <a:noFill/>
                </a:ln>
                <a:solidFill>
                  <a:srgbClr val="FFFFFF"/>
                </a:solidFill>
                <a:effectLst/>
                <a:uLnTx/>
                <a:uFillTx/>
                <a:latin typeface="Arial" charset="0"/>
                <a:ea typeface="Osaka" charset="-128"/>
              </a:rPr>
              <a:pPr marL="0" marR="0" lvl="0" indent="0" algn="r" defTabSz="914400" rtl="0" eaLnBrk="0" fontAlgn="base" latinLnBrk="0" hangingPunct="0">
                <a:lnSpc>
                  <a:spcPct val="100000"/>
                </a:lnSpc>
                <a:spcBef>
                  <a:spcPct val="0"/>
                </a:spcBef>
                <a:spcAft>
                  <a:spcPct val="0"/>
                </a:spcAft>
                <a:buClrTx/>
                <a:buSzTx/>
                <a:buFontTx/>
                <a:buNone/>
                <a:tabLst/>
                <a:defRPr/>
              </a:pPr>
              <a:t>35</a:t>
            </a:fld>
            <a:endParaRPr kumimoji="0" lang="en-US" sz="1400" b="0" i="0" u="none" strike="noStrike" kern="1200" cap="none" spc="0" normalizeH="0" baseline="0" noProof="0" dirty="0">
              <a:ln>
                <a:noFill/>
              </a:ln>
              <a:solidFill>
                <a:srgbClr val="FFFFFF"/>
              </a:solidFill>
              <a:effectLst/>
              <a:uLnTx/>
              <a:uFillTx/>
              <a:latin typeface="Arial" charset="0"/>
              <a:ea typeface="Osaka" charset="-128"/>
            </a:endParaRPr>
          </a:p>
        </p:txBody>
      </p:sp>
      <p:sp>
        <p:nvSpPr>
          <p:cNvPr id="3" name="TextBox 2">
            <a:extLst>
              <a:ext uri="{FF2B5EF4-FFF2-40B4-BE49-F238E27FC236}">
                <a16:creationId xmlns:a16="http://schemas.microsoft.com/office/drawing/2014/main" id="{31169DE6-5235-464A-AEEA-858607F027FA}"/>
              </a:ext>
            </a:extLst>
          </p:cNvPr>
          <p:cNvSpPr txBox="1"/>
          <p:nvPr/>
        </p:nvSpPr>
        <p:spPr>
          <a:xfrm>
            <a:off x="195943" y="413657"/>
            <a:ext cx="1197764" cy="369332"/>
          </a:xfrm>
          <a:prstGeom prst="rect">
            <a:avLst/>
          </a:prstGeom>
          <a:noFill/>
        </p:spPr>
        <p:txBody>
          <a:bodyPr wrap="none" rtlCol="0">
            <a:spAutoFit/>
          </a:bodyPr>
          <a:lstStyle/>
          <a:p>
            <a:r>
              <a:rPr lang="en-US" dirty="0"/>
              <a:t>Guest OS</a:t>
            </a:r>
          </a:p>
        </p:txBody>
      </p:sp>
    </p:spTree>
    <p:extLst>
      <p:ext uri="{BB962C8B-B14F-4D97-AF65-F5344CB8AC3E}">
        <p14:creationId xmlns:p14="http://schemas.microsoft.com/office/powerpoint/2010/main" val="30895792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rrowheads="1"/>
          </p:cNvSpPr>
          <p:nvPr>
            <p:ph type="title"/>
          </p:nvPr>
        </p:nvSpPr>
        <p:spPr>
          <a:xfrm>
            <a:off x="685800" y="190500"/>
            <a:ext cx="7772400" cy="1143000"/>
          </a:xfrm>
        </p:spPr>
        <p:txBody>
          <a:bodyPr/>
          <a:lstStyle/>
          <a:p>
            <a:r>
              <a:rPr lang="en-US" altLang="zh-CN" dirty="0"/>
              <a:t>Xen VM interface: Memory</a:t>
            </a:r>
          </a:p>
        </p:txBody>
      </p:sp>
      <p:sp>
        <p:nvSpPr>
          <p:cNvPr id="37891" name="Rectangle 3"/>
          <p:cNvSpPr>
            <a:spLocks noGrp="1" noRot="1" noChangeArrowheads="1"/>
          </p:cNvSpPr>
          <p:nvPr>
            <p:ph type="body" idx="1"/>
          </p:nvPr>
        </p:nvSpPr>
        <p:spPr>
          <a:xfrm>
            <a:off x="381000" y="1333500"/>
            <a:ext cx="8501743" cy="4762500"/>
          </a:xfrm>
        </p:spPr>
        <p:txBody>
          <a:bodyPr/>
          <a:lstStyle/>
          <a:p>
            <a:r>
              <a:rPr lang="en-US" altLang="zh-CN" dirty="0"/>
              <a:t>Memory management</a:t>
            </a:r>
          </a:p>
          <a:p>
            <a:pPr lvl="1"/>
            <a:r>
              <a:rPr lang="en-US" altLang="zh-CN" dirty="0"/>
              <a:t>Guest cannot install highest privilege level segment descriptors; top end of linear address space is not accessible</a:t>
            </a:r>
          </a:p>
          <a:p>
            <a:pPr lvl="2"/>
            <a:r>
              <a:rPr lang="en-US" altLang="zh-CN" dirty="0"/>
              <a:t>Kernel direct mapping space</a:t>
            </a:r>
          </a:p>
          <a:p>
            <a:pPr lvl="1"/>
            <a:r>
              <a:rPr lang="en-US" altLang="zh-CN" dirty="0"/>
              <a:t>Guest has direct (not trapped) read access to hardware page tables; writes are trapped and handled by the VMM</a:t>
            </a:r>
          </a:p>
          <a:p>
            <a:pPr lvl="1"/>
            <a:r>
              <a:rPr lang="en-US" altLang="zh-CN" dirty="0"/>
              <a:t>Physical memory presented to guest is not necessarily contiguous</a:t>
            </a:r>
          </a:p>
          <a:p>
            <a:r>
              <a:rPr lang="en-US" altLang="zh-CN" dirty="0"/>
              <a:t>‘Guest’ </a:t>
            </a:r>
            <a:r>
              <a:rPr lang="en-US" altLang="zh-CN" dirty="0">
                <a:sym typeface="Wingdings" pitchFamily="2" charset="2"/>
              </a:rPr>
              <a:t> Guest OS</a:t>
            </a:r>
            <a:endParaRPr lang="en-US" altLang="zh-CN" dirty="0"/>
          </a:p>
        </p:txBody>
      </p:sp>
    </p:spTree>
    <p:extLst>
      <p:ext uri="{BB962C8B-B14F-4D97-AF65-F5344CB8AC3E}">
        <p14:creationId xmlns:p14="http://schemas.microsoft.com/office/powerpoint/2010/main" val="41417211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7772400" cy="1143000"/>
          </a:xfrm>
        </p:spPr>
        <p:txBody>
          <a:bodyPr/>
          <a:lstStyle/>
          <a:p>
            <a:r>
              <a:rPr lang="en-US" dirty="0"/>
              <a:t>Two Layers of Virtual Memory</a:t>
            </a:r>
          </a:p>
        </p:txBody>
      </p:sp>
      <p:sp>
        <p:nvSpPr>
          <p:cNvPr id="6" name="Rectangle 5"/>
          <p:cNvSpPr/>
          <p:nvPr/>
        </p:nvSpPr>
        <p:spPr>
          <a:xfrm>
            <a:off x="627799" y="3111692"/>
            <a:ext cx="873457" cy="2265529"/>
          </a:xfrm>
          <a:prstGeom prst="rect">
            <a:avLst/>
          </a:prstGeom>
          <a:solidFill>
            <a:schemeClr val="accent1">
              <a:lumMod val="40000"/>
              <a:lumOff val="6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25000" noProof="0">
              <a:ln>
                <a:noFill/>
              </a:ln>
              <a:solidFill>
                <a:srgbClr val="FFFFFF"/>
              </a:solidFill>
              <a:effectLst/>
              <a:uLnTx/>
              <a:uFillTx/>
              <a:latin typeface="Arial"/>
              <a:ea typeface="Osaka"/>
            </a:endParaRPr>
          </a:p>
        </p:txBody>
      </p:sp>
      <p:sp>
        <p:nvSpPr>
          <p:cNvPr id="9" name="TextBox 8"/>
          <p:cNvSpPr txBox="1"/>
          <p:nvPr/>
        </p:nvSpPr>
        <p:spPr>
          <a:xfrm>
            <a:off x="275529" y="2326947"/>
            <a:ext cx="1577997" cy="707886"/>
          </a:xfrm>
          <a:prstGeom prst="rect">
            <a:avLst/>
          </a:prstGeom>
          <a:noFill/>
        </p:spPr>
        <p:txBody>
          <a:bodyPr wrap="non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1200" cap="none" spc="0" normalizeH="0" baseline="-25000" noProof="0" dirty="0">
                <a:ln>
                  <a:noFill/>
                </a:ln>
                <a:solidFill>
                  <a:srgbClr val="FFFFFF"/>
                </a:solidFill>
                <a:effectLst/>
                <a:uLnTx/>
                <a:uFillTx/>
                <a:latin typeface="Arial" charset="0"/>
                <a:ea typeface="ＭＳ Ｐゴシック" charset="-128"/>
              </a:rPr>
              <a:t>Guest App’s</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1200" cap="none" spc="0" normalizeH="0" baseline="-25000" noProof="0" dirty="0">
                <a:ln>
                  <a:noFill/>
                </a:ln>
                <a:solidFill>
                  <a:srgbClr val="FFFFFF"/>
                </a:solidFill>
                <a:effectLst/>
                <a:uLnTx/>
                <a:uFillTx/>
                <a:latin typeface="Arial" charset="0"/>
                <a:ea typeface="ＭＳ Ｐゴシック" charset="-128"/>
              </a:rPr>
              <a:t>View of RAM</a:t>
            </a:r>
          </a:p>
        </p:txBody>
      </p:sp>
      <p:sp>
        <p:nvSpPr>
          <p:cNvPr id="12" name="Rectangle 11"/>
          <p:cNvSpPr/>
          <p:nvPr/>
        </p:nvSpPr>
        <p:spPr>
          <a:xfrm>
            <a:off x="627799" y="3289110"/>
            <a:ext cx="873457" cy="4367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a:ea typeface="Osaka"/>
              </a:rPr>
              <a:t>Page 3</a:t>
            </a:r>
          </a:p>
        </p:txBody>
      </p:sp>
      <p:sp>
        <p:nvSpPr>
          <p:cNvPr id="13" name="Rectangle 12"/>
          <p:cNvSpPr/>
          <p:nvPr/>
        </p:nvSpPr>
        <p:spPr>
          <a:xfrm>
            <a:off x="627799" y="3725839"/>
            <a:ext cx="873457" cy="4367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a:ea typeface="Osaka"/>
              </a:rPr>
              <a:t>Page 2</a:t>
            </a:r>
          </a:p>
        </p:txBody>
      </p:sp>
      <p:sp>
        <p:nvSpPr>
          <p:cNvPr id="14" name="Rectangle 13"/>
          <p:cNvSpPr/>
          <p:nvPr/>
        </p:nvSpPr>
        <p:spPr>
          <a:xfrm>
            <a:off x="627799" y="4162568"/>
            <a:ext cx="873457" cy="4367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a:ea typeface="Osaka"/>
              </a:rPr>
              <a:t>Page 1</a:t>
            </a:r>
          </a:p>
        </p:txBody>
      </p:sp>
      <p:sp>
        <p:nvSpPr>
          <p:cNvPr id="15" name="Rectangle 14"/>
          <p:cNvSpPr/>
          <p:nvPr/>
        </p:nvSpPr>
        <p:spPr>
          <a:xfrm>
            <a:off x="627799" y="4601573"/>
            <a:ext cx="873457" cy="4367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a:ea typeface="Osaka"/>
              </a:rPr>
              <a:t>Page 0</a:t>
            </a:r>
          </a:p>
        </p:txBody>
      </p:sp>
      <p:grpSp>
        <p:nvGrpSpPr>
          <p:cNvPr id="56" name="Group 55"/>
          <p:cNvGrpSpPr/>
          <p:nvPr/>
        </p:nvGrpSpPr>
        <p:grpSpPr>
          <a:xfrm>
            <a:off x="6361775" y="950798"/>
            <a:ext cx="2518072" cy="5756659"/>
            <a:chOff x="6361775" y="950798"/>
            <a:chExt cx="2518072" cy="5756659"/>
          </a:xfrm>
        </p:grpSpPr>
        <p:sp>
          <p:nvSpPr>
            <p:cNvPr id="8" name="Rectangle 7"/>
            <p:cNvSpPr/>
            <p:nvPr/>
          </p:nvSpPr>
          <p:spPr>
            <a:xfrm>
              <a:off x="7654118" y="1726446"/>
              <a:ext cx="873457" cy="4851357"/>
            </a:xfrm>
            <a:prstGeom prst="rect">
              <a:avLst/>
            </a:prstGeom>
            <a:solidFill>
              <a:schemeClr val="accent1">
                <a:lumMod val="40000"/>
                <a:lumOff val="6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25000" noProof="0">
                <a:ln>
                  <a:noFill/>
                </a:ln>
                <a:solidFill>
                  <a:srgbClr val="FFFFFF"/>
                </a:solidFill>
                <a:effectLst/>
                <a:uLnTx/>
                <a:uFillTx/>
                <a:latin typeface="Arial"/>
                <a:ea typeface="Osaka"/>
              </a:endParaRPr>
            </a:p>
          </p:txBody>
        </p:sp>
        <p:sp>
          <p:nvSpPr>
            <p:cNvPr id="11" name="TextBox 10"/>
            <p:cNvSpPr txBox="1"/>
            <p:nvPr/>
          </p:nvSpPr>
          <p:spPr>
            <a:xfrm>
              <a:off x="7301850" y="950798"/>
              <a:ext cx="1577997" cy="707886"/>
            </a:xfrm>
            <a:prstGeom prst="rect">
              <a:avLst/>
            </a:prstGeom>
            <a:noFill/>
          </p:spPr>
          <p:txBody>
            <a:bodyPr wrap="non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1200" cap="none" spc="0" normalizeH="0" baseline="-25000" noProof="0" dirty="0">
                  <a:ln>
                    <a:noFill/>
                  </a:ln>
                  <a:solidFill>
                    <a:srgbClr val="FFFFFF"/>
                  </a:solidFill>
                  <a:effectLst/>
                  <a:uLnTx/>
                  <a:uFillTx/>
                  <a:latin typeface="Arial" charset="0"/>
                  <a:ea typeface="ＭＳ Ｐゴシック" charset="-128"/>
                </a:rPr>
                <a:t>Host OS’s</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1200" cap="none" spc="0" normalizeH="0" baseline="-25000" noProof="0" dirty="0">
                  <a:ln>
                    <a:noFill/>
                  </a:ln>
                  <a:solidFill>
                    <a:srgbClr val="FFFFFF"/>
                  </a:solidFill>
                  <a:effectLst/>
                  <a:uLnTx/>
                  <a:uFillTx/>
                  <a:latin typeface="Arial" charset="0"/>
                  <a:ea typeface="ＭＳ Ｐゴシック" charset="-128"/>
                </a:rPr>
                <a:t>View of RAM</a:t>
              </a:r>
            </a:p>
          </p:txBody>
        </p:sp>
        <p:sp>
          <p:nvSpPr>
            <p:cNvPr id="20" name="Rectangle 19"/>
            <p:cNvSpPr/>
            <p:nvPr/>
          </p:nvSpPr>
          <p:spPr>
            <a:xfrm>
              <a:off x="7654118" y="4069318"/>
              <a:ext cx="873457" cy="436729"/>
            </a:xfrm>
            <a:prstGeom prst="rect">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a:ea typeface="Osaka"/>
                </a:rPr>
                <a:t>Page 3</a:t>
              </a:r>
            </a:p>
          </p:txBody>
        </p:sp>
        <p:sp>
          <p:nvSpPr>
            <p:cNvPr id="21" name="Rectangle 20"/>
            <p:cNvSpPr/>
            <p:nvPr/>
          </p:nvSpPr>
          <p:spPr>
            <a:xfrm>
              <a:off x="7654117" y="2379738"/>
              <a:ext cx="873457" cy="436729"/>
            </a:xfrm>
            <a:prstGeom prst="rect">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a:ea typeface="Osaka"/>
                </a:rPr>
                <a:t>Page 2</a:t>
              </a:r>
            </a:p>
          </p:txBody>
        </p:sp>
        <p:sp>
          <p:nvSpPr>
            <p:cNvPr id="22" name="Rectangle 21"/>
            <p:cNvSpPr/>
            <p:nvPr/>
          </p:nvSpPr>
          <p:spPr>
            <a:xfrm>
              <a:off x="7654119" y="4940492"/>
              <a:ext cx="873457" cy="436729"/>
            </a:xfrm>
            <a:prstGeom prst="rect">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a:ea typeface="Osaka"/>
                </a:rPr>
                <a:t>Page 1</a:t>
              </a:r>
            </a:p>
          </p:txBody>
        </p:sp>
        <p:sp>
          <p:nvSpPr>
            <p:cNvPr id="23" name="Rectangle 22"/>
            <p:cNvSpPr/>
            <p:nvPr/>
          </p:nvSpPr>
          <p:spPr>
            <a:xfrm>
              <a:off x="7654117" y="2816467"/>
              <a:ext cx="873457" cy="436729"/>
            </a:xfrm>
            <a:prstGeom prst="rect">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a:ea typeface="Osaka"/>
                </a:rPr>
                <a:t>Page 0</a:t>
              </a:r>
            </a:p>
          </p:txBody>
        </p:sp>
        <p:sp>
          <p:nvSpPr>
            <p:cNvPr id="24" name="TextBox 23"/>
            <p:cNvSpPr txBox="1"/>
            <p:nvPr/>
          </p:nvSpPr>
          <p:spPr>
            <a:xfrm>
              <a:off x="6406660" y="1541780"/>
              <a:ext cx="1247457"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charset="0"/>
                  <a:ea typeface="ＭＳ Ｐゴシック" charset="-128"/>
                </a:rPr>
                <a:t>0xFFFFFFFF</a:t>
              </a:r>
            </a:p>
          </p:txBody>
        </p:sp>
        <p:sp>
          <p:nvSpPr>
            <p:cNvPr id="25" name="TextBox 24"/>
            <p:cNvSpPr txBox="1"/>
            <p:nvPr/>
          </p:nvSpPr>
          <p:spPr>
            <a:xfrm>
              <a:off x="6361775" y="6338125"/>
              <a:ext cx="1337226"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charset="0"/>
                  <a:ea typeface="ＭＳ Ｐゴシック" charset="-128"/>
                </a:rPr>
                <a:t>0x00000000</a:t>
              </a:r>
            </a:p>
          </p:txBody>
        </p:sp>
      </p:grpSp>
      <p:grpSp>
        <p:nvGrpSpPr>
          <p:cNvPr id="55" name="Group 54"/>
          <p:cNvGrpSpPr/>
          <p:nvPr/>
        </p:nvGrpSpPr>
        <p:grpSpPr>
          <a:xfrm>
            <a:off x="3277805" y="1726446"/>
            <a:ext cx="2064995" cy="4394156"/>
            <a:chOff x="3277805" y="1726446"/>
            <a:chExt cx="2064995" cy="4394156"/>
          </a:xfrm>
        </p:grpSpPr>
        <p:sp>
          <p:nvSpPr>
            <p:cNvPr id="7" name="Rectangle 6"/>
            <p:cNvSpPr/>
            <p:nvPr/>
          </p:nvSpPr>
          <p:spPr>
            <a:xfrm>
              <a:off x="4117073" y="2531663"/>
              <a:ext cx="873457" cy="3425589"/>
            </a:xfrm>
            <a:prstGeom prst="rect">
              <a:avLst/>
            </a:prstGeom>
            <a:solidFill>
              <a:schemeClr val="accent1">
                <a:lumMod val="40000"/>
                <a:lumOff val="6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25000" noProof="0">
                <a:ln>
                  <a:noFill/>
                </a:ln>
                <a:solidFill>
                  <a:srgbClr val="FFFFFF"/>
                </a:solidFill>
                <a:effectLst/>
                <a:uLnTx/>
                <a:uFillTx/>
                <a:latin typeface="Arial"/>
                <a:ea typeface="Osaka"/>
              </a:endParaRPr>
            </a:p>
          </p:txBody>
        </p:sp>
        <p:sp>
          <p:nvSpPr>
            <p:cNvPr id="10" name="TextBox 9"/>
            <p:cNvSpPr txBox="1"/>
            <p:nvPr/>
          </p:nvSpPr>
          <p:spPr>
            <a:xfrm>
              <a:off x="3764803" y="1726446"/>
              <a:ext cx="1577997" cy="707886"/>
            </a:xfrm>
            <a:prstGeom prst="rect">
              <a:avLst/>
            </a:prstGeom>
            <a:noFill/>
          </p:spPr>
          <p:txBody>
            <a:bodyPr wrap="non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1200" cap="none" spc="0" normalizeH="0" baseline="-25000" noProof="0" dirty="0">
                  <a:ln>
                    <a:noFill/>
                  </a:ln>
                  <a:solidFill>
                    <a:srgbClr val="FFFFFF"/>
                  </a:solidFill>
                  <a:effectLst/>
                  <a:uLnTx/>
                  <a:uFillTx/>
                  <a:latin typeface="Arial" charset="0"/>
                  <a:ea typeface="ＭＳ Ｐゴシック" charset="-128"/>
                </a:rPr>
                <a:t>Guest OS’s</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1200" cap="none" spc="0" normalizeH="0" baseline="-25000" noProof="0" dirty="0">
                  <a:ln>
                    <a:noFill/>
                  </a:ln>
                  <a:solidFill>
                    <a:srgbClr val="FFFFFF"/>
                  </a:solidFill>
                  <a:effectLst/>
                  <a:uLnTx/>
                  <a:uFillTx/>
                  <a:latin typeface="Arial" charset="0"/>
                  <a:ea typeface="ＭＳ Ｐゴシック" charset="-128"/>
                </a:rPr>
                <a:t>View of RAM</a:t>
              </a:r>
            </a:p>
          </p:txBody>
        </p:sp>
        <p:sp>
          <p:nvSpPr>
            <p:cNvPr id="16" name="Rectangle 15"/>
            <p:cNvSpPr/>
            <p:nvPr/>
          </p:nvSpPr>
          <p:spPr>
            <a:xfrm>
              <a:off x="4117072" y="4797194"/>
              <a:ext cx="873457" cy="436729"/>
            </a:xfrm>
            <a:prstGeom prst="rect">
              <a:avLst/>
            </a:prstGeom>
            <a:solidFill>
              <a:schemeClr val="accent4"/>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a:ea typeface="Osaka"/>
                </a:rPr>
                <a:t>Page 3</a:t>
              </a:r>
            </a:p>
          </p:txBody>
        </p:sp>
        <p:sp>
          <p:nvSpPr>
            <p:cNvPr id="17" name="Rectangle 16"/>
            <p:cNvSpPr/>
            <p:nvPr/>
          </p:nvSpPr>
          <p:spPr>
            <a:xfrm>
              <a:off x="4117073" y="5233923"/>
              <a:ext cx="873457" cy="436729"/>
            </a:xfrm>
            <a:prstGeom prst="rect">
              <a:avLst/>
            </a:prstGeom>
            <a:solidFill>
              <a:schemeClr val="accent4"/>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a:ea typeface="Osaka"/>
                </a:rPr>
                <a:t>Page 2</a:t>
              </a:r>
            </a:p>
          </p:txBody>
        </p:sp>
        <p:sp>
          <p:nvSpPr>
            <p:cNvPr id="18" name="Rectangle 17"/>
            <p:cNvSpPr/>
            <p:nvPr/>
          </p:nvSpPr>
          <p:spPr>
            <a:xfrm>
              <a:off x="4117073" y="3744041"/>
              <a:ext cx="873457" cy="436729"/>
            </a:xfrm>
            <a:prstGeom prst="rect">
              <a:avLst/>
            </a:prstGeom>
            <a:solidFill>
              <a:schemeClr val="accent4"/>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a:ea typeface="Osaka"/>
                </a:rPr>
                <a:t>Page 1</a:t>
              </a:r>
            </a:p>
          </p:txBody>
        </p:sp>
        <p:sp>
          <p:nvSpPr>
            <p:cNvPr id="19" name="Rectangle 18"/>
            <p:cNvSpPr/>
            <p:nvPr/>
          </p:nvSpPr>
          <p:spPr>
            <a:xfrm>
              <a:off x="4117071" y="2816468"/>
              <a:ext cx="873457" cy="436729"/>
            </a:xfrm>
            <a:prstGeom prst="rect">
              <a:avLst/>
            </a:prstGeom>
            <a:solidFill>
              <a:schemeClr val="accent4"/>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a:ea typeface="Osaka"/>
                </a:rPr>
                <a:t>Page 0</a:t>
              </a:r>
            </a:p>
          </p:txBody>
        </p:sp>
        <p:sp>
          <p:nvSpPr>
            <p:cNvPr id="26" name="TextBox 25"/>
            <p:cNvSpPr txBox="1"/>
            <p:nvPr/>
          </p:nvSpPr>
          <p:spPr>
            <a:xfrm>
              <a:off x="3281747" y="2346997"/>
              <a:ext cx="824265"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charset="0"/>
                  <a:ea typeface="ＭＳ Ｐゴシック" charset="-128"/>
                </a:rPr>
                <a:t>0xFFFF</a:t>
              </a:r>
            </a:p>
          </p:txBody>
        </p:sp>
        <p:sp>
          <p:nvSpPr>
            <p:cNvPr id="27" name="TextBox 26"/>
            <p:cNvSpPr txBox="1"/>
            <p:nvPr/>
          </p:nvSpPr>
          <p:spPr>
            <a:xfrm>
              <a:off x="3277805" y="5751270"/>
              <a:ext cx="869149"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charset="0"/>
                  <a:ea typeface="ＭＳ Ｐゴシック" charset="-128"/>
                </a:rPr>
                <a:t>0x0000</a:t>
              </a:r>
            </a:p>
          </p:txBody>
        </p:sp>
      </p:grpSp>
      <p:sp>
        <p:nvSpPr>
          <p:cNvPr id="28" name="TextBox 27"/>
          <p:cNvSpPr txBox="1"/>
          <p:nvPr/>
        </p:nvSpPr>
        <p:spPr>
          <a:xfrm>
            <a:off x="15131" y="2927026"/>
            <a:ext cx="612668"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charset="0"/>
                <a:ea typeface="ＭＳ Ｐゴシック" charset="-128"/>
              </a:rPr>
              <a:t>0xFF</a:t>
            </a:r>
          </a:p>
        </p:txBody>
      </p:sp>
      <p:sp>
        <p:nvSpPr>
          <p:cNvPr id="29" name="TextBox 28"/>
          <p:cNvSpPr txBox="1"/>
          <p:nvPr/>
        </p:nvSpPr>
        <p:spPr>
          <a:xfrm>
            <a:off x="-7311" y="5192555"/>
            <a:ext cx="635110"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charset="0"/>
                <a:ea typeface="ＭＳ Ｐゴシック" charset="-128"/>
              </a:rPr>
              <a:t>0x00</a:t>
            </a:r>
          </a:p>
        </p:txBody>
      </p:sp>
      <p:cxnSp>
        <p:nvCxnSpPr>
          <p:cNvPr id="31" name="Straight Arrow Connector 30"/>
          <p:cNvCxnSpPr>
            <a:endCxn id="16" idx="1"/>
          </p:cNvCxnSpPr>
          <p:nvPr/>
        </p:nvCxnSpPr>
        <p:spPr>
          <a:xfrm>
            <a:off x="1501256" y="3507474"/>
            <a:ext cx="2615816" cy="1508085"/>
          </a:xfrm>
          <a:prstGeom prst="straightConnector1">
            <a:avLst/>
          </a:prstGeom>
          <a:ln w="57150">
            <a:solidFill>
              <a:schemeClr val="tx1">
                <a:lumMod val="75000"/>
                <a:lumOff val="2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3" idx="3"/>
            <a:endCxn id="17" idx="1"/>
          </p:cNvCxnSpPr>
          <p:nvPr/>
        </p:nvCxnSpPr>
        <p:spPr>
          <a:xfrm>
            <a:off x="1501256" y="3944204"/>
            <a:ext cx="2615817" cy="1508084"/>
          </a:xfrm>
          <a:prstGeom prst="straightConnector1">
            <a:avLst/>
          </a:prstGeom>
          <a:ln w="57150">
            <a:solidFill>
              <a:schemeClr val="tx1">
                <a:lumMod val="75000"/>
                <a:lumOff val="2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4" idx="3"/>
            <a:endCxn id="18" idx="1"/>
          </p:cNvCxnSpPr>
          <p:nvPr/>
        </p:nvCxnSpPr>
        <p:spPr>
          <a:xfrm flipV="1">
            <a:off x="1501256" y="3962406"/>
            <a:ext cx="2615817" cy="418527"/>
          </a:xfrm>
          <a:prstGeom prst="straightConnector1">
            <a:avLst/>
          </a:prstGeom>
          <a:ln w="57150">
            <a:solidFill>
              <a:schemeClr val="tx1">
                <a:lumMod val="75000"/>
                <a:lumOff val="2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15" idx="3"/>
            <a:endCxn id="19" idx="1"/>
          </p:cNvCxnSpPr>
          <p:nvPr/>
        </p:nvCxnSpPr>
        <p:spPr>
          <a:xfrm flipV="1">
            <a:off x="1501256" y="3034833"/>
            <a:ext cx="2615815" cy="1785105"/>
          </a:xfrm>
          <a:prstGeom prst="straightConnector1">
            <a:avLst/>
          </a:prstGeom>
          <a:ln w="57150">
            <a:solidFill>
              <a:schemeClr val="tx1">
                <a:lumMod val="75000"/>
                <a:lumOff val="2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9" idx="3"/>
            <a:endCxn id="23" idx="1"/>
          </p:cNvCxnSpPr>
          <p:nvPr/>
        </p:nvCxnSpPr>
        <p:spPr>
          <a:xfrm flipV="1">
            <a:off x="4990528" y="3034832"/>
            <a:ext cx="2663589" cy="1"/>
          </a:xfrm>
          <a:prstGeom prst="straightConnector1">
            <a:avLst/>
          </a:prstGeom>
          <a:ln w="57150">
            <a:solidFill>
              <a:schemeClr val="tx1">
                <a:lumMod val="75000"/>
                <a:lumOff val="2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endCxn id="22" idx="1"/>
          </p:cNvCxnSpPr>
          <p:nvPr/>
        </p:nvCxnSpPr>
        <p:spPr>
          <a:xfrm>
            <a:off x="4990530" y="3962407"/>
            <a:ext cx="2663589" cy="1196450"/>
          </a:xfrm>
          <a:prstGeom prst="straightConnector1">
            <a:avLst/>
          </a:prstGeom>
          <a:ln w="57150">
            <a:solidFill>
              <a:schemeClr val="tx1">
                <a:lumMod val="75000"/>
                <a:lumOff val="2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endCxn id="20" idx="1"/>
          </p:cNvCxnSpPr>
          <p:nvPr/>
        </p:nvCxnSpPr>
        <p:spPr>
          <a:xfrm flipV="1">
            <a:off x="4990530" y="4287683"/>
            <a:ext cx="2663588" cy="750619"/>
          </a:xfrm>
          <a:prstGeom prst="straightConnector1">
            <a:avLst/>
          </a:prstGeom>
          <a:ln w="57150">
            <a:solidFill>
              <a:schemeClr val="tx1">
                <a:lumMod val="75000"/>
                <a:lumOff val="2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17" idx="3"/>
            <a:endCxn id="21" idx="1"/>
          </p:cNvCxnSpPr>
          <p:nvPr/>
        </p:nvCxnSpPr>
        <p:spPr>
          <a:xfrm flipV="1">
            <a:off x="4990530" y="2598103"/>
            <a:ext cx="2663587" cy="2854185"/>
          </a:xfrm>
          <a:prstGeom prst="straightConnector1">
            <a:avLst/>
          </a:prstGeom>
          <a:ln w="57150">
            <a:solidFill>
              <a:schemeClr val="tx1">
                <a:lumMod val="75000"/>
                <a:lumOff val="2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3" name="Rectangular Callout 52"/>
          <p:cNvSpPr/>
          <p:nvPr/>
        </p:nvSpPr>
        <p:spPr>
          <a:xfrm>
            <a:off x="1012187" y="1162099"/>
            <a:ext cx="2515760" cy="993169"/>
          </a:xfrm>
          <a:prstGeom prst="wedgeRectCallout">
            <a:avLst>
              <a:gd name="adj1" fmla="val 10958"/>
              <a:gd name="adj2" fmla="val 219351"/>
            </a:avLst>
          </a:prstGeom>
          <a:solidFill>
            <a:schemeClr val="accent2"/>
          </a:solidFill>
          <a:ln w="571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a:ea typeface="Osaka"/>
              </a:rPr>
              <a:t>Virtual address </a:t>
            </a:r>
            <a:r>
              <a:rPr kumimoji="0" lang="en-US" sz="2400" b="0" i="0" u="none" strike="noStrike" kern="1200" cap="none" spc="0" normalizeH="0" baseline="-25000" noProof="0" dirty="0">
                <a:ln>
                  <a:noFill/>
                </a:ln>
                <a:solidFill>
                  <a:srgbClr val="FFFFFF"/>
                </a:solidFill>
                <a:effectLst/>
                <a:uLnTx/>
                <a:uFillTx/>
                <a:latin typeface="Arial"/>
                <a:ea typeface="Osaka"/>
                <a:sym typeface="Wingdings" panose="05000000000000000000" pitchFamily="2" charset="2"/>
              </a:rPr>
              <a:t> physical address</a:t>
            </a:r>
            <a:endParaRPr kumimoji="0" lang="en-US" sz="2400" b="0" i="0" u="none" strike="noStrike" kern="1200" cap="none" spc="0" normalizeH="0" baseline="-25000" noProof="0" dirty="0">
              <a:ln>
                <a:noFill/>
              </a:ln>
              <a:solidFill>
                <a:srgbClr val="FFFFFF"/>
              </a:solidFill>
              <a:effectLst/>
              <a:uLnTx/>
              <a:uFillTx/>
              <a:latin typeface="Arial"/>
              <a:ea typeface="Osaka"/>
            </a:endParaRPr>
          </a:p>
        </p:txBody>
      </p:sp>
      <p:sp>
        <p:nvSpPr>
          <p:cNvPr id="54" name="Rectangular Callout 53"/>
          <p:cNvSpPr/>
          <p:nvPr/>
        </p:nvSpPr>
        <p:spPr>
          <a:xfrm>
            <a:off x="4117073" y="413989"/>
            <a:ext cx="2677258" cy="993169"/>
          </a:xfrm>
          <a:prstGeom prst="wedgeRectCallout">
            <a:avLst>
              <a:gd name="adj1" fmla="val 21794"/>
              <a:gd name="adj2" fmla="val 310045"/>
            </a:avLst>
          </a:prstGeom>
          <a:solidFill>
            <a:schemeClr val="accent2"/>
          </a:solidFill>
          <a:ln w="571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a:ea typeface="Osaka"/>
              </a:rPr>
              <a:t>Physical address </a:t>
            </a:r>
            <a:r>
              <a:rPr kumimoji="0" lang="en-US" sz="2400" b="0" i="0" u="none" strike="noStrike" kern="1200" cap="none" spc="0" normalizeH="0" baseline="-25000" noProof="0" dirty="0">
                <a:ln>
                  <a:noFill/>
                </a:ln>
                <a:solidFill>
                  <a:srgbClr val="FFFFFF"/>
                </a:solidFill>
                <a:effectLst/>
                <a:uLnTx/>
                <a:uFillTx/>
                <a:latin typeface="Arial"/>
                <a:ea typeface="Osaka"/>
                <a:sym typeface="Wingdings" panose="05000000000000000000" pitchFamily="2" charset="2"/>
              </a:rPr>
              <a:t> machine address</a:t>
            </a:r>
            <a:endParaRPr kumimoji="0" lang="en-US" sz="2400" b="0" i="0" u="none" strike="noStrike" kern="1200" cap="none" spc="0" normalizeH="0" baseline="-25000" noProof="0" dirty="0">
              <a:ln>
                <a:noFill/>
              </a:ln>
              <a:solidFill>
                <a:srgbClr val="FFFFFF"/>
              </a:solidFill>
              <a:effectLst/>
              <a:uLnTx/>
              <a:uFillTx/>
              <a:latin typeface="Arial"/>
              <a:ea typeface="Osaka"/>
            </a:endParaRPr>
          </a:p>
        </p:txBody>
      </p:sp>
      <p:sp>
        <p:nvSpPr>
          <p:cNvPr id="57" name="Rectangular Callout 56"/>
          <p:cNvSpPr/>
          <p:nvPr/>
        </p:nvSpPr>
        <p:spPr>
          <a:xfrm>
            <a:off x="1064527" y="5584634"/>
            <a:ext cx="1762858" cy="993169"/>
          </a:xfrm>
          <a:prstGeom prst="wedgeRectCallout">
            <a:avLst>
              <a:gd name="adj1" fmla="val 31861"/>
              <a:gd name="adj2" fmla="val -142054"/>
            </a:avLst>
          </a:prstGeom>
          <a:solidFill>
            <a:schemeClr val="accent2"/>
          </a:solidFill>
          <a:ln w="571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a:ea typeface="Osaka"/>
              </a:rPr>
              <a:t>Known to the guest OS</a:t>
            </a:r>
          </a:p>
        </p:txBody>
      </p:sp>
      <p:sp>
        <p:nvSpPr>
          <p:cNvPr id="58" name="Rectangular Callout 57"/>
          <p:cNvSpPr/>
          <p:nvPr/>
        </p:nvSpPr>
        <p:spPr>
          <a:xfrm>
            <a:off x="5342800" y="5254685"/>
            <a:ext cx="1762858" cy="993169"/>
          </a:xfrm>
          <a:prstGeom prst="wedgeRectCallout">
            <a:avLst>
              <a:gd name="adj1" fmla="val -11493"/>
              <a:gd name="adj2" fmla="val -114571"/>
            </a:avLst>
          </a:prstGeom>
          <a:solidFill>
            <a:schemeClr val="accent2"/>
          </a:solidFill>
          <a:ln w="571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a:ea typeface="Osaka"/>
              </a:rPr>
              <a:t>Unknown to the guest OS</a:t>
            </a:r>
          </a:p>
        </p:txBody>
      </p:sp>
    </p:spTree>
    <p:extLst>
      <p:ext uri="{BB962C8B-B14F-4D97-AF65-F5344CB8AC3E}">
        <p14:creationId xmlns:p14="http://schemas.microsoft.com/office/powerpoint/2010/main" val="576879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500"/>
                                        <p:tgtEl>
                                          <p:spTgt spid="55"/>
                                        </p:tgtEl>
                                      </p:cBhvr>
                                    </p:animEffect>
                                    <p:anim calcmode="lin" valueType="num">
                                      <p:cBhvr>
                                        <p:cTn id="8" dur="500" fill="hold"/>
                                        <p:tgtEl>
                                          <p:spTgt spid="55"/>
                                        </p:tgtEl>
                                        <p:attrNameLst>
                                          <p:attrName>ppt_x</p:attrName>
                                        </p:attrNameLst>
                                      </p:cBhvr>
                                      <p:tavLst>
                                        <p:tav tm="0">
                                          <p:val>
                                            <p:strVal val="#ppt_x"/>
                                          </p:val>
                                        </p:tav>
                                        <p:tav tm="100000">
                                          <p:val>
                                            <p:strVal val="#ppt_x"/>
                                          </p:val>
                                        </p:tav>
                                      </p:tavLst>
                                    </p:anim>
                                    <p:anim calcmode="lin" valueType="num">
                                      <p:cBhvr>
                                        <p:cTn id="9" dur="500" fill="hold"/>
                                        <p:tgtEl>
                                          <p:spTgt spid="55"/>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2" presetClass="entr" presetSubtype="8" fill="hold" nodeType="after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wipe(left)">
                                      <p:cBhvr>
                                        <p:cTn id="13" dur="500"/>
                                        <p:tgtEl>
                                          <p:spTgt spid="38"/>
                                        </p:tgtEl>
                                      </p:cBhvr>
                                    </p:animEffect>
                                  </p:childTnLst>
                                </p:cTn>
                              </p:par>
                              <p:par>
                                <p:cTn id="14" presetID="22" presetClass="entr" presetSubtype="8" fill="hold"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500"/>
                                        <p:tgtEl>
                                          <p:spTgt spid="35"/>
                                        </p:tgtEl>
                                      </p:cBhvr>
                                    </p:animEffect>
                                  </p:childTnLst>
                                </p:cTn>
                              </p:par>
                              <p:par>
                                <p:cTn id="17" presetID="22" presetClass="entr" presetSubtype="8" fill="hold"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left)">
                                      <p:cBhvr>
                                        <p:cTn id="19" dur="500"/>
                                        <p:tgtEl>
                                          <p:spTgt spid="32"/>
                                        </p:tgtEl>
                                      </p:cBhvr>
                                    </p:animEffect>
                                  </p:childTnLst>
                                </p:cTn>
                              </p:par>
                              <p:par>
                                <p:cTn id="20" presetID="22" presetClass="entr" presetSubtype="8" fill="hold" nodeType="with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wipe(left)">
                                      <p:cBhvr>
                                        <p:cTn id="22" dur="500"/>
                                        <p:tgtEl>
                                          <p:spTgt spid="31"/>
                                        </p:tgtEl>
                                      </p:cBhvr>
                                    </p:animEffect>
                                  </p:childTnLst>
                                </p:cTn>
                              </p:par>
                            </p:childTnLst>
                          </p:cTn>
                        </p:par>
                        <p:par>
                          <p:cTn id="23" fill="hold">
                            <p:stCondLst>
                              <p:cond delay="1000"/>
                            </p:stCondLst>
                            <p:childTnLst>
                              <p:par>
                                <p:cTn id="24" presetID="42" presetClass="entr" presetSubtype="0" fill="hold" grpId="0" nodeType="afterEffect">
                                  <p:stCondLst>
                                    <p:cond delay="0"/>
                                  </p:stCondLst>
                                  <p:childTnLst>
                                    <p:set>
                                      <p:cBhvr>
                                        <p:cTn id="25" dur="1" fill="hold">
                                          <p:stCondLst>
                                            <p:cond delay="0"/>
                                          </p:stCondLst>
                                        </p:cTn>
                                        <p:tgtEl>
                                          <p:spTgt spid="53"/>
                                        </p:tgtEl>
                                        <p:attrNameLst>
                                          <p:attrName>style.visibility</p:attrName>
                                        </p:attrNameLst>
                                      </p:cBhvr>
                                      <p:to>
                                        <p:strVal val="visible"/>
                                      </p:to>
                                    </p:set>
                                    <p:animEffect transition="in" filter="fade">
                                      <p:cBhvr>
                                        <p:cTn id="26" dur="500"/>
                                        <p:tgtEl>
                                          <p:spTgt spid="53"/>
                                        </p:tgtEl>
                                      </p:cBhvr>
                                    </p:animEffect>
                                    <p:anim calcmode="lin" valueType="num">
                                      <p:cBhvr>
                                        <p:cTn id="27" dur="500" fill="hold"/>
                                        <p:tgtEl>
                                          <p:spTgt spid="53"/>
                                        </p:tgtEl>
                                        <p:attrNameLst>
                                          <p:attrName>ppt_x</p:attrName>
                                        </p:attrNameLst>
                                      </p:cBhvr>
                                      <p:tavLst>
                                        <p:tav tm="0">
                                          <p:val>
                                            <p:strVal val="#ppt_x"/>
                                          </p:val>
                                        </p:tav>
                                        <p:tav tm="100000">
                                          <p:val>
                                            <p:strVal val="#ppt_x"/>
                                          </p:val>
                                        </p:tav>
                                      </p:tavLst>
                                    </p:anim>
                                    <p:anim calcmode="lin" valueType="num">
                                      <p:cBhvr>
                                        <p:cTn id="28" dur="500" fill="hold"/>
                                        <p:tgtEl>
                                          <p:spTgt spid="53"/>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56"/>
                                        </p:tgtEl>
                                        <p:attrNameLst>
                                          <p:attrName>style.visibility</p:attrName>
                                        </p:attrNameLst>
                                      </p:cBhvr>
                                      <p:to>
                                        <p:strVal val="visible"/>
                                      </p:to>
                                    </p:set>
                                    <p:animEffect transition="in" filter="fade">
                                      <p:cBhvr>
                                        <p:cTn id="33" dur="500"/>
                                        <p:tgtEl>
                                          <p:spTgt spid="56"/>
                                        </p:tgtEl>
                                      </p:cBhvr>
                                    </p:animEffect>
                                    <p:anim calcmode="lin" valueType="num">
                                      <p:cBhvr>
                                        <p:cTn id="34" dur="500" fill="hold"/>
                                        <p:tgtEl>
                                          <p:spTgt spid="56"/>
                                        </p:tgtEl>
                                        <p:attrNameLst>
                                          <p:attrName>ppt_x</p:attrName>
                                        </p:attrNameLst>
                                      </p:cBhvr>
                                      <p:tavLst>
                                        <p:tav tm="0">
                                          <p:val>
                                            <p:strVal val="#ppt_x"/>
                                          </p:val>
                                        </p:tav>
                                        <p:tav tm="100000">
                                          <p:val>
                                            <p:strVal val="#ppt_x"/>
                                          </p:val>
                                        </p:tav>
                                      </p:tavLst>
                                    </p:anim>
                                    <p:anim calcmode="lin" valueType="num">
                                      <p:cBhvr>
                                        <p:cTn id="35" dur="500" fill="hold"/>
                                        <p:tgtEl>
                                          <p:spTgt spid="56"/>
                                        </p:tgtEl>
                                        <p:attrNameLst>
                                          <p:attrName>ppt_y</p:attrName>
                                        </p:attrNameLst>
                                      </p:cBhvr>
                                      <p:tavLst>
                                        <p:tav tm="0">
                                          <p:val>
                                            <p:strVal val="#ppt_y+.1"/>
                                          </p:val>
                                        </p:tav>
                                        <p:tav tm="100000">
                                          <p:val>
                                            <p:strVal val="#ppt_y"/>
                                          </p:val>
                                        </p:tav>
                                      </p:tavLst>
                                    </p:anim>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wipe(left)">
                                      <p:cBhvr>
                                        <p:cTn id="39" dur="500"/>
                                        <p:tgtEl>
                                          <p:spTgt spid="41"/>
                                        </p:tgtEl>
                                      </p:cBhvr>
                                    </p:animEffect>
                                  </p:childTnLst>
                                </p:cTn>
                              </p:par>
                              <p:par>
                                <p:cTn id="40" presetID="22" presetClass="entr" presetSubtype="8" fill="hold" nodeType="with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wipe(left)">
                                      <p:cBhvr>
                                        <p:cTn id="42" dur="500"/>
                                        <p:tgtEl>
                                          <p:spTgt spid="44"/>
                                        </p:tgtEl>
                                      </p:cBhvr>
                                    </p:animEffect>
                                  </p:childTnLst>
                                </p:cTn>
                              </p:par>
                              <p:par>
                                <p:cTn id="43" presetID="22" presetClass="entr" presetSubtype="8" fill="hold" nodeType="withEffect">
                                  <p:stCondLst>
                                    <p:cond delay="0"/>
                                  </p:stCondLst>
                                  <p:childTnLst>
                                    <p:set>
                                      <p:cBhvr>
                                        <p:cTn id="44" dur="1" fill="hold">
                                          <p:stCondLst>
                                            <p:cond delay="0"/>
                                          </p:stCondLst>
                                        </p:cTn>
                                        <p:tgtEl>
                                          <p:spTgt spid="50"/>
                                        </p:tgtEl>
                                        <p:attrNameLst>
                                          <p:attrName>style.visibility</p:attrName>
                                        </p:attrNameLst>
                                      </p:cBhvr>
                                      <p:to>
                                        <p:strVal val="visible"/>
                                      </p:to>
                                    </p:set>
                                    <p:animEffect transition="in" filter="wipe(left)">
                                      <p:cBhvr>
                                        <p:cTn id="45" dur="500"/>
                                        <p:tgtEl>
                                          <p:spTgt spid="50"/>
                                        </p:tgtEl>
                                      </p:cBhvr>
                                    </p:animEffect>
                                  </p:childTnLst>
                                </p:cTn>
                              </p:par>
                              <p:par>
                                <p:cTn id="46" presetID="22" presetClass="entr" presetSubtype="8" fill="hold" nodeType="withEffect">
                                  <p:stCondLst>
                                    <p:cond delay="0"/>
                                  </p:stCondLst>
                                  <p:childTnLst>
                                    <p:set>
                                      <p:cBhvr>
                                        <p:cTn id="47" dur="1" fill="hold">
                                          <p:stCondLst>
                                            <p:cond delay="0"/>
                                          </p:stCondLst>
                                        </p:cTn>
                                        <p:tgtEl>
                                          <p:spTgt spid="47"/>
                                        </p:tgtEl>
                                        <p:attrNameLst>
                                          <p:attrName>style.visibility</p:attrName>
                                        </p:attrNameLst>
                                      </p:cBhvr>
                                      <p:to>
                                        <p:strVal val="visible"/>
                                      </p:to>
                                    </p:set>
                                    <p:animEffect transition="in" filter="wipe(left)">
                                      <p:cBhvr>
                                        <p:cTn id="48" dur="500"/>
                                        <p:tgtEl>
                                          <p:spTgt spid="47"/>
                                        </p:tgtEl>
                                      </p:cBhvr>
                                    </p:animEffect>
                                  </p:childTnLst>
                                </p:cTn>
                              </p:par>
                            </p:childTnLst>
                          </p:cTn>
                        </p:par>
                        <p:par>
                          <p:cTn id="49" fill="hold">
                            <p:stCondLst>
                              <p:cond delay="1000"/>
                            </p:stCondLst>
                            <p:childTnLst>
                              <p:par>
                                <p:cTn id="50" presetID="42" presetClass="entr" presetSubtype="0" fill="hold" grpId="0" nodeType="afterEffect">
                                  <p:stCondLst>
                                    <p:cond delay="0"/>
                                  </p:stCondLst>
                                  <p:childTnLst>
                                    <p:set>
                                      <p:cBhvr>
                                        <p:cTn id="51" dur="1" fill="hold">
                                          <p:stCondLst>
                                            <p:cond delay="0"/>
                                          </p:stCondLst>
                                        </p:cTn>
                                        <p:tgtEl>
                                          <p:spTgt spid="54"/>
                                        </p:tgtEl>
                                        <p:attrNameLst>
                                          <p:attrName>style.visibility</p:attrName>
                                        </p:attrNameLst>
                                      </p:cBhvr>
                                      <p:to>
                                        <p:strVal val="visible"/>
                                      </p:to>
                                    </p:set>
                                    <p:animEffect transition="in" filter="fade">
                                      <p:cBhvr>
                                        <p:cTn id="52" dur="500"/>
                                        <p:tgtEl>
                                          <p:spTgt spid="54"/>
                                        </p:tgtEl>
                                      </p:cBhvr>
                                    </p:animEffect>
                                    <p:anim calcmode="lin" valueType="num">
                                      <p:cBhvr>
                                        <p:cTn id="53" dur="500" fill="hold"/>
                                        <p:tgtEl>
                                          <p:spTgt spid="54"/>
                                        </p:tgtEl>
                                        <p:attrNameLst>
                                          <p:attrName>ppt_x</p:attrName>
                                        </p:attrNameLst>
                                      </p:cBhvr>
                                      <p:tavLst>
                                        <p:tav tm="0">
                                          <p:val>
                                            <p:strVal val="#ppt_x"/>
                                          </p:val>
                                        </p:tav>
                                        <p:tav tm="100000">
                                          <p:val>
                                            <p:strVal val="#ppt_x"/>
                                          </p:val>
                                        </p:tav>
                                      </p:tavLst>
                                    </p:anim>
                                    <p:anim calcmode="lin" valueType="num">
                                      <p:cBhvr>
                                        <p:cTn id="54" dur="500" fill="hold"/>
                                        <p:tgtEl>
                                          <p:spTgt spid="54"/>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57"/>
                                        </p:tgtEl>
                                        <p:attrNameLst>
                                          <p:attrName>style.visibility</p:attrName>
                                        </p:attrNameLst>
                                      </p:cBhvr>
                                      <p:to>
                                        <p:strVal val="visible"/>
                                      </p:to>
                                    </p:set>
                                    <p:animEffect transition="in" filter="fade">
                                      <p:cBhvr>
                                        <p:cTn id="59" dur="500"/>
                                        <p:tgtEl>
                                          <p:spTgt spid="57"/>
                                        </p:tgtEl>
                                      </p:cBhvr>
                                    </p:animEffect>
                                    <p:anim calcmode="lin" valueType="num">
                                      <p:cBhvr>
                                        <p:cTn id="60" dur="500" fill="hold"/>
                                        <p:tgtEl>
                                          <p:spTgt spid="57"/>
                                        </p:tgtEl>
                                        <p:attrNameLst>
                                          <p:attrName>ppt_x</p:attrName>
                                        </p:attrNameLst>
                                      </p:cBhvr>
                                      <p:tavLst>
                                        <p:tav tm="0">
                                          <p:val>
                                            <p:strVal val="#ppt_x"/>
                                          </p:val>
                                        </p:tav>
                                        <p:tav tm="100000">
                                          <p:val>
                                            <p:strVal val="#ppt_x"/>
                                          </p:val>
                                        </p:tav>
                                      </p:tavLst>
                                    </p:anim>
                                    <p:anim calcmode="lin" valueType="num">
                                      <p:cBhvr>
                                        <p:cTn id="61" dur="500" fill="hold"/>
                                        <p:tgtEl>
                                          <p:spTgt spid="57"/>
                                        </p:tgtEl>
                                        <p:attrNameLst>
                                          <p:attrName>ppt_y</p:attrName>
                                        </p:attrNameLst>
                                      </p:cBhvr>
                                      <p:tavLst>
                                        <p:tav tm="0">
                                          <p:val>
                                            <p:strVal val="#ppt_y+.1"/>
                                          </p:val>
                                        </p:tav>
                                        <p:tav tm="100000">
                                          <p:val>
                                            <p:strVal val="#ppt_y"/>
                                          </p:val>
                                        </p:tav>
                                      </p:tavLst>
                                    </p:anim>
                                  </p:childTnLst>
                                </p:cTn>
                              </p:par>
                            </p:childTnLst>
                          </p:cTn>
                        </p:par>
                        <p:par>
                          <p:cTn id="62" fill="hold">
                            <p:stCondLst>
                              <p:cond delay="500"/>
                            </p:stCondLst>
                            <p:childTnLst>
                              <p:par>
                                <p:cTn id="63" presetID="42" presetClass="entr" presetSubtype="0" fill="hold" grpId="0" nodeType="afterEffect">
                                  <p:stCondLst>
                                    <p:cond delay="0"/>
                                  </p:stCondLst>
                                  <p:childTnLst>
                                    <p:set>
                                      <p:cBhvr>
                                        <p:cTn id="64" dur="1" fill="hold">
                                          <p:stCondLst>
                                            <p:cond delay="0"/>
                                          </p:stCondLst>
                                        </p:cTn>
                                        <p:tgtEl>
                                          <p:spTgt spid="58"/>
                                        </p:tgtEl>
                                        <p:attrNameLst>
                                          <p:attrName>style.visibility</p:attrName>
                                        </p:attrNameLst>
                                      </p:cBhvr>
                                      <p:to>
                                        <p:strVal val="visible"/>
                                      </p:to>
                                    </p:set>
                                    <p:animEffect transition="in" filter="fade">
                                      <p:cBhvr>
                                        <p:cTn id="65" dur="500"/>
                                        <p:tgtEl>
                                          <p:spTgt spid="58"/>
                                        </p:tgtEl>
                                      </p:cBhvr>
                                    </p:animEffect>
                                    <p:anim calcmode="lin" valueType="num">
                                      <p:cBhvr>
                                        <p:cTn id="66" dur="500" fill="hold"/>
                                        <p:tgtEl>
                                          <p:spTgt spid="58"/>
                                        </p:tgtEl>
                                        <p:attrNameLst>
                                          <p:attrName>ppt_x</p:attrName>
                                        </p:attrNameLst>
                                      </p:cBhvr>
                                      <p:tavLst>
                                        <p:tav tm="0">
                                          <p:val>
                                            <p:strVal val="#ppt_x"/>
                                          </p:val>
                                        </p:tav>
                                        <p:tav tm="100000">
                                          <p:val>
                                            <p:strVal val="#ppt_x"/>
                                          </p:val>
                                        </p:tav>
                                      </p:tavLst>
                                    </p:anim>
                                    <p:anim calcmode="lin" valueType="num">
                                      <p:cBhvr>
                                        <p:cTn id="67" dur="500" fill="hold"/>
                                        <p:tgtEl>
                                          <p:spTgt spid="5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54" grpId="0" animBg="1"/>
      <p:bldP spid="57" grpId="0" animBg="1"/>
      <p:bldP spid="5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7772400" cy="1143000"/>
          </a:xfrm>
        </p:spPr>
        <p:txBody>
          <a:bodyPr/>
          <a:lstStyle/>
          <a:p>
            <a:r>
              <a:rPr lang="en-US" sz="3600" dirty="0"/>
              <a:t>Guest’s Page Tables Are Invalid</a:t>
            </a:r>
          </a:p>
        </p:txBody>
      </p:sp>
      <p:sp>
        <p:nvSpPr>
          <p:cNvPr id="3" name="Content Placeholder 2"/>
          <p:cNvSpPr>
            <a:spLocks noGrp="1"/>
          </p:cNvSpPr>
          <p:nvPr>
            <p:ph idx="1"/>
          </p:nvPr>
        </p:nvSpPr>
        <p:spPr>
          <a:xfrm>
            <a:off x="152400" y="1371600"/>
            <a:ext cx="8734568" cy="5336275"/>
          </a:xfrm>
        </p:spPr>
        <p:txBody>
          <a:bodyPr>
            <a:normAutofit/>
          </a:bodyPr>
          <a:lstStyle/>
          <a:p>
            <a:r>
              <a:rPr lang="en-US" sz="2800" dirty="0"/>
              <a:t>Guest OS page tables map </a:t>
            </a:r>
            <a:r>
              <a:rPr lang="en-US" sz="2800" dirty="0">
                <a:solidFill>
                  <a:srgbClr val="FFC000"/>
                </a:solidFill>
              </a:rPr>
              <a:t>virtual page numbers </a:t>
            </a:r>
            <a:r>
              <a:rPr lang="en-US" sz="2800" dirty="0"/>
              <a:t>(</a:t>
            </a:r>
            <a:r>
              <a:rPr lang="en-US" sz="2800" dirty="0">
                <a:solidFill>
                  <a:srgbClr val="FFC000"/>
                </a:solidFill>
              </a:rPr>
              <a:t>VPN</a:t>
            </a:r>
            <a:r>
              <a:rPr lang="en-US" sz="2800" dirty="0"/>
              <a:t>s) to </a:t>
            </a:r>
            <a:r>
              <a:rPr lang="en-US" sz="2800" b="1" dirty="0">
                <a:solidFill>
                  <a:srgbClr val="FFC000"/>
                </a:solidFill>
              </a:rPr>
              <a:t>physical frame numbers </a:t>
            </a:r>
            <a:r>
              <a:rPr lang="en-US" sz="2800" b="1" dirty="0"/>
              <a:t>(</a:t>
            </a:r>
            <a:r>
              <a:rPr lang="en-US" sz="2800" b="1" dirty="0">
                <a:solidFill>
                  <a:srgbClr val="FFC000"/>
                </a:solidFill>
              </a:rPr>
              <a:t>PFN</a:t>
            </a:r>
            <a:r>
              <a:rPr lang="en-US" sz="2800" b="1" dirty="0"/>
              <a:t>s)</a:t>
            </a:r>
          </a:p>
          <a:p>
            <a:r>
              <a:rPr lang="en-US" sz="2800" dirty="0"/>
              <a:t>Problem: the guest is virtualized, doesn’t actually know the </a:t>
            </a:r>
            <a:r>
              <a:rPr lang="en-US" sz="2800" b="1" i="1" u="sng" dirty="0"/>
              <a:t>true</a:t>
            </a:r>
            <a:r>
              <a:rPr lang="en-US" sz="2800" dirty="0"/>
              <a:t> PFNs (locations)</a:t>
            </a:r>
          </a:p>
          <a:p>
            <a:pPr lvl="1"/>
            <a:r>
              <a:rPr lang="en-US" sz="2400" dirty="0"/>
              <a:t>That true location is the </a:t>
            </a:r>
            <a:r>
              <a:rPr lang="en-US" sz="2400" b="1" dirty="0">
                <a:solidFill>
                  <a:srgbClr val="FFC000"/>
                </a:solidFill>
              </a:rPr>
              <a:t>machine frame number </a:t>
            </a:r>
            <a:r>
              <a:rPr lang="en-US" sz="2400" b="1" dirty="0"/>
              <a:t>(</a:t>
            </a:r>
            <a:r>
              <a:rPr lang="en-US" sz="2400" b="1" dirty="0">
                <a:solidFill>
                  <a:srgbClr val="FFC000"/>
                </a:solidFill>
              </a:rPr>
              <a:t>MFN</a:t>
            </a:r>
            <a:r>
              <a:rPr lang="en-US" sz="2400" b="1" dirty="0"/>
              <a:t>)</a:t>
            </a:r>
          </a:p>
          <a:p>
            <a:pPr lvl="1"/>
            <a:r>
              <a:rPr lang="en-US" sz="2400" dirty="0"/>
              <a:t>MFNs are known to the VMM and the host OS</a:t>
            </a:r>
          </a:p>
          <a:p>
            <a:r>
              <a:rPr lang="en-US" sz="2800" dirty="0"/>
              <a:t>Guest page tables cannot be installed in </a:t>
            </a:r>
            <a:r>
              <a:rPr lang="en-US" sz="2800" i="1" dirty="0"/>
              <a:t>cr3</a:t>
            </a:r>
          </a:p>
          <a:p>
            <a:pPr lvl="1"/>
            <a:r>
              <a:rPr lang="en-US" sz="2400" dirty="0"/>
              <a:t>Map VPNs to PFNs, but the PFNs are incorrect</a:t>
            </a:r>
          </a:p>
          <a:p>
            <a:r>
              <a:rPr lang="en-US" sz="2800" dirty="0"/>
              <a:t>How can the MMU translate addresses used by the guest (VPNs) to MFNs?</a:t>
            </a:r>
          </a:p>
        </p:txBody>
      </p:sp>
      <p:sp>
        <p:nvSpPr>
          <p:cNvPr id="4" name="Slide Number Placeholder 3"/>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283B9EA5-CE9A-4950-A80C-5ADF06B45BB8}" type="slidenum">
              <a:rPr kumimoji="0" lang="en-US" sz="1400" b="0" i="0" u="none" strike="noStrike" kern="1200" cap="none" spc="0" normalizeH="0" baseline="0" noProof="0" smtClean="0">
                <a:ln>
                  <a:noFill/>
                </a:ln>
                <a:solidFill>
                  <a:srgbClr val="FFFFFF"/>
                </a:solidFill>
                <a:effectLst/>
                <a:uLnTx/>
                <a:uFillTx/>
                <a:latin typeface="Arial" charset="0"/>
                <a:ea typeface="Osaka" charset="-128"/>
              </a:rPr>
              <a:pPr marL="0" marR="0" lvl="0" indent="0" algn="r" defTabSz="914400" rtl="0" eaLnBrk="0" fontAlgn="base" latinLnBrk="0" hangingPunct="0">
                <a:lnSpc>
                  <a:spcPct val="100000"/>
                </a:lnSpc>
                <a:spcBef>
                  <a:spcPct val="0"/>
                </a:spcBef>
                <a:spcAft>
                  <a:spcPct val="0"/>
                </a:spcAft>
                <a:buClrTx/>
                <a:buSzTx/>
                <a:buFontTx/>
                <a:buNone/>
                <a:tabLst/>
                <a:defRPr/>
              </a:pPr>
              <a:t>38</a:t>
            </a:fld>
            <a:endParaRPr kumimoji="0" lang="en-US" sz="1400" b="0" i="0" u="none" strike="noStrike" kern="1200" cap="none" spc="0" normalizeH="0" baseline="0" noProof="0" dirty="0">
              <a:ln>
                <a:noFill/>
              </a:ln>
              <a:solidFill>
                <a:srgbClr val="FFFFFF"/>
              </a:solidFill>
              <a:effectLst/>
              <a:uLnTx/>
              <a:uFillTx/>
              <a:latin typeface="Arial" charset="0"/>
              <a:ea typeface="Osaka" charset="-128"/>
            </a:endParaRPr>
          </a:p>
        </p:txBody>
      </p:sp>
    </p:spTree>
    <p:extLst>
      <p:ext uri="{BB962C8B-B14F-4D97-AF65-F5344CB8AC3E}">
        <p14:creationId xmlns:p14="http://schemas.microsoft.com/office/powerpoint/2010/main" val="3694320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500"/>
                                        <p:tgtEl>
                                          <p:spTgt spid="3">
                                            <p:txEl>
                                              <p:pRg st="6" end="6"/>
                                            </p:txEl>
                                          </p:spTgt>
                                        </p:tgtEl>
                                      </p:cBhvr>
                                    </p:animEffect>
                                    <p:anim calcmode="lin" valueType="num">
                                      <p:cBhvr>
                                        <p:cTn id="8"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9" dur="5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2108579" y="1831238"/>
            <a:ext cx="4664429" cy="2433688"/>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25000" noProof="0" dirty="0">
              <a:ln>
                <a:noFill/>
              </a:ln>
              <a:solidFill>
                <a:srgbClr val="000000"/>
              </a:solidFill>
              <a:effectLst/>
              <a:uLnTx/>
              <a:uFillTx/>
              <a:latin typeface="Arial"/>
              <a:ea typeface="Osaka"/>
            </a:endParaRPr>
          </a:p>
        </p:txBody>
      </p:sp>
      <p:sp>
        <p:nvSpPr>
          <p:cNvPr id="46" name="Rectangle 45"/>
          <p:cNvSpPr/>
          <p:nvPr/>
        </p:nvSpPr>
        <p:spPr>
          <a:xfrm>
            <a:off x="2108579" y="4390556"/>
            <a:ext cx="4750807" cy="2400204"/>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25000" noProof="0">
              <a:ln>
                <a:noFill/>
              </a:ln>
              <a:solidFill>
                <a:srgbClr val="FFFFFF"/>
              </a:solidFill>
              <a:effectLst/>
              <a:uLnTx/>
              <a:uFillTx/>
              <a:latin typeface="Arial"/>
              <a:ea typeface="Osaka"/>
            </a:endParaRPr>
          </a:p>
        </p:txBody>
      </p:sp>
      <p:sp>
        <p:nvSpPr>
          <p:cNvPr id="2" name="Title 1"/>
          <p:cNvSpPr>
            <a:spLocks noGrp="1"/>
          </p:cNvSpPr>
          <p:nvPr>
            <p:ph type="title"/>
          </p:nvPr>
        </p:nvSpPr>
        <p:spPr>
          <a:xfrm>
            <a:off x="457200" y="0"/>
            <a:ext cx="8229600" cy="771099"/>
          </a:xfrm>
        </p:spPr>
        <p:txBody>
          <a:bodyPr/>
          <a:lstStyle/>
          <a:p>
            <a:r>
              <a:rPr lang="en-US" dirty="0"/>
              <a:t>Shadow Page Tables</a:t>
            </a:r>
          </a:p>
        </p:txBody>
      </p:sp>
      <p:sp>
        <p:nvSpPr>
          <p:cNvPr id="3" name="Content Placeholder 2"/>
          <p:cNvSpPr>
            <a:spLocks noGrp="1"/>
          </p:cNvSpPr>
          <p:nvPr>
            <p:ph idx="1"/>
          </p:nvPr>
        </p:nvSpPr>
        <p:spPr>
          <a:xfrm>
            <a:off x="208476" y="798394"/>
            <a:ext cx="8734568" cy="1248771"/>
          </a:xfrm>
        </p:spPr>
        <p:txBody>
          <a:bodyPr/>
          <a:lstStyle/>
          <a:p>
            <a:r>
              <a:rPr lang="en-US" sz="2800" dirty="0"/>
              <a:t>Solution: VMM creates </a:t>
            </a:r>
            <a:r>
              <a:rPr lang="en-US" sz="2800" dirty="0">
                <a:solidFill>
                  <a:srgbClr val="FFC000"/>
                </a:solidFill>
              </a:rPr>
              <a:t>shadow page tables </a:t>
            </a:r>
            <a:r>
              <a:rPr lang="en-US" sz="2800" dirty="0"/>
              <a:t>that map VPN </a:t>
            </a:r>
            <a:r>
              <a:rPr lang="en-US" sz="2800" dirty="0">
                <a:sym typeface="Wingdings" panose="05000000000000000000" pitchFamily="2" charset="2"/>
              </a:rPr>
              <a:t></a:t>
            </a:r>
            <a:r>
              <a:rPr lang="en-US" sz="2800" dirty="0"/>
              <a:t> MFN (as opposed to VPN</a:t>
            </a:r>
            <a:r>
              <a:rPr lang="en-US" sz="2800" dirty="0">
                <a:sym typeface="Wingdings" panose="05000000000000000000" pitchFamily="2" charset="2"/>
              </a:rPr>
              <a:t>PFN)</a:t>
            </a:r>
            <a:endParaRPr lang="en-US" sz="2800" dirty="0"/>
          </a:p>
        </p:txBody>
      </p:sp>
      <p:sp>
        <p:nvSpPr>
          <p:cNvPr id="4" name="Slide Number Placeholder 3"/>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283B9EA5-CE9A-4950-A80C-5ADF06B45BB8}" type="slidenum">
              <a:rPr kumimoji="0" lang="en-US" sz="1400" b="0" i="0" u="none" strike="noStrike" kern="1200" cap="none" spc="0" normalizeH="0" baseline="0" noProof="0" smtClean="0">
                <a:ln>
                  <a:noFill/>
                </a:ln>
                <a:solidFill>
                  <a:srgbClr val="FFFFFF"/>
                </a:solidFill>
                <a:effectLst/>
                <a:uLnTx/>
                <a:uFillTx/>
                <a:latin typeface="Arial" charset="0"/>
                <a:ea typeface="Osaka" charset="-128"/>
              </a:rPr>
              <a:pPr marL="0" marR="0" lvl="0" indent="0" algn="r" defTabSz="914400" rtl="0" eaLnBrk="0" fontAlgn="base" latinLnBrk="0" hangingPunct="0">
                <a:lnSpc>
                  <a:spcPct val="100000"/>
                </a:lnSpc>
                <a:spcBef>
                  <a:spcPct val="0"/>
                </a:spcBef>
                <a:spcAft>
                  <a:spcPct val="0"/>
                </a:spcAft>
                <a:buClrTx/>
                <a:buSzTx/>
                <a:buFontTx/>
                <a:buNone/>
                <a:tabLst/>
                <a:defRPr/>
              </a:pPr>
              <a:t>39</a:t>
            </a:fld>
            <a:endParaRPr kumimoji="0" lang="en-US" sz="1400" b="0" i="0" u="none" strike="noStrike" kern="1200" cap="none" spc="0" normalizeH="0" baseline="0" noProof="0" dirty="0">
              <a:ln>
                <a:noFill/>
              </a:ln>
              <a:solidFill>
                <a:srgbClr val="FFFFFF"/>
              </a:solidFill>
              <a:effectLst/>
              <a:uLnTx/>
              <a:uFillTx/>
              <a:latin typeface="Arial" charset="0"/>
              <a:ea typeface="Osaka" charset="-128"/>
            </a:endParaRPr>
          </a:p>
        </p:txBody>
      </p:sp>
      <p:grpSp>
        <p:nvGrpSpPr>
          <p:cNvPr id="26" name="Group 25"/>
          <p:cNvGrpSpPr/>
          <p:nvPr/>
        </p:nvGrpSpPr>
        <p:grpSpPr>
          <a:xfrm>
            <a:off x="217427" y="3239869"/>
            <a:ext cx="1990195" cy="2290245"/>
            <a:chOff x="158918" y="2780260"/>
            <a:chExt cx="1990195" cy="2290245"/>
          </a:xfrm>
        </p:grpSpPr>
        <p:sp>
          <p:nvSpPr>
            <p:cNvPr id="5" name="Rectangle 4"/>
            <p:cNvSpPr/>
            <p:nvPr/>
          </p:nvSpPr>
          <p:spPr>
            <a:xfrm>
              <a:off x="633200" y="4496858"/>
              <a:ext cx="1153234" cy="408630"/>
            </a:xfrm>
            <a:prstGeom prst="rect">
              <a:avLst/>
            </a:prstGeom>
            <a:solidFill>
              <a:schemeClr val="accent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a:ea typeface="Osaka"/>
                </a:rPr>
                <a:t>Page 0</a:t>
              </a:r>
            </a:p>
          </p:txBody>
        </p:sp>
        <p:sp>
          <p:nvSpPr>
            <p:cNvPr id="6" name="TextBox 5"/>
            <p:cNvSpPr txBox="1"/>
            <p:nvPr/>
          </p:nvSpPr>
          <p:spPr>
            <a:xfrm>
              <a:off x="217427" y="4701173"/>
              <a:ext cx="301686" cy="369332"/>
            </a:xfrm>
            <a:prstGeom prst="rect">
              <a:avLst/>
            </a:prstGeom>
            <a:noFill/>
          </p:spPr>
          <p:txBody>
            <a:bodyPr wrap="none" rtlCol="0">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charset="0"/>
                  <a:ea typeface="ＭＳ Ｐゴシック" charset="-128"/>
                </a:rPr>
                <a:t>0</a:t>
              </a:r>
            </a:p>
          </p:txBody>
        </p:sp>
        <p:sp>
          <p:nvSpPr>
            <p:cNvPr id="7" name="TextBox 6"/>
            <p:cNvSpPr txBox="1"/>
            <p:nvPr/>
          </p:nvSpPr>
          <p:spPr>
            <a:xfrm>
              <a:off x="158918" y="3180370"/>
              <a:ext cx="418704" cy="369332"/>
            </a:xfrm>
            <a:prstGeom prst="rect">
              <a:avLst/>
            </a:prstGeom>
            <a:noFill/>
          </p:spPr>
          <p:txBody>
            <a:bodyPr wrap="none" rtlCol="0">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charset="0"/>
                  <a:ea typeface="ＭＳ Ｐゴシック" charset="-128"/>
                </a:rPr>
                <a:t>64</a:t>
              </a:r>
            </a:p>
          </p:txBody>
        </p:sp>
        <p:sp>
          <p:nvSpPr>
            <p:cNvPr id="8" name="TextBox 7"/>
            <p:cNvSpPr txBox="1"/>
            <p:nvPr/>
          </p:nvSpPr>
          <p:spPr>
            <a:xfrm>
              <a:off x="158918" y="4300279"/>
              <a:ext cx="418704" cy="369332"/>
            </a:xfrm>
            <a:prstGeom prst="rect">
              <a:avLst/>
            </a:prstGeom>
            <a:noFill/>
          </p:spPr>
          <p:txBody>
            <a:bodyPr wrap="none" rtlCol="0">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charset="0"/>
                  <a:ea typeface="ＭＳ Ｐゴシック" charset="-128"/>
                </a:rPr>
                <a:t>16</a:t>
              </a:r>
            </a:p>
          </p:txBody>
        </p:sp>
        <p:sp>
          <p:nvSpPr>
            <p:cNvPr id="9" name="TextBox 8"/>
            <p:cNvSpPr txBox="1"/>
            <p:nvPr/>
          </p:nvSpPr>
          <p:spPr>
            <a:xfrm>
              <a:off x="158918" y="3930947"/>
              <a:ext cx="418704" cy="369332"/>
            </a:xfrm>
            <a:prstGeom prst="rect">
              <a:avLst/>
            </a:prstGeom>
            <a:noFill/>
          </p:spPr>
          <p:txBody>
            <a:bodyPr wrap="none" rtlCol="0">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charset="0"/>
                  <a:ea typeface="ＭＳ Ｐゴシック" charset="-128"/>
                </a:rPr>
                <a:t>32</a:t>
              </a:r>
            </a:p>
          </p:txBody>
        </p:sp>
        <p:sp>
          <p:nvSpPr>
            <p:cNvPr id="10" name="TextBox 9"/>
            <p:cNvSpPr txBox="1"/>
            <p:nvPr/>
          </p:nvSpPr>
          <p:spPr>
            <a:xfrm>
              <a:off x="158918" y="3544812"/>
              <a:ext cx="418704" cy="369332"/>
            </a:xfrm>
            <a:prstGeom prst="rect">
              <a:avLst/>
            </a:prstGeom>
            <a:noFill/>
          </p:spPr>
          <p:txBody>
            <a:bodyPr wrap="none" rtlCol="0">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charset="0"/>
                  <a:ea typeface="ＭＳ Ｐゴシック" charset="-128"/>
                </a:rPr>
                <a:t>48</a:t>
              </a:r>
            </a:p>
          </p:txBody>
        </p:sp>
        <p:sp>
          <p:nvSpPr>
            <p:cNvPr id="11" name="Rectangle 10"/>
            <p:cNvSpPr/>
            <p:nvPr/>
          </p:nvSpPr>
          <p:spPr>
            <a:xfrm>
              <a:off x="633201" y="4115613"/>
              <a:ext cx="1153234" cy="382234"/>
            </a:xfrm>
            <a:prstGeom prst="rect">
              <a:avLst/>
            </a:prstGeom>
            <a:solidFill>
              <a:schemeClr val="accent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a:ea typeface="Osaka"/>
                </a:rPr>
                <a:t>Page 1</a:t>
              </a:r>
            </a:p>
          </p:txBody>
        </p:sp>
        <p:sp>
          <p:nvSpPr>
            <p:cNvPr id="12" name="Rectangle 11"/>
            <p:cNvSpPr/>
            <p:nvPr/>
          </p:nvSpPr>
          <p:spPr>
            <a:xfrm>
              <a:off x="633201" y="3739849"/>
              <a:ext cx="1153234" cy="385493"/>
            </a:xfrm>
            <a:prstGeom prst="rect">
              <a:avLst/>
            </a:prstGeom>
            <a:solidFill>
              <a:schemeClr val="accent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a:ea typeface="Osaka"/>
                </a:rPr>
                <a:t>Page 2</a:t>
              </a:r>
            </a:p>
          </p:txBody>
        </p:sp>
        <p:sp>
          <p:nvSpPr>
            <p:cNvPr id="13" name="Rectangle 12"/>
            <p:cNvSpPr/>
            <p:nvPr/>
          </p:nvSpPr>
          <p:spPr>
            <a:xfrm>
              <a:off x="633201" y="3359015"/>
              <a:ext cx="1153234" cy="371595"/>
            </a:xfrm>
            <a:prstGeom prst="rect">
              <a:avLst/>
            </a:prstGeom>
            <a:solidFill>
              <a:schemeClr val="accent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a:ea typeface="Osaka"/>
                </a:rPr>
                <a:t>Page 3</a:t>
              </a:r>
            </a:p>
          </p:txBody>
        </p:sp>
        <p:sp>
          <p:nvSpPr>
            <p:cNvPr id="14" name="TextBox 13"/>
            <p:cNvSpPr txBox="1"/>
            <p:nvPr/>
          </p:nvSpPr>
          <p:spPr>
            <a:xfrm>
              <a:off x="270522" y="2780260"/>
              <a:ext cx="1878591" cy="40011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1200" cap="none" spc="0" normalizeH="0" baseline="-25000" noProof="0" dirty="0">
                  <a:ln>
                    <a:noFill/>
                  </a:ln>
                  <a:solidFill>
                    <a:srgbClr val="FFFFFF"/>
                  </a:solidFill>
                  <a:effectLst/>
                  <a:uLnTx/>
                  <a:uFillTx/>
                  <a:latin typeface="Arial" charset="0"/>
                  <a:ea typeface="ＭＳ Ｐゴシック" charset="-128"/>
                </a:rPr>
                <a:t>Virtual Memory</a:t>
              </a:r>
            </a:p>
          </p:txBody>
        </p:sp>
      </p:grpSp>
      <p:grpSp>
        <p:nvGrpSpPr>
          <p:cNvPr id="27" name="Group 26"/>
          <p:cNvGrpSpPr/>
          <p:nvPr/>
        </p:nvGrpSpPr>
        <p:grpSpPr>
          <a:xfrm>
            <a:off x="4726333" y="1894962"/>
            <a:ext cx="2009575" cy="2303892"/>
            <a:chOff x="4378351" y="2767602"/>
            <a:chExt cx="2009575" cy="2303892"/>
          </a:xfrm>
        </p:grpSpPr>
        <p:sp>
          <p:nvSpPr>
            <p:cNvPr id="15" name="Rectangle 14"/>
            <p:cNvSpPr/>
            <p:nvPr/>
          </p:nvSpPr>
          <p:spPr>
            <a:xfrm>
              <a:off x="4852633" y="4497847"/>
              <a:ext cx="1153234" cy="408630"/>
            </a:xfrm>
            <a:prstGeom prst="rect">
              <a:avLst/>
            </a:prstGeom>
            <a:solidFill>
              <a:schemeClr val="accent4"/>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a:ea typeface="Osaka"/>
                </a:rPr>
                <a:t>Page 3</a:t>
              </a:r>
            </a:p>
          </p:txBody>
        </p:sp>
        <p:sp>
          <p:nvSpPr>
            <p:cNvPr id="16" name="TextBox 15"/>
            <p:cNvSpPr txBox="1"/>
            <p:nvPr/>
          </p:nvSpPr>
          <p:spPr>
            <a:xfrm>
              <a:off x="4436860" y="4702162"/>
              <a:ext cx="301686" cy="369332"/>
            </a:xfrm>
            <a:prstGeom prst="rect">
              <a:avLst/>
            </a:prstGeom>
            <a:noFill/>
          </p:spPr>
          <p:txBody>
            <a:bodyPr wrap="none" rtlCol="0">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charset="0"/>
                  <a:ea typeface="ＭＳ Ｐゴシック" charset="-128"/>
                </a:rPr>
                <a:t>0</a:t>
              </a:r>
            </a:p>
          </p:txBody>
        </p:sp>
        <p:sp>
          <p:nvSpPr>
            <p:cNvPr id="17" name="TextBox 16"/>
            <p:cNvSpPr txBox="1"/>
            <p:nvPr/>
          </p:nvSpPr>
          <p:spPr>
            <a:xfrm>
              <a:off x="4378351" y="3181359"/>
              <a:ext cx="418704" cy="369332"/>
            </a:xfrm>
            <a:prstGeom prst="rect">
              <a:avLst/>
            </a:prstGeom>
            <a:noFill/>
          </p:spPr>
          <p:txBody>
            <a:bodyPr wrap="none" rtlCol="0">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charset="0"/>
                  <a:ea typeface="ＭＳ Ｐゴシック" charset="-128"/>
                </a:rPr>
                <a:t>64</a:t>
              </a:r>
            </a:p>
          </p:txBody>
        </p:sp>
        <p:sp>
          <p:nvSpPr>
            <p:cNvPr id="18" name="TextBox 17"/>
            <p:cNvSpPr txBox="1"/>
            <p:nvPr/>
          </p:nvSpPr>
          <p:spPr>
            <a:xfrm>
              <a:off x="4378351" y="4301268"/>
              <a:ext cx="418704" cy="369332"/>
            </a:xfrm>
            <a:prstGeom prst="rect">
              <a:avLst/>
            </a:prstGeom>
            <a:noFill/>
          </p:spPr>
          <p:txBody>
            <a:bodyPr wrap="none" rtlCol="0">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charset="0"/>
                  <a:ea typeface="ＭＳ Ｐゴシック" charset="-128"/>
                </a:rPr>
                <a:t>16</a:t>
              </a:r>
            </a:p>
          </p:txBody>
        </p:sp>
        <p:sp>
          <p:nvSpPr>
            <p:cNvPr id="19" name="TextBox 18"/>
            <p:cNvSpPr txBox="1"/>
            <p:nvPr/>
          </p:nvSpPr>
          <p:spPr>
            <a:xfrm>
              <a:off x="4378351" y="3931936"/>
              <a:ext cx="418704" cy="369332"/>
            </a:xfrm>
            <a:prstGeom prst="rect">
              <a:avLst/>
            </a:prstGeom>
            <a:noFill/>
          </p:spPr>
          <p:txBody>
            <a:bodyPr wrap="none" rtlCol="0">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charset="0"/>
                  <a:ea typeface="ＭＳ Ｐゴシック" charset="-128"/>
                </a:rPr>
                <a:t>32</a:t>
              </a:r>
            </a:p>
          </p:txBody>
        </p:sp>
        <p:sp>
          <p:nvSpPr>
            <p:cNvPr id="20" name="TextBox 19"/>
            <p:cNvSpPr txBox="1"/>
            <p:nvPr/>
          </p:nvSpPr>
          <p:spPr>
            <a:xfrm>
              <a:off x="4378351" y="3545801"/>
              <a:ext cx="418704" cy="369332"/>
            </a:xfrm>
            <a:prstGeom prst="rect">
              <a:avLst/>
            </a:prstGeom>
            <a:noFill/>
          </p:spPr>
          <p:txBody>
            <a:bodyPr wrap="none" rtlCol="0">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charset="0"/>
                  <a:ea typeface="ＭＳ Ｐゴシック" charset="-128"/>
                </a:rPr>
                <a:t>48</a:t>
              </a:r>
            </a:p>
          </p:txBody>
        </p:sp>
        <p:sp>
          <p:nvSpPr>
            <p:cNvPr id="21" name="Rectangle 20"/>
            <p:cNvSpPr/>
            <p:nvPr/>
          </p:nvSpPr>
          <p:spPr>
            <a:xfrm>
              <a:off x="4852634" y="4116602"/>
              <a:ext cx="1153234" cy="382234"/>
            </a:xfrm>
            <a:prstGeom prst="rect">
              <a:avLst/>
            </a:prstGeom>
            <a:solidFill>
              <a:schemeClr val="accent4"/>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a:ea typeface="Osaka"/>
                </a:rPr>
                <a:t>Page 0</a:t>
              </a:r>
            </a:p>
          </p:txBody>
        </p:sp>
        <p:sp>
          <p:nvSpPr>
            <p:cNvPr id="22" name="Rectangle 21"/>
            <p:cNvSpPr/>
            <p:nvPr/>
          </p:nvSpPr>
          <p:spPr>
            <a:xfrm>
              <a:off x="4852634" y="3740838"/>
              <a:ext cx="1153234" cy="385493"/>
            </a:xfrm>
            <a:prstGeom prst="rect">
              <a:avLst/>
            </a:prstGeom>
            <a:solidFill>
              <a:schemeClr val="accent4"/>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a:ea typeface="Osaka"/>
                </a:rPr>
                <a:t>Page 1</a:t>
              </a:r>
            </a:p>
          </p:txBody>
        </p:sp>
        <p:sp>
          <p:nvSpPr>
            <p:cNvPr id="23" name="Rectangle 22"/>
            <p:cNvSpPr/>
            <p:nvPr/>
          </p:nvSpPr>
          <p:spPr>
            <a:xfrm>
              <a:off x="4852634" y="3360004"/>
              <a:ext cx="1153234" cy="371595"/>
            </a:xfrm>
            <a:prstGeom prst="rect">
              <a:avLst/>
            </a:prstGeom>
            <a:solidFill>
              <a:schemeClr val="accent4"/>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a:ea typeface="Osaka"/>
                </a:rPr>
                <a:t>Page 2</a:t>
              </a:r>
            </a:p>
          </p:txBody>
        </p:sp>
        <p:sp>
          <p:nvSpPr>
            <p:cNvPr id="24" name="TextBox 23"/>
            <p:cNvSpPr txBox="1"/>
            <p:nvPr/>
          </p:nvSpPr>
          <p:spPr>
            <a:xfrm>
              <a:off x="4380773" y="2767602"/>
              <a:ext cx="2007153" cy="40011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1200" cap="none" spc="0" normalizeH="0" baseline="-25000" noProof="0" dirty="0">
                  <a:ln>
                    <a:noFill/>
                  </a:ln>
                  <a:solidFill>
                    <a:srgbClr val="FFFFFF"/>
                  </a:solidFill>
                  <a:effectLst/>
                  <a:uLnTx/>
                  <a:uFillTx/>
                  <a:latin typeface="Arial" charset="0"/>
                  <a:ea typeface="ＭＳ Ｐゴシック" charset="-128"/>
                </a:rPr>
                <a:t>Physical Memory</a:t>
              </a:r>
            </a:p>
          </p:txBody>
        </p:sp>
      </p:grpSp>
      <p:graphicFrame>
        <p:nvGraphicFramePr>
          <p:cNvPr id="25" name="Table 24"/>
          <p:cNvGraphicFramePr>
            <a:graphicFrameLocks noGrp="1"/>
          </p:cNvGraphicFramePr>
          <p:nvPr>
            <p:extLst>
              <p:ext uri="{D42A27DB-BD31-4B8C-83A1-F6EECF244321}">
                <p14:modId xmlns:p14="http://schemas.microsoft.com/office/powerpoint/2010/main" val="4055046860"/>
              </p:ext>
            </p:extLst>
          </p:nvPr>
        </p:nvGraphicFramePr>
        <p:xfrm>
          <a:off x="2555053" y="2304143"/>
          <a:ext cx="1686480" cy="1854200"/>
        </p:xfrm>
        <a:graphic>
          <a:graphicData uri="http://schemas.openxmlformats.org/drawingml/2006/table">
            <a:tbl>
              <a:tblPr firstRow="1" bandRow="1">
                <a:tableStyleId>{5C22544A-7EE6-4342-B048-85BDC9FD1C3A}</a:tableStyleId>
              </a:tblPr>
              <a:tblGrid>
                <a:gridCol w="843240">
                  <a:extLst>
                    <a:ext uri="{9D8B030D-6E8A-4147-A177-3AD203B41FA5}">
                      <a16:colId xmlns:a16="http://schemas.microsoft.com/office/drawing/2014/main" val="20000"/>
                    </a:ext>
                  </a:extLst>
                </a:gridCol>
                <a:gridCol w="843240">
                  <a:extLst>
                    <a:ext uri="{9D8B030D-6E8A-4147-A177-3AD203B41FA5}">
                      <a16:colId xmlns:a16="http://schemas.microsoft.com/office/drawing/2014/main" val="20001"/>
                    </a:ext>
                  </a:extLst>
                </a:gridCol>
              </a:tblGrid>
              <a:tr h="370840">
                <a:tc>
                  <a:txBody>
                    <a:bodyPr/>
                    <a:lstStyle/>
                    <a:p>
                      <a:r>
                        <a:rPr lang="en-US" dirty="0"/>
                        <a:t>VPN</a:t>
                      </a:r>
                    </a:p>
                  </a:txBody>
                  <a:tcPr/>
                </a:tc>
                <a:tc>
                  <a:txBody>
                    <a:bodyPr/>
                    <a:lstStyle/>
                    <a:p>
                      <a:r>
                        <a:rPr lang="en-US" dirty="0"/>
                        <a:t>PFN</a:t>
                      </a:r>
                    </a:p>
                  </a:txBody>
                  <a:tcPr>
                    <a:solidFill>
                      <a:schemeClr val="accent4"/>
                    </a:solidFill>
                  </a:tcPr>
                </a:tc>
                <a:extLst>
                  <a:ext uri="{0D108BD9-81ED-4DB2-BD59-A6C34878D82A}">
                    <a16:rowId xmlns:a16="http://schemas.microsoft.com/office/drawing/2014/main" val="10000"/>
                  </a:ext>
                </a:extLst>
              </a:tr>
              <a:tr h="370840">
                <a:tc>
                  <a:txBody>
                    <a:bodyPr/>
                    <a:lstStyle/>
                    <a:p>
                      <a:r>
                        <a:rPr lang="en-US" dirty="0"/>
                        <a:t>00 (0)</a:t>
                      </a:r>
                    </a:p>
                  </a:txBody>
                  <a:tcPr/>
                </a:tc>
                <a:tc>
                  <a:txBody>
                    <a:bodyPr/>
                    <a:lstStyle/>
                    <a:p>
                      <a:r>
                        <a:rPr lang="en-US" dirty="0"/>
                        <a:t>01 (1)</a:t>
                      </a:r>
                    </a:p>
                  </a:txBody>
                  <a:tcPr/>
                </a:tc>
                <a:extLst>
                  <a:ext uri="{0D108BD9-81ED-4DB2-BD59-A6C34878D82A}">
                    <a16:rowId xmlns:a16="http://schemas.microsoft.com/office/drawing/2014/main" val="10001"/>
                  </a:ext>
                </a:extLst>
              </a:tr>
              <a:tr h="370840">
                <a:tc>
                  <a:txBody>
                    <a:bodyPr/>
                    <a:lstStyle/>
                    <a:p>
                      <a:r>
                        <a:rPr lang="en-US" dirty="0"/>
                        <a:t>01 (1)</a:t>
                      </a:r>
                    </a:p>
                  </a:txBody>
                  <a:tcPr/>
                </a:tc>
                <a:tc>
                  <a:txBody>
                    <a:bodyPr/>
                    <a:lstStyle/>
                    <a:p>
                      <a:r>
                        <a:rPr lang="en-US" dirty="0"/>
                        <a:t>10 (2)</a:t>
                      </a:r>
                    </a:p>
                  </a:txBody>
                  <a:tcPr/>
                </a:tc>
                <a:extLst>
                  <a:ext uri="{0D108BD9-81ED-4DB2-BD59-A6C34878D82A}">
                    <a16:rowId xmlns:a16="http://schemas.microsoft.com/office/drawing/2014/main" val="10002"/>
                  </a:ext>
                </a:extLst>
              </a:tr>
              <a:tr h="370840">
                <a:tc>
                  <a:txBody>
                    <a:bodyPr/>
                    <a:lstStyle/>
                    <a:p>
                      <a:r>
                        <a:rPr lang="en-US" dirty="0"/>
                        <a:t>10 (2)</a:t>
                      </a:r>
                    </a:p>
                  </a:txBody>
                  <a:tcPr/>
                </a:tc>
                <a:tc>
                  <a:txBody>
                    <a:bodyPr/>
                    <a:lstStyle/>
                    <a:p>
                      <a:r>
                        <a:rPr lang="en-US" dirty="0"/>
                        <a:t>11 (3)</a:t>
                      </a:r>
                    </a:p>
                  </a:txBody>
                  <a:tcPr/>
                </a:tc>
                <a:extLst>
                  <a:ext uri="{0D108BD9-81ED-4DB2-BD59-A6C34878D82A}">
                    <a16:rowId xmlns:a16="http://schemas.microsoft.com/office/drawing/2014/main" val="10003"/>
                  </a:ext>
                </a:extLst>
              </a:tr>
              <a:tr h="370840">
                <a:tc>
                  <a:txBody>
                    <a:bodyPr/>
                    <a:lstStyle/>
                    <a:p>
                      <a:r>
                        <a:rPr lang="en-US" dirty="0"/>
                        <a:t>11 (3)</a:t>
                      </a:r>
                    </a:p>
                  </a:txBody>
                  <a:tcPr/>
                </a:tc>
                <a:tc>
                  <a:txBody>
                    <a:bodyPr/>
                    <a:lstStyle/>
                    <a:p>
                      <a:r>
                        <a:rPr lang="en-US" dirty="0"/>
                        <a:t>00 (0)</a:t>
                      </a:r>
                    </a:p>
                  </a:txBody>
                  <a:tcPr/>
                </a:tc>
                <a:extLst>
                  <a:ext uri="{0D108BD9-81ED-4DB2-BD59-A6C34878D82A}">
                    <a16:rowId xmlns:a16="http://schemas.microsoft.com/office/drawing/2014/main" val="10004"/>
                  </a:ext>
                </a:extLst>
              </a:tr>
            </a:tbl>
          </a:graphicData>
        </a:graphic>
      </p:graphicFrame>
      <p:grpSp>
        <p:nvGrpSpPr>
          <p:cNvPr id="28" name="Group 27"/>
          <p:cNvGrpSpPr/>
          <p:nvPr/>
        </p:nvGrpSpPr>
        <p:grpSpPr>
          <a:xfrm>
            <a:off x="4689232" y="4429451"/>
            <a:ext cx="1693334" cy="2322414"/>
            <a:chOff x="4312534" y="2749080"/>
            <a:chExt cx="1693334" cy="2322414"/>
          </a:xfrm>
        </p:grpSpPr>
        <p:sp>
          <p:nvSpPr>
            <p:cNvPr id="29" name="Rectangle 28"/>
            <p:cNvSpPr/>
            <p:nvPr/>
          </p:nvSpPr>
          <p:spPr>
            <a:xfrm>
              <a:off x="4852633" y="4497847"/>
              <a:ext cx="1153234" cy="408630"/>
            </a:xfrm>
            <a:prstGeom prst="rect">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a:ea typeface="Osaka"/>
                </a:rPr>
                <a:t>Page 2</a:t>
              </a:r>
            </a:p>
          </p:txBody>
        </p:sp>
        <p:sp>
          <p:nvSpPr>
            <p:cNvPr id="30" name="TextBox 29"/>
            <p:cNvSpPr txBox="1"/>
            <p:nvPr/>
          </p:nvSpPr>
          <p:spPr>
            <a:xfrm>
              <a:off x="4436860" y="4702162"/>
              <a:ext cx="301686" cy="369332"/>
            </a:xfrm>
            <a:prstGeom prst="rect">
              <a:avLst/>
            </a:prstGeom>
            <a:noFill/>
          </p:spPr>
          <p:txBody>
            <a:bodyPr wrap="none" rtlCol="0">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charset="0"/>
                  <a:ea typeface="ＭＳ Ｐゴシック" charset="-128"/>
                </a:rPr>
                <a:t>0</a:t>
              </a:r>
            </a:p>
          </p:txBody>
        </p:sp>
        <p:sp>
          <p:nvSpPr>
            <p:cNvPr id="31" name="TextBox 30"/>
            <p:cNvSpPr txBox="1"/>
            <p:nvPr/>
          </p:nvSpPr>
          <p:spPr>
            <a:xfrm>
              <a:off x="4378351" y="3181359"/>
              <a:ext cx="418704" cy="369332"/>
            </a:xfrm>
            <a:prstGeom prst="rect">
              <a:avLst/>
            </a:prstGeom>
            <a:noFill/>
          </p:spPr>
          <p:txBody>
            <a:bodyPr wrap="none" rtlCol="0">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charset="0"/>
                  <a:ea typeface="ＭＳ Ｐゴシック" charset="-128"/>
                </a:rPr>
                <a:t>64</a:t>
              </a:r>
            </a:p>
          </p:txBody>
        </p:sp>
        <p:sp>
          <p:nvSpPr>
            <p:cNvPr id="32" name="TextBox 31"/>
            <p:cNvSpPr txBox="1"/>
            <p:nvPr/>
          </p:nvSpPr>
          <p:spPr>
            <a:xfrm>
              <a:off x="4378351" y="4301268"/>
              <a:ext cx="418704" cy="369332"/>
            </a:xfrm>
            <a:prstGeom prst="rect">
              <a:avLst/>
            </a:prstGeom>
            <a:noFill/>
          </p:spPr>
          <p:txBody>
            <a:bodyPr wrap="none" rtlCol="0">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charset="0"/>
                  <a:ea typeface="ＭＳ Ｐゴシック" charset="-128"/>
                </a:rPr>
                <a:t>16</a:t>
              </a:r>
            </a:p>
          </p:txBody>
        </p:sp>
        <p:sp>
          <p:nvSpPr>
            <p:cNvPr id="33" name="TextBox 32"/>
            <p:cNvSpPr txBox="1"/>
            <p:nvPr/>
          </p:nvSpPr>
          <p:spPr>
            <a:xfrm>
              <a:off x="4378351" y="3931936"/>
              <a:ext cx="418704" cy="369332"/>
            </a:xfrm>
            <a:prstGeom prst="rect">
              <a:avLst/>
            </a:prstGeom>
            <a:noFill/>
          </p:spPr>
          <p:txBody>
            <a:bodyPr wrap="none" rtlCol="0">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charset="0"/>
                  <a:ea typeface="ＭＳ Ｐゴシック" charset="-128"/>
                </a:rPr>
                <a:t>32</a:t>
              </a:r>
            </a:p>
          </p:txBody>
        </p:sp>
        <p:sp>
          <p:nvSpPr>
            <p:cNvPr id="34" name="TextBox 33"/>
            <p:cNvSpPr txBox="1"/>
            <p:nvPr/>
          </p:nvSpPr>
          <p:spPr>
            <a:xfrm>
              <a:off x="4378351" y="3545801"/>
              <a:ext cx="418704" cy="369332"/>
            </a:xfrm>
            <a:prstGeom prst="rect">
              <a:avLst/>
            </a:prstGeom>
            <a:noFill/>
          </p:spPr>
          <p:txBody>
            <a:bodyPr wrap="none" rtlCol="0">
              <a:spAutoFit/>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charset="0"/>
                  <a:ea typeface="ＭＳ Ｐゴシック" charset="-128"/>
                </a:rPr>
                <a:t>48</a:t>
              </a:r>
            </a:p>
          </p:txBody>
        </p:sp>
        <p:sp>
          <p:nvSpPr>
            <p:cNvPr id="35" name="Rectangle 34"/>
            <p:cNvSpPr/>
            <p:nvPr/>
          </p:nvSpPr>
          <p:spPr>
            <a:xfrm>
              <a:off x="4852634" y="4116602"/>
              <a:ext cx="1153234" cy="382234"/>
            </a:xfrm>
            <a:prstGeom prst="rect">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a:ea typeface="Osaka"/>
                </a:rPr>
                <a:t>Page 3</a:t>
              </a:r>
            </a:p>
          </p:txBody>
        </p:sp>
        <p:sp>
          <p:nvSpPr>
            <p:cNvPr id="36" name="Rectangle 35"/>
            <p:cNvSpPr/>
            <p:nvPr/>
          </p:nvSpPr>
          <p:spPr>
            <a:xfrm>
              <a:off x="4852634" y="3740838"/>
              <a:ext cx="1153234" cy="385493"/>
            </a:xfrm>
            <a:prstGeom prst="rect">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a:ea typeface="Osaka"/>
                </a:rPr>
                <a:t>Page 0</a:t>
              </a:r>
            </a:p>
          </p:txBody>
        </p:sp>
        <p:sp>
          <p:nvSpPr>
            <p:cNvPr id="37" name="Rectangle 36"/>
            <p:cNvSpPr/>
            <p:nvPr/>
          </p:nvSpPr>
          <p:spPr>
            <a:xfrm>
              <a:off x="4852634" y="3360004"/>
              <a:ext cx="1153234" cy="371595"/>
            </a:xfrm>
            <a:prstGeom prst="rect">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a:ea typeface="Osaka"/>
                </a:rPr>
                <a:t>Page 1</a:t>
              </a:r>
            </a:p>
          </p:txBody>
        </p:sp>
        <p:sp>
          <p:nvSpPr>
            <p:cNvPr id="38" name="TextBox 37"/>
            <p:cNvSpPr txBox="1"/>
            <p:nvPr/>
          </p:nvSpPr>
          <p:spPr>
            <a:xfrm>
              <a:off x="4312534" y="2749080"/>
              <a:ext cx="1571264" cy="29751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1200" cap="none" spc="0" normalizeH="0" baseline="-25000" noProof="0" dirty="0">
                  <a:ln>
                    <a:noFill/>
                  </a:ln>
                  <a:solidFill>
                    <a:srgbClr val="000000"/>
                  </a:solidFill>
                  <a:effectLst/>
                  <a:uLnTx/>
                  <a:uFillTx/>
                  <a:latin typeface="Arial" charset="0"/>
                  <a:ea typeface="ＭＳ Ｐゴシック" charset="-128"/>
                </a:rPr>
                <a:t>Machine Memory</a:t>
              </a:r>
            </a:p>
          </p:txBody>
        </p:sp>
      </p:grpSp>
      <p:graphicFrame>
        <p:nvGraphicFramePr>
          <p:cNvPr id="39" name="Table 38"/>
          <p:cNvGraphicFramePr>
            <a:graphicFrameLocks noGrp="1"/>
          </p:cNvGraphicFramePr>
          <p:nvPr>
            <p:extLst>
              <p:ext uri="{D42A27DB-BD31-4B8C-83A1-F6EECF244321}">
                <p14:modId xmlns:p14="http://schemas.microsoft.com/office/powerpoint/2010/main" val="1593521062"/>
              </p:ext>
            </p:extLst>
          </p:nvPr>
        </p:nvGraphicFramePr>
        <p:xfrm>
          <a:off x="2626254" y="4829205"/>
          <a:ext cx="1634556" cy="1854200"/>
        </p:xfrm>
        <a:graphic>
          <a:graphicData uri="http://schemas.openxmlformats.org/drawingml/2006/table">
            <a:tbl>
              <a:tblPr firstRow="1" bandRow="1">
                <a:tableStyleId>{5C22544A-7EE6-4342-B048-85BDC9FD1C3A}</a:tableStyleId>
              </a:tblPr>
              <a:tblGrid>
                <a:gridCol w="817278">
                  <a:extLst>
                    <a:ext uri="{9D8B030D-6E8A-4147-A177-3AD203B41FA5}">
                      <a16:colId xmlns:a16="http://schemas.microsoft.com/office/drawing/2014/main" val="20000"/>
                    </a:ext>
                  </a:extLst>
                </a:gridCol>
                <a:gridCol w="817278">
                  <a:extLst>
                    <a:ext uri="{9D8B030D-6E8A-4147-A177-3AD203B41FA5}">
                      <a16:colId xmlns:a16="http://schemas.microsoft.com/office/drawing/2014/main" val="20001"/>
                    </a:ext>
                  </a:extLst>
                </a:gridCol>
              </a:tblGrid>
              <a:tr h="370840">
                <a:tc>
                  <a:txBody>
                    <a:bodyPr/>
                    <a:lstStyle/>
                    <a:p>
                      <a:r>
                        <a:rPr lang="en-US" dirty="0"/>
                        <a:t>VPN</a:t>
                      </a:r>
                    </a:p>
                  </a:txBody>
                  <a:tcPr/>
                </a:tc>
                <a:tc>
                  <a:txBody>
                    <a:bodyPr/>
                    <a:lstStyle/>
                    <a:p>
                      <a:r>
                        <a:rPr lang="en-US" dirty="0"/>
                        <a:t>MFN</a:t>
                      </a:r>
                    </a:p>
                  </a:txBody>
                  <a:tcPr>
                    <a:solidFill>
                      <a:schemeClr val="accent2"/>
                    </a:solidFill>
                  </a:tcPr>
                </a:tc>
                <a:extLst>
                  <a:ext uri="{0D108BD9-81ED-4DB2-BD59-A6C34878D82A}">
                    <a16:rowId xmlns:a16="http://schemas.microsoft.com/office/drawing/2014/main" val="10000"/>
                  </a:ext>
                </a:extLst>
              </a:tr>
              <a:tr h="370840">
                <a:tc>
                  <a:txBody>
                    <a:bodyPr/>
                    <a:lstStyle/>
                    <a:p>
                      <a:r>
                        <a:rPr lang="en-US" dirty="0"/>
                        <a:t>00 (0)</a:t>
                      </a:r>
                    </a:p>
                  </a:txBody>
                  <a:tcPr/>
                </a:tc>
                <a:tc>
                  <a:txBody>
                    <a:bodyPr/>
                    <a:lstStyle/>
                    <a:p>
                      <a:r>
                        <a:rPr lang="en-US" dirty="0"/>
                        <a:t>10 (2)</a:t>
                      </a:r>
                    </a:p>
                  </a:txBody>
                  <a:tcPr/>
                </a:tc>
                <a:extLst>
                  <a:ext uri="{0D108BD9-81ED-4DB2-BD59-A6C34878D82A}">
                    <a16:rowId xmlns:a16="http://schemas.microsoft.com/office/drawing/2014/main" val="10001"/>
                  </a:ext>
                </a:extLst>
              </a:tr>
              <a:tr h="370840">
                <a:tc>
                  <a:txBody>
                    <a:bodyPr/>
                    <a:lstStyle/>
                    <a:p>
                      <a:r>
                        <a:rPr lang="en-US" dirty="0"/>
                        <a:t>01 (1)</a:t>
                      </a:r>
                    </a:p>
                  </a:txBody>
                  <a:tcPr/>
                </a:tc>
                <a:tc>
                  <a:txBody>
                    <a:bodyPr/>
                    <a:lstStyle/>
                    <a:p>
                      <a:r>
                        <a:rPr lang="en-US" dirty="0"/>
                        <a:t>11 (3)</a:t>
                      </a:r>
                    </a:p>
                  </a:txBody>
                  <a:tcPr/>
                </a:tc>
                <a:extLst>
                  <a:ext uri="{0D108BD9-81ED-4DB2-BD59-A6C34878D82A}">
                    <a16:rowId xmlns:a16="http://schemas.microsoft.com/office/drawing/2014/main" val="10002"/>
                  </a:ext>
                </a:extLst>
              </a:tr>
              <a:tr h="370840">
                <a:tc>
                  <a:txBody>
                    <a:bodyPr/>
                    <a:lstStyle/>
                    <a:p>
                      <a:r>
                        <a:rPr lang="en-US" dirty="0"/>
                        <a:t>10 (2)</a:t>
                      </a:r>
                    </a:p>
                  </a:txBody>
                  <a:tcPr/>
                </a:tc>
                <a:tc>
                  <a:txBody>
                    <a:bodyPr/>
                    <a:lstStyle/>
                    <a:p>
                      <a:r>
                        <a:rPr lang="en-US" dirty="0"/>
                        <a:t>00 (0)</a:t>
                      </a:r>
                    </a:p>
                  </a:txBody>
                  <a:tcPr/>
                </a:tc>
                <a:extLst>
                  <a:ext uri="{0D108BD9-81ED-4DB2-BD59-A6C34878D82A}">
                    <a16:rowId xmlns:a16="http://schemas.microsoft.com/office/drawing/2014/main" val="10003"/>
                  </a:ext>
                </a:extLst>
              </a:tr>
              <a:tr h="370840">
                <a:tc>
                  <a:txBody>
                    <a:bodyPr/>
                    <a:lstStyle/>
                    <a:p>
                      <a:r>
                        <a:rPr lang="en-US" dirty="0"/>
                        <a:t>11 (3)</a:t>
                      </a:r>
                    </a:p>
                  </a:txBody>
                  <a:tcPr/>
                </a:tc>
                <a:tc>
                  <a:txBody>
                    <a:bodyPr/>
                    <a:lstStyle/>
                    <a:p>
                      <a:r>
                        <a:rPr lang="en-US" dirty="0"/>
                        <a:t>01 (1)</a:t>
                      </a:r>
                    </a:p>
                  </a:txBody>
                  <a:tcPr/>
                </a:tc>
                <a:extLst>
                  <a:ext uri="{0D108BD9-81ED-4DB2-BD59-A6C34878D82A}">
                    <a16:rowId xmlns:a16="http://schemas.microsoft.com/office/drawing/2014/main" val="10004"/>
                  </a:ext>
                </a:extLst>
              </a:tr>
            </a:tbl>
          </a:graphicData>
        </a:graphic>
      </p:graphicFrame>
      <p:sp>
        <p:nvSpPr>
          <p:cNvPr id="42" name="TextBox 41"/>
          <p:cNvSpPr txBox="1"/>
          <p:nvPr/>
        </p:nvSpPr>
        <p:spPr>
          <a:xfrm>
            <a:off x="2373437" y="1892662"/>
            <a:ext cx="1990032" cy="40011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1200" cap="none" spc="0" normalizeH="0" baseline="-25000" noProof="0" dirty="0">
                <a:ln>
                  <a:noFill/>
                </a:ln>
                <a:solidFill>
                  <a:srgbClr val="FFFFFF"/>
                </a:solidFill>
                <a:effectLst/>
                <a:uLnTx/>
                <a:uFillTx/>
                <a:latin typeface="Arial" charset="0"/>
                <a:ea typeface="ＭＳ Ｐゴシック" charset="-128"/>
              </a:rPr>
              <a:t>Guest Page Table</a:t>
            </a:r>
          </a:p>
        </p:txBody>
      </p:sp>
      <p:sp>
        <p:nvSpPr>
          <p:cNvPr id="43" name="Right Arrow 42"/>
          <p:cNvSpPr/>
          <p:nvPr/>
        </p:nvSpPr>
        <p:spPr>
          <a:xfrm rot="19191418">
            <a:off x="1947308" y="3611822"/>
            <a:ext cx="696036" cy="5718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25000" noProof="0">
              <a:ln>
                <a:noFill/>
              </a:ln>
              <a:solidFill>
                <a:srgbClr val="FFFFFF"/>
              </a:solidFill>
              <a:effectLst/>
              <a:uLnTx/>
              <a:uFillTx/>
              <a:latin typeface="Arial"/>
              <a:ea typeface="Osaka"/>
            </a:endParaRPr>
          </a:p>
        </p:txBody>
      </p:sp>
      <p:sp>
        <p:nvSpPr>
          <p:cNvPr id="45" name="Right Arrow 44"/>
          <p:cNvSpPr/>
          <p:nvPr/>
        </p:nvSpPr>
        <p:spPr>
          <a:xfrm>
            <a:off x="4241534" y="2967751"/>
            <a:ext cx="494238" cy="571880"/>
          </a:xfrm>
          <a:prstGeom prst="rightArrow">
            <a:avLst/>
          </a:prstGeom>
          <a:solidFill>
            <a:schemeClr val="accent4"/>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25000" noProof="0">
              <a:ln>
                <a:noFill/>
              </a:ln>
              <a:solidFill>
                <a:srgbClr val="FFFFFF"/>
              </a:solidFill>
              <a:effectLst/>
              <a:uLnTx/>
              <a:uFillTx/>
              <a:latin typeface="Arial"/>
              <a:ea typeface="Osaka"/>
            </a:endParaRPr>
          </a:p>
        </p:txBody>
      </p:sp>
      <p:sp>
        <p:nvSpPr>
          <p:cNvPr id="48" name="Right Arrow 47"/>
          <p:cNvSpPr/>
          <p:nvPr/>
        </p:nvSpPr>
        <p:spPr>
          <a:xfrm rot="2193883">
            <a:off x="1945201" y="5135270"/>
            <a:ext cx="696036" cy="5718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25000" noProof="0">
              <a:ln>
                <a:noFill/>
              </a:ln>
              <a:solidFill>
                <a:srgbClr val="FFFFFF"/>
              </a:solidFill>
              <a:effectLst/>
              <a:uLnTx/>
              <a:uFillTx/>
              <a:latin typeface="Arial"/>
              <a:ea typeface="Osaka"/>
            </a:endParaRPr>
          </a:p>
        </p:txBody>
      </p:sp>
      <p:sp>
        <p:nvSpPr>
          <p:cNvPr id="49" name="Right Arrow 48"/>
          <p:cNvSpPr/>
          <p:nvPr/>
        </p:nvSpPr>
        <p:spPr>
          <a:xfrm>
            <a:off x="4260811" y="5520762"/>
            <a:ext cx="494238" cy="571880"/>
          </a:xfrm>
          <a:prstGeom prst="rightArrow">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25000" noProof="0">
              <a:ln>
                <a:noFill/>
              </a:ln>
              <a:solidFill>
                <a:srgbClr val="FFFFFF"/>
              </a:solidFill>
              <a:effectLst/>
              <a:uLnTx/>
              <a:uFillTx/>
              <a:latin typeface="Arial"/>
              <a:ea typeface="Osaka"/>
            </a:endParaRPr>
          </a:p>
        </p:txBody>
      </p:sp>
      <p:sp>
        <p:nvSpPr>
          <p:cNvPr id="50" name="Rectangular Callout 49"/>
          <p:cNvSpPr/>
          <p:nvPr/>
        </p:nvSpPr>
        <p:spPr>
          <a:xfrm>
            <a:off x="6976259" y="2260156"/>
            <a:ext cx="2038087" cy="1342159"/>
          </a:xfrm>
          <a:prstGeom prst="wedgeRectCallout">
            <a:avLst>
              <a:gd name="adj1" fmla="val -68729"/>
              <a:gd name="adj2" fmla="val -8054"/>
            </a:avLst>
          </a:prstGeom>
          <a:solidFill>
            <a:schemeClr val="accent4"/>
          </a:solidFill>
          <a:ln w="571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2000" b="0" i="0" u="none" strike="noStrike" kern="1200" cap="none" spc="0" normalizeH="0" baseline="-25000" noProof="0" dirty="0">
                <a:ln>
                  <a:noFill/>
                </a:ln>
                <a:solidFill>
                  <a:srgbClr val="FFFFFF"/>
                </a:solidFill>
                <a:effectLst/>
                <a:uLnTx/>
                <a:uFillTx/>
                <a:latin typeface="Arial"/>
                <a:ea typeface="Osaka"/>
              </a:rPr>
              <a:t>Maintained by the guest OS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2000" b="0" i="0" u="none" strike="noStrike" kern="1200" cap="none" spc="0" normalizeH="0" baseline="-25000" noProof="0" dirty="0">
                <a:ln>
                  <a:noFill/>
                </a:ln>
                <a:solidFill>
                  <a:srgbClr val="FFFFFF"/>
                </a:solidFill>
                <a:effectLst/>
                <a:uLnTx/>
                <a:uFillTx/>
                <a:latin typeface="Arial"/>
                <a:ea typeface="Osaka"/>
              </a:rPr>
              <a:t>Invalid for the MMU</a:t>
            </a:r>
          </a:p>
        </p:txBody>
      </p:sp>
      <p:sp>
        <p:nvSpPr>
          <p:cNvPr id="51" name="TextBox 50"/>
          <p:cNvSpPr txBox="1"/>
          <p:nvPr/>
        </p:nvSpPr>
        <p:spPr>
          <a:xfrm>
            <a:off x="2295326" y="4429451"/>
            <a:ext cx="1774973" cy="29751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1200" cap="none" spc="0" normalizeH="0" baseline="-25000" noProof="0" dirty="0">
                <a:ln>
                  <a:noFill/>
                </a:ln>
                <a:solidFill>
                  <a:srgbClr val="000000"/>
                </a:solidFill>
                <a:effectLst/>
                <a:uLnTx/>
                <a:uFillTx/>
                <a:latin typeface="Arial" charset="0"/>
                <a:ea typeface="ＭＳ Ｐゴシック" charset="-128"/>
              </a:rPr>
              <a:t>Shadow Page Table</a:t>
            </a:r>
          </a:p>
        </p:txBody>
      </p:sp>
      <p:sp>
        <p:nvSpPr>
          <p:cNvPr id="52" name="Rectangular Callout 51"/>
          <p:cNvSpPr/>
          <p:nvPr/>
        </p:nvSpPr>
        <p:spPr>
          <a:xfrm>
            <a:off x="6976259" y="4824146"/>
            <a:ext cx="2038087" cy="1342159"/>
          </a:xfrm>
          <a:prstGeom prst="wedgeRectCallout">
            <a:avLst>
              <a:gd name="adj1" fmla="val -68729"/>
              <a:gd name="adj2" fmla="val -8054"/>
            </a:avLst>
          </a:prstGeom>
          <a:solidFill>
            <a:schemeClr val="accent2"/>
          </a:solidFill>
          <a:ln w="571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2000" b="0" i="0" u="none" strike="noStrike" kern="1200" cap="none" spc="0" normalizeH="0" baseline="-25000" noProof="0" dirty="0">
                <a:ln>
                  <a:noFill/>
                </a:ln>
                <a:solidFill>
                  <a:srgbClr val="FFFFFF"/>
                </a:solidFill>
                <a:effectLst/>
                <a:uLnTx/>
                <a:uFillTx/>
                <a:latin typeface="Arial"/>
                <a:ea typeface="Osaka"/>
              </a:rPr>
              <a:t>Maintained by the VMM</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2000" b="0" i="0" u="none" strike="noStrike" kern="1200" cap="none" spc="0" normalizeH="0" baseline="-25000" noProof="0" dirty="0">
                <a:ln>
                  <a:noFill/>
                </a:ln>
                <a:solidFill>
                  <a:srgbClr val="FFFFFF"/>
                </a:solidFill>
                <a:effectLst/>
                <a:uLnTx/>
                <a:uFillTx/>
                <a:latin typeface="Arial"/>
                <a:ea typeface="Osaka"/>
              </a:rPr>
              <a:t>Valid for the MMU</a:t>
            </a:r>
          </a:p>
        </p:txBody>
      </p:sp>
      <p:sp>
        <p:nvSpPr>
          <p:cNvPr id="40" name="TextBox 39">
            <a:extLst>
              <a:ext uri="{FF2B5EF4-FFF2-40B4-BE49-F238E27FC236}">
                <a16:creationId xmlns:a16="http://schemas.microsoft.com/office/drawing/2014/main" id="{8C4BD11B-7BFA-5241-ACD9-8309C035FB42}"/>
              </a:ext>
            </a:extLst>
          </p:cNvPr>
          <p:cNvSpPr txBox="1"/>
          <p:nvPr/>
        </p:nvSpPr>
        <p:spPr>
          <a:xfrm>
            <a:off x="6331438" y="3683659"/>
            <a:ext cx="312906" cy="369332"/>
          </a:xfrm>
          <a:prstGeom prst="rect">
            <a:avLst/>
          </a:prstGeom>
          <a:noFill/>
        </p:spPr>
        <p:txBody>
          <a:bodyPr wrap="none" rtlCol="0">
            <a:spAutoFit/>
          </a:bodyPr>
          <a:lstStyle/>
          <a:p>
            <a:r>
              <a:rPr lang="en-US" dirty="0"/>
              <a:t>0</a:t>
            </a:r>
          </a:p>
        </p:txBody>
      </p:sp>
      <p:sp>
        <p:nvSpPr>
          <p:cNvPr id="44" name="TextBox 43">
            <a:extLst>
              <a:ext uri="{FF2B5EF4-FFF2-40B4-BE49-F238E27FC236}">
                <a16:creationId xmlns:a16="http://schemas.microsoft.com/office/drawing/2014/main" id="{D5739450-EF9B-D34D-976C-BA067F37D1DB}"/>
              </a:ext>
            </a:extLst>
          </p:cNvPr>
          <p:cNvSpPr txBox="1"/>
          <p:nvPr/>
        </p:nvSpPr>
        <p:spPr>
          <a:xfrm>
            <a:off x="6331765" y="3247446"/>
            <a:ext cx="312906" cy="369332"/>
          </a:xfrm>
          <a:prstGeom prst="rect">
            <a:avLst/>
          </a:prstGeom>
          <a:noFill/>
        </p:spPr>
        <p:txBody>
          <a:bodyPr wrap="none" rtlCol="0">
            <a:spAutoFit/>
          </a:bodyPr>
          <a:lstStyle/>
          <a:p>
            <a:r>
              <a:rPr lang="en-US" dirty="0"/>
              <a:t>1</a:t>
            </a:r>
          </a:p>
        </p:txBody>
      </p:sp>
      <p:sp>
        <p:nvSpPr>
          <p:cNvPr id="47" name="TextBox 46">
            <a:extLst>
              <a:ext uri="{FF2B5EF4-FFF2-40B4-BE49-F238E27FC236}">
                <a16:creationId xmlns:a16="http://schemas.microsoft.com/office/drawing/2014/main" id="{1C030689-B799-4A4E-99D6-BBEE40F09A2F}"/>
              </a:ext>
            </a:extLst>
          </p:cNvPr>
          <p:cNvSpPr txBox="1"/>
          <p:nvPr/>
        </p:nvSpPr>
        <p:spPr>
          <a:xfrm>
            <a:off x="6331438" y="2891065"/>
            <a:ext cx="312906" cy="369332"/>
          </a:xfrm>
          <a:prstGeom prst="rect">
            <a:avLst/>
          </a:prstGeom>
          <a:noFill/>
        </p:spPr>
        <p:txBody>
          <a:bodyPr wrap="none" rtlCol="0">
            <a:spAutoFit/>
          </a:bodyPr>
          <a:lstStyle/>
          <a:p>
            <a:r>
              <a:rPr lang="en-US" dirty="0"/>
              <a:t>2</a:t>
            </a:r>
          </a:p>
        </p:txBody>
      </p:sp>
      <p:sp>
        <p:nvSpPr>
          <p:cNvPr id="53" name="TextBox 52">
            <a:extLst>
              <a:ext uri="{FF2B5EF4-FFF2-40B4-BE49-F238E27FC236}">
                <a16:creationId xmlns:a16="http://schemas.microsoft.com/office/drawing/2014/main" id="{BDE49F35-C583-5142-B7F9-ED564F8E882F}"/>
              </a:ext>
            </a:extLst>
          </p:cNvPr>
          <p:cNvSpPr txBox="1"/>
          <p:nvPr/>
        </p:nvSpPr>
        <p:spPr>
          <a:xfrm>
            <a:off x="6331438" y="2486505"/>
            <a:ext cx="312906" cy="369332"/>
          </a:xfrm>
          <a:prstGeom prst="rect">
            <a:avLst/>
          </a:prstGeom>
          <a:noFill/>
        </p:spPr>
        <p:txBody>
          <a:bodyPr wrap="none" rtlCol="0">
            <a:spAutoFit/>
          </a:bodyPr>
          <a:lstStyle/>
          <a:p>
            <a:r>
              <a:rPr lang="en-US" dirty="0"/>
              <a:t>3</a:t>
            </a:r>
          </a:p>
        </p:txBody>
      </p:sp>
      <p:sp>
        <p:nvSpPr>
          <p:cNvPr id="54" name="TextBox 53">
            <a:extLst>
              <a:ext uri="{FF2B5EF4-FFF2-40B4-BE49-F238E27FC236}">
                <a16:creationId xmlns:a16="http://schemas.microsoft.com/office/drawing/2014/main" id="{ED6B9AAF-0000-0840-B87B-A61BC941DD4F}"/>
              </a:ext>
            </a:extLst>
          </p:cNvPr>
          <p:cNvSpPr txBox="1"/>
          <p:nvPr/>
        </p:nvSpPr>
        <p:spPr>
          <a:xfrm>
            <a:off x="6429408" y="6154715"/>
            <a:ext cx="312906" cy="369332"/>
          </a:xfrm>
          <a:prstGeom prst="rect">
            <a:avLst/>
          </a:prstGeom>
          <a:noFill/>
        </p:spPr>
        <p:txBody>
          <a:bodyPr wrap="none" rtlCol="0">
            <a:spAutoFit/>
          </a:bodyPr>
          <a:lstStyle/>
          <a:p>
            <a:r>
              <a:rPr lang="en-US" dirty="0"/>
              <a:t>0</a:t>
            </a:r>
          </a:p>
        </p:txBody>
      </p:sp>
      <p:sp>
        <p:nvSpPr>
          <p:cNvPr id="55" name="TextBox 54">
            <a:extLst>
              <a:ext uri="{FF2B5EF4-FFF2-40B4-BE49-F238E27FC236}">
                <a16:creationId xmlns:a16="http://schemas.microsoft.com/office/drawing/2014/main" id="{3DB38F93-2DD2-4A45-BF6D-6479807B26CE}"/>
              </a:ext>
            </a:extLst>
          </p:cNvPr>
          <p:cNvSpPr txBox="1"/>
          <p:nvPr/>
        </p:nvSpPr>
        <p:spPr>
          <a:xfrm>
            <a:off x="6429735" y="5718502"/>
            <a:ext cx="312906" cy="369332"/>
          </a:xfrm>
          <a:prstGeom prst="rect">
            <a:avLst/>
          </a:prstGeom>
          <a:noFill/>
        </p:spPr>
        <p:txBody>
          <a:bodyPr wrap="none" rtlCol="0">
            <a:spAutoFit/>
          </a:bodyPr>
          <a:lstStyle/>
          <a:p>
            <a:r>
              <a:rPr lang="en-US" dirty="0"/>
              <a:t>1</a:t>
            </a:r>
          </a:p>
        </p:txBody>
      </p:sp>
      <p:sp>
        <p:nvSpPr>
          <p:cNvPr id="56" name="TextBox 55">
            <a:extLst>
              <a:ext uri="{FF2B5EF4-FFF2-40B4-BE49-F238E27FC236}">
                <a16:creationId xmlns:a16="http://schemas.microsoft.com/office/drawing/2014/main" id="{66940586-73CC-A847-9FE0-F8B2F0A5A71D}"/>
              </a:ext>
            </a:extLst>
          </p:cNvPr>
          <p:cNvSpPr txBox="1"/>
          <p:nvPr/>
        </p:nvSpPr>
        <p:spPr>
          <a:xfrm>
            <a:off x="6429408" y="5362121"/>
            <a:ext cx="312906" cy="369332"/>
          </a:xfrm>
          <a:prstGeom prst="rect">
            <a:avLst/>
          </a:prstGeom>
          <a:noFill/>
        </p:spPr>
        <p:txBody>
          <a:bodyPr wrap="none" rtlCol="0">
            <a:spAutoFit/>
          </a:bodyPr>
          <a:lstStyle/>
          <a:p>
            <a:r>
              <a:rPr lang="en-US" dirty="0"/>
              <a:t>2</a:t>
            </a:r>
          </a:p>
        </p:txBody>
      </p:sp>
      <p:sp>
        <p:nvSpPr>
          <p:cNvPr id="57" name="TextBox 56">
            <a:extLst>
              <a:ext uri="{FF2B5EF4-FFF2-40B4-BE49-F238E27FC236}">
                <a16:creationId xmlns:a16="http://schemas.microsoft.com/office/drawing/2014/main" id="{1B737A3F-42C7-B742-BBDF-2E4066E56336}"/>
              </a:ext>
            </a:extLst>
          </p:cNvPr>
          <p:cNvSpPr txBox="1"/>
          <p:nvPr/>
        </p:nvSpPr>
        <p:spPr>
          <a:xfrm>
            <a:off x="6429408" y="4957561"/>
            <a:ext cx="312906" cy="369332"/>
          </a:xfrm>
          <a:prstGeom prst="rect">
            <a:avLst/>
          </a:prstGeom>
          <a:noFill/>
        </p:spPr>
        <p:txBody>
          <a:bodyPr wrap="none" rtlCol="0">
            <a:spAutoFit/>
          </a:bodyPr>
          <a:lstStyle/>
          <a:p>
            <a:r>
              <a:rPr lang="en-US" dirty="0"/>
              <a:t>3</a:t>
            </a:r>
          </a:p>
        </p:txBody>
      </p:sp>
    </p:spTree>
    <p:extLst>
      <p:ext uri="{BB962C8B-B14F-4D97-AF65-F5344CB8AC3E}">
        <p14:creationId xmlns:p14="http://schemas.microsoft.com/office/powerpoint/2010/main" val="1935742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barn(inVertical)">
                                      <p:cBhvr>
                                        <p:cTn id="7" dur="500"/>
                                        <p:tgtEl>
                                          <p:spTgt spid="41"/>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50"/>
                                        </p:tgtEl>
                                        <p:attrNameLst>
                                          <p:attrName>style.visibility</p:attrName>
                                        </p:attrNameLst>
                                      </p:cBhvr>
                                      <p:to>
                                        <p:strVal val="visible"/>
                                      </p:to>
                                    </p:set>
                                    <p:animEffect transition="in" filter="fade">
                                      <p:cBhvr>
                                        <p:cTn id="11" dur="500"/>
                                        <p:tgtEl>
                                          <p:spTgt spid="50"/>
                                        </p:tgtEl>
                                      </p:cBhvr>
                                    </p:animEffect>
                                    <p:anim calcmode="lin" valueType="num">
                                      <p:cBhvr>
                                        <p:cTn id="12" dur="500" fill="hold"/>
                                        <p:tgtEl>
                                          <p:spTgt spid="50"/>
                                        </p:tgtEl>
                                        <p:attrNameLst>
                                          <p:attrName>ppt_x</p:attrName>
                                        </p:attrNameLst>
                                      </p:cBhvr>
                                      <p:tavLst>
                                        <p:tav tm="0">
                                          <p:val>
                                            <p:strVal val="#ppt_x"/>
                                          </p:val>
                                        </p:tav>
                                        <p:tav tm="100000">
                                          <p:val>
                                            <p:strVal val="#ppt_x"/>
                                          </p:val>
                                        </p:tav>
                                      </p:tavLst>
                                    </p:anim>
                                    <p:anim calcmode="lin" valueType="num">
                                      <p:cBhvr>
                                        <p:cTn id="13" dur="500" fill="hold"/>
                                        <p:tgtEl>
                                          <p:spTgt spid="50"/>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51"/>
                                        </p:tgtEl>
                                        <p:attrNameLst>
                                          <p:attrName>style.visibility</p:attrName>
                                        </p:attrNameLst>
                                      </p:cBhvr>
                                      <p:to>
                                        <p:strVal val="visible"/>
                                      </p:to>
                                    </p:set>
                                    <p:animEffect transition="in" filter="fade">
                                      <p:cBhvr>
                                        <p:cTn id="18" dur="500"/>
                                        <p:tgtEl>
                                          <p:spTgt spid="51"/>
                                        </p:tgtEl>
                                      </p:cBhvr>
                                    </p:animEffect>
                                    <p:anim calcmode="lin" valueType="num">
                                      <p:cBhvr>
                                        <p:cTn id="19" dur="500" fill="hold"/>
                                        <p:tgtEl>
                                          <p:spTgt spid="51"/>
                                        </p:tgtEl>
                                        <p:attrNameLst>
                                          <p:attrName>ppt_x</p:attrName>
                                        </p:attrNameLst>
                                      </p:cBhvr>
                                      <p:tavLst>
                                        <p:tav tm="0">
                                          <p:val>
                                            <p:strVal val="#ppt_x"/>
                                          </p:val>
                                        </p:tav>
                                        <p:tav tm="100000">
                                          <p:val>
                                            <p:strVal val="#ppt_x"/>
                                          </p:val>
                                        </p:tav>
                                      </p:tavLst>
                                    </p:anim>
                                    <p:anim calcmode="lin" valueType="num">
                                      <p:cBhvr>
                                        <p:cTn id="20" dur="500" fill="hold"/>
                                        <p:tgtEl>
                                          <p:spTgt spid="51"/>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39"/>
                                        </p:tgtEl>
                                        <p:attrNameLst>
                                          <p:attrName>style.visibility</p:attrName>
                                        </p:attrNameLst>
                                      </p:cBhvr>
                                      <p:to>
                                        <p:strVal val="visible"/>
                                      </p:to>
                                    </p:set>
                                    <p:animEffect transition="in" filter="fade">
                                      <p:cBhvr>
                                        <p:cTn id="23" dur="500"/>
                                        <p:tgtEl>
                                          <p:spTgt spid="39"/>
                                        </p:tgtEl>
                                      </p:cBhvr>
                                    </p:animEffect>
                                    <p:anim calcmode="lin" valueType="num">
                                      <p:cBhvr>
                                        <p:cTn id="24" dur="500" fill="hold"/>
                                        <p:tgtEl>
                                          <p:spTgt spid="39"/>
                                        </p:tgtEl>
                                        <p:attrNameLst>
                                          <p:attrName>ppt_x</p:attrName>
                                        </p:attrNameLst>
                                      </p:cBhvr>
                                      <p:tavLst>
                                        <p:tav tm="0">
                                          <p:val>
                                            <p:strVal val="#ppt_x"/>
                                          </p:val>
                                        </p:tav>
                                        <p:tav tm="100000">
                                          <p:val>
                                            <p:strVal val="#ppt_x"/>
                                          </p:val>
                                        </p:tav>
                                      </p:tavLst>
                                    </p:anim>
                                    <p:anim calcmode="lin" valueType="num">
                                      <p:cBhvr>
                                        <p:cTn id="25" dur="500" fill="hold"/>
                                        <p:tgtEl>
                                          <p:spTgt spid="39"/>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500"/>
                                        <p:tgtEl>
                                          <p:spTgt spid="28"/>
                                        </p:tgtEl>
                                      </p:cBhvr>
                                    </p:animEffect>
                                    <p:anim calcmode="lin" valueType="num">
                                      <p:cBhvr>
                                        <p:cTn id="29" dur="500" fill="hold"/>
                                        <p:tgtEl>
                                          <p:spTgt spid="28"/>
                                        </p:tgtEl>
                                        <p:attrNameLst>
                                          <p:attrName>ppt_x</p:attrName>
                                        </p:attrNameLst>
                                      </p:cBhvr>
                                      <p:tavLst>
                                        <p:tav tm="0">
                                          <p:val>
                                            <p:strVal val="#ppt_x"/>
                                          </p:val>
                                        </p:tav>
                                        <p:tav tm="100000">
                                          <p:val>
                                            <p:strVal val="#ppt_x"/>
                                          </p:val>
                                        </p:tav>
                                      </p:tavLst>
                                    </p:anim>
                                    <p:anim calcmode="lin" valueType="num">
                                      <p:cBhvr>
                                        <p:cTn id="30" dur="500" fill="hold"/>
                                        <p:tgtEl>
                                          <p:spTgt spid="28"/>
                                        </p:tgtEl>
                                        <p:attrNameLst>
                                          <p:attrName>ppt_y</p:attrName>
                                        </p:attrNameLst>
                                      </p:cBhvr>
                                      <p:tavLst>
                                        <p:tav tm="0">
                                          <p:val>
                                            <p:strVal val="#ppt_y+.1"/>
                                          </p:val>
                                        </p:tav>
                                        <p:tav tm="100000">
                                          <p:val>
                                            <p:strVal val="#ppt_y"/>
                                          </p:val>
                                        </p:tav>
                                      </p:tavLst>
                                    </p:anim>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48"/>
                                        </p:tgtEl>
                                        <p:attrNameLst>
                                          <p:attrName>style.visibility</p:attrName>
                                        </p:attrNameLst>
                                      </p:cBhvr>
                                      <p:to>
                                        <p:strVal val="visible"/>
                                      </p:to>
                                    </p:set>
                                    <p:animEffect transition="in" filter="wipe(left)">
                                      <p:cBhvr>
                                        <p:cTn id="34" dur="500"/>
                                        <p:tgtEl>
                                          <p:spTgt spid="48"/>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49"/>
                                        </p:tgtEl>
                                        <p:attrNameLst>
                                          <p:attrName>style.visibility</p:attrName>
                                        </p:attrNameLst>
                                      </p:cBhvr>
                                      <p:to>
                                        <p:strVal val="visible"/>
                                      </p:to>
                                    </p:set>
                                    <p:animEffect transition="in" filter="wipe(left)">
                                      <p:cBhvr>
                                        <p:cTn id="37" dur="500"/>
                                        <p:tgtEl>
                                          <p:spTgt spid="49"/>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46"/>
                                        </p:tgtEl>
                                        <p:attrNameLst>
                                          <p:attrName>style.visibility</p:attrName>
                                        </p:attrNameLst>
                                      </p:cBhvr>
                                      <p:to>
                                        <p:strVal val="visible"/>
                                      </p:to>
                                    </p:set>
                                    <p:animEffect transition="in" filter="barn(inVertical)">
                                      <p:cBhvr>
                                        <p:cTn id="40" dur="500"/>
                                        <p:tgtEl>
                                          <p:spTgt spid="46"/>
                                        </p:tgtEl>
                                      </p:cBhvr>
                                    </p:animEffect>
                                  </p:childTnLst>
                                </p:cTn>
                              </p:par>
                            </p:childTnLst>
                          </p:cTn>
                        </p:par>
                        <p:par>
                          <p:cTn id="41" fill="hold">
                            <p:stCondLst>
                              <p:cond delay="1000"/>
                            </p:stCondLst>
                            <p:childTnLst>
                              <p:par>
                                <p:cTn id="42" presetID="42" presetClass="entr" presetSubtype="0" fill="hold" grpId="0" nodeType="afterEffect">
                                  <p:stCondLst>
                                    <p:cond delay="0"/>
                                  </p:stCondLst>
                                  <p:childTnLst>
                                    <p:set>
                                      <p:cBhvr>
                                        <p:cTn id="43" dur="1" fill="hold">
                                          <p:stCondLst>
                                            <p:cond delay="0"/>
                                          </p:stCondLst>
                                        </p:cTn>
                                        <p:tgtEl>
                                          <p:spTgt spid="52"/>
                                        </p:tgtEl>
                                        <p:attrNameLst>
                                          <p:attrName>style.visibility</p:attrName>
                                        </p:attrNameLst>
                                      </p:cBhvr>
                                      <p:to>
                                        <p:strVal val="visible"/>
                                      </p:to>
                                    </p:set>
                                    <p:animEffect transition="in" filter="fade">
                                      <p:cBhvr>
                                        <p:cTn id="44" dur="500"/>
                                        <p:tgtEl>
                                          <p:spTgt spid="52"/>
                                        </p:tgtEl>
                                      </p:cBhvr>
                                    </p:animEffect>
                                    <p:anim calcmode="lin" valueType="num">
                                      <p:cBhvr>
                                        <p:cTn id="45" dur="500" fill="hold"/>
                                        <p:tgtEl>
                                          <p:spTgt spid="52"/>
                                        </p:tgtEl>
                                        <p:attrNameLst>
                                          <p:attrName>ppt_x</p:attrName>
                                        </p:attrNameLst>
                                      </p:cBhvr>
                                      <p:tavLst>
                                        <p:tav tm="0">
                                          <p:val>
                                            <p:strVal val="#ppt_x"/>
                                          </p:val>
                                        </p:tav>
                                        <p:tav tm="100000">
                                          <p:val>
                                            <p:strVal val="#ppt_x"/>
                                          </p:val>
                                        </p:tav>
                                      </p:tavLst>
                                    </p:anim>
                                    <p:anim calcmode="lin" valueType="num">
                                      <p:cBhvr>
                                        <p:cTn id="46" dur="500" fill="hold"/>
                                        <p:tgtEl>
                                          <p:spTgt spid="5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6" grpId="0" animBg="1"/>
      <p:bldP spid="48" grpId="0" animBg="1"/>
      <p:bldP spid="49" grpId="0" animBg="1"/>
      <p:bldP spid="50" grpId="0" animBg="1"/>
      <p:bldP spid="51" grpId="0"/>
      <p:bldP spid="5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772400" cy="751114"/>
          </a:xfrm>
        </p:spPr>
        <p:txBody>
          <a:bodyPr/>
          <a:lstStyle/>
          <a:p>
            <a:r>
              <a:rPr lang="en-US" dirty="0"/>
              <a:t>Building Shadow Tables</a:t>
            </a:r>
          </a:p>
        </p:txBody>
      </p:sp>
      <p:sp>
        <p:nvSpPr>
          <p:cNvPr id="3" name="Content Placeholder 2"/>
          <p:cNvSpPr>
            <a:spLocks noGrp="1"/>
          </p:cNvSpPr>
          <p:nvPr>
            <p:ph idx="1"/>
          </p:nvPr>
        </p:nvSpPr>
        <p:spPr>
          <a:xfrm>
            <a:off x="204716" y="979714"/>
            <a:ext cx="8734568" cy="5878286"/>
          </a:xfrm>
        </p:spPr>
        <p:txBody>
          <a:bodyPr>
            <a:normAutofit/>
          </a:bodyPr>
          <a:lstStyle/>
          <a:p>
            <a:r>
              <a:rPr lang="en-US" sz="2800" dirty="0"/>
              <a:t>Problem: how can the VMM maintain consistent shadow pages tables?</a:t>
            </a:r>
          </a:p>
          <a:p>
            <a:pPr lvl="1"/>
            <a:r>
              <a:rPr lang="en-US" sz="2400" dirty="0"/>
              <a:t>The guest OS may modify </a:t>
            </a:r>
            <a:r>
              <a:rPr lang="en-US" sz="2400" i="1" dirty="0"/>
              <a:t>its</a:t>
            </a:r>
            <a:r>
              <a:rPr lang="en-US" sz="2400" dirty="0"/>
              <a:t> page tables at any time</a:t>
            </a:r>
          </a:p>
          <a:p>
            <a:pPr lvl="1"/>
            <a:r>
              <a:rPr lang="en-US" sz="2400" dirty="0"/>
              <a:t>Modifying the tables is a simple memory write, not a privileged instruction</a:t>
            </a:r>
          </a:p>
          <a:p>
            <a:pPr marL="1051560" lvl="2" indent="-137160"/>
            <a:r>
              <a:rPr lang="en-US" sz="2000" dirty="0"/>
              <a:t>Thus, there are no helpful CPU exceptions to trap this action :(</a:t>
            </a:r>
          </a:p>
          <a:p>
            <a:r>
              <a:rPr lang="en-US" sz="2800" dirty="0"/>
              <a:t>Solution: mark the hardware pages containing the guest’s tables as read-only (guest page table)</a:t>
            </a:r>
          </a:p>
          <a:p>
            <a:pPr lvl="1"/>
            <a:r>
              <a:rPr lang="en-US" sz="2400" dirty="0"/>
              <a:t>If the guest updates a table, an exception is generated</a:t>
            </a:r>
          </a:p>
          <a:p>
            <a:pPr lvl="1"/>
            <a:r>
              <a:rPr lang="en-US" sz="2400" dirty="0"/>
              <a:t>VMM catches the exception, examines the faulting write, updates the shadow table</a:t>
            </a:r>
          </a:p>
        </p:txBody>
      </p:sp>
      <p:sp>
        <p:nvSpPr>
          <p:cNvPr id="4" name="Slide Number Placeholder 3"/>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283B9EA5-CE9A-4950-A80C-5ADF06B45BB8}" type="slidenum">
              <a:rPr kumimoji="0" lang="en-US" sz="1400" b="0" i="0" u="none" strike="noStrike" kern="1200" cap="none" spc="0" normalizeH="0" baseline="0" noProof="0" smtClean="0">
                <a:ln>
                  <a:noFill/>
                </a:ln>
                <a:solidFill>
                  <a:srgbClr val="FFFFFF"/>
                </a:solidFill>
                <a:effectLst/>
                <a:uLnTx/>
                <a:uFillTx/>
                <a:latin typeface="Arial" charset="0"/>
                <a:ea typeface="Osaka" charset="-128"/>
              </a:rPr>
              <a:pPr marL="0" marR="0" lvl="0" indent="0" algn="r" defTabSz="914400" rtl="0" eaLnBrk="0" fontAlgn="base" latinLnBrk="0" hangingPunct="0">
                <a:lnSpc>
                  <a:spcPct val="100000"/>
                </a:lnSpc>
                <a:spcBef>
                  <a:spcPct val="0"/>
                </a:spcBef>
                <a:spcAft>
                  <a:spcPct val="0"/>
                </a:spcAft>
                <a:buClrTx/>
                <a:buSzTx/>
                <a:buFontTx/>
                <a:buNone/>
                <a:tabLst/>
                <a:defRPr/>
              </a:pPr>
              <a:t>40</a:t>
            </a:fld>
            <a:endParaRPr kumimoji="0" lang="en-US" sz="1400" b="0" i="0" u="none" strike="noStrike" kern="1200" cap="none" spc="0" normalizeH="0" baseline="0" noProof="0" dirty="0">
              <a:ln>
                <a:noFill/>
              </a:ln>
              <a:solidFill>
                <a:srgbClr val="FFFFFF"/>
              </a:solidFill>
              <a:effectLst/>
              <a:uLnTx/>
              <a:uFillTx/>
              <a:latin typeface="Arial" charset="0"/>
              <a:ea typeface="Osaka" charset="-128"/>
            </a:endParaRPr>
          </a:p>
        </p:txBody>
      </p:sp>
    </p:spTree>
    <p:extLst>
      <p:ext uri="{BB962C8B-B14F-4D97-AF65-F5344CB8AC3E}">
        <p14:creationId xmlns:p14="http://schemas.microsoft.com/office/powerpoint/2010/main" val="19361961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772400" cy="1143000"/>
          </a:xfrm>
        </p:spPr>
        <p:txBody>
          <a:bodyPr/>
          <a:lstStyle/>
          <a:p>
            <a:r>
              <a:rPr lang="en-US" dirty="0"/>
              <a:t>More VMM Tricks</a:t>
            </a:r>
          </a:p>
        </p:txBody>
      </p:sp>
      <p:sp>
        <p:nvSpPr>
          <p:cNvPr id="3" name="Content Placeholder 2"/>
          <p:cNvSpPr>
            <a:spLocks noGrp="1"/>
          </p:cNvSpPr>
          <p:nvPr>
            <p:ph idx="1"/>
          </p:nvPr>
        </p:nvSpPr>
        <p:spPr>
          <a:xfrm>
            <a:off x="204716" y="1235122"/>
            <a:ext cx="8734568" cy="5363571"/>
          </a:xfrm>
        </p:spPr>
        <p:txBody>
          <a:bodyPr>
            <a:normAutofit lnSpcReduction="10000"/>
          </a:bodyPr>
          <a:lstStyle/>
          <a:p>
            <a:r>
              <a:rPr lang="en-US" dirty="0"/>
              <a:t>The VMM can play tricks with virtual memory just like an OS can</a:t>
            </a:r>
          </a:p>
          <a:p>
            <a:r>
              <a:rPr lang="en-US" dirty="0" err="1"/>
              <a:t>Balooning</a:t>
            </a:r>
            <a:r>
              <a:rPr lang="en-US" dirty="0"/>
              <a:t>:</a:t>
            </a:r>
          </a:p>
          <a:p>
            <a:pPr lvl="1"/>
            <a:r>
              <a:rPr lang="en-US" dirty="0"/>
              <a:t>The VMM can page parts of a guest, or even an entire guest, to disk</a:t>
            </a:r>
          </a:p>
          <a:p>
            <a:pPr lvl="1"/>
            <a:r>
              <a:rPr lang="en-US" dirty="0"/>
              <a:t>A guest can be written to disk and brought back online on a different machine!</a:t>
            </a:r>
          </a:p>
          <a:p>
            <a:r>
              <a:rPr lang="en-US" dirty="0" err="1"/>
              <a:t>Deduplication</a:t>
            </a:r>
            <a:r>
              <a:rPr lang="en-US" dirty="0"/>
              <a:t>:</a:t>
            </a:r>
          </a:p>
          <a:p>
            <a:pPr lvl="1"/>
            <a:r>
              <a:rPr lang="en-US" dirty="0"/>
              <a:t>The VMM can share read-only pages between guests</a:t>
            </a:r>
          </a:p>
          <a:p>
            <a:pPr lvl="1"/>
            <a:r>
              <a:rPr lang="en-US" dirty="0"/>
              <a:t>Example: two guests both running Windows XP</a:t>
            </a:r>
          </a:p>
        </p:txBody>
      </p:sp>
      <p:sp>
        <p:nvSpPr>
          <p:cNvPr id="4" name="Slide Number Placeholder 3"/>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283B9EA5-CE9A-4950-A80C-5ADF06B45BB8}" type="slidenum">
              <a:rPr kumimoji="0" lang="en-US" sz="1400" b="0" i="0" u="none" strike="noStrike" kern="1200" cap="none" spc="0" normalizeH="0" baseline="0" noProof="0" smtClean="0">
                <a:ln>
                  <a:noFill/>
                </a:ln>
                <a:solidFill>
                  <a:srgbClr val="FFFFFF"/>
                </a:solidFill>
                <a:effectLst/>
                <a:uLnTx/>
                <a:uFillTx/>
                <a:latin typeface="Arial" charset="0"/>
                <a:ea typeface="Osaka" charset="-128"/>
              </a:rPr>
              <a:pPr marL="0" marR="0" lvl="0" indent="0" algn="r" defTabSz="914400" rtl="0" eaLnBrk="0" fontAlgn="base" latinLnBrk="0" hangingPunct="0">
                <a:lnSpc>
                  <a:spcPct val="100000"/>
                </a:lnSpc>
                <a:spcBef>
                  <a:spcPct val="0"/>
                </a:spcBef>
                <a:spcAft>
                  <a:spcPct val="0"/>
                </a:spcAft>
                <a:buClrTx/>
                <a:buSzTx/>
                <a:buFontTx/>
                <a:buNone/>
                <a:tabLst/>
                <a:defRPr/>
              </a:pPr>
              <a:t>41</a:t>
            </a:fld>
            <a:endParaRPr kumimoji="0" lang="en-US" sz="1400" b="0" i="0" u="none" strike="noStrike" kern="1200" cap="none" spc="0" normalizeH="0" baseline="0" noProof="0" dirty="0">
              <a:ln>
                <a:noFill/>
              </a:ln>
              <a:solidFill>
                <a:srgbClr val="FFFFFF"/>
              </a:solidFill>
              <a:effectLst/>
              <a:uLnTx/>
              <a:uFillTx/>
              <a:latin typeface="Arial" charset="0"/>
              <a:ea typeface="Osaka" charset="-128"/>
            </a:endParaRPr>
          </a:p>
        </p:txBody>
      </p:sp>
    </p:spTree>
    <p:extLst>
      <p:ext uri="{BB962C8B-B14F-4D97-AF65-F5344CB8AC3E}">
        <p14:creationId xmlns:p14="http://schemas.microsoft.com/office/powerpoint/2010/main" val="25083897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rrowheads="1"/>
          </p:cNvSpPr>
          <p:nvPr>
            <p:ph type="title"/>
          </p:nvPr>
        </p:nvSpPr>
        <p:spPr>
          <a:xfrm>
            <a:off x="685800" y="141515"/>
            <a:ext cx="7772400" cy="1143000"/>
          </a:xfrm>
        </p:spPr>
        <p:txBody>
          <a:bodyPr/>
          <a:lstStyle/>
          <a:p>
            <a:r>
              <a:rPr lang="en-US" altLang="zh-CN" dirty="0"/>
              <a:t>Xen VM interface: CPU</a:t>
            </a:r>
          </a:p>
        </p:txBody>
      </p:sp>
      <p:sp>
        <p:nvSpPr>
          <p:cNvPr id="46083" name="Rectangle 3"/>
          <p:cNvSpPr>
            <a:spLocks noGrp="1" noRot="1" noChangeArrowheads="1"/>
          </p:cNvSpPr>
          <p:nvPr>
            <p:ph type="body" idx="1"/>
          </p:nvPr>
        </p:nvSpPr>
        <p:spPr>
          <a:xfrm>
            <a:off x="0" y="1164771"/>
            <a:ext cx="9067800" cy="4702629"/>
          </a:xfrm>
        </p:spPr>
        <p:txBody>
          <a:bodyPr/>
          <a:lstStyle/>
          <a:p>
            <a:r>
              <a:rPr lang="en-US" altLang="zh-CN" dirty="0"/>
              <a:t>CPU</a:t>
            </a:r>
          </a:p>
          <a:p>
            <a:pPr lvl="1"/>
            <a:r>
              <a:rPr lang="en-US" altLang="zh-CN" dirty="0"/>
              <a:t>Guest runs at lower privilege than VMM</a:t>
            </a:r>
          </a:p>
          <a:p>
            <a:pPr lvl="1"/>
            <a:r>
              <a:rPr lang="en-US" altLang="zh-CN" dirty="0"/>
              <a:t>Exception handlers must be registered with VMM</a:t>
            </a:r>
          </a:p>
          <a:p>
            <a:pPr lvl="1"/>
            <a:r>
              <a:rPr lang="en-US" altLang="zh-CN" dirty="0"/>
              <a:t>Fast system call handler can be serviced without trapping to VMM</a:t>
            </a:r>
          </a:p>
          <a:p>
            <a:pPr lvl="2"/>
            <a:r>
              <a:rPr lang="en-US" altLang="zh-CN" dirty="0"/>
              <a:t>Allow direct calls from application to Guest OS, rather than directing it through the VMM</a:t>
            </a:r>
          </a:p>
          <a:p>
            <a:pPr lvl="1"/>
            <a:r>
              <a:rPr lang="en-US" altLang="zh-CN" dirty="0"/>
              <a:t>Hardware interrupts replaced by lightweight event notification system</a:t>
            </a:r>
          </a:p>
          <a:p>
            <a:pPr lvl="1"/>
            <a:r>
              <a:rPr lang="en-US" altLang="zh-CN" dirty="0"/>
              <a:t>Timer interface: both for real and virtual time</a:t>
            </a:r>
          </a:p>
        </p:txBody>
      </p:sp>
    </p:spTree>
    <p:extLst>
      <p:ext uri="{BB962C8B-B14F-4D97-AF65-F5344CB8AC3E}">
        <p14:creationId xmlns:p14="http://schemas.microsoft.com/office/powerpoint/2010/main" val="11112501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rrowheads="1"/>
          </p:cNvSpPr>
          <p:nvPr>
            <p:ph type="title"/>
          </p:nvPr>
        </p:nvSpPr>
        <p:spPr/>
        <p:txBody>
          <a:bodyPr/>
          <a:lstStyle/>
          <a:p>
            <a:r>
              <a:rPr lang="en-US" altLang="zh-CN" dirty="0"/>
              <a:t>Details: CPU </a:t>
            </a:r>
          </a:p>
        </p:txBody>
      </p:sp>
      <p:sp>
        <p:nvSpPr>
          <p:cNvPr id="43011" name="Rectangle 3"/>
          <p:cNvSpPr>
            <a:spLocks noGrp="1" noRot="1" noChangeArrowheads="1"/>
          </p:cNvSpPr>
          <p:nvPr>
            <p:ph type="body" idx="1"/>
          </p:nvPr>
        </p:nvSpPr>
        <p:spPr>
          <a:xfrm>
            <a:off x="685800" y="1752600"/>
            <a:ext cx="7772400" cy="4343400"/>
          </a:xfrm>
        </p:spPr>
        <p:txBody>
          <a:bodyPr/>
          <a:lstStyle/>
          <a:p>
            <a:pPr>
              <a:lnSpc>
                <a:spcPct val="90000"/>
              </a:lnSpc>
            </a:pPr>
            <a:r>
              <a:rPr lang="en-US" altLang="zh-CN" sz="2800" dirty="0"/>
              <a:t>Frequent exceptions:</a:t>
            </a:r>
          </a:p>
          <a:p>
            <a:pPr lvl="1">
              <a:lnSpc>
                <a:spcPct val="90000"/>
              </a:lnSpc>
            </a:pPr>
            <a:r>
              <a:rPr lang="en-US" altLang="zh-CN" sz="2400" dirty="0"/>
              <a:t>Software interrupts for system calls</a:t>
            </a:r>
          </a:p>
          <a:p>
            <a:pPr lvl="1">
              <a:lnSpc>
                <a:spcPct val="90000"/>
              </a:lnSpc>
            </a:pPr>
            <a:r>
              <a:rPr lang="en-US" altLang="zh-CN" sz="2400" dirty="0"/>
              <a:t>Page faults</a:t>
            </a:r>
          </a:p>
          <a:p>
            <a:pPr>
              <a:lnSpc>
                <a:spcPct val="90000"/>
              </a:lnSpc>
            </a:pPr>
            <a:r>
              <a:rPr lang="en-US" altLang="zh-CN" sz="2800" dirty="0"/>
              <a:t>Allow </a:t>
            </a:r>
            <a:r>
              <a:rPr lang="zh-CN" altLang="en-US" sz="2800" dirty="0"/>
              <a:t>“</a:t>
            </a:r>
            <a:r>
              <a:rPr lang="en-US" altLang="zh-CN" sz="2800" dirty="0"/>
              <a:t>guest</a:t>
            </a:r>
            <a:r>
              <a:rPr lang="zh-CN" altLang="en-US" sz="2800" dirty="0"/>
              <a:t>”</a:t>
            </a:r>
            <a:r>
              <a:rPr lang="en-US" altLang="zh-CN" sz="2800" dirty="0"/>
              <a:t> to register a </a:t>
            </a:r>
            <a:r>
              <a:rPr lang="zh-CN" altLang="en-US" sz="2800" dirty="0"/>
              <a:t>‘</a:t>
            </a:r>
            <a:r>
              <a:rPr lang="en-US" altLang="zh-CN" sz="2800" dirty="0"/>
              <a:t>fast</a:t>
            </a:r>
            <a:r>
              <a:rPr lang="zh-CN" altLang="en-US" sz="2800" dirty="0"/>
              <a:t>’</a:t>
            </a:r>
            <a:r>
              <a:rPr lang="en-US" altLang="zh-CN" sz="2800" dirty="0"/>
              <a:t> exception handler </a:t>
            </a:r>
            <a:r>
              <a:rPr lang="en-US" altLang="zh-CN" sz="2800" b="1" dirty="0"/>
              <a:t>for system calls </a:t>
            </a:r>
            <a:r>
              <a:rPr lang="en-US" altLang="zh-CN" sz="2800" dirty="0"/>
              <a:t>that can be accessed directly by CPU in ring 1, without switching to ring-0/Xen</a:t>
            </a:r>
          </a:p>
          <a:p>
            <a:pPr lvl="1">
              <a:lnSpc>
                <a:spcPct val="90000"/>
              </a:lnSpc>
            </a:pPr>
            <a:r>
              <a:rPr lang="en-US" altLang="zh-CN" sz="2400" dirty="0"/>
              <a:t>Handler is validated before installing in hardware exception table: To make sure nothing executed in Ring 0 privilege.</a:t>
            </a:r>
          </a:p>
          <a:p>
            <a:pPr>
              <a:lnSpc>
                <a:spcPct val="90000"/>
              </a:lnSpc>
            </a:pPr>
            <a:r>
              <a:rPr lang="en-US" altLang="zh-CN" sz="2800" dirty="0"/>
              <a:t>Not used for Page Fault</a:t>
            </a:r>
          </a:p>
          <a:p>
            <a:pPr>
              <a:lnSpc>
                <a:spcPct val="90000"/>
              </a:lnSpc>
            </a:pPr>
            <a:endParaRPr lang="en-US" altLang="zh-CN" sz="2800" dirty="0"/>
          </a:p>
        </p:txBody>
      </p:sp>
    </p:spTree>
    <p:extLst>
      <p:ext uri="{BB962C8B-B14F-4D97-AF65-F5344CB8AC3E}">
        <p14:creationId xmlns:p14="http://schemas.microsoft.com/office/powerpoint/2010/main" val="38236412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rrowheads="1"/>
          </p:cNvSpPr>
          <p:nvPr>
            <p:ph type="title"/>
          </p:nvPr>
        </p:nvSpPr>
        <p:spPr/>
        <p:txBody>
          <a:bodyPr/>
          <a:lstStyle/>
          <a:p>
            <a:r>
              <a:rPr lang="en-US" altLang="zh-CN"/>
              <a:t>Xen VM interface: I/O</a:t>
            </a:r>
          </a:p>
        </p:txBody>
      </p:sp>
      <p:sp>
        <p:nvSpPr>
          <p:cNvPr id="47107" name="Rectangle 3"/>
          <p:cNvSpPr>
            <a:spLocks noGrp="1" noRot="1" noChangeArrowheads="1"/>
          </p:cNvSpPr>
          <p:nvPr>
            <p:ph type="body" idx="1"/>
          </p:nvPr>
        </p:nvSpPr>
        <p:spPr/>
        <p:txBody>
          <a:bodyPr/>
          <a:lstStyle/>
          <a:p>
            <a:r>
              <a:rPr lang="en-US" altLang="zh-CN"/>
              <a:t>I/O</a:t>
            </a:r>
          </a:p>
          <a:p>
            <a:pPr lvl="1"/>
            <a:r>
              <a:rPr lang="en-US" altLang="zh-CN"/>
              <a:t>Virtual devices exposed as asynchronous I/O rings to guests</a:t>
            </a:r>
          </a:p>
          <a:p>
            <a:pPr lvl="1"/>
            <a:r>
              <a:rPr lang="en-US" altLang="zh-CN"/>
              <a:t>Event notification replaces interrupts</a:t>
            </a:r>
          </a:p>
        </p:txBody>
      </p:sp>
    </p:spTree>
    <p:extLst>
      <p:ext uri="{BB962C8B-B14F-4D97-AF65-F5344CB8AC3E}">
        <p14:creationId xmlns:p14="http://schemas.microsoft.com/office/powerpoint/2010/main" val="4292231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rrowheads="1"/>
          </p:cNvSpPr>
          <p:nvPr>
            <p:ph type="title"/>
          </p:nvPr>
        </p:nvSpPr>
        <p:spPr/>
        <p:txBody>
          <a:bodyPr/>
          <a:lstStyle/>
          <a:p>
            <a:r>
              <a:rPr lang="en-US" altLang="zh-CN"/>
              <a:t>Details: I/O 1</a:t>
            </a:r>
          </a:p>
        </p:txBody>
      </p:sp>
      <p:sp>
        <p:nvSpPr>
          <p:cNvPr id="50179" name="Rectangle 3"/>
          <p:cNvSpPr>
            <a:spLocks noGrp="1" noRot="1" noChangeArrowheads="1"/>
          </p:cNvSpPr>
          <p:nvPr>
            <p:ph type="body" idx="1"/>
          </p:nvPr>
        </p:nvSpPr>
        <p:spPr/>
        <p:txBody>
          <a:bodyPr/>
          <a:lstStyle/>
          <a:p>
            <a:r>
              <a:rPr lang="en-US" altLang="zh-CN" sz="2800" dirty="0" err="1"/>
              <a:t>Xen</a:t>
            </a:r>
            <a:r>
              <a:rPr lang="en-US" altLang="zh-CN" sz="2800" dirty="0"/>
              <a:t> does not emulate hardware devices</a:t>
            </a:r>
          </a:p>
          <a:p>
            <a:pPr lvl="1"/>
            <a:r>
              <a:rPr lang="en-US" altLang="zh-CN" sz="2400" dirty="0"/>
              <a:t>Exposes device abstractions for simplicity and performance</a:t>
            </a:r>
          </a:p>
          <a:p>
            <a:pPr lvl="1"/>
            <a:r>
              <a:rPr lang="en-US" altLang="zh-CN" sz="2400" dirty="0"/>
              <a:t>I/O data transferred to/from guest via </a:t>
            </a:r>
            <a:r>
              <a:rPr lang="en-US" altLang="zh-CN" sz="2400" dirty="0" err="1"/>
              <a:t>Xen</a:t>
            </a:r>
            <a:r>
              <a:rPr lang="en-US" altLang="zh-CN" sz="2400" dirty="0"/>
              <a:t> using shared-memory buffers</a:t>
            </a:r>
          </a:p>
          <a:p>
            <a:pPr lvl="1"/>
            <a:r>
              <a:rPr lang="en-US" altLang="zh-CN" sz="2400" dirty="0"/>
              <a:t>Virtualized interrupts: light-weight event delivery mechanism from </a:t>
            </a:r>
            <a:r>
              <a:rPr lang="en-US" altLang="zh-CN" sz="2400" dirty="0" err="1"/>
              <a:t>Xen</a:t>
            </a:r>
            <a:r>
              <a:rPr lang="en-US" altLang="zh-CN" sz="2400" dirty="0"/>
              <a:t>-guest</a:t>
            </a:r>
          </a:p>
          <a:p>
            <a:pPr lvl="2"/>
            <a:r>
              <a:rPr lang="en-US" altLang="zh-CN" sz="2000" dirty="0"/>
              <a:t>Update a bitmap in shared memory</a:t>
            </a:r>
          </a:p>
          <a:p>
            <a:pPr lvl="2"/>
            <a:r>
              <a:rPr lang="en-US" altLang="zh-CN" sz="2000" dirty="0"/>
              <a:t>Optional call-back handlers registered by guest O/S</a:t>
            </a:r>
          </a:p>
        </p:txBody>
      </p:sp>
    </p:spTree>
    <p:extLst>
      <p:ext uri="{BB962C8B-B14F-4D97-AF65-F5344CB8AC3E}">
        <p14:creationId xmlns:p14="http://schemas.microsoft.com/office/powerpoint/2010/main" val="3065406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title"/>
          </p:nvPr>
        </p:nvSpPr>
        <p:spPr/>
        <p:txBody>
          <a:bodyPr/>
          <a:lstStyle/>
          <a:p>
            <a:r>
              <a:rPr lang="en-US" altLang="en-US"/>
              <a:t>NIC data structure</a:t>
            </a:r>
          </a:p>
        </p:txBody>
      </p:sp>
      <p:sp>
        <p:nvSpPr>
          <p:cNvPr id="18434" name="Content Placeholder 2"/>
          <p:cNvSpPr>
            <a:spLocks noGrp="1"/>
          </p:cNvSpPr>
          <p:nvPr>
            <p:ph idx="1"/>
          </p:nvPr>
        </p:nvSpPr>
        <p:spPr>
          <a:xfrm>
            <a:off x="163286" y="2054761"/>
            <a:ext cx="4514850" cy="3543300"/>
          </a:xfrm>
        </p:spPr>
        <p:txBody>
          <a:bodyPr/>
          <a:lstStyle/>
          <a:p>
            <a:r>
              <a:rPr lang="en-US" altLang="en-US" sz="2000" dirty="0"/>
              <a:t>NIC manages incoming and outgoing packets using circular queues (ring) of buffer descriptors</a:t>
            </a:r>
          </a:p>
          <a:p>
            <a:endParaRPr lang="en-US" altLang="en-US" sz="2000" dirty="0"/>
          </a:p>
          <a:p>
            <a:r>
              <a:rPr lang="en-US" altLang="en-US" sz="2000" dirty="0"/>
              <a:t>Each slot in the ring contains the length and physical address of the buffer</a:t>
            </a:r>
          </a:p>
          <a:p>
            <a:endParaRPr lang="en-US" altLang="en-US" sz="2000" dirty="0"/>
          </a:p>
          <a:p>
            <a:r>
              <a:rPr lang="en-US" altLang="en-US" sz="2000" dirty="0"/>
              <a:t>NIC registers (CPU accessible) indicate the portion of ring available for transmission and reception</a:t>
            </a:r>
          </a:p>
        </p:txBody>
      </p:sp>
      <p:pic>
        <p:nvPicPr>
          <p:cNvPr id="18435"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678136" y="4256314"/>
            <a:ext cx="4171950" cy="2410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6"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78136" y="794657"/>
            <a:ext cx="4335235" cy="3352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382960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rrowheads="1"/>
          </p:cNvSpPr>
          <p:nvPr>
            <p:ph type="title"/>
          </p:nvPr>
        </p:nvSpPr>
        <p:spPr>
          <a:xfrm>
            <a:off x="685800" y="97341"/>
            <a:ext cx="7772400" cy="960438"/>
          </a:xfrm>
        </p:spPr>
        <p:txBody>
          <a:bodyPr/>
          <a:lstStyle/>
          <a:p>
            <a:r>
              <a:rPr lang="en-US" altLang="zh-CN" dirty="0"/>
              <a:t>Details: I/O 2</a:t>
            </a:r>
          </a:p>
        </p:txBody>
      </p:sp>
      <p:sp>
        <p:nvSpPr>
          <p:cNvPr id="44035" name="Rectangle 3"/>
          <p:cNvSpPr>
            <a:spLocks noGrp="1" noRot="1" noChangeArrowheads="1"/>
          </p:cNvSpPr>
          <p:nvPr>
            <p:ph type="body" idx="1"/>
          </p:nvPr>
        </p:nvSpPr>
        <p:spPr>
          <a:xfrm>
            <a:off x="539750" y="959005"/>
            <a:ext cx="8153400" cy="4808383"/>
          </a:xfrm>
        </p:spPr>
        <p:txBody>
          <a:bodyPr/>
          <a:lstStyle/>
          <a:p>
            <a:r>
              <a:rPr lang="en-US" altLang="zh-CN" dirty="0"/>
              <a:t>I/O Descriptor Ring:</a:t>
            </a:r>
          </a:p>
        </p:txBody>
      </p:sp>
      <p:pic>
        <p:nvPicPr>
          <p:cNvPr id="44036" name="Picture 4" descr="{7904D947-AE63-46C5-87F5-2F0560E92F9C}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850" y="1572322"/>
            <a:ext cx="8358613" cy="4977703"/>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42483533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rrowheads="1"/>
          </p:cNvSpPr>
          <p:nvPr>
            <p:ph type="title"/>
          </p:nvPr>
        </p:nvSpPr>
        <p:spPr/>
        <p:txBody>
          <a:bodyPr/>
          <a:lstStyle/>
          <a:p>
            <a:r>
              <a:rPr lang="en-US" altLang="zh-CN"/>
              <a:t>Data Transfer: Descriptor Ring</a:t>
            </a:r>
          </a:p>
        </p:txBody>
      </p:sp>
      <p:sp>
        <p:nvSpPr>
          <p:cNvPr id="54275" name="Rectangle 3"/>
          <p:cNvSpPr>
            <a:spLocks noGrp="1" noRot="1" noChangeArrowheads="1"/>
          </p:cNvSpPr>
          <p:nvPr>
            <p:ph type="body" idx="1"/>
          </p:nvPr>
        </p:nvSpPr>
        <p:spPr/>
        <p:txBody>
          <a:bodyPr/>
          <a:lstStyle/>
          <a:p>
            <a:r>
              <a:rPr lang="en-US" altLang="zh-CN"/>
              <a:t>Descriptors are allocated by a domain (guest) and accessible from Xen</a:t>
            </a:r>
          </a:p>
          <a:p>
            <a:r>
              <a:rPr lang="en-US" altLang="zh-CN"/>
              <a:t>Descriptors do not contain I/O data; instead, point to data buffers also allocated by domain (guest)</a:t>
            </a:r>
          </a:p>
          <a:p>
            <a:pPr lvl="1"/>
            <a:r>
              <a:rPr lang="en-US" altLang="zh-CN"/>
              <a:t>Facilitate zero-copy transfers of I/O data into a domain</a:t>
            </a:r>
          </a:p>
        </p:txBody>
      </p:sp>
    </p:spTree>
    <p:extLst>
      <p:ext uri="{BB962C8B-B14F-4D97-AF65-F5344CB8AC3E}">
        <p14:creationId xmlns:p14="http://schemas.microsoft.com/office/powerpoint/2010/main" val="13391002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rrowheads="1"/>
          </p:cNvSpPr>
          <p:nvPr>
            <p:ph type="title"/>
          </p:nvPr>
        </p:nvSpPr>
        <p:spPr/>
        <p:txBody>
          <a:bodyPr/>
          <a:lstStyle/>
          <a:p>
            <a:r>
              <a:rPr lang="en-US" altLang="zh-CN"/>
              <a:t>OS Porting Cost</a:t>
            </a:r>
          </a:p>
        </p:txBody>
      </p:sp>
      <p:sp>
        <p:nvSpPr>
          <p:cNvPr id="45059" name="Rectangle 3"/>
          <p:cNvSpPr>
            <a:spLocks noGrp="1" noRot="1" noChangeArrowheads="1"/>
          </p:cNvSpPr>
          <p:nvPr>
            <p:ph type="body" idx="1"/>
          </p:nvPr>
        </p:nvSpPr>
        <p:spPr/>
        <p:txBody>
          <a:bodyPr/>
          <a:lstStyle/>
          <a:p>
            <a:r>
              <a:rPr lang="en-US" altLang="zh-CN"/>
              <a:t>Number of lines of code modified or added compared with original x86 code base (excluding device drivers)</a:t>
            </a:r>
          </a:p>
          <a:p>
            <a:pPr lvl="1"/>
            <a:r>
              <a:rPr lang="en-US" altLang="zh-CN"/>
              <a:t>Linux: 2995 (1.36%)</a:t>
            </a:r>
          </a:p>
          <a:p>
            <a:pPr lvl="1"/>
            <a:r>
              <a:rPr lang="en-US" altLang="zh-CN"/>
              <a:t>Windows XP: 4620 (0.04%)</a:t>
            </a:r>
          </a:p>
          <a:p>
            <a:r>
              <a:rPr lang="en-US" altLang="zh-CN"/>
              <a:t>Re-writing of privileged routines; </a:t>
            </a:r>
          </a:p>
          <a:p>
            <a:r>
              <a:rPr lang="en-US" altLang="zh-CN"/>
              <a:t>Removing low-level system initialization code</a:t>
            </a:r>
          </a:p>
          <a:p>
            <a:endParaRPr lang="en-US" altLang="zh-CN"/>
          </a:p>
        </p:txBody>
      </p:sp>
    </p:spTree>
    <p:extLst>
      <p:ext uri="{BB962C8B-B14F-4D97-AF65-F5344CB8AC3E}">
        <p14:creationId xmlns:p14="http://schemas.microsoft.com/office/powerpoint/2010/main" val="22125426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rrowheads="1"/>
          </p:cNvSpPr>
          <p:nvPr>
            <p:ph type="title"/>
          </p:nvPr>
        </p:nvSpPr>
        <p:spPr/>
        <p:txBody>
          <a:bodyPr/>
          <a:lstStyle/>
          <a:p>
            <a:r>
              <a:rPr lang="en-US" altLang="zh-CN"/>
              <a:t>Control Transfer</a:t>
            </a:r>
          </a:p>
        </p:txBody>
      </p:sp>
      <p:sp>
        <p:nvSpPr>
          <p:cNvPr id="52227" name="Rectangle 3"/>
          <p:cNvSpPr>
            <a:spLocks noGrp="1" noRot="1" noChangeArrowheads="1"/>
          </p:cNvSpPr>
          <p:nvPr>
            <p:ph type="body" idx="1"/>
          </p:nvPr>
        </p:nvSpPr>
        <p:spPr>
          <a:xfrm>
            <a:off x="326571" y="1981200"/>
            <a:ext cx="8534400" cy="4114800"/>
          </a:xfrm>
        </p:spPr>
        <p:txBody>
          <a:bodyPr/>
          <a:lstStyle/>
          <a:p>
            <a:r>
              <a:rPr lang="en-US" altLang="zh-CN" sz="2800" dirty="0"/>
              <a:t>Guest synchronously calls into VMM</a:t>
            </a:r>
          </a:p>
          <a:p>
            <a:pPr lvl="1"/>
            <a:r>
              <a:rPr lang="en-US" altLang="zh-CN" sz="2400" dirty="0"/>
              <a:t>Explicit control transfer from guest O/S to VM monitor/hypervisor, similar to system calls</a:t>
            </a:r>
          </a:p>
          <a:p>
            <a:pPr lvl="1"/>
            <a:r>
              <a:rPr lang="zh-CN" altLang="en-US" sz="2400" dirty="0"/>
              <a:t>“</a:t>
            </a:r>
            <a:r>
              <a:rPr lang="en-US" altLang="zh-CN" sz="2400" dirty="0" err="1"/>
              <a:t>hypercalls</a:t>
            </a:r>
            <a:r>
              <a:rPr lang="zh-CN" altLang="en-US" sz="2400" dirty="0"/>
              <a:t>”</a:t>
            </a:r>
            <a:endParaRPr lang="en-US" altLang="zh-CN" sz="2400" dirty="0"/>
          </a:p>
          <a:p>
            <a:r>
              <a:rPr lang="en-US" altLang="zh-CN" sz="2800" dirty="0"/>
              <a:t>VMM delivers notifications to guest O/S</a:t>
            </a:r>
          </a:p>
          <a:p>
            <a:pPr lvl="1"/>
            <a:r>
              <a:rPr lang="en-US" altLang="zh-CN" sz="2400" dirty="0"/>
              <a:t>E.g. data from network or when an I/O device is ready</a:t>
            </a:r>
          </a:p>
          <a:p>
            <a:pPr lvl="1"/>
            <a:r>
              <a:rPr lang="en-US" altLang="zh-CN" sz="2400" dirty="0"/>
              <a:t>Asynchronous event mechanism; guest O/S does not see hardware interrupts, only </a:t>
            </a:r>
            <a:r>
              <a:rPr lang="en-US" altLang="zh-CN" sz="2400" dirty="0" err="1"/>
              <a:t>Xen</a:t>
            </a:r>
            <a:r>
              <a:rPr lang="en-US" altLang="zh-CN" sz="2400" dirty="0"/>
              <a:t> notifications</a:t>
            </a:r>
          </a:p>
        </p:txBody>
      </p:sp>
    </p:spTree>
    <p:extLst>
      <p:ext uri="{BB962C8B-B14F-4D97-AF65-F5344CB8AC3E}">
        <p14:creationId xmlns:p14="http://schemas.microsoft.com/office/powerpoint/2010/main" val="30219685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rrowheads="1"/>
          </p:cNvSpPr>
          <p:nvPr>
            <p:ph type="title"/>
          </p:nvPr>
        </p:nvSpPr>
        <p:spPr/>
        <p:txBody>
          <a:bodyPr/>
          <a:lstStyle/>
          <a:p>
            <a:r>
              <a:rPr lang="en-US" altLang="zh-CN"/>
              <a:t>Event notification</a:t>
            </a:r>
          </a:p>
        </p:txBody>
      </p:sp>
      <p:sp>
        <p:nvSpPr>
          <p:cNvPr id="53251" name="Rectangle 3"/>
          <p:cNvSpPr>
            <a:spLocks noGrp="1" noRot="1" noChangeArrowheads="1"/>
          </p:cNvSpPr>
          <p:nvPr>
            <p:ph type="body" idx="1"/>
          </p:nvPr>
        </p:nvSpPr>
        <p:spPr>
          <a:xfrm>
            <a:off x="685800" y="1752600"/>
            <a:ext cx="7772400" cy="4114800"/>
          </a:xfrm>
        </p:spPr>
        <p:txBody>
          <a:bodyPr/>
          <a:lstStyle/>
          <a:p>
            <a:r>
              <a:rPr lang="en-US" altLang="zh-CN" sz="2800" dirty="0"/>
              <a:t>Pending events stored in per-domain bitmask</a:t>
            </a:r>
          </a:p>
          <a:p>
            <a:pPr lvl="1"/>
            <a:r>
              <a:rPr lang="en-US" altLang="zh-CN" sz="2400" dirty="0"/>
              <a:t>E.g. incoming network packet received</a:t>
            </a:r>
          </a:p>
          <a:p>
            <a:pPr lvl="1"/>
            <a:r>
              <a:rPr lang="en-US" altLang="zh-CN" sz="2400" dirty="0"/>
              <a:t>Updated by </a:t>
            </a:r>
            <a:r>
              <a:rPr lang="en-US" altLang="zh-CN" sz="2400" dirty="0" err="1"/>
              <a:t>Xen</a:t>
            </a:r>
            <a:r>
              <a:rPr lang="en-US" altLang="zh-CN" sz="2400" dirty="0"/>
              <a:t> before invoking guest OS handler</a:t>
            </a:r>
          </a:p>
          <a:p>
            <a:pPr lvl="1"/>
            <a:r>
              <a:rPr lang="en-US" altLang="zh-CN" sz="2400" dirty="0" err="1"/>
              <a:t>Xen</a:t>
            </a:r>
            <a:r>
              <a:rPr lang="en-US" altLang="zh-CN" sz="2400" dirty="0"/>
              <a:t>-readable flag may be set by a domain</a:t>
            </a:r>
          </a:p>
          <a:p>
            <a:pPr lvl="2"/>
            <a:r>
              <a:rPr lang="en-US" altLang="zh-CN" sz="2000" dirty="0"/>
              <a:t>To defer handling, based on time or number of pending requests</a:t>
            </a:r>
          </a:p>
          <a:p>
            <a:pPr lvl="2"/>
            <a:r>
              <a:rPr lang="en-US" altLang="zh-CN" sz="2000" dirty="0"/>
              <a:t>Analogous to interrupt disabling</a:t>
            </a:r>
          </a:p>
          <a:p>
            <a:endParaRPr lang="en-US" altLang="zh-CN" dirty="0"/>
          </a:p>
        </p:txBody>
      </p:sp>
    </p:spTree>
    <p:extLst>
      <p:ext uri="{BB962C8B-B14F-4D97-AF65-F5344CB8AC3E}">
        <p14:creationId xmlns:p14="http://schemas.microsoft.com/office/powerpoint/2010/main" val="3258777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rrowheads="1"/>
          </p:cNvSpPr>
          <p:nvPr>
            <p:ph type="title"/>
          </p:nvPr>
        </p:nvSpPr>
        <p:spPr/>
        <p:txBody>
          <a:bodyPr/>
          <a:lstStyle/>
          <a:p>
            <a:r>
              <a:rPr lang="en-US" altLang="zh-CN"/>
              <a:t>Network Virtualization</a:t>
            </a:r>
          </a:p>
        </p:txBody>
      </p:sp>
      <p:sp>
        <p:nvSpPr>
          <p:cNvPr id="55299" name="Rectangle 3"/>
          <p:cNvSpPr>
            <a:spLocks noGrp="1" noRot="1" noChangeArrowheads="1"/>
          </p:cNvSpPr>
          <p:nvPr>
            <p:ph type="body" idx="1"/>
          </p:nvPr>
        </p:nvSpPr>
        <p:spPr>
          <a:xfrm>
            <a:off x="0" y="1981200"/>
            <a:ext cx="9144000" cy="4114800"/>
          </a:xfrm>
        </p:spPr>
        <p:txBody>
          <a:bodyPr/>
          <a:lstStyle/>
          <a:p>
            <a:r>
              <a:rPr lang="en-US" altLang="zh-CN" dirty="0"/>
              <a:t>Each domain has 1+ network interfaces: virtual interfaces (VIFs)</a:t>
            </a:r>
          </a:p>
          <a:p>
            <a:pPr lvl="1"/>
            <a:r>
              <a:rPr lang="en-US" altLang="zh-CN" dirty="0"/>
              <a:t>Each VIF has 2 I/O rings (send, receive)</a:t>
            </a:r>
          </a:p>
          <a:p>
            <a:pPr lvl="1"/>
            <a:r>
              <a:rPr lang="en-US" altLang="zh-CN" dirty="0"/>
              <a:t>Each direction also has rules of the form (&lt;pattern&gt;,&lt;action&gt;) that are inserted by domain 0 (management)</a:t>
            </a:r>
          </a:p>
          <a:p>
            <a:r>
              <a:rPr lang="en-US" altLang="zh-CN" dirty="0"/>
              <a:t>Xen’s role:  models/acts as a virtual firewall + router (VFR) to which all domain VIFs connect</a:t>
            </a:r>
          </a:p>
          <a:p>
            <a:endParaRPr lang="en-US" altLang="zh-CN" dirty="0"/>
          </a:p>
        </p:txBody>
      </p:sp>
    </p:spTree>
    <p:extLst>
      <p:ext uri="{BB962C8B-B14F-4D97-AF65-F5344CB8AC3E}">
        <p14:creationId xmlns:p14="http://schemas.microsoft.com/office/powerpoint/2010/main" val="4241146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rrowheads="1"/>
          </p:cNvSpPr>
          <p:nvPr>
            <p:ph type="title"/>
          </p:nvPr>
        </p:nvSpPr>
        <p:spPr/>
        <p:txBody>
          <a:bodyPr/>
          <a:lstStyle/>
          <a:p>
            <a:r>
              <a:rPr lang="en-US" altLang="zh-CN"/>
              <a:t>Network Virtualization</a:t>
            </a:r>
          </a:p>
        </p:txBody>
      </p:sp>
      <p:sp>
        <p:nvSpPr>
          <p:cNvPr id="57347" name="Rectangle 3"/>
          <p:cNvSpPr>
            <a:spLocks noGrp="1" noRot="1" noChangeArrowheads="1"/>
          </p:cNvSpPr>
          <p:nvPr>
            <p:ph type="body" idx="1"/>
          </p:nvPr>
        </p:nvSpPr>
        <p:spPr>
          <a:xfrm>
            <a:off x="685800" y="1981200"/>
            <a:ext cx="8098971" cy="4114800"/>
          </a:xfrm>
        </p:spPr>
        <p:txBody>
          <a:bodyPr/>
          <a:lstStyle/>
          <a:p>
            <a:r>
              <a:rPr lang="en-US" altLang="zh-CN" dirty="0"/>
              <a:t>Packet transmission:</a:t>
            </a:r>
          </a:p>
          <a:p>
            <a:pPr lvl="1"/>
            <a:r>
              <a:rPr lang="en-US" altLang="zh-CN" dirty="0"/>
              <a:t>Guest adds request to I/O ring</a:t>
            </a:r>
          </a:p>
          <a:p>
            <a:pPr lvl="1"/>
            <a:r>
              <a:rPr lang="en-US" altLang="zh-CN" dirty="0"/>
              <a:t>Xen copies packet header, applies matching filter rules</a:t>
            </a:r>
          </a:p>
          <a:p>
            <a:pPr lvl="2"/>
            <a:r>
              <a:rPr lang="en-US" altLang="zh-CN" dirty="0"/>
              <a:t>E.g. change header - IP source address for NAT</a:t>
            </a:r>
          </a:p>
          <a:p>
            <a:pPr lvl="2"/>
            <a:r>
              <a:rPr lang="en-US" altLang="zh-CN" dirty="0"/>
              <a:t>No change to payload; pages with payload must be pinned to physical memory until DMA to physical NIC for transmission is complete</a:t>
            </a:r>
          </a:p>
          <a:p>
            <a:pPr lvl="1"/>
            <a:r>
              <a:rPr lang="en-US" altLang="zh-CN" dirty="0"/>
              <a:t>Round-robin packet scheduler</a:t>
            </a:r>
          </a:p>
          <a:p>
            <a:endParaRPr lang="en-US" altLang="zh-CN" dirty="0"/>
          </a:p>
        </p:txBody>
      </p:sp>
    </p:spTree>
    <p:extLst>
      <p:ext uri="{BB962C8B-B14F-4D97-AF65-F5344CB8AC3E}">
        <p14:creationId xmlns:p14="http://schemas.microsoft.com/office/powerpoint/2010/main" val="22594185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rrowheads="1"/>
          </p:cNvSpPr>
          <p:nvPr>
            <p:ph type="title"/>
          </p:nvPr>
        </p:nvSpPr>
        <p:spPr/>
        <p:txBody>
          <a:bodyPr/>
          <a:lstStyle/>
          <a:p>
            <a:r>
              <a:rPr lang="en-US" altLang="zh-CN"/>
              <a:t>Network Virtualization</a:t>
            </a:r>
          </a:p>
        </p:txBody>
      </p:sp>
      <p:sp>
        <p:nvSpPr>
          <p:cNvPr id="58371" name="Rectangle 3"/>
          <p:cNvSpPr>
            <a:spLocks noGrp="1" noRot="1" noChangeArrowheads="1"/>
          </p:cNvSpPr>
          <p:nvPr>
            <p:ph type="body" idx="1"/>
          </p:nvPr>
        </p:nvSpPr>
        <p:spPr>
          <a:xfrm>
            <a:off x="272143" y="1981200"/>
            <a:ext cx="8479971" cy="4114800"/>
          </a:xfrm>
        </p:spPr>
        <p:txBody>
          <a:bodyPr/>
          <a:lstStyle/>
          <a:p>
            <a:pPr>
              <a:lnSpc>
                <a:spcPct val="90000"/>
              </a:lnSpc>
            </a:pPr>
            <a:r>
              <a:rPr lang="en-US" altLang="zh-CN" sz="2800" dirty="0"/>
              <a:t>Packet reception:</a:t>
            </a:r>
          </a:p>
          <a:p>
            <a:pPr lvl="1">
              <a:lnSpc>
                <a:spcPct val="90000"/>
              </a:lnSpc>
            </a:pPr>
            <a:r>
              <a:rPr lang="en-US" altLang="zh-CN" sz="2400" dirty="0" err="1"/>
              <a:t>Xen</a:t>
            </a:r>
            <a:r>
              <a:rPr lang="en-US" altLang="zh-CN" sz="2400" dirty="0"/>
              <a:t> applies pattern-matching rules to determine destination VIF</a:t>
            </a:r>
          </a:p>
          <a:p>
            <a:pPr lvl="1">
              <a:lnSpc>
                <a:spcPct val="90000"/>
              </a:lnSpc>
            </a:pPr>
            <a:r>
              <a:rPr lang="en-US" altLang="zh-CN" sz="2400" dirty="0"/>
              <a:t>Guest O/S required to exchange unused page frame for each packet received</a:t>
            </a:r>
          </a:p>
          <a:p>
            <a:pPr lvl="2">
              <a:lnSpc>
                <a:spcPct val="90000"/>
              </a:lnSpc>
            </a:pPr>
            <a:r>
              <a:rPr lang="en-US" altLang="zh-CN" dirty="0"/>
              <a:t>Xen exchanges packet buffer for page frame in VIF</a:t>
            </a:r>
            <a:r>
              <a:rPr lang="zh-CN" altLang="en-US" dirty="0"/>
              <a:t>’</a:t>
            </a:r>
            <a:r>
              <a:rPr lang="en-US" altLang="zh-CN" dirty="0"/>
              <a:t>s receive ring </a:t>
            </a:r>
          </a:p>
          <a:p>
            <a:pPr lvl="2">
              <a:lnSpc>
                <a:spcPct val="90000"/>
              </a:lnSpc>
            </a:pPr>
            <a:r>
              <a:rPr lang="en-US" altLang="zh-CN" dirty="0"/>
              <a:t>If no receive frame is available, the packet is dropped</a:t>
            </a:r>
          </a:p>
          <a:p>
            <a:pPr lvl="2">
              <a:lnSpc>
                <a:spcPct val="90000"/>
              </a:lnSpc>
            </a:pPr>
            <a:r>
              <a:rPr lang="en-US" altLang="zh-CN" dirty="0"/>
              <a:t>Avoids Xen-to-guest copies; requires page aligned receive buffers to be queued at VIF</a:t>
            </a:r>
            <a:r>
              <a:rPr lang="zh-CN" altLang="en-US" dirty="0"/>
              <a:t>’</a:t>
            </a:r>
            <a:r>
              <a:rPr lang="en-US" altLang="zh-CN" dirty="0"/>
              <a:t>s receive ring</a:t>
            </a:r>
          </a:p>
          <a:p>
            <a:pPr>
              <a:lnSpc>
                <a:spcPct val="90000"/>
              </a:lnSpc>
            </a:pPr>
            <a:endParaRPr lang="en-US" altLang="zh-CN" dirty="0"/>
          </a:p>
        </p:txBody>
      </p:sp>
    </p:spTree>
    <p:extLst>
      <p:ext uri="{BB962C8B-B14F-4D97-AF65-F5344CB8AC3E}">
        <p14:creationId xmlns:p14="http://schemas.microsoft.com/office/powerpoint/2010/main" val="12913546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rrowheads="1"/>
          </p:cNvSpPr>
          <p:nvPr>
            <p:ph type="title"/>
          </p:nvPr>
        </p:nvSpPr>
        <p:spPr/>
        <p:txBody>
          <a:bodyPr/>
          <a:lstStyle/>
          <a:p>
            <a:r>
              <a:rPr lang="en-US" altLang="zh-CN"/>
              <a:t>Disk virtualization</a:t>
            </a:r>
          </a:p>
        </p:txBody>
      </p:sp>
      <p:sp>
        <p:nvSpPr>
          <p:cNvPr id="59395" name="Rectangle 3"/>
          <p:cNvSpPr>
            <a:spLocks noGrp="1" noRot="1" noChangeArrowheads="1"/>
          </p:cNvSpPr>
          <p:nvPr>
            <p:ph type="body" idx="1"/>
          </p:nvPr>
        </p:nvSpPr>
        <p:spPr/>
        <p:txBody>
          <a:bodyPr/>
          <a:lstStyle/>
          <a:p>
            <a:pPr>
              <a:lnSpc>
                <a:spcPct val="90000"/>
              </a:lnSpc>
            </a:pPr>
            <a:r>
              <a:rPr lang="en-US" altLang="zh-CN" dirty="0"/>
              <a:t>Domain0 has access to physical disks</a:t>
            </a:r>
          </a:p>
          <a:p>
            <a:pPr lvl="1">
              <a:lnSpc>
                <a:spcPct val="90000"/>
              </a:lnSpc>
            </a:pPr>
            <a:r>
              <a:rPr lang="en-US" altLang="zh-CN" dirty="0"/>
              <a:t>Currently: SCSI and IDE</a:t>
            </a:r>
          </a:p>
          <a:p>
            <a:pPr>
              <a:lnSpc>
                <a:spcPct val="90000"/>
              </a:lnSpc>
            </a:pPr>
            <a:r>
              <a:rPr lang="en-US" altLang="zh-CN" dirty="0"/>
              <a:t>All other domains: virtual block device (VBD)</a:t>
            </a:r>
          </a:p>
          <a:p>
            <a:pPr lvl="1">
              <a:lnSpc>
                <a:spcPct val="90000"/>
              </a:lnSpc>
            </a:pPr>
            <a:r>
              <a:rPr lang="en-US" altLang="zh-CN" dirty="0"/>
              <a:t>Created &amp; configured by management software at domain0</a:t>
            </a:r>
          </a:p>
          <a:p>
            <a:pPr lvl="1">
              <a:lnSpc>
                <a:spcPct val="90000"/>
              </a:lnSpc>
            </a:pPr>
            <a:r>
              <a:rPr lang="en-US" altLang="zh-CN" dirty="0"/>
              <a:t>Accessed via I/O ring mechanism</a:t>
            </a:r>
          </a:p>
          <a:p>
            <a:pPr lvl="1">
              <a:lnSpc>
                <a:spcPct val="90000"/>
              </a:lnSpc>
            </a:pPr>
            <a:r>
              <a:rPr lang="en-US" altLang="zh-CN" dirty="0"/>
              <a:t>Possible reordering by Xen based on knowledge about disk layout</a:t>
            </a:r>
          </a:p>
          <a:p>
            <a:pPr>
              <a:lnSpc>
                <a:spcPct val="90000"/>
              </a:lnSpc>
            </a:pPr>
            <a:endParaRPr lang="en-US" altLang="zh-CN" dirty="0"/>
          </a:p>
        </p:txBody>
      </p:sp>
    </p:spTree>
    <p:extLst>
      <p:ext uri="{BB962C8B-B14F-4D97-AF65-F5344CB8AC3E}">
        <p14:creationId xmlns:p14="http://schemas.microsoft.com/office/powerpoint/2010/main" val="27292725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rrowheads="1"/>
          </p:cNvSpPr>
          <p:nvPr>
            <p:ph type="title"/>
          </p:nvPr>
        </p:nvSpPr>
        <p:spPr/>
        <p:txBody>
          <a:bodyPr/>
          <a:lstStyle/>
          <a:p>
            <a:r>
              <a:rPr lang="en-US" altLang="zh-CN"/>
              <a:t>Disk virtualization</a:t>
            </a:r>
          </a:p>
        </p:txBody>
      </p:sp>
      <p:sp>
        <p:nvSpPr>
          <p:cNvPr id="60419" name="Rectangle 3"/>
          <p:cNvSpPr>
            <a:spLocks noGrp="1" noRot="1" noChangeArrowheads="1"/>
          </p:cNvSpPr>
          <p:nvPr>
            <p:ph type="body" idx="1"/>
          </p:nvPr>
        </p:nvSpPr>
        <p:spPr/>
        <p:txBody>
          <a:bodyPr/>
          <a:lstStyle/>
          <a:p>
            <a:pPr>
              <a:lnSpc>
                <a:spcPct val="90000"/>
              </a:lnSpc>
            </a:pPr>
            <a:r>
              <a:rPr lang="en-US" altLang="zh-CN" dirty="0"/>
              <a:t>Xen maintains translation tables for each virtual block device (VBD)</a:t>
            </a:r>
          </a:p>
          <a:p>
            <a:pPr lvl="1">
              <a:lnSpc>
                <a:spcPct val="90000"/>
              </a:lnSpc>
            </a:pPr>
            <a:r>
              <a:rPr lang="en-US" altLang="zh-CN" dirty="0"/>
              <a:t>Used to map requests for VBD (</a:t>
            </a:r>
            <a:r>
              <a:rPr lang="en-US" altLang="zh-CN" dirty="0" err="1"/>
              <a:t>ID,offset</a:t>
            </a:r>
            <a:r>
              <a:rPr lang="en-US" altLang="zh-CN" dirty="0"/>
              <a:t>) to corresponding physical device and sector address</a:t>
            </a:r>
          </a:p>
          <a:p>
            <a:pPr lvl="1">
              <a:lnSpc>
                <a:spcPct val="90000"/>
              </a:lnSpc>
            </a:pPr>
            <a:r>
              <a:rPr lang="en-US" altLang="zh-CN" dirty="0"/>
              <a:t>Zero-copy data transfers take place using DMA between memory pages pinned by requesting domain</a:t>
            </a:r>
          </a:p>
          <a:p>
            <a:pPr>
              <a:lnSpc>
                <a:spcPct val="90000"/>
              </a:lnSpc>
            </a:pPr>
            <a:r>
              <a:rPr lang="en-US" altLang="zh-CN" dirty="0"/>
              <a:t>Scheduling: batches of requests in round-robin fashion across domains</a:t>
            </a:r>
          </a:p>
          <a:p>
            <a:pPr>
              <a:lnSpc>
                <a:spcPct val="90000"/>
              </a:lnSpc>
            </a:pPr>
            <a:endParaRPr lang="en-US" altLang="zh-CN" dirty="0"/>
          </a:p>
        </p:txBody>
      </p:sp>
    </p:spTree>
    <p:extLst>
      <p:ext uri="{BB962C8B-B14F-4D97-AF65-F5344CB8AC3E}">
        <p14:creationId xmlns:p14="http://schemas.microsoft.com/office/powerpoint/2010/main" val="26649626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rrowheads="1"/>
          </p:cNvSpPr>
          <p:nvPr>
            <p:ph type="title"/>
          </p:nvPr>
        </p:nvSpPr>
        <p:spPr>
          <a:xfrm>
            <a:off x="685800" y="114300"/>
            <a:ext cx="7772400" cy="1143000"/>
          </a:xfrm>
        </p:spPr>
        <p:txBody>
          <a:bodyPr/>
          <a:lstStyle/>
          <a:p>
            <a:r>
              <a:rPr lang="en-US" altLang="zh-CN" dirty="0"/>
              <a:t>Evaluation</a:t>
            </a:r>
          </a:p>
        </p:txBody>
      </p:sp>
      <p:pic>
        <p:nvPicPr>
          <p:cNvPr id="61444" name="Picture 4" descr="{F6FF322F-95A8-4D65-800E-8A757900D388}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1360449"/>
            <a:ext cx="8137525" cy="5241073"/>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15771899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rrowheads="1"/>
          </p:cNvSpPr>
          <p:nvPr>
            <p:ph type="title"/>
          </p:nvPr>
        </p:nvSpPr>
        <p:spPr/>
        <p:txBody>
          <a:bodyPr/>
          <a:lstStyle/>
          <a:p>
            <a:r>
              <a:rPr lang="en-US" altLang="zh-CN"/>
              <a:t>Microbenchmarks</a:t>
            </a:r>
          </a:p>
        </p:txBody>
      </p:sp>
      <p:sp>
        <p:nvSpPr>
          <p:cNvPr id="62467" name="Rectangle 3"/>
          <p:cNvSpPr>
            <a:spLocks noGrp="1" noRot="1" noChangeArrowheads="1"/>
          </p:cNvSpPr>
          <p:nvPr>
            <p:ph type="body" idx="1"/>
          </p:nvPr>
        </p:nvSpPr>
        <p:spPr>
          <a:xfrm>
            <a:off x="685800" y="1981200"/>
            <a:ext cx="8168268" cy="4114800"/>
          </a:xfrm>
        </p:spPr>
        <p:txBody>
          <a:bodyPr/>
          <a:lstStyle/>
          <a:p>
            <a:r>
              <a:rPr lang="en-US" altLang="zh-CN" sz="2800" dirty="0"/>
              <a:t>Stat, open, close, fork, exec, </a:t>
            </a:r>
            <a:r>
              <a:rPr lang="en-US" altLang="zh-CN" sz="2800" dirty="0" err="1"/>
              <a:t>etc</a:t>
            </a:r>
            <a:r>
              <a:rPr lang="en-US" altLang="zh-CN" sz="2800" dirty="0"/>
              <a:t> </a:t>
            </a:r>
          </a:p>
          <a:p>
            <a:r>
              <a:rPr lang="en-US" altLang="zh-CN" sz="2800" dirty="0"/>
              <a:t>Xen shows overheads of up to 2x with respect to native Linux</a:t>
            </a:r>
          </a:p>
          <a:p>
            <a:pPr lvl="1"/>
            <a:r>
              <a:rPr lang="en-US" altLang="zh-CN" sz="2400" dirty="0"/>
              <a:t>(context switch across 16 processes; </a:t>
            </a:r>
            <a:r>
              <a:rPr lang="en-US" altLang="zh-CN" sz="2400" dirty="0" err="1"/>
              <a:t>mmap</a:t>
            </a:r>
            <a:r>
              <a:rPr lang="en-US" altLang="zh-CN" sz="2400" dirty="0"/>
              <a:t> latency)</a:t>
            </a:r>
          </a:p>
          <a:p>
            <a:r>
              <a:rPr lang="en-US" altLang="zh-CN" sz="2800" dirty="0"/>
              <a:t>VMware shows up to 20x overheads</a:t>
            </a:r>
          </a:p>
          <a:p>
            <a:pPr lvl="1"/>
            <a:r>
              <a:rPr lang="en-US" altLang="zh-CN" sz="2400" dirty="0"/>
              <a:t>(context switch; </a:t>
            </a:r>
            <a:r>
              <a:rPr lang="en-US" altLang="zh-CN" sz="2400" dirty="0" err="1"/>
              <a:t>mmap</a:t>
            </a:r>
            <a:r>
              <a:rPr lang="en-US" altLang="zh-CN" sz="2400" dirty="0"/>
              <a:t> latencies)</a:t>
            </a:r>
          </a:p>
          <a:p>
            <a:r>
              <a:rPr lang="en-US" altLang="zh-CN" sz="2800" dirty="0"/>
              <a:t>User Mode Linux shows up to 200x overheads</a:t>
            </a:r>
          </a:p>
          <a:p>
            <a:pPr lvl="1"/>
            <a:r>
              <a:rPr lang="en-US" altLang="zh-CN" sz="2400" dirty="0"/>
              <a:t>Fork, exec, </a:t>
            </a:r>
            <a:r>
              <a:rPr lang="en-US" altLang="zh-CN" sz="2400" dirty="0" err="1"/>
              <a:t>mmap</a:t>
            </a:r>
            <a:r>
              <a:rPr lang="en-US" altLang="zh-CN" sz="2400" dirty="0"/>
              <a:t>; better than VMware in context switches</a:t>
            </a:r>
          </a:p>
          <a:p>
            <a:endParaRPr lang="en-US" altLang="zh-CN" sz="2800" dirty="0"/>
          </a:p>
        </p:txBody>
      </p:sp>
    </p:spTree>
    <p:extLst>
      <p:ext uri="{BB962C8B-B14F-4D97-AF65-F5344CB8AC3E}">
        <p14:creationId xmlns:p14="http://schemas.microsoft.com/office/powerpoint/2010/main" val="196959272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22313" y="3175000"/>
            <a:ext cx="7659687" cy="1168400"/>
          </a:xfrm>
        </p:spPr>
        <p:txBody>
          <a:bodyPr>
            <a:normAutofit/>
          </a:bodyPr>
          <a:lstStyle/>
          <a:p>
            <a:r>
              <a:rPr lang="en-US" sz="4400" b="0" cap="none" dirty="0">
                <a:solidFill>
                  <a:schemeClr val="bg2">
                    <a:lumMod val="40000"/>
                    <a:lumOff val="60000"/>
                  </a:schemeClr>
                </a:solidFill>
              </a:rPr>
              <a:t>CPU Virtualization with VT-x</a:t>
            </a:r>
            <a:endParaRPr lang="en-US" dirty="0">
              <a:solidFill>
                <a:schemeClr val="bg2">
                  <a:lumMod val="40000"/>
                  <a:lumOff val="60000"/>
                </a:schemeClr>
              </a:solidFill>
            </a:endParaRPr>
          </a:p>
        </p:txBody>
      </p:sp>
      <p:sp>
        <p:nvSpPr>
          <p:cNvPr id="2" name="Slide Number Placeholder 1"/>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66513D95-0569-4AD4-8706-96E6A7B867B5}" type="slidenum">
              <a:rPr kumimoji="0" lang="en-US" sz="1400" b="0" i="0" u="none" strike="noStrike" kern="1200" cap="none" spc="0" normalizeH="0" baseline="0" noProof="0" smtClean="0">
                <a:ln>
                  <a:noFill/>
                </a:ln>
                <a:solidFill>
                  <a:srgbClr val="FFFFFF"/>
                </a:solidFill>
                <a:effectLst/>
                <a:uLnTx/>
                <a:uFillTx/>
                <a:latin typeface="Arial" charset="0"/>
                <a:ea typeface="Osaka" charset="-128"/>
              </a:rPr>
              <a:pPr marL="0" marR="0" lvl="0" indent="0" algn="r" defTabSz="914400" rtl="0" eaLnBrk="0" fontAlgn="base" latinLnBrk="0" hangingPunct="0">
                <a:lnSpc>
                  <a:spcPct val="100000"/>
                </a:lnSpc>
                <a:spcBef>
                  <a:spcPct val="0"/>
                </a:spcBef>
                <a:spcAft>
                  <a:spcPct val="0"/>
                </a:spcAft>
                <a:buClrTx/>
                <a:buSzTx/>
                <a:buFontTx/>
                <a:buNone/>
                <a:tabLst/>
                <a:defRPr/>
              </a:pPr>
              <a:t>59</a:t>
            </a:fld>
            <a:endParaRPr kumimoji="0" lang="en-US" sz="1400" b="0" i="0" u="none" strike="noStrike" kern="1200" cap="none" spc="0" normalizeH="0" baseline="0" noProof="0">
              <a:ln>
                <a:noFill/>
              </a:ln>
              <a:solidFill>
                <a:srgbClr val="FFFFFF"/>
              </a:solidFill>
              <a:effectLst/>
              <a:uLnTx/>
              <a:uFillTx/>
              <a:latin typeface="Arial" charset="0"/>
              <a:ea typeface="Osaka" charset="-128"/>
            </a:endParaRPr>
          </a:p>
        </p:txBody>
      </p:sp>
    </p:spTree>
    <p:extLst>
      <p:ext uri="{BB962C8B-B14F-4D97-AF65-F5344CB8AC3E}">
        <p14:creationId xmlns:p14="http://schemas.microsoft.com/office/powerpoint/2010/main" val="74044670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VT-x : Motivation</a:t>
            </a:r>
          </a:p>
        </p:txBody>
      </p:sp>
      <p:sp>
        <p:nvSpPr>
          <p:cNvPr id="3" name="Content Placeholder 2"/>
          <p:cNvSpPr>
            <a:spLocks noGrp="1"/>
          </p:cNvSpPr>
          <p:nvPr>
            <p:ph idx="1"/>
          </p:nvPr>
        </p:nvSpPr>
        <p:spPr/>
        <p:txBody>
          <a:bodyPr>
            <a:normAutofit/>
          </a:bodyPr>
          <a:lstStyle/>
          <a:p>
            <a:r>
              <a:rPr lang="en-US" sz="2400" dirty="0"/>
              <a:t>To solve the problem that the x86 architecture instructions cannot be virtualized.</a:t>
            </a:r>
          </a:p>
          <a:p>
            <a:r>
              <a:rPr lang="en-US" sz="2400" dirty="0"/>
              <a:t>Simplify VMM software by closing virtualization holes by design.</a:t>
            </a:r>
          </a:p>
          <a:p>
            <a:pPr lvl="1"/>
            <a:r>
              <a:rPr lang="en-US" dirty="0"/>
              <a:t>Ring Compression</a:t>
            </a:r>
          </a:p>
          <a:p>
            <a:pPr lvl="1"/>
            <a:r>
              <a:rPr lang="en-US" dirty="0"/>
              <a:t>Non-trapping instructions</a:t>
            </a:r>
          </a:p>
          <a:p>
            <a:pPr lvl="1"/>
            <a:r>
              <a:rPr lang="en-US" dirty="0"/>
              <a:t>Excessive trapping</a:t>
            </a:r>
          </a:p>
          <a:p>
            <a:r>
              <a:rPr lang="en-US" sz="2400" dirty="0"/>
              <a:t>Eliminate need for software virtualization (i.e., paravirtualization, binary translation).</a:t>
            </a:r>
          </a:p>
          <a:p>
            <a:endParaRPr lang="en-US" sz="2800" dirty="0"/>
          </a:p>
        </p:txBody>
      </p:sp>
      <p:sp>
        <p:nvSpPr>
          <p:cNvPr id="4" name="Slide Number Placeholder 3"/>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66513D95-0569-4AD4-8706-96E6A7B867B5}" type="slidenum">
              <a:rPr kumimoji="0" lang="en-US" sz="1400" b="0" i="0" u="none" strike="noStrike" kern="1200" cap="none" spc="0" normalizeH="0" baseline="0" noProof="0" smtClean="0">
                <a:ln>
                  <a:noFill/>
                </a:ln>
                <a:solidFill>
                  <a:srgbClr val="FFFFFF"/>
                </a:solidFill>
                <a:effectLst/>
                <a:uLnTx/>
                <a:uFillTx/>
                <a:latin typeface="Arial" charset="0"/>
                <a:ea typeface="Osaka" charset="-128"/>
              </a:rPr>
              <a:pPr marL="0" marR="0" lvl="0" indent="0" algn="r" defTabSz="914400" rtl="0" eaLnBrk="0" fontAlgn="base" latinLnBrk="0" hangingPunct="0">
                <a:lnSpc>
                  <a:spcPct val="100000"/>
                </a:lnSpc>
                <a:spcBef>
                  <a:spcPct val="0"/>
                </a:spcBef>
                <a:spcAft>
                  <a:spcPct val="0"/>
                </a:spcAft>
                <a:buClrTx/>
                <a:buSzTx/>
                <a:buFontTx/>
                <a:buNone/>
                <a:tabLst/>
                <a:defRPr/>
              </a:pPr>
              <a:t>60</a:t>
            </a:fld>
            <a:endParaRPr kumimoji="0" lang="en-US" sz="1400" b="0" i="0" u="none" strike="noStrike" kern="1200" cap="none" spc="0" normalizeH="0" baseline="0" noProof="0">
              <a:ln>
                <a:noFill/>
              </a:ln>
              <a:solidFill>
                <a:srgbClr val="FFFFFF"/>
              </a:solidFill>
              <a:effectLst/>
              <a:uLnTx/>
              <a:uFillTx/>
              <a:latin typeface="Arial" charset="0"/>
              <a:ea typeface="Osaka" charset="-128"/>
            </a:endParaRPr>
          </a:p>
        </p:txBody>
      </p:sp>
    </p:spTree>
    <p:extLst>
      <p:ext uri="{BB962C8B-B14F-4D97-AF65-F5344CB8AC3E}">
        <p14:creationId xmlns:p14="http://schemas.microsoft.com/office/powerpoint/2010/main" val="409778167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VMX</a:t>
            </a:r>
          </a:p>
        </p:txBody>
      </p:sp>
      <p:sp>
        <p:nvSpPr>
          <p:cNvPr id="3" name="Content Placeholder 2"/>
          <p:cNvSpPr>
            <a:spLocks noGrp="1"/>
          </p:cNvSpPr>
          <p:nvPr>
            <p:ph idx="1"/>
          </p:nvPr>
        </p:nvSpPr>
        <p:spPr/>
        <p:txBody>
          <a:bodyPr>
            <a:normAutofit/>
          </a:bodyPr>
          <a:lstStyle/>
          <a:p>
            <a:r>
              <a:rPr lang="en-US" sz="2400" dirty="0"/>
              <a:t>Virtual Machine Extensions define processor-level support for virtual machines on the x86 platform by a new form of operation called VMX operation.</a:t>
            </a:r>
          </a:p>
          <a:p>
            <a:r>
              <a:rPr lang="en-US" sz="2400" dirty="0"/>
              <a:t>Kinds of VMX operation:</a:t>
            </a:r>
          </a:p>
          <a:p>
            <a:pPr lvl="1"/>
            <a:r>
              <a:rPr lang="en-US" sz="2400" b="1" dirty="0"/>
              <a:t>root:</a:t>
            </a:r>
            <a:r>
              <a:rPr lang="en-US" sz="2400" dirty="0"/>
              <a:t> </a:t>
            </a:r>
            <a:r>
              <a:rPr lang="en-US" sz="2400" i="1" dirty="0"/>
              <a:t>VMM</a:t>
            </a:r>
            <a:r>
              <a:rPr lang="en-US" sz="2400" dirty="0"/>
              <a:t> (hypervisor) runs in VMX root operation</a:t>
            </a:r>
          </a:p>
          <a:p>
            <a:pPr lvl="1"/>
            <a:r>
              <a:rPr lang="en-US" sz="2400" b="1" dirty="0"/>
              <a:t>non-root:</a:t>
            </a:r>
            <a:r>
              <a:rPr lang="en-US" sz="2400" dirty="0"/>
              <a:t> </a:t>
            </a:r>
            <a:r>
              <a:rPr lang="en-US" sz="2400" i="1" dirty="0"/>
              <a:t>Guest</a:t>
            </a:r>
            <a:r>
              <a:rPr lang="en-US" sz="2400" dirty="0"/>
              <a:t> runs in VMX non-root operation</a:t>
            </a:r>
          </a:p>
          <a:p>
            <a:r>
              <a:rPr lang="en-US" sz="2600" dirty="0"/>
              <a:t>Eliminate de-privileging of Ring 0 for guest OS. </a:t>
            </a:r>
          </a:p>
          <a:p>
            <a:endParaRPr lang="en-US" sz="2400" dirty="0"/>
          </a:p>
        </p:txBody>
      </p:sp>
      <p:sp>
        <p:nvSpPr>
          <p:cNvPr id="4" name="Slide Number Placeholder 3"/>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66513D95-0569-4AD4-8706-96E6A7B867B5}" type="slidenum">
              <a:rPr kumimoji="0" lang="en-US" sz="1400" b="0" i="0" u="none" strike="noStrike" kern="1200" cap="none" spc="0" normalizeH="0" baseline="0" noProof="0" smtClean="0">
                <a:ln>
                  <a:noFill/>
                </a:ln>
                <a:solidFill>
                  <a:srgbClr val="FFFFFF"/>
                </a:solidFill>
                <a:effectLst/>
                <a:uLnTx/>
                <a:uFillTx/>
                <a:latin typeface="Arial" charset="0"/>
                <a:ea typeface="Osaka" charset="-128"/>
              </a:rPr>
              <a:pPr marL="0" marR="0" lvl="0" indent="0" algn="r" defTabSz="914400" rtl="0" eaLnBrk="0" fontAlgn="base" latinLnBrk="0" hangingPunct="0">
                <a:lnSpc>
                  <a:spcPct val="100000"/>
                </a:lnSpc>
                <a:spcBef>
                  <a:spcPct val="0"/>
                </a:spcBef>
                <a:spcAft>
                  <a:spcPct val="0"/>
                </a:spcAft>
                <a:buClrTx/>
                <a:buSzTx/>
                <a:buFontTx/>
                <a:buNone/>
                <a:tabLst/>
                <a:defRPr/>
              </a:pPr>
              <a:t>61</a:t>
            </a:fld>
            <a:endParaRPr kumimoji="0" lang="en-US" sz="1400" b="0" i="0" u="none" strike="noStrike" kern="1200" cap="none" spc="0" normalizeH="0" baseline="0" noProof="0">
              <a:ln>
                <a:noFill/>
              </a:ln>
              <a:solidFill>
                <a:srgbClr val="FFFFFF"/>
              </a:solidFill>
              <a:effectLst/>
              <a:uLnTx/>
              <a:uFillTx/>
              <a:latin typeface="Arial" charset="0"/>
              <a:ea typeface="Osaka" charset="-128"/>
            </a:endParaRPr>
          </a:p>
        </p:txBody>
      </p:sp>
    </p:spTree>
    <p:extLst>
      <p:ext uri="{BB962C8B-B14F-4D97-AF65-F5344CB8AC3E}">
        <p14:creationId xmlns:p14="http://schemas.microsoft.com/office/powerpoint/2010/main" val="380137036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90866" y="4038600"/>
            <a:ext cx="7772400" cy="594626"/>
          </a:xfrm>
        </p:spPr>
        <p:txBody>
          <a:bodyPr/>
          <a:lstStyle/>
          <a:p>
            <a:pPr algn="ctr"/>
            <a:r>
              <a:rPr lang="en-US" sz="2400" dirty="0"/>
              <a:t>             Pre VT-x                                                      Post without VT-x				 with VT-x</a:t>
            </a:r>
          </a:p>
        </p:txBody>
      </p:sp>
      <p:pic>
        <p:nvPicPr>
          <p:cNvPr id="3074" name="Picture 2" descr="C:\Users\Rohan\Desktop\intel_vtx_pre_pos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85800"/>
            <a:ext cx="8220074" cy="3547020"/>
          </a:xfrm>
          <a:prstGeom prst="rect">
            <a:avLst/>
          </a:prstGeom>
          <a:noFill/>
          <a:extLst>
            <a:ext uri="{909E8E84-426E-40dd-AFC4-6F175D3DCCD1}">
              <a14:hiddenFill xmlns="" xmlns:a14="http://schemas.microsoft.com/office/drawing/2010/main">
                <a:solidFill>
                  <a:srgbClr val="FFFFFF"/>
                </a:solidFill>
              </a14:hiddenFill>
            </a:ext>
          </a:extLst>
        </p:spPr>
      </p:pic>
      <p:graphicFrame>
        <p:nvGraphicFramePr>
          <p:cNvPr id="11" name="Table 10"/>
          <p:cNvGraphicFramePr>
            <a:graphicFrameLocks noGrp="1"/>
          </p:cNvGraphicFramePr>
          <p:nvPr>
            <p:extLst>
              <p:ext uri="{D42A27DB-BD31-4B8C-83A1-F6EECF244321}">
                <p14:modId xmlns:p14="http://schemas.microsoft.com/office/powerpoint/2010/main" val="592177901"/>
              </p:ext>
            </p:extLst>
          </p:nvPr>
        </p:nvGraphicFramePr>
        <p:xfrm>
          <a:off x="236436" y="4633226"/>
          <a:ext cx="7851648" cy="1381760"/>
        </p:xfrm>
        <a:graphic>
          <a:graphicData uri="http://schemas.openxmlformats.org/drawingml/2006/table">
            <a:tbl>
              <a:tblPr firstRow="1" bandRow="1">
                <a:tableStyleId>{69CF1AB2-1976-4502-BF36-3FF5EA218861}</a:tableStyleId>
              </a:tblPr>
              <a:tblGrid>
                <a:gridCol w="3925824">
                  <a:extLst>
                    <a:ext uri="{9D8B030D-6E8A-4147-A177-3AD203B41FA5}">
                      <a16:colId xmlns:a16="http://schemas.microsoft.com/office/drawing/2014/main" val="20000"/>
                    </a:ext>
                  </a:extLst>
                </a:gridCol>
                <a:gridCol w="3925824">
                  <a:extLst>
                    <a:ext uri="{9D8B030D-6E8A-4147-A177-3AD203B41FA5}">
                      <a16:colId xmlns:a16="http://schemas.microsoft.com/office/drawing/2014/main" val="20001"/>
                    </a:ext>
                  </a:extLst>
                </a:gridCol>
              </a:tblGrid>
              <a:tr h="370840">
                <a:tc>
                  <a:txBody>
                    <a:bodyPr/>
                    <a:lstStyle/>
                    <a:p>
                      <a:pPr marL="0" indent="0">
                        <a:buFont typeface="+mj-lt"/>
                        <a:buNone/>
                      </a:pPr>
                      <a:r>
                        <a:rPr lang="en-US" b="0" dirty="0"/>
                        <a:t>VMM ring de-privileging of guest OS</a:t>
                      </a:r>
                    </a:p>
                  </a:txBody>
                  <a:tcPr/>
                </a:tc>
                <a:tc>
                  <a:txBody>
                    <a:bodyPr/>
                    <a:lstStyle/>
                    <a:p>
                      <a:r>
                        <a:rPr lang="en-US" b="0" dirty="0"/>
                        <a:t>VMM executes</a:t>
                      </a:r>
                      <a:r>
                        <a:rPr lang="en-US" b="0" baseline="0" dirty="0"/>
                        <a:t> in VMX root-mode</a:t>
                      </a:r>
                      <a:endParaRPr lang="en-US" b="0" dirty="0"/>
                    </a:p>
                  </a:txBody>
                  <a:tcPr/>
                </a:tc>
                <a:extLst>
                  <a:ext uri="{0D108BD9-81ED-4DB2-BD59-A6C34878D82A}">
                    <a16:rowId xmlns:a16="http://schemas.microsoft.com/office/drawing/2014/main" val="10000"/>
                  </a:ext>
                </a:extLst>
              </a:tr>
              <a:tr h="370840">
                <a:tc>
                  <a:txBody>
                    <a:bodyPr/>
                    <a:lstStyle/>
                    <a:p>
                      <a:r>
                        <a:rPr lang="en-US" b="0" dirty="0"/>
                        <a:t> Guest OS</a:t>
                      </a:r>
                      <a:r>
                        <a:rPr lang="en-US" b="0" baseline="0" dirty="0"/>
                        <a:t> aware its not at Ring 0</a:t>
                      </a:r>
                      <a:endParaRPr lang="en-US" b="0" dirty="0"/>
                    </a:p>
                  </a:txBody>
                  <a:tcPr/>
                </a:tc>
                <a:tc>
                  <a:txBody>
                    <a:bodyPr/>
                    <a:lstStyle/>
                    <a:p>
                      <a:r>
                        <a:rPr lang="en-US" b="0" dirty="0"/>
                        <a:t>Guest OS de-privileging</a:t>
                      </a:r>
                      <a:r>
                        <a:rPr lang="en-US" b="0" baseline="0" dirty="0"/>
                        <a:t> eliminated</a:t>
                      </a:r>
                      <a:endParaRPr lang="en-US" b="0" dirty="0"/>
                    </a:p>
                  </a:txBody>
                  <a:tcPr/>
                </a:tc>
                <a:extLst>
                  <a:ext uri="{0D108BD9-81ED-4DB2-BD59-A6C34878D82A}">
                    <a16:rowId xmlns:a16="http://schemas.microsoft.com/office/drawing/2014/main" val="10001"/>
                  </a:ext>
                </a:extLst>
              </a:tr>
              <a:tr h="370840">
                <a:tc>
                  <a:txBody>
                    <a:bodyPr/>
                    <a:lstStyle/>
                    <a:p>
                      <a:endParaRPr lang="en-US" b="0" dirty="0"/>
                    </a:p>
                  </a:txBody>
                  <a:tcPr/>
                </a:tc>
                <a:tc>
                  <a:txBody>
                    <a:bodyPr/>
                    <a:lstStyle/>
                    <a:p>
                      <a:r>
                        <a:rPr lang="en-US" b="0" dirty="0"/>
                        <a:t>Guest OS views as if it “runs</a:t>
                      </a:r>
                      <a:r>
                        <a:rPr lang="en-US" b="0" baseline="0" dirty="0"/>
                        <a:t> directly on hardware”</a:t>
                      </a:r>
                      <a:endParaRPr lang="en-US" b="0" dirty="0"/>
                    </a:p>
                  </a:txBody>
                  <a:tcPr/>
                </a:tc>
                <a:extLst>
                  <a:ext uri="{0D108BD9-81ED-4DB2-BD59-A6C34878D82A}">
                    <a16:rowId xmlns:a16="http://schemas.microsoft.com/office/drawing/2014/main" val="10002"/>
                  </a:ext>
                </a:extLst>
              </a:tr>
            </a:tbl>
          </a:graphicData>
        </a:graphic>
      </p:graphicFrame>
      <p:sp>
        <p:nvSpPr>
          <p:cNvPr id="2" name="Slide Number Placeholder 1"/>
          <p:cNvSpPr>
            <a:spLocks noGrp="1"/>
          </p:cNvSpPr>
          <p:nvPr>
            <p:ph type="sldNum"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fld id="{66513D95-0569-4AD4-8706-96E6A7B867B5}" type="slidenum">
              <a:rPr kumimoji="0" lang="en-US" sz="1400" b="0" i="0" u="none" strike="noStrike" kern="1200" cap="none" spc="0" normalizeH="0" baseline="0" noProof="0" smtClean="0">
                <a:ln>
                  <a:noFill/>
                </a:ln>
                <a:solidFill>
                  <a:srgbClr val="FFFFFF"/>
                </a:solidFill>
                <a:effectLst/>
                <a:uLnTx/>
                <a:uFillTx/>
                <a:latin typeface="Arial" charset="0"/>
                <a:ea typeface="Osaka" charset="-128"/>
              </a:rPr>
              <a:pPr marL="0" marR="0" lvl="0" indent="0" algn="ctr" defTabSz="914400" rtl="0" eaLnBrk="0" fontAlgn="base" latinLnBrk="0" hangingPunct="0">
                <a:lnSpc>
                  <a:spcPct val="100000"/>
                </a:lnSpc>
                <a:spcBef>
                  <a:spcPct val="0"/>
                </a:spcBef>
                <a:spcAft>
                  <a:spcPct val="0"/>
                </a:spcAft>
                <a:buClrTx/>
                <a:buSzTx/>
                <a:buFontTx/>
                <a:buNone/>
                <a:tabLst/>
                <a:defRPr/>
              </a:pPr>
              <a:t>62</a:t>
            </a:fld>
            <a:endParaRPr kumimoji="0" lang="en-US" sz="1400" b="0" i="0" u="none" strike="noStrike" kern="1200" cap="none" spc="0" normalizeH="0" baseline="0" noProof="0">
              <a:ln>
                <a:noFill/>
              </a:ln>
              <a:solidFill>
                <a:srgbClr val="FFFFFF"/>
              </a:solidFill>
              <a:effectLst/>
              <a:uLnTx/>
              <a:uFillTx/>
              <a:latin typeface="Arial" charset="0"/>
              <a:ea typeface="Osaka" charset="-128"/>
            </a:endParaRPr>
          </a:p>
        </p:txBody>
      </p:sp>
    </p:spTree>
    <p:extLst>
      <p:ext uri="{BB962C8B-B14F-4D97-AF65-F5344CB8AC3E}">
        <p14:creationId xmlns:p14="http://schemas.microsoft.com/office/powerpoint/2010/main" val="48916567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VMX Transitions</a:t>
            </a:r>
          </a:p>
        </p:txBody>
      </p:sp>
      <p:sp>
        <p:nvSpPr>
          <p:cNvPr id="6" name="Content Placeholder 5"/>
          <p:cNvSpPr>
            <a:spLocks noGrp="1"/>
          </p:cNvSpPr>
          <p:nvPr>
            <p:ph idx="1"/>
          </p:nvPr>
        </p:nvSpPr>
        <p:spPr/>
        <p:txBody>
          <a:bodyPr>
            <a:normAutofit/>
          </a:bodyPr>
          <a:lstStyle/>
          <a:p>
            <a:r>
              <a:rPr lang="en-US" sz="2400" dirty="0"/>
              <a:t>Transitions between VMX root operation and VMX non-root operation.</a:t>
            </a:r>
          </a:p>
          <a:p>
            <a:r>
              <a:rPr lang="en-US" sz="2400" dirty="0"/>
              <a:t>Kinds of VMX transitions:</a:t>
            </a:r>
          </a:p>
          <a:p>
            <a:pPr lvl="1"/>
            <a:r>
              <a:rPr lang="en-US" sz="2400" b="1" dirty="0"/>
              <a:t>VM Entry:</a:t>
            </a:r>
            <a:r>
              <a:rPr lang="en-US" sz="2400" dirty="0"/>
              <a:t> Transitions into VMX non-root operation. Allows Guest OS to execute Priv. instructions as if it is in Ring 0 </a:t>
            </a:r>
          </a:p>
          <a:p>
            <a:pPr lvl="1"/>
            <a:r>
              <a:rPr lang="en-US" sz="2400" b="1" dirty="0"/>
              <a:t>VM Exit:</a:t>
            </a:r>
            <a:r>
              <a:rPr lang="en-US" sz="2400" dirty="0"/>
              <a:t> Transitions from VMX non-root operation to VMX root operation.</a:t>
            </a:r>
          </a:p>
          <a:p>
            <a:r>
              <a:rPr lang="en-US" sz="2600" dirty="0"/>
              <a:t>Registers and address space swapped in one atomic operation.</a:t>
            </a:r>
          </a:p>
        </p:txBody>
      </p:sp>
      <p:sp>
        <p:nvSpPr>
          <p:cNvPr id="2" name="Slide Number Placeholder 1"/>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66513D95-0569-4AD4-8706-96E6A7B867B5}" type="slidenum">
              <a:rPr kumimoji="0" lang="en-US" sz="1400" b="0" i="0" u="none" strike="noStrike" kern="1200" cap="none" spc="0" normalizeH="0" baseline="0" noProof="0" smtClean="0">
                <a:ln>
                  <a:noFill/>
                </a:ln>
                <a:solidFill>
                  <a:srgbClr val="FFFFFF"/>
                </a:solidFill>
                <a:effectLst/>
                <a:uLnTx/>
                <a:uFillTx/>
                <a:latin typeface="Arial" charset="0"/>
                <a:ea typeface="Osaka" charset="-128"/>
              </a:rPr>
              <a:pPr marL="0" marR="0" lvl="0" indent="0" algn="r" defTabSz="914400" rtl="0" eaLnBrk="0" fontAlgn="base" latinLnBrk="0" hangingPunct="0">
                <a:lnSpc>
                  <a:spcPct val="100000"/>
                </a:lnSpc>
                <a:spcBef>
                  <a:spcPct val="0"/>
                </a:spcBef>
                <a:spcAft>
                  <a:spcPct val="0"/>
                </a:spcAft>
                <a:buClrTx/>
                <a:buSzTx/>
                <a:buFontTx/>
                <a:buNone/>
                <a:tabLst/>
                <a:defRPr/>
              </a:pPr>
              <a:t>63</a:t>
            </a:fld>
            <a:endParaRPr kumimoji="0" lang="en-US" sz="1400" b="0" i="0" u="none" strike="noStrike" kern="1200" cap="none" spc="0" normalizeH="0" baseline="0" noProof="0">
              <a:ln>
                <a:noFill/>
              </a:ln>
              <a:solidFill>
                <a:srgbClr val="FFFFFF"/>
              </a:solidFill>
              <a:effectLst/>
              <a:uLnTx/>
              <a:uFillTx/>
              <a:latin typeface="Arial" charset="0"/>
              <a:ea typeface="Osaka" charset="-128"/>
            </a:endParaRPr>
          </a:p>
        </p:txBody>
      </p:sp>
    </p:spTree>
    <p:extLst>
      <p:ext uri="{BB962C8B-B14F-4D97-AF65-F5344CB8AC3E}">
        <p14:creationId xmlns:p14="http://schemas.microsoft.com/office/powerpoint/2010/main" val="269732307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Straight Connector 16"/>
          <p:cNvCxnSpPr/>
          <p:nvPr/>
        </p:nvCxnSpPr>
        <p:spPr>
          <a:xfrm>
            <a:off x="228600" y="3048000"/>
            <a:ext cx="8153400" cy="0"/>
          </a:xfrm>
          <a:prstGeom prst="line">
            <a:avLst/>
          </a:prstGeom>
        </p:spPr>
        <p:style>
          <a:lnRef idx="2">
            <a:schemeClr val="accent1"/>
          </a:lnRef>
          <a:fillRef idx="0">
            <a:schemeClr val="accent1"/>
          </a:fillRef>
          <a:effectRef idx="1">
            <a:schemeClr val="accent1"/>
          </a:effectRef>
          <a:fontRef idx="minor">
            <a:schemeClr val="tx1"/>
          </a:fontRef>
        </p:style>
      </p:cxnSp>
      <p:sp>
        <p:nvSpPr>
          <p:cNvPr id="28" name="Up Arrow 27"/>
          <p:cNvSpPr/>
          <p:nvPr/>
        </p:nvSpPr>
        <p:spPr>
          <a:xfrm>
            <a:off x="3276600" y="2609088"/>
            <a:ext cx="274320" cy="667512"/>
          </a:xfrm>
          <a:prstGeom prst="upArrow">
            <a:avLst/>
          </a:prstGeom>
        </p:spPr>
        <p:style>
          <a:lnRef idx="3">
            <a:schemeClr val="lt1"/>
          </a:lnRef>
          <a:fillRef idx="1">
            <a:schemeClr val="dk1"/>
          </a:fillRef>
          <a:effectRef idx="1">
            <a:schemeClr val="dk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25000" noProof="0">
              <a:ln>
                <a:noFill/>
              </a:ln>
              <a:solidFill>
                <a:srgbClr val="FFFFFF"/>
              </a:solidFill>
              <a:effectLst/>
              <a:uLnTx/>
              <a:uFillTx/>
              <a:latin typeface="Arial"/>
              <a:ea typeface="Osaka"/>
            </a:endParaRPr>
          </a:p>
        </p:txBody>
      </p:sp>
      <p:sp>
        <p:nvSpPr>
          <p:cNvPr id="4" name="Title 3"/>
          <p:cNvSpPr>
            <a:spLocks noGrp="1"/>
          </p:cNvSpPr>
          <p:nvPr>
            <p:ph type="title"/>
          </p:nvPr>
        </p:nvSpPr>
        <p:spPr>
          <a:xfrm>
            <a:off x="2645229" y="5391298"/>
            <a:ext cx="5486400" cy="566738"/>
          </a:xfrm>
        </p:spPr>
        <p:txBody>
          <a:bodyPr/>
          <a:lstStyle/>
          <a:p>
            <a:pPr algn="ctr"/>
            <a:r>
              <a:rPr lang="en-US" sz="2400" dirty="0"/>
              <a:t>VMX Transitions</a:t>
            </a:r>
          </a:p>
        </p:txBody>
      </p:sp>
      <p:sp>
        <p:nvSpPr>
          <p:cNvPr id="7" name="TextBox 6"/>
          <p:cNvSpPr txBox="1"/>
          <p:nvPr/>
        </p:nvSpPr>
        <p:spPr>
          <a:xfrm>
            <a:off x="228600" y="1676400"/>
            <a:ext cx="2590800" cy="830997"/>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charset="0"/>
                <a:ea typeface="ＭＳ Ｐゴシック" charset="-128"/>
              </a:rPr>
              <a:t>VMX Non-Root Operation: </a:t>
            </a:r>
            <a:r>
              <a:rPr kumimoji="0" lang="en-US" sz="2400" b="0" i="0" u="none" strike="noStrike" kern="1200" cap="none" spc="0" normalizeH="0" baseline="-25000" noProof="0" dirty="0" err="1">
                <a:ln>
                  <a:noFill/>
                </a:ln>
                <a:solidFill>
                  <a:srgbClr val="FFFFFF"/>
                </a:solidFill>
                <a:effectLst/>
                <a:uLnTx/>
                <a:uFillTx/>
                <a:latin typeface="Arial" charset="0"/>
                <a:ea typeface="ＭＳ Ｐゴシック" charset="-128"/>
              </a:rPr>
              <a:t>Gues</a:t>
            </a:r>
            <a:r>
              <a:rPr lang="en-US" sz="2400" baseline="-25000" dirty="0">
                <a:solidFill>
                  <a:srgbClr val="FFFFFF"/>
                </a:solidFill>
                <a:latin typeface="Arial" charset="0"/>
                <a:ea typeface="ＭＳ Ｐゴシック" charset="-128"/>
              </a:rPr>
              <a:t>t OS has access to priv. instructions</a:t>
            </a:r>
            <a:endParaRPr kumimoji="0" lang="en-US" sz="2400" b="0" i="0" u="none" strike="noStrike" kern="1200" cap="none" spc="0" normalizeH="0" baseline="-25000" noProof="0" dirty="0">
              <a:ln>
                <a:noFill/>
              </a:ln>
              <a:solidFill>
                <a:srgbClr val="FFFFFF"/>
              </a:solidFill>
              <a:effectLst/>
              <a:uLnTx/>
              <a:uFillTx/>
              <a:latin typeface="Arial" charset="0"/>
              <a:ea typeface="ＭＳ Ｐゴシック" charset="-128"/>
            </a:endParaRPr>
          </a:p>
        </p:txBody>
      </p:sp>
      <p:sp>
        <p:nvSpPr>
          <p:cNvPr id="8" name="TextBox 7"/>
          <p:cNvSpPr txBox="1"/>
          <p:nvPr/>
        </p:nvSpPr>
        <p:spPr>
          <a:xfrm>
            <a:off x="228600" y="4306669"/>
            <a:ext cx="2133600" cy="830997"/>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charset="0"/>
                <a:ea typeface="ＭＳ Ｐゴシック" charset="-128"/>
              </a:rPr>
              <a:t>VMX Root Operation (hypervisor has access to priv. instr.)</a:t>
            </a:r>
          </a:p>
        </p:txBody>
      </p:sp>
      <p:sp>
        <p:nvSpPr>
          <p:cNvPr id="9" name="Rectangle 8"/>
          <p:cNvSpPr/>
          <p:nvPr/>
        </p:nvSpPr>
        <p:spPr>
          <a:xfrm>
            <a:off x="2819400" y="1676400"/>
            <a:ext cx="1219200" cy="457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a:ea typeface="Osaka"/>
              </a:rPr>
              <a:t>Ring 3</a:t>
            </a:r>
          </a:p>
        </p:txBody>
      </p:sp>
      <p:sp>
        <p:nvSpPr>
          <p:cNvPr id="10" name="Rectangle 9"/>
          <p:cNvSpPr/>
          <p:nvPr/>
        </p:nvSpPr>
        <p:spPr>
          <a:xfrm>
            <a:off x="4343400" y="1676400"/>
            <a:ext cx="1219200" cy="457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a:ea typeface="Osaka"/>
              </a:rPr>
              <a:t>Ring 3</a:t>
            </a:r>
          </a:p>
        </p:txBody>
      </p:sp>
      <p:sp>
        <p:nvSpPr>
          <p:cNvPr id="11" name="Rectangle 10"/>
          <p:cNvSpPr/>
          <p:nvPr/>
        </p:nvSpPr>
        <p:spPr>
          <a:xfrm>
            <a:off x="6477000" y="1676400"/>
            <a:ext cx="1219200" cy="457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a:ea typeface="Osaka"/>
              </a:rPr>
              <a:t>Ring 3</a:t>
            </a:r>
          </a:p>
        </p:txBody>
      </p:sp>
      <p:sp>
        <p:nvSpPr>
          <p:cNvPr id="12" name="Rectangle 11"/>
          <p:cNvSpPr/>
          <p:nvPr/>
        </p:nvSpPr>
        <p:spPr>
          <a:xfrm>
            <a:off x="2819400" y="2133600"/>
            <a:ext cx="1219200" cy="457200"/>
          </a:xfrm>
          <a:prstGeom prst="rect">
            <a:avLst/>
          </a:prstGeom>
          <a:solidFill>
            <a:schemeClr val="tx1">
              <a:lumMod val="65000"/>
              <a:lumOff val="35000"/>
            </a:schemeClr>
          </a:solidFill>
          <a:ln>
            <a:no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000000"/>
                </a:solidFill>
                <a:effectLst/>
                <a:uLnTx/>
                <a:uFillTx/>
                <a:latin typeface="Arial"/>
                <a:ea typeface="Osaka"/>
              </a:rPr>
              <a:t>Ring 0</a:t>
            </a:r>
          </a:p>
        </p:txBody>
      </p:sp>
      <p:sp>
        <p:nvSpPr>
          <p:cNvPr id="13" name="Rectangle 12"/>
          <p:cNvSpPr/>
          <p:nvPr/>
        </p:nvSpPr>
        <p:spPr>
          <a:xfrm>
            <a:off x="4343400" y="2133600"/>
            <a:ext cx="1219200" cy="457200"/>
          </a:xfrm>
          <a:prstGeom prst="rect">
            <a:avLst/>
          </a:prstGeom>
          <a:solidFill>
            <a:schemeClr val="tx1">
              <a:lumMod val="65000"/>
              <a:lumOff val="35000"/>
            </a:schemeClr>
          </a:solidFill>
          <a:ln>
            <a:no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000000"/>
                </a:solidFill>
                <a:effectLst/>
                <a:uLnTx/>
                <a:uFillTx/>
                <a:latin typeface="Arial"/>
                <a:ea typeface="Osaka"/>
              </a:rPr>
              <a:t>Ring 0</a:t>
            </a:r>
          </a:p>
        </p:txBody>
      </p:sp>
      <p:sp>
        <p:nvSpPr>
          <p:cNvPr id="14" name="Rectangle 13"/>
          <p:cNvSpPr/>
          <p:nvPr/>
        </p:nvSpPr>
        <p:spPr>
          <a:xfrm>
            <a:off x="6477000" y="2133600"/>
            <a:ext cx="1219200" cy="457200"/>
          </a:xfrm>
          <a:prstGeom prst="rect">
            <a:avLst/>
          </a:prstGeom>
          <a:solidFill>
            <a:schemeClr val="tx1">
              <a:lumMod val="65000"/>
              <a:lumOff val="35000"/>
            </a:schemeClr>
          </a:solidFill>
          <a:ln>
            <a:no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000000"/>
                </a:solidFill>
                <a:effectLst/>
                <a:uLnTx/>
                <a:uFillTx/>
                <a:latin typeface="Arial"/>
                <a:ea typeface="Osaka"/>
              </a:rPr>
              <a:t>Ring 0</a:t>
            </a:r>
          </a:p>
        </p:txBody>
      </p:sp>
      <p:sp>
        <p:nvSpPr>
          <p:cNvPr id="18" name="Rectangle 17"/>
          <p:cNvSpPr/>
          <p:nvPr/>
        </p:nvSpPr>
        <p:spPr>
          <a:xfrm>
            <a:off x="2936748" y="3276600"/>
            <a:ext cx="949452" cy="5334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a:ea typeface="Osaka"/>
              </a:rPr>
              <a:t>VMCS 1</a:t>
            </a:r>
          </a:p>
        </p:txBody>
      </p:sp>
      <p:sp>
        <p:nvSpPr>
          <p:cNvPr id="21" name="TextBox 20"/>
          <p:cNvSpPr txBox="1"/>
          <p:nvPr/>
        </p:nvSpPr>
        <p:spPr>
          <a:xfrm>
            <a:off x="3048000" y="914400"/>
            <a:ext cx="762000"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charset="0"/>
                <a:ea typeface="ＭＳ Ｐゴシック" charset="-128"/>
              </a:rPr>
              <a:t>VM 1</a:t>
            </a:r>
          </a:p>
        </p:txBody>
      </p:sp>
      <p:sp>
        <p:nvSpPr>
          <p:cNvPr id="22" name="TextBox 21"/>
          <p:cNvSpPr txBox="1"/>
          <p:nvPr/>
        </p:nvSpPr>
        <p:spPr>
          <a:xfrm>
            <a:off x="4572000" y="914400"/>
            <a:ext cx="762000"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charset="0"/>
                <a:ea typeface="ＭＳ Ｐゴシック" charset="-128"/>
              </a:rPr>
              <a:t>VM 2</a:t>
            </a:r>
          </a:p>
        </p:txBody>
      </p:sp>
      <p:sp>
        <p:nvSpPr>
          <p:cNvPr id="23" name="TextBox 22"/>
          <p:cNvSpPr txBox="1"/>
          <p:nvPr/>
        </p:nvSpPr>
        <p:spPr>
          <a:xfrm>
            <a:off x="6705600" y="914400"/>
            <a:ext cx="762000"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charset="0"/>
                <a:ea typeface="ＭＳ Ｐゴシック" charset="-128"/>
              </a:rPr>
              <a:t>VM n</a:t>
            </a:r>
          </a:p>
        </p:txBody>
      </p:sp>
      <p:sp>
        <p:nvSpPr>
          <p:cNvPr id="26" name="Rectangle 25"/>
          <p:cNvSpPr/>
          <p:nvPr/>
        </p:nvSpPr>
        <p:spPr>
          <a:xfrm>
            <a:off x="2880360" y="4191000"/>
            <a:ext cx="5120640" cy="4572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a:ea typeface="Osaka"/>
              </a:rPr>
              <a:t>Ring 3</a:t>
            </a:r>
          </a:p>
        </p:txBody>
      </p:sp>
      <p:sp>
        <p:nvSpPr>
          <p:cNvPr id="27" name="Rectangle 26"/>
          <p:cNvSpPr/>
          <p:nvPr/>
        </p:nvSpPr>
        <p:spPr>
          <a:xfrm>
            <a:off x="2880360" y="4648200"/>
            <a:ext cx="5120640" cy="457200"/>
          </a:xfrm>
          <a:prstGeom prst="rect">
            <a:avLst/>
          </a:prstGeom>
          <a:solidFill>
            <a:srgbClr val="00B050"/>
          </a:solidFill>
          <a:ln>
            <a:no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000000"/>
                </a:solidFill>
                <a:effectLst/>
                <a:uLnTx/>
                <a:uFillTx/>
                <a:latin typeface="Arial"/>
                <a:ea typeface="Osaka"/>
              </a:rPr>
              <a:t>Ring 0</a:t>
            </a:r>
          </a:p>
        </p:txBody>
      </p:sp>
      <p:sp>
        <p:nvSpPr>
          <p:cNvPr id="29" name="Up Arrow 28"/>
          <p:cNvSpPr/>
          <p:nvPr/>
        </p:nvSpPr>
        <p:spPr>
          <a:xfrm>
            <a:off x="4831080" y="2609088"/>
            <a:ext cx="274320" cy="667512"/>
          </a:xfrm>
          <a:prstGeom prst="upArrow">
            <a:avLst/>
          </a:prstGeom>
        </p:spPr>
        <p:style>
          <a:lnRef idx="3">
            <a:schemeClr val="lt1"/>
          </a:lnRef>
          <a:fillRef idx="1">
            <a:schemeClr val="dk1"/>
          </a:fillRef>
          <a:effectRef idx="1">
            <a:schemeClr val="dk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25000" noProof="0">
              <a:ln>
                <a:noFill/>
              </a:ln>
              <a:solidFill>
                <a:srgbClr val="FFFFFF"/>
              </a:solidFill>
              <a:effectLst/>
              <a:uLnTx/>
              <a:uFillTx/>
              <a:latin typeface="Arial"/>
              <a:ea typeface="Osaka"/>
            </a:endParaRPr>
          </a:p>
        </p:txBody>
      </p:sp>
      <p:sp>
        <p:nvSpPr>
          <p:cNvPr id="19" name="Rectangle 18"/>
          <p:cNvSpPr/>
          <p:nvPr/>
        </p:nvSpPr>
        <p:spPr>
          <a:xfrm>
            <a:off x="4463796" y="3276600"/>
            <a:ext cx="949452" cy="5334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a:ea typeface="Osaka"/>
              </a:rPr>
              <a:t>VMCS 2</a:t>
            </a:r>
          </a:p>
        </p:txBody>
      </p:sp>
      <p:sp>
        <p:nvSpPr>
          <p:cNvPr id="30" name="Up Arrow 29"/>
          <p:cNvSpPr/>
          <p:nvPr/>
        </p:nvSpPr>
        <p:spPr>
          <a:xfrm>
            <a:off x="6934200" y="2609088"/>
            <a:ext cx="274320" cy="667512"/>
          </a:xfrm>
          <a:prstGeom prst="upArrow">
            <a:avLst/>
          </a:prstGeom>
        </p:spPr>
        <p:style>
          <a:lnRef idx="3">
            <a:schemeClr val="lt1"/>
          </a:lnRef>
          <a:fillRef idx="1">
            <a:schemeClr val="dk1"/>
          </a:fillRef>
          <a:effectRef idx="1">
            <a:schemeClr val="dk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25000" noProof="0">
              <a:ln>
                <a:noFill/>
              </a:ln>
              <a:solidFill>
                <a:srgbClr val="FFFFFF"/>
              </a:solidFill>
              <a:effectLst/>
              <a:uLnTx/>
              <a:uFillTx/>
              <a:latin typeface="Arial"/>
              <a:ea typeface="Osaka"/>
            </a:endParaRPr>
          </a:p>
        </p:txBody>
      </p:sp>
      <p:sp>
        <p:nvSpPr>
          <p:cNvPr id="20" name="Rectangle 19"/>
          <p:cNvSpPr/>
          <p:nvPr/>
        </p:nvSpPr>
        <p:spPr>
          <a:xfrm>
            <a:off x="6561690" y="3276600"/>
            <a:ext cx="949452" cy="5334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25000" noProof="0" dirty="0">
                <a:ln>
                  <a:noFill/>
                </a:ln>
                <a:solidFill>
                  <a:srgbClr val="FFFFFF"/>
                </a:solidFill>
                <a:effectLst/>
                <a:uLnTx/>
                <a:uFillTx/>
                <a:latin typeface="Arial"/>
                <a:ea typeface="Osaka"/>
              </a:rPr>
              <a:t>VMCS n</a:t>
            </a:r>
          </a:p>
        </p:txBody>
      </p:sp>
      <p:sp>
        <p:nvSpPr>
          <p:cNvPr id="32" name="Up Arrow 31"/>
          <p:cNvSpPr/>
          <p:nvPr/>
        </p:nvSpPr>
        <p:spPr>
          <a:xfrm flipV="1">
            <a:off x="3308604" y="3810000"/>
            <a:ext cx="210312" cy="822960"/>
          </a:xfrm>
          <a:prstGeom prst="upArrow">
            <a:avLst/>
          </a:prstGeom>
          <a:ln>
            <a:noFill/>
          </a:ln>
        </p:spPr>
        <p:style>
          <a:lnRef idx="3">
            <a:schemeClr val="lt1"/>
          </a:lnRef>
          <a:fillRef idx="1">
            <a:schemeClr val="dk1"/>
          </a:fillRef>
          <a:effectRef idx="1">
            <a:schemeClr val="dk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25000" noProof="0">
              <a:ln>
                <a:noFill/>
              </a:ln>
              <a:solidFill>
                <a:srgbClr val="FFFFFF"/>
              </a:solidFill>
              <a:effectLst/>
              <a:uLnTx/>
              <a:uFillTx/>
              <a:latin typeface="Arial"/>
              <a:ea typeface="Osaka"/>
            </a:endParaRPr>
          </a:p>
        </p:txBody>
      </p:sp>
      <p:sp>
        <p:nvSpPr>
          <p:cNvPr id="33" name="Up Arrow 32"/>
          <p:cNvSpPr/>
          <p:nvPr/>
        </p:nvSpPr>
        <p:spPr>
          <a:xfrm flipV="1">
            <a:off x="4876800" y="3810000"/>
            <a:ext cx="210312" cy="822960"/>
          </a:xfrm>
          <a:prstGeom prst="upArrow">
            <a:avLst/>
          </a:prstGeom>
          <a:ln>
            <a:noFill/>
          </a:ln>
        </p:spPr>
        <p:style>
          <a:lnRef idx="3">
            <a:schemeClr val="lt1"/>
          </a:lnRef>
          <a:fillRef idx="1">
            <a:schemeClr val="dk1"/>
          </a:fillRef>
          <a:effectRef idx="1">
            <a:schemeClr val="dk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25000" noProof="0">
              <a:ln>
                <a:noFill/>
              </a:ln>
              <a:solidFill>
                <a:srgbClr val="FFFFFF"/>
              </a:solidFill>
              <a:effectLst/>
              <a:uLnTx/>
              <a:uFillTx/>
              <a:latin typeface="Arial"/>
              <a:ea typeface="Osaka"/>
            </a:endParaRPr>
          </a:p>
        </p:txBody>
      </p:sp>
      <p:sp>
        <p:nvSpPr>
          <p:cNvPr id="34" name="Up Arrow 33"/>
          <p:cNvSpPr/>
          <p:nvPr/>
        </p:nvSpPr>
        <p:spPr>
          <a:xfrm flipV="1">
            <a:off x="6981444" y="3810000"/>
            <a:ext cx="210312" cy="822960"/>
          </a:xfrm>
          <a:prstGeom prst="upArrow">
            <a:avLst/>
          </a:prstGeom>
          <a:ln>
            <a:noFill/>
          </a:ln>
        </p:spPr>
        <p:style>
          <a:lnRef idx="3">
            <a:schemeClr val="lt1"/>
          </a:lnRef>
          <a:fillRef idx="1">
            <a:schemeClr val="dk1"/>
          </a:fillRef>
          <a:effectRef idx="1">
            <a:schemeClr val="dk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25000" noProof="0">
              <a:ln>
                <a:noFill/>
              </a:ln>
              <a:solidFill>
                <a:srgbClr val="FFFFFF"/>
              </a:solidFill>
              <a:effectLst/>
              <a:uLnTx/>
              <a:uFillTx/>
              <a:latin typeface="Arial"/>
              <a:ea typeface="Osaka"/>
            </a:endParaRPr>
          </a:p>
        </p:txBody>
      </p:sp>
      <p:sp>
        <p:nvSpPr>
          <p:cNvPr id="35" name="TextBox 34"/>
          <p:cNvSpPr txBox="1"/>
          <p:nvPr/>
        </p:nvSpPr>
        <p:spPr>
          <a:xfrm>
            <a:off x="1935480" y="2743200"/>
            <a:ext cx="1493520" cy="25648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25000" noProof="0" dirty="0">
                <a:ln>
                  <a:noFill/>
                </a:ln>
                <a:solidFill>
                  <a:srgbClr val="FFFFFF"/>
                </a:solidFill>
                <a:effectLst/>
                <a:uLnTx/>
                <a:uFillTx/>
                <a:latin typeface="Arial" charset="0"/>
                <a:ea typeface="ＭＳ Ｐゴシック" charset="-128"/>
              </a:rPr>
              <a:t>VM Entry</a:t>
            </a:r>
          </a:p>
        </p:txBody>
      </p:sp>
      <p:sp>
        <p:nvSpPr>
          <p:cNvPr id="36" name="TextBox 35"/>
          <p:cNvSpPr txBox="1"/>
          <p:nvPr/>
        </p:nvSpPr>
        <p:spPr>
          <a:xfrm>
            <a:off x="2667000" y="3837801"/>
            <a:ext cx="838200" cy="25648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25000" noProof="0" dirty="0">
                <a:ln>
                  <a:noFill/>
                </a:ln>
                <a:solidFill>
                  <a:srgbClr val="FFFFFF"/>
                </a:solidFill>
                <a:effectLst/>
                <a:uLnTx/>
                <a:uFillTx/>
                <a:latin typeface="Arial" charset="0"/>
                <a:ea typeface="ＭＳ Ｐゴシック" charset="-128"/>
              </a:rPr>
              <a:t>VM Exit</a:t>
            </a:r>
          </a:p>
        </p:txBody>
      </p:sp>
      <p:sp>
        <p:nvSpPr>
          <p:cNvPr id="37" name="TextBox 36"/>
          <p:cNvSpPr txBox="1"/>
          <p:nvPr/>
        </p:nvSpPr>
        <p:spPr>
          <a:xfrm>
            <a:off x="2895600" y="4648200"/>
            <a:ext cx="990600"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25000" noProof="0" dirty="0" err="1">
                <a:ln>
                  <a:noFill/>
                </a:ln>
                <a:solidFill>
                  <a:srgbClr val="FFFFFF"/>
                </a:solidFill>
                <a:effectLst/>
                <a:uLnTx/>
                <a:uFillTx/>
                <a:latin typeface="Arial" charset="0"/>
                <a:ea typeface="ＭＳ Ｐゴシック" charset="-128"/>
              </a:rPr>
              <a:t>vmlaunch</a:t>
            </a:r>
            <a:r>
              <a:rPr kumimoji="0" lang="en-US" sz="1200" b="1" i="0" u="none" strike="noStrike" kern="1200" cap="none" spc="0" normalizeH="0" baseline="-25000" noProof="0" dirty="0">
                <a:ln>
                  <a:noFill/>
                </a:ln>
                <a:solidFill>
                  <a:srgbClr val="FFFFFF"/>
                </a:solidFill>
                <a:effectLst/>
                <a:uLnTx/>
                <a:uFillTx/>
                <a:latin typeface="Arial" charset="0"/>
                <a:ea typeface="ＭＳ Ｐゴシック" charset="-128"/>
              </a:rPr>
              <a:t> / </a:t>
            </a:r>
            <a:r>
              <a:rPr kumimoji="0" lang="en-US" sz="1200" b="1" i="0" u="none" strike="noStrike" kern="1200" cap="none" spc="0" normalizeH="0" baseline="-25000" noProof="0" dirty="0" err="1">
                <a:ln>
                  <a:noFill/>
                </a:ln>
                <a:solidFill>
                  <a:srgbClr val="FFFFFF"/>
                </a:solidFill>
                <a:effectLst/>
                <a:uLnTx/>
                <a:uFillTx/>
                <a:latin typeface="Arial" charset="0"/>
                <a:ea typeface="ＭＳ Ｐゴシック" charset="-128"/>
              </a:rPr>
              <a:t>vmresume</a:t>
            </a:r>
            <a:endParaRPr kumimoji="0" lang="en-US" sz="1200" b="1" i="0" u="none" strike="noStrike" kern="1200" cap="none" spc="0" normalizeH="0" baseline="-25000" noProof="0" dirty="0">
              <a:ln>
                <a:noFill/>
              </a:ln>
              <a:solidFill>
                <a:srgbClr val="FFFFFF"/>
              </a:solidFill>
              <a:effectLst/>
              <a:uLnTx/>
              <a:uFillTx/>
              <a:latin typeface="Arial" charset="0"/>
              <a:ea typeface="ＭＳ Ｐゴシック" charset="-128"/>
            </a:endParaRPr>
          </a:p>
        </p:txBody>
      </p:sp>
      <p:sp>
        <p:nvSpPr>
          <p:cNvPr id="2" name="Slide Number Placeholder 1"/>
          <p:cNvSpPr>
            <a:spLocks noGrp="1"/>
          </p:cNvSpPr>
          <p:nvPr>
            <p:ph type="sldNum"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fld id="{66513D95-0569-4AD4-8706-96E6A7B867B5}" type="slidenum">
              <a:rPr kumimoji="0" lang="en-US" sz="1400" b="0" i="0" u="none" strike="noStrike" kern="1200" cap="none" spc="0" normalizeH="0" baseline="0" noProof="0" smtClean="0">
                <a:ln>
                  <a:noFill/>
                </a:ln>
                <a:solidFill>
                  <a:srgbClr val="FFFFFF"/>
                </a:solidFill>
                <a:effectLst/>
                <a:uLnTx/>
                <a:uFillTx/>
                <a:latin typeface="Arial" charset="0"/>
                <a:ea typeface="Osaka" charset="-128"/>
              </a:rPr>
              <a:pPr marL="0" marR="0" lvl="0" indent="0" algn="ctr" defTabSz="914400" rtl="0" eaLnBrk="0" fontAlgn="base" latinLnBrk="0" hangingPunct="0">
                <a:lnSpc>
                  <a:spcPct val="100000"/>
                </a:lnSpc>
                <a:spcBef>
                  <a:spcPct val="0"/>
                </a:spcBef>
                <a:spcAft>
                  <a:spcPct val="0"/>
                </a:spcAft>
                <a:buClrTx/>
                <a:buSzTx/>
                <a:buFontTx/>
                <a:buNone/>
                <a:tabLst/>
                <a:defRPr/>
              </a:pPr>
              <a:t>64</a:t>
            </a:fld>
            <a:endParaRPr kumimoji="0" lang="en-US" sz="1400" b="0" i="0" u="none" strike="noStrike" kern="1200" cap="none" spc="0" normalizeH="0" baseline="0" noProof="0">
              <a:ln>
                <a:noFill/>
              </a:ln>
              <a:solidFill>
                <a:srgbClr val="FFFFFF"/>
              </a:solidFill>
              <a:effectLst/>
              <a:uLnTx/>
              <a:uFillTx/>
              <a:latin typeface="Arial" charset="0"/>
              <a:ea typeface="Osaka" charset="-128"/>
            </a:endParaRPr>
          </a:p>
        </p:txBody>
      </p:sp>
      <p:sp>
        <p:nvSpPr>
          <p:cNvPr id="3" name="TextBox 2">
            <a:extLst>
              <a:ext uri="{FF2B5EF4-FFF2-40B4-BE49-F238E27FC236}">
                <a16:creationId xmlns:a16="http://schemas.microsoft.com/office/drawing/2014/main" id="{C58F7B65-A313-944F-A5C6-56D6A743C69B}"/>
              </a:ext>
            </a:extLst>
          </p:cNvPr>
          <p:cNvSpPr txBox="1"/>
          <p:nvPr/>
        </p:nvSpPr>
        <p:spPr>
          <a:xfrm>
            <a:off x="533400" y="6248400"/>
            <a:ext cx="3659976"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a:ea typeface="Osaka"/>
              </a:rPr>
              <a:t>VMCS: VM Control Structure</a:t>
            </a:r>
          </a:p>
        </p:txBody>
      </p:sp>
      <p:sp>
        <p:nvSpPr>
          <p:cNvPr id="5" name="TextBox 4">
            <a:extLst>
              <a:ext uri="{FF2B5EF4-FFF2-40B4-BE49-F238E27FC236}">
                <a16:creationId xmlns:a16="http://schemas.microsoft.com/office/drawing/2014/main" id="{BDDD59E3-3F7A-1949-89A1-54E649CEE886}"/>
              </a:ext>
            </a:extLst>
          </p:cNvPr>
          <p:cNvSpPr txBox="1"/>
          <p:nvPr/>
        </p:nvSpPr>
        <p:spPr>
          <a:xfrm>
            <a:off x="7767205" y="1720334"/>
            <a:ext cx="595035" cy="369332"/>
          </a:xfrm>
          <a:prstGeom prst="rect">
            <a:avLst/>
          </a:prstGeom>
          <a:noFill/>
        </p:spPr>
        <p:txBody>
          <a:bodyPr wrap="none" rtlCol="0">
            <a:spAutoFit/>
          </a:bodyPr>
          <a:lstStyle/>
          <a:p>
            <a:r>
              <a:rPr lang="en-US" dirty="0"/>
              <a:t>App</a:t>
            </a:r>
          </a:p>
        </p:txBody>
      </p:sp>
      <p:sp>
        <p:nvSpPr>
          <p:cNvPr id="38" name="TextBox 37">
            <a:extLst>
              <a:ext uri="{FF2B5EF4-FFF2-40B4-BE49-F238E27FC236}">
                <a16:creationId xmlns:a16="http://schemas.microsoft.com/office/drawing/2014/main" id="{F9E59AC0-DEFD-CC44-8017-4E690A6D1D0C}"/>
              </a:ext>
            </a:extLst>
          </p:cNvPr>
          <p:cNvSpPr txBox="1"/>
          <p:nvPr/>
        </p:nvSpPr>
        <p:spPr>
          <a:xfrm>
            <a:off x="7774642" y="2218421"/>
            <a:ext cx="518091" cy="369332"/>
          </a:xfrm>
          <a:prstGeom prst="rect">
            <a:avLst/>
          </a:prstGeom>
          <a:noFill/>
        </p:spPr>
        <p:txBody>
          <a:bodyPr wrap="none" rtlCol="0">
            <a:spAutoFit/>
          </a:bodyPr>
          <a:lstStyle/>
          <a:p>
            <a:r>
              <a:rPr lang="en-US" dirty="0"/>
              <a:t>OS</a:t>
            </a:r>
          </a:p>
        </p:txBody>
      </p:sp>
    </p:spTree>
    <p:extLst>
      <p:ext uri="{BB962C8B-B14F-4D97-AF65-F5344CB8AC3E}">
        <p14:creationId xmlns:p14="http://schemas.microsoft.com/office/powerpoint/2010/main" val="237135106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VMCS: VM Control Structure</a:t>
            </a:r>
          </a:p>
        </p:txBody>
      </p:sp>
      <p:sp>
        <p:nvSpPr>
          <p:cNvPr id="3" name="Content Placeholder 2"/>
          <p:cNvSpPr>
            <a:spLocks noGrp="1"/>
          </p:cNvSpPr>
          <p:nvPr>
            <p:ph idx="1"/>
          </p:nvPr>
        </p:nvSpPr>
        <p:spPr>
          <a:xfrm>
            <a:off x="152400" y="1981200"/>
            <a:ext cx="8305800" cy="4114800"/>
          </a:xfrm>
        </p:spPr>
        <p:txBody>
          <a:bodyPr>
            <a:normAutofit lnSpcReduction="10000"/>
          </a:bodyPr>
          <a:lstStyle/>
          <a:p>
            <a:r>
              <a:rPr lang="en-US" sz="2400" dirty="0"/>
              <a:t>Data structure to manage VMX non-root operation and VMX transitions.</a:t>
            </a:r>
          </a:p>
          <a:p>
            <a:r>
              <a:rPr lang="en-US" sz="2400" dirty="0"/>
              <a:t>Specifies guest OS state.</a:t>
            </a:r>
          </a:p>
          <a:p>
            <a:r>
              <a:rPr lang="en-US" sz="2400" dirty="0"/>
              <a:t>Configured by VMM.</a:t>
            </a:r>
          </a:p>
          <a:p>
            <a:r>
              <a:rPr lang="en-US" sz="2400" dirty="0"/>
              <a:t>Controls when VM exits occur.</a:t>
            </a:r>
          </a:p>
          <a:p>
            <a:endParaRPr lang="en-US" sz="2400" dirty="0"/>
          </a:p>
          <a:p>
            <a:r>
              <a:rPr lang="en-US" sz="2400" dirty="0"/>
              <a:t>On VM entry, execution mode (guest state), dedicated to virtual instances allows Guest OS to execute privileged instructions without trapping to hypervisor</a:t>
            </a:r>
          </a:p>
          <a:p>
            <a:pPr lvl="1"/>
            <a:r>
              <a:rPr lang="en-US" sz="2000" dirty="0"/>
              <a:t>Defined by </a:t>
            </a:r>
            <a:r>
              <a:rPr lang="en-US" sz="2000" b="1" dirty="0"/>
              <a:t>VM-execution control fields </a:t>
            </a:r>
            <a:r>
              <a:rPr lang="en-US" sz="2000" dirty="0"/>
              <a:t>that control processor operation in VMX non-root operation</a:t>
            </a:r>
          </a:p>
          <a:p>
            <a:endParaRPr lang="en-US" sz="2400" dirty="0"/>
          </a:p>
          <a:p>
            <a:endParaRPr lang="en-US" sz="2400" dirty="0"/>
          </a:p>
          <a:p>
            <a:endParaRPr lang="en-US" sz="2400" dirty="0"/>
          </a:p>
        </p:txBody>
      </p:sp>
      <p:sp>
        <p:nvSpPr>
          <p:cNvPr id="4" name="Slide Number Placeholder 3"/>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66513D95-0569-4AD4-8706-96E6A7B867B5}" type="slidenum">
              <a:rPr kumimoji="0" lang="en-US" sz="1400" b="0" i="0" u="none" strike="noStrike" kern="1200" cap="none" spc="0" normalizeH="0" baseline="0" noProof="0" smtClean="0">
                <a:ln>
                  <a:noFill/>
                </a:ln>
                <a:solidFill>
                  <a:srgbClr val="FFFFFF"/>
                </a:solidFill>
                <a:effectLst/>
                <a:uLnTx/>
                <a:uFillTx/>
                <a:latin typeface="Arial" charset="0"/>
                <a:ea typeface="Osaka" charset="-128"/>
              </a:rPr>
              <a:pPr marL="0" marR="0" lvl="0" indent="0" algn="r" defTabSz="914400" rtl="0" eaLnBrk="0" fontAlgn="base" latinLnBrk="0" hangingPunct="0">
                <a:lnSpc>
                  <a:spcPct val="100000"/>
                </a:lnSpc>
                <a:spcBef>
                  <a:spcPct val="0"/>
                </a:spcBef>
                <a:spcAft>
                  <a:spcPct val="0"/>
                </a:spcAft>
                <a:buClrTx/>
                <a:buSzTx/>
                <a:buFontTx/>
                <a:buNone/>
                <a:tabLst/>
                <a:defRPr/>
              </a:pPr>
              <a:t>65</a:t>
            </a:fld>
            <a:endParaRPr kumimoji="0" lang="en-US" sz="1400" b="0" i="0" u="none" strike="noStrike" kern="1200" cap="none" spc="0" normalizeH="0" baseline="0" noProof="0">
              <a:ln>
                <a:noFill/>
              </a:ln>
              <a:solidFill>
                <a:srgbClr val="FFFFFF"/>
              </a:solidFill>
              <a:effectLst/>
              <a:uLnTx/>
              <a:uFillTx/>
              <a:latin typeface="Arial" charset="0"/>
              <a:ea typeface="Osaka" charset="-128"/>
            </a:endParaRPr>
          </a:p>
        </p:txBody>
      </p:sp>
    </p:spTree>
    <p:extLst>
      <p:ext uri="{BB962C8B-B14F-4D97-AF65-F5344CB8AC3E}">
        <p14:creationId xmlns:p14="http://schemas.microsoft.com/office/powerpoint/2010/main" val="2821645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143000"/>
          </a:xfrm>
        </p:spPr>
        <p:txBody>
          <a:bodyPr/>
          <a:lstStyle/>
          <a:p>
            <a:r>
              <a:rPr lang="en-US" dirty="0"/>
              <a:t>VMCS: VM Control Structure</a:t>
            </a:r>
          </a:p>
        </p:txBody>
      </p:sp>
      <p:sp>
        <p:nvSpPr>
          <p:cNvPr id="3" name="Content Placeholder 2"/>
          <p:cNvSpPr>
            <a:spLocks noGrp="1"/>
          </p:cNvSpPr>
          <p:nvPr>
            <p:ph idx="1"/>
          </p:nvPr>
        </p:nvSpPr>
        <p:spPr>
          <a:xfrm>
            <a:off x="0" y="1371600"/>
            <a:ext cx="9144000" cy="4495800"/>
          </a:xfrm>
        </p:spPr>
        <p:txBody>
          <a:bodyPr>
            <a:noAutofit/>
          </a:bodyPr>
          <a:lstStyle/>
          <a:p>
            <a:pPr marL="0" indent="0">
              <a:buNone/>
            </a:pPr>
            <a:r>
              <a:rPr lang="en-US" sz="2400" dirty="0"/>
              <a:t>The VMCS consists of six logical groups:</a:t>
            </a:r>
          </a:p>
          <a:p>
            <a:r>
              <a:rPr lang="en-US" sz="2400" b="1" dirty="0"/>
              <a:t>Guest-state area: </a:t>
            </a:r>
            <a:r>
              <a:rPr lang="en-US" sz="2400" dirty="0"/>
              <a:t>Processor state loaded on VM entries from guest-state area; saved into guest-state area on VM exits.</a:t>
            </a:r>
          </a:p>
          <a:p>
            <a:r>
              <a:rPr lang="en-US" sz="2400" b="1" dirty="0"/>
              <a:t>Host-state area: </a:t>
            </a:r>
            <a:r>
              <a:rPr lang="en-US" sz="2400" dirty="0"/>
              <a:t>Processor state loaded from the host-state area on VM exits.</a:t>
            </a:r>
          </a:p>
          <a:p>
            <a:r>
              <a:rPr lang="en-US" sz="2400" b="1" dirty="0"/>
              <a:t>VM-execution control fields: </a:t>
            </a:r>
            <a:r>
              <a:rPr lang="en-US" sz="2400" dirty="0"/>
              <a:t>Fields controlling processor operation in VMX non-root operation.</a:t>
            </a:r>
          </a:p>
          <a:p>
            <a:r>
              <a:rPr lang="en-US" sz="2400" b="1" dirty="0"/>
              <a:t>VM-exit control fields: </a:t>
            </a:r>
            <a:r>
              <a:rPr lang="en-US" sz="2400" dirty="0"/>
              <a:t>Fields that control VM exits.</a:t>
            </a:r>
          </a:p>
          <a:p>
            <a:r>
              <a:rPr lang="en-US" sz="2400" b="1" dirty="0"/>
              <a:t>VM-entry control fields: </a:t>
            </a:r>
            <a:r>
              <a:rPr lang="en-US" sz="2400" dirty="0"/>
              <a:t>Fields that control VM entries.</a:t>
            </a:r>
          </a:p>
          <a:p>
            <a:r>
              <a:rPr lang="en-US" sz="2400" b="1" dirty="0"/>
              <a:t>VM-exit information fields: </a:t>
            </a:r>
            <a:r>
              <a:rPr lang="en-US" sz="2400" dirty="0"/>
              <a:t>Read-only fields to receive information on VM exits describing the cause and the nature of the VM exit.</a:t>
            </a:r>
          </a:p>
        </p:txBody>
      </p:sp>
      <p:sp>
        <p:nvSpPr>
          <p:cNvPr id="4" name="Slide Number Placeholder 3"/>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66513D95-0569-4AD4-8706-96E6A7B867B5}" type="slidenum">
              <a:rPr kumimoji="0" lang="en-US" sz="1400" b="0" i="0" u="none" strike="noStrike" kern="1200" cap="none" spc="0" normalizeH="0" baseline="0" noProof="0" smtClean="0">
                <a:ln>
                  <a:noFill/>
                </a:ln>
                <a:solidFill>
                  <a:srgbClr val="FFFFFF"/>
                </a:solidFill>
                <a:effectLst/>
                <a:uLnTx/>
                <a:uFillTx/>
                <a:latin typeface="Arial" charset="0"/>
                <a:ea typeface="Osaka" charset="-128"/>
              </a:rPr>
              <a:pPr marL="0" marR="0" lvl="0" indent="0" algn="r" defTabSz="914400" rtl="0" eaLnBrk="0" fontAlgn="base" latinLnBrk="0" hangingPunct="0">
                <a:lnSpc>
                  <a:spcPct val="100000"/>
                </a:lnSpc>
                <a:spcBef>
                  <a:spcPct val="0"/>
                </a:spcBef>
                <a:spcAft>
                  <a:spcPct val="0"/>
                </a:spcAft>
                <a:buClrTx/>
                <a:buSzTx/>
                <a:buFontTx/>
                <a:buNone/>
                <a:tabLst/>
                <a:defRPr/>
              </a:pPr>
              <a:t>66</a:t>
            </a:fld>
            <a:endParaRPr kumimoji="0" lang="en-US" sz="1400" b="0" i="0" u="none" strike="noStrike" kern="1200" cap="none" spc="0" normalizeH="0" baseline="0" noProof="0">
              <a:ln>
                <a:noFill/>
              </a:ln>
              <a:solidFill>
                <a:srgbClr val="FFFFFF"/>
              </a:solidFill>
              <a:effectLst/>
              <a:uLnTx/>
              <a:uFillTx/>
              <a:latin typeface="Arial" charset="0"/>
              <a:ea typeface="Osaka" charset="-128"/>
            </a:endParaRPr>
          </a:p>
        </p:txBody>
      </p:sp>
    </p:spTree>
    <p:extLst>
      <p:ext uri="{BB962C8B-B14F-4D97-AF65-F5344CB8AC3E}">
        <p14:creationId xmlns:p14="http://schemas.microsoft.com/office/powerpoint/2010/main" val="12271445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7801"/>
            <a:ext cx="7772400" cy="1143000"/>
          </a:xfrm>
        </p:spPr>
        <p:txBody>
          <a:bodyPr/>
          <a:lstStyle/>
          <a:p>
            <a:r>
              <a:rPr lang="en-US" dirty="0"/>
              <a:t>CPU Virtualization with VT-x</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968829"/>
            <a:ext cx="6934200" cy="5717721"/>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4" name="TextBox 3"/>
          <p:cNvSpPr txBox="1"/>
          <p:nvPr/>
        </p:nvSpPr>
        <p:spPr>
          <a:xfrm>
            <a:off x="304800" y="6553200"/>
            <a:ext cx="7772400" cy="276999"/>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25000" noProof="0" dirty="0">
                <a:ln>
                  <a:noFill/>
                </a:ln>
                <a:solidFill>
                  <a:srgbClr val="FFFFFF"/>
                </a:solidFill>
                <a:effectLst/>
                <a:uLnTx/>
                <a:uFillTx/>
                <a:latin typeface="Arial" charset="0"/>
                <a:ea typeface="ＭＳ Ｐゴシック" charset="-128"/>
              </a:rPr>
              <a:t>Source: [2]</a:t>
            </a:r>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66513D95-0569-4AD4-8706-96E6A7B867B5}" type="slidenum">
              <a:rPr kumimoji="0" lang="en-US" sz="1400" b="0" i="0" u="none" strike="noStrike" kern="1200" cap="none" spc="0" normalizeH="0" baseline="0" noProof="0" smtClean="0">
                <a:ln>
                  <a:noFill/>
                </a:ln>
                <a:solidFill>
                  <a:srgbClr val="FFFFFF"/>
                </a:solidFill>
                <a:effectLst/>
                <a:uLnTx/>
                <a:uFillTx/>
                <a:latin typeface="Arial" charset="0"/>
                <a:ea typeface="Osaka" charset="-128"/>
              </a:rPr>
              <a:pPr marL="0" marR="0" lvl="0" indent="0" algn="r" defTabSz="914400" rtl="0" eaLnBrk="0" fontAlgn="base" latinLnBrk="0" hangingPunct="0">
                <a:lnSpc>
                  <a:spcPct val="100000"/>
                </a:lnSpc>
                <a:spcBef>
                  <a:spcPct val="0"/>
                </a:spcBef>
                <a:spcAft>
                  <a:spcPct val="0"/>
                </a:spcAft>
                <a:buClrTx/>
                <a:buSzTx/>
                <a:buFontTx/>
                <a:buNone/>
                <a:tabLst/>
                <a:defRPr/>
              </a:pPr>
              <a:t>67</a:t>
            </a:fld>
            <a:endParaRPr kumimoji="0" lang="en-US" sz="1400" b="0" i="0" u="none" strike="noStrike" kern="1200" cap="none" spc="0" normalizeH="0" baseline="0" noProof="0">
              <a:ln>
                <a:noFill/>
              </a:ln>
              <a:solidFill>
                <a:srgbClr val="FFFFFF"/>
              </a:solidFill>
              <a:effectLst/>
              <a:uLnTx/>
              <a:uFillTx/>
              <a:latin typeface="Arial" charset="0"/>
              <a:ea typeface="Osaka" charset="-128"/>
            </a:endParaRPr>
          </a:p>
        </p:txBody>
      </p:sp>
    </p:spTree>
    <p:extLst>
      <p:ext uri="{BB962C8B-B14F-4D97-AF65-F5344CB8AC3E}">
        <p14:creationId xmlns:p14="http://schemas.microsoft.com/office/powerpoint/2010/main" val="161528213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22313" y="3175000"/>
            <a:ext cx="7659687" cy="1168400"/>
          </a:xfrm>
        </p:spPr>
        <p:txBody>
          <a:bodyPr/>
          <a:lstStyle/>
          <a:p>
            <a:r>
              <a:rPr lang="en-US" sz="4400" b="0" cap="none" dirty="0">
                <a:solidFill>
                  <a:schemeClr val="bg2">
                    <a:lumMod val="40000"/>
                    <a:lumOff val="60000"/>
                  </a:schemeClr>
                </a:solidFill>
              </a:rPr>
              <a:t>MMU Virtualization with VT-x</a:t>
            </a:r>
            <a:endParaRPr lang="en-US" dirty="0">
              <a:solidFill>
                <a:schemeClr val="bg2">
                  <a:lumMod val="40000"/>
                  <a:lumOff val="60000"/>
                </a:schemeClr>
              </a:solidFill>
            </a:endParaRPr>
          </a:p>
        </p:txBody>
      </p:sp>
      <p:sp>
        <p:nvSpPr>
          <p:cNvPr id="2" name="Slide Number Placeholder 1"/>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66513D95-0569-4AD4-8706-96E6A7B867B5}" type="slidenum">
              <a:rPr kumimoji="0" lang="en-US" sz="1400" b="0" i="0" u="none" strike="noStrike" kern="1200" cap="none" spc="0" normalizeH="0" baseline="0" noProof="0" smtClean="0">
                <a:ln>
                  <a:noFill/>
                </a:ln>
                <a:solidFill>
                  <a:srgbClr val="FFFFFF"/>
                </a:solidFill>
                <a:effectLst/>
                <a:uLnTx/>
                <a:uFillTx/>
                <a:latin typeface="Arial" charset="0"/>
                <a:ea typeface="Osaka" charset="-128"/>
              </a:rPr>
              <a:pPr marL="0" marR="0" lvl="0" indent="0" algn="r" defTabSz="914400" rtl="0" eaLnBrk="0" fontAlgn="base" latinLnBrk="0" hangingPunct="0">
                <a:lnSpc>
                  <a:spcPct val="100000"/>
                </a:lnSpc>
                <a:spcBef>
                  <a:spcPct val="0"/>
                </a:spcBef>
                <a:spcAft>
                  <a:spcPct val="0"/>
                </a:spcAft>
                <a:buClrTx/>
                <a:buSzTx/>
                <a:buFontTx/>
                <a:buNone/>
                <a:tabLst/>
                <a:defRPr/>
              </a:pPr>
              <a:t>68</a:t>
            </a:fld>
            <a:endParaRPr kumimoji="0" lang="en-US" sz="1400" b="0" i="0" u="none" strike="noStrike" kern="1200" cap="none" spc="0" normalizeH="0" baseline="0" noProof="0">
              <a:ln>
                <a:noFill/>
              </a:ln>
              <a:solidFill>
                <a:srgbClr val="FFFFFF"/>
              </a:solidFill>
              <a:effectLst/>
              <a:uLnTx/>
              <a:uFillTx/>
              <a:latin typeface="Arial" charset="0"/>
              <a:ea typeface="Osaka" charset="-128"/>
            </a:endParaRPr>
          </a:p>
        </p:txBody>
      </p:sp>
    </p:spTree>
    <p:extLst>
      <p:ext uri="{BB962C8B-B14F-4D97-AF65-F5344CB8AC3E}">
        <p14:creationId xmlns:p14="http://schemas.microsoft.com/office/powerpoint/2010/main" val="280632988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VPID: Motivation</a:t>
            </a:r>
          </a:p>
        </p:txBody>
      </p:sp>
      <p:sp>
        <p:nvSpPr>
          <p:cNvPr id="5" name="Content Placeholder 4"/>
          <p:cNvSpPr>
            <a:spLocks noGrp="1"/>
          </p:cNvSpPr>
          <p:nvPr>
            <p:ph idx="1"/>
          </p:nvPr>
        </p:nvSpPr>
        <p:spPr>
          <a:xfrm>
            <a:off x="250371" y="1981200"/>
            <a:ext cx="8207829" cy="4114800"/>
          </a:xfrm>
        </p:spPr>
        <p:txBody>
          <a:bodyPr>
            <a:normAutofit/>
          </a:bodyPr>
          <a:lstStyle/>
          <a:p>
            <a:r>
              <a:rPr lang="en-US" sz="2400" dirty="0"/>
              <a:t>First generation VT-x forces TLB flush on each VMX transition.</a:t>
            </a:r>
          </a:p>
          <a:p>
            <a:r>
              <a:rPr lang="en-US" sz="2400" dirty="0"/>
              <a:t>Performance loss on all VM exits.</a:t>
            </a:r>
          </a:p>
          <a:p>
            <a:r>
              <a:rPr lang="en-US" sz="2400" dirty="0"/>
              <a:t>Performance loss on most VM entries</a:t>
            </a:r>
          </a:p>
          <a:p>
            <a:pPr lvl="1"/>
            <a:r>
              <a:rPr lang="en-US" dirty="0"/>
              <a:t>Guest page tables not modified always</a:t>
            </a:r>
          </a:p>
          <a:p>
            <a:r>
              <a:rPr lang="en-US" dirty="0"/>
              <a:t>Better VMM software control of TLB flushes is beneficial.</a:t>
            </a:r>
          </a:p>
          <a:p>
            <a:pPr marL="0" indent="0">
              <a:buNone/>
            </a:pPr>
            <a:r>
              <a:rPr lang="en-US" sz="1600" dirty="0"/>
              <a:t>A translation lookaside buffer is part of the chip's memory-management unit: TLB contains page table entries that have been most recently used.</a:t>
            </a:r>
          </a:p>
        </p:txBody>
      </p:sp>
      <p:sp>
        <p:nvSpPr>
          <p:cNvPr id="2" name="Slide Number Placeholder 1"/>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66513D95-0569-4AD4-8706-96E6A7B867B5}" type="slidenum">
              <a:rPr kumimoji="0" lang="en-US" sz="1400" b="0" i="0" u="none" strike="noStrike" kern="1200" cap="none" spc="0" normalizeH="0" baseline="0" noProof="0" smtClean="0">
                <a:ln>
                  <a:noFill/>
                </a:ln>
                <a:solidFill>
                  <a:srgbClr val="FFFFFF"/>
                </a:solidFill>
                <a:effectLst/>
                <a:uLnTx/>
                <a:uFillTx/>
                <a:latin typeface="Arial" charset="0"/>
                <a:ea typeface="Osaka" charset="-128"/>
              </a:rPr>
              <a:pPr marL="0" marR="0" lvl="0" indent="0" algn="r" defTabSz="914400" rtl="0" eaLnBrk="0" fontAlgn="base" latinLnBrk="0" hangingPunct="0">
                <a:lnSpc>
                  <a:spcPct val="100000"/>
                </a:lnSpc>
                <a:spcBef>
                  <a:spcPct val="0"/>
                </a:spcBef>
                <a:spcAft>
                  <a:spcPct val="0"/>
                </a:spcAft>
                <a:buClrTx/>
                <a:buSzTx/>
                <a:buFontTx/>
                <a:buNone/>
                <a:tabLst/>
                <a:defRPr/>
              </a:pPr>
              <a:t>69</a:t>
            </a:fld>
            <a:endParaRPr kumimoji="0" lang="en-US" sz="1400" b="0" i="0" u="none" strike="noStrike" kern="1200" cap="none" spc="0" normalizeH="0" baseline="0" noProof="0">
              <a:ln>
                <a:noFill/>
              </a:ln>
              <a:solidFill>
                <a:srgbClr val="FFFFFF"/>
              </a:solidFill>
              <a:effectLst/>
              <a:uLnTx/>
              <a:uFillTx/>
              <a:latin typeface="Arial" charset="0"/>
              <a:ea typeface="Osaka" charset="-128"/>
            </a:endParaRPr>
          </a:p>
        </p:txBody>
      </p:sp>
    </p:spTree>
    <p:extLst>
      <p:ext uri="{BB962C8B-B14F-4D97-AF65-F5344CB8AC3E}">
        <p14:creationId xmlns:p14="http://schemas.microsoft.com/office/powerpoint/2010/main" val="6523679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7848600" cy="1143000"/>
          </a:xfrm>
        </p:spPr>
        <p:txBody>
          <a:bodyPr/>
          <a:lstStyle/>
          <a:p>
            <a:r>
              <a:rPr lang="en-US" sz="4400" dirty="0"/>
              <a:t>VPID: Virtual Processor Identifier </a:t>
            </a:r>
          </a:p>
        </p:txBody>
      </p:sp>
      <p:sp>
        <p:nvSpPr>
          <p:cNvPr id="5" name="Content Placeholder 4"/>
          <p:cNvSpPr>
            <a:spLocks noGrp="1"/>
          </p:cNvSpPr>
          <p:nvPr>
            <p:ph idx="1"/>
          </p:nvPr>
        </p:nvSpPr>
        <p:spPr/>
        <p:txBody>
          <a:bodyPr>
            <a:normAutofit/>
          </a:bodyPr>
          <a:lstStyle/>
          <a:p>
            <a:r>
              <a:rPr lang="en-US" sz="2400" dirty="0"/>
              <a:t>16-bit virtual-processor-ID field in the VMCS.</a:t>
            </a:r>
          </a:p>
          <a:p>
            <a:r>
              <a:rPr lang="en-US" sz="2400" dirty="0"/>
              <a:t>Cached linear translations tagged with VPID value.</a:t>
            </a:r>
          </a:p>
          <a:p>
            <a:r>
              <a:rPr lang="en-US" sz="2400" dirty="0"/>
              <a:t>No flush of TLBs on VM entry or VM exit if VPID active.</a:t>
            </a:r>
          </a:p>
          <a:p>
            <a:r>
              <a:rPr lang="en-US" sz="2400" dirty="0"/>
              <a:t>TLB entries of different virtual machines can all co-exist in the TLB.</a:t>
            </a:r>
          </a:p>
          <a:p>
            <a:endParaRPr lang="en-US" sz="2400" dirty="0"/>
          </a:p>
        </p:txBody>
      </p:sp>
      <p:sp>
        <p:nvSpPr>
          <p:cNvPr id="2" name="Slide Number Placeholder 1"/>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66513D95-0569-4AD4-8706-96E6A7B867B5}" type="slidenum">
              <a:rPr kumimoji="0" lang="en-US" sz="1400" b="0" i="0" u="none" strike="noStrike" kern="1200" cap="none" spc="0" normalizeH="0" baseline="0" noProof="0" smtClean="0">
                <a:ln>
                  <a:noFill/>
                </a:ln>
                <a:solidFill>
                  <a:srgbClr val="FFFFFF"/>
                </a:solidFill>
                <a:effectLst/>
                <a:uLnTx/>
                <a:uFillTx/>
                <a:latin typeface="Arial" charset="0"/>
                <a:ea typeface="Osaka" charset="-128"/>
              </a:rPr>
              <a:pPr marL="0" marR="0" lvl="0" indent="0" algn="r" defTabSz="914400" rtl="0" eaLnBrk="0" fontAlgn="base" latinLnBrk="0" hangingPunct="0">
                <a:lnSpc>
                  <a:spcPct val="100000"/>
                </a:lnSpc>
                <a:spcBef>
                  <a:spcPct val="0"/>
                </a:spcBef>
                <a:spcAft>
                  <a:spcPct val="0"/>
                </a:spcAft>
                <a:buClrTx/>
                <a:buSzTx/>
                <a:buFontTx/>
                <a:buNone/>
                <a:tabLst/>
                <a:defRPr/>
              </a:pPr>
              <a:t>70</a:t>
            </a:fld>
            <a:endParaRPr kumimoji="0" lang="en-US" sz="1400" b="0" i="0" u="none" strike="noStrike" kern="1200" cap="none" spc="0" normalizeH="0" baseline="0" noProof="0">
              <a:ln>
                <a:noFill/>
              </a:ln>
              <a:solidFill>
                <a:srgbClr val="FFFFFF"/>
              </a:solidFill>
              <a:effectLst/>
              <a:uLnTx/>
              <a:uFillTx/>
              <a:latin typeface="Arial" charset="0"/>
              <a:ea typeface="Osaka" charset="-128"/>
            </a:endParaRPr>
          </a:p>
        </p:txBody>
      </p:sp>
    </p:spTree>
    <p:extLst>
      <p:ext uri="{BB962C8B-B14F-4D97-AF65-F5344CB8AC3E}">
        <p14:creationId xmlns:p14="http://schemas.microsoft.com/office/powerpoint/2010/main" val="370168288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Virtualizing Memory in Software</a:t>
            </a:r>
          </a:p>
        </p:txBody>
      </p:sp>
      <p:sp>
        <p:nvSpPr>
          <p:cNvPr id="3" name="Content Placeholder 2"/>
          <p:cNvSpPr>
            <a:spLocks noGrp="1"/>
          </p:cNvSpPr>
          <p:nvPr>
            <p:ph idx="1"/>
          </p:nvPr>
        </p:nvSpPr>
        <p:spPr/>
        <p:txBody>
          <a:bodyPr>
            <a:normAutofit/>
          </a:bodyPr>
          <a:lstStyle/>
          <a:p>
            <a:r>
              <a:rPr lang="en-US" sz="2400" dirty="0"/>
              <a:t>Three abstractions of memory:</a:t>
            </a:r>
          </a:p>
          <a:p>
            <a:pPr marL="114300" indent="0">
              <a:buNone/>
            </a:pPr>
            <a:endParaRPr lang="en-US" sz="2400" dirty="0"/>
          </a:p>
        </p:txBody>
      </p:sp>
      <p:sp>
        <p:nvSpPr>
          <p:cNvPr id="4" name="Down Arrow 3"/>
          <p:cNvSpPr/>
          <p:nvPr/>
        </p:nvSpPr>
        <p:spPr>
          <a:xfrm>
            <a:off x="3200400" y="3072825"/>
            <a:ext cx="457200" cy="533400"/>
          </a:xfrm>
          <a:prstGeom prst="downArrow">
            <a:avLst/>
          </a:prstGeom>
          <a:solidFill>
            <a:schemeClr val="tx1"/>
          </a:solidFill>
          <a:ln>
            <a:noFill/>
          </a:ln>
          <a:effectLst/>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25000" noProof="0">
              <a:ln>
                <a:noFill/>
              </a:ln>
              <a:solidFill>
                <a:srgbClr val="336699"/>
              </a:solidFill>
              <a:effectLst/>
              <a:uLnTx/>
              <a:uFillTx/>
              <a:latin typeface="Arial"/>
              <a:ea typeface="Osaka"/>
            </a:endParaRPr>
          </a:p>
        </p:txBody>
      </p:sp>
      <p:sp>
        <p:nvSpPr>
          <p:cNvPr id="5" name="Rectangle 4"/>
          <p:cNvSpPr/>
          <p:nvPr/>
        </p:nvSpPr>
        <p:spPr>
          <a:xfrm>
            <a:off x="228600" y="3682425"/>
            <a:ext cx="6324600" cy="533400"/>
          </a:xfrm>
          <a:prstGeom prst="rect">
            <a:avLst/>
          </a:prstGeom>
          <a:solidFill>
            <a:schemeClr val="bg1"/>
          </a:solidFill>
          <a:ln w="12700">
            <a:solidFill>
              <a:schemeClr val="tx1"/>
            </a:solidFill>
          </a:ln>
        </p:spPr>
        <p:style>
          <a:lnRef idx="2">
            <a:schemeClr val="accent1">
              <a:shade val="50000"/>
            </a:schemeClr>
          </a:lnRef>
          <a:fillRef idx="1001">
            <a:schemeClr val="lt2"/>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25000" noProof="0" dirty="0">
              <a:ln>
                <a:noFill/>
              </a:ln>
              <a:solidFill>
                <a:srgbClr val="FFFFFF"/>
              </a:solidFill>
              <a:effectLst/>
              <a:uLnTx/>
              <a:uFillTx/>
              <a:latin typeface="Arial"/>
              <a:ea typeface="Osaka"/>
            </a:endParaRPr>
          </a:p>
        </p:txBody>
      </p:sp>
      <p:sp>
        <p:nvSpPr>
          <p:cNvPr id="6" name="TextBox 13"/>
          <p:cNvSpPr txBox="1"/>
          <p:nvPr/>
        </p:nvSpPr>
        <p:spPr>
          <a:xfrm>
            <a:off x="152400" y="3377625"/>
            <a:ext cx="301686"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25000" noProof="0" dirty="0">
                <a:ln>
                  <a:noFill/>
                </a:ln>
                <a:solidFill>
                  <a:srgbClr val="FFFFFF"/>
                </a:solidFill>
                <a:effectLst/>
                <a:uLnTx/>
                <a:uFillTx/>
                <a:latin typeface="Arial"/>
                <a:ea typeface="Osaka"/>
              </a:rPr>
              <a:t>0</a:t>
            </a:r>
          </a:p>
        </p:txBody>
      </p:sp>
      <p:sp>
        <p:nvSpPr>
          <p:cNvPr id="7" name="TextBox 19"/>
          <p:cNvSpPr txBox="1"/>
          <p:nvPr/>
        </p:nvSpPr>
        <p:spPr>
          <a:xfrm>
            <a:off x="6077496" y="3377625"/>
            <a:ext cx="579005"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25000" noProof="0">
                <a:ln>
                  <a:noFill/>
                </a:ln>
                <a:solidFill>
                  <a:srgbClr val="FFFFFF"/>
                </a:solidFill>
                <a:effectLst/>
                <a:uLnTx/>
                <a:uFillTx/>
                <a:latin typeface="Arial"/>
                <a:ea typeface="Osaka"/>
              </a:rPr>
              <a:t>4GB</a:t>
            </a:r>
          </a:p>
        </p:txBody>
      </p:sp>
      <p:sp>
        <p:nvSpPr>
          <p:cNvPr id="8" name="Rectangle 7"/>
          <p:cNvSpPr/>
          <p:nvPr/>
        </p:nvSpPr>
        <p:spPr>
          <a:xfrm>
            <a:off x="228600" y="2463225"/>
            <a:ext cx="4401096" cy="533400"/>
          </a:xfrm>
          <a:prstGeom prst="rect">
            <a:avLst/>
          </a:prstGeom>
          <a:ln w="28575">
            <a:solidFill>
              <a:schemeClr val="accent1"/>
            </a:solidFill>
          </a:ln>
        </p:spPr>
        <p:style>
          <a:lnRef idx="2">
            <a:schemeClr val="accent1">
              <a:shade val="50000"/>
            </a:schemeClr>
          </a:lnRef>
          <a:fillRef idx="1001">
            <a:schemeClr val="lt2"/>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25000" noProof="0" dirty="0">
                <a:ln>
                  <a:noFill/>
                </a:ln>
                <a:solidFill>
                  <a:srgbClr val="D16349"/>
                </a:solidFill>
                <a:effectLst/>
                <a:uLnTx/>
                <a:uFillTx/>
                <a:latin typeface="Arial"/>
                <a:ea typeface="Osaka"/>
              </a:rPr>
              <a:t>Current Guest Process</a:t>
            </a:r>
          </a:p>
        </p:txBody>
      </p:sp>
      <p:sp>
        <p:nvSpPr>
          <p:cNvPr id="9" name="TextBox 15"/>
          <p:cNvSpPr txBox="1"/>
          <p:nvPr/>
        </p:nvSpPr>
        <p:spPr>
          <a:xfrm>
            <a:off x="152400" y="2158425"/>
            <a:ext cx="301686"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25000" noProof="0" dirty="0">
                <a:ln>
                  <a:noFill/>
                </a:ln>
                <a:solidFill>
                  <a:srgbClr val="FFFFFF"/>
                </a:solidFill>
                <a:effectLst/>
                <a:uLnTx/>
                <a:uFillTx/>
                <a:latin typeface="Arial"/>
                <a:ea typeface="Osaka"/>
              </a:rPr>
              <a:t>0</a:t>
            </a:r>
          </a:p>
        </p:txBody>
      </p:sp>
      <p:sp>
        <p:nvSpPr>
          <p:cNvPr id="10" name="TextBox 16"/>
          <p:cNvSpPr txBox="1"/>
          <p:nvPr/>
        </p:nvSpPr>
        <p:spPr>
          <a:xfrm>
            <a:off x="6077496" y="2158425"/>
            <a:ext cx="579005"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25000" noProof="0" dirty="0">
                <a:ln>
                  <a:noFill/>
                </a:ln>
                <a:solidFill>
                  <a:srgbClr val="FFFFFF"/>
                </a:solidFill>
                <a:effectLst/>
                <a:uLnTx/>
                <a:uFillTx/>
                <a:latin typeface="Arial"/>
                <a:ea typeface="Osaka"/>
              </a:rPr>
              <a:t>4GB</a:t>
            </a:r>
          </a:p>
        </p:txBody>
      </p:sp>
      <p:sp>
        <p:nvSpPr>
          <p:cNvPr id="11" name="Rectangle 10"/>
          <p:cNvSpPr/>
          <p:nvPr/>
        </p:nvSpPr>
        <p:spPr>
          <a:xfrm>
            <a:off x="4629696" y="2463225"/>
            <a:ext cx="1923504" cy="533400"/>
          </a:xfrm>
          <a:prstGeom prst="rect">
            <a:avLst/>
          </a:prstGeom>
          <a:ln w="28575">
            <a:solidFill>
              <a:srgbClr val="FF0000"/>
            </a:solidFill>
          </a:ln>
        </p:spPr>
        <p:style>
          <a:lnRef idx="2">
            <a:schemeClr val="accent1">
              <a:shade val="50000"/>
            </a:schemeClr>
          </a:lnRef>
          <a:fillRef idx="1001">
            <a:schemeClr val="lt2"/>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25000" noProof="0" dirty="0">
                <a:ln>
                  <a:noFill/>
                </a:ln>
                <a:solidFill>
                  <a:srgbClr val="D16349"/>
                </a:solidFill>
                <a:effectLst/>
                <a:uLnTx/>
                <a:uFillTx/>
                <a:latin typeface="Arial"/>
                <a:ea typeface="Osaka"/>
              </a:rPr>
              <a:t>Guest OS</a:t>
            </a:r>
          </a:p>
        </p:txBody>
      </p:sp>
      <p:sp>
        <p:nvSpPr>
          <p:cNvPr id="12" name="TextBox 31"/>
          <p:cNvSpPr txBox="1"/>
          <p:nvPr/>
        </p:nvSpPr>
        <p:spPr>
          <a:xfrm>
            <a:off x="6705600" y="2438400"/>
            <a:ext cx="1495218" cy="584775"/>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25000" noProof="0" dirty="0">
                <a:ln>
                  <a:noFill/>
                </a:ln>
                <a:solidFill>
                  <a:srgbClr val="FFFFFF"/>
                </a:solidFill>
                <a:effectLst/>
                <a:uLnTx/>
                <a:uFillTx/>
                <a:latin typeface="Arial"/>
                <a:ea typeface="Osaka"/>
              </a:rPr>
              <a:t>Virtual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25000" noProof="0" dirty="0">
                <a:ln>
                  <a:noFill/>
                </a:ln>
                <a:solidFill>
                  <a:srgbClr val="FFFFFF"/>
                </a:solidFill>
                <a:effectLst/>
                <a:uLnTx/>
                <a:uFillTx/>
                <a:latin typeface="Arial"/>
                <a:ea typeface="Osaka"/>
              </a:rPr>
              <a:t>Address Spaces</a:t>
            </a:r>
          </a:p>
        </p:txBody>
      </p:sp>
      <p:sp>
        <p:nvSpPr>
          <p:cNvPr id="13" name="TextBox 37"/>
          <p:cNvSpPr txBox="1"/>
          <p:nvPr/>
        </p:nvSpPr>
        <p:spPr>
          <a:xfrm>
            <a:off x="6705600" y="3657600"/>
            <a:ext cx="1495218" cy="584775"/>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25000" noProof="0" dirty="0">
                <a:ln>
                  <a:noFill/>
                </a:ln>
                <a:solidFill>
                  <a:srgbClr val="FFFFFF"/>
                </a:solidFill>
                <a:effectLst/>
                <a:uLnTx/>
                <a:uFillTx/>
                <a:latin typeface="Arial"/>
                <a:ea typeface="Osaka"/>
              </a:rPr>
              <a:t>Physical</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25000" noProof="0" dirty="0">
                <a:ln>
                  <a:noFill/>
                </a:ln>
                <a:solidFill>
                  <a:srgbClr val="FFFFFF"/>
                </a:solidFill>
                <a:effectLst/>
                <a:uLnTx/>
                <a:uFillTx/>
                <a:latin typeface="Arial"/>
                <a:ea typeface="Osaka"/>
              </a:rPr>
              <a:t>Address Spaces</a:t>
            </a:r>
          </a:p>
        </p:txBody>
      </p:sp>
      <p:sp>
        <p:nvSpPr>
          <p:cNvPr id="14" name="Rectangle 13"/>
          <p:cNvSpPr/>
          <p:nvPr/>
        </p:nvSpPr>
        <p:spPr>
          <a:xfrm>
            <a:off x="228600" y="3682425"/>
            <a:ext cx="2895600" cy="533400"/>
          </a:xfrm>
          <a:prstGeom prst="rect">
            <a:avLst/>
          </a:prstGeom>
          <a:ln w="12700">
            <a:solidFill>
              <a:schemeClr val="tx1"/>
            </a:solidFill>
          </a:ln>
        </p:spPr>
        <p:style>
          <a:lnRef idx="2">
            <a:schemeClr val="accent1">
              <a:shade val="50000"/>
            </a:schemeClr>
          </a:lnRef>
          <a:fillRef idx="1001">
            <a:schemeClr val="lt2"/>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25000" noProof="0" dirty="0">
                <a:ln>
                  <a:noFill/>
                </a:ln>
                <a:solidFill>
                  <a:srgbClr val="D16349"/>
                </a:solidFill>
                <a:effectLst/>
                <a:uLnTx/>
                <a:uFillTx/>
                <a:latin typeface="Arial"/>
                <a:ea typeface="Osaka"/>
              </a:rPr>
              <a:t>Virtual RAM</a:t>
            </a:r>
          </a:p>
        </p:txBody>
      </p:sp>
      <p:sp>
        <p:nvSpPr>
          <p:cNvPr id="15" name="Rectangle 14"/>
          <p:cNvSpPr/>
          <p:nvPr/>
        </p:nvSpPr>
        <p:spPr>
          <a:xfrm>
            <a:off x="5943600" y="3682425"/>
            <a:ext cx="609600" cy="533400"/>
          </a:xfrm>
          <a:prstGeom prst="rect">
            <a:avLst/>
          </a:prstGeom>
          <a:ln w="12700">
            <a:solidFill>
              <a:schemeClr val="tx1"/>
            </a:solidFill>
          </a:ln>
        </p:spPr>
        <p:style>
          <a:lnRef idx="2">
            <a:schemeClr val="accent1">
              <a:shade val="50000"/>
            </a:schemeClr>
          </a:lnRef>
          <a:fillRef idx="1001">
            <a:schemeClr val="lt2"/>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25000" noProof="0" dirty="0">
                <a:ln>
                  <a:noFill/>
                </a:ln>
                <a:solidFill>
                  <a:srgbClr val="D16349"/>
                </a:solidFill>
                <a:effectLst/>
                <a:uLnTx/>
                <a:uFillTx/>
                <a:latin typeface="Arial"/>
                <a:ea typeface="Osaka"/>
              </a:rPr>
              <a:t>Virtual</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25000" noProof="0" dirty="0">
                <a:ln>
                  <a:noFill/>
                </a:ln>
                <a:solidFill>
                  <a:srgbClr val="D16349"/>
                </a:solidFill>
                <a:effectLst/>
                <a:uLnTx/>
                <a:uFillTx/>
                <a:latin typeface="Arial"/>
                <a:ea typeface="Osaka"/>
              </a:rPr>
              <a:t>ROM</a:t>
            </a:r>
          </a:p>
        </p:txBody>
      </p:sp>
      <p:sp>
        <p:nvSpPr>
          <p:cNvPr id="16" name="Rectangle 15"/>
          <p:cNvSpPr/>
          <p:nvPr/>
        </p:nvSpPr>
        <p:spPr>
          <a:xfrm>
            <a:off x="4953000" y="3682425"/>
            <a:ext cx="838200" cy="533400"/>
          </a:xfrm>
          <a:prstGeom prst="rect">
            <a:avLst/>
          </a:prstGeom>
          <a:ln w="12700">
            <a:solidFill>
              <a:schemeClr val="tx1"/>
            </a:solidFill>
          </a:ln>
        </p:spPr>
        <p:style>
          <a:lnRef idx="2">
            <a:schemeClr val="accent1">
              <a:shade val="50000"/>
            </a:schemeClr>
          </a:lnRef>
          <a:fillRef idx="1001">
            <a:schemeClr val="lt2"/>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25000" noProof="0" dirty="0">
                <a:ln>
                  <a:noFill/>
                </a:ln>
                <a:solidFill>
                  <a:srgbClr val="D16349"/>
                </a:solidFill>
                <a:effectLst/>
                <a:uLnTx/>
                <a:uFillTx/>
                <a:latin typeface="Arial"/>
                <a:ea typeface="Osaka"/>
              </a:rPr>
              <a:t>Virtual</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25000" noProof="0" dirty="0">
                <a:ln>
                  <a:noFill/>
                </a:ln>
                <a:solidFill>
                  <a:srgbClr val="D16349"/>
                </a:solidFill>
                <a:effectLst/>
                <a:uLnTx/>
                <a:uFillTx/>
                <a:latin typeface="Arial"/>
                <a:ea typeface="Osaka"/>
              </a:rPr>
              <a:t>Devices</a:t>
            </a:r>
          </a:p>
        </p:txBody>
      </p:sp>
      <p:sp>
        <p:nvSpPr>
          <p:cNvPr id="17" name="Rectangle 16"/>
          <p:cNvSpPr/>
          <p:nvPr/>
        </p:nvSpPr>
        <p:spPr>
          <a:xfrm>
            <a:off x="4191000" y="3682425"/>
            <a:ext cx="533400" cy="533400"/>
          </a:xfrm>
          <a:prstGeom prst="rect">
            <a:avLst/>
          </a:prstGeom>
          <a:ln w="12700">
            <a:solidFill>
              <a:schemeClr val="tx1"/>
            </a:solidFill>
          </a:ln>
        </p:spPr>
        <p:style>
          <a:lnRef idx="2">
            <a:schemeClr val="accent1">
              <a:shade val="50000"/>
            </a:schemeClr>
          </a:lnRef>
          <a:fillRef idx="1001">
            <a:schemeClr val="lt2"/>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25000" noProof="0" dirty="0">
                <a:ln>
                  <a:noFill/>
                </a:ln>
                <a:solidFill>
                  <a:srgbClr val="D16349"/>
                </a:solidFill>
                <a:effectLst/>
                <a:uLnTx/>
                <a:uFillTx/>
                <a:latin typeface="Arial"/>
                <a:ea typeface="Osaka"/>
              </a:rPr>
              <a:t>Virtual</a:t>
            </a:r>
            <a:endParaRPr kumimoji="0" lang="en-US" sz="900" b="0" i="0" u="none" strike="noStrike" kern="1200" cap="none" spc="0" normalizeH="0" baseline="-25000" noProof="0" dirty="0">
              <a:ln>
                <a:noFill/>
              </a:ln>
              <a:solidFill>
                <a:srgbClr val="D16349"/>
              </a:solidFill>
              <a:effectLst/>
              <a:uLnTx/>
              <a:uFillTx/>
              <a:latin typeface="Arial"/>
              <a:ea typeface="Osaka"/>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25000" noProof="0" dirty="0">
                <a:ln>
                  <a:noFill/>
                </a:ln>
                <a:solidFill>
                  <a:srgbClr val="D16349"/>
                </a:solidFill>
                <a:effectLst/>
                <a:uLnTx/>
                <a:uFillTx/>
                <a:latin typeface="Arial"/>
                <a:ea typeface="Osaka"/>
              </a:rPr>
              <a:t>Frame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25000" noProof="0" dirty="0">
                <a:ln>
                  <a:noFill/>
                </a:ln>
                <a:solidFill>
                  <a:srgbClr val="D16349"/>
                </a:solidFill>
                <a:effectLst/>
                <a:uLnTx/>
                <a:uFillTx/>
                <a:latin typeface="Arial"/>
                <a:ea typeface="Osaka"/>
              </a:rPr>
              <a:t>Buffer</a:t>
            </a:r>
          </a:p>
        </p:txBody>
      </p:sp>
      <p:sp>
        <p:nvSpPr>
          <p:cNvPr id="18" name="Rectangle 17"/>
          <p:cNvSpPr/>
          <p:nvPr/>
        </p:nvSpPr>
        <p:spPr>
          <a:xfrm>
            <a:off x="228600" y="4901625"/>
            <a:ext cx="6324600" cy="533400"/>
          </a:xfrm>
          <a:prstGeom prst="rect">
            <a:avLst/>
          </a:prstGeom>
          <a:solidFill>
            <a:schemeClr val="bg1"/>
          </a:solidFill>
          <a:ln w="12700">
            <a:solidFill>
              <a:schemeClr val="tx1"/>
            </a:solidFill>
          </a:ln>
        </p:spPr>
        <p:style>
          <a:lnRef idx="2">
            <a:schemeClr val="accent1">
              <a:shade val="50000"/>
            </a:schemeClr>
          </a:lnRef>
          <a:fillRef idx="1001">
            <a:schemeClr val="lt2"/>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25000" noProof="0" dirty="0">
              <a:ln>
                <a:noFill/>
              </a:ln>
              <a:solidFill>
                <a:srgbClr val="FFFFFF"/>
              </a:solidFill>
              <a:effectLst/>
              <a:uLnTx/>
              <a:uFillTx/>
              <a:latin typeface="Arial"/>
              <a:ea typeface="Osaka"/>
            </a:endParaRPr>
          </a:p>
        </p:txBody>
      </p:sp>
      <p:sp>
        <p:nvSpPr>
          <p:cNvPr id="19" name="TextBox 18"/>
          <p:cNvSpPr txBox="1"/>
          <p:nvPr/>
        </p:nvSpPr>
        <p:spPr>
          <a:xfrm>
            <a:off x="152400" y="4596825"/>
            <a:ext cx="301686"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25000" noProof="0" dirty="0">
                <a:ln>
                  <a:noFill/>
                </a:ln>
                <a:solidFill>
                  <a:srgbClr val="FFFFFF"/>
                </a:solidFill>
                <a:effectLst/>
                <a:uLnTx/>
                <a:uFillTx/>
                <a:latin typeface="Arial"/>
                <a:ea typeface="Osaka"/>
              </a:rPr>
              <a:t>0</a:t>
            </a:r>
          </a:p>
        </p:txBody>
      </p:sp>
      <p:sp>
        <p:nvSpPr>
          <p:cNvPr id="20" name="TextBox 20"/>
          <p:cNvSpPr txBox="1"/>
          <p:nvPr/>
        </p:nvSpPr>
        <p:spPr>
          <a:xfrm>
            <a:off x="6077496" y="4596825"/>
            <a:ext cx="579005"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25000" noProof="0">
                <a:ln>
                  <a:noFill/>
                </a:ln>
                <a:solidFill>
                  <a:srgbClr val="FFFFFF"/>
                </a:solidFill>
                <a:effectLst/>
                <a:uLnTx/>
                <a:uFillTx/>
                <a:latin typeface="Arial"/>
                <a:ea typeface="Osaka"/>
              </a:rPr>
              <a:t>4GB</a:t>
            </a:r>
          </a:p>
        </p:txBody>
      </p:sp>
      <p:sp>
        <p:nvSpPr>
          <p:cNvPr id="21" name="TextBox 21"/>
          <p:cNvSpPr txBox="1"/>
          <p:nvPr/>
        </p:nvSpPr>
        <p:spPr>
          <a:xfrm>
            <a:off x="6705600" y="4876800"/>
            <a:ext cx="1413464" cy="584775"/>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25000" noProof="0" dirty="0">
                <a:ln>
                  <a:noFill/>
                </a:ln>
                <a:solidFill>
                  <a:srgbClr val="FFFFFF"/>
                </a:solidFill>
                <a:effectLst/>
                <a:uLnTx/>
                <a:uFillTx/>
                <a:latin typeface="Arial"/>
                <a:ea typeface="Osaka"/>
              </a:rPr>
              <a:t>Machine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25000" noProof="0" dirty="0">
                <a:ln>
                  <a:noFill/>
                </a:ln>
                <a:solidFill>
                  <a:srgbClr val="FFFFFF"/>
                </a:solidFill>
                <a:effectLst/>
                <a:uLnTx/>
                <a:uFillTx/>
                <a:latin typeface="Arial"/>
                <a:ea typeface="Osaka"/>
              </a:rPr>
              <a:t>Address Space</a:t>
            </a:r>
          </a:p>
        </p:txBody>
      </p:sp>
      <p:sp>
        <p:nvSpPr>
          <p:cNvPr id="22" name="Rectangle 21"/>
          <p:cNvSpPr/>
          <p:nvPr/>
        </p:nvSpPr>
        <p:spPr>
          <a:xfrm>
            <a:off x="228600" y="4901625"/>
            <a:ext cx="3581400" cy="533400"/>
          </a:xfrm>
          <a:prstGeom prst="rect">
            <a:avLst/>
          </a:prstGeom>
          <a:ln w="12700">
            <a:solidFill>
              <a:schemeClr val="tx1"/>
            </a:solidFill>
          </a:ln>
        </p:spPr>
        <p:style>
          <a:lnRef idx="2">
            <a:schemeClr val="accent1">
              <a:shade val="50000"/>
            </a:schemeClr>
          </a:lnRef>
          <a:fillRef idx="1001">
            <a:schemeClr val="lt2"/>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25000" noProof="0" dirty="0">
                <a:ln>
                  <a:noFill/>
                </a:ln>
                <a:solidFill>
                  <a:srgbClr val="D16349"/>
                </a:solidFill>
                <a:effectLst/>
                <a:uLnTx/>
                <a:uFillTx/>
                <a:latin typeface="Arial"/>
                <a:ea typeface="Osaka"/>
              </a:rPr>
              <a:t>RAM</a:t>
            </a:r>
          </a:p>
        </p:txBody>
      </p:sp>
      <p:sp>
        <p:nvSpPr>
          <p:cNvPr id="23" name="Rectangle 22"/>
          <p:cNvSpPr/>
          <p:nvPr/>
        </p:nvSpPr>
        <p:spPr>
          <a:xfrm>
            <a:off x="6019800" y="4901625"/>
            <a:ext cx="533400" cy="533400"/>
          </a:xfrm>
          <a:prstGeom prst="rect">
            <a:avLst/>
          </a:prstGeom>
          <a:ln w="12700">
            <a:solidFill>
              <a:schemeClr val="tx1"/>
            </a:solidFill>
          </a:ln>
        </p:spPr>
        <p:style>
          <a:lnRef idx="2">
            <a:schemeClr val="accent1">
              <a:shade val="50000"/>
            </a:schemeClr>
          </a:lnRef>
          <a:fillRef idx="1001">
            <a:schemeClr val="lt2"/>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25000" noProof="0" dirty="0">
                <a:ln>
                  <a:noFill/>
                </a:ln>
                <a:solidFill>
                  <a:srgbClr val="D16349"/>
                </a:solidFill>
                <a:effectLst/>
                <a:uLnTx/>
                <a:uFillTx/>
                <a:latin typeface="Arial"/>
                <a:ea typeface="Osaka"/>
              </a:rPr>
              <a:t>ROM</a:t>
            </a:r>
            <a:endParaRPr kumimoji="0" lang="en-US" sz="1200" b="0" i="0" u="none" strike="noStrike" kern="1200" cap="none" spc="0" normalizeH="0" baseline="-25000" noProof="0" dirty="0">
              <a:ln>
                <a:noFill/>
              </a:ln>
              <a:solidFill>
                <a:srgbClr val="D16349"/>
              </a:solidFill>
              <a:effectLst/>
              <a:uLnTx/>
              <a:uFillTx/>
              <a:latin typeface="Arial"/>
              <a:ea typeface="Osaka"/>
            </a:endParaRPr>
          </a:p>
        </p:txBody>
      </p:sp>
      <p:sp>
        <p:nvSpPr>
          <p:cNvPr id="24" name="Rectangle 23"/>
          <p:cNvSpPr/>
          <p:nvPr/>
        </p:nvSpPr>
        <p:spPr>
          <a:xfrm>
            <a:off x="4191000" y="4901625"/>
            <a:ext cx="838200" cy="533400"/>
          </a:xfrm>
          <a:prstGeom prst="rect">
            <a:avLst/>
          </a:prstGeom>
          <a:ln w="12700">
            <a:solidFill>
              <a:schemeClr val="tx1"/>
            </a:solidFill>
          </a:ln>
        </p:spPr>
        <p:style>
          <a:lnRef idx="2">
            <a:schemeClr val="accent1">
              <a:shade val="50000"/>
            </a:schemeClr>
          </a:lnRef>
          <a:fillRef idx="1001">
            <a:schemeClr val="lt2"/>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25000" noProof="0" dirty="0">
                <a:ln>
                  <a:noFill/>
                </a:ln>
                <a:solidFill>
                  <a:srgbClr val="D16349"/>
                </a:solidFill>
                <a:effectLst/>
                <a:uLnTx/>
                <a:uFillTx/>
                <a:latin typeface="Arial"/>
                <a:ea typeface="Osaka"/>
              </a:rPr>
              <a:t>Devices</a:t>
            </a:r>
            <a:endParaRPr kumimoji="0" lang="en-US" sz="1200" b="0" i="0" u="none" strike="noStrike" kern="1200" cap="none" spc="0" normalizeH="0" baseline="-25000" noProof="0" dirty="0">
              <a:ln>
                <a:noFill/>
              </a:ln>
              <a:solidFill>
                <a:srgbClr val="D16349"/>
              </a:solidFill>
              <a:effectLst/>
              <a:uLnTx/>
              <a:uFillTx/>
              <a:latin typeface="Arial"/>
              <a:ea typeface="Osaka"/>
            </a:endParaRPr>
          </a:p>
        </p:txBody>
      </p:sp>
      <p:sp>
        <p:nvSpPr>
          <p:cNvPr id="25" name="Rectangle 24"/>
          <p:cNvSpPr/>
          <p:nvPr/>
        </p:nvSpPr>
        <p:spPr>
          <a:xfrm>
            <a:off x="5410200" y="4901625"/>
            <a:ext cx="533400" cy="533400"/>
          </a:xfrm>
          <a:prstGeom prst="rect">
            <a:avLst/>
          </a:prstGeom>
          <a:ln w="12700">
            <a:solidFill>
              <a:schemeClr val="tx1"/>
            </a:solidFill>
          </a:ln>
        </p:spPr>
        <p:style>
          <a:lnRef idx="2">
            <a:schemeClr val="accent1">
              <a:shade val="50000"/>
            </a:schemeClr>
          </a:lnRef>
          <a:fillRef idx="1001">
            <a:schemeClr val="lt2"/>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25000" noProof="0" dirty="0">
                <a:ln>
                  <a:noFill/>
                </a:ln>
                <a:solidFill>
                  <a:srgbClr val="D16349"/>
                </a:solidFill>
                <a:effectLst/>
                <a:uLnTx/>
                <a:uFillTx/>
                <a:latin typeface="Arial"/>
                <a:ea typeface="Osaka"/>
              </a:rPr>
              <a:t>Frame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25000" noProof="0" dirty="0">
                <a:ln>
                  <a:noFill/>
                </a:ln>
                <a:solidFill>
                  <a:srgbClr val="D16349"/>
                </a:solidFill>
                <a:effectLst/>
                <a:uLnTx/>
                <a:uFillTx/>
                <a:latin typeface="Arial"/>
                <a:ea typeface="Osaka"/>
              </a:rPr>
              <a:t>Buffer</a:t>
            </a:r>
            <a:endParaRPr kumimoji="0" lang="en-US" sz="1050" b="0" i="0" u="none" strike="noStrike" kern="1200" cap="none" spc="0" normalizeH="0" baseline="-25000" noProof="0" dirty="0">
              <a:ln>
                <a:noFill/>
              </a:ln>
              <a:solidFill>
                <a:srgbClr val="D16349"/>
              </a:solidFill>
              <a:effectLst/>
              <a:uLnTx/>
              <a:uFillTx/>
              <a:latin typeface="Arial"/>
              <a:ea typeface="Osaka"/>
            </a:endParaRPr>
          </a:p>
        </p:txBody>
      </p:sp>
      <p:sp>
        <p:nvSpPr>
          <p:cNvPr id="26" name="Down Arrow 25"/>
          <p:cNvSpPr/>
          <p:nvPr/>
        </p:nvSpPr>
        <p:spPr>
          <a:xfrm>
            <a:off x="3200400" y="4292025"/>
            <a:ext cx="457200" cy="533400"/>
          </a:xfrm>
          <a:prstGeom prst="downArrow">
            <a:avLst/>
          </a:prstGeom>
          <a:solidFill>
            <a:schemeClr val="tx1"/>
          </a:solidFill>
          <a:ln>
            <a:noFill/>
          </a:ln>
          <a:effectLst/>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25000" noProof="0">
              <a:ln>
                <a:noFill/>
              </a:ln>
              <a:solidFill>
                <a:srgbClr val="336699"/>
              </a:solidFill>
              <a:effectLst/>
              <a:uLnTx/>
              <a:uFillTx/>
              <a:latin typeface="Arial"/>
              <a:ea typeface="Osaka"/>
            </a:endParaRPr>
          </a:p>
        </p:txBody>
      </p:sp>
      <p:sp>
        <p:nvSpPr>
          <p:cNvPr id="28" name="Slide Number Placeholder 27"/>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66513D95-0569-4AD4-8706-96E6A7B867B5}" type="slidenum">
              <a:rPr kumimoji="0" lang="en-US" sz="1400" b="0" i="0" u="none" strike="noStrike" kern="1200" cap="none" spc="0" normalizeH="0" baseline="0" noProof="0" smtClean="0">
                <a:ln>
                  <a:noFill/>
                </a:ln>
                <a:solidFill>
                  <a:srgbClr val="FFFFFF"/>
                </a:solidFill>
                <a:effectLst/>
                <a:uLnTx/>
                <a:uFillTx/>
                <a:latin typeface="Arial" charset="0"/>
                <a:ea typeface="Osaka" charset="-128"/>
              </a:rPr>
              <a:pPr marL="0" marR="0" lvl="0" indent="0" algn="r" defTabSz="914400" rtl="0" eaLnBrk="0" fontAlgn="base" latinLnBrk="0" hangingPunct="0">
                <a:lnSpc>
                  <a:spcPct val="100000"/>
                </a:lnSpc>
                <a:spcBef>
                  <a:spcPct val="0"/>
                </a:spcBef>
                <a:spcAft>
                  <a:spcPct val="0"/>
                </a:spcAft>
                <a:buClrTx/>
                <a:buSzTx/>
                <a:buFontTx/>
                <a:buNone/>
                <a:tabLst/>
                <a:defRPr/>
              </a:pPr>
              <a:t>71</a:t>
            </a:fld>
            <a:endParaRPr kumimoji="0" lang="en-US" sz="1400" b="0" i="0" u="none" strike="noStrike" kern="1200" cap="none" spc="0" normalizeH="0" baseline="0" noProof="0">
              <a:ln>
                <a:noFill/>
              </a:ln>
              <a:solidFill>
                <a:srgbClr val="FFFFFF"/>
              </a:solidFill>
              <a:effectLst/>
              <a:uLnTx/>
              <a:uFillTx/>
              <a:latin typeface="Arial" charset="0"/>
              <a:ea typeface="Osaka" charset="-128"/>
            </a:endParaRPr>
          </a:p>
        </p:txBody>
      </p:sp>
    </p:spTree>
    <p:extLst>
      <p:ext uri="{BB962C8B-B14F-4D97-AF65-F5344CB8AC3E}">
        <p14:creationId xmlns:p14="http://schemas.microsoft.com/office/powerpoint/2010/main" val="266830965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Shadow Page Tables</a:t>
            </a:r>
          </a:p>
        </p:txBody>
      </p:sp>
      <p:sp>
        <p:nvSpPr>
          <p:cNvPr id="3" name="Content Placeholder 2"/>
          <p:cNvSpPr>
            <a:spLocks noGrp="1"/>
          </p:cNvSpPr>
          <p:nvPr>
            <p:ph idx="1"/>
          </p:nvPr>
        </p:nvSpPr>
        <p:spPr>
          <a:xfrm>
            <a:off x="685800" y="1752600"/>
            <a:ext cx="7772400" cy="4114800"/>
          </a:xfrm>
        </p:spPr>
        <p:txBody>
          <a:bodyPr/>
          <a:lstStyle/>
          <a:p>
            <a:r>
              <a:rPr lang="en-US" sz="2800" dirty="0"/>
              <a:t>VMM maintains shadow page tables that map guest-virtual pages directly to machine pages.</a:t>
            </a:r>
          </a:p>
          <a:p>
            <a:r>
              <a:rPr lang="en-US" sz="2800" dirty="0"/>
              <a:t>Guest modifications to V-&gt;P tables synced to VMM V-&gt;M shadow page tables.</a:t>
            </a:r>
          </a:p>
          <a:p>
            <a:pPr lvl="1"/>
            <a:r>
              <a:rPr lang="en-US" sz="2400" dirty="0"/>
              <a:t>Guest OS page tables marked as read-only.</a:t>
            </a:r>
          </a:p>
          <a:p>
            <a:pPr lvl="1"/>
            <a:r>
              <a:rPr lang="en-US" sz="2400" dirty="0"/>
              <a:t>Modifications of page tables by guest OS -&gt; trapped to VMM.</a:t>
            </a:r>
          </a:p>
          <a:p>
            <a:pPr lvl="1"/>
            <a:r>
              <a:rPr lang="en-US" sz="2400" dirty="0"/>
              <a:t>Shadow page tables synced to the guest OS tables</a:t>
            </a:r>
          </a:p>
        </p:txBody>
      </p:sp>
      <p:sp>
        <p:nvSpPr>
          <p:cNvPr id="4" name="Slide Number Placeholder 3"/>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66513D95-0569-4AD4-8706-96E6A7B867B5}" type="slidenum">
              <a:rPr kumimoji="0" lang="en-US" sz="1400" b="0" i="0" u="none" strike="noStrike" kern="1200" cap="none" spc="0" normalizeH="0" baseline="0" noProof="0" smtClean="0">
                <a:ln>
                  <a:noFill/>
                </a:ln>
                <a:solidFill>
                  <a:srgbClr val="FFFFFF"/>
                </a:solidFill>
                <a:effectLst/>
                <a:uLnTx/>
                <a:uFillTx/>
                <a:latin typeface="Arial" charset="0"/>
                <a:ea typeface="Osaka" charset="-128"/>
              </a:rPr>
              <a:pPr marL="0" marR="0" lvl="0" indent="0" algn="r" defTabSz="914400" rtl="0" eaLnBrk="0" fontAlgn="base" latinLnBrk="0" hangingPunct="0">
                <a:lnSpc>
                  <a:spcPct val="100000"/>
                </a:lnSpc>
                <a:spcBef>
                  <a:spcPct val="0"/>
                </a:spcBef>
                <a:spcAft>
                  <a:spcPct val="0"/>
                </a:spcAft>
                <a:buClrTx/>
                <a:buSzTx/>
                <a:buFontTx/>
                <a:buNone/>
                <a:tabLst/>
                <a:defRPr/>
              </a:pPr>
              <a:t>72</a:t>
            </a:fld>
            <a:endParaRPr kumimoji="0" lang="en-US" sz="1400" b="0" i="0" u="none" strike="noStrike" kern="1200" cap="none" spc="0" normalizeH="0" baseline="0" noProof="0">
              <a:ln>
                <a:noFill/>
              </a:ln>
              <a:solidFill>
                <a:srgbClr val="FFFFFF"/>
              </a:solidFill>
              <a:effectLst/>
              <a:uLnTx/>
              <a:uFillTx/>
              <a:latin typeface="Arial" charset="0"/>
              <a:ea typeface="Osaka" charset="-128"/>
            </a:endParaRPr>
          </a:p>
        </p:txBody>
      </p:sp>
    </p:spTree>
    <p:extLst>
      <p:ext uri="{BB962C8B-B14F-4D97-AF65-F5344CB8AC3E}">
        <p14:creationId xmlns:p14="http://schemas.microsoft.com/office/powerpoint/2010/main" val="255648643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85800" y="239486"/>
            <a:ext cx="7772400" cy="1143000"/>
          </a:xfrm>
        </p:spPr>
        <p:txBody>
          <a:bodyPr/>
          <a:lstStyle/>
          <a:p>
            <a:r>
              <a:rPr lang="en-US" sz="4400" dirty="0"/>
              <a:t>Drawbacks: Shadow Page Tables</a:t>
            </a:r>
          </a:p>
        </p:txBody>
      </p:sp>
      <p:sp>
        <p:nvSpPr>
          <p:cNvPr id="6" name="Content Placeholder 5"/>
          <p:cNvSpPr>
            <a:spLocks noGrp="1"/>
          </p:cNvSpPr>
          <p:nvPr>
            <p:ph idx="1"/>
          </p:nvPr>
        </p:nvSpPr>
        <p:spPr>
          <a:xfrm>
            <a:off x="345687" y="1491343"/>
            <a:ext cx="8385717" cy="4757057"/>
          </a:xfrm>
        </p:spPr>
        <p:txBody>
          <a:bodyPr>
            <a:normAutofit/>
          </a:bodyPr>
          <a:lstStyle/>
          <a:p>
            <a:r>
              <a:rPr lang="en-US" sz="2400" dirty="0"/>
              <a:t>Under shadow paging, in order to provide transparent MMU virtualization, the VMM intercepts guest page table updates to keep the shadow page tables coherent with the guest page tables. </a:t>
            </a:r>
          </a:p>
          <a:p>
            <a:r>
              <a:rPr lang="en-US" sz="2400" dirty="0"/>
              <a:t>Maintaining consistency between guest page tables and shadow page tables </a:t>
            </a:r>
            <a:r>
              <a:rPr lang="en-US" sz="2400" b="1" dirty="0"/>
              <a:t>leads to overhead: VMM traps</a:t>
            </a:r>
          </a:p>
          <a:p>
            <a:r>
              <a:rPr lang="en-US" sz="2400" dirty="0"/>
              <a:t>Loss of performance due to TLB flush on every “world-switch”.</a:t>
            </a:r>
          </a:p>
          <a:p>
            <a:r>
              <a:rPr lang="en-US" sz="2400" dirty="0"/>
              <a:t>Memory overhead due to shadow copying of guest page tables.  </a:t>
            </a:r>
          </a:p>
        </p:txBody>
      </p:sp>
      <p:sp>
        <p:nvSpPr>
          <p:cNvPr id="2" name="Slide Number Placeholder 1"/>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66513D95-0569-4AD4-8706-96E6A7B867B5}" type="slidenum">
              <a:rPr kumimoji="0" lang="en-US" sz="1400" b="0" i="0" u="none" strike="noStrike" kern="1200" cap="none" spc="0" normalizeH="0" baseline="0" noProof="0" smtClean="0">
                <a:ln>
                  <a:noFill/>
                </a:ln>
                <a:solidFill>
                  <a:srgbClr val="FFFFFF"/>
                </a:solidFill>
                <a:effectLst/>
                <a:uLnTx/>
                <a:uFillTx/>
                <a:latin typeface="Arial" charset="0"/>
                <a:ea typeface="Osaka" charset="-128"/>
              </a:rPr>
              <a:pPr marL="0" marR="0" lvl="0" indent="0" algn="r" defTabSz="914400" rtl="0" eaLnBrk="0" fontAlgn="base" latinLnBrk="0" hangingPunct="0">
                <a:lnSpc>
                  <a:spcPct val="100000"/>
                </a:lnSpc>
                <a:spcBef>
                  <a:spcPct val="0"/>
                </a:spcBef>
                <a:spcAft>
                  <a:spcPct val="0"/>
                </a:spcAft>
                <a:buClrTx/>
                <a:buSzTx/>
                <a:buFontTx/>
                <a:buNone/>
                <a:tabLst/>
                <a:defRPr/>
              </a:pPr>
              <a:t>73</a:t>
            </a:fld>
            <a:endParaRPr kumimoji="0" lang="en-US" sz="1400" b="0" i="0" u="none" strike="noStrike" kern="1200" cap="none" spc="0" normalizeH="0" baseline="0" noProof="0">
              <a:ln>
                <a:noFill/>
              </a:ln>
              <a:solidFill>
                <a:srgbClr val="FFFFFF"/>
              </a:solidFill>
              <a:effectLst/>
              <a:uLnTx/>
              <a:uFillTx/>
              <a:latin typeface="Arial" charset="0"/>
              <a:ea typeface="Osaka" charset="-128"/>
            </a:endParaRPr>
          </a:p>
        </p:txBody>
      </p:sp>
    </p:spTree>
    <p:extLst>
      <p:ext uri="{BB962C8B-B14F-4D97-AF65-F5344CB8AC3E}">
        <p14:creationId xmlns:p14="http://schemas.microsoft.com/office/powerpoint/2010/main" val="39984854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133600" y="5858886"/>
            <a:ext cx="5486400" cy="566738"/>
          </a:xfrm>
        </p:spPr>
        <p:txBody>
          <a:bodyPr/>
          <a:lstStyle/>
          <a:p>
            <a:r>
              <a:rPr lang="en-US" sz="2400" dirty="0"/>
              <a:t>Set CPU Rings CR3 by guest OS (1)</a:t>
            </a:r>
          </a:p>
        </p:txBody>
      </p:sp>
      <p:cxnSp>
        <p:nvCxnSpPr>
          <p:cNvPr id="7" name="Elbow Connector 6"/>
          <p:cNvCxnSpPr/>
          <p:nvPr/>
        </p:nvCxnSpPr>
        <p:spPr>
          <a:xfrm rot="5400000" flipH="1" flipV="1">
            <a:off x="2705100" y="266700"/>
            <a:ext cx="1295400" cy="2895600"/>
          </a:xfrm>
          <a:prstGeom prst="bentConnector3">
            <a:avLst>
              <a:gd name="adj1" fmla="val 124949"/>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8" name="Group 7"/>
          <p:cNvGrpSpPr/>
          <p:nvPr/>
        </p:nvGrpSpPr>
        <p:grpSpPr>
          <a:xfrm>
            <a:off x="2819400" y="1066800"/>
            <a:ext cx="914400" cy="1879431"/>
            <a:chOff x="1371600" y="1752600"/>
            <a:chExt cx="914400" cy="1879431"/>
          </a:xfrm>
          <a:noFill/>
        </p:grpSpPr>
        <p:sp>
          <p:nvSpPr>
            <p:cNvPr id="86" name="Rectangle 85"/>
            <p:cNvSpPr/>
            <p:nvPr/>
          </p:nvSpPr>
          <p:spPr>
            <a:xfrm>
              <a:off x="1371600" y="1752600"/>
              <a:ext cx="914400" cy="1828800"/>
            </a:xfrm>
            <a:prstGeom prst="rect">
              <a:avLst/>
            </a:prstGeom>
            <a:grp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vert27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25000" noProof="0">
                <a:ln>
                  <a:noFill/>
                </a:ln>
                <a:solidFill>
                  <a:srgbClr val="FFFFFF"/>
                </a:solidFill>
                <a:effectLst/>
                <a:uLnTx/>
                <a:uFillTx/>
                <a:latin typeface="Arial"/>
                <a:ea typeface="Osaka"/>
              </a:endParaRPr>
            </a:p>
          </p:txBody>
        </p:sp>
        <p:cxnSp>
          <p:nvCxnSpPr>
            <p:cNvPr id="87" name="Straight Connector 86"/>
            <p:cNvCxnSpPr/>
            <p:nvPr/>
          </p:nvCxnSpPr>
          <p:spPr>
            <a:xfrm>
              <a:off x="1371600" y="17526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371600" y="19812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371600" y="22098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371600" y="24384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371600" y="26670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371600" y="28956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a:off x="1371600" y="31242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sp>
          <p:nvSpPr>
            <p:cNvPr id="94" name="TextBox 14"/>
            <p:cNvSpPr txBox="1"/>
            <p:nvPr/>
          </p:nvSpPr>
          <p:spPr>
            <a:xfrm>
              <a:off x="1419073" y="3124200"/>
              <a:ext cx="819455" cy="507831"/>
            </a:xfrm>
            <a:prstGeom prst="rect">
              <a:avLst/>
            </a:prstGeom>
            <a:grpFill/>
            <a:ln>
              <a:noFill/>
            </a:ln>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25000" noProof="0" dirty="0">
                  <a:ln>
                    <a:noFill/>
                  </a:ln>
                  <a:solidFill>
                    <a:srgbClr val="FFFFFF"/>
                  </a:solidFill>
                  <a:effectLst/>
                  <a:uLnTx/>
                  <a:uFillTx/>
                  <a:latin typeface="Arial"/>
                  <a:ea typeface="Osaka"/>
                </a:rPr>
                <a:t>Guest</a:t>
              </a:r>
              <a:endParaRPr kumimoji="0" lang="en-US" sz="1400" b="1" i="0" u="none" strike="noStrike" kern="1200" cap="none" spc="0" normalizeH="0" baseline="-25000" noProof="0" dirty="0">
                <a:ln>
                  <a:noFill/>
                </a:ln>
                <a:solidFill>
                  <a:srgbClr val="FFFFFF"/>
                </a:solidFill>
                <a:effectLst/>
                <a:uLnTx/>
                <a:uFillTx/>
                <a:latin typeface="Arial"/>
                <a:ea typeface="Osaka"/>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50" b="1" i="0" u="none" strike="noStrike" kern="1200" cap="none" spc="0" normalizeH="0" baseline="-25000" noProof="0" dirty="0">
                  <a:ln>
                    <a:noFill/>
                  </a:ln>
                  <a:solidFill>
                    <a:srgbClr val="FFFFFF"/>
                  </a:solidFill>
                  <a:effectLst/>
                  <a:uLnTx/>
                  <a:uFillTx/>
                  <a:latin typeface="Arial"/>
                  <a:ea typeface="Osaka"/>
                </a:rPr>
                <a:t>Page Table</a:t>
              </a:r>
            </a:p>
          </p:txBody>
        </p:sp>
      </p:grpSp>
      <p:grpSp>
        <p:nvGrpSpPr>
          <p:cNvPr id="9" name="Group 8"/>
          <p:cNvGrpSpPr/>
          <p:nvPr/>
        </p:nvGrpSpPr>
        <p:grpSpPr>
          <a:xfrm>
            <a:off x="2819400" y="3581400"/>
            <a:ext cx="914633" cy="1879431"/>
            <a:chOff x="1371600" y="1752600"/>
            <a:chExt cx="914633" cy="1879431"/>
          </a:xfrm>
          <a:noFill/>
        </p:grpSpPr>
        <p:sp>
          <p:nvSpPr>
            <p:cNvPr id="77" name="Rectangle 76"/>
            <p:cNvSpPr/>
            <p:nvPr/>
          </p:nvSpPr>
          <p:spPr>
            <a:xfrm>
              <a:off x="1371600" y="1752600"/>
              <a:ext cx="914400" cy="1828800"/>
            </a:xfrm>
            <a:prstGeom prst="rect">
              <a:avLst/>
            </a:prstGeom>
            <a:grp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vert27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25000" noProof="0">
                <a:ln>
                  <a:noFill/>
                </a:ln>
                <a:solidFill>
                  <a:srgbClr val="FFFFFF"/>
                </a:solidFill>
                <a:effectLst/>
                <a:uLnTx/>
                <a:uFillTx/>
                <a:latin typeface="Arial"/>
                <a:ea typeface="Osaka"/>
              </a:endParaRPr>
            </a:p>
          </p:txBody>
        </p:sp>
        <p:cxnSp>
          <p:nvCxnSpPr>
            <p:cNvPr id="78" name="Straight Connector 77"/>
            <p:cNvCxnSpPr/>
            <p:nvPr/>
          </p:nvCxnSpPr>
          <p:spPr>
            <a:xfrm>
              <a:off x="1371600" y="17526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371600" y="19812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371600" y="22098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371600" y="24384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371600" y="26670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371600" y="28956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371600" y="31242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sp>
          <p:nvSpPr>
            <p:cNvPr id="85" name="TextBox 49"/>
            <p:cNvSpPr txBox="1"/>
            <p:nvPr/>
          </p:nvSpPr>
          <p:spPr>
            <a:xfrm>
              <a:off x="1419073" y="3124200"/>
              <a:ext cx="867160" cy="507831"/>
            </a:xfrm>
            <a:prstGeom prst="rect">
              <a:avLst/>
            </a:prstGeom>
            <a:grp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25000" noProof="0" dirty="0">
                  <a:ln>
                    <a:noFill/>
                  </a:ln>
                  <a:solidFill>
                    <a:srgbClr val="FFFFFF"/>
                  </a:solidFill>
                  <a:effectLst/>
                  <a:uLnTx/>
                  <a:uFillTx/>
                  <a:latin typeface="Arial"/>
                  <a:ea typeface="Osaka"/>
                </a:rPr>
                <a:t>Shadow</a:t>
              </a:r>
              <a:endParaRPr kumimoji="0" lang="en-US" sz="1400" b="1" i="0" u="none" strike="noStrike" kern="1200" cap="none" spc="0" normalizeH="0" baseline="-25000" noProof="0" dirty="0">
                <a:ln>
                  <a:noFill/>
                </a:ln>
                <a:solidFill>
                  <a:srgbClr val="FFFFFF"/>
                </a:solidFill>
                <a:effectLst/>
                <a:uLnTx/>
                <a:uFillTx/>
                <a:latin typeface="Arial"/>
                <a:ea typeface="Osaka"/>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50" b="1" i="0" u="none" strike="noStrike" kern="1200" cap="none" spc="0" normalizeH="0" baseline="-25000" noProof="0" dirty="0">
                  <a:ln>
                    <a:noFill/>
                  </a:ln>
                  <a:solidFill>
                    <a:srgbClr val="FFFFFF"/>
                  </a:solidFill>
                  <a:effectLst/>
                  <a:uLnTx/>
                  <a:uFillTx/>
                  <a:latin typeface="Arial"/>
                  <a:ea typeface="Osaka"/>
                </a:rPr>
                <a:t>Page Table</a:t>
              </a:r>
            </a:p>
          </p:txBody>
        </p:sp>
      </p:grpSp>
      <p:grpSp>
        <p:nvGrpSpPr>
          <p:cNvPr id="10" name="Group 9"/>
          <p:cNvGrpSpPr/>
          <p:nvPr/>
        </p:nvGrpSpPr>
        <p:grpSpPr>
          <a:xfrm>
            <a:off x="4343400" y="1066800"/>
            <a:ext cx="914400" cy="1879431"/>
            <a:chOff x="1371600" y="1752600"/>
            <a:chExt cx="914400" cy="1879431"/>
          </a:xfrm>
          <a:noFill/>
        </p:grpSpPr>
        <p:sp>
          <p:nvSpPr>
            <p:cNvPr id="68" name="Rectangle 67"/>
            <p:cNvSpPr/>
            <p:nvPr/>
          </p:nvSpPr>
          <p:spPr>
            <a:xfrm>
              <a:off x="1371600" y="1752600"/>
              <a:ext cx="914400" cy="1828800"/>
            </a:xfrm>
            <a:prstGeom prst="rect">
              <a:avLst/>
            </a:prstGeom>
            <a:grp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vert27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25000" noProof="0">
                <a:ln>
                  <a:noFill/>
                </a:ln>
                <a:solidFill>
                  <a:srgbClr val="FFFFFF"/>
                </a:solidFill>
                <a:effectLst/>
                <a:uLnTx/>
                <a:uFillTx/>
                <a:latin typeface="Arial"/>
                <a:ea typeface="Osaka"/>
              </a:endParaRPr>
            </a:p>
          </p:txBody>
        </p:sp>
        <p:cxnSp>
          <p:nvCxnSpPr>
            <p:cNvPr id="69" name="Straight Connector 68"/>
            <p:cNvCxnSpPr/>
            <p:nvPr/>
          </p:nvCxnSpPr>
          <p:spPr>
            <a:xfrm>
              <a:off x="1371600" y="17526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a:off x="1371600" y="19812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a:off x="1371600" y="22098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a:off x="1371600" y="24384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a:off x="1371600" y="26670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a:off x="1371600" y="28956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1371600" y="31242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sp>
          <p:nvSpPr>
            <p:cNvPr id="76" name="TextBox 60"/>
            <p:cNvSpPr txBox="1"/>
            <p:nvPr/>
          </p:nvSpPr>
          <p:spPr>
            <a:xfrm>
              <a:off x="1419073" y="3124200"/>
              <a:ext cx="819455" cy="507831"/>
            </a:xfrm>
            <a:prstGeom prst="rect">
              <a:avLst/>
            </a:prstGeom>
            <a:grp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25000" noProof="0" dirty="0">
                  <a:ln>
                    <a:noFill/>
                  </a:ln>
                  <a:solidFill>
                    <a:srgbClr val="FFFFFF"/>
                  </a:solidFill>
                  <a:effectLst/>
                  <a:uLnTx/>
                  <a:uFillTx/>
                  <a:latin typeface="Arial"/>
                  <a:ea typeface="Osaka"/>
                </a:rPr>
                <a:t>Guest</a:t>
              </a:r>
              <a:endParaRPr kumimoji="0" lang="en-US" sz="1400" b="1" i="0" u="none" strike="noStrike" kern="1200" cap="none" spc="0" normalizeH="0" baseline="-25000" noProof="0" dirty="0">
                <a:ln>
                  <a:noFill/>
                </a:ln>
                <a:solidFill>
                  <a:srgbClr val="FFFFFF"/>
                </a:solidFill>
                <a:effectLst/>
                <a:uLnTx/>
                <a:uFillTx/>
                <a:latin typeface="Arial"/>
                <a:ea typeface="Osaka"/>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50" b="1" i="0" u="none" strike="noStrike" kern="1200" cap="none" spc="0" normalizeH="0" baseline="-25000" noProof="0" dirty="0">
                  <a:ln>
                    <a:noFill/>
                  </a:ln>
                  <a:solidFill>
                    <a:srgbClr val="FFFFFF"/>
                  </a:solidFill>
                  <a:effectLst/>
                  <a:uLnTx/>
                  <a:uFillTx/>
                  <a:latin typeface="Arial"/>
                  <a:ea typeface="Osaka"/>
                </a:rPr>
                <a:t>Page Table</a:t>
              </a:r>
            </a:p>
          </p:txBody>
        </p:sp>
      </p:grpSp>
      <p:grpSp>
        <p:nvGrpSpPr>
          <p:cNvPr id="11" name="Group 10"/>
          <p:cNvGrpSpPr/>
          <p:nvPr/>
        </p:nvGrpSpPr>
        <p:grpSpPr>
          <a:xfrm>
            <a:off x="5867400" y="1066800"/>
            <a:ext cx="914400" cy="1879431"/>
            <a:chOff x="1371600" y="1752600"/>
            <a:chExt cx="914400" cy="1879431"/>
          </a:xfrm>
          <a:noFill/>
        </p:grpSpPr>
        <p:sp>
          <p:nvSpPr>
            <p:cNvPr id="59" name="Rectangle 58"/>
            <p:cNvSpPr/>
            <p:nvPr/>
          </p:nvSpPr>
          <p:spPr>
            <a:xfrm>
              <a:off x="1371600" y="1752600"/>
              <a:ext cx="914400" cy="1828800"/>
            </a:xfrm>
            <a:prstGeom prst="rect">
              <a:avLst/>
            </a:prstGeom>
            <a:grp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vert27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25000" noProof="0">
                <a:ln>
                  <a:noFill/>
                </a:ln>
                <a:solidFill>
                  <a:srgbClr val="FFFFFF"/>
                </a:solidFill>
                <a:effectLst/>
                <a:uLnTx/>
                <a:uFillTx/>
                <a:latin typeface="Arial"/>
                <a:ea typeface="Osaka"/>
              </a:endParaRPr>
            </a:p>
          </p:txBody>
        </p:sp>
        <p:cxnSp>
          <p:nvCxnSpPr>
            <p:cNvPr id="60" name="Straight Connector 59"/>
            <p:cNvCxnSpPr/>
            <p:nvPr/>
          </p:nvCxnSpPr>
          <p:spPr>
            <a:xfrm>
              <a:off x="1371600" y="17526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1371600" y="19812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a:off x="1371600" y="22098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1371600" y="24384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1371600" y="26670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1371600" y="28956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1371600" y="31242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sp>
          <p:nvSpPr>
            <p:cNvPr id="67" name="TextBox 70"/>
            <p:cNvSpPr txBox="1"/>
            <p:nvPr/>
          </p:nvSpPr>
          <p:spPr>
            <a:xfrm>
              <a:off x="1419073" y="3124200"/>
              <a:ext cx="819455" cy="507831"/>
            </a:xfrm>
            <a:prstGeom prst="rect">
              <a:avLst/>
            </a:prstGeom>
            <a:grp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25000" noProof="0" dirty="0">
                  <a:ln>
                    <a:noFill/>
                  </a:ln>
                  <a:solidFill>
                    <a:srgbClr val="FFFFFF"/>
                  </a:solidFill>
                  <a:effectLst/>
                  <a:uLnTx/>
                  <a:uFillTx/>
                  <a:latin typeface="Arial"/>
                  <a:ea typeface="Osaka"/>
                </a:rPr>
                <a:t>Guest</a:t>
              </a:r>
              <a:endParaRPr kumimoji="0" lang="en-US" sz="1400" b="1" i="0" u="none" strike="noStrike" kern="1200" cap="none" spc="0" normalizeH="0" baseline="-25000" noProof="0" dirty="0">
                <a:ln>
                  <a:noFill/>
                </a:ln>
                <a:solidFill>
                  <a:srgbClr val="FFFFFF"/>
                </a:solidFill>
                <a:effectLst/>
                <a:uLnTx/>
                <a:uFillTx/>
                <a:latin typeface="Arial"/>
                <a:ea typeface="Osaka"/>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50" b="1" i="0" u="none" strike="noStrike" kern="1200" cap="none" spc="0" normalizeH="0" baseline="-25000" noProof="0" dirty="0">
                  <a:ln>
                    <a:noFill/>
                  </a:ln>
                  <a:solidFill>
                    <a:srgbClr val="FFFFFF"/>
                  </a:solidFill>
                  <a:effectLst/>
                  <a:uLnTx/>
                  <a:uFillTx/>
                  <a:latin typeface="Arial"/>
                  <a:ea typeface="Osaka"/>
                </a:rPr>
                <a:t>Page Table</a:t>
              </a:r>
            </a:p>
          </p:txBody>
        </p:sp>
      </p:grpSp>
      <p:grpSp>
        <p:nvGrpSpPr>
          <p:cNvPr id="12" name="Group 11"/>
          <p:cNvGrpSpPr/>
          <p:nvPr/>
        </p:nvGrpSpPr>
        <p:grpSpPr>
          <a:xfrm>
            <a:off x="4343400" y="3581400"/>
            <a:ext cx="914633" cy="1879431"/>
            <a:chOff x="1371600" y="1752600"/>
            <a:chExt cx="914633" cy="1879431"/>
          </a:xfrm>
          <a:noFill/>
        </p:grpSpPr>
        <p:sp>
          <p:nvSpPr>
            <p:cNvPr id="50" name="Rectangle 49"/>
            <p:cNvSpPr/>
            <p:nvPr/>
          </p:nvSpPr>
          <p:spPr>
            <a:xfrm>
              <a:off x="1371600" y="1752600"/>
              <a:ext cx="914400" cy="1828800"/>
            </a:xfrm>
            <a:prstGeom prst="rect">
              <a:avLst/>
            </a:prstGeom>
            <a:grp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vert27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25000" noProof="0">
                <a:ln>
                  <a:noFill/>
                </a:ln>
                <a:solidFill>
                  <a:srgbClr val="FFFFFF"/>
                </a:solidFill>
                <a:effectLst/>
                <a:uLnTx/>
                <a:uFillTx/>
                <a:latin typeface="Arial"/>
                <a:ea typeface="Osaka"/>
              </a:endParaRPr>
            </a:p>
          </p:txBody>
        </p:sp>
        <p:cxnSp>
          <p:nvCxnSpPr>
            <p:cNvPr id="51" name="Straight Connector 50"/>
            <p:cNvCxnSpPr/>
            <p:nvPr/>
          </p:nvCxnSpPr>
          <p:spPr>
            <a:xfrm>
              <a:off x="1371600" y="17526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1371600" y="19812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1371600" y="22098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1371600" y="24384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1371600" y="26670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1371600" y="28956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1371600" y="31242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sp>
          <p:nvSpPr>
            <p:cNvPr id="58" name="TextBox 90"/>
            <p:cNvSpPr txBox="1"/>
            <p:nvPr/>
          </p:nvSpPr>
          <p:spPr>
            <a:xfrm>
              <a:off x="1419073" y="3124200"/>
              <a:ext cx="867160" cy="507831"/>
            </a:xfrm>
            <a:prstGeom prst="rect">
              <a:avLst/>
            </a:prstGeom>
            <a:grp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25000" noProof="0" dirty="0">
                  <a:ln>
                    <a:noFill/>
                  </a:ln>
                  <a:solidFill>
                    <a:srgbClr val="FFFFFF"/>
                  </a:solidFill>
                  <a:effectLst/>
                  <a:uLnTx/>
                  <a:uFillTx/>
                  <a:latin typeface="Arial"/>
                  <a:ea typeface="Osaka"/>
                </a:rPr>
                <a:t>Shadow</a:t>
              </a:r>
              <a:endParaRPr kumimoji="0" lang="en-US" sz="1400" b="1" i="0" u="none" strike="noStrike" kern="1200" cap="none" spc="0" normalizeH="0" baseline="-25000" noProof="0" dirty="0">
                <a:ln>
                  <a:noFill/>
                </a:ln>
                <a:solidFill>
                  <a:srgbClr val="FFFFFF"/>
                </a:solidFill>
                <a:effectLst/>
                <a:uLnTx/>
                <a:uFillTx/>
                <a:latin typeface="Arial"/>
                <a:ea typeface="Osaka"/>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50" b="1" i="0" u="none" strike="noStrike" kern="1200" cap="none" spc="0" normalizeH="0" baseline="-25000" noProof="0" dirty="0">
                  <a:ln>
                    <a:noFill/>
                  </a:ln>
                  <a:solidFill>
                    <a:srgbClr val="FFFFFF"/>
                  </a:solidFill>
                  <a:effectLst/>
                  <a:uLnTx/>
                  <a:uFillTx/>
                  <a:latin typeface="Arial"/>
                  <a:ea typeface="Osaka"/>
                </a:rPr>
                <a:t>Page Table</a:t>
              </a:r>
            </a:p>
          </p:txBody>
        </p:sp>
      </p:grpSp>
      <p:grpSp>
        <p:nvGrpSpPr>
          <p:cNvPr id="13" name="Group 12"/>
          <p:cNvGrpSpPr/>
          <p:nvPr/>
        </p:nvGrpSpPr>
        <p:grpSpPr>
          <a:xfrm>
            <a:off x="5867400" y="3581400"/>
            <a:ext cx="914633" cy="1879431"/>
            <a:chOff x="1371600" y="1752600"/>
            <a:chExt cx="914633" cy="1879431"/>
          </a:xfrm>
          <a:noFill/>
        </p:grpSpPr>
        <p:sp>
          <p:nvSpPr>
            <p:cNvPr id="41" name="Rectangle 40"/>
            <p:cNvSpPr/>
            <p:nvPr/>
          </p:nvSpPr>
          <p:spPr>
            <a:xfrm>
              <a:off x="1371600" y="1752600"/>
              <a:ext cx="914400" cy="1828800"/>
            </a:xfrm>
            <a:prstGeom prst="rect">
              <a:avLst/>
            </a:prstGeom>
            <a:grp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vert27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25000" noProof="0">
                <a:ln>
                  <a:noFill/>
                </a:ln>
                <a:solidFill>
                  <a:srgbClr val="FFFFFF"/>
                </a:solidFill>
                <a:effectLst/>
                <a:uLnTx/>
                <a:uFillTx/>
                <a:latin typeface="Arial"/>
                <a:ea typeface="Osaka"/>
              </a:endParaRPr>
            </a:p>
          </p:txBody>
        </p:sp>
        <p:cxnSp>
          <p:nvCxnSpPr>
            <p:cNvPr id="42" name="Straight Connector 41"/>
            <p:cNvCxnSpPr/>
            <p:nvPr/>
          </p:nvCxnSpPr>
          <p:spPr>
            <a:xfrm>
              <a:off x="1371600" y="17526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1371600" y="19812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1371600" y="22098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1371600" y="24384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1371600" y="26670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1371600" y="28956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1371600" y="31242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sp>
          <p:nvSpPr>
            <p:cNvPr id="49" name="TextBox 100"/>
            <p:cNvSpPr txBox="1"/>
            <p:nvPr/>
          </p:nvSpPr>
          <p:spPr>
            <a:xfrm>
              <a:off x="1419073" y="3124200"/>
              <a:ext cx="867160" cy="507831"/>
            </a:xfrm>
            <a:prstGeom prst="rect">
              <a:avLst/>
            </a:prstGeom>
            <a:grp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25000" noProof="0" dirty="0">
                  <a:ln>
                    <a:noFill/>
                  </a:ln>
                  <a:solidFill>
                    <a:srgbClr val="FFFFFF"/>
                  </a:solidFill>
                  <a:effectLst/>
                  <a:uLnTx/>
                  <a:uFillTx/>
                  <a:latin typeface="Arial"/>
                  <a:ea typeface="Osaka"/>
                </a:rPr>
                <a:t>Shadow</a:t>
              </a:r>
              <a:endParaRPr kumimoji="0" lang="en-US" sz="1400" b="1" i="0" u="none" strike="noStrike" kern="1200" cap="none" spc="0" normalizeH="0" baseline="-25000" noProof="0" dirty="0">
                <a:ln>
                  <a:noFill/>
                </a:ln>
                <a:solidFill>
                  <a:srgbClr val="FFFFFF"/>
                </a:solidFill>
                <a:effectLst/>
                <a:uLnTx/>
                <a:uFillTx/>
                <a:latin typeface="Arial"/>
                <a:ea typeface="Osaka"/>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50" b="1" i="0" u="none" strike="noStrike" kern="1200" cap="none" spc="0" normalizeH="0" baseline="-25000" noProof="0" dirty="0">
                  <a:ln>
                    <a:noFill/>
                  </a:ln>
                  <a:solidFill>
                    <a:srgbClr val="FFFFFF"/>
                  </a:solidFill>
                  <a:effectLst/>
                  <a:uLnTx/>
                  <a:uFillTx/>
                  <a:latin typeface="Arial"/>
                  <a:ea typeface="Osaka"/>
                </a:rPr>
                <a:t>Page Table</a:t>
              </a:r>
            </a:p>
          </p:txBody>
        </p:sp>
      </p:grpSp>
      <p:cxnSp>
        <p:nvCxnSpPr>
          <p:cNvPr id="14" name="Straight Arrow Connector 13"/>
          <p:cNvCxnSpPr/>
          <p:nvPr/>
        </p:nvCxnSpPr>
        <p:spPr>
          <a:xfrm rot="5400000">
            <a:off x="2933700" y="3238500"/>
            <a:ext cx="685800" cy="1588"/>
          </a:xfrm>
          <a:prstGeom prst="straightConnector1">
            <a:avLst/>
          </a:prstGeom>
          <a:ln w="57150">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rot="5400000">
            <a:off x="4457700" y="3238500"/>
            <a:ext cx="685800" cy="1588"/>
          </a:xfrm>
          <a:prstGeom prst="straightConnector1">
            <a:avLst/>
          </a:prstGeom>
          <a:ln w="57150">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rot="5400000">
            <a:off x="5981700" y="3238500"/>
            <a:ext cx="685800" cy="1588"/>
          </a:xfrm>
          <a:prstGeom prst="straightConnector1">
            <a:avLst/>
          </a:prstGeom>
          <a:ln w="57150">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2819400" y="1295400"/>
            <a:ext cx="914400" cy="228600"/>
          </a:xfrm>
          <a:prstGeom prst="rect">
            <a:avLst/>
          </a:prstGeom>
          <a:solidFill>
            <a:schemeClr val="bg2">
              <a:lumMod val="90000"/>
            </a:schemeClr>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sp>
        <p:nvSpPr>
          <p:cNvPr id="18" name="Rectangle 17"/>
          <p:cNvSpPr/>
          <p:nvPr/>
        </p:nvSpPr>
        <p:spPr>
          <a:xfrm>
            <a:off x="2819400" y="1524000"/>
            <a:ext cx="914400" cy="228600"/>
          </a:xfrm>
          <a:prstGeom prst="rect">
            <a:avLst/>
          </a:prstGeom>
          <a:solidFill>
            <a:schemeClr val="bg2">
              <a:lumMod val="90000"/>
            </a:schemeClr>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sp>
        <p:nvSpPr>
          <p:cNvPr id="19" name="Rectangle 18"/>
          <p:cNvSpPr/>
          <p:nvPr/>
        </p:nvSpPr>
        <p:spPr>
          <a:xfrm>
            <a:off x="2819400" y="1981200"/>
            <a:ext cx="914400" cy="228600"/>
          </a:xfrm>
          <a:prstGeom prst="rect">
            <a:avLst/>
          </a:prstGeom>
          <a:solidFill>
            <a:schemeClr val="bg2">
              <a:lumMod val="90000"/>
            </a:schemeClr>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sp>
        <p:nvSpPr>
          <p:cNvPr id="20" name="Rectangle 19"/>
          <p:cNvSpPr/>
          <p:nvPr/>
        </p:nvSpPr>
        <p:spPr>
          <a:xfrm>
            <a:off x="5867400" y="2209800"/>
            <a:ext cx="914400" cy="228600"/>
          </a:xfrm>
          <a:prstGeom prst="rect">
            <a:avLst/>
          </a:prstGeom>
          <a:solidFill>
            <a:schemeClr val="bg2">
              <a:lumMod val="90000"/>
            </a:schemeClr>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sp>
        <p:nvSpPr>
          <p:cNvPr id="21" name="Rectangle 20"/>
          <p:cNvSpPr/>
          <p:nvPr/>
        </p:nvSpPr>
        <p:spPr>
          <a:xfrm>
            <a:off x="5867400" y="1295400"/>
            <a:ext cx="914400" cy="228600"/>
          </a:xfrm>
          <a:prstGeom prst="rect">
            <a:avLst/>
          </a:prstGeom>
          <a:solidFill>
            <a:schemeClr val="bg2">
              <a:lumMod val="90000"/>
            </a:schemeClr>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sp>
        <p:nvSpPr>
          <p:cNvPr id="22" name="Rectangle 21"/>
          <p:cNvSpPr/>
          <p:nvPr/>
        </p:nvSpPr>
        <p:spPr>
          <a:xfrm>
            <a:off x="4343400" y="1981200"/>
            <a:ext cx="914400" cy="228600"/>
          </a:xfrm>
          <a:prstGeom prst="rect">
            <a:avLst/>
          </a:prstGeom>
          <a:solidFill>
            <a:schemeClr val="bg2">
              <a:lumMod val="90000"/>
            </a:schemeClr>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sp>
        <p:nvSpPr>
          <p:cNvPr id="23" name="Rectangle 22"/>
          <p:cNvSpPr/>
          <p:nvPr/>
        </p:nvSpPr>
        <p:spPr>
          <a:xfrm>
            <a:off x="4343400" y="1752600"/>
            <a:ext cx="914400" cy="228600"/>
          </a:xfrm>
          <a:prstGeom prst="rect">
            <a:avLst/>
          </a:prstGeom>
          <a:solidFill>
            <a:schemeClr val="bg2">
              <a:lumMod val="90000"/>
            </a:schemeClr>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sp>
        <p:nvSpPr>
          <p:cNvPr id="24" name="Rectangle 23"/>
          <p:cNvSpPr/>
          <p:nvPr/>
        </p:nvSpPr>
        <p:spPr>
          <a:xfrm>
            <a:off x="4343400" y="1295400"/>
            <a:ext cx="914400" cy="228600"/>
          </a:xfrm>
          <a:prstGeom prst="rect">
            <a:avLst/>
          </a:prstGeom>
          <a:solidFill>
            <a:schemeClr val="bg2">
              <a:lumMod val="90000"/>
            </a:schemeClr>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sp>
        <p:nvSpPr>
          <p:cNvPr id="25" name="Rectangle 24"/>
          <p:cNvSpPr/>
          <p:nvPr/>
        </p:nvSpPr>
        <p:spPr>
          <a:xfrm>
            <a:off x="4343400" y="1066800"/>
            <a:ext cx="914400" cy="228600"/>
          </a:xfrm>
          <a:prstGeom prst="rect">
            <a:avLst/>
          </a:prstGeom>
          <a:solidFill>
            <a:schemeClr val="bg2">
              <a:lumMod val="90000"/>
            </a:schemeClr>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sp>
        <p:nvSpPr>
          <p:cNvPr id="26" name="Rectangle 25"/>
          <p:cNvSpPr/>
          <p:nvPr/>
        </p:nvSpPr>
        <p:spPr>
          <a:xfrm>
            <a:off x="2819400" y="3810000"/>
            <a:ext cx="914400" cy="228600"/>
          </a:xfrm>
          <a:prstGeom prst="rect">
            <a:avLst/>
          </a:prstGeom>
          <a:solidFill>
            <a:schemeClr val="bg2">
              <a:lumMod val="75000"/>
            </a:schemeClr>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sp>
        <p:nvSpPr>
          <p:cNvPr id="27" name="Rectangle 26"/>
          <p:cNvSpPr/>
          <p:nvPr/>
        </p:nvSpPr>
        <p:spPr>
          <a:xfrm>
            <a:off x="2819400" y="4038600"/>
            <a:ext cx="914400" cy="228600"/>
          </a:xfrm>
          <a:prstGeom prst="rect">
            <a:avLst/>
          </a:prstGeom>
          <a:solidFill>
            <a:schemeClr val="bg2">
              <a:lumMod val="75000"/>
            </a:schemeClr>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sp>
        <p:nvSpPr>
          <p:cNvPr id="28" name="Rectangle 27"/>
          <p:cNvSpPr/>
          <p:nvPr/>
        </p:nvSpPr>
        <p:spPr>
          <a:xfrm>
            <a:off x="4343400" y="3581400"/>
            <a:ext cx="914400" cy="228600"/>
          </a:xfrm>
          <a:prstGeom prst="rect">
            <a:avLst/>
          </a:prstGeom>
          <a:solidFill>
            <a:schemeClr val="bg2">
              <a:lumMod val="75000"/>
            </a:schemeClr>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sp>
        <p:nvSpPr>
          <p:cNvPr id="29" name="Rectangle 28"/>
          <p:cNvSpPr/>
          <p:nvPr/>
        </p:nvSpPr>
        <p:spPr>
          <a:xfrm>
            <a:off x="4343400" y="4267200"/>
            <a:ext cx="914400" cy="228600"/>
          </a:xfrm>
          <a:prstGeom prst="rect">
            <a:avLst/>
          </a:prstGeom>
          <a:solidFill>
            <a:schemeClr val="bg2">
              <a:lumMod val="75000"/>
            </a:schemeClr>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sp>
        <p:nvSpPr>
          <p:cNvPr id="30" name="Rectangle 29"/>
          <p:cNvSpPr/>
          <p:nvPr/>
        </p:nvSpPr>
        <p:spPr>
          <a:xfrm>
            <a:off x="5867400" y="3810000"/>
            <a:ext cx="914400" cy="228600"/>
          </a:xfrm>
          <a:prstGeom prst="rect">
            <a:avLst/>
          </a:prstGeom>
          <a:solidFill>
            <a:schemeClr val="bg2">
              <a:lumMod val="75000"/>
            </a:schemeClr>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sp>
        <p:nvSpPr>
          <p:cNvPr id="31" name="Rectangle 30"/>
          <p:cNvSpPr/>
          <p:nvPr/>
        </p:nvSpPr>
        <p:spPr>
          <a:xfrm>
            <a:off x="5867400" y="4724400"/>
            <a:ext cx="914400" cy="228600"/>
          </a:xfrm>
          <a:prstGeom prst="rect">
            <a:avLst/>
          </a:prstGeom>
          <a:solidFill>
            <a:schemeClr val="bg2">
              <a:lumMod val="75000"/>
            </a:schemeClr>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sp>
        <p:nvSpPr>
          <p:cNvPr id="32" name="Rectangle 31"/>
          <p:cNvSpPr/>
          <p:nvPr/>
        </p:nvSpPr>
        <p:spPr>
          <a:xfrm>
            <a:off x="1447800" y="2286000"/>
            <a:ext cx="914400" cy="304800"/>
          </a:xfrm>
          <a:prstGeom prst="rect">
            <a:avLst/>
          </a:prstGeom>
          <a:solidFill>
            <a:schemeClr val="bg2"/>
          </a:solidFill>
          <a:ln w="9525">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sp>
        <p:nvSpPr>
          <p:cNvPr id="33" name="TextBox 136"/>
          <p:cNvSpPr txBox="1"/>
          <p:nvPr/>
        </p:nvSpPr>
        <p:spPr>
          <a:xfrm>
            <a:off x="1371600" y="2590800"/>
            <a:ext cx="1094427"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25000" noProof="0" dirty="0">
                <a:ln>
                  <a:noFill/>
                </a:ln>
                <a:solidFill>
                  <a:srgbClr val="FFFFFF"/>
                </a:solidFill>
                <a:effectLst/>
                <a:uLnTx/>
                <a:uFillTx/>
                <a:latin typeface="Arial"/>
                <a:ea typeface="Osaka"/>
              </a:rPr>
              <a:t>Virtual CR3</a:t>
            </a:r>
          </a:p>
        </p:txBody>
      </p:sp>
      <p:sp>
        <p:nvSpPr>
          <p:cNvPr id="34" name="TextBox 138"/>
          <p:cNvSpPr txBox="1"/>
          <p:nvPr/>
        </p:nvSpPr>
        <p:spPr>
          <a:xfrm>
            <a:off x="1447800" y="3505200"/>
            <a:ext cx="1094427"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25000" noProof="0" dirty="0">
                <a:ln>
                  <a:noFill/>
                </a:ln>
                <a:solidFill>
                  <a:srgbClr val="FFFFFF"/>
                </a:solidFill>
                <a:effectLst/>
                <a:uLnTx/>
                <a:uFillTx/>
                <a:latin typeface="Arial"/>
                <a:ea typeface="Osaka"/>
              </a:rPr>
              <a:t>Real CR3</a:t>
            </a:r>
          </a:p>
        </p:txBody>
      </p:sp>
      <p:cxnSp>
        <p:nvCxnSpPr>
          <p:cNvPr id="35" name="Elbow Connector 34"/>
          <p:cNvCxnSpPr>
            <a:stCxn id="36" idx="0"/>
          </p:cNvCxnSpPr>
          <p:nvPr/>
        </p:nvCxnSpPr>
        <p:spPr>
          <a:xfrm rot="5400000" flipH="1" flipV="1">
            <a:off x="3467100" y="-495300"/>
            <a:ext cx="1295400" cy="4419600"/>
          </a:xfrm>
          <a:prstGeom prst="bentConnector3">
            <a:avLst>
              <a:gd name="adj1" fmla="val 124949"/>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1828800" y="2362200"/>
            <a:ext cx="152400" cy="152400"/>
          </a:xfrm>
          <a:prstGeom prst="ellipse">
            <a:avLst/>
          </a:prstGeom>
          <a:solidFill>
            <a:schemeClr val="tx1"/>
          </a:solidFill>
          <a:ln w="9525">
            <a:no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sp>
        <p:nvSpPr>
          <p:cNvPr id="37" name="Rectangle 36"/>
          <p:cNvSpPr/>
          <p:nvPr/>
        </p:nvSpPr>
        <p:spPr>
          <a:xfrm>
            <a:off x="1524000" y="3810000"/>
            <a:ext cx="914400" cy="304800"/>
          </a:xfrm>
          <a:prstGeom prst="rect">
            <a:avLst/>
          </a:prstGeom>
          <a:solidFill>
            <a:schemeClr val="bg2"/>
          </a:solidFill>
          <a:ln w="9525">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sp>
        <p:nvSpPr>
          <p:cNvPr id="38" name="Oval 37"/>
          <p:cNvSpPr/>
          <p:nvPr/>
        </p:nvSpPr>
        <p:spPr>
          <a:xfrm>
            <a:off x="1905000" y="3886200"/>
            <a:ext cx="152400" cy="152400"/>
          </a:xfrm>
          <a:prstGeom prst="ellipse">
            <a:avLst/>
          </a:prstGeom>
          <a:solidFill>
            <a:schemeClr val="tx1"/>
          </a:solidFill>
          <a:ln w="9525">
            <a:no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cxnSp>
        <p:nvCxnSpPr>
          <p:cNvPr id="39" name="Elbow Connector 38"/>
          <p:cNvCxnSpPr>
            <a:stCxn id="38" idx="4"/>
          </p:cNvCxnSpPr>
          <p:nvPr/>
        </p:nvCxnSpPr>
        <p:spPr>
          <a:xfrm rot="16200000" flipH="1">
            <a:off x="2705100" y="3314700"/>
            <a:ext cx="1371600" cy="2819400"/>
          </a:xfrm>
          <a:prstGeom prst="bentConnector3">
            <a:avLst>
              <a:gd name="adj1" fmla="val 127012"/>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a:off x="4876800" y="914400"/>
            <a:ext cx="1371600" cy="1588"/>
          </a:xfrm>
          <a:prstGeom prst="straightConnector1">
            <a:avLst/>
          </a:prstGeom>
          <a:ln w="76200">
            <a:solidFill>
              <a:srgbClr val="FFC000"/>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5" name="TextBox 94"/>
          <p:cNvSpPr txBox="1"/>
          <p:nvPr/>
        </p:nvSpPr>
        <p:spPr>
          <a:xfrm>
            <a:off x="304800" y="6962001"/>
            <a:ext cx="7772400" cy="276999"/>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25000" noProof="0" dirty="0">
                <a:ln>
                  <a:noFill/>
                </a:ln>
                <a:solidFill>
                  <a:srgbClr val="FFFFFF"/>
                </a:solidFill>
                <a:effectLst/>
                <a:uLnTx/>
                <a:uFillTx/>
                <a:latin typeface="Arial" charset="0"/>
                <a:ea typeface="ＭＳ Ｐゴシック" charset="-128"/>
              </a:rPr>
              <a:t>Source: [6]</a:t>
            </a:r>
          </a:p>
        </p:txBody>
      </p:sp>
    </p:spTree>
    <p:extLst>
      <p:ext uri="{BB962C8B-B14F-4D97-AF65-F5344CB8AC3E}">
        <p14:creationId xmlns:p14="http://schemas.microsoft.com/office/powerpoint/2010/main" val="310796646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4767" y="5658643"/>
            <a:ext cx="5486400" cy="566738"/>
          </a:xfrm>
        </p:spPr>
        <p:txBody>
          <a:bodyPr/>
          <a:lstStyle/>
          <a:p>
            <a:r>
              <a:rPr lang="en-US" sz="2400" dirty="0"/>
              <a:t>Set CPU Rings CR3 by guest OS (2)</a:t>
            </a:r>
          </a:p>
        </p:txBody>
      </p:sp>
      <p:grpSp>
        <p:nvGrpSpPr>
          <p:cNvPr id="91" name="Group 90"/>
          <p:cNvGrpSpPr/>
          <p:nvPr/>
        </p:nvGrpSpPr>
        <p:grpSpPr>
          <a:xfrm>
            <a:off x="2819167" y="609600"/>
            <a:ext cx="914400" cy="1879431"/>
            <a:chOff x="1371600" y="1752600"/>
            <a:chExt cx="914400" cy="1879431"/>
          </a:xfrm>
          <a:noFill/>
        </p:grpSpPr>
        <p:sp>
          <p:nvSpPr>
            <p:cNvPr id="168" name="Rectangle 167"/>
            <p:cNvSpPr/>
            <p:nvPr/>
          </p:nvSpPr>
          <p:spPr>
            <a:xfrm>
              <a:off x="1371600" y="1752600"/>
              <a:ext cx="914400" cy="1828800"/>
            </a:xfrm>
            <a:prstGeom prst="rect">
              <a:avLst/>
            </a:prstGeom>
            <a:grp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vert27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25000" noProof="0">
                <a:ln>
                  <a:noFill/>
                </a:ln>
                <a:solidFill>
                  <a:srgbClr val="FFFFFF"/>
                </a:solidFill>
                <a:effectLst/>
                <a:uLnTx/>
                <a:uFillTx/>
                <a:latin typeface="Arial"/>
                <a:ea typeface="Osaka"/>
              </a:endParaRPr>
            </a:p>
          </p:txBody>
        </p:sp>
        <p:cxnSp>
          <p:nvCxnSpPr>
            <p:cNvPr id="169" name="Straight Connector 168"/>
            <p:cNvCxnSpPr/>
            <p:nvPr/>
          </p:nvCxnSpPr>
          <p:spPr>
            <a:xfrm>
              <a:off x="1371600" y="17526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70" name="Straight Connector 169"/>
            <p:cNvCxnSpPr/>
            <p:nvPr/>
          </p:nvCxnSpPr>
          <p:spPr>
            <a:xfrm>
              <a:off x="1371600" y="19812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371600" y="22098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371600" y="24384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371600" y="26670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371600" y="28956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371600" y="31242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sp>
          <p:nvSpPr>
            <p:cNvPr id="176" name="TextBox 14"/>
            <p:cNvSpPr txBox="1"/>
            <p:nvPr/>
          </p:nvSpPr>
          <p:spPr>
            <a:xfrm>
              <a:off x="1419073" y="3124200"/>
              <a:ext cx="819455" cy="507831"/>
            </a:xfrm>
            <a:prstGeom prst="rect">
              <a:avLst/>
            </a:prstGeom>
            <a:grpFill/>
            <a:ln>
              <a:noFill/>
            </a:ln>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25000" noProof="0" dirty="0">
                  <a:ln>
                    <a:noFill/>
                  </a:ln>
                  <a:solidFill>
                    <a:srgbClr val="FFFFFF"/>
                  </a:solidFill>
                  <a:effectLst/>
                  <a:uLnTx/>
                  <a:uFillTx/>
                  <a:latin typeface="Arial"/>
                  <a:ea typeface="Osaka"/>
                </a:rPr>
                <a:t>Guest</a:t>
              </a:r>
              <a:endParaRPr kumimoji="0" lang="en-US" sz="1400" b="1" i="0" u="none" strike="noStrike" kern="1200" cap="none" spc="0" normalizeH="0" baseline="-25000" noProof="0" dirty="0">
                <a:ln>
                  <a:noFill/>
                </a:ln>
                <a:solidFill>
                  <a:srgbClr val="FFFFFF"/>
                </a:solidFill>
                <a:effectLst/>
                <a:uLnTx/>
                <a:uFillTx/>
                <a:latin typeface="Arial"/>
                <a:ea typeface="Osaka"/>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50" b="1" i="0" u="none" strike="noStrike" kern="1200" cap="none" spc="0" normalizeH="0" baseline="-25000" noProof="0" dirty="0">
                  <a:ln>
                    <a:noFill/>
                  </a:ln>
                  <a:solidFill>
                    <a:srgbClr val="FFFFFF"/>
                  </a:solidFill>
                  <a:effectLst/>
                  <a:uLnTx/>
                  <a:uFillTx/>
                  <a:latin typeface="Arial"/>
                  <a:ea typeface="Osaka"/>
                </a:rPr>
                <a:t>Page Table</a:t>
              </a:r>
            </a:p>
          </p:txBody>
        </p:sp>
      </p:grpSp>
      <p:grpSp>
        <p:nvGrpSpPr>
          <p:cNvPr id="92" name="Group 91"/>
          <p:cNvGrpSpPr/>
          <p:nvPr/>
        </p:nvGrpSpPr>
        <p:grpSpPr>
          <a:xfrm>
            <a:off x="2819167" y="3124200"/>
            <a:ext cx="914633" cy="1879431"/>
            <a:chOff x="1371600" y="1752600"/>
            <a:chExt cx="914633" cy="1879431"/>
          </a:xfrm>
          <a:noFill/>
        </p:grpSpPr>
        <p:sp>
          <p:nvSpPr>
            <p:cNvPr id="159" name="Rectangle 158"/>
            <p:cNvSpPr/>
            <p:nvPr/>
          </p:nvSpPr>
          <p:spPr>
            <a:xfrm>
              <a:off x="1371600" y="1752600"/>
              <a:ext cx="914400" cy="1828800"/>
            </a:xfrm>
            <a:prstGeom prst="rect">
              <a:avLst/>
            </a:prstGeom>
            <a:grp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vert27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25000" noProof="0">
                <a:ln>
                  <a:noFill/>
                </a:ln>
                <a:solidFill>
                  <a:srgbClr val="FFFFFF"/>
                </a:solidFill>
                <a:effectLst/>
                <a:uLnTx/>
                <a:uFillTx/>
                <a:latin typeface="Arial"/>
                <a:ea typeface="Osaka"/>
              </a:endParaRPr>
            </a:p>
          </p:txBody>
        </p:sp>
        <p:cxnSp>
          <p:nvCxnSpPr>
            <p:cNvPr id="160" name="Straight Connector 159"/>
            <p:cNvCxnSpPr/>
            <p:nvPr/>
          </p:nvCxnSpPr>
          <p:spPr>
            <a:xfrm>
              <a:off x="1371600" y="17526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a:off x="1371600" y="19812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62" name="Straight Connector 161"/>
            <p:cNvCxnSpPr/>
            <p:nvPr/>
          </p:nvCxnSpPr>
          <p:spPr>
            <a:xfrm>
              <a:off x="1371600" y="22098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a:xfrm>
              <a:off x="1371600" y="24384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a:xfrm>
              <a:off x="1371600" y="26670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a:xfrm>
              <a:off x="1371600" y="28956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a:xfrm>
              <a:off x="1371600" y="31242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sp>
          <p:nvSpPr>
            <p:cNvPr id="167" name="TextBox 49"/>
            <p:cNvSpPr txBox="1"/>
            <p:nvPr/>
          </p:nvSpPr>
          <p:spPr>
            <a:xfrm>
              <a:off x="1419073" y="3124200"/>
              <a:ext cx="867160" cy="507831"/>
            </a:xfrm>
            <a:prstGeom prst="rect">
              <a:avLst/>
            </a:prstGeom>
            <a:grp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25000" noProof="0" dirty="0">
                  <a:ln>
                    <a:noFill/>
                  </a:ln>
                  <a:solidFill>
                    <a:srgbClr val="FFFFFF"/>
                  </a:solidFill>
                  <a:effectLst/>
                  <a:uLnTx/>
                  <a:uFillTx/>
                  <a:latin typeface="Arial"/>
                  <a:ea typeface="Osaka"/>
                </a:rPr>
                <a:t>Shadow</a:t>
              </a:r>
              <a:endParaRPr kumimoji="0" lang="en-US" sz="1400" b="1" i="0" u="none" strike="noStrike" kern="1200" cap="none" spc="0" normalizeH="0" baseline="-25000" noProof="0" dirty="0">
                <a:ln>
                  <a:noFill/>
                </a:ln>
                <a:solidFill>
                  <a:srgbClr val="FFFFFF"/>
                </a:solidFill>
                <a:effectLst/>
                <a:uLnTx/>
                <a:uFillTx/>
                <a:latin typeface="Arial"/>
                <a:ea typeface="Osaka"/>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50" b="1" i="0" u="none" strike="noStrike" kern="1200" cap="none" spc="0" normalizeH="0" baseline="-25000" noProof="0" dirty="0">
                  <a:ln>
                    <a:noFill/>
                  </a:ln>
                  <a:solidFill>
                    <a:srgbClr val="FFFFFF"/>
                  </a:solidFill>
                  <a:effectLst/>
                  <a:uLnTx/>
                  <a:uFillTx/>
                  <a:latin typeface="Arial"/>
                  <a:ea typeface="Osaka"/>
                </a:rPr>
                <a:t>Page Table</a:t>
              </a:r>
            </a:p>
          </p:txBody>
        </p:sp>
      </p:grpSp>
      <p:grpSp>
        <p:nvGrpSpPr>
          <p:cNvPr id="93" name="Group 92"/>
          <p:cNvGrpSpPr/>
          <p:nvPr/>
        </p:nvGrpSpPr>
        <p:grpSpPr>
          <a:xfrm>
            <a:off x="4343167" y="609600"/>
            <a:ext cx="914400" cy="1879431"/>
            <a:chOff x="1371600" y="1752600"/>
            <a:chExt cx="914400" cy="1879431"/>
          </a:xfrm>
          <a:noFill/>
        </p:grpSpPr>
        <p:sp>
          <p:nvSpPr>
            <p:cNvPr id="150" name="Rectangle 149"/>
            <p:cNvSpPr/>
            <p:nvPr/>
          </p:nvSpPr>
          <p:spPr>
            <a:xfrm>
              <a:off x="1371600" y="1752600"/>
              <a:ext cx="914400" cy="1828800"/>
            </a:xfrm>
            <a:prstGeom prst="rect">
              <a:avLst/>
            </a:prstGeom>
            <a:grp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vert27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25000" noProof="0">
                <a:ln>
                  <a:noFill/>
                </a:ln>
                <a:solidFill>
                  <a:srgbClr val="FFFFFF"/>
                </a:solidFill>
                <a:effectLst/>
                <a:uLnTx/>
                <a:uFillTx/>
                <a:latin typeface="Arial"/>
                <a:ea typeface="Osaka"/>
              </a:endParaRPr>
            </a:p>
          </p:txBody>
        </p:sp>
        <p:cxnSp>
          <p:nvCxnSpPr>
            <p:cNvPr id="151" name="Straight Connector 150"/>
            <p:cNvCxnSpPr/>
            <p:nvPr/>
          </p:nvCxnSpPr>
          <p:spPr>
            <a:xfrm>
              <a:off x="1371600" y="17526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52" name="Straight Connector 151"/>
            <p:cNvCxnSpPr/>
            <p:nvPr/>
          </p:nvCxnSpPr>
          <p:spPr>
            <a:xfrm>
              <a:off x="1371600" y="19812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53" name="Straight Connector 152"/>
            <p:cNvCxnSpPr/>
            <p:nvPr/>
          </p:nvCxnSpPr>
          <p:spPr>
            <a:xfrm>
              <a:off x="1371600" y="22098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54" name="Straight Connector 153"/>
            <p:cNvCxnSpPr/>
            <p:nvPr/>
          </p:nvCxnSpPr>
          <p:spPr>
            <a:xfrm>
              <a:off x="1371600" y="24384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55" name="Straight Connector 154"/>
            <p:cNvCxnSpPr/>
            <p:nvPr/>
          </p:nvCxnSpPr>
          <p:spPr>
            <a:xfrm>
              <a:off x="1371600" y="26670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56" name="Straight Connector 155"/>
            <p:cNvCxnSpPr/>
            <p:nvPr/>
          </p:nvCxnSpPr>
          <p:spPr>
            <a:xfrm>
              <a:off x="1371600" y="28956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57" name="Straight Connector 156"/>
            <p:cNvCxnSpPr/>
            <p:nvPr/>
          </p:nvCxnSpPr>
          <p:spPr>
            <a:xfrm>
              <a:off x="1371600" y="31242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sp>
          <p:nvSpPr>
            <p:cNvPr id="158" name="TextBox 60"/>
            <p:cNvSpPr txBox="1"/>
            <p:nvPr/>
          </p:nvSpPr>
          <p:spPr>
            <a:xfrm>
              <a:off x="1419073" y="3124200"/>
              <a:ext cx="819455" cy="507831"/>
            </a:xfrm>
            <a:prstGeom prst="rect">
              <a:avLst/>
            </a:prstGeom>
            <a:grp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25000" noProof="0" dirty="0">
                  <a:ln>
                    <a:noFill/>
                  </a:ln>
                  <a:solidFill>
                    <a:srgbClr val="FFFFFF"/>
                  </a:solidFill>
                  <a:effectLst/>
                  <a:uLnTx/>
                  <a:uFillTx/>
                  <a:latin typeface="Arial"/>
                  <a:ea typeface="Osaka"/>
                </a:rPr>
                <a:t>Guest</a:t>
              </a:r>
              <a:endParaRPr kumimoji="0" lang="en-US" sz="1400" b="1" i="0" u="none" strike="noStrike" kern="1200" cap="none" spc="0" normalizeH="0" baseline="-25000" noProof="0" dirty="0">
                <a:ln>
                  <a:noFill/>
                </a:ln>
                <a:solidFill>
                  <a:srgbClr val="FFFFFF"/>
                </a:solidFill>
                <a:effectLst/>
                <a:uLnTx/>
                <a:uFillTx/>
                <a:latin typeface="Arial"/>
                <a:ea typeface="Osaka"/>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50" b="1" i="0" u="none" strike="noStrike" kern="1200" cap="none" spc="0" normalizeH="0" baseline="-25000" noProof="0" dirty="0">
                  <a:ln>
                    <a:noFill/>
                  </a:ln>
                  <a:solidFill>
                    <a:srgbClr val="FFFFFF"/>
                  </a:solidFill>
                  <a:effectLst/>
                  <a:uLnTx/>
                  <a:uFillTx/>
                  <a:latin typeface="Arial"/>
                  <a:ea typeface="Osaka"/>
                </a:rPr>
                <a:t>Page Table</a:t>
              </a:r>
            </a:p>
          </p:txBody>
        </p:sp>
      </p:grpSp>
      <p:grpSp>
        <p:nvGrpSpPr>
          <p:cNvPr id="94" name="Group 93"/>
          <p:cNvGrpSpPr/>
          <p:nvPr/>
        </p:nvGrpSpPr>
        <p:grpSpPr>
          <a:xfrm>
            <a:off x="5867167" y="609600"/>
            <a:ext cx="914400" cy="1879431"/>
            <a:chOff x="1371600" y="1752600"/>
            <a:chExt cx="914400" cy="1879431"/>
          </a:xfrm>
          <a:noFill/>
        </p:grpSpPr>
        <p:sp>
          <p:nvSpPr>
            <p:cNvPr id="141" name="Rectangle 140"/>
            <p:cNvSpPr/>
            <p:nvPr/>
          </p:nvSpPr>
          <p:spPr>
            <a:xfrm>
              <a:off x="1371600" y="1752600"/>
              <a:ext cx="914400" cy="1828800"/>
            </a:xfrm>
            <a:prstGeom prst="rect">
              <a:avLst/>
            </a:prstGeom>
            <a:grp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vert27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25000" noProof="0">
                <a:ln>
                  <a:noFill/>
                </a:ln>
                <a:solidFill>
                  <a:srgbClr val="FFFFFF"/>
                </a:solidFill>
                <a:effectLst/>
                <a:uLnTx/>
                <a:uFillTx/>
                <a:latin typeface="Arial"/>
                <a:ea typeface="Osaka"/>
              </a:endParaRPr>
            </a:p>
          </p:txBody>
        </p:sp>
        <p:cxnSp>
          <p:nvCxnSpPr>
            <p:cNvPr id="142" name="Straight Connector 141"/>
            <p:cNvCxnSpPr/>
            <p:nvPr/>
          </p:nvCxnSpPr>
          <p:spPr>
            <a:xfrm>
              <a:off x="1371600" y="17526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a:xfrm>
              <a:off x="1371600" y="19812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a:xfrm>
              <a:off x="1371600" y="22098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a:xfrm>
              <a:off x="1371600" y="24384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a:xfrm>
              <a:off x="1371600" y="26670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47" name="Straight Connector 146"/>
            <p:cNvCxnSpPr/>
            <p:nvPr/>
          </p:nvCxnSpPr>
          <p:spPr>
            <a:xfrm>
              <a:off x="1371600" y="28956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48" name="Straight Connector 147"/>
            <p:cNvCxnSpPr/>
            <p:nvPr/>
          </p:nvCxnSpPr>
          <p:spPr>
            <a:xfrm>
              <a:off x="1371600" y="31242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sp>
          <p:nvSpPr>
            <p:cNvPr id="149" name="TextBox 70"/>
            <p:cNvSpPr txBox="1"/>
            <p:nvPr/>
          </p:nvSpPr>
          <p:spPr>
            <a:xfrm>
              <a:off x="1419073" y="3124200"/>
              <a:ext cx="819455" cy="507831"/>
            </a:xfrm>
            <a:prstGeom prst="rect">
              <a:avLst/>
            </a:prstGeom>
            <a:grp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25000" noProof="0" dirty="0">
                  <a:ln>
                    <a:noFill/>
                  </a:ln>
                  <a:solidFill>
                    <a:srgbClr val="FFFFFF"/>
                  </a:solidFill>
                  <a:effectLst/>
                  <a:uLnTx/>
                  <a:uFillTx/>
                  <a:latin typeface="Arial"/>
                  <a:ea typeface="Osaka"/>
                </a:rPr>
                <a:t>Guest</a:t>
              </a:r>
              <a:endParaRPr kumimoji="0" lang="en-US" sz="1400" b="1" i="0" u="none" strike="noStrike" kern="1200" cap="none" spc="0" normalizeH="0" baseline="-25000" noProof="0" dirty="0">
                <a:ln>
                  <a:noFill/>
                </a:ln>
                <a:solidFill>
                  <a:srgbClr val="FFFFFF"/>
                </a:solidFill>
                <a:effectLst/>
                <a:uLnTx/>
                <a:uFillTx/>
                <a:latin typeface="Arial"/>
                <a:ea typeface="Osaka"/>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50" b="1" i="0" u="none" strike="noStrike" kern="1200" cap="none" spc="0" normalizeH="0" baseline="-25000" noProof="0" dirty="0">
                  <a:ln>
                    <a:noFill/>
                  </a:ln>
                  <a:solidFill>
                    <a:srgbClr val="FFFFFF"/>
                  </a:solidFill>
                  <a:effectLst/>
                  <a:uLnTx/>
                  <a:uFillTx/>
                  <a:latin typeface="Arial"/>
                  <a:ea typeface="Osaka"/>
                </a:rPr>
                <a:t>Page Table</a:t>
              </a:r>
            </a:p>
          </p:txBody>
        </p:sp>
      </p:grpSp>
      <p:grpSp>
        <p:nvGrpSpPr>
          <p:cNvPr id="95" name="Group 94"/>
          <p:cNvGrpSpPr/>
          <p:nvPr/>
        </p:nvGrpSpPr>
        <p:grpSpPr>
          <a:xfrm>
            <a:off x="4343167" y="3124200"/>
            <a:ext cx="914633" cy="1879431"/>
            <a:chOff x="1371600" y="1752600"/>
            <a:chExt cx="914633" cy="1879431"/>
          </a:xfrm>
          <a:noFill/>
        </p:grpSpPr>
        <p:sp>
          <p:nvSpPr>
            <p:cNvPr id="132" name="Rectangle 131"/>
            <p:cNvSpPr/>
            <p:nvPr/>
          </p:nvSpPr>
          <p:spPr>
            <a:xfrm>
              <a:off x="1371600" y="1752600"/>
              <a:ext cx="914400" cy="1828800"/>
            </a:xfrm>
            <a:prstGeom prst="rect">
              <a:avLst/>
            </a:prstGeom>
            <a:grp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vert27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25000" noProof="0">
                <a:ln>
                  <a:noFill/>
                </a:ln>
                <a:solidFill>
                  <a:srgbClr val="FFFFFF"/>
                </a:solidFill>
                <a:effectLst/>
                <a:uLnTx/>
                <a:uFillTx/>
                <a:latin typeface="Arial"/>
                <a:ea typeface="Osaka"/>
              </a:endParaRPr>
            </a:p>
          </p:txBody>
        </p:sp>
        <p:cxnSp>
          <p:nvCxnSpPr>
            <p:cNvPr id="133" name="Straight Connector 132"/>
            <p:cNvCxnSpPr/>
            <p:nvPr/>
          </p:nvCxnSpPr>
          <p:spPr>
            <a:xfrm>
              <a:off x="1371600" y="17526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371600" y="19812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371600" y="22098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371600" y="24384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371600" y="26670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a:xfrm>
              <a:off x="1371600" y="28956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a:xfrm>
              <a:off x="1371600" y="31242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sp>
          <p:nvSpPr>
            <p:cNvPr id="140" name="TextBox 90"/>
            <p:cNvSpPr txBox="1"/>
            <p:nvPr/>
          </p:nvSpPr>
          <p:spPr>
            <a:xfrm>
              <a:off x="1419073" y="3124200"/>
              <a:ext cx="867160" cy="507831"/>
            </a:xfrm>
            <a:prstGeom prst="rect">
              <a:avLst/>
            </a:prstGeom>
            <a:grp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25000" noProof="0" dirty="0">
                  <a:ln>
                    <a:noFill/>
                  </a:ln>
                  <a:solidFill>
                    <a:srgbClr val="FFFFFF"/>
                  </a:solidFill>
                  <a:effectLst/>
                  <a:uLnTx/>
                  <a:uFillTx/>
                  <a:latin typeface="Arial"/>
                  <a:ea typeface="Osaka"/>
                </a:rPr>
                <a:t>Shadow</a:t>
              </a:r>
              <a:endParaRPr kumimoji="0" lang="en-US" sz="1400" b="1" i="0" u="none" strike="noStrike" kern="1200" cap="none" spc="0" normalizeH="0" baseline="-25000" noProof="0" dirty="0">
                <a:ln>
                  <a:noFill/>
                </a:ln>
                <a:solidFill>
                  <a:srgbClr val="FFFFFF"/>
                </a:solidFill>
                <a:effectLst/>
                <a:uLnTx/>
                <a:uFillTx/>
                <a:latin typeface="Arial"/>
                <a:ea typeface="Osaka"/>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50" b="1" i="0" u="none" strike="noStrike" kern="1200" cap="none" spc="0" normalizeH="0" baseline="-25000" noProof="0" dirty="0">
                  <a:ln>
                    <a:noFill/>
                  </a:ln>
                  <a:solidFill>
                    <a:srgbClr val="FFFFFF"/>
                  </a:solidFill>
                  <a:effectLst/>
                  <a:uLnTx/>
                  <a:uFillTx/>
                  <a:latin typeface="Arial"/>
                  <a:ea typeface="Osaka"/>
                </a:rPr>
                <a:t>Page Table</a:t>
              </a:r>
            </a:p>
          </p:txBody>
        </p:sp>
      </p:grpSp>
      <p:grpSp>
        <p:nvGrpSpPr>
          <p:cNvPr id="96" name="Group 95"/>
          <p:cNvGrpSpPr/>
          <p:nvPr/>
        </p:nvGrpSpPr>
        <p:grpSpPr>
          <a:xfrm>
            <a:off x="5867167" y="3124200"/>
            <a:ext cx="914633" cy="1879431"/>
            <a:chOff x="1371600" y="1752600"/>
            <a:chExt cx="914633" cy="1879431"/>
          </a:xfrm>
          <a:noFill/>
        </p:grpSpPr>
        <p:sp>
          <p:nvSpPr>
            <p:cNvPr id="123" name="Rectangle 122"/>
            <p:cNvSpPr/>
            <p:nvPr/>
          </p:nvSpPr>
          <p:spPr>
            <a:xfrm>
              <a:off x="1371600" y="1752600"/>
              <a:ext cx="914400" cy="1828800"/>
            </a:xfrm>
            <a:prstGeom prst="rect">
              <a:avLst/>
            </a:prstGeom>
            <a:grp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vert27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25000" noProof="0">
                <a:ln>
                  <a:noFill/>
                </a:ln>
                <a:solidFill>
                  <a:srgbClr val="FFFFFF"/>
                </a:solidFill>
                <a:effectLst/>
                <a:uLnTx/>
                <a:uFillTx/>
                <a:latin typeface="Arial"/>
                <a:ea typeface="Osaka"/>
              </a:endParaRPr>
            </a:p>
          </p:txBody>
        </p:sp>
        <p:cxnSp>
          <p:nvCxnSpPr>
            <p:cNvPr id="124" name="Straight Connector 123"/>
            <p:cNvCxnSpPr/>
            <p:nvPr/>
          </p:nvCxnSpPr>
          <p:spPr>
            <a:xfrm>
              <a:off x="1371600" y="17526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a:off x="1371600" y="19812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a:off x="1371600" y="22098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a:off x="1371600" y="24384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a:xfrm>
              <a:off x="1371600" y="26670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a:off x="1371600" y="28956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a:xfrm>
              <a:off x="1371600" y="3124200"/>
              <a:ext cx="914400" cy="1588"/>
            </a:xfrm>
            <a:prstGeom prst="line">
              <a:avLst/>
            </a:prstGeom>
            <a:grpFill/>
            <a:ln w="19050">
              <a:solidFill>
                <a:schemeClr val="tx1"/>
              </a:solidFill>
            </a:ln>
            <a:effectLst/>
          </p:spPr>
          <p:style>
            <a:lnRef idx="1">
              <a:schemeClr val="accent1"/>
            </a:lnRef>
            <a:fillRef idx="0">
              <a:schemeClr val="accent1"/>
            </a:fillRef>
            <a:effectRef idx="0">
              <a:schemeClr val="accent1"/>
            </a:effectRef>
            <a:fontRef idx="minor">
              <a:schemeClr val="tx1"/>
            </a:fontRef>
          </p:style>
        </p:cxnSp>
        <p:sp>
          <p:nvSpPr>
            <p:cNvPr id="131" name="TextBox 100"/>
            <p:cNvSpPr txBox="1"/>
            <p:nvPr/>
          </p:nvSpPr>
          <p:spPr>
            <a:xfrm>
              <a:off x="1419073" y="3124200"/>
              <a:ext cx="867160" cy="507831"/>
            </a:xfrm>
            <a:prstGeom prst="rect">
              <a:avLst/>
            </a:prstGeom>
            <a:grp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25000" noProof="0" dirty="0">
                  <a:ln>
                    <a:noFill/>
                  </a:ln>
                  <a:solidFill>
                    <a:srgbClr val="FFFFFF"/>
                  </a:solidFill>
                  <a:effectLst/>
                  <a:uLnTx/>
                  <a:uFillTx/>
                  <a:latin typeface="Arial"/>
                  <a:ea typeface="Osaka"/>
                </a:rPr>
                <a:t>Shadow</a:t>
              </a:r>
              <a:endParaRPr kumimoji="0" lang="en-US" sz="1400" b="1" i="0" u="none" strike="noStrike" kern="1200" cap="none" spc="0" normalizeH="0" baseline="-25000" noProof="0" dirty="0">
                <a:ln>
                  <a:noFill/>
                </a:ln>
                <a:solidFill>
                  <a:srgbClr val="FFFFFF"/>
                </a:solidFill>
                <a:effectLst/>
                <a:uLnTx/>
                <a:uFillTx/>
                <a:latin typeface="Arial"/>
                <a:ea typeface="Osaka"/>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50" b="1" i="0" u="none" strike="noStrike" kern="1200" cap="none" spc="0" normalizeH="0" baseline="-25000" noProof="0" dirty="0">
                  <a:ln>
                    <a:noFill/>
                  </a:ln>
                  <a:solidFill>
                    <a:srgbClr val="FFFFFF"/>
                  </a:solidFill>
                  <a:effectLst/>
                  <a:uLnTx/>
                  <a:uFillTx/>
                  <a:latin typeface="Arial"/>
                  <a:ea typeface="Osaka"/>
                </a:rPr>
                <a:t>Page Table</a:t>
              </a:r>
            </a:p>
          </p:txBody>
        </p:sp>
      </p:grpSp>
      <p:cxnSp>
        <p:nvCxnSpPr>
          <p:cNvPr id="97" name="Straight Arrow Connector 96"/>
          <p:cNvCxnSpPr/>
          <p:nvPr/>
        </p:nvCxnSpPr>
        <p:spPr>
          <a:xfrm rot="5400000">
            <a:off x="2933467" y="2781300"/>
            <a:ext cx="685800" cy="1588"/>
          </a:xfrm>
          <a:prstGeom prst="straightConnector1">
            <a:avLst/>
          </a:prstGeom>
          <a:ln w="57150">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Straight Arrow Connector 97"/>
          <p:cNvCxnSpPr/>
          <p:nvPr/>
        </p:nvCxnSpPr>
        <p:spPr>
          <a:xfrm rot="5400000">
            <a:off x="4457467" y="2781300"/>
            <a:ext cx="685800" cy="1588"/>
          </a:xfrm>
          <a:prstGeom prst="straightConnector1">
            <a:avLst/>
          </a:prstGeom>
          <a:ln w="57150">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Straight Arrow Connector 98"/>
          <p:cNvCxnSpPr/>
          <p:nvPr/>
        </p:nvCxnSpPr>
        <p:spPr>
          <a:xfrm rot="5400000">
            <a:off x="5981467" y="2781300"/>
            <a:ext cx="685800" cy="1588"/>
          </a:xfrm>
          <a:prstGeom prst="straightConnector1">
            <a:avLst/>
          </a:prstGeom>
          <a:ln w="57150">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0" name="Rectangle 99"/>
          <p:cNvSpPr/>
          <p:nvPr/>
        </p:nvSpPr>
        <p:spPr>
          <a:xfrm>
            <a:off x="2819167" y="838200"/>
            <a:ext cx="914400" cy="228600"/>
          </a:xfrm>
          <a:prstGeom prst="rect">
            <a:avLst/>
          </a:prstGeom>
          <a:solidFill>
            <a:schemeClr val="bg2">
              <a:lumMod val="90000"/>
            </a:schemeClr>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sp>
        <p:nvSpPr>
          <p:cNvPr id="101" name="Rectangle 100"/>
          <p:cNvSpPr/>
          <p:nvPr/>
        </p:nvSpPr>
        <p:spPr>
          <a:xfrm>
            <a:off x="2819167" y="1066800"/>
            <a:ext cx="914400" cy="228600"/>
          </a:xfrm>
          <a:prstGeom prst="rect">
            <a:avLst/>
          </a:prstGeom>
          <a:solidFill>
            <a:schemeClr val="bg2">
              <a:lumMod val="90000"/>
            </a:schemeClr>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sp>
        <p:nvSpPr>
          <p:cNvPr id="102" name="Rectangle 101"/>
          <p:cNvSpPr/>
          <p:nvPr/>
        </p:nvSpPr>
        <p:spPr>
          <a:xfrm>
            <a:off x="2819167" y="1524000"/>
            <a:ext cx="914400" cy="228600"/>
          </a:xfrm>
          <a:prstGeom prst="rect">
            <a:avLst/>
          </a:prstGeom>
          <a:solidFill>
            <a:schemeClr val="bg2">
              <a:lumMod val="90000"/>
            </a:schemeClr>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sp>
        <p:nvSpPr>
          <p:cNvPr id="103" name="Rectangle 102"/>
          <p:cNvSpPr/>
          <p:nvPr/>
        </p:nvSpPr>
        <p:spPr>
          <a:xfrm>
            <a:off x="5867167" y="1752600"/>
            <a:ext cx="914400" cy="228600"/>
          </a:xfrm>
          <a:prstGeom prst="rect">
            <a:avLst/>
          </a:prstGeom>
          <a:solidFill>
            <a:schemeClr val="bg2">
              <a:lumMod val="90000"/>
            </a:schemeClr>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sp>
        <p:nvSpPr>
          <p:cNvPr id="104" name="Rectangle 103"/>
          <p:cNvSpPr/>
          <p:nvPr/>
        </p:nvSpPr>
        <p:spPr>
          <a:xfrm>
            <a:off x="5867167" y="838200"/>
            <a:ext cx="914400" cy="228600"/>
          </a:xfrm>
          <a:prstGeom prst="rect">
            <a:avLst/>
          </a:prstGeom>
          <a:solidFill>
            <a:schemeClr val="bg2">
              <a:lumMod val="90000"/>
            </a:schemeClr>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sp>
        <p:nvSpPr>
          <p:cNvPr id="105" name="Rectangle 104"/>
          <p:cNvSpPr/>
          <p:nvPr/>
        </p:nvSpPr>
        <p:spPr>
          <a:xfrm>
            <a:off x="4343167" y="1524000"/>
            <a:ext cx="914400" cy="228600"/>
          </a:xfrm>
          <a:prstGeom prst="rect">
            <a:avLst/>
          </a:prstGeom>
          <a:solidFill>
            <a:schemeClr val="bg2">
              <a:lumMod val="90000"/>
            </a:schemeClr>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sp>
        <p:nvSpPr>
          <p:cNvPr id="106" name="Rectangle 105"/>
          <p:cNvSpPr/>
          <p:nvPr/>
        </p:nvSpPr>
        <p:spPr>
          <a:xfrm>
            <a:off x="4343167" y="1295400"/>
            <a:ext cx="914400" cy="228600"/>
          </a:xfrm>
          <a:prstGeom prst="rect">
            <a:avLst/>
          </a:prstGeom>
          <a:solidFill>
            <a:schemeClr val="bg2">
              <a:lumMod val="90000"/>
            </a:schemeClr>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sp>
        <p:nvSpPr>
          <p:cNvPr id="107" name="Rectangle 106"/>
          <p:cNvSpPr/>
          <p:nvPr/>
        </p:nvSpPr>
        <p:spPr>
          <a:xfrm>
            <a:off x="4343167" y="838200"/>
            <a:ext cx="914400" cy="228600"/>
          </a:xfrm>
          <a:prstGeom prst="rect">
            <a:avLst/>
          </a:prstGeom>
          <a:solidFill>
            <a:schemeClr val="bg2">
              <a:lumMod val="90000"/>
            </a:schemeClr>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sp>
        <p:nvSpPr>
          <p:cNvPr id="108" name="Rectangle 107"/>
          <p:cNvSpPr/>
          <p:nvPr/>
        </p:nvSpPr>
        <p:spPr>
          <a:xfrm>
            <a:off x="4343167" y="609600"/>
            <a:ext cx="914400" cy="228600"/>
          </a:xfrm>
          <a:prstGeom prst="rect">
            <a:avLst/>
          </a:prstGeom>
          <a:solidFill>
            <a:schemeClr val="bg2">
              <a:lumMod val="90000"/>
            </a:schemeClr>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sp>
        <p:nvSpPr>
          <p:cNvPr id="109" name="Rectangle 108"/>
          <p:cNvSpPr/>
          <p:nvPr/>
        </p:nvSpPr>
        <p:spPr>
          <a:xfrm>
            <a:off x="2819167" y="3352800"/>
            <a:ext cx="914400" cy="228600"/>
          </a:xfrm>
          <a:prstGeom prst="rect">
            <a:avLst/>
          </a:prstGeom>
          <a:solidFill>
            <a:schemeClr val="bg2">
              <a:lumMod val="75000"/>
            </a:schemeClr>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sp>
        <p:nvSpPr>
          <p:cNvPr id="110" name="Rectangle 109"/>
          <p:cNvSpPr/>
          <p:nvPr/>
        </p:nvSpPr>
        <p:spPr>
          <a:xfrm>
            <a:off x="2819167" y="3581400"/>
            <a:ext cx="914400" cy="228600"/>
          </a:xfrm>
          <a:prstGeom prst="rect">
            <a:avLst/>
          </a:prstGeom>
          <a:solidFill>
            <a:schemeClr val="bg2">
              <a:lumMod val="75000"/>
            </a:schemeClr>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sp>
        <p:nvSpPr>
          <p:cNvPr id="111" name="Rectangle 110"/>
          <p:cNvSpPr/>
          <p:nvPr/>
        </p:nvSpPr>
        <p:spPr>
          <a:xfrm>
            <a:off x="4343167" y="3124200"/>
            <a:ext cx="914400" cy="228600"/>
          </a:xfrm>
          <a:prstGeom prst="rect">
            <a:avLst/>
          </a:prstGeom>
          <a:solidFill>
            <a:schemeClr val="bg2">
              <a:lumMod val="75000"/>
            </a:schemeClr>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sp>
        <p:nvSpPr>
          <p:cNvPr id="112" name="Rectangle 111"/>
          <p:cNvSpPr/>
          <p:nvPr/>
        </p:nvSpPr>
        <p:spPr>
          <a:xfrm>
            <a:off x="4343167" y="3810000"/>
            <a:ext cx="914400" cy="228600"/>
          </a:xfrm>
          <a:prstGeom prst="rect">
            <a:avLst/>
          </a:prstGeom>
          <a:solidFill>
            <a:schemeClr val="bg2">
              <a:lumMod val="75000"/>
            </a:schemeClr>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sp>
        <p:nvSpPr>
          <p:cNvPr id="113" name="Rectangle 112"/>
          <p:cNvSpPr/>
          <p:nvPr/>
        </p:nvSpPr>
        <p:spPr>
          <a:xfrm>
            <a:off x="5867167" y="3352800"/>
            <a:ext cx="914400" cy="228600"/>
          </a:xfrm>
          <a:prstGeom prst="rect">
            <a:avLst/>
          </a:prstGeom>
          <a:solidFill>
            <a:schemeClr val="bg2">
              <a:lumMod val="75000"/>
            </a:schemeClr>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sp>
        <p:nvSpPr>
          <p:cNvPr id="114" name="Rectangle 113"/>
          <p:cNvSpPr/>
          <p:nvPr/>
        </p:nvSpPr>
        <p:spPr>
          <a:xfrm>
            <a:off x="5867167" y="4267200"/>
            <a:ext cx="914400" cy="228600"/>
          </a:xfrm>
          <a:prstGeom prst="rect">
            <a:avLst/>
          </a:prstGeom>
          <a:solidFill>
            <a:schemeClr val="bg2">
              <a:lumMod val="75000"/>
            </a:schemeClr>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sp>
        <p:nvSpPr>
          <p:cNvPr id="115" name="Rectangle 114"/>
          <p:cNvSpPr/>
          <p:nvPr/>
        </p:nvSpPr>
        <p:spPr>
          <a:xfrm>
            <a:off x="1447567" y="1828800"/>
            <a:ext cx="914400" cy="304800"/>
          </a:xfrm>
          <a:prstGeom prst="rect">
            <a:avLst/>
          </a:prstGeom>
          <a:solidFill>
            <a:schemeClr val="bg2"/>
          </a:solidFill>
          <a:ln w="9525">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sp>
        <p:nvSpPr>
          <p:cNvPr id="116" name="TextBox 136"/>
          <p:cNvSpPr txBox="1"/>
          <p:nvPr/>
        </p:nvSpPr>
        <p:spPr>
          <a:xfrm>
            <a:off x="1371367" y="2133600"/>
            <a:ext cx="1094427"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25000" noProof="0" dirty="0">
                <a:ln>
                  <a:noFill/>
                </a:ln>
                <a:solidFill>
                  <a:srgbClr val="FFFFFF"/>
                </a:solidFill>
                <a:effectLst/>
                <a:uLnTx/>
                <a:uFillTx/>
                <a:latin typeface="Arial"/>
                <a:ea typeface="Osaka"/>
              </a:rPr>
              <a:t>Virtual CR3</a:t>
            </a:r>
          </a:p>
        </p:txBody>
      </p:sp>
      <p:sp>
        <p:nvSpPr>
          <p:cNvPr id="117" name="TextBox 138"/>
          <p:cNvSpPr txBox="1"/>
          <p:nvPr/>
        </p:nvSpPr>
        <p:spPr>
          <a:xfrm>
            <a:off x="1447567" y="3048000"/>
            <a:ext cx="1094427"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25000" noProof="0" dirty="0">
                <a:ln>
                  <a:noFill/>
                </a:ln>
                <a:solidFill>
                  <a:srgbClr val="FFFFFF"/>
                </a:solidFill>
                <a:effectLst/>
                <a:uLnTx/>
                <a:uFillTx/>
                <a:latin typeface="Arial"/>
                <a:ea typeface="Osaka"/>
              </a:rPr>
              <a:t>Real CR3</a:t>
            </a:r>
          </a:p>
        </p:txBody>
      </p:sp>
      <p:cxnSp>
        <p:nvCxnSpPr>
          <p:cNvPr id="118" name="Elbow Connector 117"/>
          <p:cNvCxnSpPr>
            <a:stCxn id="119" idx="0"/>
          </p:cNvCxnSpPr>
          <p:nvPr/>
        </p:nvCxnSpPr>
        <p:spPr>
          <a:xfrm rot="5400000" flipH="1" flipV="1">
            <a:off x="3466867" y="-952500"/>
            <a:ext cx="1295400" cy="4419600"/>
          </a:xfrm>
          <a:prstGeom prst="bentConnector3">
            <a:avLst>
              <a:gd name="adj1" fmla="val 124949"/>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9" name="Oval 118"/>
          <p:cNvSpPr/>
          <p:nvPr/>
        </p:nvSpPr>
        <p:spPr>
          <a:xfrm>
            <a:off x="1828567" y="1905000"/>
            <a:ext cx="152400" cy="152400"/>
          </a:xfrm>
          <a:prstGeom prst="ellipse">
            <a:avLst/>
          </a:prstGeom>
          <a:solidFill>
            <a:schemeClr val="tx1"/>
          </a:solidFill>
          <a:ln w="9525">
            <a:no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sp>
        <p:nvSpPr>
          <p:cNvPr id="120" name="Rectangle 119"/>
          <p:cNvSpPr/>
          <p:nvPr/>
        </p:nvSpPr>
        <p:spPr>
          <a:xfrm>
            <a:off x="1523767" y="3352800"/>
            <a:ext cx="914400" cy="304800"/>
          </a:xfrm>
          <a:prstGeom prst="rect">
            <a:avLst/>
          </a:prstGeom>
          <a:solidFill>
            <a:schemeClr val="bg2"/>
          </a:solidFill>
          <a:ln w="9525">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sp>
        <p:nvSpPr>
          <p:cNvPr id="121" name="Oval 120"/>
          <p:cNvSpPr/>
          <p:nvPr/>
        </p:nvSpPr>
        <p:spPr>
          <a:xfrm>
            <a:off x="1904767" y="3429000"/>
            <a:ext cx="152400" cy="152400"/>
          </a:xfrm>
          <a:prstGeom prst="ellipse">
            <a:avLst/>
          </a:prstGeom>
          <a:solidFill>
            <a:schemeClr val="tx1"/>
          </a:solidFill>
          <a:ln w="9525">
            <a:no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25000" noProof="0">
              <a:ln>
                <a:noFill/>
              </a:ln>
              <a:solidFill>
                <a:srgbClr val="FFFFFF"/>
              </a:solidFill>
              <a:effectLst/>
              <a:uLnTx/>
              <a:uFillTx/>
              <a:latin typeface="Arial"/>
              <a:ea typeface="Osaka"/>
            </a:endParaRPr>
          </a:p>
        </p:txBody>
      </p:sp>
      <p:cxnSp>
        <p:nvCxnSpPr>
          <p:cNvPr id="122" name="Elbow Connector 121"/>
          <p:cNvCxnSpPr>
            <a:stCxn id="121" idx="4"/>
          </p:cNvCxnSpPr>
          <p:nvPr/>
        </p:nvCxnSpPr>
        <p:spPr>
          <a:xfrm rot="16200000" flipH="1">
            <a:off x="3453478" y="2108888"/>
            <a:ext cx="1422231" cy="4367253"/>
          </a:xfrm>
          <a:prstGeom prst="bentConnector3">
            <a:avLst>
              <a:gd name="adj1" fmla="val 122724"/>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fld id="{66513D95-0569-4AD4-8706-96E6A7B867B5}" type="slidenum">
              <a:rPr kumimoji="0" lang="en-US" sz="1400" b="0" i="0" u="none" strike="noStrike" kern="1200" cap="none" spc="0" normalizeH="0" baseline="0" noProof="0" smtClean="0">
                <a:ln>
                  <a:noFill/>
                </a:ln>
                <a:solidFill>
                  <a:srgbClr val="FFFFFF"/>
                </a:solidFill>
                <a:effectLst/>
                <a:uLnTx/>
                <a:uFillTx/>
                <a:latin typeface="Arial" charset="0"/>
                <a:ea typeface="Osaka" charset="-128"/>
              </a:rPr>
              <a:pPr marL="0" marR="0" lvl="0" indent="0" algn="ctr" defTabSz="914400" rtl="0" eaLnBrk="0" fontAlgn="base" latinLnBrk="0" hangingPunct="0">
                <a:lnSpc>
                  <a:spcPct val="100000"/>
                </a:lnSpc>
                <a:spcBef>
                  <a:spcPct val="0"/>
                </a:spcBef>
                <a:spcAft>
                  <a:spcPct val="0"/>
                </a:spcAft>
                <a:buClrTx/>
                <a:buSzTx/>
                <a:buFontTx/>
                <a:buNone/>
                <a:tabLst/>
                <a:defRPr/>
              </a:pPr>
              <a:t>75</a:t>
            </a:fld>
            <a:endParaRPr kumimoji="0" lang="en-US" sz="1400" b="0" i="0" u="none" strike="noStrike" kern="1200" cap="none" spc="0" normalizeH="0" baseline="0" noProof="0">
              <a:ln>
                <a:noFill/>
              </a:ln>
              <a:solidFill>
                <a:srgbClr val="FFFFFF"/>
              </a:solidFill>
              <a:effectLst/>
              <a:uLnTx/>
              <a:uFillTx/>
              <a:latin typeface="Arial" charset="0"/>
              <a:ea typeface="Osaka" charset="-128"/>
            </a:endParaRPr>
          </a:p>
        </p:txBody>
      </p:sp>
    </p:spTree>
    <p:extLst>
      <p:ext uri="{BB962C8B-B14F-4D97-AF65-F5344CB8AC3E}">
        <p14:creationId xmlns:p14="http://schemas.microsoft.com/office/powerpoint/2010/main" val="172163988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90500"/>
            <a:ext cx="7772400" cy="1143000"/>
          </a:xfrm>
        </p:spPr>
        <p:txBody>
          <a:bodyPr/>
          <a:lstStyle/>
          <a:p>
            <a:r>
              <a:rPr lang="en-US" dirty="0"/>
              <a:t>Nested / Extended Page Tables</a:t>
            </a:r>
          </a:p>
        </p:txBody>
      </p:sp>
      <p:sp>
        <p:nvSpPr>
          <p:cNvPr id="3" name="Content Placeholder 2"/>
          <p:cNvSpPr>
            <a:spLocks noGrp="1"/>
          </p:cNvSpPr>
          <p:nvPr>
            <p:ph idx="1"/>
          </p:nvPr>
        </p:nvSpPr>
        <p:spPr>
          <a:xfrm>
            <a:off x="489857" y="1480457"/>
            <a:ext cx="8284029" cy="4767943"/>
          </a:xfrm>
        </p:spPr>
        <p:txBody>
          <a:bodyPr>
            <a:normAutofit lnSpcReduction="10000"/>
          </a:bodyPr>
          <a:lstStyle/>
          <a:p>
            <a:r>
              <a:rPr lang="en-US" sz="2400" dirty="0"/>
              <a:t>With the introduction of EPT, the VMM can now rely on hardware to eliminate the need for shadow page tables. This removes much of the overhead incurred to keep the shadow page tables up-to-date.</a:t>
            </a:r>
          </a:p>
          <a:p>
            <a:r>
              <a:rPr lang="en-US" sz="2400" b="1" dirty="0"/>
              <a:t>Extended page-table mechanism (EPT) </a:t>
            </a:r>
            <a:r>
              <a:rPr lang="en-US" sz="2400" dirty="0"/>
              <a:t>is used to support the </a:t>
            </a:r>
            <a:r>
              <a:rPr lang="en-US" sz="2400" b="1" dirty="0"/>
              <a:t>virtualization of physical memory</a:t>
            </a:r>
            <a:r>
              <a:rPr lang="en-US" sz="2400" dirty="0"/>
              <a:t>.</a:t>
            </a:r>
          </a:p>
          <a:p>
            <a:r>
              <a:rPr lang="en-US" sz="2400" dirty="0"/>
              <a:t>Translates the guest-physical addresses used in VMX non-root operation.</a:t>
            </a:r>
          </a:p>
          <a:p>
            <a:r>
              <a:rPr lang="en-US" sz="2400" dirty="0"/>
              <a:t>Guest-physical addresses are translated by traversing a set of EPT paging structures to produce physical addresses that are used to access memory.</a:t>
            </a:r>
          </a:p>
          <a:p>
            <a:r>
              <a:rPr lang="en-US" sz="2400" dirty="0"/>
              <a:t>REF: https://</a:t>
            </a:r>
            <a:r>
              <a:rPr lang="en-US" sz="2400" dirty="0" err="1"/>
              <a:t>www.vmware.com</a:t>
            </a:r>
            <a:r>
              <a:rPr lang="en-US" sz="2400" dirty="0"/>
              <a:t>/pdf/</a:t>
            </a:r>
            <a:r>
              <a:rPr lang="en-US" sz="2400" dirty="0" err="1"/>
              <a:t>Perf_ESX_Intel</a:t>
            </a:r>
            <a:r>
              <a:rPr lang="en-US" sz="2400" dirty="0"/>
              <a:t>-EPT-</a:t>
            </a:r>
            <a:r>
              <a:rPr lang="en-US" sz="2400" dirty="0" err="1"/>
              <a:t>eval.pdf</a:t>
            </a:r>
            <a:endParaRPr lang="en-US" sz="2400" dirty="0"/>
          </a:p>
        </p:txBody>
      </p:sp>
      <p:sp>
        <p:nvSpPr>
          <p:cNvPr id="4" name="Slide Number Placeholder 3"/>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66513D95-0569-4AD4-8706-96E6A7B867B5}" type="slidenum">
              <a:rPr kumimoji="0" lang="en-US" sz="1400" b="0" i="0" u="none" strike="noStrike" kern="1200" cap="none" spc="0" normalizeH="0" baseline="0" noProof="0" smtClean="0">
                <a:ln>
                  <a:noFill/>
                </a:ln>
                <a:solidFill>
                  <a:srgbClr val="FFFFFF"/>
                </a:solidFill>
                <a:effectLst/>
                <a:uLnTx/>
                <a:uFillTx/>
                <a:latin typeface="Arial" charset="0"/>
                <a:ea typeface="Osaka" charset="-128"/>
              </a:rPr>
              <a:pPr marL="0" marR="0" lvl="0" indent="0" algn="r" defTabSz="914400" rtl="0" eaLnBrk="0" fontAlgn="base" latinLnBrk="0" hangingPunct="0">
                <a:lnSpc>
                  <a:spcPct val="100000"/>
                </a:lnSpc>
                <a:spcBef>
                  <a:spcPct val="0"/>
                </a:spcBef>
                <a:spcAft>
                  <a:spcPct val="0"/>
                </a:spcAft>
                <a:buClrTx/>
                <a:buSzTx/>
                <a:buFontTx/>
                <a:buNone/>
                <a:tabLst/>
                <a:defRPr/>
              </a:pPr>
              <a:t>76</a:t>
            </a:fld>
            <a:endParaRPr kumimoji="0" lang="en-US" sz="1400" b="0" i="0" u="none" strike="noStrike" kern="1200" cap="none" spc="0" normalizeH="0" baseline="0" noProof="0">
              <a:ln>
                <a:noFill/>
              </a:ln>
              <a:solidFill>
                <a:srgbClr val="FFFFFF"/>
              </a:solidFill>
              <a:effectLst/>
              <a:uLnTx/>
              <a:uFillTx/>
              <a:latin typeface="Arial" charset="0"/>
              <a:ea typeface="Osaka" charset="-128"/>
            </a:endParaRPr>
          </a:p>
        </p:txBody>
      </p:sp>
    </p:spTree>
    <p:extLst>
      <p:ext uri="{BB962C8B-B14F-4D97-AF65-F5344CB8AC3E}">
        <p14:creationId xmlns:p14="http://schemas.microsoft.com/office/powerpoint/2010/main" val="80329089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72EF0-D5FF-F64B-A327-A6B3F22DFA87}"/>
              </a:ext>
            </a:extLst>
          </p:cNvPr>
          <p:cNvSpPr>
            <a:spLocks noGrp="1"/>
          </p:cNvSpPr>
          <p:nvPr>
            <p:ph type="title"/>
          </p:nvPr>
        </p:nvSpPr>
        <p:spPr>
          <a:xfrm>
            <a:off x="685800" y="54429"/>
            <a:ext cx="7772400" cy="1143000"/>
          </a:xfrm>
        </p:spPr>
        <p:txBody>
          <a:bodyPr/>
          <a:lstStyle/>
          <a:p>
            <a:r>
              <a:rPr lang="en-US" dirty="0"/>
              <a:t>Use of EPT</a:t>
            </a:r>
          </a:p>
        </p:txBody>
      </p:sp>
      <p:sp>
        <p:nvSpPr>
          <p:cNvPr id="3" name="Content Placeholder 2">
            <a:extLst>
              <a:ext uri="{FF2B5EF4-FFF2-40B4-BE49-F238E27FC236}">
                <a16:creationId xmlns:a16="http://schemas.microsoft.com/office/drawing/2014/main" id="{78A146EA-EC6A-5F4A-A0B1-FC498638D00E}"/>
              </a:ext>
            </a:extLst>
          </p:cNvPr>
          <p:cNvSpPr>
            <a:spLocks noGrp="1"/>
          </p:cNvSpPr>
          <p:nvPr>
            <p:ph idx="1"/>
          </p:nvPr>
        </p:nvSpPr>
        <p:spPr>
          <a:xfrm>
            <a:off x="261257" y="1197429"/>
            <a:ext cx="8665029" cy="5170714"/>
          </a:xfrm>
        </p:spPr>
        <p:txBody>
          <a:bodyPr/>
          <a:lstStyle/>
          <a:p>
            <a:r>
              <a:rPr lang="en-US" sz="2400" dirty="0"/>
              <a:t>guest operating system continues to maintain LPN-&gt;PPN mappings in the guest page tables, </a:t>
            </a:r>
            <a:r>
              <a:rPr lang="en-US" sz="2400" b="1" dirty="0"/>
              <a:t>but</a:t>
            </a:r>
            <a:r>
              <a:rPr lang="en-US" sz="2400" dirty="0"/>
              <a:t> </a:t>
            </a:r>
          </a:p>
          <a:p>
            <a:r>
              <a:rPr lang="en-US" sz="2400" dirty="0"/>
              <a:t>VMM maintains </a:t>
            </a:r>
            <a:r>
              <a:rPr lang="en-US" sz="2400" b="1" dirty="0"/>
              <a:t>PPN-&gt;MPN mappings</a:t>
            </a:r>
            <a:r>
              <a:rPr lang="en-US" sz="2400" dirty="0"/>
              <a:t> in an additional level of page tables, called </a:t>
            </a:r>
            <a:r>
              <a:rPr lang="en-US" sz="2400" b="1" dirty="0"/>
              <a:t>nested page </a:t>
            </a:r>
            <a:r>
              <a:rPr lang="en-US" sz="2400" dirty="0"/>
              <a:t>tables. </a:t>
            </a:r>
          </a:p>
          <a:p>
            <a:r>
              <a:rPr lang="en-US" sz="2400" dirty="0"/>
              <a:t>Both guest page tables and the nested page tables are exposed to hardware.</a:t>
            </a:r>
          </a:p>
          <a:p>
            <a:r>
              <a:rPr lang="en-US" sz="2400" dirty="0"/>
              <a:t>When logical address accessed, hardware walks guest page tables like native execution</a:t>
            </a:r>
          </a:p>
          <a:p>
            <a:pPr lvl="1"/>
            <a:r>
              <a:rPr lang="en-US" sz="2400" dirty="0"/>
              <a:t>for every PPN accessed during the guest page table walk,  hardware also walks nested page tables to determine corresponding MPN.</a:t>
            </a:r>
          </a:p>
          <a:p>
            <a:r>
              <a:rPr lang="en-US" sz="2400" b="1" dirty="0"/>
              <a:t>composite translation </a:t>
            </a:r>
            <a:r>
              <a:rPr lang="en-US" sz="2400" dirty="0"/>
              <a:t>eliminates need to maintain shadow page tables and synchronize them with guest page tables</a:t>
            </a:r>
          </a:p>
        </p:txBody>
      </p:sp>
      <p:sp>
        <p:nvSpPr>
          <p:cNvPr id="4" name="Slide Number Placeholder 3">
            <a:extLst>
              <a:ext uri="{FF2B5EF4-FFF2-40B4-BE49-F238E27FC236}">
                <a16:creationId xmlns:a16="http://schemas.microsoft.com/office/drawing/2014/main" id="{9F62333D-B122-404E-8EEB-76A94F367BE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7329EC-83B4-8A42-B6D8-8C023A66771E}" type="slidenum">
              <a:rPr kumimoji="0" lang="en-US" sz="1400" b="0" i="0" u="none" strike="noStrike" kern="1200" cap="none" spc="0" normalizeH="0" baseline="0" noProof="0" smtClean="0">
                <a:ln>
                  <a:noFill/>
                </a:ln>
                <a:solidFill>
                  <a:srgbClr val="FFFFFF"/>
                </a:solidFill>
                <a:effectLst/>
                <a:uLnTx/>
                <a:uFillTx/>
                <a:latin typeface="Arial"/>
                <a:ea typeface="Osaka" charset="-128"/>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en-US" sz="1400" b="0" i="0" u="none" strike="noStrike" kern="1200" cap="none" spc="0" normalizeH="0" baseline="0" noProof="0" dirty="0">
              <a:ln>
                <a:noFill/>
              </a:ln>
              <a:solidFill>
                <a:srgbClr val="FFFFFF"/>
              </a:solidFill>
              <a:effectLst/>
              <a:uLnTx/>
              <a:uFillTx/>
              <a:latin typeface="Arial"/>
              <a:ea typeface="Osaka" charset="-128"/>
            </a:endParaRPr>
          </a:p>
        </p:txBody>
      </p:sp>
    </p:spTree>
    <p:extLst>
      <p:ext uri="{BB962C8B-B14F-4D97-AF65-F5344CB8AC3E}">
        <p14:creationId xmlns:p14="http://schemas.microsoft.com/office/powerpoint/2010/main" val="355760438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3027"/>
            <a:ext cx="8436429" cy="705757"/>
          </a:xfrm>
        </p:spPr>
        <p:txBody>
          <a:bodyPr/>
          <a:lstStyle/>
          <a:p>
            <a:r>
              <a:rPr lang="en-US" sz="2800" dirty="0"/>
              <a:t>Nested / Extended Page Tables</a:t>
            </a:r>
          </a:p>
        </p:txBody>
      </p:sp>
      <p:pic>
        <p:nvPicPr>
          <p:cNvPr id="1026" name="Picture 2" descr="C:\Users\Rohan\Desktop\ept.jpg"/>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tretch>
            <a:fillRect/>
          </a:stretch>
        </p:blipFill>
        <p:spPr bwMode="auto">
          <a:xfrm>
            <a:off x="124653" y="1905000"/>
            <a:ext cx="9043814" cy="2886075"/>
          </a:xfrm>
          <a:prstGeom prst="rect">
            <a:avLst/>
          </a:prstGeom>
          <a:noFill/>
          <a:extLst>
            <a:ext uri="{909E8E84-426E-40dd-AFC4-6F175D3DCCD1}">
              <a14:hiddenFill xmlns=""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66513D95-0569-4AD4-8706-96E6A7B867B5}" type="slidenum">
              <a:rPr kumimoji="0" lang="en-US" sz="1400" b="0" i="0" u="none" strike="noStrike" kern="1200" cap="none" spc="0" normalizeH="0" baseline="0" noProof="0" smtClean="0">
                <a:ln>
                  <a:noFill/>
                </a:ln>
                <a:solidFill>
                  <a:srgbClr val="FFFFFF"/>
                </a:solidFill>
                <a:effectLst/>
                <a:uLnTx/>
                <a:uFillTx/>
                <a:latin typeface="Arial" charset="0"/>
                <a:ea typeface="Osaka" charset="-128"/>
              </a:rPr>
              <a:pPr marL="0" marR="0" lvl="0" indent="0" algn="r" defTabSz="914400" rtl="0" eaLnBrk="0" fontAlgn="base" latinLnBrk="0" hangingPunct="0">
                <a:lnSpc>
                  <a:spcPct val="100000"/>
                </a:lnSpc>
                <a:spcBef>
                  <a:spcPct val="0"/>
                </a:spcBef>
                <a:spcAft>
                  <a:spcPct val="0"/>
                </a:spcAft>
                <a:buClrTx/>
                <a:buSzTx/>
                <a:buFontTx/>
                <a:buNone/>
                <a:tabLst/>
                <a:defRPr/>
              </a:pPr>
              <a:t>78</a:t>
            </a:fld>
            <a:endParaRPr kumimoji="0" lang="en-US" sz="1400" b="0" i="0" u="none" strike="noStrike" kern="1200" cap="none" spc="0" normalizeH="0" baseline="0" noProof="0">
              <a:ln>
                <a:noFill/>
              </a:ln>
              <a:solidFill>
                <a:srgbClr val="FFFFFF"/>
              </a:solidFill>
              <a:effectLst/>
              <a:uLnTx/>
              <a:uFillTx/>
              <a:latin typeface="Arial" charset="0"/>
              <a:ea typeface="Osaka" charset="-128"/>
            </a:endParaRPr>
          </a:p>
        </p:txBody>
      </p:sp>
    </p:spTree>
    <p:extLst>
      <p:ext uri="{BB962C8B-B14F-4D97-AF65-F5344CB8AC3E}">
        <p14:creationId xmlns:p14="http://schemas.microsoft.com/office/powerpoint/2010/main" val="349654749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686800" cy="685800"/>
          </a:xfrm>
        </p:spPr>
        <p:txBody>
          <a:bodyPr/>
          <a:lstStyle/>
          <a:p>
            <a:r>
              <a:rPr lang="en-US" sz="2800" dirty="0"/>
              <a:t>Nested / Extended Page Tables</a:t>
            </a:r>
          </a:p>
        </p:txBody>
      </p:sp>
      <p:pic>
        <p:nvPicPr>
          <p:cNvPr id="2053" name="Picture 5" descr="C:\Users\Rohan\Desktop\EPT-ne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011692"/>
            <a:ext cx="8153400" cy="5250998"/>
          </a:xfrm>
          <a:prstGeom prst="rect">
            <a:avLst/>
          </a:prstGeom>
          <a:noFill/>
          <a:extLst>
            <a:ext uri="{909E8E84-426E-40dd-AFC4-6F175D3DCCD1}">
              <a14:hiddenFill xmlns="" xmlns:a14="http://schemas.microsoft.com/office/drawing/2010/main">
                <a:solidFill>
                  <a:srgbClr val="FFFFFF"/>
                </a:solidFill>
              </a14:hiddenFill>
            </a:ext>
          </a:extLst>
        </p:spPr>
      </p:pic>
      <p:sp>
        <p:nvSpPr>
          <p:cNvPr id="11" name="TextBox 10"/>
          <p:cNvSpPr txBox="1"/>
          <p:nvPr/>
        </p:nvSpPr>
        <p:spPr>
          <a:xfrm>
            <a:off x="304800" y="6504801"/>
            <a:ext cx="7772400" cy="276999"/>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25000" noProof="0" dirty="0">
                <a:ln>
                  <a:noFill/>
                </a:ln>
                <a:solidFill>
                  <a:srgbClr val="FFFFFF"/>
                </a:solidFill>
                <a:effectLst/>
                <a:uLnTx/>
                <a:uFillTx/>
                <a:latin typeface="Arial" charset="0"/>
                <a:ea typeface="ＭＳ Ｐゴシック" charset="-128"/>
              </a:rPr>
              <a:t>Source</a:t>
            </a:r>
            <a:r>
              <a:rPr kumimoji="0" lang="en-US" sz="1200" b="0" i="0" u="none" strike="noStrike" kern="1200" cap="none" spc="0" normalizeH="0" baseline="-25000" noProof="0">
                <a:ln>
                  <a:noFill/>
                </a:ln>
                <a:solidFill>
                  <a:srgbClr val="FFFFFF"/>
                </a:solidFill>
                <a:effectLst/>
                <a:uLnTx/>
                <a:uFillTx/>
                <a:latin typeface="Arial" charset="0"/>
                <a:ea typeface="ＭＳ Ｐゴシック" charset="-128"/>
              </a:rPr>
              <a:t>: [4]</a:t>
            </a:r>
            <a:endParaRPr kumimoji="0" lang="en-US" sz="1200" b="0" i="0" u="none" strike="noStrike" kern="1200" cap="none" spc="0" normalizeH="0" baseline="-25000" noProof="0" dirty="0">
              <a:ln>
                <a:noFill/>
              </a:ln>
              <a:solidFill>
                <a:srgbClr val="FFFFFF"/>
              </a:solidFill>
              <a:effectLst/>
              <a:uLnTx/>
              <a:uFillTx/>
              <a:latin typeface="Arial" charset="0"/>
              <a:ea typeface="ＭＳ Ｐゴシック" charset="-128"/>
            </a:endParaRPr>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66513D95-0569-4AD4-8706-96E6A7B867B5}" type="slidenum">
              <a:rPr kumimoji="0" lang="en-US" sz="1400" b="0" i="0" u="none" strike="noStrike" kern="1200" cap="none" spc="0" normalizeH="0" baseline="0" noProof="0" smtClean="0">
                <a:ln>
                  <a:noFill/>
                </a:ln>
                <a:solidFill>
                  <a:srgbClr val="FFFFFF"/>
                </a:solidFill>
                <a:effectLst/>
                <a:uLnTx/>
                <a:uFillTx/>
                <a:latin typeface="Arial" charset="0"/>
                <a:ea typeface="Osaka" charset="-128"/>
              </a:rPr>
              <a:pPr marL="0" marR="0" lvl="0" indent="0" algn="r" defTabSz="914400" rtl="0" eaLnBrk="0" fontAlgn="base" latinLnBrk="0" hangingPunct="0">
                <a:lnSpc>
                  <a:spcPct val="100000"/>
                </a:lnSpc>
                <a:spcBef>
                  <a:spcPct val="0"/>
                </a:spcBef>
                <a:spcAft>
                  <a:spcPct val="0"/>
                </a:spcAft>
                <a:buClrTx/>
                <a:buSzTx/>
                <a:buFontTx/>
                <a:buNone/>
                <a:tabLst/>
                <a:defRPr/>
              </a:pPr>
              <a:t>79</a:t>
            </a:fld>
            <a:endParaRPr kumimoji="0" lang="en-US" sz="1400" b="0" i="0" u="none" strike="noStrike" kern="1200" cap="none" spc="0" normalizeH="0" baseline="0" noProof="0">
              <a:ln>
                <a:noFill/>
              </a:ln>
              <a:solidFill>
                <a:srgbClr val="FFFFFF"/>
              </a:solidFill>
              <a:effectLst/>
              <a:uLnTx/>
              <a:uFillTx/>
              <a:latin typeface="Arial" charset="0"/>
              <a:ea typeface="Osaka" charset="-128"/>
            </a:endParaRPr>
          </a:p>
        </p:txBody>
      </p:sp>
    </p:spTree>
    <p:extLst>
      <p:ext uri="{BB962C8B-B14F-4D97-AF65-F5344CB8AC3E}">
        <p14:creationId xmlns:p14="http://schemas.microsoft.com/office/powerpoint/2010/main" val="181328804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Advantages: EPT</a:t>
            </a:r>
          </a:p>
        </p:txBody>
      </p:sp>
      <p:sp>
        <p:nvSpPr>
          <p:cNvPr id="6" name="Content Placeholder 5"/>
          <p:cNvSpPr>
            <a:spLocks noGrp="1"/>
          </p:cNvSpPr>
          <p:nvPr>
            <p:ph idx="1"/>
          </p:nvPr>
        </p:nvSpPr>
        <p:spPr/>
        <p:txBody>
          <a:bodyPr>
            <a:normAutofit/>
          </a:bodyPr>
          <a:lstStyle/>
          <a:p>
            <a:r>
              <a:rPr lang="en-US" sz="2400" dirty="0"/>
              <a:t>Simplified VMM design.</a:t>
            </a:r>
          </a:p>
          <a:p>
            <a:r>
              <a:rPr lang="en-US" sz="2400" dirty="0"/>
              <a:t>Guest page table modifications need not be trapped, hence VM exits reduced.</a:t>
            </a:r>
          </a:p>
          <a:p>
            <a:r>
              <a:rPr lang="en-US" sz="2400" dirty="0"/>
              <a:t>Reduced memory footprint compared to shadow page table algorithms.</a:t>
            </a:r>
          </a:p>
        </p:txBody>
      </p:sp>
      <p:sp>
        <p:nvSpPr>
          <p:cNvPr id="2" name="Slide Number Placeholder 1"/>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66513D95-0569-4AD4-8706-96E6A7B867B5}" type="slidenum">
              <a:rPr kumimoji="0" lang="en-US" sz="1400" b="0" i="0" u="none" strike="noStrike" kern="1200" cap="none" spc="0" normalizeH="0" baseline="0" noProof="0" smtClean="0">
                <a:ln>
                  <a:noFill/>
                </a:ln>
                <a:solidFill>
                  <a:srgbClr val="FFFFFF"/>
                </a:solidFill>
                <a:effectLst/>
                <a:uLnTx/>
                <a:uFillTx/>
                <a:latin typeface="Arial" charset="0"/>
                <a:ea typeface="Osaka" charset="-128"/>
              </a:rPr>
              <a:pPr marL="0" marR="0" lvl="0" indent="0" algn="r" defTabSz="914400" rtl="0" eaLnBrk="0" fontAlgn="base" latinLnBrk="0" hangingPunct="0">
                <a:lnSpc>
                  <a:spcPct val="100000"/>
                </a:lnSpc>
                <a:spcBef>
                  <a:spcPct val="0"/>
                </a:spcBef>
                <a:spcAft>
                  <a:spcPct val="0"/>
                </a:spcAft>
                <a:buClrTx/>
                <a:buSzTx/>
                <a:buFontTx/>
                <a:buNone/>
                <a:tabLst/>
                <a:defRPr/>
              </a:pPr>
              <a:t>80</a:t>
            </a:fld>
            <a:endParaRPr kumimoji="0" lang="en-US" sz="1400" b="0" i="0" u="none" strike="noStrike" kern="1200" cap="none" spc="0" normalizeH="0" baseline="0" noProof="0">
              <a:ln>
                <a:noFill/>
              </a:ln>
              <a:solidFill>
                <a:srgbClr val="FFFFFF"/>
              </a:solidFill>
              <a:effectLst/>
              <a:uLnTx/>
              <a:uFillTx/>
              <a:latin typeface="Arial" charset="0"/>
              <a:ea typeface="Osaka" charset="-128"/>
            </a:endParaRPr>
          </a:p>
        </p:txBody>
      </p:sp>
    </p:spTree>
    <p:extLst>
      <p:ext uri="{BB962C8B-B14F-4D97-AF65-F5344CB8AC3E}">
        <p14:creationId xmlns:p14="http://schemas.microsoft.com/office/powerpoint/2010/main" val="374277527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Disadvantages: EPT</a:t>
            </a:r>
          </a:p>
        </p:txBody>
      </p:sp>
      <p:sp>
        <p:nvSpPr>
          <p:cNvPr id="3" name="Content Placeholder 2"/>
          <p:cNvSpPr>
            <a:spLocks noGrp="1"/>
          </p:cNvSpPr>
          <p:nvPr>
            <p:ph idx="1"/>
          </p:nvPr>
        </p:nvSpPr>
        <p:spPr/>
        <p:txBody>
          <a:bodyPr>
            <a:normAutofit/>
          </a:bodyPr>
          <a:lstStyle/>
          <a:p>
            <a:r>
              <a:rPr lang="en-US" sz="2400" dirty="0"/>
              <a:t>TLB miss is very costly since guest-physical address to machine address needs an extra EPT walk for each stage of guest-virtual address translation.</a:t>
            </a:r>
          </a:p>
        </p:txBody>
      </p:sp>
      <p:sp>
        <p:nvSpPr>
          <p:cNvPr id="4" name="Slide Number Placeholder 3"/>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66513D95-0569-4AD4-8706-96E6A7B867B5}" type="slidenum">
              <a:rPr kumimoji="0" lang="en-US" sz="1400" b="0" i="0" u="none" strike="noStrike" kern="1200" cap="none" spc="0" normalizeH="0" baseline="0" noProof="0" smtClean="0">
                <a:ln>
                  <a:noFill/>
                </a:ln>
                <a:solidFill>
                  <a:srgbClr val="FFFFFF"/>
                </a:solidFill>
                <a:effectLst/>
                <a:uLnTx/>
                <a:uFillTx/>
                <a:latin typeface="Arial" charset="0"/>
                <a:ea typeface="Osaka" charset="-128"/>
              </a:rPr>
              <a:pPr marL="0" marR="0" lvl="0" indent="0" algn="r" defTabSz="914400" rtl="0" eaLnBrk="0" fontAlgn="base" latinLnBrk="0" hangingPunct="0">
                <a:lnSpc>
                  <a:spcPct val="100000"/>
                </a:lnSpc>
                <a:spcBef>
                  <a:spcPct val="0"/>
                </a:spcBef>
                <a:spcAft>
                  <a:spcPct val="0"/>
                </a:spcAft>
                <a:buClrTx/>
                <a:buSzTx/>
                <a:buFontTx/>
                <a:buNone/>
                <a:tabLst/>
                <a:defRPr/>
              </a:pPr>
              <a:t>81</a:t>
            </a:fld>
            <a:endParaRPr kumimoji="0" lang="en-US" sz="1400" b="0" i="0" u="none" strike="noStrike" kern="1200" cap="none" spc="0" normalizeH="0" baseline="0" noProof="0">
              <a:ln>
                <a:noFill/>
              </a:ln>
              <a:solidFill>
                <a:srgbClr val="FFFFFF"/>
              </a:solidFill>
              <a:effectLst/>
              <a:uLnTx/>
              <a:uFillTx/>
              <a:latin typeface="Arial" charset="0"/>
              <a:ea typeface="Osaka" charset="-128"/>
            </a:endParaRPr>
          </a:p>
        </p:txBody>
      </p:sp>
    </p:spTree>
    <p:extLst>
      <p:ext uri="{BB962C8B-B14F-4D97-AF65-F5344CB8AC3E}">
        <p14:creationId xmlns:p14="http://schemas.microsoft.com/office/powerpoint/2010/main" val="46579717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1" name="Virtual Appliances  &amp; Multi-Core"/>
          <p:cNvSpPr txBox="1">
            <a:spLocks noGrp="1"/>
          </p:cNvSpPr>
          <p:nvPr>
            <p:ph type="title"/>
          </p:nvPr>
        </p:nvSpPr>
        <p:spPr>
          <a:prstGeom prst="rect">
            <a:avLst/>
          </a:prstGeom>
        </p:spPr>
        <p:txBody>
          <a:bodyPr/>
          <a:lstStyle/>
          <a:p>
            <a:r>
              <a:t>Virtual Appliances  &amp; Multi-Core</a:t>
            </a:r>
          </a:p>
        </p:txBody>
      </p:sp>
      <p:sp>
        <p:nvSpPr>
          <p:cNvPr id="132" name="Virtual appliance: pre-configured VM with OS/ apps pre-installed…"/>
          <p:cNvSpPr txBox="1">
            <a:spLocks noGrp="1"/>
          </p:cNvSpPr>
          <p:nvPr>
            <p:ph type="body" idx="1"/>
          </p:nvPr>
        </p:nvSpPr>
        <p:spPr>
          <a:xfrm>
            <a:off x="234950" y="1285103"/>
            <a:ext cx="8674100" cy="5572897"/>
          </a:xfrm>
          <a:prstGeom prst="rect">
            <a:avLst/>
          </a:prstGeom>
        </p:spPr>
        <p:txBody>
          <a:bodyPr/>
          <a:lstStyle/>
          <a:p>
            <a:r>
              <a:rPr dirty="0"/>
              <a:t>Virtual appliance: pre-configured VM with OS/ apps pre-installed</a:t>
            </a:r>
          </a:p>
          <a:p>
            <a:pPr lvl="1"/>
            <a:r>
              <a:rPr dirty="0"/>
              <a:t>Just download and run (no need to install/co</a:t>
            </a:r>
            <a:r>
              <a:rPr lang="en-US" dirty="0"/>
              <a:t>n</a:t>
            </a:r>
            <a:r>
              <a:rPr dirty="0"/>
              <a:t>figure)</a:t>
            </a:r>
          </a:p>
          <a:p>
            <a:pPr lvl="1"/>
            <a:r>
              <a:rPr dirty="0"/>
              <a:t>Software distribution using appliances</a:t>
            </a:r>
            <a:endParaRPr lang="en-US" dirty="0"/>
          </a:p>
          <a:p>
            <a:pPr marL="497840" lvl="1" indent="0">
              <a:buNone/>
            </a:pPr>
            <a:r>
              <a:rPr lang="en-US" dirty="0"/>
              <a:t>(</a:t>
            </a:r>
            <a:r>
              <a:rPr lang="en-US" sz="2000" dirty="0"/>
              <a:t>see: “</a:t>
            </a:r>
            <a:r>
              <a:rPr lang="en-US" sz="2000" dirty="0" err="1"/>
              <a:t>SnowFlock</a:t>
            </a:r>
            <a:r>
              <a:rPr lang="en-US" sz="2000" dirty="0"/>
              <a:t>: Rapid Virtual Machine Cloning for Cloud Computing”, H. Andrés </a:t>
            </a:r>
            <a:r>
              <a:rPr lang="en-US" sz="2000" dirty="0" err="1"/>
              <a:t>Lagar-Cavilla</a:t>
            </a:r>
            <a:r>
              <a:rPr lang="en-US" sz="2000" dirty="0"/>
              <a:t> et. al., </a:t>
            </a:r>
            <a:r>
              <a:rPr lang="en-US" sz="2000" dirty="0" err="1"/>
              <a:t>Eurosys</a:t>
            </a:r>
            <a:r>
              <a:rPr lang="en-US" sz="2000" dirty="0"/>
              <a:t> 2009)</a:t>
            </a:r>
            <a:endParaRPr dirty="0"/>
          </a:p>
          <a:p>
            <a:r>
              <a:rPr dirty="0"/>
              <a:t>Multi-core CPUs</a:t>
            </a:r>
          </a:p>
          <a:p>
            <a:pPr lvl="1"/>
            <a:r>
              <a:rPr dirty="0"/>
              <a:t>Run multiple VMs on multi-core systems</a:t>
            </a:r>
          </a:p>
          <a:p>
            <a:pPr lvl="1"/>
            <a:r>
              <a:rPr dirty="0"/>
              <a:t>Each VM assigned one or more vCPU</a:t>
            </a:r>
          </a:p>
          <a:p>
            <a:pPr lvl="1"/>
            <a:r>
              <a:rPr dirty="0"/>
              <a:t>Mapping from vCPUs to physical CPUs</a:t>
            </a:r>
          </a:p>
          <a:p>
            <a:pPr lvl="1"/>
            <a:endParaRPr dirty="0"/>
          </a:p>
          <a:p>
            <a:pPr>
              <a:spcBef>
                <a:spcPts val="500"/>
              </a:spcBef>
              <a:defRPr sz="2400"/>
            </a:pPr>
            <a:r>
              <a:rPr dirty="0"/>
              <a:t>Today: Virtual appliances have evolved into </a:t>
            </a:r>
            <a:r>
              <a:rPr lang="en-US" dirty="0"/>
              <a:t>D</a:t>
            </a:r>
            <a:r>
              <a:rPr dirty="0"/>
              <a:t>ocker containers</a:t>
            </a:r>
          </a:p>
        </p:txBody>
      </p:sp>
      <p:sp>
        <p:nvSpPr>
          <p:cNvPr id="134"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marL="0" marR="0" lvl="0" indent="0" algn="ctr" defTabSz="5842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rPr>
              <a:pPr marL="0" marR="0" lvl="0" indent="0" algn="ctr" defTabSz="584200" rtl="0" eaLnBrk="1" fontAlgn="auto" latinLnBrk="0" hangingPunct="0">
                <a:lnSpc>
                  <a:spcPct val="100000"/>
                </a:lnSpc>
                <a:spcBef>
                  <a:spcPts val="0"/>
                </a:spcBef>
                <a:spcAft>
                  <a:spcPts val="0"/>
                </a:spcAft>
                <a:buClrTx/>
                <a:buSzTx/>
                <a:buFontTx/>
                <a:buNone/>
                <a:tabLst/>
                <a:defRPr/>
              </a:pPr>
              <a:t>82</a:t>
            </a:fld>
            <a:endPar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endParaRPr>
          </a:p>
        </p:txBody>
      </p:sp>
    </p:spTree>
    <p:extLst>
      <p:ext uri="{BB962C8B-B14F-4D97-AF65-F5344CB8AC3E}">
        <p14:creationId xmlns:p14="http://schemas.microsoft.com/office/powerpoint/2010/main" val="3060262871"/>
      </p:ext>
    </p:extLst>
  </p:cSld>
  <p:clrMapOvr>
    <a:masterClrMapping/>
  </p:clrMapOvr>
  <p:transition spd="med"/>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0" name="Examples"/>
          <p:cNvSpPr txBox="1">
            <a:spLocks noGrp="1"/>
          </p:cNvSpPr>
          <p:nvPr>
            <p:ph type="title"/>
          </p:nvPr>
        </p:nvSpPr>
        <p:spPr>
          <a:prstGeom prst="rect">
            <a:avLst/>
          </a:prstGeom>
        </p:spPr>
        <p:txBody>
          <a:bodyPr/>
          <a:lstStyle/>
          <a:p>
            <a:r>
              <a:t>Examples</a:t>
            </a:r>
          </a:p>
        </p:txBody>
      </p:sp>
      <p:sp>
        <p:nvSpPr>
          <p:cNvPr id="141" name="Application-level virtualization: “process virtual machine”…"/>
          <p:cNvSpPr txBox="1">
            <a:spLocks noGrp="1"/>
          </p:cNvSpPr>
          <p:nvPr>
            <p:ph type="body" sz="half" idx="1"/>
          </p:nvPr>
        </p:nvSpPr>
        <p:spPr>
          <a:xfrm>
            <a:off x="234950" y="4343400"/>
            <a:ext cx="8674100" cy="2514600"/>
          </a:xfrm>
          <a:prstGeom prst="rect">
            <a:avLst/>
          </a:prstGeom>
        </p:spPr>
        <p:txBody>
          <a:bodyPr/>
          <a:lstStyle/>
          <a:p>
            <a:r>
              <a:t>Application-level virtualization: “process virtual machine”</a:t>
            </a:r>
          </a:p>
          <a:p>
            <a:r>
              <a:t>VMM /hypervisor </a:t>
            </a:r>
          </a:p>
        </p:txBody>
      </p:sp>
      <p:pic>
        <p:nvPicPr>
          <p:cNvPr id="142" name="image.png" descr="image.png"/>
          <p:cNvPicPr>
            <a:picLocks/>
          </p:cNvPicPr>
          <p:nvPr/>
        </p:nvPicPr>
        <p:blipFill>
          <a:blip r:embed="rId2"/>
          <a:stretch>
            <a:fillRect/>
          </a:stretch>
        </p:blipFill>
        <p:spPr>
          <a:xfrm>
            <a:off x="1371600" y="1371600"/>
            <a:ext cx="2514600" cy="2270125"/>
          </a:xfrm>
          <a:prstGeom prst="rect">
            <a:avLst/>
          </a:prstGeom>
          <a:ln w="12700">
            <a:miter lim="400000"/>
          </a:ln>
        </p:spPr>
      </p:pic>
      <p:pic>
        <p:nvPicPr>
          <p:cNvPr id="143" name="image.png" descr="image.png"/>
          <p:cNvPicPr>
            <a:picLocks/>
          </p:cNvPicPr>
          <p:nvPr/>
        </p:nvPicPr>
        <p:blipFill>
          <a:blip r:embed="rId3"/>
          <a:stretch>
            <a:fillRect/>
          </a:stretch>
        </p:blipFill>
        <p:spPr>
          <a:xfrm>
            <a:off x="4648200" y="1219200"/>
            <a:ext cx="3259138" cy="2724150"/>
          </a:xfrm>
          <a:prstGeom prst="rect">
            <a:avLst/>
          </a:prstGeom>
          <a:ln w="12700">
            <a:miter lim="400000"/>
          </a:ln>
        </p:spPr>
      </p:pic>
      <p:sp>
        <p:nvSpPr>
          <p:cNvPr id="144"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marL="0" marR="0" lvl="0" indent="0" algn="ctr" defTabSz="5842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rPr>
              <a:pPr marL="0" marR="0" lvl="0" indent="0" algn="ctr" defTabSz="584200" rtl="0" eaLnBrk="1" fontAlgn="auto" latinLnBrk="0" hangingPunct="0">
                <a:lnSpc>
                  <a:spcPct val="100000"/>
                </a:lnSpc>
                <a:spcBef>
                  <a:spcPts val="0"/>
                </a:spcBef>
                <a:spcAft>
                  <a:spcPts val="0"/>
                </a:spcAft>
                <a:buClrTx/>
                <a:buSzTx/>
                <a:buFontTx/>
                <a:buNone/>
                <a:tabLst/>
                <a:defRPr/>
              </a:pPr>
              <a:t>83</a:t>
            </a:fld>
            <a:endPar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endParaRPr>
          </a:p>
        </p:txBody>
      </p:sp>
    </p:spTree>
    <p:extLst>
      <p:ext uri="{BB962C8B-B14F-4D97-AF65-F5344CB8AC3E}">
        <p14:creationId xmlns:p14="http://schemas.microsoft.com/office/powerpoint/2010/main" val="1160811885"/>
      </p:ext>
    </p:extLst>
  </p:cSld>
  <p:clrMapOvr>
    <a:masterClrMapping/>
  </p:clrMapOvr>
  <p:transition spd="med"/>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9" name="OS Virtualization"/>
          <p:cNvSpPr txBox="1">
            <a:spLocks noGrp="1"/>
          </p:cNvSpPr>
          <p:nvPr>
            <p:ph type="title"/>
          </p:nvPr>
        </p:nvSpPr>
        <p:spPr>
          <a:prstGeom prst="rect">
            <a:avLst/>
          </a:prstGeom>
        </p:spPr>
        <p:txBody>
          <a:bodyPr/>
          <a:lstStyle/>
          <a:p>
            <a:r>
              <a:t>OS Virtualization</a:t>
            </a:r>
          </a:p>
        </p:txBody>
      </p:sp>
      <p:sp>
        <p:nvSpPr>
          <p:cNvPr id="150" name="Emulate OS-level interface with native interface…"/>
          <p:cNvSpPr txBox="1">
            <a:spLocks noGrp="1"/>
          </p:cNvSpPr>
          <p:nvPr>
            <p:ph type="body" idx="1"/>
          </p:nvPr>
        </p:nvSpPr>
        <p:spPr>
          <a:prstGeom prst="rect">
            <a:avLst/>
          </a:prstGeom>
        </p:spPr>
        <p:txBody>
          <a:bodyPr/>
          <a:lstStyle/>
          <a:p>
            <a:pPr marL="831214" indent="-333374"/>
            <a:r>
              <a:t>Emulate OS-level interface with native interface</a:t>
            </a:r>
          </a:p>
          <a:p>
            <a:pPr marL="831214" indent="-333374"/>
            <a:r>
              <a:t>“Lightweight” virtual machines </a:t>
            </a:r>
          </a:p>
          <a:p>
            <a:pPr marL="1183639" lvl="1" indent="-228600"/>
            <a:r>
              <a:t>No hypervisor, OS provides necessary support</a:t>
            </a:r>
          </a:p>
          <a:p>
            <a:pPr marL="831214" indent="-333374"/>
            <a:endParaRPr/>
          </a:p>
          <a:p>
            <a:pPr marL="831214" indent="-333374"/>
            <a:endParaRPr/>
          </a:p>
          <a:p>
            <a:pPr marL="831214" indent="-333374"/>
            <a:endParaRPr/>
          </a:p>
          <a:p>
            <a:pPr marL="831214" indent="-333374"/>
            <a:endParaRPr/>
          </a:p>
          <a:p>
            <a:pPr marL="831214" indent="-333374"/>
            <a:endParaRPr/>
          </a:p>
          <a:p>
            <a:pPr marL="831214" indent="-333374"/>
            <a:r>
              <a:t>Referred to as </a:t>
            </a:r>
            <a:r>
              <a:rPr i="1"/>
              <a:t>containers</a:t>
            </a:r>
          </a:p>
          <a:p>
            <a:pPr marL="1183639" lvl="1" indent="-228600"/>
            <a:r>
              <a:t>Solaris containers,</a:t>
            </a:r>
            <a:r>
              <a:rPr i="1"/>
              <a:t> </a:t>
            </a:r>
            <a:r>
              <a:t>BSD jails, Linux containers</a:t>
            </a:r>
          </a:p>
        </p:txBody>
      </p:sp>
      <p:sp>
        <p:nvSpPr>
          <p:cNvPr id="15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marL="0" marR="0" lvl="0" indent="0" algn="ctr" defTabSz="5842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rPr>
              <a:pPr marL="0" marR="0" lvl="0" indent="0" algn="ctr" defTabSz="584200" rtl="0" eaLnBrk="1" fontAlgn="auto" latinLnBrk="0" hangingPunct="0">
                <a:lnSpc>
                  <a:spcPct val="100000"/>
                </a:lnSpc>
                <a:spcBef>
                  <a:spcPts val="0"/>
                </a:spcBef>
                <a:spcAft>
                  <a:spcPts val="0"/>
                </a:spcAft>
                <a:buClrTx/>
                <a:buSzTx/>
                <a:buFontTx/>
                <a:buNone/>
                <a:tabLst/>
                <a:defRPr/>
              </a:pPr>
              <a:t>84</a:t>
            </a:fld>
            <a:endPar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endParaRPr>
          </a:p>
        </p:txBody>
      </p:sp>
      <p:pic>
        <p:nvPicPr>
          <p:cNvPr id="152" name="Screen Shot 2015-02-17 at 7.50.40 AM.png" descr="Screen Shot 2015-02-17 at 7.50.40 AM.png"/>
          <p:cNvPicPr>
            <a:picLocks noChangeAspect="1"/>
          </p:cNvPicPr>
          <p:nvPr/>
        </p:nvPicPr>
        <p:blipFill>
          <a:blip r:embed="rId2"/>
          <a:stretch>
            <a:fillRect/>
          </a:stretch>
        </p:blipFill>
        <p:spPr>
          <a:xfrm>
            <a:off x="927100" y="3022600"/>
            <a:ext cx="3458211" cy="2400300"/>
          </a:xfrm>
          <a:prstGeom prst="rect">
            <a:avLst/>
          </a:prstGeom>
        </p:spPr>
      </p:pic>
      <p:pic>
        <p:nvPicPr>
          <p:cNvPr id="153" name="Screen Shot 2015-02-17 at 7.52.11 AM.png" descr="Screen Shot 2015-02-17 at 7.52.11 AM.png"/>
          <p:cNvPicPr>
            <a:picLocks noChangeAspect="1"/>
          </p:cNvPicPr>
          <p:nvPr/>
        </p:nvPicPr>
        <p:blipFill>
          <a:blip r:embed="rId3"/>
          <a:stretch>
            <a:fillRect/>
          </a:stretch>
        </p:blipFill>
        <p:spPr>
          <a:xfrm>
            <a:off x="4973790" y="3060700"/>
            <a:ext cx="4054781" cy="2336800"/>
          </a:xfrm>
          <a:prstGeom prst="rect">
            <a:avLst/>
          </a:prstGeom>
        </p:spPr>
      </p:pic>
    </p:spTree>
    <p:extLst>
      <p:ext uri="{BB962C8B-B14F-4D97-AF65-F5344CB8AC3E}">
        <p14:creationId xmlns:p14="http://schemas.microsoft.com/office/powerpoint/2010/main" val="4222315034"/>
      </p:ext>
    </p:extLst>
  </p:cSld>
  <p:clrMapOvr>
    <a:masterClrMapping/>
  </p:clrMapOvr>
  <p:transition spd="med"/>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8" name="Linux Containers (LXC)"/>
          <p:cNvSpPr txBox="1">
            <a:spLocks noGrp="1"/>
          </p:cNvSpPr>
          <p:nvPr>
            <p:ph type="title"/>
          </p:nvPr>
        </p:nvSpPr>
        <p:spPr>
          <a:prstGeom prst="rect">
            <a:avLst/>
          </a:prstGeom>
        </p:spPr>
        <p:txBody>
          <a:bodyPr/>
          <a:lstStyle/>
          <a:p>
            <a:r>
              <a:rPr dirty="0"/>
              <a:t>Linux Containers (LXC)</a:t>
            </a:r>
          </a:p>
        </p:txBody>
      </p:sp>
      <p:sp>
        <p:nvSpPr>
          <p:cNvPr id="159" name="Containers share OS kernel of the host…"/>
          <p:cNvSpPr txBox="1">
            <a:spLocks noGrp="1"/>
          </p:cNvSpPr>
          <p:nvPr>
            <p:ph type="body" idx="1"/>
          </p:nvPr>
        </p:nvSpPr>
        <p:spPr>
          <a:prstGeom prst="rect">
            <a:avLst/>
          </a:prstGeom>
        </p:spPr>
        <p:txBody>
          <a:bodyPr/>
          <a:lstStyle/>
          <a:p>
            <a:pPr marL="831214" indent="-333374"/>
            <a:r>
              <a:rPr dirty="0"/>
              <a:t>Containers share OS kernel of the host</a:t>
            </a:r>
          </a:p>
          <a:p>
            <a:pPr marL="1183639" lvl="1" indent="-228600"/>
            <a:r>
              <a:rPr dirty="0"/>
              <a:t>OS provides resource isolation</a:t>
            </a:r>
          </a:p>
          <a:p>
            <a:pPr marL="831214" indent="-333374"/>
            <a:r>
              <a:rPr dirty="0"/>
              <a:t>Benefits</a:t>
            </a:r>
          </a:p>
          <a:p>
            <a:pPr marL="1183639" lvl="1" indent="-228600"/>
            <a:r>
              <a:rPr dirty="0"/>
              <a:t>Fast provisioning, bare-metal like performance, lightweight </a:t>
            </a:r>
          </a:p>
        </p:txBody>
      </p:sp>
      <p:sp>
        <p:nvSpPr>
          <p:cNvPr id="160"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marL="0" marR="0" lvl="0" indent="0" algn="ctr" defTabSz="5842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rPr>
              <a:pPr marL="0" marR="0" lvl="0" indent="0" algn="ctr" defTabSz="584200" rtl="0" eaLnBrk="1" fontAlgn="auto" latinLnBrk="0" hangingPunct="0">
                <a:lnSpc>
                  <a:spcPct val="100000"/>
                </a:lnSpc>
                <a:spcBef>
                  <a:spcPts val="0"/>
                </a:spcBef>
                <a:spcAft>
                  <a:spcPts val="0"/>
                </a:spcAft>
                <a:buClrTx/>
                <a:buSzTx/>
                <a:buFontTx/>
                <a:buNone/>
                <a:tabLst/>
                <a:defRPr/>
              </a:pPr>
              <a:t>85</a:t>
            </a:fld>
            <a:endPar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endParaRPr>
          </a:p>
        </p:txBody>
      </p:sp>
      <p:pic>
        <p:nvPicPr>
          <p:cNvPr id="161" name="Screen Shot 2015-02-17 at 7.10.10 AM.png" descr="Screen Shot 2015-02-17 at 7.10.10 AM.png"/>
          <p:cNvPicPr>
            <a:picLocks noChangeAspect="1"/>
          </p:cNvPicPr>
          <p:nvPr/>
        </p:nvPicPr>
        <p:blipFill>
          <a:blip r:embed="rId3"/>
          <a:stretch>
            <a:fillRect/>
          </a:stretch>
        </p:blipFill>
        <p:spPr>
          <a:xfrm>
            <a:off x="234950" y="3429000"/>
            <a:ext cx="7169150" cy="3308226"/>
          </a:xfrm>
          <a:prstGeom prst="rect">
            <a:avLst/>
          </a:prstGeom>
        </p:spPr>
      </p:pic>
      <p:sp>
        <p:nvSpPr>
          <p:cNvPr id="162" name="Material courtesy of “Realizing Linux Containers” by Boden Russell, IBM"/>
          <p:cNvSpPr txBox="1"/>
          <p:nvPr/>
        </p:nvSpPr>
        <p:spPr>
          <a:xfrm>
            <a:off x="7404100" y="5791200"/>
            <a:ext cx="1663700" cy="5969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spAutoFit/>
          </a:bodyPr>
          <a:lstStyle>
            <a:lvl1pPr>
              <a:defRPr sz="900"/>
            </a:lvl1pPr>
          </a:lstStyle>
          <a:p>
            <a:pPr marL="40639" marR="40639" lvl="0" indent="0" algn="ctr" defTabSz="914400" rtl="0" eaLnBrk="1" fontAlgn="auto" latinLnBrk="0" hangingPunct="0">
              <a:lnSpc>
                <a:spcPct val="100000"/>
              </a:lnSpc>
              <a:spcBef>
                <a:spcPts val="0"/>
              </a:spcBef>
              <a:spcAft>
                <a:spcPts val="0"/>
              </a:spcAft>
              <a:buClrTx/>
              <a:buSzTx/>
              <a:buFontTx/>
              <a:buNone/>
              <a:tabLst/>
              <a:defRPr/>
            </a:pPr>
            <a:r>
              <a:rPr kumimoji="0" sz="900" b="0" i="0" u="none" strike="noStrike" kern="0" cap="none" spc="0" normalizeH="0" baseline="0" noProof="0">
                <a:ln>
                  <a:noFill/>
                </a:ln>
                <a:solidFill>
                  <a:srgbClr val="000000"/>
                </a:solidFill>
                <a:effectLst/>
                <a:uLnTx/>
                <a:uFill>
                  <a:solidFill>
                    <a:srgbClr val="000000"/>
                  </a:solidFill>
                </a:uFill>
                <a:latin typeface="Comic Sans MS"/>
                <a:sym typeface="Comic Sans MS"/>
              </a:rPr>
              <a:t>Material courtesy of “Realizing Linux Containers” by Boden Russell, IBM</a:t>
            </a:r>
          </a:p>
        </p:txBody>
      </p:sp>
    </p:spTree>
    <p:extLst>
      <p:ext uri="{BB962C8B-B14F-4D97-AF65-F5344CB8AC3E}">
        <p14:creationId xmlns:p14="http://schemas.microsoft.com/office/powerpoint/2010/main" val="549928533"/>
      </p:ext>
    </p:extLst>
  </p:cSld>
  <p:clrMapOvr>
    <a:masterClrMapping/>
  </p:clrMapOvr>
  <p:transition spd="med"/>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7" name="OS Mechanisms for LXC"/>
          <p:cNvSpPr txBox="1">
            <a:spLocks noGrp="1"/>
          </p:cNvSpPr>
          <p:nvPr>
            <p:ph type="title"/>
          </p:nvPr>
        </p:nvSpPr>
        <p:spPr>
          <a:prstGeom prst="rect">
            <a:avLst/>
          </a:prstGeom>
        </p:spPr>
        <p:txBody>
          <a:bodyPr/>
          <a:lstStyle/>
          <a:p>
            <a:r>
              <a:rPr dirty="0"/>
              <a:t>OS Mechanisms for LXC</a:t>
            </a:r>
          </a:p>
        </p:txBody>
      </p:sp>
      <p:sp>
        <p:nvSpPr>
          <p:cNvPr id="168" name="OS mechanisms for resource isolation and management…"/>
          <p:cNvSpPr txBox="1">
            <a:spLocks noGrp="1"/>
          </p:cNvSpPr>
          <p:nvPr>
            <p:ph type="body" idx="1"/>
          </p:nvPr>
        </p:nvSpPr>
        <p:spPr>
          <a:xfrm>
            <a:off x="234950" y="1336613"/>
            <a:ext cx="8674100" cy="5257800"/>
          </a:xfrm>
          <a:prstGeom prst="rect">
            <a:avLst/>
          </a:prstGeom>
        </p:spPr>
        <p:txBody>
          <a:bodyPr/>
          <a:lstStyle/>
          <a:p>
            <a:pPr marL="831214" indent="-333374"/>
            <a:r>
              <a:rPr dirty="0"/>
              <a:t>OS mechanisms for </a:t>
            </a:r>
            <a:r>
              <a:rPr b="1" dirty="0"/>
              <a:t>resource</a:t>
            </a:r>
            <a:r>
              <a:rPr dirty="0"/>
              <a:t> </a:t>
            </a:r>
            <a:r>
              <a:rPr b="1" dirty="0"/>
              <a:t>isolation</a:t>
            </a:r>
            <a:r>
              <a:rPr dirty="0"/>
              <a:t> and </a:t>
            </a:r>
            <a:r>
              <a:rPr b="1" dirty="0"/>
              <a:t>management</a:t>
            </a:r>
            <a:endParaRPr dirty="0"/>
          </a:p>
          <a:p>
            <a:pPr marL="831214" indent="-333374"/>
            <a:r>
              <a:rPr dirty="0"/>
              <a:t>namespaces: process-based resource isolation</a:t>
            </a:r>
          </a:p>
          <a:p>
            <a:pPr marL="831214" indent="-333374"/>
            <a:r>
              <a:rPr dirty="0" err="1"/>
              <a:t>Cgroups</a:t>
            </a:r>
            <a:r>
              <a:rPr dirty="0"/>
              <a:t>: limits, prioritization, accounting, control</a:t>
            </a:r>
          </a:p>
          <a:p>
            <a:pPr marL="831214" indent="-333374"/>
            <a:r>
              <a:rPr dirty="0"/>
              <a:t>chroot: </a:t>
            </a:r>
            <a:r>
              <a:rPr lang="en-US" dirty="0"/>
              <a:t>change the apparent root directory for the current running process and its children. </a:t>
            </a:r>
          </a:p>
          <a:p>
            <a:pPr marL="1231264" lvl="1" indent="-333374"/>
            <a:r>
              <a:rPr lang="en-US" dirty="0"/>
              <a:t>Program run in such modified environment cannot name files outside designated directory tree. </a:t>
            </a:r>
            <a:endParaRPr dirty="0"/>
          </a:p>
          <a:p>
            <a:pPr marL="831214" indent="-333374"/>
            <a:r>
              <a:rPr dirty="0"/>
              <a:t>Linux security module, access control</a:t>
            </a:r>
          </a:p>
          <a:p>
            <a:pPr marL="831214" indent="-333374"/>
            <a:r>
              <a:rPr dirty="0"/>
              <a:t>Tools (e.g., </a:t>
            </a:r>
            <a:r>
              <a:rPr dirty="0" err="1"/>
              <a:t>docker</a:t>
            </a:r>
            <a:r>
              <a:rPr dirty="0"/>
              <a:t>) for easy management</a:t>
            </a:r>
          </a:p>
        </p:txBody>
      </p:sp>
      <p:sp>
        <p:nvSpPr>
          <p:cNvPr id="169"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marL="0" marR="0" lvl="0" indent="0" algn="ctr" defTabSz="5842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rPr>
              <a:pPr marL="0" marR="0" lvl="0" indent="0" algn="ctr" defTabSz="584200" rtl="0" eaLnBrk="1" fontAlgn="auto" latinLnBrk="0" hangingPunct="0">
                <a:lnSpc>
                  <a:spcPct val="100000"/>
                </a:lnSpc>
                <a:spcBef>
                  <a:spcPts val="0"/>
                </a:spcBef>
                <a:spcAft>
                  <a:spcPts val="0"/>
                </a:spcAft>
                <a:buClrTx/>
                <a:buSzTx/>
                <a:buFontTx/>
                <a:buNone/>
                <a:tabLst/>
                <a:defRPr/>
              </a:pPr>
              <a:t>86</a:t>
            </a:fld>
            <a:endPar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endParaRPr>
          </a:p>
        </p:txBody>
      </p:sp>
    </p:spTree>
    <p:extLst>
      <p:ext uri="{BB962C8B-B14F-4D97-AF65-F5344CB8AC3E}">
        <p14:creationId xmlns:p14="http://schemas.microsoft.com/office/powerpoint/2010/main" val="2654095764"/>
      </p:ext>
    </p:extLst>
  </p:cSld>
  <p:clrMapOvr>
    <a:masterClrMapping/>
  </p:clrMapOvr>
  <p:transition spd="med"/>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 name="Linux Namespaces"/>
          <p:cNvSpPr txBox="1">
            <a:spLocks noGrp="1"/>
          </p:cNvSpPr>
          <p:nvPr>
            <p:ph type="title"/>
          </p:nvPr>
        </p:nvSpPr>
        <p:spPr>
          <a:prstGeom prst="rect">
            <a:avLst/>
          </a:prstGeom>
        </p:spPr>
        <p:txBody>
          <a:bodyPr/>
          <a:lstStyle/>
          <a:p>
            <a:r>
              <a:rPr dirty="0"/>
              <a:t>Linux Namespaces</a:t>
            </a:r>
          </a:p>
        </p:txBody>
      </p:sp>
      <p:sp>
        <p:nvSpPr>
          <p:cNvPr id="175" name="Namespace: restrict what can a container see?…"/>
          <p:cNvSpPr txBox="1">
            <a:spLocks noGrp="1"/>
          </p:cNvSpPr>
          <p:nvPr>
            <p:ph type="body" idx="1"/>
          </p:nvPr>
        </p:nvSpPr>
        <p:spPr>
          <a:xfrm>
            <a:off x="82550" y="864254"/>
            <a:ext cx="8674100" cy="5257800"/>
          </a:xfrm>
          <a:prstGeom prst="rect">
            <a:avLst/>
          </a:prstGeom>
        </p:spPr>
        <p:txBody>
          <a:bodyPr/>
          <a:lstStyle/>
          <a:p>
            <a:pPr marL="831214" indent="-333374"/>
            <a:r>
              <a:rPr dirty="0"/>
              <a:t>Namespace: restrict what a container </a:t>
            </a:r>
            <a:r>
              <a:rPr lang="en-US" dirty="0"/>
              <a:t>can </a:t>
            </a:r>
            <a:r>
              <a:rPr dirty="0"/>
              <a:t>see</a:t>
            </a:r>
          </a:p>
          <a:p>
            <a:pPr marL="1183639" lvl="1" indent="-228600"/>
            <a:r>
              <a:rPr dirty="0"/>
              <a:t>Provide process level isolation of global resources</a:t>
            </a:r>
          </a:p>
          <a:p>
            <a:pPr marL="831214" indent="-333374"/>
            <a:r>
              <a:rPr dirty="0"/>
              <a:t>Processes have illusion they are the only processes in the system</a:t>
            </a:r>
          </a:p>
          <a:p>
            <a:pPr marL="831214" indent="-333374"/>
            <a:r>
              <a:rPr dirty="0"/>
              <a:t>MNT: mount points, file systems (what files, </a:t>
            </a:r>
            <a:r>
              <a:rPr dirty="0" err="1"/>
              <a:t>dir</a:t>
            </a:r>
            <a:r>
              <a:rPr dirty="0"/>
              <a:t> are visible)?</a:t>
            </a:r>
          </a:p>
          <a:p>
            <a:pPr marL="831214" indent="-333374"/>
            <a:r>
              <a:rPr dirty="0"/>
              <a:t>PID: what other processes are visible?</a:t>
            </a:r>
          </a:p>
          <a:p>
            <a:pPr marL="831214" indent="-333374"/>
            <a:r>
              <a:rPr dirty="0"/>
              <a:t>NET: NICs, routing</a:t>
            </a:r>
          </a:p>
          <a:p>
            <a:pPr marL="831214" indent="-333374"/>
            <a:r>
              <a:rPr dirty="0"/>
              <a:t>Users:  what </a:t>
            </a:r>
            <a:r>
              <a:rPr dirty="0" err="1"/>
              <a:t>uid</a:t>
            </a:r>
            <a:r>
              <a:rPr dirty="0"/>
              <a:t>, </a:t>
            </a:r>
            <a:r>
              <a:rPr dirty="0" err="1"/>
              <a:t>gid</a:t>
            </a:r>
            <a:r>
              <a:rPr dirty="0"/>
              <a:t> are visible?</a:t>
            </a:r>
          </a:p>
          <a:p>
            <a:pPr marL="831214" indent="-333374"/>
            <a:endParaRPr dirty="0"/>
          </a:p>
          <a:p>
            <a:pPr marL="831214" indent="-333374"/>
            <a:r>
              <a:rPr dirty="0" err="1"/>
              <a:t>chroot</a:t>
            </a:r>
            <a:r>
              <a:rPr dirty="0"/>
              <a:t>: change root directory</a:t>
            </a:r>
          </a:p>
        </p:txBody>
      </p:sp>
      <p:sp>
        <p:nvSpPr>
          <p:cNvPr id="176"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marL="0" marR="0" lvl="0" indent="0" algn="ctr" defTabSz="5842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rPr>
              <a:pPr marL="0" marR="0" lvl="0" indent="0" algn="ctr" defTabSz="584200" rtl="0" eaLnBrk="1" fontAlgn="auto" latinLnBrk="0" hangingPunct="0">
                <a:lnSpc>
                  <a:spcPct val="100000"/>
                </a:lnSpc>
                <a:spcBef>
                  <a:spcPts val="0"/>
                </a:spcBef>
                <a:spcAft>
                  <a:spcPts val="0"/>
                </a:spcAft>
                <a:buClrTx/>
                <a:buSzTx/>
                <a:buFontTx/>
                <a:buNone/>
                <a:tabLst/>
                <a:defRPr/>
              </a:pPr>
              <a:t>87</a:t>
            </a:fld>
            <a:endPar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endParaRPr>
          </a:p>
        </p:txBody>
      </p:sp>
      <p:pic>
        <p:nvPicPr>
          <p:cNvPr id="177" name="Screen Shot 2015-02-17 at 7.27.28 AM.png" descr="Screen Shot 2015-02-17 at 7.27.28 AM.png"/>
          <p:cNvPicPr>
            <a:picLocks noChangeAspect="1"/>
          </p:cNvPicPr>
          <p:nvPr/>
        </p:nvPicPr>
        <p:blipFill>
          <a:blip r:embed="rId2"/>
          <a:stretch>
            <a:fillRect/>
          </a:stretch>
        </p:blipFill>
        <p:spPr>
          <a:xfrm>
            <a:off x="5905500" y="4101446"/>
            <a:ext cx="3238500" cy="2635780"/>
          </a:xfrm>
          <a:prstGeom prst="rect">
            <a:avLst/>
          </a:prstGeom>
        </p:spPr>
      </p:pic>
    </p:spTree>
    <p:extLst>
      <p:ext uri="{BB962C8B-B14F-4D97-AF65-F5344CB8AC3E}">
        <p14:creationId xmlns:p14="http://schemas.microsoft.com/office/powerpoint/2010/main" val="657258556"/>
      </p:ext>
    </p:extLst>
  </p:cSld>
  <p:clrMapOvr>
    <a:masterClrMapping/>
  </p:clrMapOvr>
  <p:transition spd="med"/>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2" name="Linux cgroups"/>
          <p:cNvSpPr txBox="1">
            <a:spLocks noGrp="1"/>
          </p:cNvSpPr>
          <p:nvPr>
            <p:ph type="title"/>
          </p:nvPr>
        </p:nvSpPr>
        <p:spPr>
          <a:prstGeom prst="rect">
            <a:avLst/>
          </a:prstGeom>
        </p:spPr>
        <p:txBody>
          <a:bodyPr/>
          <a:lstStyle/>
          <a:p>
            <a:r>
              <a:t>Linux cgroups </a:t>
            </a:r>
          </a:p>
        </p:txBody>
      </p:sp>
      <p:sp>
        <p:nvSpPr>
          <p:cNvPr id="183" name="Resource isolation…"/>
          <p:cNvSpPr txBox="1">
            <a:spLocks noGrp="1"/>
          </p:cNvSpPr>
          <p:nvPr>
            <p:ph type="body" idx="1"/>
          </p:nvPr>
        </p:nvSpPr>
        <p:spPr>
          <a:xfrm>
            <a:off x="222250" y="939800"/>
            <a:ext cx="8674100" cy="5257800"/>
          </a:xfrm>
          <a:prstGeom prst="rect">
            <a:avLst/>
          </a:prstGeom>
        </p:spPr>
        <p:txBody>
          <a:bodyPr/>
          <a:lstStyle/>
          <a:p>
            <a:pPr marL="807402" indent="-309562">
              <a:defRPr sz="2600"/>
            </a:pPr>
            <a:r>
              <a:t>Resource isolation  </a:t>
            </a:r>
          </a:p>
          <a:p>
            <a:pPr marL="1164589" lvl="1" indent="-209550">
              <a:defRPr sz="2200"/>
            </a:pPr>
            <a:r>
              <a:t>what and how much can a container use?</a:t>
            </a:r>
          </a:p>
          <a:p>
            <a:pPr marL="1663700" lvl="2" indent="-251460">
              <a:defRPr sz="2200"/>
            </a:pPr>
            <a:r>
              <a:t>Set upper bounds (limits) on resources that can be used</a:t>
            </a:r>
          </a:p>
          <a:p>
            <a:pPr marL="1663700" lvl="2" indent="-251460">
              <a:defRPr sz="2200"/>
            </a:pPr>
            <a:r>
              <a:t>Fair sharing of certain resources</a:t>
            </a:r>
          </a:p>
          <a:p>
            <a:pPr marL="807402" indent="-309562">
              <a:defRPr sz="2600"/>
            </a:pPr>
            <a:r>
              <a:t>Examples:</a:t>
            </a:r>
          </a:p>
          <a:p>
            <a:pPr marL="1164589" lvl="1" indent="-209550">
              <a:defRPr sz="2200"/>
            </a:pPr>
            <a:r>
              <a:t>cpu: weighted proportional share of CPU for a group</a:t>
            </a:r>
          </a:p>
          <a:p>
            <a:pPr marL="1164589" lvl="1" indent="-209550">
              <a:defRPr sz="2200"/>
            </a:pPr>
            <a:r>
              <a:t>cpuset: cores that a group can access</a:t>
            </a:r>
          </a:p>
          <a:p>
            <a:pPr marL="1164589" lvl="1" indent="-209550">
              <a:defRPr sz="2200"/>
            </a:pPr>
            <a:r>
              <a:t>block io: weighted proportional block IO access</a:t>
            </a:r>
          </a:p>
          <a:p>
            <a:pPr marL="1164589" lvl="1" indent="-209550">
              <a:defRPr sz="2200"/>
            </a:pPr>
            <a:r>
              <a:t>memory: max memory limit for a group </a:t>
            </a:r>
          </a:p>
        </p:txBody>
      </p:sp>
      <p:sp>
        <p:nvSpPr>
          <p:cNvPr id="184"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marL="0" marR="0" lvl="0" indent="0" algn="ctr" defTabSz="5842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rPr>
              <a:pPr marL="0" marR="0" lvl="0" indent="0" algn="ctr" defTabSz="584200" rtl="0" eaLnBrk="1" fontAlgn="auto" latinLnBrk="0" hangingPunct="0">
                <a:lnSpc>
                  <a:spcPct val="100000"/>
                </a:lnSpc>
                <a:spcBef>
                  <a:spcPts val="0"/>
                </a:spcBef>
                <a:spcAft>
                  <a:spcPts val="0"/>
                </a:spcAft>
                <a:buClrTx/>
                <a:buSzTx/>
                <a:buFontTx/>
                <a:buNone/>
                <a:tabLst/>
                <a:defRPr/>
              </a:pPr>
              <a:t>88</a:t>
            </a:fld>
            <a:endPar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endParaRPr>
          </a:p>
        </p:txBody>
      </p:sp>
      <p:pic>
        <p:nvPicPr>
          <p:cNvPr id="185" name="Screen Shot 2015-02-17 at 7.21.51 AM.png" descr="Screen Shot 2015-02-17 at 7.21.51 AM.png"/>
          <p:cNvPicPr>
            <a:picLocks noChangeAspect="1"/>
          </p:cNvPicPr>
          <p:nvPr/>
        </p:nvPicPr>
        <p:blipFill>
          <a:blip r:embed="rId2"/>
          <a:stretch>
            <a:fillRect/>
          </a:stretch>
        </p:blipFill>
        <p:spPr>
          <a:xfrm>
            <a:off x="3898900" y="4629551"/>
            <a:ext cx="5194300" cy="1898250"/>
          </a:xfrm>
          <a:prstGeom prst="rect">
            <a:avLst/>
          </a:prstGeom>
        </p:spPr>
      </p:pic>
      <p:pic>
        <p:nvPicPr>
          <p:cNvPr id="186" name="Screen Shot 2015-02-17 at 7.22.31 AM.png" descr="Screen Shot 2015-02-17 at 7.22.31 AM.png"/>
          <p:cNvPicPr>
            <a:picLocks noChangeAspect="1"/>
          </p:cNvPicPr>
          <p:nvPr/>
        </p:nvPicPr>
        <p:blipFill>
          <a:blip r:embed="rId3"/>
          <a:stretch>
            <a:fillRect/>
          </a:stretch>
        </p:blipFill>
        <p:spPr>
          <a:xfrm>
            <a:off x="101600" y="4963876"/>
            <a:ext cx="3406882" cy="1231901"/>
          </a:xfrm>
          <a:prstGeom prst="rect">
            <a:avLst/>
          </a:prstGeom>
        </p:spPr>
      </p:pic>
    </p:spTree>
    <p:extLst>
      <p:ext uri="{BB962C8B-B14F-4D97-AF65-F5344CB8AC3E}">
        <p14:creationId xmlns:p14="http://schemas.microsoft.com/office/powerpoint/2010/main" val="2772207666"/>
      </p:ext>
    </p:extLst>
  </p:cSld>
  <p:clrMapOvr>
    <a:masterClrMapping/>
  </p:clrMapOvr>
  <p:transition spd="med"/>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1" name="Proportional Share Scheduling"/>
          <p:cNvSpPr txBox="1">
            <a:spLocks noGrp="1"/>
          </p:cNvSpPr>
          <p:nvPr>
            <p:ph type="title"/>
          </p:nvPr>
        </p:nvSpPr>
        <p:spPr>
          <a:prstGeom prst="rect">
            <a:avLst/>
          </a:prstGeom>
        </p:spPr>
        <p:txBody>
          <a:bodyPr/>
          <a:lstStyle/>
          <a:p>
            <a:r>
              <a:t>Proportional Share Scheduling</a:t>
            </a:r>
          </a:p>
        </p:txBody>
      </p:sp>
      <p:sp>
        <p:nvSpPr>
          <p:cNvPr id="192" name="Uses a variant of  proportional-share scheduling…"/>
          <p:cNvSpPr txBox="1">
            <a:spLocks noGrp="1"/>
          </p:cNvSpPr>
          <p:nvPr>
            <p:ph type="body" idx="1"/>
          </p:nvPr>
        </p:nvSpPr>
        <p:spPr>
          <a:xfrm>
            <a:off x="234950" y="1023257"/>
            <a:ext cx="8674100" cy="5834743"/>
          </a:xfrm>
          <a:prstGeom prst="rect">
            <a:avLst/>
          </a:prstGeom>
        </p:spPr>
        <p:txBody>
          <a:bodyPr/>
          <a:lstStyle/>
          <a:p>
            <a:r>
              <a:rPr lang="en-US" dirty="0"/>
              <a:t>Resource allocation</a:t>
            </a:r>
          </a:p>
          <a:p>
            <a:pPr lvl="1"/>
            <a:r>
              <a:rPr dirty="0"/>
              <a:t>Uses a variant of  </a:t>
            </a:r>
            <a:r>
              <a:rPr i="1" dirty="0"/>
              <a:t>proportional-share scheduling</a:t>
            </a:r>
          </a:p>
          <a:p>
            <a:r>
              <a:rPr i="1" dirty="0"/>
              <a:t>Share-based</a:t>
            </a:r>
            <a:r>
              <a:rPr dirty="0"/>
              <a:t> scheduling: </a:t>
            </a:r>
          </a:p>
          <a:p>
            <a:pPr lvl="1"/>
            <a:r>
              <a:rPr dirty="0"/>
              <a:t>Assign each process a weight </a:t>
            </a:r>
            <a:r>
              <a:rPr dirty="0" err="1"/>
              <a:t>w_i</a:t>
            </a:r>
            <a:r>
              <a:rPr dirty="0"/>
              <a:t>  (a “share”)</a:t>
            </a:r>
          </a:p>
          <a:p>
            <a:pPr lvl="1"/>
            <a:r>
              <a:rPr lang="en-US" dirty="0"/>
              <a:t>E.g., CPU </a:t>
            </a:r>
            <a:r>
              <a:rPr dirty="0"/>
              <a:t>Allocation is in proportion to </a:t>
            </a:r>
            <a:r>
              <a:rPr lang="en-US" dirty="0"/>
              <a:t>the ‘</a:t>
            </a:r>
            <a:r>
              <a:rPr dirty="0"/>
              <a:t>share</a:t>
            </a:r>
            <a:r>
              <a:rPr lang="en-US" dirty="0"/>
              <a:t>'</a:t>
            </a:r>
            <a:endParaRPr dirty="0"/>
          </a:p>
          <a:p>
            <a:pPr lvl="1"/>
            <a:r>
              <a:rPr dirty="0"/>
              <a:t>fairness: reused unused cycles to others in proportion to weight</a:t>
            </a:r>
          </a:p>
          <a:p>
            <a:pPr lvl="1"/>
            <a:r>
              <a:rPr dirty="0"/>
              <a:t>Examples: fair queuing, start time fair queuing </a:t>
            </a:r>
          </a:p>
          <a:p>
            <a:r>
              <a:rPr i="1" dirty="0"/>
              <a:t>Hard limits</a:t>
            </a:r>
            <a:r>
              <a:rPr dirty="0"/>
              <a:t>:  assign upper bounds (e.g., 30%), no reallocation</a:t>
            </a:r>
          </a:p>
          <a:p>
            <a:r>
              <a:rPr dirty="0"/>
              <a:t>Credit-based: allocate credits every time T, can accumulate credits, and can burst up-to credit limit</a:t>
            </a:r>
          </a:p>
          <a:p>
            <a:pPr lvl="1"/>
            <a:r>
              <a:rPr dirty="0"/>
              <a:t>can a process starve other processes?</a:t>
            </a:r>
          </a:p>
        </p:txBody>
      </p:sp>
      <p:sp>
        <p:nvSpPr>
          <p:cNvPr id="19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marL="0" marR="0" lvl="0" indent="0" algn="ctr" defTabSz="5842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rPr>
              <a:pPr marL="0" marR="0" lvl="0" indent="0" algn="ctr" defTabSz="584200" rtl="0" eaLnBrk="1" fontAlgn="auto" latinLnBrk="0" hangingPunct="0">
                <a:lnSpc>
                  <a:spcPct val="100000"/>
                </a:lnSpc>
                <a:spcBef>
                  <a:spcPts val="0"/>
                </a:spcBef>
                <a:spcAft>
                  <a:spcPts val="0"/>
                </a:spcAft>
                <a:buClrTx/>
                <a:buSzTx/>
                <a:buFontTx/>
                <a:buNone/>
                <a:tabLst/>
                <a:defRPr/>
              </a:pPr>
              <a:t>89</a:t>
            </a:fld>
            <a:endPar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endParaRPr>
          </a:p>
        </p:txBody>
      </p:sp>
    </p:spTree>
    <p:extLst>
      <p:ext uri="{BB962C8B-B14F-4D97-AF65-F5344CB8AC3E}">
        <p14:creationId xmlns:p14="http://schemas.microsoft.com/office/powerpoint/2010/main" val="1179919333"/>
      </p:ext>
    </p:extLst>
  </p:cSld>
  <p:clrMapOvr>
    <a:masterClrMapping/>
  </p:clrMapOvr>
  <p:transition spd="med"/>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8" name="Share-based Schedulers"/>
          <p:cNvSpPr txBox="1">
            <a:spLocks noGrp="1"/>
          </p:cNvSpPr>
          <p:nvPr>
            <p:ph type="title"/>
          </p:nvPr>
        </p:nvSpPr>
        <p:spPr>
          <a:prstGeom prst="rect">
            <a:avLst/>
          </a:prstGeom>
        </p:spPr>
        <p:txBody>
          <a:bodyPr/>
          <a:lstStyle/>
          <a:p>
            <a:r>
              <a:t>Share-based Schedulers</a:t>
            </a:r>
          </a:p>
        </p:txBody>
      </p:sp>
      <p:sp>
        <p:nvSpPr>
          <p:cNvPr id="199"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marL="0" marR="0" lvl="0" indent="0" algn="ctr" defTabSz="5842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rPr>
              <a:pPr marL="0" marR="0" lvl="0" indent="0" algn="ctr" defTabSz="584200" rtl="0" eaLnBrk="1" fontAlgn="auto" latinLnBrk="0" hangingPunct="0">
                <a:lnSpc>
                  <a:spcPct val="100000"/>
                </a:lnSpc>
                <a:spcBef>
                  <a:spcPts val="0"/>
                </a:spcBef>
                <a:spcAft>
                  <a:spcPts val="0"/>
                </a:spcAft>
                <a:buClrTx/>
                <a:buSzTx/>
                <a:buFontTx/>
                <a:buNone/>
                <a:tabLst/>
                <a:defRPr/>
              </a:pPr>
              <a:t>90</a:t>
            </a:fld>
            <a:endPar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endParaRPr>
          </a:p>
        </p:txBody>
      </p:sp>
      <p:pic>
        <p:nvPicPr>
          <p:cNvPr id="200" name="Screen Shot 2016-02-08 at 5.46.35 AM.png" descr="Screen Shot 2016-02-08 at 5.46.35 AM.png"/>
          <p:cNvPicPr>
            <a:picLocks noChangeAspect="1"/>
          </p:cNvPicPr>
          <p:nvPr/>
        </p:nvPicPr>
        <p:blipFill>
          <a:blip r:embed="rId2"/>
          <a:stretch>
            <a:fillRect/>
          </a:stretch>
        </p:blipFill>
        <p:spPr>
          <a:xfrm>
            <a:off x="696173" y="1239095"/>
            <a:ext cx="7004889" cy="2195410"/>
          </a:xfrm>
          <a:prstGeom prst="rect">
            <a:avLst/>
          </a:prstGeom>
        </p:spPr>
      </p:pic>
      <p:pic>
        <p:nvPicPr>
          <p:cNvPr id="201" name="Screen Shot 2016-02-08 at 5.47.26 AM.png" descr="Screen Shot 2016-02-08 at 5.47.26 AM.png"/>
          <p:cNvPicPr>
            <a:picLocks noChangeAspect="1"/>
          </p:cNvPicPr>
          <p:nvPr/>
        </p:nvPicPr>
        <p:blipFill>
          <a:blip r:embed="rId3"/>
          <a:stretch>
            <a:fillRect/>
          </a:stretch>
        </p:blipFill>
        <p:spPr>
          <a:xfrm>
            <a:off x="29366" y="3641228"/>
            <a:ext cx="9144001" cy="1228726"/>
          </a:xfrm>
          <a:prstGeom prst="rect">
            <a:avLst/>
          </a:prstGeom>
        </p:spPr>
      </p:pic>
      <p:pic>
        <p:nvPicPr>
          <p:cNvPr id="202" name="Screen Shot 2016-02-08 at 5.48.49 AM.png" descr="Screen Shot 2016-02-08 at 5.48.49 AM.png"/>
          <p:cNvPicPr>
            <a:picLocks noChangeAspect="1"/>
          </p:cNvPicPr>
          <p:nvPr/>
        </p:nvPicPr>
        <p:blipFill>
          <a:blip r:embed="rId4"/>
          <a:stretch>
            <a:fillRect/>
          </a:stretch>
        </p:blipFill>
        <p:spPr>
          <a:xfrm>
            <a:off x="1469" y="5154257"/>
            <a:ext cx="9144001" cy="809840"/>
          </a:xfrm>
          <a:prstGeom prst="rect">
            <a:avLst/>
          </a:prstGeom>
        </p:spPr>
      </p:pic>
    </p:spTree>
    <p:extLst>
      <p:ext uri="{BB962C8B-B14F-4D97-AF65-F5344CB8AC3E}">
        <p14:creationId xmlns:p14="http://schemas.microsoft.com/office/powerpoint/2010/main" val="3194089423"/>
      </p:ext>
    </p:extLst>
  </p:cSld>
  <p:clrMapOvr>
    <a:masterClrMapping/>
  </p:clrMapOvr>
  <p:transition spd="med"/>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7" name="Putting it all together"/>
          <p:cNvSpPr txBox="1">
            <a:spLocks noGrp="1"/>
          </p:cNvSpPr>
          <p:nvPr>
            <p:ph type="title"/>
          </p:nvPr>
        </p:nvSpPr>
        <p:spPr>
          <a:prstGeom prst="rect">
            <a:avLst/>
          </a:prstGeom>
        </p:spPr>
        <p:txBody>
          <a:bodyPr/>
          <a:lstStyle/>
          <a:p>
            <a:r>
              <a:t>Putting it all together</a:t>
            </a:r>
          </a:p>
        </p:txBody>
      </p:sp>
      <p:sp>
        <p:nvSpPr>
          <p:cNvPr id="208" name="Images: files/data for a container…"/>
          <p:cNvSpPr txBox="1">
            <a:spLocks noGrp="1"/>
          </p:cNvSpPr>
          <p:nvPr>
            <p:ph type="body" idx="1"/>
          </p:nvPr>
        </p:nvSpPr>
        <p:spPr>
          <a:xfrm>
            <a:off x="234950" y="1299990"/>
            <a:ext cx="8674100" cy="5558010"/>
          </a:xfrm>
          <a:prstGeom prst="rect">
            <a:avLst/>
          </a:prstGeom>
        </p:spPr>
        <p:txBody>
          <a:bodyPr/>
          <a:lstStyle/>
          <a:p>
            <a:pPr marL="783590" indent="-285750">
              <a:defRPr sz="2400"/>
            </a:pPr>
            <a:r>
              <a:rPr dirty="0"/>
              <a:t>Images: files/data for a container</a:t>
            </a:r>
          </a:p>
          <a:p>
            <a:pPr marL="1145539" lvl="1" indent="-190500">
              <a:defRPr sz="2000"/>
            </a:pPr>
            <a:r>
              <a:rPr dirty="0"/>
              <a:t>can run different distributions/apps on a host</a:t>
            </a:r>
          </a:p>
          <a:p>
            <a:pPr marL="783590" indent="-285750">
              <a:defRPr sz="2400"/>
            </a:pPr>
            <a:r>
              <a:rPr dirty="0"/>
              <a:t>Linux security modules and access control</a:t>
            </a:r>
          </a:p>
          <a:p>
            <a:pPr marL="783590" indent="-285750">
              <a:defRPr sz="2400"/>
            </a:pPr>
            <a:r>
              <a:rPr dirty="0"/>
              <a:t>Linux capabilities: per process privileges</a:t>
            </a:r>
          </a:p>
        </p:txBody>
      </p:sp>
      <p:sp>
        <p:nvSpPr>
          <p:cNvPr id="209"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marL="0" marR="0" lvl="0" indent="0" algn="ctr" defTabSz="5842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rPr>
              <a:pPr marL="0" marR="0" lvl="0" indent="0" algn="ctr" defTabSz="584200" rtl="0" eaLnBrk="1" fontAlgn="auto" latinLnBrk="0" hangingPunct="0">
                <a:lnSpc>
                  <a:spcPct val="100000"/>
                </a:lnSpc>
                <a:spcBef>
                  <a:spcPts val="0"/>
                </a:spcBef>
                <a:spcAft>
                  <a:spcPts val="0"/>
                </a:spcAft>
                <a:buClrTx/>
                <a:buSzTx/>
                <a:buFontTx/>
                <a:buNone/>
                <a:tabLst/>
                <a:defRPr/>
              </a:pPr>
              <a:t>91</a:t>
            </a:fld>
            <a:endPar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endParaRPr>
          </a:p>
        </p:txBody>
      </p:sp>
      <p:pic>
        <p:nvPicPr>
          <p:cNvPr id="210" name="Screen Shot 2015-02-17 at 7.34.35 AM.png" descr="Screen Shot 2015-02-17 at 7.34.35 AM.png"/>
          <p:cNvPicPr>
            <a:picLocks noChangeAspect="1"/>
          </p:cNvPicPr>
          <p:nvPr/>
        </p:nvPicPr>
        <p:blipFill>
          <a:blip r:embed="rId2"/>
          <a:stretch>
            <a:fillRect/>
          </a:stretch>
        </p:blipFill>
        <p:spPr>
          <a:xfrm>
            <a:off x="2362200" y="3208430"/>
            <a:ext cx="5410200" cy="3420970"/>
          </a:xfrm>
          <a:prstGeom prst="rect">
            <a:avLst/>
          </a:prstGeom>
        </p:spPr>
      </p:pic>
    </p:spTree>
    <p:extLst>
      <p:ext uri="{BB962C8B-B14F-4D97-AF65-F5344CB8AC3E}">
        <p14:creationId xmlns:p14="http://schemas.microsoft.com/office/powerpoint/2010/main" val="2689175094"/>
      </p:ext>
    </p:extLst>
  </p:cSld>
  <p:clrMapOvr>
    <a:masterClrMapping/>
  </p:clrMapOvr>
  <p:transition spd="med"/>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 name="Docker and Linux Containers"/>
          <p:cNvSpPr txBox="1">
            <a:spLocks noGrp="1"/>
          </p:cNvSpPr>
          <p:nvPr>
            <p:ph type="title"/>
          </p:nvPr>
        </p:nvSpPr>
        <p:spPr>
          <a:prstGeom prst="rect">
            <a:avLst/>
          </a:prstGeom>
        </p:spPr>
        <p:txBody>
          <a:bodyPr/>
          <a:lstStyle/>
          <a:p>
            <a:r>
              <a:t>Docker and Linux Containers</a:t>
            </a:r>
          </a:p>
        </p:txBody>
      </p:sp>
      <p:sp>
        <p:nvSpPr>
          <p:cNvPr id="216" name="Linux containers are a set of kernel features…"/>
          <p:cNvSpPr txBox="1">
            <a:spLocks noGrp="1"/>
          </p:cNvSpPr>
          <p:nvPr>
            <p:ph type="body" idx="1"/>
          </p:nvPr>
        </p:nvSpPr>
        <p:spPr>
          <a:xfrm>
            <a:off x="120650" y="1600200"/>
            <a:ext cx="8788400" cy="5257800"/>
          </a:xfrm>
          <a:prstGeom prst="rect">
            <a:avLst/>
          </a:prstGeom>
        </p:spPr>
        <p:txBody>
          <a:bodyPr/>
          <a:lstStyle/>
          <a:p>
            <a:pPr marL="831214" indent="-333374"/>
            <a:r>
              <a:rPr dirty="0"/>
              <a:t>Linux containers are a set of kernel features</a:t>
            </a:r>
          </a:p>
          <a:p>
            <a:pPr marL="1183639" lvl="1" indent="-228600"/>
            <a:r>
              <a:rPr dirty="0"/>
              <a:t>Need user space tools to manage containers</a:t>
            </a:r>
          </a:p>
          <a:p>
            <a:pPr marL="1183639" lvl="1" indent="-228600"/>
            <a:r>
              <a:rPr dirty="0" err="1"/>
              <a:t>Virtuoze</a:t>
            </a:r>
            <a:r>
              <a:rPr dirty="0"/>
              <a:t>, </a:t>
            </a:r>
            <a:r>
              <a:rPr dirty="0" err="1"/>
              <a:t>OpenVZm</a:t>
            </a:r>
            <a:r>
              <a:rPr dirty="0"/>
              <a:t>, </a:t>
            </a:r>
            <a:r>
              <a:rPr dirty="0" err="1"/>
              <a:t>VServer</a:t>
            </a:r>
            <a:r>
              <a:rPr dirty="0"/>
              <a:t>,</a:t>
            </a:r>
            <a:r>
              <a:rPr lang="en-US" dirty="0"/>
              <a:t> </a:t>
            </a:r>
            <a:r>
              <a:rPr dirty="0" err="1"/>
              <a:t>Lxc</a:t>
            </a:r>
            <a:r>
              <a:rPr dirty="0"/>
              <a:t>-tools, </a:t>
            </a:r>
            <a:r>
              <a:rPr dirty="0" err="1"/>
              <a:t>Wardenm</a:t>
            </a:r>
            <a:r>
              <a:rPr dirty="0"/>
              <a:t> Docker</a:t>
            </a:r>
          </a:p>
          <a:p>
            <a:pPr marL="831214" indent="-333374"/>
            <a:r>
              <a:rPr dirty="0"/>
              <a:t>What does Docker add to Linux containers?</a:t>
            </a:r>
          </a:p>
          <a:p>
            <a:pPr marL="1183639" lvl="1" indent="-228600"/>
            <a:r>
              <a:rPr dirty="0"/>
              <a:t>Portable container deployment across machines</a:t>
            </a:r>
          </a:p>
          <a:p>
            <a:pPr marL="1183639" lvl="1" indent="-228600"/>
            <a:r>
              <a:rPr dirty="0"/>
              <a:t>Application-centric: geared for app deployment</a:t>
            </a:r>
          </a:p>
          <a:p>
            <a:pPr marL="1183639" lvl="1" indent="-228600"/>
            <a:r>
              <a:rPr dirty="0"/>
              <a:t>Automatic builds: create containers from build files</a:t>
            </a:r>
          </a:p>
          <a:p>
            <a:pPr marL="1183639" lvl="1" indent="-228600"/>
            <a:r>
              <a:rPr dirty="0"/>
              <a:t>Component re-use</a:t>
            </a:r>
          </a:p>
          <a:p>
            <a:pPr marL="831214" indent="-333374"/>
            <a:r>
              <a:rPr dirty="0"/>
              <a:t>Docker containers are self-contained: no dependencies</a:t>
            </a:r>
          </a:p>
        </p:txBody>
      </p:sp>
      <p:sp>
        <p:nvSpPr>
          <p:cNvPr id="217"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marL="0" marR="0" lvl="0" indent="0" algn="ctr" defTabSz="5842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rPr>
              <a:pPr marL="0" marR="0" lvl="0" indent="0" algn="ctr" defTabSz="584200" rtl="0" eaLnBrk="1" fontAlgn="auto" latinLnBrk="0" hangingPunct="0">
                <a:lnSpc>
                  <a:spcPct val="100000"/>
                </a:lnSpc>
                <a:spcBef>
                  <a:spcPts val="0"/>
                </a:spcBef>
                <a:spcAft>
                  <a:spcPts val="0"/>
                </a:spcAft>
                <a:buClrTx/>
                <a:buSzTx/>
                <a:buFontTx/>
                <a:buNone/>
                <a:tabLst/>
                <a:defRPr/>
              </a:pPr>
              <a:t>92</a:t>
            </a:fld>
            <a:endPar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endParaRPr>
          </a:p>
        </p:txBody>
      </p:sp>
    </p:spTree>
    <p:extLst>
      <p:ext uri="{BB962C8B-B14F-4D97-AF65-F5344CB8AC3E}">
        <p14:creationId xmlns:p14="http://schemas.microsoft.com/office/powerpoint/2010/main" val="1881545468"/>
      </p:ext>
    </p:extLst>
  </p:cSld>
  <p:clrMapOvr>
    <a:masterClrMapping/>
  </p:clrMapOvr>
  <p:transition spd="med"/>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2" name="Docker"/>
          <p:cNvSpPr txBox="1">
            <a:spLocks noGrp="1"/>
          </p:cNvSpPr>
          <p:nvPr>
            <p:ph type="title"/>
          </p:nvPr>
        </p:nvSpPr>
        <p:spPr>
          <a:prstGeom prst="rect">
            <a:avLst/>
          </a:prstGeom>
        </p:spPr>
        <p:txBody>
          <a:bodyPr/>
          <a:lstStyle/>
          <a:p>
            <a:r>
              <a:t>Docker</a:t>
            </a:r>
          </a:p>
        </p:txBody>
      </p:sp>
      <p:sp>
        <p:nvSpPr>
          <p:cNvPr id="223" name="Docker uses Linux containers"/>
          <p:cNvSpPr txBox="1">
            <a:spLocks noGrp="1"/>
          </p:cNvSpPr>
          <p:nvPr>
            <p:ph type="body" idx="1"/>
          </p:nvPr>
        </p:nvSpPr>
        <p:spPr>
          <a:prstGeom prst="rect">
            <a:avLst/>
          </a:prstGeom>
        </p:spPr>
        <p:txBody>
          <a:bodyPr/>
          <a:lstStyle>
            <a:lvl1pPr marL="831214" indent="-333374"/>
          </a:lstStyle>
          <a:p>
            <a:r>
              <a:t>Docker uses Linux containers</a:t>
            </a:r>
          </a:p>
        </p:txBody>
      </p:sp>
      <p:sp>
        <p:nvSpPr>
          <p:cNvPr id="224"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marL="0" marR="0" lvl="0" indent="0" algn="ctr" defTabSz="5842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rPr>
              <a:pPr marL="0" marR="0" lvl="0" indent="0" algn="ctr" defTabSz="584200" rtl="0" eaLnBrk="1" fontAlgn="auto" latinLnBrk="0" hangingPunct="0">
                <a:lnSpc>
                  <a:spcPct val="100000"/>
                </a:lnSpc>
                <a:spcBef>
                  <a:spcPts val="0"/>
                </a:spcBef>
                <a:spcAft>
                  <a:spcPts val="0"/>
                </a:spcAft>
                <a:buClrTx/>
                <a:buSzTx/>
                <a:buFontTx/>
                <a:buNone/>
                <a:tabLst/>
                <a:defRPr/>
              </a:pPr>
              <a:t>93</a:t>
            </a:fld>
            <a:endPar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endParaRPr>
          </a:p>
        </p:txBody>
      </p:sp>
      <p:pic>
        <p:nvPicPr>
          <p:cNvPr id="225" name="Screen Shot 2015-02-17 at 7.41.21 AM.png" descr="Screen Shot 2015-02-17 at 7.41.21 AM.png"/>
          <p:cNvPicPr>
            <a:picLocks noChangeAspect="1"/>
          </p:cNvPicPr>
          <p:nvPr/>
        </p:nvPicPr>
        <p:blipFill>
          <a:blip r:embed="rId2"/>
          <a:stretch>
            <a:fillRect/>
          </a:stretch>
        </p:blipFill>
        <p:spPr>
          <a:xfrm>
            <a:off x="1193800" y="2527300"/>
            <a:ext cx="5846163" cy="3390900"/>
          </a:xfrm>
          <a:prstGeom prst="rect">
            <a:avLst/>
          </a:prstGeom>
        </p:spPr>
      </p:pic>
    </p:spTree>
    <p:extLst>
      <p:ext uri="{BB962C8B-B14F-4D97-AF65-F5344CB8AC3E}">
        <p14:creationId xmlns:p14="http://schemas.microsoft.com/office/powerpoint/2010/main" val="235008297"/>
      </p:ext>
    </p:extLst>
  </p:cSld>
  <p:clrMapOvr>
    <a:masterClrMapping/>
  </p:clrMapOvr>
  <p:transition spd="med"/>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0" name="LXC Virtualization Using Docker"/>
          <p:cNvSpPr txBox="1">
            <a:spLocks noGrp="1"/>
          </p:cNvSpPr>
          <p:nvPr>
            <p:ph type="title"/>
          </p:nvPr>
        </p:nvSpPr>
        <p:spPr>
          <a:prstGeom prst="rect">
            <a:avLst/>
          </a:prstGeom>
        </p:spPr>
        <p:txBody>
          <a:bodyPr/>
          <a:lstStyle/>
          <a:p>
            <a:r>
              <a:t>LXC Virtualization Using Docker</a:t>
            </a:r>
          </a:p>
        </p:txBody>
      </p:sp>
      <p:sp>
        <p:nvSpPr>
          <p:cNvPr id="231" name="Portable: docker images run  anywhere docker runs…"/>
          <p:cNvSpPr txBox="1">
            <a:spLocks noGrp="1"/>
          </p:cNvSpPr>
          <p:nvPr>
            <p:ph type="body" idx="1"/>
          </p:nvPr>
        </p:nvSpPr>
        <p:spPr>
          <a:xfrm>
            <a:off x="120650" y="1479426"/>
            <a:ext cx="8902700" cy="5257800"/>
          </a:xfrm>
          <a:prstGeom prst="rect">
            <a:avLst/>
          </a:prstGeom>
        </p:spPr>
        <p:txBody>
          <a:bodyPr/>
          <a:lstStyle/>
          <a:p>
            <a:pPr marL="831214" indent="-333374"/>
            <a:r>
              <a:rPr dirty="0"/>
              <a:t>Portable: docker images run anywhere </a:t>
            </a:r>
            <a:r>
              <a:rPr lang="en-US" dirty="0"/>
              <a:t>D</a:t>
            </a:r>
            <a:r>
              <a:rPr dirty="0"/>
              <a:t>ocker runs</a:t>
            </a:r>
          </a:p>
          <a:p>
            <a:pPr marL="831214" indent="-333374"/>
            <a:r>
              <a:rPr dirty="0"/>
              <a:t>Docker decouples LXC provider from operations</a:t>
            </a:r>
          </a:p>
          <a:p>
            <a:pPr marL="1183639" lvl="1" indent="-228600"/>
            <a:r>
              <a:rPr dirty="0"/>
              <a:t>uses virtual resources  (LXC virtualization)</a:t>
            </a:r>
            <a:endParaRPr lang="en-US" dirty="0"/>
          </a:p>
          <a:p>
            <a:pPr marL="1183639" lvl="1" indent="-228600"/>
            <a:r>
              <a:rPr dirty="0"/>
              <a:t>fair share of physical NIC vs use virtual NICs that are fair-shared</a:t>
            </a:r>
          </a:p>
        </p:txBody>
      </p:sp>
      <p:sp>
        <p:nvSpPr>
          <p:cNvPr id="232"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marL="0" marR="0" lvl="0" indent="0" algn="ctr" defTabSz="5842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rPr>
              <a:pPr marL="0" marR="0" lvl="0" indent="0" algn="ctr" defTabSz="584200" rtl="0" eaLnBrk="1" fontAlgn="auto" latinLnBrk="0" hangingPunct="0">
                <a:lnSpc>
                  <a:spcPct val="100000"/>
                </a:lnSpc>
                <a:spcBef>
                  <a:spcPts val="0"/>
                </a:spcBef>
                <a:spcAft>
                  <a:spcPts val="0"/>
                </a:spcAft>
                <a:buClrTx/>
                <a:buSzTx/>
                <a:buFontTx/>
                <a:buNone/>
                <a:tabLst/>
                <a:defRPr/>
              </a:pPr>
              <a:t>94</a:t>
            </a:fld>
            <a:endPar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endParaRPr>
          </a:p>
        </p:txBody>
      </p:sp>
      <p:pic>
        <p:nvPicPr>
          <p:cNvPr id="233" name="Screen Shot 2015-02-17 at 7.45.38 AM.png" descr="Screen Shot 2015-02-17 at 7.45.38 AM.png"/>
          <p:cNvPicPr>
            <a:picLocks noChangeAspect="1"/>
          </p:cNvPicPr>
          <p:nvPr/>
        </p:nvPicPr>
        <p:blipFill>
          <a:blip r:embed="rId2"/>
          <a:stretch>
            <a:fillRect/>
          </a:stretch>
        </p:blipFill>
        <p:spPr>
          <a:xfrm>
            <a:off x="805543" y="3736211"/>
            <a:ext cx="7620000" cy="2893189"/>
          </a:xfrm>
          <a:prstGeom prst="rect">
            <a:avLst/>
          </a:prstGeom>
        </p:spPr>
      </p:pic>
    </p:spTree>
    <p:extLst>
      <p:ext uri="{BB962C8B-B14F-4D97-AF65-F5344CB8AC3E}">
        <p14:creationId xmlns:p14="http://schemas.microsoft.com/office/powerpoint/2010/main" val="2368240431"/>
      </p:ext>
    </p:extLst>
  </p:cSld>
  <p:clrMapOvr>
    <a:masterClrMapping/>
  </p:clrMapOvr>
  <p:transition spd="med"/>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8" name="Docker Images and Use"/>
          <p:cNvSpPr txBox="1">
            <a:spLocks noGrp="1"/>
          </p:cNvSpPr>
          <p:nvPr>
            <p:ph type="title"/>
          </p:nvPr>
        </p:nvSpPr>
        <p:spPr>
          <a:prstGeom prst="rect">
            <a:avLst/>
          </a:prstGeom>
        </p:spPr>
        <p:txBody>
          <a:bodyPr/>
          <a:lstStyle/>
          <a:p>
            <a:r>
              <a:t>Docker Images and Use</a:t>
            </a:r>
          </a:p>
        </p:txBody>
      </p:sp>
      <p:sp>
        <p:nvSpPr>
          <p:cNvPr id="239" name="Docker uses a union file system (AuFS)…"/>
          <p:cNvSpPr txBox="1">
            <a:spLocks noGrp="1"/>
          </p:cNvSpPr>
          <p:nvPr>
            <p:ph type="body" idx="1"/>
          </p:nvPr>
        </p:nvSpPr>
        <p:spPr>
          <a:prstGeom prst="rect">
            <a:avLst/>
          </a:prstGeom>
        </p:spPr>
        <p:txBody>
          <a:bodyPr/>
          <a:lstStyle/>
          <a:p>
            <a:pPr marL="831214" indent="-333374"/>
            <a:r>
              <a:t>Docker uses a union file system (AuFS)</a:t>
            </a:r>
          </a:p>
          <a:p>
            <a:pPr marL="1183639" lvl="1" indent="-228600"/>
            <a:r>
              <a:t>allows containers to use host FS safely</a:t>
            </a:r>
          </a:p>
          <a:p>
            <a:pPr marL="831214" indent="-333374"/>
            <a:r>
              <a:t>Essentially a copy-on-write file system</a:t>
            </a:r>
          </a:p>
          <a:p>
            <a:pPr marL="1183639" lvl="1" indent="-228600"/>
            <a:r>
              <a:t>read-only files shared  (e.g., share glibc)</a:t>
            </a:r>
          </a:p>
          <a:p>
            <a:pPr marL="1183639" lvl="1" indent="-228600"/>
            <a:r>
              <a:t>make a copy upon write</a:t>
            </a:r>
          </a:p>
          <a:p>
            <a:pPr marL="831214" indent="-333374"/>
            <a:r>
              <a:t>Allows for small efficient container images</a:t>
            </a:r>
          </a:p>
          <a:p>
            <a:pPr marL="831214" indent="-333374"/>
            <a:r>
              <a:t>Docker Use Cases</a:t>
            </a:r>
          </a:p>
          <a:p>
            <a:pPr marL="1183639" lvl="1" indent="-228600"/>
            <a:r>
              <a:t>“Run once, deploy anywhere”</a:t>
            </a:r>
          </a:p>
          <a:p>
            <a:pPr marL="1183639" lvl="1" indent="-228600"/>
            <a:r>
              <a:t>Images can be pulled/pushed to repository</a:t>
            </a:r>
          </a:p>
          <a:p>
            <a:pPr marL="1183639" lvl="1" indent="-228600"/>
            <a:r>
              <a:t>Containers can be a single process (useful for microservices) or a full OS</a:t>
            </a:r>
          </a:p>
        </p:txBody>
      </p:sp>
      <p:sp>
        <p:nvSpPr>
          <p:cNvPr id="240"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marL="0" marR="0" lvl="0" indent="0" algn="ctr" defTabSz="5842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rPr>
              <a:pPr marL="0" marR="0" lvl="0" indent="0" algn="ctr" defTabSz="584200" rtl="0" eaLnBrk="1" fontAlgn="auto" latinLnBrk="0" hangingPunct="0">
                <a:lnSpc>
                  <a:spcPct val="100000"/>
                </a:lnSpc>
                <a:spcBef>
                  <a:spcPts val="0"/>
                </a:spcBef>
                <a:spcAft>
                  <a:spcPts val="0"/>
                </a:spcAft>
                <a:buClrTx/>
                <a:buSzTx/>
                <a:buFontTx/>
                <a:buNone/>
                <a:tabLst/>
                <a:defRPr/>
              </a:pPr>
              <a:t>95</a:t>
            </a:fld>
            <a:endPar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endParaRPr>
          </a:p>
        </p:txBody>
      </p:sp>
    </p:spTree>
    <p:extLst>
      <p:ext uri="{BB962C8B-B14F-4D97-AF65-F5344CB8AC3E}">
        <p14:creationId xmlns:p14="http://schemas.microsoft.com/office/powerpoint/2010/main" val="2039236227"/>
      </p:ext>
    </p:extLst>
  </p:cSld>
  <p:clrMapOvr>
    <a:masterClrMapping/>
  </p:clrMapOvr>
  <p:transition spd="med"/>
</p:sld>
</file>

<file path=ppt/slides/slide96.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45" name="Use of Virtualization Today"/>
          <p:cNvSpPr txBox="1">
            <a:spLocks noGrp="1"/>
          </p:cNvSpPr>
          <p:nvPr>
            <p:ph type="title"/>
          </p:nvPr>
        </p:nvSpPr>
        <p:spPr>
          <a:prstGeom prst="rect">
            <a:avLst/>
          </a:prstGeom>
        </p:spPr>
        <p:txBody>
          <a:bodyPr/>
          <a:lstStyle/>
          <a:p>
            <a:r>
              <a:t>Use of Virtualization Today</a:t>
            </a:r>
          </a:p>
        </p:txBody>
      </p:sp>
      <p:sp>
        <p:nvSpPr>
          <p:cNvPr id="246" name="Data centers:…"/>
          <p:cNvSpPr txBox="1">
            <a:spLocks noGrp="1"/>
          </p:cNvSpPr>
          <p:nvPr>
            <p:ph type="body" idx="1"/>
          </p:nvPr>
        </p:nvSpPr>
        <p:spPr>
          <a:xfrm>
            <a:off x="215900" y="1135062"/>
            <a:ext cx="8674100" cy="5257800"/>
          </a:xfrm>
          <a:prstGeom prst="rect">
            <a:avLst/>
          </a:prstGeom>
        </p:spPr>
        <p:txBody>
          <a:bodyPr/>
          <a:lstStyle/>
          <a:p>
            <a:pPr marL="831214" indent="-333374"/>
            <a:r>
              <a:rPr dirty="0"/>
              <a:t>Data centers:</a:t>
            </a:r>
          </a:p>
          <a:p>
            <a:pPr marL="1183639" lvl="1" indent="-228600"/>
            <a:r>
              <a:rPr dirty="0"/>
              <a:t>server consolidation: pack multiple virtual servers onto a smaller number of physical server</a:t>
            </a:r>
            <a:r>
              <a:rPr lang="en-US" dirty="0"/>
              <a:t>s</a:t>
            </a:r>
            <a:endParaRPr dirty="0"/>
          </a:p>
          <a:p>
            <a:pPr marL="1686559" lvl="2" indent="-274319"/>
            <a:r>
              <a:rPr dirty="0"/>
              <a:t>saves hardware costs, power and cooling costs</a:t>
            </a:r>
          </a:p>
          <a:p>
            <a:pPr marL="831214" indent="-333374"/>
            <a:r>
              <a:rPr dirty="0"/>
              <a:t>Cloud computing: rent virtual servers</a:t>
            </a:r>
          </a:p>
          <a:p>
            <a:pPr marL="1183639" lvl="1" indent="-228600"/>
            <a:r>
              <a:rPr dirty="0"/>
              <a:t>cloud provider controls physical machines and mapping of virtual servers to physical hosts</a:t>
            </a:r>
          </a:p>
          <a:p>
            <a:pPr marL="1183639" lvl="1" indent="-228600"/>
            <a:r>
              <a:rPr dirty="0"/>
              <a:t>User gets root access on virtual server</a:t>
            </a:r>
          </a:p>
          <a:p>
            <a:pPr marL="831214" indent="-333374"/>
            <a:r>
              <a:rPr dirty="0"/>
              <a:t>Desktop computing: </a:t>
            </a:r>
          </a:p>
          <a:p>
            <a:pPr marL="1183639" lvl="1" indent="-228600"/>
            <a:r>
              <a:rPr dirty="0"/>
              <a:t>Multi-platform software development </a:t>
            </a:r>
          </a:p>
          <a:p>
            <a:pPr marL="1183639" lvl="1" indent="-228600"/>
            <a:r>
              <a:rPr dirty="0"/>
              <a:t>Testing machines</a:t>
            </a:r>
          </a:p>
          <a:p>
            <a:pPr marL="1183639" lvl="1" indent="-228600"/>
            <a:r>
              <a:rPr dirty="0"/>
              <a:t>Run apps from another platform</a:t>
            </a:r>
          </a:p>
        </p:txBody>
      </p:sp>
      <p:sp>
        <p:nvSpPr>
          <p:cNvPr id="247"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marL="0" marR="0" lvl="0" indent="0" algn="ctr" defTabSz="5842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rPr>
              <a:pPr marL="0" marR="0" lvl="0" indent="0" algn="ctr" defTabSz="584200" rtl="0" eaLnBrk="1" fontAlgn="auto" latinLnBrk="0" hangingPunct="0">
                <a:lnSpc>
                  <a:spcPct val="100000"/>
                </a:lnSpc>
                <a:spcBef>
                  <a:spcPts val="0"/>
                </a:spcBef>
                <a:spcAft>
                  <a:spcPts val="0"/>
                </a:spcAft>
                <a:buClrTx/>
                <a:buSzTx/>
                <a:buFontTx/>
                <a:buNone/>
                <a:tabLst/>
                <a:defRPr/>
              </a:pPr>
              <a:t>96</a:t>
            </a:fld>
            <a:endPar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endParaRPr>
          </a:p>
        </p:txBody>
      </p:sp>
    </p:spTree>
    <p:extLst>
      <p:ext uri="{BB962C8B-B14F-4D97-AF65-F5344CB8AC3E}">
        <p14:creationId xmlns:p14="http://schemas.microsoft.com/office/powerpoint/2010/main" val="4101847871"/>
      </p:ext>
    </p:extLst>
  </p:cSld>
  <p:clrMapOvr>
    <a:masterClrMapping/>
  </p:clrMapOvr>
  <p:transition spd="med"/>
</p:sld>
</file>

<file path=ppt/slides/slide97.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52" name="Case Study: PlanetLab"/>
          <p:cNvSpPr txBox="1">
            <a:spLocks noGrp="1"/>
          </p:cNvSpPr>
          <p:nvPr>
            <p:ph type="title"/>
          </p:nvPr>
        </p:nvSpPr>
        <p:spPr>
          <a:prstGeom prst="rect">
            <a:avLst/>
          </a:prstGeom>
        </p:spPr>
        <p:txBody>
          <a:bodyPr/>
          <a:lstStyle/>
          <a:p>
            <a:r>
              <a:t>Case Study: PlanetLab</a:t>
            </a:r>
          </a:p>
        </p:txBody>
      </p:sp>
      <p:sp>
        <p:nvSpPr>
          <p:cNvPr id="253" name="Distributed cluster across universities…"/>
          <p:cNvSpPr txBox="1">
            <a:spLocks noGrp="1"/>
          </p:cNvSpPr>
          <p:nvPr>
            <p:ph type="body" idx="1"/>
          </p:nvPr>
        </p:nvSpPr>
        <p:spPr>
          <a:xfrm>
            <a:off x="152400" y="3124200"/>
            <a:ext cx="8674100" cy="3733800"/>
          </a:xfrm>
          <a:prstGeom prst="rect">
            <a:avLst/>
          </a:prstGeom>
        </p:spPr>
        <p:txBody>
          <a:bodyPr/>
          <a:lstStyle/>
          <a:p>
            <a:pPr marL="831214" indent="-333374">
              <a:lnSpc>
                <a:spcPct val="90000"/>
              </a:lnSpc>
            </a:pPr>
            <a:r>
              <a:t>Distributed cluster across universities</a:t>
            </a:r>
          </a:p>
          <a:p>
            <a:pPr marL="1183639" lvl="1" indent="-228600">
              <a:lnSpc>
                <a:spcPct val="90000"/>
              </a:lnSpc>
            </a:pPr>
            <a:r>
              <a:t>Used for experimental research by students and faculty in networking and distributed systems</a:t>
            </a:r>
          </a:p>
          <a:p>
            <a:pPr marL="831214" indent="-333374">
              <a:lnSpc>
                <a:spcPct val="90000"/>
              </a:lnSpc>
            </a:pPr>
            <a:r>
              <a:t>Uses a virtualized architecture</a:t>
            </a:r>
          </a:p>
          <a:p>
            <a:pPr marL="1183639" lvl="1" indent="-228600">
              <a:lnSpc>
                <a:spcPct val="90000"/>
              </a:lnSpc>
            </a:pPr>
            <a:r>
              <a:t>Linux Vservers</a:t>
            </a:r>
          </a:p>
          <a:p>
            <a:pPr marL="1183639" lvl="1" indent="-228600">
              <a:lnSpc>
                <a:spcPct val="90000"/>
              </a:lnSpc>
            </a:pPr>
            <a:r>
              <a:t>Node manager per machine</a:t>
            </a:r>
          </a:p>
          <a:p>
            <a:pPr marL="1183639" lvl="1" indent="-228600">
              <a:lnSpc>
                <a:spcPct val="90000"/>
              </a:lnSpc>
            </a:pPr>
            <a:r>
              <a:t>Obtain a “slice” for an experiment: slice creation service</a:t>
            </a:r>
          </a:p>
        </p:txBody>
      </p:sp>
      <p:pic>
        <p:nvPicPr>
          <p:cNvPr id="254" name="image.pdf" descr="image.pdf"/>
          <p:cNvPicPr>
            <a:picLocks/>
          </p:cNvPicPr>
          <p:nvPr/>
        </p:nvPicPr>
        <p:blipFill>
          <a:blip r:embed="rId2"/>
          <a:stretch>
            <a:fillRect/>
          </a:stretch>
        </p:blipFill>
        <p:spPr>
          <a:xfrm>
            <a:off x="2590800" y="914400"/>
            <a:ext cx="3810000" cy="2076450"/>
          </a:xfrm>
          <a:prstGeom prst="rect">
            <a:avLst/>
          </a:prstGeom>
          <a:ln w="12700">
            <a:miter lim="400000"/>
          </a:ln>
        </p:spPr>
      </p:pic>
      <p:sp>
        <p:nvSpPr>
          <p:cNvPr id="255"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marL="0" marR="0" lvl="0" indent="0" algn="ctr" defTabSz="5842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rPr>
              <a:pPr marL="0" marR="0" lvl="0" indent="0" algn="ctr" defTabSz="584200" rtl="0" eaLnBrk="1" fontAlgn="auto" latinLnBrk="0" hangingPunct="0">
                <a:lnSpc>
                  <a:spcPct val="100000"/>
                </a:lnSpc>
                <a:spcBef>
                  <a:spcPts val="0"/>
                </a:spcBef>
                <a:spcAft>
                  <a:spcPts val="0"/>
                </a:spcAft>
                <a:buClrTx/>
                <a:buSzTx/>
                <a:buFontTx/>
                <a:buNone/>
                <a:tabLst/>
                <a:defRPr/>
              </a:pPr>
              <a:t>97</a:t>
            </a:fld>
            <a:endParaRPr kumimoji="0" sz="1200" b="0" i="0" u="none" strike="noStrike" kern="0" cap="none" spc="0" normalizeH="0" baseline="0" noProof="0">
              <a:ln>
                <a:noFill/>
              </a:ln>
              <a:solidFill>
                <a:srgbClr val="9E1300"/>
              </a:solidFill>
              <a:effectLst/>
              <a:uLnTx/>
              <a:uFill>
                <a:solidFill>
                  <a:srgbClr val="000000"/>
                </a:solidFill>
              </a:uFill>
              <a:latin typeface="Times New Roman"/>
              <a:cs typeface="Times New Roman"/>
              <a:sym typeface="Times New Roman"/>
            </a:endParaRPr>
          </a:p>
        </p:txBody>
      </p:sp>
    </p:spTree>
    <p:extLst>
      <p:ext uri="{BB962C8B-B14F-4D97-AF65-F5344CB8AC3E}">
        <p14:creationId xmlns:p14="http://schemas.microsoft.com/office/powerpoint/2010/main" val="3202792890"/>
      </p:ext>
    </p:extLst>
  </p:cSld>
  <p:clrMapOvr>
    <a:masterClrMapping/>
  </p:clrMapOvr>
  <p:transition spd="med"/>
</p:sld>
</file>

<file path=ppt/theme/theme1.xml><?xml version="1.0" encoding="utf-8"?>
<a:theme xmlns:a="http://schemas.openxmlformats.org/drawingml/2006/main" name="att_gvt_bus_exp">
  <a:themeElements>
    <a:clrScheme name="att_opt2_orng_073107 1">
      <a:dk1>
        <a:srgbClr val="4D4D4D"/>
      </a:dk1>
      <a:lt1>
        <a:srgbClr val="FFFFFF"/>
      </a:lt1>
      <a:dk2>
        <a:srgbClr val="000000"/>
      </a:dk2>
      <a:lt2>
        <a:srgbClr val="CCCCCC"/>
      </a:lt2>
      <a:accent1>
        <a:srgbClr val="067AB4"/>
      </a:accent1>
      <a:accent2>
        <a:srgbClr val="FF7200"/>
      </a:accent2>
      <a:accent3>
        <a:srgbClr val="FFFFFF"/>
      </a:accent3>
      <a:accent4>
        <a:srgbClr val="404040"/>
      </a:accent4>
      <a:accent5>
        <a:srgbClr val="AABED6"/>
      </a:accent5>
      <a:accent6>
        <a:srgbClr val="E76700"/>
      </a:accent6>
      <a:hlink>
        <a:srgbClr val="6EBB1F"/>
      </a:hlink>
      <a:folHlink>
        <a:srgbClr val="0C2577"/>
      </a:folHlink>
    </a:clrScheme>
    <a:fontScheme name="att_opt2_orng_073107">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914400" rtl="0" eaLnBrk="0" fontAlgn="base" latinLnBrk="0" hangingPunct="0">
          <a:lnSpc>
            <a:spcPct val="100000"/>
          </a:lnSpc>
          <a:spcBef>
            <a:spcPct val="50000"/>
          </a:spcBef>
          <a:spcAft>
            <a:spcPct val="0"/>
          </a:spcAft>
          <a:buClrTx/>
          <a:buSzTx/>
          <a:buFontTx/>
          <a:buNone/>
          <a:tabLst/>
          <a:defRPr kumimoji="0" lang="en-US" sz="2400" b="0" i="0" u="none" strike="noStrike" cap="none" normalizeH="0" baseline="0">
            <a:ln>
              <a:noFill/>
            </a:ln>
            <a:solidFill>
              <a:srgbClr val="CCCCCC"/>
            </a:solidFill>
            <a:effectLst/>
            <a:latin typeface="Verdana" pitchFamily="-111" charset="0"/>
            <a:ea typeface="Arial" pitchFamily="-111" charset="-52"/>
            <a:cs typeface="Arial" pitchFamily="-111" charset="-52"/>
          </a:defRPr>
        </a:defPPr>
      </a:lstStyle>
    </a:spDef>
    <a:lnDef>
      <a:spPr bwMode="auto">
        <a:xfrm>
          <a:off x="0" y="0"/>
          <a:ext cx="1" cy="1"/>
        </a:xfrm>
        <a:custGeom>
          <a:avLst/>
          <a:gdLst/>
          <a:ahLst/>
          <a:cxnLst/>
          <a:rect l="0" t="0" r="0" b="0"/>
          <a:pathLst/>
        </a:custGeom>
        <a:no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914400" rtl="0" eaLnBrk="0" fontAlgn="base" latinLnBrk="0" hangingPunct="0">
          <a:lnSpc>
            <a:spcPct val="100000"/>
          </a:lnSpc>
          <a:spcBef>
            <a:spcPct val="50000"/>
          </a:spcBef>
          <a:spcAft>
            <a:spcPct val="0"/>
          </a:spcAft>
          <a:buClrTx/>
          <a:buSzTx/>
          <a:buFontTx/>
          <a:buNone/>
          <a:tabLst/>
          <a:defRPr kumimoji="0" lang="en-US" sz="2400" b="0" i="0" u="none" strike="noStrike" cap="none" normalizeH="0" baseline="0">
            <a:ln>
              <a:noFill/>
            </a:ln>
            <a:solidFill>
              <a:srgbClr val="CCCCCC"/>
            </a:solidFill>
            <a:effectLst/>
            <a:latin typeface="Verdana" pitchFamily="-111" charset="0"/>
            <a:ea typeface="Arial" pitchFamily="-111" charset="-52"/>
            <a:cs typeface="Arial" pitchFamily="-111" charset="-52"/>
          </a:defRPr>
        </a:defPPr>
      </a:lstStyle>
    </a:lnDef>
  </a:objectDefaults>
  <a:extraClrSchemeLst>
    <a:extraClrScheme>
      <a:clrScheme name="att_opt2_orng_073107 1">
        <a:dk1>
          <a:srgbClr val="4D4D4D"/>
        </a:dk1>
        <a:lt1>
          <a:srgbClr val="FFFFFF"/>
        </a:lt1>
        <a:dk2>
          <a:srgbClr val="000000"/>
        </a:dk2>
        <a:lt2>
          <a:srgbClr val="CCCCCC"/>
        </a:lt2>
        <a:accent1>
          <a:srgbClr val="067AB4"/>
        </a:accent1>
        <a:accent2>
          <a:srgbClr val="FF7200"/>
        </a:accent2>
        <a:accent3>
          <a:srgbClr val="FFFFFF"/>
        </a:accent3>
        <a:accent4>
          <a:srgbClr val="404040"/>
        </a:accent4>
        <a:accent5>
          <a:srgbClr val="AABED6"/>
        </a:accent5>
        <a:accent6>
          <a:srgbClr val="E76700"/>
        </a:accent6>
        <a:hlink>
          <a:srgbClr val="6EBB1F"/>
        </a:hlink>
        <a:folHlink>
          <a:srgbClr val="0C2577"/>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3_Default Design">
  <a:themeElements>
    <a:clrScheme name="12_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2_Default Design">
      <a:majorFont>
        <a:latin typeface="Gill Sans MT"/>
        <a:ea typeface=""/>
        <a:cs typeface="Arial"/>
      </a:majorFont>
      <a:minorFont>
        <a:latin typeface="Gill Sans MT"/>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a:lstStyle/>
    </a:lnDef>
  </a:objectDefaults>
  <a:extraClrSchemeLst>
    <a:extraClrScheme>
      <a:clrScheme name="12_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2_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2_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2_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2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2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2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a:ea typeface="Helvetica"/>
        <a:cs typeface="Helvetica"/>
      </a:majorFont>
      <a:minorFont>
        <a:latin typeface="Times New Roman"/>
        <a:ea typeface="Times New Roman"/>
        <a:cs typeface="Times New Roman"/>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D2A9"/>
        </a:solidFill>
        <a:ln w="9525" cap="flat">
          <a:solidFill>
            <a:srgbClr val="000000"/>
          </a:solidFill>
          <a:prstDash val="solid"/>
          <a:round/>
        </a:ln>
        <a:effectLst/>
        <a:sp3d/>
      </a:spPr>
      <a:bodyPr rot="0" spcFirstLastPara="1" vertOverflow="overflow" horzOverflow="overflow" vert="horz" wrap="square" lIns="50800" tIns="50800" rIns="50800" bIns="50800" numCol="1" spcCol="38100" rtlCol="0" anchor="ctr">
        <a:spAutoFit/>
      </a:bodyPr>
      <a:lstStyle>
        <a:defPPr marL="40639" marR="40639" indent="0" algn="ctr"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
              <a:solidFill>
                <a:srgbClr val="000000"/>
              </a:solidFill>
            </a:uFill>
            <a:latin typeface="Comic Sans MS"/>
            <a:ea typeface="Comic Sans MS"/>
            <a:cs typeface="Comic Sans MS"/>
            <a:sym typeface="Comic Sans M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9525" cap="flat">
          <a:solidFill>
            <a:srgbClr val="000000"/>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40639" marR="40639" indent="0" algn="ctr"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
              <a:solidFill>
                <a:srgbClr val="000000"/>
              </a:solidFill>
            </a:uFill>
            <a:latin typeface="Comic Sans MS"/>
            <a:ea typeface="Comic Sans MS"/>
            <a:cs typeface="Comic Sans MS"/>
            <a:sym typeface="Comic Sans M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4.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Blank Presentation">
  <a:themeElements>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fontScheme name="Blank Presentation">
      <a:majorFont>
        <a:latin typeface="Arial"/>
        <a:ea typeface="Osaka"/>
        <a:cs typeface="Osaka"/>
      </a:majorFont>
      <a:minorFont>
        <a:latin typeface="Arial"/>
        <a:ea typeface="Osaka"/>
        <a:cs typeface="Osak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44450" cap="flat" cmpd="sng" algn="ctr">
          <a:solidFill>
            <a:srgbClr val="FF6600"/>
          </a:solidFill>
          <a:prstDash val="solid"/>
          <a:round/>
          <a:headEnd type="none" w="med" len="med"/>
          <a:tailEnd type="triangle" w="med" len="med"/>
        </a:ln>
        <a:effectLst/>
      </a:spPr>
      <a:bodyPr rtlCol="0" anchor="ctr"/>
      <a:lstStyle>
        <a:defPPr algn="ctr">
          <a:defRPr/>
        </a:defPPr>
      </a:lstStyle>
    </a:spDef>
    <a:lnDef>
      <a:spPr bwMode="auto">
        <a:noFill/>
        <a:ln w="31750" cap="flat" cmpd="sng" algn="ctr">
          <a:solidFill>
            <a:srgbClr val="00FF00"/>
          </a:solidFill>
          <a:prstDash val="solid"/>
          <a:round/>
          <a:headEnd type="none" w="med" len="med"/>
          <a:tailEnd type="triangle" w="lg" len="lg"/>
        </a:ln>
        <a:effectLst/>
      </a:spPr>
      <a:body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UCRTemplate1">
  <a:themeElements>
    <a:clrScheme name="UCRTemplate1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UCRTemplate1">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UCRTemplate1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UCRTemplate1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UCRTemplate1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UCRTemplate1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UCRTemplate1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UCRTemplate1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UCRTemplate1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UCRTemplate1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UCRTemplate1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UCRTemplate1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etMap_Presentation" id="{16D8A4A1-655B-F44A-91A7-E6EB1562BD2A}" vid="{78C22007-A4FC-7C43-9D7B-9C9137ADC8D0}"/>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45001</TotalTime>
  <Words>5685</Words>
  <Application>Microsoft Macintosh PowerPoint</Application>
  <PresentationFormat>On-screen Show (4:3)</PresentationFormat>
  <Paragraphs>889</Paragraphs>
  <Slides>97</Slides>
  <Notes>6</Notes>
  <HiddenSlides>2</HiddenSlides>
  <MMClips>0</MMClips>
  <ScaleCrop>false</ScaleCrop>
  <HeadingPairs>
    <vt:vector size="6" baseType="variant">
      <vt:variant>
        <vt:lpstr>Fonts Used</vt:lpstr>
      </vt:variant>
      <vt:variant>
        <vt:i4>14</vt:i4>
      </vt:variant>
      <vt:variant>
        <vt:lpstr>Theme</vt:lpstr>
      </vt:variant>
      <vt:variant>
        <vt:i4>6</vt:i4>
      </vt:variant>
      <vt:variant>
        <vt:lpstr>Slide Titles</vt:lpstr>
      </vt:variant>
      <vt:variant>
        <vt:i4>97</vt:i4>
      </vt:variant>
    </vt:vector>
  </HeadingPairs>
  <TitlesOfParts>
    <vt:vector size="117" baseType="lpstr">
      <vt:lpstr>IB Wb Regular</vt:lpstr>
      <vt:lpstr>Arial</vt:lpstr>
      <vt:lpstr>Calibri</vt:lpstr>
      <vt:lpstr>Calibri Light</vt:lpstr>
      <vt:lpstr>Chalkboard</vt:lpstr>
      <vt:lpstr>Comic Sans MS</vt:lpstr>
      <vt:lpstr>Gill Sans MT</vt:lpstr>
      <vt:lpstr>Helvetica</vt:lpstr>
      <vt:lpstr>Lucida Grande</vt:lpstr>
      <vt:lpstr>Tahoma</vt:lpstr>
      <vt:lpstr>Times</vt:lpstr>
      <vt:lpstr>Times New Roman</vt:lpstr>
      <vt:lpstr>Verdana</vt:lpstr>
      <vt:lpstr>Wingdings</vt:lpstr>
      <vt:lpstr>att_gvt_bus_exp</vt:lpstr>
      <vt:lpstr>13_Default Design</vt:lpstr>
      <vt:lpstr>White</vt:lpstr>
      <vt:lpstr>Office Theme</vt:lpstr>
      <vt:lpstr>Blank Presentation</vt:lpstr>
      <vt:lpstr>UCRTemplate1</vt:lpstr>
      <vt:lpstr>Cloud Computing and  Cloud Networking</vt:lpstr>
      <vt:lpstr>Virtualization in Operating Systems</vt:lpstr>
      <vt:lpstr>Virtualization </vt:lpstr>
      <vt:lpstr>Papers to Read</vt:lpstr>
      <vt:lpstr>Types of Interfaces</vt:lpstr>
      <vt:lpstr>Types of Virtualization</vt:lpstr>
      <vt:lpstr>Two broad types of hypervisors</vt:lpstr>
      <vt:lpstr>Types of Hypervisors</vt:lpstr>
      <vt:lpstr>Types of Virtualization</vt:lpstr>
      <vt:lpstr>Protection through Isolation</vt:lpstr>
      <vt:lpstr>Hybrid organizations</vt:lpstr>
      <vt:lpstr>More on Types of virtualization</vt:lpstr>
      <vt:lpstr>Paravirtualization</vt:lpstr>
      <vt:lpstr>A note on Operating System Rings</vt:lpstr>
      <vt:lpstr>How does Virtualization work?</vt:lpstr>
      <vt:lpstr>Hardware Assisted Virtualization</vt:lpstr>
      <vt:lpstr>Type 1 hypervisor</vt:lpstr>
      <vt:lpstr>Binary Translation</vt:lpstr>
      <vt:lpstr>Type 2 Hypervisor</vt:lpstr>
      <vt:lpstr>True VMs vs. Paravirtualization</vt:lpstr>
      <vt:lpstr>Standard Virtual machine Interface</vt:lpstr>
      <vt:lpstr>Memory virtualization</vt:lpstr>
      <vt:lpstr>I/O Virtualization</vt:lpstr>
      <vt:lpstr>More Details on Virtualization Functionality</vt:lpstr>
      <vt:lpstr>NUTS and BOLTS</vt:lpstr>
      <vt:lpstr>Full virtualization</vt:lpstr>
      <vt:lpstr>Example of Hypervisor Intervention: Disable Interrupts </vt:lpstr>
      <vt:lpstr>Binary translation--making full virtualization practical</vt:lpstr>
      <vt:lpstr>Binary Translation Example</vt:lpstr>
      <vt:lpstr>Paravirtualization</vt:lpstr>
      <vt:lpstr>Hardware supported virtualization (Intel VT-x, AMD-V)</vt:lpstr>
      <vt:lpstr>Virtualization Tasks</vt:lpstr>
      <vt:lpstr>Xen</vt:lpstr>
      <vt:lpstr>Xen</vt:lpstr>
      <vt:lpstr>Implementation summary</vt:lpstr>
      <vt:lpstr>Xen VM interface: Memory</vt:lpstr>
      <vt:lpstr>Two Layers of Virtual Memory</vt:lpstr>
      <vt:lpstr>Guest’s Page Tables Are Invalid</vt:lpstr>
      <vt:lpstr>Shadow Page Tables</vt:lpstr>
      <vt:lpstr>Building Shadow Tables</vt:lpstr>
      <vt:lpstr>More VMM Tricks</vt:lpstr>
      <vt:lpstr>Xen VM interface: CPU</vt:lpstr>
      <vt:lpstr>Details: CPU </vt:lpstr>
      <vt:lpstr>Xen VM interface: I/O</vt:lpstr>
      <vt:lpstr>Details: I/O 1</vt:lpstr>
      <vt:lpstr>NIC data structure</vt:lpstr>
      <vt:lpstr>Details: I/O 2</vt:lpstr>
      <vt:lpstr>Data Transfer: Descriptor Ring</vt:lpstr>
      <vt:lpstr>OS Porting Cost</vt:lpstr>
      <vt:lpstr>Control Transfer</vt:lpstr>
      <vt:lpstr>Event notification</vt:lpstr>
      <vt:lpstr>Network Virtualization</vt:lpstr>
      <vt:lpstr>Network Virtualization</vt:lpstr>
      <vt:lpstr>Network Virtualization</vt:lpstr>
      <vt:lpstr>Disk virtualization</vt:lpstr>
      <vt:lpstr>Disk virtualization</vt:lpstr>
      <vt:lpstr>Evaluation</vt:lpstr>
      <vt:lpstr>Microbenchmarks</vt:lpstr>
      <vt:lpstr>CPU Virtualization with VT-x</vt:lpstr>
      <vt:lpstr>VT-x : Motivation</vt:lpstr>
      <vt:lpstr>VMX</vt:lpstr>
      <vt:lpstr>             Pre VT-x                                                      Post without VT-x     with VT-x</vt:lpstr>
      <vt:lpstr>VMX Transitions</vt:lpstr>
      <vt:lpstr>VMX Transitions</vt:lpstr>
      <vt:lpstr>VMCS: VM Control Structure</vt:lpstr>
      <vt:lpstr>VMCS: VM Control Structure</vt:lpstr>
      <vt:lpstr>CPU Virtualization with VT-x</vt:lpstr>
      <vt:lpstr>MMU Virtualization with VT-x</vt:lpstr>
      <vt:lpstr>VPID: Motivation</vt:lpstr>
      <vt:lpstr>VPID: Virtual Processor Identifier </vt:lpstr>
      <vt:lpstr>Virtualizing Memory in Software</vt:lpstr>
      <vt:lpstr>Shadow Page Tables</vt:lpstr>
      <vt:lpstr>Drawbacks: Shadow Page Tables</vt:lpstr>
      <vt:lpstr>Set CPU Rings CR3 by guest OS (1)</vt:lpstr>
      <vt:lpstr>Set CPU Rings CR3 by guest OS (2)</vt:lpstr>
      <vt:lpstr>Nested / Extended Page Tables</vt:lpstr>
      <vt:lpstr>Use of EPT</vt:lpstr>
      <vt:lpstr>Nested / Extended Page Tables</vt:lpstr>
      <vt:lpstr>Nested / Extended Page Tables</vt:lpstr>
      <vt:lpstr>Advantages: EPT</vt:lpstr>
      <vt:lpstr>Disadvantages: EPT</vt:lpstr>
      <vt:lpstr>Virtual Appliances  &amp; Multi-Core</vt:lpstr>
      <vt:lpstr>Examples</vt:lpstr>
      <vt:lpstr>OS Virtualization</vt:lpstr>
      <vt:lpstr>Linux Containers (LXC)</vt:lpstr>
      <vt:lpstr>OS Mechanisms for LXC</vt:lpstr>
      <vt:lpstr>Linux Namespaces</vt:lpstr>
      <vt:lpstr>Linux cgroups </vt:lpstr>
      <vt:lpstr>Proportional Share Scheduling</vt:lpstr>
      <vt:lpstr>Share-based Schedulers</vt:lpstr>
      <vt:lpstr>Putting it all together</vt:lpstr>
      <vt:lpstr>Docker and Linux Containers</vt:lpstr>
      <vt:lpstr>Docker</vt:lpstr>
      <vt:lpstr>LXC Virtualization Using Docker</vt:lpstr>
      <vt:lpstr>Docker Images and Use</vt:lpstr>
      <vt:lpstr>Use of Virtualization Today</vt:lpstr>
      <vt:lpstr>Case Study: PlanetLab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Evolution of Computing and Communication Systems</dc:title>
  <dc:creator>Microsoft Office User</dc:creator>
  <cp:lastModifiedBy>Microsoft Office User</cp:lastModifiedBy>
  <cp:revision>192</cp:revision>
  <cp:lastPrinted>2018-04-05T00:50:21Z</cp:lastPrinted>
  <dcterms:created xsi:type="dcterms:W3CDTF">2018-04-01T05:36:36Z</dcterms:created>
  <dcterms:modified xsi:type="dcterms:W3CDTF">2025-01-09T18:03:12Z</dcterms:modified>
</cp:coreProperties>
</file>