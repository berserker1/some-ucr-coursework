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93"/>
  </p:notesMasterIdLst>
  <p:handoutMasterIdLst>
    <p:handoutMasterId r:id="rId94"/>
  </p:handoutMasterIdLst>
  <p:sldIdLst>
    <p:sldId id="256" r:id="rId5"/>
    <p:sldId id="527" r:id="rId6"/>
    <p:sldId id="257" r:id="rId7"/>
    <p:sldId id="258" r:id="rId8"/>
    <p:sldId id="259" r:id="rId9"/>
    <p:sldId id="301" r:id="rId10"/>
    <p:sldId id="302" r:id="rId11"/>
    <p:sldId id="303" r:id="rId12"/>
    <p:sldId id="304" r:id="rId13"/>
    <p:sldId id="305" r:id="rId14"/>
    <p:sldId id="306" r:id="rId15"/>
    <p:sldId id="260"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261" r:id="rId29"/>
    <p:sldId id="262" r:id="rId30"/>
    <p:sldId id="263" r:id="rId31"/>
    <p:sldId id="264" r:id="rId32"/>
    <p:sldId id="265" r:id="rId33"/>
    <p:sldId id="266" r:id="rId34"/>
    <p:sldId id="267" r:id="rId35"/>
    <p:sldId id="307" r:id="rId36"/>
    <p:sldId id="308" r:id="rId37"/>
    <p:sldId id="309" r:id="rId38"/>
    <p:sldId id="310" r:id="rId39"/>
    <p:sldId id="268" r:id="rId40"/>
    <p:sldId id="349" r:id="rId41"/>
    <p:sldId id="326" r:id="rId42"/>
    <p:sldId id="350" r:id="rId43"/>
    <p:sldId id="269" r:id="rId44"/>
    <p:sldId id="270" r:id="rId45"/>
    <p:sldId id="370" r:id="rId46"/>
    <p:sldId id="371" r:id="rId47"/>
    <p:sldId id="372" r:id="rId48"/>
    <p:sldId id="271" r:id="rId49"/>
    <p:sldId id="272" r:id="rId50"/>
    <p:sldId id="273" r:id="rId51"/>
    <p:sldId id="274" r:id="rId52"/>
    <p:sldId id="275" r:id="rId53"/>
    <p:sldId id="276" r:id="rId54"/>
    <p:sldId id="347" r:id="rId55"/>
    <p:sldId id="348" r:id="rId56"/>
    <p:sldId id="277" r:id="rId57"/>
    <p:sldId id="278" r:id="rId58"/>
    <p:sldId id="279" r:id="rId59"/>
    <p:sldId id="280" r:id="rId60"/>
    <p:sldId id="281" r:id="rId61"/>
    <p:sldId id="282" r:id="rId62"/>
    <p:sldId id="283" r:id="rId63"/>
    <p:sldId id="284" r:id="rId64"/>
    <p:sldId id="285" r:id="rId65"/>
    <p:sldId id="286" r:id="rId66"/>
    <p:sldId id="287" r:id="rId67"/>
    <p:sldId id="288" r:id="rId68"/>
    <p:sldId id="353" r:id="rId69"/>
    <p:sldId id="354" r:id="rId70"/>
    <p:sldId id="355" r:id="rId71"/>
    <p:sldId id="327" r:id="rId72"/>
    <p:sldId id="356" r:id="rId73"/>
    <p:sldId id="357" r:id="rId74"/>
    <p:sldId id="358" r:id="rId75"/>
    <p:sldId id="359" r:id="rId76"/>
    <p:sldId id="360" r:id="rId77"/>
    <p:sldId id="361" r:id="rId78"/>
    <p:sldId id="362" r:id="rId79"/>
    <p:sldId id="363" r:id="rId80"/>
    <p:sldId id="364" r:id="rId81"/>
    <p:sldId id="365" r:id="rId82"/>
    <p:sldId id="366" r:id="rId83"/>
    <p:sldId id="329" r:id="rId84"/>
    <p:sldId id="367" r:id="rId85"/>
    <p:sldId id="330" r:id="rId86"/>
    <p:sldId id="368" r:id="rId87"/>
    <p:sldId id="313" r:id="rId88"/>
    <p:sldId id="314" r:id="rId89"/>
    <p:sldId id="315" r:id="rId90"/>
    <p:sldId id="316" r:id="rId91"/>
    <p:sldId id="369" r:id="rId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1"/>
    <p:restoredTop sz="96000" autoAdjust="0"/>
  </p:normalViewPr>
  <p:slideViewPr>
    <p:cSldViewPr>
      <p:cViewPr varScale="1">
        <p:scale>
          <a:sx n="119" d="100"/>
          <a:sy n="119" d="100"/>
        </p:scale>
        <p:origin x="171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CA4C1C-CBFF-994A-AF3B-1F29B6FACD95}" type="datetimeFigureOut">
              <a:rPr lang="en-US" smtClean="0"/>
              <a:t>3/6/25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4CFBE7F-639D-7141-BB0D-D344ACE5E4AB}" type="slidenum">
              <a:rPr lang="en-US" smtClean="0"/>
              <a:t>‹#›</a:t>
            </a:fld>
            <a:endParaRPr lang="en-US"/>
          </a:p>
        </p:txBody>
      </p:sp>
    </p:spTree>
    <p:extLst>
      <p:ext uri="{BB962C8B-B14F-4D97-AF65-F5344CB8AC3E}">
        <p14:creationId xmlns:p14="http://schemas.microsoft.com/office/powerpoint/2010/main" val="37142229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9C84E1-A235-4BCE-962B-5CAC6E7C5F93}" type="datetimeFigureOut">
              <a:rPr lang="en-US" smtClean="0"/>
              <a:t>3/6/25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B42F9D-6EBF-4DF3-B863-689175824A5E}" type="slidenum">
              <a:rPr lang="en-US" smtClean="0"/>
              <a:t>‹#›</a:t>
            </a:fld>
            <a:endParaRPr lang="en-US"/>
          </a:p>
        </p:txBody>
      </p:sp>
    </p:spTree>
    <p:extLst>
      <p:ext uri="{BB962C8B-B14F-4D97-AF65-F5344CB8AC3E}">
        <p14:creationId xmlns:p14="http://schemas.microsoft.com/office/powerpoint/2010/main" val="3317078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Provider_Bridge_Network" TargetMode="External"/><Relationship Id="rId2" Type="http://schemas.openxmlformats.org/officeDocument/2006/relationships/slide" Target="../slides/slide67.xml"/><Relationship Id="rId1" Type="http://schemas.openxmlformats.org/officeDocument/2006/relationships/notesMaster" Target="../notesMasters/notesMaster1.xml"/><Relationship Id="rId4" Type="http://schemas.openxmlformats.org/officeDocument/2006/relationships/hyperlink" Target="https://en.wikipedia.org/wiki/VLAN"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p:cNvSpPr>
          <p:nvPr>
            <p:ph type="sldImg"/>
          </p:nvPr>
        </p:nvSpPr>
        <p:spPr>
          <a:ln/>
        </p:spPr>
      </p:sp>
      <p:sp>
        <p:nvSpPr>
          <p:cNvPr id="37891" name="Rectangle 3"/>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p:cNvSpPr>
          <p:nvPr>
            <p:ph type="sldImg"/>
          </p:nvPr>
        </p:nvSpPr>
        <p:spPr>
          <a:ln/>
        </p:spPr>
      </p:sp>
      <p:sp>
        <p:nvSpPr>
          <p:cNvPr id="39939" name="Rectangle 3"/>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p:cNvSpPr>
          <p:nvPr>
            <p:ph type="sldImg"/>
          </p:nvPr>
        </p:nvSpPr>
        <p:spPr>
          <a:ln/>
        </p:spPr>
      </p:sp>
      <p:sp>
        <p:nvSpPr>
          <p:cNvPr id="43011" name="Rectangle 3"/>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ea typeface="ＭＳ Ｐゴシック" charset="-128"/>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942C2B70-65BC-4EFF-9336-19371275681F}" type="slidenum">
              <a:rPr lang="en-US" sz="1200">
                <a:solidFill>
                  <a:srgbClr val="000000"/>
                </a:solidFill>
              </a:rPr>
              <a:pPr eaLnBrk="1" hangingPunct="1"/>
              <a:t>32</a:t>
            </a:fld>
            <a:endParaRPr 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p:cNvSpPr>
          <p:nvPr>
            <p:ph type="sldImg"/>
          </p:nvPr>
        </p:nvSpPr>
        <p:spPr>
          <a:ln/>
        </p:spPr>
      </p:sp>
      <p:sp>
        <p:nvSpPr>
          <p:cNvPr id="51203" name="Rectangle 3"/>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Version 1.6 specification is only available to ONF members</a:t>
            </a:r>
          </a:p>
          <a:p>
            <a:pPr marL="171450" indent="-171450">
              <a:buFontTx/>
              <a:buChar char="-"/>
            </a:pPr>
            <a:endParaRPr lang="en-US" dirty="0"/>
          </a:p>
          <a:p>
            <a:endParaRPr lang="en-US" dirty="0"/>
          </a:p>
        </p:txBody>
      </p:sp>
      <p:sp>
        <p:nvSpPr>
          <p:cNvPr id="4" name="Slide Number Placeholder 3"/>
          <p:cNvSpPr>
            <a:spLocks noGrp="1"/>
          </p:cNvSpPr>
          <p:nvPr>
            <p:ph type="sldNum" sz="quarter" idx="10"/>
          </p:nvPr>
        </p:nvSpPr>
        <p:spPr/>
        <p:txBody>
          <a:bodyPr/>
          <a:lstStyle/>
          <a:p>
            <a:fld id="{0DD49221-0D6C-4DE6-AC61-5463F0655C33}" type="slidenum">
              <a:rPr lang="en-US" smtClean="0"/>
              <a:t>38</a:t>
            </a:fld>
            <a:endParaRPr lang="en-US" dirty="0"/>
          </a:p>
        </p:txBody>
      </p:sp>
    </p:spTree>
    <p:extLst>
      <p:ext uri="{BB962C8B-B14F-4D97-AF65-F5344CB8AC3E}">
        <p14:creationId xmlns:p14="http://schemas.microsoft.com/office/powerpoint/2010/main" val="1227469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is high level image of an OpenFlow switch</a:t>
            </a:r>
          </a:p>
          <a:p>
            <a:pPr marL="171450" indent="-171450">
              <a:buFontTx/>
              <a:buChar char="-"/>
            </a:pPr>
            <a:r>
              <a:rPr lang="en-US" dirty="0"/>
              <a:t>Some part of the implementation may be in software like the protocol to talk with the controller</a:t>
            </a:r>
          </a:p>
          <a:p>
            <a:pPr marL="171450" indent="-171450">
              <a:buFontTx/>
              <a:buChar char="-"/>
            </a:pPr>
            <a:r>
              <a:rPr lang="en-US" dirty="0"/>
              <a:t>Normally some parts are implemented in the hardware for the performance, like the flow tables</a:t>
            </a:r>
          </a:p>
        </p:txBody>
      </p:sp>
      <p:sp>
        <p:nvSpPr>
          <p:cNvPr id="4" name="Slide Number Placeholder 3"/>
          <p:cNvSpPr>
            <a:spLocks noGrp="1"/>
          </p:cNvSpPr>
          <p:nvPr>
            <p:ph type="sldNum" sz="quarter" idx="10"/>
          </p:nvPr>
        </p:nvSpPr>
        <p:spPr/>
        <p:txBody>
          <a:bodyPr/>
          <a:lstStyle/>
          <a:p>
            <a:fld id="{0DD49221-0D6C-4DE6-AC61-5463F0655C33}" type="slidenum">
              <a:rPr lang="en-US" smtClean="0"/>
              <a:t>39</a:t>
            </a:fld>
            <a:endParaRPr lang="en-US" dirty="0"/>
          </a:p>
        </p:txBody>
      </p:sp>
    </p:spTree>
    <p:extLst>
      <p:ext uri="{BB962C8B-B14F-4D97-AF65-F5344CB8AC3E}">
        <p14:creationId xmlns:p14="http://schemas.microsoft.com/office/powerpoint/2010/main" val="1582576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is more detailed picture of OpenFlow switch ( For the version 1.5)</a:t>
            </a:r>
          </a:p>
          <a:p>
            <a:pPr marL="171450" indent="-171450">
              <a:buFontTx/>
              <a:buChar char="-"/>
            </a:pPr>
            <a:r>
              <a:rPr lang="en-US" dirty="0"/>
              <a:t>Multiple controller can be connected to one switch</a:t>
            </a:r>
          </a:p>
          <a:p>
            <a:pPr marL="171450" indent="-171450">
              <a:buFontTx/>
              <a:buChar char="-"/>
            </a:pPr>
            <a:r>
              <a:rPr lang="en-US" dirty="0"/>
              <a:t>So the switch has OpenFlow channels to contact each OF controller</a:t>
            </a:r>
          </a:p>
          <a:p>
            <a:pPr marL="171450" indent="-171450">
              <a:buFontTx/>
              <a:buChar char="-"/>
            </a:pPr>
            <a:r>
              <a:rPr lang="en-US" dirty="0"/>
              <a:t>Also the group table and meter table exist (we will explain it later)</a:t>
            </a:r>
          </a:p>
          <a:p>
            <a:pPr marL="171450" indent="-171450">
              <a:buFontTx/>
              <a:buChar char="-"/>
            </a:pPr>
            <a:r>
              <a:rPr lang="en-US" dirty="0"/>
              <a:t>These two tables were not existing in earlier versions.</a:t>
            </a:r>
          </a:p>
          <a:p>
            <a:pPr marL="171450" indent="-171450">
              <a:buFontTx/>
              <a:buChar char="-"/>
            </a:pPr>
            <a:r>
              <a:rPr lang="en-US" dirty="0"/>
              <a:t>We see a multi level of flow tables (It was not existing in the earlier versions)</a:t>
            </a:r>
          </a:p>
          <a:p>
            <a:pPr marL="171450" indent="-171450">
              <a:buFontTx/>
              <a:buChar char="-"/>
            </a:pPr>
            <a:r>
              <a:rPr lang="en-US" dirty="0"/>
              <a:t>Obviously it has ports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8459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 a packet in the OpenFlow switch has three sub steps.</a:t>
            </a:r>
          </a:p>
          <a:p>
            <a:r>
              <a:rPr lang="en-US" dirty="0"/>
              <a:t>Packet is processed in ingress tables, then group table, and finally in egress tables.</a:t>
            </a:r>
          </a:p>
          <a:p>
            <a:r>
              <a:rPr lang="en-US" dirty="0"/>
              <a:t>When each packet comes in it goes to the first table of ingress processing with the empty action set. </a:t>
            </a:r>
          </a:p>
          <a:p>
            <a:r>
              <a:rPr lang="en-US" dirty="0"/>
              <a:t>Each table may make some changes on the packet and also add/remove some actions to the action set.</a:t>
            </a:r>
          </a:p>
          <a:p>
            <a:r>
              <a:rPr lang="en-US" dirty="0"/>
              <a:t>when packet get to the a flow table without instruction of next table, it execute the actions in the action set.</a:t>
            </a:r>
          </a:p>
          <a:p>
            <a:r>
              <a:rPr lang="en-US" dirty="0"/>
              <a:t>An action set contain at most on instance of action from each type.</a:t>
            </a:r>
          </a:p>
          <a:p>
            <a:r>
              <a:rPr lang="en-US" dirty="0"/>
              <a:t>After that it is processed in the group table and finally similar thing happen in the egress processing tables.</a:t>
            </a:r>
          </a:p>
          <a:p>
            <a:r>
              <a:rPr lang="en-US" dirty="0"/>
              <a:t>However the difference is that the action set of ingress in empty at beginning and action set of egress has OUTPUT action (sending to a port action)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0167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3187"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TW"/>
          </a:p>
        </p:txBody>
      </p:sp>
    </p:spTree>
    <p:extLst>
      <p:ext uri="{BB962C8B-B14F-4D97-AF65-F5344CB8AC3E}">
        <p14:creationId xmlns:p14="http://schemas.microsoft.com/office/powerpoint/2010/main" val="4247721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4211"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TW"/>
          </a:p>
        </p:txBody>
      </p:sp>
    </p:spTree>
    <p:extLst>
      <p:ext uri="{BB962C8B-B14F-4D97-AF65-F5344CB8AC3E}">
        <p14:creationId xmlns:p14="http://schemas.microsoft.com/office/powerpoint/2010/main" val="122308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Table miss is a flow entry with all wildcards and minimum priority.</a:t>
            </a:r>
          </a:p>
          <a:p>
            <a:pPr marL="171450" indent="-171450">
              <a:buFontTx/>
              <a:buChar char="-"/>
            </a:pPr>
            <a:r>
              <a:rPr lang="en-US" dirty="0"/>
              <a:t>Example of the flag: For example, if a rule if idle for a while and it is removed from the flow table, should switch notify the controller or it should not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3391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Instructions are executed when a packet matches an entry</a:t>
            </a:r>
          </a:p>
          <a:p>
            <a:pPr marL="171450" indent="-171450">
              <a:buFontTx/>
              <a:buChar char="-"/>
            </a:pPr>
            <a:r>
              <a:rPr lang="en-US" dirty="0"/>
              <a:t>So what are actions that we have mentioned here? (explanation in the next slide)</a:t>
            </a:r>
          </a:p>
          <a:p>
            <a:pPr marL="171450" indent="-171450">
              <a:buFontTx/>
              <a:buChar char="-"/>
            </a:pPr>
            <a:endParaRPr lang="en-US" dirty="0"/>
          </a:p>
          <a:p>
            <a:pPr marL="171450" indent="-171450">
              <a:buFontTx/>
              <a:buChar char="-"/>
            </a:pP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8305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Also they are executed in the order too.</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Provider Backbone Bridges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PBB</a:t>
            </a:r>
            <a:r>
              <a:rPr lang="en-US" sz="1200" b="0" i="0" kern="1200" dirty="0">
                <a:solidFill>
                  <a:schemeClr val="tx1"/>
                </a:solidFill>
                <a:effectLst/>
                <a:latin typeface="+mn-lt"/>
                <a:ea typeface="+mn-ea"/>
                <a:cs typeface="+mn-cs"/>
              </a:rPr>
              <a:t>; known as "mac-in-mac") is a set of architecture and protocols for routing over a provider's network allowing interconnection of multiple </a:t>
            </a:r>
            <a:r>
              <a:rPr lang="en-US" sz="1200" b="0" i="0" u="none" strike="noStrike" kern="1200" dirty="0">
                <a:solidFill>
                  <a:schemeClr val="tx1"/>
                </a:solidFill>
                <a:effectLst/>
                <a:latin typeface="+mn-lt"/>
                <a:ea typeface="+mn-ea"/>
                <a:cs typeface="+mn-cs"/>
                <a:hlinkClick r:id="rId3" tooltip="Provider Bridge Network"/>
              </a:rPr>
              <a:t>Provider Bridge Networks</a:t>
            </a:r>
            <a:r>
              <a:rPr lang="en-US" sz="1200" b="0" i="0" kern="1200" dirty="0">
                <a:solidFill>
                  <a:schemeClr val="tx1"/>
                </a:solidFill>
                <a:effectLst/>
                <a:latin typeface="+mn-lt"/>
                <a:ea typeface="+mn-ea"/>
                <a:cs typeface="+mn-cs"/>
              </a:rPr>
              <a:t> without losing each customer‘s individually defined </a:t>
            </a:r>
            <a:r>
              <a:rPr lang="en-US" sz="1200" b="0" i="0" u="none" strike="noStrike" kern="1200" dirty="0">
                <a:solidFill>
                  <a:schemeClr val="tx1"/>
                </a:solidFill>
                <a:effectLst/>
                <a:latin typeface="+mn-lt"/>
                <a:ea typeface="+mn-ea"/>
                <a:cs typeface="+mn-cs"/>
                <a:hlinkClick r:id="rId4" tooltip="VLAN"/>
              </a:rPr>
              <a:t>VLANs</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0740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0062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kern="1200" dirty="0">
                <a:solidFill>
                  <a:schemeClr val="tx1"/>
                </a:solidFill>
                <a:effectLst/>
                <a:latin typeface="+mn-lt"/>
                <a:ea typeface="+mn-ea"/>
                <a:cs typeface="+mn-cs"/>
              </a:rPr>
              <a:t>Meters are fully independent from of per-port queues</a:t>
            </a:r>
          </a:p>
          <a:p>
            <a:pPr marL="628650" lvl="1" indent="-171450">
              <a:buFontTx/>
              <a:buChar char="-"/>
            </a:pPr>
            <a:r>
              <a:rPr lang="en-US" sz="1200" b="0" i="0" kern="1200" dirty="0">
                <a:solidFill>
                  <a:schemeClr val="tx1"/>
                </a:solidFill>
                <a:effectLst/>
                <a:latin typeface="+mn-lt"/>
                <a:ea typeface="+mn-ea"/>
                <a:cs typeface="+mn-cs"/>
              </a:rPr>
              <a:t>However they can be combined to have something like DiffServ.</a:t>
            </a:r>
          </a:p>
          <a:p>
            <a:pPr marL="171450" lvl="0" indent="-171450">
              <a:buFontTx/>
              <a:buChar char="-"/>
            </a:pPr>
            <a:r>
              <a:rPr lang="en-US" sz="1200" b="0" i="0" kern="1200" dirty="0">
                <a:solidFill>
                  <a:schemeClr val="tx1"/>
                </a:solidFill>
                <a:effectLst/>
                <a:latin typeface="+mn-lt"/>
                <a:ea typeface="+mn-ea"/>
                <a:cs typeface="+mn-cs"/>
              </a:rPr>
              <a:t>Meter ID: Identify a meter</a:t>
            </a:r>
          </a:p>
          <a:p>
            <a:pPr marL="171450" lvl="0" indent="-171450">
              <a:buFontTx/>
              <a:buChar char="-"/>
            </a:pPr>
            <a:r>
              <a:rPr lang="en-US" sz="1200" b="0" i="0" kern="1200" dirty="0">
                <a:solidFill>
                  <a:schemeClr val="tx1"/>
                </a:solidFill>
                <a:effectLst/>
                <a:latin typeface="+mn-lt"/>
                <a:ea typeface="+mn-ea"/>
                <a:cs typeface="+mn-cs"/>
              </a:rPr>
              <a:t>Metter band: Is depicted in the second picture</a:t>
            </a:r>
          </a:p>
          <a:p>
            <a:pPr marL="628650" lvl="1" indent="-171450">
              <a:buFontTx/>
              <a:buChar char="-"/>
            </a:pPr>
            <a:r>
              <a:rPr lang="en-US" sz="1200" b="0" i="0" kern="1200" dirty="0">
                <a:solidFill>
                  <a:schemeClr val="tx1"/>
                </a:solidFill>
                <a:effectLst/>
                <a:latin typeface="+mn-lt"/>
                <a:ea typeface="+mn-ea"/>
                <a:cs typeface="+mn-cs"/>
              </a:rPr>
              <a:t>Each band specifies the rate of the band and the way to process the packet.</a:t>
            </a:r>
          </a:p>
          <a:p>
            <a:pPr marL="171450" lvl="0" indent="-171450">
              <a:buFontTx/>
              <a:buChar char="-"/>
            </a:pPr>
            <a:r>
              <a:rPr lang="en-US" sz="1200" b="0" i="0" kern="1200" dirty="0">
                <a:solidFill>
                  <a:schemeClr val="tx1"/>
                </a:solidFill>
                <a:effectLst/>
                <a:latin typeface="+mn-lt"/>
                <a:ea typeface="+mn-ea"/>
                <a:cs typeface="+mn-cs"/>
              </a:rPr>
              <a:t>Counters: Similar to Other counters</a:t>
            </a:r>
          </a:p>
          <a:p>
            <a:pPr marL="171450" lvl="0" indent="-171450">
              <a:buFontTx/>
              <a:buChar char="-"/>
            </a:pPr>
            <a:r>
              <a:rPr lang="en-US" sz="1200" b="0" i="0" kern="1200" dirty="0">
                <a:solidFill>
                  <a:schemeClr val="tx1"/>
                </a:solidFill>
                <a:effectLst/>
                <a:latin typeface="+mn-lt"/>
                <a:ea typeface="+mn-ea"/>
                <a:cs typeface="+mn-cs"/>
              </a:rPr>
              <a:t>Meter band explanations:</a:t>
            </a:r>
          </a:p>
          <a:p>
            <a:pPr marL="628650" lvl="1" indent="-171450">
              <a:buFontTx/>
              <a:buChar char="-"/>
            </a:pPr>
            <a:r>
              <a:rPr lang="en-US" sz="1200" b="0" i="0" kern="1200" dirty="0">
                <a:solidFill>
                  <a:schemeClr val="tx1"/>
                </a:solidFill>
                <a:effectLst/>
                <a:latin typeface="+mn-lt"/>
                <a:ea typeface="+mn-ea"/>
                <a:cs typeface="+mn-cs"/>
              </a:rPr>
              <a:t>Band Type: Define how packets are processed</a:t>
            </a:r>
          </a:p>
          <a:p>
            <a:pPr marL="1085850" lvl="2" indent="-171450">
              <a:buFontTx/>
              <a:buChar char="-"/>
            </a:pPr>
            <a:r>
              <a:rPr lang="en-US" sz="1200" b="0" i="0" kern="1200" dirty="0">
                <a:solidFill>
                  <a:schemeClr val="tx1"/>
                </a:solidFill>
                <a:effectLst/>
                <a:latin typeface="+mn-lt"/>
                <a:ea typeface="+mn-ea"/>
                <a:cs typeface="+mn-cs"/>
              </a:rPr>
              <a:t>Optional drop: drops the packet</a:t>
            </a:r>
          </a:p>
          <a:p>
            <a:pPr marL="1085850" lvl="2" indent="-171450">
              <a:buFontTx/>
              <a:buChar char="-"/>
            </a:pPr>
            <a:r>
              <a:rPr lang="en-US" sz="1200" b="0" i="0" kern="1200" dirty="0">
                <a:solidFill>
                  <a:schemeClr val="tx1"/>
                </a:solidFill>
                <a:effectLst/>
                <a:latin typeface="+mn-lt"/>
                <a:ea typeface="+mn-ea"/>
                <a:cs typeface="+mn-cs"/>
              </a:rPr>
              <a:t>Optional DSCP remark</a:t>
            </a:r>
          </a:p>
          <a:p>
            <a:pPr marL="1543050" lvl="3" indent="-171450">
              <a:buFontTx/>
              <a:buChar char="-"/>
            </a:pPr>
            <a:r>
              <a:rPr lang="en-US" sz="1200" b="0" i="0" kern="1200" dirty="0">
                <a:solidFill>
                  <a:schemeClr val="tx1"/>
                </a:solidFill>
                <a:effectLst/>
                <a:latin typeface="+mn-lt"/>
                <a:ea typeface="+mn-ea"/>
                <a:cs typeface="+mn-cs"/>
              </a:rPr>
              <a:t>Increase the drop precedence of the DSCP field in the IP header.</a:t>
            </a:r>
          </a:p>
          <a:p>
            <a:pPr marL="1543050" lvl="3" indent="-171450">
              <a:buFontTx/>
              <a:buChar char="-"/>
            </a:pPr>
            <a:r>
              <a:rPr lang="en-US" sz="1200" b="0" i="0" kern="1200" dirty="0">
                <a:solidFill>
                  <a:schemeClr val="tx1"/>
                </a:solidFill>
                <a:effectLst/>
                <a:latin typeface="+mn-lt"/>
                <a:ea typeface="+mn-ea"/>
                <a:cs typeface="+mn-cs"/>
              </a:rPr>
              <a:t>Can be used for DiffServ</a:t>
            </a:r>
          </a:p>
          <a:p>
            <a:pPr marL="628650" lvl="1" indent="-171450">
              <a:buFontTx/>
              <a:buChar char="-"/>
            </a:pPr>
            <a:r>
              <a:rPr lang="en-US" sz="1200" b="0" i="0" kern="1200" dirty="0">
                <a:solidFill>
                  <a:schemeClr val="tx1"/>
                </a:solidFill>
                <a:effectLst/>
                <a:latin typeface="+mn-lt"/>
                <a:ea typeface="+mn-ea"/>
                <a:cs typeface="+mn-cs"/>
              </a:rPr>
              <a:t>Rate: target rate for the band</a:t>
            </a:r>
          </a:p>
          <a:p>
            <a:pPr marL="628650" lvl="1" indent="-171450">
              <a:buFontTx/>
              <a:buChar char="-"/>
            </a:pPr>
            <a:r>
              <a:rPr lang="en-US" sz="1200" b="0" i="0" kern="1200" dirty="0">
                <a:solidFill>
                  <a:schemeClr val="tx1"/>
                </a:solidFill>
                <a:effectLst/>
                <a:latin typeface="+mn-lt"/>
                <a:ea typeface="+mn-ea"/>
                <a:cs typeface="+mn-cs"/>
              </a:rPr>
              <a:t>Burst: define granularity of the band</a:t>
            </a:r>
          </a:p>
          <a:p>
            <a:pPr marL="628650" lvl="1" indent="-171450">
              <a:buFontTx/>
              <a:buChar char="-"/>
            </a:pPr>
            <a:r>
              <a:rPr lang="en-US" sz="1200" b="0" i="0" kern="1200" dirty="0">
                <a:solidFill>
                  <a:schemeClr val="tx1"/>
                </a:solidFill>
                <a:effectLst/>
                <a:latin typeface="+mn-lt"/>
                <a:ea typeface="+mn-ea"/>
                <a:cs typeface="+mn-cs"/>
              </a:rPr>
              <a:t>Counter: similar to other counters</a:t>
            </a:r>
          </a:p>
          <a:p>
            <a:pPr marL="628650" lvl="1" indent="-171450">
              <a:buFontTx/>
              <a:buChar char="-"/>
            </a:pPr>
            <a:r>
              <a:rPr lang="en-US" sz="1200" b="0" i="0" kern="1200" dirty="0">
                <a:solidFill>
                  <a:schemeClr val="tx1"/>
                </a:solidFill>
                <a:effectLst/>
                <a:latin typeface="+mn-lt"/>
                <a:ea typeface="+mn-ea"/>
                <a:cs typeface="+mn-cs"/>
              </a:rPr>
              <a:t>Type specific arguments: some types have specific parameters</a:t>
            </a:r>
          </a:p>
          <a:p>
            <a:pPr marL="171450" lvl="0" indent="-171450">
              <a:buFontTx/>
              <a:buChar char="-"/>
            </a:pPr>
            <a:r>
              <a:rPr lang="en-US" sz="1200" b="0" i="0" kern="1200" dirty="0">
                <a:solidFill>
                  <a:schemeClr val="tx1"/>
                </a:solidFill>
                <a:effectLst/>
                <a:latin typeface="+mn-lt"/>
                <a:ea typeface="+mn-ea"/>
                <a:cs typeface="+mn-cs"/>
              </a:rPr>
              <a:t>Packets are processed only by a single meter band</a:t>
            </a:r>
          </a:p>
          <a:p>
            <a:pPr marL="171450" lvl="0" indent="-171450">
              <a:buFontTx/>
              <a:buChar char="-"/>
            </a:pPr>
            <a:r>
              <a:rPr lang="en-US" sz="1200" b="0" i="0" kern="1200" dirty="0">
                <a:solidFill>
                  <a:schemeClr val="tx1"/>
                </a:solidFill>
                <a:effectLst/>
                <a:latin typeface="+mn-lt"/>
                <a:ea typeface="+mn-ea"/>
                <a:cs typeface="+mn-cs"/>
              </a:rPr>
              <a:t>Packets must be processed by a meter band only if the meter measured rate exceeds the band target rate</a:t>
            </a:r>
          </a:p>
          <a:p>
            <a:pPr marL="171450" lvl="0" indent="-171450">
              <a:buFontTx/>
              <a:buChar cha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394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2410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Feature: controller wants to know the capabilities of the switch.</a:t>
            </a:r>
          </a:p>
          <a:p>
            <a:r>
              <a:rPr lang="en-US" dirty="0"/>
              <a:t>- Configuration: query about the configurations of the switch</a:t>
            </a:r>
          </a:p>
          <a:p>
            <a:r>
              <a:rPr lang="en-US" dirty="0"/>
              <a:t>- Modify-state: add, delete and modify flow/group entries and insert/remove action buckets of groups and also set switch port properties</a:t>
            </a:r>
          </a:p>
          <a:p>
            <a:pPr marL="171450" indent="-171450">
              <a:buFontTx/>
              <a:buChar char="-"/>
            </a:pPr>
            <a:r>
              <a:rPr lang="en-US" dirty="0"/>
              <a:t>read-state: current configuration and stats and capabilities of the switch. (The explanation is based on the specification but I think it is mostly to read the state in the tables and not the capabilities and so on which is state by specification)</a:t>
            </a:r>
          </a:p>
          <a:p>
            <a:pPr marL="171450" indent="-171450">
              <a:buFontTx/>
              <a:buChar char="-"/>
            </a:pPr>
            <a:r>
              <a:rPr lang="en-US" dirty="0"/>
              <a:t>Packet-out: to send packet out of a specific port on the switch (for the packets that they were received by packet-in message. </a:t>
            </a:r>
          </a:p>
          <a:p>
            <a:pPr marL="171450" indent="-171450">
              <a:buFontTx/>
              <a:buChar char="-"/>
            </a:pPr>
            <a:r>
              <a:rPr lang="en-US" dirty="0"/>
              <a:t>Barrier: To ensure message dependencies (to make sure things are done atomic)</a:t>
            </a:r>
          </a:p>
          <a:p>
            <a:pPr marL="171450" indent="-171450">
              <a:buFontTx/>
              <a:buChar char="-"/>
            </a:pPr>
            <a:r>
              <a:rPr lang="en-US" dirty="0"/>
              <a:t>Role Request: When switch is connected to multiple controller, they have different roles. By this approach, the SDN controller can notify the switch about their roles.</a:t>
            </a:r>
          </a:p>
          <a:p>
            <a:pPr marL="171450" indent="-171450">
              <a:buFontTx/>
              <a:buChar char="-"/>
            </a:pPr>
            <a:r>
              <a:rPr lang="en-US" dirty="0"/>
              <a:t>Asynchronous configuration: to set filters about the asynchronous messages that the controller like to receive from switch.</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8312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Packet-in: Transfer the control of the packet to the controller. Switch notify the controller that it has received a packet and has a table miss for it. Although, other operation like changing the TTL may end up with sending packet in message.</a:t>
            </a:r>
          </a:p>
          <a:p>
            <a:r>
              <a:rPr lang="en-US" dirty="0"/>
              <a:t>- Flow removed: inform the controller that a flow is removed from the flow table. </a:t>
            </a:r>
          </a:p>
          <a:p>
            <a:r>
              <a:rPr lang="en-US" dirty="0"/>
              <a:t>- Port status: Update the controller about an update in the state of the port.</a:t>
            </a:r>
          </a:p>
          <a:p>
            <a:r>
              <a:rPr lang="en-US" dirty="0"/>
              <a:t>- Role-Status: Inform the controller about an update in its role. For example, if a new master SDN controller introduce itself to the switch, the switch inform other SDN controllers that they are not master any more.</a:t>
            </a:r>
          </a:p>
          <a:p>
            <a:r>
              <a:rPr lang="en-US" dirty="0"/>
              <a:t>- Controller status: (Not very clear to myself) Probably when there is some problem in the channel between the switch and SDN controller, the switch notifies the controller about it.</a:t>
            </a:r>
          </a:p>
          <a:p>
            <a:r>
              <a:rPr lang="en-US" dirty="0"/>
              <a:t>- Flow monitor: Inform the controller about a change in the flow table.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2733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123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Normally a controller have multiple channel to exchange data with different switches.</a:t>
            </a:r>
          </a:p>
          <a:p>
            <a:pPr marL="171450" indent="-171450">
              <a:buFontTx/>
              <a:buChar char="-"/>
            </a:pPr>
            <a:r>
              <a:rPr lang="en-US" dirty="0"/>
              <a:t>A switch may have multiple channels to multiple controllers for the sake of reliability.</a:t>
            </a:r>
          </a:p>
          <a:p>
            <a:pPr marL="628650" lvl="1" indent="-171450">
              <a:buFontTx/>
              <a:buChar char="-"/>
            </a:pPr>
            <a:r>
              <a:rPr lang="en-US" dirty="0"/>
              <a:t>Auxiliary connections</a:t>
            </a:r>
          </a:p>
          <a:p>
            <a:pPr marL="171450" lvl="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718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When there is more than one controller, the controllers can be in contact with each other which is out of scope of OpenFlow but they can use mentioned mechanism to handle different OpenFlow switches.</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633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part is new concept. Not related directly to previous slides.</a:t>
            </a:r>
          </a:p>
          <a:p>
            <a:pPr marL="171450" indent="-171450">
              <a:buFontTx/>
              <a:buChar char="-"/>
            </a:pPr>
            <a:r>
              <a:rPr lang="en-US" dirty="0"/>
              <a:t>A bundle commit request may include an execution time, specifying when the bundle should commit.</a:t>
            </a:r>
          </a:p>
          <a:p>
            <a:pPr marL="171450" indent="-171450">
              <a:buFontTx/>
              <a:buChar char="-"/>
            </a:pPr>
            <a:r>
              <a:rPr lang="en-US" dirty="0"/>
              <a:t>Switch tries to commit the bundle as close as possible to the time.</a:t>
            </a:r>
          </a:p>
          <a:p>
            <a:pPr marL="171450" indent="-171450">
              <a:buFontTx/>
              <a:buChar char="-"/>
            </a:pPr>
            <a:r>
              <a:rPr lang="en-US" dirty="0"/>
              <a:t>Explanation of the graph:</a:t>
            </a:r>
          </a:p>
          <a:p>
            <a:pPr marL="628650" lvl="1" indent="-171450">
              <a:buFontTx/>
              <a:buChar char="-"/>
            </a:pPr>
            <a:r>
              <a:rPr lang="en-US" dirty="0"/>
              <a:t>A bundle is opened</a:t>
            </a:r>
          </a:p>
          <a:p>
            <a:pPr marL="628650" lvl="1" indent="-171450">
              <a:buFontTx/>
              <a:buChar char="-"/>
            </a:pPr>
            <a:r>
              <a:rPr lang="en-US" dirty="0"/>
              <a:t>A bunch of commands are sent</a:t>
            </a:r>
          </a:p>
          <a:p>
            <a:pPr marL="628650" lvl="1" indent="-171450">
              <a:buFontTx/>
              <a:buChar char="-"/>
            </a:pPr>
            <a:r>
              <a:rPr lang="en-US" dirty="0"/>
              <a:t>A bundle is closed</a:t>
            </a:r>
          </a:p>
          <a:p>
            <a:pPr marL="628650" lvl="1" indent="-171450">
              <a:buFontTx/>
              <a:buChar char="-"/>
            </a:pPr>
            <a:r>
              <a:rPr lang="en-US" dirty="0"/>
              <a:t>A time is set</a:t>
            </a:r>
          </a:p>
          <a:p>
            <a:pPr marL="628650" lvl="1" indent="-171450">
              <a:buFontTx/>
              <a:buChar char="-"/>
            </a:pPr>
            <a:r>
              <a:rPr lang="en-US" dirty="0"/>
              <a:t>Switch execute the commands.</a:t>
            </a:r>
          </a:p>
          <a:p>
            <a:pPr marL="628650" lvl="1" indent="-171450">
              <a:buFontTx/>
              <a:buChar char="-"/>
            </a:pPr>
            <a:r>
              <a:rPr lang="en-US" dirty="0"/>
              <a:t>It notify the controller that it has executed the commands.</a:t>
            </a:r>
          </a:p>
          <a:p>
            <a:pPr marL="171450" lvl="0"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8241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Version</a:t>
            </a:r>
          </a:p>
          <a:p>
            <a:pPr marL="171450" indent="-171450">
              <a:buFontTx/>
              <a:buChar char="-"/>
            </a:pPr>
            <a:r>
              <a:rPr lang="en-US" dirty="0"/>
              <a:t>Type of message</a:t>
            </a:r>
          </a:p>
          <a:p>
            <a:pPr marL="171450" indent="-171450">
              <a:buFontTx/>
              <a:buChar char="-"/>
            </a:pPr>
            <a:r>
              <a:rPr lang="en-US" dirty="0"/>
              <a:t>Length of message including the header length</a:t>
            </a:r>
          </a:p>
          <a:p>
            <a:pPr marL="171450" indent="-171450">
              <a:buFontTx/>
              <a:buChar char="-"/>
            </a:pPr>
            <a:r>
              <a:rPr lang="en-US" dirty="0"/>
              <a:t>Transaction ID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409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Oxm_class</a:t>
            </a:r>
            <a:r>
              <a:rPr lang="en-US" dirty="0"/>
              <a:t>: matches the class of the object</a:t>
            </a:r>
          </a:p>
          <a:p>
            <a:pPr marL="171450" indent="-171450">
              <a:buFontTx/>
              <a:buChar char="-"/>
            </a:pPr>
            <a:r>
              <a:rPr lang="en-US" dirty="0" err="1"/>
              <a:t>Oxm_field</a:t>
            </a:r>
            <a:r>
              <a:rPr lang="en-US" dirty="0"/>
              <a:t>: matches the field within the class</a:t>
            </a:r>
          </a:p>
          <a:p>
            <a:pPr marL="171450" indent="-171450">
              <a:buFontTx/>
              <a:buChar char="-"/>
            </a:pPr>
            <a:r>
              <a:rPr lang="en-US" dirty="0" err="1"/>
              <a:t>Oxm_hasMask</a:t>
            </a:r>
            <a:r>
              <a:rPr lang="en-US" dirty="0"/>
              <a:t>: set if the </a:t>
            </a:r>
            <a:r>
              <a:rPr lang="en-US" dirty="0" err="1"/>
              <a:t>oxm</a:t>
            </a:r>
            <a:r>
              <a:rPr lang="en-US" dirty="0"/>
              <a:t> includes a bitmask</a:t>
            </a:r>
          </a:p>
          <a:p>
            <a:pPr marL="628650" lvl="1" indent="-171450">
              <a:buFontTx/>
              <a:buChar char="-"/>
            </a:pPr>
            <a:r>
              <a:rPr lang="en-US" dirty="0"/>
              <a:t>If 0: the value should match</a:t>
            </a:r>
          </a:p>
          <a:p>
            <a:pPr marL="628650" lvl="1" indent="-171450">
              <a:buFontTx/>
              <a:buChar char="-"/>
            </a:pPr>
            <a:r>
              <a:rPr lang="en-US" dirty="0"/>
              <a:t>If 1: the payload is </a:t>
            </a:r>
            <a:r>
              <a:rPr lang="en-US" dirty="0" err="1"/>
              <a:t>value:bitmask</a:t>
            </a:r>
            <a:r>
              <a:rPr lang="en-US" dirty="0"/>
              <a:t> </a:t>
            </a:r>
          </a:p>
          <a:p>
            <a:pPr marL="1085850" lvl="2" indent="-171450">
              <a:buFontTx/>
              <a:buChar char="-"/>
            </a:pPr>
            <a:r>
              <a:rPr lang="en-US" dirty="0"/>
              <a:t>For example 1110:1110 matches 111x, 110100:111100 matches 1101xx</a:t>
            </a:r>
          </a:p>
          <a:p>
            <a:pPr marL="171450" indent="-171450">
              <a:buFontTx/>
              <a:buChar char="-"/>
            </a:pPr>
            <a:r>
              <a:rPr lang="en-US" dirty="0" err="1"/>
              <a:t>Oxm_length</a:t>
            </a:r>
            <a:r>
              <a:rPr lang="en-US" dirty="0"/>
              <a:t>: length of </a:t>
            </a:r>
            <a:r>
              <a:rPr lang="en-US" dirty="0" err="1"/>
              <a:t>oxm</a:t>
            </a:r>
            <a:r>
              <a:rPr lang="en-US" dirty="0"/>
              <a:t> payload</a:t>
            </a:r>
          </a:p>
          <a:p>
            <a:pPr marL="171450" indent="-171450">
              <a:buFontTx/>
              <a:buChar char="-"/>
            </a:pPr>
            <a:r>
              <a:rPr lang="en-US" dirty="0"/>
              <a:t>For example:</a:t>
            </a:r>
          </a:p>
          <a:p>
            <a:pPr marL="628650" lvl="1" indent="-171450">
              <a:buFontTx/>
              <a:buChar char="-"/>
            </a:pPr>
            <a:r>
              <a:rPr lang="en-US" dirty="0"/>
              <a:t>Class can be OFPXMC_OPENFLOW_BASIC</a:t>
            </a:r>
          </a:p>
          <a:p>
            <a:pPr marL="1085850" lvl="2" indent="-171450">
              <a:buFontTx/>
              <a:buChar char="-"/>
            </a:pPr>
            <a:r>
              <a:rPr lang="en-US" dirty="0"/>
              <a:t>Field can be:</a:t>
            </a:r>
          </a:p>
          <a:p>
            <a:pPr marL="1543050" lvl="3" indent="-171450" rtl="0">
              <a:buFontTx/>
              <a:buChar char="-"/>
            </a:pPr>
            <a:r>
              <a:rPr lang="en-US" dirty="0"/>
              <a:t>OFPXMT_OFB_IN_PORT = 0, /* Switch input port. */ </a:t>
            </a:r>
          </a:p>
          <a:p>
            <a:pPr marL="1543050" lvl="3" indent="-171450" rtl="0">
              <a:buFontTx/>
              <a:buChar char="-"/>
            </a:pPr>
            <a:r>
              <a:rPr lang="en-US" dirty="0"/>
              <a:t>OFPXMT_OFB_IN_PHY_PORT = 1, /* Switch physical input port. */ </a:t>
            </a:r>
          </a:p>
          <a:p>
            <a:pPr marL="1543050" lvl="3" indent="-171450" rtl="0">
              <a:buFontTx/>
              <a:buChar char="-"/>
            </a:pPr>
            <a:r>
              <a:rPr lang="en-US" dirty="0"/>
              <a:t>OFPXMT_OFB_METADATA = 2, /* Metadata passed between tables. */ </a:t>
            </a:r>
          </a:p>
          <a:p>
            <a:pPr marL="1543050" lvl="3" indent="-171450" rtl="0">
              <a:buFontTx/>
              <a:buChar char="-"/>
            </a:pPr>
            <a:r>
              <a:rPr lang="en-US" dirty="0"/>
              <a:t>OFPXMT_OFB_ETH_DST = 3, /* Ethernet destination address. */</a:t>
            </a:r>
          </a:p>
          <a:p>
            <a:pPr marL="1543050" lvl="3" indent="-171450" rtl="0">
              <a:buFontTx/>
              <a:buChar char="-"/>
            </a:pPr>
            <a:r>
              <a:rPr lang="en-US" dirty="0"/>
              <a:t>…..</a:t>
            </a:r>
          </a:p>
          <a:p>
            <a:pPr marL="628650" lvl="1" indent="-171450" rtl="0">
              <a:buFontTx/>
              <a:buChar char="-"/>
            </a:pPr>
            <a:endParaRPr lang="en-US" dirty="0"/>
          </a:p>
          <a:p>
            <a:pPr marL="1085850" lvl="2" indent="-171450">
              <a:buFontTx/>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6592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49221-0D6C-4DE6-AC61-5463F0655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7473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9/24/13</a:t>
            </a:r>
          </a:p>
        </p:txBody>
      </p:sp>
      <p:sp>
        <p:nvSpPr>
          <p:cNvPr id="5" name="Footer Placeholder 4"/>
          <p:cNvSpPr>
            <a:spLocks noGrp="1"/>
          </p:cNvSpPr>
          <p:nvPr>
            <p:ph type="ftr" sz="quarter" idx="11"/>
          </p:nvPr>
        </p:nvSpPr>
        <p:spPr/>
        <p:txBody>
          <a:bodyPr/>
          <a:lstStyle/>
          <a:p>
            <a:r>
              <a:rPr lang="en-US"/>
              <a:t>Software Defined Networking (COMS 6998-8)</a:t>
            </a:r>
          </a:p>
        </p:txBody>
      </p:sp>
      <p:sp>
        <p:nvSpPr>
          <p:cNvPr id="6" name="Slide Number Placeholder 5"/>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3425331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9/24/13</a:t>
            </a:r>
          </a:p>
        </p:txBody>
      </p:sp>
      <p:sp>
        <p:nvSpPr>
          <p:cNvPr id="5" name="Footer Placeholder 4"/>
          <p:cNvSpPr>
            <a:spLocks noGrp="1"/>
          </p:cNvSpPr>
          <p:nvPr>
            <p:ph type="ftr" sz="quarter" idx="11"/>
          </p:nvPr>
        </p:nvSpPr>
        <p:spPr/>
        <p:txBody>
          <a:bodyPr/>
          <a:lstStyle/>
          <a:p>
            <a:r>
              <a:rPr lang="en-US"/>
              <a:t>Software Defined Networking (COMS 6998-8)</a:t>
            </a:r>
          </a:p>
        </p:txBody>
      </p:sp>
      <p:sp>
        <p:nvSpPr>
          <p:cNvPr id="6" name="Slide Number Placeholder 5"/>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3667897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9/24/13</a:t>
            </a:r>
          </a:p>
        </p:txBody>
      </p:sp>
      <p:sp>
        <p:nvSpPr>
          <p:cNvPr id="5" name="Footer Placeholder 4"/>
          <p:cNvSpPr>
            <a:spLocks noGrp="1"/>
          </p:cNvSpPr>
          <p:nvPr>
            <p:ph type="ftr" sz="quarter" idx="11"/>
          </p:nvPr>
        </p:nvSpPr>
        <p:spPr/>
        <p:txBody>
          <a:bodyPr/>
          <a:lstStyle/>
          <a:p>
            <a:r>
              <a:rPr lang="en-US"/>
              <a:t>Software Defined Networking (COMS 6998-8)</a:t>
            </a:r>
          </a:p>
        </p:txBody>
      </p:sp>
      <p:sp>
        <p:nvSpPr>
          <p:cNvPr id="6" name="Slide Number Placeholder 5"/>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1864371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9/24/13</a:t>
            </a:r>
          </a:p>
        </p:txBody>
      </p:sp>
      <p:sp>
        <p:nvSpPr>
          <p:cNvPr id="6" name="Footer Placeholder 5"/>
          <p:cNvSpPr>
            <a:spLocks noGrp="1"/>
          </p:cNvSpPr>
          <p:nvPr>
            <p:ph type="ftr" sz="quarter" idx="11"/>
          </p:nvPr>
        </p:nvSpPr>
        <p:spPr/>
        <p:txBody>
          <a:bodyPr/>
          <a:lstStyle/>
          <a:p>
            <a:r>
              <a:rPr lang="en-US"/>
              <a:t>Software Defined Networking (COMS 6998-8)</a:t>
            </a:r>
          </a:p>
        </p:txBody>
      </p:sp>
      <p:sp>
        <p:nvSpPr>
          <p:cNvPr id="7" name="Slide Number Placeholder 6"/>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942833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9/24/13</a:t>
            </a:r>
          </a:p>
        </p:txBody>
      </p:sp>
      <p:sp>
        <p:nvSpPr>
          <p:cNvPr id="8" name="Footer Placeholder 7"/>
          <p:cNvSpPr>
            <a:spLocks noGrp="1"/>
          </p:cNvSpPr>
          <p:nvPr>
            <p:ph type="ftr" sz="quarter" idx="11"/>
          </p:nvPr>
        </p:nvSpPr>
        <p:spPr/>
        <p:txBody>
          <a:bodyPr/>
          <a:lstStyle/>
          <a:p>
            <a:r>
              <a:rPr lang="en-US"/>
              <a:t>Software Defined Networking (COMS 6998-8)</a:t>
            </a:r>
          </a:p>
        </p:txBody>
      </p:sp>
      <p:sp>
        <p:nvSpPr>
          <p:cNvPr id="9" name="Slide Number Placeholder 8"/>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217510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9/24/13</a:t>
            </a:r>
          </a:p>
        </p:txBody>
      </p:sp>
      <p:sp>
        <p:nvSpPr>
          <p:cNvPr id="4" name="Footer Placeholder 3"/>
          <p:cNvSpPr>
            <a:spLocks noGrp="1"/>
          </p:cNvSpPr>
          <p:nvPr>
            <p:ph type="ftr" sz="quarter" idx="11"/>
          </p:nvPr>
        </p:nvSpPr>
        <p:spPr/>
        <p:txBody>
          <a:bodyPr/>
          <a:lstStyle/>
          <a:p>
            <a:r>
              <a:rPr lang="en-US"/>
              <a:t>Software Defined Networking (COMS 6998-8)</a:t>
            </a:r>
          </a:p>
        </p:txBody>
      </p:sp>
      <p:sp>
        <p:nvSpPr>
          <p:cNvPr id="5" name="Slide Number Placeholder 4"/>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4115381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9/24/13</a:t>
            </a:r>
          </a:p>
        </p:txBody>
      </p:sp>
      <p:sp>
        <p:nvSpPr>
          <p:cNvPr id="3" name="Footer Placeholder 2"/>
          <p:cNvSpPr>
            <a:spLocks noGrp="1"/>
          </p:cNvSpPr>
          <p:nvPr>
            <p:ph type="ftr" sz="quarter" idx="11"/>
          </p:nvPr>
        </p:nvSpPr>
        <p:spPr/>
        <p:txBody>
          <a:bodyPr/>
          <a:lstStyle/>
          <a:p>
            <a:r>
              <a:rPr lang="en-US"/>
              <a:t>Software Defined Networking (COMS 6998-8)</a:t>
            </a:r>
          </a:p>
        </p:txBody>
      </p:sp>
      <p:sp>
        <p:nvSpPr>
          <p:cNvPr id="4" name="Slide Number Placeholder 3"/>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4261395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9/24/13</a:t>
            </a:r>
          </a:p>
        </p:txBody>
      </p:sp>
      <p:sp>
        <p:nvSpPr>
          <p:cNvPr id="6" name="Footer Placeholder 5"/>
          <p:cNvSpPr>
            <a:spLocks noGrp="1"/>
          </p:cNvSpPr>
          <p:nvPr>
            <p:ph type="ftr" sz="quarter" idx="11"/>
          </p:nvPr>
        </p:nvSpPr>
        <p:spPr/>
        <p:txBody>
          <a:bodyPr/>
          <a:lstStyle/>
          <a:p>
            <a:r>
              <a:rPr lang="en-US"/>
              <a:t>Software Defined Networking (COMS 6998-8)</a:t>
            </a:r>
          </a:p>
        </p:txBody>
      </p:sp>
      <p:sp>
        <p:nvSpPr>
          <p:cNvPr id="7" name="Slide Number Placeholder 6"/>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1862985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9/24/13</a:t>
            </a:r>
          </a:p>
        </p:txBody>
      </p:sp>
      <p:sp>
        <p:nvSpPr>
          <p:cNvPr id="6" name="Footer Placeholder 5"/>
          <p:cNvSpPr>
            <a:spLocks noGrp="1"/>
          </p:cNvSpPr>
          <p:nvPr>
            <p:ph type="ftr" sz="quarter" idx="11"/>
          </p:nvPr>
        </p:nvSpPr>
        <p:spPr/>
        <p:txBody>
          <a:bodyPr/>
          <a:lstStyle/>
          <a:p>
            <a:r>
              <a:rPr lang="en-US"/>
              <a:t>Software Defined Networking (COMS 6998-8)</a:t>
            </a:r>
          </a:p>
        </p:txBody>
      </p:sp>
      <p:sp>
        <p:nvSpPr>
          <p:cNvPr id="7" name="Slide Number Placeholder 6"/>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305002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9/24/13</a:t>
            </a:r>
          </a:p>
        </p:txBody>
      </p:sp>
      <p:sp>
        <p:nvSpPr>
          <p:cNvPr id="5" name="Footer Placeholder 4"/>
          <p:cNvSpPr>
            <a:spLocks noGrp="1"/>
          </p:cNvSpPr>
          <p:nvPr>
            <p:ph type="ftr" sz="quarter" idx="11"/>
          </p:nvPr>
        </p:nvSpPr>
        <p:spPr/>
        <p:txBody>
          <a:bodyPr/>
          <a:lstStyle/>
          <a:p>
            <a:r>
              <a:rPr lang="en-US"/>
              <a:t>Software Defined Networking (COMS 6998-8)</a:t>
            </a:r>
          </a:p>
        </p:txBody>
      </p:sp>
      <p:sp>
        <p:nvSpPr>
          <p:cNvPr id="6" name="Slide Number Placeholder 5"/>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1460044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9/24/13</a:t>
            </a:r>
          </a:p>
        </p:txBody>
      </p:sp>
      <p:sp>
        <p:nvSpPr>
          <p:cNvPr id="5" name="Footer Placeholder 4"/>
          <p:cNvSpPr>
            <a:spLocks noGrp="1"/>
          </p:cNvSpPr>
          <p:nvPr>
            <p:ph type="ftr" sz="quarter" idx="11"/>
          </p:nvPr>
        </p:nvSpPr>
        <p:spPr/>
        <p:txBody>
          <a:bodyPr/>
          <a:lstStyle/>
          <a:p>
            <a:r>
              <a:rPr lang="en-US"/>
              <a:t>Software Defined Networking (COMS 6998-8)</a:t>
            </a:r>
          </a:p>
        </p:txBody>
      </p:sp>
      <p:sp>
        <p:nvSpPr>
          <p:cNvPr id="6" name="Slide Number Placeholder 5"/>
          <p:cNvSpPr>
            <a:spLocks noGrp="1"/>
          </p:cNvSpPr>
          <p:nvPr>
            <p:ph type="sldNum" sz="quarter" idx="12"/>
          </p:nvPr>
        </p:nvSpPr>
        <p:spPr/>
        <p:txBody>
          <a:bodyPr/>
          <a:lstStyle/>
          <a:p>
            <a:fld id="{4510AD55-118C-453F-AEC9-3256547505F1}" type="slidenum">
              <a:rPr lang="en-US" smtClean="0"/>
              <a:t>‹#›</a:t>
            </a:fld>
            <a:endParaRPr lang="en-US"/>
          </a:p>
        </p:txBody>
      </p:sp>
    </p:spTree>
    <p:extLst>
      <p:ext uri="{BB962C8B-B14F-4D97-AF65-F5344CB8AC3E}">
        <p14:creationId xmlns:p14="http://schemas.microsoft.com/office/powerpoint/2010/main" val="2370509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83247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2325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726010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4219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39952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8291191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15281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991245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1273619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9236248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02431CD-A83D-384C-97C7-66FF0CCEF56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581963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r>
              <a:rPr lang="en-US"/>
              <a:t>9/24/13</a:t>
            </a: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12"/>
          </p:nvPr>
        </p:nvSpPr>
        <p:spPr/>
        <p:txBody>
          <a:bodyPr/>
          <a:lstStyle>
            <a:lvl1pPr>
              <a:defRPr/>
            </a:lvl1pPr>
          </a:lstStyle>
          <a:p>
            <a:fld id="{D557BA6F-9B9D-4D6D-A18D-8EEE94B60810}" type="slidenum">
              <a:rPr lang="en-US"/>
              <a:pPr/>
              <a:t>‹#›</a:t>
            </a:fld>
            <a:endParaRPr lang="en-US"/>
          </a:p>
        </p:txBody>
      </p:sp>
    </p:spTree>
    <p:extLst>
      <p:ext uri="{BB962C8B-B14F-4D97-AF65-F5344CB8AC3E}">
        <p14:creationId xmlns:p14="http://schemas.microsoft.com/office/powerpoint/2010/main" val="1912901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9/24/13</a:t>
            </a: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12"/>
          </p:nvPr>
        </p:nvSpPr>
        <p:spPr/>
        <p:txBody>
          <a:bodyPr/>
          <a:lstStyle>
            <a:lvl1pPr>
              <a:defRPr/>
            </a:lvl1pPr>
          </a:lstStyle>
          <a:p>
            <a:fld id="{D4DFB6AE-E188-4FF4-9BAA-A3F1C15670F2}" type="slidenum">
              <a:rPr lang="en-US"/>
              <a:pPr/>
              <a:t>‹#›</a:t>
            </a:fld>
            <a:endParaRPr lang="en-US"/>
          </a:p>
        </p:txBody>
      </p:sp>
    </p:spTree>
    <p:extLst>
      <p:ext uri="{BB962C8B-B14F-4D97-AF65-F5344CB8AC3E}">
        <p14:creationId xmlns:p14="http://schemas.microsoft.com/office/powerpoint/2010/main" val="2548470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a:t>9/24/13</a:t>
            </a: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12"/>
          </p:nvPr>
        </p:nvSpPr>
        <p:spPr/>
        <p:txBody>
          <a:bodyPr/>
          <a:lstStyle>
            <a:lvl1pPr>
              <a:defRPr/>
            </a:lvl1pPr>
          </a:lstStyle>
          <a:p>
            <a:fld id="{8FC08AA1-B771-497D-930D-A82AB65AA449}" type="slidenum">
              <a:rPr lang="en-US"/>
              <a:pPr/>
              <a:t>‹#›</a:t>
            </a:fld>
            <a:endParaRPr lang="en-US"/>
          </a:p>
        </p:txBody>
      </p:sp>
    </p:spTree>
    <p:extLst>
      <p:ext uri="{BB962C8B-B14F-4D97-AF65-F5344CB8AC3E}">
        <p14:creationId xmlns:p14="http://schemas.microsoft.com/office/powerpoint/2010/main" val="1892879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r>
              <a:rPr lang="en-US"/>
              <a:t>9/24/13</a:t>
            </a: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7" name="Slide Number Placeholder 5"/>
          <p:cNvSpPr>
            <a:spLocks noGrp="1"/>
          </p:cNvSpPr>
          <p:nvPr>
            <p:ph type="sldNum" sz="quarter" idx="12"/>
          </p:nvPr>
        </p:nvSpPr>
        <p:spPr/>
        <p:txBody>
          <a:bodyPr/>
          <a:lstStyle>
            <a:lvl1pPr>
              <a:defRPr/>
            </a:lvl1pPr>
          </a:lstStyle>
          <a:p>
            <a:fld id="{996A7719-FA36-4991-A4EA-D7022B8CD40E}" type="slidenum">
              <a:rPr lang="en-US"/>
              <a:pPr/>
              <a:t>‹#›</a:t>
            </a:fld>
            <a:endParaRPr lang="en-US"/>
          </a:p>
        </p:txBody>
      </p:sp>
    </p:spTree>
    <p:extLst>
      <p:ext uri="{BB962C8B-B14F-4D97-AF65-F5344CB8AC3E}">
        <p14:creationId xmlns:p14="http://schemas.microsoft.com/office/powerpoint/2010/main" val="10307219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r>
              <a:rPr lang="en-US"/>
              <a:t>9/24/13</a:t>
            </a:r>
          </a:p>
        </p:txBody>
      </p:sp>
      <p:sp>
        <p:nvSpPr>
          <p:cNvPr id="8"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9" name="Slide Number Placeholder 5"/>
          <p:cNvSpPr>
            <a:spLocks noGrp="1"/>
          </p:cNvSpPr>
          <p:nvPr>
            <p:ph type="sldNum" sz="quarter" idx="12"/>
          </p:nvPr>
        </p:nvSpPr>
        <p:spPr/>
        <p:txBody>
          <a:bodyPr/>
          <a:lstStyle>
            <a:lvl1pPr>
              <a:defRPr/>
            </a:lvl1pPr>
          </a:lstStyle>
          <a:p>
            <a:fld id="{B843A5A4-AADA-4A99-99DA-83C7DE74C6B6}" type="slidenum">
              <a:rPr lang="en-US"/>
              <a:pPr/>
              <a:t>‹#›</a:t>
            </a:fld>
            <a:endParaRPr lang="en-US"/>
          </a:p>
        </p:txBody>
      </p:sp>
    </p:spTree>
    <p:extLst>
      <p:ext uri="{BB962C8B-B14F-4D97-AF65-F5344CB8AC3E}">
        <p14:creationId xmlns:p14="http://schemas.microsoft.com/office/powerpoint/2010/main" val="6099180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r>
              <a:rPr lang="en-US"/>
              <a:t>9/24/13</a:t>
            </a: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5" name="Slide Number Placeholder 5"/>
          <p:cNvSpPr>
            <a:spLocks noGrp="1"/>
          </p:cNvSpPr>
          <p:nvPr>
            <p:ph type="sldNum" sz="quarter" idx="12"/>
          </p:nvPr>
        </p:nvSpPr>
        <p:spPr/>
        <p:txBody>
          <a:bodyPr/>
          <a:lstStyle>
            <a:lvl1pPr>
              <a:defRPr/>
            </a:lvl1pPr>
          </a:lstStyle>
          <a:p>
            <a:fld id="{04529084-4064-4451-BE5E-7031AAB6E503}" type="slidenum">
              <a:rPr lang="en-US"/>
              <a:pPr/>
              <a:t>‹#›</a:t>
            </a:fld>
            <a:endParaRPr lang="en-US"/>
          </a:p>
        </p:txBody>
      </p:sp>
    </p:spTree>
    <p:extLst>
      <p:ext uri="{BB962C8B-B14F-4D97-AF65-F5344CB8AC3E}">
        <p14:creationId xmlns:p14="http://schemas.microsoft.com/office/powerpoint/2010/main" val="7232035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US"/>
              <a:t>9/24/13</a:t>
            </a: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4" name="Slide Number Placeholder 5"/>
          <p:cNvSpPr>
            <a:spLocks noGrp="1"/>
          </p:cNvSpPr>
          <p:nvPr>
            <p:ph type="sldNum" sz="quarter" idx="12"/>
          </p:nvPr>
        </p:nvSpPr>
        <p:spPr/>
        <p:txBody>
          <a:bodyPr/>
          <a:lstStyle>
            <a:lvl1pPr>
              <a:defRPr/>
            </a:lvl1pPr>
          </a:lstStyle>
          <a:p>
            <a:fld id="{CD1C1E46-9859-45A5-A132-58975DC49322}" type="slidenum">
              <a:rPr lang="en-US"/>
              <a:pPr/>
              <a:t>‹#›</a:t>
            </a:fld>
            <a:endParaRPr lang="en-US"/>
          </a:p>
        </p:txBody>
      </p:sp>
    </p:spTree>
    <p:extLst>
      <p:ext uri="{BB962C8B-B14F-4D97-AF65-F5344CB8AC3E}">
        <p14:creationId xmlns:p14="http://schemas.microsoft.com/office/powerpoint/2010/main" val="39829014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r>
              <a:rPr lang="en-US"/>
              <a:t>9/24/13</a:t>
            </a: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7" name="Slide Number Placeholder 5"/>
          <p:cNvSpPr>
            <a:spLocks noGrp="1"/>
          </p:cNvSpPr>
          <p:nvPr>
            <p:ph type="sldNum" sz="quarter" idx="12"/>
          </p:nvPr>
        </p:nvSpPr>
        <p:spPr/>
        <p:txBody>
          <a:bodyPr/>
          <a:lstStyle>
            <a:lvl1pPr>
              <a:defRPr/>
            </a:lvl1pPr>
          </a:lstStyle>
          <a:p>
            <a:fld id="{8C72EB5C-F26D-46D0-A1C0-2B1FF186F20D}" type="slidenum">
              <a:rPr lang="en-US"/>
              <a:pPr/>
              <a:t>‹#›</a:t>
            </a:fld>
            <a:endParaRPr lang="en-US"/>
          </a:p>
        </p:txBody>
      </p:sp>
    </p:spTree>
    <p:extLst>
      <p:ext uri="{BB962C8B-B14F-4D97-AF65-F5344CB8AC3E}">
        <p14:creationId xmlns:p14="http://schemas.microsoft.com/office/powerpoint/2010/main" val="657021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r>
              <a:rPr lang="en-US"/>
              <a:t>9/24/13</a:t>
            </a: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7" name="Slide Number Placeholder 5"/>
          <p:cNvSpPr>
            <a:spLocks noGrp="1"/>
          </p:cNvSpPr>
          <p:nvPr>
            <p:ph type="sldNum" sz="quarter" idx="12"/>
          </p:nvPr>
        </p:nvSpPr>
        <p:spPr/>
        <p:txBody>
          <a:bodyPr/>
          <a:lstStyle>
            <a:lvl1pPr>
              <a:defRPr/>
            </a:lvl1pPr>
          </a:lstStyle>
          <a:p>
            <a:fld id="{6D636342-2DAD-474F-A9E3-9F81D9964633}" type="slidenum">
              <a:rPr lang="en-US"/>
              <a:pPr/>
              <a:t>‹#›</a:t>
            </a:fld>
            <a:endParaRPr lang="en-US"/>
          </a:p>
        </p:txBody>
      </p:sp>
    </p:spTree>
    <p:extLst>
      <p:ext uri="{BB962C8B-B14F-4D97-AF65-F5344CB8AC3E}">
        <p14:creationId xmlns:p14="http://schemas.microsoft.com/office/powerpoint/2010/main" val="2151770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9/24/13</a:t>
            </a: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12"/>
          </p:nvPr>
        </p:nvSpPr>
        <p:spPr/>
        <p:txBody>
          <a:bodyPr/>
          <a:lstStyle>
            <a:lvl1pPr>
              <a:defRPr/>
            </a:lvl1pPr>
          </a:lstStyle>
          <a:p>
            <a:fld id="{811BE93C-C375-4906-9983-0610BD002AC1}" type="slidenum">
              <a:rPr lang="en-US"/>
              <a:pPr/>
              <a:t>‹#›</a:t>
            </a:fld>
            <a:endParaRPr lang="en-US"/>
          </a:p>
        </p:txBody>
      </p:sp>
    </p:spTree>
    <p:extLst>
      <p:ext uri="{BB962C8B-B14F-4D97-AF65-F5344CB8AC3E}">
        <p14:creationId xmlns:p14="http://schemas.microsoft.com/office/powerpoint/2010/main" val="21821820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9/24/13</a:t>
            </a: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12"/>
          </p:nvPr>
        </p:nvSpPr>
        <p:spPr/>
        <p:txBody>
          <a:bodyPr/>
          <a:lstStyle>
            <a:lvl1pPr>
              <a:defRPr/>
            </a:lvl1pPr>
          </a:lstStyle>
          <a:p>
            <a:fld id="{15004D61-5FF6-4433-B76F-65CAE5D62208}" type="slidenum">
              <a:rPr lang="en-US"/>
              <a:pPr/>
              <a:t>‹#›</a:t>
            </a:fld>
            <a:endParaRPr lang="en-US"/>
          </a:p>
        </p:txBody>
      </p:sp>
    </p:spTree>
    <p:extLst>
      <p:ext uri="{BB962C8B-B14F-4D97-AF65-F5344CB8AC3E}">
        <p14:creationId xmlns:p14="http://schemas.microsoft.com/office/powerpoint/2010/main" val="17431942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409575" y="-4763"/>
            <a:ext cx="3761184"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196301" y="1380069"/>
            <a:ext cx="6430967" cy="2616199"/>
          </a:xfrm>
        </p:spPr>
        <p:txBody>
          <a:bodyPr anchor="b">
            <a:normAutofit/>
          </a:bodyPr>
          <a:lstStyle>
            <a:lvl1pPr algn="r">
              <a:defRPr sz="4500">
                <a:effectLst/>
              </a:defRPr>
            </a:lvl1pPr>
          </a:lstStyle>
          <a:p>
            <a:r>
              <a:rPr lang="en-US"/>
              <a:t>Click to edit Master title style</a:t>
            </a:r>
            <a:endParaRPr lang="en-US" dirty="0"/>
          </a:p>
        </p:txBody>
      </p:sp>
      <p:sp>
        <p:nvSpPr>
          <p:cNvPr id="3" name="Subtitle 2"/>
          <p:cNvSpPr>
            <a:spLocks noGrp="1"/>
          </p:cNvSpPr>
          <p:nvPr>
            <p:ph type="subTitle" idx="1"/>
          </p:nvPr>
        </p:nvSpPr>
        <p:spPr>
          <a:xfrm>
            <a:off x="3386533" y="3996267"/>
            <a:ext cx="5240734" cy="1388534"/>
          </a:xfrm>
        </p:spPr>
        <p:txBody>
          <a:bodyPr anchor="t">
            <a:normAutofit/>
          </a:bodyPr>
          <a:lstStyle>
            <a:lvl1pPr marL="0" indent="0" algn="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a:xfrm>
            <a:off x="3999309" y="5883276"/>
            <a:ext cx="3243033" cy="365125"/>
          </a:xfrm>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50946385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13893" y="5867132"/>
            <a:ext cx="413375" cy="365125"/>
          </a:xfrm>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1220679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9210" y="2666999"/>
            <a:ext cx="6698060" cy="2110382"/>
          </a:xfrm>
        </p:spPr>
        <p:txBody>
          <a:bodyPr anchor="b"/>
          <a:lstStyle>
            <a:lvl1pPr algn="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29209" y="4777381"/>
            <a:ext cx="6698061" cy="8604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236225851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13234" y="685801"/>
            <a:ext cx="7514035"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13235" y="2667000"/>
            <a:ext cx="3671291" cy="3124201"/>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55975" y="2667000"/>
            <a:ext cx="3671292" cy="3124200"/>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7F1233-4904-48CC-9F31-308A60A70BD2}" type="datetimeFigureOut">
              <a:rPr lang="en-US" smtClean="0"/>
              <a:t>3/6/25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4082959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134" y="2658533"/>
            <a:ext cx="3455391" cy="576262"/>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13233" y="3335337"/>
            <a:ext cx="3671292" cy="2455862"/>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0366" y="2667000"/>
            <a:ext cx="3466903" cy="576262"/>
          </a:xfrm>
        </p:spPr>
        <p:txBody>
          <a:bodyPr anchor="b">
            <a:noAutofit/>
          </a:bodyPr>
          <a:lstStyle>
            <a:lvl1pPr marL="0" indent="0">
              <a:buNone/>
              <a:defRPr sz="2100" b="0">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55975" y="3335337"/>
            <a:ext cx="3671292" cy="2455862"/>
          </a:xfrm>
        </p:spPr>
        <p:txBody>
          <a:bodyPr anchor="t">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7F1233-4904-48CC-9F31-308A60A70BD2}" type="datetimeFigureOut">
              <a:rPr lang="en-US" smtClean="0"/>
              <a:t>3/6/25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16560048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7F1233-4904-48CC-9F31-308A60A70BD2}" type="datetimeFigureOut">
              <a:rPr lang="en-US" smtClean="0"/>
              <a:t>3/6/25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41091858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7F1233-4904-48CC-9F31-308A60A70BD2}" type="datetimeFigureOut">
              <a:rPr lang="en-US" smtClean="0"/>
              <a:t>3/6/25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42250530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1600200"/>
            <a:ext cx="2661841" cy="13716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946525" y="685800"/>
            <a:ext cx="4680743" cy="5105401"/>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234" y="2971800"/>
            <a:ext cx="2661841" cy="1828800"/>
          </a:xfrm>
        </p:spPr>
        <p:txBody>
          <a:bodyPr>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37F1233-4904-48CC-9F31-308A60A70BD2}" type="datetimeFigureOut">
              <a:rPr lang="en-US" smtClean="0"/>
              <a:t>3/6/25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9271203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043" y="1752599"/>
            <a:ext cx="4069619" cy="1371600"/>
          </a:xfrm>
        </p:spPr>
        <p:txBody>
          <a:bodyPr anchor="b">
            <a:normAutofit/>
          </a:bodyPr>
          <a:lstStyle>
            <a:lvl1pPr algn="ctr">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6011" y="914400"/>
            <a:ext cx="246073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4" name="Text Placeholder 3"/>
          <p:cNvSpPr>
            <a:spLocks noGrp="1"/>
          </p:cNvSpPr>
          <p:nvPr>
            <p:ph type="body" sz="half" idx="2"/>
          </p:nvPr>
        </p:nvSpPr>
        <p:spPr>
          <a:xfrm>
            <a:off x="1112043" y="3124199"/>
            <a:ext cx="4069619" cy="1828800"/>
          </a:xfrm>
        </p:spPr>
        <p:txBody>
          <a:bodyPr>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37F1233-4904-48CC-9F31-308A60A70BD2}" type="datetimeFigureOut">
              <a:rPr lang="en-US" smtClean="0"/>
              <a:t>3/6/25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6301314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4" y="4732865"/>
            <a:ext cx="7514033" cy="566738"/>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509" y="932112"/>
            <a:ext cx="6169458"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4" name="Text Placeholder 3"/>
          <p:cNvSpPr>
            <a:spLocks noGrp="1"/>
          </p:cNvSpPr>
          <p:nvPr>
            <p:ph type="body" sz="half" idx="2"/>
          </p:nvPr>
        </p:nvSpPr>
        <p:spPr>
          <a:xfrm>
            <a:off x="1113234" y="5299603"/>
            <a:ext cx="7514033" cy="493712"/>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37F1233-4904-48CC-9F31-308A60A70BD2}" type="datetimeFigureOut">
              <a:rPr lang="en-US" smtClean="0"/>
              <a:t>3/6/25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2613870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235" y="685800"/>
            <a:ext cx="7514033" cy="3048000"/>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4343400"/>
            <a:ext cx="7514035" cy="144780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34956941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198959" y="863023"/>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819399"/>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685801"/>
            <a:ext cx="6742509" cy="27431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27609" y="3428999"/>
            <a:ext cx="6399611" cy="381000"/>
          </a:xfrm>
        </p:spPr>
        <p:txBody>
          <a:bodyPr anchor="ctr">
            <a:normAutofit/>
          </a:bodyPr>
          <a:lstStyle>
            <a:lvl1pPr marL="0" indent="0">
              <a:buFontTx/>
              <a:buNone/>
              <a:defRPr sz="135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234" y="4343400"/>
            <a:ext cx="7514033" cy="144780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31205591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235" y="3308581"/>
            <a:ext cx="7514032" cy="1468800"/>
          </a:xfrm>
        </p:spPr>
        <p:txBody>
          <a:bodyPr anchor="b">
            <a:normAutofit/>
          </a:bodyPr>
          <a:lstStyle>
            <a:lvl1pPr algn="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1113234" y="4777381"/>
            <a:ext cx="7514033" cy="860400"/>
          </a:xfrm>
        </p:spPr>
        <p:txBody>
          <a:bodyPr anchor="t">
            <a:normAutofit/>
          </a:bodyPr>
          <a:lstStyle>
            <a:lvl1pPr marL="0" indent="0" algn="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29603127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198959" y="863023"/>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5" name="TextBox 14"/>
          <p:cNvSpPr txBox="1"/>
          <p:nvPr/>
        </p:nvSpPr>
        <p:spPr>
          <a:xfrm>
            <a:off x="8170069" y="2819399"/>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1656159" y="685801"/>
            <a:ext cx="6742509" cy="2743199"/>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235" y="3886200"/>
            <a:ext cx="7514033" cy="889000"/>
          </a:xfrm>
        </p:spPr>
        <p:txBody>
          <a:bodyPr vert="horz" lIns="91440" tIns="45720" rIns="91440" bIns="45720" rtlCol="0" anchor="b">
            <a:normAutofit/>
          </a:bodyPr>
          <a:lstStyle>
            <a:lvl1pPr algn="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4775200"/>
            <a:ext cx="7514033" cy="1016000"/>
          </a:xfrm>
        </p:spPr>
        <p:txBody>
          <a:bodyPr anchor="t">
            <a:norm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34615443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235" y="685801"/>
            <a:ext cx="7514034"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234" y="3505200"/>
            <a:ext cx="7514035" cy="83820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234" y="4343400"/>
            <a:ext cx="7514035" cy="14478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294924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5764170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492" y="685800"/>
            <a:ext cx="1327777"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234" y="685800"/>
            <a:ext cx="6014807"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F1233-4904-48CC-9F31-308A60A70BD2}" type="datetimeFigureOut">
              <a:rPr lang="en-US" smtClean="0"/>
              <a:t>3/6/25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7EA044-171B-43ED-AF16-6538383CA7AF}" type="slidenum">
              <a:rPr lang="en-US" smtClean="0"/>
              <a:t>‹#›</a:t>
            </a:fld>
            <a:endParaRPr lang="en-US" dirty="0"/>
          </a:p>
        </p:txBody>
      </p:sp>
    </p:spTree>
    <p:extLst>
      <p:ext uri="{BB962C8B-B14F-4D97-AF65-F5344CB8AC3E}">
        <p14:creationId xmlns:p14="http://schemas.microsoft.com/office/powerpoint/2010/main" val="372862146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9/24/13</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Software Defined Networking (COMS 6998-8)</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10AD55-118C-453F-AEC9-3256547505F1}" type="slidenum">
              <a:rPr lang="en-US" smtClean="0"/>
              <a:t>‹#›</a:t>
            </a:fld>
            <a:endParaRPr lang="en-US"/>
          </a:p>
        </p:txBody>
      </p:sp>
    </p:spTree>
    <p:extLst>
      <p:ext uri="{BB962C8B-B14F-4D97-AF65-F5344CB8AC3E}">
        <p14:creationId xmlns:p14="http://schemas.microsoft.com/office/powerpoint/2010/main" val="139801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lumMod val="90000"/>
            <a:alpha val="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r>
              <a:rPr lang="en-US">
                <a:solidFill>
                  <a:prstClr val="black">
                    <a:tint val="75000"/>
                  </a:prstClr>
                </a:solidFill>
              </a:rPr>
              <a:t>9/24/13</a:t>
            </a:r>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US">
                <a:solidFill>
                  <a:prstClr val="black">
                    <a:tint val="75000"/>
                  </a:prstClr>
                </a:solidFill>
              </a:rPr>
              <a:t>Software Defined Networking (COMS 6998-8)</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502431CD-A83D-384C-97C7-66FF0CCEF56F}" type="slidenum">
              <a:rPr lang="en-US" smtClean="0">
                <a:solidFill>
                  <a:prstClr val="black">
                    <a:tint val="75000"/>
                  </a:prstClr>
                </a:solidFill>
              </a:rPr>
              <a:pPr defTabSz="457200"/>
              <a:t>‹#›</a:t>
            </a:fld>
            <a:endParaRPr lang="en-US" dirty="0">
              <a:solidFill>
                <a:prstClr val="black">
                  <a:tint val="75000"/>
                </a:prstClr>
              </a:solidFill>
            </a:endParaRPr>
          </a:p>
        </p:txBody>
      </p:sp>
    </p:spTree>
    <p:extLst>
      <p:ext uri="{BB962C8B-B14F-4D97-AF65-F5344CB8AC3E}">
        <p14:creationId xmlns:p14="http://schemas.microsoft.com/office/powerpoint/2010/main" val="34396931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pPr fontAlgn="base">
              <a:spcBef>
                <a:spcPct val="0"/>
              </a:spcBef>
              <a:spcAft>
                <a:spcPct val="0"/>
              </a:spcAft>
            </a:pPr>
            <a:r>
              <a:rPr lang="en-US">
                <a:ea typeface="MS PGothic" pitchFamily="34" charset="-128"/>
              </a:rPr>
              <a:t>9/24/13</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solidFill>
                  <a:prstClr val="black">
                    <a:tint val="75000"/>
                  </a:prstClr>
                </a:solidFill>
              </a:rPr>
              <a:t>Software Defined Networking (COMS 6998-8)</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fontAlgn="base">
              <a:spcBef>
                <a:spcPct val="0"/>
              </a:spcBef>
              <a:spcAft>
                <a:spcPct val="0"/>
              </a:spcAft>
            </a:pPr>
            <a:fld id="{E3F959E9-0A45-415C-B182-30DA6DD6D1AF}" type="slidenum">
              <a:rPr lang="en-US">
                <a:ea typeface="MS PGothic" pitchFamily="34" charset="-128"/>
              </a:rPr>
              <a:pPr fontAlgn="base">
                <a:spcBef>
                  <a:spcPct val="0"/>
                </a:spcBef>
                <a:spcAft>
                  <a:spcPct val="0"/>
                </a:spcAft>
              </a:pPr>
              <a:t>‹#›</a:t>
            </a:fld>
            <a:endParaRPr lang="en-US">
              <a:ea typeface="MS PGothic" pitchFamily="34" charset="-128"/>
            </a:endParaRPr>
          </a:p>
        </p:txBody>
      </p:sp>
    </p:spTree>
    <p:extLst>
      <p:ext uri="{BB962C8B-B14F-4D97-AF65-F5344CB8AC3E}">
        <p14:creationId xmlns:p14="http://schemas.microsoft.com/office/powerpoint/2010/main" val="21759667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pitchFamily="-112" charset="-128"/>
        </a:defRPr>
      </a:lvl1pPr>
      <a:lvl2pPr algn="ctr" defTabSz="457200"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pitchFamily="-112" charset="-128"/>
        </a:defRPr>
      </a:lvl2pPr>
      <a:lvl3pPr algn="ctr" defTabSz="457200"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pitchFamily="-112" charset="-128"/>
        </a:defRPr>
      </a:lvl3pPr>
      <a:lvl4pPr algn="ctr" defTabSz="457200"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pitchFamily="-112" charset="-128"/>
        </a:defRPr>
      </a:lvl4pPr>
      <a:lvl5pPr algn="ctr" defTabSz="457200" rtl="0" eaLnBrk="0" fontAlgn="base" hangingPunct="0">
        <a:spcBef>
          <a:spcPct val="0"/>
        </a:spcBef>
        <a:spcAft>
          <a:spcPct val="0"/>
        </a:spcAft>
        <a:defRPr sz="4400">
          <a:solidFill>
            <a:schemeClr val="tx1"/>
          </a:solidFill>
          <a:latin typeface="Calibri" pitchFamily="-112" charset="0"/>
          <a:ea typeface="MS PGothic" pitchFamily="34" charset="-128"/>
          <a:cs typeface="ＭＳ Ｐゴシック" pitchFamily="-112" charset="-128"/>
        </a:defRPr>
      </a:lvl5pPr>
      <a:lvl6pPr marL="457200" algn="ctr" defTabSz="457200" rtl="0" fontAlgn="base">
        <a:spcBef>
          <a:spcPct val="0"/>
        </a:spcBef>
        <a:spcAft>
          <a:spcPct val="0"/>
        </a:spcAft>
        <a:defRPr sz="4400">
          <a:solidFill>
            <a:schemeClr val="tx1"/>
          </a:solidFill>
          <a:latin typeface="Calibri" pitchFamily="-112" charset="0"/>
          <a:ea typeface="ＭＳ Ｐゴシック" pitchFamily="-112" charset="-128"/>
          <a:cs typeface="ＭＳ Ｐゴシック" pitchFamily="-112" charset="-128"/>
        </a:defRPr>
      </a:lvl6pPr>
      <a:lvl7pPr marL="914400" algn="ctr" defTabSz="457200" rtl="0" fontAlgn="base">
        <a:spcBef>
          <a:spcPct val="0"/>
        </a:spcBef>
        <a:spcAft>
          <a:spcPct val="0"/>
        </a:spcAft>
        <a:defRPr sz="4400">
          <a:solidFill>
            <a:schemeClr val="tx1"/>
          </a:solidFill>
          <a:latin typeface="Calibri" pitchFamily="-112" charset="0"/>
          <a:ea typeface="ＭＳ Ｐゴシック" pitchFamily="-112" charset="-128"/>
          <a:cs typeface="ＭＳ Ｐゴシック" pitchFamily="-112" charset="-128"/>
        </a:defRPr>
      </a:lvl7pPr>
      <a:lvl8pPr marL="1371600" algn="ctr" defTabSz="457200" rtl="0" fontAlgn="base">
        <a:spcBef>
          <a:spcPct val="0"/>
        </a:spcBef>
        <a:spcAft>
          <a:spcPct val="0"/>
        </a:spcAft>
        <a:defRPr sz="4400">
          <a:solidFill>
            <a:schemeClr val="tx1"/>
          </a:solidFill>
          <a:latin typeface="Calibri" pitchFamily="-112" charset="0"/>
          <a:ea typeface="ＭＳ Ｐゴシック" pitchFamily="-112" charset="-128"/>
          <a:cs typeface="ＭＳ Ｐゴシック" pitchFamily="-112" charset="-128"/>
        </a:defRPr>
      </a:lvl8pPr>
      <a:lvl9pPr marL="1828800" algn="ctr" defTabSz="457200" rtl="0" fontAlgn="base">
        <a:spcBef>
          <a:spcPct val="0"/>
        </a:spcBef>
        <a:spcAft>
          <a:spcPct val="0"/>
        </a:spcAft>
        <a:defRPr sz="4400">
          <a:solidFill>
            <a:schemeClr val="tx1"/>
          </a:solidFill>
          <a:latin typeface="Calibri" pitchFamily="-112" charset="0"/>
          <a:ea typeface="ＭＳ Ｐゴシック" pitchFamily="-112" charset="-128"/>
          <a:cs typeface="ＭＳ Ｐゴシック" pitchFamily="-112"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ＭＳ Ｐゴシック" pitchFamily="-112" charset="-128"/>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13109" y="1"/>
            <a:ext cx="1827610"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113234" y="685801"/>
            <a:ext cx="7514035"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3233" y="2667000"/>
            <a:ext cx="7514035"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9492" y="5883276"/>
            <a:ext cx="857250" cy="365125"/>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37F1233-4904-48CC-9F31-308A60A70BD2}" type="datetimeFigureOut">
              <a:rPr lang="en-US" smtClean="0"/>
              <a:t>3/6/25</a:t>
            </a:fld>
            <a:endParaRPr lang="en-US" dirty="0"/>
          </a:p>
        </p:txBody>
      </p:sp>
      <p:sp>
        <p:nvSpPr>
          <p:cNvPr id="5" name="Footer Placeholder 4"/>
          <p:cNvSpPr>
            <a:spLocks noGrp="1"/>
          </p:cNvSpPr>
          <p:nvPr>
            <p:ph type="ftr" sz="quarter" idx="3"/>
          </p:nvPr>
        </p:nvSpPr>
        <p:spPr>
          <a:xfrm>
            <a:off x="1929210" y="5883276"/>
            <a:ext cx="5313133" cy="365125"/>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8213893" y="5883276"/>
            <a:ext cx="413375" cy="365125"/>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007EA044-171B-43ED-AF16-6538383CA7AF}" type="slidenum">
              <a:rPr lang="en-US" smtClean="0"/>
              <a:t>‹#›</a:t>
            </a:fld>
            <a:endParaRPr lang="en-US" dirty="0"/>
          </a:p>
        </p:txBody>
      </p:sp>
    </p:spTree>
    <p:extLst>
      <p:ext uri="{BB962C8B-B14F-4D97-AF65-F5344CB8AC3E}">
        <p14:creationId xmlns:p14="http://schemas.microsoft.com/office/powerpoint/2010/main" val="14685845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342900" rtl="0" eaLnBrk="1" latinLnBrk="0" hangingPunct="1">
        <a:spcBef>
          <a:spcPct val="0"/>
        </a:spcBef>
        <a:buNone/>
        <a:defRPr sz="3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lumMod val="75000"/>
          </a:schemeClr>
        </a:buClr>
        <a:buSzPct val="145000"/>
        <a:buFont typeface="Arial"/>
        <a:buChar char="•"/>
        <a:defRPr sz="1800" kern="1200" cap="none">
          <a:solidFill>
            <a:schemeClr val="tx1"/>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lumMod val="75000"/>
          </a:schemeClr>
        </a:buClr>
        <a:buSzPct val="145000"/>
        <a:buFont typeface="Arial"/>
        <a:buChar char="•"/>
        <a:defRPr sz="1500" kern="1200" cap="none">
          <a:solidFill>
            <a:schemeClr val="tx1"/>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lumMod val="75000"/>
          </a:schemeClr>
        </a:buClr>
        <a:buSzPct val="145000"/>
        <a:buFont typeface="Arial"/>
        <a:buChar char="•"/>
        <a:defRPr sz="1350" kern="1200" cap="none">
          <a:solidFill>
            <a:schemeClr val="tx1"/>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lumMod val="75000"/>
          </a:schemeClr>
        </a:buClr>
        <a:buSzPct val="145000"/>
        <a:buFont typeface="Arial"/>
        <a:buChar char="•"/>
        <a:defRPr sz="1200" kern="1200" cap="none">
          <a:solidFill>
            <a:schemeClr val="tx1"/>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lumMod val="75000"/>
          </a:schemeClr>
        </a:buClr>
        <a:buSzPct val="145000"/>
        <a:buFont typeface="Arial"/>
        <a:buChar char="•"/>
        <a:defRPr sz="105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opennetworking.org/images/stories/downloads/sdn-resources/onf-specifications/openflow/openflow-spec-v1.3.4.pdf"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h17007.www1.hp.com/de/de/networking/solutions/technology/sdn/" TargetMode="External"/><Relationship Id="rId2" Type="http://schemas.openxmlformats.org/officeDocument/2006/relationships/hyperlink" Target="https://www.opennetworking.org/" TargetMode="External"/><Relationship Id="rId1" Type="http://schemas.openxmlformats.org/officeDocument/2006/relationships/slideLayout" Target="../slideLayouts/slideLayout2.xml"/><Relationship Id="rId4" Type="http://schemas.openxmlformats.org/officeDocument/2006/relationships/hyperlink" Target="http://www.cs.rutgers.edu/~badri/552dir/papers/intro/nick09.pdf"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5"/>
            <a:ext cx="8382000" cy="1470025"/>
          </a:xfrm>
        </p:spPr>
        <p:txBody>
          <a:bodyPr/>
          <a:lstStyle/>
          <a:p>
            <a:r>
              <a:rPr lang="en-US" dirty="0"/>
              <a:t>Software Defined Networks: Overview</a:t>
            </a:r>
          </a:p>
        </p:txBody>
      </p:sp>
      <p:sp>
        <p:nvSpPr>
          <p:cNvPr id="3" name="Subtitle 2"/>
          <p:cNvSpPr>
            <a:spLocks noGrp="1"/>
          </p:cNvSpPr>
          <p:nvPr>
            <p:ph type="subTitle" idx="1"/>
          </p:nvPr>
        </p:nvSpPr>
        <p:spPr>
          <a:xfrm>
            <a:off x="609600" y="3581400"/>
            <a:ext cx="7848600" cy="2514600"/>
          </a:xfrm>
        </p:spPr>
        <p:txBody>
          <a:bodyPr>
            <a:normAutofit fontScale="77500" lnSpcReduction="20000"/>
          </a:bodyPr>
          <a:lstStyle/>
          <a:p>
            <a:r>
              <a:rPr lang="en-US" dirty="0">
                <a:solidFill>
                  <a:srgbClr val="002060"/>
                </a:solidFill>
              </a:rPr>
              <a:t>K. K. </a:t>
            </a:r>
            <a:r>
              <a:rPr lang="en-US" dirty="0" err="1">
                <a:solidFill>
                  <a:srgbClr val="002060"/>
                </a:solidFill>
              </a:rPr>
              <a:t>Ramakrishnan</a:t>
            </a:r>
            <a:endParaRPr lang="en-US" dirty="0">
              <a:solidFill>
                <a:srgbClr val="002060"/>
              </a:solidFill>
            </a:endParaRPr>
          </a:p>
          <a:p>
            <a:endParaRPr lang="en-US" dirty="0">
              <a:solidFill>
                <a:srgbClr val="002060"/>
              </a:solidFill>
            </a:endParaRPr>
          </a:p>
          <a:p>
            <a:endParaRPr lang="en-US" dirty="0">
              <a:solidFill>
                <a:srgbClr val="002060"/>
              </a:solidFill>
            </a:endParaRPr>
          </a:p>
          <a:p>
            <a:r>
              <a:rPr lang="en-US" dirty="0"/>
              <a:t>(with thanks to many people’s material that I have re-used: David Koll, Univ. of </a:t>
            </a:r>
            <a:r>
              <a:rPr lang="en-US" dirty="0" err="1"/>
              <a:t>Goettingen</a:t>
            </a:r>
            <a:r>
              <a:rPr lang="en-US" dirty="0"/>
              <a:t>, Germany, Jennifer Rexford, Princeton, Nick </a:t>
            </a:r>
            <a:r>
              <a:rPr lang="en-US" dirty="0" err="1"/>
              <a:t>Mckeown</a:t>
            </a:r>
            <a:r>
              <a:rPr lang="en-US" dirty="0"/>
              <a:t>, Stanford and others).</a:t>
            </a:r>
          </a:p>
        </p:txBody>
      </p:sp>
      <p:sp>
        <p:nvSpPr>
          <p:cNvPr id="4" name="Slide Number Placeholder 3"/>
          <p:cNvSpPr>
            <a:spLocks noGrp="1"/>
          </p:cNvSpPr>
          <p:nvPr>
            <p:ph type="sldNum" sz="quarter" idx="12"/>
          </p:nvPr>
        </p:nvSpPr>
        <p:spPr/>
        <p:txBody>
          <a:bodyPr/>
          <a:lstStyle/>
          <a:p>
            <a:fld id="{4510AD55-118C-453F-AEC9-3256547505F1}" type="slidenum">
              <a:rPr lang="en-US" smtClean="0"/>
              <a:t>1</a:t>
            </a:fld>
            <a:endParaRPr lang="en-US"/>
          </a:p>
        </p:txBody>
      </p:sp>
    </p:spTree>
    <p:extLst>
      <p:ext uri="{BB962C8B-B14F-4D97-AF65-F5344CB8AC3E}">
        <p14:creationId xmlns:p14="http://schemas.microsoft.com/office/powerpoint/2010/main" val="2717831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A3DD3-28F1-4099-88C3-D9CFCF7A9170}"/>
              </a:ext>
            </a:extLst>
          </p:cNvPr>
          <p:cNvSpPr>
            <a:spLocks noGrp="1"/>
          </p:cNvSpPr>
          <p:nvPr>
            <p:ph type="title"/>
          </p:nvPr>
        </p:nvSpPr>
        <p:spPr>
          <a:xfrm>
            <a:off x="152400" y="152400"/>
            <a:ext cx="8763000" cy="775243"/>
          </a:xfrm>
        </p:spPr>
        <p:txBody>
          <a:bodyPr>
            <a:normAutofit fontScale="90000"/>
          </a:bodyPr>
          <a:lstStyle/>
          <a:p>
            <a:pPr algn="ctr"/>
            <a:r>
              <a:rPr lang="en-US" sz="2700" dirty="0">
                <a:solidFill>
                  <a:srgbClr val="0070C0"/>
                </a:solidFill>
                <a:latin typeface="Arial" panose="020B0604020202020204" pitchFamily="34" charset="0"/>
                <a:ea typeface="Verdana" panose="020B0604030504040204" pitchFamily="34" charset="0"/>
                <a:cs typeface="Arial" panose="020B0604020202020204" pitchFamily="34" charset="0"/>
              </a:rPr>
              <a:t>Data Centers can be large: Configuration and Management</a:t>
            </a:r>
            <a:endParaRPr lang="en-US" sz="2700" dirty="0"/>
          </a:p>
        </p:txBody>
      </p:sp>
      <p:sp>
        <p:nvSpPr>
          <p:cNvPr id="4" name="Slide Number Placeholder 3">
            <a:extLst>
              <a:ext uri="{FF2B5EF4-FFF2-40B4-BE49-F238E27FC236}">
                <a16:creationId xmlns:a16="http://schemas.microsoft.com/office/drawing/2014/main" id="{399699C6-0E42-4435-A263-828ACC57FA9A}"/>
              </a:ext>
            </a:extLst>
          </p:cNvPr>
          <p:cNvSpPr>
            <a:spLocks noGrp="1"/>
          </p:cNvSpPr>
          <p:nvPr>
            <p:ph type="sldNum" sz="quarter" idx="12"/>
          </p:nvPr>
        </p:nvSpPr>
        <p:spPr/>
        <p:txBody>
          <a:bodyPr/>
          <a:lstStyle/>
          <a:p>
            <a:fld id="{912AD91A-5E33-485E-B9F3-F764B2094EEE}" type="slidenum">
              <a:rPr lang="en-US" smtClean="0"/>
              <a:t>2</a:t>
            </a:fld>
            <a:endParaRPr lang="en-US"/>
          </a:p>
        </p:txBody>
      </p:sp>
      <p:sp>
        <p:nvSpPr>
          <p:cNvPr id="14" name="TextBox 13">
            <a:extLst>
              <a:ext uri="{FF2B5EF4-FFF2-40B4-BE49-F238E27FC236}">
                <a16:creationId xmlns:a16="http://schemas.microsoft.com/office/drawing/2014/main" id="{3FB3F638-3FF3-422D-9674-4FC5FE815259}"/>
              </a:ext>
            </a:extLst>
          </p:cNvPr>
          <p:cNvSpPr txBox="1"/>
          <p:nvPr/>
        </p:nvSpPr>
        <p:spPr>
          <a:xfrm>
            <a:off x="3352800" y="6489330"/>
            <a:ext cx="6698658" cy="253916"/>
          </a:xfrm>
          <a:prstGeom prst="rect">
            <a:avLst/>
          </a:prstGeom>
          <a:noFill/>
        </p:spPr>
        <p:txBody>
          <a:bodyPr wrap="square" rtlCol="0">
            <a:spAutoFit/>
          </a:bodyPr>
          <a:lstStyle/>
          <a:p>
            <a:r>
              <a:rPr lang="en-US" sz="1050" dirty="0"/>
              <a:t>Inside the social network’s (datacenter) network, </a:t>
            </a:r>
            <a:r>
              <a:rPr lang="en-US" sz="1050" i="1" dirty="0"/>
              <a:t>SIGCOMM’15</a:t>
            </a:r>
          </a:p>
        </p:txBody>
      </p:sp>
      <p:sp>
        <p:nvSpPr>
          <p:cNvPr id="6" name="Content Placeholder 5">
            <a:extLst>
              <a:ext uri="{FF2B5EF4-FFF2-40B4-BE49-F238E27FC236}">
                <a16:creationId xmlns:a16="http://schemas.microsoft.com/office/drawing/2014/main" id="{3A885DBB-01D6-FE40-BAE9-B3E506C92869}"/>
              </a:ext>
            </a:extLst>
          </p:cNvPr>
          <p:cNvSpPr>
            <a:spLocks noGrp="1"/>
          </p:cNvSpPr>
          <p:nvPr>
            <p:ph idx="1"/>
          </p:nvPr>
        </p:nvSpPr>
        <p:spPr>
          <a:xfrm>
            <a:off x="152400" y="1143000"/>
            <a:ext cx="8869435" cy="1926836"/>
          </a:xfrm>
        </p:spPr>
        <p:txBody>
          <a:bodyPr>
            <a:normAutofit fontScale="92500" lnSpcReduction="10000"/>
          </a:bodyPr>
          <a:lstStyle/>
          <a:p>
            <a:r>
              <a:rPr lang="en-US" dirty="0"/>
              <a:t>Google: 98K servers, 5632 switches</a:t>
            </a:r>
          </a:p>
          <a:p>
            <a:r>
              <a:rPr lang="en-US" dirty="0"/>
              <a:t>Facebook: 184K servers, 5184 switches</a:t>
            </a:r>
          </a:p>
          <a:p>
            <a:r>
              <a:rPr lang="en-US" dirty="0"/>
              <a:t>Microsoft VL2: 46K servers, 2448 switches (limited switch ports)</a:t>
            </a:r>
          </a:p>
        </p:txBody>
      </p:sp>
      <p:sp>
        <p:nvSpPr>
          <p:cNvPr id="15" name="TextBox 14">
            <a:extLst>
              <a:ext uri="{FF2B5EF4-FFF2-40B4-BE49-F238E27FC236}">
                <a16:creationId xmlns:a16="http://schemas.microsoft.com/office/drawing/2014/main" id="{629098BB-D537-FE47-821B-E733CBABD863}"/>
              </a:ext>
            </a:extLst>
          </p:cNvPr>
          <p:cNvSpPr txBox="1"/>
          <p:nvPr/>
        </p:nvSpPr>
        <p:spPr>
          <a:xfrm>
            <a:off x="787840" y="5955268"/>
            <a:ext cx="3791658" cy="369332"/>
          </a:xfrm>
          <a:prstGeom prst="rect">
            <a:avLst/>
          </a:prstGeom>
          <a:noFill/>
        </p:spPr>
        <p:txBody>
          <a:bodyPr wrap="square" rtlCol="0">
            <a:spAutoFit/>
          </a:bodyPr>
          <a:lstStyle/>
          <a:p>
            <a:pPr algn="ctr"/>
            <a:r>
              <a:rPr lang="en-US" b="1" dirty="0">
                <a:solidFill>
                  <a:srgbClr val="0070C0"/>
                </a:solidFill>
                <a:latin typeface="Arial" panose="020B0604020202020204" pitchFamily="34" charset="0"/>
                <a:cs typeface="Arial" panose="020B0604020202020204" pitchFamily="34" charset="0"/>
              </a:rPr>
              <a:t>Data Center Topology</a:t>
            </a:r>
          </a:p>
        </p:txBody>
      </p:sp>
      <p:pic>
        <p:nvPicPr>
          <p:cNvPr id="16" name="Picture 15">
            <a:extLst>
              <a:ext uri="{FF2B5EF4-FFF2-40B4-BE49-F238E27FC236}">
                <a16:creationId xmlns:a16="http://schemas.microsoft.com/office/drawing/2014/main" id="{57BA37CB-7589-874A-922B-264B165879BC}"/>
              </a:ext>
            </a:extLst>
          </p:cNvPr>
          <p:cNvPicPr>
            <a:picLocks noChangeAspect="1"/>
          </p:cNvPicPr>
          <p:nvPr/>
        </p:nvPicPr>
        <p:blipFill>
          <a:blip r:embed="rId2"/>
          <a:stretch>
            <a:fillRect/>
          </a:stretch>
        </p:blipFill>
        <p:spPr>
          <a:xfrm>
            <a:off x="436880" y="3069836"/>
            <a:ext cx="4397058" cy="2670075"/>
          </a:xfrm>
          <a:prstGeom prst="rect">
            <a:avLst/>
          </a:prstGeom>
        </p:spPr>
      </p:pic>
      <p:pic>
        <p:nvPicPr>
          <p:cNvPr id="17" name="Picture 2">
            <a:extLst>
              <a:ext uri="{FF2B5EF4-FFF2-40B4-BE49-F238E27FC236}">
                <a16:creationId xmlns:a16="http://schemas.microsoft.com/office/drawing/2014/main" id="{03F92E24-CCFA-7B4B-A864-DDFF0643E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1" y="2819400"/>
            <a:ext cx="4068834" cy="353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955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Bottleneck: The Network</a:t>
            </a:r>
          </a:p>
        </p:txBody>
      </p:sp>
      <p:sp>
        <p:nvSpPr>
          <p:cNvPr id="15363" name="Content Placeholder 2"/>
          <p:cNvSpPr>
            <a:spLocks noGrp="1"/>
          </p:cNvSpPr>
          <p:nvPr>
            <p:ph idx="1"/>
          </p:nvPr>
        </p:nvSpPr>
        <p:spPr>
          <a:xfrm>
            <a:off x="457200" y="1262063"/>
            <a:ext cx="8229600" cy="4830762"/>
          </a:xfrm>
        </p:spPr>
        <p:txBody>
          <a:bodyPr/>
          <a:lstStyle/>
          <a:p>
            <a:pPr algn="just">
              <a:buNone/>
            </a:pPr>
            <a:r>
              <a:rPr lang="en-US" sz="2400" dirty="0"/>
              <a:t>	“The average cloud environment might have 50 dedicated servers to one admin, and what you really need to get to is 500 servers to one admin, or what happened in the case of Microsoft, 10,000 servers. Without automation we don't have speed and scale - the very reason we want to go to the cloud.” (Microsoft)</a:t>
            </a:r>
          </a:p>
          <a:p>
            <a:pPr>
              <a:buNone/>
            </a:pPr>
            <a:endParaRPr lang="en-US" altLang="en-US" sz="2400" dirty="0"/>
          </a:p>
          <a:p>
            <a:r>
              <a:rPr lang="en-US" altLang="en-US" dirty="0"/>
              <a:t>Complex with standard IP networking (mainly manual processes: have to manually configure each device with physical presence!)</a:t>
            </a:r>
          </a:p>
        </p:txBody>
      </p:sp>
      <p:sp>
        <p:nvSpPr>
          <p:cNvPr id="2" name="Slide Number Placeholder 1"/>
          <p:cNvSpPr>
            <a:spLocks noGrp="1"/>
          </p:cNvSpPr>
          <p:nvPr>
            <p:ph type="sldNum" sz="quarter" idx="12"/>
          </p:nvPr>
        </p:nvSpPr>
        <p:spPr/>
        <p:txBody>
          <a:bodyPr/>
          <a:lstStyle/>
          <a:p>
            <a:fld id="{4510AD55-118C-453F-AEC9-3256547505F1}" type="slidenum">
              <a:rPr lang="en-US" smtClean="0"/>
              <a:t>3</a:t>
            </a:fld>
            <a:endParaRPr lang="en-US"/>
          </a:p>
        </p:txBody>
      </p:sp>
    </p:spTree>
    <p:extLst>
      <p:ext uri="{BB962C8B-B14F-4D97-AF65-F5344CB8AC3E}">
        <p14:creationId xmlns:p14="http://schemas.microsoft.com/office/powerpoint/2010/main" val="313981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Bottleneck: The Network</a:t>
            </a:r>
          </a:p>
        </p:txBody>
      </p:sp>
      <p:sp>
        <p:nvSpPr>
          <p:cNvPr id="15363" name="Content Placeholder 2"/>
          <p:cNvSpPr>
            <a:spLocks noGrp="1"/>
          </p:cNvSpPr>
          <p:nvPr>
            <p:ph idx="1"/>
          </p:nvPr>
        </p:nvSpPr>
        <p:spPr>
          <a:xfrm>
            <a:off x="457200" y="1262063"/>
            <a:ext cx="8229600" cy="4830762"/>
          </a:xfrm>
        </p:spPr>
        <p:txBody>
          <a:bodyPr/>
          <a:lstStyle/>
          <a:p>
            <a:pPr algn="just">
              <a:buNone/>
            </a:pPr>
            <a:r>
              <a:rPr lang="en-US" sz="2400" dirty="0"/>
              <a:t>	“Even simple topologies take days or weeks to create. Workload placement and mobility are restricted by physical network limitations and hardware dependencies require vendor-specific expertise. Network configuration is performed manually and maintenance is both expensive and resource-intensive.” (</a:t>
            </a:r>
            <a:r>
              <a:rPr lang="en-US" sz="2400" dirty="0" err="1"/>
              <a:t>VMWare</a:t>
            </a:r>
            <a:r>
              <a:rPr lang="en-US" sz="2400" dirty="0"/>
              <a:t>)</a:t>
            </a:r>
            <a:endParaRPr lang="en-US" altLang="en-US" sz="2400" dirty="0"/>
          </a:p>
          <a:p>
            <a:pPr>
              <a:buNone/>
            </a:pPr>
            <a:endParaRPr lang="en-US" altLang="en-US" dirty="0"/>
          </a:p>
          <a:p>
            <a:r>
              <a:rPr lang="en-US" altLang="en-US" dirty="0"/>
              <a:t>We need automation!</a:t>
            </a:r>
          </a:p>
        </p:txBody>
      </p:sp>
      <p:sp>
        <p:nvSpPr>
          <p:cNvPr id="2" name="Slide Number Placeholder 1"/>
          <p:cNvSpPr>
            <a:spLocks noGrp="1"/>
          </p:cNvSpPr>
          <p:nvPr>
            <p:ph type="sldNum" sz="quarter" idx="12"/>
          </p:nvPr>
        </p:nvSpPr>
        <p:spPr/>
        <p:txBody>
          <a:bodyPr/>
          <a:lstStyle/>
          <a:p>
            <a:fld id="{4510AD55-118C-453F-AEC9-3256547505F1}" type="slidenum">
              <a:rPr lang="en-US" smtClean="0"/>
              <a:t>4</a:t>
            </a:fld>
            <a:endParaRPr lang="en-US"/>
          </a:p>
        </p:txBody>
      </p:sp>
    </p:spTree>
    <p:extLst>
      <p:ext uri="{BB962C8B-B14F-4D97-AF65-F5344CB8AC3E}">
        <p14:creationId xmlns:p14="http://schemas.microsoft.com/office/powerpoint/2010/main" val="24960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Software Defined Networking</a:t>
            </a:r>
          </a:p>
        </p:txBody>
      </p:sp>
      <p:sp>
        <p:nvSpPr>
          <p:cNvPr id="15363" name="Content Placeholder 2"/>
          <p:cNvSpPr>
            <a:spLocks noGrp="1"/>
          </p:cNvSpPr>
          <p:nvPr>
            <p:ph idx="1"/>
          </p:nvPr>
        </p:nvSpPr>
        <p:spPr>
          <a:xfrm>
            <a:off x="457200" y="1262063"/>
            <a:ext cx="8229600" cy="4830762"/>
          </a:xfrm>
        </p:spPr>
        <p:txBody>
          <a:bodyPr/>
          <a:lstStyle/>
          <a:p>
            <a:r>
              <a:rPr lang="en-US" altLang="en-US" dirty="0"/>
              <a:t>Solution: Software-Defined-Networking (SDN)</a:t>
            </a:r>
          </a:p>
          <a:p>
            <a:pPr lvl="1"/>
            <a:r>
              <a:rPr lang="en-US" altLang="en-US" dirty="0"/>
              <a:t>Decouples the </a:t>
            </a:r>
            <a:r>
              <a:rPr lang="en-US" altLang="en-US" dirty="0">
                <a:solidFill>
                  <a:schemeClr val="accent2"/>
                </a:solidFill>
              </a:rPr>
              <a:t>control plane </a:t>
            </a:r>
            <a:r>
              <a:rPr lang="en-US" altLang="en-US" dirty="0"/>
              <a:t>from the </a:t>
            </a:r>
            <a:r>
              <a:rPr lang="en-US" altLang="en-US" dirty="0">
                <a:solidFill>
                  <a:schemeClr val="accent2"/>
                </a:solidFill>
              </a:rPr>
              <a:t>data plane</a:t>
            </a:r>
          </a:p>
          <a:p>
            <a:pPr lvl="1">
              <a:buNone/>
            </a:pPr>
            <a:endParaRPr lang="en-US" altLang="en-US" dirty="0"/>
          </a:p>
          <a:p>
            <a:endParaRPr lang="en-US" altLang="en-US" i="1" dirty="0">
              <a:solidFill>
                <a:schemeClr val="accent2"/>
              </a:solidFill>
            </a:endParaRPr>
          </a:p>
        </p:txBody>
      </p:sp>
      <p:pic>
        <p:nvPicPr>
          <p:cNvPr id="76805" name="Picture 5"/>
          <p:cNvPicPr>
            <a:picLocks noChangeAspect="1" noChangeArrowheads="1"/>
          </p:cNvPicPr>
          <p:nvPr/>
        </p:nvPicPr>
        <p:blipFill>
          <a:blip r:embed="rId2" cstate="print"/>
          <a:srcRect/>
          <a:stretch>
            <a:fillRect/>
          </a:stretch>
        </p:blipFill>
        <p:spPr bwMode="auto">
          <a:xfrm>
            <a:off x="834296" y="3195598"/>
            <a:ext cx="7419975" cy="1685925"/>
          </a:xfrm>
          <a:prstGeom prst="rect">
            <a:avLst/>
          </a:prstGeom>
          <a:noFill/>
          <a:ln w="9525">
            <a:noFill/>
            <a:miter lim="800000"/>
            <a:headEnd/>
            <a:tailEnd/>
          </a:ln>
        </p:spPr>
      </p:pic>
      <p:sp>
        <p:nvSpPr>
          <p:cNvPr id="6" name="Rectangle 5"/>
          <p:cNvSpPr/>
          <p:nvPr/>
        </p:nvSpPr>
        <p:spPr>
          <a:xfrm>
            <a:off x="994757" y="5959963"/>
            <a:ext cx="7190508" cy="646331"/>
          </a:xfrm>
          <a:prstGeom prst="rect">
            <a:avLst/>
          </a:prstGeom>
        </p:spPr>
        <p:txBody>
          <a:bodyPr wrap="square">
            <a:spAutoFit/>
          </a:bodyPr>
          <a:lstStyle/>
          <a:p>
            <a:r>
              <a:rPr lang="de-DE" dirty="0">
                <a:latin typeface="+mn-lt"/>
              </a:rPr>
              <a:t>Images </a:t>
            </a:r>
            <a:r>
              <a:rPr lang="de-DE" dirty="0" err="1">
                <a:latin typeface="+mn-lt"/>
              </a:rPr>
              <a:t>taken</a:t>
            </a:r>
            <a:r>
              <a:rPr lang="de-DE" dirty="0">
                <a:latin typeface="+mn-lt"/>
              </a:rPr>
              <a:t> </a:t>
            </a:r>
            <a:r>
              <a:rPr lang="de-DE" dirty="0" err="1">
                <a:latin typeface="+mn-lt"/>
              </a:rPr>
              <a:t>from</a:t>
            </a:r>
            <a:r>
              <a:rPr lang="de-DE" dirty="0">
                <a:latin typeface="+mn-lt"/>
              </a:rPr>
              <a:t> </a:t>
            </a:r>
            <a:r>
              <a:rPr lang="de-DE" dirty="0" err="1">
                <a:latin typeface="+mn-lt"/>
              </a:rPr>
              <a:t>materials</a:t>
            </a:r>
            <a:r>
              <a:rPr lang="de-DE" dirty="0">
                <a:latin typeface="+mn-lt"/>
              </a:rPr>
              <a:t> </a:t>
            </a:r>
            <a:r>
              <a:rPr lang="de-DE" dirty="0" err="1">
                <a:latin typeface="+mn-lt"/>
              </a:rPr>
              <a:t>of</a:t>
            </a:r>
            <a:r>
              <a:rPr lang="de-DE" dirty="0">
                <a:latin typeface="+mn-lt"/>
              </a:rPr>
              <a:t> </a:t>
            </a:r>
            <a:r>
              <a:rPr lang="de-DE" dirty="0" err="1">
                <a:latin typeface="+mn-lt"/>
              </a:rPr>
              <a:t>the</a:t>
            </a:r>
            <a:r>
              <a:rPr lang="de-DE" dirty="0">
                <a:latin typeface="+mn-lt"/>
              </a:rPr>
              <a:t> Open Networking </a:t>
            </a:r>
            <a:r>
              <a:rPr lang="de-DE" dirty="0" err="1">
                <a:latin typeface="+mn-lt"/>
              </a:rPr>
              <a:t>Foundation</a:t>
            </a:r>
            <a:r>
              <a:rPr lang="de-DE" dirty="0">
                <a:latin typeface="+mn-lt"/>
              </a:rPr>
              <a:t>: https://www.opennetworking.org/</a:t>
            </a:r>
          </a:p>
        </p:txBody>
      </p:sp>
      <p:sp>
        <p:nvSpPr>
          <p:cNvPr id="2" name="Slide Number Placeholder 1"/>
          <p:cNvSpPr>
            <a:spLocks noGrp="1"/>
          </p:cNvSpPr>
          <p:nvPr>
            <p:ph type="sldNum" sz="quarter" idx="12"/>
          </p:nvPr>
        </p:nvSpPr>
        <p:spPr/>
        <p:txBody>
          <a:bodyPr/>
          <a:lstStyle/>
          <a:p>
            <a:fld id="{4510AD55-118C-453F-AEC9-3256547505F1}" type="slidenum">
              <a:rPr lang="en-US" smtClean="0"/>
              <a:t>5</a:t>
            </a:fld>
            <a:endParaRPr lang="en-US"/>
          </a:p>
        </p:txBody>
      </p:sp>
    </p:spTree>
    <p:extLst>
      <p:ext uri="{BB962C8B-B14F-4D97-AF65-F5344CB8AC3E}">
        <p14:creationId xmlns:p14="http://schemas.microsoft.com/office/powerpoint/2010/main" val="3304843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0" dur="500"/>
                                        <p:tgtEl>
                                          <p:spTgt spid="153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a:cxnSpLocks noChangeShapeType="1"/>
          </p:cNvCxnSpPr>
          <p:nvPr/>
        </p:nvCxnSpPr>
        <p:spPr bwMode="auto">
          <a:xfrm flipV="1">
            <a:off x="1311275" y="3457575"/>
            <a:ext cx="2273300" cy="12842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6" name="Straight Connector 45"/>
          <p:cNvCxnSpPr>
            <a:cxnSpLocks noChangeShapeType="1"/>
          </p:cNvCxnSpPr>
          <p:nvPr/>
        </p:nvCxnSpPr>
        <p:spPr bwMode="auto">
          <a:xfrm rot="16200000" flipH="1">
            <a:off x="3407568" y="3621882"/>
            <a:ext cx="1960563" cy="160655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8" name="Straight Connector 47"/>
          <p:cNvCxnSpPr>
            <a:cxnSpLocks noChangeShapeType="1"/>
          </p:cNvCxnSpPr>
          <p:nvPr/>
        </p:nvCxnSpPr>
        <p:spPr bwMode="auto">
          <a:xfrm flipV="1">
            <a:off x="3054350" y="5405438"/>
            <a:ext cx="2136775" cy="744537"/>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0" name="Straight Connector 49"/>
          <p:cNvCxnSpPr>
            <a:cxnSpLocks noChangeShapeType="1"/>
          </p:cNvCxnSpPr>
          <p:nvPr/>
        </p:nvCxnSpPr>
        <p:spPr bwMode="auto">
          <a:xfrm>
            <a:off x="1311275" y="4741863"/>
            <a:ext cx="1743075" cy="1408112"/>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2" name="Straight Connector 51"/>
          <p:cNvCxnSpPr>
            <a:cxnSpLocks noChangeShapeType="1"/>
          </p:cNvCxnSpPr>
          <p:nvPr/>
        </p:nvCxnSpPr>
        <p:spPr bwMode="auto">
          <a:xfrm rot="5400000" flipH="1" flipV="1">
            <a:off x="5587207" y="3626643"/>
            <a:ext cx="1397000" cy="2189163"/>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9" name="Rectangle 8"/>
          <p:cNvSpPr>
            <a:spLocks noChangeArrowheads="1"/>
          </p:cNvSpPr>
          <p:nvPr/>
        </p:nvSpPr>
        <p:spPr bwMode="auto">
          <a:xfrm>
            <a:off x="465138" y="4078288"/>
            <a:ext cx="1525587" cy="1309687"/>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00">
              <a:solidFill>
                <a:prstClr val="white"/>
              </a:solidFill>
              <a:ea typeface="MS PGothic" pitchFamily="34" charset="-128"/>
            </a:endParaRPr>
          </a:p>
        </p:txBody>
      </p:sp>
      <p:sp>
        <p:nvSpPr>
          <p:cNvPr id="3" name="Rounded Rectangle 2"/>
          <p:cNvSpPr/>
          <p:nvPr/>
        </p:nvSpPr>
        <p:spPr>
          <a:xfrm>
            <a:off x="565830" y="4878989"/>
            <a:ext cx="1339620" cy="420131"/>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200">
                <a:solidFill>
                  <a:prstClr val="white"/>
                </a:solidFill>
                <a:latin typeface="Calibri" pitchFamily="34" charset="0"/>
              </a:rPr>
              <a:t>Custom Hardware</a:t>
            </a:r>
            <a:endParaRPr lang="en-US" sz="1100">
              <a:solidFill>
                <a:prstClr val="white"/>
              </a:solidFill>
              <a:latin typeface="Calibri" pitchFamily="34" charset="0"/>
            </a:endParaRPr>
          </a:p>
        </p:txBody>
      </p:sp>
      <p:sp>
        <p:nvSpPr>
          <p:cNvPr id="12" name="Rectangle 11"/>
          <p:cNvSpPr>
            <a:spLocks noChangeArrowheads="1"/>
          </p:cNvSpPr>
          <p:nvPr/>
        </p:nvSpPr>
        <p:spPr bwMode="auto">
          <a:xfrm>
            <a:off x="2887663" y="2803525"/>
            <a:ext cx="1525587" cy="1308100"/>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00">
              <a:solidFill>
                <a:prstClr val="white"/>
              </a:solidFill>
              <a:ea typeface="MS PGothic" pitchFamily="34" charset="-128"/>
            </a:endParaRPr>
          </a:p>
        </p:txBody>
      </p:sp>
      <p:sp>
        <p:nvSpPr>
          <p:cNvPr id="13" name="Rounded Rectangle 12"/>
          <p:cNvSpPr/>
          <p:nvPr/>
        </p:nvSpPr>
        <p:spPr>
          <a:xfrm>
            <a:off x="2988148" y="3603606"/>
            <a:ext cx="1339620" cy="420131"/>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200">
                <a:solidFill>
                  <a:prstClr val="white"/>
                </a:solidFill>
                <a:latin typeface="Calibri" pitchFamily="34" charset="0"/>
              </a:rPr>
              <a:t>Custom Hardware</a:t>
            </a:r>
            <a:endParaRPr lang="en-US" sz="1100">
              <a:solidFill>
                <a:prstClr val="white"/>
              </a:solidFill>
              <a:latin typeface="Calibri" pitchFamily="34" charset="0"/>
            </a:endParaRPr>
          </a:p>
        </p:txBody>
      </p:sp>
      <p:sp>
        <p:nvSpPr>
          <p:cNvPr id="20" name="Rectangle 19"/>
          <p:cNvSpPr>
            <a:spLocks noChangeArrowheads="1"/>
          </p:cNvSpPr>
          <p:nvPr/>
        </p:nvSpPr>
        <p:spPr bwMode="auto">
          <a:xfrm>
            <a:off x="6616700" y="3398838"/>
            <a:ext cx="1525588" cy="1308100"/>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00">
              <a:solidFill>
                <a:prstClr val="white"/>
              </a:solidFill>
              <a:ea typeface="MS PGothic" pitchFamily="34" charset="-128"/>
            </a:endParaRPr>
          </a:p>
        </p:txBody>
      </p:sp>
      <p:sp>
        <p:nvSpPr>
          <p:cNvPr id="21" name="Rounded Rectangle 20"/>
          <p:cNvSpPr/>
          <p:nvPr/>
        </p:nvSpPr>
        <p:spPr>
          <a:xfrm>
            <a:off x="6717510" y="4199165"/>
            <a:ext cx="1339620" cy="420131"/>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200">
                <a:solidFill>
                  <a:prstClr val="white"/>
                </a:solidFill>
                <a:latin typeface="Calibri" pitchFamily="34" charset="0"/>
              </a:rPr>
              <a:t>Custom Hardware</a:t>
            </a:r>
            <a:endParaRPr lang="en-US" sz="1100">
              <a:solidFill>
                <a:prstClr val="white"/>
              </a:solidFill>
              <a:latin typeface="Calibri" pitchFamily="34" charset="0"/>
            </a:endParaRPr>
          </a:p>
        </p:txBody>
      </p:sp>
      <p:sp>
        <p:nvSpPr>
          <p:cNvPr id="28" name="Rectangle 27"/>
          <p:cNvSpPr>
            <a:spLocks noChangeArrowheads="1"/>
          </p:cNvSpPr>
          <p:nvPr/>
        </p:nvSpPr>
        <p:spPr bwMode="auto">
          <a:xfrm>
            <a:off x="2292350" y="5494338"/>
            <a:ext cx="1525588" cy="1309687"/>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00">
              <a:solidFill>
                <a:prstClr val="white"/>
              </a:solidFill>
              <a:ea typeface="MS PGothic" pitchFamily="34" charset="-128"/>
            </a:endParaRPr>
          </a:p>
        </p:txBody>
      </p:sp>
      <p:sp>
        <p:nvSpPr>
          <p:cNvPr id="29" name="Rounded Rectangle 28"/>
          <p:cNvSpPr/>
          <p:nvPr/>
        </p:nvSpPr>
        <p:spPr>
          <a:xfrm>
            <a:off x="2392599" y="6295723"/>
            <a:ext cx="1339620" cy="420131"/>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200">
                <a:solidFill>
                  <a:prstClr val="white"/>
                </a:solidFill>
                <a:latin typeface="Calibri" pitchFamily="34" charset="0"/>
              </a:rPr>
              <a:t>Custom Hardware</a:t>
            </a:r>
            <a:endParaRPr lang="en-US" sz="1100">
              <a:solidFill>
                <a:prstClr val="white"/>
              </a:solidFill>
              <a:latin typeface="Calibri" pitchFamily="34" charset="0"/>
            </a:endParaRPr>
          </a:p>
        </p:txBody>
      </p:sp>
      <p:sp>
        <p:nvSpPr>
          <p:cNvPr id="36" name="Rectangle 35"/>
          <p:cNvSpPr>
            <a:spLocks noChangeArrowheads="1"/>
          </p:cNvSpPr>
          <p:nvPr/>
        </p:nvSpPr>
        <p:spPr bwMode="auto">
          <a:xfrm>
            <a:off x="4421188" y="4619625"/>
            <a:ext cx="1525587" cy="1308100"/>
          </a:xfrm>
          <a:prstGeom prst="rect">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00">
              <a:solidFill>
                <a:prstClr val="white"/>
              </a:solidFill>
              <a:ea typeface="MS PGothic" pitchFamily="34" charset="-128"/>
            </a:endParaRPr>
          </a:p>
        </p:txBody>
      </p:sp>
      <p:sp>
        <p:nvSpPr>
          <p:cNvPr id="37" name="Rounded Rectangle 36"/>
          <p:cNvSpPr/>
          <p:nvPr/>
        </p:nvSpPr>
        <p:spPr>
          <a:xfrm>
            <a:off x="4521796" y="5419715"/>
            <a:ext cx="1339620" cy="420131"/>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200">
                <a:solidFill>
                  <a:prstClr val="white"/>
                </a:solidFill>
                <a:latin typeface="Calibri" pitchFamily="34" charset="0"/>
              </a:rPr>
              <a:t>Custom Hardware</a:t>
            </a:r>
            <a:endParaRPr lang="en-US" sz="1100">
              <a:solidFill>
                <a:prstClr val="white"/>
              </a:solidFill>
              <a:latin typeface="Calibri" pitchFamily="34" charset="0"/>
            </a:endParaRPr>
          </a:p>
        </p:txBody>
      </p:sp>
      <p:sp>
        <p:nvSpPr>
          <p:cNvPr id="4" name="Rounded Rectangle 3"/>
          <p:cNvSpPr/>
          <p:nvPr/>
        </p:nvSpPr>
        <p:spPr>
          <a:xfrm>
            <a:off x="565829" y="4511881"/>
            <a:ext cx="1339620" cy="353792"/>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600">
                <a:solidFill>
                  <a:srgbClr val="FFFFFF"/>
                </a:solidFill>
                <a:latin typeface="Calibri" pitchFamily="34" charset="0"/>
              </a:rPr>
              <a:t>OS</a:t>
            </a:r>
            <a:endParaRPr lang="en-US" sz="900">
              <a:solidFill>
                <a:srgbClr val="FFFFFF"/>
              </a:solidFill>
              <a:latin typeface="Calibri" pitchFamily="34" charset="0"/>
            </a:endParaRPr>
          </a:p>
        </p:txBody>
      </p:sp>
      <p:sp>
        <p:nvSpPr>
          <p:cNvPr id="14" name="Rounded Rectangle 13"/>
          <p:cNvSpPr/>
          <p:nvPr/>
        </p:nvSpPr>
        <p:spPr>
          <a:xfrm>
            <a:off x="2988147" y="3236498"/>
            <a:ext cx="1339620" cy="353792"/>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600">
                <a:solidFill>
                  <a:srgbClr val="FFFFFF"/>
                </a:solidFill>
                <a:latin typeface="Calibri" pitchFamily="34" charset="0"/>
              </a:rPr>
              <a:t>OS</a:t>
            </a:r>
            <a:endParaRPr lang="en-US" sz="900">
              <a:solidFill>
                <a:srgbClr val="FFFFFF"/>
              </a:solidFill>
              <a:latin typeface="Calibri" pitchFamily="34" charset="0"/>
            </a:endParaRPr>
          </a:p>
        </p:txBody>
      </p:sp>
      <p:sp>
        <p:nvSpPr>
          <p:cNvPr id="22" name="Rounded Rectangle 21"/>
          <p:cNvSpPr/>
          <p:nvPr/>
        </p:nvSpPr>
        <p:spPr>
          <a:xfrm>
            <a:off x="6717509" y="3832057"/>
            <a:ext cx="1339620" cy="353792"/>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600">
                <a:solidFill>
                  <a:srgbClr val="FFFFFF"/>
                </a:solidFill>
                <a:latin typeface="Calibri" pitchFamily="34" charset="0"/>
              </a:rPr>
              <a:t>OS</a:t>
            </a:r>
            <a:endParaRPr lang="en-US" sz="900">
              <a:solidFill>
                <a:srgbClr val="FFFFFF"/>
              </a:solidFill>
              <a:latin typeface="Calibri" pitchFamily="34" charset="0"/>
            </a:endParaRPr>
          </a:p>
        </p:txBody>
      </p:sp>
      <p:sp>
        <p:nvSpPr>
          <p:cNvPr id="30" name="Rounded Rectangle 29"/>
          <p:cNvSpPr/>
          <p:nvPr/>
        </p:nvSpPr>
        <p:spPr>
          <a:xfrm>
            <a:off x="2392598" y="5928615"/>
            <a:ext cx="1339620" cy="353792"/>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600">
                <a:solidFill>
                  <a:srgbClr val="FFFFFF"/>
                </a:solidFill>
                <a:latin typeface="Calibri" pitchFamily="34" charset="0"/>
              </a:rPr>
              <a:t>OS</a:t>
            </a:r>
            <a:endParaRPr lang="en-US" sz="900">
              <a:solidFill>
                <a:srgbClr val="FFFFFF"/>
              </a:solidFill>
              <a:latin typeface="Calibri" pitchFamily="34" charset="0"/>
            </a:endParaRPr>
          </a:p>
        </p:txBody>
      </p:sp>
      <p:sp>
        <p:nvSpPr>
          <p:cNvPr id="38" name="Rounded Rectangle 37"/>
          <p:cNvSpPr/>
          <p:nvPr/>
        </p:nvSpPr>
        <p:spPr>
          <a:xfrm>
            <a:off x="4521795" y="5052607"/>
            <a:ext cx="1339620" cy="353792"/>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sz="1600">
                <a:solidFill>
                  <a:srgbClr val="FFFFFF"/>
                </a:solidFill>
                <a:latin typeface="Calibri" pitchFamily="34" charset="0"/>
              </a:rPr>
              <a:t>OS</a:t>
            </a:r>
            <a:endParaRPr lang="en-US" sz="900">
              <a:solidFill>
                <a:srgbClr val="FFFFFF"/>
              </a:solidFill>
              <a:latin typeface="Calibri" pitchFamily="34" charset="0"/>
            </a:endParaRPr>
          </a:p>
        </p:txBody>
      </p:sp>
      <p:sp>
        <p:nvSpPr>
          <p:cNvPr id="54" name="Rounded Rectangle 53"/>
          <p:cNvSpPr/>
          <p:nvPr/>
        </p:nvSpPr>
        <p:spPr>
          <a:xfrm>
            <a:off x="821267" y="2135134"/>
            <a:ext cx="6663266" cy="416311"/>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FFFFFF"/>
                </a:solidFill>
              </a:rPr>
              <a:t>Network OS</a:t>
            </a:r>
          </a:p>
        </p:txBody>
      </p:sp>
      <p:grpSp>
        <p:nvGrpSpPr>
          <p:cNvPr id="2" name="Group 62"/>
          <p:cNvGrpSpPr>
            <a:grpSpLocks/>
          </p:cNvGrpSpPr>
          <p:nvPr/>
        </p:nvGrpSpPr>
        <p:grpSpPr bwMode="auto">
          <a:xfrm>
            <a:off x="2540000" y="1543050"/>
            <a:ext cx="3317875" cy="495300"/>
            <a:chOff x="2539310" y="715997"/>
            <a:chExt cx="3319928" cy="495228"/>
          </a:xfrm>
        </p:grpSpPr>
        <p:sp>
          <p:nvSpPr>
            <p:cNvPr id="60" name="Rounded Rectangle 59"/>
            <p:cNvSpPr/>
            <p:nvPr/>
          </p:nvSpPr>
          <p:spPr>
            <a:xfrm>
              <a:off x="2539310" y="719194"/>
              <a:ext cx="1278364"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000000"/>
                  </a:solidFill>
                </a:rPr>
                <a:t>Feature</a:t>
              </a:r>
            </a:p>
          </p:txBody>
        </p:sp>
        <p:sp>
          <p:nvSpPr>
            <p:cNvPr id="62" name="Rounded Rectangle 61"/>
            <p:cNvSpPr/>
            <p:nvPr/>
          </p:nvSpPr>
          <p:spPr>
            <a:xfrm>
              <a:off x="4421200" y="715997"/>
              <a:ext cx="1438038"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000000"/>
                  </a:solidFill>
                </a:rPr>
                <a:t>Feature</a:t>
              </a:r>
            </a:p>
          </p:txBody>
        </p:sp>
      </p:grpSp>
      <p:sp>
        <p:nvSpPr>
          <p:cNvPr id="36910" name="Title 73"/>
          <p:cNvSpPr>
            <a:spLocks noGrp="1"/>
          </p:cNvSpPr>
          <p:nvPr>
            <p:ph type="title"/>
          </p:nvPr>
        </p:nvSpPr>
        <p:spPr/>
        <p:txBody>
          <a:bodyPr/>
          <a:lstStyle/>
          <a:p>
            <a:r>
              <a:rPr lang="en-US"/>
              <a:t>The network is changing</a:t>
            </a:r>
          </a:p>
        </p:txBody>
      </p:sp>
      <p:grpSp>
        <p:nvGrpSpPr>
          <p:cNvPr id="5" name="Group 50"/>
          <p:cNvGrpSpPr>
            <a:grpSpLocks/>
          </p:cNvGrpSpPr>
          <p:nvPr/>
        </p:nvGrpSpPr>
        <p:grpSpPr bwMode="auto">
          <a:xfrm>
            <a:off x="2914650" y="2865438"/>
            <a:ext cx="1493838" cy="344487"/>
            <a:chOff x="2913956" y="2709863"/>
            <a:chExt cx="1493833" cy="344487"/>
          </a:xfrm>
        </p:grpSpPr>
        <p:grpSp>
          <p:nvGrpSpPr>
            <p:cNvPr id="36956" name="Group 54"/>
            <p:cNvGrpSpPr>
              <a:grpSpLocks/>
            </p:cNvGrpSpPr>
            <p:nvPr/>
          </p:nvGrpSpPr>
          <p:grpSpPr bwMode="auto">
            <a:xfrm>
              <a:off x="2979738" y="2709863"/>
              <a:ext cx="1339849" cy="344487"/>
              <a:chOff x="558086" y="3810293"/>
              <a:chExt cx="1339620" cy="343744"/>
            </a:xfrm>
          </p:grpSpPr>
          <p:sp>
            <p:nvSpPr>
              <p:cNvPr id="56" name="Rounded Rectangle 55"/>
              <p:cNvSpPr/>
              <p:nvPr/>
            </p:nvSpPr>
            <p:spPr>
              <a:xfrm>
                <a:off x="558086" y="3810293"/>
                <a:ext cx="533308"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sp>
            <p:nvSpPr>
              <p:cNvPr id="57" name="Rounded Rectangle 56"/>
              <p:cNvSpPr/>
              <p:nvPr/>
            </p:nvSpPr>
            <p:spPr>
              <a:xfrm>
                <a:off x="1396142" y="3810293"/>
                <a:ext cx="501564"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cxnSp>
            <p:nvCxnSpPr>
              <p:cNvPr id="58" name="Straight Connector 57"/>
              <p:cNvCxnSpPr>
                <a:cxnSpLocks noChangeShapeType="1"/>
              </p:cNvCxnSpPr>
              <p:nvPr/>
            </p:nvCxnSpPr>
            <p:spPr bwMode="auto">
              <a:xfrm>
                <a:off x="1090699" y="3982957"/>
                <a:ext cx="304747" cy="1585"/>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6957" name="TextBox 46"/>
            <p:cNvSpPr txBox="1">
              <a:spLocks noChangeArrowheads="1"/>
            </p:cNvSpPr>
            <p:nvPr/>
          </p:nvSpPr>
          <p:spPr bwMode="auto">
            <a:xfrm>
              <a:off x="2913956" y="2742956"/>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sp>
          <p:nvSpPr>
            <p:cNvPr id="36958" name="TextBox 48"/>
            <p:cNvSpPr txBox="1">
              <a:spLocks noChangeArrowheads="1"/>
            </p:cNvSpPr>
            <p:nvPr/>
          </p:nvSpPr>
          <p:spPr bwMode="auto">
            <a:xfrm>
              <a:off x="3736975" y="2745501"/>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grpSp>
      <p:grpSp>
        <p:nvGrpSpPr>
          <p:cNvPr id="7" name="Group 52"/>
          <p:cNvGrpSpPr>
            <a:grpSpLocks/>
          </p:cNvGrpSpPr>
          <p:nvPr/>
        </p:nvGrpSpPr>
        <p:grpSpPr bwMode="auto">
          <a:xfrm>
            <a:off x="488950" y="4137025"/>
            <a:ext cx="1493838" cy="344488"/>
            <a:chOff x="2913956" y="2709863"/>
            <a:chExt cx="1493833" cy="344487"/>
          </a:xfrm>
        </p:grpSpPr>
        <p:grpSp>
          <p:nvGrpSpPr>
            <p:cNvPr id="36946" name="Group 54"/>
            <p:cNvGrpSpPr>
              <a:grpSpLocks/>
            </p:cNvGrpSpPr>
            <p:nvPr/>
          </p:nvGrpSpPr>
          <p:grpSpPr bwMode="auto">
            <a:xfrm>
              <a:off x="2979738" y="2709863"/>
              <a:ext cx="1339849" cy="344487"/>
              <a:chOff x="558086" y="3810293"/>
              <a:chExt cx="1339620" cy="343744"/>
            </a:xfrm>
          </p:grpSpPr>
          <p:sp>
            <p:nvSpPr>
              <p:cNvPr id="66" name="Rounded Rectangle 65"/>
              <p:cNvSpPr/>
              <p:nvPr/>
            </p:nvSpPr>
            <p:spPr>
              <a:xfrm>
                <a:off x="558086" y="3810293"/>
                <a:ext cx="533308"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sp>
            <p:nvSpPr>
              <p:cNvPr id="70" name="Rounded Rectangle 69"/>
              <p:cNvSpPr/>
              <p:nvPr/>
            </p:nvSpPr>
            <p:spPr>
              <a:xfrm>
                <a:off x="1396142" y="3810293"/>
                <a:ext cx="501564"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cxnSp>
            <p:nvCxnSpPr>
              <p:cNvPr id="74" name="Straight Connector 73"/>
              <p:cNvCxnSpPr>
                <a:cxnSpLocks noChangeShapeType="1"/>
              </p:cNvCxnSpPr>
              <p:nvPr/>
            </p:nvCxnSpPr>
            <p:spPr bwMode="auto">
              <a:xfrm>
                <a:off x="1090699" y="3982957"/>
                <a:ext cx="304747" cy="1584"/>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6947" name="TextBox 58"/>
            <p:cNvSpPr txBox="1">
              <a:spLocks noChangeArrowheads="1"/>
            </p:cNvSpPr>
            <p:nvPr/>
          </p:nvSpPr>
          <p:spPr bwMode="auto">
            <a:xfrm>
              <a:off x="2913956" y="2742956"/>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sp>
          <p:nvSpPr>
            <p:cNvPr id="36948" name="TextBox 60"/>
            <p:cNvSpPr txBox="1">
              <a:spLocks noChangeArrowheads="1"/>
            </p:cNvSpPr>
            <p:nvPr/>
          </p:nvSpPr>
          <p:spPr bwMode="auto">
            <a:xfrm>
              <a:off x="3736975" y="2745501"/>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grpSp>
      <p:grpSp>
        <p:nvGrpSpPr>
          <p:cNvPr id="10" name="Group 74"/>
          <p:cNvGrpSpPr>
            <a:grpSpLocks/>
          </p:cNvGrpSpPr>
          <p:nvPr/>
        </p:nvGrpSpPr>
        <p:grpSpPr bwMode="auto">
          <a:xfrm>
            <a:off x="6648450" y="3444875"/>
            <a:ext cx="1493838" cy="344488"/>
            <a:chOff x="2913956" y="2709863"/>
            <a:chExt cx="1493833" cy="344487"/>
          </a:xfrm>
        </p:grpSpPr>
        <p:grpSp>
          <p:nvGrpSpPr>
            <p:cNvPr id="36936" name="Group 75"/>
            <p:cNvGrpSpPr>
              <a:grpSpLocks/>
            </p:cNvGrpSpPr>
            <p:nvPr/>
          </p:nvGrpSpPr>
          <p:grpSpPr bwMode="auto">
            <a:xfrm>
              <a:off x="2979738" y="2709863"/>
              <a:ext cx="1339849" cy="344487"/>
              <a:chOff x="558086" y="3810293"/>
              <a:chExt cx="1339620" cy="343744"/>
            </a:xfrm>
          </p:grpSpPr>
          <p:sp>
            <p:nvSpPr>
              <p:cNvPr id="79" name="Rounded Rectangle 78"/>
              <p:cNvSpPr/>
              <p:nvPr/>
            </p:nvSpPr>
            <p:spPr>
              <a:xfrm>
                <a:off x="558086" y="3810293"/>
                <a:ext cx="533308"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sp>
            <p:nvSpPr>
              <p:cNvPr id="80" name="Rounded Rectangle 79"/>
              <p:cNvSpPr/>
              <p:nvPr/>
            </p:nvSpPr>
            <p:spPr>
              <a:xfrm>
                <a:off x="1396142" y="3810293"/>
                <a:ext cx="501564"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cxnSp>
            <p:nvCxnSpPr>
              <p:cNvPr id="81" name="Straight Connector 80"/>
              <p:cNvCxnSpPr>
                <a:cxnSpLocks noChangeShapeType="1"/>
              </p:cNvCxnSpPr>
              <p:nvPr/>
            </p:nvCxnSpPr>
            <p:spPr bwMode="auto">
              <a:xfrm>
                <a:off x="1090699" y="3982957"/>
                <a:ext cx="304747" cy="1584"/>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6937" name="TextBox 76"/>
            <p:cNvSpPr txBox="1">
              <a:spLocks noChangeArrowheads="1"/>
            </p:cNvSpPr>
            <p:nvPr/>
          </p:nvSpPr>
          <p:spPr bwMode="auto">
            <a:xfrm>
              <a:off x="2913956" y="2742956"/>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sp>
          <p:nvSpPr>
            <p:cNvPr id="36938" name="TextBox 77"/>
            <p:cNvSpPr txBox="1">
              <a:spLocks noChangeArrowheads="1"/>
            </p:cNvSpPr>
            <p:nvPr/>
          </p:nvSpPr>
          <p:spPr bwMode="auto">
            <a:xfrm>
              <a:off x="3736975" y="2745501"/>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grpSp>
      <p:grpSp>
        <p:nvGrpSpPr>
          <p:cNvPr id="15" name="Group 81"/>
          <p:cNvGrpSpPr>
            <a:grpSpLocks/>
          </p:cNvGrpSpPr>
          <p:nvPr/>
        </p:nvGrpSpPr>
        <p:grpSpPr bwMode="auto">
          <a:xfrm>
            <a:off x="4452938" y="4659313"/>
            <a:ext cx="1493837" cy="344487"/>
            <a:chOff x="2913956" y="2709863"/>
            <a:chExt cx="1493833" cy="344487"/>
          </a:xfrm>
        </p:grpSpPr>
        <p:grpSp>
          <p:nvGrpSpPr>
            <p:cNvPr id="36926" name="Group 82"/>
            <p:cNvGrpSpPr>
              <a:grpSpLocks/>
            </p:cNvGrpSpPr>
            <p:nvPr/>
          </p:nvGrpSpPr>
          <p:grpSpPr bwMode="auto">
            <a:xfrm>
              <a:off x="2979738" y="2709863"/>
              <a:ext cx="1339849" cy="344487"/>
              <a:chOff x="558086" y="3810293"/>
              <a:chExt cx="1339620" cy="343744"/>
            </a:xfrm>
          </p:grpSpPr>
          <p:sp>
            <p:nvSpPr>
              <p:cNvPr id="86" name="Rounded Rectangle 85"/>
              <p:cNvSpPr/>
              <p:nvPr/>
            </p:nvSpPr>
            <p:spPr>
              <a:xfrm>
                <a:off x="558086" y="3810293"/>
                <a:ext cx="533308"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sp>
            <p:nvSpPr>
              <p:cNvPr id="87" name="Rounded Rectangle 86"/>
              <p:cNvSpPr/>
              <p:nvPr/>
            </p:nvSpPr>
            <p:spPr>
              <a:xfrm>
                <a:off x="1396142" y="3810293"/>
                <a:ext cx="501564"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cxnSp>
            <p:nvCxnSpPr>
              <p:cNvPr id="88" name="Straight Connector 87"/>
              <p:cNvCxnSpPr>
                <a:cxnSpLocks noChangeShapeType="1"/>
              </p:cNvCxnSpPr>
              <p:nvPr/>
            </p:nvCxnSpPr>
            <p:spPr bwMode="auto">
              <a:xfrm>
                <a:off x="1090698" y="3982957"/>
                <a:ext cx="304747" cy="1585"/>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6927" name="TextBox 83"/>
            <p:cNvSpPr txBox="1">
              <a:spLocks noChangeArrowheads="1"/>
            </p:cNvSpPr>
            <p:nvPr/>
          </p:nvSpPr>
          <p:spPr bwMode="auto">
            <a:xfrm>
              <a:off x="2913956" y="2742956"/>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sp>
          <p:nvSpPr>
            <p:cNvPr id="36928" name="TextBox 84"/>
            <p:cNvSpPr txBox="1">
              <a:spLocks noChangeArrowheads="1"/>
            </p:cNvSpPr>
            <p:nvPr/>
          </p:nvSpPr>
          <p:spPr bwMode="auto">
            <a:xfrm>
              <a:off x="3736975" y="2745501"/>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grpSp>
      <p:grpSp>
        <p:nvGrpSpPr>
          <p:cNvPr id="17" name="Group 88"/>
          <p:cNvGrpSpPr>
            <a:grpSpLocks/>
          </p:cNvGrpSpPr>
          <p:nvPr/>
        </p:nvGrpSpPr>
        <p:grpSpPr bwMode="auto">
          <a:xfrm>
            <a:off x="2324100" y="5535613"/>
            <a:ext cx="1493838" cy="344487"/>
            <a:chOff x="2913956" y="2709863"/>
            <a:chExt cx="1493833" cy="344487"/>
          </a:xfrm>
        </p:grpSpPr>
        <p:grpSp>
          <p:nvGrpSpPr>
            <p:cNvPr id="36916" name="Group 89"/>
            <p:cNvGrpSpPr>
              <a:grpSpLocks/>
            </p:cNvGrpSpPr>
            <p:nvPr/>
          </p:nvGrpSpPr>
          <p:grpSpPr bwMode="auto">
            <a:xfrm>
              <a:off x="2979738" y="2709863"/>
              <a:ext cx="1339849" cy="344487"/>
              <a:chOff x="558086" y="3810293"/>
              <a:chExt cx="1339620" cy="343744"/>
            </a:xfrm>
          </p:grpSpPr>
          <p:sp>
            <p:nvSpPr>
              <p:cNvPr id="93" name="Rounded Rectangle 92"/>
              <p:cNvSpPr/>
              <p:nvPr/>
            </p:nvSpPr>
            <p:spPr>
              <a:xfrm>
                <a:off x="558086" y="3810293"/>
                <a:ext cx="533308"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sp>
            <p:nvSpPr>
              <p:cNvPr id="94" name="Rounded Rectangle 93"/>
              <p:cNvSpPr/>
              <p:nvPr/>
            </p:nvSpPr>
            <p:spPr>
              <a:xfrm>
                <a:off x="1396142" y="3810293"/>
                <a:ext cx="501564" cy="343744"/>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defRPr/>
                </a:pPr>
                <a:endParaRPr lang="en-US" sz="600" dirty="0">
                  <a:solidFill>
                    <a:srgbClr val="FFFFFF"/>
                  </a:solidFill>
                </a:endParaRPr>
              </a:p>
            </p:txBody>
          </p:sp>
          <p:cxnSp>
            <p:nvCxnSpPr>
              <p:cNvPr id="95" name="Straight Connector 94"/>
              <p:cNvCxnSpPr>
                <a:cxnSpLocks noChangeShapeType="1"/>
              </p:cNvCxnSpPr>
              <p:nvPr/>
            </p:nvCxnSpPr>
            <p:spPr bwMode="auto">
              <a:xfrm>
                <a:off x="1090699" y="3982957"/>
                <a:ext cx="304747" cy="1585"/>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6917" name="TextBox 90"/>
            <p:cNvSpPr txBox="1">
              <a:spLocks noChangeArrowheads="1"/>
            </p:cNvSpPr>
            <p:nvPr/>
          </p:nvSpPr>
          <p:spPr bwMode="auto">
            <a:xfrm>
              <a:off x="2913956" y="2742956"/>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sp>
          <p:nvSpPr>
            <p:cNvPr id="36918" name="TextBox 91"/>
            <p:cNvSpPr txBox="1">
              <a:spLocks noChangeArrowheads="1"/>
            </p:cNvSpPr>
            <p:nvPr/>
          </p:nvSpPr>
          <p:spPr bwMode="auto">
            <a:xfrm>
              <a:off x="3736975" y="2745501"/>
              <a:ext cx="67081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100">
                  <a:solidFill>
                    <a:prstClr val="white"/>
                  </a:solidFill>
                </a:rPr>
                <a:t>Feature</a:t>
              </a:r>
            </a:p>
          </p:txBody>
        </p:sp>
      </p:grpSp>
      <p:sp>
        <p:nvSpPr>
          <p:cNvPr id="6" name="Slide Number Placeholder 5"/>
          <p:cNvSpPr>
            <a:spLocks noGrp="1"/>
          </p:cNvSpPr>
          <p:nvPr>
            <p:ph type="sldNum" sz="quarter" idx="12"/>
          </p:nvPr>
        </p:nvSpPr>
        <p:spPr/>
        <p:txBody>
          <a:bodyPr/>
          <a:lstStyle/>
          <a:p>
            <a:fld id="{04529084-4064-4451-BE5E-7031AAB6E503}" type="slidenum">
              <a:rPr lang="en-US" smtClean="0"/>
              <a:pPr/>
              <a:t>6</a:t>
            </a:fld>
            <a:endParaRPr lang="en-US"/>
          </a:p>
        </p:txBody>
      </p:sp>
    </p:spTree>
    <p:extLst>
      <p:ext uri="{BB962C8B-B14F-4D97-AF65-F5344CB8AC3E}">
        <p14:creationId xmlns:p14="http://schemas.microsoft.com/office/powerpoint/2010/main" val="636367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fill="hold" nodeType="clickEffect">
                                  <p:stCondLst>
                                    <p:cond delay="0"/>
                                  </p:stCondLst>
                                  <p:childTnLst>
                                    <p:animMotion origin="layout" path="M 1.70228E-7 -3.80842E-6 L 1.70228E-7 -0.32323 " pathEditMode="relative" rAng="0" ptsTypes="AA">
                                      <p:cBhvr>
                                        <p:cTn id="6" dur="500" fill="hold"/>
                                        <p:tgtEl>
                                          <p:spTgt spid="4"/>
                                        </p:tgtEl>
                                        <p:attrNameLst>
                                          <p:attrName>ppt_x</p:attrName>
                                          <p:attrName>ppt_y</p:attrName>
                                        </p:attrNameLst>
                                      </p:cBhvr>
                                      <p:rCtr x="0" y="-16200"/>
                                    </p:animMotion>
                                  </p:childTnLst>
                                </p:cTn>
                              </p:par>
                              <p:par>
                                <p:cTn id="7" presetID="0" presetClass="path" presetSubtype="0" accel="50000" decel="50000" fill="hold" nodeType="withEffect">
                                  <p:stCondLst>
                                    <p:cond delay="0"/>
                                  </p:stCondLst>
                                  <p:childTnLst>
                                    <p:animMotion origin="layout" path="M 1.5581E-6 -2.11013E-6 L 0.00087 -0.1372 " pathEditMode="relative" rAng="0" ptsTypes="AA">
                                      <p:cBhvr>
                                        <p:cTn id="8" dur="500" fill="hold"/>
                                        <p:tgtEl>
                                          <p:spTgt spid="14"/>
                                        </p:tgtEl>
                                        <p:attrNameLst>
                                          <p:attrName>ppt_x</p:attrName>
                                          <p:attrName>ppt_y</p:attrName>
                                        </p:attrNameLst>
                                      </p:cBhvr>
                                      <p:rCtr x="0" y="-6900"/>
                                    </p:animMotion>
                                  </p:childTnLst>
                                </p:cTn>
                              </p:par>
                              <p:par>
                                <p:cTn id="9" presetID="0" presetClass="path" presetSubtype="0" accel="50000" decel="50000" fill="hold" nodeType="withEffect">
                                  <p:stCondLst>
                                    <p:cond delay="0"/>
                                  </p:stCondLst>
                                  <p:childTnLst>
                                    <p:animMotion origin="layout" path="M -3.45492E-6 1.12911E-6 L 0.00296 -0.2242 " pathEditMode="relative" rAng="0" ptsTypes="AA">
                                      <p:cBhvr>
                                        <p:cTn id="10" dur="500" fill="hold"/>
                                        <p:tgtEl>
                                          <p:spTgt spid="22"/>
                                        </p:tgtEl>
                                        <p:attrNameLst>
                                          <p:attrName>ppt_x</p:attrName>
                                          <p:attrName>ppt_y</p:attrName>
                                        </p:attrNameLst>
                                      </p:cBhvr>
                                      <p:rCtr x="100" y="-11200"/>
                                    </p:animMotion>
                                  </p:childTnLst>
                                </p:cTn>
                              </p:par>
                              <p:par>
                                <p:cTn id="11" presetID="0" presetClass="path" presetSubtype="0" accel="50000" decel="50000" fill="hold" nodeType="withEffect">
                                  <p:stCondLst>
                                    <p:cond delay="0"/>
                                  </p:stCondLst>
                                  <p:childTnLst>
                                    <p:animMotion origin="layout" path="M -3.4914E-7 2.59139E-7 L -0.00087 -0.52753 " pathEditMode="relative" rAng="0" ptsTypes="AA">
                                      <p:cBhvr>
                                        <p:cTn id="12" dur="500" fill="hold"/>
                                        <p:tgtEl>
                                          <p:spTgt spid="30"/>
                                        </p:tgtEl>
                                        <p:attrNameLst>
                                          <p:attrName>ppt_x</p:attrName>
                                          <p:attrName>ppt_y</p:attrName>
                                        </p:attrNameLst>
                                      </p:cBhvr>
                                      <p:rCtr x="-52" y="-26377"/>
                                    </p:animMotion>
                                  </p:childTnLst>
                                </p:cTn>
                              </p:par>
                              <p:par>
                                <p:cTn id="13" presetID="0" presetClass="path" presetSubtype="0" accel="50000" decel="50000" fill="hold" nodeType="withEffect">
                                  <p:stCondLst>
                                    <p:cond delay="0"/>
                                  </p:stCondLst>
                                  <p:childTnLst>
                                    <p:animMotion origin="layout" path="M -4.16884E-6 -4.38223E-6 L 0.00018 -0.40189 " pathEditMode="relative" rAng="0" ptsTypes="AA">
                                      <p:cBhvr>
                                        <p:cTn id="14" dur="500" fill="hold"/>
                                        <p:tgtEl>
                                          <p:spTgt spid="38"/>
                                        </p:tgtEl>
                                        <p:attrNameLst>
                                          <p:attrName>ppt_x</p:attrName>
                                          <p:attrName>ppt_y</p:attrName>
                                        </p:attrNameLst>
                                      </p:cBhvr>
                                      <p:rCtr x="0" y="-20100"/>
                                    </p:animMotion>
                                  </p:childTnLst>
                                </p:cTn>
                              </p:par>
                              <p:par>
                                <p:cTn id="15" presetID="10" presetClass="exit" presetSubtype="0" fill="hold" nodeType="withEffect">
                                  <p:stCondLst>
                                    <p:cond delay="0"/>
                                  </p:stCondLst>
                                  <p:childTnLst>
                                    <p:animEffect transition="out" filter="fade">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38"/>
                                        </p:tgtEl>
                                      </p:cBhvr>
                                    </p:animEffect>
                                    <p:set>
                                      <p:cBhvr>
                                        <p:cTn id="20" dur="1" fill="hold">
                                          <p:stCondLst>
                                            <p:cond delay="499"/>
                                          </p:stCondLst>
                                        </p:cTn>
                                        <p:tgtEl>
                                          <p:spTgt spid="38"/>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30"/>
                                        </p:tgtEl>
                                      </p:cBhvr>
                                    </p:animEffect>
                                    <p:set>
                                      <p:cBhvr>
                                        <p:cTn id="23" dur="1" fill="hold">
                                          <p:stCondLst>
                                            <p:cond delay="499"/>
                                          </p:stCondLst>
                                        </p:cTn>
                                        <p:tgtEl>
                                          <p:spTgt spid="3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14"/>
                                        </p:tgtEl>
                                      </p:cBhvr>
                                    </p:animEffect>
                                    <p:set>
                                      <p:cBhvr>
                                        <p:cTn id="26" dur="1" fill="hold">
                                          <p:stCondLst>
                                            <p:cond delay="499"/>
                                          </p:stCondLst>
                                        </p:cTn>
                                        <p:tgtEl>
                                          <p:spTgt spid="1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2"/>
                                        </p:tgtEl>
                                      </p:cBhvr>
                                    </p:animEffect>
                                    <p:set>
                                      <p:cBhvr>
                                        <p:cTn id="29" dur="1" fill="hold">
                                          <p:stCondLst>
                                            <p:cond delay="499"/>
                                          </p:stCondLst>
                                        </p:cTn>
                                        <p:tgtEl>
                                          <p:spTgt spid="22"/>
                                        </p:tgtEl>
                                        <p:attrNameLst>
                                          <p:attrName>style.visibility</p:attrName>
                                        </p:attrNameLst>
                                      </p:cBhvr>
                                      <p:to>
                                        <p:strVal val="hidden"/>
                                      </p:to>
                                    </p:set>
                                  </p:childTnLst>
                                </p:cTn>
                              </p:par>
                            </p:childTnLst>
                          </p:cTn>
                        </p:par>
                        <p:par>
                          <p:cTn id="30" fill="hold" nodeType="afterGroup">
                            <p:stCondLst>
                              <p:cond delay="500"/>
                            </p:stCondLst>
                            <p:childTnLst>
                              <p:par>
                                <p:cTn id="31" presetID="1" presetClass="entr" presetSubtype="0" fill="hold" nodeType="after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xit" presetSubtype="0" fill="hold" nodeType="clickEffect">
                                  <p:stCondLst>
                                    <p:cond delay="0"/>
                                  </p:stCondLst>
                                  <p:childTnLst>
                                    <p:animEffect transition="out" filter="fade">
                                      <p:cBhvr>
                                        <p:cTn id="36" dur="500"/>
                                        <p:tgtEl>
                                          <p:spTgt spid="7"/>
                                        </p:tgtEl>
                                      </p:cBhvr>
                                    </p:animEffect>
                                    <p:set>
                                      <p:cBhvr>
                                        <p:cTn id="37" dur="1" fill="hold">
                                          <p:stCondLst>
                                            <p:cond delay="499"/>
                                          </p:stCondLst>
                                        </p:cTn>
                                        <p:tgtEl>
                                          <p:spTgt spid="7"/>
                                        </p:tgtEl>
                                        <p:attrNameLst>
                                          <p:attrName>style.visibility</p:attrName>
                                        </p:attrNameLst>
                                      </p:cBhvr>
                                      <p:to>
                                        <p:strVal val="hidden"/>
                                      </p:to>
                                    </p:set>
                                  </p:childTnLst>
                                </p:cTn>
                              </p:par>
                              <p:par>
                                <p:cTn id="38" presetID="0" presetClass="path" presetSubtype="0" accel="50000" decel="50000" fill="hold" nodeType="withEffect">
                                  <p:stCondLst>
                                    <p:cond delay="0"/>
                                  </p:stCondLst>
                                  <p:childTnLst>
                                    <p:animMotion origin="layout" path="M 5.55556E-7 -8.14815E-6 L 5.55556E-7 -0.36181 " pathEditMode="relative" ptsTypes="AA">
                                      <p:cBhvr>
                                        <p:cTn id="39" dur="500" fill="hold"/>
                                        <p:tgtEl>
                                          <p:spTgt spid="7"/>
                                        </p:tgtEl>
                                        <p:attrNameLst>
                                          <p:attrName>ppt_x</p:attrName>
                                          <p:attrName>ppt_y</p:attrName>
                                        </p:attrNameLst>
                                      </p:cBhvr>
                                    </p:animMotion>
                                  </p:childTnLst>
                                </p:cTn>
                              </p:par>
                              <p:par>
                                <p:cTn id="40" presetID="10" presetClass="exit" presetSubtype="0" fill="hold" nodeType="withEffect">
                                  <p:stCondLst>
                                    <p:cond delay="0"/>
                                  </p:stCondLst>
                                  <p:childTnLst>
                                    <p:animEffect transition="out" filter="fade">
                                      <p:cBhvr>
                                        <p:cTn id="41" dur="500"/>
                                        <p:tgtEl>
                                          <p:spTgt spid="5"/>
                                        </p:tgtEl>
                                      </p:cBhvr>
                                    </p:animEffect>
                                    <p:set>
                                      <p:cBhvr>
                                        <p:cTn id="42" dur="1" fill="hold">
                                          <p:stCondLst>
                                            <p:cond delay="499"/>
                                          </p:stCondLst>
                                        </p:cTn>
                                        <p:tgtEl>
                                          <p:spTgt spid="5"/>
                                        </p:tgtEl>
                                        <p:attrNameLst>
                                          <p:attrName>style.visibility</p:attrName>
                                        </p:attrNameLst>
                                      </p:cBhvr>
                                      <p:to>
                                        <p:strVal val="hidden"/>
                                      </p:to>
                                    </p:set>
                                  </p:childTnLst>
                                </p:cTn>
                              </p:par>
                              <p:par>
                                <p:cTn id="43" presetID="0" presetClass="path" presetSubtype="0" accel="50000" decel="50000" fill="hold" nodeType="withEffect">
                                  <p:stCondLst>
                                    <p:cond delay="0"/>
                                  </p:stCondLst>
                                  <p:childTnLst>
                                    <p:animMotion origin="layout" path="M -4.44444E-6 3.7037E-7 L -0.00104 -0.18102 " pathEditMode="relative" ptsTypes="AA">
                                      <p:cBhvr>
                                        <p:cTn id="44" dur="500" fill="hold"/>
                                        <p:tgtEl>
                                          <p:spTgt spid="5"/>
                                        </p:tgtEl>
                                        <p:attrNameLst>
                                          <p:attrName>ppt_x</p:attrName>
                                          <p:attrName>ppt_y</p:attrName>
                                        </p:attrNameLst>
                                      </p:cBhvr>
                                    </p:animMotion>
                                  </p:childTnLst>
                                </p:cTn>
                              </p:par>
                              <p:par>
                                <p:cTn id="45" presetID="0" presetClass="path" presetSubtype="0" accel="50000" decel="50000" fill="hold" nodeType="withEffect">
                                  <p:stCondLst>
                                    <p:cond delay="0"/>
                                  </p:stCondLst>
                                  <p:childTnLst>
                                    <p:animMotion origin="layout" path="M -0.0007 -0.00046 L -0.00174 -0.57021 " pathEditMode="relative" ptsTypes="AA">
                                      <p:cBhvr>
                                        <p:cTn id="46" dur="500" fill="hold"/>
                                        <p:tgtEl>
                                          <p:spTgt spid="17"/>
                                        </p:tgtEl>
                                        <p:attrNameLst>
                                          <p:attrName>ppt_x</p:attrName>
                                          <p:attrName>ppt_y</p:attrName>
                                        </p:attrNameLst>
                                      </p:cBhvr>
                                    </p:animMotion>
                                  </p:childTnLst>
                                </p:cTn>
                              </p:par>
                              <p:par>
                                <p:cTn id="47" presetID="10" presetClass="exit" presetSubtype="0" fill="hold" nodeType="withEffect">
                                  <p:stCondLst>
                                    <p:cond delay="0"/>
                                  </p:stCondLst>
                                  <p:childTnLst>
                                    <p:animEffect transition="out" filter="fade">
                                      <p:cBhvr>
                                        <p:cTn id="48" dur="500"/>
                                        <p:tgtEl>
                                          <p:spTgt spid="17"/>
                                        </p:tgtEl>
                                      </p:cBhvr>
                                    </p:animEffect>
                                    <p:set>
                                      <p:cBhvr>
                                        <p:cTn id="49" dur="1" fill="hold">
                                          <p:stCondLst>
                                            <p:cond delay="499"/>
                                          </p:stCondLst>
                                        </p:cTn>
                                        <p:tgtEl>
                                          <p:spTgt spid="17"/>
                                        </p:tgtEl>
                                        <p:attrNameLst>
                                          <p:attrName>style.visibility</p:attrName>
                                        </p:attrNameLst>
                                      </p:cBhvr>
                                      <p:to>
                                        <p:strVal val="hidden"/>
                                      </p:to>
                                    </p:set>
                                  </p:childTnLst>
                                </p:cTn>
                              </p:par>
                              <p:par>
                                <p:cTn id="50" presetID="0" presetClass="path" presetSubtype="0" accel="50000" decel="50000" fill="hold" nodeType="withEffect">
                                  <p:stCondLst>
                                    <p:cond delay="0"/>
                                  </p:stCondLst>
                                  <p:childTnLst>
                                    <p:animMotion origin="layout" path="M -2.24575E-6 3.79366E-7 L 0.00313 -0.26024 " pathEditMode="relative" ptsTypes="AA">
                                      <p:cBhvr>
                                        <p:cTn id="51" dur="500" fill="hold"/>
                                        <p:tgtEl>
                                          <p:spTgt spid="10"/>
                                        </p:tgtEl>
                                        <p:attrNameLst>
                                          <p:attrName>ppt_x</p:attrName>
                                          <p:attrName>ppt_y</p:attrName>
                                        </p:attrNameLst>
                                      </p:cBhvr>
                                    </p:animMotion>
                                  </p:childTnLst>
                                </p:cTn>
                              </p:par>
                              <p:par>
                                <p:cTn id="52" presetID="10" presetClass="exit" presetSubtype="0" fill="hold" nodeType="with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par>
                                <p:cTn id="55" presetID="0" presetClass="path" presetSubtype="0" accel="50000" decel="50000" fill="hold" nodeType="withEffect">
                                  <p:stCondLst>
                                    <p:cond delay="0"/>
                                  </p:stCondLst>
                                  <p:childTnLst>
                                    <p:animMotion origin="layout" path="M -2.24575E-6 -2.44506E-6 L -2.24575E-6 -0.42193 " pathEditMode="relative" ptsTypes="AA">
                                      <p:cBhvr>
                                        <p:cTn id="56" dur="500" fill="hold"/>
                                        <p:tgtEl>
                                          <p:spTgt spid="15"/>
                                        </p:tgtEl>
                                        <p:attrNameLst>
                                          <p:attrName>ppt_x</p:attrName>
                                          <p:attrName>ppt_y</p:attrName>
                                        </p:attrNameLst>
                                      </p:cBhvr>
                                    </p:animMotion>
                                  </p:childTnLst>
                                </p:cTn>
                              </p:par>
                              <p:par>
                                <p:cTn id="57" presetID="10" presetClass="exit" presetSubtype="0" fill="hold" nodeType="withEffect">
                                  <p:stCondLst>
                                    <p:cond delay="0"/>
                                  </p:stCondLst>
                                  <p:childTnLst>
                                    <p:animEffect transition="out" filter="fade">
                                      <p:cBhvr>
                                        <p:cTn id="58" dur="500"/>
                                        <p:tgtEl>
                                          <p:spTgt spid="15"/>
                                        </p:tgtEl>
                                      </p:cBhvr>
                                    </p:animEffect>
                                    <p:set>
                                      <p:cBhvr>
                                        <p:cTn id="59" dur="1" fill="hold">
                                          <p:stCondLst>
                                            <p:cond delay="499"/>
                                          </p:stCondLst>
                                        </p:cTn>
                                        <p:tgtEl>
                                          <p:spTgt spid="15"/>
                                        </p:tgtEl>
                                        <p:attrNameLst>
                                          <p:attrName>style.visibility</p:attrName>
                                        </p:attrNameLst>
                                      </p:cBhvr>
                                      <p:to>
                                        <p:strVal val="hidden"/>
                                      </p:to>
                                    </p:se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404536" y="1637376"/>
            <a:ext cx="1227718"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000000"/>
                </a:solidFill>
              </a:rPr>
              <a:t>Feature</a:t>
            </a:r>
          </a:p>
        </p:txBody>
      </p:sp>
      <p:cxnSp>
        <p:nvCxnSpPr>
          <p:cNvPr id="44" name="Straight Connector 43"/>
          <p:cNvCxnSpPr>
            <a:cxnSpLocks noChangeShapeType="1"/>
          </p:cNvCxnSpPr>
          <p:nvPr/>
        </p:nvCxnSpPr>
        <p:spPr bwMode="auto">
          <a:xfrm flipV="1">
            <a:off x="1982788" y="4206875"/>
            <a:ext cx="1666875" cy="127635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6" name="Straight Connector 45"/>
          <p:cNvCxnSpPr>
            <a:cxnSpLocks noChangeShapeType="1"/>
          </p:cNvCxnSpPr>
          <p:nvPr/>
        </p:nvCxnSpPr>
        <p:spPr bwMode="auto">
          <a:xfrm>
            <a:off x="3860800" y="4075113"/>
            <a:ext cx="1322388" cy="839787"/>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8" name="Straight Connector 47"/>
          <p:cNvCxnSpPr>
            <a:cxnSpLocks noChangeShapeType="1"/>
          </p:cNvCxnSpPr>
          <p:nvPr/>
        </p:nvCxnSpPr>
        <p:spPr bwMode="auto">
          <a:xfrm flipV="1">
            <a:off x="3965575" y="5483225"/>
            <a:ext cx="1536700" cy="84455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0" name="Straight Connector 49"/>
          <p:cNvCxnSpPr>
            <a:cxnSpLocks noChangeShapeType="1"/>
          </p:cNvCxnSpPr>
          <p:nvPr/>
        </p:nvCxnSpPr>
        <p:spPr bwMode="auto">
          <a:xfrm>
            <a:off x="1350963" y="6026150"/>
            <a:ext cx="1674812" cy="301625"/>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2" name="Straight Connector 51"/>
          <p:cNvCxnSpPr>
            <a:cxnSpLocks noChangeShapeType="1"/>
          </p:cNvCxnSpPr>
          <p:nvPr/>
        </p:nvCxnSpPr>
        <p:spPr bwMode="auto">
          <a:xfrm flipV="1">
            <a:off x="5946775" y="4635500"/>
            <a:ext cx="1433513" cy="5667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67" name="Rounded Rectangle 66"/>
          <p:cNvSpPr/>
          <p:nvPr/>
        </p:nvSpPr>
        <p:spPr>
          <a:xfrm>
            <a:off x="4413251" y="1634179"/>
            <a:ext cx="1211822"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000000"/>
                </a:solidFill>
              </a:rPr>
              <a:t>Feature</a:t>
            </a:r>
          </a:p>
        </p:txBody>
      </p:sp>
      <p:cxnSp>
        <p:nvCxnSpPr>
          <p:cNvPr id="70" name="Straight Connector 69"/>
          <p:cNvCxnSpPr>
            <a:cxnSpLocks noChangeShapeType="1"/>
          </p:cNvCxnSpPr>
          <p:nvPr/>
        </p:nvCxnSpPr>
        <p:spPr bwMode="auto">
          <a:xfrm rot="16200000" flipH="1">
            <a:off x="-453231" y="4034632"/>
            <a:ext cx="2776537" cy="0"/>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1" name="Straight Connector 70"/>
          <p:cNvCxnSpPr>
            <a:cxnSpLocks noChangeShapeType="1"/>
          </p:cNvCxnSpPr>
          <p:nvPr/>
        </p:nvCxnSpPr>
        <p:spPr bwMode="auto">
          <a:xfrm rot="5400000">
            <a:off x="2836863" y="3140075"/>
            <a:ext cx="989012"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3" name="Straight Connector 72"/>
          <p:cNvCxnSpPr>
            <a:cxnSpLocks noChangeShapeType="1"/>
          </p:cNvCxnSpPr>
          <p:nvPr/>
        </p:nvCxnSpPr>
        <p:spPr bwMode="auto">
          <a:xfrm rot="5400000">
            <a:off x="4368800" y="3779838"/>
            <a:ext cx="2268537"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5" name="Straight Connector 74"/>
          <p:cNvCxnSpPr>
            <a:cxnSpLocks noChangeShapeType="1"/>
          </p:cNvCxnSpPr>
          <p:nvPr/>
        </p:nvCxnSpPr>
        <p:spPr bwMode="auto">
          <a:xfrm rot="5400000">
            <a:off x="6665912" y="3360738"/>
            <a:ext cx="1427163"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79" name="Rounded Rectangle 78"/>
          <p:cNvSpPr/>
          <p:nvPr/>
        </p:nvSpPr>
        <p:spPr>
          <a:xfrm>
            <a:off x="821267" y="2229446"/>
            <a:ext cx="6663266" cy="416311"/>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FFFFFF"/>
                </a:solidFill>
              </a:rPr>
              <a:t>Network OS</a:t>
            </a:r>
          </a:p>
        </p:txBody>
      </p:sp>
      <p:grpSp>
        <p:nvGrpSpPr>
          <p:cNvPr id="2" name="Group 119"/>
          <p:cNvGrpSpPr>
            <a:grpSpLocks/>
          </p:cNvGrpSpPr>
          <p:nvPr/>
        </p:nvGrpSpPr>
        <p:grpSpPr bwMode="auto">
          <a:xfrm>
            <a:off x="3649663" y="2647950"/>
            <a:ext cx="4521200" cy="987425"/>
            <a:chOff x="3650213" y="1672972"/>
            <a:chExt cx="4521413" cy="673471"/>
          </a:xfrm>
        </p:grpSpPr>
        <p:sp>
          <p:nvSpPr>
            <p:cNvPr id="101" name="Right Brace 100"/>
            <p:cNvSpPr>
              <a:spLocks/>
            </p:cNvSpPr>
            <p:nvPr/>
          </p:nvSpPr>
          <p:spPr bwMode="auto">
            <a:xfrm>
              <a:off x="3650213" y="1672972"/>
              <a:ext cx="219085" cy="673471"/>
            </a:xfrm>
            <a:prstGeom prst="rightBrace">
              <a:avLst>
                <a:gd name="adj1" fmla="val 31523"/>
                <a:gd name="adj2" fmla="val 50000"/>
              </a:avLst>
            </a:prstGeom>
            <a:noFill/>
            <a:ln w="25400">
              <a:solidFill>
                <a:schemeClr val="tx1"/>
              </a:solidFill>
              <a:round/>
              <a:headEnd/>
              <a:tailEnd/>
            </a:ln>
            <a:effectLst>
              <a:outerShdw blurRad="40000" dist="20000" dir="5400000" rotWithShape="0">
                <a:srgbClr val="808080">
                  <a:alpha val="68999"/>
                </a:srgbClr>
              </a:outerShdw>
            </a:effectLst>
            <a:extLst>
              <a:ext uri="{909E8E84-426E-40dd-AFC4-6F175D3DCCD1}">
                <a14:hiddenFill xmlns:a14="http://schemas.microsoft.com/office/drawing/2010/main" xmlns="">
                  <a:solidFill>
                    <a:srgbClr val="FFFFFF"/>
                  </a:solidFill>
                </a14:hiddenFill>
              </a:ext>
            </a:extLst>
          </p:spPr>
          <p:txBody>
            <a:bodyPr anchor="ctr"/>
            <a:lstStyle/>
            <a:p>
              <a:pPr algn="ctr">
                <a:defRPr/>
              </a:pPr>
              <a:endParaRPr lang="en-US">
                <a:solidFill>
                  <a:prstClr val="black"/>
                </a:solidFill>
                <a:ea typeface="MS PGothic" pitchFamily="34" charset="-128"/>
              </a:endParaRPr>
            </a:p>
          </p:txBody>
        </p:sp>
        <p:sp>
          <p:nvSpPr>
            <p:cNvPr id="38950" name="TextBox 101"/>
            <p:cNvSpPr txBox="1">
              <a:spLocks noChangeArrowheads="1"/>
            </p:cNvSpPr>
            <p:nvPr/>
          </p:nvSpPr>
          <p:spPr bwMode="auto">
            <a:xfrm>
              <a:off x="3861360" y="1810482"/>
              <a:ext cx="4310266" cy="252281"/>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800">
                  <a:solidFill>
                    <a:prstClr val="black"/>
                  </a:solidFill>
                  <a:latin typeface="Calibri" pitchFamily="34" charset="0"/>
                </a:rPr>
                <a:t>1. Open interface to packet forwarding</a:t>
              </a:r>
            </a:p>
          </p:txBody>
        </p:sp>
      </p:grpSp>
      <p:grpSp>
        <p:nvGrpSpPr>
          <p:cNvPr id="3" name="Group 121"/>
          <p:cNvGrpSpPr>
            <a:grpSpLocks/>
          </p:cNvGrpSpPr>
          <p:nvPr/>
        </p:nvGrpSpPr>
        <p:grpSpPr bwMode="auto">
          <a:xfrm>
            <a:off x="0" y="1066800"/>
            <a:ext cx="5791200" cy="1133475"/>
            <a:chOff x="594" y="103780"/>
            <a:chExt cx="5791153" cy="1132821"/>
          </a:xfrm>
        </p:grpSpPr>
        <p:cxnSp>
          <p:nvCxnSpPr>
            <p:cNvPr id="109" name="Straight Connector 108"/>
            <p:cNvCxnSpPr>
              <a:cxnSpLocks noChangeShapeType="1"/>
            </p:cNvCxnSpPr>
            <p:nvPr/>
          </p:nvCxnSpPr>
          <p:spPr bwMode="auto">
            <a:xfrm>
              <a:off x="2210376" y="1235013"/>
              <a:ext cx="3581371" cy="1588"/>
            </a:xfrm>
            <a:prstGeom prst="line">
              <a:avLst/>
            </a:prstGeom>
            <a:noFill/>
            <a:ln w="25400">
              <a:solidFill>
                <a:srgbClr val="000000"/>
              </a:solidFill>
              <a:prstDash val="sysDash"/>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29740" name="TextBox 109"/>
            <p:cNvSpPr txBox="1">
              <a:spLocks noChangeArrowheads="1"/>
            </p:cNvSpPr>
            <p:nvPr/>
          </p:nvSpPr>
          <p:spPr bwMode="auto">
            <a:xfrm>
              <a:off x="594" y="103780"/>
              <a:ext cx="4448139" cy="369675"/>
            </a:xfrm>
            <a:prstGeom prst="rect">
              <a:avLst/>
            </a:prstGeom>
            <a:noFill/>
            <a:ln w="9525">
              <a:noFill/>
              <a:miter lim="800000"/>
              <a:headEnd/>
              <a:tailEnd/>
            </a:ln>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800">
                  <a:solidFill>
                    <a:prstClr val="black"/>
                  </a:solidFill>
                  <a:latin typeface="Calibri" pitchFamily="34" charset="0"/>
                </a:rPr>
                <a:t>3. Consistent, up-to-date global network view</a:t>
              </a:r>
            </a:p>
          </p:txBody>
        </p:sp>
        <p:cxnSp>
          <p:nvCxnSpPr>
            <p:cNvPr id="113" name="Straight Connector 112"/>
            <p:cNvCxnSpPr>
              <a:cxnSpLocks noChangeShapeType="1"/>
            </p:cNvCxnSpPr>
            <p:nvPr/>
          </p:nvCxnSpPr>
          <p:spPr bwMode="auto">
            <a:xfrm rot="16200000" flipV="1">
              <a:off x="1606652" y="631284"/>
              <a:ext cx="826461" cy="381000"/>
            </a:xfrm>
            <a:prstGeom prst="line">
              <a:avLst/>
            </a:prstGeom>
            <a:noFill/>
            <a:ln w="25400">
              <a:solidFill>
                <a:srgbClr val="000000"/>
              </a:solidFill>
              <a:prstDash val="sysDash"/>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grpSp>
        <p:nvGrpSpPr>
          <p:cNvPr id="4" name="Group 120"/>
          <p:cNvGrpSpPr>
            <a:grpSpLocks/>
          </p:cNvGrpSpPr>
          <p:nvPr/>
        </p:nvGrpSpPr>
        <p:grpSpPr bwMode="auto">
          <a:xfrm>
            <a:off x="5667375" y="1011238"/>
            <a:ext cx="3798888" cy="1425575"/>
            <a:chOff x="5957958" y="-1051208"/>
            <a:chExt cx="3468744" cy="1424229"/>
          </a:xfrm>
        </p:grpSpPr>
        <p:sp>
          <p:nvSpPr>
            <p:cNvPr id="29737" name="TextBox 103"/>
            <p:cNvSpPr txBox="1">
              <a:spLocks noChangeArrowheads="1"/>
            </p:cNvSpPr>
            <p:nvPr/>
          </p:nvSpPr>
          <p:spPr bwMode="auto">
            <a:xfrm>
              <a:off x="5957958" y="-1051208"/>
              <a:ext cx="3468744" cy="921466"/>
            </a:xfrm>
            <a:prstGeom prst="rect">
              <a:avLst/>
            </a:prstGeom>
            <a:noFill/>
            <a:ln w="9525">
              <a:noFill/>
              <a:miter lim="800000"/>
              <a:headEnd/>
              <a:tailEnd/>
            </a:ln>
          </p:spPr>
          <p:txBody>
            <a:bodyPr>
              <a:spAutoFit/>
            </a:bodyPr>
            <a:lstStyle/>
            <a:p>
              <a:pPr algn="ctr" fontAlgn="base">
                <a:spcBef>
                  <a:spcPct val="0"/>
                </a:spcBef>
                <a:spcAft>
                  <a:spcPct val="0"/>
                </a:spcAft>
                <a:defRPr/>
              </a:pPr>
              <a:r>
                <a:rPr lang="en-US" dirty="0">
                  <a:solidFill>
                    <a:prstClr val="black"/>
                  </a:solidFill>
                  <a:ea typeface="MS PGothic" pitchFamily="34" charset="-128"/>
                </a:rPr>
                <a:t>2. At least one Network OS</a:t>
              </a:r>
              <a:br>
                <a:rPr lang="en-US" dirty="0">
                  <a:solidFill>
                    <a:prstClr val="black"/>
                  </a:solidFill>
                  <a:ea typeface="MS PGothic" pitchFamily="34" charset="-128"/>
                </a:rPr>
              </a:br>
              <a:r>
                <a:rPr lang="en-US" dirty="0">
                  <a:solidFill>
                    <a:prstClr val="black"/>
                  </a:solidFill>
                  <a:ea typeface="MS PGothic" pitchFamily="34" charset="-128"/>
                </a:rPr>
                <a:t>probably many.</a:t>
              </a:r>
              <a:br>
                <a:rPr lang="en-US" dirty="0">
                  <a:solidFill>
                    <a:prstClr val="black"/>
                  </a:solidFill>
                  <a:ea typeface="MS PGothic" pitchFamily="34" charset="-128"/>
                </a:rPr>
              </a:br>
              <a:r>
                <a:rPr lang="en-US" dirty="0">
                  <a:solidFill>
                    <a:prstClr val="black"/>
                  </a:solidFill>
                  <a:ea typeface="MS PGothic" pitchFamily="34" charset="-128"/>
                </a:rPr>
                <a:t>Open- and closed-source</a:t>
              </a:r>
            </a:p>
          </p:txBody>
        </p:sp>
        <p:cxnSp>
          <p:nvCxnSpPr>
            <p:cNvPr id="119" name="Straight Arrow Connector 118"/>
            <p:cNvCxnSpPr>
              <a:cxnSpLocks noChangeShapeType="1"/>
            </p:cNvCxnSpPr>
            <p:nvPr/>
          </p:nvCxnSpPr>
          <p:spPr bwMode="auto">
            <a:xfrm rot="10800000" flipV="1">
              <a:off x="6549369" y="-129742"/>
              <a:ext cx="792898" cy="502763"/>
            </a:xfrm>
            <a:prstGeom prst="straightConnector1">
              <a:avLst/>
            </a:prstGeom>
            <a:noFill/>
            <a:ln w="25400">
              <a:solidFill>
                <a:srgbClr val="00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grpSp>
      <p:sp>
        <p:nvSpPr>
          <p:cNvPr id="38935" name="Title 31"/>
          <p:cNvSpPr>
            <a:spLocks noGrp="1"/>
          </p:cNvSpPr>
          <p:nvPr>
            <p:ph type="title"/>
          </p:nvPr>
        </p:nvSpPr>
        <p:spPr>
          <a:xfrm>
            <a:off x="457200" y="152400"/>
            <a:ext cx="8229600" cy="1143000"/>
          </a:xfrm>
        </p:spPr>
        <p:txBody>
          <a:bodyPr/>
          <a:lstStyle/>
          <a:p>
            <a:pPr eaLnBrk="1" hangingPunct="1"/>
            <a:r>
              <a:rPr lang="en-US" sz="4000"/>
              <a:t>Software Defined Network (SDN)</a:t>
            </a:r>
          </a:p>
        </p:txBody>
      </p:sp>
      <p:sp>
        <p:nvSpPr>
          <p:cNvPr id="34" name="AutoShape 7"/>
          <p:cNvSpPr>
            <a:spLocks noChangeArrowheads="1"/>
          </p:cNvSpPr>
          <p:nvPr/>
        </p:nvSpPr>
        <p:spPr bwMode="auto">
          <a:xfrm>
            <a:off x="611188" y="526415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5" name="AutoShape 7"/>
          <p:cNvSpPr>
            <a:spLocks noChangeArrowheads="1"/>
          </p:cNvSpPr>
          <p:nvPr/>
        </p:nvSpPr>
        <p:spPr bwMode="auto">
          <a:xfrm>
            <a:off x="2800350" y="5837238"/>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6" name="AutoShape 7"/>
          <p:cNvSpPr>
            <a:spLocks noChangeArrowheads="1"/>
          </p:cNvSpPr>
          <p:nvPr/>
        </p:nvSpPr>
        <p:spPr bwMode="auto">
          <a:xfrm>
            <a:off x="2646363" y="3635375"/>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7" name="AutoShape 7"/>
          <p:cNvSpPr>
            <a:spLocks noChangeArrowheads="1"/>
          </p:cNvSpPr>
          <p:nvPr/>
        </p:nvSpPr>
        <p:spPr bwMode="auto">
          <a:xfrm>
            <a:off x="4818063" y="488315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8" name="AutoShape 7"/>
          <p:cNvSpPr>
            <a:spLocks noChangeArrowheads="1"/>
          </p:cNvSpPr>
          <p:nvPr/>
        </p:nvSpPr>
        <p:spPr bwMode="auto">
          <a:xfrm>
            <a:off x="6799263" y="4016375"/>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grpSp>
        <p:nvGrpSpPr>
          <p:cNvPr id="6" name="Group 39"/>
          <p:cNvGrpSpPr>
            <a:grpSpLocks/>
          </p:cNvGrpSpPr>
          <p:nvPr/>
        </p:nvGrpSpPr>
        <p:grpSpPr bwMode="auto">
          <a:xfrm>
            <a:off x="4572000" y="3124200"/>
            <a:ext cx="1844675" cy="739775"/>
            <a:chOff x="4809596" y="3324225"/>
            <a:chExt cx="1432560" cy="592669"/>
          </a:xfrm>
        </p:grpSpPr>
        <p:sp>
          <p:nvSpPr>
            <p:cNvPr id="39" name="Rectangle 38"/>
            <p:cNvSpPr/>
            <p:nvPr/>
          </p:nvSpPr>
          <p:spPr>
            <a:xfrm>
              <a:off x="5443276" y="3384001"/>
              <a:ext cx="118353" cy="53289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pic>
          <p:nvPicPr>
            <p:cNvPr id="38943" name="Picture 31" descr="OpenFlow-Logo-Medium.tif"/>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9596" y="3324225"/>
              <a:ext cx="143256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7" name="Slide Number Placeholder 6"/>
          <p:cNvSpPr>
            <a:spLocks noGrp="1"/>
          </p:cNvSpPr>
          <p:nvPr>
            <p:ph type="sldNum" sz="quarter" idx="12"/>
          </p:nvPr>
        </p:nvSpPr>
        <p:spPr/>
        <p:txBody>
          <a:bodyPr/>
          <a:lstStyle/>
          <a:p>
            <a:fld id="{04529084-4064-4451-BE5E-7031AAB6E503}" type="slidenum">
              <a:rPr lang="en-US" smtClean="0"/>
              <a:pPr/>
              <a:t>7</a:t>
            </a:fld>
            <a:endParaRPr lang="en-US"/>
          </a:p>
        </p:txBody>
      </p:sp>
    </p:spTree>
    <p:extLst>
      <p:ext uri="{BB962C8B-B14F-4D97-AF65-F5344CB8AC3E}">
        <p14:creationId xmlns:p14="http://schemas.microsoft.com/office/powerpoint/2010/main" val="1725288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Network OS</a:t>
            </a:r>
          </a:p>
        </p:txBody>
      </p:sp>
      <p:sp>
        <p:nvSpPr>
          <p:cNvPr id="3" name="Content Placeholder 2"/>
          <p:cNvSpPr>
            <a:spLocks noGrp="1"/>
          </p:cNvSpPr>
          <p:nvPr>
            <p:ph idx="1"/>
          </p:nvPr>
        </p:nvSpPr>
        <p:spPr>
          <a:xfrm>
            <a:off x="457200" y="1493838"/>
            <a:ext cx="8229600" cy="4525962"/>
          </a:xfrm>
        </p:spPr>
        <p:txBody>
          <a:bodyPr/>
          <a:lstStyle/>
          <a:p>
            <a:pPr>
              <a:buFont typeface="Arial" pitchFamily="34" charset="0"/>
              <a:buNone/>
            </a:pPr>
            <a:r>
              <a:rPr lang="en-US" b="1" dirty="0"/>
              <a:t>Network OS:</a:t>
            </a:r>
            <a:r>
              <a:rPr lang="en-US" dirty="0"/>
              <a:t> distributed system that creates a consistent, up-to-date network view</a:t>
            </a:r>
          </a:p>
          <a:p>
            <a:pPr lvl="1"/>
            <a:r>
              <a:rPr lang="en-US" dirty="0"/>
              <a:t>Runs on servers (controllers) in the network</a:t>
            </a:r>
          </a:p>
          <a:p>
            <a:pPr lvl="1"/>
            <a:r>
              <a:rPr lang="en-US" dirty="0"/>
              <a:t>NOX, ONIX, Trema, Beacon, Maestro, ONOS,… + more</a:t>
            </a:r>
          </a:p>
          <a:p>
            <a:pPr>
              <a:buFont typeface="Arial" pitchFamily="34" charset="0"/>
              <a:buNone/>
            </a:pPr>
            <a:endParaRPr lang="en-US" dirty="0"/>
          </a:p>
          <a:p>
            <a:pPr>
              <a:buFont typeface="Arial" pitchFamily="34" charset="0"/>
              <a:buNone/>
            </a:pPr>
            <a:r>
              <a:rPr lang="en-US" dirty="0"/>
              <a:t>Uses forwarding abstraction to:</a:t>
            </a:r>
          </a:p>
          <a:p>
            <a:pPr lvl="1"/>
            <a:r>
              <a:rPr lang="en-US" dirty="0"/>
              <a:t>Get state information </a:t>
            </a:r>
            <a:r>
              <a:rPr lang="en-US" b="1" dirty="0"/>
              <a:t>from</a:t>
            </a:r>
            <a:r>
              <a:rPr lang="en-US" dirty="0"/>
              <a:t> forwarding elements</a:t>
            </a:r>
          </a:p>
          <a:p>
            <a:pPr lvl="1"/>
            <a:r>
              <a:rPr lang="en-US" dirty="0"/>
              <a:t>Give control directives </a:t>
            </a:r>
            <a:r>
              <a:rPr lang="en-US" b="1" dirty="0"/>
              <a:t>to</a:t>
            </a:r>
            <a:r>
              <a:rPr lang="en-US" dirty="0"/>
              <a:t> forwarding elements</a:t>
            </a:r>
          </a:p>
          <a:p>
            <a:pPr lvl="1">
              <a:buFont typeface="Arial" pitchFamily="34" charset="0"/>
              <a:buNone/>
            </a:pPr>
            <a:endParaRPr lang="en-US" dirty="0"/>
          </a:p>
        </p:txBody>
      </p:sp>
      <p:sp>
        <p:nvSpPr>
          <p:cNvPr id="2" name="Slide Number Placeholder 1"/>
          <p:cNvSpPr>
            <a:spLocks noGrp="1"/>
          </p:cNvSpPr>
          <p:nvPr>
            <p:ph type="sldNum" sz="quarter" idx="12"/>
          </p:nvPr>
        </p:nvSpPr>
        <p:spPr/>
        <p:txBody>
          <a:bodyPr/>
          <a:lstStyle/>
          <a:p>
            <a:fld id="{D4DFB6AE-E188-4FF4-9BAA-A3F1C15670F2}" type="slidenum">
              <a:rPr lang="en-US" smtClean="0"/>
              <a:pPr/>
              <a:t>8</a:t>
            </a:fld>
            <a:endParaRPr lang="en-US"/>
          </a:p>
        </p:txBody>
      </p:sp>
    </p:spTree>
    <p:extLst>
      <p:ext uri="{BB962C8B-B14F-4D97-AF65-F5344CB8AC3E}">
        <p14:creationId xmlns:p14="http://schemas.microsoft.com/office/powerpoint/2010/main" val="41518926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447800" y="1637376"/>
            <a:ext cx="2667000"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dirty="0">
                <a:solidFill>
                  <a:srgbClr val="000000"/>
                </a:solidFill>
                <a:latin typeface="Calibri" pitchFamily="34" charset="0"/>
              </a:rPr>
              <a:t>Control Program A</a:t>
            </a:r>
          </a:p>
        </p:txBody>
      </p:sp>
      <p:cxnSp>
        <p:nvCxnSpPr>
          <p:cNvPr id="44" name="Straight Connector 43"/>
          <p:cNvCxnSpPr>
            <a:cxnSpLocks noChangeShapeType="1"/>
          </p:cNvCxnSpPr>
          <p:nvPr/>
        </p:nvCxnSpPr>
        <p:spPr bwMode="auto">
          <a:xfrm flipV="1">
            <a:off x="1982788" y="4206875"/>
            <a:ext cx="1666875" cy="127635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6" name="Straight Connector 45"/>
          <p:cNvCxnSpPr>
            <a:cxnSpLocks noChangeShapeType="1"/>
          </p:cNvCxnSpPr>
          <p:nvPr/>
        </p:nvCxnSpPr>
        <p:spPr bwMode="auto">
          <a:xfrm>
            <a:off x="3860800" y="4075113"/>
            <a:ext cx="1322388" cy="839787"/>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8" name="Straight Connector 47"/>
          <p:cNvCxnSpPr>
            <a:cxnSpLocks noChangeShapeType="1"/>
          </p:cNvCxnSpPr>
          <p:nvPr/>
        </p:nvCxnSpPr>
        <p:spPr bwMode="auto">
          <a:xfrm flipV="1">
            <a:off x="3965575" y="5483225"/>
            <a:ext cx="1536700" cy="84455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0" name="Straight Connector 49"/>
          <p:cNvCxnSpPr>
            <a:cxnSpLocks noChangeShapeType="1"/>
          </p:cNvCxnSpPr>
          <p:nvPr/>
        </p:nvCxnSpPr>
        <p:spPr bwMode="auto">
          <a:xfrm>
            <a:off x="1350963" y="6026150"/>
            <a:ext cx="1674812" cy="301625"/>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52" name="Straight Connector 51"/>
          <p:cNvCxnSpPr>
            <a:cxnSpLocks noChangeShapeType="1"/>
          </p:cNvCxnSpPr>
          <p:nvPr/>
        </p:nvCxnSpPr>
        <p:spPr bwMode="auto">
          <a:xfrm flipV="1">
            <a:off x="5946775" y="4635500"/>
            <a:ext cx="1433513" cy="5667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67" name="Rounded Rectangle 66"/>
          <p:cNvSpPr/>
          <p:nvPr/>
        </p:nvSpPr>
        <p:spPr>
          <a:xfrm>
            <a:off x="4184651" y="1634179"/>
            <a:ext cx="2520950"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a:solidFill>
                  <a:srgbClr val="000000"/>
                </a:solidFill>
                <a:latin typeface="Calibri" pitchFamily="34" charset="0"/>
              </a:rPr>
              <a:t>Control Program B</a:t>
            </a:r>
          </a:p>
        </p:txBody>
      </p:sp>
      <p:cxnSp>
        <p:nvCxnSpPr>
          <p:cNvPr id="70" name="Straight Connector 69"/>
          <p:cNvCxnSpPr>
            <a:cxnSpLocks noChangeShapeType="1"/>
          </p:cNvCxnSpPr>
          <p:nvPr/>
        </p:nvCxnSpPr>
        <p:spPr bwMode="auto">
          <a:xfrm rot="16200000" flipH="1">
            <a:off x="-453231" y="4034632"/>
            <a:ext cx="2776537" cy="0"/>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1" name="Straight Connector 70"/>
          <p:cNvCxnSpPr>
            <a:cxnSpLocks noChangeShapeType="1"/>
          </p:cNvCxnSpPr>
          <p:nvPr/>
        </p:nvCxnSpPr>
        <p:spPr bwMode="auto">
          <a:xfrm rot="5400000">
            <a:off x="2836863" y="3140075"/>
            <a:ext cx="989012"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3" name="Straight Connector 72"/>
          <p:cNvCxnSpPr>
            <a:cxnSpLocks noChangeShapeType="1"/>
          </p:cNvCxnSpPr>
          <p:nvPr/>
        </p:nvCxnSpPr>
        <p:spPr bwMode="auto">
          <a:xfrm rot="5400000">
            <a:off x="4368800" y="3779838"/>
            <a:ext cx="2268537"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5" name="Straight Connector 74"/>
          <p:cNvCxnSpPr>
            <a:cxnSpLocks noChangeShapeType="1"/>
          </p:cNvCxnSpPr>
          <p:nvPr/>
        </p:nvCxnSpPr>
        <p:spPr bwMode="auto">
          <a:xfrm rot="5400000">
            <a:off x="6665912" y="3360738"/>
            <a:ext cx="1427163"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79" name="Rounded Rectangle 78"/>
          <p:cNvSpPr/>
          <p:nvPr/>
        </p:nvSpPr>
        <p:spPr>
          <a:xfrm>
            <a:off x="821267" y="2229446"/>
            <a:ext cx="6663266" cy="81855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400" dirty="0">
                <a:solidFill>
                  <a:srgbClr val="FFFFFF"/>
                </a:solidFill>
              </a:rPr>
              <a:t>Network OS</a:t>
            </a:r>
          </a:p>
        </p:txBody>
      </p:sp>
      <p:sp>
        <p:nvSpPr>
          <p:cNvPr id="42004" name="Title 31"/>
          <p:cNvSpPr>
            <a:spLocks noGrp="1"/>
          </p:cNvSpPr>
          <p:nvPr>
            <p:ph type="title"/>
          </p:nvPr>
        </p:nvSpPr>
        <p:spPr>
          <a:xfrm>
            <a:off x="457200" y="152400"/>
            <a:ext cx="8229600" cy="1143000"/>
          </a:xfrm>
        </p:spPr>
        <p:txBody>
          <a:bodyPr/>
          <a:lstStyle/>
          <a:p>
            <a:pPr eaLnBrk="1" hangingPunct="1"/>
            <a:r>
              <a:rPr lang="en-US" sz="4000"/>
              <a:t>Software Defined Network (SDN)</a:t>
            </a:r>
          </a:p>
        </p:txBody>
      </p:sp>
      <p:sp>
        <p:nvSpPr>
          <p:cNvPr id="34" name="AutoShape 7"/>
          <p:cNvSpPr>
            <a:spLocks noChangeArrowheads="1"/>
          </p:cNvSpPr>
          <p:nvPr/>
        </p:nvSpPr>
        <p:spPr bwMode="auto">
          <a:xfrm>
            <a:off x="611188" y="526415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5" name="AutoShape 7"/>
          <p:cNvSpPr>
            <a:spLocks noChangeArrowheads="1"/>
          </p:cNvSpPr>
          <p:nvPr/>
        </p:nvSpPr>
        <p:spPr bwMode="auto">
          <a:xfrm>
            <a:off x="2800350" y="5837238"/>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6" name="AutoShape 7"/>
          <p:cNvSpPr>
            <a:spLocks noChangeArrowheads="1"/>
          </p:cNvSpPr>
          <p:nvPr/>
        </p:nvSpPr>
        <p:spPr bwMode="auto">
          <a:xfrm>
            <a:off x="2646363" y="3635375"/>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7" name="AutoShape 7"/>
          <p:cNvSpPr>
            <a:spLocks noChangeArrowheads="1"/>
          </p:cNvSpPr>
          <p:nvPr/>
        </p:nvSpPr>
        <p:spPr bwMode="auto">
          <a:xfrm>
            <a:off x="4818063" y="488315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8" name="AutoShape 7"/>
          <p:cNvSpPr>
            <a:spLocks noChangeArrowheads="1"/>
          </p:cNvSpPr>
          <p:nvPr/>
        </p:nvSpPr>
        <p:spPr bwMode="auto">
          <a:xfrm>
            <a:off x="6799263" y="4016375"/>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grpSp>
        <p:nvGrpSpPr>
          <p:cNvPr id="2" name="Group 64"/>
          <p:cNvGrpSpPr/>
          <p:nvPr/>
        </p:nvGrpSpPr>
        <p:grpSpPr>
          <a:xfrm>
            <a:off x="5257800" y="2286000"/>
            <a:ext cx="838200" cy="609600"/>
            <a:chOff x="7848600" y="1752600"/>
            <a:chExt cx="1143000" cy="838200"/>
          </a:xfrm>
          <a:solidFill>
            <a:schemeClr val="bg1"/>
          </a:solidFill>
        </p:grpSpPr>
        <p:sp>
          <p:nvSpPr>
            <p:cNvPr id="33" name="Oval 32"/>
            <p:cNvSpPr/>
            <p:nvPr/>
          </p:nvSpPr>
          <p:spPr>
            <a:xfrm>
              <a:off x="8001000" y="1981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0" name="Oval 39"/>
            <p:cNvSpPr/>
            <p:nvPr/>
          </p:nvSpPr>
          <p:spPr>
            <a:xfrm>
              <a:off x="8382000" y="17526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1" name="Oval 40"/>
            <p:cNvSpPr/>
            <p:nvPr/>
          </p:nvSpPr>
          <p:spPr>
            <a:xfrm>
              <a:off x="83820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2" name="Oval 41"/>
            <p:cNvSpPr/>
            <p:nvPr/>
          </p:nvSpPr>
          <p:spPr>
            <a:xfrm>
              <a:off x="8763000" y="20574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3" name="Oval 42"/>
            <p:cNvSpPr/>
            <p:nvPr/>
          </p:nvSpPr>
          <p:spPr>
            <a:xfrm>
              <a:off x="78486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47" name="Straight Connector 46"/>
            <p:cNvCxnSpPr>
              <a:stCxn id="33" idx="7"/>
              <a:endCxn id="40" idx="3"/>
            </p:cNvCxnSpPr>
            <p:nvPr/>
          </p:nvCxnSpPr>
          <p:spPr>
            <a:xfrm rot="5400000" flipH="1" flipV="1">
              <a:off x="8272322" y="1871522"/>
              <a:ext cx="66956" cy="2193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3" idx="0"/>
              <a:endCxn id="33" idx="3"/>
            </p:cNvCxnSpPr>
            <p:nvPr/>
          </p:nvCxnSpPr>
          <p:spPr>
            <a:xfrm rot="5400000" flipH="1" flipV="1">
              <a:off x="7905750" y="2233472"/>
              <a:ext cx="185878" cy="71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3" idx="7"/>
              <a:endCxn id="40" idx="4"/>
            </p:cNvCxnSpPr>
            <p:nvPr/>
          </p:nvCxnSpPr>
          <p:spPr>
            <a:xfrm rot="5400000" flipH="1" flipV="1">
              <a:off x="8062772" y="1962150"/>
              <a:ext cx="414478" cy="452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3" idx="5"/>
              <a:endCxn id="41" idx="3"/>
            </p:cNvCxnSpPr>
            <p:nvPr/>
          </p:nvCxnSpPr>
          <p:spPr>
            <a:xfrm rot="16200000" flipH="1">
              <a:off x="8229600" y="2371444"/>
              <a:ext cx="1588" cy="3717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40" idx="4"/>
              <a:endCxn id="42" idx="1"/>
            </p:cNvCxnSpPr>
            <p:nvPr/>
          </p:nvCxnSpPr>
          <p:spPr>
            <a:xfrm rot="16200000" flipH="1">
              <a:off x="8591550" y="1885950"/>
              <a:ext cx="109678" cy="3001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1" idx="6"/>
              <a:endCxn id="42" idx="3"/>
            </p:cNvCxnSpPr>
            <p:nvPr/>
          </p:nvCxnSpPr>
          <p:spPr>
            <a:xfrm flipV="1">
              <a:off x="8610600" y="2252522"/>
              <a:ext cx="185878" cy="2239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04529084-4064-4451-BE5E-7031AAB6E503}" type="slidenum">
              <a:rPr lang="en-US" smtClean="0"/>
              <a:pPr/>
              <a:t>9</a:t>
            </a:fld>
            <a:endParaRPr lang="en-US"/>
          </a:p>
        </p:txBody>
      </p:sp>
    </p:spTree>
    <p:extLst>
      <p:ext uri="{BB962C8B-B14F-4D97-AF65-F5344CB8AC3E}">
        <p14:creationId xmlns:p14="http://schemas.microsoft.com/office/powerpoint/2010/main" val="1503914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Control Program</a:t>
            </a:r>
          </a:p>
        </p:txBody>
      </p:sp>
      <p:sp>
        <p:nvSpPr>
          <p:cNvPr id="3" name="Content Placeholder 2"/>
          <p:cNvSpPr>
            <a:spLocks noGrp="1"/>
          </p:cNvSpPr>
          <p:nvPr>
            <p:ph idx="1"/>
          </p:nvPr>
        </p:nvSpPr>
        <p:spPr/>
        <p:txBody>
          <a:bodyPr/>
          <a:lstStyle/>
          <a:p>
            <a:pPr>
              <a:buFont typeface="Arial" pitchFamily="34" charset="0"/>
              <a:buNone/>
            </a:pPr>
            <a:r>
              <a:rPr lang="en-US"/>
              <a:t>Control program operates on view of network</a:t>
            </a:r>
          </a:p>
          <a:p>
            <a:pPr lvl="1"/>
            <a:r>
              <a:rPr lang="en-US" b="1"/>
              <a:t>Input</a:t>
            </a:r>
            <a:r>
              <a:rPr lang="en-US"/>
              <a:t>: global network view (graph/database)</a:t>
            </a:r>
          </a:p>
          <a:p>
            <a:pPr lvl="1"/>
            <a:r>
              <a:rPr lang="en-US" b="1"/>
              <a:t>Output</a:t>
            </a:r>
            <a:r>
              <a:rPr lang="en-US"/>
              <a:t>: configuration of each network device</a:t>
            </a:r>
          </a:p>
          <a:p>
            <a:pPr lvl="1"/>
            <a:endParaRPr lang="en-US"/>
          </a:p>
          <a:p>
            <a:pPr>
              <a:buFont typeface="Arial" pitchFamily="34" charset="0"/>
              <a:buNone/>
            </a:pPr>
            <a:r>
              <a:rPr lang="en-US"/>
              <a:t>Control program is not a distributed system</a:t>
            </a:r>
          </a:p>
          <a:p>
            <a:pPr lvl="1"/>
            <a:r>
              <a:rPr lang="en-US"/>
              <a:t>Abstraction hides details of distributed state</a:t>
            </a:r>
          </a:p>
          <a:p>
            <a:pPr lvl="1">
              <a:buFont typeface="Arial" pitchFamily="34" charset="0"/>
              <a:buNone/>
            </a:pPr>
            <a:endParaRPr lang="en-US"/>
          </a:p>
        </p:txBody>
      </p:sp>
      <p:sp>
        <p:nvSpPr>
          <p:cNvPr id="2" name="Slide Number Placeholder 1"/>
          <p:cNvSpPr>
            <a:spLocks noGrp="1"/>
          </p:cNvSpPr>
          <p:nvPr>
            <p:ph type="sldNum" sz="quarter" idx="12"/>
          </p:nvPr>
        </p:nvSpPr>
        <p:spPr/>
        <p:txBody>
          <a:bodyPr/>
          <a:lstStyle/>
          <a:p>
            <a:fld id="{D4DFB6AE-E188-4FF4-9BAA-A3F1C15670F2}" type="slidenum">
              <a:rPr lang="en-US" smtClean="0"/>
              <a:pPr/>
              <a:t>10</a:t>
            </a:fld>
            <a:endParaRPr lang="en-US"/>
          </a:p>
        </p:txBody>
      </p:sp>
    </p:spTree>
    <p:extLst>
      <p:ext uri="{BB962C8B-B14F-4D97-AF65-F5344CB8AC3E}">
        <p14:creationId xmlns:p14="http://schemas.microsoft.com/office/powerpoint/2010/main" val="36561136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Forwarding Abstraction</a:t>
            </a:r>
          </a:p>
        </p:txBody>
      </p:sp>
      <p:sp>
        <p:nvSpPr>
          <p:cNvPr id="3" name="Content Placeholder 2"/>
          <p:cNvSpPr>
            <a:spLocks noGrp="1"/>
          </p:cNvSpPr>
          <p:nvPr>
            <p:ph idx="1"/>
          </p:nvPr>
        </p:nvSpPr>
        <p:spPr/>
        <p:txBody>
          <a:bodyPr/>
          <a:lstStyle/>
          <a:p>
            <a:pPr>
              <a:buFont typeface="Arial" pitchFamily="34" charset="0"/>
              <a:buNone/>
            </a:pPr>
            <a:r>
              <a:rPr lang="en-US"/>
              <a:t>Purpose: Abstract away forwarding hardware</a:t>
            </a:r>
          </a:p>
          <a:p>
            <a:pPr>
              <a:buFont typeface="Arial" pitchFamily="34" charset="0"/>
              <a:buNone/>
            </a:pPr>
            <a:r>
              <a:rPr lang="en-US"/>
              <a:t>Flexible</a:t>
            </a:r>
          </a:p>
          <a:p>
            <a:pPr lvl="1"/>
            <a:r>
              <a:rPr lang="en-US"/>
              <a:t>Behavior specified by control plane</a:t>
            </a:r>
          </a:p>
          <a:p>
            <a:pPr lvl="1"/>
            <a:r>
              <a:rPr lang="en-US"/>
              <a:t>Built from basic set of forwarding primitives</a:t>
            </a:r>
          </a:p>
          <a:p>
            <a:pPr>
              <a:buFont typeface="Arial" pitchFamily="34" charset="0"/>
              <a:buNone/>
            </a:pPr>
            <a:r>
              <a:rPr lang="en-US"/>
              <a:t>Minimal</a:t>
            </a:r>
          </a:p>
          <a:p>
            <a:pPr lvl="1"/>
            <a:r>
              <a:rPr lang="en-US"/>
              <a:t>Streamlined for speed and low-power</a:t>
            </a:r>
          </a:p>
          <a:p>
            <a:pPr lvl="1"/>
            <a:r>
              <a:rPr lang="en-US"/>
              <a:t>Control program not vendor-specific</a:t>
            </a:r>
          </a:p>
          <a:p>
            <a:pPr lvl="1"/>
            <a:endParaRPr lang="en-US"/>
          </a:p>
          <a:p>
            <a:pPr>
              <a:buFont typeface="Arial" pitchFamily="34" charset="0"/>
              <a:buNone/>
            </a:pPr>
            <a:r>
              <a:rPr lang="en-US"/>
              <a:t>OpenFlow is an example of such an abstraction</a:t>
            </a:r>
          </a:p>
          <a:p>
            <a:pPr lvl="1"/>
            <a:endParaRPr lang="en-US"/>
          </a:p>
        </p:txBody>
      </p:sp>
      <p:sp>
        <p:nvSpPr>
          <p:cNvPr id="2" name="Slide Number Placeholder 1"/>
          <p:cNvSpPr>
            <a:spLocks noGrp="1"/>
          </p:cNvSpPr>
          <p:nvPr>
            <p:ph type="sldNum" sz="quarter" idx="12"/>
          </p:nvPr>
        </p:nvSpPr>
        <p:spPr/>
        <p:txBody>
          <a:bodyPr/>
          <a:lstStyle/>
          <a:p>
            <a:fld id="{D4DFB6AE-E188-4FF4-9BAA-A3F1C15670F2}" type="slidenum">
              <a:rPr lang="en-US" smtClean="0"/>
              <a:pPr/>
              <a:t>11</a:t>
            </a:fld>
            <a:endParaRPr lang="en-US"/>
          </a:p>
        </p:txBody>
      </p:sp>
    </p:spTree>
    <p:extLst>
      <p:ext uri="{BB962C8B-B14F-4D97-AF65-F5344CB8AC3E}">
        <p14:creationId xmlns:p14="http://schemas.microsoft.com/office/powerpoint/2010/main" val="5696142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pPr algn="ctr"/>
            <a:r>
              <a:rPr lang="de-DE" dirty="0"/>
              <a:t>Software </a:t>
            </a:r>
            <a:r>
              <a:rPr lang="de-DE" dirty="0" err="1"/>
              <a:t>Defined</a:t>
            </a:r>
            <a:r>
              <a:rPr lang="de-DE" dirty="0"/>
              <a:t> Networking</a:t>
            </a:r>
          </a:p>
        </p:txBody>
      </p:sp>
      <p:pic>
        <p:nvPicPr>
          <p:cNvPr id="78850" name="Picture 2"/>
          <p:cNvPicPr>
            <a:picLocks noChangeAspect="1" noChangeArrowheads="1"/>
          </p:cNvPicPr>
          <p:nvPr/>
        </p:nvPicPr>
        <p:blipFill>
          <a:blip r:embed="rId2" cstate="print"/>
          <a:srcRect/>
          <a:stretch>
            <a:fillRect/>
          </a:stretch>
        </p:blipFill>
        <p:spPr bwMode="auto">
          <a:xfrm>
            <a:off x="549851" y="1587642"/>
            <a:ext cx="7905750" cy="4791075"/>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4510AD55-118C-453F-AEC9-3256547505F1}" type="slidenum">
              <a:rPr lang="en-US" smtClean="0"/>
              <a:t>12</a:t>
            </a:fld>
            <a:endParaRPr lang="en-US"/>
          </a:p>
        </p:txBody>
      </p:sp>
    </p:spTree>
    <p:extLst>
      <p:ext uri="{BB962C8B-B14F-4D97-AF65-F5344CB8AC3E}">
        <p14:creationId xmlns:p14="http://schemas.microsoft.com/office/powerpoint/2010/main" val="3654656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and Control Planes</a:t>
            </a:r>
          </a:p>
        </p:txBody>
      </p:sp>
      <p:sp>
        <p:nvSpPr>
          <p:cNvPr id="3" name="Slide Number Placeholder 2"/>
          <p:cNvSpPr>
            <a:spLocks noGrp="1"/>
          </p:cNvSpPr>
          <p:nvPr>
            <p:ph type="sldNum" sz="quarter" idx="12"/>
          </p:nvPr>
        </p:nvSpPr>
        <p:spPr/>
        <p:txBody>
          <a:bodyPr/>
          <a:lstStyle/>
          <a:p>
            <a:fld id="{502431CD-A83D-384C-97C7-66FF0CCEF56F}" type="slidenum">
              <a:rPr lang="en-US" smtClean="0">
                <a:solidFill>
                  <a:prstClr val="black">
                    <a:tint val="75000"/>
                  </a:prstClr>
                </a:solidFill>
              </a:rPr>
              <a:pPr/>
              <a:t>13</a:t>
            </a:fld>
            <a:endParaRPr lang="en-US" dirty="0">
              <a:solidFill>
                <a:prstClr val="black">
                  <a:tint val="75000"/>
                </a:prstClr>
              </a:solidFill>
            </a:endParaRPr>
          </a:p>
        </p:txBody>
      </p:sp>
      <p:sp>
        <p:nvSpPr>
          <p:cNvPr id="5" name="Rectangle 3"/>
          <p:cNvSpPr>
            <a:spLocks noChangeArrowheads="1"/>
          </p:cNvSpPr>
          <p:nvPr/>
        </p:nvSpPr>
        <p:spPr bwMode="auto">
          <a:xfrm>
            <a:off x="3514725" y="3370438"/>
            <a:ext cx="2085975" cy="2914650"/>
          </a:xfrm>
          <a:prstGeom prst="rect">
            <a:avLst/>
          </a:prstGeom>
          <a:solidFill>
            <a:srgbClr val="800080"/>
          </a:solidFill>
          <a:ln w="9525">
            <a:solidFill>
              <a:schemeClr val="tx1"/>
            </a:solidFill>
            <a:miter lim="800000"/>
            <a:headEnd/>
            <a:tailEnd/>
          </a:ln>
        </p:spPr>
        <p:txBody>
          <a:bodyPr wrap="none" anchor="ctr"/>
          <a:lstStyle/>
          <a:p>
            <a:pPr algn="ctr" defTabSz="457200" eaLnBrk="0" hangingPunct="0"/>
            <a:r>
              <a:rPr lang="en-US" sz="2400" dirty="0">
                <a:solidFill>
                  <a:prstClr val="white"/>
                </a:solidFill>
                <a:latin typeface="Times New Roman" charset="0"/>
              </a:rPr>
              <a:t>Switching</a:t>
            </a:r>
          </a:p>
          <a:p>
            <a:pPr algn="ctr" defTabSz="457200" eaLnBrk="0" hangingPunct="0"/>
            <a:r>
              <a:rPr lang="en-US" sz="2400" dirty="0">
                <a:solidFill>
                  <a:prstClr val="white"/>
                </a:solidFill>
                <a:latin typeface="Times New Roman" charset="0"/>
              </a:rPr>
              <a:t>Fabric</a:t>
            </a:r>
          </a:p>
        </p:txBody>
      </p:sp>
      <p:sp>
        <p:nvSpPr>
          <p:cNvPr id="6" name="Rectangle 4"/>
          <p:cNvSpPr>
            <a:spLocks noChangeArrowheads="1"/>
          </p:cNvSpPr>
          <p:nvPr/>
        </p:nvSpPr>
        <p:spPr bwMode="auto">
          <a:xfrm>
            <a:off x="3541713" y="1727376"/>
            <a:ext cx="2085975" cy="1300162"/>
          </a:xfrm>
          <a:prstGeom prst="rect">
            <a:avLst/>
          </a:prstGeom>
          <a:solidFill>
            <a:srgbClr val="006600"/>
          </a:solidFill>
          <a:ln w="9525">
            <a:solidFill>
              <a:schemeClr val="tx1"/>
            </a:solidFill>
            <a:miter lim="800000"/>
            <a:headEnd/>
            <a:tailEnd/>
          </a:ln>
        </p:spPr>
        <p:txBody>
          <a:bodyPr wrap="none" anchor="ctr"/>
          <a:lstStyle/>
          <a:p>
            <a:pPr algn="ctr" defTabSz="457200" eaLnBrk="0" hangingPunct="0"/>
            <a:r>
              <a:rPr lang="en-US" sz="2400" dirty="0">
                <a:solidFill>
                  <a:prstClr val="white"/>
                </a:solidFill>
                <a:latin typeface="Times New Roman" charset="0"/>
              </a:rPr>
              <a:t>Processor</a:t>
            </a:r>
          </a:p>
        </p:txBody>
      </p:sp>
      <p:sp>
        <p:nvSpPr>
          <p:cNvPr id="7" name="Rectangle 5"/>
          <p:cNvSpPr>
            <a:spLocks noChangeArrowheads="1"/>
          </p:cNvSpPr>
          <p:nvPr/>
        </p:nvSpPr>
        <p:spPr bwMode="auto">
          <a:xfrm>
            <a:off x="4357688" y="3027538"/>
            <a:ext cx="328612" cy="3429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8" name="Rectangle 6"/>
          <p:cNvSpPr>
            <a:spLocks noChangeArrowheads="1"/>
          </p:cNvSpPr>
          <p:nvPr/>
        </p:nvSpPr>
        <p:spPr bwMode="auto">
          <a:xfrm>
            <a:off x="1628775" y="3584751"/>
            <a:ext cx="1528763"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9" name="Rectangle 7"/>
          <p:cNvSpPr>
            <a:spLocks noChangeArrowheads="1"/>
          </p:cNvSpPr>
          <p:nvPr/>
        </p:nvSpPr>
        <p:spPr bwMode="auto">
          <a:xfrm>
            <a:off x="3157538" y="3727626"/>
            <a:ext cx="357187"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0" name="Text Box 8"/>
          <p:cNvSpPr txBox="1">
            <a:spLocks noChangeArrowheads="1"/>
          </p:cNvSpPr>
          <p:nvPr/>
        </p:nvSpPr>
        <p:spPr bwMode="auto">
          <a:xfrm>
            <a:off x="1836738" y="3684763"/>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11" name="Line 9"/>
          <p:cNvSpPr>
            <a:spLocks noChangeShapeType="1"/>
          </p:cNvSpPr>
          <p:nvPr/>
        </p:nvSpPr>
        <p:spPr bwMode="auto">
          <a:xfrm flipH="1">
            <a:off x="342900" y="3856213"/>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12" name="Rectangle 10"/>
          <p:cNvSpPr>
            <a:spLocks noChangeArrowheads="1"/>
          </p:cNvSpPr>
          <p:nvPr/>
        </p:nvSpPr>
        <p:spPr bwMode="auto">
          <a:xfrm>
            <a:off x="1624013" y="4565826"/>
            <a:ext cx="1528762"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3" name="Rectangle 11"/>
          <p:cNvSpPr>
            <a:spLocks noChangeArrowheads="1"/>
          </p:cNvSpPr>
          <p:nvPr/>
        </p:nvSpPr>
        <p:spPr bwMode="auto">
          <a:xfrm>
            <a:off x="3152775" y="4722988"/>
            <a:ext cx="357188"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4" name="Text Box 12"/>
          <p:cNvSpPr txBox="1">
            <a:spLocks noChangeArrowheads="1"/>
          </p:cNvSpPr>
          <p:nvPr/>
        </p:nvSpPr>
        <p:spPr bwMode="auto">
          <a:xfrm>
            <a:off x="1846263" y="4665838"/>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15" name="Line 13"/>
          <p:cNvSpPr>
            <a:spLocks noChangeShapeType="1"/>
          </p:cNvSpPr>
          <p:nvPr/>
        </p:nvSpPr>
        <p:spPr bwMode="auto">
          <a:xfrm flipH="1">
            <a:off x="352425" y="4837288"/>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16" name="Rectangle 14"/>
          <p:cNvSpPr>
            <a:spLocks noChangeArrowheads="1"/>
          </p:cNvSpPr>
          <p:nvPr/>
        </p:nvSpPr>
        <p:spPr bwMode="auto">
          <a:xfrm>
            <a:off x="1633538" y="5561188"/>
            <a:ext cx="1528762"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7" name="Rectangle 15"/>
          <p:cNvSpPr>
            <a:spLocks noChangeArrowheads="1"/>
          </p:cNvSpPr>
          <p:nvPr/>
        </p:nvSpPr>
        <p:spPr bwMode="auto">
          <a:xfrm>
            <a:off x="3162300" y="5718351"/>
            <a:ext cx="357188"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8" name="Text Box 16"/>
          <p:cNvSpPr txBox="1">
            <a:spLocks noChangeArrowheads="1"/>
          </p:cNvSpPr>
          <p:nvPr/>
        </p:nvSpPr>
        <p:spPr bwMode="auto">
          <a:xfrm>
            <a:off x="1855788" y="5661201"/>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19" name="Line 17"/>
          <p:cNvSpPr>
            <a:spLocks noChangeShapeType="1"/>
          </p:cNvSpPr>
          <p:nvPr/>
        </p:nvSpPr>
        <p:spPr bwMode="auto">
          <a:xfrm flipH="1">
            <a:off x="361950" y="5832651"/>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20" name="Rectangle 18"/>
          <p:cNvSpPr>
            <a:spLocks noChangeArrowheads="1"/>
          </p:cNvSpPr>
          <p:nvPr/>
        </p:nvSpPr>
        <p:spPr bwMode="auto">
          <a:xfrm flipH="1">
            <a:off x="5943600" y="3594276"/>
            <a:ext cx="1528763"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1" name="Rectangle 19"/>
          <p:cNvSpPr>
            <a:spLocks noChangeArrowheads="1"/>
          </p:cNvSpPr>
          <p:nvPr/>
        </p:nvSpPr>
        <p:spPr bwMode="auto">
          <a:xfrm flipH="1">
            <a:off x="5586413" y="3751438"/>
            <a:ext cx="357187"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2" name="Text Box 20"/>
          <p:cNvSpPr txBox="1">
            <a:spLocks noChangeArrowheads="1"/>
          </p:cNvSpPr>
          <p:nvPr/>
        </p:nvSpPr>
        <p:spPr bwMode="auto">
          <a:xfrm flipH="1">
            <a:off x="6210300" y="3708576"/>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23" name="Line 21"/>
          <p:cNvSpPr>
            <a:spLocks noChangeShapeType="1"/>
          </p:cNvSpPr>
          <p:nvPr/>
        </p:nvSpPr>
        <p:spPr bwMode="auto">
          <a:xfrm>
            <a:off x="7486650" y="3865738"/>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24" name="Rectangle 22"/>
          <p:cNvSpPr>
            <a:spLocks noChangeArrowheads="1"/>
          </p:cNvSpPr>
          <p:nvPr/>
        </p:nvSpPr>
        <p:spPr bwMode="auto">
          <a:xfrm flipH="1">
            <a:off x="5962650" y="4575351"/>
            <a:ext cx="1528763"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5" name="Rectangle 23"/>
          <p:cNvSpPr>
            <a:spLocks noChangeArrowheads="1"/>
          </p:cNvSpPr>
          <p:nvPr/>
        </p:nvSpPr>
        <p:spPr bwMode="auto">
          <a:xfrm flipH="1">
            <a:off x="5605463" y="4732513"/>
            <a:ext cx="357187"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6" name="Text Box 24"/>
          <p:cNvSpPr txBox="1">
            <a:spLocks noChangeArrowheads="1"/>
          </p:cNvSpPr>
          <p:nvPr/>
        </p:nvSpPr>
        <p:spPr bwMode="auto">
          <a:xfrm flipH="1">
            <a:off x="6243638" y="4675363"/>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27" name="Line 25"/>
          <p:cNvSpPr>
            <a:spLocks noChangeShapeType="1"/>
          </p:cNvSpPr>
          <p:nvPr/>
        </p:nvSpPr>
        <p:spPr bwMode="auto">
          <a:xfrm>
            <a:off x="7477125" y="4846813"/>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28" name="Rectangle 26"/>
          <p:cNvSpPr>
            <a:spLocks noChangeArrowheads="1"/>
          </p:cNvSpPr>
          <p:nvPr/>
        </p:nvSpPr>
        <p:spPr bwMode="auto">
          <a:xfrm flipH="1">
            <a:off x="5953125" y="5570713"/>
            <a:ext cx="1528763" cy="542925"/>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9" name="Rectangle 27"/>
          <p:cNvSpPr>
            <a:spLocks noChangeArrowheads="1"/>
          </p:cNvSpPr>
          <p:nvPr/>
        </p:nvSpPr>
        <p:spPr bwMode="auto">
          <a:xfrm flipH="1">
            <a:off x="5595938" y="5727876"/>
            <a:ext cx="357187" cy="2286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30" name="Text Box 28"/>
          <p:cNvSpPr txBox="1">
            <a:spLocks noChangeArrowheads="1"/>
          </p:cNvSpPr>
          <p:nvPr/>
        </p:nvSpPr>
        <p:spPr bwMode="auto">
          <a:xfrm flipH="1">
            <a:off x="6234113" y="5670726"/>
            <a:ext cx="10255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white"/>
                </a:solidFill>
                <a:latin typeface="Times New Roman" charset="0"/>
              </a:rPr>
              <a:t>Line card</a:t>
            </a:r>
          </a:p>
        </p:txBody>
      </p:sp>
      <p:sp>
        <p:nvSpPr>
          <p:cNvPr id="31" name="Line 29"/>
          <p:cNvSpPr>
            <a:spLocks noChangeShapeType="1"/>
          </p:cNvSpPr>
          <p:nvPr/>
        </p:nvSpPr>
        <p:spPr bwMode="auto">
          <a:xfrm>
            <a:off x="7467600" y="5842176"/>
            <a:ext cx="1285875" cy="0"/>
          </a:xfrm>
          <a:prstGeom prst="line">
            <a:avLst/>
          </a:prstGeom>
          <a:noFill/>
          <a:ln w="25400">
            <a:solidFill>
              <a:schemeClr val="tx1"/>
            </a:solidFill>
            <a:round/>
            <a:headEnd type="arrow" w="med" len="med"/>
            <a:tailEnd type="arrow" w="med" len="me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32" name="Rectangle 30"/>
          <p:cNvSpPr>
            <a:spLocks noChangeArrowheads="1"/>
          </p:cNvSpPr>
          <p:nvPr/>
        </p:nvSpPr>
        <p:spPr bwMode="auto">
          <a:xfrm>
            <a:off x="1114425" y="1498776"/>
            <a:ext cx="6900863" cy="507206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dirty="0">
              <a:solidFill>
                <a:prstClr val="black"/>
              </a:solidFill>
            </a:endParaRPr>
          </a:p>
        </p:txBody>
      </p:sp>
      <p:sp>
        <p:nvSpPr>
          <p:cNvPr id="33" name="Freeform 31"/>
          <p:cNvSpPr>
            <a:spLocks/>
          </p:cNvSpPr>
          <p:nvPr/>
        </p:nvSpPr>
        <p:spPr bwMode="auto">
          <a:xfrm>
            <a:off x="1960563" y="2735438"/>
            <a:ext cx="806450" cy="730250"/>
          </a:xfrm>
          <a:custGeom>
            <a:avLst/>
            <a:gdLst>
              <a:gd name="T0" fmla="*/ 0 w 508"/>
              <a:gd name="T1" fmla="*/ 0 h 460"/>
              <a:gd name="T2" fmla="*/ 576263 w 508"/>
              <a:gd name="T3" fmla="*/ 230188 h 460"/>
              <a:gd name="T4" fmla="*/ 806450 w 508"/>
              <a:gd name="T5" fmla="*/ 730250 h 460"/>
              <a:gd name="T6" fmla="*/ 0 60000 65536"/>
              <a:gd name="T7" fmla="*/ 0 60000 65536"/>
              <a:gd name="T8" fmla="*/ 0 60000 65536"/>
              <a:gd name="T9" fmla="*/ 0 w 508"/>
              <a:gd name="T10" fmla="*/ 0 h 460"/>
              <a:gd name="T11" fmla="*/ 508 w 508"/>
              <a:gd name="T12" fmla="*/ 460 h 460"/>
            </a:gdLst>
            <a:ahLst/>
            <a:cxnLst>
              <a:cxn ang="T6">
                <a:pos x="T0" y="T1"/>
              </a:cxn>
              <a:cxn ang="T7">
                <a:pos x="T2" y="T3"/>
              </a:cxn>
              <a:cxn ang="T8">
                <a:pos x="T4" y="T5"/>
              </a:cxn>
            </a:cxnLst>
            <a:rect l="T9" t="T10" r="T11" b="T12"/>
            <a:pathLst>
              <a:path w="508" h="460">
                <a:moveTo>
                  <a:pt x="0" y="0"/>
                </a:moveTo>
                <a:cubicBezTo>
                  <a:pt x="139" y="34"/>
                  <a:pt x="278" y="68"/>
                  <a:pt x="363" y="145"/>
                </a:cubicBezTo>
                <a:cubicBezTo>
                  <a:pt x="448" y="222"/>
                  <a:pt x="478" y="341"/>
                  <a:pt x="508" y="460"/>
                </a:cubicBezTo>
              </a:path>
            </a:pathLst>
          </a:custGeom>
          <a:noFill/>
          <a:ln w="38100">
            <a:solidFill>
              <a:srgbClr val="0000FF"/>
            </a:solidFill>
            <a:round/>
            <a:headEnd/>
            <a:tailEnd type="triangle" w="lg" len="lg"/>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dirty="0">
              <a:solidFill>
                <a:prstClr val="black"/>
              </a:solidFill>
            </a:endParaRPr>
          </a:p>
        </p:txBody>
      </p:sp>
      <p:sp>
        <p:nvSpPr>
          <p:cNvPr id="34" name="Text Box 32"/>
          <p:cNvSpPr txBox="1">
            <a:spLocks noChangeArrowheads="1"/>
          </p:cNvSpPr>
          <p:nvPr/>
        </p:nvSpPr>
        <p:spPr bwMode="auto">
          <a:xfrm>
            <a:off x="1308100" y="2313163"/>
            <a:ext cx="143986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dirty="0">
                <a:solidFill>
                  <a:srgbClr val="0000FF"/>
                </a:solidFill>
              </a:rPr>
              <a:t>data plane</a:t>
            </a:r>
          </a:p>
        </p:txBody>
      </p:sp>
      <p:sp>
        <p:nvSpPr>
          <p:cNvPr id="35" name="Freeform 33"/>
          <p:cNvSpPr>
            <a:spLocks/>
          </p:cNvSpPr>
          <p:nvPr/>
        </p:nvSpPr>
        <p:spPr bwMode="auto">
          <a:xfrm>
            <a:off x="5686425" y="2275063"/>
            <a:ext cx="652463" cy="319088"/>
          </a:xfrm>
          <a:custGeom>
            <a:avLst/>
            <a:gdLst>
              <a:gd name="T0" fmla="*/ 652463 w 411"/>
              <a:gd name="T1" fmla="*/ 0 h 201"/>
              <a:gd name="T2" fmla="*/ 384175 w 411"/>
              <a:gd name="T3" fmla="*/ 268288 h 201"/>
              <a:gd name="T4" fmla="*/ 0 w 411"/>
              <a:gd name="T5" fmla="*/ 306388 h 201"/>
              <a:gd name="T6" fmla="*/ 0 60000 65536"/>
              <a:gd name="T7" fmla="*/ 0 60000 65536"/>
              <a:gd name="T8" fmla="*/ 0 60000 65536"/>
              <a:gd name="T9" fmla="*/ 0 w 411"/>
              <a:gd name="T10" fmla="*/ 0 h 201"/>
              <a:gd name="T11" fmla="*/ 411 w 411"/>
              <a:gd name="T12" fmla="*/ 201 h 201"/>
            </a:gdLst>
            <a:ahLst/>
            <a:cxnLst>
              <a:cxn ang="T6">
                <a:pos x="T0" y="T1"/>
              </a:cxn>
              <a:cxn ang="T7">
                <a:pos x="T2" y="T3"/>
              </a:cxn>
              <a:cxn ang="T8">
                <a:pos x="T4" y="T5"/>
              </a:cxn>
            </a:cxnLst>
            <a:rect l="T9" t="T10" r="T11" b="T12"/>
            <a:pathLst>
              <a:path w="411" h="201">
                <a:moveTo>
                  <a:pt x="411" y="0"/>
                </a:moveTo>
                <a:cubicBezTo>
                  <a:pt x="360" y="68"/>
                  <a:pt x="310" y="137"/>
                  <a:pt x="242" y="169"/>
                </a:cubicBezTo>
                <a:cubicBezTo>
                  <a:pt x="174" y="201"/>
                  <a:pt x="87" y="197"/>
                  <a:pt x="0" y="193"/>
                </a:cubicBezTo>
              </a:path>
            </a:pathLst>
          </a:custGeom>
          <a:noFill/>
          <a:ln w="38100">
            <a:solidFill>
              <a:srgbClr val="0000FF"/>
            </a:solidFill>
            <a:round/>
            <a:headEnd/>
            <a:tailEnd type="triangle" w="lg" len="lg"/>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dirty="0">
              <a:solidFill>
                <a:prstClr val="black"/>
              </a:solidFill>
            </a:endParaRPr>
          </a:p>
        </p:txBody>
      </p:sp>
      <p:sp>
        <p:nvSpPr>
          <p:cNvPr id="36" name="Text Box 34"/>
          <p:cNvSpPr txBox="1">
            <a:spLocks noChangeArrowheads="1"/>
          </p:cNvSpPr>
          <p:nvPr/>
        </p:nvSpPr>
        <p:spPr bwMode="auto">
          <a:xfrm>
            <a:off x="5786438" y="1838501"/>
            <a:ext cx="17780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dirty="0">
                <a:solidFill>
                  <a:srgbClr val="0000FF"/>
                </a:solidFill>
              </a:rPr>
              <a:t>control plane</a:t>
            </a:r>
          </a:p>
        </p:txBody>
      </p:sp>
    </p:spTree>
    <p:extLst>
      <p:ext uri="{BB962C8B-B14F-4D97-AF65-F5344CB8AC3E}">
        <p14:creationId xmlns:p14="http://schemas.microsoft.com/office/powerpoint/2010/main" val="783390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Plane</a:t>
            </a:r>
          </a:p>
        </p:txBody>
      </p:sp>
      <p:sp>
        <p:nvSpPr>
          <p:cNvPr id="3" name="Content Placeholder 2"/>
          <p:cNvSpPr>
            <a:spLocks noGrp="1"/>
          </p:cNvSpPr>
          <p:nvPr>
            <p:ph idx="1"/>
          </p:nvPr>
        </p:nvSpPr>
        <p:spPr>
          <a:xfrm>
            <a:off x="457200" y="1600200"/>
            <a:ext cx="8229600" cy="4756150"/>
          </a:xfrm>
        </p:spPr>
        <p:txBody>
          <a:bodyPr>
            <a:normAutofit fontScale="92500" lnSpcReduction="20000"/>
          </a:bodyPr>
          <a:lstStyle/>
          <a:p>
            <a:r>
              <a:rPr lang="en-US" dirty="0">
                <a:latin typeface="Arial" charset="0"/>
                <a:cs typeface="Arial" charset="0"/>
              </a:rPr>
              <a:t>Streaming algorithms on packets</a:t>
            </a:r>
          </a:p>
          <a:p>
            <a:pPr lvl="1"/>
            <a:r>
              <a:rPr lang="en-US" dirty="0">
                <a:latin typeface="Arial" charset="0"/>
                <a:ea typeface="Arial" charset="0"/>
                <a:cs typeface="Arial" charset="0"/>
              </a:rPr>
              <a:t>Matching on some bits</a:t>
            </a:r>
          </a:p>
          <a:p>
            <a:pPr lvl="1"/>
            <a:r>
              <a:rPr lang="en-US" dirty="0">
                <a:latin typeface="Arial" charset="0"/>
                <a:ea typeface="Arial" charset="0"/>
                <a:cs typeface="Arial" charset="0"/>
              </a:rPr>
              <a:t>Perform some actions</a:t>
            </a:r>
          </a:p>
          <a:p>
            <a:r>
              <a:rPr lang="en-US" dirty="0">
                <a:latin typeface="Arial" charset="0"/>
                <a:cs typeface="Arial" charset="0"/>
              </a:rPr>
              <a:t>Wide range of functionality</a:t>
            </a:r>
          </a:p>
          <a:p>
            <a:pPr lvl="1"/>
            <a:r>
              <a:rPr lang="en-US" dirty="0">
                <a:latin typeface="Arial" charset="0"/>
                <a:ea typeface="Arial" charset="0"/>
                <a:cs typeface="Arial" charset="0"/>
              </a:rPr>
              <a:t>Forwarding</a:t>
            </a:r>
          </a:p>
          <a:p>
            <a:pPr lvl="1"/>
            <a:r>
              <a:rPr lang="en-US" dirty="0">
                <a:latin typeface="Arial" charset="0"/>
                <a:ea typeface="Arial" charset="0"/>
                <a:cs typeface="Arial" charset="0"/>
              </a:rPr>
              <a:t>Access control</a:t>
            </a:r>
          </a:p>
          <a:p>
            <a:pPr lvl="1"/>
            <a:r>
              <a:rPr lang="en-US" dirty="0">
                <a:latin typeface="Arial" charset="0"/>
                <a:ea typeface="Arial" charset="0"/>
                <a:cs typeface="Arial" charset="0"/>
              </a:rPr>
              <a:t>Mapping header fields</a:t>
            </a:r>
          </a:p>
          <a:p>
            <a:pPr lvl="1"/>
            <a:r>
              <a:rPr lang="en-US" dirty="0">
                <a:latin typeface="Arial" charset="0"/>
                <a:ea typeface="Arial" charset="0"/>
                <a:cs typeface="Arial" charset="0"/>
              </a:rPr>
              <a:t>Buffering and marking</a:t>
            </a:r>
          </a:p>
          <a:p>
            <a:pPr lvl="1"/>
            <a:r>
              <a:rPr lang="en-US" dirty="0">
                <a:latin typeface="Arial" charset="0"/>
                <a:ea typeface="Arial" charset="0"/>
                <a:cs typeface="Arial" charset="0"/>
              </a:rPr>
              <a:t>Shaping and scheduling</a:t>
            </a:r>
          </a:p>
          <a:p>
            <a:pPr lvl="1"/>
            <a:r>
              <a:rPr lang="en-US" dirty="0">
                <a:latin typeface="Arial" charset="0"/>
                <a:ea typeface="Arial" charset="0"/>
                <a:cs typeface="Arial" charset="0"/>
              </a:rPr>
              <a:t>Traffic monitoring</a:t>
            </a:r>
          </a:p>
          <a:p>
            <a:pPr lvl="1"/>
            <a:r>
              <a:rPr lang="en-US" dirty="0">
                <a:latin typeface="Arial" charset="0"/>
                <a:ea typeface="Arial" charset="0"/>
                <a:cs typeface="Arial" charset="0"/>
              </a:rPr>
              <a:t>Deep packet inspection</a:t>
            </a:r>
          </a:p>
          <a:p>
            <a:endParaRPr lang="en-US" dirty="0"/>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14</a:t>
            </a:fld>
            <a:endParaRPr lang="en-US" dirty="0">
              <a:solidFill>
                <a:prstClr val="black">
                  <a:tint val="75000"/>
                </a:prstClr>
              </a:solidFill>
            </a:endParaRPr>
          </a:p>
        </p:txBody>
      </p:sp>
      <p:sp>
        <p:nvSpPr>
          <p:cNvPr id="7" name="Rectangle 3"/>
          <p:cNvSpPr>
            <a:spLocks noChangeArrowheads="1"/>
          </p:cNvSpPr>
          <p:nvPr/>
        </p:nvSpPr>
        <p:spPr bwMode="auto">
          <a:xfrm>
            <a:off x="6499928" y="3815120"/>
            <a:ext cx="1196975" cy="2049462"/>
          </a:xfrm>
          <a:prstGeom prst="rect">
            <a:avLst/>
          </a:prstGeom>
          <a:solidFill>
            <a:srgbClr val="800080"/>
          </a:solidFill>
          <a:ln w="9525">
            <a:solidFill>
              <a:schemeClr val="tx1"/>
            </a:solidFill>
            <a:miter lim="800000"/>
            <a:headEnd/>
            <a:tailEnd/>
          </a:ln>
        </p:spPr>
        <p:txBody>
          <a:bodyPr wrap="none" anchor="ctr"/>
          <a:lstStyle/>
          <a:p>
            <a:pPr algn="ctr" defTabSz="457200" eaLnBrk="0" hangingPunct="0"/>
            <a:r>
              <a:rPr lang="en-US" dirty="0">
                <a:solidFill>
                  <a:prstClr val="white"/>
                </a:solidFill>
                <a:latin typeface="Times New Roman" charset="0"/>
              </a:rPr>
              <a:t>Switching</a:t>
            </a:r>
          </a:p>
          <a:p>
            <a:pPr algn="ctr" defTabSz="457200" eaLnBrk="0" hangingPunct="0"/>
            <a:r>
              <a:rPr lang="en-US" dirty="0">
                <a:solidFill>
                  <a:prstClr val="white"/>
                </a:solidFill>
                <a:latin typeface="Times New Roman" charset="0"/>
              </a:rPr>
              <a:t>Fabric</a:t>
            </a:r>
          </a:p>
        </p:txBody>
      </p:sp>
      <p:sp>
        <p:nvSpPr>
          <p:cNvPr id="8" name="Rectangle 4"/>
          <p:cNvSpPr>
            <a:spLocks noChangeArrowheads="1"/>
          </p:cNvSpPr>
          <p:nvPr/>
        </p:nvSpPr>
        <p:spPr bwMode="auto">
          <a:xfrm>
            <a:off x="6515803" y="2659420"/>
            <a:ext cx="1196975" cy="914400"/>
          </a:xfrm>
          <a:prstGeom prst="rect">
            <a:avLst/>
          </a:prstGeom>
          <a:solidFill>
            <a:srgbClr val="006600"/>
          </a:solidFill>
          <a:ln w="9525">
            <a:solidFill>
              <a:schemeClr val="tx1"/>
            </a:solidFill>
            <a:miter lim="800000"/>
            <a:headEnd/>
            <a:tailEnd/>
          </a:ln>
        </p:spPr>
        <p:txBody>
          <a:bodyPr wrap="none" anchor="ctr"/>
          <a:lstStyle/>
          <a:p>
            <a:pPr algn="ctr" defTabSz="457200" eaLnBrk="0" hangingPunct="0"/>
            <a:r>
              <a:rPr lang="en-US" dirty="0">
                <a:solidFill>
                  <a:prstClr val="white"/>
                </a:solidFill>
                <a:latin typeface="Times New Roman" charset="0"/>
              </a:rPr>
              <a:t>Processor</a:t>
            </a:r>
            <a:endParaRPr lang="en-US" sz="2400" dirty="0">
              <a:solidFill>
                <a:prstClr val="white"/>
              </a:solidFill>
              <a:latin typeface="Times New Roman" charset="0"/>
            </a:endParaRPr>
          </a:p>
        </p:txBody>
      </p:sp>
      <p:sp>
        <p:nvSpPr>
          <p:cNvPr id="9" name="Rectangle 5"/>
          <p:cNvSpPr>
            <a:spLocks noChangeArrowheads="1"/>
          </p:cNvSpPr>
          <p:nvPr/>
        </p:nvSpPr>
        <p:spPr bwMode="auto">
          <a:xfrm>
            <a:off x="6984116" y="3573820"/>
            <a:ext cx="188912" cy="241300"/>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0" name="Rectangle 6"/>
          <p:cNvSpPr>
            <a:spLocks noChangeArrowheads="1"/>
          </p:cNvSpPr>
          <p:nvPr/>
        </p:nvSpPr>
        <p:spPr bwMode="auto">
          <a:xfrm>
            <a:off x="5417253" y="3965932"/>
            <a:ext cx="877888" cy="381000"/>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1" name="Rectangle 7"/>
          <p:cNvSpPr>
            <a:spLocks noChangeArrowheads="1"/>
          </p:cNvSpPr>
          <p:nvPr/>
        </p:nvSpPr>
        <p:spPr bwMode="auto">
          <a:xfrm>
            <a:off x="6295141" y="4065945"/>
            <a:ext cx="204787" cy="160337"/>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2" name="Rectangle 10"/>
          <p:cNvSpPr>
            <a:spLocks noChangeArrowheads="1"/>
          </p:cNvSpPr>
          <p:nvPr/>
        </p:nvSpPr>
        <p:spPr bwMode="auto">
          <a:xfrm>
            <a:off x="5414078" y="4654907"/>
            <a:ext cx="877888" cy="382588"/>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3" name="Rectangle 11"/>
          <p:cNvSpPr>
            <a:spLocks noChangeArrowheads="1"/>
          </p:cNvSpPr>
          <p:nvPr/>
        </p:nvSpPr>
        <p:spPr bwMode="auto">
          <a:xfrm>
            <a:off x="6291966" y="4766032"/>
            <a:ext cx="204787" cy="160338"/>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4" name="Rectangle 14"/>
          <p:cNvSpPr>
            <a:spLocks noChangeArrowheads="1"/>
          </p:cNvSpPr>
          <p:nvPr/>
        </p:nvSpPr>
        <p:spPr bwMode="auto">
          <a:xfrm>
            <a:off x="5420428" y="5354995"/>
            <a:ext cx="877888" cy="382587"/>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5" name="Rectangle 15"/>
          <p:cNvSpPr>
            <a:spLocks noChangeArrowheads="1"/>
          </p:cNvSpPr>
          <p:nvPr/>
        </p:nvSpPr>
        <p:spPr bwMode="auto">
          <a:xfrm>
            <a:off x="6298316" y="5466120"/>
            <a:ext cx="204787" cy="160337"/>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6" name="Rectangle 18"/>
          <p:cNvSpPr>
            <a:spLocks noChangeArrowheads="1"/>
          </p:cNvSpPr>
          <p:nvPr/>
        </p:nvSpPr>
        <p:spPr bwMode="auto">
          <a:xfrm flipH="1">
            <a:off x="7893753" y="3972282"/>
            <a:ext cx="877888" cy="381000"/>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7" name="Rectangle 19"/>
          <p:cNvSpPr>
            <a:spLocks noChangeArrowheads="1"/>
          </p:cNvSpPr>
          <p:nvPr/>
        </p:nvSpPr>
        <p:spPr bwMode="auto">
          <a:xfrm flipH="1">
            <a:off x="7688966" y="4083407"/>
            <a:ext cx="204787" cy="160338"/>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8" name="Rectangle 22"/>
          <p:cNvSpPr>
            <a:spLocks noChangeArrowheads="1"/>
          </p:cNvSpPr>
          <p:nvPr/>
        </p:nvSpPr>
        <p:spPr bwMode="auto">
          <a:xfrm flipH="1">
            <a:off x="7904866" y="4662845"/>
            <a:ext cx="877887" cy="381000"/>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19" name="Rectangle 23"/>
          <p:cNvSpPr>
            <a:spLocks noChangeArrowheads="1"/>
          </p:cNvSpPr>
          <p:nvPr/>
        </p:nvSpPr>
        <p:spPr bwMode="auto">
          <a:xfrm flipH="1">
            <a:off x="7700078" y="4772382"/>
            <a:ext cx="204788" cy="160338"/>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0" name="Rectangle 26"/>
          <p:cNvSpPr>
            <a:spLocks noChangeArrowheads="1"/>
          </p:cNvSpPr>
          <p:nvPr/>
        </p:nvSpPr>
        <p:spPr bwMode="auto">
          <a:xfrm flipH="1">
            <a:off x="7900103" y="5362932"/>
            <a:ext cx="877888" cy="381000"/>
          </a:xfrm>
          <a:prstGeom prst="rect">
            <a:avLst/>
          </a:prstGeom>
          <a:solidFill>
            <a:srgbClr val="9966FF"/>
          </a:solidFill>
          <a:ln w="9525">
            <a:solidFill>
              <a:schemeClr val="tx1"/>
            </a:solidFill>
            <a:miter lim="800000"/>
            <a:headEnd/>
            <a:tailEnd/>
          </a:ln>
        </p:spPr>
        <p:txBody>
          <a:bodyPr wrap="none" anchor="ctr"/>
          <a:lstStyle/>
          <a:p>
            <a:pPr defTabSz="457200"/>
            <a:endParaRPr lang="en-US" dirty="0">
              <a:solidFill>
                <a:prstClr val="black"/>
              </a:solidFill>
            </a:endParaRPr>
          </a:p>
        </p:txBody>
      </p:sp>
      <p:sp>
        <p:nvSpPr>
          <p:cNvPr id="21" name="Rectangle 27"/>
          <p:cNvSpPr>
            <a:spLocks noChangeArrowheads="1"/>
          </p:cNvSpPr>
          <p:nvPr/>
        </p:nvSpPr>
        <p:spPr bwMode="auto">
          <a:xfrm flipH="1">
            <a:off x="7695316" y="5472470"/>
            <a:ext cx="204787" cy="160337"/>
          </a:xfrm>
          <a:prstGeom prst="rect">
            <a:avLst/>
          </a:prstGeom>
          <a:solidFill>
            <a:srgbClr val="808080"/>
          </a:solidFill>
          <a:ln w="9525">
            <a:solidFill>
              <a:schemeClr val="tx1"/>
            </a:solidFill>
            <a:miter lim="800000"/>
            <a:headEnd/>
            <a:tailEnd/>
          </a:ln>
        </p:spPr>
        <p:txBody>
          <a:bodyPr wrap="none" anchor="ctr"/>
          <a:lstStyle/>
          <a:p>
            <a:pPr defTabSz="457200"/>
            <a:endParaRPr lang="en-US" dirty="0">
              <a:solidFill>
                <a:prstClr val="black"/>
              </a:solidFill>
            </a:endParaRPr>
          </a:p>
        </p:txBody>
      </p:sp>
    </p:spTree>
    <p:extLst>
      <p:ext uri="{BB962C8B-B14F-4D97-AF65-F5344CB8AC3E}">
        <p14:creationId xmlns:p14="http://schemas.microsoft.com/office/powerpoint/2010/main" val="745948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Helvetica" charset="0"/>
                <a:ea typeface="ＭＳ Ｐゴシック" charset="0"/>
                <a:cs typeface="ＭＳ Ｐゴシック" charset="0"/>
              </a:rPr>
              <a:t>Switch: Match on Destination MAC</a:t>
            </a:r>
            <a:endParaRPr lang="en-US" dirty="0"/>
          </a:p>
        </p:txBody>
      </p:sp>
      <p:sp>
        <p:nvSpPr>
          <p:cNvPr id="3" name="Content Placeholder 2"/>
          <p:cNvSpPr>
            <a:spLocks noGrp="1"/>
          </p:cNvSpPr>
          <p:nvPr>
            <p:ph idx="1"/>
          </p:nvPr>
        </p:nvSpPr>
        <p:spPr>
          <a:xfrm>
            <a:off x="457200" y="1600200"/>
            <a:ext cx="8229600" cy="1941689"/>
          </a:xfrm>
        </p:spPr>
        <p:txBody>
          <a:bodyPr/>
          <a:lstStyle/>
          <a:p>
            <a:r>
              <a:rPr lang="en-US" dirty="0">
                <a:latin typeface="Arial" charset="0"/>
                <a:cs typeface="Arial" charset="0"/>
              </a:rPr>
              <a:t>MAC addresses are location independent</a:t>
            </a:r>
          </a:p>
          <a:p>
            <a:pPr lvl="1"/>
            <a:r>
              <a:rPr lang="en-US" dirty="0">
                <a:latin typeface="Arial" charset="0"/>
                <a:ea typeface="Arial" charset="0"/>
                <a:cs typeface="Arial" charset="0"/>
              </a:rPr>
              <a:t>Assigned by the vendor of the interface card</a:t>
            </a:r>
          </a:p>
          <a:p>
            <a:pPr lvl="1"/>
            <a:r>
              <a:rPr lang="en-US" dirty="0">
                <a:latin typeface="Arial" charset="0"/>
                <a:ea typeface="Arial" charset="0"/>
                <a:cs typeface="Arial" charset="0"/>
              </a:rPr>
              <a:t>Cannot be aggregated across hosts in LAN</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15</a:t>
            </a:fld>
            <a:endParaRPr lang="en-US" dirty="0">
              <a:solidFill>
                <a:prstClr val="black">
                  <a:tint val="75000"/>
                </a:prstClr>
              </a:solidFill>
            </a:endParaRPr>
          </a:p>
        </p:txBody>
      </p:sp>
      <p:graphicFrame>
        <p:nvGraphicFramePr>
          <p:cNvPr id="5" name="Content Placeholder 35"/>
          <p:cNvGraphicFramePr>
            <a:graphicFrameLocks noGrp="1"/>
          </p:cNvGraphicFramePr>
          <p:nvPr>
            <p:extLst>
              <p:ext uri="{D42A27DB-BD31-4B8C-83A1-F6EECF244321}">
                <p14:modId xmlns:p14="http://schemas.microsoft.com/office/powerpoint/2010/main" val="711921664"/>
              </p:ext>
            </p:extLst>
          </p:nvPr>
        </p:nvGraphicFramePr>
        <p:xfrm>
          <a:off x="5346700" y="4108130"/>
          <a:ext cx="1905000" cy="185166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1365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FF"/>
                          </a:solidFill>
                          <a:effectLst/>
                          <a:latin typeface="Arial" charset="0"/>
                          <a:ea typeface="ＭＳ Ｐゴシック" charset="0"/>
                          <a:cs typeface="Arial" charset="0"/>
                        </a:rPr>
                        <a:t>mac1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FF"/>
                          </a:solidFill>
                          <a:effectLst/>
                          <a:latin typeface="Arial" charset="0"/>
                          <a:ea typeface="ＭＳ Ｐゴシック" charset="0"/>
                          <a:cs typeface="Arial" charset="0"/>
                        </a:rPr>
                        <a:t>mac2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FF"/>
                          </a:solidFill>
                          <a:effectLst/>
                          <a:latin typeface="Arial" charset="0"/>
                          <a:ea typeface="ＭＳ Ｐゴシック" charset="0"/>
                          <a:cs typeface="Arial" charset="0"/>
                        </a:rPr>
                        <a:t>mac3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FF"/>
                          </a:solidFill>
                          <a:effectLst/>
                          <a:latin typeface="Arial" charset="0"/>
                          <a:ea typeface="ＭＳ Ｐゴシック" charset="0"/>
                          <a:cs typeface="Arial" charset="0"/>
                        </a:rPr>
                        <a:t>mac4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FF"/>
                          </a:solidFill>
                          <a:effectLst/>
                          <a:latin typeface="Arial" charset="0"/>
                          <a:ea typeface="ＭＳ Ｐゴシック" charset="0"/>
                          <a:cs typeface="Arial" charset="0"/>
                        </a:rPr>
                        <a:t>mac5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ＭＳ Ｐゴシック"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Line 4"/>
          <p:cNvSpPr>
            <a:spLocks noChangeShapeType="1"/>
          </p:cNvSpPr>
          <p:nvPr/>
        </p:nvSpPr>
        <p:spPr bwMode="auto">
          <a:xfrm>
            <a:off x="2533650" y="4678043"/>
            <a:ext cx="2590800" cy="0"/>
          </a:xfrm>
          <a:prstGeom prst="line">
            <a:avLst/>
          </a:prstGeom>
          <a:noFill/>
          <a:ln w="76200" cmpd="tri">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7" name="Line 5"/>
          <p:cNvSpPr>
            <a:spLocks noChangeShapeType="1"/>
          </p:cNvSpPr>
          <p:nvPr/>
        </p:nvSpPr>
        <p:spPr bwMode="auto">
          <a:xfrm>
            <a:off x="2838450" y="4373243"/>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8" name="Line 6"/>
          <p:cNvSpPr>
            <a:spLocks noChangeShapeType="1"/>
          </p:cNvSpPr>
          <p:nvPr/>
        </p:nvSpPr>
        <p:spPr bwMode="auto">
          <a:xfrm>
            <a:off x="3752850" y="4373243"/>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9" name="Line 7"/>
          <p:cNvSpPr>
            <a:spLocks noChangeShapeType="1"/>
          </p:cNvSpPr>
          <p:nvPr/>
        </p:nvSpPr>
        <p:spPr bwMode="auto">
          <a:xfrm>
            <a:off x="4819650" y="4373243"/>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0" name="Rectangle 9"/>
          <p:cNvSpPr>
            <a:spLocks noChangeArrowheads="1"/>
          </p:cNvSpPr>
          <p:nvPr/>
        </p:nvSpPr>
        <p:spPr bwMode="auto">
          <a:xfrm>
            <a:off x="2530475" y="4087493"/>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1" name="Rectangle 10"/>
          <p:cNvSpPr>
            <a:spLocks noChangeArrowheads="1"/>
          </p:cNvSpPr>
          <p:nvPr/>
        </p:nvSpPr>
        <p:spPr bwMode="auto">
          <a:xfrm>
            <a:off x="3425825" y="4068443"/>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2" name="Rectangle 11"/>
          <p:cNvSpPr>
            <a:spLocks noChangeArrowheads="1"/>
          </p:cNvSpPr>
          <p:nvPr/>
        </p:nvSpPr>
        <p:spPr bwMode="auto">
          <a:xfrm>
            <a:off x="4492625" y="4068443"/>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3" name="Text Box 12"/>
          <p:cNvSpPr txBox="1">
            <a:spLocks noChangeArrowheads="1"/>
          </p:cNvSpPr>
          <p:nvPr/>
        </p:nvSpPr>
        <p:spPr bwMode="auto">
          <a:xfrm>
            <a:off x="4057650" y="3992243"/>
            <a:ext cx="3556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a:t>
            </a:r>
          </a:p>
        </p:txBody>
      </p:sp>
      <p:sp>
        <p:nvSpPr>
          <p:cNvPr id="14" name="Line 24"/>
          <p:cNvSpPr>
            <a:spLocks noChangeShapeType="1"/>
          </p:cNvSpPr>
          <p:nvPr/>
        </p:nvSpPr>
        <p:spPr bwMode="auto">
          <a:xfrm>
            <a:off x="4362450" y="4678043"/>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5" name="Text Box 31"/>
          <p:cNvSpPr txBox="1">
            <a:spLocks noChangeArrowheads="1"/>
          </p:cNvSpPr>
          <p:nvPr/>
        </p:nvSpPr>
        <p:spPr bwMode="auto">
          <a:xfrm>
            <a:off x="2451100" y="3622355"/>
            <a:ext cx="7747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mac1</a:t>
            </a:r>
          </a:p>
        </p:txBody>
      </p:sp>
      <p:sp>
        <p:nvSpPr>
          <p:cNvPr id="16" name="Text Box 32"/>
          <p:cNvSpPr txBox="1">
            <a:spLocks noChangeArrowheads="1"/>
          </p:cNvSpPr>
          <p:nvPr/>
        </p:nvSpPr>
        <p:spPr bwMode="auto">
          <a:xfrm>
            <a:off x="3365500" y="3606480"/>
            <a:ext cx="7747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mac2</a:t>
            </a:r>
          </a:p>
        </p:txBody>
      </p:sp>
      <p:sp>
        <p:nvSpPr>
          <p:cNvPr id="17" name="Text Box 33"/>
          <p:cNvSpPr txBox="1">
            <a:spLocks noChangeArrowheads="1"/>
          </p:cNvSpPr>
          <p:nvPr/>
        </p:nvSpPr>
        <p:spPr bwMode="auto">
          <a:xfrm>
            <a:off x="4432300" y="3606480"/>
            <a:ext cx="7747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mac3</a:t>
            </a:r>
          </a:p>
        </p:txBody>
      </p:sp>
      <p:sp>
        <p:nvSpPr>
          <p:cNvPr id="18" name="AutoShape 23"/>
          <p:cNvSpPr>
            <a:spLocks noChangeArrowheads="1"/>
          </p:cNvSpPr>
          <p:nvPr/>
        </p:nvSpPr>
        <p:spPr bwMode="auto">
          <a:xfrm>
            <a:off x="3975100" y="4966968"/>
            <a:ext cx="679450" cy="381000"/>
          </a:xfrm>
          <a:prstGeom prst="roundRect">
            <a:avLst>
              <a:gd name="adj" fmla="val 16667"/>
            </a:avLst>
          </a:prstGeom>
          <a:solidFill>
            <a:srgbClr val="FF99CC"/>
          </a:solidFill>
          <a:ln w="38100">
            <a:solidFill>
              <a:schemeClr val="tx1"/>
            </a:solidFill>
            <a:round/>
            <a:headEnd/>
            <a:tailEnd/>
          </a:ln>
        </p:spPr>
        <p:txBody>
          <a:bodyPr wrap="none" anchor="ctr"/>
          <a:lstStyle/>
          <a:p>
            <a:pPr defTabSz="457200" eaLnBrk="0" hangingPunct="0"/>
            <a:r>
              <a:rPr lang="en-US" sz="1600" dirty="0">
                <a:solidFill>
                  <a:prstClr val="black"/>
                </a:solidFill>
              </a:rPr>
              <a:t>switch</a:t>
            </a:r>
          </a:p>
        </p:txBody>
      </p:sp>
      <p:sp>
        <p:nvSpPr>
          <p:cNvPr id="19" name="Line 5"/>
          <p:cNvSpPr>
            <a:spLocks noChangeShapeType="1"/>
          </p:cNvSpPr>
          <p:nvPr/>
        </p:nvSpPr>
        <p:spPr bwMode="auto">
          <a:xfrm>
            <a:off x="4343400" y="5347968"/>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0" name="Line 5"/>
          <p:cNvSpPr>
            <a:spLocks noChangeShapeType="1"/>
          </p:cNvSpPr>
          <p:nvPr/>
        </p:nvSpPr>
        <p:spPr bwMode="auto">
          <a:xfrm>
            <a:off x="3517900" y="5195568"/>
            <a:ext cx="457200"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1" name="Rectangle 20"/>
          <p:cNvSpPr>
            <a:spLocks noChangeArrowheads="1"/>
          </p:cNvSpPr>
          <p:nvPr/>
        </p:nvSpPr>
        <p:spPr bwMode="auto">
          <a:xfrm>
            <a:off x="3962400" y="5652768"/>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22" name="Rectangle 21"/>
          <p:cNvSpPr>
            <a:spLocks noChangeArrowheads="1"/>
          </p:cNvSpPr>
          <p:nvPr/>
        </p:nvSpPr>
        <p:spPr bwMode="auto">
          <a:xfrm>
            <a:off x="2908300" y="5043168"/>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23" name="Text Box 33"/>
          <p:cNvSpPr txBox="1">
            <a:spLocks noChangeArrowheads="1"/>
          </p:cNvSpPr>
          <p:nvPr/>
        </p:nvSpPr>
        <p:spPr bwMode="auto">
          <a:xfrm>
            <a:off x="3886200" y="6033768"/>
            <a:ext cx="77504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mac5</a:t>
            </a:r>
          </a:p>
        </p:txBody>
      </p:sp>
      <p:sp>
        <p:nvSpPr>
          <p:cNvPr id="24" name="Text Box 33"/>
          <p:cNvSpPr txBox="1">
            <a:spLocks noChangeArrowheads="1"/>
          </p:cNvSpPr>
          <p:nvPr/>
        </p:nvSpPr>
        <p:spPr bwMode="auto">
          <a:xfrm>
            <a:off x="2832100" y="5347968"/>
            <a:ext cx="77504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mac4</a:t>
            </a:r>
          </a:p>
        </p:txBody>
      </p:sp>
      <p:sp>
        <p:nvSpPr>
          <p:cNvPr id="25" name="AutoShape 40"/>
          <p:cNvSpPr>
            <a:spLocks noChangeArrowheads="1"/>
          </p:cNvSpPr>
          <p:nvPr/>
        </p:nvSpPr>
        <p:spPr bwMode="auto">
          <a:xfrm flipH="1">
            <a:off x="6565900" y="5327330"/>
            <a:ext cx="457200" cy="228600"/>
          </a:xfrm>
          <a:prstGeom prst="rightArrow">
            <a:avLst>
              <a:gd name="adj1" fmla="val 50000"/>
              <a:gd name="adj2" fmla="val 79139"/>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26" name="AutoShape 40"/>
          <p:cNvSpPr>
            <a:spLocks noChangeArrowheads="1"/>
          </p:cNvSpPr>
          <p:nvPr/>
        </p:nvSpPr>
        <p:spPr bwMode="auto">
          <a:xfrm rot="16200000" flipH="1">
            <a:off x="6680200" y="5670230"/>
            <a:ext cx="304800" cy="228600"/>
          </a:xfrm>
          <a:prstGeom prst="rightArrow">
            <a:avLst>
              <a:gd name="adj1" fmla="val 50000"/>
              <a:gd name="adj2" fmla="val 79136"/>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27" name="AutoShape 40"/>
          <p:cNvSpPr>
            <a:spLocks noChangeArrowheads="1"/>
          </p:cNvSpPr>
          <p:nvPr/>
        </p:nvSpPr>
        <p:spPr bwMode="auto">
          <a:xfrm rot="5400000" flipH="1" flipV="1">
            <a:off x="6680200" y="4908230"/>
            <a:ext cx="304800" cy="228600"/>
          </a:xfrm>
          <a:prstGeom prst="rightArrow">
            <a:avLst>
              <a:gd name="adj1" fmla="val 50000"/>
              <a:gd name="adj2" fmla="val 79136"/>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28" name="AutoShape 40"/>
          <p:cNvSpPr>
            <a:spLocks noChangeArrowheads="1"/>
          </p:cNvSpPr>
          <p:nvPr/>
        </p:nvSpPr>
        <p:spPr bwMode="auto">
          <a:xfrm rot="5400000" flipH="1" flipV="1">
            <a:off x="6680200" y="4527230"/>
            <a:ext cx="304800" cy="228600"/>
          </a:xfrm>
          <a:prstGeom prst="rightArrow">
            <a:avLst>
              <a:gd name="adj1" fmla="val 50000"/>
              <a:gd name="adj2" fmla="val 79136"/>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29" name="AutoShape 40"/>
          <p:cNvSpPr>
            <a:spLocks noChangeArrowheads="1"/>
          </p:cNvSpPr>
          <p:nvPr/>
        </p:nvSpPr>
        <p:spPr bwMode="auto">
          <a:xfrm rot="5400000" flipH="1" flipV="1">
            <a:off x="6680200" y="4146230"/>
            <a:ext cx="304800" cy="228600"/>
          </a:xfrm>
          <a:prstGeom prst="rightArrow">
            <a:avLst>
              <a:gd name="adj1" fmla="val 50000"/>
              <a:gd name="adj2" fmla="val 79136"/>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Tree>
    <p:extLst>
      <p:ext uri="{BB962C8B-B14F-4D97-AF65-F5344CB8AC3E}">
        <p14:creationId xmlns:p14="http://schemas.microsoft.com/office/powerpoint/2010/main" val="1005076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Router: Match on IP Prefix</a:t>
            </a:r>
          </a:p>
        </p:txBody>
      </p:sp>
      <p:sp>
        <p:nvSpPr>
          <p:cNvPr id="3" name="Content Placeholder 2"/>
          <p:cNvSpPr>
            <a:spLocks noGrp="1"/>
          </p:cNvSpPr>
          <p:nvPr>
            <p:ph idx="1"/>
          </p:nvPr>
        </p:nvSpPr>
        <p:spPr>
          <a:xfrm>
            <a:off x="457200" y="1600201"/>
            <a:ext cx="8229600" cy="2534356"/>
          </a:xfrm>
        </p:spPr>
        <p:txBody>
          <a:bodyPr>
            <a:normAutofit fontScale="92500"/>
          </a:bodyPr>
          <a:lstStyle/>
          <a:p>
            <a:r>
              <a:rPr lang="en-US" dirty="0">
                <a:latin typeface="Arial" charset="0"/>
                <a:cs typeface="Arial" charset="0"/>
              </a:rPr>
              <a:t>IP addresses grouped into common subnets</a:t>
            </a:r>
          </a:p>
          <a:p>
            <a:pPr lvl="1"/>
            <a:r>
              <a:rPr lang="en-US" dirty="0">
                <a:latin typeface="Arial" charset="0"/>
                <a:ea typeface="Arial" charset="0"/>
                <a:cs typeface="Arial" charset="0"/>
              </a:rPr>
              <a:t>Allocated by ICANN, regional registries, ISPs, and within individual organizations</a:t>
            </a:r>
          </a:p>
          <a:p>
            <a:pPr lvl="1"/>
            <a:r>
              <a:rPr lang="en-US" dirty="0">
                <a:latin typeface="Arial" charset="0"/>
                <a:ea typeface="Arial" charset="0"/>
                <a:cs typeface="Arial" charset="0"/>
              </a:rPr>
              <a:t>Variable-length prefix identified by a mask length</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16</a:t>
            </a:fld>
            <a:endParaRPr lang="en-US" dirty="0">
              <a:solidFill>
                <a:prstClr val="black">
                  <a:tint val="75000"/>
                </a:prstClr>
              </a:solidFill>
            </a:endParaRPr>
          </a:p>
        </p:txBody>
      </p:sp>
      <p:sp>
        <p:nvSpPr>
          <p:cNvPr id="5" name="Line 4"/>
          <p:cNvSpPr>
            <a:spLocks noChangeShapeType="1"/>
          </p:cNvSpPr>
          <p:nvPr/>
        </p:nvSpPr>
        <p:spPr bwMode="auto">
          <a:xfrm>
            <a:off x="996950" y="4595459"/>
            <a:ext cx="2590800" cy="0"/>
          </a:xfrm>
          <a:prstGeom prst="line">
            <a:avLst/>
          </a:prstGeom>
          <a:noFill/>
          <a:ln w="76200" cmpd="tri">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6" name="Line 5"/>
          <p:cNvSpPr>
            <a:spLocks noChangeShapeType="1"/>
          </p:cNvSpPr>
          <p:nvPr/>
        </p:nvSpPr>
        <p:spPr bwMode="auto">
          <a:xfrm>
            <a:off x="13017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7" name="Line 6"/>
          <p:cNvSpPr>
            <a:spLocks noChangeShapeType="1"/>
          </p:cNvSpPr>
          <p:nvPr/>
        </p:nvSpPr>
        <p:spPr bwMode="auto">
          <a:xfrm>
            <a:off x="22161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8" name="Line 7"/>
          <p:cNvSpPr>
            <a:spLocks noChangeShapeType="1"/>
          </p:cNvSpPr>
          <p:nvPr/>
        </p:nvSpPr>
        <p:spPr bwMode="auto">
          <a:xfrm>
            <a:off x="32829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9" name="Rectangle 8"/>
          <p:cNvSpPr>
            <a:spLocks noChangeArrowheads="1"/>
          </p:cNvSpPr>
          <p:nvPr/>
        </p:nvSpPr>
        <p:spPr bwMode="auto">
          <a:xfrm>
            <a:off x="993775" y="400490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0" name="Rectangle 9"/>
          <p:cNvSpPr>
            <a:spLocks noChangeArrowheads="1"/>
          </p:cNvSpPr>
          <p:nvPr/>
        </p:nvSpPr>
        <p:spPr bwMode="auto">
          <a:xfrm>
            <a:off x="1889125" y="398585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1" name="Rectangle 10"/>
          <p:cNvSpPr>
            <a:spLocks noChangeArrowheads="1"/>
          </p:cNvSpPr>
          <p:nvPr/>
        </p:nvSpPr>
        <p:spPr bwMode="auto">
          <a:xfrm>
            <a:off x="2955925" y="398585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2" name="Text Box 11"/>
          <p:cNvSpPr txBox="1">
            <a:spLocks noChangeArrowheads="1"/>
          </p:cNvSpPr>
          <p:nvPr/>
        </p:nvSpPr>
        <p:spPr bwMode="auto">
          <a:xfrm>
            <a:off x="1125538" y="4609746"/>
            <a:ext cx="76993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LAN 1</a:t>
            </a:r>
          </a:p>
        </p:txBody>
      </p:sp>
      <p:sp>
        <p:nvSpPr>
          <p:cNvPr id="13" name="Text Box 12"/>
          <p:cNvSpPr txBox="1">
            <a:spLocks noChangeArrowheads="1"/>
          </p:cNvSpPr>
          <p:nvPr/>
        </p:nvSpPr>
        <p:spPr bwMode="auto">
          <a:xfrm>
            <a:off x="2520950" y="3909659"/>
            <a:ext cx="3556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a:t>
            </a:r>
          </a:p>
        </p:txBody>
      </p:sp>
      <p:sp>
        <p:nvSpPr>
          <p:cNvPr id="14" name="Line 13"/>
          <p:cNvSpPr>
            <a:spLocks noChangeShapeType="1"/>
          </p:cNvSpPr>
          <p:nvPr/>
        </p:nvSpPr>
        <p:spPr bwMode="auto">
          <a:xfrm>
            <a:off x="5645150" y="4595459"/>
            <a:ext cx="2590800" cy="0"/>
          </a:xfrm>
          <a:prstGeom prst="line">
            <a:avLst/>
          </a:prstGeom>
          <a:noFill/>
          <a:ln w="76200" cmpd="tri">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5" name="Line 14"/>
          <p:cNvSpPr>
            <a:spLocks noChangeShapeType="1"/>
          </p:cNvSpPr>
          <p:nvPr/>
        </p:nvSpPr>
        <p:spPr bwMode="auto">
          <a:xfrm>
            <a:off x="59499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6" name="Line 15"/>
          <p:cNvSpPr>
            <a:spLocks noChangeShapeType="1"/>
          </p:cNvSpPr>
          <p:nvPr/>
        </p:nvSpPr>
        <p:spPr bwMode="auto">
          <a:xfrm>
            <a:off x="68643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7" name="Line 16"/>
          <p:cNvSpPr>
            <a:spLocks noChangeShapeType="1"/>
          </p:cNvSpPr>
          <p:nvPr/>
        </p:nvSpPr>
        <p:spPr bwMode="auto">
          <a:xfrm>
            <a:off x="7931150" y="42906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8" name="Rectangle 17"/>
          <p:cNvSpPr>
            <a:spLocks noChangeArrowheads="1"/>
          </p:cNvSpPr>
          <p:nvPr/>
        </p:nvSpPr>
        <p:spPr bwMode="auto">
          <a:xfrm>
            <a:off x="5641975" y="400490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19" name="Rectangle 18"/>
          <p:cNvSpPr>
            <a:spLocks noChangeArrowheads="1"/>
          </p:cNvSpPr>
          <p:nvPr/>
        </p:nvSpPr>
        <p:spPr bwMode="auto">
          <a:xfrm>
            <a:off x="6537325" y="398585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20" name="Rectangle 19"/>
          <p:cNvSpPr>
            <a:spLocks noChangeArrowheads="1"/>
          </p:cNvSpPr>
          <p:nvPr/>
        </p:nvSpPr>
        <p:spPr bwMode="auto">
          <a:xfrm>
            <a:off x="7604125" y="3985859"/>
            <a:ext cx="625475" cy="349250"/>
          </a:xfrm>
          <a:prstGeom prst="rect">
            <a:avLst/>
          </a:prstGeom>
          <a:solidFill>
            <a:srgbClr val="CCFFFF"/>
          </a:solidFill>
          <a:ln w="12700">
            <a:solidFill>
              <a:schemeClr val="tx1"/>
            </a:solidFill>
            <a:miter lim="800000"/>
            <a:headEnd/>
            <a:tailEnd/>
          </a:ln>
        </p:spPr>
        <p:txBody>
          <a:bodyPr wrap="none" anchor="ctr">
            <a:spAutoFit/>
          </a:bodyPr>
          <a:lstStyle/>
          <a:p>
            <a:pPr defTabSz="457200" eaLnBrk="0" hangingPunct="0"/>
            <a:r>
              <a:rPr lang="en-US" sz="1600" dirty="0">
                <a:solidFill>
                  <a:prstClr val="black"/>
                </a:solidFill>
              </a:rPr>
              <a:t>host</a:t>
            </a:r>
          </a:p>
        </p:txBody>
      </p:sp>
      <p:sp>
        <p:nvSpPr>
          <p:cNvPr id="21" name="Text Box 20"/>
          <p:cNvSpPr txBox="1">
            <a:spLocks noChangeArrowheads="1"/>
          </p:cNvSpPr>
          <p:nvPr/>
        </p:nvSpPr>
        <p:spPr bwMode="auto">
          <a:xfrm>
            <a:off x="7069138" y="4595459"/>
            <a:ext cx="76993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LAN 2</a:t>
            </a:r>
          </a:p>
        </p:txBody>
      </p:sp>
      <p:sp>
        <p:nvSpPr>
          <p:cNvPr id="22" name="Text Box 21"/>
          <p:cNvSpPr txBox="1">
            <a:spLocks noChangeArrowheads="1"/>
          </p:cNvSpPr>
          <p:nvPr/>
        </p:nvSpPr>
        <p:spPr bwMode="auto">
          <a:xfrm>
            <a:off x="7169150" y="3909659"/>
            <a:ext cx="3556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a:t>
            </a:r>
          </a:p>
        </p:txBody>
      </p:sp>
      <p:sp>
        <p:nvSpPr>
          <p:cNvPr id="23" name="AutoShape 22"/>
          <p:cNvSpPr>
            <a:spLocks noChangeArrowheads="1"/>
          </p:cNvSpPr>
          <p:nvPr/>
        </p:nvSpPr>
        <p:spPr bwMode="auto">
          <a:xfrm>
            <a:off x="2520950" y="4900259"/>
            <a:ext cx="609600" cy="381000"/>
          </a:xfrm>
          <a:prstGeom prst="roundRect">
            <a:avLst>
              <a:gd name="adj" fmla="val 16667"/>
            </a:avLst>
          </a:prstGeom>
          <a:solidFill>
            <a:srgbClr val="FF99CC"/>
          </a:solidFill>
          <a:ln w="19050">
            <a:solidFill>
              <a:schemeClr val="tx1"/>
            </a:solidFill>
            <a:round/>
            <a:headEnd/>
            <a:tailEnd/>
          </a:ln>
        </p:spPr>
        <p:txBody>
          <a:bodyPr wrap="none" anchor="ctr"/>
          <a:lstStyle/>
          <a:p>
            <a:pPr defTabSz="457200" eaLnBrk="0" hangingPunct="0"/>
            <a:r>
              <a:rPr lang="en-US" sz="1600" dirty="0">
                <a:solidFill>
                  <a:prstClr val="black"/>
                </a:solidFill>
              </a:rPr>
              <a:t>router</a:t>
            </a:r>
          </a:p>
        </p:txBody>
      </p:sp>
      <p:sp>
        <p:nvSpPr>
          <p:cNvPr id="24" name="AutoShape 23"/>
          <p:cNvSpPr>
            <a:spLocks noChangeArrowheads="1"/>
          </p:cNvSpPr>
          <p:nvPr/>
        </p:nvSpPr>
        <p:spPr bwMode="auto">
          <a:xfrm>
            <a:off x="4349749" y="4900259"/>
            <a:ext cx="668337" cy="381000"/>
          </a:xfrm>
          <a:prstGeom prst="roundRect">
            <a:avLst>
              <a:gd name="adj" fmla="val 16667"/>
            </a:avLst>
          </a:prstGeom>
          <a:solidFill>
            <a:srgbClr val="FF99CC"/>
          </a:solidFill>
          <a:ln w="57150">
            <a:solidFill>
              <a:schemeClr val="accent1"/>
            </a:solidFill>
            <a:round/>
            <a:headEnd/>
            <a:tailEnd/>
          </a:ln>
        </p:spPr>
        <p:txBody>
          <a:bodyPr wrap="none" anchor="ctr"/>
          <a:lstStyle/>
          <a:p>
            <a:pPr defTabSz="457200" eaLnBrk="0" hangingPunct="0"/>
            <a:r>
              <a:rPr lang="en-US" sz="1600" dirty="0">
                <a:solidFill>
                  <a:prstClr val="black"/>
                </a:solidFill>
              </a:rPr>
              <a:t>router</a:t>
            </a:r>
          </a:p>
        </p:txBody>
      </p:sp>
      <p:sp>
        <p:nvSpPr>
          <p:cNvPr id="25" name="Line 24"/>
          <p:cNvSpPr>
            <a:spLocks noChangeShapeType="1"/>
          </p:cNvSpPr>
          <p:nvPr/>
        </p:nvSpPr>
        <p:spPr bwMode="auto">
          <a:xfrm>
            <a:off x="2825750" y="45954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6" name="AutoShape 25"/>
          <p:cNvSpPr>
            <a:spLocks noChangeArrowheads="1"/>
          </p:cNvSpPr>
          <p:nvPr/>
        </p:nvSpPr>
        <p:spPr bwMode="auto">
          <a:xfrm>
            <a:off x="6178550" y="4900259"/>
            <a:ext cx="609600" cy="381000"/>
          </a:xfrm>
          <a:prstGeom prst="roundRect">
            <a:avLst>
              <a:gd name="adj" fmla="val 16667"/>
            </a:avLst>
          </a:prstGeom>
          <a:solidFill>
            <a:srgbClr val="FF99CC"/>
          </a:solidFill>
          <a:ln w="12700">
            <a:solidFill>
              <a:schemeClr val="tx1"/>
            </a:solidFill>
            <a:round/>
            <a:headEnd/>
            <a:tailEnd/>
          </a:ln>
        </p:spPr>
        <p:txBody>
          <a:bodyPr wrap="none" anchor="ctr"/>
          <a:lstStyle/>
          <a:p>
            <a:pPr defTabSz="457200" eaLnBrk="0" hangingPunct="0"/>
            <a:r>
              <a:rPr lang="en-US" sz="1600" dirty="0">
                <a:solidFill>
                  <a:prstClr val="black"/>
                </a:solidFill>
              </a:rPr>
              <a:t>router</a:t>
            </a:r>
          </a:p>
        </p:txBody>
      </p:sp>
      <p:sp>
        <p:nvSpPr>
          <p:cNvPr id="27" name="Line 26"/>
          <p:cNvSpPr>
            <a:spLocks noChangeShapeType="1"/>
          </p:cNvSpPr>
          <p:nvPr/>
        </p:nvSpPr>
        <p:spPr bwMode="auto">
          <a:xfrm>
            <a:off x="6483350" y="4595459"/>
            <a:ext cx="0" cy="30480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8" name="Line 27"/>
          <p:cNvSpPr>
            <a:spLocks noChangeShapeType="1"/>
          </p:cNvSpPr>
          <p:nvPr/>
        </p:nvSpPr>
        <p:spPr bwMode="auto">
          <a:xfrm>
            <a:off x="3130550" y="5052659"/>
            <a:ext cx="1219200" cy="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9" name="Line 28"/>
          <p:cNvSpPr>
            <a:spLocks noChangeShapeType="1"/>
          </p:cNvSpPr>
          <p:nvPr/>
        </p:nvSpPr>
        <p:spPr bwMode="auto">
          <a:xfrm>
            <a:off x="5018086" y="5052659"/>
            <a:ext cx="1160464" cy="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30" name="Text Box 29"/>
          <p:cNvSpPr txBox="1">
            <a:spLocks noChangeArrowheads="1"/>
          </p:cNvSpPr>
          <p:nvPr/>
        </p:nvSpPr>
        <p:spPr bwMode="auto">
          <a:xfrm>
            <a:off x="3408363" y="5052659"/>
            <a:ext cx="668337"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WAN</a:t>
            </a:r>
          </a:p>
        </p:txBody>
      </p:sp>
      <p:sp>
        <p:nvSpPr>
          <p:cNvPr id="31" name="Text Box 30"/>
          <p:cNvSpPr txBox="1">
            <a:spLocks noChangeArrowheads="1"/>
          </p:cNvSpPr>
          <p:nvPr/>
        </p:nvSpPr>
        <p:spPr bwMode="auto">
          <a:xfrm>
            <a:off x="5235575" y="5052659"/>
            <a:ext cx="6683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a:r>
              <a:rPr lang="en-US" sz="1600" dirty="0">
                <a:solidFill>
                  <a:prstClr val="black"/>
                </a:solidFill>
              </a:rPr>
              <a:t>WAN</a:t>
            </a:r>
          </a:p>
        </p:txBody>
      </p:sp>
      <p:sp>
        <p:nvSpPr>
          <p:cNvPr id="32" name="Text Box 31"/>
          <p:cNvSpPr txBox="1">
            <a:spLocks noChangeArrowheads="1"/>
          </p:cNvSpPr>
          <p:nvPr/>
        </p:nvSpPr>
        <p:spPr bwMode="auto">
          <a:xfrm>
            <a:off x="765175" y="3584221"/>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1.2.3.4</a:t>
            </a:r>
          </a:p>
        </p:txBody>
      </p:sp>
      <p:sp>
        <p:nvSpPr>
          <p:cNvPr id="33" name="Text Box 32"/>
          <p:cNvSpPr txBox="1">
            <a:spLocks noChangeArrowheads="1"/>
          </p:cNvSpPr>
          <p:nvPr/>
        </p:nvSpPr>
        <p:spPr bwMode="auto">
          <a:xfrm>
            <a:off x="1679575" y="3584221"/>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1.2.3.7</a:t>
            </a:r>
          </a:p>
        </p:txBody>
      </p:sp>
      <p:sp>
        <p:nvSpPr>
          <p:cNvPr id="34" name="Text Box 33"/>
          <p:cNvSpPr txBox="1">
            <a:spLocks noChangeArrowheads="1"/>
          </p:cNvSpPr>
          <p:nvPr/>
        </p:nvSpPr>
        <p:spPr bwMode="auto">
          <a:xfrm>
            <a:off x="2590800" y="3584221"/>
            <a:ext cx="14128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1.2.3.156</a:t>
            </a:r>
          </a:p>
        </p:txBody>
      </p:sp>
      <p:sp>
        <p:nvSpPr>
          <p:cNvPr id="35" name="Text Box 34"/>
          <p:cNvSpPr txBox="1">
            <a:spLocks noChangeArrowheads="1"/>
          </p:cNvSpPr>
          <p:nvPr/>
        </p:nvSpPr>
        <p:spPr bwMode="auto">
          <a:xfrm>
            <a:off x="5413375" y="3584221"/>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FF3300"/>
                </a:solidFill>
              </a:rPr>
              <a:t>5.6.7.8</a:t>
            </a:r>
          </a:p>
        </p:txBody>
      </p:sp>
      <p:sp>
        <p:nvSpPr>
          <p:cNvPr id="36" name="Text Box 35"/>
          <p:cNvSpPr txBox="1">
            <a:spLocks noChangeArrowheads="1"/>
          </p:cNvSpPr>
          <p:nvPr/>
        </p:nvSpPr>
        <p:spPr bwMode="auto">
          <a:xfrm>
            <a:off x="6261100" y="3584221"/>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FF3300"/>
                </a:solidFill>
              </a:rPr>
              <a:t>5.6.7.9</a:t>
            </a:r>
          </a:p>
        </p:txBody>
      </p:sp>
      <p:sp>
        <p:nvSpPr>
          <p:cNvPr id="37" name="Text Box 36"/>
          <p:cNvSpPr txBox="1">
            <a:spLocks noChangeArrowheads="1"/>
          </p:cNvSpPr>
          <p:nvPr/>
        </p:nvSpPr>
        <p:spPr bwMode="auto">
          <a:xfrm>
            <a:off x="7239000" y="3584221"/>
            <a:ext cx="14128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FF3300"/>
                </a:solidFill>
              </a:rPr>
              <a:t>5.6.7.212</a:t>
            </a:r>
          </a:p>
        </p:txBody>
      </p:sp>
      <p:grpSp>
        <p:nvGrpSpPr>
          <p:cNvPr id="49" name="Group 48">
            <a:extLst>
              <a:ext uri="{FF2B5EF4-FFF2-40B4-BE49-F238E27FC236}">
                <a16:creationId xmlns:a16="http://schemas.microsoft.com/office/drawing/2014/main" id="{B85E94C0-30CB-874B-BD4B-1C27D57058EA}"/>
              </a:ext>
            </a:extLst>
          </p:cNvPr>
          <p:cNvGrpSpPr/>
          <p:nvPr/>
        </p:nvGrpSpPr>
        <p:grpSpPr>
          <a:xfrm>
            <a:off x="2438400" y="5544784"/>
            <a:ext cx="2598737" cy="1279525"/>
            <a:chOff x="152400" y="5544784"/>
            <a:chExt cx="2598737" cy="1279525"/>
          </a:xfrm>
        </p:grpSpPr>
        <p:sp>
          <p:nvSpPr>
            <p:cNvPr id="43" name="Line 47"/>
            <p:cNvSpPr>
              <a:spLocks noChangeShapeType="1"/>
            </p:cNvSpPr>
            <p:nvPr/>
          </p:nvSpPr>
          <p:spPr bwMode="auto">
            <a:xfrm>
              <a:off x="1524000" y="5544784"/>
              <a:ext cx="0" cy="80803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grpSp>
          <p:nvGrpSpPr>
            <p:cNvPr id="48" name="Group 47">
              <a:extLst>
                <a:ext uri="{FF2B5EF4-FFF2-40B4-BE49-F238E27FC236}">
                  <a16:creationId xmlns:a16="http://schemas.microsoft.com/office/drawing/2014/main" id="{0410C61E-A81D-5D45-B1E8-E3A85C3A5809}"/>
                </a:ext>
              </a:extLst>
            </p:cNvPr>
            <p:cNvGrpSpPr/>
            <p:nvPr/>
          </p:nvGrpSpPr>
          <p:grpSpPr>
            <a:xfrm>
              <a:off x="152400" y="5544784"/>
              <a:ext cx="2598737" cy="1279525"/>
              <a:chOff x="2125663" y="5544784"/>
              <a:chExt cx="2598737" cy="1279525"/>
            </a:xfrm>
          </p:grpSpPr>
          <p:sp>
            <p:nvSpPr>
              <p:cNvPr id="44" name="Line 48"/>
              <p:cNvSpPr>
                <a:spLocks noChangeShapeType="1"/>
              </p:cNvSpPr>
              <p:nvPr/>
            </p:nvSpPr>
            <p:spPr bwMode="auto">
              <a:xfrm flipV="1">
                <a:off x="2151063" y="5967059"/>
                <a:ext cx="2573337" cy="158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grpSp>
            <p:nvGrpSpPr>
              <p:cNvPr id="47" name="Group 46">
                <a:extLst>
                  <a:ext uri="{FF2B5EF4-FFF2-40B4-BE49-F238E27FC236}">
                    <a16:creationId xmlns:a16="http://schemas.microsoft.com/office/drawing/2014/main" id="{3F58F3DE-C07C-D447-918B-57682B023D30}"/>
                  </a:ext>
                </a:extLst>
              </p:cNvPr>
              <p:cNvGrpSpPr/>
              <p:nvPr/>
            </p:nvGrpSpPr>
            <p:grpSpPr>
              <a:xfrm>
                <a:off x="2125663" y="5544784"/>
                <a:ext cx="2598737" cy="1279525"/>
                <a:chOff x="1512888" y="5544784"/>
                <a:chExt cx="2598737" cy="1279525"/>
              </a:xfrm>
            </p:grpSpPr>
            <p:sp>
              <p:nvSpPr>
                <p:cNvPr id="38" name="Text Box 37"/>
                <p:cNvSpPr txBox="1">
                  <a:spLocks noChangeArrowheads="1"/>
                </p:cNvSpPr>
                <p:nvPr/>
              </p:nvSpPr>
              <p:spPr bwMode="auto">
                <a:xfrm>
                  <a:off x="1512888" y="5600346"/>
                  <a:ext cx="154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0000FF"/>
                      </a:solidFill>
                    </a:rPr>
                    <a:t>1.2.3.0/24</a:t>
                  </a:r>
                </a:p>
              </p:txBody>
            </p:sp>
            <p:sp>
              <p:nvSpPr>
                <p:cNvPr id="39" name="Text Box 38"/>
                <p:cNvSpPr txBox="1">
                  <a:spLocks noChangeArrowheads="1"/>
                </p:cNvSpPr>
                <p:nvPr/>
              </p:nvSpPr>
              <p:spPr bwMode="auto">
                <a:xfrm>
                  <a:off x="1525588" y="5984521"/>
                  <a:ext cx="1549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1800" dirty="0">
                      <a:solidFill>
                        <a:srgbClr val="FF3300"/>
                      </a:solidFill>
                    </a:rPr>
                    <a:t>5.6.7.0/24</a:t>
                  </a:r>
                </a:p>
              </p:txBody>
            </p:sp>
            <p:sp>
              <p:nvSpPr>
                <p:cNvPr id="40" name="AutoShape 39"/>
                <p:cNvSpPr>
                  <a:spLocks noChangeArrowheads="1"/>
                </p:cNvSpPr>
                <p:nvPr/>
              </p:nvSpPr>
              <p:spPr bwMode="auto">
                <a:xfrm>
                  <a:off x="3228975" y="6006746"/>
                  <a:ext cx="728663" cy="230188"/>
                </a:xfrm>
                <a:prstGeom prst="rightArrow">
                  <a:avLst>
                    <a:gd name="adj1" fmla="val 50000"/>
                    <a:gd name="adj2" fmla="val 79138"/>
                  </a:avLst>
                </a:prstGeom>
                <a:solidFill>
                  <a:srgbClr val="FF3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41" name="AutoShape 40"/>
                <p:cNvSpPr>
                  <a:spLocks noChangeArrowheads="1"/>
                </p:cNvSpPr>
                <p:nvPr/>
              </p:nvSpPr>
              <p:spPr bwMode="auto">
                <a:xfrm flipH="1">
                  <a:off x="3227388" y="5660671"/>
                  <a:ext cx="728662" cy="230188"/>
                </a:xfrm>
                <a:prstGeom prst="rightArrow">
                  <a:avLst>
                    <a:gd name="adj1" fmla="val 50000"/>
                    <a:gd name="adj2" fmla="val 79138"/>
                  </a:avLst>
                </a:prstGeom>
                <a:solidFill>
                  <a:srgbClr val="0000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defTabSz="457200"/>
                  <a:endParaRPr lang="en-US" dirty="0">
                    <a:solidFill>
                      <a:prstClr val="black"/>
                    </a:solidFill>
                  </a:endParaRPr>
                </a:p>
              </p:txBody>
            </p:sp>
            <p:sp>
              <p:nvSpPr>
                <p:cNvPr id="42" name="Rectangle 46"/>
                <p:cNvSpPr>
                  <a:spLocks noChangeArrowheads="1"/>
                </p:cNvSpPr>
                <p:nvPr/>
              </p:nvSpPr>
              <p:spPr bwMode="auto">
                <a:xfrm>
                  <a:off x="1538288" y="5544784"/>
                  <a:ext cx="2573337" cy="808037"/>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dirty="0">
                    <a:solidFill>
                      <a:prstClr val="black"/>
                    </a:solidFill>
                  </a:endParaRPr>
                </a:p>
              </p:txBody>
            </p:sp>
            <p:sp>
              <p:nvSpPr>
                <p:cNvPr id="45" name="Text Box 50"/>
                <p:cNvSpPr txBox="1">
                  <a:spLocks noChangeArrowheads="1"/>
                </p:cNvSpPr>
                <p:nvPr/>
              </p:nvSpPr>
              <p:spPr bwMode="auto">
                <a:xfrm>
                  <a:off x="1692275" y="6427434"/>
                  <a:ext cx="21574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dirty="0">
                      <a:solidFill>
                        <a:prstClr val="black"/>
                      </a:solidFill>
                    </a:rPr>
                    <a:t>forwarding table</a:t>
                  </a:r>
                </a:p>
              </p:txBody>
            </p:sp>
          </p:grpSp>
        </p:grpSp>
      </p:grpSp>
      <p:sp>
        <p:nvSpPr>
          <p:cNvPr id="46" name="TextBox 45"/>
          <p:cNvSpPr txBox="1">
            <a:spLocks noChangeArrowheads="1"/>
          </p:cNvSpPr>
          <p:nvPr/>
        </p:nvSpPr>
        <p:spPr bwMode="auto">
          <a:xfrm>
            <a:off x="5105400" y="5747984"/>
            <a:ext cx="34290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dirty="0">
                <a:solidFill>
                  <a:prstClr val="black"/>
                </a:solidFill>
              </a:rPr>
              <a:t>Prefixes may be nested.  Routers identify the </a:t>
            </a:r>
            <a:r>
              <a:rPr lang="en-US" i="1" dirty="0">
                <a:solidFill>
                  <a:prstClr val="black"/>
                </a:solidFill>
              </a:rPr>
              <a:t>longest matching </a:t>
            </a:r>
            <a:r>
              <a:rPr lang="en-US" dirty="0">
                <a:solidFill>
                  <a:prstClr val="black"/>
                </a:solidFill>
              </a:rPr>
              <a:t>prefix.</a:t>
            </a:r>
          </a:p>
        </p:txBody>
      </p:sp>
    </p:spTree>
    <p:extLst>
      <p:ext uri="{BB962C8B-B14F-4D97-AF65-F5344CB8AC3E}">
        <p14:creationId xmlns:p14="http://schemas.microsoft.com/office/powerpoint/2010/main" val="945579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Forwarding vs. Routing</a:t>
            </a:r>
          </a:p>
        </p:txBody>
      </p:sp>
      <p:sp>
        <p:nvSpPr>
          <p:cNvPr id="3" name="Content Placeholder 2"/>
          <p:cNvSpPr>
            <a:spLocks noGrp="1"/>
          </p:cNvSpPr>
          <p:nvPr>
            <p:ph idx="1"/>
          </p:nvPr>
        </p:nvSpPr>
        <p:spPr>
          <a:xfrm>
            <a:off x="457200" y="1600200"/>
            <a:ext cx="8229600" cy="4030133"/>
          </a:xfrm>
        </p:spPr>
        <p:txBody>
          <a:bodyPr>
            <a:normAutofit fontScale="92500"/>
          </a:bodyPr>
          <a:lstStyle/>
          <a:p>
            <a:r>
              <a:rPr lang="en-US" sz="3600" dirty="0">
                <a:solidFill>
                  <a:srgbClr val="0000FF"/>
                </a:solidFill>
                <a:latin typeface="Arial" charset="0"/>
                <a:cs typeface="Arial" charset="0"/>
              </a:rPr>
              <a:t>Forwarding</a:t>
            </a:r>
            <a:r>
              <a:rPr lang="en-US" sz="3600" dirty="0">
                <a:latin typeface="Arial" charset="0"/>
                <a:cs typeface="Arial" charset="0"/>
              </a:rPr>
              <a:t>: data plane</a:t>
            </a:r>
          </a:p>
          <a:p>
            <a:pPr lvl="1"/>
            <a:r>
              <a:rPr lang="en-US" sz="3200" dirty="0">
                <a:latin typeface="Arial" charset="0"/>
                <a:ea typeface="Arial" charset="0"/>
                <a:cs typeface="Arial" charset="0"/>
              </a:rPr>
              <a:t>Directing a data packet to an outgoing link</a:t>
            </a:r>
          </a:p>
          <a:p>
            <a:pPr lvl="1"/>
            <a:r>
              <a:rPr lang="en-US" sz="3200" dirty="0">
                <a:latin typeface="Arial" charset="0"/>
                <a:ea typeface="Arial" charset="0"/>
                <a:cs typeface="Arial" charset="0"/>
              </a:rPr>
              <a:t>Individual router </a:t>
            </a:r>
            <a:r>
              <a:rPr lang="en-US" sz="3200" i="1" dirty="0">
                <a:latin typeface="Arial" charset="0"/>
                <a:ea typeface="Arial" charset="0"/>
                <a:cs typeface="Arial" charset="0"/>
              </a:rPr>
              <a:t>using</a:t>
            </a:r>
            <a:r>
              <a:rPr lang="en-US" sz="3200" dirty="0">
                <a:latin typeface="Arial" charset="0"/>
                <a:ea typeface="Arial" charset="0"/>
                <a:cs typeface="Arial" charset="0"/>
              </a:rPr>
              <a:t> a forwarding table</a:t>
            </a:r>
          </a:p>
          <a:p>
            <a:r>
              <a:rPr lang="en-US" sz="3600" dirty="0">
                <a:solidFill>
                  <a:srgbClr val="0000FF"/>
                </a:solidFill>
                <a:latin typeface="Arial" charset="0"/>
                <a:cs typeface="Arial" charset="0"/>
              </a:rPr>
              <a:t>Routing</a:t>
            </a:r>
            <a:r>
              <a:rPr lang="en-US" sz="3600" dirty="0">
                <a:latin typeface="Arial" charset="0"/>
                <a:cs typeface="Arial" charset="0"/>
              </a:rPr>
              <a:t>: control plane</a:t>
            </a:r>
          </a:p>
          <a:p>
            <a:pPr lvl="1"/>
            <a:r>
              <a:rPr lang="en-US" sz="3200" dirty="0">
                <a:latin typeface="Arial" charset="0"/>
                <a:ea typeface="Arial" charset="0"/>
                <a:cs typeface="Arial" charset="0"/>
              </a:rPr>
              <a:t>Computing paths the packets will follow</a:t>
            </a:r>
          </a:p>
          <a:p>
            <a:pPr lvl="1"/>
            <a:r>
              <a:rPr lang="en-US" sz="3200" dirty="0">
                <a:latin typeface="Arial" charset="0"/>
                <a:ea typeface="Arial" charset="0"/>
                <a:cs typeface="Arial" charset="0"/>
              </a:rPr>
              <a:t>Routers talking amongst themselves</a:t>
            </a:r>
          </a:p>
          <a:p>
            <a:pPr lvl="1"/>
            <a:r>
              <a:rPr lang="en-US" sz="3200" dirty="0">
                <a:latin typeface="Arial" charset="0"/>
                <a:ea typeface="Arial" charset="0"/>
                <a:cs typeface="Arial" charset="0"/>
              </a:rPr>
              <a:t>Individual router </a:t>
            </a:r>
            <a:r>
              <a:rPr lang="en-US" sz="3200" i="1" dirty="0">
                <a:latin typeface="Arial" charset="0"/>
                <a:ea typeface="Arial" charset="0"/>
                <a:cs typeface="Arial" charset="0"/>
              </a:rPr>
              <a:t>creating</a:t>
            </a:r>
            <a:r>
              <a:rPr lang="en-US" sz="3200" dirty="0">
                <a:latin typeface="Arial" charset="0"/>
                <a:ea typeface="Arial" charset="0"/>
                <a:cs typeface="Arial" charset="0"/>
              </a:rPr>
              <a:t> a forwarding table</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17</a:t>
            </a:fld>
            <a:endParaRPr lang="en-US" dirty="0">
              <a:solidFill>
                <a:prstClr val="black">
                  <a:tint val="75000"/>
                </a:prstClr>
              </a:solidFill>
            </a:endParaRPr>
          </a:p>
        </p:txBody>
      </p:sp>
      <p:grpSp>
        <p:nvGrpSpPr>
          <p:cNvPr id="5" name="Group 4"/>
          <p:cNvGrpSpPr>
            <a:grpSpLocks/>
          </p:cNvGrpSpPr>
          <p:nvPr/>
        </p:nvGrpSpPr>
        <p:grpSpPr bwMode="auto">
          <a:xfrm>
            <a:off x="3228975" y="6051371"/>
            <a:ext cx="590550" cy="430212"/>
            <a:chOff x="3120" y="2880"/>
            <a:chExt cx="144" cy="96"/>
          </a:xfrm>
        </p:grpSpPr>
        <p:sp>
          <p:nvSpPr>
            <p:cNvPr id="6" name="Oval 5"/>
            <p:cNvSpPr>
              <a:spLocks noChangeArrowheads="1"/>
            </p:cNvSpPr>
            <p:nvPr/>
          </p:nvSpPr>
          <p:spPr bwMode="auto">
            <a:xfrm>
              <a:off x="3120" y="292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sp>
          <p:nvSpPr>
            <p:cNvPr id="7" name="Rectangle 6"/>
            <p:cNvSpPr>
              <a:spLocks noChangeArrowheads="1"/>
            </p:cNvSpPr>
            <p:nvPr/>
          </p:nvSpPr>
          <p:spPr bwMode="auto">
            <a:xfrm>
              <a:off x="3120" y="2909"/>
              <a:ext cx="144" cy="39"/>
            </a:xfrm>
            <a:prstGeom prst="rect">
              <a:avLst/>
            </a:prstGeom>
            <a:solidFill>
              <a:srgbClr val="0078AA"/>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8" name="Rectangle 7"/>
            <p:cNvSpPr>
              <a:spLocks noChangeArrowheads="1"/>
            </p:cNvSpPr>
            <p:nvPr/>
          </p:nvSpPr>
          <p:spPr bwMode="auto">
            <a:xfrm>
              <a:off x="3120" y="2909"/>
              <a:ext cx="144" cy="39"/>
            </a:xfrm>
            <a:prstGeom prst="rect">
              <a:avLst/>
            </a:prstGeom>
            <a:solidFill>
              <a:srgbClr val="FF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9" name="Oval 8"/>
            <p:cNvSpPr>
              <a:spLocks noChangeArrowheads="1"/>
            </p:cNvSpPr>
            <p:nvPr/>
          </p:nvSpPr>
          <p:spPr bwMode="auto">
            <a:xfrm>
              <a:off x="3120" y="288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grpSp>
          <p:nvGrpSpPr>
            <p:cNvPr id="10" name="Group 9"/>
            <p:cNvGrpSpPr>
              <a:grpSpLocks/>
            </p:cNvGrpSpPr>
            <p:nvPr/>
          </p:nvGrpSpPr>
          <p:grpSpPr bwMode="auto">
            <a:xfrm>
              <a:off x="3141" y="2886"/>
              <a:ext cx="100" cy="43"/>
              <a:chOff x="6839" y="9479"/>
              <a:chExt cx="253" cy="119"/>
            </a:xfrm>
          </p:grpSpPr>
          <p:grpSp>
            <p:nvGrpSpPr>
              <p:cNvPr id="13" name="Group 10"/>
              <p:cNvGrpSpPr>
                <a:grpSpLocks/>
              </p:cNvGrpSpPr>
              <p:nvPr/>
            </p:nvGrpSpPr>
            <p:grpSpPr bwMode="auto">
              <a:xfrm>
                <a:off x="6839" y="9479"/>
                <a:ext cx="251" cy="116"/>
                <a:chOff x="6839" y="9479"/>
                <a:chExt cx="251" cy="116"/>
              </a:xfrm>
            </p:grpSpPr>
            <p:sp>
              <p:nvSpPr>
                <p:cNvPr id="23" name="Freeform 11"/>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4" name="Freeform 12"/>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5" name="Freeform 13"/>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6" name="Freeform 14"/>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7" name="Freeform 15"/>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8" name="Freeform 16"/>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9" name="Freeform 17"/>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30" name="Freeform 18"/>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nvGrpSpPr>
              <p:cNvPr id="14" name="Group 19"/>
              <p:cNvGrpSpPr>
                <a:grpSpLocks/>
              </p:cNvGrpSpPr>
              <p:nvPr/>
            </p:nvGrpSpPr>
            <p:grpSpPr bwMode="auto">
              <a:xfrm>
                <a:off x="6842" y="9482"/>
                <a:ext cx="250" cy="116"/>
                <a:chOff x="6842" y="9482"/>
                <a:chExt cx="250" cy="116"/>
              </a:xfrm>
            </p:grpSpPr>
            <p:sp>
              <p:nvSpPr>
                <p:cNvPr id="15" name="Freeform 20"/>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6" name="Freeform 21"/>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7" name="Freeform 22"/>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8" name="Freeform 23"/>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9" name="Freeform 24"/>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0" name="Freeform 25"/>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1" name="Freeform 26"/>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22" name="Freeform 27"/>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sp>
          <p:nvSpPr>
            <p:cNvPr id="11" name="Line 28"/>
            <p:cNvSpPr>
              <a:spLocks noChangeShapeType="1"/>
            </p:cNvSpPr>
            <p:nvPr/>
          </p:nvSpPr>
          <p:spPr bwMode="auto">
            <a:xfrm>
              <a:off x="3120"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12" name="Line 29"/>
            <p:cNvSpPr>
              <a:spLocks noChangeShapeType="1"/>
            </p:cNvSpPr>
            <p:nvPr/>
          </p:nvSpPr>
          <p:spPr bwMode="auto">
            <a:xfrm>
              <a:off x="3264"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grpSp>
      <p:grpSp>
        <p:nvGrpSpPr>
          <p:cNvPr id="31" name="Group 30"/>
          <p:cNvGrpSpPr>
            <a:grpSpLocks/>
          </p:cNvGrpSpPr>
          <p:nvPr/>
        </p:nvGrpSpPr>
        <p:grpSpPr bwMode="auto">
          <a:xfrm>
            <a:off x="1422400" y="6051371"/>
            <a:ext cx="590550" cy="430212"/>
            <a:chOff x="3120" y="2880"/>
            <a:chExt cx="144" cy="96"/>
          </a:xfrm>
        </p:grpSpPr>
        <p:sp>
          <p:nvSpPr>
            <p:cNvPr id="32" name="Oval 31"/>
            <p:cNvSpPr>
              <a:spLocks noChangeArrowheads="1"/>
            </p:cNvSpPr>
            <p:nvPr/>
          </p:nvSpPr>
          <p:spPr bwMode="auto">
            <a:xfrm>
              <a:off x="3120" y="292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sp>
          <p:nvSpPr>
            <p:cNvPr id="33" name="Rectangle 32"/>
            <p:cNvSpPr>
              <a:spLocks noChangeArrowheads="1"/>
            </p:cNvSpPr>
            <p:nvPr/>
          </p:nvSpPr>
          <p:spPr bwMode="auto">
            <a:xfrm>
              <a:off x="3120" y="2909"/>
              <a:ext cx="144" cy="39"/>
            </a:xfrm>
            <a:prstGeom prst="rect">
              <a:avLst/>
            </a:prstGeom>
            <a:solidFill>
              <a:srgbClr val="0078AA"/>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34" name="Rectangle 33"/>
            <p:cNvSpPr>
              <a:spLocks noChangeArrowheads="1"/>
            </p:cNvSpPr>
            <p:nvPr/>
          </p:nvSpPr>
          <p:spPr bwMode="auto">
            <a:xfrm>
              <a:off x="3120" y="2909"/>
              <a:ext cx="144" cy="39"/>
            </a:xfrm>
            <a:prstGeom prst="rect">
              <a:avLst/>
            </a:prstGeom>
            <a:solidFill>
              <a:srgbClr val="FF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35" name="Oval 34"/>
            <p:cNvSpPr>
              <a:spLocks noChangeArrowheads="1"/>
            </p:cNvSpPr>
            <p:nvPr/>
          </p:nvSpPr>
          <p:spPr bwMode="auto">
            <a:xfrm>
              <a:off x="3120" y="288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grpSp>
          <p:nvGrpSpPr>
            <p:cNvPr id="36" name="Group 35"/>
            <p:cNvGrpSpPr>
              <a:grpSpLocks/>
            </p:cNvGrpSpPr>
            <p:nvPr/>
          </p:nvGrpSpPr>
          <p:grpSpPr bwMode="auto">
            <a:xfrm>
              <a:off x="3141" y="2886"/>
              <a:ext cx="100" cy="43"/>
              <a:chOff x="6839" y="9479"/>
              <a:chExt cx="253" cy="119"/>
            </a:xfrm>
          </p:grpSpPr>
          <p:grpSp>
            <p:nvGrpSpPr>
              <p:cNvPr id="39" name="Group 36"/>
              <p:cNvGrpSpPr>
                <a:grpSpLocks/>
              </p:cNvGrpSpPr>
              <p:nvPr/>
            </p:nvGrpSpPr>
            <p:grpSpPr bwMode="auto">
              <a:xfrm>
                <a:off x="6839" y="9479"/>
                <a:ext cx="251" cy="116"/>
                <a:chOff x="6839" y="9479"/>
                <a:chExt cx="251" cy="116"/>
              </a:xfrm>
            </p:grpSpPr>
            <p:sp>
              <p:nvSpPr>
                <p:cNvPr id="49" name="Freeform 37"/>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0" name="Freeform 38"/>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1" name="Freeform 39"/>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2" name="Freeform 40"/>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3" name="Freeform 41"/>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4" name="Freeform 42"/>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5" name="Freeform 43"/>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56" name="Freeform 44"/>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nvGrpSpPr>
              <p:cNvPr id="40" name="Group 45"/>
              <p:cNvGrpSpPr>
                <a:grpSpLocks/>
              </p:cNvGrpSpPr>
              <p:nvPr/>
            </p:nvGrpSpPr>
            <p:grpSpPr bwMode="auto">
              <a:xfrm>
                <a:off x="6842" y="9482"/>
                <a:ext cx="250" cy="116"/>
                <a:chOff x="6842" y="9482"/>
                <a:chExt cx="250" cy="116"/>
              </a:xfrm>
            </p:grpSpPr>
            <p:sp>
              <p:nvSpPr>
                <p:cNvPr id="41" name="Freeform 46"/>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2" name="Freeform 47"/>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3" name="Freeform 48"/>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4" name="Freeform 49"/>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5" name="Freeform 50"/>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6" name="Freeform 51"/>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7" name="Freeform 52"/>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48" name="Freeform 53"/>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sp>
          <p:nvSpPr>
            <p:cNvPr id="37" name="Line 54"/>
            <p:cNvSpPr>
              <a:spLocks noChangeShapeType="1"/>
            </p:cNvSpPr>
            <p:nvPr/>
          </p:nvSpPr>
          <p:spPr bwMode="auto">
            <a:xfrm>
              <a:off x="3120"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38" name="Line 55"/>
            <p:cNvSpPr>
              <a:spLocks noChangeShapeType="1"/>
            </p:cNvSpPr>
            <p:nvPr/>
          </p:nvSpPr>
          <p:spPr bwMode="auto">
            <a:xfrm>
              <a:off x="3264"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grpSp>
      <p:sp>
        <p:nvSpPr>
          <p:cNvPr id="57" name="Line 56"/>
          <p:cNvSpPr>
            <a:spLocks noChangeShapeType="1"/>
          </p:cNvSpPr>
          <p:nvPr/>
        </p:nvSpPr>
        <p:spPr bwMode="auto">
          <a:xfrm flipV="1">
            <a:off x="1951038" y="6297433"/>
            <a:ext cx="1292225" cy="1588"/>
          </a:xfrm>
          <a:prstGeom prst="line">
            <a:avLst/>
          </a:prstGeom>
          <a:noFill/>
          <a:ln w="28575">
            <a:solidFill>
              <a:srgbClr val="000000"/>
            </a:solidFill>
            <a:round/>
            <a:headEnd/>
            <a:tailEnd type="arrow" w="lg" len="lg"/>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grpSp>
        <p:nvGrpSpPr>
          <p:cNvPr id="58" name="Group 57"/>
          <p:cNvGrpSpPr>
            <a:grpSpLocks/>
          </p:cNvGrpSpPr>
          <p:nvPr/>
        </p:nvGrpSpPr>
        <p:grpSpPr bwMode="auto">
          <a:xfrm>
            <a:off x="5051425" y="6051371"/>
            <a:ext cx="590550" cy="430212"/>
            <a:chOff x="3120" y="2880"/>
            <a:chExt cx="144" cy="96"/>
          </a:xfrm>
        </p:grpSpPr>
        <p:sp>
          <p:nvSpPr>
            <p:cNvPr id="59" name="Oval 58"/>
            <p:cNvSpPr>
              <a:spLocks noChangeArrowheads="1"/>
            </p:cNvSpPr>
            <p:nvPr/>
          </p:nvSpPr>
          <p:spPr bwMode="auto">
            <a:xfrm>
              <a:off x="3120" y="292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sp>
          <p:nvSpPr>
            <p:cNvPr id="60" name="Rectangle 59"/>
            <p:cNvSpPr>
              <a:spLocks noChangeArrowheads="1"/>
            </p:cNvSpPr>
            <p:nvPr/>
          </p:nvSpPr>
          <p:spPr bwMode="auto">
            <a:xfrm>
              <a:off x="3120" y="2909"/>
              <a:ext cx="144" cy="39"/>
            </a:xfrm>
            <a:prstGeom prst="rect">
              <a:avLst/>
            </a:prstGeom>
            <a:solidFill>
              <a:srgbClr val="0078AA"/>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61" name="Rectangle 60"/>
            <p:cNvSpPr>
              <a:spLocks noChangeArrowheads="1"/>
            </p:cNvSpPr>
            <p:nvPr/>
          </p:nvSpPr>
          <p:spPr bwMode="auto">
            <a:xfrm>
              <a:off x="3120" y="2909"/>
              <a:ext cx="144" cy="39"/>
            </a:xfrm>
            <a:prstGeom prst="rect">
              <a:avLst/>
            </a:prstGeom>
            <a:solidFill>
              <a:srgbClr val="FF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62" name="Oval 61"/>
            <p:cNvSpPr>
              <a:spLocks noChangeArrowheads="1"/>
            </p:cNvSpPr>
            <p:nvPr/>
          </p:nvSpPr>
          <p:spPr bwMode="auto">
            <a:xfrm>
              <a:off x="3120" y="288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grpSp>
          <p:nvGrpSpPr>
            <p:cNvPr id="63" name="Group 62"/>
            <p:cNvGrpSpPr>
              <a:grpSpLocks/>
            </p:cNvGrpSpPr>
            <p:nvPr/>
          </p:nvGrpSpPr>
          <p:grpSpPr bwMode="auto">
            <a:xfrm>
              <a:off x="3141" y="2886"/>
              <a:ext cx="100" cy="43"/>
              <a:chOff x="6839" y="9479"/>
              <a:chExt cx="253" cy="119"/>
            </a:xfrm>
          </p:grpSpPr>
          <p:grpSp>
            <p:nvGrpSpPr>
              <p:cNvPr id="66" name="Group 63"/>
              <p:cNvGrpSpPr>
                <a:grpSpLocks/>
              </p:cNvGrpSpPr>
              <p:nvPr/>
            </p:nvGrpSpPr>
            <p:grpSpPr bwMode="auto">
              <a:xfrm>
                <a:off x="6839" y="9479"/>
                <a:ext cx="251" cy="116"/>
                <a:chOff x="6839" y="9479"/>
                <a:chExt cx="251" cy="116"/>
              </a:xfrm>
            </p:grpSpPr>
            <p:sp>
              <p:nvSpPr>
                <p:cNvPr id="76" name="Freeform 64"/>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7" name="Freeform 65"/>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8" name="Freeform 66"/>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9" name="Freeform 67"/>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80" name="Freeform 68"/>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81" name="Freeform 69"/>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82" name="Freeform 70"/>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83" name="Freeform 71"/>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nvGrpSpPr>
              <p:cNvPr id="67" name="Group 72"/>
              <p:cNvGrpSpPr>
                <a:grpSpLocks/>
              </p:cNvGrpSpPr>
              <p:nvPr/>
            </p:nvGrpSpPr>
            <p:grpSpPr bwMode="auto">
              <a:xfrm>
                <a:off x="6842" y="9482"/>
                <a:ext cx="250" cy="116"/>
                <a:chOff x="6842" y="9482"/>
                <a:chExt cx="250" cy="116"/>
              </a:xfrm>
            </p:grpSpPr>
            <p:sp>
              <p:nvSpPr>
                <p:cNvPr id="68" name="Freeform 73"/>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69" name="Freeform 74"/>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0" name="Freeform 75"/>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1" name="Freeform 76"/>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2" name="Freeform 77"/>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3" name="Freeform 78"/>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4" name="Freeform 79"/>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75" name="Freeform 80"/>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sp>
          <p:nvSpPr>
            <p:cNvPr id="64" name="Line 81"/>
            <p:cNvSpPr>
              <a:spLocks noChangeShapeType="1"/>
            </p:cNvSpPr>
            <p:nvPr/>
          </p:nvSpPr>
          <p:spPr bwMode="auto">
            <a:xfrm>
              <a:off x="3120"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65" name="Line 82"/>
            <p:cNvSpPr>
              <a:spLocks noChangeShapeType="1"/>
            </p:cNvSpPr>
            <p:nvPr/>
          </p:nvSpPr>
          <p:spPr bwMode="auto">
            <a:xfrm>
              <a:off x="3264"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grpSp>
      <p:sp>
        <p:nvSpPr>
          <p:cNvPr id="84" name="Line 83"/>
          <p:cNvSpPr>
            <a:spLocks noChangeShapeType="1"/>
          </p:cNvSpPr>
          <p:nvPr/>
        </p:nvSpPr>
        <p:spPr bwMode="auto">
          <a:xfrm flipV="1">
            <a:off x="3790950" y="6299021"/>
            <a:ext cx="1292225" cy="1587"/>
          </a:xfrm>
          <a:prstGeom prst="line">
            <a:avLst/>
          </a:prstGeom>
          <a:noFill/>
          <a:ln w="28575">
            <a:solidFill>
              <a:srgbClr val="000000"/>
            </a:solidFill>
            <a:round/>
            <a:headEnd/>
            <a:tailEnd type="arrow" w="lg" len="lg"/>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grpSp>
        <p:nvGrpSpPr>
          <p:cNvPr id="85" name="Group 84"/>
          <p:cNvGrpSpPr>
            <a:grpSpLocks/>
          </p:cNvGrpSpPr>
          <p:nvPr/>
        </p:nvGrpSpPr>
        <p:grpSpPr bwMode="auto">
          <a:xfrm>
            <a:off x="6861175" y="6051371"/>
            <a:ext cx="590550" cy="430212"/>
            <a:chOff x="3120" y="2880"/>
            <a:chExt cx="144" cy="96"/>
          </a:xfrm>
        </p:grpSpPr>
        <p:sp>
          <p:nvSpPr>
            <p:cNvPr id="86" name="Oval 85"/>
            <p:cNvSpPr>
              <a:spLocks noChangeArrowheads="1"/>
            </p:cNvSpPr>
            <p:nvPr/>
          </p:nvSpPr>
          <p:spPr bwMode="auto">
            <a:xfrm>
              <a:off x="3120" y="292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sp>
          <p:nvSpPr>
            <p:cNvPr id="87" name="Rectangle 86"/>
            <p:cNvSpPr>
              <a:spLocks noChangeArrowheads="1"/>
            </p:cNvSpPr>
            <p:nvPr/>
          </p:nvSpPr>
          <p:spPr bwMode="auto">
            <a:xfrm>
              <a:off x="3120" y="2909"/>
              <a:ext cx="144" cy="39"/>
            </a:xfrm>
            <a:prstGeom prst="rect">
              <a:avLst/>
            </a:prstGeom>
            <a:solidFill>
              <a:srgbClr val="0078AA"/>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88" name="Rectangle 87"/>
            <p:cNvSpPr>
              <a:spLocks noChangeArrowheads="1"/>
            </p:cNvSpPr>
            <p:nvPr/>
          </p:nvSpPr>
          <p:spPr bwMode="auto">
            <a:xfrm>
              <a:off x="3120" y="2909"/>
              <a:ext cx="144" cy="39"/>
            </a:xfrm>
            <a:prstGeom prst="rect">
              <a:avLst/>
            </a:prstGeom>
            <a:solidFill>
              <a:srgbClr val="FF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defTabSz="457200"/>
              <a:endParaRPr lang="en-US" dirty="0">
                <a:solidFill>
                  <a:prstClr val="black"/>
                </a:solidFill>
              </a:endParaRPr>
            </a:p>
          </p:txBody>
        </p:sp>
        <p:sp>
          <p:nvSpPr>
            <p:cNvPr id="89" name="Oval 88"/>
            <p:cNvSpPr>
              <a:spLocks noChangeArrowheads="1"/>
            </p:cNvSpPr>
            <p:nvPr/>
          </p:nvSpPr>
          <p:spPr bwMode="auto">
            <a:xfrm>
              <a:off x="3120" y="2880"/>
              <a:ext cx="144" cy="56"/>
            </a:xfrm>
            <a:prstGeom prst="ellipse">
              <a:avLst/>
            </a:prstGeom>
            <a:solidFill>
              <a:srgbClr val="FF0000"/>
            </a:solidFill>
            <a:ln w="1270">
              <a:solidFill>
                <a:srgbClr val="AAE6FF"/>
              </a:solidFill>
              <a:round/>
              <a:headEnd/>
              <a:tailEnd/>
            </a:ln>
          </p:spPr>
          <p:txBody>
            <a:bodyPr/>
            <a:lstStyle/>
            <a:p>
              <a:pPr defTabSz="457200"/>
              <a:endParaRPr lang="en-US" dirty="0">
                <a:solidFill>
                  <a:prstClr val="black"/>
                </a:solidFill>
              </a:endParaRPr>
            </a:p>
          </p:txBody>
        </p:sp>
        <p:grpSp>
          <p:nvGrpSpPr>
            <p:cNvPr id="90" name="Group 89"/>
            <p:cNvGrpSpPr>
              <a:grpSpLocks/>
            </p:cNvGrpSpPr>
            <p:nvPr/>
          </p:nvGrpSpPr>
          <p:grpSpPr bwMode="auto">
            <a:xfrm>
              <a:off x="3141" y="2886"/>
              <a:ext cx="100" cy="43"/>
              <a:chOff x="6839" y="9479"/>
              <a:chExt cx="253" cy="119"/>
            </a:xfrm>
          </p:grpSpPr>
          <p:grpSp>
            <p:nvGrpSpPr>
              <p:cNvPr id="93" name="Group 90"/>
              <p:cNvGrpSpPr>
                <a:grpSpLocks/>
              </p:cNvGrpSpPr>
              <p:nvPr/>
            </p:nvGrpSpPr>
            <p:grpSpPr bwMode="auto">
              <a:xfrm>
                <a:off x="6839" y="9479"/>
                <a:ext cx="251" cy="116"/>
                <a:chOff x="6839" y="9479"/>
                <a:chExt cx="251" cy="116"/>
              </a:xfrm>
            </p:grpSpPr>
            <p:sp>
              <p:nvSpPr>
                <p:cNvPr id="103" name="Freeform 91"/>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4" name="Freeform 92"/>
                <p:cNvSpPr>
                  <a:spLocks/>
                </p:cNvSpPr>
                <p:nvPr/>
              </p:nvSpPr>
              <p:spPr bwMode="auto">
                <a:xfrm>
                  <a:off x="6970" y="9482"/>
                  <a:ext cx="120" cy="49"/>
                </a:xfrm>
                <a:custGeom>
                  <a:avLst/>
                  <a:gdLst>
                    <a:gd name="T0" fmla="*/ 0 w 479"/>
                    <a:gd name="T1" fmla="*/ 38 h 148"/>
                    <a:gd name="T2" fmla="*/ 27 w 479"/>
                    <a:gd name="T3" fmla="*/ 49 h 148"/>
                    <a:gd name="T4" fmla="*/ 91 w 479"/>
                    <a:gd name="T5" fmla="*/ 17 h 148"/>
                    <a:gd name="T6" fmla="*/ 120 w 479"/>
                    <a:gd name="T7" fmla="*/ 27 h 148"/>
                    <a:gd name="T8" fmla="*/ 104 w 479"/>
                    <a:gd name="T9" fmla="*/ 0 h 148"/>
                    <a:gd name="T10" fmla="*/ 29 w 479"/>
                    <a:gd name="T11" fmla="*/ 0 h 148"/>
                    <a:gd name="T12" fmla="*/ 60 w 479"/>
                    <a:gd name="T13" fmla="*/ 8 h 148"/>
                    <a:gd name="T14" fmla="*/ 0 w 479"/>
                    <a:gd name="T15" fmla="*/ 38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115"/>
                      </a:moveTo>
                      <a:lnTo>
                        <a:pt x="106" y="148"/>
                      </a:lnTo>
                      <a:lnTo>
                        <a:pt x="364" y="50"/>
                      </a:lnTo>
                      <a:lnTo>
                        <a:pt x="479" y="82"/>
                      </a:lnTo>
                      <a:lnTo>
                        <a:pt x="417" y="0"/>
                      </a:lnTo>
                      <a:lnTo>
                        <a:pt x="115" y="0"/>
                      </a:lnTo>
                      <a:lnTo>
                        <a:pt x="239" y="25"/>
                      </a:lnTo>
                      <a:lnTo>
                        <a:pt x="0" y="11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5" name="Freeform 93"/>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6" name="Freeform 94"/>
                <p:cNvSpPr>
                  <a:spLocks/>
                </p:cNvSpPr>
                <p:nvPr/>
              </p:nvSpPr>
              <p:spPr bwMode="auto">
                <a:xfrm>
                  <a:off x="6839" y="9540"/>
                  <a:ext cx="120" cy="52"/>
                </a:xfrm>
                <a:custGeom>
                  <a:avLst/>
                  <a:gdLst>
                    <a:gd name="T0" fmla="*/ 120 w 480"/>
                    <a:gd name="T1" fmla="*/ 11 h 158"/>
                    <a:gd name="T2" fmla="*/ 93 w 480"/>
                    <a:gd name="T3" fmla="*/ 0 h 158"/>
                    <a:gd name="T4" fmla="*/ 31 w 480"/>
                    <a:gd name="T5" fmla="*/ 33 h 158"/>
                    <a:gd name="T6" fmla="*/ 0 w 480"/>
                    <a:gd name="T7" fmla="*/ 22 h 158"/>
                    <a:gd name="T8" fmla="*/ 16 w 480"/>
                    <a:gd name="T9" fmla="*/ 52 h 158"/>
                    <a:gd name="T10" fmla="*/ 93 w 480"/>
                    <a:gd name="T11" fmla="*/ 52 h 158"/>
                    <a:gd name="T12" fmla="*/ 60 w 480"/>
                    <a:gd name="T13" fmla="*/ 41 h 158"/>
                    <a:gd name="T14" fmla="*/ 120 w 480"/>
                    <a:gd name="T15" fmla="*/ 11 h 158"/>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8"/>
                    <a:gd name="T26" fmla="*/ 480 w 480"/>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8">
                      <a:moveTo>
                        <a:pt x="480" y="34"/>
                      </a:moveTo>
                      <a:lnTo>
                        <a:pt x="373" y="0"/>
                      </a:lnTo>
                      <a:lnTo>
                        <a:pt x="125" y="100"/>
                      </a:lnTo>
                      <a:lnTo>
                        <a:pt x="0" y="67"/>
                      </a:lnTo>
                      <a:lnTo>
                        <a:pt x="62" y="158"/>
                      </a:lnTo>
                      <a:lnTo>
                        <a:pt x="373" y="158"/>
                      </a:lnTo>
                      <a:lnTo>
                        <a:pt x="240" y="125"/>
                      </a:lnTo>
                      <a:lnTo>
                        <a:pt x="48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7" name="Freeform 95"/>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8" name="Freeform 96"/>
                <p:cNvSpPr>
                  <a:spLocks/>
                </p:cNvSpPr>
                <p:nvPr/>
              </p:nvSpPr>
              <p:spPr bwMode="auto">
                <a:xfrm>
                  <a:off x="6846" y="9479"/>
                  <a:ext cx="120" cy="50"/>
                </a:xfrm>
                <a:custGeom>
                  <a:avLst/>
                  <a:gdLst>
                    <a:gd name="T0" fmla="*/ 0 w 479"/>
                    <a:gd name="T1" fmla="*/ 11 h 149"/>
                    <a:gd name="T2" fmla="*/ 27 w 479"/>
                    <a:gd name="T3" fmla="*/ 0 h 149"/>
                    <a:gd name="T4" fmla="*/ 91 w 479"/>
                    <a:gd name="T5" fmla="*/ 31 h 149"/>
                    <a:gd name="T6" fmla="*/ 120 w 479"/>
                    <a:gd name="T7" fmla="*/ 22 h 149"/>
                    <a:gd name="T8" fmla="*/ 105 w 479"/>
                    <a:gd name="T9" fmla="*/ 50 h 149"/>
                    <a:gd name="T10" fmla="*/ 29 w 479"/>
                    <a:gd name="T11" fmla="*/ 50 h 149"/>
                    <a:gd name="T12" fmla="*/ 60 w 479"/>
                    <a:gd name="T13" fmla="*/ 42 h 149"/>
                    <a:gd name="T14" fmla="*/ 0 w 479"/>
                    <a:gd name="T15" fmla="*/ 11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34"/>
                      </a:moveTo>
                      <a:lnTo>
                        <a:pt x="107" y="0"/>
                      </a:lnTo>
                      <a:lnTo>
                        <a:pt x="364" y="91"/>
                      </a:lnTo>
                      <a:lnTo>
                        <a:pt x="479" y="67"/>
                      </a:lnTo>
                      <a:lnTo>
                        <a:pt x="418" y="149"/>
                      </a:lnTo>
                      <a:lnTo>
                        <a:pt x="115" y="149"/>
                      </a:lnTo>
                      <a:lnTo>
                        <a:pt x="240" y="124"/>
                      </a:lnTo>
                      <a:lnTo>
                        <a:pt x="0" y="3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9" name="Freeform 97"/>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10" name="Freeform 98"/>
                <p:cNvSpPr>
                  <a:spLocks/>
                </p:cNvSpPr>
                <p:nvPr/>
              </p:nvSpPr>
              <p:spPr bwMode="auto">
                <a:xfrm>
                  <a:off x="6966" y="9545"/>
                  <a:ext cx="119" cy="50"/>
                </a:xfrm>
                <a:custGeom>
                  <a:avLst/>
                  <a:gdLst>
                    <a:gd name="T0" fmla="*/ 119 w 478"/>
                    <a:gd name="T1" fmla="*/ 39 h 148"/>
                    <a:gd name="T2" fmla="*/ 93 w 478"/>
                    <a:gd name="T3" fmla="*/ 50 h 148"/>
                    <a:gd name="T4" fmla="*/ 31 w 478"/>
                    <a:gd name="T5" fmla="*/ 17 h 148"/>
                    <a:gd name="T6" fmla="*/ 0 w 478"/>
                    <a:gd name="T7" fmla="*/ 28 h 148"/>
                    <a:gd name="T8" fmla="*/ 15 w 478"/>
                    <a:gd name="T9" fmla="*/ 0 h 148"/>
                    <a:gd name="T10" fmla="*/ 93 w 478"/>
                    <a:gd name="T11" fmla="*/ 0 h 148"/>
                    <a:gd name="T12" fmla="*/ 59 w 478"/>
                    <a:gd name="T13" fmla="*/ 8 h 148"/>
                    <a:gd name="T14" fmla="*/ 119 w 478"/>
                    <a:gd name="T15" fmla="*/ 39 h 148"/>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8"/>
                    <a:gd name="T26" fmla="*/ 478 w 478"/>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8">
                      <a:moveTo>
                        <a:pt x="478" y="116"/>
                      </a:moveTo>
                      <a:lnTo>
                        <a:pt x="372" y="148"/>
                      </a:lnTo>
                      <a:lnTo>
                        <a:pt x="123" y="50"/>
                      </a:lnTo>
                      <a:lnTo>
                        <a:pt x="0" y="83"/>
                      </a:lnTo>
                      <a:lnTo>
                        <a:pt x="61" y="0"/>
                      </a:lnTo>
                      <a:lnTo>
                        <a:pt x="372" y="0"/>
                      </a:lnTo>
                      <a:lnTo>
                        <a:pt x="238" y="25"/>
                      </a:lnTo>
                      <a:lnTo>
                        <a:pt x="478" y="116"/>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nvGrpSpPr>
              <p:cNvPr id="94" name="Group 99"/>
              <p:cNvGrpSpPr>
                <a:grpSpLocks/>
              </p:cNvGrpSpPr>
              <p:nvPr/>
            </p:nvGrpSpPr>
            <p:grpSpPr bwMode="auto">
              <a:xfrm>
                <a:off x="6842" y="9482"/>
                <a:ext cx="250" cy="116"/>
                <a:chOff x="6842" y="9482"/>
                <a:chExt cx="250" cy="116"/>
              </a:xfrm>
            </p:grpSpPr>
            <p:sp>
              <p:nvSpPr>
                <p:cNvPr id="95" name="Freeform 100"/>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96" name="Freeform 101"/>
                <p:cNvSpPr>
                  <a:spLocks/>
                </p:cNvSpPr>
                <p:nvPr/>
              </p:nvSpPr>
              <p:spPr bwMode="auto">
                <a:xfrm>
                  <a:off x="6972" y="9485"/>
                  <a:ext cx="120" cy="49"/>
                </a:xfrm>
                <a:custGeom>
                  <a:avLst/>
                  <a:gdLst>
                    <a:gd name="T0" fmla="*/ 0 w 479"/>
                    <a:gd name="T1" fmla="*/ 38 h 149"/>
                    <a:gd name="T2" fmla="*/ 27 w 479"/>
                    <a:gd name="T3" fmla="*/ 49 h 149"/>
                    <a:gd name="T4" fmla="*/ 91 w 479"/>
                    <a:gd name="T5" fmla="*/ 16 h 149"/>
                    <a:gd name="T6" fmla="*/ 120 w 479"/>
                    <a:gd name="T7" fmla="*/ 27 h 149"/>
                    <a:gd name="T8" fmla="*/ 104 w 479"/>
                    <a:gd name="T9" fmla="*/ 0 h 149"/>
                    <a:gd name="T10" fmla="*/ 29 w 479"/>
                    <a:gd name="T11" fmla="*/ 0 h 149"/>
                    <a:gd name="T12" fmla="*/ 60 w 479"/>
                    <a:gd name="T13" fmla="*/ 8 h 149"/>
                    <a:gd name="T14" fmla="*/ 0 w 479"/>
                    <a:gd name="T15" fmla="*/ 38 h 149"/>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9"/>
                    <a:gd name="T26" fmla="*/ 479 w 479"/>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9">
                      <a:moveTo>
                        <a:pt x="0" y="115"/>
                      </a:moveTo>
                      <a:lnTo>
                        <a:pt x="106" y="149"/>
                      </a:lnTo>
                      <a:lnTo>
                        <a:pt x="364" y="50"/>
                      </a:lnTo>
                      <a:lnTo>
                        <a:pt x="479" y="82"/>
                      </a:lnTo>
                      <a:lnTo>
                        <a:pt x="417" y="0"/>
                      </a:lnTo>
                      <a:lnTo>
                        <a:pt x="115" y="0"/>
                      </a:lnTo>
                      <a:lnTo>
                        <a:pt x="239" y="25"/>
                      </a:lnTo>
                      <a:lnTo>
                        <a:pt x="0" y="11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97" name="Freeform 102"/>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98" name="Freeform 103"/>
                <p:cNvSpPr>
                  <a:spLocks/>
                </p:cNvSpPr>
                <p:nvPr/>
              </p:nvSpPr>
              <p:spPr bwMode="auto">
                <a:xfrm>
                  <a:off x="6842" y="9543"/>
                  <a:ext cx="120" cy="52"/>
                </a:xfrm>
                <a:custGeom>
                  <a:avLst/>
                  <a:gdLst>
                    <a:gd name="T0" fmla="*/ 120 w 480"/>
                    <a:gd name="T1" fmla="*/ 11 h 156"/>
                    <a:gd name="T2" fmla="*/ 93 w 480"/>
                    <a:gd name="T3" fmla="*/ 0 h 156"/>
                    <a:gd name="T4" fmla="*/ 31 w 480"/>
                    <a:gd name="T5" fmla="*/ 33 h 156"/>
                    <a:gd name="T6" fmla="*/ 0 w 480"/>
                    <a:gd name="T7" fmla="*/ 22 h 156"/>
                    <a:gd name="T8" fmla="*/ 16 w 480"/>
                    <a:gd name="T9" fmla="*/ 52 h 156"/>
                    <a:gd name="T10" fmla="*/ 93 w 480"/>
                    <a:gd name="T11" fmla="*/ 52 h 156"/>
                    <a:gd name="T12" fmla="*/ 60 w 480"/>
                    <a:gd name="T13" fmla="*/ 41 h 156"/>
                    <a:gd name="T14" fmla="*/ 120 w 480"/>
                    <a:gd name="T15" fmla="*/ 11 h 15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156"/>
                    <a:gd name="T26" fmla="*/ 480 w 48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156">
                      <a:moveTo>
                        <a:pt x="480" y="33"/>
                      </a:moveTo>
                      <a:lnTo>
                        <a:pt x="373" y="0"/>
                      </a:lnTo>
                      <a:lnTo>
                        <a:pt x="125" y="99"/>
                      </a:lnTo>
                      <a:lnTo>
                        <a:pt x="0" y="66"/>
                      </a:lnTo>
                      <a:lnTo>
                        <a:pt x="62" y="156"/>
                      </a:lnTo>
                      <a:lnTo>
                        <a:pt x="373" y="156"/>
                      </a:lnTo>
                      <a:lnTo>
                        <a:pt x="240" y="124"/>
                      </a:lnTo>
                      <a:lnTo>
                        <a:pt x="48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99" name="Freeform 104"/>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0" name="Freeform 105"/>
                <p:cNvSpPr>
                  <a:spLocks/>
                </p:cNvSpPr>
                <p:nvPr/>
              </p:nvSpPr>
              <p:spPr bwMode="auto">
                <a:xfrm>
                  <a:off x="6848" y="9482"/>
                  <a:ext cx="120" cy="49"/>
                </a:xfrm>
                <a:custGeom>
                  <a:avLst/>
                  <a:gdLst>
                    <a:gd name="T0" fmla="*/ 0 w 479"/>
                    <a:gd name="T1" fmla="*/ 11 h 148"/>
                    <a:gd name="T2" fmla="*/ 27 w 479"/>
                    <a:gd name="T3" fmla="*/ 0 h 148"/>
                    <a:gd name="T4" fmla="*/ 91 w 479"/>
                    <a:gd name="T5" fmla="*/ 30 h 148"/>
                    <a:gd name="T6" fmla="*/ 120 w 479"/>
                    <a:gd name="T7" fmla="*/ 22 h 148"/>
                    <a:gd name="T8" fmla="*/ 104 w 479"/>
                    <a:gd name="T9" fmla="*/ 49 h 148"/>
                    <a:gd name="T10" fmla="*/ 29 w 479"/>
                    <a:gd name="T11" fmla="*/ 49 h 148"/>
                    <a:gd name="T12" fmla="*/ 60 w 479"/>
                    <a:gd name="T13" fmla="*/ 41 h 148"/>
                    <a:gd name="T14" fmla="*/ 0 w 479"/>
                    <a:gd name="T15" fmla="*/ 11 h 148"/>
                    <a:gd name="T16" fmla="*/ 0 60000 65536"/>
                    <a:gd name="T17" fmla="*/ 0 60000 65536"/>
                    <a:gd name="T18" fmla="*/ 0 60000 65536"/>
                    <a:gd name="T19" fmla="*/ 0 60000 65536"/>
                    <a:gd name="T20" fmla="*/ 0 60000 65536"/>
                    <a:gd name="T21" fmla="*/ 0 60000 65536"/>
                    <a:gd name="T22" fmla="*/ 0 60000 65536"/>
                    <a:gd name="T23" fmla="*/ 0 60000 65536"/>
                    <a:gd name="T24" fmla="*/ 0 w 479"/>
                    <a:gd name="T25" fmla="*/ 0 h 148"/>
                    <a:gd name="T26" fmla="*/ 479 w 479"/>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9" h="148">
                      <a:moveTo>
                        <a:pt x="0" y="33"/>
                      </a:moveTo>
                      <a:lnTo>
                        <a:pt x="106" y="0"/>
                      </a:lnTo>
                      <a:lnTo>
                        <a:pt x="364" y="90"/>
                      </a:lnTo>
                      <a:lnTo>
                        <a:pt x="479" y="66"/>
                      </a:lnTo>
                      <a:lnTo>
                        <a:pt x="417" y="148"/>
                      </a:lnTo>
                      <a:lnTo>
                        <a:pt x="115" y="148"/>
                      </a:lnTo>
                      <a:lnTo>
                        <a:pt x="240" y="123"/>
                      </a:lnTo>
                      <a:lnTo>
                        <a:pt x="0" y="33"/>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1" name="Freeform 106"/>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sp>
              <p:nvSpPr>
                <p:cNvPr id="102" name="Freeform 107"/>
                <p:cNvSpPr>
                  <a:spLocks/>
                </p:cNvSpPr>
                <p:nvPr/>
              </p:nvSpPr>
              <p:spPr bwMode="auto">
                <a:xfrm>
                  <a:off x="6968" y="9548"/>
                  <a:ext cx="120" cy="50"/>
                </a:xfrm>
                <a:custGeom>
                  <a:avLst/>
                  <a:gdLst>
                    <a:gd name="T0" fmla="*/ 120 w 478"/>
                    <a:gd name="T1" fmla="*/ 39 h 149"/>
                    <a:gd name="T2" fmla="*/ 93 w 478"/>
                    <a:gd name="T3" fmla="*/ 50 h 149"/>
                    <a:gd name="T4" fmla="*/ 31 w 478"/>
                    <a:gd name="T5" fmla="*/ 17 h 149"/>
                    <a:gd name="T6" fmla="*/ 0 w 478"/>
                    <a:gd name="T7" fmla="*/ 28 h 149"/>
                    <a:gd name="T8" fmla="*/ 15 w 478"/>
                    <a:gd name="T9" fmla="*/ 0 h 149"/>
                    <a:gd name="T10" fmla="*/ 93 w 478"/>
                    <a:gd name="T11" fmla="*/ 0 h 149"/>
                    <a:gd name="T12" fmla="*/ 60 w 478"/>
                    <a:gd name="T13" fmla="*/ 8 h 149"/>
                    <a:gd name="T14" fmla="*/ 120 w 478"/>
                    <a:gd name="T15" fmla="*/ 39 h 149"/>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49"/>
                    <a:gd name="T26" fmla="*/ 478 w 478"/>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49">
                      <a:moveTo>
                        <a:pt x="478" y="117"/>
                      </a:moveTo>
                      <a:lnTo>
                        <a:pt x="372" y="149"/>
                      </a:lnTo>
                      <a:lnTo>
                        <a:pt x="123" y="50"/>
                      </a:lnTo>
                      <a:lnTo>
                        <a:pt x="0" y="83"/>
                      </a:lnTo>
                      <a:lnTo>
                        <a:pt x="61" y="0"/>
                      </a:lnTo>
                      <a:lnTo>
                        <a:pt x="372" y="0"/>
                      </a:lnTo>
                      <a:lnTo>
                        <a:pt x="238" y="25"/>
                      </a:lnTo>
                      <a:lnTo>
                        <a:pt x="478" y="117"/>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457200"/>
                  <a:endParaRPr lang="en-US" dirty="0">
                    <a:solidFill>
                      <a:prstClr val="black"/>
                    </a:solidFill>
                  </a:endParaRPr>
                </a:p>
              </p:txBody>
            </p:sp>
          </p:grpSp>
        </p:grpSp>
        <p:sp>
          <p:nvSpPr>
            <p:cNvPr id="91" name="Line 108"/>
            <p:cNvSpPr>
              <a:spLocks noChangeShapeType="1"/>
            </p:cNvSpPr>
            <p:nvPr/>
          </p:nvSpPr>
          <p:spPr bwMode="auto">
            <a:xfrm>
              <a:off x="3120"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sp>
          <p:nvSpPr>
            <p:cNvPr id="92" name="Line 109"/>
            <p:cNvSpPr>
              <a:spLocks noChangeShapeType="1"/>
            </p:cNvSpPr>
            <p:nvPr/>
          </p:nvSpPr>
          <p:spPr bwMode="auto">
            <a:xfrm>
              <a:off x="3264" y="2908"/>
              <a:ext cx="0" cy="39"/>
            </a:xfrm>
            <a:prstGeom prst="line">
              <a:avLst/>
            </a:prstGeom>
            <a:noFill/>
            <a:ln w="1270">
              <a:solidFill>
                <a:srgbClr val="AAE6FF"/>
              </a:solidFill>
              <a:round/>
              <a:headEnd/>
              <a:tailEnd/>
            </a:ln>
            <a:extLst>
              <a:ext uri="{909E8E84-426E-40dd-AFC4-6F175D3DCCD1}">
                <a14:hiddenFill xmlns:a14="http://schemas.microsoft.com/office/drawing/2010/main" xmlns="">
                  <a:noFill/>
                </a14:hiddenFill>
              </a:ext>
            </a:extLst>
          </p:spPr>
          <p:txBody>
            <a:bodyPr/>
            <a:lstStyle/>
            <a:p>
              <a:pPr defTabSz="457200"/>
              <a:endParaRPr lang="en-US" dirty="0">
                <a:solidFill>
                  <a:prstClr val="black"/>
                </a:solidFill>
              </a:endParaRPr>
            </a:p>
          </p:txBody>
        </p:sp>
      </p:grpSp>
      <p:sp>
        <p:nvSpPr>
          <p:cNvPr id="111" name="Line 110"/>
          <p:cNvSpPr>
            <a:spLocks noChangeShapeType="1"/>
          </p:cNvSpPr>
          <p:nvPr/>
        </p:nvSpPr>
        <p:spPr bwMode="auto">
          <a:xfrm flipV="1">
            <a:off x="5640388" y="6299021"/>
            <a:ext cx="1292225" cy="1587"/>
          </a:xfrm>
          <a:prstGeom prst="line">
            <a:avLst/>
          </a:prstGeom>
          <a:noFill/>
          <a:ln w="28575">
            <a:solidFill>
              <a:srgbClr val="000000"/>
            </a:solidFill>
            <a:round/>
            <a:headEnd/>
            <a:tailEnd type="arrow" w="lg" len="lg"/>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Tree>
    <p:extLst>
      <p:ext uri="{BB962C8B-B14F-4D97-AF65-F5344CB8AC3E}">
        <p14:creationId xmlns:p14="http://schemas.microsoft.com/office/powerpoint/2010/main" val="1546519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Shortest-Path Routing</a:t>
            </a:r>
          </a:p>
        </p:txBody>
      </p:sp>
      <p:sp>
        <p:nvSpPr>
          <p:cNvPr id="3" name="Content Placeholder 2"/>
          <p:cNvSpPr>
            <a:spLocks noGrp="1"/>
          </p:cNvSpPr>
          <p:nvPr>
            <p:ph idx="1"/>
          </p:nvPr>
        </p:nvSpPr>
        <p:spPr>
          <a:xfrm>
            <a:off x="457200" y="1515535"/>
            <a:ext cx="8229600" cy="2435404"/>
          </a:xfrm>
        </p:spPr>
        <p:txBody>
          <a:bodyPr>
            <a:normAutofit lnSpcReduction="10000"/>
          </a:bodyPr>
          <a:lstStyle/>
          <a:p>
            <a:r>
              <a:rPr lang="en-US" dirty="0">
                <a:latin typeface="Calibri" charset="0"/>
                <a:ea typeface="ＭＳ Ｐゴシック" charset="0"/>
                <a:cs typeface="ＭＳ Ｐゴシック" charset="0"/>
              </a:rPr>
              <a:t>Compute: </a:t>
            </a:r>
            <a:r>
              <a:rPr lang="en-US" i="1" dirty="0">
                <a:latin typeface="Calibri" charset="0"/>
                <a:ea typeface="ＭＳ Ｐゴシック" charset="0"/>
                <a:cs typeface="ＭＳ Ｐゴシック" charset="0"/>
              </a:rPr>
              <a:t>path costs</a:t>
            </a:r>
            <a:r>
              <a:rPr lang="en-US" dirty="0">
                <a:latin typeface="Calibri" charset="0"/>
                <a:ea typeface="ＭＳ Ｐゴシック" charset="0"/>
                <a:cs typeface="ＭＳ Ｐゴシック" charset="0"/>
              </a:rPr>
              <a:t> to all nodes</a:t>
            </a:r>
          </a:p>
          <a:p>
            <a:pPr lvl="1"/>
            <a:r>
              <a:rPr lang="en-US" dirty="0">
                <a:latin typeface="Calibri" charset="0"/>
                <a:ea typeface="ＭＳ Ｐゴシック" charset="0"/>
              </a:rPr>
              <a:t>From a source u to all other nodes</a:t>
            </a:r>
          </a:p>
          <a:p>
            <a:pPr lvl="1"/>
            <a:r>
              <a:rPr lang="en-US" dirty="0">
                <a:latin typeface="Calibri" charset="0"/>
                <a:ea typeface="ＭＳ Ｐゴシック" charset="0"/>
              </a:rPr>
              <a:t>Cost of the path through each link</a:t>
            </a:r>
          </a:p>
          <a:p>
            <a:pPr lvl="1"/>
            <a:r>
              <a:rPr lang="en-US" dirty="0">
                <a:latin typeface="Calibri" charset="0"/>
                <a:ea typeface="ＭＳ Ｐゴシック" charset="0"/>
              </a:rPr>
              <a:t>Next hop along least-cost path to</a:t>
            </a:r>
            <a:br>
              <a:rPr lang="en-US" dirty="0">
                <a:latin typeface="Calibri" charset="0"/>
                <a:ea typeface="ＭＳ Ｐゴシック" charset="0"/>
              </a:rPr>
            </a:br>
            <a:r>
              <a:rPr lang="en-US" dirty="0">
                <a:latin typeface="Calibri" charset="0"/>
                <a:ea typeface="ＭＳ Ｐゴシック" charset="0"/>
              </a:rPr>
              <a:t>destination</a:t>
            </a:r>
          </a:p>
          <a:p>
            <a:pPr marL="0" indent="0">
              <a:buNone/>
            </a:pPr>
            <a:endParaRPr lang="en-US" dirty="0"/>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18</a:t>
            </a:fld>
            <a:endParaRPr lang="en-US" dirty="0">
              <a:solidFill>
                <a:prstClr val="black">
                  <a:tint val="75000"/>
                </a:prstClr>
              </a:solidFill>
            </a:endParaRPr>
          </a:p>
        </p:txBody>
      </p:sp>
      <p:sp>
        <p:nvSpPr>
          <p:cNvPr id="5" name="Oval 8"/>
          <p:cNvSpPr>
            <a:spLocks noChangeArrowheads="1"/>
          </p:cNvSpPr>
          <p:nvPr/>
        </p:nvSpPr>
        <p:spPr bwMode="auto">
          <a:xfrm>
            <a:off x="1494098" y="4868861"/>
            <a:ext cx="287337" cy="252412"/>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dirty="0">
              <a:solidFill>
                <a:prstClr val="black"/>
              </a:solidFill>
            </a:endParaRPr>
          </a:p>
        </p:txBody>
      </p:sp>
      <p:sp>
        <p:nvSpPr>
          <p:cNvPr id="6" name="Oval 9"/>
          <p:cNvSpPr>
            <a:spLocks noChangeArrowheads="1"/>
          </p:cNvSpPr>
          <p:nvPr/>
        </p:nvSpPr>
        <p:spPr bwMode="auto">
          <a:xfrm>
            <a:off x="2356110" y="5540373"/>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7" name="Oval 10"/>
          <p:cNvSpPr>
            <a:spLocks noChangeArrowheads="1"/>
          </p:cNvSpPr>
          <p:nvPr/>
        </p:nvSpPr>
        <p:spPr bwMode="auto">
          <a:xfrm>
            <a:off x="2451360" y="4281486"/>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8" name="Oval 11"/>
          <p:cNvSpPr>
            <a:spLocks noChangeArrowheads="1"/>
          </p:cNvSpPr>
          <p:nvPr/>
        </p:nvSpPr>
        <p:spPr bwMode="auto">
          <a:xfrm>
            <a:off x="3218123" y="4952998"/>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9" name="Oval 12"/>
          <p:cNvSpPr>
            <a:spLocks noChangeArrowheads="1"/>
          </p:cNvSpPr>
          <p:nvPr/>
        </p:nvSpPr>
        <p:spPr bwMode="auto">
          <a:xfrm>
            <a:off x="4080135" y="5540373"/>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10" name="Oval 13"/>
          <p:cNvSpPr>
            <a:spLocks noChangeArrowheads="1"/>
          </p:cNvSpPr>
          <p:nvPr/>
        </p:nvSpPr>
        <p:spPr bwMode="auto">
          <a:xfrm>
            <a:off x="4080135" y="4281486"/>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11" name="Oval 14"/>
          <p:cNvSpPr>
            <a:spLocks noChangeArrowheads="1"/>
          </p:cNvSpPr>
          <p:nvPr/>
        </p:nvSpPr>
        <p:spPr bwMode="auto">
          <a:xfrm>
            <a:off x="3313373" y="6045198"/>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12" name="Oval 15"/>
          <p:cNvSpPr>
            <a:spLocks noChangeArrowheads="1"/>
          </p:cNvSpPr>
          <p:nvPr/>
        </p:nvSpPr>
        <p:spPr bwMode="auto">
          <a:xfrm>
            <a:off x="5037398" y="4868861"/>
            <a:ext cx="287337" cy="252412"/>
          </a:xfrm>
          <a:prstGeom prst="ellipse">
            <a:avLst/>
          </a:prstGeom>
          <a:solidFill>
            <a:srgbClr val="0000FF"/>
          </a:solidFill>
          <a:ln w="9525">
            <a:solidFill>
              <a:srgbClr val="0000FF"/>
            </a:solidFill>
            <a:round/>
            <a:headEnd/>
            <a:tailEnd/>
          </a:ln>
        </p:spPr>
        <p:txBody>
          <a:bodyPr wrap="none" anchor="ctr"/>
          <a:lstStyle/>
          <a:p>
            <a:pPr defTabSz="457200"/>
            <a:endParaRPr lang="en-US" dirty="0">
              <a:solidFill>
                <a:prstClr val="black"/>
              </a:solidFill>
            </a:endParaRPr>
          </a:p>
        </p:txBody>
      </p:sp>
      <p:sp>
        <p:nvSpPr>
          <p:cNvPr id="13" name="Line 16"/>
          <p:cNvSpPr>
            <a:spLocks noChangeShapeType="1"/>
          </p:cNvSpPr>
          <p:nvPr/>
        </p:nvSpPr>
        <p:spPr bwMode="auto">
          <a:xfrm flipV="1">
            <a:off x="1781435" y="4448173"/>
            <a:ext cx="669925" cy="504825"/>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4" name="Line 17"/>
          <p:cNvSpPr>
            <a:spLocks noChangeShapeType="1"/>
          </p:cNvSpPr>
          <p:nvPr/>
        </p:nvSpPr>
        <p:spPr bwMode="auto">
          <a:xfrm>
            <a:off x="1732223" y="5092698"/>
            <a:ext cx="623887" cy="531813"/>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5" name="Line 18"/>
          <p:cNvSpPr>
            <a:spLocks noChangeShapeType="1"/>
          </p:cNvSpPr>
          <p:nvPr/>
        </p:nvSpPr>
        <p:spPr bwMode="auto">
          <a:xfrm>
            <a:off x="2691073" y="4462461"/>
            <a:ext cx="574675" cy="53181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6" name="Line 19"/>
          <p:cNvSpPr>
            <a:spLocks noChangeShapeType="1"/>
          </p:cNvSpPr>
          <p:nvPr/>
        </p:nvSpPr>
        <p:spPr bwMode="auto">
          <a:xfrm>
            <a:off x="2633923" y="5700711"/>
            <a:ext cx="679450" cy="4286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7" name="Line 20"/>
          <p:cNvSpPr>
            <a:spLocks noChangeShapeType="1"/>
          </p:cNvSpPr>
          <p:nvPr/>
        </p:nvSpPr>
        <p:spPr bwMode="auto">
          <a:xfrm flipV="1">
            <a:off x="2627573" y="5162548"/>
            <a:ext cx="638175"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8" name="Line 21"/>
          <p:cNvSpPr>
            <a:spLocks noChangeShapeType="1"/>
          </p:cNvSpPr>
          <p:nvPr/>
        </p:nvSpPr>
        <p:spPr bwMode="auto">
          <a:xfrm>
            <a:off x="3457835" y="5176836"/>
            <a:ext cx="654050" cy="39211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19" name="Line 22"/>
          <p:cNvSpPr>
            <a:spLocks noChangeShapeType="1"/>
          </p:cNvSpPr>
          <p:nvPr/>
        </p:nvSpPr>
        <p:spPr bwMode="auto">
          <a:xfrm flipV="1">
            <a:off x="3553085" y="5751511"/>
            <a:ext cx="590550" cy="33496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0" name="Line 23"/>
          <p:cNvSpPr>
            <a:spLocks noChangeShapeType="1"/>
          </p:cNvSpPr>
          <p:nvPr/>
        </p:nvSpPr>
        <p:spPr bwMode="auto">
          <a:xfrm flipV="1">
            <a:off x="3505460" y="4994273"/>
            <a:ext cx="1531938" cy="984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1" name="Line 24"/>
          <p:cNvSpPr>
            <a:spLocks noChangeShapeType="1"/>
          </p:cNvSpPr>
          <p:nvPr/>
        </p:nvSpPr>
        <p:spPr bwMode="auto">
          <a:xfrm>
            <a:off x="2706948" y="4392611"/>
            <a:ext cx="1373187" cy="14287"/>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2" name="Line 25"/>
          <p:cNvSpPr>
            <a:spLocks noChangeShapeType="1"/>
          </p:cNvSpPr>
          <p:nvPr/>
        </p:nvSpPr>
        <p:spPr bwMode="auto">
          <a:xfrm>
            <a:off x="4362710" y="4471986"/>
            <a:ext cx="766763" cy="4191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23" name="Text Box 26"/>
          <p:cNvSpPr txBox="1">
            <a:spLocks noChangeArrowheads="1"/>
          </p:cNvSpPr>
          <p:nvPr/>
        </p:nvSpPr>
        <p:spPr bwMode="auto">
          <a:xfrm>
            <a:off x="1824298" y="422751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3</a:t>
            </a:r>
          </a:p>
        </p:txBody>
      </p:sp>
      <p:sp>
        <p:nvSpPr>
          <p:cNvPr id="24" name="Text Box 27"/>
          <p:cNvSpPr txBox="1">
            <a:spLocks noChangeArrowheads="1"/>
          </p:cNvSpPr>
          <p:nvPr/>
        </p:nvSpPr>
        <p:spPr bwMode="auto">
          <a:xfrm>
            <a:off x="3181610" y="3878261"/>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2</a:t>
            </a:r>
          </a:p>
        </p:txBody>
      </p:sp>
      <p:sp>
        <p:nvSpPr>
          <p:cNvPr id="25" name="Text Box 28"/>
          <p:cNvSpPr txBox="1">
            <a:spLocks noChangeArrowheads="1"/>
          </p:cNvSpPr>
          <p:nvPr/>
        </p:nvSpPr>
        <p:spPr bwMode="auto">
          <a:xfrm>
            <a:off x="1937010" y="490061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2</a:t>
            </a:r>
          </a:p>
        </p:txBody>
      </p:sp>
      <p:sp>
        <p:nvSpPr>
          <p:cNvPr id="26" name="Text Box 29"/>
          <p:cNvSpPr txBox="1">
            <a:spLocks noChangeArrowheads="1"/>
          </p:cNvSpPr>
          <p:nvPr/>
        </p:nvSpPr>
        <p:spPr bwMode="auto">
          <a:xfrm>
            <a:off x="2941898" y="439896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1</a:t>
            </a:r>
          </a:p>
        </p:txBody>
      </p:sp>
      <p:sp>
        <p:nvSpPr>
          <p:cNvPr id="27" name="Text Box 30"/>
          <p:cNvSpPr txBox="1">
            <a:spLocks noChangeArrowheads="1"/>
          </p:cNvSpPr>
          <p:nvPr/>
        </p:nvSpPr>
        <p:spPr bwMode="auto">
          <a:xfrm>
            <a:off x="2638685" y="4970461"/>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1</a:t>
            </a:r>
          </a:p>
        </p:txBody>
      </p:sp>
      <p:sp>
        <p:nvSpPr>
          <p:cNvPr id="28" name="Text Box 31"/>
          <p:cNvSpPr txBox="1">
            <a:spLocks noChangeArrowheads="1"/>
          </p:cNvSpPr>
          <p:nvPr/>
        </p:nvSpPr>
        <p:spPr bwMode="auto">
          <a:xfrm>
            <a:off x="3916623" y="456406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4</a:t>
            </a:r>
          </a:p>
        </p:txBody>
      </p:sp>
      <p:sp>
        <p:nvSpPr>
          <p:cNvPr id="29" name="Text Box 32"/>
          <p:cNvSpPr txBox="1">
            <a:spLocks noChangeArrowheads="1"/>
          </p:cNvSpPr>
          <p:nvPr/>
        </p:nvSpPr>
        <p:spPr bwMode="auto">
          <a:xfrm>
            <a:off x="4618298" y="415766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1</a:t>
            </a:r>
          </a:p>
        </p:txBody>
      </p:sp>
      <p:sp>
        <p:nvSpPr>
          <p:cNvPr id="30" name="Text Box 33"/>
          <p:cNvSpPr txBox="1">
            <a:spLocks noChangeArrowheads="1"/>
          </p:cNvSpPr>
          <p:nvPr/>
        </p:nvSpPr>
        <p:spPr bwMode="auto">
          <a:xfrm>
            <a:off x="2591060" y="5783261"/>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4</a:t>
            </a:r>
          </a:p>
        </p:txBody>
      </p:sp>
      <p:sp>
        <p:nvSpPr>
          <p:cNvPr id="31" name="Text Box 34"/>
          <p:cNvSpPr txBox="1">
            <a:spLocks noChangeArrowheads="1"/>
          </p:cNvSpPr>
          <p:nvPr/>
        </p:nvSpPr>
        <p:spPr bwMode="auto">
          <a:xfrm>
            <a:off x="3440373" y="520541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5</a:t>
            </a:r>
          </a:p>
        </p:txBody>
      </p:sp>
      <p:sp>
        <p:nvSpPr>
          <p:cNvPr id="32" name="Text Box 35"/>
          <p:cNvSpPr txBox="1">
            <a:spLocks noChangeArrowheads="1"/>
          </p:cNvSpPr>
          <p:nvPr/>
        </p:nvSpPr>
        <p:spPr bwMode="auto">
          <a:xfrm>
            <a:off x="3837248" y="581024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dirty="0">
                <a:solidFill>
                  <a:prstClr val="black"/>
                </a:solidFill>
                <a:latin typeface="Times New Roman" charset="0"/>
              </a:rPr>
              <a:t>3</a:t>
            </a:r>
          </a:p>
        </p:txBody>
      </p:sp>
      <p:sp>
        <p:nvSpPr>
          <p:cNvPr id="33" name="Text Box 44"/>
          <p:cNvSpPr txBox="1">
            <a:spLocks noChangeArrowheads="1"/>
          </p:cNvSpPr>
          <p:nvPr/>
        </p:nvSpPr>
        <p:spPr bwMode="auto">
          <a:xfrm>
            <a:off x="1090873" y="4740273"/>
            <a:ext cx="3397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FF3300"/>
                </a:solidFill>
              </a:rPr>
              <a:t>u</a:t>
            </a:r>
          </a:p>
        </p:txBody>
      </p:sp>
      <p:sp>
        <p:nvSpPr>
          <p:cNvPr id="34" name="Text Box 45"/>
          <p:cNvSpPr txBox="1">
            <a:spLocks noChangeArrowheads="1"/>
          </p:cNvSpPr>
          <p:nvPr/>
        </p:nvSpPr>
        <p:spPr bwMode="auto">
          <a:xfrm>
            <a:off x="3170498" y="6200773"/>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FF3300"/>
                </a:solidFill>
              </a:rPr>
              <a:t>s</a:t>
            </a:r>
          </a:p>
        </p:txBody>
      </p:sp>
      <p:sp>
        <p:nvSpPr>
          <p:cNvPr id="35" name="Line 47"/>
          <p:cNvSpPr>
            <a:spLocks noChangeShapeType="1"/>
          </p:cNvSpPr>
          <p:nvPr/>
        </p:nvSpPr>
        <p:spPr bwMode="auto">
          <a:xfrm>
            <a:off x="1367098" y="5337173"/>
            <a:ext cx="1727200" cy="1228725"/>
          </a:xfrm>
          <a:prstGeom prst="line">
            <a:avLst/>
          </a:prstGeom>
          <a:noFill/>
          <a:ln w="38100">
            <a:solidFill>
              <a:srgbClr val="FF3300"/>
            </a:solidFill>
            <a:round/>
            <a:headEnd/>
            <a:tailEnd type="triangle" w="lg" len="lg"/>
          </a:ln>
          <a:extLst>
            <a:ext uri="{909E8E84-426E-40dd-AFC4-6F175D3DCCD1}">
              <a14:hiddenFill xmlns:a14="http://schemas.microsoft.com/office/drawing/2010/main" xmlns="">
                <a:noFill/>
              </a14:hiddenFill>
            </a:ext>
          </a:extLst>
        </p:spPr>
        <p:txBody>
          <a:bodyPr wrap="none" anchor="ctr"/>
          <a:lstStyle/>
          <a:p>
            <a:pPr defTabSz="457200"/>
            <a:endParaRPr lang="en-US" dirty="0">
              <a:solidFill>
                <a:prstClr val="black"/>
              </a:solidFill>
            </a:endParaRPr>
          </a:p>
        </p:txBody>
      </p:sp>
      <p:sp>
        <p:nvSpPr>
          <p:cNvPr id="36" name="Text Box 48"/>
          <p:cNvSpPr txBox="1">
            <a:spLocks noChangeArrowheads="1"/>
          </p:cNvSpPr>
          <p:nvPr/>
        </p:nvSpPr>
        <p:spPr bwMode="auto">
          <a:xfrm>
            <a:off x="1903673" y="5989636"/>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CC0000"/>
                </a:solidFill>
              </a:rPr>
              <a:t>6</a:t>
            </a:r>
          </a:p>
        </p:txBody>
      </p:sp>
      <p:grpSp>
        <p:nvGrpSpPr>
          <p:cNvPr id="62" name="Group 61"/>
          <p:cNvGrpSpPr/>
          <p:nvPr/>
        </p:nvGrpSpPr>
        <p:grpSpPr>
          <a:xfrm>
            <a:off x="6506985" y="2836515"/>
            <a:ext cx="2330450" cy="4032250"/>
            <a:chOff x="6506985" y="2836515"/>
            <a:chExt cx="2330450" cy="4032250"/>
          </a:xfrm>
        </p:grpSpPr>
        <p:sp>
          <p:nvSpPr>
            <p:cNvPr id="38" name="Line 45"/>
            <p:cNvSpPr>
              <a:spLocks noChangeShapeType="1"/>
            </p:cNvSpPr>
            <p:nvPr/>
          </p:nvSpPr>
          <p:spPr bwMode="auto">
            <a:xfrm>
              <a:off x="7264223" y="3017490"/>
              <a:ext cx="38100" cy="385127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pPr defTabSz="457200"/>
              <a:endParaRPr lang="en-US" dirty="0">
                <a:solidFill>
                  <a:prstClr val="black"/>
                </a:solidFill>
              </a:endParaRPr>
            </a:p>
          </p:txBody>
        </p:sp>
        <p:sp>
          <p:nvSpPr>
            <p:cNvPr id="39" name="Line 46"/>
            <p:cNvSpPr>
              <a:spLocks noChangeShapeType="1"/>
            </p:cNvSpPr>
            <p:nvPr/>
          </p:nvSpPr>
          <p:spPr bwMode="auto">
            <a:xfrm flipV="1">
              <a:off x="6506985" y="3320702"/>
              <a:ext cx="2330450" cy="952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pPr defTabSz="457200"/>
              <a:endParaRPr lang="en-US" dirty="0">
                <a:solidFill>
                  <a:prstClr val="black"/>
                </a:solidFill>
              </a:endParaRPr>
            </a:p>
          </p:txBody>
        </p:sp>
        <p:grpSp>
          <p:nvGrpSpPr>
            <p:cNvPr id="40" name="Group 70"/>
            <p:cNvGrpSpPr>
              <a:grpSpLocks/>
            </p:cNvGrpSpPr>
            <p:nvPr/>
          </p:nvGrpSpPr>
          <p:grpSpPr bwMode="auto">
            <a:xfrm>
              <a:off x="6529210" y="3374678"/>
              <a:ext cx="1920875" cy="519112"/>
              <a:chOff x="3990" y="1726"/>
              <a:chExt cx="1210" cy="327"/>
            </a:xfrm>
          </p:grpSpPr>
          <p:sp>
            <p:nvSpPr>
              <p:cNvPr id="41" name="Text Box 47"/>
              <p:cNvSpPr txBox="1">
                <a:spLocks noChangeArrowheads="1"/>
              </p:cNvSpPr>
              <p:nvPr/>
            </p:nvSpPr>
            <p:spPr bwMode="auto">
              <a:xfrm>
                <a:off x="3990" y="1726"/>
                <a:ext cx="225"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prstClr val="black"/>
                    </a:solidFill>
                    <a:latin typeface="Comic Sans MS" charset="0"/>
                  </a:rPr>
                  <a:t>v</a:t>
                </a:r>
              </a:p>
            </p:txBody>
          </p:sp>
          <p:sp>
            <p:nvSpPr>
              <p:cNvPr id="42" name="Text Box 52"/>
              <p:cNvSpPr txBox="1">
                <a:spLocks noChangeArrowheads="1"/>
              </p:cNvSpPr>
              <p:nvPr/>
            </p:nvSpPr>
            <p:spPr bwMode="auto">
              <a:xfrm>
                <a:off x="4633" y="1726"/>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prstClr val="black"/>
                    </a:solidFill>
                    <a:latin typeface="Comic Sans MS" charset="0"/>
                  </a:rPr>
                  <a:t>(</a:t>
                </a:r>
                <a:r>
                  <a:rPr lang="en-US" sz="2800" b="0" dirty="0" err="1">
                    <a:solidFill>
                      <a:prstClr val="black"/>
                    </a:solidFill>
                    <a:latin typeface="Comic Sans MS" charset="0"/>
                  </a:rPr>
                  <a:t>u,v</a:t>
                </a:r>
                <a:r>
                  <a:rPr lang="en-US" sz="2800" b="0" dirty="0">
                    <a:solidFill>
                      <a:prstClr val="black"/>
                    </a:solidFill>
                    <a:latin typeface="Comic Sans MS" charset="0"/>
                  </a:rPr>
                  <a:t>)</a:t>
                </a:r>
              </a:p>
            </p:txBody>
          </p:sp>
        </p:grpSp>
        <p:grpSp>
          <p:nvGrpSpPr>
            <p:cNvPr id="43" name="Group 69"/>
            <p:cNvGrpSpPr>
              <a:grpSpLocks/>
            </p:cNvGrpSpPr>
            <p:nvPr/>
          </p:nvGrpSpPr>
          <p:grpSpPr bwMode="auto">
            <a:xfrm>
              <a:off x="6506985" y="3862040"/>
              <a:ext cx="1989138" cy="519113"/>
              <a:chOff x="3976" y="2022"/>
              <a:chExt cx="1253" cy="327"/>
            </a:xfrm>
          </p:grpSpPr>
          <p:sp>
            <p:nvSpPr>
              <p:cNvPr id="44" name="Text Box 48"/>
              <p:cNvSpPr txBox="1">
                <a:spLocks noChangeArrowheads="1"/>
              </p:cNvSpPr>
              <p:nvPr/>
            </p:nvSpPr>
            <p:spPr bwMode="auto">
              <a:xfrm>
                <a:off x="3976" y="2022"/>
                <a:ext cx="269"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w</a:t>
                </a:r>
              </a:p>
            </p:txBody>
          </p:sp>
          <p:sp>
            <p:nvSpPr>
              <p:cNvPr id="45" name="Text Box 53"/>
              <p:cNvSpPr txBox="1">
                <a:spLocks noChangeArrowheads="1"/>
              </p:cNvSpPr>
              <p:nvPr/>
            </p:nvSpPr>
            <p:spPr bwMode="auto">
              <a:xfrm>
                <a:off x="4618" y="2022"/>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prstClr val="black"/>
                    </a:solidFill>
                    <a:latin typeface="Comic Sans MS" charset="0"/>
                  </a:rPr>
                  <a:t>(</a:t>
                </a:r>
                <a:r>
                  <a:rPr lang="en-US" sz="2800" b="0" dirty="0" err="1">
                    <a:solidFill>
                      <a:prstClr val="black"/>
                    </a:solidFill>
                    <a:latin typeface="Comic Sans MS" charset="0"/>
                  </a:rPr>
                  <a:t>u,w</a:t>
                </a:r>
                <a:r>
                  <a:rPr lang="en-US" sz="2800" b="0" dirty="0">
                    <a:solidFill>
                      <a:prstClr val="black"/>
                    </a:solidFill>
                    <a:latin typeface="Comic Sans MS" charset="0"/>
                  </a:rPr>
                  <a:t>)</a:t>
                </a:r>
              </a:p>
            </p:txBody>
          </p:sp>
        </p:grpSp>
        <p:grpSp>
          <p:nvGrpSpPr>
            <p:cNvPr id="46" name="Group 68"/>
            <p:cNvGrpSpPr>
              <a:grpSpLocks/>
            </p:cNvGrpSpPr>
            <p:nvPr/>
          </p:nvGrpSpPr>
          <p:grpSpPr bwMode="auto">
            <a:xfrm>
              <a:off x="6518098" y="4349403"/>
              <a:ext cx="1978025" cy="520700"/>
              <a:chOff x="3983" y="2317"/>
              <a:chExt cx="1246" cy="328"/>
            </a:xfrm>
          </p:grpSpPr>
          <p:sp>
            <p:nvSpPr>
              <p:cNvPr id="47" name="Text Box 49"/>
              <p:cNvSpPr txBox="1">
                <a:spLocks noChangeArrowheads="1"/>
              </p:cNvSpPr>
              <p:nvPr/>
            </p:nvSpPr>
            <p:spPr bwMode="auto">
              <a:xfrm>
                <a:off x="3983" y="2317"/>
                <a:ext cx="248"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x</a:t>
                </a:r>
              </a:p>
            </p:txBody>
          </p:sp>
          <p:sp>
            <p:nvSpPr>
              <p:cNvPr id="48" name="Text Box 54"/>
              <p:cNvSpPr txBox="1">
                <a:spLocks noChangeArrowheads="1"/>
              </p:cNvSpPr>
              <p:nvPr/>
            </p:nvSpPr>
            <p:spPr bwMode="auto">
              <a:xfrm>
                <a:off x="4618" y="2318"/>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(u,w)</a:t>
                </a:r>
              </a:p>
            </p:txBody>
          </p:sp>
        </p:grpSp>
        <p:grpSp>
          <p:nvGrpSpPr>
            <p:cNvPr id="49" name="Group 67"/>
            <p:cNvGrpSpPr>
              <a:grpSpLocks/>
            </p:cNvGrpSpPr>
            <p:nvPr/>
          </p:nvGrpSpPr>
          <p:grpSpPr bwMode="auto">
            <a:xfrm>
              <a:off x="6526035" y="4838353"/>
              <a:ext cx="1922463" cy="519112"/>
              <a:chOff x="3988" y="2613"/>
              <a:chExt cx="1211" cy="327"/>
            </a:xfrm>
          </p:grpSpPr>
          <p:sp>
            <p:nvSpPr>
              <p:cNvPr id="50" name="Text Box 50"/>
              <p:cNvSpPr txBox="1">
                <a:spLocks noChangeArrowheads="1"/>
              </p:cNvSpPr>
              <p:nvPr/>
            </p:nvSpPr>
            <p:spPr bwMode="auto">
              <a:xfrm>
                <a:off x="3988" y="2613"/>
                <a:ext cx="233"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y</a:t>
                </a:r>
              </a:p>
            </p:txBody>
          </p:sp>
          <p:sp>
            <p:nvSpPr>
              <p:cNvPr id="51" name="Text Box 55"/>
              <p:cNvSpPr txBox="1">
                <a:spLocks noChangeArrowheads="1"/>
              </p:cNvSpPr>
              <p:nvPr/>
            </p:nvSpPr>
            <p:spPr bwMode="auto">
              <a:xfrm>
                <a:off x="4632" y="2613"/>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(u,v)</a:t>
                </a:r>
              </a:p>
            </p:txBody>
          </p:sp>
        </p:grpSp>
        <p:grpSp>
          <p:nvGrpSpPr>
            <p:cNvPr id="52" name="Group 66"/>
            <p:cNvGrpSpPr>
              <a:grpSpLocks/>
            </p:cNvGrpSpPr>
            <p:nvPr/>
          </p:nvGrpSpPr>
          <p:grpSpPr bwMode="auto">
            <a:xfrm>
              <a:off x="6524448" y="5325715"/>
              <a:ext cx="1924050" cy="520700"/>
              <a:chOff x="3987" y="2908"/>
              <a:chExt cx="1212" cy="328"/>
            </a:xfrm>
          </p:grpSpPr>
          <p:sp>
            <p:nvSpPr>
              <p:cNvPr id="53" name="Text Box 51"/>
              <p:cNvSpPr txBox="1">
                <a:spLocks noChangeArrowheads="1"/>
              </p:cNvSpPr>
              <p:nvPr/>
            </p:nvSpPr>
            <p:spPr bwMode="auto">
              <a:xfrm>
                <a:off x="3987" y="2908"/>
                <a:ext cx="23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z</a:t>
                </a:r>
              </a:p>
            </p:txBody>
          </p:sp>
          <p:sp>
            <p:nvSpPr>
              <p:cNvPr id="54" name="Text Box 56"/>
              <p:cNvSpPr txBox="1">
                <a:spLocks noChangeArrowheads="1"/>
              </p:cNvSpPr>
              <p:nvPr/>
            </p:nvSpPr>
            <p:spPr bwMode="auto">
              <a:xfrm>
                <a:off x="4632" y="2909"/>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(u,v)</a:t>
                </a:r>
              </a:p>
            </p:txBody>
          </p:sp>
        </p:grpSp>
        <p:sp>
          <p:nvSpPr>
            <p:cNvPr id="55" name="Text Box 58"/>
            <p:cNvSpPr txBox="1">
              <a:spLocks noChangeArrowheads="1"/>
            </p:cNvSpPr>
            <p:nvPr/>
          </p:nvSpPr>
          <p:spPr bwMode="auto">
            <a:xfrm>
              <a:off x="7594423" y="2836515"/>
              <a:ext cx="758825"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link</a:t>
              </a:r>
            </a:p>
          </p:txBody>
        </p:sp>
        <p:grpSp>
          <p:nvGrpSpPr>
            <p:cNvPr id="56" name="Group 65"/>
            <p:cNvGrpSpPr>
              <a:grpSpLocks/>
            </p:cNvGrpSpPr>
            <p:nvPr/>
          </p:nvGrpSpPr>
          <p:grpSpPr bwMode="auto">
            <a:xfrm>
              <a:off x="6530798" y="5814665"/>
              <a:ext cx="1965325" cy="519113"/>
              <a:chOff x="3991" y="3204"/>
              <a:chExt cx="1238" cy="327"/>
            </a:xfrm>
          </p:grpSpPr>
          <p:sp>
            <p:nvSpPr>
              <p:cNvPr id="57" name="Text Box 59"/>
              <p:cNvSpPr txBox="1">
                <a:spLocks noChangeArrowheads="1"/>
              </p:cNvSpPr>
              <p:nvPr/>
            </p:nvSpPr>
            <p:spPr bwMode="auto">
              <a:xfrm>
                <a:off x="3991" y="3204"/>
                <a:ext cx="225"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srgbClr val="FF0000"/>
                    </a:solidFill>
                    <a:latin typeface="Comic Sans MS" charset="0"/>
                  </a:rPr>
                  <a:t>s</a:t>
                </a:r>
              </a:p>
            </p:txBody>
          </p:sp>
          <p:sp>
            <p:nvSpPr>
              <p:cNvPr id="58" name="Text Box 60"/>
              <p:cNvSpPr txBox="1">
                <a:spLocks noChangeArrowheads="1"/>
              </p:cNvSpPr>
              <p:nvPr/>
            </p:nvSpPr>
            <p:spPr bwMode="auto">
              <a:xfrm>
                <a:off x="4618" y="3204"/>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srgbClr val="FF0000"/>
                    </a:solidFill>
                    <a:latin typeface="Comic Sans MS" charset="0"/>
                  </a:rPr>
                  <a:t>(</a:t>
                </a:r>
                <a:r>
                  <a:rPr lang="en-US" sz="2800" b="0" dirty="0" err="1">
                    <a:solidFill>
                      <a:srgbClr val="FF0000"/>
                    </a:solidFill>
                    <a:latin typeface="Comic Sans MS" charset="0"/>
                  </a:rPr>
                  <a:t>u,w</a:t>
                </a:r>
                <a:r>
                  <a:rPr lang="en-US" sz="2800" b="0" dirty="0">
                    <a:solidFill>
                      <a:srgbClr val="FF0000"/>
                    </a:solidFill>
                    <a:latin typeface="Comic Sans MS" charset="0"/>
                  </a:rPr>
                  <a:t>)</a:t>
                </a:r>
              </a:p>
            </p:txBody>
          </p:sp>
        </p:grpSp>
        <p:grpSp>
          <p:nvGrpSpPr>
            <p:cNvPr id="59" name="Group 64"/>
            <p:cNvGrpSpPr>
              <a:grpSpLocks/>
            </p:cNvGrpSpPr>
            <p:nvPr/>
          </p:nvGrpSpPr>
          <p:grpSpPr bwMode="auto">
            <a:xfrm>
              <a:off x="6532385" y="6300440"/>
              <a:ext cx="1963738" cy="530225"/>
              <a:chOff x="3992" y="3544"/>
              <a:chExt cx="1237" cy="334"/>
            </a:xfrm>
          </p:grpSpPr>
          <p:sp>
            <p:nvSpPr>
              <p:cNvPr id="60" name="Text Box 61"/>
              <p:cNvSpPr txBox="1">
                <a:spLocks noChangeArrowheads="1"/>
              </p:cNvSpPr>
              <p:nvPr/>
            </p:nvSpPr>
            <p:spPr bwMode="auto">
              <a:xfrm>
                <a:off x="3992" y="3551"/>
                <a:ext cx="222"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t</a:t>
                </a:r>
              </a:p>
            </p:txBody>
          </p:sp>
          <p:sp>
            <p:nvSpPr>
              <p:cNvPr id="61" name="Text Box 62"/>
              <p:cNvSpPr txBox="1">
                <a:spLocks noChangeArrowheads="1"/>
              </p:cNvSpPr>
              <p:nvPr/>
            </p:nvSpPr>
            <p:spPr bwMode="auto">
              <a:xfrm>
                <a:off x="4618" y="3544"/>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(u,w)</a:t>
                </a:r>
              </a:p>
            </p:txBody>
          </p:sp>
        </p:grpSp>
      </p:grpSp>
      <p:sp>
        <p:nvSpPr>
          <p:cNvPr id="63" name="Text Box 34"/>
          <p:cNvSpPr txBox="1">
            <a:spLocks noChangeArrowheads="1"/>
          </p:cNvSpPr>
          <p:nvPr/>
        </p:nvSpPr>
        <p:spPr bwMode="auto">
          <a:xfrm>
            <a:off x="2409027" y="3862387"/>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v</a:t>
            </a:r>
          </a:p>
        </p:txBody>
      </p:sp>
      <p:sp>
        <p:nvSpPr>
          <p:cNvPr id="64" name="Text Box 35"/>
          <p:cNvSpPr txBox="1">
            <a:spLocks noChangeArrowheads="1"/>
          </p:cNvSpPr>
          <p:nvPr/>
        </p:nvSpPr>
        <p:spPr bwMode="auto">
          <a:xfrm>
            <a:off x="2330357" y="5128865"/>
            <a:ext cx="3889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w</a:t>
            </a:r>
          </a:p>
        </p:txBody>
      </p:sp>
      <p:sp>
        <p:nvSpPr>
          <p:cNvPr id="65" name="Text Box 38"/>
          <p:cNvSpPr txBox="1">
            <a:spLocks noChangeArrowheads="1"/>
          </p:cNvSpPr>
          <p:nvPr/>
        </p:nvSpPr>
        <p:spPr bwMode="auto">
          <a:xfrm>
            <a:off x="4080135" y="3831166"/>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y</a:t>
            </a:r>
          </a:p>
        </p:txBody>
      </p:sp>
      <p:sp>
        <p:nvSpPr>
          <p:cNvPr id="66" name="Text Box 37"/>
          <p:cNvSpPr txBox="1">
            <a:spLocks noChangeArrowheads="1"/>
          </p:cNvSpPr>
          <p:nvPr/>
        </p:nvSpPr>
        <p:spPr bwMode="auto">
          <a:xfrm>
            <a:off x="3313373" y="4624386"/>
            <a:ext cx="3254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x</a:t>
            </a:r>
          </a:p>
        </p:txBody>
      </p:sp>
      <p:sp>
        <p:nvSpPr>
          <p:cNvPr id="67" name="Text Box 41"/>
          <p:cNvSpPr txBox="1">
            <a:spLocks noChangeArrowheads="1"/>
          </p:cNvSpPr>
          <p:nvPr/>
        </p:nvSpPr>
        <p:spPr bwMode="auto">
          <a:xfrm>
            <a:off x="4325752" y="5302955"/>
            <a:ext cx="2682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t</a:t>
            </a:r>
          </a:p>
        </p:txBody>
      </p:sp>
      <p:sp>
        <p:nvSpPr>
          <p:cNvPr id="68" name="Text Box 39"/>
          <p:cNvSpPr txBox="1">
            <a:spLocks noChangeArrowheads="1"/>
          </p:cNvSpPr>
          <p:nvPr/>
        </p:nvSpPr>
        <p:spPr bwMode="auto">
          <a:xfrm>
            <a:off x="5324735" y="4682066"/>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z</a:t>
            </a:r>
          </a:p>
        </p:txBody>
      </p:sp>
    </p:spTree>
    <p:extLst>
      <p:ext uri="{BB962C8B-B14F-4D97-AF65-F5344CB8AC3E}">
        <p14:creationId xmlns:p14="http://schemas.microsoft.com/office/powerpoint/2010/main" val="39420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Control Plane</a:t>
            </a:r>
          </a:p>
        </p:txBody>
      </p:sp>
      <p:sp>
        <p:nvSpPr>
          <p:cNvPr id="3" name="Content Placeholder 2"/>
          <p:cNvSpPr>
            <a:spLocks noGrp="1"/>
          </p:cNvSpPr>
          <p:nvPr>
            <p:ph idx="1"/>
          </p:nvPr>
        </p:nvSpPr>
        <p:spPr>
          <a:xfrm>
            <a:off x="457200" y="1600201"/>
            <a:ext cx="8229600" cy="2308578"/>
          </a:xfrm>
        </p:spPr>
        <p:txBody>
          <a:bodyPr/>
          <a:lstStyle/>
          <a:p>
            <a:r>
              <a:rPr lang="en-US" dirty="0">
                <a:solidFill>
                  <a:srgbClr val="0000FF"/>
                </a:solidFill>
              </a:rPr>
              <a:t>Link-state routing</a:t>
            </a:r>
            <a:r>
              <a:rPr lang="en-US" dirty="0"/>
              <a:t>: OSPF, IS-IS</a:t>
            </a:r>
          </a:p>
          <a:p>
            <a:pPr lvl="1"/>
            <a:r>
              <a:rPr lang="en-US" dirty="0"/>
              <a:t>Flood the entire topology to all nodes</a:t>
            </a:r>
          </a:p>
          <a:p>
            <a:pPr lvl="1"/>
            <a:r>
              <a:rPr lang="en-US" dirty="0"/>
              <a:t>Each node computes shortest paths</a:t>
            </a:r>
          </a:p>
          <a:p>
            <a:pPr lvl="1"/>
            <a:r>
              <a:rPr lang="en-US" dirty="0" err="1"/>
              <a:t>Dijkstra’s</a:t>
            </a:r>
            <a:r>
              <a:rPr lang="en-US" dirty="0"/>
              <a:t> algorithm</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19</a:t>
            </a:fld>
            <a:endParaRPr lang="en-US" dirty="0">
              <a:solidFill>
                <a:prstClr val="black">
                  <a:tint val="75000"/>
                </a:prstClr>
              </a:solidFill>
            </a:endParaRPr>
          </a:p>
        </p:txBody>
      </p:sp>
      <p:sp>
        <p:nvSpPr>
          <p:cNvPr id="43" name="Slide Number Placeholder 3"/>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02431CD-A83D-384C-97C7-66FF0CCEF56F}" type="slidenum">
              <a:rPr lang="en-US" smtClean="0">
                <a:solidFill>
                  <a:prstClr val="black">
                    <a:tint val="75000"/>
                  </a:prstClr>
                </a:solidFill>
              </a:rPr>
              <a:pPr/>
              <a:t>19</a:t>
            </a:fld>
            <a:endParaRPr lang="en-US" dirty="0">
              <a:solidFill>
                <a:prstClr val="black">
                  <a:tint val="75000"/>
                </a:prstClr>
              </a:solidFill>
            </a:endParaRPr>
          </a:p>
        </p:txBody>
      </p:sp>
      <p:grpSp>
        <p:nvGrpSpPr>
          <p:cNvPr id="44" name="Group 43"/>
          <p:cNvGrpSpPr/>
          <p:nvPr/>
        </p:nvGrpSpPr>
        <p:grpSpPr>
          <a:xfrm>
            <a:off x="6506985" y="2836515"/>
            <a:ext cx="2330450" cy="4032250"/>
            <a:chOff x="6506985" y="2836515"/>
            <a:chExt cx="2330450" cy="4032250"/>
          </a:xfrm>
        </p:grpSpPr>
        <p:sp>
          <p:nvSpPr>
            <p:cNvPr id="45" name="Line 45"/>
            <p:cNvSpPr>
              <a:spLocks noChangeShapeType="1"/>
            </p:cNvSpPr>
            <p:nvPr/>
          </p:nvSpPr>
          <p:spPr bwMode="auto">
            <a:xfrm>
              <a:off x="7264223" y="3017490"/>
              <a:ext cx="38100" cy="385127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pPr defTabSz="457200"/>
              <a:endParaRPr lang="en-US">
                <a:solidFill>
                  <a:prstClr val="black"/>
                </a:solidFill>
              </a:endParaRPr>
            </a:p>
          </p:txBody>
        </p:sp>
        <p:sp>
          <p:nvSpPr>
            <p:cNvPr id="46" name="Line 46"/>
            <p:cNvSpPr>
              <a:spLocks noChangeShapeType="1"/>
            </p:cNvSpPr>
            <p:nvPr/>
          </p:nvSpPr>
          <p:spPr bwMode="auto">
            <a:xfrm flipV="1">
              <a:off x="6506985" y="3320702"/>
              <a:ext cx="2330450" cy="952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pPr defTabSz="457200"/>
              <a:endParaRPr lang="en-US">
                <a:solidFill>
                  <a:prstClr val="black"/>
                </a:solidFill>
              </a:endParaRPr>
            </a:p>
          </p:txBody>
        </p:sp>
        <p:grpSp>
          <p:nvGrpSpPr>
            <p:cNvPr id="47" name="Group 70"/>
            <p:cNvGrpSpPr>
              <a:grpSpLocks/>
            </p:cNvGrpSpPr>
            <p:nvPr/>
          </p:nvGrpSpPr>
          <p:grpSpPr bwMode="auto">
            <a:xfrm>
              <a:off x="6529210" y="3374678"/>
              <a:ext cx="1920875" cy="519112"/>
              <a:chOff x="3990" y="1726"/>
              <a:chExt cx="1210" cy="327"/>
            </a:xfrm>
          </p:grpSpPr>
          <p:sp>
            <p:nvSpPr>
              <p:cNvPr id="67" name="Text Box 47"/>
              <p:cNvSpPr txBox="1">
                <a:spLocks noChangeArrowheads="1"/>
              </p:cNvSpPr>
              <p:nvPr/>
            </p:nvSpPr>
            <p:spPr bwMode="auto">
              <a:xfrm>
                <a:off x="3990" y="1726"/>
                <a:ext cx="225"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v</a:t>
                </a:r>
              </a:p>
            </p:txBody>
          </p:sp>
          <p:sp>
            <p:nvSpPr>
              <p:cNvPr id="68" name="Text Box 52"/>
              <p:cNvSpPr txBox="1">
                <a:spLocks noChangeArrowheads="1"/>
              </p:cNvSpPr>
              <p:nvPr/>
            </p:nvSpPr>
            <p:spPr bwMode="auto">
              <a:xfrm>
                <a:off x="4633" y="1726"/>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(u,v)</a:t>
                </a:r>
              </a:p>
            </p:txBody>
          </p:sp>
        </p:grpSp>
        <p:grpSp>
          <p:nvGrpSpPr>
            <p:cNvPr id="48" name="Group 69"/>
            <p:cNvGrpSpPr>
              <a:grpSpLocks/>
            </p:cNvGrpSpPr>
            <p:nvPr/>
          </p:nvGrpSpPr>
          <p:grpSpPr bwMode="auto">
            <a:xfrm>
              <a:off x="6506985" y="3862040"/>
              <a:ext cx="1989138" cy="519113"/>
              <a:chOff x="3976" y="2022"/>
              <a:chExt cx="1253" cy="327"/>
            </a:xfrm>
          </p:grpSpPr>
          <p:sp>
            <p:nvSpPr>
              <p:cNvPr id="65" name="Text Box 48"/>
              <p:cNvSpPr txBox="1">
                <a:spLocks noChangeArrowheads="1"/>
              </p:cNvSpPr>
              <p:nvPr/>
            </p:nvSpPr>
            <p:spPr bwMode="auto">
              <a:xfrm>
                <a:off x="3976" y="2022"/>
                <a:ext cx="269"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w</a:t>
                </a:r>
              </a:p>
            </p:txBody>
          </p:sp>
          <p:sp>
            <p:nvSpPr>
              <p:cNvPr id="66" name="Text Box 53"/>
              <p:cNvSpPr txBox="1">
                <a:spLocks noChangeArrowheads="1"/>
              </p:cNvSpPr>
              <p:nvPr/>
            </p:nvSpPr>
            <p:spPr bwMode="auto">
              <a:xfrm>
                <a:off x="4618" y="2022"/>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prstClr val="black"/>
                    </a:solidFill>
                    <a:latin typeface="Comic Sans MS" charset="0"/>
                  </a:rPr>
                  <a:t>(</a:t>
                </a:r>
                <a:r>
                  <a:rPr lang="en-US" sz="2800" b="0" dirty="0" err="1">
                    <a:solidFill>
                      <a:prstClr val="black"/>
                    </a:solidFill>
                    <a:latin typeface="Comic Sans MS" charset="0"/>
                  </a:rPr>
                  <a:t>u,w</a:t>
                </a:r>
                <a:r>
                  <a:rPr lang="en-US" sz="2800" b="0" dirty="0">
                    <a:solidFill>
                      <a:prstClr val="black"/>
                    </a:solidFill>
                    <a:latin typeface="Comic Sans MS" charset="0"/>
                  </a:rPr>
                  <a:t>)</a:t>
                </a:r>
              </a:p>
            </p:txBody>
          </p:sp>
        </p:grpSp>
        <p:grpSp>
          <p:nvGrpSpPr>
            <p:cNvPr id="49" name="Group 68"/>
            <p:cNvGrpSpPr>
              <a:grpSpLocks/>
            </p:cNvGrpSpPr>
            <p:nvPr/>
          </p:nvGrpSpPr>
          <p:grpSpPr bwMode="auto">
            <a:xfrm>
              <a:off x="6518098" y="4349403"/>
              <a:ext cx="1978025" cy="520700"/>
              <a:chOff x="3983" y="2317"/>
              <a:chExt cx="1246" cy="328"/>
            </a:xfrm>
          </p:grpSpPr>
          <p:sp>
            <p:nvSpPr>
              <p:cNvPr id="63" name="Text Box 49"/>
              <p:cNvSpPr txBox="1">
                <a:spLocks noChangeArrowheads="1"/>
              </p:cNvSpPr>
              <p:nvPr/>
            </p:nvSpPr>
            <p:spPr bwMode="auto">
              <a:xfrm>
                <a:off x="3983" y="2317"/>
                <a:ext cx="248"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x</a:t>
                </a:r>
              </a:p>
            </p:txBody>
          </p:sp>
          <p:sp>
            <p:nvSpPr>
              <p:cNvPr id="64" name="Text Box 54"/>
              <p:cNvSpPr txBox="1">
                <a:spLocks noChangeArrowheads="1"/>
              </p:cNvSpPr>
              <p:nvPr/>
            </p:nvSpPr>
            <p:spPr bwMode="auto">
              <a:xfrm>
                <a:off x="4618" y="2318"/>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(u,w)</a:t>
                </a:r>
              </a:p>
            </p:txBody>
          </p:sp>
        </p:grpSp>
        <p:grpSp>
          <p:nvGrpSpPr>
            <p:cNvPr id="50" name="Group 67"/>
            <p:cNvGrpSpPr>
              <a:grpSpLocks/>
            </p:cNvGrpSpPr>
            <p:nvPr/>
          </p:nvGrpSpPr>
          <p:grpSpPr bwMode="auto">
            <a:xfrm>
              <a:off x="6526035" y="4838353"/>
              <a:ext cx="1922463" cy="519112"/>
              <a:chOff x="3988" y="2613"/>
              <a:chExt cx="1211" cy="327"/>
            </a:xfrm>
          </p:grpSpPr>
          <p:sp>
            <p:nvSpPr>
              <p:cNvPr id="61" name="Text Box 50"/>
              <p:cNvSpPr txBox="1">
                <a:spLocks noChangeArrowheads="1"/>
              </p:cNvSpPr>
              <p:nvPr/>
            </p:nvSpPr>
            <p:spPr bwMode="auto">
              <a:xfrm>
                <a:off x="3988" y="2613"/>
                <a:ext cx="233"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y</a:t>
                </a:r>
              </a:p>
            </p:txBody>
          </p:sp>
          <p:sp>
            <p:nvSpPr>
              <p:cNvPr id="62" name="Text Box 55"/>
              <p:cNvSpPr txBox="1">
                <a:spLocks noChangeArrowheads="1"/>
              </p:cNvSpPr>
              <p:nvPr/>
            </p:nvSpPr>
            <p:spPr bwMode="auto">
              <a:xfrm>
                <a:off x="4632" y="2613"/>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(u,v)</a:t>
                </a:r>
              </a:p>
            </p:txBody>
          </p:sp>
        </p:grpSp>
        <p:grpSp>
          <p:nvGrpSpPr>
            <p:cNvPr id="51" name="Group 66"/>
            <p:cNvGrpSpPr>
              <a:grpSpLocks/>
            </p:cNvGrpSpPr>
            <p:nvPr/>
          </p:nvGrpSpPr>
          <p:grpSpPr bwMode="auto">
            <a:xfrm>
              <a:off x="6524448" y="5325715"/>
              <a:ext cx="1924050" cy="520700"/>
              <a:chOff x="3987" y="2908"/>
              <a:chExt cx="1212" cy="328"/>
            </a:xfrm>
          </p:grpSpPr>
          <p:sp>
            <p:nvSpPr>
              <p:cNvPr id="59" name="Text Box 51"/>
              <p:cNvSpPr txBox="1">
                <a:spLocks noChangeArrowheads="1"/>
              </p:cNvSpPr>
              <p:nvPr/>
            </p:nvSpPr>
            <p:spPr bwMode="auto">
              <a:xfrm>
                <a:off x="3987" y="2908"/>
                <a:ext cx="23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z</a:t>
                </a:r>
              </a:p>
            </p:txBody>
          </p:sp>
          <p:sp>
            <p:nvSpPr>
              <p:cNvPr id="60" name="Text Box 56"/>
              <p:cNvSpPr txBox="1">
                <a:spLocks noChangeArrowheads="1"/>
              </p:cNvSpPr>
              <p:nvPr/>
            </p:nvSpPr>
            <p:spPr bwMode="auto">
              <a:xfrm>
                <a:off x="4632" y="2909"/>
                <a:ext cx="567"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(u,v)</a:t>
                </a:r>
              </a:p>
            </p:txBody>
          </p:sp>
        </p:grpSp>
        <p:sp>
          <p:nvSpPr>
            <p:cNvPr id="52" name="Text Box 58"/>
            <p:cNvSpPr txBox="1">
              <a:spLocks noChangeArrowheads="1"/>
            </p:cNvSpPr>
            <p:nvPr/>
          </p:nvSpPr>
          <p:spPr bwMode="auto">
            <a:xfrm>
              <a:off x="7594423" y="2836515"/>
              <a:ext cx="758825"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link</a:t>
              </a:r>
            </a:p>
          </p:txBody>
        </p:sp>
        <p:grpSp>
          <p:nvGrpSpPr>
            <p:cNvPr id="53" name="Group 65"/>
            <p:cNvGrpSpPr>
              <a:grpSpLocks/>
            </p:cNvGrpSpPr>
            <p:nvPr/>
          </p:nvGrpSpPr>
          <p:grpSpPr bwMode="auto">
            <a:xfrm>
              <a:off x="6530798" y="5814665"/>
              <a:ext cx="1965325" cy="519113"/>
              <a:chOff x="3991" y="3204"/>
              <a:chExt cx="1238" cy="327"/>
            </a:xfrm>
          </p:grpSpPr>
          <p:sp>
            <p:nvSpPr>
              <p:cNvPr id="57" name="Text Box 59"/>
              <p:cNvSpPr txBox="1">
                <a:spLocks noChangeArrowheads="1"/>
              </p:cNvSpPr>
              <p:nvPr/>
            </p:nvSpPr>
            <p:spPr bwMode="auto">
              <a:xfrm>
                <a:off x="3991" y="3204"/>
                <a:ext cx="225"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prstClr val="black"/>
                    </a:solidFill>
                    <a:latin typeface="Comic Sans MS" charset="0"/>
                  </a:rPr>
                  <a:t>s</a:t>
                </a:r>
              </a:p>
            </p:txBody>
          </p:sp>
          <p:sp>
            <p:nvSpPr>
              <p:cNvPr id="58" name="Text Box 60"/>
              <p:cNvSpPr txBox="1">
                <a:spLocks noChangeArrowheads="1"/>
              </p:cNvSpPr>
              <p:nvPr/>
            </p:nvSpPr>
            <p:spPr bwMode="auto">
              <a:xfrm>
                <a:off x="4618" y="3204"/>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dirty="0">
                    <a:solidFill>
                      <a:srgbClr val="000000"/>
                    </a:solidFill>
                    <a:latin typeface="Comic Sans MS" charset="0"/>
                  </a:rPr>
                  <a:t>(</a:t>
                </a:r>
                <a:r>
                  <a:rPr lang="en-US" sz="2800" b="0" dirty="0" err="1">
                    <a:solidFill>
                      <a:srgbClr val="000000"/>
                    </a:solidFill>
                    <a:latin typeface="Comic Sans MS" charset="0"/>
                  </a:rPr>
                  <a:t>u,w</a:t>
                </a:r>
                <a:r>
                  <a:rPr lang="en-US" sz="2800" b="0" dirty="0">
                    <a:solidFill>
                      <a:srgbClr val="000000"/>
                    </a:solidFill>
                    <a:latin typeface="Comic Sans MS" charset="0"/>
                  </a:rPr>
                  <a:t>)</a:t>
                </a:r>
              </a:p>
            </p:txBody>
          </p:sp>
        </p:grpSp>
        <p:grpSp>
          <p:nvGrpSpPr>
            <p:cNvPr id="54" name="Group 64"/>
            <p:cNvGrpSpPr>
              <a:grpSpLocks/>
            </p:cNvGrpSpPr>
            <p:nvPr/>
          </p:nvGrpSpPr>
          <p:grpSpPr bwMode="auto">
            <a:xfrm>
              <a:off x="6532385" y="6300440"/>
              <a:ext cx="1963738" cy="530225"/>
              <a:chOff x="3992" y="3544"/>
              <a:chExt cx="1237" cy="334"/>
            </a:xfrm>
          </p:grpSpPr>
          <p:sp>
            <p:nvSpPr>
              <p:cNvPr id="55" name="Text Box 61"/>
              <p:cNvSpPr txBox="1">
                <a:spLocks noChangeArrowheads="1"/>
              </p:cNvSpPr>
              <p:nvPr/>
            </p:nvSpPr>
            <p:spPr bwMode="auto">
              <a:xfrm>
                <a:off x="3992" y="3551"/>
                <a:ext cx="222"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t</a:t>
                </a:r>
              </a:p>
            </p:txBody>
          </p:sp>
          <p:sp>
            <p:nvSpPr>
              <p:cNvPr id="56" name="Text Box 62"/>
              <p:cNvSpPr txBox="1">
                <a:spLocks noChangeArrowheads="1"/>
              </p:cNvSpPr>
              <p:nvPr/>
            </p:nvSpPr>
            <p:spPr bwMode="auto">
              <a:xfrm>
                <a:off x="4618" y="3544"/>
                <a:ext cx="611" cy="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(u,w)</a:t>
                </a:r>
              </a:p>
            </p:txBody>
          </p:sp>
        </p:grpSp>
      </p:grpSp>
      <p:sp>
        <p:nvSpPr>
          <p:cNvPr id="69" name="Oval 5"/>
          <p:cNvSpPr>
            <a:spLocks noChangeArrowheads="1"/>
          </p:cNvSpPr>
          <p:nvPr/>
        </p:nvSpPr>
        <p:spPr bwMode="auto">
          <a:xfrm>
            <a:off x="1232254" y="4978576"/>
            <a:ext cx="287338" cy="252413"/>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70" name="Oval 6"/>
          <p:cNvSpPr>
            <a:spLocks noChangeArrowheads="1"/>
          </p:cNvSpPr>
          <p:nvPr/>
        </p:nvSpPr>
        <p:spPr bwMode="auto">
          <a:xfrm>
            <a:off x="2094266" y="5650089"/>
            <a:ext cx="287338" cy="252413"/>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71" name="Oval 7"/>
          <p:cNvSpPr>
            <a:spLocks noChangeArrowheads="1"/>
          </p:cNvSpPr>
          <p:nvPr/>
        </p:nvSpPr>
        <p:spPr bwMode="auto">
          <a:xfrm>
            <a:off x="2189516" y="4391201"/>
            <a:ext cx="287338" cy="250825"/>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72" name="Oval 8"/>
          <p:cNvSpPr>
            <a:spLocks noChangeArrowheads="1"/>
          </p:cNvSpPr>
          <p:nvPr/>
        </p:nvSpPr>
        <p:spPr bwMode="auto">
          <a:xfrm>
            <a:off x="2956279" y="5062714"/>
            <a:ext cx="287338" cy="252413"/>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73" name="Oval 9"/>
          <p:cNvSpPr>
            <a:spLocks noChangeArrowheads="1"/>
          </p:cNvSpPr>
          <p:nvPr/>
        </p:nvSpPr>
        <p:spPr bwMode="auto">
          <a:xfrm>
            <a:off x="3818291" y="5650089"/>
            <a:ext cx="287338" cy="252413"/>
          </a:xfrm>
          <a:prstGeom prst="ellipse">
            <a:avLst/>
          </a:prstGeom>
          <a:solidFill>
            <a:schemeClr val="accent1"/>
          </a:solidFill>
          <a:ln w="9525" cmpd="sng">
            <a:noFill/>
            <a:round/>
            <a:headEnd/>
            <a:tailEnd/>
          </a:ln>
        </p:spPr>
        <p:txBody>
          <a:bodyPr wrap="none" anchor="ctr"/>
          <a:lstStyle/>
          <a:p>
            <a:pPr defTabSz="457200"/>
            <a:endParaRPr lang="en-US">
              <a:solidFill>
                <a:prstClr val="black"/>
              </a:solidFill>
            </a:endParaRPr>
          </a:p>
        </p:txBody>
      </p:sp>
      <p:sp>
        <p:nvSpPr>
          <p:cNvPr id="74" name="Oval 10"/>
          <p:cNvSpPr>
            <a:spLocks noChangeArrowheads="1"/>
          </p:cNvSpPr>
          <p:nvPr/>
        </p:nvSpPr>
        <p:spPr bwMode="auto">
          <a:xfrm>
            <a:off x="3818291" y="4391201"/>
            <a:ext cx="287338" cy="250825"/>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75" name="Oval 11"/>
          <p:cNvSpPr>
            <a:spLocks noChangeArrowheads="1"/>
          </p:cNvSpPr>
          <p:nvPr/>
        </p:nvSpPr>
        <p:spPr bwMode="auto">
          <a:xfrm>
            <a:off x="3051529" y="6154914"/>
            <a:ext cx="287338" cy="252413"/>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76" name="Oval 12"/>
          <p:cNvSpPr>
            <a:spLocks noChangeArrowheads="1"/>
          </p:cNvSpPr>
          <p:nvPr/>
        </p:nvSpPr>
        <p:spPr bwMode="auto">
          <a:xfrm>
            <a:off x="4775554" y="4978576"/>
            <a:ext cx="287338" cy="252413"/>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77" name="Line 13"/>
          <p:cNvSpPr>
            <a:spLocks noChangeShapeType="1"/>
          </p:cNvSpPr>
          <p:nvPr/>
        </p:nvSpPr>
        <p:spPr bwMode="auto">
          <a:xfrm flipV="1">
            <a:off x="1519591" y="4557889"/>
            <a:ext cx="669925" cy="504825"/>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78" name="Line 14"/>
          <p:cNvSpPr>
            <a:spLocks noChangeShapeType="1"/>
          </p:cNvSpPr>
          <p:nvPr/>
        </p:nvSpPr>
        <p:spPr bwMode="auto">
          <a:xfrm>
            <a:off x="1464029" y="5218289"/>
            <a:ext cx="623888" cy="531813"/>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79" name="Line 15"/>
          <p:cNvSpPr>
            <a:spLocks noChangeShapeType="1"/>
          </p:cNvSpPr>
          <p:nvPr/>
        </p:nvSpPr>
        <p:spPr bwMode="auto">
          <a:xfrm>
            <a:off x="2429229" y="4572176"/>
            <a:ext cx="574675" cy="5318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0" name="Line 16"/>
          <p:cNvSpPr>
            <a:spLocks noChangeShapeType="1"/>
          </p:cNvSpPr>
          <p:nvPr/>
        </p:nvSpPr>
        <p:spPr bwMode="auto">
          <a:xfrm>
            <a:off x="2333979" y="5818364"/>
            <a:ext cx="717550" cy="420688"/>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1" name="Line 17"/>
          <p:cNvSpPr>
            <a:spLocks noChangeShapeType="1"/>
          </p:cNvSpPr>
          <p:nvPr/>
        </p:nvSpPr>
        <p:spPr bwMode="auto">
          <a:xfrm flipV="1">
            <a:off x="2365729" y="5272264"/>
            <a:ext cx="638175" cy="420688"/>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2" name="Line 18"/>
          <p:cNvSpPr>
            <a:spLocks noChangeShapeType="1"/>
          </p:cNvSpPr>
          <p:nvPr/>
        </p:nvSpPr>
        <p:spPr bwMode="auto">
          <a:xfrm>
            <a:off x="3195991" y="5286551"/>
            <a:ext cx="654050" cy="392113"/>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3" name="Line 19"/>
          <p:cNvSpPr>
            <a:spLocks noChangeShapeType="1"/>
          </p:cNvSpPr>
          <p:nvPr/>
        </p:nvSpPr>
        <p:spPr bwMode="auto">
          <a:xfrm flipV="1">
            <a:off x="3291241" y="5861226"/>
            <a:ext cx="590550" cy="33496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4" name="Line 20"/>
          <p:cNvSpPr>
            <a:spLocks noChangeShapeType="1"/>
          </p:cNvSpPr>
          <p:nvPr/>
        </p:nvSpPr>
        <p:spPr bwMode="auto">
          <a:xfrm flipV="1">
            <a:off x="3243616" y="5103989"/>
            <a:ext cx="1531938" cy="984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5" name="Line 21"/>
          <p:cNvSpPr>
            <a:spLocks noChangeShapeType="1"/>
          </p:cNvSpPr>
          <p:nvPr/>
        </p:nvSpPr>
        <p:spPr bwMode="auto">
          <a:xfrm>
            <a:off x="2445104" y="4502326"/>
            <a:ext cx="1373188" cy="14288"/>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6" name="Line 22"/>
          <p:cNvSpPr>
            <a:spLocks noChangeShapeType="1"/>
          </p:cNvSpPr>
          <p:nvPr/>
        </p:nvSpPr>
        <p:spPr bwMode="auto">
          <a:xfrm>
            <a:off x="4089754" y="4600751"/>
            <a:ext cx="766763" cy="419100"/>
          </a:xfrm>
          <a:prstGeom prst="line">
            <a:avLst/>
          </a:prstGeom>
          <a:noFill/>
          <a:ln w="444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87" name="Text Box 23"/>
          <p:cNvSpPr txBox="1">
            <a:spLocks noChangeArrowheads="1"/>
          </p:cNvSpPr>
          <p:nvPr/>
        </p:nvSpPr>
        <p:spPr bwMode="auto">
          <a:xfrm>
            <a:off x="1562454" y="433722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3</a:t>
            </a:r>
          </a:p>
        </p:txBody>
      </p:sp>
      <p:sp>
        <p:nvSpPr>
          <p:cNvPr id="88" name="Text Box 24"/>
          <p:cNvSpPr txBox="1">
            <a:spLocks noChangeArrowheads="1"/>
          </p:cNvSpPr>
          <p:nvPr/>
        </p:nvSpPr>
        <p:spPr bwMode="auto">
          <a:xfrm>
            <a:off x="2919766" y="3987976"/>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2</a:t>
            </a:r>
          </a:p>
        </p:txBody>
      </p:sp>
      <p:sp>
        <p:nvSpPr>
          <p:cNvPr id="89" name="Text Box 25"/>
          <p:cNvSpPr txBox="1">
            <a:spLocks noChangeArrowheads="1"/>
          </p:cNvSpPr>
          <p:nvPr/>
        </p:nvSpPr>
        <p:spPr bwMode="auto">
          <a:xfrm>
            <a:off x="1675166" y="501032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2</a:t>
            </a:r>
          </a:p>
        </p:txBody>
      </p:sp>
      <p:sp>
        <p:nvSpPr>
          <p:cNvPr id="90" name="Text Box 26"/>
          <p:cNvSpPr txBox="1">
            <a:spLocks noChangeArrowheads="1"/>
          </p:cNvSpPr>
          <p:nvPr/>
        </p:nvSpPr>
        <p:spPr bwMode="auto">
          <a:xfrm>
            <a:off x="2680054" y="443565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91" name="Text Box 27"/>
          <p:cNvSpPr txBox="1">
            <a:spLocks noChangeArrowheads="1"/>
          </p:cNvSpPr>
          <p:nvPr/>
        </p:nvSpPr>
        <p:spPr bwMode="auto">
          <a:xfrm>
            <a:off x="2376841" y="5080176"/>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92" name="Text Box 28"/>
          <p:cNvSpPr txBox="1">
            <a:spLocks noChangeArrowheads="1"/>
          </p:cNvSpPr>
          <p:nvPr/>
        </p:nvSpPr>
        <p:spPr bwMode="auto">
          <a:xfrm>
            <a:off x="3654779" y="467377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4</a:t>
            </a:r>
          </a:p>
        </p:txBody>
      </p:sp>
      <p:sp>
        <p:nvSpPr>
          <p:cNvPr id="93" name="Text Box 29"/>
          <p:cNvSpPr txBox="1">
            <a:spLocks noChangeArrowheads="1"/>
          </p:cNvSpPr>
          <p:nvPr/>
        </p:nvSpPr>
        <p:spPr bwMode="auto">
          <a:xfrm>
            <a:off x="4356454" y="426737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94" name="Text Box 30"/>
          <p:cNvSpPr txBox="1">
            <a:spLocks noChangeArrowheads="1"/>
          </p:cNvSpPr>
          <p:nvPr/>
        </p:nvSpPr>
        <p:spPr bwMode="auto">
          <a:xfrm>
            <a:off x="2329216" y="5892976"/>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4</a:t>
            </a:r>
          </a:p>
        </p:txBody>
      </p:sp>
      <p:sp>
        <p:nvSpPr>
          <p:cNvPr id="95" name="Text Box 31"/>
          <p:cNvSpPr txBox="1">
            <a:spLocks noChangeArrowheads="1"/>
          </p:cNvSpPr>
          <p:nvPr/>
        </p:nvSpPr>
        <p:spPr bwMode="auto">
          <a:xfrm>
            <a:off x="3178529" y="535322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5</a:t>
            </a:r>
          </a:p>
        </p:txBody>
      </p:sp>
      <p:sp>
        <p:nvSpPr>
          <p:cNvPr id="96" name="Text Box 32"/>
          <p:cNvSpPr txBox="1">
            <a:spLocks noChangeArrowheads="1"/>
          </p:cNvSpPr>
          <p:nvPr/>
        </p:nvSpPr>
        <p:spPr bwMode="auto">
          <a:xfrm>
            <a:off x="3575404" y="5919964"/>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3</a:t>
            </a:r>
          </a:p>
        </p:txBody>
      </p:sp>
      <p:sp>
        <p:nvSpPr>
          <p:cNvPr id="97" name="Text Box 33"/>
          <p:cNvSpPr txBox="1">
            <a:spLocks noChangeArrowheads="1"/>
          </p:cNvSpPr>
          <p:nvPr/>
        </p:nvSpPr>
        <p:spPr bwMode="auto">
          <a:xfrm>
            <a:off x="836966" y="4872214"/>
            <a:ext cx="3397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u</a:t>
            </a:r>
          </a:p>
        </p:txBody>
      </p:sp>
      <p:sp>
        <p:nvSpPr>
          <p:cNvPr id="98" name="Text Box 34"/>
          <p:cNvSpPr txBox="1">
            <a:spLocks noChangeArrowheads="1"/>
          </p:cNvSpPr>
          <p:nvPr/>
        </p:nvSpPr>
        <p:spPr bwMode="auto">
          <a:xfrm>
            <a:off x="2110141" y="4002264"/>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v</a:t>
            </a:r>
          </a:p>
        </p:txBody>
      </p:sp>
      <p:sp>
        <p:nvSpPr>
          <p:cNvPr id="99" name="Text Box 35"/>
          <p:cNvSpPr txBox="1">
            <a:spLocks noChangeArrowheads="1"/>
          </p:cNvSpPr>
          <p:nvPr/>
        </p:nvSpPr>
        <p:spPr bwMode="auto">
          <a:xfrm>
            <a:off x="2033941" y="5870751"/>
            <a:ext cx="3889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w</a:t>
            </a:r>
          </a:p>
        </p:txBody>
      </p:sp>
      <p:sp>
        <p:nvSpPr>
          <p:cNvPr id="100" name="Text Box 37"/>
          <p:cNvSpPr txBox="1">
            <a:spLocks noChangeArrowheads="1"/>
          </p:cNvSpPr>
          <p:nvPr/>
        </p:nvSpPr>
        <p:spPr bwMode="auto">
          <a:xfrm>
            <a:off x="3008666" y="4705526"/>
            <a:ext cx="3254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x</a:t>
            </a:r>
          </a:p>
        </p:txBody>
      </p:sp>
      <p:sp>
        <p:nvSpPr>
          <p:cNvPr id="101" name="Text Box 38"/>
          <p:cNvSpPr txBox="1">
            <a:spLocks noChangeArrowheads="1"/>
          </p:cNvSpPr>
          <p:nvPr/>
        </p:nvSpPr>
        <p:spPr bwMode="auto">
          <a:xfrm>
            <a:off x="3816704" y="4013376"/>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y</a:t>
            </a:r>
          </a:p>
        </p:txBody>
      </p:sp>
      <p:sp>
        <p:nvSpPr>
          <p:cNvPr id="102" name="Text Box 39"/>
          <p:cNvSpPr txBox="1">
            <a:spLocks noChangeArrowheads="1"/>
          </p:cNvSpPr>
          <p:nvPr/>
        </p:nvSpPr>
        <p:spPr bwMode="auto">
          <a:xfrm>
            <a:off x="5091466" y="4859514"/>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z</a:t>
            </a:r>
          </a:p>
        </p:txBody>
      </p:sp>
      <p:sp>
        <p:nvSpPr>
          <p:cNvPr id="103" name="Text Box 40"/>
          <p:cNvSpPr txBox="1">
            <a:spLocks noChangeArrowheads="1"/>
          </p:cNvSpPr>
          <p:nvPr/>
        </p:nvSpPr>
        <p:spPr bwMode="auto">
          <a:xfrm>
            <a:off x="3257904" y="6216826"/>
            <a:ext cx="3254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s</a:t>
            </a:r>
          </a:p>
        </p:txBody>
      </p:sp>
      <p:sp>
        <p:nvSpPr>
          <p:cNvPr id="104" name="Text Box 41"/>
          <p:cNvSpPr txBox="1">
            <a:spLocks noChangeArrowheads="1"/>
          </p:cNvSpPr>
          <p:nvPr/>
        </p:nvSpPr>
        <p:spPr bwMode="auto">
          <a:xfrm>
            <a:off x="4151666" y="5550076"/>
            <a:ext cx="2682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dirty="0">
                <a:solidFill>
                  <a:srgbClr val="0000FF"/>
                </a:solidFill>
              </a:rPr>
              <a:t>t</a:t>
            </a:r>
          </a:p>
        </p:txBody>
      </p:sp>
    </p:spTree>
    <p:extLst>
      <p:ext uri="{BB962C8B-B14F-4D97-AF65-F5344CB8AC3E}">
        <p14:creationId xmlns:p14="http://schemas.microsoft.com/office/powerpoint/2010/main" val="205098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Control Plane</a:t>
            </a:r>
          </a:p>
        </p:txBody>
      </p:sp>
      <p:sp>
        <p:nvSpPr>
          <p:cNvPr id="3" name="Content Placeholder 2"/>
          <p:cNvSpPr>
            <a:spLocks noGrp="1"/>
          </p:cNvSpPr>
          <p:nvPr>
            <p:ph idx="1"/>
          </p:nvPr>
        </p:nvSpPr>
        <p:spPr>
          <a:xfrm>
            <a:off x="457200" y="1600200"/>
            <a:ext cx="8229600" cy="2506133"/>
          </a:xfrm>
        </p:spPr>
        <p:txBody>
          <a:bodyPr/>
          <a:lstStyle/>
          <a:p>
            <a:r>
              <a:rPr lang="en-US" dirty="0">
                <a:solidFill>
                  <a:srgbClr val="0000FF"/>
                </a:solidFill>
              </a:rPr>
              <a:t>Distance-vector routing</a:t>
            </a:r>
            <a:r>
              <a:rPr lang="en-US" dirty="0"/>
              <a:t>: RIP, EIGRP</a:t>
            </a:r>
          </a:p>
          <a:p>
            <a:pPr lvl="1"/>
            <a:r>
              <a:rPr lang="en-US" dirty="0"/>
              <a:t>Each node computes path cost</a:t>
            </a:r>
          </a:p>
          <a:p>
            <a:pPr lvl="1"/>
            <a:r>
              <a:rPr lang="en-US" dirty="0"/>
              <a:t>… based on each neighbors’ path cost</a:t>
            </a:r>
          </a:p>
          <a:p>
            <a:pPr lvl="1"/>
            <a:r>
              <a:rPr lang="en-US" dirty="0"/>
              <a:t>Bellman-Ford algorithm (dynamic programming)</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20</a:t>
            </a:fld>
            <a:endParaRPr lang="en-US" dirty="0">
              <a:solidFill>
                <a:prstClr val="black">
                  <a:tint val="75000"/>
                </a:prstClr>
              </a:solidFill>
            </a:endParaRPr>
          </a:p>
        </p:txBody>
      </p:sp>
      <p:sp>
        <p:nvSpPr>
          <p:cNvPr id="5" name="Oval 77"/>
          <p:cNvSpPr>
            <a:spLocks noChangeArrowheads="1"/>
          </p:cNvSpPr>
          <p:nvPr/>
        </p:nvSpPr>
        <p:spPr bwMode="auto">
          <a:xfrm>
            <a:off x="765969" y="4918253"/>
            <a:ext cx="287337" cy="252413"/>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6" name="Oval 78"/>
          <p:cNvSpPr>
            <a:spLocks noChangeArrowheads="1"/>
          </p:cNvSpPr>
          <p:nvPr/>
        </p:nvSpPr>
        <p:spPr bwMode="auto">
          <a:xfrm>
            <a:off x="1627981" y="5589766"/>
            <a:ext cx="287338" cy="252412"/>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7" name="Oval 79"/>
          <p:cNvSpPr>
            <a:spLocks noChangeArrowheads="1"/>
          </p:cNvSpPr>
          <p:nvPr/>
        </p:nvSpPr>
        <p:spPr bwMode="auto">
          <a:xfrm>
            <a:off x="1723231" y="4330878"/>
            <a:ext cx="287338" cy="250825"/>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defTabSz="457200"/>
            <a:endParaRPr lang="en-US">
              <a:solidFill>
                <a:prstClr val="black"/>
              </a:solidFill>
            </a:endParaRPr>
          </a:p>
        </p:txBody>
      </p:sp>
      <p:sp>
        <p:nvSpPr>
          <p:cNvPr id="8" name="Oval 80"/>
          <p:cNvSpPr>
            <a:spLocks noChangeArrowheads="1"/>
          </p:cNvSpPr>
          <p:nvPr/>
        </p:nvSpPr>
        <p:spPr bwMode="auto">
          <a:xfrm>
            <a:off x="2489994" y="5002391"/>
            <a:ext cx="287337" cy="252412"/>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9" name="Oval 81"/>
          <p:cNvSpPr>
            <a:spLocks noChangeArrowheads="1"/>
          </p:cNvSpPr>
          <p:nvPr/>
        </p:nvSpPr>
        <p:spPr bwMode="auto">
          <a:xfrm>
            <a:off x="3352006" y="5589766"/>
            <a:ext cx="287338" cy="252412"/>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10" name="Oval 82"/>
          <p:cNvSpPr>
            <a:spLocks noChangeArrowheads="1"/>
          </p:cNvSpPr>
          <p:nvPr/>
        </p:nvSpPr>
        <p:spPr bwMode="auto">
          <a:xfrm>
            <a:off x="3352006" y="4330878"/>
            <a:ext cx="287338" cy="250825"/>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11" name="Oval 83"/>
          <p:cNvSpPr>
            <a:spLocks noChangeArrowheads="1"/>
          </p:cNvSpPr>
          <p:nvPr/>
        </p:nvSpPr>
        <p:spPr bwMode="auto">
          <a:xfrm>
            <a:off x="2585244" y="6094591"/>
            <a:ext cx="287337" cy="252412"/>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12" name="Oval 84"/>
          <p:cNvSpPr>
            <a:spLocks noChangeArrowheads="1"/>
          </p:cNvSpPr>
          <p:nvPr/>
        </p:nvSpPr>
        <p:spPr bwMode="auto">
          <a:xfrm>
            <a:off x="4309269" y="4918253"/>
            <a:ext cx="287337" cy="252413"/>
          </a:xfrm>
          <a:prstGeom prst="ellipse">
            <a:avLst/>
          </a:prstGeom>
          <a:solidFill>
            <a:schemeClr val="accent1"/>
          </a:solidFill>
          <a:ln>
            <a:noFill/>
          </a:ln>
          <a:extLst>
            <a:ext uri="{91240B29-F687-4f45-9708-019B960494DF}">
              <a14:hiddenLine xmlns:a14="http://schemas.microsoft.com/office/drawing/2010/main" xmlns="" w="31750">
                <a:solidFill>
                  <a:srgbClr val="000000"/>
                </a:solidFill>
                <a:round/>
                <a:headEnd/>
                <a:tailEnd/>
              </a14:hiddenLine>
            </a:ext>
          </a:extLst>
        </p:spPr>
        <p:txBody>
          <a:bodyPr wrap="none" anchor="ctr"/>
          <a:lstStyle/>
          <a:p>
            <a:pPr defTabSz="457200"/>
            <a:endParaRPr lang="en-US">
              <a:solidFill>
                <a:prstClr val="black"/>
              </a:solidFill>
            </a:endParaRPr>
          </a:p>
        </p:txBody>
      </p:sp>
      <p:sp>
        <p:nvSpPr>
          <p:cNvPr id="13" name="Line 85"/>
          <p:cNvSpPr>
            <a:spLocks noChangeShapeType="1"/>
          </p:cNvSpPr>
          <p:nvPr/>
        </p:nvSpPr>
        <p:spPr bwMode="auto">
          <a:xfrm flipV="1">
            <a:off x="1053306" y="4497566"/>
            <a:ext cx="669925" cy="5048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4" name="Line 86"/>
          <p:cNvSpPr>
            <a:spLocks noChangeShapeType="1"/>
          </p:cNvSpPr>
          <p:nvPr/>
        </p:nvSpPr>
        <p:spPr bwMode="auto">
          <a:xfrm>
            <a:off x="997744" y="5157966"/>
            <a:ext cx="623887" cy="53181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5" name="Line 87"/>
          <p:cNvSpPr>
            <a:spLocks noChangeShapeType="1"/>
          </p:cNvSpPr>
          <p:nvPr/>
        </p:nvSpPr>
        <p:spPr bwMode="auto">
          <a:xfrm>
            <a:off x="1962944" y="4511853"/>
            <a:ext cx="574675" cy="5318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6" name="Line 88"/>
          <p:cNvSpPr>
            <a:spLocks noChangeShapeType="1"/>
          </p:cNvSpPr>
          <p:nvPr/>
        </p:nvSpPr>
        <p:spPr bwMode="auto">
          <a:xfrm>
            <a:off x="1867694" y="5758041"/>
            <a:ext cx="717550" cy="420687"/>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7" name="Line 89"/>
          <p:cNvSpPr>
            <a:spLocks noChangeShapeType="1"/>
          </p:cNvSpPr>
          <p:nvPr/>
        </p:nvSpPr>
        <p:spPr bwMode="auto">
          <a:xfrm flipV="1">
            <a:off x="1899444" y="5211941"/>
            <a:ext cx="638175" cy="420687"/>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8" name="Line 90"/>
          <p:cNvSpPr>
            <a:spLocks noChangeShapeType="1"/>
          </p:cNvSpPr>
          <p:nvPr/>
        </p:nvSpPr>
        <p:spPr bwMode="auto">
          <a:xfrm>
            <a:off x="2729706" y="5226228"/>
            <a:ext cx="654050" cy="39211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9" name="Line 91"/>
          <p:cNvSpPr>
            <a:spLocks noChangeShapeType="1"/>
          </p:cNvSpPr>
          <p:nvPr/>
        </p:nvSpPr>
        <p:spPr bwMode="auto">
          <a:xfrm flipV="1">
            <a:off x="2824956" y="5800903"/>
            <a:ext cx="590550" cy="334963"/>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0" name="Line 92"/>
          <p:cNvSpPr>
            <a:spLocks noChangeShapeType="1"/>
          </p:cNvSpPr>
          <p:nvPr/>
        </p:nvSpPr>
        <p:spPr bwMode="auto">
          <a:xfrm flipV="1">
            <a:off x="2777331" y="5043666"/>
            <a:ext cx="1531938" cy="984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1" name="Line 93"/>
          <p:cNvSpPr>
            <a:spLocks noChangeShapeType="1"/>
          </p:cNvSpPr>
          <p:nvPr/>
        </p:nvSpPr>
        <p:spPr bwMode="auto">
          <a:xfrm>
            <a:off x="1978819" y="4442003"/>
            <a:ext cx="1373187" cy="142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2" name="Line 94"/>
          <p:cNvSpPr>
            <a:spLocks noChangeShapeType="1"/>
          </p:cNvSpPr>
          <p:nvPr/>
        </p:nvSpPr>
        <p:spPr bwMode="auto">
          <a:xfrm>
            <a:off x="3623469" y="4540428"/>
            <a:ext cx="766762" cy="4191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3" name="Text Box 95"/>
          <p:cNvSpPr txBox="1">
            <a:spLocks noChangeArrowheads="1"/>
          </p:cNvSpPr>
          <p:nvPr/>
        </p:nvSpPr>
        <p:spPr bwMode="auto">
          <a:xfrm>
            <a:off x="1096169" y="427690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3</a:t>
            </a:r>
          </a:p>
        </p:txBody>
      </p:sp>
      <p:sp>
        <p:nvSpPr>
          <p:cNvPr id="24" name="Text Box 96"/>
          <p:cNvSpPr txBox="1">
            <a:spLocks noChangeArrowheads="1"/>
          </p:cNvSpPr>
          <p:nvPr/>
        </p:nvSpPr>
        <p:spPr bwMode="auto">
          <a:xfrm>
            <a:off x="2453481" y="3927653"/>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2</a:t>
            </a:r>
          </a:p>
        </p:txBody>
      </p:sp>
      <p:sp>
        <p:nvSpPr>
          <p:cNvPr id="25" name="Text Box 97"/>
          <p:cNvSpPr txBox="1">
            <a:spLocks noChangeArrowheads="1"/>
          </p:cNvSpPr>
          <p:nvPr/>
        </p:nvSpPr>
        <p:spPr bwMode="auto">
          <a:xfrm>
            <a:off x="1208881" y="495000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2</a:t>
            </a:r>
          </a:p>
        </p:txBody>
      </p:sp>
      <p:sp>
        <p:nvSpPr>
          <p:cNvPr id="26" name="Text Box 98"/>
          <p:cNvSpPr txBox="1">
            <a:spLocks noChangeArrowheads="1"/>
          </p:cNvSpPr>
          <p:nvPr/>
        </p:nvSpPr>
        <p:spPr bwMode="auto">
          <a:xfrm>
            <a:off x="2213769" y="437532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27" name="Text Box 99"/>
          <p:cNvSpPr txBox="1">
            <a:spLocks noChangeArrowheads="1"/>
          </p:cNvSpPr>
          <p:nvPr/>
        </p:nvSpPr>
        <p:spPr bwMode="auto">
          <a:xfrm>
            <a:off x="1910556" y="5019853"/>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28" name="Text Box 100"/>
          <p:cNvSpPr txBox="1">
            <a:spLocks noChangeArrowheads="1"/>
          </p:cNvSpPr>
          <p:nvPr/>
        </p:nvSpPr>
        <p:spPr bwMode="auto">
          <a:xfrm>
            <a:off x="3188494" y="461345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4</a:t>
            </a:r>
          </a:p>
        </p:txBody>
      </p:sp>
      <p:sp>
        <p:nvSpPr>
          <p:cNvPr id="29" name="Text Box 101"/>
          <p:cNvSpPr txBox="1">
            <a:spLocks noChangeArrowheads="1"/>
          </p:cNvSpPr>
          <p:nvPr/>
        </p:nvSpPr>
        <p:spPr bwMode="auto">
          <a:xfrm>
            <a:off x="3890169" y="420705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1</a:t>
            </a:r>
          </a:p>
        </p:txBody>
      </p:sp>
      <p:sp>
        <p:nvSpPr>
          <p:cNvPr id="30" name="Text Box 102"/>
          <p:cNvSpPr txBox="1">
            <a:spLocks noChangeArrowheads="1"/>
          </p:cNvSpPr>
          <p:nvPr/>
        </p:nvSpPr>
        <p:spPr bwMode="auto">
          <a:xfrm>
            <a:off x="1862931" y="5832653"/>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4</a:t>
            </a:r>
          </a:p>
        </p:txBody>
      </p:sp>
      <p:sp>
        <p:nvSpPr>
          <p:cNvPr id="31" name="Text Box 103"/>
          <p:cNvSpPr txBox="1">
            <a:spLocks noChangeArrowheads="1"/>
          </p:cNvSpPr>
          <p:nvPr/>
        </p:nvSpPr>
        <p:spPr bwMode="auto">
          <a:xfrm>
            <a:off x="2712244" y="529290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5</a:t>
            </a:r>
          </a:p>
        </p:txBody>
      </p:sp>
      <p:sp>
        <p:nvSpPr>
          <p:cNvPr id="32" name="Text Box 104"/>
          <p:cNvSpPr txBox="1">
            <a:spLocks noChangeArrowheads="1"/>
          </p:cNvSpPr>
          <p:nvPr/>
        </p:nvSpPr>
        <p:spPr bwMode="auto">
          <a:xfrm>
            <a:off x="3109119" y="5859641"/>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400" b="0">
                <a:solidFill>
                  <a:prstClr val="black"/>
                </a:solidFill>
                <a:latin typeface="Times New Roman" charset="0"/>
              </a:rPr>
              <a:t>3</a:t>
            </a:r>
          </a:p>
        </p:txBody>
      </p:sp>
      <p:sp>
        <p:nvSpPr>
          <p:cNvPr id="33" name="Text Box 105"/>
          <p:cNvSpPr txBox="1">
            <a:spLocks noChangeArrowheads="1"/>
          </p:cNvSpPr>
          <p:nvPr/>
        </p:nvSpPr>
        <p:spPr bwMode="auto">
          <a:xfrm>
            <a:off x="370681" y="4811891"/>
            <a:ext cx="3397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u</a:t>
            </a:r>
          </a:p>
        </p:txBody>
      </p:sp>
      <p:sp>
        <p:nvSpPr>
          <p:cNvPr id="34" name="Text Box 106"/>
          <p:cNvSpPr txBox="1">
            <a:spLocks noChangeArrowheads="1"/>
          </p:cNvSpPr>
          <p:nvPr/>
        </p:nvSpPr>
        <p:spPr bwMode="auto">
          <a:xfrm>
            <a:off x="1643856" y="3941941"/>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v</a:t>
            </a:r>
          </a:p>
        </p:txBody>
      </p:sp>
      <p:sp>
        <p:nvSpPr>
          <p:cNvPr id="35" name="Text Box 107"/>
          <p:cNvSpPr txBox="1">
            <a:spLocks noChangeArrowheads="1"/>
          </p:cNvSpPr>
          <p:nvPr/>
        </p:nvSpPr>
        <p:spPr bwMode="auto">
          <a:xfrm>
            <a:off x="1567656" y="5810428"/>
            <a:ext cx="3889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w</a:t>
            </a:r>
          </a:p>
        </p:txBody>
      </p:sp>
      <p:sp>
        <p:nvSpPr>
          <p:cNvPr id="36" name="Text Box 108"/>
          <p:cNvSpPr txBox="1">
            <a:spLocks noChangeArrowheads="1"/>
          </p:cNvSpPr>
          <p:nvPr/>
        </p:nvSpPr>
        <p:spPr bwMode="auto">
          <a:xfrm>
            <a:off x="2542381" y="4645203"/>
            <a:ext cx="3254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x</a:t>
            </a:r>
          </a:p>
        </p:txBody>
      </p:sp>
      <p:sp>
        <p:nvSpPr>
          <p:cNvPr id="37" name="Text Box 109"/>
          <p:cNvSpPr txBox="1">
            <a:spLocks noChangeArrowheads="1"/>
          </p:cNvSpPr>
          <p:nvPr/>
        </p:nvSpPr>
        <p:spPr bwMode="auto">
          <a:xfrm>
            <a:off x="3350419" y="3953053"/>
            <a:ext cx="3206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y</a:t>
            </a:r>
          </a:p>
        </p:txBody>
      </p:sp>
      <p:sp>
        <p:nvSpPr>
          <p:cNvPr id="38" name="Text Box 110"/>
          <p:cNvSpPr txBox="1">
            <a:spLocks noChangeArrowheads="1"/>
          </p:cNvSpPr>
          <p:nvPr/>
        </p:nvSpPr>
        <p:spPr bwMode="auto">
          <a:xfrm>
            <a:off x="4625181" y="4799191"/>
            <a:ext cx="311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z</a:t>
            </a:r>
          </a:p>
        </p:txBody>
      </p:sp>
      <p:sp>
        <p:nvSpPr>
          <p:cNvPr id="39" name="Text Box 111"/>
          <p:cNvSpPr txBox="1">
            <a:spLocks noChangeArrowheads="1"/>
          </p:cNvSpPr>
          <p:nvPr/>
        </p:nvSpPr>
        <p:spPr bwMode="auto">
          <a:xfrm>
            <a:off x="2791619" y="6156503"/>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s</a:t>
            </a:r>
          </a:p>
        </p:txBody>
      </p:sp>
      <p:sp>
        <p:nvSpPr>
          <p:cNvPr id="40" name="Text Box 112"/>
          <p:cNvSpPr txBox="1">
            <a:spLocks noChangeArrowheads="1"/>
          </p:cNvSpPr>
          <p:nvPr/>
        </p:nvSpPr>
        <p:spPr bwMode="auto">
          <a:xfrm>
            <a:off x="3685381" y="5489753"/>
            <a:ext cx="2682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eaLnBrk="1" hangingPunct="1"/>
            <a:r>
              <a:rPr lang="en-US">
                <a:solidFill>
                  <a:srgbClr val="0000FF"/>
                </a:solidFill>
              </a:rPr>
              <a:t>t</a:t>
            </a:r>
          </a:p>
        </p:txBody>
      </p:sp>
      <p:sp>
        <p:nvSpPr>
          <p:cNvPr id="41" name="Text Box 113"/>
          <p:cNvSpPr txBox="1">
            <a:spLocks noChangeArrowheads="1"/>
          </p:cNvSpPr>
          <p:nvPr/>
        </p:nvSpPr>
        <p:spPr bwMode="auto">
          <a:xfrm>
            <a:off x="4583113" y="3778250"/>
            <a:ext cx="4408487" cy="946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ＭＳ Ｐゴシック" charset="0"/>
              </a:defRPr>
            </a:lvl1pPr>
            <a:lvl2pPr marL="37931725" indent="-37474525" eaLnBrk="0" hangingPunct="0">
              <a:defRPr sz="2000" b="1">
                <a:solidFill>
                  <a:schemeClr val="tx1"/>
                </a:solidFill>
                <a:latin typeface="Courier New" charset="0"/>
                <a:ea typeface="ＭＳ Ｐゴシック" charset="0"/>
              </a:defRPr>
            </a:lvl2pPr>
            <a:lvl3pPr eaLnBrk="0" hangingPunct="0">
              <a:defRPr sz="2000" b="1">
                <a:solidFill>
                  <a:schemeClr val="tx1"/>
                </a:solidFill>
                <a:latin typeface="Courier New" charset="0"/>
                <a:ea typeface="ＭＳ Ｐゴシック" charset="0"/>
              </a:defRPr>
            </a:lvl3pPr>
            <a:lvl4pPr eaLnBrk="0" hangingPunct="0">
              <a:defRPr sz="2000" b="1">
                <a:solidFill>
                  <a:schemeClr val="tx1"/>
                </a:solidFill>
                <a:latin typeface="Courier New" charset="0"/>
                <a:ea typeface="ＭＳ Ｐゴシック" charset="0"/>
              </a:defRPr>
            </a:lvl4pPr>
            <a:lvl5pPr eaLnBrk="0" hangingPunct="0">
              <a:defRPr sz="2000" b="1">
                <a:solidFill>
                  <a:schemeClr val="tx1"/>
                </a:solidFill>
                <a:latin typeface="Courier New" charset="0"/>
                <a:ea typeface="ＭＳ Ｐゴシック" charset="0"/>
              </a:defRPr>
            </a:lvl5pPr>
            <a:lvl6pPr marL="457200" eaLnBrk="0" fontAlgn="base" hangingPunct="0">
              <a:spcBef>
                <a:spcPct val="0"/>
              </a:spcBef>
              <a:spcAft>
                <a:spcPct val="0"/>
              </a:spcAft>
              <a:defRPr sz="2000" b="1">
                <a:solidFill>
                  <a:schemeClr val="tx1"/>
                </a:solidFill>
                <a:latin typeface="Courier New" charset="0"/>
                <a:ea typeface="ＭＳ Ｐゴシック" charset="0"/>
              </a:defRPr>
            </a:lvl6pPr>
            <a:lvl7pPr marL="914400" eaLnBrk="0" fontAlgn="base" hangingPunct="0">
              <a:spcBef>
                <a:spcPct val="0"/>
              </a:spcBef>
              <a:spcAft>
                <a:spcPct val="0"/>
              </a:spcAft>
              <a:defRPr sz="2000" b="1">
                <a:solidFill>
                  <a:schemeClr val="tx1"/>
                </a:solidFill>
                <a:latin typeface="Courier New" charset="0"/>
                <a:ea typeface="ＭＳ Ｐゴシック" charset="0"/>
              </a:defRPr>
            </a:lvl7pPr>
            <a:lvl8pPr marL="1371600" eaLnBrk="0" fontAlgn="base" hangingPunct="0">
              <a:spcBef>
                <a:spcPct val="0"/>
              </a:spcBef>
              <a:spcAft>
                <a:spcPct val="0"/>
              </a:spcAft>
              <a:defRPr sz="2000" b="1">
                <a:solidFill>
                  <a:schemeClr val="tx1"/>
                </a:solidFill>
                <a:latin typeface="Courier New" charset="0"/>
                <a:ea typeface="ＭＳ Ｐゴシック" charset="0"/>
              </a:defRPr>
            </a:lvl8pPr>
            <a:lvl9pPr marL="1828800" eaLnBrk="0" fontAlgn="base" hangingPunct="0">
              <a:spcBef>
                <a:spcPct val="0"/>
              </a:spcBef>
              <a:spcAft>
                <a:spcPct val="0"/>
              </a:spcAft>
              <a:defRPr sz="2000" b="1">
                <a:solidFill>
                  <a:schemeClr val="tx1"/>
                </a:solidFill>
                <a:latin typeface="Courier New" charset="0"/>
                <a:ea typeface="ＭＳ Ｐゴシック" charset="0"/>
              </a:defRPr>
            </a:lvl9pPr>
          </a:lstStyle>
          <a:p>
            <a:pPr defTabSz="457200"/>
            <a:r>
              <a:rPr lang="en-US" sz="2800" b="0">
                <a:solidFill>
                  <a:prstClr val="black"/>
                </a:solidFill>
                <a:latin typeface="Comic Sans MS" charset="0"/>
              </a:rPr>
              <a:t>d</a:t>
            </a:r>
            <a:r>
              <a:rPr lang="en-US" sz="2800" b="0" baseline="-25000">
                <a:solidFill>
                  <a:prstClr val="black"/>
                </a:solidFill>
                <a:latin typeface="Comic Sans MS" charset="0"/>
              </a:rPr>
              <a:t>u</a:t>
            </a:r>
            <a:r>
              <a:rPr lang="en-US" sz="2800" b="0">
                <a:solidFill>
                  <a:prstClr val="black"/>
                </a:solidFill>
                <a:latin typeface="Comic Sans MS" charset="0"/>
              </a:rPr>
              <a:t>(z) = min{c(u,v) + d</a:t>
            </a:r>
            <a:r>
              <a:rPr lang="en-US" sz="2800" b="0" baseline="-25000">
                <a:solidFill>
                  <a:prstClr val="black"/>
                </a:solidFill>
                <a:latin typeface="Comic Sans MS" charset="0"/>
              </a:rPr>
              <a:t>v</a:t>
            </a:r>
            <a:r>
              <a:rPr lang="en-US" sz="2800" b="0">
                <a:solidFill>
                  <a:prstClr val="black"/>
                </a:solidFill>
                <a:latin typeface="Comic Sans MS" charset="0"/>
              </a:rPr>
              <a:t>(z), </a:t>
            </a:r>
          </a:p>
          <a:p>
            <a:pPr defTabSz="457200"/>
            <a:r>
              <a:rPr lang="en-US" sz="2800" b="0">
                <a:solidFill>
                  <a:prstClr val="black"/>
                </a:solidFill>
                <a:latin typeface="Comic Sans MS" charset="0"/>
              </a:rPr>
              <a:t>                  c(u,w) + d</a:t>
            </a:r>
            <a:r>
              <a:rPr lang="en-US" sz="2800" b="0" baseline="-25000">
                <a:solidFill>
                  <a:prstClr val="black"/>
                </a:solidFill>
                <a:latin typeface="Comic Sans MS" charset="0"/>
              </a:rPr>
              <a:t>w</a:t>
            </a:r>
            <a:r>
              <a:rPr lang="en-US" sz="2800" b="0">
                <a:solidFill>
                  <a:prstClr val="black"/>
                </a:solidFill>
                <a:latin typeface="Comic Sans MS" charset="0"/>
              </a:rPr>
              <a:t>(z)}</a:t>
            </a:r>
            <a:endParaRPr lang="en-US" sz="2400">
              <a:solidFill>
                <a:prstClr val="black"/>
              </a:solidFill>
            </a:endParaRPr>
          </a:p>
        </p:txBody>
      </p:sp>
    </p:spTree>
    <p:extLst>
      <p:ext uri="{BB962C8B-B14F-4D97-AF65-F5344CB8AC3E}">
        <p14:creationId xmlns:p14="http://schemas.microsoft.com/office/powerpoint/2010/main" val="3933771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Traffic Engineering Problem</a:t>
            </a:r>
          </a:p>
        </p:txBody>
      </p:sp>
      <p:sp>
        <p:nvSpPr>
          <p:cNvPr id="3" name="Content Placeholder 2"/>
          <p:cNvSpPr>
            <a:spLocks noGrp="1"/>
          </p:cNvSpPr>
          <p:nvPr>
            <p:ph idx="1"/>
          </p:nvPr>
        </p:nvSpPr>
        <p:spPr>
          <a:xfrm>
            <a:off x="457200" y="1600201"/>
            <a:ext cx="8229600" cy="2336800"/>
          </a:xfrm>
        </p:spPr>
        <p:txBody>
          <a:bodyPr/>
          <a:lstStyle/>
          <a:p>
            <a:r>
              <a:rPr lang="en-US" dirty="0">
                <a:solidFill>
                  <a:srgbClr val="0000FF"/>
                </a:solidFill>
                <a:latin typeface="Arial" charset="0"/>
                <a:cs typeface="Arial" charset="0"/>
              </a:rPr>
              <a:t>Management plane</a:t>
            </a:r>
            <a:r>
              <a:rPr lang="en-US" dirty="0">
                <a:latin typeface="Arial" charset="0"/>
                <a:cs typeface="Arial" charset="0"/>
              </a:rPr>
              <a:t>: setting the weights</a:t>
            </a:r>
          </a:p>
          <a:p>
            <a:pPr lvl="1"/>
            <a:r>
              <a:rPr lang="en-US" dirty="0">
                <a:latin typeface="Arial" charset="0"/>
                <a:ea typeface="Arial" charset="0"/>
                <a:cs typeface="Arial" charset="0"/>
              </a:rPr>
              <a:t>Inversely proportional to link capacity?</a:t>
            </a:r>
          </a:p>
          <a:p>
            <a:pPr lvl="1"/>
            <a:r>
              <a:rPr lang="en-US" dirty="0">
                <a:latin typeface="Arial" charset="0"/>
                <a:ea typeface="Arial" charset="0"/>
                <a:cs typeface="Arial" charset="0"/>
              </a:rPr>
              <a:t>Proportional to propagation delay?</a:t>
            </a:r>
          </a:p>
          <a:p>
            <a:pPr lvl="1"/>
            <a:r>
              <a:rPr lang="en-US" dirty="0">
                <a:latin typeface="Arial" charset="0"/>
                <a:ea typeface="Arial" charset="0"/>
                <a:cs typeface="Arial" charset="0"/>
              </a:rPr>
              <a:t>Network-wide optimization based on traffic?</a:t>
            </a:r>
          </a:p>
          <a:p>
            <a:pPr marL="0" indent="0">
              <a:buNone/>
            </a:pPr>
            <a:endParaRPr lang="en-US" dirty="0"/>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21</a:t>
            </a:fld>
            <a:endParaRPr lang="en-US" dirty="0">
              <a:solidFill>
                <a:prstClr val="black">
                  <a:tint val="75000"/>
                </a:prstClr>
              </a:solidFill>
            </a:endParaRPr>
          </a:p>
        </p:txBody>
      </p:sp>
      <p:sp>
        <p:nvSpPr>
          <p:cNvPr id="5" name="Oval 4"/>
          <p:cNvSpPr>
            <a:spLocks noChangeArrowheads="1"/>
          </p:cNvSpPr>
          <p:nvPr/>
        </p:nvSpPr>
        <p:spPr bwMode="auto">
          <a:xfrm>
            <a:off x="2633663" y="5084408"/>
            <a:ext cx="287337" cy="252412"/>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6" name="Oval 5"/>
          <p:cNvSpPr>
            <a:spLocks noChangeArrowheads="1"/>
          </p:cNvSpPr>
          <p:nvPr/>
        </p:nvSpPr>
        <p:spPr bwMode="auto">
          <a:xfrm>
            <a:off x="3495675" y="5755920"/>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7" name="Oval 6"/>
          <p:cNvSpPr>
            <a:spLocks noChangeArrowheads="1"/>
          </p:cNvSpPr>
          <p:nvPr/>
        </p:nvSpPr>
        <p:spPr bwMode="auto">
          <a:xfrm>
            <a:off x="3590925" y="4497033"/>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8" name="Oval 7"/>
          <p:cNvSpPr>
            <a:spLocks noChangeArrowheads="1"/>
          </p:cNvSpPr>
          <p:nvPr/>
        </p:nvSpPr>
        <p:spPr bwMode="auto">
          <a:xfrm>
            <a:off x="4357688" y="5168545"/>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9" name="Oval 8"/>
          <p:cNvSpPr>
            <a:spLocks noChangeArrowheads="1"/>
          </p:cNvSpPr>
          <p:nvPr/>
        </p:nvSpPr>
        <p:spPr bwMode="auto">
          <a:xfrm>
            <a:off x="5219700" y="5755920"/>
            <a:ext cx="287338" cy="252413"/>
          </a:xfrm>
          <a:prstGeom prst="ellipse">
            <a:avLst/>
          </a:prstGeom>
          <a:solidFill>
            <a:srgbClr val="3333FF"/>
          </a:solidFill>
          <a:ln w="9525">
            <a:solidFill>
              <a:srgbClr val="0000FF"/>
            </a:solidFill>
            <a:round/>
            <a:headEnd/>
            <a:tailEnd/>
          </a:ln>
        </p:spPr>
        <p:txBody>
          <a:bodyPr wrap="none" anchor="ctr"/>
          <a:lstStyle/>
          <a:p>
            <a:pPr defTabSz="457200"/>
            <a:endParaRPr lang="en-US">
              <a:solidFill>
                <a:prstClr val="black"/>
              </a:solidFill>
            </a:endParaRPr>
          </a:p>
        </p:txBody>
      </p:sp>
      <p:sp>
        <p:nvSpPr>
          <p:cNvPr id="10" name="Oval 9"/>
          <p:cNvSpPr>
            <a:spLocks noChangeArrowheads="1"/>
          </p:cNvSpPr>
          <p:nvPr/>
        </p:nvSpPr>
        <p:spPr bwMode="auto">
          <a:xfrm>
            <a:off x="5219700" y="4497033"/>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1" name="Oval 10"/>
          <p:cNvSpPr>
            <a:spLocks noChangeArrowheads="1"/>
          </p:cNvSpPr>
          <p:nvPr/>
        </p:nvSpPr>
        <p:spPr bwMode="auto">
          <a:xfrm>
            <a:off x="4452938" y="6260745"/>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2" name="Oval 11"/>
          <p:cNvSpPr>
            <a:spLocks noChangeArrowheads="1"/>
          </p:cNvSpPr>
          <p:nvPr/>
        </p:nvSpPr>
        <p:spPr bwMode="auto">
          <a:xfrm>
            <a:off x="6176963" y="5084408"/>
            <a:ext cx="287337" cy="252412"/>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3" name="Line 12"/>
          <p:cNvSpPr>
            <a:spLocks noChangeShapeType="1"/>
          </p:cNvSpPr>
          <p:nvPr/>
        </p:nvSpPr>
        <p:spPr bwMode="auto">
          <a:xfrm flipV="1">
            <a:off x="2921000" y="4663720"/>
            <a:ext cx="669925" cy="5048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4" name="Line 13"/>
          <p:cNvSpPr>
            <a:spLocks noChangeShapeType="1"/>
          </p:cNvSpPr>
          <p:nvPr/>
        </p:nvSpPr>
        <p:spPr bwMode="auto">
          <a:xfrm>
            <a:off x="2871788" y="5308245"/>
            <a:ext cx="623887" cy="531813"/>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5" name="Line 14"/>
          <p:cNvSpPr>
            <a:spLocks noChangeShapeType="1"/>
          </p:cNvSpPr>
          <p:nvPr/>
        </p:nvSpPr>
        <p:spPr bwMode="auto">
          <a:xfrm>
            <a:off x="3830638" y="4678008"/>
            <a:ext cx="574675" cy="53181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6" name="Line 15"/>
          <p:cNvSpPr>
            <a:spLocks noChangeShapeType="1"/>
          </p:cNvSpPr>
          <p:nvPr/>
        </p:nvSpPr>
        <p:spPr bwMode="auto">
          <a:xfrm>
            <a:off x="3735388" y="5924195"/>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7" name="Line 16"/>
          <p:cNvSpPr>
            <a:spLocks noChangeShapeType="1"/>
          </p:cNvSpPr>
          <p:nvPr/>
        </p:nvSpPr>
        <p:spPr bwMode="auto">
          <a:xfrm flipV="1">
            <a:off x="3767138" y="5378095"/>
            <a:ext cx="638175" cy="420688"/>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8" name="Line 17"/>
          <p:cNvSpPr>
            <a:spLocks noChangeShapeType="1"/>
          </p:cNvSpPr>
          <p:nvPr/>
        </p:nvSpPr>
        <p:spPr bwMode="auto">
          <a:xfrm>
            <a:off x="4597400" y="5392383"/>
            <a:ext cx="654050" cy="392112"/>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9" name="Line 18"/>
          <p:cNvSpPr>
            <a:spLocks noChangeShapeType="1"/>
          </p:cNvSpPr>
          <p:nvPr/>
        </p:nvSpPr>
        <p:spPr bwMode="auto">
          <a:xfrm flipV="1">
            <a:off x="4692650" y="5967058"/>
            <a:ext cx="590550" cy="33496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0" name="Line 19"/>
          <p:cNvSpPr>
            <a:spLocks noChangeShapeType="1"/>
          </p:cNvSpPr>
          <p:nvPr/>
        </p:nvSpPr>
        <p:spPr bwMode="auto">
          <a:xfrm flipV="1">
            <a:off x="4645025" y="5209820"/>
            <a:ext cx="1531938" cy="984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1" name="Line 20"/>
          <p:cNvSpPr>
            <a:spLocks noChangeShapeType="1"/>
          </p:cNvSpPr>
          <p:nvPr/>
        </p:nvSpPr>
        <p:spPr bwMode="auto">
          <a:xfrm>
            <a:off x="3846513" y="4608158"/>
            <a:ext cx="1373187" cy="14287"/>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2" name="Line 21"/>
          <p:cNvSpPr>
            <a:spLocks noChangeShapeType="1"/>
          </p:cNvSpPr>
          <p:nvPr/>
        </p:nvSpPr>
        <p:spPr bwMode="auto">
          <a:xfrm>
            <a:off x="5491163" y="4706583"/>
            <a:ext cx="766762" cy="4191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3" name="Text Box 22"/>
          <p:cNvSpPr txBox="1">
            <a:spLocks noChangeArrowheads="1"/>
          </p:cNvSpPr>
          <p:nvPr/>
        </p:nvSpPr>
        <p:spPr bwMode="auto">
          <a:xfrm>
            <a:off x="2963863" y="444305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24" name="Text Box 23"/>
          <p:cNvSpPr txBox="1">
            <a:spLocks noChangeArrowheads="1"/>
          </p:cNvSpPr>
          <p:nvPr/>
        </p:nvSpPr>
        <p:spPr bwMode="auto">
          <a:xfrm>
            <a:off x="4321175" y="4093808"/>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2</a:t>
            </a:r>
          </a:p>
        </p:txBody>
      </p:sp>
      <p:sp>
        <p:nvSpPr>
          <p:cNvPr id="25" name="Text Box 24"/>
          <p:cNvSpPr txBox="1">
            <a:spLocks noChangeArrowheads="1"/>
          </p:cNvSpPr>
          <p:nvPr/>
        </p:nvSpPr>
        <p:spPr bwMode="auto">
          <a:xfrm>
            <a:off x="3076575" y="511615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2</a:t>
            </a:r>
          </a:p>
        </p:txBody>
      </p:sp>
      <p:sp>
        <p:nvSpPr>
          <p:cNvPr id="26" name="Text Box 25"/>
          <p:cNvSpPr txBox="1">
            <a:spLocks noChangeArrowheads="1"/>
          </p:cNvSpPr>
          <p:nvPr/>
        </p:nvSpPr>
        <p:spPr bwMode="auto">
          <a:xfrm>
            <a:off x="4081463" y="454148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27" name="Text Box 26"/>
          <p:cNvSpPr txBox="1">
            <a:spLocks noChangeArrowheads="1"/>
          </p:cNvSpPr>
          <p:nvPr/>
        </p:nvSpPr>
        <p:spPr bwMode="auto">
          <a:xfrm>
            <a:off x="3711575" y="5157433"/>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28" name="Text Box 27"/>
          <p:cNvSpPr txBox="1">
            <a:spLocks noChangeArrowheads="1"/>
          </p:cNvSpPr>
          <p:nvPr/>
        </p:nvSpPr>
        <p:spPr bwMode="auto">
          <a:xfrm>
            <a:off x="5056188" y="477960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29" name="Text Box 28"/>
          <p:cNvSpPr txBox="1">
            <a:spLocks noChangeArrowheads="1"/>
          </p:cNvSpPr>
          <p:nvPr/>
        </p:nvSpPr>
        <p:spPr bwMode="auto">
          <a:xfrm>
            <a:off x="5757863" y="4373208"/>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30" name="Text Box 29"/>
          <p:cNvSpPr txBox="1">
            <a:spLocks noChangeArrowheads="1"/>
          </p:cNvSpPr>
          <p:nvPr/>
        </p:nvSpPr>
        <p:spPr bwMode="auto">
          <a:xfrm>
            <a:off x="3730625" y="5998808"/>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4</a:t>
            </a:r>
          </a:p>
        </p:txBody>
      </p:sp>
      <p:sp>
        <p:nvSpPr>
          <p:cNvPr id="31" name="Text Box 30"/>
          <p:cNvSpPr txBox="1">
            <a:spLocks noChangeArrowheads="1"/>
          </p:cNvSpPr>
          <p:nvPr/>
        </p:nvSpPr>
        <p:spPr bwMode="auto">
          <a:xfrm>
            <a:off x="4911725" y="5214583"/>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5</a:t>
            </a:r>
          </a:p>
        </p:txBody>
      </p:sp>
      <p:sp>
        <p:nvSpPr>
          <p:cNvPr id="32" name="Text Box 31"/>
          <p:cNvSpPr txBox="1">
            <a:spLocks noChangeArrowheads="1"/>
          </p:cNvSpPr>
          <p:nvPr/>
        </p:nvSpPr>
        <p:spPr bwMode="auto">
          <a:xfrm>
            <a:off x="4976813" y="6025795"/>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33" name="Oval 32"/>
          <p:cNvSpPr>
            <a:spLocks noChangeArrowheads="1"/>
          </p:cNvSpPr>
          <p:nvPr/>
        </p:nvSpPr>
        <p:spPr bwMode="auto">
          <a:xfrm>
            <a:off x="2281238" y="4047770"/>
            <a:ext cx="4598987" cy="2674938"/>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a:solidFill>
                <a:prstClr val="black"/>
              </a:solidFill>
            </a:endParaRPr>
          </a:p>
        </p:txBody>
      </p:sp>
      <p:sp>
        <p:nvSpPr>
          <p:cNvPr id="34" name="Line 33"/>
          <p:cNvSpPr>
            <a:spLocks noChangeShapeType="1"/>
          </p:cNvSpPr>
          <p:nvPr/>
        </p:nvSpPr>
        <p:spPr bwMode="auto">
          <a:xfrm flipH="1" flipV="1">
            <a:off x="1674813" y="4889145"/>
            <a:ext cx="958850" cy="293688"/>
          </a:xfrm>
          <a:prstGeom prst="line">
            <a:avLst/>
          </a:prstGeom>
          <a:noFill/>
          <a:ln w="57150">
            <a:solidFill>
              <a:schemeClr val="accent1"/>
            </a:solidFill>
            <a:round/>
            <a:headEnd type="arrow" w="med" len="me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5" name="Line 34"/>
          <p:cNvSpPr>
            <a:spLocks noChangeShapeType="1"/>
          </p:cNvSpPr>
          <p:nvPr/>
        </p:nvSpPr>
        <p:spPr bwMode="auto">
          <a:xfrm flipH="1">
            <a:off x="1643063" y="5293958"/>
            <a:ext cx="1006475" cy="19685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6" name="Line 35"/>
          <p:cNvSpPr>
            <a:spLocks noChangeShapeType="1"/>
          </p:cNvSpPr>
          <p:nvPr/>
        </p:nvSpPr>
        <p:spPr bwMode="auto">
          <a:xfrm>
            <a:off x="5507038" y="5882920"/>
            <a:ext cx="1612900" cy="69850"/>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7" name="Line 36"/>
          <p:cNvSpPr>
            <a:spLocks noChangeShapeType="1"/>
          </p:cNvSpPr>
          <p:nvPr/>
        </p:nvSpPr>
        <p:spPr bwMode="auto">
          <a:xfrm>
            <a:off x="5459413" y="5981345"/>
            <a:ext cx="1117600" cy="4746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8" name="Line 37"/>
          <p:cNvSpPr>
            <a:spLocks noChangeShapeType="1"/>
          </p:cNvSpPr>
          <p:nvPr/>
        </p:nvSpPr>
        <p:spPr bwMode="auto">
          <a:xfrm flipH="1">
            <a:off x="6432550" y="4943120"/>
            <a:ext cx="1006475" cy="1952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9" name="Line 38"/>
          <p:cNvSpPr>
            <a:spLocks noChangeShapeType="1"/>
          </p:cNvSpPr>
          <p:nvPr/>
        </p:nvSpPr>
        <p:spPr bwMode="auto">
          <a:xfrm>
            <a:off x="3122613" y="3787420"/>
            <a:ext cx="574675" cy="7159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40" name="Line 39"/>
          <p:cNvSpPr>
            <a:spLocks noChangeShapeType="1"/>
          </p:cNvSpPr>
          <p:nvPr/>
        </p:nvSpPr>
        <p:spPr bwMode="auto">
          <a:xfrm flipH="1">
            <a:off x="2606675" y="5935308"/>
            <a:ext cx="915988" cy="51117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41" name="Text Box 46"/>
          <p:cNvSpPr txBox="1">
            <a:spLocks noChangeArrowheads="1"/>
          </p:cNvSpPr>
          <p:nvPr/>
        </p:nvSpPr>
        <p:spPr bwMode="auto">
          <a:xfrm>
            <a:off x="3703638" y="5116158"/>
            <a:ext cx="336550" cy="457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srgbClr val="FF9900"/>
                </a:solidFill>
              </a:rPr>
              <a:t>3</a:t>
            </a:r>
          </a:p>
        </p:txBody>
      </p:sp>
      <p:sp>
        <p:nvSpPr>
          <p:cNvPr id="42" name="Oval 45"/>
          <p:cNvSpPr>
            <a:spLocks noChangeArrowheads="1"/>
          </p:cNvSpPr>
          <p:nvPr/>
        </p:nvSpPr>
        <p:spPr bwMode="auto">
          <a:xfrm>
            <a:off x="3590925" y="5173308"/>
            <a:ext cx="554038" cy="431800"/>
          </a:xfrm>
          <a:prstGeom prst="ellipse">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a:solidFill>
                <a:prstClr val="black"/>
              </a:solidFill>
            </a:endParaRPr>
          </a:p>
        </p:txBody>
      </p:sp>
      <p:sp>
        <p:nvSpPr>
          <p:cNvPr id="43" name="Freeform 48"/>
          <p:cNvSpPr>
            <a:spLocks/>
          </p:cNvSpPr>
          <p:nvPr/>
        </p:nvSpPr>
        <p:spPr bwMode="auto">
          <a:xfrm>
            <a:off x="1612900" y="5130445"/>
            <a:ext cx="5281613" cy="1552575"/>
          </a:xfrm>
          <a:custGeom>
            <a:avLst/>
            <a:gdLst>
              <a:gd name="T0" fmla="*/ 0 w 3327"/>
              <a:gd name="T1" fmla="*/ 0 h 978"/>
              <a:gd name="T2" fmla="*/ 206375 w 3327"/>
              <a:gd name="T3" fmla="*/ 50800 h 978"/>
              <a:gd name="T4" fmla="*/ 996950 w 3327"/>
              <a:gd name="T5" fmla="*/ 277813 h 978"/>
              <a:gd name="T6" fmla="*/ 1725613 w 3327"/>
              <a:gd name="T7" fmla="*/ 841375 h 978"/>
              <a:gd name="T8" fmla="*/ 2867025 w 3327"/>
              <a:gd name="T9" fmla="*/ 1520825 h 978"/>
              <a:gd name="T10" fmla="*/ 4048125 w 3327"/>
              <a:gd name="T11" fmla="*/ 1036638 h 978"/>
              <a:gd name="T12" fmla="*/ 5281613 w 3327"/>
              <a:gd name="T13" fmla="*/ 1139825 h 978"/>
              <a:gd name="T14" fmla="*/ 0 60000 65536"/>
              <a:gd name="T15" fmla="*/ 0 60000 65536"/>
              <a:gd name="T16" fmla="*/ 0 60000 65536"/>
              <a:gd name="T17" fmla="*/ 0 60000 65536"/>
              <a:gd name="T18" fmla="*/ 0 60000 65536"/>
              <a:gd name="T19" fmla="*/ 0 60000 65536"/>
              <a:gd name="T20" fmla="*/ 0 60000 65536"/>
              <a:gd name="T21" fmla="*/ 0 w 3327"/>
              <a:gd name="T22" fmla="*/ 0 h 978"/>
              <a:gd name="T23" fmla="*/ 3327 w 3327"/>
              <a:gd name="T24" fmla="*/ 978 h 9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27" h="978">
                <a:moveTo>
                  <a:pt x="0" y="0"/>
                </a:moveTo>
                <a:cubicBezTo>
                  <a:pt x="12" y="1"/>
                  <a:pt x="25" y="3"/>
                  <a:pt x="130" y="32"/>
                </a:cubicBezTo>
                <a:cubicBezTo>
                  <a:pt x="235" y="61"/>
                  <a:pt x="469" y="92"/>
                  <a:pt x="628" y="175"/>
                </a:cubicBezTo>
                <a:cubicBezTo>
                  <a:pt x="787" y="258"/>
                  <a:pt x="891" y="400"/>
                  <a:pt x="1087" y="530"/>
                </a:cubicBezTo>
                <a:cubicBezTo>
                  <a:pt x="1283" y="660"/>
                  <a:pt x="1562" y="938"/>
                  <a:pt x="1806" y="958"/>
                </a:cubicBezTo>
                <a:cubicBezTo>
                  <a:pt x="2050" y="978"/>
                  <a:pt x="2297" y="693"/>
                  <a:pt x="2550" y="653"/>
                </a:cubicBezTo>
                <a:cubicBezTo>
                  <a:pt x="2803" y="613"/>
                  <a:pt x="3065" y="665"/>
                  <a:pt x="3327" y="718"/>
                </a:cubicBezTo>
              </a:path>
            </a:pathLst>
          </a:custGeom>
          <a:noFill/>
          <a:ln w="50800">
            <a:solidFill>
              <a:srgbClr val="FF9900"/>
            </a:solidFill>
            <a:round/>
            <a:headEnd/>
            <a:tailEnd type="arrow" w="med" len="med"/>
          </a:ln>
          <a:extLst>
            <a:ext uri="{909E8E84-426E-40dd-AFC4-6F175D3DCCD1}">
              <a14:hiddenFill xmlns:a14="http://schemas.microsoft.com/office/drawing/2010/main" xmlns="">
                <a:solidFill>
                  <a:srgbClr val="FFFFFF"/>
                </a:solidFill>
              </a14:hiddenFill>
            </a:ext>
          </a:extLst>
        </p:spPr>
        <p:txBody>
          <a:bodyPr/>
          <a:lstStyle/>
          <a:p>
            <a:pPr defTabSz="457200"/>
            <a:endParaRPr lang="en-US">
              <a:solidFill>
                <a:prstClr val="black"/>
              </a:solidFill>
            </a:endParaRPr>
          </a:p>
        </p:txBody>
      </p:sp>
    </p:spTree>
    <p:extLst>
      <p:ext uri="{BB962C8B-B14F-4D97-AF65-F5344CB8AC3E}">
        <p14:creationId xmlns:p14="http://schemas.microsoft.com/office/powerpoint/2010/main" val="170497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Traffic Engineering: Optimization</a:t>
            </a:r>
          </a:p>
        </p:txBody>
      </p:sp>
      <p:sp>
        <p:nvSpPr>
          <p:cNvPr id="3" name="Content Placeholder 2"/>
          <p:cNvSpPr>
            <a:spLocks noGrp="1"/>
          </p:cNvSpPr>
          <p:nvPr>
            <p:ph idx="1"/>
          </p:nvPr>
        </p:nvSpPr>
        <p:spPr/>
        <p:txBody>
          <a:bodyPr>
            <a:normAutofit lnSpcReduction="10000"/>
          </a:bodyPr>
          <a:lstStyle/>
          <a:p>
            <a:r>
              <a:rPr lang="en-US" dirty="0"/>
              <a:t>Inputs</a:t>
            </a:r>
          </a:p>
          <a:p>
            <a:pPr lvl="1"/>
            <a:r>
              <a:rPr lang="en-US" dirty="0"/>
              <a:t>Network topology</a:t>
            </a:r>
          </a:p>
          <a:p>
            <a:pPr lvl="1"/>
            <a:r>
              <a:rPr lang="en-US" dirty="0"/>
              <a:t>Link capacities</a:t>
            </a:r>
          </a:p>
          <a:p>
            <a:pPr lvl="1"/>
            <a:r>
              <a:rPr lang="en-US" dirty="0"/>
              <a:t>Traffic matrix</a:t>
            </a:r>
          </a:p>
          <a:p>
            <a:r>
              <a:rPr lang="en-US" dirty="0"/>
              <a:t>Output</a:t>
            </a:r>
          </a:p>
          <a:p>
            <a:pPr lvl="1"/>
            <a:r>
              <a:rPr lang="en-US" dirty="0"/>
              <a:t>Link weights</a:t>
            </a:r>
          </a:p>
          <a:p>
            <a:r>
              <a:rPr lang="en-US" dirty="0"/>
              <a:t>Objective</a:t>
            </a:r>
          </a:p>
          <a:p>
            <a:pPr lvl="1"/>
            <a:r>
              <a:rPr lang="en-US" dirty="0"/>
              <a:t>Minimize max-utilized link</a:t>
            </a:r>
          </a:p>
          <a:p>
            <a:pPr lvl="1"/>
            <a:r>
              <a:rPr lang="en-US" dirty="0"/>
              <a:t>Or, minimize a sum of link congestion</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22</a:t>
            </a:fld>
            <a:endParaRPr lang="en-US" dirty="0">
              <a:solidFill>
                <a:prstClr val="black">
                  <a:tint val="75000"/>
                </a:prstClr>
              </a:solidFill>
            </a:endParaRPr>
          </a:p>
        </p:txBody>
      </p:sp>
      <p:sp>
        <p:nvSpPr>
          <p:cNvPr id="5" name="Oval 4"/>
          <p:cNvSpPr>
            <a:spLocks noChangeArrowheads="1"/>
          </p:cNvSpPr>
          <p:nvPr/>
        </p:nvSpPr>
        <p:spPr bwMode="auto">
          <a:xfrm>
            <a:off x="4517231" y="3291059"/>
            <a:ext cx="287337" cy="252412"/>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6" name="Oval 5"/>
          <p:cNvSpPr>
            <a:spLocks noChangeArrowheads="1"/>
          </p:cNvSpPr>
          <p:nvPr/>
        </p:nvSpPr>
        <p:spPr bwMode="auto">
          <a:xfrm>
            <a:off x="5379243" y="3962571"/>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7" name="Oval 6"/>
          <p:cNvSpPr>
            <a:spLocks noChangeArrowheads="1"/>
          </p:cNvSpPr>
          <p:nvPr/>
        </p:nvSpPr>
        <p:spPr bwMode="auto">
          <a:xfrm>
            <a:off x="5474493" y="2703684"/>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8" name="Oval 7"/>
          <p:cNvSpPr>
            <a:spLocks noChangeArrowheads="1"/>
          </p:cNvSpPr>
          <p:nvPr/>
        </p:nvSpPr>
        <p:spPr bwMode="auto">
          <a:xfrm>
            <a:off x="6241256" y="3375196"/>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9" name="Oval 8"/>
          <p:cNvSpPr>
            <a:spLocks noChangeArrowheads="1"/>
          </p:cNvSpPr>
          <p:nvPr/>
        </p:nvSpPr>
        <p:spPr bwMode="auto">
          <a:xfrm>
            <a:off x="7103268" y="3962571"/>
            <a:ext cx="287338" cy="252413"/>
          </a:xfrm>
          <a:prstGeom prst="ellipse">
            <a:avLst/>
          </a:prstGeom>
          <a:solidFill>
            <a:srgbClr val="3333FF"/>
          </a:solidFill>
          <a:ln w="9525">
            <a:solidFill>
              <a:srgbClr val="0000FF"/>
            </a:solidFill>
            <a:round/>
            <a:headEnd/>
            <a:tailEnd/>
          </a:ln>
        </p:spPr>
        <p:txBody>
          <a:bodyPr wrap="none" anchor="ctr"/>
          <a:lstStyle/>
          <a:p>
            <a:pPr defTabSz="457200"/>
            <a:endParaRPr lang="en-US">
              <a:solidFill>
                <a:prstClr val="black"/>
              </a:solidFill>
            </a:endParaRPr>
          </a:p>
        </p:txBody>
      </p:sp>
      <p:sp>
        <p:nvSpPr>
          <p:cNvPr id="10" name="Oval 9"/>
          <p:cNvSpPr>
            <a:spLocks noChangeArrowheads="1"/>
          </p:cNvSpPr>
          <p:nvPr/>
        </p:nvSpPr>
        <p:spPr bwMode="auto">
          <a:xfrm>
            <a:off x="7103268" y="2703684"/>
            <a:ext cx="287338" cy="250825"/>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1" name="Oval 10"/>
          <p:cNvSpPr>
            <a:spLocks noChangeArrowheads="1"/>
          </p:cNvSpPr>
          <p:nvPr/>
        </p:nvSpPr>
        <p:spPr bwMode="auto">
          <a:xfrm>
            <a:off x="6336506" y="4467396"/>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2" name="Oval 11"/>
          <p:cNvSpPr>
            <a:spLocks noChangeArrowheads="1"/>
          </p:cNvSpPr>
          <p:nvPr/>
        </p:nvSpPr>
        <p:spPr bwMode="auto">
          <a:xfrm>
            <a:off x="8060531" y="3291059"/>
            <a:ext cx="287337" cy="252412"/>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3" name="Line 12"/>
          <p:cNvSpPr>
            <a:spLocks noChangeShapeType="1"/>
          </p:cNvSpPr>
          <p:nvPr/>
        </p:nvSpPr>
        <p:spPr bwMode="auto">
          <a:xfrm flipV="1">
            <a:off x="4804568" y="2870371"/>
            <a:ext cx="669925" cy="5048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4" name="Line 13"/>
          <p:cNvSpPr>
            <a:spLocks noChangeShapeType="1"/>
          </p:cNvSpPr>
          <p:nvPr/>
        </p:nvSpPr>
        <p:spPr bwMode="auto">
          <a:xfrm>
            <a:off x="4755356" y="3514896"/>
            <a:ext cx="623887" cy="531813"/>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5" name="Line 14"/>
          <p:cNvSpPr>
            <a:spLocks noChangeShapeType="1"/>
          </p:cNvSpPr>
          <p:nvPr/>
        </p:nvSpPr>
        <p:spPr bwMode="auto">
          <a:xfrm>
            <a:off x="5714206" y="2884659"/>
            <a:ext cx="574675" cy="53181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6" name="Line 15"/>
          <p:cNvSpPr>
            <a:spLocks noChangeShapeType="1"/>
          </p:cNvSpPr>
          <p:nvPr/>
        </p:nvSpPr>
        <p:spPr bwMode="auto">
          <a:xfrm>
            <a:off x="5618956" y="4130846"/>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7" name="Line 16"/>
          <p:cNvSpPr>
            <a:spLocks noChangeShapeType="1"/>
          </p:cNvSpPr>
          <p:nvPr/>
        </p:nvSpPr>
        <p:spPr bwMode="auto">
          <a:xfrm flipV="1">
            <a:off x="5650706" y="3584746"/>
            <a:ext cx="638175" cy="420688"/>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8" name="Line 17"/>
          <p:cNvSpPr>
            <a:spLocks noChangeShapeType="1"/>
          </p:cNvSpPr>
          <p:nvPr/>
        </p:nvSpPr>
        <p:spPr bwMode="auto">
          <a:xfrm>
            <a:off x="6480968" y="3599034"/>
            <a:ext cx="654050" cy="392112"/>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9" name="Line 18"/>
          <p:cNvSpPr>
            <a:spLocks noChangeShapeType="1"/>
          </p:cNvSpPr>
          <p:nvPr/>
        </p:nvSpPr>
        <p:spPr bwMode="auto">
          <a:xfrm flipV="1">
            <a:off x="6576218" y="4173709"/>
            <a:ext cx="590550" cy="33496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0" name="Line 19"/>
          <p:cNvSpPr>
            <a:spLocks noChangeShapeType="1"/>
          </p:cNvSpPr>
          <p:nvPr/>
        </p:nvSpPr>
        <p:spPr bwMode="auto">
          <a:xfrm flipV="1">
            <a:off x="6528593" y="3416471"/>
            <a:ext cx="1531938" cy="98425"/>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1" name="Line 20"/>
          <p:cNvSpPr>
            <a:spLocks noChangeShapeType="1"/>
          </p:cNvSpPr>
          <p:nvPr/>
        </p:nvSpPr>
        <p:spPr bwMode="auto">
          <a:xfrm>
            <a:off x="5730081" y="2814809"/>
            <a:ext cx="1373187" cy="14287"/>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2" name="Line 21"/>
          <p:cNvSpPr>
            <a:spLocks noChangeShapeType="1"/>
          </p:cNvSpPr>
          <p:nvPr/>
        </p:nvSpPr>
        <p:spPr bwMode="auto">
          <a:xfrm>
            <a:off x="7374731" y="2913234"/>
            <a:ext cx="766762" cy="4191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3" name="Text Box 22"/>
          <p:cNvSpPr txBox="1">
            <a:spLocks noChangeArrowheads="1"/>
          </p:cNvSpPr>
          <p:nvPr/>
        </p:nvSpPr>
        <p:spPr bwMode="auto">
          <a:xfrm>
            <a:off x="4847431" y="2649709"/>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24" name="Text Box 23"/>
          <p:cNvSpPr txBox="1">
            <a:spLocks noChangeArrowheads="1"/>
          </p:cNvSpPr>
          <p:nvPr/>
        </p:nvSpPr>
        <p:spPr bwMode="auto">
          <a:xfrm>
            <a:off x="6204743" y="2300459"/>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2</a:t>
            </a:r>
          </a:p>
        </p:txBody>
      </p:sp>
      <p:sp>
        <p:nvSpPr>
          <p:cNvPr id="25" name="Text Box 24"/>
          <p:cNvSpPr txBox="1">
            <a:spLocks noChangeArrowheads="1"/>
          </p:cNvSpPr>
          <p:nvPr/>
        </p:nvSpPr>
        <p:spPr bwMode="auto">
          <a:xfrm>
            <a:off x="4960143" y="3322809"/>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2</a:t>
            </a:r>
          </a:p>
        </p:txBody>
      </p:sp>
      <p:sp>
        <p:nvSpPr>
          <p:cNvPr id="26" name="Text Box 25"/>
          <p:cNvSpPr txBox="1">
            <a:spLocks noChangeArrowheads="1"/>
          </p:cNvSpPr>
          <p:nvPr/>
        </p:nvSpPr>
        <p:spPr bwMode="auto">
          <a:xfrm>
            <a:off x="5965031" y="2748134"/>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27" name="Text Box 26"/>
          <p:cNvSpPr txBox="1">
            <a:spLocks noChangeArrowheads="1"/>
          </p:cNvSpPr>
          <p:nvPr/>
        </p:nvSpPr>
        <p:spPr bwMode="auto">
          <a:xfrm>
            <a:off x="5595143" y="3364084"/>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28" name="Text Box 27"/>
          <p:cNvSpPr txBox="1">
            <a:spLocks noChangeArrowheads="1"/>
          </p:cNvSpPr>
          <p:nvPr/>
        </p:nvSpPr>
        <p:spPr bwMode="auto">
          <a:xfrm>
            <a:off x="6939756" y="2986259"/>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29" name="Text Box 28"/>
          <p:cNvSpPr txBox="1">
            <a:spLocks noChangeArrowheads="1"/>
          </p:cNvSpPr>
          <p:nvPr/>
        </p:nvSpPr>
        <p:spPr bwMode="auto">
          <a:xfrm>
            <a:off x="7641431" y="2579859"/>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30" name="Text Box 29"/>
          <p:cNvSpPr txBox="1">
            <a:spLocks noChangeArrowheads="1"/>
          </p:cNvSpPr>
          <p:nvPr/>
        </p:nvSpPr>
        <p:spPr bwMode="auto">
          <a:xfrm>
            <a:off x="5614193" y="4205459"/>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4</a:t>
            </a:r>
          </a:p>
        </p:txBody>
      </p:sp>
      <p:sp>
        <p:nvSpPr>
          <p:cNvPr id="31" name="Text Box 30"/>
          <p:cNvSpPr txBox="1">
            <a:spLocks noChangeArrowheads="1"/>
          </p:cNvSpPr>
          <p:nvPr/>
        </p:nvSpPr>
        <p:spPr bwMode="auto">
          <a:xfrm>
            <a:off x="6795293" y="3421234"/>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prstClr val="black"/>
                </a:solidFill>
              </a:rPr>
              <a:t>5</a:t>
            </a:r>
          </a:p>
        </p:txBody>
      </p:sp>
      <p:sp>
        <p:nvSpPr>
          <p:cNvPr id="32" name="Text Box 31"/>
          <p:cNvSpPr txBox="1">
            <a:spLocks noChangeArrowheads="1"/>
          </p:cNvSpPr>
          <p:nvPr/>
        </p:nvSpPr>
        <p:spPr bwMode="auto">
          <a:xfrm>
            <a:off x="6860381" y="4232446"/>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33" name="Oval 32"/>
          <p:cNvSpPr>
            <a:spLocks noChangeArrowheads="1"/>
          </p:cNvSpPr>
          <p:nvPr/>
        </p:nvSpPr>
        <p:spPr bwMode="auto">
          <a:xfrm>
            <a:off x="4164806" y="2254421"/>
            <a:ext cx="4598987" cy="2674938"/>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defTabSz="457200"/>
            <a:endParaRPr lang="en-US">
              <a:solidFill>
                <a:prstClr val="black"/>
              </a:solidFill>
            </a:endParaRPr>
          </a:p>
        </p:txBody>
      </p:sp>
      <p:sp>
        <p:nvSpPr>
          <p:cNvPr id="34" name="Line 33"/>
          <p:cNvSpPr>
            <a:spLocks noChangeShapeType="1"/>
          </p:cNvSpPr>
          <p:nvPr/>
        </p:nvSpPr>
        <p:spPr bwMode="auto">
          <a:xfrm flipH="1" flipV="1">
            <a:off x="3852333" y="3149770"/>
            <a:ext cx="664898" cy="239713"/>
          </a:xfrm>
          <a:prstGeom prst="line">
            <a:avLst/>
          </a:prstGeom>
          <a:noFill/>
          <a:ln w="57150">
            <a:solidFill>
              <a:schemeClr val="accent1"/>
            </a:solidFill>
            <a:round/>
            <a:headEnd type="arrow" w="med" len="me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5" name="Line 34"/>
          <p:cNvSpPr>
            <a:spLocks noChangeShapeType="1"/>
          </p:cNvSpPr>
          <p:nvPr/>
        </p:nvSpPr>
        <p:spPr bwMode="auto">
          <a:xfrm flipH="1">
            <a:off x="3852332" y="3500609"/>
            <a:ext cx="680773" cy="127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6" name="Line 35"/>
          <p:cNvSpPr>
            <a:spLocks noChangeShapeType="1"/>
          </p:cNvSpPr>
          <p:nvPr/>
        </p:nvSpPr>
        <p:spPr bwMode="auto">
          <a:xfrm>
            <a:off x="7390606" y="4089571"/>
            <a:ext cx="1612900" cy="69850"/>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7" name="Line 36"/>
          <p:cNvSpPr>
            <a:spLocks noChangeShapeType="1"/>
          </p:cNvSpPr>
          <p:nvPr/>
        </p:nvSpPr>
        <p:spPr bwMode="auto">
          <a:xfrm>
            <a:off x="7342981" y="4187996"/>
            <a:ext cx="1117600" cy="4746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8" name="Line 37"/>
          <p:cNvSpPr>
            <a:spLocks noChangeShapeType="1"/>
          </p:cNvSpPr>
          <p:nvPr/>
        </p:nvSpPr>
        <p:spPr bwMode="auto">
          <a:xfrm flipH="1">
            <a:off x="8316118" y="3205334"/>
            <a:ext cx="687388" cy="1397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9" name="Line 38"/>
          <p:cNvSpPr>
            <a:spLocks noChangeShapeType="1"/>
          </p:cNvSpPr>
          <p:nvPr/>
        </p:nvSpPr>
        <p:spPr bwMode="auto">
          <a:xfrm>
            <a:off x="5006181" y="1994071"/>
            <a:ext cx="574675" cy="7159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40" name="Line 39"/>
          <p:cNvSpPr>
            <a:spLocks noChangeShapeType="1"/>
          </p:cNvSpPr>
          <p:nvPr/>
        </p:nvSpPr>
        <p:spPr bwMode="auto">
          <a:xfrm flipH="1">
            <a:off x="4490243" y="4141959"/>
            <a:ext cx="915988" cy="51117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Tree>
    <p:extLst>
      <p:ext uri="{BB962C8B-B14F-4D97-AF65-F5344CB8AC3E}">
        <p14:creationId xmlns:p14="http://schemas.microsoft.com/office/powerpoint/2010/main" val="279381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Transient Routing Disruptions</a:t>
            </a:r>
          </a:p>
        </p:txBody>
      </p:sp>
      <p:sp>
        <p:nvSpPr>
          <p:cNvPr id="3" name="Content Placeholder 2"/>
          <p:cNvSpPr>
            <a:spLocks noGrp="1"/>
          </p:cNvSpPr>
          <p:nvPr>
            <p:ph idx="1"/>
          </p:nvPr>
        </p:nvSpPr>
        <p:spPr>
          <a:xfrm>
            <a:off x="457200" y="1600201"/>
            <a:ext cx="8229600" cy="3423356"/>
          </a:xfrm>
        </p:spPr>
        <p:txBody>
          <a:bodyPr>
            <a:normAutofit/>
          </a:bodyPr>
          <a:lstStyle/>
          <a:p>
            <a:r>
              <a:rPr lang="en-US" dirty="0"/>
              <a:t>Topology changes</a:t>
            </a:r>
          </a:p>
          <a:p>
            <a:pPr lvl="1"/>
            <a:r>
              <a:rPr lang="en-US" dirty="0"/>
              <a:t>Link weight change</a:t>
            </a:r>
          </a:p>
          <a:p>
            <a:pPr lvl="1"/>
            <a:r>
              <a:rPr lang="en-US" dirty="0"/>
              <a:t>Node/link failure or recovery</a:t>
            </a:r>
          </a:p>
          <a:p>
            <a:r>
              <a:rPr lang="en-US" dirty="0"/>
              <a:t>Routing convergence</a:t>
            </a:r>
          </a:p>
          <a:p>
            <a:pPr lvl="1"/>
            <a:r>
              <a:rPr lang="en-US" dirty="0"/>
              <a:t>Nodes temporarily disagree how to route</a:t>
            </a:r>
          </a:p>
          <a:p>
            <a:pPr lvl="1"/>
            <a:r>
              <a:rPr lang="en-US" dirty="0"/>
              <a:t>Leading to transient loops and </a:t>
            </a:r>
            <a:r>
              <a:rPr lang="en-US" dirty="0" err="1"/>
              <a:t>blackholes</a:t>
            </a:r>
            <a:endParaRPr lang="en-US" dirty="0"/>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23</a:t>
            </a:fld>
            <a:endParaRPr lang="en-US" dirty="0">
              <a:solidFill>
                <a:prstClr val="black">
                  <a:tint val="75000"/>
                </a:prstClr>
              </a:solidFill>
            </a:endParaRPr>
          </a:p>
        </p:txBody>
      </p:sp>
      <p:grpSp>
        <p:nvGrpSpPr>
          <p:cNvPr id="44" name="Group 43"/>
          <p:cNvGrpSpPr/>
          <p:nvPr/>
        </p:nvGrpSpPr>
        <p:grpSpPr>
          <a:xfrm>
            <a:off x="680249" y="5051590"/>
            <a:ext cx="2011363" cy="1355725"/>
            <a:chOff x="680249" y="5051590"/>
            <a:chExt cx="2011363" cy="1355725"/>
          </a:xfrm>
        </p:grpSpPr>
        <p:sp>
          <p:nvSpPr>
            <p:cNvPr id="5" name="Oval 4"/>
            <p:cNvSpPr>
              <a:spLocks noChangeArrowheads="1"/>
            </p:cNvSpPr>
            <p:nvPr/>
          </p:nvSpPr>
          <p:spPr bwMode="auto">
            <a:xfrm>
              <a:off x="680249" y="5650077"/>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6" name="Oval 5"/>
            <p:cNvSpPr>
              <a:spLocks noChangeArrowheads="1"/>
            </p:cNvSpPr>
            <p:nvPr/>
          </p:nvSpPr>
          <p:spPr bwMode="auto">
            <a:xfrm>
              <a:off x="1542262" y="5062702"/>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7" name="Oval 6"/>
            <p:cNvSpPr>
              <a:spLocks noChangeArrowheads="1"/>
            </p:cNvSpPr>
            <p:nvPr/>
          </p:nvSpPr>
          <p:spPr bwMode="auto">
            <a:xfrm>
              <a:off x="2404274" y="5650077"/>
              <a:ext cx="287338" cy="252413"/>
            </a:xfrm>
            <a:prstGeom prst="ellipse">
              <a:avLst/>
            </a:prstGeom>
            <a:solidFill>
              <a:srgbClr val="3333FF"/>
            </a:solidFill>
            <a:ln w="9525">
              <a:solidFill>
                <a:srgbClr val="0000FF"/>
              </a:solidFill>
              <a:round/>
              <a:headEnd/>
              <a:tailEnd/>
            </a:ln>
          </p:spPr>
          <p:txBody>
            <a:bodyPr wrap="none" anchor="ctr"/>
            <a:lstStyle/>
            <a:p>
              <a:pPr defTabSz="457200"/>
              <a:endParaRPr lang="en-US">
                <a:solidFill>
                  <a:prstClr val="black"/>
                </a:solidFill>
              </a:endParaRPr>
            </a:p>
          </p:txBody>
        </p:sp>
        <p:sp>
          <p:nvSpPr>
            <p:cNvPr id="8" name="Oval 7"/>
            <p:cNvSpPr>
              <a:spLocks noChangeArrowheads="1"/>
            </p:cNvSpPr>
            <p:nvPr/>
          </p:nvSpPr>
          <p:spPr bwMode="auto">
            <a:xfrm>
              <a:off x="1637512" y="6154902"/>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9" name="Line 15"/>
            <p:cNvSpPr>
              <a:spLocks noChangeShapeType="1"/>
            </p:cNvSpPr>
            <p:nvPr/>
          </p:nvSpPr>
          <p:spPr bwMode="auto">
            <a:xfrm>
              <a:off x="919962" y="5818352"/>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0" name="Line 16"/>
            <p:cNvSpPr>
              <a:spLocks noChangeShapeType="1"/>
            </p:cNvSpPr>
            <p:nvPr/>
          </p:nvSpPr>
          <p:spPr bwMode="auto">
            <a:xfrm flipV="1">
              <a:off x="951712" y="5272252"/>
              <a:ext cx="638175" cy="420688"/>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1" name="Line 17"/>
            <p:cNvSpPr>
              <a:spLocks noChangeShapeType="1"/>
            </p:cNvSpPr>
            <p:nvPr/>
          </p:nvSpPr>
          <p:spPr bwMode="auto">
            <a:xfrm>
              <a:off x="1781974" y="5286540"/>
              <a:ext cx="654050" cy="392112"/>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2" name="Line 18"/>
            <p:cNvSpPr>
              <a:spLocks noChangeShapeType="1"/>
            </p:cNvSpPr>
            <p:nvPr/>
          </p:nvSpPr>
          <p:spPr bwMode="auto">
            <a:xfrm flipV="1">
              <a:off x="1877224" y="5861215"/>
              <a:ext cx="590550" cy="33496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14" name="Text Box 26"/>
            <p:cNvSpPr txBox="1">
              <a:spLocks noChangeArrowheads="1"/>
            </p:cNvSpPr>
            <p:nvPr/>
          </p:nvSpPr>
          <p:spPr bwMode="auto">
            <a:xfrm>
              <a:off x="896149" y="5051590"/>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15" name="Text Box 29"/>
            <p:cNvSpPr txBox="1">
              <a:spLocks noChangeArrowheads="1"/>
            </p:cNvSpPr>
            <p:nvPr/>
          </p:nvSpPr>
          <p:spPr bwMode="auto">
            <a:xfrm>
              <a:off x="915199" y="5892965"/>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4</a:t>
              </a:r>
            </a:p>
          </p:txBody>
        </p:sp>
        <p:sp>
          <p:nvSpPr>
            <p:cNvPr id="16" name="Text Box 30"/>
            <p:cNvSpPr txBox="1">
              <a:spLocks noChangeArrowheads="1"/>
            </p:cNvSpPr>
            <p:nvPr/>
          </p:nvSpPr>
          <p:spPr bwMode="auto">
            <a:xfrm>
              <a:off x="2028124" y="5051590"/>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prstClr val="black"/>
                  </a:solidFill>
                </a:rPr>
                <a:t>5</a:t>
              </a:r>
            </a:p>
          </p:txBody>
        </p:sp>
        <p:sp>
          <p:nvSpPr>
            <p:cNvPr id="17" name="Text Box 31"/>
            <p:cNvSpPr txBox="1">
              <a:spLocks noChangeArrowheads="1"/>
            </p:cNvSpPr>
            <p:nvPr/>
          </p:nvSpPr>
          <p:spPr bwMode="auto">
            <a:xfrm>
              <a:off x="2161387" y="5919952"/>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grpSp>
      <p:grpSp>
        <p:nvGrpSpPr>
          <p:cNvPr id="45" name="Group 44"/>
          <p:cNvGrpSpPr/>
          <p:nvPr/>
        </p:nvGrpSpPr>
        <p:grpSpPr>
          <a:xfrm>
            <a:off x="6025534" y="4980483"/>
            <a:ext cx="2011363" cy="1414967"/>
            <a:chOff x="6025534" y="4980483"/>
            <a:chExt cx="2011363" cy="1414967"/>
          </a:xfrm>
        </p:grpSpPr>
        <p:sp>
          <p:nvSpPr>
            <p:cNvPr id="18" name="Oval 17"/>
            <p:cNvSpPr>
              <a:spLocks noChangeArrowheads="1"/>
            </p:cNvSpPr>
            <p:nvPr/>
          </p:nvSpPr>
          <p:spPr bwMode="auto">
            <a:xfrm>
              <a:off x="6025534" y="5610379"/>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19" name="Oval 18"/>
            <p:cNvSpPr>
              <a:spLocks noChangeArrowheads="1"/>
            </p:cNvSpPr>
            <p:nvPr/>
          </p:nvSpPr>
          <p:spPr bwMode="auto">
            <a:xfrm>
              <a:off x="6887547" y="5023004"/>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20" name="Oval 19"/>
            <p:cNvSpPr>
              <a:spLocks noChangeArrowheads="1"/>
            </p:cNvSpPr>
            <p:nvPr/>
          </p:nvSpPr>
          <p:spPr bwMode="auto">
            <a:xfrm>
              <a:off x="7749559" y="5610379"/>
              <a:ext cx="287338" cy="252413"/>
            </a:xfrm>
            <a:prstGeom prst="ellipse">
              <a:avLst/>
            </a:prstGeom>
            <a:solidFill>
              <a:srgbClr val="3333FF"/>
            </a:solidFill>
            <a:ln w="9525">
              <a:solidFill>
                <a:srgbClr val="0000FF"/>
              </a:solidFill>
              <a:round/>
              <a:headEnd/>
              <a:tailEnd/>
            </a:ln>
          </p:spPr>
          <p:txBody>
            <a:bodyPr wrap="none" anchor="ctr"/>
            <a:lstStyle/>
            <a:p>
              <a:pPr defTabSz="457200"/>
              <a:endParaRPr lang="en-US">
                <a:solidFill>
                  <a:prstClr val="black"/>
                </a:solidFill>
              </a:endParaRPr>
            </a:p>
          </p:txBody>
        </p:sp>
        <p:sp>
          <p:nvSpPr>
            <p:cNvPr id="21" name="Oval 20"/>
            <p:cNvSpPr>
              <a:spLocks noChangeArrowheads="1"/>
            </p:cNvSpPr>
            <p:nvPr/>
          </p:nvSpPr>
          <p:spPr bwMode="auto">
            <a:xfrm>
              <a:off x="6982797" y="6115204"/>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22" name="Line 15"/>
            <p:cNvSpPr>
              <a:spLocks noChangeShapeType="1"/>
            </p:cNvSpPr>
            <p:nvPr/>
          </p:nvSpPr>
          <p:spPr bwMode="auto">
            <a:xfrm>
              <a:off x="7115265" y="5212070"/>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3" name="Line 16"/>
            <p:cNvSpPr>
              <a:spLocks noChangeShapeType="1"/>
            </p:cNvSpPr>
            <p:nvPr/>
          </p:nvSpPr>
          <p:spPr bwMode="auto">
            <a:xfrm flipV="1">
              <a:off x="7194640" y="5797559"/>
              <a:ext cx="638175" cy="420688"/>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4" name="Line 17"/>
            <p:cNvSpPr>
              <a:spLocks noChangeShapeType="1"/>
            </p:cNvSpPr>
            <p:nvPr/>
          </p:nvSpPr>
          <p:spPr bwMode="auto">
            <a:xfrm>
              <a:off x="6311108" y="5827689"/>
              <a:ext cx="654050" cy="392112"/>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26" name="Text Box 26"/>
            <p:cNvSpPr txBox="1">
              <a:spLocks noChangeArrowheads="1"/>
            </p:cNvSpPr>
            <p:nvPr/>
          </p:nvSpPr>
          <p:spPr bwMode="auto">
            <a:xfrm>
              <a:off x="6385718" y="4980483"/>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prstClr val="black"/>
                  </a:solidFill>
                </a:rPr>
                <a:t>1</a:t>
              </a:r>
            </a:p>
          </p:txBody>
        </p:sp>
        <p:sp>
          <p:nvSpPr>
            <p:cNvPr id="27" name="Text Box 29"/>
            <p:cNvSpPr txBox="1">
              <a:spLocks noChangeArrowheads="1"/>
            </p:cNvSpPr>
            <p:nvPr/>
          </p:nvSpPr>
          <p:spPr bwMode="auto">
            <a:xfrm>
              <a:off x="6260484" y="5853267"/>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4</a:t>
              </a:r>
            </a:p>
          </p:txBody>
        </p:sp>
        <p:sp>
          <p:nvSpPr>
            <p:cNvPr id="28" name="Text Box 30"/>
            <p:cNvSpPr txBox="1">
              <a:spLocks noChangeArrowheads="1"/>
            </p:cNvSpPr>
            <p:nvPr/>
          </p:nvSpPr>
          <p:spPr bwMode="auto">
            <a:xfrm>
              <a:off x="7373409" y="5011892"/>
              <a:ext cx="527007"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srgbClr val="FF0000"/>
                  </a:solidFill>
                </a:rPr>
                <a:t>10</a:t>
              </a:r>
            </a:p>
          </p:txBody>
        </p:sp>
        <p:sp>
          <p:nvSpPr>
            <p:cNvPr id="29" name="Text Box 31"/>
            <p:cNvSpPr txBox="1">
              <a:spLocks noChangeArrowheads="1"/>
            </p:cNvSpPr>
            <p:nvPr/>
          </p:nvSpPr>
          <p:spPr bwMode="auto">
            <a:xfrm>
              <a:off x="7455342" y="5938250"/>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prstClr val="black"/>
                  </a:solidFill>
                </a:rPr>
                <a:t>3</a:t>
              </a:r>
            </a:p>
          </p:txBody>
        </p:sp>
        <p:sp>
          <p:nvSpPr>
            <p:cNvPr id="30" name="Line 16"/>
            <p:cNvSpPr>
              <a:spLocks noChangeShapeType="1"/>
            </p:cNvSpPr>
            <p:nvPr/>
          </p:nvSpPr>
          <p:spPr bwMode="auto">
            <a:xfrm flipH="1">
              <a:off x="6260484" y="5232554"/>
              <a:ext cx="690563" cy="460386"/>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grpSp>
      <p:grpSp>
        <p:nvGrpSpPr>
          <p:cNvPr id="46" name="Group 45"/>
          <p:cNvGrpSpPr/>
          <p:nvPr/>
        </p:nvGrpSpPr>
        <p:grpSpPr>
          <a:xfrm>
            <a:off x="3439677" y="5061653"/>
            <a:ext cx="2011363" cy="1355725"/>
            <a:chOff x="3439677" y="5061653"/>
            <a:chExt cx="2011363" cy="1355725"/>
          </a:xfrm>
        </p:grpSpPr>
        <p:sp>
          <p:nvSpPr>
            <p:cNvPr id="31" name="Oval 30"/>
            <p:cNvSpPr>
              <a:spLocks noChangeArrowheads="1"/>
            </p:cNvSpPr>
            <p:nvPr/>
          </p:nvSpPr>
          <p:spPr bwMode="auto">
            <a:xfrm>
              <a:off x="3439677" y="5660140"/>
              <a:ext cx="287338"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32" name="Oval 31"/>
            <p:cNvSpPr>
              <a:spLocks noChangeArrowheads="1"/>
            </p:cNvSpPr>
            <p:nvPr/>
          </p:nvSpPr>
          <p:spPr bwMode="auto">
            <a:xfrm>
              <a:off x="4301690" y="5072765"/>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33" name="Oval 32"/>
            <p:cNvSpPr>
              <a:spLocks noChangeArrowheads="1"/>
            </p:cNvSpPr>
            <p:nvPr/>
          </p:nvSpPr>
          <p:spPr bwMode="auto">
            <a:xfrm>
              <a:off x="5163702" y="5660140"/>
              <a:ext cx="287338" cy="252413"/>
            </a:xfrm>
            <a:prstGeom prst="ellipse">
              <a:avLst/>
            </a:prstGeom>
            <a:solidFill>
              <a:srgbClr val="3333FF"/>
            </a:solidFill>
            <a:ln w="9525">
              <a:solidFill>
                <a:srgbClr val="0000FF"/>
              </a:solidFill>
              <a:round/>
              <a:headEnd/>
              <a:tailEnd/>
            </a:ln>
          </p:spPr>
          <p:txBody>
            <a:bodyPr wrap="none" anchor="ctr"/>
            <a:lstStyle/>
            <a:p>
              <a:pPr defTabSz="457200"/>
              <a:endParaRPr lang="en-US">
                <a:solidFill>
                  <a:prstClr val="black"/>
                </a:solidFill>
              </a:endParaRPr>
            </a:p>
          </p:txBody>
        </p:sp>
        <p:sp>
          <p:nvSpPr>
            <p:cNvPr id="34" name="Oval 33"/>
            <p:cNvSpPr>
              <a:spLocks noChangeArrowheads="1"/>
            </p:cNvSpPr>
            <p:nvPr/>
          </p:nvSpPr>
          <p:spPr bwMode="auto">
            <a:xfrm>
              <a:off x="4396940" y="6164965"/>
              <a:ext cx="287337" cy="252413"/>
            </a:xfrm>
            <a:prstGeom prst="ellipse">
              <a:avLst/>
            </a:prstGeom>
            <a:solidFill>
              <a:srgbClr val="0000FF"/>
            </a:solidFill>
            <a:ln w="9525">
              <a:solidFill>
                <a:srgbClr val="0000FF"/>
              </a:solidFill>
              <a:round/>
              <a:headEnd/>
              <a:tailEnd/>
            </a:ln>
          </p:spPr>
          <p:txBody>
            <a:bodyPr wrap="none" anchor="ctr"/>
            <a:lstStyle/>
            <a:p>
              <a:pPr defTabSz="457200"/>
              <a:endParaRPr lang="en-US">
                <a:solidFill>
                  <a:prstClr val="black"/>
                </a:solidFill>
              </a:endParaRPr>
            </a:p>
          </p:txBody>
        </p:sp>
        <p:sp>
          <p:nvSpPr>
            <p:cNvPr id="35" name="Line 15"/>
            <p:cNvSpPr>
              <a:spLocks noChangeShapeType="1"/>
            </p:cNvSpPr>
            <p:nvPr/>
          </p:nvSpPr>
          <p:spPr bwMode="auto">
            <a:xfrm>
              <a:off x="3679390" y="5828415"/>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6" name="Line 16"/>
            <p:cNvSpPr>
              <a:spLocks noChangeShapeType="1"/>
            </p:cNvSpPr>
            <p:nvPr/>
          </p:nvSpPr>
          <p:spPr bwMode="auto">
            <a:xfrm flipV="1">
              <a:off x="3711140" y="5254093"/>
              <a:ext cx="638175" cy="420688"/>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7" name="Line 17"/>
            <p:cNvSpPr>
              <a:spLocks noChangeShapeType="1"/>
            </p:cNvSpPr>
            <p:nvPr/>
          </p:nvSpPr>
          <p:spPr bwMode="auto">
            <a:xfrm flipH="1">
              <a:off x="3727015" y="5423573"/>
              <a:ext cx="669925" cy="415584"/>
            </a:xfrm>
            <a:prstGeom prst="line">
              <a:avLst/>
            </a:prstGeom>
            <a:noFill/>
            <a:ln w="57150">
              <a:solidFill>
                <a:schemeClr val="accent1"/>
              </a:solidFill>
              <a:round/>
              <a:headEnd/>
              <a:tailEnd type="arrow" w="med" len="me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8" name="Line 18"/>
            <p:cNvSpPr>
              <a:spLocks noChangeShapeType="1"/>
            </p:cNvSpPr>
            <p:nvPr/>
          </p:nvSpPr>
          <p:spPr bwMode="auto">
            <a:xfrm flipV="1">
              <a:off x="4636652" y="5871278"/>
              <a:ext cx="590550" cy="33496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sp>
          <p:nvSpPr>
            <p:cNvPr id="39" name="Text Box 26"/>
            <p:cNvSpPr txBox="1">
              <a:spLocks noChangeArrowheads="1"/>
            </p:cNvSpPr>
            <p:nvPr/>
          </p:nvSpPr>
          <p:spPr bwMode="auto">
            <a:xfrm>
              <a:off x="3655577" y="5061653"/>
              <a:ext cx="334963"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1</a:t>
              </a:r>
            </a:p>
          </p:txBody>
        </p:sp>
        <p:sp>
          <p:nvSpPr>
            <p:cNvPr id="40" name="Text Box 29"/>
            <p:cNvSpPr txBox="1">
              <a:spLocks noChangeArrowheads="1"/>
            </p:cNvSpPr>
            <p:nvPr/>
          </p:nvSpPr>
          <p:spPr bwMode="auto">
            <a:xfrm>
              <a:off x="3674627" y="5903028"/>
              <a:ext cx="338138"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4</a:t>
              </a:r>
            </a:p>
          </p:txBody>
        </p:sp>
        <p:sp>
          <p:nvSpPr>
            <p:cNvPr id="41" name="Text Box 30"/>
            <p:cNvSpPr txBox="1">
              <a:spLocks noChangeArrowheads="1"/>
            </p:cNvSpPr>
            <p:nvPr/>
          </p:nvSpPr>
          <p:spPr bwMode="auto">
            <a:xfrm>
              <a:off x="4787552" y="5061653"/>
              <a:ext cx="527007"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dirty="0">
                  <a:solidFill>
                    <a:prstClr val="black"/>
                  </a:solidFill>
                </a:rPr>
                <a:t>10</a:t>
              </a:r>
            </a:p>
          </p:txBody>
        </p:sp>
        <p:sp>
          <p:nvSpPr>
            <p:cNvPr id="42" name="Text Box 31"/>
            <p:cNvSpPr txBox="1">
              <a:spLocks noChangeArrowheads="1"/>
            </p:cNvSpPr>
            <p:nvPr/>
          </p:nvSpPr>
          <p:spPr bwMode="auto">
            <a:xfrm>
              <a:off x="4920815" y="5930015"/>
              <a:ext cx="33655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Arial" charset="0"/>
                </a:defRPr>
              </a:lvl1pPr>
              <a:lvl2pPr marL="37931725" indent="-37474525" eaLnBrk="0" hangingPunct="0">
                <a:defRPr sz="2000" b="1">
                  <a:solidFill>
                    <a:schemeClr val="tx1"/>
                  </a:solidFill>
                  <a:latin typeface="Helvetica" charset="0"/>
                  <a:ea typeface="Arial" charset="0"/>
                  <a:cs typeface="Arial" charset="0"/>
                </a:defRPr>
              </a:lvl2pPr>
              <a:lvl3pPr eaLnBrk="0" hangingPunct="0">
                <a:defRPr sz="2000" b="1">
                  <a:solidFill>
                    <a:schemeClr val="tx1"/>
                  </a:solidFill>
                  <a:latin typeface="Helvetica" charset="0"/>
                  <a:ea typeface="Arial" charset="0"/>
                  <a:cs typeface="Arial" charset="0"/>
                </a:defRPr>
              </a:lvl3pPr>
              <a:lvl4pPr eaLnBrk="0" hangingPunct="0">
                <a:defRPr sz="2000" b="1">
                  <a:solidFill>
                    <a:schemeClr val="tx1"/>
                  </a:solidFill>
                  <a:latin typeface="Helvetica" charset="0"/>
                  <a:ea typeface="Arial" charset="0"/>
                  <a:cs typeface="Arial" charset="0"/>
                </a:defRPr>
              </a:lvl4pPr>
              <a:lvl5pPr eaLnBrk="0" hangingPunct="0">
                <a:defRPr sz="2000" b="1">
                  <a:solidFill>
                    <a:schemeClr val="tx1"/>
                  </a:solidFill>
                  <a:latin typeface="Helvetica" charset="0"/>
                  <a:ea typeface="Arial" charset="0"/>
                  <a:cs typeface="Arial" charset="0"/>
                </a:defRPr>
              </a:lvl5pPr>
              <a:lvl6pPr marL="457200" eaLnBrk="0" fontAlgn="base" hangingPunct="0">
                <a:spcBef>
                  <a:spcPct val="0"/>
                </a:spcBef>
                <a:spcAft>
                  <a:spcPct val="0"/>
                </a:spcAft>
                <a:defRPr sz="2000" b="1">
                  <a:solidFill>
                    <a:schemeClr val="tx1"/>
                  </a:solidFill>
                  <a:latin typeface="Helvetica" charset="0"/>
                  <a:ea typeface="Arial" charset="0"/>
                  <a:cs typeface="Arial" charset="0"/>
                </a:defRPr>
              </a:lvl6pPr>
              <a:lvl7pPr marL="914400" eaLnBrk="0" fontAlgn="base" hangingPunct="0">
                <a:spcBef>
                  <a:spcPct val="0"/>
                </a:spcBef>
                <a:spcAft>
                  <a:spcPct val="0"/>
                </a:spcAft>
                <a:defRPr sz="2000" b="1">
                  <a:solidFill>
                    <a:schemeClr val="tx1"/>
                  </a:solidFill>
                  <a:latin typeface="Helvetica" charset="0"/>
                  <a:ea typeface="Arial" charset="0"/>
                  <a:cs typeface="Arial" charset="0"/>
                </a:defRPr>
              </a:lvl7pPr>
              <a:lvl8pPr marL="1371600" eaLnBrk="0" fontAlgn="base" hangingPunct="0">
                <a:spcBef>
                  <a:spcPct val="0"/>
                </a:spcBef>
                <a:spcAft>
                  <a:spcPct val="0"/>
                </a:spcAft>
                <a:defRPr sz="2000" b="1">
                  <a:solidFill>
                    <a:schemeClr val="tx1"/>
                  </a:solidFill>
                  <a:latin typeface="Helvetica" charset="0"/>
                  <a:ea typeface="Arial" charset="0"/>
                  <a:cs typeface="Arial" charset="0"/>
                </a:defRPr>
              </a:lvl8pPr>
              <a:lvl9pPr marL="1828800" eaLnBrk="0" fontAlgn="base" hangingPunct="0">
                <a:spcBef>
                  <a:spcPct val="0"/>
                </a:spcBef>
                <a:spcAft>
                  <a:spcPct val="0"/>
                </a:spcAft>
                <a:defRPr sz="2000" b="1">
                  <a:solidFill>
                    <a:schemeClr val="tx1"/>
                  </a:solidFill>
                  <a:latin typeface="Helvetica" charset="0"/>
                  <a:ea typeface="Arial" charset="0"/>
                  <a:cs typeface="Arial" charset="0"/>
                </a:defRPr>
              </a:lvl9pPr>
            </a:lstStyle>
            <a:p>
              <a:pPr defTabSz="457200" eaLnBrk="1" hangingPunct="1"/>
              <a:r>
                <a:rPr lang="en-US" sz="2400">
                  <a:solidFill>
                    <a:prstClr val="black"/>
                  </a:solidFill>
                </a:rPr>
                <a:t>3</a:t>
              </a:r>
            </a:p>
          </p:txBody>
        </p:sp>
        <p:sp>
          <p:nvSpPr>
            <p:cNvPr id="43" name="Line 15"/>
            <p:cNvSpPr>
              <a:spLocks noChangeShapeType="1"/>
            </p:cNvSpPr>
            <p:nvPr/>
          </p:nvSpPr>
          <p:spPr bwMode="auto">
            <a:xfrm>
              <a:off x="4509652" y="5241910"/>
              <a:ext cx="717550" cy="4206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pPr defTabSz="457200"/>
              <a:endParaRPr lang="en-US">
                <a:solidFill>
                  <a:prstClr val="black"/>
                </a:solidFill>
              </a:endParaRPr>
            </a:p>
          </p:txBody>
        </p:sp>
      </p:grpSp>
    </p:spTree>
    <p:extLst>
      <p:ext uri="{BB962C8B-B14F-4D97-AF65-F5344CB8AC3E}">
        <p14:creationId xmlns:p14="http://schemas.microsoft.com/office/powerpoint/2010/main" val="365460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Plane Challenges</a:t>
            </a:r>
          </a:p>
        </p:txBody>
      </p:sp>
      <p:sp>
        <p:nvSpPr>
          <p:cNvPr id="3" name="Content Placeholder 2"/>
          <p:cNvSpPr>
            <a:spLocks noGrp="1"/>
          </p:cNvSpPr>
          <p:nvPr>
            <p:ph idx="1"/>
          </p:nvPr>
        </p:nvSpPr>
        <p:spPr>
          <a:xfrm>
            <a:off x="457200" y="1600200"/>
            <a:ext cx="8229600" cy="4933244"/>
          </a:xfrm>
        </p:spPr>
        <p:txBody>
          <a:bodyPr>
            <a:normAutofit fontScale="92500" lnSpcReduction="20000"/>
          </a:bodyPr>
          <a:lstStyle/>
          <a:p>
            <a:r>
              <a:rPr lang="en-US" dirty="0"/>
              <a:t>Indirect control</a:t>
            </a:r>
          </a:p>
          <a:p>
            <a:pPr lvl="1"/>
            <a:r>
              <a:rPr lang="en-US" dirty="0"/>
              <a:t>Changing weights instead of paths</a:t>
            </a:r>
          </a:p>
          <a:p>
            <a:pPr lvl="1"/>
            <a:r>
              <a:rPr lang="en-US" dirty="0"/>
              <a:t>Complex optimization problem</a:t>
            </a:r>
          </a:p>
          <a:p>
            <a:r>
              <a:rPr lang="en-US" dirty="0"/>
              <a:t>Uncoordinated control</a:t>
            </a:r>
          </a:p>
          <a:p>
            <a:pPr lvl="1"/>
            <a:r>
              <a:rPr lang="en-US" dirty="0"/>
              <a:t>Cannot control which router updates first</a:t>
            </a:r>
          </a:p>
          <a:p>
            <a:r>
              <a:rPr lang="en-US" dirty="0"/>
              <a:t>Interacting protocols and mechanisms</a:t>
            </a:r>
          </a:p>
          <a:p>
            <a:pPr lvl="1"/>
            <a:r>
              <a:rPr lang="en-US" dirty="0"/>
              <a:t>Routing and forwarding</a:t>
            </a:r>
          </a:p>
          <a:p>
            <a:pPr lvl="1"/>
            <a:r>
              <a:rPr lang="en-US" dirty="0"/>
              <a:t>Naming and addressing</a:t>
            </a:r>
          </a:p>
          <a:p>
            <a:pPr lvl="1"/>
            <a:r>
              <a:rPr lang="en-US" dirty="0"/>
              <a:t>Access control</a:t>
            </a:r>
          </a:p>
          <a:p>
            <a:pPr lvl="1"/>
            <a:r>
              <a:rPr lang="en-US" dirty="0"/>
              <a:t>Quality of service</a:t>
            </a:r>
          </a:p>
          <a:p>
            <a:pPr lvl="1"/>
            <a:r>
              <a:rPr lang="en-US" dirty="0"/>
              <a:t>…</a:t>
            </a:r>
          </a:p>
        </p:txBody>
      </p:sp>
      <p:sp>
        <p:nvSpPr>
          <p:cNvPr id="4" name="Slide Number Placeholder 3"/>
          <p:cNvSpPr>
            <a:spLocks noGrp="1"/>
          </p:cNvSpPr>
          <p:nvPr>
            <p:ph type="sldNum" sz="quarter" idx="12"/>
          </p:nvPr>
        </p:nvSpPr>
        <p:spPr/>
        <p:txBody>
          <a:bodyPr/>
          <a:lstStyle/>
          <a:p>
            <a:fld id="{502431CD-A83D-384C-97C7-66FF0CCEF56F}" type="slidenum">
              <a:rPr lang="en-US" smtClean="0">
                <a:solidFill>
                  <a:prstClr val="black">
                    <a:tint val="75000"/>
                  </a:prstClr>
                </a:solidFill>
              </a:rPr>
              <a:pPr/>
              <a:t>24</a:t>
            </a:fld>
            <a:endParaRPr lang="en-US" dirty="0">
              <a:solidFill>
                <a:prstClr val="black">
                  <a:tint val="75000"/>
                </a:prstClr>
              </a:solidFill>
            </a:endParaRPr>
          </a:p>
        </p:txBody>
      </p:sp>
    </p:spTree>
    <p:extLst>
      <p:ext uri="{BB962C8B-B14F-4D97-AF65-F5344CB8AC3E}">
        <p14:creationId xmlns:p14="http://schemas.microsoft.com/office/powerpoint/2010/main" val="3096327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pPr algn="ctr"/>
            <a:r>
              <a:rPr lang="de-DE" dirty="0"/>
              <a:t>Software </a:t>
            </a:r>
            <a:r>
              <a:rPr lang="de-DE" dirty="0" err="1"/>
              <a:t>Defined</a:t>
            </a:r>
            <a:r>
              <a:rPr lang="de-DE" dirty="0"/>
              <a:t> Networking</a:t>
            </a:r>
          </a:p>
        </p:txBody>
      </p:sp>
      <p:sp>
        <p:nvSpPr>
          <p:cNvPr id="3" name="Content Placeholder 2"/>
          <p:cNvSpPr>
            <a:spLocks noGrp="1"/>
          </p:cNvSpPr>
          <p:nvPr>
            <p:ph idx="1"/>
          </p:nvPr>
        </p:nvSpPr>
        <p:spPr/>
        <p:txBody>
          <a:bodyPr/>
          <a:lstStyle/>
          <a:p>
            <a:r>
              <a:rPr lang="en-US" altLang="en-US" dirty="0"/>
              <a:t>SDN makes the network </a:t>
            </a:r>
            <a:r>
              <a:rPr lang="en-US" altLang="en-US" i="1" dirty="0">
                <a:solidFill>
                  <a:schemeClr val="accent2"/>
                </a:solidFill>
              </a:rPr>
              <a:t>programmable</a:t>
            </a:r>
          </a:p>
          <a:p>
            <a:pPr>
              <a:buNone/>
            </a:pPr>
            <a:endParaRPr lang="en-US" altLang="en-US" i="1" dirty="0">
              <a:solidFill>
                <a:schemeClr val="accent2"/>
              </a:solidFill>
            </a:endParaRPr>
          </a:p>
          <a:p>
            <a:r>
              <a:rPr lang="en-US" altLang="en-US" dirty="0"/>
              <a:t>OSPF, </a:t>
            </a:r>
            <a:r>
              <a:rPr lang="en-US" altLang="en-US" dirty="0" err="1"/>
              <a:t>DiffServ</a:t>
            </a:r>
            <a:r>
              <a:rPr lang="en-US" altLang="en-US" dirty="0"/>
              <a:t>, </a:t>
            </a:r>
            <a:r>
              <a:rPr lang="en-US" altLang="en-US" dirty="0" err="1"/>
              <a:t>IntServ</a:t>
            </a:r>
            <a:r>
              <a:rPr lang="en-US" altLang="en-US" dirty="0"/>
              <a:t>, MPLS, RSVP?</a:t>
            </a:r>
          </a:p>
          <a:p>
            <a:pPr lvl="1"/>
            <a:r>
              <a:rPr lang="en-US" altLang="en-US" dirty="0"/>
              <a:t>All such protocols can be done in software, controlled by a central instance</a:t>
            </a:r>
          </a:p>
          <a:p>
            <a:pPr lvl="1"/>
            <a:r>
              <a:rPr lang="en-US" altLang="en-US" dirty="0"/>
              <a:t>Scalable, easily manageable, better interoperability</a:t>
            </a:r>
          </a:p>
          <a:p>
            <a:endParaRPr lang="en-US" altLang="en-US" dirty="0"/>
          </a:p>
          <a:p>
            <a:endParaRPr lang="de-DE" dirty="0"/>
          </a:p>
        </p:txBody>
      </p:sp>
      <p:sp>
        <p:nvSpPr>
          <p:cNvPr id="4" name="Slide Number Placeholder 3"/>
          <p:cNvSpPr>
            <a:spLocks noGrp="1"/>
          </p:cNvSpPr>
          <p:nvPr>
            <p:ph type="sldNum" sz="quarter" idx="12"/>
          </p:nvPr>
        </p:nvSpPr>
        <p:spPr/>
        <p:txBody>
          <a:bodyPr/>
          <a:lstStyle/>
          <a:p>
            <a:fld id="{4510AD55-118C-453F-AEC9-3256547505F1}" type="slidenum">
              <a:rPr lang="en-US" smtClean="0"/>
              <a:t>25</a:t>
            </a:fld>
            <a:endParaRPr lang="en-US"/>
          </a:p>
        </p:txBody>
      </p:sp>
    </p:spTree>
    <p:extLst>
      <p:ext uri="{BB962C8B-B14F-4D97-AF65-F5344CB8AC3E}">
        <p14:creationId xmlns:p14="http://schemas.microsoft.com/office/powerpoint/2010/main" val="3736939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SDN Components at a glance</a:t>
            </a:r>
          </a:p>
        </p:txBody>
      </p:sp>
      <p:pic>
        <p:nvPicPr>
          <p:cNvPr id="77827" name="Picture 3"/>
          <p:cNvPicPr>
            <a:picLocks noChangeAspect="1" noChangeArrowheads="1"/>
          </p:cNvPicPr>
          <p:nvPr/>
        </p:nvPicPr>
        <p:blipFill>
          <a:blip r:embed="rId2" cstate="print"/>
          <a:srcRect/>
          <a:stretch>
            <a:fillRect/>
          </a:stretch>
        </p:blipFill>
        <p:spPr bwMode="auto">
          <a:xfrm>
            <a:off x="1052944" y="1054900"/>
            <a:ext cx="7102617" cy="4791717"/>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4510AD55-118C-453F-AEC9-3256547505F1}" type="slidenum">
              <a:rPr lang="en-US" smtClean="0"/>
              <a:t>26</a:t>
            </a:fld>
            <a:endParaRPr lang="en-US"/>
          </a:p>
        </p:txBody>
      </p:sp>
    </p:spTree>
    <p:extLst>
      <p:ext uri="{BB962C8B-B14F-4D97-AF65-F5344CB8AC3E}">
        <p14:creationId xmlns:p14="http://schemas.microsoft.com/office/powerpoint/2010/main" val="3268781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SDN Components at a glance</a:t>
            </a:r>
          </a:p>
        </p:txBody>
      </p:sp>
      <p:sp>
        <p:nvSpPr>
          <p:cNvPr id="15363" name="Content Placeholder 2"/>
          <p:cNvSpPr>
            <a:spLocks noGrp="1"/>
          </p:cNvSpPr>
          <p:nvPr>
            <p:ph idx="1"/>
          </p:nvPr>
        </p:nvSpPr>
        <p:spPr>
          <a:xfrm>
            <a:off x="457200" y="1262063"/>
            <a:ext cx="8229600" cy="4830762"/>
          </a:xfrm>
        </p:spPr>
        <p:txBody>
          <a:bodyPr/>
          <a:lstStyle/>
          <a:p>
            <a:r>
              <a:rPr lang="en-US" altLang="en-US" dirty="0"/>
              <a:t>Programmable Open APIs:</a:t>
            </a:r>
          </a:p>
          <a:p>
            <a:pPr lvl="1"/>
            <a:r>
              <a:rPr lang="en-US" altLang="en-US" dirty="0"/>
              <a:t>Connects applications with control plane</a:t>
            </a:r>
          </a:p>
          <a:p>
            <a:pPr lvl="1"/>
            <a:r>
              <a:rPr lang="en-US" altLang="en-US" dirty="0"/>
              <a:t>Allows for </a:t>
            </a:r>
            <a:r>
              <a:rPr lang="en-US" altLang="en-US" i="1" dirty="0">
                <a:solidFill>
                  <a:schemeClr val="accent2"/>
                </a:solidFill>
              </a:rPr>
              <a:t>programming</a:t>
            </a:r>
            <a:r>
              <a:rPr lang="en-US" altLang="en-US" dirty="0"/>
              <a:t> of routing, </a:t>
            </a:r>
            <a:r>
              <a:rPr lang="en-US" altLang="en-US" dirty="0" err="1"/>
              <a:t>QoS</a:t>
            </a:r>
            <a:r>
              <a:rPr lang="en-US" altLang="en-US" dirty="0"/>
              <a:t>, etc.</a:t>
            </a:r>
          </a:p>
          <a:p>
            <a:pPr>
              <a:buNone/>
            </a:pPr>
            <a:endParaRPr lang="en-US" altLang="en-US" dirty="0"/>
          </a:p>
          <a:p>
            <a:r>
              <a:rPr lang="en-US" altLang="en-US" dirty="0"/>
              <a:t>Standard Communication Interface (e.g., </a:t>
            </a:r>
            <a:r>
              <a:rPr lang="en-US" altLang="en-US" dirty="0" err="1"/>
              <a:t>OpenFlow</a:t>
            </a:r>
            <a:r>
              <a:rPr lang="en-US" altLang="en-US" dirty="0"/>
              <a:t>):</a:t>
            </a:r>
          </a:p>
          <a:p>
            <a:pPr lvl="1"/>
            <a:r>
              <a:rPr lang="en-US" altLang="en-US" dirty="0"/>
              <a:t>Between control and data planes</a:t>
            </a:r>
          </a:p>
          <a:p>
            <a:pPr lvl="1"/>
            <a:r>
              <a:rPr lang="en-US" altLang="en-US" dirty="0"/>
              <a:t>Allows direct access to forwarding plane</a:t>
            </a:r>
          </a:p>
          <a:p>
            <a:pPr lvl="1">
              <a:buNone/>
            </a:pPr>
            <a:endParaRPr lang="en-US" altLang="en-US" dirty="0"/>
          </a:p>
          <a:p>
            <a:pPr lvl="1"/>
            <a:endParaRPr lang="en-US" altLang="en-US" dirty="0"/>
          </a:p>
        </p:txBody>
      </p:sp>
      <p:sp>
        <p:nvSpPr>
          <p:cNvPr id="2" name="Slide Number Placeholder 1"/>
          <p:cNvSpPr>
            <a:spLocks noGrp="1"/>
          </p:cNvSpPr>
          <p:nvPr>
            <p:ph type="sldNum" sz="quarter" idx="12"/>
          </p:nvPr>
        </p:nvSpPr>
        <p:spPr/>
        <p:txBody>
          <a:bodyPr/>
          <a:lstStyle/>
          <a:p>
            <a:fld id="{4510AD55-118C-453F-AEC9-3256547505F1}" type="slidenum">
              <a:rPr lang="en-US" smtClean="0"/>
              <a:t>27</a:t>
            </a:fld>
            <a:endParaRPr lang="en-US"/>
          </a:p>
        </p:txBody>
      </p:sp>
    </p:spTree>
    <p:extLst>
      <p:ext uri="{BB962C8B-B14F-4D97-AF65-F5344CB8AC3E}">
        <p14:creationId xmlns:p14="http://schemas.microsoft.com/office/powerpoint/2010/main" val="19906919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0" dur="500"/>
                                        <p:tgtEl>
                                          <p:spTgt spid="1536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randombar(horizontal)">
                                      <p:cBhvr>
                                        <p:cTn id="13" dur="500"/>
                                        <p:tgtEl>
                                          <p:spTgt spid="1536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5363">
                                            <p:txEl>
                                              <p:pRg st="4" end="4"/>
                                            </p:txEl>
                                          </p:spTgt>
                                        </p:tgtEl>
                                        <p:attrNameLst>
                                          <p:attrName>style.visibility</p:attrName>
                                        </p:attrNameLst>
                                      </p:cBhvr>
                                      <p:to>
                                        <p:strVal val="visible"/>
                                      </p:to>
                                    </p:set>
                                    <p:animEffect transition="in" filter="randombar(horizontal)">
                                      <p:cBhvr>
                                        <p:cTn id="16" dur="500"/>
                                        <p:tgtEl>
                                          <p:spTgt spid="1536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animEffect transition="in" filter="randombar(horizontal)">
                                      <p:cBhvr>
                                        <p:cTn id="19" dur="500"/>
                                        <p:tgtEl>
                                          <p:spTgt spid="15363">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15363">
                                            <p:txEl>
                                              <p:pRg st="6" end="6"/>
                                            </p:txEl>
                                          </p:spTgt>
                                        </p:tgtEl>
                                        <p:attrNameLst>
                                          <p:attrName>style.visibility</p:attrName>
                                        </p:attrNameLst>
                                      </p:cBhvr>
                                      <p:to>
                                        <p:strVal val="visible"/>
                                      </p:to>
                                    </p:set>
                                    <p:animEffect transition="in" filter="randombar(horizontal)">
                                      <p:cBhvr>
                                        <p:cTn id="22"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SDN Components at a glance</a:t>
            </a:r>
          </a:p>
        </p:txBody>
      </p:sp>
      <p:sp>
        <p:nvSpPr>
          <p:cNvPr id="15363" name="Content Placeholder 2"/>
          <p:cNvSpPr>
            <a:spLocks noGrp="1"/>
          </p:cNvSpPr>
          <p:nvPr>
            <p:ph idx="1"/>
          </p:nvPr>
        </p:nvSpPr>
        <p:spPr>
          <a:xfrm>
            <a:off x="457200" y="1262063"/>
            <a:ext cx="8229600" cy="4830762"/>
          </a:xfrm>
        </p:spPr>
        <p:txBody>
          <a:bodyPr/>
          <a:lstStyle/>
          <a:p>
            <a:r>
              <a:rPr lang="en-US" altLang="en-US" dirty="0"/>
              <a:t>Network Controller (</a:t>
            </a:r>
            <a:r>
              <a:rPr lang="en-US" altLang="en-US" i="1" dirty="0">
                <a:solidFill>
                  <a:schemeClr val="accent2"/>
                </a:solidFill>
              </a:rPr>
              <a:t>logically</a:t>
            </a:r>
            <a:r>
              <a:rPr lang="en-US" altLang="en-US" dirty="0"/>
              <a:t> centralized):</a:t>
            </a:r>
          </a:p>
          <a:p>
            <a:pPr lvl="1"/>
            <a:r>
              <a:rPr lang="en-US" altLang="en-US" dirty="0"/>
              <a:t>Positioned between both of the above, has full control over the data plane</a:t>
            </a:r>
          </a:p>
          <a:p>
            <a:pPr lvl="1"/>
            <a:r>
              <a:rPr lang="en-US" altLang="en-US" dirty="0"/>
              <a:t>Sets up rules, actions, etc. for the network devices</a:t>
            </a:r>
          </a:p>
          <a:p>
            <a:pPr lvl="1"/>
            <a:r>
              <a:rPr lang="en-US" altLang="en-US" dirty="0"/>
              <a:t>Core element of SDN</a:t>
            </a:r>
          </a:p>
          <a:p>
            <a:pPr lvl="1">
              <a:buNone/>
            </a:pPr>
            <a:endParaRPr lang="en-US" altLang="en-US" dirty="0"/>
          </a:p>
          <a:p>
            <a:pPr lvl="1"/>
            <a:endParaRPr lang="en-US" altLang="en-US" dirty="0"/>
          </a:p>
        </p:txBody>
      </p:sp>
      <p:sp>
        <p:nvSpPr>
          <p:cNvPr id="2" name="Slide Number Placeholder 1"/>
          <p:cNvSpPr>
            <a:spLocks noGrp="1"/>
          </p:cNvSpPr>
          <p:nvPr>
            <p:ph type="sldNum" sz="quarter" idx="12"/>
          </p:nvPr>
        </p:nvSpPr>
        <p:spPr/>
        <p:txBody>
          <a:bodyPr/>
          <a:lstStyle/>
          <a:p>
            <a:fld id="{4510AD55-118C-453F-AEC9-3256547505F1}" type="slidenum">
              <a:rPr lang="en-US" smtClean="0"/>
              <a:t>28</a:t>
            </a:fld>
            <a:endParaRPr lang="en-US"/>
          </a:p>
        </p:txBody>
      </p:sp>
    </p:spTree>
    <p:extLst>
      <p:ext uri="{BB962C8B-B14F-4D97-AF65-F5344CB8AC3E}">
        <p14:creationId xmlns:p14="http://schemas.microsoft.com/office/powerpoint/2010/main" val="2336060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0" dur="500"/>
                                        <p:tgtEl>
                                          <p:spTgt spid="1536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randombar(horizontal)">
                                      <p:cBhvr>
                                        <p:cTn id="13" dur="500"/>
                                        <p:tgtEl>
                                          <p:spTgt spid="1536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5363">
                                            <p:txEl>
                                              <p:pRg st="3" end="3"/>
                                            </p:txEl>
                                          </p:spTgt>
                                        </p:tgtEl>
                                        <p:attrNameLst>
                                          <p:attrName>style.visibility</p:attrName>
                                        </p:attrNameLst>
                                      </p:cBhvr>
                                      <p:to>
                                        <p:strVal val="visible"/>
                                      </p:to>
                                    </p:set>
                                    <p:animEffect transition="in" filter="randombar(horizontal)">
                                      <p:cBhvr>
                                        <p:cTn id="16"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a:t>SDN </a:t>
            </a:r>
            <a:r>
              <a:rPr lang="de-DE" dirty="0" err="1"/>
              <a:t>and</a:t>
            </a:r>
            <a:r>
              <a:rPr lang="de-DE" dirty="0"/>
              <a:t> Network </a:t>
            </a:r>
            <a:r>
              <a:rPr lang="de-DE" dirty="0" err="1"/>
              <a:t>Cloud</a:t>
            </a:r>
            <a:r>
              <a:rPr lang="de-DE" dirty="0"/>
              <a:t>? </a:t>
            </a:r>
          </a:p>
        </p:txBody>
      </p:sp>
      <p:sp>
        <p:nvSpPr>
          <p:cNvPr id="3" name="Content Placeholder 2"/>
          <p:cNvSpPr>
            <a:spLocks noGrp="1"/>
          </p:cNvSpPr>
          <p:nvPr>
            <p:ph idx="1"/>
          </p:nvPr>
        </p:nvSpPr>
        <p:spPr/>
        <p:txBody>
          <a:bodyPr/>
          <a:lstStyle/>
          <a:p>
            <a:r>
              <a:rPr lang="de-DE" dirty="0"/>
              <a:t>E.g., </a:t>
            </a:r>
            <a:r>
              <a:rPr lang="de-DE" dirty="0" err="1"/>
              <a:t>network</a:t>
            </a:r>
            <a:r>
              <a:rPr lang="de-DE" dirty="0"/>
              <a:t> </a:t>
            </a:r>
            <a:r>
              <a:rPr lang="de-DE" dirty="0" err="1"/>
              <a:t>virtualization</a:t>
            </a:r>
            <a:endParaRPr lang="de-DE" dirty="0"/>
          </a:p>
        </p:txBody>
      </p:sp>
      <p:pic>
        <p:nvPicPr>
          <p:cNvPr id="80898" name="Picture 2"/>
          <p:cNvPicPr>
            <a:picLocks noChangeAspect="1" noChangeArrowheads="1"/>
          </p:cNvPicPr>
          <p:nvPr/>
        </p:nvPicPr>
        <p:blipFill>
          <a:blip r:embed="rId2" cstate="print"/>
          <a:srcRect/>
          <a:stretch>
            <a:fillRect/>
          </a:stretch>
        </p:blipFill>
        <p:spPr bwMode="auto">
          <a:xfrm>
            <a:off x="817418" y="2327564"/>
            <a:ext cx="6966790" cy="4336472"/>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4510AD55-118C-453F-AEC9-3256547505F1}" type="slidenum">
              <a:rPr lang="en-US" smtClean="0"/>
              <a:t>29</a:t>
            </a:fld>
            <a:endParaRPr lang="en-US"/>
          </a:p>
        </p:txBody>
      </p:sp>
    </p:spTree>
    <p:extLst>
      <p:ext uri="{BB962C8B-B14F-4D97-AF65-F5344CB8AC3E}">
        <p14:creationId xmlns:p14="http://schemas.microsoft.com/office/powerpoint/2010/main" val="3933145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SDN Benefits</a:t>
            </a:r>
          </a:p>
        </p:txBody>
      </p:sp>
      <p:sp>
        <p:nvSpPr>
          <p:cNvPr id="15363" name="Content Placeholder 2"/>
          <p:cNvSpPr>
            <a:spLocks noGrp="1"/>
          </p:cNvSpPr>
          <p:nvPr>
            <p:ph idx="1"/>
          </p:nvPr>
        </p:nvSpPr>
        <p:spPr>
          <a:xfrm>
            <a:off x="457200" y="1262063"/>
            <a:ext cx="8229600" cy="4830762"/>
          </a:xfrm>
        </p:spPr>
        <p:txBody>
          <a:bodyPr/>
          <a:lstStyle/>
          <a:p>
            <a:r>
              <a:rPr lang="en-US" altLang="en-US" dirty="0"/>
              <a:t>SDN further allows for…</a:t>
            </a:r>
          </a:p>
          <a:p>
            <a:pPr lvl="1"/>
            <a:r>
              <a:rPr lang="en-US" altLang="en-US" dirty="0"/>
              <a:t>elastic resource allocation (e.g., to match </a:t>
            </a:r>
            <a:r>
              <a:rPr lang="en-US" altLang="en-US" dirty="0" err="1"/>
              <a:t>QoS</a:t>
            </a:r>
            <a:r>
              <a:rPr lang="en-US" altLang="en-US" dirty="0"/>
              <a:t> agreements)</a:t>
            </a:r>
          </a:p>
          <a:p>
            <a:pPr lvl="1"/>
            <a:r>
              <a:rPr lang="en-US" altLang="en-US" dirty="0"/>
              <a:t>distribution of the load on links (e.g., between backbone and application servers) </a:t>
            </a:r>
          </a:p>
          <a:p>
            <a:pPr lvl="1"/>
            <a:r>
              <a:rPr lang="en-US" altLang="en-US" dirty="0"/>
              <a:t>scalability (no need to manually configure each of thousands (or even millions?) of devices)</a:t>
            </a:r>
          </a:p>
          <a:p>
            <a:pPr lvl="1"/>
            <a:r>
              <a:rPr lang="en-US" altLang="en-US" dirty="0"/>
              <a:t>overhead reduction</a:t>
            </a:r>
          </a:p>
          <a:p>
            <a:pPr lvl="1"/>
            <a:r>
              <a:rPr lang="en-US" altLang="en-US" dirty="0"/>
              <a:t>…and more</a:t>
            </a:r>
          </a:p>
          <a:p>
            <a:pPr lvl="1">
              <a:buNone/>
            </a:pPr>
            <a:endParaRPr lang="en-US" altLang="en-US" dirty="0"/>
          </a:p>
        </p:txBody>
      </p:sp>
      <p:sp>
        <p:nvSpPr>
          <p:cNvPr id="2" name="Slide Number Placeholder 1"/>
          <p:cNvSpPr>
            <a:spLocks noGrp="1"/>
          </p:cNvSpPr>
          <p:nvPr>
            <p:ph type="sldNum" sz="quarter" idx="12"/>
          </p:nvPr>
        </p:nvSpPr>
        <p:spPr/>
        <p:txBody>
          <a:bodyPr/>
          <a:lstStyle/>
          <a:p>
            <a:fld id="{4510AD55-118C-453F-AEC9-3256547505F1}" type="slidenum">
              <a:rPr lang="en-US" smtClean="0"/>
              <a:t>30</a:t>
            </a:fld>
            <a:endParaRPr lang="en-US"/>
          </a:p>
        </p:txBody>
      </p:sp>
    </p:spTree>
    <p:extLst>
      <p:ext uri="{BB962C8B-B14F-4D97-AF65-F5344CB8AC3E}">
        <p14:creationId xmlns:p14="http://schemas.microsoft.com/office/powerpoint/2010/main" val="1179385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0" dur="500"/>
                                        <p:tgtEl>
                                          <p:spTgt spid="1536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randombar(horizontal)">
                                      <p:cBhvr>
                                        <p:cTn id="13" dur="500"/>
                                        <p:tgtEl>
                                          <p:spTgt spid="1536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5363">
                                            <p:txEl>
                                              <p:pRg st="3" end="3"/>
                                            </p:txEl>
                                          </p:spTgt>
                                        </p:tgtEl>
                                        <p:attrNameLst>
                                          <p:attrName>style.visibility</p:attrName>
                                        </p:attrNameLst>
                                      </p:cBhvr>
                                      <p:to>
                                        <p:strVal val="visible"/>
                                      </p:to>
                                    </p:set>
                                    <p:animEffect transition="in" filter="randombar(horizontal)">
                                      <p:cBhvr>
                                        <p:cTn id="16" dur="500"/>
                                        <p:tgtEl>
                                          <p:spTgt spid="1536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animEffect transition="in" filter="randombar(horizontal)">
                                      <p:cBhvr>
                                        <p:cTn id="19" dur="500"/>
                                        <p:tgtEl>
                                          <p:spTgt spid="15363">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15363">
                                            <p:txEl>
                                              <p:pRg st="5" end="5"/>
                                            </p:txEl>
                                          </p:spTgt>
                                        </p:tgtEl>
                                        <p:attrNameLst>
                                          <p:attrName>style.visibility</p:attrName>
                                        </p:attrNameLst>
                                      </p:cBhvr>
                                      <p:to>
                                        <p:strVal val="visible"/>
                                      </p:to>
                                    </p:set>
                                    <p:animEffect transition="in" filter="randombar(horizontal)">
                                      <p:cBhvr>
                                        <p:cTn id="22"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2" cstate="print"/>
          <a:srcRect/>
          <a:stretch>
            <a:fillRect/>
          </a:stretch>
        </p:blipFill>
        <p:spPr bwMode="auto">
          <a:xfrm>
            <a:off x="2939860" y="2424538"/>
            <a:ext cx="3086872" cy="3350793"/>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The SDN Protocol</a:t>
            </a:r>
          </a:p>
        </p:txBody>
      </p:sp>
      <p:sp>
        <p:nvSpPr>
          <p:cNvPr id="3" name="Content Placeholder 2"/>
          <p:cNvSpPr>
            <a:spLocks noGrp="1"/>
          </p:cNvSpPr>
          <p:nvPr>
            <p:ph idx="1"/>
          </p:nvPr>
        </p:nvSpPr>
        <p:spPr/>
        <p:txBody>
          <a:bodyPr/>
          <a:lstStyle/>
          <a:p>
            <a:r>
              <a:rPr lang="de-DE" dirty="0"/>
              <a:t>Communication </a:t>
            </a:r>
            <a:r>
              <a:rPr lang="de-DE" dirty="0" err="1"/>
              <a:t>between</a:t>
            </a:r>
            <a:r>
              <a:rPr lang="de-DE" dirty="0"/>
              <a:t> </a:t>
            </a:r>
            <a:r>
              <a:rPr lang="de-DE" dirty="0" err="1"/>
              <a:t>the</a:t>
            </a:r>
            <a:r>
              <a:rPr lang="de-DE" dirty="0"/>
              <a:t> </a:t>
            </a:r>
            <a:r>
              <a:rPr lang="de-DE" dirty="0" err="1"/>
              <a:t>controller</a:t>
            </a:r>
            <a:r>
              <a:rPr lang="de-DE" dirty="0"/>
              <a:t> </a:t>
            </a:r>
            <a:r>
              <a:rPr lang="de-DE" dirty="0" err="1"/>
              <a:t>and</a:t>
            </a:r>
            <a:r>
              <a:rPr lang="de-DE" dirty="0"/>
              <a:t> </a:t>
            </a:r>
            <a:r>
              <a:rPr lang="de-DE" dirty="0" err="1"/>
              <a:t>the</a:t>
            </a:r>
            <a:r>
              <a:rPr lang="de-DE" dirty="0"/>
              <a:t> </a:t>
            </a:r>
            <a:r>
              <a:rPr lang="de-DE" dirty="0" err="1"/>
              <a:t>network</a:t>
            </a:r>
            <a:r>
              <a:rPr lang="de-DE" dirty="0"/>
              <a:t> </a:t>
            </a:r>
            <a:r>
              <a:rPr lang="de-DE" dirty="0" err="1"/>
              <a:t>devices</a:t>
            </a:r>
            <a:r>
              <a:rPr lang="de-DE" dirty="0"/>
              <a:t> (i.e., </a:t>
            </a:r>
            <a:r>
              <a:rPr lang="de-DE" dirty="0" err="1"/>
              <a:t>switches</a:t>
            </a:r>
            <a:r>
              <a:rPr lang="de-DE" dirty="0"/>
              <a:t>)</a:t>
            </a:r>
          </a:p>
        </p:txBody>
      </p:sp>
      <p:sp>
        <p:nvSpPr>
          <p:cNvPr id="5" name="Rectangle 4"/>
          <p:cNvSpPr/>
          <p:nvPr/>
        </p:nvSpPr>
        <p:spPr>
          <a:xfrm>
            <a:off x="969818" y="5948626"/>
            <a:ext cx="8174182" cy="923330"/>
          </a:xfrm>
          <a:prstGeom prst="rect">
            <a:avLst/>
          </a:prstGeom>
        </p:spPr>
        <p:txBody>
          <a:bodyPr wrap="square">
            <a:spAutoFit/>
          </a:bodyPr>
          <a:lstStyle/>
          <a:p>
            <a:r>
              <a:rPr lang="de-DE" dirty="0" err="1">
                <a:latin typeface="+mn-lt"/>
              </a:rPr>
              <a:t>Specification</a:t>
            </a:r>
            <a:r>
              <a:rPr lang="de-DE" dirty="0">
                <a:latin typeface="+mn-lt"/>
              </a:rPr>
              <a:t> </a:t>
            </a:r>
            <a:r>
              <a:rPr lang="de-DE" dirty="0" err="1">
                <a:latin typeface="+mn-lt"/>
              </a:rPr>
              <a:t>by</a:t>
            </a:r>
            <a:r>
              <a:rPr lang="de-DE" dirty="0">
                <a:latin typeface="+mn-lt"/>
              </a:rPr>
              <a:t> </a:t>
            </a:r>
            <a:r>
              <a:rPr lang="de-DE" dirty="0" err="1">
                <a:latin typeface="+mn-lt"/>
              </a:rPr>
              <a:t>the</a:t>
            </a:r>
            <a:r>
              <a:rPr lang="de-DE" dirty="0">
                <a:latin typeface="+mn-lt"/>
              </a:rPr>
              <a:t> Open Networking </a:t>
            </a:r>
            <a:r>
              <a:rPr lang="de-DE" dirty="0" err="1">
                <a:latin typeface="+mn-lt"/>
              </a:rPr>
              <a:t>Foundation</a:t>
            </a:r>
            <a:r>
              <a:rPr lang="de-DE" dirty="0">
                <a:latin typeface="+mn-lt"/>
              </a:rPr>
              <a:t>: </a:t>
            </a:r>
            <a:r>
              <a:rPr lang="de-DE" dirty="0">
                <a:latin typeface="+mn-lt"/>
                <a:hlinkClick r:id="rId3"/>
              </a:rPr>
              <a:t>https://www.opennetworking.org/images/stories/downloads/sdn-resources/onf-specifications/openflow/openflow-spec-v1.3.4.pdf</a:t>
            </a:r>
            <a:r>
              <a:rPr lang="de-DE" dirty="0">
                <a:latin typeface="+mn-lt"/>
              </a:rPr>
              <a:t> (March 2014)</a:t>
            </a:r>
          </a:p>
        </p:txBody>
      </p:sp>
      <p:sp>
        <p:nvSpPr>
          <p:cNvPr id="4" name="Slide Number Placeholder 3"/>
          <p:cNvSpPr>
            <a:spLocks noGrp="1"/>
          </p:cNvSpPr>
          <p:nvPr>
            <p:ph type="sldNum" sz="quarter" idx="12"/>
          </p:nvPr>
        </p:nvSpPr>
        <p:spPr/>
        <p:txBody>
          <a:bodyPr/>
          <a:lstStyle/>
          <a:p>
            <a:fld id="{4510AD55-118C-453F-AEC9-3256547505F1}" type="slidenum">
              <a:rPr lang="en-US" smtClean="0"/>
              <a:t>31</a:t>
            </a:fld>
            <a:endParaRPr lang="en-US"/>
          </a:p>
        </p:txBody>
      </p:sp>
    </p:spTree>
    <p:extLst>
      <p:ext uri="{BB962C8B-B14F-4D97-AF65-F5344CB8AC3E}">
        <p14:creationId xmlns:p14="http://schemas.microsoft.com/office/powerpoint/2010/main" val="688632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8"/>
          <p:cNvSpPr>
            <a:spLocks noChangeShapeType="1"/>
          </p:cNvSpPr>
          <p:nvPr/>
        </p:nvSpPr>
        <p:spPr bwMode="auto">
          <a:xfrm flipH="1">
            <a:off x="5334000" y="3151188"/>
            <a:ext cx="0" cy="1454150"/>
          </a:xfrm>
          <a:prstGeom prst="line">
            <a:avLst/>
          </a:prstGeom>
          <a:noFill/>
          <a:ln w="88900">
            <a:solidFill>
              <a:srgbClr val="FF7F00"/>
            </a:solidFill>
            <a:miter lim="800000"/>
            <a:headEnd type="triangle" w="med" len="med"/>
            <a:tailEnd type="triangle" w="med" len="med"/>
          </a:ln>
          <a:extLst>
            <a:ext uri="{909E8E84-426E-40dd-AFC4-6F175D3DCCD1}">
              <a14:hiddenFill xmlns:a14="http://schemas.microsoft.com/office/drawing/2010/main" xmlns="">
                <a:noFill/>
              </a14:hiddenFill>
            </a:ext>
          </a:extLst>
        </p:spPr>
        <p:txBody>
          <a:bodyPr lIns="0" tIns="0" rIns="0" bIns="0"/>
          <a:lstStyle/>
          <a:p>
            <a:pPr fontAlgn="base">
              <a:spcBef>
                <a:spcPct val="0"/>
              </a:spcBef>
              <a:spcAft>
                <a:spcPct val="0"/>
              </a:spcAft>
            </a:pPr>
            <a:endParaRPr lang="en-US">
              <a:solidFill>
                <a:prstClr val="black"/>
              </a:solidFill>
              <a:latin typeface="Arial" pitchFamily="34" charset="0"/>
              <a:ea typeface="MS PGothic" pitchFamily="34" charset="-128"/>
            </a:endParaRPr>
          </a:p>
        </p:txBody>
      </p:sp>
      <p:sp>
        <p:nvSpPr>
          <p:cNvPr id="48131" name="Rectangle 9"/>
          <p:cNvSpPr>
            <a:spLocks/>
          </p:cNvSpPr>
          <p:nvPr/>
        </p:nvSpPr>
        <p:spPr bwMode="auto">
          <a:xfrm>
            <a:off x="2044700" y="3692525"/>
            <a:ext cx="316071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41464" bIns="0">
            <a:spAutoFit/>
          </a:bodyPr>
          <a:lstStyle/>
          <a:p>
            <a:pPr marL="41275" algn="r" fontAlgn="base">
              <a:spcBef>
                <a:spcPct val="0"/>
              </a:spcBef>
              <a:spcAft>
                <a:spcPct val="0"/>
              </a:spcAft>
            </a:pPr>
            <a:r>
              <a:rPr lang="en-US" sz="2400">
                <a:solidFill>
                  <a:srgbClr val="1F497D"/>
                </a:solidFill>
                <a:ea typeface="MS PGothic" pitchFamily="34" charset="-128"/>
                <a:sym typeface="Gill Sans" charset="0"/>
              </a:rPr>
              <a:t>OpenFlow Protocol</a:t>
            </a:r>
          </a:p>
        </p:txBody>
      </p:sp>
      <p:sp>
        <p:nvSpPr>
          <p:cNvPr id="13" name="AutoShape 1"/>
          <p:cNvSpPr>
            <a:spLocks/>
          </p:cNvSpPr>
          <p:nvPr/>
        </p:nvSpPr>
        <p:spPr bwMode="auto">
          <a:xfrm>
            <a:off x="1828800" y="4605338"/>
            <a:ext cx="5364163" cy="1368425"/>
          </a:xfrm>
          <a:prstGeom prst="roundRect">
            <a:avLst>
              <a:gd name="adj" fmla="val 6486"/>
            </a:avLst>
          </a:prstGeom>
          <a:gradFill rotWithShape="1">
            <a:gsLst>
              <a:gs pos="0">
                <a:srgbClr val="000000"/>
              </a:gs>
              <a:gs pos="50000">
                <a:srgbClr val="000000"/>
              </a:gs>
              <a:gs pos="100000">
                <a:srgbClr val="FFFFFF"/>
              </a:gs>
            </a:gsLst>
            <a:lin ang="5400000" scaled="1"/>
          </a:gradFill>
          <a:ln w="12700">
            <a:solidFill>
              <a:srgbClr val="FFFFFF"/>
            </a:solidFill>
            <a:round/>
            <a:headEnd/>
            <a:tailEnd/>
          </a:ln>
          <a:effectLst>
            <a:outerShdw blurRad="40000" dist="20000" dir="5400000" rotWithShape="0">
              <a:srgbClr val="808080">
                <a:alpha val="37999"/>
              </a:srgbClr>
            </a:outerShdw>
          </a:effectLst>
        </p:spPr>
        <p:txBody>
          <a:bodyPr lIns="0" tIns="0" rIns="0" bIns="0"/>
          <a:lstStyle/>
          <a:p>
            <a:pPr fontAlgn="base">
              <a:spcBef>
                <a:spcPct val="0"/>
              </a:spcBef>
              <a:spcAft>
                <a:spcPct val="0"/>
              </a:spcAft>
              <a:defRPr/>
            </a:pPr>
            <a:endParaRPr lang="en-US" sz="2400">
              <a:solidFill>
                <a:srgbClr val="000000"/>
              </a:solidFill>
              <a:latin typeface="Helvetica"/>
              <a:ea typeface="ヒラギノ明朝 ProN W3" charset="-128"/>
              <a:cs typeface="Helvetica"/>
              <a:sym typeface="Times New Roman" charset="0"/>
            </a:endParaRPr>
          </a:p>
        </p:txBody>
      </p:sp>
      <p:sp>
        <p:nvSpPr>
          <p:cNvPr id="14" name="AutoShape 2"/>
          <p:cNvSpPr>
            <a:spLocks/>
          </p:cNvSpPr>
          <p:nvPr/>
        </p:nvSpPr>
        <p:spPr bwMode="auto">
          <a:xfrm>
            <a:off x="1997075" y="5380038"/>
            <a:ext cx="5008563" cy="476250"/>
          </a:xfrm>
          <a:prstGeom prst="roundRect">
            <a:avLst>
              <a:gd name="adj" fmla="val 8472"/>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lgn="ctr" fontAlgn="base">
              <a:spcBef>
                <a:spcPct val="0"/>
              </a:spcBef>
              <a:spcAft>
                <a:spcPct val="0"/>
              </a:spcAft>
              <a:defRPr/>
            </a:pPr>
            <a:r>
              <a:rPr lang="en-US" sz="2000" b="1" dirty="0">
                <a:solidFill>
                  <a:srgbClr val="001949"/>
                </a:solidFill>
                <a:latin typeface="Helvetica"/>
                <a:ea typeface="Gill Sans" charset="0"/>
                <a:cs typeface="Helvetica"/>
                <a:sym typeface="Gill Sans" charset="0"/>
              </a:rPr>
              <a:t>Data Path (Hardware)</a:t>
            </a:r>
          </a:p>
        </p:txBody>
      </p:sp>
      <p:sp>
        <p:nvSpPr>
          <p:cNvPr id="15" name="AutoShape 3"/>
          <p:cNvSpPr>
            <a:spLocks/>
          </p:cNvSpPr>
          <p:nvPr/>
        </p:nvSpPr>
        <p:spPr bwMode="auto">
          <a:xfrm>
            <a:off x="1997075" y="4718050"/>
            <a:ext cx="3489325" cy="468313"/>
          </a:xfrm>
          <a:prstGeom prst="roundRect">
            <a:avLst>
              <a:gd name="adj" fmla="val 6894"/>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lgn="ctr" fontAlgn="base">
              <a:spcBef>
                <a:spcPct val="0"/>
              </a:spcBef>
              <a:spcAft>
                <a:spcPct val="0"/>
              </a:spcAft>
              <a:defRPr/>
            </a:pPr>
            <a:r>
              <a:rPr lang="en-US" sz="2000" b="1" dirty="0">
                <a:solidFill>
                  <a:srgbClr val="001949"/>
                </a:solidFill>
                <a:latin typeface="Helvetica"/>
                <a:ea typeface="Gill Sans" charset="0"/>
                <a:cs typeface="Helvetica"/>
                <a:sym typeface="Gill Sans" charset="0"/>
              </a:rPr>
              <a:t>Control Path</a:t>
            </a:r>
          </a:p>
        </p:txBody>
      </p:sp>
      <p:sp>
        <p:nvSpPr>
          <p:cNvPr id="48135" name="Line 4"/>
          <p:cNvSpPr>
            <a:spLocks noChangeShapeType="1"/>
          </p:cNvSpPr>
          <p:nvPr/>
        </p:nvSpPr>
        <p:spPr bwMode="auto">
          <a:xfrm rot="10800000" flipH="1">
            <a:off x="1944688" y="5284788"/>
            <a:ext cx="5138737" cy="7937"/>
          </a:xfrm>
          <a:prstGeom prst="line">
            <a:avLst/>
          </a:prstGeom>
          <a:noFill/>
          <a:ln w="38100">
            <a:solidFill>
              <a:srgbClr val="001949"/>
            </a:solidFill>
            <a:prstDash val="sysDot"/>
            <a:round/>
            <a:headEnd/>
            <a:tailEnd/>
          </a:ln>
          <a:extLst>
            <a:ext uri="{909E8E84-426E-40dd-AFC4-6F175D3DCCD1}">
              <a14:hiddenFill xmlns:a14="http://schemas.microsoft.com/office/drawing/2010/main" xmlns="">
                <a:noFill/>
              </a14:hiddenFill>
            </a:ext>
          </a:extLst>
        </p:spPr>
        <p:txBody>
          <a:bodyPr lIns="0" tIns="0" rIns="0" bIns="0"/>
          <a:lstStyle/>
          <a:p>
            <a:pPr fontAlgn="base">
              <a:spcBef>
                <a:spcPct val="0"/>
              </a:spcBef>
              <a:spcAft>
                <a:spcPct val="0"/>
              </a:spcAft>
            </a:pPr>
            <a:endParaRPr lang="en-US">
              <a:solidFill>
                <a:prstClr val="black"/>
              </a:solidFill>
              <a:latin typeface="Arial" pitchFamily="34" charset="0"/>
              <a:ea typeface="MS PGothic" pitchFamily="34" charset="-128"/>
            </a:endParaRPr>
          </a:p>
        </p:txBody>
      </p:sp>
      <p:sp>
        <p:nvSpPr>
          <p:cNvPr id="17" name="AutoShape 5"/>
          <p:cNvSpPr>
            <a:spLocks/>
          </p:cNvSpPr>
          <p:nvPr/>
        </p:nvSpPr>
        <p:spPr bwMode="auto">
          <a:xfrm>
            <a:off x="5638800" y="4718050"/>
            <a:ext cx="1366838" cy="468313"/>
          </a:xfrm>
          <a:prstGeom prst="roundRect">
            <a:avLst>
              <a:gd name="adj" fmla="val 6894"/>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lgn="ctr" fontAlgn="base">
              <a:spcBef>
                <a:spcPct val="0"/>
              </a:spcBef>
              <a:spcAft>
                <a:spcPct val="0"/>
              </a:spcAft>
              <a:defRPr/>
            </a:pPr>
            <a:r>
              <a:rPr lang="en-US" sz="2000" b="1" dirty="0">
                <a:solidFill>
                  <a:srgbClr val="001949"/>
                </a:solidFill>
                <a:latin typeface="Helvetica"/>
                <a:ea typeface="Gill Sans" charset="0"/>
                <a:cs typeface="Helvetica"/>
                <a:sym typeface="Gill Sans" charset="0"/>
              </a:rPr>
              <a:t>OpenFlow</a:t>
            </a:r>
          </a:p>
        </p:txBody>
      </p:sp>
      <p:grpSp>
        <p:nvGrpSpPr>
          <p:cNvPr id="2" name="Group 57"/>
          <p:cNvGrpSpPr/>
          <p:nvPr/>
        </p:nvGrpSpPr>
        <p:grpSpPr>
          <a:xfrm>
            <a:off x="1828551" y="4599729"/>
            <a:ext cx="5410200" cy="1381761"/>
            <a:chOff x="3276600" y="4755203"/>
            <a:chExt cx="5410200" cy="1381761"/>
          </a:xfrm>
          <a:effectLst>
            <a:reflection stA="50000" endPos="15000" dist="12700" dir="5400000" sy="-100000" algn="bl" rotWithShape="0"/>
          </a:effectLst>
        </p:grpSpPr>
        <p:grpSp>
          <p:nvGrpSpPr>
            <p:cNvPr id="3" name="Group 56"/>
            <p:cNvGrpSpPr/>
            <p:nvPr/>
          </p:nvGrpSpPr>
          <p:grpSpPr>
            <a:xfrm>
              <a:off x="3276600" y="4755203"/>
              <a:ext cx="5410200" cy="1381761"/>
              <a:chOff x="3276600" y="4755203"/>
              <a:chExt cx="5410200" cy="1381761"/>
            </a:xfrm>
          </p:grpSpPr>
          <p:sp>
            <p:nvSpPr>
              <p:cNvPr id="21" name="AutoShape 1"/>
              <p:cNvSpPr>
                <a:spLocks/>
              </p:cNvSpPr>
              <p:nvPr/>
            </p:nvSpPr>
            <p:spPr bwMode="auto">
              <a:xfrm>
                <a:off x="3276600" y="4755203"/>
                <a:ext cx="5410200" cy="1381761"/>
              </a:xfrm>
              <a:prstGeom prst="roundRect">
                <a:avLst>
                  <a:gd name="adj" fmla="val 6486"/>
                </a:avLst>
              </a:prstGeom>
              <a:gradFill>
                <a:gsLst>
                  <a:gs pos="0">
                    <a:schemeClr val="bg1">
                      <a:lumMod val="85000"/>
                      <a:lumOff val="15000"/>
                    </a:schemeClr>
                  </a:gs>
                  <a:gs pos="50000">
                    <a:schemeClr val="tx1">
                      <a:lumMod val="50000"/>
                    </a:schemeClr>
                  </a:gs>
                  <a:gs pos="100000">
                    <a:schemeClr val="tx1">
                      <a:lumMod val="85000"/>
                    </a:schemeClr>
                  </a:gs>
                </a:gsLst>
              </a:gradFill>
              <a:ln w="12700" cap="flat" cmpd="sng" algn="ctr">
                <a:solidFill>
                  <a:schemeClr val="bg1">
                    <a:lumMod val="75000"/>
                    <a:lumOff val="25000"/>
                  </a:schemeClr>
                </a:solidFill>
                <a:prstDash val="solid"/>
                <a:round/>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0" tIns="0" rIns="0" bIns="0"/>
              <a:lstStyle/>
              <a:p>
                <a:pPr fontAlgn="base">
                  <a:spcBef>
                    <a:spcPct val="0"/>
                  </a:spcBef>
                  <a:spcAft>
                    <a:spcPct val="0"/>
                  </a:spcAft>
                  <a:defRPr/>
                </a:pPr>
                <a:endParaRPr lang="en-US" sz="2400">
                  <a:solidFill>
                    <a:srgbClr val="000000"/>
                  </a:solidFill>
                  <a:latin typeface="Helvetica"/>
                  <a:ea typeface="ヒラギノ明朝 ProN W3" charset="-128"/>
                  <a:cs typeface="Helvetica"/>
                  <a:sym typeface="Times New Roman" charset="0"/>
                </a:endParaRPr>
              </a:p>
            </p:txBody>
          </p:sp>
          <p:grpSp>
            <p:nvGrpSpPr>
              <p:cNvPr id="4" name="Group 53"/>
              <p:cNvGrpSpPr/>
              <p:nvPr/>
            </p:nvGrpSpPr>
            <p:grpSpPr>
              <a:xfrm>
                <a:off x="3559955" y="5405444"/>
                <a:ext cx="4965347" cy="577142"/>
                <a:chOff x="3702749" y="5194834"/>
                <a:chExt cx="4685609" cy="375437"/>
              </a:xfrm>
            </p:grpSpPr>
            <p:pic>
              <p:nvPicPr>
                <p:cNvPr id="26" name="Picture 2"/>
                <p:cNvPicPr>
                  <a:picLocks noChangeAspect="1" noChangeArrowheads="1"/>
                </p:cNvPicPr>
                <p:nvPr/>
              </p:nvPicPr>
              <p:blipFill>
                <a:blip r:embed="rId3"/>
                <a:srcRect/>
                <a:stretch>
                  <a:fillRect/>
                </a:stretch>
              </p:blipFill>
              <p:spPr bwMode="auto">
                <a:xfrm>
                  <a:off x="3702749" y="5194834"/>
                  <a:ext cx="2264094" cy="187241"/>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pic>
              <p:nvPicPr>
                <p:cNvPr id="27" name="Picture 4"/>
                <p:cNvPicPr>
                  <a:picLocks noChangeAspect="1" noChangeArrowheads="1"/>
                </p:cNvPicPr>
                <p:nvPr/>
              </p:nvPicPr>
              <p:blipFill>
                <a:blip r:embed="rId4"/>
                <a:srcRect/>
                <a:stretch>
                  <a:fillRect/>
                </a:stretch>
              </p:blipFill>
              <p:spPr bwMode="auto">
                <a:xfrm>
                  <a:off x="3702749" y="5383030"/>
                  <a:ext cx="2265637" cy="187241"/>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pic>
              <p:nvPicPr>
                <p:cNvPr id="28" name="Picture 5"/>
                <p:cNvPicPr>
                  <a:picLocks noChangeAspect="1" noChangeArrowheads="1"/>
                </p:cNvPicPr>
                <p:nvPr/>
              </p:nvPicPr>
              <p:blipFill>
                <a:blip r:embed="rId3"/>
                <a:srcRect/>
                <a:stretch>
                  <a:fillRect/>
                </a:stretch>
              </p:blipFill>
              <p:spPr bwMode="auto">
                <a:xfrm>
                  <a:off x="6122721" y="5194834"/>
                  <a:ext cx="2264094" cy="187241"/>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pic>
              <p:nvPicPr>
                <p:cNvPr id="29" name="Picture 6"/>
                <p:cNvPicPr>
                  <a:picLocks noChangeAspect="1" noChangeArrowheads="1"/>
                </p:cNvPicPr>
                <p:nvPr/>
              </p:nvPicPr>
              <p:blipFill>
                <a:blip r:embed="rId4"/>
                <a:srcRect/>
                <a:stretch>
                  <a:fillRect/>
                </a:stretch>
              </p:blipFill>
              <p:spPr bwMode="auto">
                <a:xfrm>
                  <a:off x="6122721" y="5383030"/>
                  <a:ext cx="2265637" cy="187241"/>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grpSp>
          <p:grpSp>
            <p:nvGrpSpPr>
              <p:cNvPr id="5" name="Group 54"/>
              <p:cNvGrpSpPr/>
              <p:nvPr/>
            </p:nvGrpSpPr>
            <p:grpSpPr>
              <a:xfrm>
                <a:off x="7935721" y="4917764"/>
                <a:ext cx="589596" cy="243840"/>
                <a:chOff x="7799710" y="4630432"/>
                <a:chExt cx="556378" cy="183420"/>
              </a:xfrm>
            </p:grpSpPr>
            <p:pic>
              <p:nvPicPr>
                <p:cNvPr id="24" name="Picture 7"/>
                <p:cNvPicPr>
                  <a:picLocks noChangeAspect="1" noChangeArrowheads="1"/>
                </p:cNvPicPr>
                <p:nvPr/>
              </p:nvPicPr>
              <p:blipFill>
                <a:blip r:embed="rId5"/>
                <a:srcRect/>
                <a:stretch>
                  <a:fillRect/>
                </a:stretch>
              </p:blipFill>
              <p:spPr bwMode="auto">
                <a:xfrm>
                  <a:off x="7799710" y="4630432"/>
                  <a:ext cx="278575" cy="183420"/>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pic>
              <p:nvPicPr>
                <p:cNvPr id="25" name="Picture 8"/>
                <p:cNvPicPr>
                  <a:picLocks noChangeAspect="1" noChangeArrowheads="1"/>
                </p:cNvPicPr>
                <p:nvPr/>
              </p:nvPicPr>
              <p:blipFill>
                <a:blip r:embed="rId5"/>
                <a:srcRect/>
                <a:stretch>
                  <a:fillRect/>
                </a:stretch>
              </p:blipFill>
              <p:spPr bwMode="auto">
                <a:xfrm>
                  <a:off x="8077513" y="4630432"/>
                  <a:ext cx="278575" cy="183420"/>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grpSp>
        </p:grpSp>
        <p:sp>
          <p:nvSpPr>
            <p:cNvPr id="20" name="Rectangle 19"/>
            <p:cNvSpPr/>
            <p:nvPr/>
          </p:nvSpPr>
          <p:spPr>
            <a:xfrm>
              <a:off x="3489960" y="4836484"/>
              <a:ext cx="2837439" cy="430887"/>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lIns="0" tIns="0" rIns="0" bIns="0">
              <a:spAutoFit/>
            </a:bodyPr>
            <a:lstStyle/>
            <a:p>
              <a:pPr algn="ctr" defTabSz="914139" fontAlgn="base">
                <a:spcBef>
                  <a:spcPct val="0"/>
                </a:spcBef>
                <a:spcAft>
                  <a:spcPct val="0"/>
                </a:spcAft>
                <a:defRPr/>
              </a:pPr>
              <a:r>
                <a:rPr lang="en-US" sz="2800" b="1" noProof="1">
                  <a:solidFill>
                    <a:prstClr val="white"/>
                  </a:solidFill>
                  <a:effectLst>
                    <a:outerShdw blurRad="92075" dist="25400" dir="2700000" algn="tl" rotWithShape="0">
                      <a:srgbClr val="000000">
                        <a:alpha val="76000"/>
                      </a:srgbClr>
                    </a:outerShdw>
                  </a:effectLst>
                  <a:latin typeface="Helvetica"/>
                  <a:cs typeface="Helvetica"/>
                  <a:sym typeface="Times New Roman" charset="0"/>
                </a:rPr>
                <a:t>Ethernet Switch</a:t>
              </a:r>
            </a:p>
          </p:txBody>
        </p:sp>
      </p:grpSp>
      <p:sp>
        <p:nvSpPr>
          <p:cNvPr id="30" name="Rounded Rectangle 29"/>
          <p:cNvSpPr/>
          <p:nvPr/>
        </p:nvSpPr>
        <p:spPr>
          <a:xfrm>
            <a:off x="1219200" y="2347867"/>
            <a:ext cx="6663266" cy="81855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3200" dirty="0">
                <a:solidFill>
                  <a:srgbClr val="FFFFFF"/>
                </a:solidFill>
              </a:rPr>
              <a:t>Network OS</a:t>
            </a:r>
          </a:p>
        </p:txBody>
      </p:sp>
      <p:grpSp>
        <p:nvGrpSpPr>
          <p:cNvPr id="6" name="Group 64"/>
          <p:cNvGrpSpPr/>
          <p:nvPr/>
        </p:nvGrpSpPr>
        <p:grpSpPr>
          <a:xfrm>
            <a:off x="5655733" y="2404421"/>
            <a:ext cx="838200" cy="609600"/>
            <a:chOff x="7848600" y="1752600"/>
            <a:chExt cx="1143000" cy="838200"/>
          </a:xfrm>
          <a:solidFill>
            <a:schemeClr val="bg1"/>
          </a:solidFill>
        </p:grpSpPr>
        <p:sp>
          <p:nvSpPr>
            <p:cNvPr id="36" name="Oval 35"/>
            <p:cNvSpPr/>
            <p:nvPr/>
          </p:nvSpPr>
          <p:spPr>
            <a:xfrm>
              <a:off x="8001000" y="1981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37" name="Oval 36"/>
            <p:cNvSpPr/>
            <p:nvPr/>
          </p:nvSpPr>
          <p:spPr>
            <a:xfrm>
              <a:off x="8382000" y="17526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38" name="Oval 37"/>
            <p:cNvSpPr/>
            <p:nvPr/>
          </p:nvSpPr>
          <p:spPr>
            <a:xfrm>
              <a:off x="83820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39" name="Oval 38"/>
            <p:cNvSpPr/>
            <p:nvPr/>
          </p:nvSpPr>
          <p:spPr>
            <a:xfrm>
              <a:off x="8763000" y="20574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0" name="Oval 39"/>
            <p:cNvSpPr/>
            <p:nvPr/>
          </p:nvSpPr>
          <p:spPr>
            <a:xfrm>
              <a:off x="78486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41" name="Straight Connector 40"/>
            <p:cNvCxnSpPr>
              <a:stCxn id="36" idx="7"/>
              <a:endCxn id="37" idx="3"/>
            </p:cNvCxnSpPr>
            <p:nvPr/>
          </p:nvCxnSpPr>
          <p:spPr>
            <a:xfrm rot="5400000" flipH="1" flipV="1">
              <a:off x="8272322" y="1871522"/>
              <a:ext cx="66956" cy="2193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a:stCxn id="40" idx="0"/>
              <a:endCxn id="36" idx="3"/>
            </p:cNvCxnSpPr>
            <p:nvPr/>
          </p:nvCxnSpPr>
          <p:spPr>
            <a:xfrm rot="5400000" flipH="1" flipV="1">
              <a:off x="7905750" y="2233472"/>
              <a:ext cx="185878" cy="71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40" idx="7"/>
              <a:endCxn id="37" idx="4"/>
            </p:cNvCxnSpPr>
            <p:nvPr/>
          </p:nvCxnSpPr>
          <p:spPr>
            <a:xfrm rot="5400000" flipH="1" flipV="1">
              <a:off x="8062772" y="1962150"/>
              <a:ext cx="414478" cy="452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a:stCxn id="40" idx="5"/>
              <a:endCxn id="38" idx="3"/>
            </p:cNvCxnSpPr>
            <p:nvPr/>
          </p:nvCxnSpPr>
          <p:spPr>
            <a:xfrm rot="16200000" flipH="1">
              <a:off x="8229600" y="2371444"/>
              <a:ext cx="1588" cy="3717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Straight Connector 44"/>
            <p:cNvCxnSpPr>
              <a:stCxn id="37" idx="4"/>
              <a:endCxn id="39" idx="1"/>
            </p:cNvCxnSpPr>
            <p:nvPr/>
          </p:nvCxnSpPr>
          <p:spPr>
            <a:xfrm rot="16200000" flipH="1">
              <a:off x="8591550" y="1885950"/>
              <a:ext cx="109678" cy="3001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38" idx="6"/>
              <a:endCxn id="39" idx="3"/>
            </p:cNvCxnSpPr>
            <p:nvPr/>
          </p:nvCxnSpPr>
          <p:spPr>
            <a:xfrm flipV="1">
              <a:off x="8610600" y="2252522"/>
              <a:ext cx="185878" cy="2239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47" name="Rounded Rectangle 46"/>
          <p:cNvSpPr/>
          <p:nvPr/>
        </p:nvSpPr>
        <p:spPr>
          <a:xfrm>
            <a:off x="1905000" y="1755797"/>
            <a:ext cx="2607733"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dirty="0">
                <a:solidFill>
                  <a:srgbClr val="000000"/>
                </a:solidFill>
                <a:latin typeface="Calibri" pitchFamily="34" charset="0"/>
              </a:rPr>
              <a:t>Control Program A</a:t>
            </a:r>
          </a:p>
        </p:txBody>
      </p:sp>
      <p:sp>
        <p:nvSpPr>
          <p:cNvPr id="48" name="Rounded Rectangle 47"/>
          <p:cNvSpPr/>
          <p:nvPr/>
        </p:nvSpPr>
        <p:spPr>
          <a:xfrm>
            <a:off x="4582584" y="1752600"/>
            <a:ext cx="2520950"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a:solidFill>
                  <a:srgbClr val="000000"/>
                </a:solidFill>
                <a:latin typeface="Calibri" pitchFamily="34" charset="0"/>
              </a:rPr>
              <a:t>Control Program B</a:t>
            </a:r>
          </a:p>
        </p:txBody>
      </p:sp>
      <p:sp>
        <p:nvSpPr>
          <p:cNvPr id="48148" name="Title 31"/>
          <p:cNvSpPr>
            <a:spLocks noGrp="1"/>
          </p:cNvSpPr>
          <p:nvPr>
            <p:ph type="title"/>
          </p:nvPr>
        </p:nvSpPr>
        <p:spPr>
          <a:xfrm>
            <a:off x="457200" y="152400"/>
            <a:ext cx="8229600" cy="1143000"/>
          </a:xfrm>
        </p:spPr>
        <p:txBody>
          <a:bodyPr/>
          <a:lstStyle/>
          <a:p>
            <a:pPr eaLnBrk="1" hangingPunct="1"/>
            <a:r>
              <a:rPr lang="en-US" sz="4000"/>
              <a:t>OpenFlow Basics</a:t>
            </a:r>
          </a:p>
        </p:txBody>
      </p:sp>
      <p:sp>
        <p:nvSpPr>
          <p:cNvPr id="7" name="Slide Number Placeholder 6"/>
          <p:cNvSpPr>
            <a:spLocks noGrp="1"/>
          </p:cNvSpPr>
          <p:nvPr>
            <p:ph type="sldNum" sz="quarter" idx="12"/>
          </p:nvPr>
        </p:nvSpPr>
        <p:spPr/>
        <p:txBody>
          <a:bodyPr/>
          <a:lstStyle/>
          <a:p>
            <a:fld id="{D4DFB6AE-E188-4FF4-9BAA-A3F1C15670F2}" type="slidenum">
              <a:rPr lang="en-US" smtClean="0"/>
              <a:pPr/>
              <a:t>32</a:t>
            </a:fld>
            <a:endParaRPr lang="en-US"/>
          </a:p>
        </p:txBody>
      </p:sp>
    </p:spTree>
    <p:extLst>
      <p:ext uri="{BB962C8B-B14F-4D97-AF65-F5344CB8AC3E}">
        <p14:creationId xmlns:p14="http://schemas.microsoft.com/office/powerpoint/2010/main" val="13986043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2" fill="hold" nodeType="clickEffect">
                                  <p:stCondLst>
                                    <p:cond delay="0"/>
                                  </p:stCondLst>
                                  <p:childTnLst>
                                    <p:animEffect transition="out" filter="wipe(right)">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p:cNvCxnSpPr>
            <a:cxnSpLocks noChangeShapeType="1"/>
            <a:endCxn id="74" idx="0"/>
          </p:cNvCxnSpPr>
          <p:nvPr/>
        </p:nvCxnSpPr>
        <p:spPr bwMode="auto">
          <a:xfrm rot="5400000">
            <a:off x="3181350" y="3714750"/>
            <a:ext cx="2133600" cy="38100"/>
          </a:xfrm>
          <a:prstGeom prst="line">
            <a:avLst/>
          </a:prstGeom>
          <a:noFill/>
          <a:ln w="571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5" name="Rounded Rectangle 4"/>
          <p:cNvSpPr/>
          <p:nvPr/>
        </p:nvSpPr>
        <p:spPr>
          <a:xfrm>
            <a:off x="990600" y="1637376"/>
            <a:ext cx="2589212"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dirty="0">
                <a:solidFill>
                  <a:srgbClr val="000000"/>
                </a:solidFill>
                <a:latin typeface="Calibri" pitchFamily="34" charset="0"/>
              </a:rPr>
              <a:t>Control Program A</a:t>
            </a:r>
          </a:p>
        </p:txBody>
      </p:sp>
      <p:cxnSp>
        <p:nvCxnSpPr>
          <p:cNvPr id="44" name="Straight Connector 43"/>
          <p:cNvCxnSpPr>
            <a:cxnSpLocks noChangeShapeType="1"/>
            <a:stCxn id="34" idx="1"/>
          </p:cNvCxnSpPr>
          <p:nvPr/>
        </p:nvCxnSpPr>
        <p:spPr bwMode="auto">
          <a:xfrm rot="5400000" flipH="1" flipV="1">
            <a:off x="606425" y="4194175"/>
            <a:ext cx="1225550" cy="91440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46" name="Straight Connector 45"/>
          <p:cNvCxnSpPr>
            <a:cxnSpLocks noChangeShapeType="1"/>
          </p:cNvCxnSpPr>
          <p:nvPr/>
        </p:nvCxnSpPr>
        <p:spPr bwMode="auto">
          <a:xfrm>
            <a:off x="1981200" y="4114800"/>
            <a:ext cx="2590800" cy="190500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67" name="Rounded Rectangle 66"/>
          <p:cNvSpPr/>
          <p:nvPr/>
        </p:nvSpPr>
        <p:spPr>
          <a:xfrm>
            <a:off x="3649663" y="1634179"/>
            <a:ext cx="2520950" cy="4920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fontAlgn="base" hangingPunct="1">
              <a:spcBef>
                <a:spcPct val="0"/>
              </a:spcBef>
              <a:spcAft>
                <a:spcPct val="0"/>
              </a:spcAft>
            </a:pPr>
            <a:r>
              <a:rPr lang="en-US">
                <a:solidFill>
                  <a:srgbClr val="000000"/>
                </a:solidFill>
                <a:latin typeface="Calibri" pitchFamily="34" charset="0"/>
              </a:rPr>
              <a:t>Control Program B</a:t>
            </a:r>
          </a:p>
        </p:txBody>
      </p:sp>
      <p:cxnSp>
        <p:nvCxnSpPr>
          <p:cNvPr id="70" name="Straight Connector 69"/>
          <p:cNvCxnSpPr>
            <a:cxnSpLocks noChangeShapeType="1"/>
          </p:cNvCxnSpPr>
          <p:nvPr/>
        </p:nvCxnSpPr>
        <p:spPr bwMode="auto">
          <a:xfrm rot="16200000" flipH="1">
            <a:off x="-988219" y="4034632"/>
            <a:ext cx="2776537" cy="0"/>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1" name="Straight Connector 70"/>
          <p:cNvCxnSpPr>
            <a:cxnSpLocks noChangeShapeType="1"/>
          </p:cNvCxnSpPr>
          <p:nvPr/>
        </p:nvCxnSpPr>
        <p:spPr bwMode="auto">
          <a:xfrm rot="5400000">
            <a:off x="1258887" y="3236913"/>
            <a:ext cx="989013" cy="1588"/>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cxnSp>
        <p:nvCxnSpPr>
          <p:cNvPr id="73" name="Straight Connector 72"/>
          <p:cNvCxnSpPr>
            <a:cxnSpLocks noChangeShapeType="1"/>
            <a:endCxn id="37" idx="1"/>
          </p:cNvCxnSpPr>
          <p:nvPr/>
        </p:nvCxnSpPr>
        <p:spPr bwMode="auto">
          <a:xfrm rot="5400000">
            <a:off x="3505201" y="4114800"/>
            <a:ext cx="3048000" cy="3175"/>
          </a:xfrm>
          <a:prstGeom prst="line">
            <a:avLst/>
          </a:prstGeom>
          <a:noFill/>
          <a:ln w="25400">
            <a:solidFill>
              <a:schemeClr val="accent1"/>
            </a:solidFill>
            <a:prstDash val="dot"/>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noFill/>
              </a14:hiddenFill>
            </a:ext>
          </a:extLst>
        </p:spPr>
      </p:cxnSp>
      <p:sp>
        <p:nvSpPr>
          <p:cNvPr id="79" name="Rounded Rectangle 78"/>
          <p:cNvSpPr/>
          <p:nvPr/>
        </p:nvSpPr>
        <p:spPr>
          <a:xfrm>
            <a:off x="286279" y="2229446"/>
            <a:ext cx="6663266" cy="81855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3200" dirty="0">
                <a:solidFill>
                  <a:srgbClr val="FFFFFF"/>
                </a:solidFill>
              </a:rPr>
              <a:t>Network OS</a:t>
            </a:r>
          </a:p>
        </p:txBody>
      </p:sp>
      <p:sp>
        <p:nvSpPr>
          <p:cNvPr id="50193" name="Title 31"/>
          <p:cNvSpPr>
            <a:spLocks noGrp="1"/>
          </p:cNvSpPr>
          <p:nvPr>
            <p:ph type="title"/>
          </p:nvPr>
        </p:nvSpPr>
        <p:spPr>
          <a:xfrm>
            <a:off x="457200" y="152400"/>
            <a:ext cx="8229600" cy="1143000"/>
          </a:xfrm>
        </p:spPr>
        <p:txBody>
          <a:bodyPr/>
          <a:lstStyle/>
          <a:p>
            <a:pPr eaLnBrk="1" hangingPunct="1"/>
            <a:r>
              <a:rPr lang="en-US" sz="4000"/>
              <a:t>OpenFlow Basics</a:t>
            </a:r>
          </a:p>
        </p:txBody>
      </p:sp>
      <p:sp>
        <p:nvSpPr>
          <p:cNvPr id="34" name="AutoShape 7"/>
          <p:cNvSpPr>
            <a:spLocks noChangeArrowheads="1"/>
          </p:cNvSpPr>
          <p:nvPr/>
        </p:nvSpPr>
        <p:spPr bwMode="auto">
          <a:xfrm>
            <a:off x="76200" y="526415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6" name="AutoShape 7"/>
          <p:cNvSpPr>
            <a:spLocks noChangeArrowheads="1"/>
          </p:cNvSpPr>
          <p:nvPr/>
        </p:nvSpPr>
        <p:spPr bwMode="auto">
          <a:xfrm>
            <a:off x="1066800" y="358140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sp>
        <p:nvSpPr>
          <p:cNvPr id="37" name="AutoShape 7"/>
          <p:cNvSpPr>
            <a:spLocks noChangeArrowheads="1"/>
          </p:cNvSpPr>
          <p:nvPr/>
        </p:nvSpPr>
        <p:spPr bwMode="auto">
          <a:xfrm>
            <a:off x="4343400" y="5638800"/>
            <a:ext cx="1371600" cy="762000"/>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p>
            <a:pPr algn="ctr" fontAlgn="base">
              <a:spcBef>
                <a:spcPct val="0"/>
              </a:spcBef>
              <a:spcAft>
                <a:spcPct val="0"/>
              </a:spcAft>
            </a:pPr>
            <a:r>
              <a:rPr lang="en-US">
                <a:solidFill>
                  <a:prstClr val="white"/>
                </a:solidFill>
                <a:ea typeface="MS PGothic" pitchFamily="34" charset="-128"/>
              </a:rPr>
              <a:t>Packet</a:t>
            </a:r>
          </a:p>
          <a:p>
            <a:pPr algn="ctr" fontAlgn="base">
              <a:spcBef>
                <a:spcPct val="0"/>
              </a:spcBef>
              <a:spcAft>
                <a:spcPct val="0"/>
              </a:spcAft>
            </a:pPr>
            <a:r>
              <a:rPr lang="en-US">
                <a:solidFill>
                  <a:prstClr val="white"/>
                </a:solidFill>
                <a:ea typeface="MS PGothic" pitchFamily="34" charset="-128"/>
              </a:rPr>
              <a:t>Forwarding </a:t>
            </a:r>
          </a:p>
          <a:p>
            <a:pPr algn="ctr" fontAlgn="base">
              <a:spcBef>
                <a:spcPct val="0"/>
              </a:spcBef>
              <a:spcAft>
                <a:spcPct val="0"/>
              </a:spcAft>
            </a:pPr>
            <a:endParaRPr lang="en-US">
              <a:solidFill>
                <a:prstClr val="white"/>
              </a:solidFill>
              <a:ea typeface="MS PGothic" pitchFamily="34" charset="-128"/>
            </a:endParaRPr>
          </a:p>
        </p:txBody>
      </p:sp>
      <p:grpSp>
        <p:nvGrpSpPr>
          <p:cNvPr id="2" name="Group 64"/>
          <p:cNvGrpSpPr/>
          <p:nvPr/>
        </p:nvGrpSpPr>
        <p:grpSpPr>
          <a:xfrm>
            <a:off x="4722812" y="2286000"/>
            <a:ext cx="838200" cy="609600"/>
            <a:chOff x="7848600" y="1752600"/>
            <a:chExt cx="1143000" cy="838200"/>
          </a:xfrm>
          <a:solidFill>
            <a:schemeClr val="bg1"/>
          </a:solidFill>
        </p:grpSpPr>
        <p:sp>
          <p:nvSpPr>
            <p:cNvPr id="33" name="Oval 32"/>
            <p:cNvSpPr/>
            <p:nvPr/>
          </p:nvSpPr>
          <p:spPr>
            <a:xfrm>
              <a:off x="8001000" y="1981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0" name="Oval 39"/>
            <p:cNvSpPr/>
            <p:nvPr/>
          </p:nvSpPr>
          <p:spPr>
            <a:xfrm>
              <a:off x="8382000" y="17526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1" name="Oval 40"/>
            <p:cNvSpPr/>
            <p:nvPr/>
          </p:nvSpPr>
          <p:spPr>
            <a:xfrm>
              <a:off x="83820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2" name="Oval 41"/>
            <p:cNvSpPr/>
            <p:nvPr/>
          </p:nvSpPr>
          <p:spPr>
            <a:xfrm>
              <a:off x="8763000" y="20574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43" name="Oval 42"/>
            <p:cNvSpPr/>
            <p:nvPr/>
          </p:nvSpPr>
          <p:spPr>
            <a:xfrm>
              <a:off x="7848600" y="2362200"/>
              <a:ext cx="228600" cy="228600"/>
            </a:xfrm>
            <a:prstGeom prst="ellipse">
              <a:avLst/>
            </a:prstGeom>
            <a:grp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47" name="Straight Connector 46"/>
            <p:cNvCxnSpPr>
              <a:stCxn id="33" idx="7"/>
              <a:endCxn id="40" idx="3"/>
            </p:cNvCxnSpPr>
            <p:nvPr/>
          </p:nvCxnSpPr>
          <p:spPr>
            <a:xfrm rot="5400000" flipH="1" flipV="1">
              <a:off x="8272322" y="1871522"/>
              <a:ext cx="66956" cy="2193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3" idx="0"/>
              <a:endCxn id="33" idx="3"/>
            </p:cNvCxnSpPr>
            <p:nvPr/>
          </p:nvCxnSpPr>
          <p:spPr>
            <a:xfrm rot="5400000" flipH="1" flipV="1">
              <a:off x="7905750" y="2233472"/>
              <a:ext cx="185878" cy="71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3" idx="7"/>
              <a:endCxn id="40" idx="4"/>
            </p:cNvCxnSpPr>
            <p:nvPr/>
          </p:nvCxnSpPr>
          <p:spPr>
            <a:xfrm rot="5400000" flipH="1" flipV="1">
              <a:off x="8062772" y="1962150"/>
              <a:ext cx="414478" cy="452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3" idx="5"/>
              <a:endCxn id="41" idx="3"/>
            </p:cNvCxnSpPr>
            <p:nvPr/>
          </p:nvCxnSpPr>
          <p:spPr>
            <a:xfrm rot="16200000" flipH="1">
              <a:off x="8229600" y="2371444"/>
              <a:ext cx="1588" cy="3717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40" idx="4"/>
              <a:endCxn id="42" idx="1"/>
            </p:cNvCxnSpPr>
            <p:nvPr/>
          </p:nvCxnSpPr>
          <p:spPr>
            <a:xfrm rot="16200000" flipH="1">
              <a:off x="8591550" y="1885950"/>
              <a:ext cx="109678" cy="3001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1" idx="6"/>
              <a:endCxn id="42" idx="3"/>
            </p:cNvCxnSpPr>
            <p:nvPr/>
          </p:nvCxnSpPr>
          <p:spPr>
            <a:xfrm flipV="1">
              <a:off x="8610600" y="2252522"/>
              <a:ext cx="185878" cy="2239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74" name="Rectangle 73"/>
          <p:cNvSpPr>
            <a:spLocks noChangeArrowheads="1"/>
          </p:cNvSpPr>
          <p:nvPr/>
        </p:nvSpPr>
        <p:spPr bwMode="auto">
          <a:xfrm>
            <a:off x="3733800" y="4800600"/>
            <a:ext cx="990600" cy="1143000"/>
          </a:xfrm>
          <a:prstGeom prst="rect">
            <a:avLst/>
          </a:prstGeom>
          <a:gradFill rotWithShape="1">
            <a:gsLst>
              <a:gs pos="0">
                <a:srgbClr val="E6B9B8"/>
              </a:gs>
              <a:gs pos="100000">
                <a:srgbClr val="953735"/>
              </a:gs>
            </a:gsLst>
            <a:lin ang="5400000"/>
          </a:gradFill>
          <a:ln>
            <a:noFill/>
          </a:ln>
          <a:effectLst>
            <a:outerShdw blurRad="40000" dist="23000" dir="5400000" rotWithShape="0">
              <a:srgbClr val="808080">
                <a:alpha val="34999"/>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fontAlgn="base">
              <a:spcBef>
                <a:spcPct val="0"/>
              </a:spcBef>
              <a:spcAft>
                <a:spcPct val="0"/>
              </a:spcAft>
            </a:pPr>
            <a:r>
              <a:rPr lang="en-US">
                <a:solidFill>
                  <a:prstClr val="black"/>
                </a:solidFill>
                <a:ea typeface="MS PGothic" pitchFamily="34" charset="-128"/>
              </a:rPr>
              <a:t>Flow</a:t>
            </a:r>
          </a:p>
          <a:p>
            <a:pPr algn="ctr" fontAlgn="base">
              <a:spcBef>
                <a:spcPct val="0"/>
              </a:spcBef>
              <a:spcAft>
                <a:spcPct val="0"/>
              </a:spcAft>
            </a:pPr>
            <a:r>
              <a:rPr lang="en-US">
                <a:solidFill>
                  <a:prstClr val="black"/>
                </a:solidFill>
                <a:ea typeface="MS PGothic" pitchFamily="34" charset="-128"/>
              </a:rPr>
              <a:t>Table(s)</a:t>
            </a:r>
          </a:p>
        </p:txBody>
      </p:sp>
      <p:sp>
        <p:nvSpPr>
          <p:cNvPr id="32" name="TextBox 31"/>
          <p:cNvSpPr txBox="1">
            <a:spLocks noChangeArrowheads="1"/>
          </p:cNvSpPr>
          <p:nvPr/>
        </p:nvSpPr>
        <p:spPr bwMode="auto">
          <a:xfrm>
            <a:off x="4338638" y="3124200"/>
            <a:ext cx="3198812" cy="400050"/>
          </a:xfrm>
          <a:prstGeom prst="rect">
            <a:avLst/>
          </a:prstGeom>
          <a:solidFill>
            <a:schemeClr val="bg1">
              <a:alpha val="47058"/>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800">
                <a:solidFill>
                  <a:prstClr val="black"/>
                </a:solidFill>
              </a:rPr>
              <a:t>“If header = </a:t>
            </a:r>
            <a:r>
              <a:rPr lang="en-US" sz="2000" b="1" i="1">
                <a:solidFill>
                  <a:srgbClr val="FF0000"/>
                </a:solidFill>
              </a:rPr>
              <a:t>p</a:t>
            </a:r>
            <a:r>
              <a:rPr lang="en-US" sz="1800">
                <a:solidFill>
                  <a:prstClr val="black"/>
                </a:solidFill>
              </a:rPr>
              <a:t>, send to port 4”</a:t>
            </a:r>
          </a:p>
        </p:txBody>
      </p:sp>
      <p:sp>
        <p:nvSpPr>
          <p:cNvPr id="39" name="TextBox 38"/>
          <p:cNvSpPr txBox="1">
            <a:spLocks noChangeArrowheads="1"/>
          </p:cNvSpPr>
          <p:nvPr/>
        </p:nvSpPr>
        <p:spPr bwMode="auto">
          <a:xfrm>
            <a:off x="4337050" y="4114800"/>
            <a:ext cx="2941638" cy="400050"/>
          </a:xfrm>
          <a:prstGeom prst="rect">
            <a:avLst/>
          </a:prstGeom>
          <a:solidFill>
            <a:schemeClr val="bg1">
              <a:alpha val="47058"/>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800">
                <a:solidFill>
                  <a:prstClr val="black"/>
                </a:solidFill>
              </a:rPr>
              <a:t>“If header = </a:t>
            </a:r>
            <a:r>
              <a:rPr lang="en-US" sz="2000" b="1">
                <a:solidFill>
                  <a:srgbClr val="FF0000"/>
                </a:solidFill>
              </a:rPr>
              <a:t>?</a:t>
            </a:r>
            <a:r>
              <a:rPr lang="en-US" sz="1800">
                <a:solidFill>
                  <a:prstClr val="black"/>
                </a:solidFill>
              </a:rPr>
              <a:t>, send to me”</a:t>
            </a:r>
          </a:p>
        </p:txBody>
      </p:sp>
      <p:sp>
        <p:nvSpPr>
          <p:cNvPr id="45" name="TextBox 44"/>
          <p:cNvSpPr txBox="1">
            <a:spLocks noChangeArrowheads="1"/>
          </p:cNvSpPr>
          <p:nvPr/>
        </p:nvSpPr>
        <p:spPr bwMode="auto">
          <a:xfrm>
            <a:off x="4337050" y="3486150"/>
            <a:ext cx="4141788" cy="708025"/>
          </a:xfrm>
          <a:prstGeom prst="rect">
            <a:avLst/>
          </a:prstGeom>
          <a:solidFill>
            <a:schemeClr val="bg1">
              <a:alpha val="47058"/>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fontAlgn="base" hangingPunct="1">
              <a:spcBef>
                <a:spcPct val="0"/>
              </a:spcBef>
              <a:spcAft>
                <a:spcPct val="0"/>
              </a:spcAft>
            </a:pPr>
            <a:r>
              <a:rPr lang="en-US" sz="1800">
                <a:solidFill>
                  <a:prstClr val="black"/>
                </a:solidFill>
              </a:rPr>
              <a:t>“If header =</a:t>
            </a:r>
            <a:r>
              <a:rPr lang="en-US" sz="1800">
                <a:solidFill>
                  <a:srgbClr val="FF0000"/>
                </a:solidFill>
              </a:rPr>
              <a:t> </a:t>
            </a:r>
            <a:r>
              <a:rPr lang="en-US" sz="2000" b="1" i="1">
                <a:solidFill>
                  <a:srgbClr val="FF0000"/>
                </a:solidFill>
              </a:rPr>
              <a:t>q</a:t>
            </a:r>
            <a:r>
              <a:rPr lang="en-US" sz="1800">
                <a:solidFill>
                  <a:prstClr val="black"/>
                </a:solidFill>
              </a:rPr>
              <a:t>, overwrite header with </a:t>
            </a:r>
            <a:r>
              <a:rPr lang="en-US" sz="2000" b="1" i="1">
                <a:solidFill>
                  <a:srgbClr val="FF0000"/>
                </a:solidFill>
              </a:rPr>
              <a:t>r</a:t>
            </a:r>
            <a:r>
              <a:rPr lang="en-US" sz="1800">
                <a:solidFill>
                  <a:prstClr val="black"/>
                </a:solidFill>
              </a:rPr>
              <a:t>, </a:t>
            </a:r>
            <a:br>
              <a:rPr lang="en-US" sz="1800">
                <a:solidFill>
                  <a:prstClr val="black"/>
                </a:solidFill>
              </a:rPr>
            </a:br>
            <a:r>
              <a:rPr lang="en-US" sz="1800">
                <a:solidFill>
                  <a:prstClr val="black"/>
                </a:solidFill>
              </a:rPr>
              <a:t>   add header </a:t>
            </a:r>
            <a:r>
              <a:rPr lang="en-US" sz="2000" b="1" i="1">
                <a:solidFill>
                  <a:srgbClr val="FF0000"/>
                </a:solidFill>
              </a:rPr>
              <a:t>s</a:t>
            </a:r>
            <a:r>
              <a:rPr lang="en-US" sz="1800">
                <a:solidFill>
                  <a:prstClr val="black"/>
                </a:solidFill>
              </a:rPr>
              <a:t>, and send to ports 5,6”</a:t>
            </a:r>
          </a:p>
        </p:txBody>
      </p:sp>
      <p:sp>
        <p:nvSpPr>
          <p:cNvPr id="3" name="Slide Number Placeholder 2"/>
          <p:cNvSpPr>
            <a:spLocks noGrp="1"/>
          </p:cNvSpPr>
          <p:nvPr>
            <p:ph type="sldNum" sz="quarter" idx="12"/>
          </p:nvPr>
        </p:nvSpPr>
        <p:spPr/>
        <p:txBody>
          <a:bodyPr/>
          <a:lstStyle/>
          <a:p>
            <a:fld id="{04529084-4064-4451-BE5E-7031AAB6E503}" type="slidenum">
              <a:rPr lang="en-US" smtClean="0"/>
              <a:pPr/>
              <a:t>33</a:t>
            </a:fld>
            <a:endParaRPr lang="en-US"/>
          </a:p>
        </p:txBody>
      </p:sp>
    </p:spTree>
    <p:extLst>
      <p:ext uri="{BB962C8B-B14F-4D97-AF65-F5344CB8AC3E}">
        <p14:creationId xmlns:p14="http://schemas.microsoft.com/office/powerpoint/2010/main" val="1849008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wipe(up)">
                                      <p:cBhvr>
                                        <p:cTn id="11" dur="500"/>
                                        <p:tgtEl>
                                          <p:spTgt spid="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32"/>
                                        </p:tgtEl>
                                        <p:attrNameLst>
                                          <p:attrName>style.visibility</p:attrName>
                                        </p:attrNameLst>
                                      </p:cBhvr>
                                      <p:to>
                                        <p:strVal val="visible"/>
                                      </p:to>
                                    </p:set>
                                    <p:anim calcmode="discrete" valueType="clr">
                                      <p:cBhvr override="childStyle">
                                        <p:cTn id="16" dur="80"/>
                                        <p:tgtEl>
                                          <p:spTgt spid="32"/>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32"/>
                                        </p:tgtEl>
                                        <p:attrNameLst>
                                          <p:attrName>fillcolor</p:attrName>
                                        </p:attrNameLst>
                                      </p:cBhvr>
                                      <p:tavLst>
                                        <p:tav tm="0">
                                          <p:val>
                                            <p:clrVal>
                                              <a:schemeClr val="accent2"/>
                                            </p:clrVal>
                                          </p:val>
                                        </p:tav>
                                        <p:tav tm="50000">
                                          <p:val>
                                            <p:clrVal>
                                              <a:schemeClr val="hlink"/>
                                            </p:clrVal>
                                          </p:val>
                                        </p:tav>
                                      </p:tavLst>
                                    </p:anim>
                                    <p:set>
                                      <p:cBhvr>
                                        <p:cTn id="18" dur="80"/>
                                        <p:tgtEl>
                                          <p:spTgt spid="32"/>
                                        </p:tgtEl>
                                        <p:attrNameLst>
                                          <p:attrName>fill.type</p:attrName>
                                        </p:attrNameLst>
                                      </p:cBhvr>
                                      <p:to>
                                        <p:strVal val="solid"/>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45"/>
                                        </p:tgtEl>
                                        <p:attrNameLst>
                                          <p:attrName>style.visibility</p:attrName>
                                        </p:attrNameLst>
                                      </p:cBhvr>
                                      <p:to>
                                        <p:strVal val="visible"/>
                                      </p:to>
                                    </p:set>
                                    <p:anim calcmode="discrete" valueType="clr">
                                      <p:cBhvr override="childStyle">
                                        <p:cTn id="23" dur="80"/>
                                        <p:tgtEl>
                                          <p:spTgt spid="45"/>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45"/>
                                        </p:tgtEl>
                                        <p:attrNameLst>
                                          <p:attrName>fillcolor</p:attrName>
                                        </p:attrNameLst>
                                      </p:cBhvr>
                                      <p:tavLst>
                                        <p:tav tm="0">
                                          <p:val>
                                            <p:clrVal>
                                              <a:schemeClr val="accent2"/>
                                            </p:clrVal>
                                          </p:val>
                                        </p:tav>
                                        <p:tav tm="50000">
                                          <p:val>
                                            <p:clrVal>
                                              <a:schemeClr val="hlink"/>
                                            </p:clrVal>
                                          </p:val>
                                        </p:tav>
                                      </p:tavLst>
                                    </p:anim>
                                    <p:set>
                                      <p:cBhvr>
                                        <p:cTn id="25" dur="80"/>
                                        <p:tgtEl>
                                          <p:spTgt spid="45"/>
                                        </p:tgtEl>
                                        <p:attrNameLst>
                                          <p:attrName>fill.type</p:attrName>
                                        </p:attrNameLst>
                                      </p:cBhvr>
                                      <p:to>
                                        <p:strVal val="solid"/>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7" presetClass="entr" presetSubtype="0" fill="hold" grpId="0" nodeType="clickEffect">
                                  <p:stCondLst>
                                    <p:cond delay="0"/>
                                  </p:stCondLst>
                                  <p:iterate type="lt">
                                    <p:tmPct val="50000"/>
                                  </p:iterate>
                                  <p:childTnLst>
                                    <p:set>
                                      <p:cBhvr>
                                        <p:cTn id="29" dur="1" fill="hold">
                                          <p:stCondLst>
                                            <p:cond delay="0"/>
                                          </p:stCondLst>
                                        </p:cTn>
                                        <p:tgtEl>
                                          <p:spTgt spid="39"/>
                                        </p:tgtEl>
                                        <p:attrNameLst>
                                          <p:attrName>style.visibility</p:attrName>
                                        </p:attrNameLst>
                                      </p:cBhvr>
                                      <p:to>
                                        <p:strVal val="visible"/>
                                      </p:to>
                                    </p:set>
                                    <p:anim calcmode="discrete" valueType="clr">
                                      <p:cBhvr override="childStyle">
                                        <p:cTn id="30" dur="80"/>
                                        <p:tgtEl>
                                          <p:spTgt spid="39"/>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39"/>
                                        </p:tgtEl>
                                        <p:attrNameLst>
                                          <p:attrName>fillcolor</p:attrName>
                                        </p:attrNameLst>
                                      </p:cBhvr>
                                      <p:tavLst>
                                        <p:tav tm="0">
                                          <p:val>
                                            <p:clrVal>
                                              <a:schemeClr val="accent2"/>
                                            </p:clrVal>
                                          </p:val>
                                        </p:tav>
                                        <p:tav tm="50000">
                                          <p:val>
                                            <p:clrVal>
                                              <a:schemeClr val="hlink"/>
                                            </p:clrVal>
                                          </p:val>
                                        </p:tav>
                                      </p:tavLst>
                                    </p:anim>
                                    <p:set>
                                      <p:cBhvr>
                                        <p:cTn id="32" dur="80"/>
                                        <p:tgtEl>
                                          <p:spTgt spid="3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32" grpId="0" animBg="1"/>
      <p:bldP spid="39" grpId="0" animBg="1"/>
      <p:bldP spid="4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t>Plumbing Primitives</a:t>
            </a:r>
            <a:br>
              <a:rPr lang="en-US"/>
            </a:br>
            <a:r>
              <a:rPr lang="en-US" sz="3600">
                <a:solidFill>
                  <a:srgbClr val="1F497D"/>
                </a:solidFill>
              </a:rPr>
              <a:t>&lt;</a:t>
            </a:r>
            <a:r>
              <a:rPr lang="en-US" sz="3600" i="1">
                <a:solidFill>
                  <a:srgbClr val="1F497D"/>
                </a:solidFill>
              </a:rPr>
              <a:t>Match</a:t>
            </a:r>
            <a:r>
              <a:rPr lang="en-US" sz="3600">
                <a:solidFill>
                  <a:srgbClr val="1F497D"/>
                </a:solidFill>
              </a:rPr>
              <a:t>, </a:t>
            </a:r>
            <a:r>
              <a:rPr lang="en-US" sz="3600" i="1">
                <a:solidFill>
                  <a:srgbClr val="1F497D"/>
                </a:solidFill>
              </a:rPr>
              <a:t>Action</a:t>
            </a:r>
            <a:r>
              <a:rPr lang="en-US" sz="3600">
                <a:solidFill>
                  <a:srgbClr val="1F497D"/>
                </a:solidFill>
              </a:rPr>
              <a:t>&gt;</a:t>
            </a:r>
            <a:endParaRPr lang="en-US">
              <a:solidFill>
                <a:srgbClr val="1F497D"/>
              </a:solidFill>
            </a:endParaRPr>
          </a:p>
        </p:txBody>
      </p:sp>
      <p:sp>
        <p:nvSpPr>
          <p:cNvPr id="44035" name="Content Placeholder 2"/>
          <p:cNvSpPr>
            <a:spLocks noGrp="1"/>
          </p:cNvSpPr>
          <p:nvPr>
            <p:ph idx="1"/>
          </p:nvPr>
        </p:nvSpPr>
        <p:spPr/>
        <p:txBody>
          <a:bodyPr/>
          <a:lstStyle/>
          <a:p>
            <a:pPr marL="514350" indent="-514350">
              <a:buFont typeface="Arial" charset="0"/>
              <a:buNone/>
              <a:defRPr/>
            </a:pPr>
            <a:r>
              <a:rPr lang="en-US" b="1" i="1" dirty="0">
                <a:solidFill>
                  <a:srgbClr val="1F497D"/>
                </a:solidFill>
                <a:latin typeface="+mj-lt"/>
                <a:ea typeface="ＭＳ Ｐゴシック" charset="-128"/>
                <a:cs typeface="ＭＳ Ｐゴシック" charset="-128"/>
              </a:rPr>
              <a:t>Match</a:t>
            </a:r>
            <a:r>
              <a:rPr lang="en-US" b="1" dirty="0">
                <a:latin typeface="+mj-lt"/>
                <a:ea typeface="ＭＳ Ｐゴシック" charset="-128"/>
                <a:cs typeface="ＭＳ Ｐゴシック" charset="-128"/>
              </a:rPr>
              <a:t> </a:t>
            </a:r>
            <a:r>
              <a:rPr lang="en-US" dirty="0">
                <a:latin typeface="+mj-lt"/>
                <a:ea typeface="ＭＳ Ｐゴシック" charset="-128"/>
                <a:cs typeface="ＭＳ Ｐゴシック" charset="-128"/>
              </a:rPr>
              <a:t>arbitrary bits in headers:</a:t>
            </a:r>
          </a:p>
          <a:p>
            <a:pPr marL="514350" indent="-514350">
              <a:buFont typeface="Arial" charset="0"/>
              <a:buAutoNum type="arabicPeriod"/>
              <a:defRPr/>
            </a:pPr>
            <a:endParaRPr lang="en-US" dirty="0">
              <a:latin typeface="+mj-lt"/>
              <a:ea typeface="ＭＳ Ｐゴシック" charset="-128"/>
              <a:cs typeface="ＭＳ Ｐゴシック" charset="-128"/>
            </a:endParaRPr>
          </a:p>
          <a:p>
            <a:pPr marL="514350" indent="-514350">
              <a:buFont typeface="Arial" charset="0"/>
              <a:buAutoNum type="arabicPeriod"/>
              <a:defRPr/>
            </a:pPr>
            <a:endParaRPr lang="en-US" dirty="0">
              <a:latin typeface="+mj-lt"/>
              <a:ea typeface="ＭＳ Ｐゴシック" charset="-128"/>
              <a:cs typeface="ＭＳ Ｐゴシック" charset="-128"/>
            </a:endParaRPr>
          </a:p>
          <a:p>
            <a:pPr marL="796925" lvl="1" indent="-396875">
              <a:buFont typeface="Arial" charset="0"/>
              <a:buChar char="–"/>
              <a:defRPr/>
            </a:pPr>
            <a:r>
              <a:rPr lang="en-US" dirty="0">
                <a:latin typeface="+mj-lt"/>
                <a:ea typeface="ＭＳ Ｐゴシック" charset="-128"/>
                <a:cs typeface="ＭＳ Ｐゴシック" charset="-128"/>
              </a:rPr>
              <a:t>Match on any header, or new header</a:t>
            </a:r>
          </a:p>
          <a:p>
            <a:pPr marL="796925" lvl="1" indent="-396875">
              <a:buFont typeface="Arial" charset="0"/>
              <a:buChar char="–"/>
              <a:defRPr/>
            </a:pPr>
            <a:r>
              <a:rPr lang="en-US" dirty="0">
                <a:latin typeface="+mj-lt"/>
                <a:ea typeface="ＭＳ Ｐゴシック" charset="-128"/>
                <a:cs typeface="ＭＳ Ｐゴシック" charset="-128"/>
              </a:rPr>
              <a:t>Allows ‘any’ flow granularity</a:t>
            </a:r>
          </a:p>
          <a:p>
            <a:pPr marL="514350" indent="-514350">
              <a:buFont typeface="Arial" charset="0"/>
              <a:buNone/>
              <a:defRPr/>
            </a:pPr>
            <a:r>
              <a:rPr lang="en-US" b="1" i="1" dirty="0">
                <a:solidFill>
                  <a:srgbClr val="1F497D"/>
                </a:solidFill>
                <a:latin typeface="+mj-lt"/>
                <a:ea typeface="ＭＳ Ｐゴシック" charset="-128"/>
                <a:cs typeface="ＭＳ Ｐゴシック" charset="-128"/>
              </a:rPr>
              <a:t>Action</a:t>
            </a:r>
          </a:p>
          <a:p>
            <a:pPr marL="796925" lvl="1" indent="-396875">
              <a:buFont typeface="Arial" charset="0"/>
              <a:buChar char="–"/>
              <a:defRPr/>
            </a:pPr>
            <a:r>
              <a:rPr lang="en-US" dirty="0">
                <a:latin typeface="+mj-lt"/>
                <a:ea typeface="ＭＳ Ｐゴシック" charset="-128"/>
                <a:cs typeface="ＭＳ Ｐゴシック" charset="-128"/>
              </a:rPr>
              <a:t>Forward to </a:t>
            </a:r>
            <a:r>
              <a:rPr lang="en-US" dirty="0" err="1">
                <a:latin typeface="+mj-lt"/>
                <a:ea typeface="ＭＳ Ｐゴシック" charset="-128"/>
                <a:cs typeface="ＭＳ Ｐゴシック" charset="-128"/>
              </a:rPr>
              <a:t>port(s</a:t>
            </a:r>
            <a:r>
              <a:rPr lang="en-US" dirty="0">
                <a:latin typeface="+mj-lt"/>
                <a:ea typeface="ＭＳ Ｐゴシック" charset="-128"/>
                <a:cs typeface="ＭＳ Ｐゴシック" charset="-128"/>
              </a:rPr>
              <a:t>), drop, send to controller</a:t>
            </a:r>
          </a:p>
          <a:p>
            <a:pPr marL="796925" lvl="1" indent="-396875">
              <a:buFont typeface="Arial" charset="0"/>
              <a:buChar char="–"/>
              <a:defRPr/>
            </a:pPr>
            <a:r>
              <a:rPr lang="en-US" dirty="0">
                <a:latin typeface="+mj-lt"/>
                <a:ea typeface="ＭＳ Ｐゴシック" charset="-128"/>
                <a:cs typeface="ＭＳ Ｐゴシック" charset="-128"/>
              </a:rPr>
              <a:t>Overwrite header with mask, push or pop</a:t>
            </a:r>
          </a:p>
          <a:p>
            <a:pPr marL="796925" lvl="1" indent="-396875">
              <a:buFont typeface="Arial" charset="0"/>
              <a:buChar char="–"/>
              <a:defRPr/>
            </a:pPr>
            <a:r>
              <a:rPr lang="en-US" dirty="0">
                <a:latin typeface="+mj-lt"/>
                <a:ea typeface="ＭＳ Ｐゴシック" charset="-128"/>
                <a:cs typeface="ＭＳ Ｐゴシック" charset="-128"/>
              </a:rPr>
              <a:t>Forward at specific bit-rate</a:t>
            </a:r>
          </a:p>
          <a:p>
            <a:pPr marL="914400" lvl="1" indent="-514350">
              <a:buFont typeface="+mj-lt"/>
              <a:buAutoNum type="arabicPeriod"/>
              <a:defRPr/>
            </a:pPr>
            <a:endParaRPr lang="en-US" dirty="0">
              <a:latin typeface="+mj-lt"/>
              <a:ea typeface="ＭＳ Ｐゴシック" charset="-128"/>
              <a:cs typeface="ＭＳ Ｐゴシック" charset="-128"/>
            </a:endParaRPr>
          </a:p>
          <a:p>
            <a:pPr marL="914400" lvl="1" indent="-514350">
              <a:buFont typeface="Arial" charset="0"/>
              <a:buChar char="–"/>
              <a:defRPr/>
            </a:pPr>
            <a:endParaRPr lang="en-US" dirty="0">
              <a:latin typeface="+mj-lt"/>
              <a:ea typeface="ＭＳ Ｐゴシック" charset="-128"/>
              <a:cs typeface="ＭＳ Ｐゴシック" charset="-128"/>
            </a:endParaRPr>
          </a:p>
          <a:p>
            <a:pPr>
              <a:buFont typeface="Arial" charset="0"/>
              <a:buNone/>
              <a:defRPr/>
            </a:pPr>
            <a:endParaRPr lang="en-US" dirty="0">
              <a:latin typeface="+mj-lt"/>
              <a:ea typeface="ＭＳ Ｐゴシック" charset="-128"/>
              <a:cs typeface="ＭＳ Ｐゴシック" charset="-128"/>
            </a:endParaRPr>
          </a:p>
          <a:p>
            <a:pPr>
              <a:buFont typeface="Arial" charset="0"/>
              <a:buNone/>
              <a:defRPr/>
            </a:pPr>
            <a:endParaRPr lang="en-US" dirty="0">
              <a:latin typeface="+mj-lt"/>
              <a:ea typeface="ＭＳ Ｐゴシック" charset="-128"/>
              <a:cs typeface="ＭＳ Ｐゴシック" charset="-128"/>
            </a:endParaRPr>
          </a:p>
          <a:p>
            <a:pPr>
              <a:buFont typeface="Arial" charset="0"/>
              <a:buNone/>
              <a:defRPr/>
            </a:pPr>
            <a:r>
              <a:rPr lang="en-US" sz="2400" dirty="0">
                <a:latin typeface="+mj-lt"/>
                <a:ea typeface="ＭＳ Ｐゴシック" charset="-128"/>
                <a:cs typeface="ＭＳ Ｐゴシック" charset="-128"/>
              </a:rPr>
              <a:t>										</a:t>
            </a:r>
          </a:p>
        </p:txBody>
      </p:sp>
      <p:sp>
        <p:nvSpPr>
          <p:cNvPr id="4" name="Slide Number Placeholder 3"/>
          <p:cNvSpPr>
            <a:spLocks noGrp="1"/>
          </p:cNvSpPr>
          <p:nvPr>
            <p:ph type="sldNum" sz="quarter" idx="12"/>
          </p:nvPr>
        </p:nvSpPr>
        <p:spPr/>
        <p:txBody>
          <a:bodyPr/>
          <a:lstStyle>
            <a:lvl1pPr eaLnBrk="0" hangingPunct="0">
              <a:defRPr sz="2400">
                <a:solidFill>
                  <a:schemeClr val="tx1"/>
                </a:solidFill>
                <a:latin typeface="Arial" pitchFamily="34" charset="0"/>
                <a:ea typeface="MS PGothic" pitchFamily="34" charset="-128"/>
              </a:defRPr>
            </a:lvl1pPr>
            <a:lvl2pPr marL="37931725" indent="-37474525" eaLnBrk="0" hangingPunct="0">
              <a:defRPr sz="2400">
                <a:solidFill>
                  <a:schemeClr val="tx1"/>
                </a:solidFill>
                <a:latin typeface="Arial" pitchFamily="34" charset="0"/>
                <a:ea typeface="MS PGothic" pitchFamily="34" charset="-128"/>
              </a:defRPr>
            </a:lvl2pPr>
            <a:lvl3pPr eaLnBrk="0" hangingPunct="0">
              <a:defRPr sz="2400">
                <a:solidFill>
                  <a:schemeClr val="tx1"/>
                </a:solidFill>
                <a:latin typeface="Arial" pitchFamily="34" charset="0"/>
                <a:ea typeface="MS PGothic" pitchFamily="34" charset="-128"/>
              </a:defRPr>
            </a:lvl3pPr>
            <a:lvl4pPr eaLnBrk="0" hangingPunct="0">
              <a:defRPr sz="2400">
                <a:solidFill>
                  <a:schemeClr val="tx1"/>
                </a:solidFill>
                <a:latin typeface="Arial" pitchFamily="34" charset="0"/>
                <a:ea typeface="MS PGothic" pitchFamily="34" charset="-128"/>
              </a:defRPr>
            </a:lvl4pPr>
            <a:lvl5pPr eaLnBrk="0" hangingPunct="0">
              <a:defRPr sz="2400">
                <a:solidFill>
                  <a:schemeClr val="tx1"/>
                </a:solidFill>
                <a:latin typeface="Arial" pitchFamily="34" charset="0"/>
                <a:ea typeface="MS PGothic" pitchFamily="34" charset="-128"/>
              </a:defRPr>
            </a:lvl5pPr>
            <a:lvl6pPr marL="457200" eaLnBrk="0" fontAlgn="base" hangingPunct="0">
              <a:spcBef>
                <a:spcPct val="0"/>
              </a:spcBef>
              <a:spcAft>
                <a:spcPct val="0"/>
              </a:spcAft>
              <a:defRPr sz="2400">
                <a:solidFill>
                  <a:schemeClr val="tx1"/>
                </a:solidFill>
                <a:latin typeface="Arial" pitchFamily="34" charset="0"/>
                <a:ea typeface="MS PGothic" pitchFamily="34" charset="-128"/>
              </a:defRPr>
            </a:lvl6pPr>
            <a:lvl7pPr marL="914400" eaLnBrk="0" fontAlgn="base" hangingPunct="0">
              <a:spcBef>
                <a:spcPct val="0"/>
              </a:spcBef>
              <a:spcAft>
                <a:spcPct val="0"/>
              </a:spcAft>
              <a:defRPr sz="2400">
                <a:solidFill>
                  <a:schemeClr val="tx1"/>
                </a:solidFill>
                <a:latin typeface="Arial" pitchFamily="34" charset="0"/>
                <a:ea typeface="MS PGothic" pitchFamily="34" charset="-128"/>
              </a:defRPr>
            </a:lvl7pPr>
            <a:lvl8pPr marL="1371600" eaLnBrk="0" fontAlgn="base" hangingPunct="0">
              <a:spcBef>
                <a:spcPct val="0"/>
              </a:spcBef>
              <a:spcAft>
                <a:spcPct val="0"/>
              </a:spcAft>
              <a:defRPr sz="2400">
                <a:solidFill>
                  <a:schemeClr val="tx1"/>
                </a:solidFill>
                <a:latin typeface="Arial" pitchFamily="34" charset="0"/>
                <a:ea typeface="MS PGothic" pitchFamily="34" charset="-128"/>
              </a:defRPr>
            </a:lvl8pPr>
            <a:lvl9pPr marL="18288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fld id="{7FE55FB3-4847-46D4-9397-23DC1A001EB7}" type="slidenum">
              <a:rPr lang="en-US" sz="1200">
                <a:solidFill>
                  <a:srgbClr val="898989"/>
                </a:solidFill>
                <a:latin typeface="Calibri" pitchFamily="34" charset="0"/>
              </a:rPr>
              <a:pPr eaLnBrk="1" hangingPunct="1"/>
              <a:t>34</a:t>
            </a:fld>
            <a:endParaRPr lang="en-US" sz="1200">
              <a:solidFill>
                <a:srgbClr val="898989"/>
              </a:solidFill>
              <a:latin typeface="Calibri" pitchFamily="34" charset="0"/>
            </a:endParaRPr>
          </a:p>
        </p:txBody>
      </p:sp>
      <p:sp>
        <p:nvSpPr>
          <p:cNvPr id="5" name="Rectangle 4"/>
          <p:cNvSpPr>
            <a:spLocks noChangeArrowheads="1"/>
          </p:cNvSpPr>
          <p:nvPr/>
        </p:nvSpPr>
        <p:spPr bwMode="auto">
          <a:xfrm>
            <a:off x="927100" y="2349500"/>
            <a:ext cx="2800350" cy="576263"/>
          </a:xfrm>
          <a:prstGeom prst="rect">
            <a:avLst/>
          </a:prstGeom>
          <a:solidFill>
            <a:srgbClr val="D7E4BD"/>
          </a:soli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fontAlgn="base">
              <a:spcBef>
                <a:spcPct val="0"/>
              </a:spcBef>
              <a:spcAft>
                <a:spcPct val="0"/>
              </a:spcAft>
              <a:defRPr/>
            </a:pPr>
            <a:r>
              <a:rPr lang="en-US" dirty="0">
                <a:solidFill>
                  <a:srgbClr val="1F497D"/>
                </a:solidFill>
                <a:ea typeface="MS PGothic" pitchFamily="34" charset="-128"/>
              </a:rPr>
              <a:t>Header</a:t>
            </a:r>
          </a:p>
        </p:txBody>
      </p:sp>
      <p:sp>
        <p:nvSpPr>
          <p:cNvPr id="6" name="Rectangle 5"/>
          <p:cNvSpPr>
            <a:spLocks noChangeArrowheads="1"/>
          </p:cNvSpPr>
          <p:nvPr/>
        </p:nvSpPr>
        <p:spPr bwMode="auto">
          <a:xfrm>
            <a:off x="3727450" y="2349500"/>
            <a:ext cx="4265613" cy="576263"/>
          </a:xfrm>
          <a:prstGeom prst="rect">
            <a:avLst/>
          </a:prstGeom>
          <a:solidFill>
            <a:srgbClr val="CCC1DA"/>
          </a:soli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algn="ctr" fontAlgn="base">
              <a:spcBef>
                <a:spcPct val="0"/>
              </a:spcBef>
              <a:spcAft>
                <a:spcPct val="0"/>
              </a:spcAft>
              <a:defRPr/>
            </a:pPr>
            <a:r>
              <a:rPr lang="en-US" dirty="0">
                <a:solidFill>
                  <a:srgbClr val="1F497D"/>
                </a:solidFill>
                <a:ea typeface="MS PGothic" pitchFamily="34" charset="-128"/>
              </a:rPr>
              <a:t>Data</a:t>
            </a:r>
          </a:p>
        </p:txBody>
      </p:sp>
      <p:sp>
        <p:nvSpPr>
          <p:cNvPr id="37895" name="TextBox 6"/>
          <p:cNvSpPr txBox="1">
            <a:spLocks noChangeArrowheads="1"/>
          </p:cNvSpPr>
          <p:nvPr/>
        </p:nvSpPr>
        <p:spPr bwMode="auto">
          <a:xfrm>
            <a:off x="942975" y="2943225"/>
            <a:ext cx="2825750" cy="369888"/>
          </a:xfrm>
          <a:prstGeom prst="rect">
            <a:avLst/>
          </a:prstGeom>
          <a:noFill/>
          <a:ln w="9525">
            <a:noFill/>
            <a:miter lim="800000"/>
            <a:headEnd/>
            <a:tailEnd/>
          </a:ln>
        </p:spPr>
        <p:txBody>
          <a:bodyPr wrap="none">
            <a:spAutoFit/>
          </a:bodyPr>
          <a:lstStyle/>
          <a:p>
            <a:pPr fontAlgn="base">
              <a:spcBef>
                <a:spcPct val="0"/>
              </a:spcBef>
              <a:spcAft>
                <a:spcPct val="0"/>
              </a:spcAft>
              <a:defRPr/>
            </a:pPr>
            <a:r>
              <a:rPr lang="en-US">
                <a:solidFill>
                  <a:prstClr val="black"/>
                </a:solidFill>
                <a:ea typeface="MS PGothic" pitchFamily="34" charset="-128"/>
              </a:rPr>
              <a:t>Match: 1000x01xx0101001x</a:t>
            </a:r>
          </a:p>
        </p:txBody>
      </p:sp>
    </p:spTree>
    <p:extLst>
      <p:ext uri="{BB962C8B-B14F-4D97-AF65-F5344CB8AC3E}">
        <p14:creationId xmlns:p14="http://schemas.microsoft.com/office/powerpoint/2010/main" val="2004128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t>General Forwarding Abstraction</a:t>
            </a:r>
          </a:p>
        </p:txBody>
      </p:sp>
      <p:sp>
        <p:nvSpPr>
          <p:cNvPr id="4" name="Rounded Rectangle 3"/>
          <p:cNvSpPr>
            <a:spLocks noChangeArrowheads="1"/>
          </p:cNvSpPr>
          <p:nvPr/>
        </p:nvSpPr>
        <p:spPr bwMode="auto">
          <a:xfrm>
            <a:off x="1943100" y="1666875"/>
            <a:ext cx="5224463" cy="1492250"/>
          </a:xfrm>
          <a:prstGeom prst="roundRect">
            <a:avLst>
              <a:gd name="adj" fmla="val 16667"/>
            </a:avLst>
          </a:prstGeom>
          <a:noFill/>
          <a:ln w="9525">
            <a:solidFill>
              <a:srgbClr val="7F7F7F"/>
            </a:solidFill>
            <a:round/>
            <a:headEnd/>
            <a:tailEnd/>
          </a:ln>
          <a:effectLst>
            <a:outerShdw blurRad="40000" dist="23000" dir="5400000" rotWithShape="0">
              <a:srgbClr val="808080">
                <a:alpha val="34999"/>
              </a:srgbClr>
            </a:outerShdw>
          </a:effectLst>
          <a:extLst>
            <a:ext uri="{909E8E84-426E-40dd-AFC4-6F175D3DCCD1}">
              <a14:hiddenFill xmlns:a14="http://schemas.microsoft.com/office/drawing/2010/main" xmlns="">
                <a:solidFill>
                  <a:srgbClr val="FFFFFF"/>
                </a:solidFill>
              </a14:hiddenFill>
            </a:ext>
          </a:extLst>
        </p:spPr>
        <p:txBody>
          <a:bodyPr anchor="ctr"/>
          <a:lstStyle/>
          <a:p>
            <a:pPr algn="ctr" fontAlgn="base">
              <a:spcBef>
                <a:spcPct val="0"/>
              </a:spcBef>
              <a:spcAft>
                <a:spcPct val="0"/>
              </a:spcAft>
            </a:pPr>
            <a:r>
              <a:rPr lang="en-US" sz="3200">
                <a:solidFill>
                  <a:srgbClr val="1F497D"/>
                </a:solidFill>
                <a:ea typeface="MS PGothic" pitchFamily="34" charset="-128"/>
              </a:rPr>
              <a:t>Small set of primitives</a:t>
            </a:r>
          </a:p>
          <a:p>
            <a:pPr algn="ctr" fontAlgn="base">
              <a:spcBef>
                <a:spcPct val="0"/>
              </a:spcBef>
              <a:spcAft>
                <a:spcPct val="0"/>
              </a:spcAft>
            </a:pPr>
            <a:r>
              <a:rPr lang="en-US" sz="3200">
                <a:solidFill>
                  <a:srgbClr val="1F497D"/>
                </a:solidFill>
                <a:ea typeface="MS PGothic" pitchFamily="34" charset="-128"/>
              </a:rPr>
              <a:t>“Forwarding instruction set”</a:t>
            </a:r>
          </a:p>
        </p:txBody>
      </p:sp>
      <p:sp>
        <p:nvSpPr>
          <p:cNvPr id="5" name="Rounded Rectangle 4"/>
          <p:cNvSpPr>
            <a:spLocks noChangeArrowheads="1"/>
          </p:cNvSpPr>
          <p:nvPr/>
        </p:nvSpPr>
        <p:spPr bwMode="auto">
          <a:xfrm>
            <a:off x="1943100" y="3379788"/>
            <a:ext cx="5224463" cy="1490662"/>
          </a:xfrm>
          <a:prstGeom prst="roundRect">
            <a:avLst>
              <a:gd name="adj" fmla="val 16667"/>
            </a:avLst>
          </a:prstGeom>
          <a:noFill/>
          <a:ln w="9525">
            <a:solidFill>
              <a:srgbClr val="7F7F7F"/>
            </a:solidFill>
            <a:round/>
            <a:headEnd/>
            <a:tailEnd/>
          </a:ln>
          <a:effectLst>
            <a:outerShdw blurRad="40000" dist="23000" dir="5400000" rotWithShape="0">
              <a:srgbClr val="808080">
                <a:alpha val="34999"/>
              </a:srgbClr>
            </a:outerShdw>
          </a:effectLst>
          <a:extLst>
            <a:ext uri="{909E8E84-426E-40dd-AFC4-6F175D3DCCD1}">
              <a14:hiddenFill xmlns:a14="http://schemas.microsoft.com/office/drawing/2010/main" xmlns="">
                <a:solidFill>
                  <a:srgbClr val="FFFFFF"/>
                </a:solidFill>
              </a14:hiddenFill>
            </a:ext>
          </a:extLst>
        </p:spPr>
        <p:txBody>
          <a:bodyPr anchor="ctr"/>
          <a:lstStyle/>
          <a:p>
            <a:pPr algn="ctr" fontAlgn="base">
              <a:spcBef>
                <a:spcPct val="0"/>
              </a:spcBef>
              <a:spcAft>
                <a:spcPct val="0"/>
              </a:spcAft>
              <a:defRPr/>
            </a:pPr>
            <a:r>
              <a:rPr lang="en-US" sz="3200" dirty="0">
                <a:solidFill>
                  <a:srgbClr val="1F497D"/>
                </a:solidFill>
                <a:ea typeface="MS PGothic" pitchFamily="34" charset="-128"/>
              </a:rPr>
              <a:t>Protocol independent</a:t>
            </a:r>
          </a:p>
          <a:p>
            <a:pPr algn="ctr" fontAlgn="base">
              <a:spcBef>
                <a:spcPct val="0"/>
              </a:spcBef>
              <a:spcAft>
                <a:spcPct val="0"/>
              </a:spcAft>
              <a:defRPr/>
            </a:pPr>
            <a:r>
              <a:rPr lang="en-US" sz="3200" dirty="0">
                <a:solidFill>
                  <a:srgbClr val="1F497D"/>
                </a:solidFill>
                <a:ea typeface="MS PGothic" pitchFamily="34" charset="-128"/>
              </a:rPr>
              <a:t>Backward compatible</a:t>
            </a:r>
          </a:p>
        </p:txBody>
      </p:sp>
      <p:sp>
        <p:nvSpPr>
          <p:cNvPr id="6" name="Rounded Rectangle 5"/>
          <p:cNvSpPr>
            <a:spLocks noChangeArrowheads="1"/>
          </p:cNvSpPr>
          <p:nvPr/>
        </p:nvSpPr>
        <p:spPr bwMode="auto">
          <a:xfrm>
            <a:off x="1943100" y="5091113"/>
            <a:ext cx="5224463" cy="1490662"/>
          </a:xfrm>
          <a:prstGeom prst="roundRect">
            <a:avLst>
              <a:gd name="adj" fmla="val 16667"/>
            </a:avLst>
          </a:prstGeom>
          <a:noFill/>
          <a:ln w="9525">
            <a:solidFill>
              <a:srgbClr val="7F7F7F"/>
            </a:solidFill>
            <a:round/>
            <a:headEnd/>
            <a:tailEnd/>
          </a:ln>
          <a:effectLst>
            <a:outerShdw blurRad="40000" dist="23000" dir="5400000" rotWithShape="0">
              <a:srgbClr val="808080">
                <a:alpha val="34999"/>
              </a:srgbClr>
            </a:outerShdw>
          </a:effectLst>
          <a:extLst>
            <a:ext uri="{909E8E84-426E-40dd-AFC4-6F175D3DCCD1}">
              <a14:hiddenFill xmlns:a14="http://schemas.microsoft.com/office/drawing/2010/main" xmlns="">
                <a:solidFill>
                  <a:srgbClr val="FFFFFF"/>
                </a:solidFill>
              </a14:hiddenFill>
            </a:ext>
          </a:extLst>
        </p:spPr>
        <p:txBody>
          <a:bodyPr anchor="ctr"/>
          <a:lstStyle/>
          <a:p>
            <a:pPr algn="ctr" fontAlgn="base">
              <a:spcBef>
                <a:spcPct val="0"/>
              </a:spcBef>
              <a:spcAft>
                <a:spcPct val="0"/>
              </a:spcAft>
              <a:defRPr/>
            </a:pPr>
            <a:r>
              <a:rPr lang="en-US" sz="3200" dirty="0">
                <a:solidFill>
                  <a:srgbClr val="1F497D"/>
                </a:solidFill>
                <a:ea typeface="MS PGothic" pitchFamily="34" charset="-128"/>
              </a:rPr>
              <a:t>Switches, routers, </a:t>
            </a:r>
            <a:r>
              <a:rPr lang="en-US" sz="3200" dirty="0" err="1">
                <a:solidFill>
                  <a:srgbClr val="1F497D"/>
                </a:solidFill>
                <a:ea typeface="MS PGothic" pitchFamily="34" charset="-128"/>
              </a:rPr>
              <a:t>WiFi</a:t>
            </a:r>
            <a:r>
              <a:rPr lang="en-US" sz="3200" dirty="0">
                <a:solidFill>
                  <a:srgbClr val="1F497D"/>
                </a:solidFill>
                <a:ea typeface="MS PGothic" pitchFamily="34" charset="-128"/>
              </a:rPr>
              <a:t> </a:t>
            </a:r>
            <a:r>
              <a:rPr lang="en-US" sz="3200" dirty="0" err="1">
                <a:solidFill>
                  <a:srgbClr val="1F497D"/>
                </a:solidFill>
                <a:ea typeface="MS PGothic" pitchFamily="34" charset="-128"/>
              </a:rPr>
              <a:t>APs</a:t>
            </a:r>
            <a:r>
              <a:rPr lang="en-US" sz="3200" dirty="0">
                <a:solidFill>
                  <a:srgbClr val="1F497D"/>
                </a:solidFill>
                <a:ea typeface="MS PGothic" pitchFamily="34" charset="-128"/>
              </a:rPr>
              <a:t>, </a:t>
            </a:r>
            <a:r>
              <a:rPr lang="en-US" sz="3200" dirty="0" err="1">
                <a:solidFill>
                  <a:srgbClr val="1F497D"/>
                </a:solidFill>
                <a:ea typeface="MS PGothic" pitchFamily="34" charset="-128"/>
              </a:rPr>
              <a:t>basestations</a:t>
            </a:r>
            <a:r>
              <a:rPr lang="en-US" sz="3200" dirty="0">
                <a:solidFill>
                  <a:srgbClr val="1F497D"/>
                </a:solidFill>
                <a:ea typeface="MS PGothic" pitchFamily="34" charset="-128"/>
              </a:rPr>
              <a:t>, TDM/WDM</a:t>
            </a:r>
          </a:p>
        </p:txBody>
      </p:sp>
      <p:sp>
        <p:nvSpPr>
          <p:cNvPr id="2" name="Slide Number Placeholder 1"/>
          <p:cNvSpPr>
            <a:spLocks noGrp="1"/>
          </p:cNvSpPr>
          <p:nvPr>
            <p:ph type="sldNum" sz="quarter" idx="12"/>
          </p:nvPr>
        </p:nvSpPr>
        <p:spPr/>
        <p:txBody>
          <a:bodyPr/>
          <a:lstStyle/>
          <a:p>
            <a:fld id="{D4DFB6AE-E188-4FF4-9BAA-A3F1C15670F2}" type="slidenum">
              <a:rPr lang="en-US" smtClean="0"/>
              <a:pPr/>
              <a:t>35</a:t>
            </a:fld>
            <a:endParaRPr lang="en-US"/>
          </a:p>
        </p:txBody>
      </p:sp>
    </p:spTree>
    <p:extLst>
      <p:ext uri="{BB962C8B-B14F-4D97-AF65-F5344CB8AC3E}">
        <p14:creationId xmlns:p14="http://schemas.microsoft.com/office/powerpoint/2010/main" val="2084378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2" cstate="print"/>
          <a:srcRect/>
          <a:stretch>
            <a:fillRect/>
          </a:stretch>
        </p:blipFill>
        <p:spPr bwMode="auto">
          <a:xfrm>
            <a:off x="5599928" y="3374571"/>
            <a:ext cx="3086872" cy="3350793"/>
          </a:xfrm>
          <a:prstGeom prst="rect">
            <a:avLst/>
          </a:prstGeom>
          <a:noFill/>
          <a:ln w="9525">
            <a:noFill/>
            <a:miter lim="800000"/>
            <a:headEnd/>
            <a:tailEnd/>
          </a:ln>
        </p:spPr>
      </p:pic>
      <p:sp>
        <p:nvSpPr>
          <p:cNvPr id="2" name="Title 1"/>
          <p:cNvSpPr>
            <a:spLocks noGrp="1"/>
          </p:cNvSpPr>
          <p:nvPr>
            <p:ph type="title"/>
          </p:nvPr>
        </p:nvSpPr>
        <p:spPr>
          <a:xfrm>
            <a:off x="489857" y="56608"/>
            <a:ext cx="7772400" cy="707886"/>
          </a:xfrm>
        </p:spPr>
        <p:txBody>
          <a:bodyPr>
            <a:normAutofit fontScale="90000"/>
          </a:bodyPr>
          <a:lstStyle/>
          <a:p>
            <a:r>
              <a:rPr lang="de-DE" dirty="0" err="1"/>
              <a:t>OpenFlow</a:t>
            </a:r>
            <a:r>
              <a:rPr lang="de-DE" dirty="0"/>
              <a:t> – The SDN Protocol</a:t>
            </a:r>
          </a:p>
        </p:txBody>
      </p:sp>
      <p:sp>
        <p:nvSpPr>
          <p:cNvPr id="3" name="Content Placeholder 2"/>
          <p:cNvSpPr>
            <a:spLocks noGrp="1"/>
          </p:cNvSpPr>
          <p:nvPr>
            <p:ph idx="1"/>
          </p:nvPr>
        </p:nvSpPr>
        <p:spPr>
          <a:xfrm>
            <a:off x="152400" y="914400"/>
            <a:ext cx="8229600" cy="4525963"/>
          </a:xfrm>
        </p:spPr>
        <p:txBody>
          <a:bodyPr/>
          <a:lstStyle/>
          <a:p>
            <a:r>
              <a:rPr lang="en-US" dirty="0"/>
              <a:t>Main components:</a:t>
            </a:r>
            <a:r>
              <a:rPr lang="en-US" i="1" dirty="0">
                <a:solidFill>
                  <a:schemeClr val="accent2"/>
                </a:solidFill>
              </a:rPr>
              <a:t> Flow </a:t>
            </a:r>
            <a:r>
              <a:rPr lang="en-US" dirty="0"/>
              <a:t>and </a:t>
            </a:r>
            <a:r>
              <a:rPr lang="en-US" i="1" dirty="0">
                <a:solidFill>
                  <a:schemeClr val="accent2"/>
                </a:solidFill>
              </a:rPr>
              <a:t>Group Tables</a:t>
            </a:r>
          </a:p>
          <a:p>
            <a:pPr lvl="1"/>
            <a:r>
              <a:rPr lang="en-US" dirty="0"/>
              <a:t>Controller can manipulate these tables via the OpenFlow protocol  (</a:t>
            </a:r>
            <a:r>
              <a:rPr lang="en-US" i="1" dirty="0">
                <a:solidFill>
                  <a:schemeClr val="accent2"/>
                </a:solidFill>
              </a:rPr>
              <a:t>add, update, delete</a:t>
            </a:r>
            <a:r>
              <a:rPr lang="en-US" dirty="0"/>
              <a:t>)</a:t>
            </a:r>
          </a:p>
          <a:p>
            <a:pPr lvl="1"/>
            <a:r>
              <a:rPr lang="en-US" dirty="0"/>
              <a:t>Flow Table: reactively or proactively defines how incoming packets are forwarded</a:t>
            </a:r>
          </a:p>
          <a:p>
            <a:pPr lvl="1"/>
            <a:r>
              <a:rPr lang="en-US" dirty="0"/>
              <a:t>Group Table: additional processing</a:t>
            </a:r>
            <a:br>
              <a:rPr lang="en-US" dirty="0"/>
            </a:br>
            <a:r>
              <a:rPr lang="en-US" dirty="0"/>
              <a:t>especially for multicast</a:t>
            </a:r>
          </a:p>
          <a:p>
            <a:endParaRPr lang="de-DE" i="1" dirty="0">
              <a:solidFill>
                <a:schemeClr val="accent2"/>
              </a:solidFill>
            </a:endParaRPr>
          </a:p>
          <a:p>
            <a:endParaRPr lang="de-DE" dirty="0"/>
          </a:p>
          <a:p>
            <a:pPr lvl="1"/>
            <a:endParaRPr lang="de-DE" dirty="0"/>
          </a:p>
        </p:txBody>
      </p:sp>
      <p:sp>
        <p:nvSpPr>
          <p:cNvPr id="4" name="Slide Number Placeholder 3"/>
          <p:cNvSpPr>
            <a:spLocks noGrp="1"/>
          </p:cNvSpPr>
          <p:nvPr>
            <p:ph type="sldNum" sz="quarter" idx="12"/>
          </p:nvPr>
        </p:nvSpPr>
        <p:spPr/>
        <p:txBody>
          <a:bodyPr/>
          <a:lstStyle/>
          <a:p>
            <a:fld id="{4510AD55-118C-453F-AEC9-3256547505F1}" type="slidenum">
              <a:rPr lang="en-US" smtClean="0"/>
              <a:t>36</a:t>
            </a:fld>
            <a:endParaRPr lang="en-US"/>
          </a:p>
        </p:txBody>
      </p:sp>
    </p:spTree>
    <p:extLst>
      <p:ext uri="{BB962C8B-B14F-4D97-AF65-F5344CB8AC3E}">
        <p14:creationId xmlns:p14="http://schemas.microsoft.com/office/powerpoint/2010/main" val="2732814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OpenFlow? An enabler of software defined Networking</a:t>
            </a:r>
          </a:p>
        </p:txBody>
      </p:sp>
      <p:sp>
        <p:nvSpPr>
          <p:cNvPr id="3" name="Content Placeholder 2"/>
          <p:cNvSpPr>
            <a:spLocks noGrp="1"/>
          </p:cNvSpPr>
          <p:nvPr>
            <p:ph idx="1"/>
          </p:nvPr>
        </p:nvSpPr>
        <p:spPr>
          <a:xfrm>
            <a:off x="152400" y="2184653"/>
            <a:ext cx="3834385" cy="3149347"/>
          </a:xfrm>
        </p:spPr>
        <p:txBody>
          <a:bodyPr>
            <a:normAutofit/>
          </a:bodyPr>
          <a:lstStyle/>
          <a:p>
            <a:r>
              <a:rPr lang="en-US" dirty="0"/>
              <a:t>A protocol between SDN controller and OpenFlow switches</a:t>
            </a:r>
          </a:p>
          <a:p>
            <a:r>
              <a:rPr lang="en-US" dirty="0"/>
              <a:t>Different vendors of both controller and switches can use it</a:t>
            </a:r>
          </a:p>
          <a:p>
            <a:endParaRPr lang="en-US" dirty="0"/>
          </a:p>
          <a:p>
            <a:endParaRPr lang="en-US" dirty="0"/>
          </a:p>
        </p:txBody>
      </p:sp>
      <p:sp>
        <p:nvSpPr>
          <p:cNvPr id="4" name="Rounded Rectangle 3"/>
          <p:cNvSpPr/>
          <p:nvPr/>
        </p:nvSpPr>
        <p:spPr>
          <a:xfrm>
            <a:off x="4345704" y="3430630"/>
            <a:ext cx="1378440" cy="9562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t>SDN</a:t>
            </a:r>
          </a:p>
          <a:p>
            <a:pPr algn="ctr"/>
            <a:r>
              <a:rPr lang="en-US" sz="2100" dirty="0"/>
              <a:t>Controller</a:t>
            </a:r>
          </a:p>
        </p:txBody>
      </p:sp>
      <p:pic>
        <p:nvPicPr>
          <p:cNvPr id="2050" name="Picture 2" descr="https://upload.wikimedia.org/wikipedia/commons/b/b9/2550T-PWR-Fro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2470236"/>
            <a:ext cx="2280180" cy="6769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upload.wikimedia.org/wikipedia/commons/b/b9/2550T-PWR-Fro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0840" y="4932533"/>
            <a:ext cx="2188740" cy="67693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a:stCxn id="4" idx="0"/>
          </p:cNvCxnSpPr>
          <p:nvPr/>
        </p:nvCxnSpPr>
        <p:spPr>
          <a:xfrm flipV="1">
            <a:off x="5034924" y="2850642"/>
            <a:ext cx="1457316" cy="57998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4" idx="2"/>
          </p:cNvCxnSpPr>
          <p:nvPr/>
        </p:nvCxnSpPr>
        <p:spPr>
          <a:xfrm>
            <a:off x="5034924" y="4386834"/>
            <a:ext cx="1685916" cy="89611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Action Button: Help 10">
            <a:hlinkClick r:id="" action="ppaction://noaction" highlightClick="1"/>
          </p:cNvPr>
          <p:cNvSpPr/>
          <p:nvPr/>
        </p:nvSpPr>
        <p:spPr>
          <a:xfrm>
            <a:off x="5724144" y="2942774"/>
            <a:ext cx="292608" cy="270374"/>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Action Button: Help 12">
            <a:hlinkClick r:id="" action="ppaction://noaction" highlightClick="1"/>
          </p:cNvPr>
          <p:cNvSpPr/>
          <p:nvPr/>
        </p:nvSpPr>
        <p:spPr>
          <a:xfrm>
            <a:off x="5904162" y="4797346"/>
            <a:ext cx="292608" cy="270374"/>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848726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5CEF-8EB7-4B39-9338-44845AD2747D}"/>
              </a:ext>
            </a:extLst>
          </p:cNvPr>
          <p:cNvSpPr>
            <a:spLocks noGrp="1"/>
          </p:cNvSpPr>
          <p:nvPr>
            <p:ph type="title"/>
          </p:nvPr>
        </p:nvSpPr>
        <p:spPr/>
        <p:txBody>
          <a:bodyPr/>
          <a:lstStyle/>
          <a:p>
            <a:r>
              <a:rPr lang="en-US" dirty="0"/>
              <a:t>What is OpenFlow? (</a:t>
            </a:r>
            <a:r>
              <a:rPr lang="en-US" dirty="0" err="1"/>
              <a:t>Contd</a:t>
            </a:r>
            <a:r>
              <a:rPr lang="en-US" dirty="0"/>
              <a:t>…)</a:t>
            </a:r>
          </a:p>
        </p:txBody>
      </p:sp>
      <p:sp>
        <p:nvSpPr>
          <p:cNvPr id="3" name="Content Placeholder 2">
            <a:extLst>
              <a:ext uri="{FF2B5EF4-FFF2-40B4-BE49-F238E27FC236}">
                <a16:creationId xmlns:a16="http://schemas.microsoft.com/office/drawing/2014/main" id="{30A048A3-6CA4-4FFD-820F-F31968C0A5AF}"/>
              </a:ext>
            </a:extLst>
          </p:cNvPr>
          <p:cNvSpPr>
            <a:spLocks noGrp="1"/>
          </p:cNvSpPr>
          <p:nvPr>
            <p:ph idx="1"/>
          </p:nvPr>
        </p:nvSpPr>
        <p:spPr/>
        <p:txBody>
          <a:bodyPr>
            <a:normAutofit fontScale="92500" lnSpcReduction="20000"/>
          </a:bodyPr>
          <a:lstStyle/>
          <a:p>
            <a:r>
              <a:rPr lang="en-US" dirty="0"/>
              <a:t>Make it possible for the SDN controller to add </a:t>
            </a:r>
            <a:r>
              <a:rPr lang="en-US" i="1" dirty="0"/>
              <a:t>matching rules </a:t>
            </a:r>
            <a:r>
              <a:rPr lang="en-US" dirty="0"/>
              <a:t> and </a:t>
            </a:r>
            <a:r>
              <a:rPr lang="en-US" i="1" dirty="0"/>
              <a:t>actions</a:t>
            </a:r>
          </a:p>
          <a:p>
            <a:r>
              <a:rPr lang="en-US" dirty="0"/>
              <a:t> OpenFlow communicates over TCP. Uses TLS (Transport Layer Security) to make it secure</a:t>
            </a:r>
          </a:p>
          <a:p>
            <a:r>
              <a:rPr lang="en-US" dirty="0"/>
              <a:t>Normally controller listens on port 6653 for switches (Earlier version used 6633)</a:t>
            </a:r>
          </a:p>
          <a:p>
            <a:r>
              <a:rPr lang="en-US" dirty="0"/>
              <a:t>Different versions are proposed, these slides cover 1.5 (Last version available to public); (latest version is 1.6, Sept. 2017, not open)  - as of 2018</a:t>
            </a:r>
          </a:p>
          <a:p>
            <a:r>
              <a:rPr lang="en-US" dirty="0"/>
              <a:t>ONF was promoting SDN, and manages the OpenFlow Specification</a:t>
            </a:r>
          </a:p>
        </p:txBody>
      </p:sp>
    </p:spTree>
    <p:extLst>
      <p:ext uri="{BB962C8B-B14F-4D97-AF65-F5344CB8AC3E}">
        <p14:creationId xmlns:p14="http://schemas.microsoft.com/office/powerpoint/2010/main" val="1092473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OpenFlow Switch, in Simplest Form </a:t>
            </a:r>
          </a:p>
        </p:txBody>
      </p:sp>
      <p:pic>
        <p:nvPicPr>
          <p:cNvPr id="1026" name="Picture 2" descr="http://www1.hauman.com.tw/upload/Network/SDN/sdn0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752600"/>
            <a:ext cx="7671638"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242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7" name="Picture 3"/>
          <p:cNvPicPr>
            <a:picLocks noChangeAspect="1" noChangeArrowheads="1"/>
          </p:cNvPicPr>
          <p:nvPr/>
        </p:nvPicPr>
        <p:blipFill>
          <a:blip r:embed="rId2" cstate="print"/>
          <a:srcRect/>
          <a:stretch>
            <a:fillRect/>
          </a:stretch>
        </p:blipFill>
        <p:spPr bwMode="auto">
          <a:xfrm>
            <a:off x="969822" y="4457442"/>
            <a:ext cx="7426036" cy="2214391"/>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a:xfrm>
            <a:off x="457200" y="1143000"/>
            <a:ext cx="8229600" cy="4525963"/>
          </a:xfrm>
        </p:spPr>
        <p:txBody>
          <a:bodyPr/>
          <a:lstStyle/>
          <a:p>
            <a:r>
              <a:rPr lang="de-DE" dirty="0" err="1"/>
              <a:t>Two</a:t>
            </a:r>
            <a:r>
              <a:rPr lang="de-DE" dirty="0"/>
              <a:t> different </a:t>
            </a:r>
            <a:r>
              <a:rPr lang="de-DE" dirty="0" err="1"/>
              <a:t>versions</a:t>
            </a:r>
            <a:r>
              <a:rPr lang="de-DE" dirty="0"/>
              <a:t> </a:t>
            </a:r>
            <a:r>
              <a:rPr lang="de-DE" dirty="0" err="1"/>
              <a:t>of</a:t>
            </a:r>
            <a:r>
              <a:rPr lang="de-DE" dirty="0"/>
              <a:t> an </a:t>
            </a:r>
            <a:r>
              <a:rPr lang="de-DE" dirty="0" err="1"/>
              <a:t>OpenFlow</a:t>
            </a:r>
            <a:r>
              <a:rPr lang="de-DE" dirty="0"/>
              <a:t> Switch</a:t>
            </a:r>
          </a:p>
          <a:p>
            <a:pPr lvl="1"/>
            <a:r>
              <a:rPr lang="de-DE" i="1" dirty="0">
                <a:solidFill>
                  <a:schemeClr val="accent2"/>
                </a:solidFill>
              </a:rPr>
              <a:t>OF-</a:t>
            </a:r>
            <a:r>
              <a:rPr lang="de-DE" i="1" dirty="0" err="1">
                <a:solidFill>
                  <a:schemeClr val="accent2"/>
                </a:solidFill>
              </a:rPr>
              <a:t>only</a:t>
            </a:r>
            <a:r>
              <a:rPr lang="de-DE" i="1" dirty="0">
                <a:solidFill>
                  <a:schemeClr val="accent2"/>
                </a:solidFill>
              </a:rPr>
              <a:t> </a:t>
            </a:r>
            <a:r>
              <a:rPr lang="de-DE" dirty="0"/>
              <a:t>(</a:t>
            </a:r>
            <a:r>
              <a:rPr lang="de-DE" dirty="0" err="1"/>
              <a:t>packets</a:t>
            </a:r>
            <a:r>
              <a:rPr lang="de-DE" dirty="0"/>
              <a:t> </a:t>
            </a:r>
            <a:r>
              <a:rPr lang="de-DE" dirty="0" err="1"/>
              <a:t>can</a:t>
            </a:r>
            <a:r>
              <a:rPr lang="de-DE" dirty="0"/>
              <a:t> </a:t>
            </a:r>
            <a:r>
              <a:rPr lang="de-DE" dirty="0" err="1"/>
              <a:t>only</a:t>
            </a:r>
            <a:r>
              <a:rPr lang="de-DE" dirty="0"/>
              <a:t> </a:t>
            </a:r>
            <a:r>
              <a:rPr lang="de-DE" dirty="0" err="1"/>
              <a:t>be</a:t>
            </a:r>
            <a:r>
              <a:rPr lang="de-DE" dirty="0"/>
              <a:t> </a:t>
            </a:r>
            <a:r>
              <a:rPr lang="de-DE" dirty="0" err="1"/>
              <a:t>processed</a:t>
            </a:r>
            <a:r>
              <a:rPr lang="de-DE" dirty="0"/>
              <a:t> </a:t>
            </a:r>
            <a:r>
              <a:rPr lang="de-DE" dirty="0" err="1"/>
              <a:t>by</a:t>
            </a:r>
            <a:r>
              <a:rPr lang="de-DE" dirty="0"/>
              <a:t> OF </a:t>
            </a:r>
            <a:r>
              <a:rPr lang="de-DE" dirty="0" err="1"/>
              <a:t>tables</a:t>
            </a:r>
            <a:r>
              <a:rPr lang="de-DE" dirty="0"/>
              <a:t>) </a:t>
            </a:r>
            <a:r>
              <a:rPr lang="de-DE" dirty="0" err="1"/>
              <a:t>and</a:t>
            </a:r>
            <a:r>
              <a:rPr lang="de-DE" dirty="0"/>
              <a:t> </a:t>
            </a:r>
            <a:r>
              <a:rPr lang="de-DE" i="1" dirty="0">
                <a:solidFill>
                  <a:schemeClr val="accent2"/>
                </a:solidFill>
              </a:rPr>
              <a:t>OF-hybrid </a:t>
            </a:r>
            <a:r>
              <a:rPr lang="de-DE" dirty="0"/>
              <a:t>(</a:t>
            </a:r>
            <a:r>
              <a:rPr lang="de-DE" dirty="0" err="1"/>
              <a:t>allows</a:t>
            </a:r>
            <a:r>
              <a:rPr lang="de-DE" dirty="0"/>
              <a:t> optional normal Ethernet </a:t>
            </a:r>
            <a:r>
              <a:rPr lang="de-DE" dirty="0" err="1"/>
              <a:t>handling</a:t>
            </a:r>
            <a:r>
              <a:rPr lang="de-DE" dirty="0"/>
              <a:t> )</a:t>
            </a:r>
          </a:p>
          <a:p>
            <a:r>
              <a:rPr lang="de-DE" dirty="0"/>
              <a:t>OF-</a:t>
            </a:r>
            <a:r>
              <a:rPr lang="de-DE" dirty="0" err="1"/>
              <a:t>only</a:t>
            </a:r>
            <a:r>
              <a:rPr lang="de-DE" dirty="0"/>
              <a:t>: all </a:t>
            </a:r>
            <a:r>
              <a:rPr lang="de-DE" dirty="0" err="1"/>
              <a:t>packets</a:t>
            </a:r>
            <a:r>
              <a:rPr lang="de-DE" dirty="0"/>
              <a:t> </a:t>
            </a:r>
            <a:r>
              <a:rPr lang="de-DE" dirty="0" err="1"/>
              <a:t>go</a:t>
            </a:r>
            <a:r>
              <a:rPr lang="de-DE" dirty="0"/>
              <a:t> </a:t>
            </a:r>
            <a:r>
              <a:rPr lang="de-DE" dirty="0" err="1"/>
              <a:t>through</a:t>
            </a:r>
            <a:r>
              <a:rPr lang="de-DE" dirty="0"/>
              <a:t> a </a:t>
            </a:r>
            <a:r>
              <a:rPr lang="de-DE" i="1" dirty="0" err="1">
                <a:solidFill>
                  <a:schemeClr val="accent2"/>
                </a:solidFill>
              </a:rPr>
              <a:t>pipeline</a:t>
            </a:r>
            <a:endParaRPr lang="de-DE" i="1" dirty="0">
              <a:solidFill>
                <a:schemeClr val="accent2"/>
              </a:solidFill>
            </a:endParaRPr>
          </a:p>
          <a:p>
            <a:pPr lvl="1"/>
            <a:r>
              <a:rPr lang="de-DE" dirty="0" err="1"/>
              <a:t>Each</a:t>
            </a:r>
            <a:r>
              <a:rPr lang="de-DE" dirty="0"/>
              <a:t> </a:t>
            </a:r>
            <a:r>
              <a:rPr lang="de-DE" dirty="0" err="1"/>
              <a:t>pipeline</a:t>
            </a:r>
            <a:r>
              <a:rPr lang="de-DE" dirty="0"/>
              <a:t> </a:t>
            </a:r>
            <a:r>
              <a:rPr lang="de-DE" dirty="0" err="1"/>
              <a:t>contains</a:t>
            </a:r>
            <a:r>
              <a:rPr lang="de-DE" dirty="0"/>
              <a:t> </a:t>
            </a:r>
            <a:r>
              <a:rPr lang="de-DE" dirty="0" err="1"/>
              <a:t>one</a:t>
            </a:r>
            <a:r>
              <a:rPr lang="de-DE" dirty="0"/>
              <a:t> </a:t>
            </a:r>
            <a:r>
              <a:rPr lang="de-DE" dirty="0" err="1"/>
              <a:t>or</a:t>
            </a:r>
            <a:r>
              <a:rPr lang="de-DE" dirty="0"/>
              <a:t> multiple </a:t>
            </a:r>
            <a:r>
              <a:rPr lang="de-DE" dirty="0" err="1"/>
              <a:t>flow</a:t>
            </a:r>
            <a:r>
              <a:rPr lang="de-DE" dirty="0"/>
              <a:t> </a:t>
            </a:r>
            <a:r>
              <a:rPr lang="de-DE" dirty="0" err="1"/>
              <a:t>tables</a:t>
            </a:r>
            <a:r>
              <a:rPr lang="de-DE" dirty="0"/>
              <a:t> </a:t>
            </a:r>
            <a:r>
              <a:rPr lang="de-DE" dirty="0" err="1"/>
              <a:t>with</a:t>
            </a:r>
            <a:r>
              <a:rPr lang="de-DE" dirty="0"/>
              <a:t> </a:t>
            </a:r>
            <a:r>
              <a:rPr lang="de-DE" dirty="0" err="1"/>
              <a:t>each</a:t>
            </a:r>
            <a:r>
              <a:rPr lang="de-DE" dirty="0"/>
              <a:t> </a:t>
            </a:r>
            <a:r>
              <a:rPr lang="de-DE" dirty="0" err="1"/>
              <a:t>containing</a:t>
            </a:r>
            <a:r>
              <a:rPr lang="de-DE" dirty="0"/>
              <a:t> </a:t>
            </a:r>
            <a:r>
              <a:rPr lang="de-DE" dirty="0" err="1"/>
              <a:t>one</a:t>
            </a:r>
            <a:r>
              <a:rPr lang="de-DE" dirty="0"/>
              <a:t> </a:t>
            </a:r>
            <a:r>
              <a:rPr lang="de-DE" dirty="0" err="1"/>
              <a:t>or</a:t>
            </a:r>
            <a:r>
              <a:rPr lang="de-DE" dirty="0"/>
              <a:t> multiple</a:t>
            </a:r>
            <a:r>
              <a:rPr lang="de-DE" i="1" dirty="0">
                <a:solidFill>
                  <a:schemeClr val="accent2"/>
                </a:solidFill>
              </a:rPr>
              <a:t> </a:t>
            </a:r>
            <a:r>
              <a:rPr lang="de-DE" i="1" dirty="0" err="1">
                <a:solidFill>
                  <a:schemeClr val="accent2"/>
                </a:solidFill>
              </a:rPr>
              <a:t>flow</a:t>
            </a:r>
            <a:r>
              <a:rPr lang="de-DE" i="1" dirty="0">
                <a:solidFill>
                  <a:schemeClr val="accent2"/>
                </a:solidFill>
              </a:rPr>
              <a:t> </a:t>
            </a:r>
            <a:r>
              <a:rPr lang="de-DE" i="1" dirty="0" err="1">
                <a:solidFill>
                  <a:schemeClr val="accent2"/>
                </a:solidFill>
              </a:rPr>
              <a:t>entries</a:t>
            </a:r>
            <a:endParaRPr lang="de-DE" i="1" dirty="0">
              <a:solidFill>
                <a:schemeClr val="accent2"/>
              </a:solidFill>
            </a:endParaRPr>
          </a:p>
          <a:p>
            <a:pPr lvl="1">
              <a:buNone/>
            </a:pPr>
            <a:endParaRPr lang="de-DE" i="1" dirty="0">
              <a:solidFill>
                <a:schemeClr val="accent2"/>
              </a:solidFill>
            </a:endParaRPr>
          </a:p>
          <a:p>
            <a:endParaRPr lang="de-DE" dirty="0"/>
          </a:p>
          <a:p>
            <a:pPr lvl="1"/>
            <a:endParaRPr lang="de-DE" dirty="0"/>
          </a:p>
        </p:txBody>
      </p:sp>
      <p:sp>
        <p:nvSpPr>
          <p:cNvPr id="4" name="Slide Number Placeholder 3"/>
          <p:cNvSpPr>
            <a:spLocks noGrp="1"/>
          </p:cNvSpPr>
          <p:nvPr>
            <p:ph type="sldNum" sz="quarter" idx="12"/>
          </p:nvPr>
        </p:nvSpPr>
        <p:spPr/>
        <p:txBody>
          <a:bodyPr/>
          <a:lstStyle/>
          <a:p>
            <a:fld id="{4510AD55-118C-453F-AEC9-3256547505F1}" type="slidenum">
              <a:rPr lang="en-US" smtClean="0"/>
              <a:t>40</a:t>
            </a:fld>
            <a:endParaRPr lang="en-US"/>
          </a:p>
        </p:txBody>
      </p:sp>
    </p:spTree>
    <p:extLst>
      <p:ext uri="{BB962C8B-B14F-4D97-AF65-F5344CB8AC3E}">
        <p14:creationId xmlns:p14="http://schemas.microsoft.com/office/powerpoint/2010/main" val="272682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7" name="Picture 3"/>
          <p:cNvPicPr>
            <a:picLocks noChangeAspect="1" noChangeArrowheads="1"/>
          </p:cNvPicPr>
          <p:nvPr/>
        </p:nvPicPr>
        <p:blipFill>
          <a:blip r:embed="rId2" cstate="print"/>
          <a:srcRect/>
          <a:stretch>
            <a:fillRect/>
          </a:stretch>
        </p:blipFill>
        <p:spPr bwMode="auto">
          <a:xfrm>
            <a:off x="969822" y="4457442"/>
            <a:ext cx="7426036" cy="2214391"/>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a:xfrm>
            <a:off x="457200" y="1371600"/>
            <a:ext cx="8458200" cy="4525963"/>
          </a:xfrm>
        </p:spPr>
        <p:txBody>
          <a:bodyPr/>
          <a:lstStyle/>
          <a:p>
            <a:r>
              <a:rPr lang="de-DE" dirty="0" err="1"/>
              <a:t>Incoming</a:t>
            </a:r>
            <a:r>
              <a:rPr lang="de-DE" dirty="0"/>
              <a:t> </a:t>
            </a:r>
            <a:r>
              <a:rPr lang="de-DE" dirty="0" err="1"/>
              <a:t>packets</a:t>
            </a:r>
            <a:r>
              <a:rPr lang="de-DE" dirty="0"/>
              <a:t> </a:t>
            </a:r>
            <a:r>
              <a:rPr lang="de-DE" dirty="0" err="1"/>
              <a:t>are</a:t>
            </a:r>
            <a:r>
              <a:rPr lang="de-DE" dirty="0"/>
              <a:t> </a:t>
            </a:r>
            <a:r>
              <a:rPr lang="de-DE" dirty="0" err="1"/>
              <a:t>matched</a:t>
            </a:r>
            <a:r>
              <a:rPr lang="de-DE" dirty="0"/>
              <a:t> </a:t>
            </a:r>
            <a:r>
              <a:rPr lang="de-DE" dirty="0" err="1"/>
              <a:t>against</a:t>
            </a:r>
            <a:r>
              <a:rPr lang="de-DE" dirty="0"/>
              <a:t> Table 0 </a:t>
            </a:r>
            <a:r>
              <a:rPr lang="de-DE" dirty="0" err="1"/>
              <a:t>first</a:t>
            </a:r>
            <a:endParaRPr lang="de-DE" dirty="0"/>
          </a:p>
          <a:p>
            <a:r>
              <a:rPr lang="de-DE" dirty="0"/>
              <a:t>Find </a:t>
            </a:r>
            <a:r>
              <a:rPr lang="de-DE" dirty="0" err="1"/>
              <a:t>highest</a:t>
            </a:r>
            <a:r>
              <a:rPr lang="de-DE" dirty="0"/>
              <a:t> </a:t>
            </a:r>
            <a:r>
              <a:rPr lang="de-DE" dirty="0" err="1"/>
              <a:t>priority</a:t>
            </a:r>
            <a:r>
              <a:rPr lang="de-DE" dirty="0"/>
              <a:t> </a:t>
            </a:r>
            <a:r>
              <a:rPr lang="de-DE" dirty="0" err="1"/>
              <a:t>match</a:t>
            </a:r>
            <a:r>
              <a:rPr lang="de-DE" dirty="0"/>
              <a:t> </a:t>
            </a:r>
            <a:r>
              <a:rPr lang="de-DE" dirty="0" err="1"/>
              <a:t>and</a:t>
            </a:r>
            <a:r>
              <a:rPr lang="de-DE" dirty="0"/>
              <a:t> </a:t>
            </a:r>
            <a:r>
              <a:rPr lang="de-DE" dirty="0" err="1"/>
              <a:t>execute</a:t>
            </a:r>
            <a:r>
              <a:rPr lang="de-DE" dirty="0"/>
              <a:t> </a:t>
            </a:r>
            <a:r>
              <a:rPr lang="de-DE" dirty="0" err="1"/>
              <a:t>instructions</a:t>
            </a:r>
            <a:r>
              <a:rPr lang="de-DE" dirty="0"/>
              <a:t> (</a:t>
            </a:r>
            <a:r>
              <a:rPr lang="de-DE" dirty="0" err="1"/>
              <a:t>might</a:t>
            </a:r>
            <a:r>
              <a:rPr lang="de-DE" dirty="0"/>
              <a:t> </a:t>
            </a:r>
            <a:r>
              <a:rPr lang="de-DE" dirty="0" err="1"/>
              <a:t>be</a:t>
            </a:r>
            <a:r>
              <a:rPr lang="de-DE" dirty="0"/>
              <a:t> a Goto-Table </a:t>
            </a:r>
            <a:r>
              <a:rPr lang="de-DE" dirty="0" err="1"/>
              <a:t>instruction</a:t>
            </a:r>
            <a:r>
              <a:rPr lang="de-DE" dirty="0"/>
              <a:t>)</a:t>
            </a:r>
          </a:p>
          <a:p>
            <a:r>
              <a:rPr lang="de-DE" dirty="0"/>
              <a:t>Goto: </a:t>
            </a:r>
            <a:r>
              <a:rPr lang="de-DE" dirty="0" err="1"/>
              <a:t>Only</a:t>
            </a:r>
            <a:r>
              <a:rPr lang="de-DE" dirty="0"/>
              <a:t> </a:t>
            </a:r>
            <a:r>
              <a:rPr lang="de-DE" dirty="0" err="1"/>
              <a:t>possible</a:t>
            </a:r>
            <a:r>
              <a:rPr lang="de-DE" dirty="0"/>
              <a:t> </a:t>
            </a:r>
            <a:r>
              <a:rPr lang="de-DE" dirty="0" err="1"/>
              <a:t>action</a:t>
            </a:r>
            <a:r>
              <a:rPr lang="de-DE" dirty="0"/>
              <a:t> - </a:t>
            </a:r>
            <a:r>
              <a:rPr lang="de-DE" dirty="0" err="1"/>
              <a:t>forward</a:t>
            </a:r>
            <a:endParaRPr lang="de-DE" dirty="0"/>
          </a:p>
          <a:p>
            <a:pPr>
              <a:buNone/>
            </a:pPr>
            <a:endParaRPr lang="de-DE" dirty="0"/>
          </a:p>
          <a:p>
            <a:pPr lvl="1">
              <a:buNone/>
            </a:pPr>
            <a:endParaRPr lang="de-DE" i="1" dirty="0">
              <a:solidFill>
                <a:schemeClr val="accent2"/>
              </a:solidFill>
            </a:endParaRPr>
          </a:p>
          <a:p>
            <a:endParaRPr lang="de-DE" dirty="0"/>
          </a:p>
          <a:p>
            <a:pPr lvl="1"/>
            <a:endParaRPr lang="de-DE" dirty="0"/>
          </a:p>
        </p:txBody>
      </p:sp>
      <p:sp>
        <p:nvSpPr>
          <p:cNvPr id="4" name="Slide Number Placeholder 3"/>
          <p:cNvSpPr>
            <a:spLocks noGrp="1"/>
          </p:cNvSpPr>
          <p:nvPr>
            <p:ph type="sldNum" sz="quarter" idx="12"/>
          </p:nvPr>
        </p:nvSpPr>
        <p:spPr/>
        <p:txBody>
          <a:bodyPr/>
          <a:lstStyle/>
          <a:p>
            <a:fld id="{4510AD55-118C-453F-AEC9-3256547505F1}" type="slidenum">
              <a:rPr lang="en-US" smtClean="0"/>
              <a:t>41</a:t>
            </a:fld>
            <a:endParaRPr lang="en-US"/>
          </a:p>
        </p:txBody>
      </p:sp>
    </p:spTree>
    <p:extLst>
      <p:ext uri="{BB962C8B-B14F-4D97-AF65-F5344CB8AC3E}">
        <p14:creationId xmlns:p14="http://schemas.microsoft.com/office/powerpoint/2010/main" val="4012292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Main Components</a:t>
            </a:r>
            <a:br>
              <a:rPr lang="en-US" dirty="0"/>
            </a:br>
            <a:r>
              <a:rPr lang="en-US" dirty="0"/>
              <a:t>of V1.5</a:t>
            </a:r>
          </a:p>
        </p:txBody>
      </p:sp>
      <p:sp>
        <p:nvSpPr>
          <p:cNvPr id="3" name="Content Placeholder 2"/>
          <p:cNvSpPr>
            <a:spLocks noGrp="1"/>
          </p:cNvSpPr>
          <p:nvPr>
            <p:ph idx="1"/>
          </p:nvPr>
        </p:nvSpPr>
        <p:spPr>
          <a:xfrm>
            <a:off x="304800" y="1981200"/>
            <a:ext cx="4130041" cy="3581400"/>
          </a:xfrm>
        </p:spPr>
        <p:txBody>
          <a:bodyPr>
            <a:normAutofit fontScale="85000" lnSpcReduction="20000"/>
          </a:bodyPr>
          <a:lstStyle/>
          <a:p>
            <a:r>
              <a:rPr lang="en-US" dirty="0"/>
              <a:t>Controller can add, update, delete flow entries in the flow tables (Reactively or proactively)</a:t>
            </a:r>
          </a:p>
          <a:p>
            <a:r>
              <a:rPr lang="en-US" dirty="0"/>
              <a:t>So what are flow tables and how are flow tables used ?</a:t>
            </a:r>
          </a:p>
          <a:p>
            <a:r>
              <a:rPr lang="en-US" dirty="0"/>
              <a:t>(Meter Table is new in V1.5)</a:t>
            </a:r>
          </a:p>
          <a:p>
            <a:endParaRPr lang="en-US" dirty="0"/>
          </a:p>
        </p:txBody>
      </p:sp>
      <p:pic>
        <p:nvPicPr>
          <p:cNvPr id="4" name="Picture 3"/>
          <p:cNvPicPr>
            <a:picLocks noChangeAspect="1"/>
          </p:cNvPicPr>
          <p:nvPr/>
        </p:nvPicPr>
        <p:blipFill>
          <a:blip r:embed="rId3"/>
          <a:stretch>
            <a:fillRect/>
          </a:stretch>
        </p:blipFill>
        <p:spPr>
          <a:xfrm>
            <a:off x="4434841" y="1730366"/>
            <a:ext cx="4192427" cy="4042251"/>
          </a:xfrm>
          <a:prstGeom prst="rect">
            <a:avLst/>
          </a:prstGeom>
        </p:spPr>
      </p:pic>
    </p:spTree>
    <p:extLst>
      <p:ext uri="{BB962C8B-B14F-4D97-AF65-F5344CB8AC3E}">
        <p14:creationId xmlns:p14="http://schemas.microsoft.com/office/powerpoint/2010/main" val="1188092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OpenFlow Tables - Pipeline</a:t>
            </a:r>
          </a:p>
        </p:txBody>
      </p:sp>
      <p:pic>
        <p:nvPicPr>
          <p:cNvPr id="4" name="Picture 3"/>
          <p:cNvPicPr>
            <a:picLocks noChangeAspect="1"/>
          </p:cNvPicPr>
          <p:nvPr/>
        </p:nvPicPr>
        <p:blipFill>
          <a:blip r:embed="rId3"/>
          <a:stretch>
            <a:fillRect/>
          </a:stretch>
        </p:blipFill>
        <p:spPr>
          <a:xfrm>
            <a:off x="769116" y="1417638"/>
            <a:ext cx="7536683" cy="4969971"/>
          </a:xfrm>
          <a:prstGeom prst="rect">
            <a:avLst/>
          </a:prstGeom>
        </p:spPr>
      </p:pic>
    </p:spTree>
    <p:extLst>
      <p:ext uri="{BB962C8B-B14F-4D97-AF65-F5344CB8AC3E}">
        <p14:creationId xmlns:p14="http://schemas.microsoft.com/office/powerpoint/2010/main" val="8128099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514035" cy="551090"/>
          </a:xfrm>
        </p:spPr>
        <p:txBody>
          <a:bodyPr>
            <a:normAutofit fontScale="90000"/>
          </a:bodyPr>
          <a:lstStyle/>
          <a:p>
            <a:r>
              <a:rPr lang="en-US" dirty="0"/>
              <a:t>Processing a Packet in an OF Switch</a:t>
            </a:r>
          </a:p>
        </p:txBody>
      </p:sp>
      <p:sp>
        <p:nvSpPr>
          <p:cNvPr id="3" name="Content Placeholder 2"/>
          <p:cNvSpPr>
            <a:spLocks noGrp="1"/>
          </p:cNvSpPr>
          <p:nvPr>
            <p:ph idx="1"/>
          </p:nvPr>
        </p:nvSpPr>
        <p:spPr>
          <a:xfrm>
            <a:off x="152400" y="779690"/>
            <a:ext cx="8839200" cy="5925910"/>
          </a:xfrm>
        </p:spPr>
        <p:txBody>
          <a:bodyPr>
            <a:normAutofit fontScale="77500" lnSpcReduction="20000"/>
          </a:bodyPr>
          <a:lstStyle/>
          <a:p>
            <a:r>
              <a:rPr lang="en-US" dirty="0"/>
              <a:t>Processing packet in an OpenFlow switch: sub steps:</a:t>
            </a:r>
          </a:p>
          <a:p>
            <a:r>
              <a:rPr lang="en-US" dirty="0"/>
              <a:t>Packet processed in ingress tables, then group table, and finally in egress tables.</a:t>
            </a:r>
          </a:p>
          <a:p>
            <a:r>
              <a:rPr lang="en-US" dirty="0"/>
              <a:t>Each packet arrival: goes to first table of ingress processing with the empty action set. </a:t>
            </a:r>
          </a:p>
          <a:p>
            <a:r>
              <a:rPr lang="en-US" dirty="0"/>
              <a:t>Each table: may make changes to packet &amp; also add/remove actions to action set.</a:t>
            </a:r>
          </a:p>
          <a:p>
            <a:r>
              <a:rPr lang="en-US" dirty="0"/>
              <a:t>When packet gets to a flow table without instructions of what the next table is: executes the actions in action set.</a:t>
            </a:r>
          </a:p>
          <a:p>
            <a:r>
              <a:rPr lang="en-US" dirty="0"/>
              <a:t>Action set contains at most one instance of action from each table in the pipeline.</a:t>
            </a:r>
          </a:p>
          <a:p>
            <a:r>
              <a:rPr lang="en-US" dirty="0"/>
              <a:t>After that it is processed in the group table. </a:t>
            </a:r>
          </a:p>
          <a:p>
            <a:r>
              <a:rPr lang="en-US" dirty="0"/>
              <a:t>Similar functionality occurs in the egress processing tables.</a:t>
            </a:r>
          </a:p>
          <a:p>
            <a:r>
              <a:rPr lang="en-US" dirty="0"/>
              <a:t>However the difference is that the action set of ingress is empty at beginning and action set of egress has OUTPUT action (sending to a port action)</a:t>
            </a:r>
          </a:p>
          <a:p>
            <a:endParaRPr lang="en-US" dirty="0"/>
          </a:p>
        </p:txBody>
      </p:sp>
    </p:spTree>
    <p:extLst>
      <p:ext uri="{BB962C8B-B14F-4D97-AF65-F5344CB8AC3E}">
        <p14:creationId xmlns:p14="http://schemas.microsoft.com/office/powerpoint/2010/main" val="1963861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p:txBody>
          <a:bodyPr>
            <a:normAutofit fontScale="92500" lnSpcReduction="20000"/>
          </a:bodyPr>
          <a:lstStyle/>
          <a:p>
            <a:r>
              <a:rPr lang="de-DE" dirty="0"/>
              <a:t>Flow Table </a:t>
            </a:r>
            <a:r>
              <a:rPr lang="de-DE" dirty="0" err="1"/>
              <a:t>entry</a:t>
            </a:r>
            <a:r>
              <a:rPr lang="de-DE" dirty="0"/>
              <a:t> </a:t>
            </a:r>
            <a:r>
              <a:rPr lang="de-DE" dirty="0" err="1"/>
              <a:t>structure</a:t>
            </a:r>
            <a:r>
              <a:rPr lang="de-DE" dirty="0"/>
              <a:t>:</a:t>
            </a:r>
          </a:p>
          <a:p>
            <a:endParaRPr lang="de-DE" dirty="0"/>
          </a:p>
          <a:p>
            <a:endParaRPr lang="de-DE" dirty="0"/>
          </a:p>
          <a:p>
            <a:r>
              <a:rPr lang="de-DE" dirty="0"/>
              <a:t>Match </a:t>
            </a:r>
            <a:r>
              <a:rPr lang="de-DE" dirty="0" err="1"/>
              <a:t>fields</a:t>
            </a:r>
            <a:r>
              <a:rPr lang="de-DE" dirty="0"/>
              <a:t>: </a:t>
            </a:r>
            <a:r>
              <a:rPr lang="de-DE" dirty="0" err="1"/>
              <a:t>where</a:t>
            </a:r>
            <a:r>
              <a:rPr lang="de-DE" dirty="0"/>
              <a:t> </a:t>
            </a:r>
            <a:r>
              <a:rPr lang="de-DE" dirty="0" err="1"/>
              <a:t>matching</a:t>
            </a:r>
            <a:r>
              <a:rPr lang="de-DE" dirty="0"/>
              <a:t> </a:t>
            </a:r>
            <a:r>
              <a:rPr lang="de-DE" dirty="0" err="1"/>
              <a:t>applies</a:t>
            </a:r>
            <a:r>
              <a:rPr lang="de-DE" dirty="0"/>
              <a:t> (i.e., </a:t>
            </a:r>
            <a:r>
              <a:rPr lang="de-DE" dirty="0" err="1"/>
              <a:t>ingress</a:t>
            </a:r>
            <a:r>
              <a:rPr lang="de-DE" dirty="0"/>
              <a:t> </a:t>
            </a:r>
            <a:r>
              <a:rPr lang="de-DE" dirty="0" err="1"/>
              <a:t>port</a:t>
            </a:r>
            <a:r>
              <a:rPr lang="de-DE" dirty="0"/>
              <a:t>, packet </a:t>
            </a:r>
            <a:r>
              <a:rPr lang="de-DE" dirty="0" err="1"/>
              <a:t>headers</a:t>
            </a:r>
            <a:r>
              <a:rPr lang="de-DE" dirty="0"/>
              <a:t>, etc.)</a:t>
            </a:r>
          </a:p>
          <a:p>
            <a:r>
              <a:rPr lang="de-DE" dirty="0" err="1"/>
              <a:t>Priority</a:t>
            </a:r>
            <a:r>
              <a:rPr lang="de-DE" dirty="0"/>
              <a:t>: </a:t>
            </a:r>
            <a:r>
              <a:rPr lang="de-DE" dirty="0" err="1"/>
              <a:t>matching</a:t>
            </a:r>
            <a:r>
              <a:rPr lang="de-DE" dirty="0"/>
              <a:t> </a:t>
            </a:r>
            <a:r>
              <a:rPr lang="de-DE" dirty="0" err="1"/>
              <a:t>precedence</a:t>
            </a:r>
            <a:r>
              <a:rPr lang="de-DE" dirty="0"/>
              <a:t> </a:t>
            </a:r>
            <a:r>
              <a:rPr lang="de-DE" dirty="0" err="1"/>
              <a:t>of</a:t>
            </a:r>
            <a:r>
              <a:rPr lang="de-DE" dirty="0"/>
              <a:t> </a:t>
            </a:r>
            <a:r>
              <a:rPr lang="de-DE" dirty="0" err="1"/>
              <a:t>flow</a:t>
            </a:r>
            <a:r>
              <a:rPr lang="de-DE" dirty="0"/>
              <a:t> </a:t>
            </a:r>
            <a:r>
              <a:rPr lang="de-DE" dirty="0" err="1"/>
              <a:t>table</a:t>
            </a:r>
            <a:r>
              <a:rPr lang="de-DE" dirty="0"/>
              <a:t> </a:t>
            </a:r>
            <a:r>
              <a:rPr lang="de-DE" dirty="0" err="1"/>
              <a:t>entry</a:t>
            </a:r>
            <a:endParaRPr lang="de-DE" dirty="0"/>
          </a:p>
          <a:p>
            <a:r>
              <a:rPr lang="de-DE" dirty="0"/>
              <a:t>Counters: update on packet </a:t>
            </a:r>
            <a:r>
              <a:rPr lang="de-DE" dirty="0" err="1"/>
              <a:t>match</a:t>
            </a:r>
            <a:r>
              <a:rPr lang="de-DE" dirty="0"/>
              <a:t> </a:t>
            </a:r>
            <a:r>
              <a:rPr lang="de-DE" dirty="0" err="1"/>
              <a:t>with</a:t>
            </a:r>
            <a:r>
              <a:rPr lang="de-DE" dirty="0"/>
              <a:t> </a:t>
            </a:r>
            <a:r>
              <a:rPr lang="de-DE" dirty="0" err="1"/>
              <a:t>entry</a:t>
            </a:r>
            <a:endParaRPr lang="de-DE" dirty="0"/>
          </a:p>
          <a:p>
            <a:r>
              <a:rPr lang="de-DE" dirty="0" err="1"/>
              <a:t>Instructions</a:t>
            </a:r>
            <a:r>
              <a:rPr lang="de-DE" dirty="0"/>
              <a:t>: </a:t>
            </a:r>
            <a:r>
              <a:rPr lang="de-DE" dirty="0" err="1"/>
              <a:t>what</a:t>
            </a:r>
            <a:r>
              <a:rPr lang="de-DE" dirty="0"/>
              <a:t> </a:t>
            </a:r>
            <a:r>
              <a:rPr lang="de-DE" dirty="0" err="1"/>
              <a:t>to</a:t>
            </a:r>
            <a:r>
              <a:rPr lang="de-DE" dirty="0"/>
              <a:t> do </a:t>
            </a:r>
            <a:r>
              <a:rPr lang="de-DE" dirty="0" err="1"/>
              <a:t>with</a:t>
            </a:r>
            <a:r>
              <a:rPr lang="de-DE" dirty="0"/>
              <a:t> </a:t>
            </a:r>
            <a:r>
              <a:rPr lang="de-DE" dirty="0" err="1"/>
              <a:t>the</a:t>
            </a:r>
            <a:r>
              <a:rPr lang="de-DE" dirty="0"/>
              <a:t> packet</a:t>
            </a:r>
          </a:p>
          <a:p>
            <a:r>
              <a:rPr lang="de-DE" dirty="0"/>
              <a:t>Timeout: </a:t>
            </a:r>
            <a:r>
              <a:rPr lang="de-DE" dirty="0" err="1"/>
              <a:t>max</a:t>
            </a:r>
            <a:r>
              <a:rPr lang="de-DE" dirty="0"/>
              <a:t> </a:t>
            </a:r>
            <a:r>
              <a:rPr lang="de-DE" dirty="0" err="1"/>
              <a:t>idle</a:t>
            </a:r>
            <a:r>
              <a:rPr lang="de-DE" dirty="0"/>
              <a:t> time </a:t>
            </a:r>
            <a:r>
              <a:rPr lang="de-DE" dirty="0" err="1"/>
              <a:t>of</a:t>
            </a:r>
            <a:r>
              <a:rPr lang="de-DE" dirty="0"/>
              <a:t> </a:t>
            </a:r>
            <a:r>
              <a:rPr lang="de-DE" dirty="0" err="1"/>
              <a:t>flow</a:t>
            </a:r>
            <a:r>
              <a:rPr lang="de-DE" dirty="0"/>
              <a:t> </a:t>
            </a:r>
            <a:r>
              <a:rPr lang="de-DE" dirty="0" err="1"/>
              <a:t>entry</a:t>
            </a:r>
            <a:r>
              <a:rPr lang="de-DE" dirty="0"/>
              <a:t> </a:t>
            </a:r>
            <a:r>
              <a:rPr lang="de-DE" dirty="0" err="1"/>
              <a:t>before</a:t>
            </a:r>
            <a:r>
              <a:rPr lang="de-DE" dirty="0"/>
              <a:t> </a:t>
            </a:r>
            <a:r>
              <a:rPr lang="de-DE" dirty="0" err="1"/>
              <a:t>ending</a:t>
            </a:r>
            <a:r>
              <a:rPr lang="de-DE" dirty="0"/>
              <a:t> (</a:t>
            </a:r>
            <a:r>
              <a:rPr lang="de-DE" dirty="0" err="1"/>
              <a:t>flush</a:t>
            </a:r>
            <a:r>
              <a:rPr lang="de-DE" dirty="0"/>
              <a:t> </a:t>
            </a:r>
            <a:r>
              <a:rPr lang="de-DE" dirty="0" err="1"/>
              <a:t>entry</a:t>
            </a:r>
            <a:r>
              <a:rPr lang="de-DE" dirty="0"/>
              <a:t> </a:t>
            </a:r>
            <a:r>
              <a:rPr lang="de-DE" dirty="0" err="1"/>
              <a:t>from</a:t>
            </a:r>
            <a:r>
              <a:rPr lang="de-DE" dirty="0"/>
              <a:t> </a:t>
            </a:r>
            <a:r>
              <a:rPr lang="de-DE" dirty="0" err="1"/>
              <a:t>table</a:t>
            </a:r>
            <a:r>
              <a:rPr lang="de-DE" dirty="0"/>
              <a:t>)</a:t>
            </a:r>
          </a:p>
          <a:p>
            <a:endParaRPr lang="de-DE" dirty="0"/>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pic>
        <p:nvPicPr>
          <p:cNvPr id="87043" name="Picture 3"/>
          <p:cNvPicPr>
            <a:picLocks noChangeAspect="1" noChangeArrowheads="1"/>
          </p:cNvPicPr>
          <p:nvPr/>
        </p:nvPicPr>
        <p:blipFill>
          <a:blip r:embed="rId2" cstate="print"/>
          <a:srcRect/>
          <a:stretch>
            <a:fillRect/>
          </a:stretch>
        </p:blipFill>
        <p:spPr bwMode="auto">
          <a:xfrm>
            <a:off x="470754" y="2382982"/>
            <a:ext cx="8659391" cy="557213"/>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a:stretch>
            <a:fillRect/>
          </a:stretch>
        </p:blipFill>
        <p:spPr bwMode="auto">
          <a:xfrm>
            <a:off x="6776254" y="-76200"/>
            <a:ext cx="2367746" cy="2570183"/>
          </a:xfrm>
          <a:prstGeom prst="rect">
            <a:avLst/>
          </a:prstGeom>
          <a:noFill/>
          <a:ln w="9525">
            <a:noFill/>
            <a:miter lim="800000"/>
            <a:headEnd/>
            <a:tailEnd/>
          </a:ln>
        </p:spPr>
      </p:pic>
      <p:sp>
        <p:nvSpPr>
          <p:cNvPr id="7" name="Rectangle 6"/>
          <p:cNvSpPr/>
          <p:nvPr/>
        </p:nvSpPr>
        <p:spPr bwMode="auto">
          <a:xfrm>
            <a:off x="7239000" y="1554480"/>
            <a:ext cx="518160" cy="5943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4" name="Slide Number Placeholder 3"/>
          <p:cNvSpPr>
            <a:spLocks noGrp="1"/>
          </p:cNvSpPr>
          <p:nvPr>
            <p:ph type="sldNum" sz="quarter" idx="12"/>
          </p:nvPr>
        </p:nvSpPr>
        <p:spPr/>
        <p:txBody>
          <a:bodyPr/>
          <a:lstStyle/>
          <a:p>
            <a:fld id="{4510AD55-118C-453F-AEC9-3256547505F1}" type="slidenum">
              <a:rPr lang="en-US" smtClean="0"/>
              <a:t>45</a:t>
            </a:fld>
            <a:endParaRPr lang="en-US"/>
          </a:p>
        </p:txBody>
      </p:sp>
    </p:spTree>
    <p:extLst>
      <p:ext uri="{BB962C8B-B14F-4D97-AF65-F5344CB8AC3E}">
        <p14:creationId xmlns:p14="http://schemas.microsoft.com/office/powerpoint/2010/main" val="38747713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p:txBody>
          <a:bodyPr>
            <a:normAutofit fontScale="92500" lnSpcReduction="10000"/>
          </a:bodyPr>
          <a:lstStyle/>
          <a:p>
            <a:r>
              <a:rPr lang="de-DE" dirty="0"/>
              <a:t>Flow Table </a:t>
            </a:r>
            <a:r>
              <a:rPr lang="de-DE" dirty="0" err="1"/>
              <a:t>entry</a:t>
            </a:r>
            <a:r>
              <a:rPr lang="de-DE" dirty="0"/>
              <a:t> </a:t>
            </a:r>
            <a:r>
              <a:rPr lang="de-DE" dirty="0" err="1"/>
              <a:t>structure</a:t>
            </a:r>
            <a:r>
              <a:rPr lang="de-DE" dirty="0"/>
              <a:t>:</a:t>
            </a:r>
          </a:p>
          <a:p>
            <a:endParaRPr lang="de-DE" dirty="0"/>
          </a:p>
          <a:p>
            <a:endParaRPr lang="de-DE" dirty="0"/>
          </a:p>
          <a:p>
            <a:r>
              <a:rPr lang="de-DE" dirty="0"/>
              <a:t>Match </a:t>
            </a:r>
            <a:r>
              <a:rPr lang="de-DE" dirty="0" err="1"/>
              <a:t>fields</a:t>
            </a:r>
            <a:r>
              <a:rPr lang="de-DE" dirty="0"/>
              <a:t>: </a:t>
            </a:r>
            <a:r>
              <a:rPr lang="de-DE" dirty="0" err="1"/>
              <a:t>where</a:t>
            </a:r>
            <a:r>
              <a:rPr lang="de-DE" dirty="0"/>
              <a:t> </a:t>
            </a:r>
            <a:r>
              <a:rPr lang="de-DE" dirty="0" err="1"/>
              <a:t>matching</a:t>
            </a:r>
            <a:r>
              <a:rPr lang="de-DE" dirty="0"/>
              <a:t> </a:t>
            </a:r>
            <a:r>
              <a:rPr lang="de-DE" dirty="0" err="1"/>
              <a:t>applies</a:t>
            </a:r>
            <a:r>
              <a:rPr lang="de-DE" dirty="0"/>
              <a:t> (i.e., </a:t>
            </a:r>
            <a:r>
              <a:rPr lang="de-DE" dirty="0" err="1"/>
              <a:t>ingress</a:t>
            </a:r>
            <a:r>
              <a:rPr lang="de-DE" dirty="0"/>
              <a:t> </a:t>
            </a:r>
            <a:r>
              <a:rPr lang="de-DE" dirty="0" err="1"/>
              <a:t>port</a:t>
            </a:r>
            <a:r>
              <a:rPr lang="de-DE" dirty="0"/>
              <a:t>, packet (IP, </a:t>
            </a:r>
            <a:r>
              <a:rPr lang="de-DE" dirty="0" err="1"/>
              <a:t>eth</a:t>
            </a:r>
            <a:r>
              <a:rPr lang="de-DE" dirty="0"/>
              <a:t>) </a:t>
            </a:r>
            <a:r>
              <a:rPr lang="de-DE" dirty="0" err="1"/>
              <a:t>headers</a:t>
            </a:r>
            <a:r>
              <a:rPr lang="de-DE" dirty="0"/>
              <a:t>, etc.)</a:t>
            </a:r>
          </a:p>
          <a:p>
            <a:r>
              <a:rPr lang="de-DE" dirty="0" err="1"/>
              <a:t>Priority</a:t>
            </a:r>
            <a:r>
              <a:rPr lang="de-DE" dirty="0"/>
              <a:t>: </a:t>
            </a:r>
            <a:r>
              <a:rPr lang="de-DE" dirty="0" err="1"/>
              <a:t>matching</a:t>
            </a:r>
            <a:r>
              <a:rPr lang="de-DE" dirty="0"/>
              <a:t> </a:t>
            </a:r>
            <a:r>
              <a:rPr lang="de-DE" dirty="0" err="1"/>
              <a:t>precedence</a:t>
            </a:r>
            <a:r>
              <a:rPr lang="de-DE" dirty="0"/>
              <a:t> </a:t>
            </a:r>
            <a:r>
              <a:rPr lang="de-DE" dirty="0" err="1"/>
              <a:t>of</a:t>
            </a:r>
            <a:r>
              <a:rPr lang="de-DE" dirty="0"/>
              <a:t> </a:t>
            </a:r>
            <a:r>
              <a:rPr lang="de-DE" dirty="0" err="1"/>
              <a:t>flow</a:t>
            </a:r>
            <a:r>
              <a:rPr lang="de-DE" dirty="0"/>
              <a:t> </a:t>
            </a:r>
            <a:r>
              <a:rPr lang="de-DE" dirty="0" err="1"/>
              <a:t>entry</a:t>
            </a:r>
            <a:endParaRPr lang="de-DE" dirty="0"/>
          </a:p>
          <a:p>
            <a:endParaRPr lang="de-DE" dirty="0"/>
          </a:p>
          <a:p>
            <a:r>
              <a:rPr lang="de-DE" dirty="0"/>
              <a:t>A </a:t>
            </a:r>
            <a:r>
              <a:rPr lang="de-DE" dirty="0" err="1"/>
              <a:t>flow</a:t>
            </a:r>
            <a:r>
              <a:rPr lang="de-DE" dirty="0"/>
              <a:t> </a:t>
            </a:r>
            <a:r>
              <a:rPr lang="de-DE" dirty="0" err="1"/>
              <a:t>entry</a:t>
            </a:r>
            <a:r>
              <a:rPr lang="de-DE" dirty="0"/>
              <a:t> </a:t>
            </a:r>
            <a:r>
              <a:rPr lang="de-DE" dirty="0" err="1"/>
              <a:t>with</a:t>
            </a:r>
            <a:r>
              <a:rPr lang="de-DE" dirty="0"/>
              <a:t> all </a:t>
            </a:r>
            <a:r>
              <a:rPr lang="de-DE" dirty="0" err="1"/>
              <a:t>match</a:t>
            </a:r>
            <a:r>
              <a:rPr lang="de-DE" dirty="0"/>
              <a:t> </a:t>
            </a:r>
            <a:r>
              <a:rPr lang="de-DE" dirty="0" err="1"/>
              <a:t>fields</a:t>
            </a:r>
            <a:r>
              <a:rPr lang="de-DE" dirty="0"/>
              <a:t> </a:t>
            </a:r>
            <a:r>
              <a:rPr lang="de-DE" dirty="0" err="1"/>
              <a:t>as</a:t>
            </a:r>
            <a:r>
              <a:rPr lang="de-DE" dirty="0"/>
              <a:t> </a:t>
            </a:r>
            <a:r>
              <a:rPr lang="de-DE" dirty="0" err="1"/>
              <a:t>wildcard</a:t>
            </a:r>
            <a:r>
              <a:rPr lang="de-DE" dirty="0"/>
              <a:t> </a:t>
            </a:r>
            <a:r>
              <a:rPr lang="de-DE" dirty="0" err="1"/>
              <a:t>and</a:t>
            </a:r>
            <a:r>
              <a:rPr lang="de-DE" dirty="0"/>
              <a:t> </a:t>
            </a:r>
            <a:r>
              <a:rPr lang="de-DE" dirty="0" err="1"/>
              <a:t>priority</a:t>
            </a:r>
            <a:r>
              <a:rPr lang="de-DE" dirty="0"/>
              <a:t> 0: </a:t>
            </a:r>
            <a:r>
              <a:rPr lang="de-DE" i="1" dirty="0" err="1">
                <a:solidFill>
                  <a:schemeClr val="accent2"/>
                </a:solidFill>
              </a:rPr>
              <a:t>table</a:t>
            </a:r>
            <a:r>
              <a:rPr lang="de-DE" i="1" dirty="0">
                <a:solidFill>
                  <a:schemeClr val="accent2"/>
                </a:solidFill>
              </a:rPr>
              <a:t> miss </a:t>
            </a:r>
            <a:r>
              <a:rPr lang="de-DE" dirty="0" err="1"/>
              <a:t>entry</a:t>
            </a:r>
            <a:endParaRPr lang="de-DE" dirty="0"/>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pic>
        <p:nvPicPr>
          <p:cNvPr id="87043" name="Picture 3"/>
          <p:cNvPicPr>
            <a:picLocks noChangeAspect="1" noChangeArrowheads="1"/>
          </p:cNvPicPr>
          <p:nvPr/>
        </p:nvPicPr>
        <p:blipFill>
          <a:blip r:embed="rId2" cstate="print"/>
          <a:srcRect/>
          <a:stretch>
            <a:fillRect/>
          </a:stretch>
        </p:blipFill>
        <p:spPr bwMode="auto">
          <a:xfrm>
            <a:off x="470754" y="2382982"/>
            <a:ext cx="8659391" cy="557213"/>
          </a:xfrm>
          <a:prstGeom prst="rect">
            <a:avLst/>
          </a:prstGeom>
          <a:noFill/>
          <a:ln w="9525">
            <a:noFill/>
            <a:miter lim="800000"/>
            <a:headEnd/>
            <a:tailEnd/>
          </a:ln>
        </p:spPr>
      </p:pic>
      <p:sp>
        <p:nvSpPr>
          <p:cNvPr id="6" name="Rectangle 5"/>
          <p:cNvSpPr/>
          <p:nvPr/>
        </p:nvSpPr>
        <p:spPr bwMode="auto">
          <a:xfrm>
            <a:off x="471055" y="3075709"/>
            <a:ext cx="7813963" cy="1579418"/>
          </a:xfrm>
          <a:prstGeom prst="rect">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4" name="Slide Number Placeholder 3"/>
          <p:cNvSpPr>
            <a:spLocks noGrp="1"/>
          </p:cNvSpPr>
          <p:nvPr>
            <p:ph type="sldNum" sz="quarter" idx="12"/>
          </p:nvPr>
        </p:nvSpPr>
        <p:spPr/>
        <p:txBody>
          <a:bodyPr/>
          <a:lstStyle/>
          <a:p>
            <a:fld id="{4510AD55-118C-453F-AEC9-3256547505F1}" type="slidenum">
              <a:rPr lang="en-US" smtClean="0"/>
              <a:t>46</a:t>
            </a:fld>
            <a:endParaRPr lang="en-US"/>
          </a:p>
        </p:txBody>
      </p:sp>
    </p:spTree>
    <p:extLst>
      <p:ext uri="{BB962C8B-B14F-4D97-AF65-F5344CB8AC3E}">
        <p14:creationId xmlns:p14="http://schemas.microsoft.com/office/powerpoint/2010/main" val="299609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p:txBody>
          <a:bodyPr/>
          <a:lstStyle/>
          <a:p>
            <a:r>
              <a:rPr lang="de-DE" dirty="0" err="1"/>
              <a:t>If</a:t>
            </a:r>
            <a:r>
              <a:rPr lang="de-DE" dirty="0"/>
              <a:t> </a:t>
            </a:r>
            <a:r>
              <a:rPr lang="de-DE" dirty="0" err="1"/>
              <a:t>no</a:t>
            </a:r>
            <a:r>
              <a:rPr lang="de-DE" dirty="0"/>
              <a:t> </a:t>
            </a:r>
            <a:r>
              <a:rPr lang="de-DE" dirty="0" err="1"/>
              <a:t>match</a:t>
            </a:r>
            <a:r>
              <a:rPr lang="de-DE" dirty="0"/>
              <a:t> in </a:t>
            </a:r>
            <a:r>
              <a:rPr lang="de-DE" dirty="0" err="1"/>
              <a:t>table</a:t>
            </a:r>
            <a:r>
              <a:rPr lang="de-DE" dirty="0"/>
              <a:t>: </a:t>
            </a:r>
            <a:r>
              <a:rPr lang="de-DE" i="1" dirty="0" err="1">
                <a:solidFill>
                  <a:schemeClr val="accent2"/>
                </a:solidFill>
              </a:rPr>
              <a:t>table</a:t>
            </a:r>
            <a:r>
              <a:rPr lang="de-DE" i="1" dirty="0">
                <a:solidFill>
                  <a:schemeClr val="accent2"/>
                </a:solidFill>
              </a:rPr>
              <a:t> miss</a:t>
            </a:r>
          </a:p>
          <a:p>
            <a:r>
              <a:rPr lang="de-DE" dirty="0"/>
              <a:t>Handling: </a:t>
            </a:r>
            <a:r>
              <a:rPr lang="de-DE" dirty="0" err="1"/>
              <a:t>depends</a:t>
            </a:r>
            <a:r>
              <a:rPr lang="de-DE" dirty="0"/>
              <a:t> on </a:t>
            </a:r>
            <a:r>
              <a:rPr lang="de-DE" dirty="0" err="1"/>
              <a:t>table</a:t>
            </a:r>
            <a:r>
              <a:rPr lang="de-DE" dirty="0"/>
              <a:t> </a:t>
            </a:r>
            <a:r>
              <a:rPr lang="de-DE" dirty="0" err="1"/>
              <a:t>configuration</a:t>
            </a:r>
            <a:r>
              <a:rPr lang="de-DE" dirty="0"/>
              <a:t> –</a:t>
            </a:r>
          </a:p>
          <a:p>
            <a:pPr>
              <a:buNone/>
            </a:pPr>
            <a:r>
              <a:rPr lang="de-DE" dirty="0"/>
              <a:t>	</a:t>
            </a:r>
            <a:r>
              <a:rPr lang="de-DE" dirty="0" err="1"/>
              <a:t>might</a:t>
            </a:r>
            <a:r>
              <a:rPr lang="de-DE" dirty="0"/>
              <a:t> </a:t>
            </a:r>
            <a:r>
              <a:rPr lang="de-DE" dirty="0" err="1"/>
              <a:t>be</a:t>
            </a:r>
            <a:r>
              <a:rPr lang="de-DE" dirty="0"/>
              <a:t> </a:t>
            </a:r>
            <a:r>
              <a:rPr lang="de-DE" i="1" dirty="0" err="1">
                <a:solidFill>
                  <a:schemeClr val="accent2"/>
                </a:solidFill>
              </a:rPr>
              <a:t>drop</a:t>
            </a:r>
            <a:r>
              <a:rPr lang="de-DE" i="1" dirty="0">
                <a:solidFill>
                  <a:schemeClr val="accent2"/>
                </a:solidFill>
              </a:rPr>
              <a:t> packet, </a:t>
            </a:r>
            <a:r>
              <a:rPr lang="de-DE" i="1" dirty="0" err="1">
                <a:solidFill>
                  <a:schemeClr val="accent2"/>
                </a:solidFill>
              </a:rPr>
              <a:t>forward</a:t>
            </a:r>
            <a:r>
              <a:rPr lang="de-DE" i="1" dirty="0">
                <a:solidFill>
                  <a:schemeClr val="accent2"/>
                </a:solidFill>
              </a:rPr>
              <a:t> </a:t>
            </a:r>
            <a:r>
              <a:rPr lang="de-DE" i="1" dirty="0" err="1">
                <a:solidFill>
                  <a:schemeClr val="accent2"/>
                </a:solidFill>
              </a:rPr>
              <a:t>to</a:t>
            </a:r>
            <a:r>
              <a:rPr lang="de-DE" i="1" dirty="0">
                <a:solidFill>
                  <a:schemeClr val="accent2"/>
                </a:solidFill>
              </a:rPr>
              <a:t> </a:t>
            </a:r>
            <a:r>
              <a:rPr lang="de-DE" i="1" dirty="0" err="1">
                <a:solidFill>
                  <a:schemeClr val="accent2"/>
                </a:solidFill>
              </a:rPr>
              <a:t>other</a:t>
            </a:r>
            <a:r>
              <a:rPr lang="de-DE" i="1" dirty="0">
                <a:solidFill>
                  <a:schemeClr val="accent2"/>
                </a:solidFill>
              </a:rPr>
              <a:t> </a:t>
            </a:r>
            <a:r>
              <a:rPr lang="de-DE" i="1" dirty="0" err="1">
                <a:solidFill>
                  <a:schemeClr val="accent2"/>
                </a:solidFill>
              </a:rPr>
              <a:t>table</a:t>
            </a:r>
            <a:r>
              <a:rPr lang="de-DE" i="1" dirty="0">
                <a:solidFill>
                  <a:schemeClr val="accent2"/>
                </a:solidFill>
              </a:rPr>
              <a:t>, </a:t>
            </a:r>
            <a:r>
              <a:rPr lang="de-DE" i="1" dirty="0" err="1">
                <a:solidFill>
                  <a:schemeClr val="accent2"/>
                </a:solidFill>
              </a:rPr>
              <a:t>forward</a:t>
            </a:r>
            <a:r>
              <a:rPr lang="de-DE" i="1" dirty="0">
                <a:solidFill>
                  <a:schemeClr val="accent2"/>
                </a:solidFill>
              </a:rPr>
              <a:t> </a:t>
            </a:r>
            <a:r>
              <a:rPr lang="de-DE" i="1" dirty="0" err="1">
                <a:solidFill>
                  <a:schemeClr val="accent2"/>
                </a:solidFill>
              </a:rPr>
              <a:t>to</a:t>
            </a:r>
            <a:r>
              <a:rPr lang="de-DE" i="1" dirty="0">
                <a:solidFill>
                  <a:schemeClr val="accent2"/>
                </a:solidFill>
              </a:rPr>
              <a:t> </a:t>
            </a:r>
            <a:r>
              <a:rPr lang="de-DE" i="1" dirty="0" err="1">
                <a:solidFill>
                  <a:schemeClr val="accent2"/>
                </a:solidFill>
              </a:rPr>
              <a:t>controller</a:t>
            </a:r>
            <a:endParaRPr lang="de-DE" i="1" dirty="0">
              <a:solidFill>
                <a:schemeClr val="accent2"/>
              </a:solidFill>
            </a:endParaRPr>
          </a:p>
          <a:p>
            <a:r>
              <a:rPr lang="de-DE" dirty="0"/>
              <a:t>Forward </a:t>
            </a:r>
            <a:r>
              <a:rPr lang="de-DE" dirty="0" err="1"/>
              <a:t>to</a:t>
            </a:r>
            <a:r>
              <a:rPr lang="de-DE" dirty="0"/>
              <a:t> </a:t>
            </a:r>
            <a:r>
              <a:rPr lang="de-DE" dirty="0" err="1"/>
              <a:t>controller</a:t>
            </a:r>
            <a:r>
              <a:rPr lang="de-DE" dirty="0"/>
              <a:t> </a:t>
            </a:r>
            <a:r>
              <a:rPr lang="de-DE" dirty="0" err="1"/>
              <a:t>allows</a:t>
            </a:r>
            <a:r>
              <a:rPr lang="de-DE" dirty="0"/>
              <a:t> </a:t>
            </a:r>
            <a:r>
              <a:rPr lang="de-DE" dirty="0" err="1"/>
              <a:t>to</a:t>
            </a:r>
            <a:r>
              <a:rPr lang="de-DE" dirty="0"/>
              <a:t> </a:t>
            </a:r>
            <a:r>
              <a:rPr lang="de-DE" dirty="0" err="1"/>
              <a:t>set</a:t>
            </a:r>
            <a:r>
              <a:rPr lang="de-DE" dirty="0"/>
              <a:t> </a:t>
            </a:r>
            <a:r>
              <a:rPr lang="de-DE" dirty="0" err="1"/>
              <a:t>up</a:t>
            </a:r>
            <a:r>
              <a:rPr lang="de-DE" dirty="0"/>
              <a:t> a </a:t>
            </a:r>
            <a:r>
              <a:rPr lang="de-DE" dirty="0" err="1"/>
              <a:t>flow</a:t>
            </a:r>
            <a:r>
              <a:rPr lang="de-DE" dirty="0"/>
              <a:t> </a:t>
            </a:r>
            <a:r>
              <a:rPr lang="de-DE" dirty="0" err="1"/>
              <a:t>entry</a:t>
            </a:r>
            <a:r>
              <a:rPr lang="de-DE" dirty="0"/>
              <a:t> </a:t>
            </a:r>
            <a:r>
              <a:rPr lang="de-DE" dirty="0" err="1"/>
              <a:t>for</a:t>
            </a:r>
            <a:r>
              <a:rPr lang="de-DE" dirty="0"/>
              <a:t> </a:t>
            </a:r>
            <a:r>
              <a:rPr lang="de-DE" dirty="0" err="1"/>
              <a:t>that</a:t>
            </a:r>
            <a:r>
              <a:rPr lang="de-DE" dirty="0"/>
              <a:t> </a:t>
            </a:r>
            <a:r>
              <a:rPr lang="de-DE" dirty="0" err="1"/>
              <a:t>flow</a:t>
            </a:r>
            <a:r>
              <a:rPr lang="de-DE" dirty="0"/>
              <a:t> (i.e., at </a:t>
            </a:r>
            <a:r>
              <a:rPr lang="de-DE" dirty="0" err="1"/>
              <a:t>the</a:t>
            </a:r>
            <a:r>
              <a:rPr lang="de-DE" dirty="0"/>
              <a:t> </a:t>
            </a:r>
            <a:r>
              <a:rPr lang="de-DE" dirty="0" err="1"/>
              <a:t>beginning</a:t>
            </a:r>
            <a:r>
              <a:rPr lang="de-DE" dirty="0"/>
              <a:t> </a:t>
            </a:r>
            <a:r>
              <a:rPr lang="de-DE" dirty="0" err="1"/>
              <a:t>of</a:t>
            </a:r>
            <a:r>
              <a:rPr lang="de-DE" dirty="0"/>
              <a:t> a </a:t>
            </a:r>
            <a:r>
              <a:rPr lang="de-DE" dirty="0" err="1"/>
              <a:t>flow</a:t>
            </a:r>
            <a:r>
              <a:rPr lang="de-DE" dirty="0"/>
              <a:t>)</a:t>
            </a: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sp>
        <p:nvSpPr>
          <p:cNvPr id="4" name="Slide Number Placeholder 3"/>
          <p:cNvSpPr>
            <a:spLocks noGrp="1"/>
          </p:cNvSpPr>
          <p:nvPr>
            <p:ph type="sldNum" sz="quarter" idx="12"/>
          </p:nvPr>
        </p:nvSpPr>
        <p:spPr/>
        <p:txBody>
          <a:bodyPr/>
          <a:lstStyle/>
          <a:p>
            <a:fld id="{4510AD55-118C-453F-AEC9-3256547505F1}" type="slidenum">
              <a:rPr lang="en-US" smtClean="0"/>
              <a:t>47</a:t>
            </a:fld>
            <a:endParaRPr lang="en-US"/>
          </a:p>
        </p:txBody>
      </p:sp>
    </p:spTree>
    <p:extLst>
      <p:ext uri="{BB962C8B-B14F-4D97-AF65-F5344CB8AC3E}">
        <p14:creationId xmlns:p14="http://schemas.microsoft.com/office/powerpoint/2010/main" val="1252007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Matching</a:t>
            </a:r>
            <a:endParaRPr lang="de-DE" dirty="0"/>
          </a:p>
        </p:txBody>
      </p:sp>
      <p:pic>
        <p:nvPicPr>
          <p:cNvPr id="84994" name="Picture 2"/>
          <p:cNvPicPr>
            <a:picLocks noChangeAspect="1" noChangeArrowheads="1"/>
          </p:cNvPicPr>
          <p:nvPr/>
        </p:nvPicPr>
        <p:blipFill>
          <a:blip r:embed="rId2" cstate="print"/>
          <a:srcRect/>
          <a:stretch>
            <a:fillRect/>
          </a:stretch>
        </p:blipFill>
        <p:spPr bwMode="auto">
          <a:xfrm>
            <a:off x="1061273" y="1609725"/>
            <a:ext cx="6974356" cy="5096085"/>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4510AD55-118C-453F-AEC9-3256547505F1}" type="slidenum">
              <a:rPr lang="en-US" smtClean="0"/>
              <a:t>48</a:t>
            </a:fld>
            <a:endParaRPr lang="en-US"/>
          </a:p>
        </p:txBody>
      </p:sp>
    </p:spTree>
    <p:extLst>
      <p:ext uri="{BB962C8B-B14F-4D97-AF65-F5344CB8AC3E}">
        <p14:creationId xmlns:p14="http://schemas.microsoft.com/office/powerpoint/2010/main" val="1184679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6657034" y="-198120"/>
            <a:ext cx="2400779" cy="2606040"/>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p:txBody>
          <a:bodyPr>
            <a:normAutofit fontScale="92500" lnSpcReduction="20000"/>
          </a:bodyPr>
          <a:lstStyle/>
          <a:p>
            <a:r>
              <a:rPr lang="de-DE" dirty="0"/>
              <a:t>Group Table </a:t>
            </a:r>
            <a:r>
              <a:rPr lang="de-DE" dirty="0" err="1"/>
              <a:t>entry</a:t>
            </a:r>
            <a:r>
              <a:rPr lang="de-DE" dirty="0"/>
              <a:t> </a:t>
            </a:r>
            <a:r>
              <a:rPr lang="de-DE" dirty="0" err="1"/>
              <a:t>structure</a:t>
            </a:r>
            <a:r>
              <a:rPr lang="de-DE" dirty="0"/>
              <a:t>:</a:t>
            </a:r>
          </a:p>
          <a:p>
            <a:endParaRPr lang="de-DE" dirty="0"/>
          </a:p>
          <a:p>
            <a:endParaRPr lang="de-DE" dirty="0"/>
          </a:p>
          <a:p>
            <a:r>
              <a:rPr lang="de-DE" dirty="0"/>
              <a:t>Group Identifier: 32-bit ID </a:t>
            </a:r>
            <a:r>
              <a:rPr lang="de-DE" dirty="0" err="1"/>
              <a:t>to</a:t>
            </a:r>
            <a:r>
              <a:rPr lang="de-DE" dirty="0"/>
              <a:t> </a:t>
            </a:r>
            <a:r>
              <a:rPr lang="de-DE" dirty="0" err="1"/>
              <a:t>uniquely</a:t>
            </a:r>
            <a:r>
              <a:rPr lang="de-DE" dirty="0"/>
              <a:t> </a:t>
            </a:r>
            <a:r>
              <a:rPr lang="de-DE" dirty="0" err="1"/>
              <a:t>define</a:t>
            </a:r>
            <a:r>
              <a:rPr lang="de-DE" dirty="0"/>
              <a:t> </a:t>
            </a:r>
            <a:r>
              <a:rPr lang="de-DE" dirty="0" err="1"/>
              <a:t>group</a:t>
            </a:r>
            <a:r>
              <a:rPr lang="de-DE" dirty="0"/>
              <a:t> on </a:t>
            </a:r>
            <a:r>
              <a:rPr lang="de-DE" dirty="0" err="1"/>
              <a:t>the</a:t>
            </a:r>
            <a:r>
              <a:rPr lang="de-DE" dirty="0"/>
              <a:t> </a:t>
            </a:r>
            <a:r>
              <a:rPr lang="de-DE" dirty="0" err="1"/>
              <a:t>switch</a:t>
            </a:r>
            <a:r>
              <a:rPr lang="de-DE" dirty="0"/>
              <a:t> (</a:t>
            </a:r>
            <a:r>
              <a:rPr lang="de-DE" dirty="0" err="1"/>
              <a:t>locally</a:t>
            </a:r>
            <a:r>
              <a:rPr lang="de-DE" dirty="0"/>
              <a:t>)</a:t>
            </a:r>
          </a:p>
          <a:p>
            <a:r>
              <a:rPr lang="de-DE" dirty="0"/>
              <a:t>Group Type: </a:t>
            </a:r>
            <a:r>
              <a:rPr lang="de-DE" i="1" dirty="0" err="1">
                <a:solidFill>
                  <a:schemeClr val="accent2"/>
                </a:solidFill>
              </a:rPr>
              <a:t>indirect</a:t>
            </a:r>
            <a:r>
              <a:rPr lang="de-DE" i="1" dirty="0">
                <a:solidFill>
                  <a:schemeClr val="accent2"/>
                </a:solidFill>
              </a:rPr>
              <a:t>/all/fast </a:t>
            </a:r>
            <a:r>
              <a:rPr lang="de-DE" i="1" dirty="0" err="1">
                <a:solidFill>
                  <a:schemeClr val="accent2"/>
                </a:solidFill>
              </a:rPr>
              <a:t>failover</a:t>
            </a:r>
            <a:r>
              <a:rPr lang="de-DE" i="1" dirty="0">
                <a:solidFill>
                  <a:schemeClr val="accent2"/>
                </a:solidFill>
              </a:rPr>
              <a:t>/</a:t>
            </a:r>
            <a:r>
              <a:rPr lang="de-DE" i="1" dirty="0" err="1">
                <a:solidFill>
                  <a:schemeClr val="accent2"/>
                </a:solidFill>
              </a:rPr>
              <a:t>select</a:t>
            </a:r>
            <a:endParaRPr lang="de-DE" i="1" dirty="0">
              <a:solidFill>
                <a:schemeClr val="accent2"/>
              </a:solidFill>
            </a:endParaRPr>
          </a:p>
          <a:p>
            <a:pPr lvl="1"/>
            <a:r>
              <a:rPr lang="de-DE" dirty="0" err="1"/>
              <a:t>Specifies</a:t>
            </a:r>
            <a:r>
              <a:rPr lang="de-DE" dirty="0"/>
              <a:t> </a:t>
            </a:r>
            <a:r>
              <a:rPr lang="de-DE" dirty="0" err="1"/>
              <a:t>which</a:t>
            </a:r>
            <a:r>
              <a:rPr lang="de-DE" dirty="0"/>
              <a:t> </a:t>
            </a:r>
            <a:r>
              <a:rPr lang="de-DE" i="1" dirty="0" err="1">
                <a:solidFill>
                  <a:schemeClr val="accent2"/>
                </a:solidFill>
              </a:rPr>
              <a:t>action</a:t>
            </a:r>
            <a:r>
              <a:rPr lang="de-DE" i="1" dirty="0">
                <a:solidFill>
                  <a:schemeClr val="accent2"/>
                </a:solidFill>
              </a:rPr>
              <a:t> </a:t>
            </a:r>
            <a:r>
              <a:rPr lang="de-DE" i="1" dirty="0" err="1">
                <a:solidFill>
                  <a:schemeClr val="accent2"/>
                </a:solidFill>
              </a:rPr>
              <a:t>bucket</a:t>
            </a:r>
            <a:r>
              <a:rPr lang="de-DE" i="1" dirty="0">
                <a:solidFill>
                  <a:schemeClr val="accent2"/>
                </a:solidFill>
              </a:rPr>
              <a:t> </a:t>
            </a:r>
            <a:r>
              <a:rPr lang="de-DE" dirty="0" err="1"/>
              <a:t>is</a:t>
            </a:r>
            <a:r>
              <a:rPr lang="de-DE" dirty="0"/>
              <a:t> </a:t>
            </a:r>
            <a:r>
              <a:rPr lang="de-DE" dirty="0" err="1"/>
              <a:t>executed</a:t>
            </a:r>
            <a:endParaRPr lang="de-DE" dirty="0"/>
          </a:p>
          <a:p>
            <a:r>
              <a:rPr lang="de-DE" dirty="0"/>
              <a:t>Counters: update on packet </a:t>
            </a:r>
            <a:r>
              <a:rPr lang="de-DE" dirty="0" err="1"/>
              <a:t>processed</a:t>
            </a:r>
            <a:endParaRPr lang="de-DE" dirty="0"/>
          </a:p>
          <a:p>
            <a:r>
              <a:rPr lang="de-DE" dirty="0"/>
              <a:t>Action </a:t>
            </a:r>
            <a:r>
              <a:rPr lang="de-DE" dirty="0" err="1"/>
              <a:t>Buckets</a:t>
            </a:r>
            <a:r>
              <a:rPr lang="de-DE" dirty="0"/>
              <a:t>: </a:t>
            </a:r>
            <a:r>
              <a:rPr lang="de-DE" dirty="0" err="1"/>
              <a:t>ordered</a:t>
            </a:r>
            <a:r>
              <a:rPr lang="de-DE" dirty="0"/>
              <a:t> </a:t>
            </a:r>
            <a:r>
              <a:rPr lang="de-DE" dirty="0" err="1"/>
              <a:t>list</a:t>
            </a:r>
            <a:r>
              <a:rPr lang="de-DE" dirty="0"/>
              <a:t> </a:t>
            </a:r>
            <a:r>
              <a:rPr lang="de-DE" dirty="0" err="1"/>
              <a:t>of</a:t>
            </a:r>
            <a:r>
              <a:rPr lang="de-DE" dirty="0"/>
              <a:t> </a:t>
            </a:r>
            <a:r>
              <a:rPr lang="de-DE" dirty="0" err="1"/>
              <a:t>buckets</a:t>
            </a:r>
            <a:r>
              <a:rPr lang="de-DE" dirty="0"/>
              <a:t>, </a:t>
            </a:r>
            <a:r>
              <a:rPr lang="de-DE" dirty="0" err="1"/>
              <a:t>each</a:t>
            </a:r>
            <a:r>
              <a:rPr lang="de-DE" dirty="0"/>
              <a:t> </a:t>
            </a:r>
            <a:r>
              <a:rPr lang="de-DE" dirty="0" err="1"/>
              <a:t>containing</a:t>
            </a:r>
            <a:r>
              <a:rPr lang="de-DE" dirty="0"/>
              <a:t> a </a:t>
            </a:r>
            <a:r>
              <a:rPr lang="de-DE" i="1" dirty="0" err="1">
                <a:solidFill>
                  <a:schemeClr val="accent2"/>
                </a:solidFill>
              </a:rPr>
              <a:t>set</a:t>
            </a:r>
            <a:r>
              <a:rPr lang="de-DE" dirty="0"/>
              <a:t> </a:t>
            </a:r>
            <a:r>
              <a:rPr lang="de-DE" dirty="0" err="1"/>
              <a:t>of</a:t>
            </a:r>
            <a:r>
              <a:rPr lang="de-DE" dirty="0"/>
              <a:t> </a:t>
            </a:r>
            <a:r>
              <a:rPr lang="de-DE" dirty="0" err="1"/>
              <a:t>instructions</a:t>
            </a:r>
            <a:endParaRPr lang="de-DE" dirty="0"/>
          </a:p>
          <a:p>
            <a:endParaRPr lang="de-DE" dirty="0"/>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pic>
        <p:nvPicPr>
          <p:cNvPr id="88067" name="Picture 3"/>
          <p:cNvPicPr>
            <a:picLocks noChangeAspect="1" noChangeArrowheads="1"/>
          </p:cNvPicPr>
          <p:nvPr/>
        </p:nvPicPr>
        <p:blipFill>
          <a:blip r:embed="rId3" cstate="print"/>
          <a:srcRect/>
          <a:stretch>
            <a:fillRect/>
          </a:stretch>
        </p:blipFill>
        <p:spPr bwMode="auto">
          <a:xfrm>
            <a:off x="872837" y="2307949"/>
            <a:ext cx="7730837" cy="650431"/>
          </a:xfrm>
          <a:prstGeom prst="rect">
            <a:avLst/>
          </a:prstGeom>
          <a:noFill/>
          <a:ln w="9525">
            <a:noFill/>
            <a:miter lim="800000"/>
            <a:headEnd/>
            <a:tailEnd/>
          </a:ln>
        </p:spPr>
      </p:pic>
      <p:sp>
        <p:nvSpPr>
          <p:cNvPr id="6" name="Rectangle 5"/>
          <p:cNvSpPr/>
          <p:nvPr/>
        </p:nvSpPr>
        <p:spPr bwMode="auto">
          <a:xfrm>
            <a:off x="8092440" y="868680"/>
            <a:ext cx="518160" cy="5943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4" name="Slide Number Placeholder 3"/>
          <p:cNvSpPr>
            <a:spLocks noGrp="1"/>
          </p:cNvSpPr>
          <p:nvPr>
            <p:ph type="sldNum" sz="quarter" idx="12"/>
          </p:nvPr>
        </p:nvSpPr>
        <p:spPr/>
        <p:txBody>
          <a:bodyPr/>
          <a:lstStyle/>
          <a:p>
            <a:fld id="{4510AD55-118C-453F-AEC9-3256547505F1}" type="slidenum">
              <a:rPr lang="en-US" smtClean="0"/>
              <a:t>49</a:t>
            </a:fld>
            <a:endParaRPr lang="en-US"/>
          </a:p>
        </p:txBody>
      </p:sp>
    </p:spTree>
    <p:extLst>
      <p:ext uri="{BB962C8B-B14F-4D97-AF65-F5344CB8AC3E}">
        <p14:creationId xmlns:p14="http://schemas.microsoft.com/office/powerpoint/2010/main" val="30123579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Switches</a:t>
            </a:r>
          </a:p>
        </p:txBody>
      </p:sp>
      <p:sp>
        <p:nvSpPr>
          <p:cNvPr id="3" name="Content Placeholder 2"/>
          <p:cNvSpPr>
            <a:spLocks noGrp="1"/>
          </p:cNvSpPr>
          <p:nvPr>
            <p:ph idx="1"/>
          </p:nvPr>
        </p:nvSpPr>
        <p:spPr/>
        <p:txBody>
          <a:bodyPr>
            <a:normAutofit lnSpcReduction="10000"/>
          </a:bodyPr>
          <a:lstStyle/>
          <a:p>
            <a:r>
              <a:rPr lang="de-DE" dirty="0"/>
              <a:t>Group Table </a:t>
            </a:r>
            <a:r>
              <a:rPr lang="de-DE" dirty="0" err="1"/>
              <a:t>entry</a:t>
            </a:r>
            <a:r>
              <a:rPr lang="de-DE" dirty="0"/>
              <a:t> </a:t>
            </a:r>
            <a:r>
              <a:rPr lang="de-DE" dirty="0" err="1"/>
              <a:t>structure</a:t>
            </a:r>
            <a:r>
              <a:rPr lang="de-DE" dirty="0"/>
              <a:t>:</a:t>
            </a:r>
          </a:p>
          <a:p>
            <a:endParaRPr lang="de-DE" dirty="0"/>
          </a:p>
          <a:p>
            <a:endParaRPr lang="de-DE" dirty="0"/>
          </a:p>
          <a:p>
            <a:r>
              <a:rPr lang="de-DE" dirty="0"/>
              <a:t>Group </a:t>
            </a:r>
            <a:r>
              <a:rPr lang="de-DE" dirty="0" err="1"/>
              <a:t>Tables</a:t>
            </a:r>
            <a:r>
              <a:rPr lang="de-DE" dirty="0"/>
              <a:t> </a:t>
            </a:r>
            <a:r>
              <a:rPr lang="de-DE" dirty="0" err="1"/>
              <a:t>allow</a:t>
            </a:r>
            <a:r>
              <a:rPr lang="de-DE" dirty="0"/>
              <a:t> </a:t>
            </a:r>
            <a:r>
              <a:rPr lang="de-DE" dirty="0" err="1"/>
              <a:t>for</a:t>
            </a:r>
            <a:r>
              <a:rPr lang="de-DE" dirty="0"/>
              <a:t> </a:t>
            </a:r>
            <a:r>
              <a:rPr lang="de-DE" dirty="0" err="1"/>
              <a:t>more</a:t>
            </a:r>
            <a:r>
              <a:rPr lang="de-DE" dirty="0"/>
              <a:t> </a:t>
            </a:r>
            <a:r>
              <a:rPr lang="de-DE" dirty="0" err="1"/>
              <a:t>complex</a:t>
            </a:r>
            <a:r>
              <a:rPr lang="de-DE" dirty="0"/>
              <a:t> </a:t>
            </a:r>
            <a:r>
              <a:rPr lang="de-DE" dirty="0" err="1"/>
              <a:t>forwarding</a:t>
            </a:r>
            <a:endParaRPr lang="de-DE" dirty="0"/>
          </a:p>
          <a:p>
            <a:pPr lvl="1"/>
            <a:r>
              <a:rPr lang="de-DE" dirty="0"/>
              <a:t>E.g., </a:t>
            </a:r>
            <a:r>
              <a:rPr lang="de-DE" dirty="0" err="1"/>
              <a:t>multicast</a:t>
            </a:r>
            <a:r>
              <a:rPr lang="de-DE" dirty="0"/>
              <a:t>: </a:t>
            </a:r>
            <a:r>
              <a:rPr lang="de-DE" dirty="0" err="1"/>
              <a:t>use</a:t>
            </a:r>
            <a:r>
              <a:rPr lang="de-DE" dirty="0"/>
              <a:t> </a:t>
            </a:r>
            <a:r>
              <a:rPr lang="de-DE" i="1" dirty="0">
                <a:solidFill>
                  <a:schemeClr val="accent2"/>
                </a:solidFill>
              </a:rPr>
              <a:t>all</a:t>
            </a:r>
            <a:r>
              <a:rPr lang="de-DE" dirty="0"/>
              <a:t> </a:t>
            </a:r>
            <a:r>
              <a:rPr lang="de-DE" dirty="0" err="1"/>
              <a:t>group</a:t>
            </a:r>
            <a:r>
              <a:rPr lang="de-DE" dirty="0"/>
              <a:t> type </a:t>
            </a:r>
            <a:r>
              <a:rPr lang="de-DE" dirty="0" err="1"/>
              <a:t>to</a:t>
            </a:r>
            <a:r>
              <a:rPr lang="de-DE" dirty="0"/>
              <a:t> </a:t>
            </a:r>
            <a:r>
              <a:rPr lang="de-DE" dirty="0" err="1"/>
              <a:t>execute</a:t>
            </a:r>
            <a:r>
              <a:rPr lang="de-DE" dirty="0"/>
              <a:t> all </a:t>
            </a:r>
            <a:r>
              <a:rPr lang="de-DE" dirty="0" err="1"/>
              <a:t>action</a:t>
            </a:r>
            <a:r>
              <a:rPr lang="de-DE" dirty="0"/>
              <a:t> </a:t>
            </a:r>
            <a:r>
              <a:rPr lang="de-DE" dirty="0" err="1"/>
              <a:t>buckets</a:t>
            </a:r>
            <a:r>
              <a:rPr lang="de-DE" dirty="0"/>
              <a:t> (packet will </a:t>
            </a:r>
            <a:r>
              <a:rPr lang="de-DE" dirty="0" err="1"/>
              <a:t>be</a:t>
            </a:r>
            <a:r>
              <a:rPr lang="de-DE" dirty="0"/>
              <a:t> </a:t>
            </a:r>
            <a:r>
              <a:rPr lang="de-DE" dirty="0" err="1"/>
              <a:t>cloned</a:t>
            </a:r>
            <a:r>
              <a:rPr lang="de-DE" dirty="0"/>
              <a:t> </a:t>
            </a:r>
            <a:r>
              <a:rPr lang="de-DE" dirty="0" err="1"/>
              <a:t>for</a:t>
            </a:r>
            <a:r>
              <a:rPr lang="de-DE" dirty="0"/>
              <a:t> </a:t>
            </a:r>
            <a:r>
              <a:rPr lang="de-DE" dirty="0" err="1"/>
              <a:t>each</a:t>
            </a:r>
            <a:r>
              <a:rPr lang="de-DE" dirty="0"/>
              <a:t> </a:t>
            </a:r>
            <a:r>
              <a:rPr lang="de-DE" dirty="0" err="1"/>
              <a:t>bucket</a:t>
            </a:r>
            <a:r>
              <a:rPr lang="de-DE" dirty="0"/>
              <a:t>, </a:t>
            </a:r>
            <a:r>
              <a:rPr lang="de-DE" dirty="0" err="1"/>
              <a:t>and</a:t>
            </a:r>
            <a:r>
              <a:rPr lang="de-DE" dirty="0"/>
              <a:t> </a:t>
            </a:r>
            <a:r>
              <a:rPr lang="de-DE" dirty="0" err="1"/>
              <a:t>then</a:t>
            </a:r>
            <a:r>
              <a:rPr lang="de-DE" dirty="0"/>
              <a:t> </a:t>
            </a:r>
            <a:r>
              <a:rPr lang="de-DE" dirty="0" err="1"/>
              <a:t>forwarded</a:t>
            </a:r>
            <a:r>
              <a:rPr lang="de-DE" dirty="0"/>
              <a:t> </a:t>
            </a:r>
            <a:r>
              <a:rPr lang="de-DE" dirty="0" err="1"/>
              <a:t>through</a:t>
            </a:r>
            <a:r>
              <a:rPr lang="de-DE" dirty="0"/>
              <a:t> </a:t>
            </a:r>
            <a:r>
              <a:rPr lang="de-DE" dirty="0" err="1"/>
              <a:t>the</a:t>
            </a:r>
            <a:r>
              <a:rPr lang="de-DE" dirty="0"/>
              <a:t> </a:t>
            </a:r>
            <a:r>
              <a:rPr lang="de-DE" dirty="0" err="1"/>
              <a:t>instruction</a:t>
            </a:r>
            <a:r>
              <a:rPr lang="de-DE" dirty="0"/>
              <a:t> </a:t>
            </a:r>
            <a:r>
              <a:rPr lang="de-DE" dirty="0" err="1"/>
              <a:t>set</a:t>
            </a:r>
            <a:r>
              <a:rPr lang="de-DE" dirty="0"/>
              <a:t>)</a:t>
            </a: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pic>
        <p:nvPicPr>
          <p:cNvPr id="88067" name="Picture 3"/>
          <p:cNvPicPr>
            <a:picLocks noChangeAspect="1" noChangeArrowheads="1"/>
          </p:cNvPicPr>
          <p:nvPr/>
        </p:nvPicPr>
        <p:blipFill>
          <a:blip r:embed="rId2" cstate="print"/>
          <a:srcRect/>
          <a:stretch>
            <a:fillRect/>
          </a:stretch>
        </p:blipFill>
        <p:spPr bwMode="auto">
          <a:xfrm>
            <a:off x="872837" y="2307949"/>
            <a:ext cx="7730837" cy="650431"/>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4510AD55-118C-453F-AEC9-3256547505F1}" type="slidenum">
              <a:rPr lang="en-US" smtClean="0"/>
              <a:t>50</a:t>
            </a:fld>
            <a:endParaRPr lang="en-US"/>
          </a:p>
        </p:txBody>
      </p:sp>
    </p:spTree>
    <p:extLst>
      <p:ext uri="{BB962C8B-B14F-4D97-AF65-F5344CB8AC3E}">
        <p14:creationId xmlns:p14="http://schemas.microsoft.com/office/powerpoint/2010/main" val="3628705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p:nvPr>
        </p:nvSpPr>
        <p:spPr/>
        <p:txBody>
          <a:bodyPr/>
          <a:lstStyle/>
          <a:p>
            <a:pPr eaLnBrk="1" hangingPunct="1"/>
            <a:r>
              <a:rPr lang="en-US" altLang="zh-TW" sz="3900"/>
              <a:t>Examples</a:t>
            </a:r>
          </a:p>
        </p:txBody>
      </p:sp>
      <p:sp>
        <p:nvSpPr>
          <p:cNvPr id="40963" name="Rectangle 2"/>
          <p:cNvSpPr>
            <a:spLocks/>
          </p:cNvSpPr>
          <p:nvPr/>
        </p:nvSpPr>
        <p:spPr bwMode="auto">
          <a:xfrm>
            <a:off x="563563" y="1346200"/>
            <a:ext cx="89535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a:latin typeface="Calibri" panose="020F0502020204030204" pitchFamily="34" charset="0"/>
              </a:rPr>
              <a:t>Switching</a:t>
            </a:r>
          </a:p>
        </p:txBody>
      </p:sp>
      <p:sp>
        <p:nvSpPr>
          <p:cNvPr id="40964" name="Rectangle 3"/>
          <p:cNvSpPr>
            <a:spLocks/>
          </p:cNvSpPr>
          <p:nvPr/>
        </p:nvSpPr>
        <p:spPr bwMode="auto">
          <a:xfrm>
            <a:off x="6858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grpSp>
        <p:nvGrpSpPr>
          <p:cNvPr id="40965" name="Group 4"/>
          <p:cNvGrpSpPr>
            <a:grpSpLocks/>
          </p:cNvGrpSpPr>
          <p:nvPr/>
        </p:nvGrpSpPr>
        <p:grpSpPr bwMode="auto">
          <a:xfrm>
            <a:off x="687388" y="1878013"/>
            <a:ext cx="7483475" cy="571500"/>
            <a:chOff x="0" y="0"/>
            <a:chExt cx="6704" cy="512"/>
          </a:xfrm>
        </p:grpSpPr>
        <p:sp>
          <p:nvSpPr>
            <p:cNvPr id="41047" name="Rectangle 5"/>
            <p:cNvSpPr>
              <a:spLocks/>
            </p:cNvSpPr>
            <p:nvPr/>
          </p:nvSpPr>
          <p:spPr bwMode="auto">
            <a:xfrm>
              <a:off x="0"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48" name="Rectangle 6"/>
            <p:cNvSpPr>
              <a:spLocks/>
            </p:cNvSpPr>
            <p:nvPr/>
          </p:nvSpPr>
          <p:spPr bwMode="auto">
            <a:xfrm>
              <a:off x="3"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Switch</a:t>
              </a:r>
            </a:p>
            <a:p>
              <a:pPr eaLnBrk="1" hangingPunct="1"/>
              <a:r>
                <a:rPr kumimoji="0" lang="en-US" altLang="zh-TW" sz="1700">
                  <a:latin typeface="Calibri" panose="020F0502020204030204" pitchFamily="34" charset="0"/>
                </a:rPr>
                <a:t>Port</a:t>
              </a:r>
            </a:p>
          </p:txBody>
        </p:sp>
        <p:sp>
          <p:nvSpPr>
            <p:cNvPr id="41049" name="Rectangle 7"/>
            <p:cNvSpPr>
              <a:spLocks/>
            </p:cNvSpPr>
            <p:nvPr/>
          </p:nvSpPr>
          <p:spPr bwMode="auto">
            <a:xfrm>
              <a:off x="592"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50" name="Rectangle 8"/>
            <p:cNvSpPr>
              <a:spLocks/>
            </p:cNvSpPr>
            <p:nvPr/>
          </p:nvSpPr>
          <p:spPr bwMode="auto">
            <a:xfrm>
              <a:off x="588"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src</a:t>
              </a:r>
            </a:p>
          </p:txBody>
        </p:sp>
        <p:sp>
          <p:nvSpPr>
            <p:cNvPr id="41051" name="Rectangle 9"/>
            <p:cNvSpPr>
              <a:spLocks/>
            </p:cNvSpPr>
            <p:nvPr/>
          </p:nvSpPr>
          <p:spPr bwMode="auto">
            <a:xfrm>
              <a:off x="11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52" name="Rectangle 10"/>
            <p:cNvSpPr>
              <a:spLocks/>
            </p:cNvSpPr>
            <p:nvPr/>
          </p:nvSpPr>
          <p:spPr bwMode="auto">
            <a:xfrm>
              <a:off x="1212" y="0"/>
              <a:ext cx="56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dst</a:t>
              </a:r>
            </a:p>
          </p:txBody>
        </p:sp>
        <p:sp>
          <p:nvSpPr>
            <p:cNvPr id="41053" name="Rectangle 11"/>
            <p:cNvSpPr>
              <a:spLocks/>
            </p:cNvSpPr>
            <p:nvPr/>
          </p:nvSpPr>
          <p:spPr bwMode="auto">
            <a:xfrm>
              <a:off x="17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54" name="Rectangle 12"/>
            <p:cNvSpPr>
              <a:spLocks/>
            </p:cNvSpPr>
            <p:nvPr/>
          </p:nvSpPr>
          <p:spPr bwMode="auto">
            <a:xfrm>
              <a:off x="1783"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Eth</a:t>
              </a:r>
            </a:p>
            <a:p>
              <a:pPr eaLnBrk="1" hangingPunct="1"/>
              <a:r>
                <a:rPr kumimoji="0" lang="en-US" altLang="zh-TW" sz="1700">
                  <a:latin typeface="Calibri" panose="020F0502020204030204" pitchFamily="34" charset="0"/>
                </a:rPr>
                <a:t>type</a:t>
              </a:r>
            </a:p>
          </p:txBody>
        </p:sp>
        <p:sp>
          <p:nvSpPr>
            <p:cNvPr id="41055" name="Rectangle 13"/>
            <p:cNvSpPr>
              <a:spLocks/>
            </p:cNvSpPr>
            <p:nvPr/>
          </p:nvSpPr>
          <p:spPr bwMode="auto">
            <a:xfrm>
              <a:off x="2378"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56" name="Rectangle 14"/>
            <p:cNvSpPr>
              <a:spLocks/>
            </p:cNvSpPr>
            <p:nvPr/>
          </p:nvSpPr>
          <p:spPr bwMode="auto">
            <a:xfrm>
              <a:off x="2380"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a:t>
              </a:r>
            </a:p>
            <a:p>
              <a:pPr eaLnBrk="1" hangingPunct="1"/>
              <a:r>
                <a:rPr kumimoji="0" lang="en-US" altLang="zh-TW" sz="1700">
                  <a:latin typeface="Calibri" panose="020F0502020204030204" pitchFamily="34" charset="0"/>
                </a:rPr>
                <a:t>ID</a:t>
              </a:r>
            </a:p>
          </p:txBody>
        </p:sp>
        <p:sp>
          <p:nvSpPr>
            <p:cNvPr id="41057" name="Rectangle 15"/>
            <p:cNvSpPr>
              <a:spLocks/>
            </p:cNvSpPr>
            <p:nvPr/>
          </p:nvSpPr>
          <p:spPr bwMode="auto">
            <a:xfrm>
              <a:off x="29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58" name="Rectangle 16"/>
            <p:cNvSpPr>
              <a:spLocks/>
            </p:cNvSpPr>
            <p:nvPr/>
          </p:nvSpPr>
          <p:spPr bwMode="auto">
            <a:xfrm>
              <a:off x="2977"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Src</a:t>
              </a:r>
            </a:p>
          </p:txBody>
        </p:sp>
        <p:sp>
          <p:nvSpPr>
            <p:cNvPr id="41059" name="Rectangle 17"/>
            <p:cNvSpPr>
              <a:spLocks/>
            </p:cNvSpPr>
            <p:nvPr/>
          </p:nvSpPr>
          <p:spPr bwMode="auto">
            <a:xfrm>
              <a:off x="35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60" name="Rectangle 18"/>
            <p:cNvSpPr>
              <a:spLocks/>
            </p:cNvSpPr>
            <p:nvPr/>
          </p:nvSpPr>
          <p:spPr bwMode="auto">
            <a:xfrm>
              <a:off x="3567"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Dst</a:t>
              </a:r>
            </a:p>
          </p:txBody>
        </p:sp>
        <p:sp>
          <p:nvSpPr>
            <p:cNvPr id="41061" name="Rectangle 19"/>
            <p:cNvSpPr>
              <a:spLocks/>
            </p:cNvSpPr>
            <p:nvPr/>
          </p:nvSpPr>
          <p:spPr bwMode="auto">
            <a:xfrm>
              <a:off x="4164"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62" name="Rectangle 20"/>
            <p:cNvSpPr>
              <a:spLocks/>
            </p:cNvSpPr>
            <p:nvPr/>
          </p:nvSpPr>
          <p:spPr bwMode="auto">
            <a:xfrm>
              <a:off x="4165" y="0"/>
              <a:ext cx="583"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Prot</a:t>
              </a:r>
            </a:p>
          </p:txBody>
        </p:sp>
        <p:sp>
          <p:nvSpPr>
            <p:cNvPr id="41063" name="Rectangle 21"/>
            <p:cNvSpPr>
              <a:spLocks/>
            </p:cNvSpPr>
            <p:nvPr/>
          </p:nvSpPr>
          <p:spPr bwMode="auto">
            <a:xfrm>
              <a:off x="47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64" name="Rectangle 22"/>
            <p:cNvSpPr>
              <a:spLocks/>
            </p:cNvSpPr>
            <p:nvPr/>
          </p:nvSpPr>
          <p:spPr bwMode="auto">
            <a:xfrm>
              <a:off x="4760" y="0"/>
              <a:ext cx="596"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sport</a:t>
              </a:r>
            </a:p>
          </p:txBody>
        </p:sp>
        <p:sp>
          <p:nvSpPr>
            <p:cNvPr id="41065" name="Rectangle 23"/>
            <p:cNvSpPr>
              <a:spLocks/>
            </p:cNvSpPr>
            <p:nvPr/>
          </p:nvSpPr>
          <p:spPr bwMode="auto">
            <a:xfrm>
              <a:off x="53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66" name="Rectangle 24"/>
            <p:cNvSpPr>
              <a:spLocks/>
            </p:cNvSpPr>
            <p:nvPr/>
          </p:nvSpPr>
          <p:spPr bwMode="auto">
            <a:xfrm>
              <a:off x="5351"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dport</a:t>
              </a:r>
            </a:p>
          </p:txBody>
        </p:sp>
        <p:sp>
          <p:nvSpPr>
            <p:cNvPr id="41067" name="Rectangle 25"/>
            <p:cNvSpPr>
              <a:spLocks/>
            </p:cNvSpPr>
            <p:nvPr/>
          </p:nvSpPr>
          <p:spPr bwMode="auto">
            <a:xfrm>
              <a:off x="5956" y="12"/>
              <a:ext cx="748" cy="488"/>
            </a:xfrm>
            <a:prstGeom prst="rect">
              <a:avLst/>
            </a:prstGeom>
            <a:solidFill>
              <a:srgbClr val="CBE97B"/>
            </a:solidFill>
            <a:ln w="12700">
              <a:solidFill>
                <a:srgbClr val="697D3A"/>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68" name="Rectangle 26"/>
            <p:cNvSpPr>
              <a:spLocks/>
            </p:cNvSpPr>
            <p:nvPr/>
          </p:nvSpPr>
          <p:spPr bwMode="auto">
            <a:xfrm>
              <a:off x="5948" y="111"/>
              <a:ext cx="75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Action</a:t>
              </a:r>
            </a:p>
          </p:txBody>
        </p:sp>
      </p:grpSp>
      <p:sp>
        <p:nvSpPr>
          <p:cNvPr id="40966" name="Rectangle 27"/>
          <p:cNvSpPr>
            <a:spLocks/>
          </p:cNvSpPr>
          <p:nvPr/>
        </p:nvSpPr>
        <p:spPr bwMode="auto">
          <a:xfrm>
            <a:off x="13462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67" name="Rectangle 28"/>
          <p:cNvSpPr>
            <a:spLocks/>
          </p:cNvSpPr>
          <p:nvPr/>
        </p:nvSpPr>
        <p:spPr bwMode="auto">
          <a:xfrm>
            <a:off x="1943100" y="2525713"/>
            <a:ext cx="1135063"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00:1f:..</a:t>
            </a:r>
          </a:p>
        </p:txBody>
      </p:sp>
      <p:sp>
        <p:nvSpPr>
          <p:cNvPr id="40968" name="Rectangle 29"/>
          <p:cNvSpPr>
            <a:spLocks/>
          </p:cNvSpPr>
          <p:nvPr/>
        </p:nvSpPr>
        <p:spPr bwMode="auto">
          <a:xfrm>
            <a:off x="2667000" y="2546350"/>
            <a:ext cx="661988"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69" name="Rectangle 30"/>
          <p:cNvSpPr>
            <a:spLocks/>
          </p:cNvSpPr>
          <p:nvPr/>
        </p:nvSpPr>
        <p:spPr bwMode="auto">
          <a:xfrm>
            <a:off x="33289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0" name="Rectangle 31"/>
          <p:cNvSpPr>
            <a:spLocks/>
          </p:cNvSpPr>
          <p:nvPr/>
        </p:nvSpPr>
        <p:spPr bwMode="auto">
          <a:xfrm>
            <a:off x="39893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1" name="Rectangle 32"/>
          <p:cNvSpPr>
            <a:spLocks/>
          </p:cNvSpPr>
          <p:nvPr/>
        </p:nvSpPr>
        <p:spPr bwMode="auto">
          <a:xfrm>
            <a:off x="46497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2" name="Rectangle 33"/>
          <p:cNvSpPr>
            <a:spLocks/>
          </p:cNvSpPr>
          <p:nvPr/>
        </p:nvSpPr>
        <p:spPr bwMode="auto">
          <a:xfrm>
            <a:off x="5319713"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3" name="Rectangle 34"/>
          <p:cNvSpPr>
            <a:spLocks/>
          </p:cNvSpPr>
          <p:nvPr/>
        </p:nvSpPr>
        <p:spPr bwMode="auto">
          <a:xfrm>
            <a:off x="5980113" y="2546350"/>
            <a:ext cx="661987"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4" name="Rectangle 35"/>
          <p:cNvSpPr>
            <a:spLocks/>
          </p:cNvSpPr>
          <p:nvPr/>
        </p:nvSpPr>
        <p:spPr bwMode="auto">
          <a:xfrm>
            <a:off x="66421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75" name="Rectangle 36"/>
          <p:cNvSpPr>
            <a:spLocks/>
          </p:cNvSpPr>
          <p:nvPr/>
        </p:nvSpPr>
        <p:spPr bwMode="auto">
          <a:xfrm>
            <a:off x="7400925"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port6</a:t>
            </a:r>
          </a:p>
        </p:txBody>
      </p:sp>
      <p:sp>
        <p:nvSpPr>
          <p:cNvPr id="40976" name="Rectangle 37"/>
          <p:cNvSpPr>
            <a:spLocks/>
          </p:cNvSpPr>
          <p:nvPr/>
        </p:nvSpPr>
        <p:spPr bwMode="auto">
          <a:xfrm>
            <a:off x="565150" y="3070225"/>
            <a:ext cx="1389063"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a:latin typeface="Calibri" panose="020F0502020204030204" pitchFamily="34" charset="0"/>
              </a:rPr>
              <a:t>Flow Switching</a:t>
            </a:r>
          </a:p>
        </p:txBody>
      </p:sp>
      <p:sp>
        <p:nvSpPr>
          <p:cNvPr id="40977" name="Rectangle 38"/>
          <p:cNvSpPr>
            <a:spLocks/>
          </p:cNvSpPr>
          <p:nvPr/>
        </p:nvSpPr>
        <p:spPr bwMode="auto">
          <a:xfrm>
            <a:off x="685800"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port3</a:t>
            </a:r>
          </a:p>
        </p:txBody>
      </p:sp>
      <p:grpSp>
        <p:nvGrpSpPr>
          <p:cNvPr id="40978" name="Group 39"/>
          <p:cNvGrpSpPr>
            <a:grpSpLocks/>
          </p:cNvGrpSpPr>
          <p:nvPr/>
        </p:nvGrpSpPr>
        <p:grpSpPr bwMode="auto">
          <a:xfrm>
            <a:off x="687388" y="3557588"/>
            <a:ext cx="7483475" cy="571500"/>
            <a:chOff x="0" y="0"/>
            <a:chExt cx="6704" cy="512"/>
          </a:xfrm>
        </p:grpSpPr>
        <p:sp>
          <p:nvSpPr>
            <p:cNvPr id="41025" name="Rectangle 40"/>
            <p:cNvSpPr>
              <a:spLocks/>
            </p:cNvSpPr>
            <p:nvPr/>
          </p:nvSpPr>
          <p:spPr bwMode="auto">
            <a:xfrm>
              <a:off x="0"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26" name="Rectangle 41"/>
            <p:cNvSpPr>
              <a:spLocks/>
            </p:cNvSpPr>
            <p:nvPr/>
          </p:nvSpPr>
          <p:spPr bwMode="auto">
            <a:xfrm>
              <a:off x="3"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Switch</a:t>
              </a:r>
            </a:p>
            <a:p>
              <a:pPr eaLnBrk="1" hangingPunct="1"/>
              <a:r>
                <a:rPr kumimoji="0" lang="en-US" altLang="zh-TW" sz="1700">
                  <a:latin typeface="Calibri" panose="020F0502020204030204" pitchFamily="34" charset="0"/>
                </a:rPr>
                <a:t>Port</a:t>
              </a:r>
            </a:p>
          </p:txBody>
        </p:sp>
        <p:sp>
          <p:nvSpPr>
            <p:cNvPr id="41027" name="Rectangle 42"/>
            <p:cNvSpPr>
              <a:spLocks/>
            </p:cNvSpPr>
            <p:nvPr/>
          </p:nvSpPr>
          <p:spPr bwMode="auto">
            <a:xfrm>
              <a:off x="592"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28" name="Rectangle 43"/>
            <p:cNvSpPr>
              <a:spLocks/>
            </p:cNvSpPr>
            <p:nvPr/>
          </p:nvSpPr>
          <p:spPr bwMode="auto">
            <a:xfrm>
              <a:off x="588"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src</a:t>
              </a:r>
            </a:p>
          </p:txBody>
        </p:sp>
        <p:sp>
          <p:nvSpPr>
            <p:cNvPr id="41029" name="Rectangle 44"/>
            <p:cNvSpPr>
              <a:spLocks/>
            </p:cNvSpPr>
            <p:nvPr/>
          </p:nvSpPr>
          <p:spPr bwMode="auto">
            <a:xfrm>
              <a:off x="11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30" name="Rectangle 45"/>
            <p:cNvSpPr>
              <a:spLocks/>
            </p:cNvSpPr>
            <p:nvPr/>
          </p:nvSpPr>
          <p:spPr bwMode="auto">
            <a:xfrm>
              <a:off x="1212" y="0"/>
              <a:ext cx="56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dst</a:t>
              </a:r>
            </a:p>
          </p:txBody>
        </p:sp>
        <p:sp>
          <p:nvSpPr>
            <p:cNvPr id="41031" name="Rectangle 46"/>
            <p:cNvSpPr>
              <a:spLocks/>
            </p:cNvSpPr>
            <p:nvPr/>
          </p:nvSpPr>
          <p:spPr bwMode="auto">
            <a:xfrm>
              <a:off x="17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32" name="Rectangle 47"/>
            <p:cNvSpPr>
              <a:spLocks/>
            </p:cNvSpPr>
            <p:nvPr/>
          </p:nvSpPr>
          <p:spPr bwMode="auto">
            <a:xfrm>
              <a:off x="1783"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Eth</a:t>
              </a:r>
            </a:p>
            <a:p>
              <a:pPr eaLnBrk="1" hangingPunct="1"/>
              <a:r>
                <a:rPr kumimoji="0" lang="en-US" altLang="zh-TW" sz="1700">
                  <a:latin typeface="Calibri" panose="020F0502020204030204" pitchFamily="34" charset="0"/>
                </a:rPr>
                <a:t>type</a:t>
              </a:r>
            </a:p>
          </p:txBody>
        </p:sp>
        <p:sp>
          <p:nvSpPr>
            <p:cNvPr id="41033" name="Rectangle 48"/>
            <p:cNvSpPr>
              <a:spLocks/>
            </p:cNvSpPr>
            <p:nvPr/>
          </p:nvSpPr>
          <p:spPr bwMode="auto">
            <a:xfrm>
              <a:off x="2378"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34" name="Rectangle 49"/>
            <p:cNvSpPr>
              <a:spLocks/>
            </p:cNvSpPr>
            <p:nvPr/>
          </p:nvSpPr>
          <p:spPr bwMode="auto">
            <a:xfrm>
              <a:off x="2380"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a:t>
              </a:r>
            </a:p>
            <a:p>
              <a:pPr eaLnBrk="1" hangingPunct="1"/>
              <a:r>
                <a:rPr kumimoji="0" lang="en-US" altLang="zh-TW" sz="1700">
                  <a:latin typeface="Calibri" panose="020F0502020204030204" pitchFamily="34" charset="0"/>
                </a:rPr>
                <a:t>ID</a:t>
              </a:r>
            </a:p>
          </p:txBody>
        </p:sp>
        <p:sp>
          <p:nvSpPr>
            <p:cNvPr id="41035" name="Rectangle 50"/>
            <p:cNvSpPr>
              <a:spLocks/>
            </p:cNvSpPr>
            <p:nvPr/>
          </p:nvSpPr>
          <p:spPr bwMode="auto">
            <a:xfrm>
              <a:off x="29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36" name="Rectangle 51"/>
            <p:cNvSpPr>
              <a:spLocks/>
            </p:cNvSpPr>
            <p:nvPr/>
          </p:nvSpPr>
          <p:spPr bwMode="auto">
            <a:xfrm>
              <a:off x="2977"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Src</a:t>
              </a:r>
            </a:p>
          </p:txBody>
        </p:sp>
        <p:sp>
          <p:nvSpPr>
            <p:cNvPr id="41037" name="Rectangle 52"/>
            <p:cNvSpPr>
              <a:spLocks/>
            </p:cNvSpPr>
            <p:nvPr/>
          </p:nvSpPr>
          <p:spPr bwMode="auto">
            <a:xfrm>
              <a:off x="35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38" name="Rectangle 53"/>
            <p:cNvSpPr>
              <a:spLocks/>
            </p:cNvSpPr>
            <p:nvPr/>
          </p:nvSpPr>
          <p:spPr bwMode="auto">
            <a:xfrm>
              <a:off x="3567"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Dst</a:t>
              </a:r>
            </a:p>
          </p:txBody>
        </p:sp>
        <p:sp>
          <p:nvSpPr>
            <p:cNvPr id="41039" name="Rectangle 54"/>
            <p:cNvSpPr>
              <a:spLocks/>
            </p:cNvSpPr>
            <p:nvPr/>
          </p:nvSpPr>
          <p:spPr bwMode="auto">
            <a:xfrm>
              <a:off x="4164"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40" name="Rectangle 55"/>
            <p:cNvSpPr>
              <a:spLocks/>
            </p:cNvSpPr>
            <p:nvPr/>
          </p:nvSpPr>
          <p:spPr bwMode="auto">
            <a:xfrm>
              <a:off x="4165" y="0"/>
              <a:ext cx="583"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Prot</a:t>
              </a:r>
            </a:p>
          </p:txBody>
        </p:sp>
        <p:sp>
          <p:nvSpPr>
            <p:cNvPr id="41041" name="Rectangle 56"/>
            <p:cNvSpPr>
              <a:spLocks/>
            </p:cNvSpPr>
            <p:nvPr/>
          </p:nvSpPr>
          <p:spPr bwMode="auto">
            <a:xfrm>
              <a:off x="47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42" name="Rectangle 57"/>
            <p:cNvSpPr>
              <a:spLocks/>
            </p:cNvSpPr>
            <p:nvPr/>
          </p:nvSpPr>
          <p:spPr bwMode="auto">
            <a:xfrm>
              <a:off x="4760" y="0"/>
              <a:ext cx="596"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sport</a:t>
              </a:r>
            </a:p>
          </p:txBody>
        </p:sp>
        <p:sp>
          <p:nvSpPr>
            <p:cNvPr id="41043" name="Rectangle 58"/>
            <p:cNvSpPr>
              <a:spLocks/>
            </p:cNvSpPr>
            <p:nvPr/>
          </p:nvSpPr>
          <p:spPr bwMode="auto">
            <a:xfrm>
              <a:off x="53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44" name="Rectangle 59"/>
            <p:cNvSpPr>
              <a:spLocks/>
            </p:cNvSpPr>
            <p:nvPr/>
          </p:nvSpPr>
          <p:spPr bwMode="auto">
            <a:xfrm>
              <a:off x="5351"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dport</a:t>
              </a:r>
            </a:p>
          </p:txBody>
        </p:sp>
        <p:sp>
          <p:nvSpPr>
            <p:cNvPr id="41045" name="Rectangle 60"/>
            <p:cNvSpPr>
              <a:spLocks/>
            </p:cNvSpPr>
            <p:nvPr/>
          </p:nvSpPr>
          <p:spPr bwMode="auto">
            <a:xfrm>
              <a:off x="5956" y="12"/>
              <a:ext cx="748" cy="488"/>
            </a:xfrm>
            <a:prstGeom prst="rect">
              <a:avLst/>
            </a:prstGeom>
            <a:solidFill>
              <a:srgbClr val="CBE97B"/>
            </a:solidFill>
            <a:ln w="12700">
              <a:solidFill>
                <a:srgbClr val="697D3A"/>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46" name="Rectangle 61"/>
            <p:cNvSpPr>
              <a:spLocks/>
            </p:cNvSpPr>
            <p:nvPr/>
          </p:nvSpPr>
          <p:spPr bwMode="auto">
            <a:xfrm>
              <a:off x="5948" y="111"/>
              <a:ext cx="75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Action</a:t>
              </a:r>
            </a:p>
          </p:txBody>
        </p:sp>
      </p:grpSp>
      <p:sp>
        <p:nvSpPr>
          <p:cNvPr id="40979" name="Rectangle 62"/>
          <p:cNvSpPr>
            <a:spLocks/>
          </p:cNvSpPr>
          <p:nvPr/>
        </p:nvSpPr>
        <p:spPr bwMode="auto">
          <a:xfrm>
            <a:off x="1346200"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00:20..</a:t>
            </a:r>
          </a:p>
        </p:txBody>
      </p:sp>
      <p:sp>
        <p:nvSpPr>
          <p:cNvPr id="40980" name="Rectangle 63"/>
          <p:cNvSpPr>
            <a:spLocks/>
          </p:cNvSpPr>
          <p:nvPr/>
        </p:nvSpPr>
        <p:spPr bwMode="auto">
          <a:xfrm>
            <a:off x="2039938" y="4224338"/>
            <a:ext cx="868362"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00:1f..</a:t>
            </a:r>
          </a:p>
        </p:txBody>
      </p:sp>
      <p:sp>
        <p:nvSpPr>
          <p:cNvPr id="40981" name="Rectangle 64"/>
          <p:cNvSpPr>
            <a:spLocks/>
          </p:cNvSpPr>
          <p:nvPr/>
        </p:nvSpPr>
        <p:spPr bwMode="auto">
          <a:xfrm>
            <a:off x="2667000" y="4224338"/>
            <a:ext cx="661988"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0800</a:t>
            </a:r>
          </a:p>
        </p:txBody>
      </p:sp>
      <p:sp>
        <p:nvSpPr>
          <p:cNvPr id="40982" name="Rectangle 65"/>
          <p:cNvSpPr>
            <a:spLocks/>
          </p:cNvSpPr>
          <p:nvPr/>
        </p:nvSpPr>
        <p:spPr bwMode="auto">
          <a:xfrm>
            <a:off x="3328988"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vlan1</a:t>
            </a:r>
          </a:p>
        </p:txBody>
      </p:sp>
      <p:sp>
        <p:nvSpPr>
          <p:cNvPr id="40983" name="Rectangle 66"/>
          <p:cNvSpPr>
            <a:spLocks/>
          </p:cNvSpPr>
          <p:nvPr/>
        </p:nvSpPr>
        <p:spPr bwMode="auto">
          <a:xfrm>
            <a:off x="3989388"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1.2.3.4</a:t>
            </a:r>
          </a:p>
        </p:txBody>
      </p:sp>
      <p:sp>
        <p:nvSpPr>
          <p:cNvPr id="40984" name="Rectangle 67"/>
          <p:cNvSpPr>
            <a:spLocks/>
          </p:cNvSpPr>
          <p:nvPr/>
        </p:nvSpPr>
        <p:spPr bwMode="auto">
          <a:xfrm>
            <a:off x="4686300"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5.6.7.8</a:t>
            </a:r>
          </a:p>
        </p:txBody>
      </p:sp>
      <p:sp>
        <p:nvSpPr>
          <p:cNvPr id="40985" name="Rectangle 68"/>
          <p:cNvSpPr>
            <a:spLocks/>
          </p:cNvSpPr>
          <p:nvPr/>
        </p:nvSpPr>
        <p:spPr bwMode="auto">
          <a:xfrm>
            <a:off x="5548313"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4</a:t>
            </a:r>
          </a:p>
        </p:txBody>
      </p:sp>
      <p:sp>
        <p:nvSpPr>
          <p:cNvPr id="40986" name="Rectangle 69"/>
          <p:cNvSpPr>
            <a:spLocks/>
          </p:cNvSpPr>
          <p:nvPr/>
        </p:nvSpPr>
        <p:spPr bwMode="auto">
          <a:xfrm>
            <a:off x="5980113" y="4224338"/>
            <a:ext cx="661987"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17264</a:t>
            </a:r>
          </a:p>
        </p:txBody>
      </p:sp>
      <p:sp>
        <p:nvSpPr>
          <p:cNvPr id="40987" name="Rectangle 70"/>
          <p:cNvSpPr>
            <a:spLocks/>
          </p:cNvSpPr>
          <p:nvPr/>
        </p:nvSpPr>
        <p:spPr bwMode="auto">
          <a:xfrm>
            <a:off x="6642100"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80</a:t>
            </a:r>
          </a:p>
        </p:txBody>
      </p:sp>
      <p:sp>
        <p:nvSpPr>
          <p:cNvPr id="40988" name="Rectangle 71"/>
          <p:cNvSpPr>
            <a:spLocks/>
          </p:cNvSpPr>
          <p:nvPr/>
        </p:nvSpPr>
        <p:spPr bwMode="auto">
          <a:xfrm>
            <a:off x="7400925" y="42243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port6</a:t>
            </a:r>
          </a:p>
        </p:txBody>
      </p:sp>
      <p:sp>
        <p:nvSpPr>
          <p:cNvPr id="40989" name="Rectangle 72"/>
          <p:cNvSpPr>
            <a:spLocks/>
          </p:cNvSpPr>
          <p:nvPr/>
        </p:nvSpPr>
        <p:spPr bwMode="auto">
          <a:xfrm>
            <a:off x="561975" y="4730750"/>
            <a:ext cx="728663"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a:latin typeface="Calibri" panose="020F0502020204030204" pitchFamily="34" charset="0"/>
              </a:rPr>
              <a:t>Firewall</a:t>
            </a:r>
          </a:p>
        </p:txBody>
      </p:sp>
      <p:sp>
        <p:nvSpPr>
          <p:cNvPr id="40990" name="Rectangle 73"/>
          <p:cNvSpPr>
            <a:spLocks/>
          </p:cNvSpPr>
          <p:nvPr/>
        </p:nvSpPr>
        <p:spPr bwMode="auto">
          <a:xfrm>
            <a:off x="685800"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grpSp>
        <p:nvGrpSpPr>
          <p:cNvPr id="40991" name="Group 74"/>
          <p:cNvGrpSpPr>
            <a:grpSpLocks/>
          </p:cNvGrpSpPr>
          <p:nvPr/>
        </p:nvGrpSpPr>
        <p:grpSpPr bwMode="auto">
          <a:xfrm>
            <a:off x="687388" y="5272088"/>
            <a:ext cx="7483475" cy="571500"/>
            <a:chOff x="0" y="0"/>
            <a:chExt cx="6704" cy="512"/>
          </a:xfrm>
        </p:grpSpPr>
        <p:sp>
          <p:nvSpPr>
            <p:cNvPr id="41003" name="Rectangle 75"/>
            <p:cNvSpPr>
              <a:spLocks/>
            </p:cNvSpPr>
            <p:nvPr/>
          </p:nvSpPr>
          <p:spPr bwMode="auto">
            <a:xfrm>
              <a:off x="0"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04" name="Rectangle 76"/>
            <p:cNvSpPr>
              <a:spLocks/>
            </p:cNvSpPr>
            <p:nvPr/>
          </p:nvSpPr>
          <p:spPr bwMode="auto">
            <a:xfrm>
              <a:off x="3"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Switch</a:t>
              </a:r>
            </a:p>
            <a:p>
              <a:pPr eaLnBrk="1" hangingPunct="1"/>
              <a:r>
                <a:rPr kumimoji="0" lang="en-US" altLang="zh-TW" sz="1700">
                  <a:latin typeface="Calibri" panose="020F0502020204030204" pitchFamily="34" charset="0"/>
                </a:rPr>
                <a:t>Port</a:t>
              </a:r>
            </a:p>
          </p:txBody>
        </p:sp>
        <p:sp>
          <p:nvSpPr>
            <p:cNvPr id="41005" name="Rectangle 77"/>
            <p:cNvSpPr>
              <a:spLocks/>
            </p:cNvSpPr>
            <p:nvPr/>
          </p:nvSpPr>
          <p:spPr bwMode="auto">
            <a:xfrm>
              <a:off x="592"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06" name="Rectangle 78"/>
            <p:cNvSpPr>
              <a:spLocks/>
            </p:cNvSpPr>
            <p:nvPr/>
          </p:nvSpPr>
          <p:spPr bwMode="auto">
            <a:xfrm>
              <a:off x="588"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src</a:t>
              </a:r>
            </a:p>
          </p:txBody>
        </p:sp>
        <p:sp>
          <p:nvSpPr>
            <p:cNvPr id="41007" name="Rectangle 79"/>
            <p:cNvSpPr>
              <a:spLocks/>
            </p:cNvSpPr>
            <p:nvPr/>
          </p:nvSpPr>
          <p:spPr bwMode="auto">
            <a:xfrm>
              <a:off x="11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08" name="Rectangle 80"/>
            <p:cNvSpPr>
              <a:spLocks/>
            </p:cNvSpPr>
            <p:nvPr/>
          </p:nvSpPr>
          <p:spPr bwMode="auto">
            <a:xfrm>
              <a:off x="1212" y="0"/>
              <a:ext cx="56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dst</a:t>
              </a:r>
            </a:p>
          </p:txBody>
        </p:sp>
        <p:sp>
          <p:nvSpPr>
            <p:cNvPr id="41009" name="Rectangle 81"/>
            <p:cNvSpPr>
              <a:spLocks/>
            </p:cNvSpPr>
            <p:nvPr/>
          </p:nvSpPr>
          <p:spPr bwMode="auto">
            <a:xfrm>
              <a:off x="17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10" name="Rectangle 82"/>
            <p:cNvSpPr>
              <a:spLocks/>
            </p:cNvSpPr>
            <p:nvPr/>
          </p:nvSpPr>
          <p:spPr bwMode="auto">
            <a:xfrm>
              <a:off x="1783"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Eth</a:t>
              </a:r>
            </a:p>
            <a:p>
              <a:pPr eaLnBrk="1" hangingPunct="1"/>
              <a:r>
                <a:rPr kumimoji="0" lang="en-US" altLang="zh-TW" sz="1700">
                  <a:latin typeface="Calibri" panose="020F0502020204030204" pitchFamily="34" charset="0"/>
                </a:rPr>
                <a:t>type</a:t>
              </a:r>
            </a:p>
          </p:txBody>
        </p:sp>
        <p:sp>
          <p:nvSpPr>
            <p:cNvPr id="41011" name="Rectangle 83"/>
            <p:cNvSpPr>
              <a:spLocks/>
            </p:cNvSpPr>
            <p:nvPr/>
          </p:nvSpPr>
          <p:spPr bwMode="auto">
            <a:xfrm>
              <a:off x="2378"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12" name="Rectangle 84"/>
            <p:cNvSpPr>
              <a:spLocks/>
            </p:cNvSpPr>
            <p:nvPr/>
          </p:nvSpPr>
          <p:spPr bwMode="auto">
            <a:xfrm>
              <a:off x="2380"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a:t>
              </a:r>
            </a:p>
            <a:p>
              <a:pPr eaLnBrk="1" hangingPunct="1"/>
              <a:r>
                <a:rPr kumimoji="0" lang="en-US" altLang="zh-TW" sz="1700">
                  <a:latin typeface="Calibri" panose="020F0502020204030204" pitchFamily="34" charset="0"/>
                </a:rPr>
                <a:t>ID</a:t>
              </a:r>
            </a:p>
          </p:txBody>
        </p:sp>
        <p:sp>
          <p:nvSpPr>
            <p:cNvPr id="41013" name="Rectangle 85"/>
            <p:cNvSpPr>
              <a:spLocks/>
            </p:cNvSpPr>
            <p:nvPr/>
          </p:nvSpPr>
          <p:spPr bwMode="auto">
            <a:xfrm>
              <a:off x="29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14" name="Rectangle 86"/>
            <p:cNvSpPr>
              <a:spLocks/>
            </p:cNvSpPr>
            <p:nvPr/>
          </p:nvSpPr>
          <p:spPr bwMode="auto">
            <a:xfrm>
              <a:off x="2977"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Src</a:t>
              </a:r>
            </a:p>
          </p:txBody>
        </p:sp>
        <p:sp>
          <p:nvSpPr>
            <p:cNvPr id="41015" name="Rectangle 87"/>
            <p:cNvSpPr>
              <a:spLocks/>
            </p:cNvSpPr>
            <p:nvPr/>
          </p:nvSpPr>
          <p:spPr bwMode="auto">
            <a:xfrm>
              <a:off x="35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16" name="Rectangle 88"/>
            <p:cNvSpPr>
              <a:spLocks/>
            </p:cNvSpPr>
            <p:nvPr/>
          </p:nvSpPr>
          <p:spPr bwMode="auto">
            <a:xfrm>
              <a:off x="3567"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Dst</a:t>
              </a:r>
            </a:p>
          </p:txBody>
        </p:sp>
        <p:sp>
          <p:nvSpPr>
            <p:cNvPr id="41017" name="Rectangle 89"/>
            <p:cNvSpPr>
              <a:spLocks/>
            </p:cNvSpPr>
            <p:nvPr/>
          </p:nvSpPr>
          <p:spPr bwMode="auto">
            <a:xfrm>
              <a:off x="4164"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18" name="Rectangle 90"/>
            <p:cNvSpPr>
              <a:spLocks/>
            </p:cNvSpPr>
            <p:nvPr/>
          </p:nvSpPr>
          <p:spPr bwMode="auto">
            <a:xfrm>
              <a:off x="4165" y="0"/>
              <a:ext cx="583"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Prot</a:t>
              </a:r>
            </a:p>
          </p:txBody>
        </p:sp>
        <p:sp>
          <p:nvSpPr>
            <p:cNvPr id="41019" name="Rectangle 91"/>
            <p:cNvSpPr>
              <a:spLocks/>
            </p:cNvSpPr>
            <p:nvPr/>
          </p:nvSpPr>
          <p:spPr bwMode="auto">
            <a:xfrm>
              <a:off x="47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20" name="Rectangle 92"/>
            <p:cNvSpPr>
              <a:spLocks/>
            </p:cNvSpPr>
            <p:nvPr/>
          </p:nvSpPr>
          <p:spPr bwMode="auto">
            <a:xfrm>
              <a:off x="4760" y="0"/>
              <a:ext cx="596"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sport</a:t>
              </a:r>
            </a:p>
          </p:txBody>
        </p:sp>
        <p:sp>
          <p:nvSpPr>
            <p:cNvPr id="41021" name="Rectangle 93"/>
            <p:cNvSpPr>
              <a:spLocks/>
            </p:cNvSpPr>
            <p:nvPr/>
          </p:nvSpPr>
          <p:spPr bwMode="auto">
            <a:xfrm>
              <a:off x="53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22" name="Rectangle 94"/>
            <p:cNvSpPr>
              <a:spLocks/>
            </p:cNvSpPr>
            <p:nvPr/>
          </p:nvSpPr>
          <p:spPr bwMode="auto">
            <a:xfrm>
              <a:off x="5351"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dport</a:t>
              </a:r>
            </a:p>
          </p:txBody>
        </p:sp>
        <p:sp>
          <p:nvSpPr>
            <p:cNvPr id="41023" name="Rectangle 95"/>
            <p:cNvSpPr>
              <a:spLocks/>
            </p:cNvSpPr>
            <p:nvPr/>
          </p:nvSpPr>
          <p:spPr bwMode="auto">
            <a:xfrm>
              <a:off x="5956" y="12"/>
              <a:ext cx="748" cy="488"/>
            </a:xfrm>
            <a:prstGeom prst="rect">
              <a:avLst/>
            </a:prstGeom>
            <a:solidFill>
              <a:srgbClr val="CBE97B"/>
            </a:solidFill>
            <a:ln w="12700">
              <a:solidFill>
                <a:srgbClr val="697D3A"/>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1024" name="Rectangle 96"/>
            <p:cNvSpPr>
              <a:spLocks/>
            </p:cNvSpPr>
            <p:nvPr/>
          </p:nvSpPr>
          <p:spPr bwMode="auto">
            <a:xfrm>
              <a:off x="5948" y="111"/>
              <a:ext cx="75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Action</a:t>
              </a:r>
            </a:p>
          </p:txBody>
        </p:sp>
      </p:grpSp>
      <p:sp>
        <p:nvSpPr>
          <p:cNvPr id="40992" name="Rectangle 97"/>
          <p:cNvSpPr>
            <a:spLocks/>
          </p:cNvSpPr>
          <p:nvPr/>
        </p:nvSpPr>
        <p:spPr bwMode="auto">
          <a:xfrm>
            <a:off x="1346200"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3" name="Rectangle 98"/>
          <p:cNvSpPr>
            <a:spLocks/>
          </p:cNvSpPr>
          <p:nvPr/>
        </p:nvSpPr>
        <p:spPr bwMode="auto">
          <a:xfrm>
            <a:off x="1774825" y="5938838"/>
            <a:ext cx="1133475"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4" name="Rectangle 99"/>
          <p:cNvSpPr>
            <a:spLocks/>
          </p:cNvSpPr>
          <p:nvPr/>
        </p:nvSpPr>
        <p:spPr bwMode="auto">
          <a:xfrm>
            <a:off x="2667000" y="5938838"/>
            <a:ext cx="661988"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5" name="Rectangle 100"/>
          <p:cNvSpPr>
            <a:spLocks/>
          </p:cNvSpPr>
          <p:nvPr/>
        </p:nvSpPr>
        <p:spPr bwMode="auto">
          <a:xfrm>
            <a:off x="3328988"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6" name="Rectangle 101"/>
          <p:cNvSpPr>
            <a:spLocks/>
          </p:cNvSpPr>
          <p:nvPr/>
        </p:nvSpPr>
        <p:spPr bwMode="auto">
          <a:xfrm>
            <a:off x="3989388"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7" name="Rectangle 102"/>
          <p:cNvSpPr>
            <a:spLocks/>
          </p:cNvSpPr>
          <p:nvPr/>
        </p:nvSpPr>
        <p:spPr bwMode="auto">
          <a:xfrm>
            <a:off x="4649788"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8" name="Rectangle 103"/>
          <p:cNvSpPr>
            <a:spLocks/>
          </p:cNvSpPr>
          <p:nvPr/>
        </p:nvSpPr>
        <p:spPr bwMode="auto">
          <a:xfrm>
            <a:off x="5319713"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0999" name="Rectangle 104"/>
          <p:cNvSpPr>
            <a:spLocks/>
          </p:cNvSpPr>
          <p:nvPr/>
        </p:nvSpPr>
        <p:spPr bwMode="auto">
          <a:xfrm>
            <a:off x="5980113" y="5938838"/>
            <a:ext cx="661987"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000" name="Rectangle 105"/>
          <p:cNvSpPr>
            <a:spLocks/>
          </p:cNvSpPr>
          <p:nvPr/>
        </p:nvSpPr>
        <p:spPr bwMode="auto">
          <a:xfrm>
            <a:off x="6642100"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22</a:t>
            </a:r>
          </a:p>
        </p:txBody>
      </p:sp>
      <p:sp>
        <p:nvSpPr>
          <p:cNvPr id="41001" name="Rectangle 106"/>
          <p:cNvSpPr>
            <a:spLocks/>
          </p:cNvSpPr>
          <p:nvPr/>
        </p:nvSpPr>
        <p:spPr bwMode="auto">
          <a:xfrm>
            <a:off x="7400925" y="5938838"/>
            <a:ext cx="660400" cy="322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drop</a:t>
            </a:r>
          </a:p>
        </p:txBody>
      </p:sp>
      <p:sp>
        <p:nvSpPr>
          <p:cNvPr id="108" name="Slide Number Placeholder 107"/>
          <p:cNvSpPr>
            <a:spLocks noGrp="1"/>
          </p:cNvSpPr>
          <p:nvPr>
            <p:ph type="sldNum" sz="quarter" idx="4294967295"/>
          </p:nvPr>
        </p:nvSpPr>
        <p:spPr>
          <a:xfrm>
            <a:off x="6553200" y="6356350"/>
            <a:ext cx="2133600" cy="365125"/>
          </a:xfrm>
          <a:prstGeom prst="rect">
            <a:avLst/>
          </a:prstGeom>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fld id="{1B34B04D-2312-4AD8-AA1A-97C0E486FABB}" type="slidenum">
              <a:rPr kumimoji="0" lang="en-US" altLang="zh-TW">
                <a:solidFill>
                  <a:srgbClr val="898989"/>
                </a:solidFill>
                <a:latin typeface="Calibri" panose="020F0502020204030204" pitchFamily="34" charset="0"/>
              </a:rPr>
              <a:pPr eaLnBrk="1" hangingPunct="1"/>
              <a:t>51</a:t>
            </a:fld>
            <a:endParaRPr kumimoji="0" lang="en-US" altLang="zh-TW">
              <a:solidFill>
                <a:srgbClr val="898989"/>
              </a:solidFill>
              <a:latin typeface="Calibri" panose="020F0502020204030204" pitchFamily="34" charset="0"/>
            </a:endParaRPr>
          </a:p>
        </p:txBody>
      </p:sp>
    </p:spTree>
    <p:extLst>
      <p:ext uri="{BB962C8B-B14F-4D97-AF65-F5344CB8AC3E}">
        <p14:creationId xmlns:p14="http://schemas.microsoft.com/office/powerpoint/2010/main" val="342609265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p:txBody>
          <a:bodyPr/>
          <a:lstStyle/>
          <a:p>
            <a:pPr eaLnBrk="1" hangingPunct="1"/>
            <a:r>
              <a:rPr lang="en-US" altLang="zh-TW" sz="3900"/>
              <a:t>Examples</a:t>
            </a:r>
          </a:p>
        </p:txBody>
      </p:sp>
      <p:sp>
        <p:nvSpPr>
          <p:cNvPr id="41987" name="Rectangle 2"/>
          <p:cNvSpPr>
            <a:spLocks/>
          </p:cNvSpPr>
          <p:nvPr/>
        </p:nvSpPr>
        <p:spPr bwMode="auto">
          <a:xfrm>
            <a:off x="563563" y="1346200"/>
            <a:ext cx="7223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a:latin typeface="Calibri" panose="020F0502020204030204" pitchFamily="34" charset="0"/>
              </a:rPr>
              <a:t>Routing</a:t>
            </a:r>
          </a:p>
        </p:txBody>
      </p:sp>
      <p:sp>
        <p:nvSpPr>
          <p:cNvPr id="41988" name="Rectangle 3"/>
          <p:cNvSpPr>
            <a:spLocks/>
          </p:cNvSpPr>
          <p:nvPr/>
        </p:nvSpPr>
        <p:spPr bwMode="auto">
          <a:xfrm>
            <a:off x="6858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grpSp>
        <p:nvGrpSpPr>
          <p:cNvPr id="41989" name="Group 4"/>
          <p:cNvGrpSpPr>
            <a:grpSpLocks/>
          </p:cNvGrpSpPr>
          <p:nvPr/>
        </p:nvGrpSpPr>
        <p:grpSpPr bwMode="auto">
          <a:xfrm>
            <a:off x="687388" y="1878013"/>
            <a:ext cx="7483475" cy="571500"/>
            <a:chOff x="0" y="0"/>
            <a:chExt cx="6704" cy="512"/>
          </a:xfrm>
        </p:grpSpPr>
        <p:sp>
          <p:nvSpPr>
            <p:cNvPr id="42036" name="Rectangle 5"/>
            <p:cNvSpPr>
              <a:spLocks/>
            </p:cNvSpPr>
            <p:nvPr/>
          </p:nvSpPr>
          <p:spPr bwMode="auto">
            <a:xfrm>
              <a:off x="0"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37" name="Rectangle 6"/>
            <p:cNvSpPr>
              <a:spLocks/>
            </p:cNvSpPr>
            <p:nvPr/>
          </p:nvSpPr>
          <p:spPr bwMode="auto">
            <a:xfrm>
              <a:off x="3"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Switch</a:t>
              </a:r>
            </a:p>
            <a:p>
              <a:pPr eaLnBrk="1" hangingPunct="1"/>
              <a:r>
                <a:rPr kumimoji="0" lang="en-US" altLang="zh-TW" sz="1700">
                  <a:latin typeface="Calibri" panose="020F0502020204030204" pitchFamily="34" charset="0"/>
                </a:rPr>
                <a:t>Port</a:t>
              </a:r>
            </a:p>
          </p:txBody>
        </p:sp>
        <p:sp>
          <p:nvSpPr>
            <p:cNvPr id="42038" name="Rectangle 7"/>
            <p:cNvSpPr>
              <a:spLocks/>
            </p:cNvSpPr>
            <p:nvPr/>
          </p:nvSpPr>
          <p:spPr bwMode="auto">
            <a:xfrm>
              <a:off x="592"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39" name="Rectangle 8"/>
            <p:cNvSpPr>
              <a:spLocks/>
            </p:cNvSpPr>
            <p:nvPr/>
          </p:nvSpPr>
          <p:spPr bwMode="auto">
            <a:xfrm>
              <a:off x="588"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src</a:t>
              </a:r>
            </a:p>
          </p:txBody>
        </p:sp>
        <p:sp>
          <p:nvSpPr>
            <p:cNvPr id="42040" name="Rectangle 9"/>
            <p:cNvSpPr>
              <a:spLocks/>
            </p:cNvSpPr>
            <p:nvPr/>
          </p:nvSpPr>
          <p:spPr bwMode="auto">
            <a:xfrm>
              <a:off x="11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41" name="Rectangle 10"/>
            <p:cNvSpPr>
              <a:spLocks/>
            </p:cNvSpPr>
            <p:nvPr/>
          </p:nvSpPr>
          <p:spPr bwMode="auto">
            <a:xfrm>
              <a:off x="1212" y="0"/>
              <a:ext cx="56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dst</a:t>
              </a:r>
            </a:p>
          </p:txBody>
        </p:sp>
        <p:sp>
          <p:nvSpPr>
            <p:cNvPr id="42042" name="Rectangle 11"/>
            <p:cNvSpPr>
              <a:spLocks/>
            </p:cNvSpPr>
            <p:nvPr/>
          </p:nvSpPr>
          <p:spPr bwMode="auto">
            <a:xfrm>
              <a:off x="17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43" name="Rectangle 12"/>
            <p:cNvSpPr>
              <a:spLocks/>
            </p:cNvSpPr>
            <p:nvPr/>
          </p:nvSpPr>
          <p:spPr bwMode="auto">
            <a:xfrm>
              <a:off x="1783"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Eth</a:t>
              </a:r>
            </a:p>
            <a:p>
              <a:pPr eaLnBrk="1" hangingPunct="1"/>
              <a:r>
                <a:rPr kumimoji="0" lang="en-US" altLang="zh-TW" sz="1700">
                  <a:latin typeface="Calibri" panose="020F0502020204030204" pitchFamily="34" charset="0"/>
                </a:rPr>
                <a:t>type</a:t>
              </a:r>
            </a:p>
          </p:txBody>
        </p:sp>
        <p:sp>
          <p:nvSpPr>
            <p:cNvPr id="42044" name="Rectangle 13"/>
            <p:cNvSpPr>
              <a:spLocks/>
            </p:cNvSpPr>
            <p:nvPr/>
          </p:nvSpPr>
          <p:spPr bwMode="auto">
            <a:xfrm>
              <a:off x="2378"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45" name="Rectangle 14"/>
            <p:cNvSpPr>
              <a:spLocks/>
            </p:cNvSpPr>
            <p:nvPr/>
          </p:nvSpPr>
          <p:spPr bwMode="auto">
            <a:xfrm>
              <a:off x="2380"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a:t>
              </a:r>
            </a:p>
            <a:p>
              <a:pPr eaLnBrk="1" hangingPunct="1"/>
              <a:r>
                <a:rPr kumimoji="0" lang="en-US" altLang="zh-TW" sz="1700">
                  <a:latin typeface="Calibri" panose="020F0502020204030204" pitchFamily="34" charset="0"/>
                </a:rPr>
                <a:t>ID</a:t>
              </a:r>
            </a:p>
          </p:txBody>
        </p:sp>
        <p:sp>
          <p:nvSpPr>
            <p:cNvPr id="42046" name="Rectangle 15"/>
            <p:cNvSpPr>
              <a:spLocks/>
            </p:cNvSpPr>
            <p:nvPr/>
          </p:nvSpPr>
          <p:spPr bwMode="auto">
            <a:xfrm>
              <a:off x="29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47" name="Rectangle 16"/>
            <p:cNvSpPr>
              <a:spLocks/>
            </p:cNvSpPr>
            <p:nvPr/>
          </p:nvSpPr>
          <p:spPr bwMode="auto">
            <a:xfrm>
              <a:off x="2977"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Src</a:t>
              </a:r>
            </a:p>
          </p:txBody>
        </p:sp>
        <p:sp>
          <p:nvSpPr>
            <p:cNvPr id="42048" name="Rectangle 17"/>
            <p:cNvSpPr>
              <a:spLocks/>
            </p:cNvSpPr>
            <p:nvPr/>
          </p:nvSpPr>
          <p:spPr bwMode="auto">
            <a:xfrm>
              <a:off x="35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49" name="Rectangle 18"/>
            <p:cNvSpPr>
              <a:spLocks/>
            </p:cNvSpPr>
            <p:nvPr/>
          </p:nvSpPr>
          <p:spPr bwMode="auto">
            <a:xfrm>
              <a:off x="3567"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Dst</a:t>
              </a:r>
            </a:p>
          </p:txBody>
        </p:sp>
        <p:sp>
          <p:nvSpPr>
            <p:cNvPr id="42050" name="Rectangle 19"/>
            <p:cNvSpPr>
              <a:spLocks/>
            </p:cNvSpPr>
            <p:nvPr/>
          </p:nvSpPr>
          <p:spPr bwMode="auto">
            <a:xfrm>
              <a:off x="4164"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51" name="Rectangle 20"/>
            <p:cNvSpPr>
              <a:spLocks/>
            </p:cNvSpPr>
            <p:nvPr/>
          </p:nvSpPr>
          <p:spPr bwMode="auto">
            <a:xfrm>
              <a:off x="4165" y="0"/>
              <a:ext cx="583"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Prot</a:t>
              </a:r>
            </a:p>
          </p:txBody>
        </p:sp>
        <p:sp>
          <p:nvSpPr>
            <p:cNvPr id="42052" name="Rectangle 21"/>
            <p:cNvSpPr>
              <a:spLocks/>
            </p:cNvSpPr>
            <p:nvPr/>
          </p:nvSpPr>
          <p:spPr bwMode="auto">
            <a:xfrm>
              <a:off x="47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53" name="Rectangle 22"/>
            <p:cNvSpPr>
              <a:spLocks/>
            </p:cNvSpPr>
            <p:nvPr/>
          </p:nvSpPr>
          <p:spPr bwMode="auto">
            <a:xfrm>
              <a:off x="4760" y="0"/>
              <a:ext cx="596"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sport</a:t>
              </a:r>
            </a:p>
          </p:txBody>
        </p:sp>
        <p:sp>
          <p:nvSpPr>
            <p:cNvPr id="42054" name="Rectangle 23"/>
            <p:cNvSpPr>
              <a:spLocks/>
            </p:cNvSpPr>
            <p:nvPr/>
          </p:nvSpPr>
          <p:spPr bwMode="auto">
            <a:xfrm>
              <a:off x="53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55" name="Rectangle 24"/>
            <p:cNvSpPr>
              <a:spLocks/>
            </p:cNvSpPr>
            <p:nvPr/>
          </p:nvSpPr>
          <p:spPr bwMode="auto">
            <a:xfrm>
              <a:off x="5351"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dport</a:t>
              </a:r>
            </a:p>
          </p:txBody>
        </p:sp>
        <p:sp>
          <p:nvSpPr>
            <p:cNvPr id="42056" name="Rectangle 25"/>
            <p:cNvSpPr>
              <a:spLocks/>
            </p:cNvSpPr>
            <p:nvPr/>
          </p:nvSpPr>
          <p:spPr bwMode="auto">
            <a:xfrm>
              <a:off x="5956" y="12"/>
              <a:ext cx="748" cy="488"/>
            </a:xfrm>
            <a:prstGeom prst="rect">
              <a:avLst/>
            </a:prstGeom>
            <a:solidFill>
              <a:srgbClr val="CBE97B"/>
            </a:solidFill>
            <a:ln w="12700">
              <a:solidFill>
                <a:srgbClr val="697D3A"/>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57" name="Rectangle 26"/>
            <p:cNvSpPr>
              <a:spLocks/>
            </p:cNvSpPr>
            <p:nvPr/>
          </p:nvSpPr>
          <p:spPr bwMode="auto">
            <a:xfrm>
              <a:off x="5948" y="111"/>
              <a:ext cx="75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Action</a:t>
              </a:r>
            </a:p>
          </p:txBody>
        </p:sp>
      </p:grpSp>
      <p:sp>
        <p:nvSpPr>
          <p:cNvPr id="41990" name="Rectangle 27"/>
          <p:cNvSpPr>
            <a:spLocks/>
          </p:cNvSpPr>
          <p:nvPr/>
        </p:nvSpPr>
        <p:spPr bwMode="auto">
          <a:xfrm>
            <a:off x="13462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1" name="Rectangle 28"/>
          <p:cNvSpPr>
            <a:spLocks/>
          </p:cNvSpPr>
          <p:nvPr/>
        </p:nvSpPr>
        <p:spPr bwMode="auto">
          <a:xfrm>
            <a:off x="1774825" y="2546350"/>
            <a:ext cx="1133475"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2" name="Rectangle 29"/>
          <p:cNvSpPr>
            <a:spLocks/>
          </p:cNvSpPr>
          <p:nvPr/>
        </p:nvSpPr>
        <p:spPr bwMode="auto">
          <a:xfrm>
            <a:off x="2667000" y="2546350"/>
            <a:ext cx="661988"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3" name="Rectangle 30"/>
          <p:cNvSpPr>
            <a:spLocks/>
          </p:cNvSpPr>
          <p:nvPr/>
        </p:nvSpPr>
        <p:spPr bwMode="auto">
          <a:xfrm>
            <a:off x="33289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4" name="Rectangle 31"/>
          <p:cNvSpPr>
            <a:spLocks/>
          </p:cNvSpPr>
          <p:nvPr/>
        </p:nvSpPr>
        <p:spPr bwMode="auto">
          <a:xfrm>
            <a:off x="39893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5" name="Rectangle 32"/>
          <p:cNvSpPr>
            <a:spLocks/>
          </p:cNvSpPr>
          <p:nvPr/>
        </p:nvSpPr>
        <p:spPr bwMode="auto">
          <a:xfrm>
            <a:off x="4649788"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5.6.7.8</a:t>
            </a:r>
          </a:p>
        </p:txBody>
      </p:sp>
      <p:sp>
        <p:nvSpPr>
          <p:cNvPr id="41996" name="Rectangle 33"/>
          <p:cNvSpPr>
            <a:spLocks/>
          </p:cNvSpPr>
          <p:nvPr/>
        </p:nvSpPr>
        <p:spPr bwMode="auto">
          <a:xfrm>
            <a:off x="5319713"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7" name="Rectangle 34"/>
          <p:cNvSpPr>
            <a:spLocks/>
          </p:cNvSpPr>
          <p:nvPr/>
        </p:nvSpPr>
        <p:spPr bwMode="auto">
          <a:xfrm>
            <a:off x="5980113" y="2546350"/>
            <a:ext cx="661987"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8" name="Rectangle 35"/>
          <p:cNvSpPr>
            <a:spLocks/>
          </p:cNvSpPr>
          <p:nvPr/>
        </p:nvSpPr>
        <p:spPr bwMode="auto">
          <a:xfrm>
            <a:off x="6642100"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1999" name="Rectangle 36"/>
          <p:cNvSpPr>
            <a:spLocks/>
          </p:cNvSpPr>
          <p:nvPr/>
        </p:nvSpPr>
        <p:spPr bwMode="auto">
          <a:xfrm>
            <a:off x="7400925" y="2546350"/>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port6</a:t>
            </a:r>
          </a:p>
        </p:txBody>
      </p:sp>
      <p:sp>
        <p:nvSpPr>
          <p:cNvPr id="42000" name="Rectangle 37"/>
          <p:cNvSpPr>
            <a:spLocks/>
          </p:cNvSpPr>
          <p:nvPr/>
        </p:nvSpPr>
        <p:spPr bwMode="auto">
          <a:xfrm>
            <a:off x="565150" y="3070225"/>
            <a:ext cx="1454150" cy="274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a:latin typeface="Calibri" panose="020F0502020204030204" pitchFamily="34" charset="0"/>
              </a:rPr>
              <a:t>VLAN Switching</a:t>
            </a:r>
          </a:p>
        </p:txBody>
      </p:sp>
      <p:sp>
        <p:nvSpPr>
          <p:cNvPr id="42001" name="Rectangle 38"/>
          <p:cNvSpPr>
            <a:spLocks/>
          </p:cNvSpPr>
          <p:nvPr/>
        </p:nvSpPr>
        <p:spPr bwMode="auto">
          <a:xfrm>
            <a:off x="685800"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grpSp>
        <p:nvGrpSpPr>
          <p:cNvPr id="42002" name="Group 39"/>
          <p:cNvGrpSpPr>
            <a:grpSpLocks/>
          </p:cNvGrpSpPr>
          <p:nvPr/>
        </p:nvGrpSpPr>
        <p:grpSpPr bwMode="auto">
          <a:xfrm>
            <a:off x="687388" y="3557588"/>
            <a:ext cx="7483475" cy="571500"/>
            <a:chOff x="0" y="0"/>
            <a:chExt cx="6704" cy="512"/>
          </a:xfrm>
        </p:grpSpPr>
        <p:sp>
          <p:nvSpPr>
            <p:cNvPr id="42014" name="Rectangle 40"/>
            <p:cNvSpPr>
              <a:spLocks/>
            </p:cNvSpPr>
            <p:nvPr/>
          </p:nvSpPr>
          <p:spPr bwMode="auto">
            <a:xfrm>
              <a:off x="0"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15" name="Rectangle 41"/>
            <p:cNvSpPr>
              <a:spLocks/>
            </p:cNvSpPr>
            <p:nvPr/>
          </p:nvSpPr>
          <p:spPr bwMode="auto">
            <a:xfrm>
              <a:off x="3"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Switch</a:t>
              </a:r>
            </a:p>
            <a:p>
              <a:pPr eaLnBrk="1" hangingPunct="1"/>
              <a:r>
                <a:rPr kumimoji="0" lang="en-US" altLang="zh-TW" sz="1700">
                  <a:latin typeface="Calibri" panose="020F0502020204030204" pitchFamily="34" charset="0"/>
                </a:rPr>
                <a:t>Port</a:t>
              </a:r>
            </a:p>
          </p:txBody>
        </p:sp>
        <p:sp>
          <p:nvSpPr>
            <p:cNvPr id="42016" name="Rectangle 42"/>
            <p:cNvSpPr>
              <a:spLocks/>
            </p:cNvSpPr>
            <p:nvPr/>
          </p:nvSpPr>
          <p:spPr bwMode="auto">
            <a:xfrm>
              <a:off x="592"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17" name="Rectangle 43"/>
            <p:cNvSpPr>
              <a:spLocks/>
            </p:cNvSpPr>
            <p:nvPr/>
          </p:nvSpPr>
          <p:spPr bwMode="auto">
            <a:xfrm>
              <a:off x="588"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src</a:t>
              </a:r>
            </a:p>
          </p:txBody>
        </p:sp>
        <p:sp>
          <p:nvSpPr>
            <p:cNvPr id="42018" name="Rectangle 44"/>
            <p:cNvSpPr>
              <a:spLocks/>
            </p:cNvSpPr>
            <p:nvPr/>
          </p:nvSpPr>
          <p:spPr bwMode="auto">
            <a:xfrm>
              <a:off x="11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19" name="Rectangle 45"/>
            <p:cNvSpPr>
              <a:spLocks/>
            </p:cNvSpPr>
            <p:nvPr/>
          </p:nvSpPr>
          <p:spPr bwMode="auto">
            <a:xfrm>
              <a:off x="1212" y="0"/>
              <a:ext cx="56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MAC</a:t>
              </a:r>
            </a:p>
            <a:p>
              <a:pPr eaLnBrk="1" hangingPunct="1"/>
              <a:r>
                <a:rPr kumimoji="0" lang="en-US" altLang="zh-TW" sz="1700">
                  <a:latin typeface="Calibri" panose="020F0502020204030204" pitchFamily="34" charset="0"/>
                </a:rPr>
                <a:t>dst</a:t>
              </a:r>
            </a:p>
          </p:txBody>
        </p:sp>
        <p:sp>
          <p:nvSpPr>
            <p:cNvPr id="42020" name="Rectangle 46"/>
            <p:cNvSpPr>
              <a:spLocks/>
            </p:cNvSpPr>
            <p:nvPr/>
          </p:nvSpPr>
          <p:spPr bwMode="auto">
            <a:xfrm>
              <a:off x="1785"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21" name="Rectangle 47"/>
            <p:cNvSpPr>
              <a:spLocks/>
            </p:cNvSpPr>
            <p:nvPr/>
          </p:nvSpPr>
          <p:spPr bwMode="auto">
            <a:xfrm>
              <a:off x="1783"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Eth</a:t>
              </a:r>
            </a:p>
            <a:p>
              <a:pPr eaLnBrk="1" hangingPunct="1"/>
              <a:r>
                <a:rPr kumimoji="0" lang="en-US" altLang="zh-TW" sz="1700">
                  <a:latin typeface="Calibri" panose="020F0502020204030204" pitchFamily="34" charset="0"/>
                </a:rPr>
                <a:t>type</a:t>
              </a:r>
            </a:p>
          </p:txBody>
        </p:sp>
        <p:sp>
          <p:nvSpPr>
            <p:cNvPr id="42022" name="Rectangle 48"/>
            <p:cNvSpPr>
              <a:spLocks/>
            </p:cNvSpPr>
            <p:nvPr/>
          </p:nvSpPr>
          <p:spPr bwMode="auto">
            <a:xfrm>
              <a:off x="2378"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23" name="Rectangle 49"/>
            <p:cNvSpPr>
              <a:spLocks/>
            </p:cNvSpPr>
            <p:nvPr/>
          </p:nvSpPr>
          <p:spPr bwMode="auto">
            <a:xfrm>
              <a:off x="2380" y="0"/>
              <a:ext cx="590"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a:t>
              </a:r>
            </a:p>
            <a:p>
              <a:pPr eaLnBrk="1" hangingPunct="1"/>
              <a:r>
                <a:rPr kumimoji="0" lang="en-US" altLang="zh-TW" sz="1700">
                  <a:latin typeface="Calibri" panose="020F0502020204030204" pitchFamily="34" charset="0"/>
                </a:rPr>
                <a:t>ID</a:t>
              </a:r>
            </a:p>
          </p:txBody>
        </p:sp>
        <p:sp>
          <p:nvSpPr>
            <p:cNvPr id="42024" name="Rectangle 50"/>
            <p:cNvSpPr>
              <a:spLocks/>
            </p:cNvSpPr>
            <p:nvPr/>
          </p:nvSpPr>
          <p:spPr bwMode="auto">
            <a:xfrm>
              <a:off x="29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25" name="Rectangle 51"/>
            <p:cNvSpPr>
              <a:spLocks/>
            </p:cNvSpPr>
            <p:nvPr/>
          </p:nvSpPr>
          <p:spPr bwMode="auto">
            <a:xfrm>
              <a:off x="2977" y="0"/>
              <a:ext cx="589"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Src</a:t>
              </a:r>
            </a:p>
          </p:txBody>
        </p:sp>
        <p:sp>
          <p:nvSpPr>
            <p:cNvPr id="42026" name="Rectangle 52"/>
            <p:cNvSpPr>
              <a:spLocks/>
            </p:cNvSpPr>
            <p:nvPr/>
          </p:nvSpPr>
          <p:spPr bwMode="auto">
            <a:xfrm>
              <a:off x="3571"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27" name="Rectangle 53"/>
            <p:cNvSpPr>
              <a:spLocks/>
            </p:cNvSpPr>
            <p:nvPr/>
          </p:nvSpPr>
          <p:spPr bwMode="auto">
            <a:xfrm>
              <a:off x="3567"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Dst</a:t>
              </a:r>
            </a:p>
          </p:txBody>
        </p:sp>
        <p:sp>
          <p:nvSpPr>
            <p:cNvPr id="42028" name="Rectangle 54"/>
            <p:cNvSpPr>
              <a:spLocks/>
            </p:cNvSpPr>
            <p:nvPr/>
          </p:nvSpPr>
          <p:spPr bwMode="auto">
            <a:xfrm>
              <a:off x="4164" y="15"/>
              <a:ext cx="592"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29" name="Rectangle 55"/>
            <p:cNvSpPr>
              <a:spLocks/>
            </p:cNvSpPr>
            <p:nvPr/>
          </p:nvSpPr>
          <p:spPr bwMode="auto">
            <a:xfrm>
              <a:off x="4165" y="0"/>
              <a:ext cx="583"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IP</a:t>
              </a:r>
            </a:p>
            <a:p>
              <a:pPr eaLnBrk="1" hangingPunct="1"/>
              <a:r>
                <a:rPr kumimoji="0" lang="en-US" altLang="zh-TW" sz="1700">
                  <a:latin typeface="Calibri" panose="020F0502020204030204" pitchFamily="34" charset="0"/>
                </a:rPr>
                <a:t>Prot</a:t>
              </a:r>
            </a:p>
          </p:txBody>
        </p:sp>
        <p:sp>
          <p:nvSpPr>
            <p:cNvPr id="42030" name="Rectangle 56"/>
            <p:cNvSpPr>
              <a:spLocks/>
            </p:cNvSpPr>
            <p:nvPr/>
          </p:nvSpPr>
          <p:spPr bwMode="auto">
            <a:xfrm>
              <a:off x="47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31" name="Rectangle 57"/>
            <p:cNvSpPr>
              <a:spLocks/>
            </p:cNvSpPr>
            <p:nvPr/>
          </p:nvSpPr>
          <p:spPr bwMode="auto">
            <a:xfrm>
              <a:off x="4760" y="0"/>
              <a:ext cx="596"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sport</a:t>
              </a:r>
            </a:p>
          </p:txBody>
        </p:sp>
        <p:sp>
          <p:nvSpPr>
            <p:cNvPr id="42032" name="Rectangle 58"/>
            <p:cNvSpPr>
              <a:spLocks/>
            </p:cNvSpPr>
            <p:nvPr/>
          </p:nvSpPr>
          <p:spPr bwMode="auto">
            <a:xfrm>
              <a:off x="5356" y="15"/>
              <a:ext cx="593" cy="480"/>
            </a:xfrm>
            <a:prstGeom prst="rect">
              <a:avLst/>
            </a:prstGeom>
            <a:solidFill>
              <a:srgbClr val="BBE0E3"/>
            </a:solidFill>
            <a:ln w="12700">
              <a:solidFill>
                <a:schemeClr val="tx1"/>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33" name="Rectangle 59"/>
            <p:cNvSpPr>
              <a:spLocks/>
            </p:cNvSpPr>
            <p:nvPr/>
          </p:nvSpPr>
          <p:spPr bwMode="auto">
            <a:xfrm>
              <a:off x="5351" y="0"/>
              <a:ext cx="597" cy="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TCP</a:t>
              </a:r>
            </a:p>
            <a:p>
              <a:pPr eaLnBrk="1" hangingPunct="1"/>
              <a:r>
                <a:rPr kumimoji="0" lang="en-US" altLang="zh-TW" sz="1700">
                  <a:latin typeface="Calibri" panose="020F0502020204030204" pitchFamily="34" charset="0"/>
                </a:rPr>
                <a:t>dport</a:t>
              </a:r>
            </a:p>
          </p:txBody>
        </p:sp>
        <p:sp>
          <p:nvSpPr>
            <p:cNvPr id="42034" name="Rectangle 60"/>
            <p:cNvSpPr>
              <a:spLocks/>
            </p:cNvSpPr>
            <p:nvPr/>
          </p:nvSpPr>
          <p:spPr bwMode="auto">
            <a:xfrm>
              <a:off x="5956" y="12"/>
              <a:ext cx="748" cy="488"/>
            </a:xfrm>
            <a:prstGeom prst="rect">
              <a:avLst/>
            </a:prstGeom>
            <a:solidFill>
              <a:srgbClr val="CBE97B"/>
            </a:solidFill>
            <a:ln w="12700">
              <a:solidFill>
                <a:srgbClr val="697D3A"/>
              </a:solidFill>
              <a:miter lim="800000"/>
              <a:headEnd/>
              <a:tailEnd/>
            </a:ln>
          </p:spPr>
          <p:txBody>
            <a:bodyPr lIns="0" tIns="0" rIns="0" bIns="0"/>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en-US" altLang="zh-TW">
                <a:latin typeface="Calibri" panose="020F0502020204030204" pitchFamily="34" charset="0"/>
              </a:endParaRPr>
            </a:p>
          </p:txBody>
        </p:sp>
        <p:sp>
          <p:nvSpPr>
            <p:cNvPr id="42035" name="Rectangle 61"/>
            <p:cNvSpPr>
              <a:spLocks/>
            </p:cNvSpPr>
            <p:nvPr/>
          </p:nvSpPr>
          <p:spPr bwMode="auto">
            <a:xfrm>
              <a:off x="5948" y="111"/>
              <a:ext cx="755"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Action</a:t>
              </a:r>
            </a:p>
          </p:txBody>
        </p:sp>
      </p:grpSp>
      <p:sp>
        <p:nvSpPr>
          <p:cNvPr id="42003" name="Rectangle 62"/>
          <p:cNvSpPr>
            <a:spLocks/>
          </p:cNvSpPr>
          <p:nvPr/>
        </p:nvSpPr>
        <p:spPr bwMode="auto">
          <a:xfrm>
            <a:off x="1346200"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04" name="Rectangle 64"/>
          <p:cNvSpPr>
            <a:spLocks/>
          </p:cNvSpPr>
          <p:nvPr/>
        </p:nvSpPr>
        <p:spPr bwMode="auto">
          <a:xfrm>
            <a:off x="2667000" y="4386263"/>
            <a:ext cx="661988"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05" name="Rectangle 65"/>
          <p:cNvSpPr>
            <a:spLocks/>
          </p:cNvSpPr>
          <p:nvPr/>
        </p:nvSpPr>
        <p:spPr bwMode="auto">
          <a:xfrm>
            <a:off x="3311525" y="434181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vlan1</a:t>
            </a:r>
          </a:p>
        </p:txBody>
      </p:sp>
      <p:sp>
        <p:nvSpPr>
          <p:cNvPr id="42006" name="Rectangle 66"/>
          <p:cNvSpPr>
            <a:spLocks/>
          </p:cNvSpPr>
          <p:nvPr/>
        </p:nvSpPr>
        <p:spPr bwMode="auto">
          <a:xfrm>
            <a:off x="3989388"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07" name="Rectangle 67"/>
          <p:cNvSpPr>
            <a:spLocks/>
          </p:cNvSpPr>
          <p:nvPr/>
        </p:nvSpPr>
        <p:spPr bwMode="auto">
          <a:xfrm>
            <a:off x="4686300"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08" name="Rectangle 68"/>
          <p:cNvSpPr>
            <a:spLocks/>
          </p:cNvSpPr>
          <p:nvPr/>
        </p:nvSpPr>
        <p:spPr bwMode="auto">
          <a:xfrm>
            <a:off x="5319713"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09" name="Rectangle 69"/>
          <p:cNvSpPr>
            <a:spLocks/>
          </p:cNvSpPr>
          <p:nvPr/>
        </p:nvSpPr>
        <p:spPr bwMode="auto">
          <a:xfrm>
            <a:off x="5980113" y="4386263"/>
            <a:ext cx="661987"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10" name="Rectangle 70"/>
          <p:cNvSpPr>
            <a:spLocks/>
          </p:cNvSpPr>
          <p:nvPr/>
        </p:nvSpPr>
        <p:spPr bwMode="auto">
          <a:xfrm>
            <a:off x="6642100" y="4386263"/>
            <a:ext cx="660400"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a:t>
            </a:r>
          </a:p>
        </p:txBody>
      </p:sp>
      <p:sp>
        <p:nvSpPr>
          <p:cNvPr id="42011" name="Rectangle 71"/>
          <p:cNvSpPr>
            <a:spLocks/>
          </p:cNvSpPr>
          <p:nvPr/>
        </p:nvSpPr>
        <p:spPr bwMode="auto">
          <a:xfrm>
            <a:off x="7400925" y="4191000"/>
            <a:ext cx="6604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port6, </a:t>
            </a:r>
          </a:p>
          <a:p>
            <a:pPr eaLnBrk="1" hangingPunct="1"/>
            <a:r>
              <a:rPr kumimoji="0" lang="en-US" altLang="zh-TW" sz="1700">
                <a:latin typeface="Calibri" panose="020F0502020204030204" pitchFamily="34" charset="0"/>
              </a:rPr>
              <a:t>port7,</a:t>
            </a:r>
          </a:p>
          <a:p>
            <a:pPr eaLnBrk="1" hangingPunct="1"/>
            <a:r>
              <a:rPr kumimoji="0" lang="en-US" altLang="zh-TW" sz="1700">
                <a:latin typeface="Calibri" panose="020F0502020204030204" pitchFamily="34" charset="0"/>
              </a:rPr>
              <a:t>port9</a:t>
            </a:r>
          </a:p>
        </p:txBody>
      </p:sp>
      <p:sp>
        <p:nvSpPr>
          <p:cNvPr id="42012" name="Rectangle 63"/>
          <p:cNvSpPr>
            <a:spLocks/>
          </p:cNvSpPr>
          <p:nvPr/>
        </p:nvSpPr>
        <p:spPr bwMode="auto">
          <a:xfrm>
            <a:off x="1939925" y="4351338"/>
            <a:ext cx="868363"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700">
                <a:latin typeface="Calibri" panose="020F0502020204030204" pitchFamily="34" charset="0"/>
              </a:rPr>
              <a:t>00:1f..</a:t>
            </a:r>
          </a:p>
        </p:txBody>
      </p:sp>
      <p:sp>
        <p:nvSpPr>
          <p:cNvPr id="74" name="Slide Number Placeholder 73"/>
          <p:cNvSpPr>
            <a:spLocks noGrp="1"/>
          </p:cNvSpPr>
          <p:nvPr>
            <p:ph type="sldNum" sz="quarter" idx="4294967295"/>
          </p:nvPr>
        </p:nvSpPr>
        <p:spPr>
          <a:xfrm>
            <a:off x="6553200" y="6356350"/>
            <a:ext cx="2133600" cy="365125"/>
          </a:xfrm>
          <a:prstGeom prst="rect">
            <a:avLst/>
          </a:prstGeom>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fld id="{F86798E0-67E1-4537-B554-EEDE749ED0CB}" type="slidenum">
              <a:rPr kumimoji="0" lang="en-US" altLang="zh-TW">
                <a:solidFill>
                  <a:srgbClr val="898989"/>
                </a:solidFill>
                <a:latin typeface="Calibri" panose="020F0502020204030204" pitchFamily="34" charset="0"/>
              </a:rPr>
              <a:pPr eaLnBrk="1" hangingPunct="1"/>
              <a:t>52</a:t>
            </a:fld>
            <a:endParaRPr kumimoji="0" lang="en-US" altLang="zh-TW">
              <a:solidFill>
                <a:srgbClr val="898989"/>
              </a:solidFill>
              <a:latin typeface="Calibri" panose="020F0502020204030204" pitchFamily="34" charset="0"/>
            </a:endParaRPr>
          </a:p>
        </p:txBody>
      </p:sp>
    </p:spTree>
    <p:extLst>
      <p:ext uri="{BB962C8B-B14F-4D97-AF65-F5344CB8AC3E}">
        <p14:creationId xmlns:p14="http://schemas.microsoft.com/office/powerpoint/2010/main" val="152473194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6316501" y="2895600"/>
            <a:ext cx="2400779" cy="2606040"/>
          </a:xfrm>
          <a:prstGeom prst="rect">
            <a:avLst/>
          </a:prstGeom>
          <a:noFill/>
          <a:ln w="9525">
            <a:noFill/>
            <a:miter lim="800000"/>
            <a:headEnd/>
            <a:tailEnd/>
          </a:ln>
        </p:spPr>
      </p:pic>
      <p:sp>
        <p:nvSpPr>
          <p:cNvPr id="2" name="Title 1"/>
          <p:cNvSpPr>
            <a:spLocks noGrp="1"/>
          </p:cNvSpPr>
          <p:nvPr>
            <p:ph type="title"/>
          </p:nvPr>
        </p:nvSpPr>
        <p:spPr>
          <a:xfrm>
            <a:off x="533400" y="228600"/>
            <a:ext cx="8427720" cy="1323439"/>
          </a:xfrm>
        </p:spPr>
        <p:txBody>
          <a:bodyPr/>
          <a:lstStyle/>
          <a:p>
            <a:r>
              <a:rPr lang="de-DE" dirty="0" err="1"/>
              <a:t>OpenFlow</a:t>
            </a:r>
            <a:r>
              <a:rPr lang="de-DE" dirty="0"/>
              <a:t> – </a:t>
            </a:r>
            <a:r>
              <a:rPr lang="de-DE" dirty="0" err="1"/>
              <a:t>OpenFlow</a:t>
            </a:r>
            <a:r>
              <a:rPr lang="de-DE" dirty="0"/>
              <a:t> Channel</a:t>
            </a:r>
          </a:p>
        </p:txBody>
      </p:sp>
      <p:sp>
        <p:nvSpPr>
          <p:cNvPr id="3" name="Content Placeholder 2"/>
          <p:cNvSpPr>
            <a:spLocks noGrp="1"/>
          </p:cNvSpPr>
          <p:nvPr>
            <p:ph idx="1"/>
          </p:nvPr>
        </p:nvSpPr>
        <p:spPr/>
        <p:txBody>
          <a:bodyPr>
            <a:normAutofit fontScale="85000" lnSpcReduction="20000"/>
          </a:bodyPr>
          <a:lstStyle/>
          <a:p>
            <a:r>
              <a:rPr lang="de-DE" dirty="0"/>
              <a:t>Different </a:t>
            </a:r>
            <a:r>
              <a:rPr lang="de-DE" dirty="0" err="1"/>
              <a:t>message</a:t>
            </a:r>
            <a:r>
              <a:rPr lang="de-DE" dirty="0"/>
              <a:t> </a:t>
            </a:r>
            <a:r>
              <a:rPr lang="de-DE" dirty="0" err="1"/>
              <a:t>types</a:t>
            </a:r>
            <a:r>
              <a:rPr lang="de-DE" dirty="0"/>
              <a:t> </a:t>
            </a:r>
            <a:r>
              <a:rPr lang="de-DE" dirty="0" err="1"/>
              <a:t>available</a:t>
            </a:r>
            <a:r>
              <a:rPr lang="de-DE" dirty="0"/>
              <a:t>:</a:t>
            </a:r>
          </a:p>
          <a:p>
            <a:pPr lvl="1"/>
            <a:r>
              <a:rPr lang="de-DE" i="1" dirty="0">
                <a:solidFill>
                  <a:schemeClr val="accent2"/>
                </a:solidFill>
              </a:rPr>
              <a:t>Controller-</a:t>
            </a:r>
            <a:r>
              <a:rPr lang="de-DE" i="1" dirty="0" err="1">
                <a:solidFill>
                  <a:schemeClr val="accent2"/>
                </a:solidFill>
              </a:rPr>
              <a:t>to</a:t>
            </a:r>
            <a:r>
              <a:rPr lang="de-DE" i="1" dirty="0">
                <a:solidFill>
                  <a:schemeClr val="accent2"/>
                </a:solidFill>
              </a:rPr>
              <a:t>-Switch</a:t>
            </a:r>
            <a:r>
              <a:rPr lang="de-DE" dirty="0"/>
              <a:t>,</a:t>
            </a:r>
            <a:r>
              <a:rPr lang="de-DE" i="1" dirty="0">
                <a:solidFill>
                  <a:schemeClr val="accent2"/>
                </a:solidFill>
              </a:rPr>
              <a:t> </a:t>
            </a:r>
            <a:r>
              <a:rPr lang="de-DE" i="1" dirty="0" err="1">
                <a:solidFill>
                  <a:schemeClr val="accent2"/>
                </a:solidFill>
              </a:rPr>
              <a:t>Asynchronous</a:t>
            </a:r>
            <a:r>
              <a:rPr lang="de-DE" i="1" dirty="0">
                <a:solidFill>
                  <a:schemeClr val="accent2"/>
                </a:solidFill>
              </a:rPr>
              <a:t> </a:t>
            </a:r>
            <a:r>
              <a:rPr lang="de-DE" dirty="0" err="1"/>
              <a:t>or</a:t>
            </a:r>
            <a:r>
              <a:rPr lang="de-DE" dirty="0"/>
              <a:t> </a:t>
            </a:r>
            <a:r>
              <a:rPr lang="de-DE" i="1" dirty="0" err="1">
                <a:solidFill>
                  <a:schemeClr val="accent2"/>
                </a:solidFill>
              </a:rPr>
              <a:t>Symmetric</a:t>
            </a:r>
            <a:endParaRPr lang="de-DE" i="1" dirty="0">
              <a:solidFill>
                <a:schemeClr val="accent2"/>
              </a:solidFill>
            </a:endParaRPr>
          </a:p>
          <a:p>
            <a:r>
              <a:rPr lang="de-DE" dirty="0"/>
              <a:t>Controller-</a:t>
            </a:r>
            <a:r>
              <a:rPr lang="de-DE" dirty="0" err="1"/>
              <a:t>to</a:t>
            </a:r>
            <a:r>
              <a:rPr lang="de-DE" dirty="0"/>
              <a:t>-Switch:</a:t>
            </a:r>
          </a:p>
          <a:p>
            <a:pPr lvl="1"/>
            <a:r>
              <a:rPr lang="de-DE" dirty="0" err="1"/>
              <a:t>Lets</a:t>
            </a:r>
            <a:r>
              <a:rPr lang="de-DE" dirty="0"/>
              <a:t> </a:t>
            </a:r>
            <a:r>
              <a:rPr lang="de-DE" dirty="0" err="1"/>
              <a:t>the</a:t>
            </a:r>
            <a:r>
              <a:rPr lang="de-DE" dirty="0"/>
              <a:t> </a:t>
            </a:r>
            <a:r>
              <a:rPr lang="de-DE" dirty="0" err="1"/>
              <a:t>controller</a:t>
            </a:r>
            <a:r>
              <a:rPr lang="de-DE" dirty="0"/>
              <a:t> </a:t>
            </a:r>
            <a:r>
              <a:rPr lang="de-DE" dirty="0" err="1"/>
              <a:t>control</a:t>
            </a:r>
            <a:r>
              <a:rPr lang="de-DE" dirty="0"/>
              <a:t> </a:t>
            </a:r>
            <a:r>
              <a:rPr lang="de-DE" dirty="0" err="1"/>
              <a:t>the</a:t>
            </a:r>
            <a:r>
              <a:rPr lang="de-DE" dirty="0"/>
              <a:t> </a:t>
            </a:r>
            <a:r>
              <a:rPr lang="de-DE" dirty="0" err="1"/>
              <a:t>switch</a:t>
            </a:r>
            <a:endParaRPr lang="de-DE" dirty="0"/>
          </a:p>
          <a:p>
            <a:pPr lvl="1"/>
            <a:r>
              <a:rPr lang="de-DE" dirty="0"/>
              <a:t>E.g., </a:t>
            </a:r>
            <a:r>
              <a:rPr lang="de-DE" i="1" dirty="0">
                <a:solidFill>
                  <a:schemeClr val="accent2"/>
                </a:solidFill>
              </a:rPr>
              <a:t>Modify-State</a:t>
            </a:r>
            <a:r>
              <a:rPr lang="de-DE" dirty="0"/>
              <a:t> </a:t>
            </a:r>
            <a:r>
              <a:rPr lang="de-DE" dirty="0" err="1"/>
              <a:t>command</a:t>
            </a:r>
            <a:r>
              <a:rPr lang="de-DE" dirty="0"/>
              <a:t> </a:t>
            </a:r>
            <a:r>
              <a:rPr lang="de-DE" dirty="0" err="1"/>
              <a:t>to</a:t>
            </a:r>
            <a:endParaRPr lang="de-DE" dirty="0"/>
          </a:p>
          <a:p>
            <a:pPr lvl="1">
              <a:buNone/>
            </a:pPr>
            <a:r>
              <a:rPr lang="de-DE" dirty="0"/>
              <a:t>	</a:t>
            </a:r>
            <a:r>
              <a:rPr lang="de-DE" dirty="0" err="1"/>
              <a:t>manipulate</a:t>
            </a:r>
            <a:r>
              <a:rPr lang="de-DE" dirty="0"/>
              <a:t> </a:t>
            </a:r>
            <a:r>
              <a:rPr lang="de-DE" dirty="0" err="1"/>
              <a:t>flow</a:t>
            </a:r>
            <a:r>
              <a:rPr lang="de-DE" dirty="0"/>
              <a:t> </a:t>
            </a:r>
            <a:r>
              <a:rPr lang="de-DE" dirty="0" err="1"/>
              <a:t>tables</a:t>
            </a:r>
            <a:endParaRPr lang="de-DE" dirty="0"/>
          </a:p>
          <a:p>
            <a:r>
              <a:rPr lang="de-DE" dirty="0" err="1"/>
              <a:t>Asynchronous</a:t>
            </a:r>
            <a:r>
              <a:rPr lang="de-DE" dirty="0"/>
              <a:t>:</a:t>
            </a:r>
          </a:p>
          <a:p>
            <a:pPr lvl="1"/>
            <a:r>
              <a:rPr lang="de-DE" dirty="0"/>
              <a:t>Switch-</a:t>
            </a:r>
            <a:r>
              <a:rPr lang="de-DE" dirty="0" err="1"/>
              <a:t>to</a:t>
            </a:r>
            <a:r>
              <a:rPr lang="de-DE" dirty="0"/>
              <a:t>-</a:t>
            </a:r>
            <a:r>
              <a:rPr lang="de-DE" dirty="0" err="1"/>
              <a:t>controller</a:t>
            </a:r>
            <a:r>
              <a:rPr lang="de-DE" dirty="0"/>
              <a:t> </a:t>
            </a:r>
            <a:r>
              <a:rPr lang="de-DE" dirty="0" err="1"/>
              <a:t>requests</a:t>
            </a:r>
            <a:endParaRPr lang="de-DE" dirty="0"/>
          </a:p>
          <a:p>
            <a:pPr lvl="1">
              <a:buNone/>
            </a:pPr>
            <a:r>
              <a:rPr lang="de-DE" dirty="0"/>
              <a:t>  (e.g., </a:t>
            </a:r>
            <a:r>
              <a:rPr lang="de-DE" dirty="0" err="1"/>
              <a:t>at</a:t>
            </a:r>
            <a:r>
              <a:rPr lang="de-DE" dirty="0"/>
              <a:t> </a:t>
            </a:r>
            <a:r>
              <a:rPr lang="de-DE" dirty="0" err="1"/>
              <a:t>table</a:t>
            </a:r>
            <a:r>
              <a:rPr lang="de-DE" dirty="0"/>
              <a:t> miss)</a:t>
            </a:r>
          </a:p>
          <a:p>
            <a:r>
              <a:rPr lang="de-DE" dirty="0" err="1"/>
              <a:t>Symmetric</a:t>
            </a:r>
            <a:r>
              <a:rPr lang="de-DE" dirty="0"/>
              <a:t>:</a:t>
            </a:r>
          </a:p>
          <a:p>
            <a:pPr lvl="1"/>
            <a:r>
              <a:rPr lang="de-DE" dirty="0"/>
              <a:t>May </a:t>
            </a:r>
            <a:r>
              <a:rPr lang="de-DE" dirty="0" err="1"/>
              <a:t>be</a:t>
            </a:r>
            <a:r>
              <a:rPr lang="de-DE" dirty="0"/>
              <a:t> </a:t>
            </a:r>
            <a:r>
              <a:rPr lang="de-DE" dirty="0" err="1"/>
              <a:t>sent</a:t>
            </a:r>
            <a:r>
              <a:rPr lang="de-DE" dirty="0"/>
              <a:t> </a:t>
            </a:r>
            <a:r>
              <a:rPr lang="de-DE" dirty="0" err="1"/>
              <a:t>from</a:t>
            </a:r>
            <a:r>
              <a:rPr lang="de-DE" dirty="0"/>
              <a:t> </a:t>
            </a:r>
            <a:r>
              <a:rPr lang="de-DE" dirty="0" err="1"/>
              <a:t>both</a:t>
            </a:r>
            <a:r>
              <a:rPr lang="de-DE" dirty="0"/>
              <a:t> </a:t>
            </a:r>
            <a:r>
              <a:rPr lang="de-DE" dirty="0" err="1"/>
              <a:t>ends</a:t>
            </a:r>
            <a:r>
              <a:rPr lang="de-DE" dirty="0"/>
              <a:t> (e.g., echo </a:t>
            </a:r>
            <a:r>
              <a:rPr lang="de-DE" dirty="0" err="1"/>
              <a:t>command</a:t>
            </a:r>
            <a:r>
              <a:rPr lang="de-DE" dirty="0"/>
              <a:t>)</a:t>
            </a:r>
          </a:p>
          <a:p>
            <a:pPr lvl="1"/>
            <a:endParaRPr lang="de-DE" dirty="0"/>
          </a:p>
          <a:p>
            <a:pPr>
              <a:buNone/>
            </a:pPr>
            <a:endParaRPr lang="de-DE" i="1" dirty="0">
              <a:solidFill>
                <a:schemeClr val="accent2"/>
              </a:solidFill>
            </a:endParaRPr>
          </a:p>
          <a:p>
            <a:pPr>
              <a:buNone/>
            </a:pPr>
            <a:endParaRPr lang="de-DE" i="1" dirty="0">
              <a:solidFill>
                <a:schemeClr val="accent2"/>
              </a:solidFill>
            </a:endParaRPr>
          </a:p>
          <a:p>
            <a:pPr>
              <a:buNone/>
            </a:pPr>
            <a:endParaRPr lang="de-DE" dirty="0"/>
          </a:p>
          <a:p>
            <a:pPr lvl="1">
              <a:buNone/>
            </a:pPr>
            <a:endParaRPr lang="de-DE" i="1" dirty="0">
              <a:solidFill>
                <a:schemeClr val="accent2"/>
              </a:solidFill>
            </a:endParaRPr>
          </a:p>
          <a:p>
            <a:endParaRPr lang="de-DE" dirty="0"/>
          </a:p>
          <a:p>
            <a:pPr lvl="1"/>
            <a:endParaRPr lang="de-DE" dirty="0"/>
          </a:p>
        </p:txBody>
      </p:sp>
      <p:sp>
        <p:nvSpPr>
          <p:cNvPr id="4" name="Rectangle 3"/>
          <p:cNvSpPr/>
          <p:nvPr/>
        </p:nvSpPr>
        <p:spPr bwMode="auto">
          <a:xfrm>
            <a:off x="6614160" y="4328160"/>
            <a:ext cx="1158240" cy="5943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6" name="Slide Number Placeholder 5"/>
          <p:cNvSpPr>
            <a:spLocks noGrp="1"/>
          </p:cNvSpPr>
          <p:nvPr>
            <p:ph type="sldNum" sz="quarter" idx="12"/>
          </p:nvPr>
        </p:nvSpPr>
        <p:spPr/>
        <p:txBody>
          <a:bodyPr/>
          <a:lstStyle/>
          <a:p>
            <a:fld id="{4510AD55-118C-453F-AEC9-3256547505F1}" type="slidenum">
              <a:rPr lang="en-US" smtClean="0"/>
              <a:t>53</a:t>
            </a:fld>
            <a:endParaRPr lang="en-US"/>
          </a:p>
        </p:txBody>
      </p:sp>
    </p:spTree>
    <p:extLst>
      <p:ext uri="{BB962C8B-B14F-4D97-AF65-F5344CB8AC3E}">
        <p14:creationId xmlns:p14="http://schemas.microsoft.com/office/powerpoint/2010/main" val="2132488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pic>
        <p:nvPicPr>
          <p:cNvPr id="86018" name="Picture 2"/>
          <p:cNvPicPr>
            <a:picLocks noChangeAspect="1" noChangeArrowheads="1"/>
          </p:cNvPicPr>
          <p:nvPr/>
        </p:nvPicPr>
        <p:blipFill>
          <a:blip r:embed="rId2" cstate="print"/>
          <a:srcRect/>
          <a:stretch>
            <a:fillRect/>
          </a:stretch>
        </p:blipFill>
        <p:spPr bwMode="auto">
          <a:xfrm>
            <a:off x="664489" y="1385455"/>
            <a:ext cx="7989415" cy="5188095"/>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4510AD55-118C-453F-AEC9-3256547505F1}" type="slidenum">
              <a:rPr lang="en-US" smtClean="0"/>
              <a:t>54</a:t>
            </a:fld>
            <a:endParaRPr lang="en-US"/>
          </a:p>
        </p:txBody>
      </p:sp>
    </p:spTree>
    <p:extLst>
      <p:ext uri="{BB962C8B-B14F-4D97-AF65-F5344CB8AC3E}">
        <p14:creationId xmlns:p14="http://schemas.microsoft.com/office/powerpoint/2010/main" val="17459078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4" name="Rectangle 3"/>
          <p:cNvSpPr/>
          <p:nvPr/>
        </p:nvSpPr>
        <p:spPr bwMode="auto">
          <a:xfrm>
            <a:off x="318657" y="4585854"/>
            <a:ext cx="1759527" cy="858982"/>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3" name="Slide Number Placeholder 2"/>
          <p:cNvSpPr>
            <a:spLocks noGrp="1"/>
          </p:cNvSpPr>
          <p:nvPr>
            <p:ph type="sldNum" sz="quarter" idx="12"/>
          </p:nvPr>
        </p:nvSpPr>
        <p:spPr/>
        <p:txBody>
          <a:bodyPr/>
          <a:lstStyle/>
          <a:p>
            <a:fld id="{4510AD55-118C-453F-AEC9-3256547505F1}" type="slidenum">
              <a:rPr lang="en-US" smtClean="0"/>
              <a:t>55</a:t>
            </a:fld>
            <a:endParaRPr lang="en-US"/>
          </a:p>
        </p:txBody>
      </p:sp>
    </p:spTree>
    <p:extLst>
      <p:ext uri="{BB962C8B-B14F-4D97-AF65-F5344CB8AC3E}">
        <p14:creationId xmlns:p14="http://schemas.microsoft.com/office/powerpoint/2010/main" val="3505685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4" name="Rectangle 3"/>
          <p:cNvSpPr/>
          <p:nvPr/>
        </p:nvSpPr>
        <p:spPr bwMode="auto">
          <a:xfrm>
            <a:off x="1246911" y="3477490"/>
            <a:ext cx="1759527" cy="858982"/>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5" name="TextBox 4"/>
          <p:cNvSpPr txBox="1"/>
          <p:nvPr/>
        </p:nvSpPr>
        <p:spPr>
          <a:xfrm>
            <a:off x="2466109" y="3532909"/>
            <a:ext cx="581891" cy="830997"/>
          </a:xfrm>
          <a:prstGeom prst="rect">
            <a:avLst/>
          </a:prstGeom>
          <a:noFill/>
        </p:spPr>
        <p:txBody>
          <a:bodyPr wrap="square" rtlCol="0">
            <a:spAutoFit/>
          </a:bodyPr>
          <a:lstStyle/>
          <a:p>
            <a:r>
              <a:rPr lang="de-DE" sz="4800" b="1" dirty="0">
                <a:solidFill>
                  <a:schemeClr val="accent1"/>
                </a:solidFill>
                <a:latin typeface="+mn-lt"/>
              </a:rPr>
              <a:t>?</a:t>
            </a:r>
          </a:p>
        </p:txBody>
      </p:sp>
      <p:sp>
        <p:nvSpPr>
          <p:cNvPr id="3" name="Slide Number Placeholder 2"/>
          <p:cNvSpPr>
            <a:spLocks noGrp="1"/>
          </p:cNvSpPr>
          <p:nvPr>
            <p:ph type="sldNum" sz="quarter" idx="12"/>
          </p:nvPr>
        </p:nvSpPr>
        <p:spPr/>
        <p:txBody>
          <a:bodyPr/>
          <a:lstStyle/>
          <a:p>
            <a:fld id="{4510AD55-118C-453F-AEC9-3256547505F1}" type="slidenum">
              <a:rPr lang="en-US" smtClean="0"/>
              <a:t>56</a:t>
            </a:fld>
            <a:endParaRPr lang="en-US"/>
          </a:p>
        </p:txBody>
      </p:sp>
    </p:spTree>
    <p:extLst>
      <p:ext uri="{BB962C8B-B14F-4D97-AF65-F5344CB8AC3E}">
        <p14:creationId xmlns:p14="http://schemas.microsoft.com/office/powerpoint/2010/main" val="162882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6" name="Rectangle 5"/>
          <p:cNvSpPr/>
          <p:nvPr/>
        </p:nvSpPr>
        <p:spPr bwMode="auto">
          <a:xfrm>
            <a:off x="4641272" y="1316182"/>
            <a:ext cx="3352801" cy="1274618"/>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4793675" y="1523999"/>
            <a:ext cx="1759527" cy="858982"/>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7" name="TextBox 6"/>
          <p:cNvSpPr txBox="1"/>
          <p:nvPr/>
        </p:nvSpPr>
        <p:spPr>
          <a:xfrm>
            <a:off x="6664039" y="1731822"/>
            <a:ext cx="1260762" cy="369332"/>
          </a:xfrm>
          <a:prstGeom prst="rect">
            <a:avLst/>
          </a:prstGeom>
          <a:noFill/>
        </p:spPr>
        <p:txBody>
          <a:bodyPr wrap="square" rtlCol="0">
            <a:spAutoFit/>
          </a:bodyPr>
          <a:lstStyle/>
          <a:p>
            <a:r>
              <a:rPr lang="de-DE" dirty="0">
                <a:latin typeface="+mn-lt"/>
              </a:rPr>
              <a:t>Packet-IN</a:t>
            </a:r>
          </a:p>
        </p:txBody>
      </p:sp>
      <p:sp>
        <p:nvSpPr>
          <p:cNvPr id="3" name="Slide Number Placeholder 2"/>
          <p:cNvSpPr>
            <a:spLocks noGrp="1"/>
          </p:cNvSpPr>
          <p:nvPr>
            <p:ph type="sldNum" sz="quarter" idx="12"/>
          </p:nvPr>
        </p:nvSpPr>
        <p:spPr/>
        <p:txBody>
          <a:bodyPr/>
          <a:lstStyle/>
          <a:p>
            <a:fld id="{4510AD55-118C-453F-AEC9-3256547505F1}" type="slidenum">
              <a:rPr lang="en-US" smtClean="0"/>
              <a:t>57</a:t>
            </a:fld>
            <a:endParaRPr lang="en-US"/>
          </a:p>
        </p:txBody>
      </p:sp>
    </p:spTree>
    <p:extLst>
      <p:ext uri="{BB962C8B-B14F-4D97-AF65-F5344CB8AC3E}">
        <p14:creationId xmlns:p14="http://schemas.microsoft.com/office/powerpoint/2010/main" val="361057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6" name="Rectangle 5"/>
          <p:cNvSpPr/>
          <p:nvPr/>
        </p:nvSpPr>
        <p:spPr bwMode="auto">
          <a:xfrm>
            <a:off x="4447308" y="2660073"/>
            <a:ext cx="3352801" cy="1274618"/>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chemeClr val="tx1"/>
              </a:solidFill>
              <a:effectLst/>
              <a:latin typeface="Times New Roman" pitchFamily="18" charset="0"/>
            </a:endParaRPr>
          </a:p>
        </p:txBody>
      </p:sp>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4599711" y="2867890"/>
            <a:ext cx="1759527" cy="858982"/>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7" name="TextBox 6"/>
          <p:cNvSpPr txBox="1"/>
          <p:nvPr/>
        </p:nvSpPr>
        <p:spPr>
          <a:xfrm>
            <a:off x="6359236" y="3075713"/>
            <a:ext cx="1510145" cy="646331"/>
          </a:xfrm>
          <a:prstGeom prst="rect">
            <a:avLst/>
          </a:prstGeom>
          <a:noFill/>
        </p:spPr>
        <p:txBody>
          <a:bodyPr wrap="square" rtlCol="0">
            <a:spAutoFit/>
          </a:bodyPr>
          <a:lstStyle/>
          <a:p>
            <a:r>
              <a:rPr lang="de-DE" dirty="0">
                <a:latin typeface="+mn-lt"/>
              </a:rPr>
              <a:t>Packet-OUT</a:t>
            </a:r>
          </a:p>
          <a:p>
            <a:r>
              <a:rPr lang="de-DE" dirty="0">
                <a:latin typeface="+mn-lt"/>
              </a:rPr>
              <a:t>Action: eth2</a:t>
            </a:r>
          </a:p>
        </p:txBody>
      </p:sp>
      <p:sp>
        <p:nvSpPr>
          <p:cNvPr id="3" name="Slide Number Placeholder 2"/>
          <p:cNvSpPr>
            <a:spLocks noGrp="1"/>
          </p:cNvSpPr>
          <p:nvPr>
            <p:ph type="sldNum" sz="quarter" idx="12"/>
          </p:nvPr>
        </p:nvSpPr>
        <p:spPr/>
        <p:txBody>
          <a:bodyPr/>
          <a:lstStyle/>
          <a:p>
            <a:fld id="{4510AD55-118C-453F-AEC9-3256547505F1}" type="slidenum">
              <a:rPr lang="en-US" smtClean="0"/>
              <a:t>58</a:t>
            </a:fld>
            <a:endParaRPr lang="en-US"/>
          </a:p>
        </p:txBody>
      </p:sp>
    </p:spTree>
    <p:extLst>
      <p:ext uri="{BB962C8B-B14F-4D97-AF65-F5344CB8AC3E}">
        <p14:creationId xmlns:p14="http://schemas.microsoft.com/office/powerpoint/2010/main" val="3383853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6192984" y="4946072"/>
            <a:ext cx="1759527" cy="858982"/>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3" name="Slide Number Placeholder 2"/>
          <p:cNvSpPr>
            <a:spLocks noGrp="1"/>
          </p:cNvSpPr>
          <p:nvPr>
            <p:ph type="sldNum" sz="quarter" idx="12"/>
          </p:nvPr>
        </p:nvSpPr>
        <p:spPr/>
        <p:txBody>
          <a:bodyPr/>
          <a:lstStyle/>
          <a:p>
            <a:fld id="{4510AD55-118C-453F-AEC9-3256547505F1}" type="slidenum">
              <a:rPr lang="en-US" smtClean="0"/>
              <a:t>59</a:t>
            </a:fld>
            <a:endParaRPr lang="en-US"/>
          </a:p>
        </p:txBody>
      </p:sp>
    </p:spTree>
    <p:extLst>
      <p:ext uri="{BB962C8B-B14F-4D97-AF65-F5344CB8AC3E}">
        <p14:creationId xmlns:p14="http://schemas.microsoft.com/office/powerpoint/2010/main" val="135998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843744" y="4869872"/>
            <a:ext cx="1759527" cy="858982"/>
          </a:xfrm>
          <a:prstGeom prst="rect">
            <a:avLst/>
          </a:prstGeom>
          <a:solidFill>
            <a:schemeClr val="accent3">
              <a:lumMod val="25000"/>
              <a:lumOff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3" name="Slide Number Placeholder 2"/>
          <p:cNvSpPr>
            <a:spLocks noGrp="1"/>
          </p:cNvSpPr>
          <p:nvPr>
            <p:ph type="sldNum" sz="quarter" idx="12"/>
          </p:nvPr>
        </p:nvSpPr>
        <p:spPr/>
        <p:txBody>
          <a:bodyPr/>
          <a:lstStyle/>
          <a:p>
            <a:fld id="{4510AD55-118C-453F-AEC9-3256547505F1}" type="slidenum">
              <a:rPr lang="en-US" smtClean="0"/>
              <a:t>60</a:t>
            </a:fld>
            <a:endParaRPr lang="en-US"/>
          </a:p>
        </p:txBody>
      </p:sp>
    </p:spTree>
    <p:extLst>
      <p:ext uri="{BB962C8B-B14F-4D97-AF65-F5344CB8AC3E}">
        <p14:creationId xmlns:p14="http://schemas.microsoft.com/office/powerpoint/2010/main" val="268948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1651464" y="3422072"/>
            <a:ext cx="1759527" cy="858982"/>
          </a:xfrm>
          <a:prstGeom prst="rect">
            <a:avLst/>
          </a:prstGeom>
          <a:solidFill>
            <a:schemeClr val="accent3">
              <a:lumMod val="25000"/>
              <a:lumOff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6" name="TextBox 5"/>
          <p:cNvSpPr txBox="1"/>
          <p:nvPr/>
        </p:nvSpPr>
        <p:spPr>
          <a:xfrm>
            <a:off x="2816629" y="3441469"/>
            <a:ext cx="581891" cy="830997"/>
          </a:xfrm>
          <a:prstGeom prst="rect">
            <a:avLst/>
          </a:prstGeom>
          <a:noFill/>
        </p:spPr>
        <p:txBody>
          <a:bodyPr wrap="square" rtlCol="0">
            <a:spAutoFit/>
          </a:bodyPr>
          <a:lstStyle/>
          <a:p>
            <a:r>
              <a:rPr lang="de-DE" sz="4800" b="1" dirty="0">
                <a:solidFill>
                  <a:schemeClr val="accent1"/>
                </a:solidFill>
                <a:latin typeface="+mn-lt"/>
              </a:rPr>
              <a:t>?</a:t>
            </a:r>
          </a:p>
        </p:txBody>
      </p:sp>
      <p:sp>
        <p:nvSpPr>
          <p:cNvPr id="3" name="Slide Number Placeholder 2"/>
          <p:cNvSpPr>
            <a:spLocks noGrp="1"/>
          </p:cNvSpPr>
          <p:nvPr>
            <p:ph type="sldNum" sz="quarter" idx="12"/>
          </p:nvPr>
        </p:nvSpPr>
        <p:spPr/>
        <p:txBody>
          <a:bodyPr/>
          <a:lstStyle/>
          <a:p>
            <a:fld id="{4510AD55-118C-453F-AEC9-3256547505F1}" type="slidenum">
              <a:rPr lang="en-US" smtClean="0"/>
              <a:t>61</a:t>
            </a:fld>
            <a:endParaRPr lang="en-US"/>
          </a:p>
        </p:txBody>
      </p:sp>
    </p:spTree>
    <p:extLst>
      <p:ext uri="{BB962C8B-B14F-4D97-AF65-F5344CB8AC3E}">
        <p14:creationId xmlns:p14="http://schemas.microsoft.com/office/powerpoint/2010/main" val="343686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6" grpId="0"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3967944" y="3422072"/>
            <a:ext cx="1759527" cy="858982"/>
          </a:xfrm>
          <a:prstGeom prst="rect">
            <a:avLst/>
          </a:prstGeom>
          <a:solidFill>
            <a:schemeClr val="accent3">
              <a:lumMod val="25000"/>
              <a:lumOff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6" name="TextBox 5"/>
          <p:cNvSpPr txBox="1"/>
          <p:nvPr/>
        </p:nvSpPr>
        <p:spPr>
          <a:xfrm>
            <a:off x="5133109" y="3441469"/>
            <a:ext cx="581891" cy="830997"/>
          </a:xfrm>
          <a:prstGeom prst="rect">
            <a:avLst/>
          </a:prstGeom>
          <a:noFill/>
          <a:ln>
            <a:noFill/>
          </a:ln>
        </p:spPr>
        <p:txBody>
          <a:bodyPr wrap="square" rtlCol="0">
            <a:spAutoFit/>
          </a:bodyPr>
          <a:lstStyle/>
          <a:p>
            <a:r>
              <a:rPr lang="de-DE" sz="4800" b="1" dirty="0">
                <a:solidFill>
                  <a:schemeClr val="bg2">
                    <a:lumMod val="75000"/>
                    <a:lumOff val="25000"/>
                  </a:schemeClr>
                </a:solidFill>
                <a:latin typeface="+mn-lt"/>
              </a:rPr>
              <a:t>!</a:t>
            </a:r>
          </a:p>
        </p:txBody>
      </p:sp>
      <p:sp>
        <p:nvSpPr>
          <p:cNvPr id="3" name="Slide Number Placeholder 2"/>
          <p:cNvSpPr>
            <a:spLocks noGrp="1"/>
          </p:cNvSpPr>
          <p:nvPr>
            <p:ph type="sldNum" sz="quarter" idx="12"/>
          </p:nvPr>
        </p:nvSpPr>
        <p:spPr/>
        <p:txBody>
          <a:bodyPr/>
          <a:lstStyle/>
          <a:p>
            <a:fld id="{4510AD55-118C-453F-AEC9-3256547505F1}" type="slidenum">
              <a:rPr lang="en-US" smtClean="0"/>
              <a:t>62</a:t>
            </a:fld>
            <a:endParaRPr lang="en-US"/>
          </a:p>
        </p:txBody>
      </p:sp>
    </p:spTree>
    <p:extLst>
      <p:ext uri="{BB962C8B-B14F-4D97-AF65-F5344CB8AC3E}">
        <p14:creationId xmlns:p14="http://schemas.microsoft.com/office/powerpoint/2010/main" val="352266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6" grpId="0" build="allAtOnce"/>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cstate="print"/>
          <a:srcRect/>
          <a:stretch>
            <a:fillRect/>
          </a:stretch>
        </p:blipFill>
        <p:spPr bwMode="auto">
          <a:xfrm>
            <a:off x="835173" y="1496292"/>
            <a:ext cx="7818731" cy="5077258"/>
          </a:xfrm>
          <a:prstGeom prst="rect">
            <a:avLst/>
          </a:prstGeom>
          <a:noFill/>
          <a:ln w="9525">
            <a:noFill/>
            <a:miter lim="800000"/>
            <a:headEnd/>
            <a:tailEnd/>
          </a:ln>
        </p:spPr>
      </p:pic>
      <p:sp>
        <p:nvSpPr>
          <p:cNvPr id="2" name="Title 1"/>
          <p:cNvSpPr>
            <a:spLocks noGrp="1"/>
          </p:cNvSpPr>
          <p:nvPr>
            <p:ph type="title"/>
          </p:nvPr>
        </p:nvSpPr>
        <p:spPr>
          <a:xfrm>
            <a:off x="533400" y="536376"/>
            <a:ext cx="7772400" cy="707886"/>
          </a:xfrm>
        </p:spPr>
        <p:txBody>
          <a:bodyPr>
            <a:normAutofit fontScale="90000"/>
          </a:bodyPr>
          <a:lstStyle/>
          <a:p>
            <a:r>
              <a:rPr lang="de-DE" dirty="0" err="1"/>
              <a:t>OpenFlow</a:t>
            </a:r>
            <a:r>
              <a:rPr lang="de-DE" dirty="0"/>
              <a:t> - </a:t>
            </a:r>
            <a:r>
              <a:rPr lang="de-DE" dirty="0" err="1"/>
              <a:t>Example</a:t>
            </a:r>
            <a:endParaRPr lang="de-DE" dirty="0"/>
          </a:p>
        </p:txBody>
      </p:sp>
      <p:sp>
        <p:nvSpPr>
          <p:cNvPr id="4" name="Rectangle 3"/>
          <p:cNvSpPr/>
          <p:nvPr/>
        </p:nvSpPr>
        <p:spPr bwMode="auto">
          <a:xfrm>
            <a:off x="5629104" y="4808912"/>
            <a:ext cx="1759527" cy="858982"/>
          </a:xfrm>
          <a:prstGeom prst="rect">
            <a:avLst/>
          </a:prstGeom>
          <a:solidFill>
            <a:schemeClr val="accent3">
              <a:lumMod val="25000"/>
              <a:lumOff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de-DE" sz="2400" dirty="0">
                <a:latin typeface="Times New Roman" pitchFamily="18" charset="0"/>
              </a:rPr>
              <a:t>SRC: H2</a:t>
            </a:r>
          </a:p>
          <a:p>
            <a:pPr marL="0" marR="0" indent="0" algn="l" defTabSz="914400" rtl="0" eaLnBrk="0" fontAlgn="base" latinLnBrk="0" hangingPunct="0">
              <a:lnSpc>
                <a:spcPct val="100000"/>
              </a:lnSpc>
              <a:spcBef>
                <a:spcPct val="0"/>
              </a:spcBef>
              <a:spcAft>
                <a:spcPct val="0"/>
              </a:spcAft>
              <a:buClrTx/>
              <a:buSzTx/>
              <a:buFontTx/>
              <a:buNone/>
              <a:tabLst/>
            </a:pPr>
            <a:r>
              <a:rPr kumimoji="0" lang="de-DE" sz="2400" b="0" i="0" u="none" strike="noStrike" cap="none" normalizeH="0" baseline="0" dirty="0">
                <a:ln>
                  <a:noFill/>
                </a:ln>
                <a:solidFill>
                  <a:schemeClr val="tx1"/>
                </a:solidFill>
                <a:effectLst/>
                <a:latin typeface="Times New Roman" pitchFamily="18" charset="0"/>
              </a:rPr>
              <a:t>DST:</a:t>
            </a:r>
            <a:r>
              <a:rPr kumimoji="0" lang="de-DE" sz="2400" b="0" i="0" u="none" strike="noStrike" cap="none" normalizeH="0" dirty="0">
                <a:ln>
                  <a:noFill/>
                </a:ln>
                <a:solidFill>
                  <a:schemeClr val="tx1"/>
                </a:solidFill>
                <a:effectLst/>
                <a:latin typeface="Times New Roman" pitchFamily="18" charset="0"/>
              </a:rPr>
              <a:t> H4</a:t>
            </a:r>
            <a:endParaRPr kumimoji="0" lang="de-DE" sz="2400" b="0" i="0" u="none" strike="noStrike" cap="none" normalizeH="0" baseline="0" dirty="0">
              <a:ln>
                <a:noFill/>
              </a:ln>
              <a:solidFill>
                <a:schemeClr val="tx1"/>
              </a:solidFill>
              <a:effectLst/>
              <a:latin typeface="Times New Roman" pitchFamily="18" charset="0"/>
            </a:endParaRPr>
          </a:p>
        </p:txBody>
      </p:sp>
      <p:sp>
        <p:nvSpPr>
          <p:cNvPr id="3" name="Slide Number Placeholder 2"/>
          <p:cNvSpPr>
            <a:spLocks noGrp="1"/>
          </p:cNvSpPr>
          <p:nvPr>
            <p:ph type="sldNum" sz="quarter" idx="12"/>
          </p:nvPr>
        </p:nvSpPr>
        <p:spPr/>
        <p:txBody>
          <a:bodyPr/>
          <a:lstStyle/>
          <a:p>
            <a:fld id="{4510AD55-118C-453F-AEC9-3256547505F1}" type="slidenum">
              <a:rPr lang="en-US" smtClean="0"/>
              <a:t>63</a:t>
            </a:fld>
            <a:endParaRPr lang="en-US"/>
          </a:p>
        </p:txBody>
      </p:sp>
    </p:spTree>
    <p:extLst>
      <p:ext uri="{BB962C8B-B14F-4D97-AF65-F5344CB8AC3E}">
        <p14:creationId xmlns:p14="http://schemas.microsoft.com/office/powerpoint/2010/main" val="218175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66799" y="293757"/>
            <a:ext cx="7439891" cy="707886"/>
          </a:xfrm>
        </p:spPr>
        <p:txBody>
          <a:bodyPr>
            <a:normAutofit fontScale="90000"/>
          </a:bodyPr>
          <a:lstStyle/>
          <a:p>
            <a:pPr eaLnBrk="1" hangingPunct="1"/>
            <a:r>
              <a:rPr lang="en-US" altLang="en-US" dirty="0"/>
              <a:t>If you’re interested…</a:t>
            </a:r>
          </a:p>
        </p:txBody>
      </p:sp>
      <p:sp>
        <p:nvSpPr>
          <p:cNvPr id="15363" name="Content Placeholder 2"/>
          <p:cNvSpPr>
            <a:spLocks noGrp="1"/>
          </p:cNvSpPr>
          <p:nvPr>
            <p:ph idx="1"/>
          </p:nvPr>
        </p:nvSpPr>
        <p:spPr>
          <a:xfrm>
            <a:off x="457200" y="1262063"/>
            <a:ext cx="8229600" cy="4830762"/>
          </a:xfrm>
        </p:spPr>
        <p:txBody>
          <a:bodyPr>
            <a:normAutofit fontScale="92500" lnSpcReduction="10000"/>
          </a:bodyPr>
          <a:lstStyle/>
          <a:p>
            <a:r>
              <a:rPr lang="en-US" altLang="en-US" dirty="0">
                <a:hlinkClick r:id="rId2"/>
              </a:rPr>
              <a:t>https://www.opennetworking.org/</a:t>
            </a:r>
            <a:endParaRPr lang="en-US" altLang="en-US" dirty="0"/>
          </a:p>
          <a:p>
            <a:pPr>
              <a:buNone/>
            </a:pPr>
            <a:endParaRPr lang="en-US" altLang="en-US" dirty="0"/>
          </a:p>
          <a:p>
            <a:r>
              <a:rPr lang="en-US" altLang="en-US" dirty="0"/>
              <a:t>“Why SDN is going to change everything” (Bethany Mayer, SVP of Hewlett Packard (HP))</a:t>
            </a:r>
          </a:p>
          <a:p>
            <a:pPr>
              <a:buNone/>
            </a:pPr>
            <a:r>
              <a:rPr lang="en-US" altLang="en-US" dirty="0">
                <a:hlinkClick r:id="rId3"/>
              </a:rPr>
              <a:t>	http://h17007.www1.hp.com/de/de/networking/solutions/technology/sdn/#sdn-video</a:t>
            </a:r>
            <a:endParaRPr lang="en-US" altLang="en-US" dirty="0"/>
          </a:p>
          <a:p>
            <a:pPr>
              <a:buNone/>
            </a:pPr>
            <a:endParaRPr lang="en-US" altLang="en-US" dirty="0"/>
          </a:p>
          <a:p>
            <a:r>
              <a:rPr lang="en-US" altLang="en-US" dirty="0"/>
              <a:t>N. </a:t>
            </a:r>
            <a:r>
              <a:rPr lang="en-US" altLang="en-US" dirty="0" err="1"/>
              <a:t>McKeown</a:t>
            </a:r>
            <a:r>
              <a:rPr lang="en-US" altLang="en-US" dirty="0"/>
              <a:t>, INFOCOM 2009 keynote on SDN:</a:t>
            </a:r>
          </a:p>
          <a:p>
            <a:pPr>
              <a:buNone/>
            </a:pPr>
            <a:r>
              <a:rPr lang="en-US" altLang="en-US" dirty="0">
                <a:hlinkClick r:id="rId4"/>
              </a:rPr>
              <a:t>	http://www.cs.rutgers.edu/~badri/552dir/papers/intro/nick09.pdf</a:t>
            </a:r>
            <a:endParaRPr lang="en-US" altLang="en-US" dirty="0"/>
          </a:p>
          <a:p>
            <a:pPr>
              <a:buNone/>
            </a:pPr>
            <a:endParaRPr lang="en-US" altLang="en-US" dirty="0"/>
          </a:p>
          <a:p>
            <a:endParaRPr lang="en-US" altLang="en-US" dirty="0"/>
          </a:p>
          <a:p>
            <a:pPr lvl="1"/>
            <a:endParaRPr lang="en-US" altLang="en-US" dirty="0"/>
          </a:p>
        </p:txBody>
      </p:sp>
      <p:sp>
        <p:nvSpPr>
          <p:cNvPr id="2" name="Slide Number Placeholder 1"/>
          <p:cNvSpPr>
            <a:spLocks noGrp="1"/>
          </p:cNvSpPr>
          <p:nvPr>
            <p:ph type="sldNum" sz="quarter" idx="12"/>
          </p:nvPr>
        </p:nvSpPr>
        <p:spPr/>
        <p:txBody>
          <a:bodyPr/>
          <a:lstStyle/>
          <a:p>
            <a:fld id="{4510AD55-118C-453F-AEC9-3256547505F1}" type="slidenum">
              <a:rPr lang="en-US" smtClean="0"/>
              <a:t>64</a:t>
            </a:fld>
            <a:endParaRPr lang="en-US"/>
          </a:p>
        </p:txBody>
      </p:sp>
    </p:spTree>
    <p:extLst>
      <p:ext uri="{BB962C8B-B14F-4D97-AF65-F5344CB8AC3E}">
        <p14:creationId xmlns:p14="http://schemas.microsoft.com/office/powerpoint/2010/main" val="4444487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2" y="864606"/>
            <a:ext cx="7514035" cy="1314449"/>
          </a:xfrm>
        </p:spPr>
        <p:txBody>
          <a:bodyPr/>
          <a:lstStyle/>
          <a:p>
            <a:r>
              <a:rPr lang="en-US" dirty="0"/>
              <a:t>Flow Tables - Entries</a:t>
            </a:r>
          </a:p>
        </p:txBody>
      </p:sp>
      <p:sp>
        <p:nvSpPr>
          <p:cNvPr id="3" name="Content Placeholder 2"/>
          <p:cNvSpPr>
            <a:spLocks noGrp="1"/>
          </p:cNvSpPr>
          <p:nvPr>
            <p:ph idx="1"/>
          </p:nvPr>
        </p:nvSpPr>
        <p:spPr>
          <a:xfrm>
            <a:off x="1113233" y="1787979"/>
            <a:ext cx="7514035" cy="3412672"/>
          </a:xfrm>
        </p:spPr>
        <p:txBody>
          <a:bodyPr>
            <a:normAutofit/>
          </a:bodyPr>
          <a:lstStyle/>
          <a:p>
            <a:r>
              <a:rPr lang="en-US" dirty="0"/>
              <a:t>Each entry looks like  what you have at the bottom:</a:t>
            </a:r>
          </a:p>
          <a:p>
            <a:pPr lvl="1"/>
            <a:r>
              <a:rPr lang="en-US" dirty="0"/>
              <a:t>Match field: Match against the packet. (may consist ingress port, packet header, metadata values set by a previous table)</a:t>
            </a:r>
          </a:p>
          <a:p>
            <a:pPr lvl="1"/>
            <a:r>
              <a:rPr lang="en-US" dirty="0"/>
              <a:t>Priority: set the precedence of the entries.</a:t>
            </a:r>
          </a:p>
          <a:p>
            <a:pPr lvl="1"/>
            <a:r>
              <a:rPr lang="en-US" dirty="0"/>
              <a:t>Counters: Increased when a packet is matched.</a:t>
            </a:r>
          </a:p>
          <a:p>
            <a:pPr lvl="1"/>
            <a:r>
              <a:rPr lang="en-US" dirty="0"/>
              <a:t>Instructions: To modify action set of pipeline (Next slide)</a:t>
            </a:r>
          </a:p>
          <a:p>
            <a:pPr lvl="1"/>
            <a:r>
              <a:rPr lang="en-US" dirty="0"/>
              <a:t>Timeout: Maximum time that, if this rule is not used, then it is deleted from table</a:t>
            </a:r>
          </a:p>
          <a:p>
            <a:pPr lvl="1"/>
            <a:r>
              <a:rPr lang="en-US" dirty="0"/>
              <a:t>Cookie: Not used by packets. Some value selected by controller to filter flow entries</a:t>
            </a:r>
          </a:p>
          <a:p>
            <a:pPr lvl="1"/>
            <a:r>
              <a:rPr lang="en-US" dirty="0"/>
              <a:t>Flags: Alter the way flow entries are managed.</a:t>
            </a:r>
          </a:p>
          <a:p>
            <a:endParaRPr lang="en-US" dirty="0"/>
          </a:p>
        </p:txBody>
      </p:sp>
      <p:pic>
        <p:nvPicPr>
          <p:cNvPr id="4" name="Picture 3"/>
          <p:cNvPicPr>
            <a:picLocks noChangeAspect="1"/>
          </p:cNvPicPr>
          <p:nvPr/>
        </p:nvPicPr>
        <p:blipFill>
          <a:blip r:embed="rId3"/>
          <a:stretch>
            <a:fillRect/>
          </a:stretch>
        </p:blipFill>
        <p:spPr>
          <a:xfrm>
            <a:off x="588217" y="5093705"/>
            <a:ext cx="7967567" cy="785390"/>
          </a:xfrm>
          <a:prstGeom prst="rect">
            <a:avLst/>
          </a:prstGeom>
        </p:spPr>
      </p:pic>
    </p:spTree>
    <p:extLst>
      <p:ext uri="{BB962C8B-B14F-4D97-AF65-F5344CB8AC3E}">
        <p14:creationId xmlns:p14="http://schemas.microsoft.com/office/powerpoint/2010/main" val="9733573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2" y="734575"/>
            <a:ext cx="7514035" cy="1314449"/>
          </a:xfrm>
        </p:spPr>
        <p:txBody>
          <a:bodyPr/>
          <a:lstStyle/>
          <a:p>
            <a:r>
              <a:rPr lang="en-US" dirty="0"/>
              <a:t>Flow Tables - Instructions</a:t>
            </a:r>
          </a:p>
        </p:txBody>
      </p:sp>
      <p:sp>
        <p:nvSpPr>
          <p:cNvPr id="3" name="Content Placeholder 2"/>
          <p:cNvSpPr>
            <a:spLocks noGrp="1"/>
          </p:cNvSpPr>
          <p:nvPr>
            <p:ph idx="1"/>
          </p:nvPr>
        </p:nvSpPr>
        <p:spPr>
          <a:xfrm>
            <a:off x="1113233" y="1702254"/>
            <a:ext cx="7514035" cy="3498397"/>
          </a:xfrm>
        </p:spPr>
        <p:txBody>
          <a:bodyPr>
            <a:normAutofit lnSpcReduction="10000"/>
          </a:bodyPr>
          <a:lstStyle/>
          <a:p>
            <a:r>
              <a:rPr lang="en-US" dirty="0"/>
              <a:t>O – Apply-Actions (</a:t>
            </a:r>
            <a:r>
              <a:rPr lang="en-US" i="1" dirty="0"/>
              <a:t>actions)</a:t>
            </a:r>
          </a:p>
          <a:p>
            <a:pPr lvl="1"/>
            <a:r>
              <a:rPr lang="en-US" i="1" dirty="0"/>
              <a:t>Apply the specific action immediately without making any change to the action set</a:t>
            </a:r>
          </a:p>
          <a:p>
            <a:pPr lvl="1"/>
            <a:r>
              <a:rPr lang="en-US" i="1" dirty="0"/>
              <a:t>Packet can be modified between two tables</a:t>
            </a:r>
          </a:p>
          <a:p>
            <a:r>
              <a:rPr lang="en-US" i="1" dirty="0"/>
              <a:t>R – Clear-Actions: Clear all the actions in the action set</a:t>
            </a:r>
          </a:p>
          <a:p>
            <a:r>
              <a:rPr lang="en-US" i="1" dirty="0"/>
              <a:t>R – Write Actions (actions): Merge specified action to the action set</a:t>
            </a:r>
          </a:p>
          <a:p>
            <a:r>
              <a:rPr lang="en-US" i="1" dirty="0"/>
              <a:t>O – Write Metadata (metadata/mask): Write masked value to the meta data field</a:t>
            </a:r>
          </a:p>
          <a:p>
            <a:r>
              <a:rPr lang="en-US" i="1" dirty="0"/>
              <a:t>O – Stat-Trigger (threshold): Generate an event to controller if some stats passed some thresholds</a:t>
            </a:r>
          </a:p>
          <a:p>
            <a:r>
              <a:rPr lang="en-US" i="1" dirty="0"/>
              <a:t>R – Goto-Table (table-ID): Indicate next table id in the pipeline</a:t>
            </a:r>
            <a:endParaRPr lang="en-US" dirty="0"/>
          </a:p>
        </p:txBody>
      </p:sp>
      <p:sp>
        <p:nvSpPr>
          <p:cNvPr id="4" name="TextBox 3"/>
          <p:cNvSpPr txBox="1"/>
          <p:nvPr/>
        </p:nvSpPr>
        <p:spPr>
          <a:xfrm>
            <a:off x="1746504" y="5503151"/>
            <a:ext cx="1902252" cy="300082"/>
          </a:xfrm>
          <a:prstGeom prst="rect">
            <a:avLst/>
          </a:prstGeom>
          <a:noFill/>
        </p:spPr>
        <p:txBody>
          <a:bodyPr wrap="none" rtlCol="0">
            <a:spAutoFit/>
          </a:bodyPr>
          <a:lstStyle/>
          <a:p>
            <a:pPr defTabSz="685800"/>
            <a:r>
              <a:rPr lang="en-US" sz="1350" dirty="0">
                <a:solidFill>
                  <a:prstClr val="black"/>
                </a:solidFill>
                <a:latin typeface="Corbel" panose="020B0503020204020204"/>
              </a:rPr>
              <a:t>R- Required, O-Optional</a:t>
            </a:r>
          </a:p>
        </p:txBody>
      </p:sp>
    </p:spTree>
    <p:extLst>
      <p:ext uri="{BB962C8B-B14F-4D97-AF65-F5344CB8AC3E}">
        <p14:creationId xmlns:p14="http://schemas.microsoft.com/office/powerpoint/2010/main" val="28591362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0988" y="857251"/>
            <a:ext cx="7514035" cy="1314449"/>
          </a:xfrm>
        </p:spPr>
        <p:txBody>
          <a:bodyPr/>
          <a:lstStyle/>
          <a:p>
            <a:r>
              <a:rPr lang="en-US" dirty="0"/>
              <a:t>Actions:  Apply-Actions instruction</a:t>
            </a:r>
          </a:p>
        </p:txBody>
      </p:sp>
      <p:sp>
        <p:nvSpPr>
          <p:cNvPr id="3" name="Content Placeholder 2"/>
          <p:cNvSpPr>
            <a:spLocks noGrp="1"/>
          </p:cNvSpPr>
          <p:nvPr>
            <p:ph idx="1"/>
          </p:nvPr>
        </p:nvSpPr>
        <p:spPr>
          <a:xfrm>
            <a:off x="765760" y="1836965"/>
            <a:ext cx="4111039" cy="3436838"/>
          </a:xfrm>
        </p:spPr>
        <p:txBody>
          <a:bodyPr/>
          <a:lstStyle/>
          <a:p>
            <a:r>
              <a:rPr lang="en-US" dirty="0"/>
              <a:t>1. Copy TTL Inward</a:t>
            </a:r>
          </a:p>
          <a:p>
            <a:r>
              <a:rPr lang="en-US" dirty="0"/>
              <a:t>2. pop</a:t>
            </a:r>
          </a:p>
          <a:p>
            <a:r>
              <a:rPr lang="en-US" dirty="0"/>
              <a:t>3. push MPLS</a:t>
            </a:r>
          </a:p>
          <a:p>
            <a:r>
              <a:rPr lang="en-US" dirty="0"/>
              <a:t>4.push PBB (provider backbone bridge)</a:t>
            </a:r>
          </a:p>
          <a:p>
            <a:r>
              <a:rPr lang="en-US" dirty="0"/>
              <a:t>5. push VLAN</a:t>
            </a:r>
          </a:p>
          <a:p>
            <a:r>
              <a:rPr lang="en-US" dirty="0"/>
              <a:t> 6. Copy TTL outwards</a:t>
            </a:r>
          </a:p>
        </p:txBody>
      </p:sp>
      <p:sp>
        <p:nvSpPr>
          <p:cNvPr id="4" name="Content Placeholder 2"/>
          <p:cNvSpPr txBox="1">
            <a:spLocks/>
          </p:cNvSpPr>
          <p:nvPr/>
        </p:nvSpPr>
        <p:spPr>
          <a:xfrm>
            <a:off x="4661105" y="2930651"/>
            <a:ext cx="2690672" cy="2343151"/>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214313" indent="-214313" defTabSz="342900">
              <a:spcAft>
                <a:spcPts val="450"/>
              </a:spcAft>
              <a:buClr>
                <a:srgbClr val="30ACEC">
                  <a:lumMod val="75000"/>
                </a:srgbClr>
              </a:buClr>
            </a:pPr>
            <a:endParaRPr lang="en-US" sz="1800" dirty="0">
              <a:solidFill>
                <a:prstClr val="black"/>
              </a:solidFill>
              <a:latin typeface="Corbel" panose="020B0503020204020204"/>
            </a:endParaRPr>
          </a:p>
        </p:txBody>
      </p:sp>
      <p:sp>
        <p:nvSpPr>
          <p:cNvPr id="5" name="Content Placeholder 2"/>
          <p:cNvSpPr txBox="1">
            <a:spLocks/>
          </p:cNvSpPr>
          <p:nvPr/>
        </p:nvSpPr>
        <p:spPr>
          <a:xfrm>
            <a:off x="4876799" y="1836966"/>
            <a:ext cx="4173311" cy="3436835"/>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214313" indent="-214313" defTabSz="342900">
              <a:spcAft>
                <a:spcPts val="450"/>
              </a:spcAft>
              <a:buClr>
                <a:srgbClr val="30ACEC">
                  <a:lumMod val="75000"/>
                </a:srgbClr>
              </a:buClr>
            </a:pPr>
            <a:r>
              <a:rPr lang="en-US" sz="1800" dirty="0">
                <a:solidFill>
                  <a:prstClr val="black"/>
                </a:solidFill>
                <a:latin typeface="Corbel" panose="020B0503020204020204"/>
              </a:rPr>
              <a:t>7. decrement TTL</a:t>
            </a:r>
          </a:p>
          <a:p>
            <a:pPr marL="214313" indent="-214313" defTabSz="342900">
              <a:spcAft>
                <a:spcPts val="450"/>
              </a:spcAft>
              <a:buClr>
                <a:srgbClr val="30ACEC">
                  <a:lumMod val="75000"/>
                </a:srgbClr>
              </a:buClr>
            </a:pPr>
            <a:r>
              <a:rPr lang="en-US" sz="1800" dirty="0">
                <a:solidFill>
                  <a:prstClr val="black"/>
                </a:solidFill>
                <a:latin typeface="Corbel" panose="020B0503020204020204"/>
              </a:rPr>
              <a:t>8. Set (field)</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Apply all set field actions to the packet</a:t>
            </a:r>
          </a:p>
          <a:p>
            <a:pPr marL="214313" indent="-214313" defTabSz="342900">
              <a:spcAft>
                <a:spcPts val="450"/>
              </a:spcAft>
              <a:buClr>
                <a:srgbClr val="30ACEC">
                  <a:lumMod val="75000"/>
                </a:srgbClr>
              </a:buClr>
            </a:pPr>
            <a:r>
              <a:rPr lang="en-US" sz="1800" dirty="0">
                <a:solidFill>
                  <a:prstClr val="black"/>
                </a:solidFill>
                <a:latin typeface="Corbel" panose="020B0503020204020204"/>
              </a:rPr>
              <a:t>9. Qos (queue and meter)</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Apply all QoS actions to the packet</a:t>
            </a:r>
          </a:p>
          <a:p>
            <a:pPr marL="214313" indent="-214313" defTabSz="342900">
              <a:spcAft>
                <a:spcPts val="450"/>
              </a:spcAft>
              <a:buClr>
                <a:srgbClr val="30ACEC">
                  <a:lumMod val="75000"/>
                </a:srgbClr>
              </a:buClr>
            </a:pPr>
            <a:r>
              <a:rPr lang="en-US" sz="1800" dirty="0">
                <a:solidFill>
                  <a:prstClr val="black"/>
                </a:solidFill>
                <a:latin typeface="Corbel" panose="020B0503020204020204"/>
              </a:rPr>
              <a:t>10. Group</a:t>
            </a:r>
          </a:p>
          <a:p>
            <a:pPr marL="214313" indent="-214313" defTabSz="342900">
              <a:spcAft>
                <a:spcPts val="450"/>
              </a:spcAft>
              <a:buClr>
                <a:srgbClr val="30ACEC">
                  <a:lumMod val="75000"/>
                </a:srgbClr>
              </a:buClr>
            </a:pPr>
            <a:r>
              <a:rPr lang="en-US" sz="1800" dirty="0">
                <a:solidFill>
                  <a:prstClr val="black"/>
                </a:solidFill>
                <a:latin typeface="Corbel" panose="020B0503020204020204"/>
              </a:rPr>
              <a:t>11. Output</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Forward packet to specified port (if no group action is specified)</a:t>
            </a:r>
          </a:p>
        </p:txBody>
      </p:sp>
    </p:spTree>
    <p:extLst>
      <p:ext uri="{BB962C8B-B14F-4D97-AF65-F5344CB8AC3E}">
        <p14:creationId xmlns:p14="http://schemas.microsoft.com/office/powerpoint/2010/main" val="18295461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17A5B-03C6-4A0E-9219-901F3C148A41}"/>
              </a:ext>
            </a:extLst>
          </p:cNvPr>
          <p:cNvSpPr>
            <a:spLocks noGrp="1"/>
          </p:cNvSpPr>
          <p:nvPr>
            <p:ph type="title"/>
          </p:nvPr>
        </p:nvSpPr>
        <p:spPr>
          <a:xfrm>
            <a:off x="1113233" y="857251"/>
            <a:ext cx="7514035" cy="1028700"/>
          </a:xfrm>
        </p:spPr>
        <p:txBody>
          <a:bodyPr/>
          <a:lstStyle/>
          <a:p>
            <a:r>
              <a:rPr lang="en-US" dirty="0"/>
              <a:t>Actions of the action set of the packet</a:t>
            </a:r>
          </a:p>
        </p:txBody>
      </p:sp>
      <p:sp>
        <p:nvSpPr>
          <p:cNvPr id="3" name="Content Placeholder 2">
            <a:extLst>
              <a:ext uri="{FF2B5EF4-FFF2-40B4-BE49-F238E27FC236}">
                <a16:creationId xmlns:a16="http://schemas.microsoft.com/office/drawing/2014/main" id="{7575D677-22AE-44D2-81EC-DC0895A70AB7}"/>
              </a:ext>
            </a:extLst>
          </p:cNvPr>
          <p:cNvSpPr>
            <a:spLocks noGrp="1"/>
          </p:cNvSpPr>
          <p:nvPr>
            <p:ph idx="1"/>
          </p:nvPr>
        </p:nvSpPr>
        <p:spPr>
          <a:xfrm>
            <a:off x="1113233" y="1885951"/>
            <a:ext cx="3883310" cy="3314699"/>
          </a:xfrm>
          <a:ln>
            <a:solidFill>
              <a:schemeClr val="tx1"/>
            </a:solidFill>
          </a:ln>
        </p:spPr>
        <p:txBody>
          <a:bodyPr>
            <a:normAutofit lnSpcReduction="10000"/>
          </a:bodyPr>
          <a:lstStyle/>
          <a:p>
            <a:r>
              <a:rPr lang="en-US" dirty="0"/>
              <a:t>R - Output (port no)</a:t>
            </a:r>
          </a:p>
          <a:p>
            <a:pPr lvl="1"/>
            <a:r>
              <a:rPr lang="en-US" dirty="0"/>
              <a:t>Forward packet to port that then starts packet egress processing</a:t>
            </a:r>
          </a:p>
          <a:p>
            <a:r>
              <a:rPr lang="en-US" dirty="0"/>
              <a:t>O – Group (group id)</a:t>
            </a:r>
          </a:p>
          <a:p>
            <a:pPr lvl="1"/>
            <a:r>
              <a:rPr lang="en-US" dirty="0"/>
              <a:t>Process the packet through a group id</a:t>
            </a:r>
          </a:p>
          <a:p>
            <a:r>
              <a:rPr lang="en-US" dirty="0"/>
              <a:t>R – Drop</a:t>
            </a:r>
          </a:p>
          <a:p>
            <a:r>
              <a:rPr lang="en-US" dirty="0"/>
              <a:t>O – set Queue (queue id)</a:t>
            </a:r>
          </a:p>
          <a:p>
            <a:pPr lvl="1"/>
            <a:r>
              <a:rPr lang="en-US" dirty="0"/>
              <a:t>Set queue id for the packet</a:t>
            </a:r>
          </a:p>
          <a:p>
            <a:r>
              <a:rPr lang="en-US" dirty="0"/>
              <a:t>O – Meter (Meter id)</a:t>
            </a:r>
          </a:p>
          <a:p>
            <a:pPr lvl="1"/>
            <a:r>
              <a:rPr lang="en-US" dirty="0"/>
              <a:t>Direct packet to specific meter</a:t>
            </a:r>
          </a:p>
        </p:txBody>
      </p:sp>
      <p:sp>
        <p:nvSpPr>
          <p:cNvPr id="4" name="Content Placeholder 2">
            <a:extLst>
              <a:ext uri="{FF2B5EF4-FFF2-40B4-BE49-F238E27FC236}">
                <a16:creationId xmlns:a16="http://schemas.microsoft.com/office/drawing/2014/main" id="{F96D1E4C-6251-4EDD-9D25-70A2095A62D8}"/>
              </a:ext>
            </a:extLst>
          </p:cNvPr>
          <p:cNvSpPr txBox="1">
            <a:spLocks/>
          </p:cNvSpPr>
          <p:nvPr/>
        </p:nvSpPr>
        <p:spPr>
          <a:xfrm>
            <a:off x="5192485" y="1885951"/>
            <a:ext cx="3735161" cy="3314699"/>
          </a:xfrm>
          <a:prstGeom prst="rect">
            <a:avLst/>
          </a:prstGeom>
          <a:ln>
            <a:solidFill>
              <a:schemeClr val="tx1"/>
            </a:solidFill>
          </a:ln>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214313" indent="-214313" defTabSz="342900">
              <a:spcAft>
                <a:spcPts val="450"/>
              </a:spcAft>
              <a:buClr>
                <a:srgbClr val="30ACEC">
                  <a:lumMod val="75000"/>
                </a:srgbClr>
              </a:buClr>
            </a:pPr>
            <a:r>
              <a:rPr lang="en-US" sz="1800" dirty="0">
                <a:solidFill>
                  <a:prstClr val="black"/>
                </a:solidFill>
                <a:latin typeface="Corbel" panose="020B0503020204020204"/>
              </a:rPr>
              <a:t>O – push/pop tag</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Like VLAN tags</a:t>
            </a:r>
          </a:p>
          <a:p>
            <a:pPr marL="214313" indent="-214313" defTabSz="342900">
              <a:spcAft>
                <a:spcPts val="450"/>
              </a:spcAft>
              <a:buClr>
                <a:srgbClr val="30ACEC">
                  <a:lumMod val="75000"/>
                </a:srgbClr>
              </a:buClr>
            </a:pPr>
            <a:r>
              <a:rPr lang="en-US" sz="1800" dirty="0">
                <a:solidFill>
                  <a:prstClr val="black"/>
                </a:solidFill>
                <a:latin typeface="Corbel" panose="020B0503020204020204"/>
              </a:rPr>
              <a:t>O -Set-Field field-type value</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Set value of the field in the header</a:t>
            </a:r>
          </a:p>
          <a:p>
            <a:pPr marL="214313" indent="-214313" defTabSz="342900">
              <a:spcAft>
                <a:spcPts val="450"/>
              </a:spcAft>
              <a:buClr>
                <a:srgbClr val="30ACEC">
                  <a:lumMod val="75000"/>
                </a:srgbClr>
              </a:buClr>
            </a:pPr>
            <a:r>
              <a:rPr lang="en-US" sz="1800" dirty="0">
                <a:solidFill>
                  <a:prstClr val="black"/>
                </a:solidFill>
                <a:latin typeface="Corbel" panose="020B0503020204020204"/>
              </a:rPr>
              <a:t>O -Copy-Field </a:t>
            </a:r>
            <a:r>
              <a:rPr lang="en-US" sz="1800" dirty="0" err="1">
                <a:solidFill>
                  <a:prstClr val="black"/>
                </a:solidFill>
                <a:latin typeface="Corbel" panose="020B0503020204020204"/>
              </a:rPr>
              <a:t>src</a:t>
            </a:r>
            <a:r>
              <a:rPr lang="en-US" sz="1800" dirty="0">
                <a:solidFill>
                  <a:prstClr val="black"/>
                </a:solidFill>
                <a:latin typeface="Corbel" panose="020B0503020204020204"/>
              </a:rPr>
              <a:t>-field </a:t>
            </a:r>
            <a:r>
              <a:rPr lang="en-US" sz="1800" dirty="0" err="1">
                <a:solidFill>
                  <a:prstClr val="black"/>
                </a:solidFill>
                <a:latin typeface="Corbel" panose="020B0503020204020204"/>
              </a:rPr>
              <a:t>dst</a:t>
            </a:r>
            <a:r>
              <a:rPr lang="en-US" sz="1800" dirty="0">
                <a:solidFill>
                  <a:prstClr val="black"/>
                </a:solidFill>
                <a:latin typeface="Corbel" panose="020B0503020204020204"/>
              </a:rPr>
              <a:t>-field</a:t>
            </a:r>
          </a:p>
          <a:p>
            <a:pPr marL="557213" lvl="1" indent="-214313" defTabSz="342900">
              <a:spcAft>
                <a:spcPts val="450"/>
              </a:spcAft>
              <a:buClr>
                <a:srgbClr val="30ACEC">
                  <a:lumMod val="75000"/>
                </a:srgbClr>
              </a:buClr>
            </a:pPr>
            <a:r>
              <a:rPr lang="en-US" sz="1500" dirty="0">
                <a:solidFill>
                  <a:prstClr val="black"/>
                </a:solidFill>
                <a:latin typeface="Corbel" panose="020B0503020204020204"/>
              </a:rPr>
              <a:t>Copy data between header fields</a:t>
            </a:r>
          </a:p>
          <a:p>
            <a:pPr marL="214313" indent="-214313" defTabSz="342900">
              <a:spcAft>
                <a:spcPts val="450"/>
              </a:spcAft>
              <a:buClr>
                <a:srgbClr val="30ACEC">
                  <a:lumMod val="75000"/>
                </a:srgbClr>
              </a:buClr>
            </a:pPr>
            <a:r>
              <a:rPr lang="en-US" sz="1800" dirty="0">
                <a:solidFill>
                  <a:prstClr val="black"/>
                </a:solidFill>
                <a:latin typeface="Corbel" panose="020B0503020204020204"/>
              </a:rPr>
              <a:t>O - Change TTL</a:t>
            </a:r>
          </a:p>
        </p:txBody>
      </p:sp>
    </p:spTree>
    <p:extLst>
      <p:ext uri="{BB962C8B-B14F-4D97-AF65-F5344CB8AC3E}">
        <p14:creationId xmlns:p14="http://schemas.microsoft.com/office/powerpoint/2010/main" val="28264927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2" y="857251"/>
            <a:ext cx="7514035" cy="666749"/>
          </a:xfrm>
        </p:spPr>
        <p:txBody>
          <a:bodyPr/>
          <a:lstStyle/>
          <a:p>
            <a:r>
              <a:rPr lang="en-US" dirty="0"/>
              <a:t>OpenFlow Ports</a:t>
            </a:r>
          </a:p>
        </p:txBody>
      </p:sp>
      <p:sp>
        <p:nvSpPr>
          <p:cNvPr id="3" name="Content Placeholder 2"/>
          <p:cNvSpPr>
            <a:spLocks noGrp="1"/>
          </p:cNvSpPr>
          <p:nvPr>
            <p:ph idx="1"/>
          </p:nvPr>
        </p:nvSpPr>
        <p:spPr>
          <a:xfrm>
            <a:off x="991960" y="1530803"/>
            <a:ext cx="8152040" cy="4298497"/>
          </a:xfrm>
        </p:spPr>
        <p:txBody>
          <a:bodyPr>
            <a:noAutofit/>
          </a:bodyPr>
          <a:lstStyle/>
          <a:p>
            <a:r>
              <a:rPr lang="en-US" sz="2100" dirty="0"/>
              <a:t>Physical</a:t>
            </a:r>
          </a:p>
          <a:p>
            <a:pPr lvl="1"/>
            <a:r>
              <a:rPr lang="en-US" sz="1800" dirty="0"/>
              <a:t>Hardware interface of the switch (or a virtual slice of the interface)</a:t>
            </a:r>
          </a:p>
          <a:p>
            <a:r>
              <a:rPr lang="en-US" sz="2100" dirty="0"/>
              <a:t>Logical</a:t>
            </a:r>
          </a:p>
          <a:p>
            <a:pPr lvl="1"/>
            <a:r>
              <a:rPr lang="en-US" sz="1800" dirty="0"/>
              <a:t>Higher level of abstraction, it can be aggregation groups, tunnels, loopback interfaces</a:t>
            </a:r>
          </a:p>
          <a:p>
            <a:pPr lvl="1"/>
            <a:r>
              <a:rPr lang="en-US" sz="1800" dirty="0"/>
              <a:t>Packet has an extra field in logical ports called tunnel-ID</a:t>
            </a:r>
          </a:p>
          <a:p>
            <a:r>
              <a:rPr lang="en-US" sz="2100" dirty="0"/>
              <a:t>Reserved</a:t>
            </a:r>
          </a:p>
          <a:p>
            <a:pPr lvl="1"/>
            <a:r>
              <a:rPr lang="en-US" sz="1800" dirty="0"/>
              <a:t>They define generic forwarding actions such as sending to controller, flooding, forwarding with non-</a:t>
            </a:r>
            <a:r>
              <a:rPr lang="en-US" sz="1800" dirty="0" err="1"/>
              <a:t>OpenFlow</a:t>
            </a:r>
            <a:r>
              <a:rPr lang="en-US" sz="1800" dirty="0"/>
              <a:t> methods</a:t>
            </a:r>
          </a:p>
          <a:p>
            <a:pPr lvl="1"/>
            <a:r>
              <a:rPr lang="en-US" sz="1800" dirty="0"/>
              <a:t>It means we have a port called ALL (to send to all ports), CONTROLLER (to send to controller), TABLE (start of pipeline), IN_PORT (the ingress port that we got the packet, NORMAL (non OpenFlow pipeline) and a couple of other additional ports.</a:t>
            </a:r>
          </a:p>
        </p:txBody>
      </p:sp>
    </p:spTree>
    <p:extLst>
      <p:ext uri="{BB962C8B-B14F-4D97-AF65-F5344CB8AC3E}">
        <p14:creationId xmlns:p14="http://schemas.microsoft.com/office/powerpoint/2010/main" val="39330842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857251"/>
            <a:ext cx="7514035" cy="489857"/>
          </a:xfrm>
        </p:spPr>
        <p:txBody>
          <a:bodyPr>
            <a:normAutofit fontScale="90000"/>
          </a:bodyPr>
          <a:lstStyle/>
          <a:p>
            <a:r>
              <a:rPr lang="en-US" dirty="0"/>
              <a:t>Group Table</a:t>
            </a:r>
          </a:p>
        </p:txBody>
      </p:sp>
      <p:sp>
        <p:nvSpPr>
          <p:cNvPr id="3" name="Content Placeholder 2"/>
          <p:cNvSpPr>
            <a:spLocks noGrp="1"/>
          </p:cNvSpPr>
          <p:nvPr>
            <p:ph idx="1"/>
          </p:nvPr>
        </p:nvSpPr>
        <p:spPr>
          <a:xfrm>
            <a:off x="1113233" y="1347108"/>
            <a:ext cx="7514035" cy="3302616"/>
          </a:xfrm>
        </p:spPr>
        <p:txBody>
          <a:bodyPr/>
          <a:lstStyle/>
          <a:p>
            <a:r>
              <a:rPr lang="en-US" sz="2100" dirty="0"/>
              <a:t>Group ID: An integer specifying a group</a:t>
            </a:r>
          </a:p>
          <a:p>
            <a:r>
              <a:rPr lang="en-US" sz="2100" dirty="0"/>
              <a:t>Group type: To determine group semantic (Next Slide)</a:t>
            </a:r>
          </a:p>
          <a:p>
            <a:r>
              <a:rPr lang="en-US" sz="2100" dirty="0"/>
              <a:t>Counter: Updated when packet processed by the rule</a:t>
            </a:r>
          </a:p>
          <a:p>
            <a:r>
              <a:rPr lang="en-US" sz="2100" dirty="0"/>
              <a:t>Action Buckets: Contains a set of actions</a:t>
            </a:r>
            <a:endParaRPr lang="en-US" dirty="0"/>
          </a:p>
        </p:txBody>
      </p:sp>
      <p:pic>
        <p:nvPicPr>
          <p:cNvPr id="4" name="Picture 3"/>
          <p:cNvPicPr>
            <a:picLocks noChangeAspect="1"/>
          </p:cNvPicPr>
          <p:nvPr/>
        </p:nvPicPr>
        <p:blipFill>
          <a:blip r:embed="rId2"/>
          <a:stretch>
            <a:fillRect/>
          </a:stretch>
        </p:blipFill>
        <p:spPr>
          <a:xfrm>
            <a:off x="1113233" y="4380301"/>
            <a:ext cx="7368987" cy="1145572"/>
          </a:xfrm>
          <a:prstGeom prst="rect">
            <a:avLst/>
          </a:prstGeom>
        </p:spPr>
      </p:pic>
      <p:sp>
        <p:nvSpPr>
          <p:cNvPr id="5" name="Rectangular Callout 4"/>
          <p:cNvSpPr/>
          <p:nvPr/>
        </p:nvSpPr>
        <p:spPr>
          <a:xfrm>
            <a:off x="7518775" y="3731079"/>
            <a:ext cx="1307592" cy="55092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a:solidFill>
                  <a:prstClr val="white"/>
                </a:solidFill>
                <a:latin typeface="Corbel" panose="020B0503020204020204"/>
              </a:rPr>
              <a:t>Ordered</a:t>
            </a:r>
          </a:p>
        </p:txBody>
      </p:sp>
    </p:spTree>
    <p:extLst>
      <p:ext uri="{BB962C8B-B14F-4D97-AF65-F5344CB8AC3E}">
        <p14:creationId xmlns:p14="http://schemas.microsoft.com/office/powerpoint/2010/main" val="4519375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857251"/>
            <a:ext cx="7514035" cy="918482"/>
          </a:xfrm>
        </p:spPr>
        <p:txBody>
          <a:bodyPr/>
          <a:lstStyle/>
          <a:p>
            <a:r>
              <a:rPr lang="en-US" dirty="0"/>
              <a:t>Group Types</a:t>
            </a:r>
          </a:p>
        </p:txBody>
      </p:sp>
      <p:sp>
        <p:nvSpPr>
          <p:cNvPr id="3" name="Content Placeholder 2"/>
          <p:cNvSpPr>
            <a:spLocks noGrp="1"/>
          </p:cNvSpPr>
          <p:nvPr>
            <p:ph idx="1"/>
          </p:nvPr>
        </p:nvSpPr>
        <p:spPr>
          <a:xfrm>
            <a:off x="1113233" y="1322615"/>
            <a:ext cx="7910452" cy="4503677"/>
          </a:xfrm>
        </p:spPr>
        <p:txBody>
          <a:bodyPr>
            <a:normAutofit/>
          </a:bodyPr>
          <a:lstStyle/>
          <a:p>
            <a:r>
              <a:rPr lang="en-US" sz="1500" dirty="0"/>
              <a:t>R – Indirect</a:t>
            </a:r>
          </a:p>
          <a:p>
            <a:pPr lvl="1"/>
            <a:r>
              <a:rPr lang="en-US" sz="1350" dirty="0"/>
              <a:t>Has a single bucket and it is executed for all packets</a:t>
            </a:r>
            <a:endParaRPr lang="en-US" sz="1200" dirty="0"/>
          </a:p>
          <a:p>
            <a:r>
              <a:rPr lang="en-US" sz="1500" dirty="0"/>
              <a:t>R – All</a:t>
            </a:r>
          </a:p>
          <a:p>
            <a:pPr lvl="1"/>
            <a:r>
              <a:rPr lang="en-US" sz="1350" dirty="0"/>
              <a:t>It is a number of buckets and all of them are executed</a:t>
            </a:r>
          </a:p>
          <a:p>
            <a:pPr lvl="1"/>
            <a:r>
              <a:rPr lang="en-US" sz="1350" dirty="0"/>
              <a:t>Normally used for multicast or broadcast forwarding</a:t>
            </a:r>
          </a:p>
          <a:p>
            <a:pPr lvl="1"/>
            <a:r>
              <a:rPr lang="en-US" sz="1350" dirty="0"/>
              <a:t>Packet is cloned for each bucket</a:t>
            </a:r>
          </a:p>
          <a:p>
            <a:r>
              <a:rPr lang="en-US" sz="1500" dirty="0"/>
              <a:t>O – Select</a:t>
            </a:r>
          </a:p>
          <a:p>
            <a:pPr lvl="1"/>
            <a:r>
              <a:rPr lang="en-US" sz="1200" dirty="0"/>
              <a:t>One of the buckets in the provided buckets is selected for each packet</a:t>
            </a:r>
          </a:p>
          <a:p>
            <a:pPr lvl="1"/>
            <a:r>
              <a:rPr lang="en-US" sz="1200" dirty="0"/>
              <a:t>It can be used for load sharing and the selection algorithm is outside the scope of OpenFlow switch</a:t>
            </a:r>
          </a:p>
          <a:p>
            <a:r>
              <a:rPr lang="en-US" sz="1500" dirty="0"/>
              <a:t>O – Fast Failover</a:t>
            </a:r>
          </a:p>
          <a:p>
            <a:pPr lvl="1"/>
            <a:r>
              <a:rPr lang="en-US" sz="1200" dirty="0"/>
              <a:t>It execute the first available bucket</a:t>
            </a:r>
          </a:p>
          <a:p>
            <a:pPr lvl="1"/>
            <a:r>
              <a:rPr lang="en-US" sz="1200" dirty="0"/>
              <a:t>For example, each bucket can be related to different ports and if a port is down, that bucket is not selected and one of the other buckets is selected</a:t>
            </a:r>
          </a:p>
          <a:p>
            <a:pPr lvl="1"/>
            <a:r>
              <a:rPr lang="en-US" sz="1200" dirty="0"/>
              <a:t>It can be used to handle failover without contacting the SDN controller</a:t>
            </a:r>
          </a:p>
        </p:txBody>
      </p:sp>
    </p:spTree>
    <p:extLst>
      <p:ext uri="{BB962C8B-B14F-4D97-AF65-F5344CB8AC3E}">
        <p14:creationId xmlns:p14="http://schemas.microsoft.com/office/powerpoint/2010/main" val="25075668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187" y="809277"/>
            <a:ext cx="7514035" cy="612288"/>
          </a:xfrm>
        </p:spPr>
        <p:txBody>
          <a:bodyPr/>
          <a:lstStyle/>
          <a:p>
            <a:r>
              <a:rPr lang="en-US" dirty="0"/>
              <a:t>Meter Table</a:t>
            </a:r>
          </a:p>
        </p:txBody>
      </p:sp>
      <p:sp>
        <p:nvSpPr>
          <p:cNvPr id="3" name="Content Placeholder 2"/>
          <p:cNvSpPr>
            <a:spLocks noGrp="1"/>
          </p:cNvSpPr>
          <p:nvPr>
            <p:ph idx="1"/>
          </p:nvPr>
        </p:nvSpPr>
        <p:spPr>
          <a:xfrm>
            <a:off x="1125753" y="1478643"/>
            <a:ext cx="7514035" cy="1093107"/>
          </a:xfrm>
        </p:spPr>
        <p:txBody>
          <a:bodyPr>
            <a:normAutofit/>
          </a:bodyPr>
          <a:lstStyle/>
          <a:p>
            <a:r>
              <a:rPr lang="en-US" dirty="0"/>
              <a:t>It contains Meter entries. Enables OF to have rate limiting and simple QoS</a:t>
            </a:r>
          </a:p>
          <a:p>
            <a:r>
              <a:rPr lang="en-US" dirty="0"/>
              <a:t>It also can be used for more complex QoS policies such as DSCP</a:t>
            </a:r>
          </a:p>
        </p:txBody>
      </p:sp>
      <p:pic>
        <p:nvPicPr>
          <p:cNvPr id="4" name="Picture 3"/>
          <p:cNvPicPr>
            <a:picLocks noChangeAspect="1"/>
          </p:cNvPicPr>
          <p:nvPr/>
        </p:nvPicPr>
        <p:blipFill>
          <a:blip r:embed="rId3"/>
          <a:stretch>
            <a:fillRect/>
          </a:stretch>
        </p:blipFill>
        <p:spPr>
          <a:xfrm>
            <a:off x="1737360" y="2523254"/>
            <a:ext cx="6010037" cy="818835"/>
          </a:xfrm>
          <a:prstGeom prst="rect">
            <a:avLst/>
          </a:prstGeom>
        </p:spPr>
      </p:pic>
      <p:pic>
        <p:nvPicPr>
          <p:cNvPr id="5" name="Picture 4"/>
          <p:cNvPicPr>
            <a:picLocks noChangeAspect="1"/>
          </p:cNvPicPr>
          <p:nvPr/>
        </p:nvPicPr>
        <p:blipFill>
          <a:blip r:embed="rId4"/>
          <a:stretch>
            <a:fillRect/>
          </a:stretch>
        </p:blipFill>
        <p:spPr>
          <a:xfrm>
            <a:off x="1737361" y="3546678"/>
            <a:ext cx="6290822" cy="787675"/>
          </a:xfrm>
          <a:prstGeom prst="rect">
            <a:avLst/>
          </a:prstGeom>
        </p:spPr>
      </p:pic>
      <p:pic>
        <p:nvPicPr>
          <p:cNvPr id="6" name="Picture 5"/>
          <p:cNvPicPr>
            <a:picLocks noChangeAspect="1"/>
          </p:cNvPicPr>
          <p:nvPr/>
        </p:nvPicPr>
        <p:blipFill>
          <a:blip r:embed="rId5"/>
          <a:stretch>
            <a:fillRect/>
          </a:stretch>
        </p:blipFill>
        <p:spPr>
          <a:xfrm>
            <a:off x="3062589" y="4374744"/>
            <a:ext cx="1364792" cy="288123"/>
          </a:xfrm>
          <a:prstGeom prst="rect">
            <a:avLst/>
          </a:prstGeom>
        </p:spPr>
      </p:pic>
      <p:pic>
        <p:nvPicPr>
          <p:cNvPr id="7" name="Picture 6"/>
          <p:cNvPicPr>
            <a:picLocks noChangeAspect="1"/>
          </p:cNvPicPr>
          <p:nvPr/>
        </p:nvPicPr>
        <p:blipFill>
          <a:blip r:embed="rId6"/>
          <a:stretch>
            <a:fillRect/>
          </a:stretch>
        </p:blipFill>
        <p:spPr>
          <a:xfrm>
            <a:off x="4572001" y="4374622"/>
            <a:ext cx="2523458" cy="328637"/>
          </a:xfrm>
          <a:prstGeom prst="rect">
            <a:avLst/>
          </a:prstGeom>
        </p:spPr>
      </p:pic>
      <p:pic>
        <p:nvPicPr>
          <p:cNvPr id="8" name="Picture 7"/>
          <p:cNvPicPr>
            <a:picLocks noChangeAspect="1"/>
          </p:cNvPicPr>
          <p:nvPr/>
        </p:nvPicPr>
        <p:blipFill>
          <a:blip r:embed="rId7"/>
          <a:stretch>
            <a:fillRect/>
          </a:stretch>
        </p:blipFill>
        <p:spPr>
          <a:xfrm>
            <a:off x="1908096" y="5309280"/>
            <a:ext cx="5327809" cy="270905"/>
          </a:xfrm>
          <a:prstGeom prst="rect">
            <a:avLst/>
          </a:prstGeom>
        </p:spPr>
      </p:pic>
      <p:sp>
        <p:nvSpPr>
          <p:cNvPr id="9" name="TextBox 8">
            <a:extLst>
              <a:ext uri="{FF2B5EF4-FFF2-40B4-BE49-F238E27FC236}">
                <a16:creationId xmlns:a16="http://schemas.microsoft.com/office/drawing/2014/main" id="{2044FE62-0727-4B9D-AB7F-947D7784D880}"/>
              </a:ext>
            </a:extLst>
          </p:cNvPr>
          <p:cNvSpPr txBox="1"/>
          <p:nvPr/>
        </p:nvSpPr>
        <p:spPr>
          <a:xfrm>
            <a:off x="1758495" y="4391430"/>
            <a:ext cx="1029449" cy="300082"/>
          </a:xfrm>
          <a:prstGeom prst="rect">
            <a:avLst/>
          </a:prstGeom>
          <a:noFill/>
        </p:spPr>
        <p:txBody>
          <a:bodyPr wrap="none" rtlCol="0">
            <a:spAutoFit/>
          </a:bodyPr>
          <a:lstStyle/>
          <a:p>
            <a:pPr defTabSz="685800"/>
            <a:r>
              <a:rPr lang="en-US" sz="1350" dirty="0">
                <a:solidFill>
                  <a:prstClr val="black"/>
                </a:solidFill>
                <a:latin typeface="Corbel" panose="020B0503020204020204"/>
              </a:rPr>
              <a:t>Band types:</a:t>
            </a:r>
          </a:p>
        </p:txBody>
      </p:sp>
      <p:sp>
        <p:nvSpPr>
          <p:cNvPr id="10" name="TextBox 9"/>
          <p:cNvSpPr txBox="1"/>
          <p:nvPr/>
        </p:nvSpPr>
        <p:spPr>
          <a:xfrm>
            <a:off x="1931437" y="5056026"/>
            <a:ext cx="2521844" cy="323165"/>
          </a:xfrm>
          <a:prstGeom prst="rect">
            <a:avLst/>
          </a:prstGeom>
          <a:noFill/>
        </p:spPr>
        <p:txBody>
          <a:bodyPr wrap="none" rtlCol="0">
            <a:spAutoFit/>
          </a:bodyPr>
          <a:lstStyle/>
          <a:p>
            <a:pPr defTabSz="685800"/>
            <a:r>
              <a:rPr lang="en-US" sz="1500" dirty="0">
                <a:solidFill>
                  <a:prstClr val="black"/>
                </a:solidFill>
                <a:latin typeface="Corbel" panose="020B0503020204020204"/>
              </a:rPr>
              <a:t>Rate: Target rate for the band</a:t>
            </a:r>
          </a:p>
        </p:txBody>
      </p:sp>
    </p:spTree>
    <p:extLst>
      <p:ext uri="{BB962C8B-B14F-4D97-AF65-F5344CB8AC3E}">
        <p14:creationId xmlns:p14="http://schemas.microsoft.com/office/powerpoint/2010/main" val="16147581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2" y="857251"/>
            <a:ext cx="7514035" cy="747032"/>
          </a:xfrm>
        </p:spPr>
        <p:txBody>
          <a:bodyPr/>
          <a:lstStyle/>
          <a:p>
            <a:r>
              <a:rPr lang="en-US" dirty="0"/>
              <a:t>OpenFlow Messages</a:t>
            </a:r>
          </a:p>
        </p:txBody>
      </p:sp>
      <p:sp>
        <p:nvSpPr>
          <p:cNvPr id="3" name="Content Placeholder 2"/>
          <p:cNvSpPr>
            <a:spLocks noGrp="1"/>
          </p:cNvSpPr>
          <p:nvPr>
            <p:ph idx="1"/>
          </p:nvPr>
        </p:nvSpPr>
        <p:spPr>
          <a:xfrm>
            <a:off x="1113233" y="1604282"/>
            <a:ext cx="7514035" cy="3943350"/>
          </a:xfrm>
        </p:spPr>
        <p:txBody>
          <a:bodyPr>
            <a:normAutofit/>
          </a:bodyPr>
          <a:lstStyle/>
          <a:p>
            <a:r>
              <a:rPr lang="en-US" sz="2400" dirty="0"/>
              <a:t>Controller to Switch</a:t>
            </a:r>
          </a:p>
          <a:p>
            <a:pPr lvl="1"/>
            <a:r>
              <a:rPr lang="en-US" sz="2100" dirty="0"/>
              <a:t>Started by controller</a:t>
            </a:r>
          </a:p>
          <a:p>
            <a:pPr lvl="1"/>
            <a:r>
              <a:rPr lang="en-US" sz="2100" dirty="0"/>
              <a:t>Used to manage or inspect state of the switch</a:t>
            </a:r>
          </a:p>
          <a:p>
            <a:r>
              <a:rPr lang="en-US" sz="2400" dirty="0"/>
              <a:t>Asynchronous (It is from Switch to controller)</a:t>
            </a:r>
          </a:p>
          <a:p>
            <a:pPr lvl="1"/>
            <a:r>
              <a:rPr lang="en-US" sz="2100" dirty="0"/>
              <a:t>Update controller about network events</a:t>
            </a:r>
          </a:p>
          <a:p>
            <a:r>
              <a:rPr lang="en-US" sz="2400" dirty="0"/>
              <a:t>Symmetric</a:t>
            </a:r>
          </a:p>
          <a:p>
            <a:pPr lvl="1"/>
            <a:r>
              <a:rPr lang="en-US" sz="2100" dirty="0"/>
              <a:t>It can be initiated by either</a:t>
            </a:r>
          </a:p>
        </p:txBody>
      </p:sp>
    </p:spTree>
    <p:extLst>
      <p:ext uri="{BB962C8B-B14F-4D97-AF65-F5344CB8AC3E}">
        <p14:creationId xmlns:p14="http://schemas.microsoft.com/office/powerpoint/2010/main" val="1728255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4" y="857250"/>
            <a:ext cx="7514035" cy="489857"/>
          </a:xfrm>
        </p:spPr>
        <p:txBody>
          <a:bodyPr>
            <a:normAutofit fontScale="90000"/>
          </a:bodyPr>
          <a:lstStyle/>
          <a:p>
            <a:r>
              <a:rPr lang="en-US" dirty="0"/>
              <a:t>OpenFlow Messages – Controller to Switch</a:t>
            </a:r>
          </a:p>
        </p:txBody>
      </p:sp>
      <p:sp>
        <p:nvSpPr>
          <p:cNvPr id="3" name="Content Placeholder 2"/>
          <p:cNvSpPr>
            <a:spLocks noGrp="1"/>
          </p:cNvSpPr>
          <p:nvPr>
            <p:ph idx="1"/>
          </p:nvPr>
        </p:nvSpPr>
        <p:spPr>
          <a:xfrm>
            <a:off x="1113233" y="1347107"/>
            <a:ext cx="8030767" cy="4555672"/>
          </a:xfrm>
        </p:spPr>
        <p:txBody>
          <a:bodyPr>
            <a:normAutofit/>
          </a:bodyPr>
          <a:lstStyle/>
          <a:p>
            <a:r>
              <a:rPr lang="en-US" dirty="0"/>
              <a:t>Features: : controller wants to know the capabilities of the switch</a:t>
            </a:r>
          </a:p>
          <a:p>
            <a:r>
              <a:rPr lang="en-US" dirty="0"/>
              <a:t>Configuration: query about the configurations of the switch</a:t>
            </a:r>
          </a:p>
          <a:p>
            <a:r>
              <a:rPr lang="en-US" dirty="0"/>
              <a:t>Modify-State:  add, delete and modify flow/group entries and insert/remove action buckets of groups and also set switch port properties</a:t>
            </a:r>
          </a:p>
          <a:p>
            <a:r>
              <a:rPr lang="en-US" dirty="0"/>
              <a:t>Read-State: current configuration and stats and capabilities of the switch. </a:t>
            </a:r>
          </a:p>
          <a:p>
            <a:r>
              <a:rPr lang="en-US" dirty="0"/>
              <a:t>Packet-out: to send packet out of a specific port on the switch (for the packets that were received by packet-in message)</a:t>
            </a:r>
          </a:p>
          <a:p>
            <a:r>
              <a:rPr lang="en-US" dirty="0"/>
              <a:t>Barrier: To ensure message dependencies (to ensure things are done atomically)</a:t>
            </a:r>
          </a:p>
          <a:p>
            <a:r>
              <a:rPr lang="en-US" dirty="0"/>
              <a:t>Role-Request: When a switch is connected to multiple controllers, they have different roles. By this approach, the SDN controller can notify the switch about their roles.</a:t>
            </a:r>
          </a:p>
          <a:p>
            <a:r>
              <a:rPr lang="en-US" dirty="0"/>
              <a:t>Asynchronous-Configuration: to set filters about the asynchronous messages that the controller like to receive from switch.</a:t>
            </a:r>
          </a:p>
          <a:p>
            <a:endParaRPr lang="en-US" dirty="0"/>
          </a:p>
        </p:txBody>
      </p:sp>
    </p:spTree>
    <p:extLst>
      <p:ext uri="{BB962C8B-B14F-4D97-AF65-F5344CB8AC3E}">
        <p14:creationId xmlns:p14="http://schemas.microsoft.com/office/powerpoint/2010/main" val="7692200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4" y="967469"/>
            <a:ext cx="7514035" cy="477611"/>
          </a:xfrm>
        </p:spPr>
        <p:txBody>
          <a:bodyPr>
            <a:normAutofit fontScale="90000"/>
          </a:bodyPr>
          <a:lstStyle/>
          <a:p>
            <a:r>
              <a:rPr lang="en-US" dirty="0"/>
              <a:t>OpenFlow Messages – Asynchronous</a:t>
            </a:r>
          </a:p>
        </p:txBody>
      </p:sp>
      <p:sp>
        <p:nvSpPr>
          <p:cNvPr id="3" name="Content Placeholder 2"/>
          <p:cNvSpPr>
            <a:spLocks noGrp="1"/>
          </p:cNvSpPr>
          <p:nvPr>
            <p:ph idx="1"/>
          </p:nvPr>
        </p:nvSpPr>
        <p:spPr>
          <a:xfrm>
            <a:off x="1113233" y="1359354"/>
            <a:ext cx="7851152" cy="4641397"/>
          </a:xfrm>
        </p:spPr>
        <p:txBody>
          <a:bodyPr>
            <a:normAutofit/>
          </a:bodyPr>
          <a:lstStyle/>
          <a:p>
            <a:pPr>
              <a:spcBef>
                <a:spcPts val="0"/>
              </a:spcBef>
            </a:pPr>
            <a:r>
              <a:rPr lang="en-US" dirty="0"/>
              <a:t>Packet-In: Transfer control of the packet to controller. Switch notifies controller that it has received a packet and has a table miss for it. Although, other operations like changing TTL may also end up with sending packet-in message.</a:t>
            </a:r>
          </a:p>
          <a:p>
            <a:r>
              <a:rPr lang="en-US" dirty="0"/>
              <a:t>Flow-Removed:  inform controller that a flow is removed from the flow table. </a:t>
            </a:r>
          </a:p>
          <a:p>
            <a:r>
              <a:rPr lang="en-US" dirty="0"/>
              <a:t>Port-Status: Update the controller about an update in the state of the port.</a:t>
            </a:r>
          </a:p>
          <a:p>
            <a:r>
              <a:rPr lang="en-US" dirty="0"/>
              <a:t>Role-status: Inform the controller about an update in its role. For example, if a new master SDN controller introduces itself to the switch, the switch informs other SDN controllers that they are not master any more.</a:t>
            </a:r>
          </a:p>
          <a:p>
            <a:r>
              <a:rPr lang="en-US" dirty="0"/>
              <a:t>Controller-Status: when there is a problem in the channel between the switch and SDN controller, the switch notifies the controller about it. (?)</a:t>
            </a:r>
          </a:p>
          <a:p>
            <a:r>
              <a:rPr lang="en-US" dirty="0"/>
              <a:t>Flow Monitor: Inform the controller about a change in the flow table.</a:t>
            </a:r>
          </a:p>
        </p:txBody>
      </p:sp>
      <p:sp>
        <p:nvSpPr>
          <p:cNvPr id="4" name="Content Placeholder 2"/>
          <p:cNvSpPr txBox="1">
            <a:spLocks/>
          </p:cNvSpPr>
          <p:nvPr/>
        </p:nvSpPr>
        <p:spPr>
          <a:xfrm>
            <a:off x="4789121" y="2857499"/>
            <a:ext cx="2315768" cy="2343151"/>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defTabSz="342900">
              <a:spcAft>
                <a:spcPts val="450"/>
              </a:spcAft>
              <a:buClr>
                <a:srgbClr val="30ACEC">
                  <a:lumMod val="75000"/>
                </a:srgbClr>
              </a:buClr>
              <a:buNone/>
            </a:pPr>
            <a:endParaRPr lang="en-US" sz="1800" dirty="0">
              <a:solidFill>
                <a:prstClr val="black"/>
              </a:solidFill>
              <a:latin typeface="Corbel" panose="020B0503020204020204"/>
            </a:endParaRPr>
          </a:p>
        </p:txBody>
      </p:sp>
    </p:spTree>
    <p:extLst>
      <p:ext uri="{BB962C8B-B14F-4D97-AF65-F5344CB8AC3E}">
        <p14:creationId xmlns:p14="http://schemas.microsoft.com/office/powerpoint/2010/main" val="6766592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4" y="857251"/>
            <a:ext cx="7514035" cy="1314449"/>
          </a:xfrm>
        </p:spPr>
        <p:txBody>
          <a:bodyPr/>
          <a:lstStyle/>
          <a:p>
            <a:r>
              <a:rPr lang="en-US" dirty="0"/>
              <a:t>OpenFlow Messages – Symmetric</a:t>
            </a:r>
          </a:p>
        </p:txBody>
      </p:sp>
      <p:sp>
        <p:nvSpPr>
          <p:cNvPr id="3" name="Content Placeholder 2"/>
          <p:cNvSpPr>
            <a:spLocks noGrp="1"/>
          </p:cNvSpPr>
          <p:nvPr>
            <p:ph idx="1"/>
          </p:nvPr>
        </p:nvSpPr>
        <p:spPr>
          <a:xfrm>
            <a:off x="1113233" y="1812472"/>
            <a:ext cx="7417157" cy="3388178"/>
          </a:xfrm>
        </p:spPr>
        <p:txBody>
          <a:bodyPr>
            <a:normAutofit/>
          </a:bodyPr>
          <a:lstStyle/>
          <a:p>
            <a:r>
              <a:rPr lang="en-US" dirty="0"/>
              <a:t>Hello</a:t>
            </a:r>
          </a:p>
          <a:p>
            <a:pPr lvl="1"/>
            <a:r>
              <a:rPr lang="en-US" dirty="0"/>
              <a:t>Exchanged message upon making a new connection between switch and controller</a:t>
            </a:r>
          </a:p>
          <a:p>
            <a:r>
              <a:rPr lang="en-US" dirty="0"/>
              <a:t>Echo</a:t>
            </a:r>
          </a:p>
          <a:p>
            <a:pPr lvl="1"/>
            <a:r>
              <a:rPr lang="en-US" dirty="0"/>
              <a:t>It is to verify the other side is still alive and it can used to measure delay and bandwidth</a:t>
            </a:r>
          </a:p>
          <a:p>
            <a:r>
              <a:rPr lang="en-US" dirty="0"/>
              <a:t>Error</a:t>
            </a:r>
          </a:p>
          <a:p>
            <a:pPr lvl="1"/>
            <a:r>
              <a:rPr lang="en-US" dirty="0"/>
              <a:t>Notify problems to the other side. Normally a failure for the request of the other side.</a:t>
            </a:r>
          </a:p>
          <a:p>
            <a:r>
              <a:rPr lang="en-US" dirty="0"/>
              <a:t>Experimenter</a:t>
            </a:r>
          </a:p>
          <a:p>
            <a:pPr lvl="1"/>
            <a:r>
              <a:rPr lang="en-US" dirty="0"/>
              <a:t>For experiments and additional functionalities.</a:t>
            </a:r>
          </a:p>
        </p:txBody>
      </p:sp>
      <p:sp>
        <p:nvSpPr>
          <p:cNvPr id="4" name="Content Placeholder 2"/>
          <p:cNvSpPr txBox="1">
            <a:spLocks/>
          </p:cNvSpPr>
          <p:nvPr/>
        </p:nvSpPr>
        <p:spPr>
          <a:xfrm>
            <a:off x="4789121" y="2857499"/>
            <a:ext cx="2315768" cy="2343151"/>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defTabSz="342900">
              <a:spcAft>
                <a:spcPts val="450"/>
              </a:spcAft>
              <a:buClr>
                <a:srgbClr val="30ACEC">
                  <a:lumMod val="75000"/>
                </a:srgbClr>
              </a:buClr>
              <a:buNone/>
            </a:pPr>
            <a:endParaRPr lang="en-US" sz="1800" dirty="0">
              <a:solidFill>
                <a:prstClr val="black"/>
              </a:solidFill>
              <a:latin typeface="Corbel" panose="020B0503020204020204"/>
            </a:endParaRPr>
          </a:p>
        </p:txBody>
      </p:sp>
    </p:spTree>
    <p:extLst>
      <p:ext uri="{BB962C8B-B14F-4D97-AF65-F5344CB8AC3E}">
        <p14:creationId xmlns:p14="http://schemas.microsoft.com/office/powerpoint/2010/main" val="35504439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2" y="857250"/>
            <a:ext cx="7514035" cy="881743"/>
          </a:xfrm>
        </p:spPr>
        <p:txBody>
          <a:bodyPr/>
          <a:lstStyle/>
          <a:p>
            <a:r>
              <a:rPr lang="en-US" dirty="0"/>
              <a:t>Connections</a:t>
            </a:r>
          </a:p>
        </p:txBody>
      </p:sp>
      <p:sp>
        <p:nvSpPr>
          <p:cNvPr id="3" name="Content Placeholder 2"/>
          <p:cNvSpPr>
            <a:spLocks noGrp="1"/>
          </p:cNvSpPr>
          <p:nvPr>
            <p:ph idx="1"/>
          </p:nvPr>
        </p:nvSpPr>
        <p:spPr>
          <a:xfrm>
            <a:off x="1113233" y="1494065"/>
            <a:ext cx="7514034" cy="4298495"/>
          </a:xfrm>
        </p:spPr>
        <p:txBody>
          <a:bodyPr/>
          <a:lstStyle/>
          <a:p>
            <a:r>
              <a:rPr lang="en-US" dirty="0"/>
              <a:t>Switches have a main connection to the master controller</a:t>
            </a:r>
          </a:p>
          <a:p>
            <a:r>
              <a:rPr lang="en-US" dirty="0"/>
              <a:t>Possibly auxiliary connections exist for connecting to other controllers</a:t>
            </a:r>
          </a:p>
          <a:p>
            <a:pPr lvl="1"/>
            <a:r>
              <a:rPr lang="en-US" dirty="0"/>
              <a:t>For reliability purposes</a:t>
            </a:r>
          </a:p>
          <a:p>
            <a:r>
              <a:rPr lang="en-US" dirty="0"/>
              <a:t>The OpenFlow protocol is over tls, dtls, tcp, udp (default port 6653)</a:t>
            </a:r>
          </a:p>
          <a:p>
            <a:endParaRPr lang="en-US" dirty="0"/>
          </a:p>
        </p:txBody>
      </p:sp>
    </p:spTree>
    <p:extLst>
      <p:ext uri="{BB962C8B-B14F-4D97-AF65-F5344CB8AC3E}">
        <p14:creationId xmlns:p14="http://schemas.microsoft.com/office/powerpoint/2010/main" val="10836739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857250"/>
            <a:ext cx="7514035" cy="820511"/>
          </a:xfrm>
        </p:spPr>
        <p:txBody>
          <a:bodyPr/>
          <a:lstStyle/>
          <a:p>
            <a:r>
              <a:rPr lang="en-US" dirty="0"/>
              <a:t>Multiple Controllers</a:t>
            </a:r>
          </a:p>
        </p:txBody>
      </p:sp>
      <p:sp>
        <p:nvSpPr>
          <p:cNvPr id="3" name="Content Placeholder 2"/>
          <p:cNvSpPr>
            <a:spLocks noGrp="1"/>
          </p:cNvSpPr>
          <p:nvPr>
            <p:ph idx="1"/>
          </p:nvPr>
        </p:nvSpPr>
        <p:spPr>
          <a:xfrm>
            <a:off x="1113233" y="1408340"/>
            <a:ext cx="7514035" cy="3792311"/>
          </a:xfrm>
        </p:spPr>
        <p:txBody>
          <a:bodyPr>
            <a:normAutofit lnSpcReduction="10000"/>
          </a:bodyPr>
          <a:lstStyle/>
          <a:p>
            <a:pPr marL="128588" indent="-128588">
              <a:buFontTx/>
              <a:buChar char="-"/>
            </a:pPr>
            <a:r>
              <a:rPr lang="en-US" dirty="0"/>
              <a:t>When there is more than one controller, the controllers can be in contact with each other (out of scope of </a:t>
            </a:r>
            <a:r>
              <a:rPr lang="en-US" dirty="0" err="1"/>
              <a:t>OpenFlow</a:t>
            </a:r>
            <a:r>
              <a:rPr lang="en-US" dirty="0"/>
              <a:t>) but they can use these mechanism to handle different </a:t>
            </a:r>
            <a:r>
              <a:rPr lang="en-US" dirty="0" err="1"/>
              <a:t>OpenFlow</a:t>
            </a:r>
            <a:r>
              <a:rPr lang="en-US" dirty="0"/>
              <a:t> switches.</a:t>
            </a:r>
          </a:p>
          <a:p>
            <a:r>
              <a:rPr lang="en-US" dirty="0"/>
              <a:t>Equal</a:t>
            </a:r>
          </a:p>
          <a:p>
            <a:pPr lvl="1"/>
            <a:r>
              <a:rPr lang="en-US" dirty="0"/>
              <a:t>In this mode, the controller has full access and control to switch and it has equal rights with other controllers, it receives all asynchronous messages and it can change the state of the switch.</a:t>
            </a:r>
          </a:p>
          <a:p>
            <a:r>
              <a:rPr lang="en-US" dirty="0"/>
              <a:t>Slave</a:t>
            </a:r>
          </a:p>
          <a:p>
            <a:pPr lvl="1"/>
            <a:r>
              <a:rPr lang="en-US" dirty="0"/>
              <a:t>The controller has read only access. It does not receive asynchronous messages but port status messages. </a:t>
            </a:r>
          </a:p>
          <a:p>
            <a:r>
              <a:rPr lang="en-US" dirty="0"/>
              <a:t>Master</a:t>
            </a:r>
          </a:p>
          <a:p>
            <a:pPr lvl="1"/>
            <a:r>
              <a:rPr lang="en-US" dirty="0"/>
              <a:t>Similar to equal role with full access to the switch, just that the switch makes sure that there is only one controller in the master role.</a:t>
            </a:r>
          </a:p>
        </p:txBody>
      </p:sp>
    </p:spTree>
    <p:extLst>
      <p:ext uri="{BB962C8B-B14F-4D97-AF65-F5344CB8AC3E}">
        <p14:creationId xmlns:p14="http://schemas.microsoft.com/office/powerpoint/2010/main" val="21072124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1" y="857251"/>
            <a:ext cx="7514035" cy="747032"/>
          </a:xfrm>
        </p:spPr>
        <p:txBody>
          <a:bodyPr/>
          <a:lstStyle/>
          <a:p>
            <a:r>
              <a:rPr lang="en-US" dirty="0"/>
              <a:t>(Scheduled) Bundle Messages</a:t>
            </a:r>
          </a:p>
        </p:txBody>
      </p:sp>
      <p:pic>
        <p:nvPicPr>
          <p:cNvPr id="4" name="Picture 3"/>
          <p:cNvPicPr>
            <a:picLocks noChangeAspect="1"/>
          </p:cNvPicPr>
          <p:nvPr/>
        </p:nvPicPr>
        <p:blipFill>
          <a:blip r:embed="rId3"/>
          <a:stretch>
            <a:fillRect/>
          </a:stretch>
        </p:blipFill>
        <p:spPr>
          <a:xfrm>
            <a:off x="1113231" y="1420587"/>
            <a:ext cx="7654019" cy="2645228"/>
          </a:xfrm>
          <a:prstGeom prst="rect">
            <a:avLst/>
          </a:prstGeom>
        </p:spPr>
      </p:pic>
      <p:sp>
        <p:nvSpPr>
          <p:cNvPr id="5" name="TextBox 4"/>
          <p:cNvSpPr txBox="1"/>
          <p:nvPr/>
        </p:nvSpPr>
        <p:spPr>
          <a:xfrm>
            <a:off x="609600" y="4065814"/>
            <a:ext cx="8534401" cy="2023631"/>
          </a:xfrm>
          <a:prstGeom prst="rect">
            <a:avLst/>
          </a:prstGeom>
          <a:noFill/>
        </p:spPr>
        <p:txBody>
          <a:bodyPr wrap="square" rtlCol="0">
            <a:spAutoFit/>
          </a:bodyPr>
          <a:lstStyle/>
          <a:p>
            <a:pPr marL="128588" indent="-128588" defTabSz="685800">
              <a:buFontTx/>
              <a:buChar char="-"/>
            </a:pPr>
            <a:r>
              <a:rPr lang="en-US" sz="1600" dirty="0">
                <a:solidFill>
                  <a:prstClr val="black"/>
                </a:solidFill>
                <a:latin typeface="Corbel" panose="020B0503020204020204"/>
              </a:rPr>
              <a:t>Sequence:</a:t>
            </a:r>
          </a:p>
          <a:p>
            <a:pPr marL="471488" lvl="1" indent="-128588" defTabSz="685800">
              <a:buFontTx/>
              <a:buChar char="-"/>
            </a:pPr>
            <a:r>
              <a:rPr lang="en-US" sz="1600" dirty="0">
                <a:solidFill>
                  <a:prstClr val="black"/>
                </a:solidFill>
                <a:latin typeface="Corbel" panose="020B0503020204020204"/>
              </a:rPr>
              <a:t>A bundle is opened;  A number of commands are sent</a:t>
            </a:r>
          </a:p>
          <a:p>
            <a:pPr marL="471488" lvl="1" indent="-128588" defTabSz="685800">
              <a:buFontTx/>
              <a:buChar char="-"/>
            </a:pPr>
            <a:r>
              <a:rPr lang="en-US" sz="1600" dirty="0">
                <a:solidFill>
                  <a:prstClr val="black"/>
                </a:solidFill>
                <a:latin typeface="Corbel" panose="020B0503020204020204"/>
              </a:rPr>
              <a:t>A bundle is closed; A time is set</a:t>
            </a:r>
          </a:p>
          <a:p>
            <a:pPr marL="471488" lvl="1" indent="-128588" defTabSz="685800">
              <a:buFontTx/>
              <a:buChar char="-"/>
            </a:pPr>
            <a:r>
              <a:rPr lang="en-US" sz="1600" dirty="0">
                <a:solidFill>
                  <a:prstClr val="black"/>
                </a:solidFill>
                <a:latin typeface="Corbel" panose="020B0503020204020204"/>
              </a:rPr>
              <a:t>Switch executes the commands and notify the controller that it has executed the commands.</a:t>
            </a:r>
          </a:p>
          <a:p>
            <a:pPr marL="471488" lvl="1" indent="-128588" defTabSz="685800">
              <a:buFontTx/>
              <a:buChar char="-"/>
            </a:pPr>
            <a:r>
              <a:rPr lang="en-US" sz="1600" dirty="0">
                <a:solidFill>
                  <a:prstClr val="black"/>
                </a:solidFill>
                <a:latin typeface="Corbel" panose="020B0503020204020204"/>
              </a:rPr>
              <a:t>A bundle commit request may include an execution time, specifying when the bundle should commit.</a:t>
            </a:r>
          </a:p>
          <a:p>
            <a:pPr marL="471488" lvl="1" indent="-128588" defTabSz="685800">
              <a:buFontTx/>
              <a:buChar char="-"/>
            </a:pPr>
            <a:r>
              <a:rPr lang="en-US" sz="1600" dirty="0">
                <a:solidFill>
                  <a:prstClr val="black"/>
                </a:solidFill>
                <a:latin typeface="Corbel" panose="020B0503020204020204"/>
              </a:rPr>
              <a:t>Switch tries to commit the bundle as close as possible to the time.</a:t>
            </a:r>
          </a:p>
          <a:p>
            <a:pPr marL="471488" lvl="1" indent="-128588" defTabSz="685800">
              <a:buFontTx/>
              <a:buChar char="-"/>
            </a:pPr>
            <a:endParaRPr lang="en-US" sz="1350" dirty="0">
              <a:solidFill>
                <a:prstClr val="black"/>
              </a:solidFill>
              <a:latin typeface="Corbel" panose="020B0503020204020204"/>
            </a:endParaRPr>
          </a:p>
        </p:txBody>
      </p:sp>
    </p:spTree>
    <p:extLst>
      <p:ext uri="{BB962C8B-B14F-4D97-AF65-F5344CB8AC3E}">
        <p14:creationId xmlns:p14="http://schemas.microsoft.com/office/powerpoint/2010/main" val="9198523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1F0D-14AD-4B60-B269-C7BE990571C2}"/>
              </a:ext>
            </a:extLst>
          </p:cNvPr>
          <p:cNvSpPr>
            <a:spLocks noGrp="1"/>
          </p:cNvSpPr>
          <p:nvPr>
            <p:ph type="title"/>
          </p:nvPr>
        </p:nvSpPr>
        <p:spPr>
          <a:xfrm>
            <a:off x="1113232" y="857250"/>
            <a:ext cx="7514035" cy="955222"/>
          </a:xfrm>
        </p:spPr>
        <p:txBody>
          <a:bodyPr/>
          <a:lstStyle/>
          <a:p>
            <a:r>
              <a:rPr lang="en-US" dirty="0"/>
              <a:t>OpenFlow Header</a:t>
            </a:r>
          </a:p>
        </p:txBody>
      </p:sp>
      <p:pic>
        <p:nvPicPr>
          <p:cNvPr id="4" name="Picture 3">
            <a:extLst>
              <a:ext uri="{FF2B5EF4-FFF2-40B4-BE49-F238E27FC236}">
                <a16:creationId xmlns:a16="http://schemas.microsoft.com/office/drawing/2014/main" id="{62669289-70C0-4ACF-9794-9D930F2E8333}"/>
              </a:ext>
            </a:extLst>
          </p:cNvPr>
          <p:cNvPicPr>
            <a:picLocks noChangeAspect="1"/>
          </p:cNvPicPr>
          <p:nvPr/>
        </p:nvPicPr>
        <p:blipFill>
          <a:blip r:embed="rId3"/>
          <a:stretch>
            <a:fillRect/>
          </a:stretch>
        </p:blipFill>
        <p:spPr>
          <a:xfrm>
            <a:off x="1364644" y="1922690"/>
            <a:ext cx="7624235" cy="3041276"/>
          </a:xfrm>
          <a:prstGeom prst="rect">
            <a:avLst/>
          </a:prstGeom>
        </p:spPr>
      </p:pic>
    </p:spTree>
    <p:extLst>
      <p:ext uri="{BB962C8B-B14F-4D97-AF65-F5344CB8AC3E}">
        <p14:creationId xmlns:p14="http://schemas.microsoft.com/office/powerpoint/2010/main" val="37806151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857251"/>
            <a:ext cx="7514035" cy="759278"/>
          </a:xfrm>
        </p:spPr>
        <p:txBody>
          <a:bodyPr/>
          <a:lstStyle/>
          <a:p>
            <a:r>
              <a:rPr lang="en-US" dirty="0"/>
              <a:t>Flow match structure</a:t>
            </a:r>
          </a:p>
        </p:txBody>
      </p:sp>
      <p:sp>
        <p:nvSpPr>
          <p:cNvPr id="3" name="Content Placeholder 2"/>
          <p:cNvSpPr>
            <a:spLocks noGrp="1"/>
          </p:cNvSpPr>
          <p:nvPr>
            <p:ph idx="1"/>
          </p:nvPr>
        </p:nvSpPr>
        <p:spPr>
          <a:xfrm>
            <a:off x="1113232" y="1371600"/>
            <a:ext cx="7514035" cy="1040947"/>
          </a:xfrm>
        </p:spPr>
        <p:txBody>
          <a:bodyPr>
            <a:normAutofit fontScale="92500" lnSpcReduction="10000"/>
          </a:bodyPr>
          <a:lstStyle/>
          <a:p>
            <a:r>
              <a:rPr lang="en-US" dirty="0"/>
              <a:t>Flow match structure uses OpenFlow Extensible Match (OXM)</a:t>
            </a:r>
          </a:p>
          <a:p>
            <a:r>
              <a:rPr lang="en-US" dirty="0"/>
              <a:t>It is a compact TLV( Type-Length-Value)</a:t>
            </a:r>
          </a:p>
          <a:p>
            <a:r>
              <a:rPr lang="en-US" dirty="0"/>
              <a:t>5 to 259 Bytes (4 Bytes header)</a:t>
            </a:r>
          </a:p>
        </p:txBody>
      </p:sp>
      <p:pic>
        <p:nvPicPr>
          <p:cNvPr id="4" name="Picture 3"/>
          <p:cNvPicPr>
            <a:picLocks noChangeAspect="1"/>
          </p:cNvPicPr>
          <p:nvPr/>
        </p:nvPicPr>
        <p:blipFill>
          <a:blip r:embed="rId3"/>
          <a:stretch>
            <a:fillRect/>
          </a:stretch>
        </p:blipFill>
        <p:spPr>
          <a:xfrm>
            <a:off x="1113232" y="2394853"/>
            <a:ext cx="6922436" cy="1167483"/>
          </a:xfrm>
          <a:prstGeom prst="rect">
            <a:avLst/>
          </a:prstGeom>
        </p:spPr>
      </p:pic>
      <p:sp>
        <p:nvSpPr>
          <p:cNvPr id="5" name="TextBox 4"/>
          <p:cNvSpPr txBox="1"/>
          <p:nvPr/>
        </p:nvSpPr>
        <p:spPr>
          <a:xfrm>
            <a:off x="783772" y="3563704"/>
            <a:ext cx="8360228" cy="2377574"/>
          </a:xfrm>
          <a:prstGeom prst="rect">
            <a:avLst/>
          </a:prstGeom>
          <a:noFill/>
        </p:spPr>
        <p:txBody>
          <a:bodyPr wrap="square" rtlCol="0">
            <a:spAutoFit/>
          </a:bodyPr>
          <a:lstStyle/>
          <a:p>
            <a:pPr marL="128588" indent="-128588" defTabSz="685800">
              <a:buFontTx/>
              <a:buChar char="-"/>
            </a:pPr>
            <a:r>
              <a:rPr lang="en-US" sz="1350" dirty="0" err="1">
                <a:solidFill>
                  <a:prstClr val="black"/>
                </a:solidFill>
                <a:latin typeface="Corbel" panose="020B0503020204020204"/>
              </a:rPr>
              <a:t>Oxm_class</a:t>
            </a:r>
            <a:r>
              <a:rPr lang="en-US" sz="1350" dirty="0">
                <a:solidFill>
                  <a:prstClr val="black"/>
                </a:solidFill>
                <a:latin typeface="Corbel" panose="020B0503020204020204"/>
              </a:rPr>
              <a:t>: matches the class of the object;  </a:t>
            </a:r>
            <a:r>
              <a:rPr lang="en-US" sz="1350" dirty="0" err="1">
                <a:solidFill>
                  <a:prstClr val="black"/>
                </a:solidFill>
                <a:latin typeface="Corbel" panose="020B0503020204020204"/>
              </a:rPr>
              <a:t>Oxm_field</a:t>
            </a:r>
            <a:r>
              <a:rPr lang="en-US" sz="1350" dirty="0">
                <a:solidFill>
                  <a:prstClr val="black"/>
                </a:solidFill>
                <a:latin typeface="Corbel" panose="020B0503020204020204"/>
              </a:rPr>
              <a:t>: matches the field within the class</a:t>
            </a:r>
          </a:p>
          <a:p>
            <a:pPr marL="128588" indent="-128588" defTabSz="685800">
              <a:buFontTx/>
              <a:buChar char="-"/>
            </a:pPr>
            <a:r>
              <a:rPr lang="en-US" sz="1350" dirty="0" err="1">
                <a:solidFill>
                  <a:prstClr val="black"/>
                </a:solidFill>
                <a:latin typeface="Corbel" panose="020B0503020204020204"/>
              </a:rPr>
              <a:t>Oxm_hasMask</a:t>
            </a:r>
            <a:r>
              <a:rPr lang="en-US" sz="1350" dirty="0">
                <a:solidFill>
                  <a:prstClr val="black"/>
                </a:solidFill>
                <a:latin typeface="Corbel" panose="020B0503020204020204"/>
              </a:rPr>
              <a:t>: set if the </a:t>
            </a:r>
            <a:r>
              <a:rPr lang="en-US" sz="1350" dirty="0" err="1">
                <a:solidFill>
                  <a:prstClr val="black"/>
                </a:solidFill>
                <a:latin typeface="Corbel" panose="020B0503020204020204"/>
              </a:rPr>
              <a:t>oxm</a:t>
            </a:r>
            <a:r>
              <a:rPr lang="en-US" sz="1350" dirty="0">
                <a:solidFill>
                  <a:prstClr val="black"/>
                </a:solidFill>
                <a:latin typeface="Corbel" panose="020B0503020204020204"/>
              </a:rPr>
              <a:t> includes a bitmask</a:t>
            </a:r>
          </a:p>
          <a:p>
            <a:pPr marL="471488" lvl="1" indent="-128588" defTabSz="685800">
              <a:buFontTx/>
              <a:buChar char="-"/>
            </a:pPr>
            <a:r>
              <a:rPr lang="en-US" sz="1350" dirty="0">
                <a:solidFill>
                  <a:prstClr val="black"/>
                </a:solidFill>
                <a:latin typeface="Corbel" panose="020B0503020204020204"/>
              </a:rPr>
              <a:t>If 0: the value should match</a:t>
            </a:r>
          </a:p>
          <a:p>
            <a:pPr marL="471488" lvl="1" indent="-128588" defTabSz="685800">
              <a:buFontTx/>
              <a:buChar char="-"/>
            </a:pPr>
            <a:r>
              <a:rPr lang="en-US" sz="1350" dirty="0">
                <a:solidFill>
                  <a:prstClr val="black"/>
                </a:solidFill>
                <a:latin typeface="Corbel" panose="020B0503020204020204"/>
              </a:rPr>
              <a:t>If 1: the payload is </a:t>
            </a:r>
            <a:r>
              <a:rPr lang="en-US" sz="1350" dirty="0" err="1">
                <a:solidFill>
                  <a:prstClr val="black"/>
                </a:solidFill>
                <a:latin typeface="Corbel" panose="020B0503020204020204"/>
              </a:rPr>
              <a:t>value:bitmask</a:t>
            </a:r>
            <a:r>
              <a:rPr lang="en-US" sz="1350" dirty="0">
                <a:solidFill>
                  <a:prstClr val="black"/>
                </a:solidFill>
                <a:latin typeface="Corbel" panose="020B0503020204020204"/>
              </a:rPr>
              <a:t> </a:t>
            </a:r>
          </a:p>
          <a:p>
            <a:pPr marL="814388" lvl="2" indent="-128588" defTabSz="685800">
              <a:buFontTx/>
              <a:buChar char="-"/>
            </a:pPr>
            <a:r>
              <a:rPr lang="en-US" sz="1350" dirty="0">
                <a:solidFill>
                  <a:prstClr val="black"/>
                </a:solidFill>
                <a:latin typeface="Corbel" panose="020B0503020204020204"/>
              </a:rPr>
              <a:t>For example 1110:1110 matches 111x, 110100:111100 matches 1101xx</a:t>
            </a:r>
          </a:p>
          <a:p>
            <a:pPr marL="128588" indent="-128588" defTabSz="685800">
              <a:buFontTx/>
              <a:buChar char="-"/>
            </a:pPr>
            <a:r>
              <a:rPr lang="en-US" sz="1350" dirty="0" err="1">
                <a:solidFill>
                  <a:prstClr val="black"/>
                </a:solidFill>
                <a:latin typeface="Corbel" panose="020B0503020204020204"/>
              </a:rPr>
              <a:t>Oxm_length</a:t>
            </a:r>
            <a:r>
              <a:rPr lang="en-US" sz="1350" dirty="0">
                <a:solidFill>
                  <a:prstClr val="black"/>
                </a:solidFill>
                <a:latin typeface="Corbel" panose="020B0503020204020204"/>
              </a:rPr>
              <a:t>: length of </a:t>
            </a:r>
            <a:r>
              <a:rPr lang="en-US" sz="1350" dirty="0" err="1">
                <a:solidFill>
                  <a:prstClr val="black"/>
                </a:solidFill>
                <a:latin typeface="Corbel" panose="020B0503020204020204"/>
              </a:rPr>
              <a:t>oxm</a:t>
            </a:r>
            <a:r>
              <a:rPr lang="en-US" sz="1350" dirty="0">
                <a:solidFill>
                  <a:prstClr val="black"/>
                </a:solidFill>
                <a:latin typeface="Corbel" panose="020B0503020204020204"/>
              </a:rPr>
              <a:t> payload</a:t>
            </a:r>
          </a:p>
          <a:p>
            <a:pPr marL="128588" indent="-128588" defTabSz="685800">
              <a:buFontTx/>
              <a:buChar char="-"/>
            </a:pPr>
            <a:r>
              <a:rPr lang="en-US" sz="1350" dirty="0">
                <a:solidFill>
                  <a:prstClr val="black"/>
                </a:solidFill>
                <a:latin typeface="Corbel" panose="020B0503020204020204"/>
              </a:rPr>
              <a:t>For example: Class can be OFPXMC_OPENFLOW_BASIC - Field can be:</a:t>
            </a:r>
          </a:p>
          <a:p>
            <a:pPr marL="1157288" lvl="3" indent="-128588" defTabSz="685800">
              <a:buFontTx/>
              <a:buChar char="-"/>
            </a:pPr>
            <a:r>
              <a:rPr lang="en-US" sz="1350" dirty="0">
                <a:solidFill>
                  <a:prstClr val="black"/>
                </a:solidFill>
                <a:latin typeface="Corbel" panose="020B0503020204020204"/>
              </a:rPr>
              <a:t>OFPXMT_OFB_IN_PORT = 0, /* Switch input port. */ </a:t>
            </a:r>
          </a:p>
          <a:p>
            <a:pPr marL="1157288" lvl="3" indent="-128588" defTabSz="685800">
              <a:buFontTx/>
              <a:buChar char="-"/>
            </a:pPr>
            <a:r>
              <a:rPr lang="en-US" sz="1350" dirty="0">
                <a:solidFill>
                  <a:prstClr val="black"/>
                </a:solidFill>
                <a:latin typeface="Corbel" panose="020B0503020204020204"/>
              </a:rPr>
              <a:t>OFPXMT_OFB_IN_PHY_PORT = 1, /* Switch physical input port. */ </a:t>
            </a:r>
          </a:p>
          <a:p>
            <a:pPr marL="1157288" lvl="3" indent="-128588" defTabSz="685800">
              <a:buFontTx/>
              <a:buChar char="-"/>
            </a:pPr>
            <a:r>
              <a:rPr lang="en-US" sz="1350" dirty="0">
                <a:solidFill>
                  <a:prstClr val="black"/>
                </a:solidFill>
                <a:latin typeface="Corbel" panose="020B0503020204020204"/>
              </a:rPr>
              <a:t>OFPXMT_OFB_METADATA = 2, /* Metadata passed between tables. */ </a:t>
            </a:r>
          </a:p>
          <a:p>
            <a:pPr marL="1157288" lvl="3" indent="-128588" defTabSz="685800">
              <a:buFontTx/>
              <a:buChar char="-"/>
            </a:pPr>
            <a:r>
              <a:rPr lang="en-US" sz="1350" dirty="0">
                <a:solidFill>
                  <a:prstClr val="black"/>
                </a:solidFill>
                <a:latin typeface="Corbel" panose="020B0503020204020204"/>
              </a:rPr>
              <a:t>OFPXMT_OFB_ETH_DST = 3, /* Ethernet destination address. */</a:t>
            </a:r>
          </a:p>
        </p:txBody>
      </p:sp>
    </p:spTree>
    <p:extLst>
      <p:ext uri="{BB962C8B-B14F-4D97-AF65-F5344CB8AC3E}">
        <p14:creationId xmlns:p14="http://schemas.microsoft.com/office/powerpoint/2010/main" val="2274892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09150-1681-4D7F-8640-DFF9B4C95090}"/>
              </a:ext>
            </a:extLst>
          </p:cNvPr>
          <p:cNvSpPr>
            <a:spLocks noGrp="1"/>
          </p:cNvSpPr>
          <p:nvPr>
            <p:ph type="title"/>
          </p:nvPr>
        </p:nvSpPr>
        <p:spPr/>
        <p:txBody>
          <a:bodyPr/>
          <a:lstStyle/>
          <a:p>
            <a:r>
              <a:rPr lang="en-US" dirty="0"/>
              <a:t>OpenFlow v 1.0 new features</a:t>
            </a:r>
          </a:p>
        </p:txBody>
      </p:sp>
      <p:sp>
        <p:nvSpPr>
          <p:cNvPr id="3" name="Content Placeholder 2">
            <a:extLst>
              <a:ext uri="{FF2B5EF4-FFF2-40B4-BE49-F238E27FC236}">
                <a16:creationId xmlns:a16="http://schemas.microsoft.com/office/drawing/2014/main" id="{51305AFA-7A8D-44CC-A048-ABEA9EC50C17}"/>
              </a:ext>
            </a:extLst>
          </p:cNvPr>
          <p:cNvSpPr>
            <a:spLocks noGrp="1"/>
          </p:cNvSpPr>
          <p:nvPr>
            <p:ph idx="1"/>
          </p:nvPr>
        </p:nvSpPr>
        <p:spPr/>
        <p:txBody>
          <a:bodyPr/>
          <a:lstStyle/>
          <a:p>
            <a:r>
              <a:rPr lang="en-US" dirty="0"/>
              <a:t>Slicing: multiple queues per output port</a:t>
            </a:r>
          </a:p>
          <a:p>
            <a:r>
              <a:rPr lang="en-US" dirty="0"/>
              <a:t>Flow cookies: Identifier for each flow entry</a:t>
            </a:r>
          </a:p>
          <a:p>
            <a:endParaRPr lang="en-US" dirty="0"/>
          </a:p>
        </p:txBody>
      </p:sp>
    </p:spTree>
    <p:extLst>
      <p:ext uri="{BB962C8B-B14F-4D97-AF65-F5344CB8AC3E}">
        <p14:creationId xmlns:p14="http://schemas.microsoft.com/office/powerpoint/2010/main" val="14980825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OpenFlow History -  V1.1 Added features</a:t>
            </a:r>
          </a:p>
        </p:txBody>
      </p:sp>
      <p:sp>
        <p:nvSpPr>
          <p:cNvPr id="3" name="Content Placeholder 2"/>
          <p:cNvSpPr>
            <a:spLocks noGrp="1"/>
          </p:cNvSpPr>
          <p:nvPr>
            <p:ph idx="1"/>
          </p:nvPr>
        </p:nvSpPr>
        <p:spPr/>
        <p:txBody>
          <a:bodyPr/>
          <a:lstStyle/>
          <a:p>
            <a:r>
              <a:rPr lang="en-US" b="1" dirty="0"/>
              <a:t>Multiple Tables</a:t>
            </a:r>
          </a:p>
          <a:p>
            <a:pPr lvl="1"/>
            <a:r>
              <a:rPr lang="en-US" dirty="0"/>
              <a:t>Have a pipeline of the tables</a:t>
            </a:r>
          </a:p>
          <a:p>
            <a:r>
              <a:rPr lang="en-US" dirty="0"/>
              <a:t>Groups</a:t>
            </a:r>
          </a:p>
          <a:p>
            <a:pPr lvl="1"/>
            <a:r>
              <a:rPr lang="en-US" dirty="0"/>
              <a:t>Make it possible to have multicasting</a:t>
            </a:r>
          </a:p>
          <a:p>
            <a:r>
              <a:rPr lang="en-US" dirty="0"/>
              <a:t>Tags (MPLS, VLAN)</a:t>
            </a:r>
          </a:p>
          <a:p>
            <a:r>
              <a:rPr lang="en-US" dirty="0"/>
              <a:t>Virtual Ports</a:t>
            </a:r>
          </a:p>
          <a:p>
            <a:endParaRPr lang="en-US" dirty="0"/>
          </a:p>
        </p:txBody>
      </p:sp>
    </p:spTree>
    <p:extLst>
      <p:ext uri="{BB962C8B-B14F-4D97-AF65-F5344CB8AC3E}">
        <p14:creationId xmlns:p14="http://schemas.microsoft.com/office/powerpoint/2010/main" val="40377466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OpenFlow History -  V1.2</a:t>
            </a:r>
          </a:p>
        </p:txBody>
      </p:sp>
      <p:sp>
        <p:nvSpPr>
          <p:cNvPr id="3" name="Content Placeholder 2"/>
          <p:cNvSpPr>
            <a:spLocks noGrp="1"/>
          </p:cNvSpPr>
          <p:nvPr>
            <p:ph idx="1"/>
          </p:nvPr>
        </p:nvSpPr>
        <p:spPr/>
        <p:txBody>
          <a:bodyPr/>
          <a:lstStyle/>
          <a:p>
            <a:r>
              <a:rPr lang="en-US" dirty="0"/>
              <a:t>IPV6 support</a:t>
            </a:r>
          </a:p>
          <a:p>
            <a:r>
              <a:rPr lang="en-US" dirty="0"/>
              <a:t>Extensible match support (OXM which increases flexibility dramatically)</a:t>
            </a:r>
          </a:p>
          <a:p>
            <a:r>
              <a:rPr lang="en-US" dirty="0"/>
              <a:t>Controller role change mechanism</a:t>
            </a:r>
          </a:p>
          <a:p>
            <a:r>
              <a:rPr lang="en-US" dirty="0"/>
              <a:t>Extensible set field packet rewriting support (by leveraging OXM)</a:t>
            </a:r>
          </a:p>
          <a:p>
            <a:pPr marL="0" indent="0">
              <a:buNone/>
            </a:pPr>
            <a:endParaRPr lang="en-US" dirty="0"/>
          </a:p>
        </p:txBody>
      </p:sp>
    </p:spTree>
    <p:extLst>
      <p:ext uri="{BB962C8B-B14F-4D97-AF65-F5344CB8AC3E}">
        <p14:creationId xmlns:p14="http://schemas.microsoft.com/office/powerpoint/2010/main" val="34257919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OpenFlow History -  V1.3</a:t>
            </a:r>
          </a:p>
        </p:txBody>
      </p:sp>
      <p:sp>
        <p:nvSpPr>
          <p:cNvPr id="3" name="Content Placeholder 2"/>
          <p:cNvSpPr>
            <a:spLocks noGrp="1"/>
          </p:cNvSpPr>
          <p:nvPr>
            <p:ph idx="1"/>
          </p:nvPr>
        </p:nvSpPr>
        <p:spPr/>
        <p:txBody>
          <a:bodyPr/>
          <a:lstStyle/>
          <a:p>
            <a:r>
              <a:rPr lang="en-US" dirty="0"/>
              <a:t>Per Flow Meters (To measure and control rate of packets)</a:t>
            </a:r>
          </a:p>
          <a:p>
            <a:r>
              <a:rPr lang="en-US" dirty="0"/>
              <a:t>Connecting to multiple controllers and auxiliary connections</a:t>
            </a:r>
          </a:p>
          <a:p>
            <a:r>
              <a:rPr lang="en-US" dirty="0"/>
              <a:t>Cookie in packet in (help controller to more efficiently classify packets)</a:t>
            </a:r>
          </a:p>
          <a:p>
            <a:r>
              <a:rPr lang="en-US" dirty="0"/>
              <a:t>Tunnel-ID metadata (For example make it possible to do GRE encapsulation)</a:t>
            </a:r>
          </a:p>
        </p:txBody>
      </p:sp>
    </p:spTree>
    <p:extLst>
      <p:ext uri="{BB962C8B-B14F-4D97-AF65-F5344CB8AC3E}">
        <p14:creationId xmlns:p14="http://schemas.microsoft.com/office/powerpoint/2010/main" val="14722551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942975"/>
            <a:ext cx="7514035" cy="698047"/>
          </a:xfrm>
        </p:spPr>
        <p:txBody>
          <a:bodyPr/>
          <a:lstStyle/>
          <a:p>
            <a:r>
              <a:rPr lang="en-US" dirty="0"/>
              <a:t>OpenFlow History -  V1.4</a:t>
            </a:r>
          </a:p>
        </p:txBody>
      </p:sp>
      <p:sp>
        <p:nvSpPr>
          <p:cNvPr id="3" name="Content Placeholder 2"/>
          <p:cNvSpPr>
            <a:spLocks noGrp="1"/>
          </p:cNvSpPr>
          <p:nvPr>
            <p:ph idx="1"/>
          </p:nvPr>
        </p:nvSpPr>
        <p:spPr>
          <a:xfrm>
            <a:off x="1113233" y="1641022"/>
            <a:ext cx="7655210" cy="4029075"/>
          </a:xfrm>
        </p:spPr>
        <p:txBody>
          <a:bodyPr>
            <a:normAutofit/>
          </a:bodyPr>
          <a:lstStyle/>
          <a:p>
            <a:r>
              <a:rPr lang="en-US" dirty="0"/>
              <a:t>Flow Monitoring (monitor in real time the changes made by other controllers in a subset of flow table)</a:t>
            </a:r>
          </a:p>
          <a:p>
            <a:r>
              <a:rPr lang="en-US" dirty="0"/>
              <a:t>Eviction</a:t>
            </a:r>
          </a:p>
          <a:p>
            <a:pPr lvl="1"/>
            <a:r>
              <a:rPr lang="en-US" dirty="0"/>
              <a:t>Replace older rules with newer rules when the flow table capacity is reached</a:t>
            </a:r>
          </a:p>
          <a:p>
            <a:r>
              <a:rPr lang="en-US" dirty="0"/>
              <a:t>Vacancy</a:t>
            </a:r>
          </a:p>
          <a:p>
            <a:pPr lvl="1"/>
            <a:r>
              <a:rPr lang="en-US" dirty="0"/>
              <a:t>Controller can get early warning about capacity of the table</a:t>
            </a:r>
          </a:p>
          <a:p>
            <a:r>
              <a:rPr lang="en-US" dirty="0"/>
              <a:t>Bundles</a:t>
            </a:r>
          </a:p>
          <a:p>
            <a:pPr lvl="1"/>
            <a:r>
              <a:rPr lang="en-US" dirty="0"/>
              <a:t>Apply a group of OpenFlow messages at the same time</a:t>
            </a:r>
          </a:p>
          <a:p>
            <a:r>
              <a:rPr lang="en-US" dirty="0"/>
              <a:t>Synchronized tables</a:t>
            </a:r>
          </a:p>
          <a:p>
            <a:endParaRPr lang="en-US" dirty="0"/>
          </a:p>
        </p:txBody>
      </p:sp>
    </p:spTree>
    <p:extLst>
      <p:ext uri="{BB962C8B-B14F-4D97-AF65-F5344CB8AC3E}">
        <p14:creationId xmlns:p14="http://schemas.microsoft.com/office/powerpoint/2010/main" val="35457971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4" y="930728"/>
            <a:ext cx="7514035" cy="502103"/>
          </a:xfrm>
        </p:spPr>
        <p:txBody>
          <a:bodyPr>
            <a:normAutofit fontScale="90000"/>
          </a:bodyPr>
          <a:lstStyle/>
          <a:p>
            <a:r>
              <a:rPr lang="en-US" dirty="0"/>
              <a:t>OpenFlow History -  V1.5</a:t>
            </a:r>
          </a:p>
        </p:txBody>
      </p:sp>
      <p:sp>
        <p:nvSpPr>
          <p:cNvPr id="3" name="Content Placeholder 2"/>
          <p:cNvSpPr>
            <a:spLocks noGrp="1"/>
          </p:cNvSpPr>
          <p:nvPr>
            <p:ph idx="1"/>
          </p:nvPr>
        </p:nvSpPr>
        <p:spPr>
          <a:xfrm>
            <a:off x="1113233" y="1322615"/>
            <a:ext cx="7514035" cy="4575867"/>
          </a:xfrm>
        </p:spPr>
        <p:txBody>
          <a:bodyPr>
            <a:normAutofit fontScale="92500" lnSpcReduction="20000"/>
          </a:bodyPr>
          <a:lstStyle/>
          <a:p>
            <a:r>
              <a:rPr lang="en-US" dirty="0"/>
              <a:t>Egress Tables</a:t>
            </a:r>
          </a:p>
          <a:p>
            <a:pPr lvl="1"/>
            <a:r>
              <a:rPr lang="en-US" dirty="0"/>
              <a:t>Processing can be done in context of input port and output port by having egress tables</a:t>
            </a:r>
          </a:p>
          <a:p>
            <a:r>
              <a:rPr lang="en-US" dirty="0"/>
              <a:t>Packet aware pipeline</a:t>
            </a:r>
          </a:p>
          <a:p>
            <a:pPr lvl="1"/>
            <a:r>
              <a:rPr lang="en-US" dirty="0"/>
              <a:t>All the packets no longer need to be ethernet packets</a:t>
            </a:r>
          </a:p>
          <a:p>
            <a:r>
              <a:rPr lang="en-US" dirty="0"/>
              <a:t>Flow Entry statistics trigger</a:t>
            </a:r>
          </a:p>
          <a:p>
            <a:pPr lvl="1"/>
            <a:r>
              <a:rPr lang="en-US" dirty="0"/>
              <a:t>Define flexible trigger for the stats</a:t>
            </a:r>
          </a:p>
          <a:p>
            <a:r>
              <a:rPr lang="en-US" dirty="0"/>
              <a:t>Copy-Field action</a:t>
            </a:r>
          </a:p>
          <a:p>
            <a:pPr lvl="1"/>
            <a:r>
              <a:rPr lang="en-US" dirty="0"/>
              <a:t>Copy between two OXM fields</a:t>
            </a:r>
          </a:p>
          <a:p>
            <a:r>
              <a:rPr lang="en-US" dirty="0"/>
              <a:t>TCP Flags Matching</a:t>
            </a:r>
          </a:p>
          <a:p>
            <a:pPr lvl="1"/>
            <a:r>
              <a:rPr lang="en-US" dirty="0"/>
              <a:t>Detect SYN, FIN, ACK to detect TCP connection’s states</a:t>
            </a:r>
          </a:p>
          <a:p>
            <a:r>
              <a:rPr lang="en-US" dirty="0"/>
              <a:t>Scheduled Bundles</a:t>
            </a:r>
          </a:p>
          <a:p>
            <a:pPr lvl="1"/>
            <a:r>
              <a:rPr lang="en-US" dirty="0"/>
              <a:t>Execute bundle at a specific time</a:t>
            </a:r>
          </a:p>
          <a:p>
            <a:r>
              <a:rPr lang="en-US" dirty="0"/>
              <a:t>Meter Action</a:t>
            </a:r>
          </a:p>
          <a:p>
            <a:pPr lvl="1"/>
            <a:r>
              <a:rPr lang="en-US" dirty="0"/>
              <a:t>Meter action instead of meter instruction (Multiple meter can be attached to a flow entry and it can be used in group buckets)</a:t>
            </a:r>
          </a:p>
        </p:txBody>
      </p:sp>
    </p:spTree>
    <p:extLst>
      <p:ext uri="{BB962C8B-B14F-4D97-AF65-F5344CB8AC3E}">
        <p14:creationId xmlns:p14="http://schemas.microsoft.com/office/powerpoint/2010/main" val="37075699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3" y="967468"/>
            <a:ext cx="7514035" cy="453118"/>
          </a:xfrm>
        </p:spPr>
        <p:txBody>
          <a:bodyPr>
            <a:normAutofit fontScale="90000"/>
          </a:bodyPr>
          <a:lstStyle/>
          <a:p>
            <a:r>
              <a:rPr lang="en-US" dirty="0"/>
              <a:t>Conclusion</a:t>
            </a:r>
          </a:p>
        </p:txBody>
      </p:sp>
      <p:sp>
        <p:nvSpPr>
          <p:cNvPr id="3" name="Content Placeholder 2"/>
          <p:cNvSpPr>
            <a:spLocks noGrp="1"/>
          </p:cNvSpPr>
          <p:nvPr>
            <p:ph idx="1"/>
          </p:nvPr>
        </p:nvSpPr>
        <p:spPr>
          <a:xfrm>
            <a:off x="1113233" y="1714501"/>
            <a:ext cx="7514035" cy="3486150"/>
          </a:xfrm>
        </p:spPr>
        <p:txBody>
          <a:bodyPr/>
          <a:lstStyle/>
          <a:p>
            <a:r>
              <a:rPr lang="en-US" dirty="0"/>
              <a:t>A necessary interface between SDN controller and switches</a:t>
            </a:r>
          </a:p>
          <a:p>
            <a:r>
              <a:rPr lang="en-US" dirty="0"/>
              <a:t>It should not be tied to vendors and it should be flexible</a:t>
            </a:r>
          </a:p>
          <a:p>
            <a:r>
              <a:rPr lang="en-US" dirty="0"/>
              <a:t>Also it should be simple enough to make it possible to implement it on different types of switches</a:t>
            </a:r>
          </a:p>
        </p:txBody>
      </p:sp>
    </p:spTree>
    <p:extLst>
      <p:ext uri="{BB962C8B-B14F-4D97-AF65-F5344CB8AC3E}">
        <p14:creationId xmlns:p14="http://schemas.microsoft.com/office/powerpoint/2010/main" val="1524898717"/>
      </p:ext>
    </p:extLst>
  </p:cSld>
  <p:clrMapOvr>
    <a:masterClrMapping/>
  </p:clrMapOvr>
</p:sld>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小塚ゴシック Pro L"/>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小塚ゴシック Pro L"/>
        <a:ea typeface=""/>
        <a:cs typeface=""/>
        <a:font script="Jpan" typeface="ＭＳ Ｐ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0">
          <a:tailEnd type="triangle"/>
        </a:ln>
      </a:spPr>
      <a:bodyPr rtlCol="0" anchor="ctr"/>
      <a:lstStyle>
        <a:defPPr algn="ctr">
          <a:defRPr/>
        </a:defPPr>
      </a:lstStyle>
      <a:style>
        <a:lnRef idx="2">
          <a:schemeClr val="accent1"/>
        </a:lnRef>
        <a:fillRef idx="0">
          <a:schemeClr val="accent1"/>
        </a:fillRef>
        <a:effectRef idx="1">
          <a:schemeClr val="accent1"/>
        </a:effectRef>
        <a:fontRef idx="minor">
          <a:schemeClr val="tx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23830</TotalTime>
  <Words>5947</Words>
  <Application>Microsoft Macintosh PowerPoint</Application>
  <PresentationFormat>On-screen Show (4:3)</PresentationFormat>
  <Paragraphs>1153</Paragraphs>
  <Slides>88</Slides>
  <Notes>26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88</vt:i4>
      </vt:variant>
    </vt:vector>
  </HeadingPairs>
  <TitlesOfParts>
    <vt:vector size="100" baseType="lpstr">
      <vt:lpstr>小塚ゴシック Pro L</vt:lpstr>
      <vt:lpstr>Arial</vt:lpstr>
      <vt:lpstr>Calibri</vt:lpstr>
      <vt:lpstr>Comic Sans MS</vt:lpstr>
      <vt:lpstr>Corbel</vt:lpstr>
      <vt:lpstr>Courier New</vt:lpstr>
      <vt:lpstr>Helvetica</vt:lpstr>
      <vt:lpstr>Times New Roman</vt:lpstr>
      <vt:lpstr>Office Theme</vt:lpstr>
      <vt:lpstr>1_Office Theme</vt:lpstr>
      <vt:lpstr>2_Office Theme</vt:lpstr>
      <vt:lpstr>3_Parallax</vt:lpstr>
      <vt:lpstr>Software Defined Networks: Overview</vt:lpstr>
      <vt:lpstr>Data Centers can be large: Configuration and Management</vt:lpstr>
      <vt:lpstr>Bottleneck: The Network</vt:lpstr>
      <vt:lpstr>Bottleneck: The Network</vt:lpstr>
      <vt:lpstr>Software Defined Networking</vt:lpstr>
      <vt:lpstr>The network is changing</vt:lpstr>
      <vt:lpstr>Software Defined Network (SDN)</vt:lpstr>
      <vt:lpstr>Network OS</vt:lpstr>
      <vt:lpstr>Software Defined Network (SDN)</vt:lpstr>
      <vt:lpstr>Control Program</vt:lpstr>
      <vt:lpstr>Forwarding Abstraction</vt:lpstr>
      <vt:lpstr>Software Defined Networking</vt:lpstr>
      <vt:lpstr>Data and Control Planes</vt:lpstr>
      <vt:lpstr>Data Plane</vt:lpstr>
      <vt:lpstr>Switch: Match on Destination MAC</vt:lpstr>
      <vt:lpstr>Router: Match on IP Prefix</vt:lpstr>
      <vt:lpstr>Forwarding vs. Routing</vt:lpstr>
      <vt:lpstr>Example: Shortest-Path Routing</vt:lpstr>
      <vt:lpstr>Distributed Control Plane</vt:lpstr>
      <vt:lpstr>Distributed Control Plane</vt:lpstr>
      <vt:lpstr>Traffic Engineering Problem</vt:lpstr>
      <vt:lpstr>Traffic Engineering: Optimization</vt:lpstr>
      <vt:lpstr>Transient Routing Disruptions</vt:lpstr>
      <vt:lpstr>Management Plane Challenges</vt:lpstr>
      <vt:lpstr>Software Defined Networking</vt:lpstr>
      <vt:lpstr>SDN Components at a glance</vt:lpstr>
      <vt:lpstr>SDN Components at a glance</vt:lpstr>
      <vt:lpstr>SDN Components at a glance</vt:lpstr>
      <vt:lpstr>SDN and Network Cloud? </vt:lpstr>
      <vt:lpstr>SDN Benefits</vt:lpstr>
      <vt:lpstr>OpenFlow – The SDN Protocol</vt:lpstr>
      <vt:lpstr>OpenFlow Basics</vt:lpstr>
      <vt:lpstr>OpenFlow Basics</vt:lpstr>
      <vt:lpstr>Plumbing Primitives &lt;Match, Action&gt;</vt:lpstr>
      <vt:lpstr>General Forwarding Abstraction</vt:lpstr>
      <vt:lpstr>OpenFlow – The SDN Protocol</vt:lpstr>
      <vt:lpstr>What is OpenFlow? An enabler of software defined Networking</vt:lpstr>
      <vt:lpstr>What is OpenFlow? (Contd…)</vt:lpstr>
      <vt:lpstr>OpenFlow Switch, in Simplest Form </vt:lpstr>
      <vt:lpstr>OpenFlow – Switches</vt:lpstr>
      <vt:lpstr>OpenFlow – Switches</vt:lpstr>
      <vt:lpstr>Main Components of V1.5</vt:lpstr>
      <vt:lpstr>OpenFlow Tables - Pipeline</vt:lpstr>
      <vt:lpstr>Processing a Packet in an OF Switch</vt:lpstr>
      <vt:lpstr>OpenFlow – Switches</vt:lpstr>
      <vt:lpstr>OpenFlow – Switches</vt:lpstr>
      <vt:lpstr>OpenFlow – Switches</vt:lpstr>
      <vt:lpstr>OpenFlow - Matching</vt:lpstr>
      <vt:lpstr>OpenFlow – Switches</vt:lpstr>
      <vt:lpstr>OpenFlow – Switches</vt:lpstr>
      <vt:lpstr>Examples</vt:lpstr>
      <vt:lpstr>Examples</vt:lpstr>
      <vt:lpstr>OpenFlow – OpenFlow Channel</vt:lpstr>
      <vt:lpstr>OpenFlow - Example</vt:lpstr>
      <vt:lpstr>OpenFlow - Example</vt:lpstr>
      <vt:lpstr>OpenFlow - Example</vt:lpstr>
      <vt:lpstr>OpenFlow - Example</vt:lpstr>
      <vt:lpstr>OpenFlow - Example</vt:lpstr>
      <vt:lpstr>OpenFlow - Example</vt:lpstr>
      <vt:lpstr>OpenFlow - Example</vt:lpstr>
      <vt:lpstr>OpenFlow - Example</vt:lpstr>
      <vt:lpstr>OpenFlow - Example</vt:lpstr>
      <vt:lpstr>OpenFlow - Example</vt:lpstr>
      <vt:lpstr>If you’re interested…</vt:lpstr>
      <vt:lpstr>Flow Tables - Entries</vt:lpstr>
      <vt:lpstr>Flow Tables - Instructions</vt:lpstr>
      <vt:lpstr>Actions:  Apply-Actions instruction</vt:lpstr>
      <vt:lpstr>Actions of the action set of the packet</vt:lpstr>
      <vt:lpstr>OpenFlow Ports</vt:lpstr>
      <vt:lpstr>Group Table</vt:lpstr>
      <vt:lpstr>Group Types</vt:lpstr>
      <vt:lpstr>Meter Table</vt:lpstr>
      <vt:lpstr>OpenFlow Messages</vt:lpstr>
      <vt:lpstr>OpenFlow Messages – Controller to Switch</vt:lpstr>
      <vt:lpstr>OpenFlow Messages – Asynchronous</vt:lpstr>
      <vt:lpstr>OpenFlow Messages – Symmetric</vt:lpstr>
      <vt:lpstr>Connections</vt:lpstr>
      <vt:lpstr>Multiple Controllers</vt:lpstr>
      <vt:lpstr>(Scheduled) Bundle Messages</vt:lpstr>
      <vt:lpstr>OpenFlow Header</vt:lpstr>
      <vt:lpstr>Flow match structure</vt:lpstr>
      <vt:lpstr>OpenFlow v 1.0 new features</vt:lpstr>
      <vt:lpstr>OpenFlow History -  V1.1 Added features</vt:lpstr>
      <vt:lpstr>OpenFlow History -  V1.2</vt:lpstr>
      <vt:lpstr>OpenFlow History -  V1.3</vt:lpstr>
      <vt:lpstr>OpenFlow History -  V1.4</vt:lpstr>
      <vt:lpstr>OpenFlow History -  V1.5</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Defined Networks: Overview</dc:title>
  <dc:creator>K. K. Ramakrishnan</dc:creator>
  <cp:lastModifiedBy>Microsoft Office User</cp:lastModifiedBy>
  <cp:revision>57</cp:revision>
  <dcterms:created xsi:type="dcterms:W3CDTF">2014-09-08T15:27:03Z</dcterms:created>
  <dcterms:modified xsi:type="dcterms:W3CDTF">2025-03-11T05:27:22Z</dcterms:modified>
</cp:coreProperties>
</file>