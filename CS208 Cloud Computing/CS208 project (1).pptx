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739" r:id="rId2"/>
    <p:sldId id="730" r:id="rId3"/>
    <p:sldId id="731" r:id="rId4"/>
    <p:sldId id="259" r:id="rId5"/>
    <p:sldId id="260" r:id="rId6"/>
    <p:sldId id="261" r:id="rId7"/>
    <p:sldId id="742" r:id="rId8"/>
    <p:sldId id="741" r:id="rId9"/>
    <p:sldId id="263" r:id="rId10"/>
    <p:sldId id="264" r:id="rId11"/>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73"/>
    <p:restoredTop sz="94643"/>
  </p:normalViewPr>
  <p:slideViewPr>
    <p:cSldViewPr snapToGrid="0">
      <p:cViewPr varScale="1">
        <p:scale>
          <a:sx n="90" d="100"/>
          <a:sy n="90" d="100"/>
        </p:scale>
        <p:origin x="111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845B8B-FA40-D144-BEFC-801EE3FA20B8}" type="datetimeFigureOut">
              <a:rPr lang="en-CN" smtClean="0"/>
              <a:t>2025/1/9</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15F0C3-9D13-0A41-A6E7-D8F5CF802E8F}" type="slidenum">
              <a:rPr lang="en-CN" smtClean="0"/>
              <a:t>‹#›</a:t>
            </a:fld>
            <a:endParaRPr lang="en-CN"/>
          </a:p>
        </p:txBody>
      </p:sp>
    </p:spTree>
    <p:extLst>
      <p:ext uri="{BB962C8B-B14F-4D97-AF65-F5344CB8AC3E}">
        <p14:creationId xmlns:p14="http://schemas.microsoft.com/office/powerpoint/2010/main" val="128450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that we do not have student credit so users should monitor their activities so they do not exceed the Free tier credit limit or access services not covered by the free tier credit limit.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B99CE2-B77F-1B4F-8C1A-0C3AB63D85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0327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d192b00b9e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d192b00b9e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d192b00b9e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d192b00b9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d192b00b9e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gd192b00b9e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cb2fba5f5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cb2fba5f5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g1cb2fba5f5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3AFE2B5A-1AA8-99EC-16FF-B348258F1D45}"/>
            </a:ext>
          </a:extLst>
        </p:cNvPr>
        <p:cNvGrpSpPr/>
        <p:nvPr/>
      </p:nvGrpSpPr>
      <p:grpSpPr>
        <a:xfrm>
          <a:off x="0" y="0"/>
          <a:ext cx="0" cy="0"/>
          <a:chOff x="0" y="0"/>
          <a:chExt cx="0" cy="0"/>
        </a:xfrm>
      </p:grpSpPr>
      <p:sp>
        <p:nvSpPr>
          <p:cNvPr id="125" name="Google Shape;125;g1cb2fba5f52_0_0:notes">
            <a:extLst>
              <a:ext uri="{FF2B5EF4-FFF2-40B4-BE49-F238E27FC236}">
                <a16:creationId xmlns:a16="http://schemas.microsoft.com/office/drawing/2014/main" id="{25530D92-B5B4-6575-87FB-E00A083D35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cb2fba5f52_0_0:notes">
            <a:extLst>
              <a:ext uri="{FF2B5EF4-FFF2-40B4-BE49-F238E27FC236}">
                <a16:creationId xmlns:a16="http://schemas.microsoft.com/office/drawing/2014/main" id="{14B2BD30-708A-F5ED-535E-866FF308EFC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g1cb2fba5f52_0_0:notes">
            <a:extLst>
              <a:ext uri="{FF2B5EF4-FFF2-40B4-BE49-F238E27FC236}">
                <a16:creationId xmlns:a16="http://schemas.microsoft.com/office/drawing/2014/main" id="{53BB1A54-E52F-CE6E-48DB-391FD8707F24}"/>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267642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A953C9D0-1A2F-CFE6-B19C-23069FB1CBF5}"/>
            </a:ext>
          </a:extLst>
        </p:cNvPr>
        <p:cNvGrpSpPr/>
        <p:nvPr/>
      </p:nvGrpSpPr>
      <p:grpSpPr>
        <a:xfrm>
          <a:off x="0" y="0"/>
          <a:ext cx="0" cy="0"/>
          <a:chOff x="0" y="0"/>
          <a:chExt cx="0" cy="0"/>
        </a:xfrm>
      </p:grpSpPr>
      <p:sp>
        <p:nvSpPr>
          <p:cNvPr id="125" name="Google Shape;125;g1cb2fba5f52_0_0:notes">
            <a:extLst>
              <a:ext uri="{FF2B5EF4-FFF2-40B4-BE49-F238E27FC236}">
                <a16:creationId xmlns:a16="http://schemas.microsoft.com/office/drawing/2014/main" id="{4F2129D3-7439-6CF1-7506-517B200907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cb2fba5f52_0_0:notes">
            <a:extLst>
              <a:ext uri="{FF2B5EF4-FFF2-40B4-BE49-F238E27FC236}">
                <a16:creationId xmlns:a16="http://schemas.microsoft.com/office/drawing/2014/main" id="{7D6AFDF0-9F65-380D-5C37-3991D3E0ECB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g1cb2fba5f52_0_0:notes">
            <a:extLst>
              <a:ext uri="{FF2B5EF4-FFF2-40B4-BE49-F238E27FC236}">
                <a16:creationId xmlns:a16="http://schemas.microsoft.com/office/drawing/2014/main" id="{C35EA9E4-F3B9-81E5-6B76-1DC6A1CF00B5}"/>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01383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10b8efb4ca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10b8efb4ca5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g10b8efb4ca5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d192b00b9e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d192b00b9e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9" name="Google Shape;149;gd192b00b9e_0_3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0F7A7-CEC4-933D-62FA-4C1B08F7CD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C8F2D5C8-0B6B-4ABC-D027-B5E9748DD2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2F60B1A4-496A-50E9-A37C-C33AC7217CBE}"/>
              </a:ext>
            </a:extLst>
          </p:cNvPr>
          <p:cNvSpPr>
            <a:spLocks noGrp="1"/>
          </p:cNvSpPr>
          <p:nvPr>
            <p:ph type="dt" sz="half" idx="10"/>
          </p:nvPr>
        </p:nvSpPr>
        <p:spPr/>
        <p:txBody>
          <a:bodyPr/>
          <a:lstStyle/>
          <a:p>
            <a:fld id="{B2F0B792-1231-2348-A8AE-0E2F2F035B61}" type="datetimeFigureOut">
              <a:rPr lang="en-CN" smtClean="0"/>
              <a:t>2025/1/9</a:t>
            </a:fld>
            <a:endParaRPr lang="en-CN"/>
          </a:p>
        </p:txBody>
      </p:sp>
      <p:sp>
        <p:nvSpPr>
          <p:cNvPr id="5" name="Footer Placeholder 4">
            <a:extLst>
              <a:ext uri="{FF2B5EF4-FFF2-40B4-BE49-F238E27FC236}">
                <a16:creationId xmlns:a16="http://schemas.microsoft.com/office/drawing/2014/main" id="{16070BF7-5BAE-B639-8B5F-6E856B0CE938}"/>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C1A795C4-7670-00BD-39C2-E980262B81E0}"/>
              </a:ext>
            </a:extLst>
          </p:cNvPr>
          <p:cNvSpPr>
            <a:spLocks noGrp="1"/>
          </p:cNvSpPr>
          <p:nvPr>
            <p:ph type="sldNum" sz="quarter" idx="12"/>
          </p:nvPr>
        </p:nvSpPr>
        <p:spPr/>
        <p:txBody>
          <a:bodyPr/>
          <a:lstStyle/>
          <a:p>
            <a:fld id="{446D4FA9-BB1E-A14A-8E53-75EFEE93780D}" type="slidenum">
              <a:rPr lang="en-CN" smtClean="0"/>
              <a:t>‹#›</a:t>
            </a:fld>
            <a:endParaRPr lang="en-CN"/>
          </a:p>
        </p:txBody>
      </p:sp>
    </p:spTree>
    <p:extLst>
      <p:ext uri="{BB962C8B-B14F-4D97-AF65-F5344CB8AC3E}">
        <p14:creationId xmlns:p14="http://schemas.microsoft.com/office/powerpoint/2010/main" val="3555245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6FC0C-4B6E-310B-ED46-B543AF62D30B}"/>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09AC4A59-F984-153F-7822-D2027F9BE4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8DC5169D-426A-3CE8-3479-93CC4CA6E7F9}"/>
              </a:ext>
            </a:extLst>
          </p:cNvPr>
          <p:cNvSpPr>
            <a:spLocks noGrp="1"/>
          </p:cNvSpPr>
          <p:nvPr>
            <p:ph type="dt" sz="half" idx="10"/>
          </p:nvPr>
        </p:nvSpPr>
        <p:spPr/>
        <p:txBody>
          <a:bodyPr/>
          <a:lstStyle/>
          <a:p>
            <a:fld id="{B2F0B792-1231-2348-A8AE-0E2F2F035B61}" type="datetimeFigureOut">
              <a:rPr lang="en-CN" smtClean="0"/>
              <a:t>2025/1/9</a:t>
            </a:fld>
            <a:endParaRPr lang="en-CN"/>
          </a:p>
        </p:txBody>
      </p:sp>
      <p:sp>
        <p:nvSpPr>
          <p:cNvPr id="5" name="Footer Placeholder 4">
            <a:extLst>
              <a:ext uri="{FF2B5EF4-FFF2-40B4-BE49-F238E27FC236}">
                <a16:creationId xmlns:a16="http://schemas.microsoft.com/office/drawing/2014/main" id="{3C9B8A57-E8BE-A433-29F0-A772138F5BDF}"/>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BA1A7998-1565-06AB-CD6C-4E9416587AB8}"/>
              </a:ext>
            </a:extLst>
          </p:cNvPr>
          <p:cNvSpPr>
            <a:spLocks noGrp="1"/>
          </p:cNvSpPr>
          <p:nvPr>
            <p:ph type="sldNum" sz="quarter" idx="12"/>
          </p:nvPr>
        </p:nvSpPr>
        <p:spPr/>
        <p:txBody>
          <a:bodyPr/>
          <a:lstStyle/>
          <a:p>
            <a:fld id="{446D4FA9-BB1E-A14A-8E53-75EFEE93780D}" type="slidenum">
              <a:rPr lang="en-CN" smtClean="0"/>
              <a:t>‹#›</a:t>
            </a:fld>
            <a:endParaRPr lang="en-CN"/>
          </a:p>
        </p:txBody>
      </p:sp>
    </p:spTree>
    <p:extLst>
      <p:ext uri="{BB962C8B-B14F-4D97-AF65-F5344CB8AC3E}">
        <p14:creationId xmlns:p14="http://schemas.microsoft.com/office/powerpoint/2010/main" val="142908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3DC8-453A-BEEF-B6AE-7ACCF62055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98220F79-74D9-47C2-929E-505460964F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6E5898-642A-7393-0763-22E35FE884F9}"/>
              </a:ext>
            </a:extLst>
          </p:cNvPr>
          <p:cNvSpPr>
            <a:spLocks noGrp="1"/>
          </p:cNvSpPr>
          <p:nvPr>
            <p:ph type="dt" sz="half" idx="10"/>
          </p:nvPr>
        </p:nvSpPr>
        <p:spPr/>
        <p:txBody>
          <a:bodyPr/>
          <a:lstStyle/>
          <a:p>
            <a:fld id="{B2F0B792-1231-2348-A8AE-0E2F2F035B61}" type="datetimeFigureOut">
              <a:rPr lang="en-CN" smtClean="0"/>
              <a:t>2025/1/9</a:t>
            </a:fld>
            <a:endParaRPr lang="en-CN"/>
          </a:p>
        </p:txBody>
      </p:sp>
      <p:sp>
        <p:nvSpPr>
          <p:cNvPr id="5" name="Footer Placeholder 4">
            <a:extLst>
              <a:ext uri="{FF2B5EF4-FFF2-40B4-BE49-F238E27FC236}">
                <a16:creationId xmlns:a16="http://schemas.microsoft.com/office/drawing/2014/main" id="{FAC9E264-B17E-6D0F-C263-36FF906ED83F}"/>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022212BC-F95D-213A-35E9-1C96C87708B5}"/>
              </a:ext>
            </a:extLst>
          </p:cNvPr>
          <p:cNvSpPr>
            <a:spLocks noGrp="1"/>
          </p:cNvSpPr>
          <p:nvPr>
            <p:ph type="sldNum" sz="quarter" idx="12"/>
          </p:nvPr>
        </p:nvSpPr>
        <p:spPr/>
        <p:txBody>
          <a:bodyPr/>
          <a:lstStyle/>
          <a:p>
            <a:fld id="{446D4FA9-BB1E-A14A-8E53-75EFEE93780D}" type="slidenum">
              <a:rPr lang="en-CN" smtClean="0"/>
              <a:t>‹#›</a:t>
            </a:fld>
            <a:endParaRPr lang="en-CN"/>
          </a:p>
        </p:txBody>
      </p:sp>
    </p:spTree>
    <p:extLst>
      <p:ext uri="{BB962C8B-B14F-4D97-AF65-F5344CB8AC3E}">
        <p14:creationId xmlns:p14="http://schemas.microsoft.com/office/powerpoint/2010/main" val="3729625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44BF5-DA1B-8DD3-8BF0-0EA4EFE70645}"/>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FB0485C8-74BE-0B02-5A76-4FA3928D6C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6B8BB282-2931-B72F-E822-B9430882A1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F2BBF684-25A5-9C5A-2C55-A0F1401A1CAC}"/>
              </a:ext>
            </a:extLst>
          </p:cNvPr>
          <p:cNvSpPr>
            <a:spLocks noGrp="1"/>
          </p:cNvSpPr>
          <p:nvPr>
            <p:ph type="dt" sz="half" idx="10"/>
          </p:nvPr>
        </p:nvSpPr>
        <p:spPr/>
        <p:txBody>
          <a:bodyPr/>
          <a:lstStyle/>
          <a:p>
            <a:fld id="{B2F0B792-1231-2348-A8AE-0E2F2F035B61}" type="datetimeFigureOut">
              <a:rPr lang="en-CN" smtClean="0"/>
              <a:t>2025/1/9</a:t>
            </a:fld>
            <a:endParaRPr lang="en-CN"/>
          </a:p>
        </p:txBody>
      </p:sp>
      <p:sp>
        <p:nvSpPr>
          <p:cNvPr id="6" name="Footer Placeholder 5">
            <a:extLst>
              <a:ext uri="{FF2B5EF4-FFF2-40B4-BE49-F238E27FC236}">
                <a16:creationId xmlns:a16="http://schemas.microsoft.com/office/drawing/2014/main" id="{932E3096-F550-B290-F44A-4E2EEDD1A46B}"/>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72A43AF8-5306-C89B-8DA0-7CA238C26CD9}"/>
              </a:ext>
            </a:extLst>
          </p:cNvPr>
          <p:cNvSpPr>
            <a:spLocks noGrp="1"/>
          </p:cNvSpPr>
          <p:nvPr>
            <p:ph type="sldNum" sz="quarter" idx="12"/>
          </p:nvPr>
        </p:nvSpPr>
        <p:spPr/>
        <p:txBody>
          <a:bodyPr/>
          <a:lstStyle/>
          <a:p>
            <a:fld id="{446D4FA9-BB1E-A14A-8E53-75EFEE93780D}" type="slidenum">
              <a:rPr lang="en-CN" smtClean="0"/>
              <a:t>‹#›</a:t>
            </a:fld>
            <a:endParaRPr lang="en-CN"/>
          </a:p>
        </p:txBody>
      </p:sp>
    </p:spTree>
    <p:extLst>
      <p:ext uri="{BB962C8B-B14F-4D97-AF65-F5344CB8AC3E}">
        <p14:creationId xmlns:p14="http://schemas.microsoft.com/office/powerpoint/2010/main" val="3585605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2A408-1AF1-AAC2-A484-AC5BC943CC9C}"/>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2FBABCED-6F37-E68F-5EC0-A043D12F7D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02F3F9-E9C7-05C5-2390-AE557BD1F6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B03EC29D-5A6A-7467-4B16-D27F47FA1C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37D879-4697-E543-E90C-A6E29C3DA5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C93CD01D-4330-BECA-6C94-E94C6610DE36}"/>
              </a:ext>
            </a:extLst>
          </p:cNvPr>
          <p:cNvSpPr>
            <a:spLocks noGrp="1"/>
          </p:cNvSpPr>
          <p:nvPr>
            <p:ph type="dt" sz="half" idx="10"/>
          </p:nvPr>
        </p:nvSpPr>
        <p:spPr/>
        <p:txBody>
          <a:bodyPr/>
          <a:lstStyle/>
          <a:p>
            <a:fld id="{B2F0B792-1231-2348-A8AE-0E2F2F035B61}" type="datetimeFigureOut">
              <a:rPr lang="en-CN" smtClean="0"/>
              <a:t>2025/1/9</a:t>
            </a:fld>
            <a:endParaRPr lang="en-CN"/>
          </a:p>
        </p:txBody>
      </p:sp>
      <p:sp>
        <p:nvSpPr>
          <p:cNvPr id="8" name="Footer Placeholder 7">
            <a:extLst>
              <a:ext uri="{FF2B5EF4-FFF2-40B4-BE49-F238E27FC236}">
                <a16:creationId xmlns:a16="http://schemas.microsoft.com/office/drawing/2014/main" id="{234082D7-A1CD-DFE4-F36E-930B3729EAEB}"/>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5DCC004A-B80F-7B5E-D743-F096A48C5A9C}"/>
              </a:ext>
            </a:extLst>
          </p:cNvPr>
          <p:cNvSpPr>
            <a:spLocks noGrp="1"/>
          </p:cNvSpPr>
          <p:nvPr>
            <p:ph type="sldNum" sz="quarter" idx="12"/>
          </p:nvPr>
        </p:nvSpPr>
        <p:spPr/>
        <p:txBody>
          <a:bodyPr/>
          <a:lstStyle/>
          <a:p>
            <a:fld id="{446D4FA9-BB1E-A14A-8E53-75EFEE93780D}" type="slidenum">
              <a:rPr lang="en-CN" smtClean="0"/>
              <a:t>‹#›</a:t>
            </a:fld>
            <a:endParaRPr lang="en-CN"/>
          </a:p>
        </p:txBody>
      </p:sp>
    </p:spTree>
    <p:extLst>
      <p:ext uri="{BB962C8B-B14F-4D97-AF65-F5344CB8AC3E}">
        <p14:creationId xmlns:p14="http://schemas.microsoft.com/office/powerpoint/2010/main" val="3309915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3DFE4-AFDD-8CF9-DFF6-C68AF41770B7}"/>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F764C05F-4076-5DBD-6DF8-C288AD4919B2}"/>
              </a:ext>
            </a:extLst>
          </p:cNvPr>
          <p:cNvSpPr>
            <a:spLocks noGrp="1"/>
          </p:cNvSpPr>
          <p:nvPr>
            <p:ph type="dt" sz="half" idx="10"/>
          </p:nvPr>
        </p:nvSpPr>
        <p:spPr/>
        <p:txBody>
          <a:bodyPr/>
          <a:lstStyle/>
          <a:p>
            <a:fld id="{B2F0B792-1231-2348-A8AE-0E2F2F035B61}" type="datetimeFigureOut">
              <a:rPr lang="en-CN" smtClean="0"/>
              <a:t>2025/1/9</a:t>
            </a:fld>
            <a:endParaRPr lang="en-CN"/>
          </a:p>
        </p:txBody>
      </p:sp>
      <p:sp>
        <p:nvSpPr>
          <p:cNvPr id="4" name="Footer Placeholder 3">
            <a:extLst>
              <a:ext uri="{FF2B5EF4-FFF2-40B4-BE49-F238E27FC236}">
                <a16:creationId xmlns:a16="http://schemas.microsoft.com/office/drawing/2014/main" id="{06B6E3EE-3C7F-9411-F377-E623EB77A89C}"/>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768BCE25-6AF9-30D3-9A67-E62F05653764}"/>
              </a:ext>
            </a:extLst>
          </p:cNvPr>
          <p:cNvSpPr>
            <a:spLocks noGrp="1"/>
          </p:cNvSpPr>
          <p:nvPr>
            <p:ph type="sldNum" sz="quarter" idx="12"/>
          </p:nvPr>
        </p:nvSpPr>
        <p:spPr/>
        <p:txBody>
          <a:bodyPr/>
          <a:lstStyle/>
          <a:p>
            <a:fld id="{446D4FA9-BB1E-A14A-8E53-75EFEE93780D}" type="slidenum">
              <a:rPr lang="en-CN" smtClean="0"/>
              <a:t>‹#›</a:t>
            </a:fld>
            <a:endParaRPr lang="en-CN"/>
          </a:p>
        </p:txBody>
      </p:sp>
    </p:spTree>
    <p:extLst>
      <p:ext uri="{BB962C8B-B14F-4D97-AF65-F5344CB8AC3E}">
        <p14:creationId xmlns:p14="http://schemas.microsoft.com/office/powerpoint/2010/main" val="2825551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53C899-B8A0-C18B-1DA1-05FA98521584}"/>
              </a:ext>
            </a:extLst>
          </p:cNvPr>
          <p:cNvSpPr>
            <a:spLocks noGrp="1"/>
          </p:cNvSpPr>
          <p:nvPr>
            <p:ph type="dt" sz="half" idx="10"/>
          </p:nvPr>
        </p:nvSpPr>
        <p:spPr/>
        <p:txBody>
          <a:bodyPr/>
          <a:lstStyle/>
          <a:p>
            <a:fld id="{B2F0B792-1231-2348-A8AE-0E2F2F035B61}" type="datetimeFigureOut">
              <a:rPr lang="en-CN" smtClean="0"/>
              <a:t>2025/1/9</a:t>
            </a:fld>
            <a:endParaRPr lang="en-CN"/>
          </a:p>
        </p:txBody>
      </p:sp>
      <p:sp>
        <p:nvSpPr>
          <p:cNvPr id="3" name="Footer Placeholder 2">
            <a:extLst>
              <a:ext uri="{FF2B5EF4-FFF2-40B4-BE49-F238E27FC236}">
                <a16:creationId xmlns:a16="http://schemas.microsoft.com/office/drawing/2014/main" id="{0E6F1B8B-6DC9-5C18-E955-D2B55B05B7F3}"/>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2565DC94-DFB1-95BD-B8D2-F7DFE941F2D7}"/>
              </a:ext>
            </a:extLst>
          </p:cNvPr>
          <p:cNvSpPr>
            <a:spLocks noGrp="1"/>
          </p:cNvSpPr>
          <p:nvPr>
            <p:ph type="sldNum" sz="quarter" idx="12"/>
          </p:nvPr>
        </p:nvSpPr>
        <p:spPr/>
        <p:txBody>
          <a:bodyPr/>
          <a:lstStyle/>
          <a:p>
            <a:fld id="{446D4FA9-BB1E-A14A-8E53-75EFEE93780D}" type="slidenum">
              <a:rPr lang="en-CN" smtClean="0"/>
              <a:t>‹#›</a:t>
            </a:fld>
            <a:endParaRPr lang="en-CN"/>
          </a:p>
        </p:txBody>
      </p:sp>
    </p:spTree>
    <p:extLst>
      <p:ext uri="{BB962C8B-B14F-4D97-AF65-F5344CB8AC3E}">
        <p14:creationId xmlns:p14="http://schemas.microsoft.com/office/powerpoint/2010/main" val="2936150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8E6D-6C0E-2A7C-C225-91A39FD1E3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CBC89E9C-C5EA-ABA0-C324-D291165163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92D9A5F3-E49B-4A02-2EB1-8DD5955FBA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6156B7-CC10-1D97-24D9-81F03948C482}"/>
              </a:ext>
            </a:extLst>
          </p:cNvPr>
          <p:cNvSpPr>
            <a:spLocks noGrp="1"/>
          </p:cNvSpPr>
          <p:nvPr>
            <p:ph type="dt" sz="half" idx="10"/>
          </p:nvPr>
        </p:nvSpPr>
        <p:spPr/>
        <p:txBody>
          <a:bodyPr/>
          <a:lstStyle/>
          <a:p>
            <a:fld id="{B2F0B792-1231-2348-A8AE-0E2F2F035B61}" type="datetimeFigureOut">
              <a:rPr lang="en-CN" smtClean="0"/>
              <a:t>2025/1/9</a:t>
            </a:fld>
            <a:endParaRPr lang="en-CN"/>
          </a:p>
        </p:txBody>
      </p:sp>
      <p:sp>
        <p:nvSpPr>
          <p:cNvPr id="6" name="Footer Placeholder 5">
            <a:extLst>
              <a:ext uri="{FF2B5EF4-FFF2-40B4-BE49-F238E27FC236}">
                <a16:creationId xmlns:a16="http://schemas.microsoft.com/office/drawing/2014/main" id="{241C5C4E-3E27-1C2F-932B-60DC9F0918B6}"/>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E135AD4E-2E54-F6B2-9D60-50FD3A19FC2A}"/>
              </a:ext>
            </a:extLst>
          </p:cNvPr>
          <p:cNvSpPr>
            <a:spLocks noGrp="1"/>
          </p:cNvSpPr>
          <p:nvPr>
            <p:ph type="sldNum" sz="quarter" idx="12"/>
          </p:nvPr>
        </p:nvSpPr>
        <p:spPr/>
        <p:txBody>
          <a:bodyPr/>
          <a:lstStyle/>
          <a:p>
            <a:fld id="{446D4FA9-BB1E-A14A-8E53-75EFEE93780D}" type="slidenum">
              <a:rPr lang="en-CN" smtClean="0"/>
              <a:t>‹#›</a:t>
            </a:fld>
            <a:endParaRPr lang="en-CN"/>
          </a:p>
        </p:txBody>
      </p:sp>
    </p:spTree>
    <p:extLst>
      <p:ext uri="{BB962C8B-B14F-4D97-AF65-F5344CB8AC3E}">
        <p14:creationId xmlns:p14="http://schemas.microsoft.com/office/powerpoint/2010/main" val="2294123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C9BAC-5E52-9A50-4CAD-753C24AFF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F654DAC6-FC63-22DF-C1F8-F6CADA085E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C79A219A-1BFA-20DC-F98C-7E21EBDA99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C3D6B9-EC3A-8D48-1452-C44D216A0DA4}"/>
              </a:ext>
            </a:extLst>
          </p:cNvPr>
          <p:cNvSpPr>
            <a:spLocks noGrp="1"/>
          </p:cNvSpPr>
          <p:nvPr>
            <p:ph type="dt" sz="half" idx="10"/>
          </p:nvPr>
        </p:nvSpPr>
        <p:spPr/>
        <p:txBody>
          <a:bodyPr/>
          <a:lstStyle/>
          <a:p>
            <a:fld id="{B2F0B792-1231-2348-A8AE-0E2F2F035B61}" type="datetimeFigureOut">
              <a:rPr lang="en-CN" smtClean="0"/>
              <a:t>2025/1/9</a:t>
            </a:fld>
            <a:endParaRPr lang="en-CN"/>
          </a:p>
        </p:txBody>
      </p:sp>
      <p:sp>
        <p:nvSpPr>
          <p:cNvPr id="6" name="Footer Placeholder 5">
            <a:extLst>
              <a:ext uri="{FF2B5EF4-FFF2-40B4-BE49-F238E27FC236}">
                <a16:creationId xmlns:a16="http://schemas.microsoft.com/office/drawing/2014/main" id="{C72F9460-AA50-138C-D6C3-6F6611169C21}"/>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9A7DE5E4-777E-00B4-EA2B-D67DDD143E5E}"/>
              </a:ext>
            </a:extLst>
          </p:cNvPr>
          <p:cNvSpPr>
            <a:spLocks noGrp="1"/>
          </p:cNvSpPr>
          <p:nvPr>
            <p:ph type="sldNum" sz="quarter" idx="12"/>
          </p:nvPr>
        </p:nvSpPr>
        <p:spPr/>
        <p:txBody>
          <a:bodyPr/>
          <a:lstStyle/>
          <a:p>
            <a:fld id="{446D4FA9-BB1E-A14A-8E53-75EFEE93780D}" type="slidenum">
              <a:rPr lang="en-CN" smtClean="0"/>
              <a:t>‹#›</a:t>
            </a:fld>
            <a:endParaRPr lang="en-CN"/>
          </a:p>
        </p:txBody>
      </p:sp>
    </p:spTree>
    <p:extLst>
      <p:ext uri="{BB962C8B-B14F-4D97-AF65-F5344CB8AC3E}">
        <p14:creationId xmlns:p14="http://schemas.microsoft.com/office/powerpoint/2010/main" val="3484506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9D72C-E97C-442F-5792-8FD5BD44644A}"/>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3013D575-5AD2-8F53-3443-15141F6899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07F4EF45-E226-3875-715D-BBA03E0C7BE7}"/>
              </a:ext>
            </a:extLst>
          </p:cNvPr>
          <p:cNvSpPr>
            <a:spLocks noGrp="1"/>
          </p:cNvSpPr>
          <p:nvPr>
            <p:ph type="dt" sz="half" idx="10"/>
          </p:nvPr>
        </p:nvSpPr>
        <p:spPr/>
        <p:txBody>
          <a:bodyPr/>
          <a:lstStyle/>
          <a:p>
            <a:fld id="{B2F0B792-1231-2348-A8AE-0E2F2F035B61}" type="datetimeFigureOut">
              <a:rPr lang="en-CN" smtClean="0"/>
              <a:t>2025/1/9</a:t>
            </a:fld>
            <a:endParaRPr lang="en-CN"/>
          </a:p>
        </p:txBody>
      </p:sp>
      <p:sp>
        <p:nvSpPr>
          <p:cNvPr id="5" name="Footer Placeholder 4">
            <a:extLst>
              <a:ext uri="{FF2B5EF4-FFF2-40B4-BE49-F238E27FC236}">
                <a16:creationId xmlns:a16="http://schemas.microsoft.com/office/drawing/2014/main" id="{DE548A99-9F0F-F4DE-6C77-1C6BA1DC98CC}"/>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411AD9A6-E27B-CB27-6210-FB1E989D1DC9}"/>
              </a:ext>
            </a:extLst>
          </p:cNvPr>
          <p:cNvSpPr>
            <a:spLocks noGrp="1"/>
          </p:cNvSpPr>
          <p:nvPr>
            <p:ph type="sldNum" sz="quarter" idx="12"/>
          </p:nvPr>
        </p:nvSpPr>
        <p:spPr/>
        <p:txBody>
          <a:bodyPr/>
          <a:lstStyle/>
          <a:p>
            <a:fld id="{446D4FA9-BB1E-A14A-8E53-75EFEE93780D}" type="slidenum">
              <a:rPr lang="en-CN" smtClean="0"/>
              <a:t>‹#›</a:t>
            </a:fld>
            <a:endParaRPr lang="en-CN"/>
          </a:p>
        </p:txBody>
      </p:sp>
    </p:spTree>
    <p:extLst>
      <p:ext uri="{BB962C8B-B14F-4D97-AF65-F5344CB8AC3E}">
        <p14:creationId xmlns:p14="http://schemas.microsoft.com/office/powerpoint/2010/main" val="91951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7B1986-3384-95AC-C95B-03F4A12948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A5F43B60-B8A4-5401-7DF4-1825FC395E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4380F695-BA28-9595-D903-CC8E6A4C1435}"/>
              </a:ext>
            </a:extLst>
          </p:cNvPr>
          <p:cNvSpPr>
            <a:spLocks noGrp="1"/>
          </p:cNvSpPr>
          <p:nvPr>
            <p:ph type="dt" sz="half" idx="10"/>
          </p:nvPr>
        </p:nvSpPr>
        <p:spPr/>
        <p:txBody>
          <a:bodyPr/>
          <a:lstStyle/>
          <a:p>
            <a:fld id="{B2F0B792-1231-2348-A8AE-0E2F2F035B61}" type="datetimeFigureOut">
              <a:rPr lang="en-CN" smtClean="0"/>
              <a:t>2025/1/9</a:t>
            </a:fld>
            <a:endParaRPr lang="en-CN"/>
          </a:p>
        </p:txBody>
      </p:sp>
      <p:sp>
        <p:nvSpPr>
          <p:cNvPr id="5" name="Footer Placeholder 4">
            <a:extLst>
              <a:ext uri="{FF2B5EF4-FFF2-40B4-BE49-F238E27FC236}">
                <a16:creationId xmlns:a16="http://schemas.microsoft.com/office/drawing/2014/main" id="{37BFF7E1-2DE6-A8E7-8C7E-A1957468DDC4}"/>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5474BB5A-C12B-5AB3-9365-C6FB902A5987}"/>
              </a:ext>
            </a:extLst>
          </p:cNvPr>
          <p:cNvSpPr>
            <a:spLocks noGrp="1"/>
          </p:cNvSpPr>
          <p:nvPr>
            <p:ph type="sldNum" sz="quarter" idx="12"/>
          </p:nvPr>
        </p:nvSpPr>
        <p:spPr/>
        <p:txBody>
          <a:bodyPr/>
          <a:lstStyle/>
          <a:p>
            <a:fld id="{446D4FA9-BB1E-A14A-8E53-75EFEE93780D}" type="slidenum">
              <a:rPr lang="en-CN" smtClean="0"/>
              <a:t>‹#›</a:t>
            </a:fld>
            <a:endParaRPr lang="en-CN"/>
          </a:p>
        </p:txBody>
      </p:sp>
    </p:spTree>
    <p:extLst>
      <p:ext uri="{BB962C8B-B14F-4D97-AF65-F5344CB8AC3E}">
        <p14:creationId xmlns:p14="http://schemas.microsoft.com/office/powerpoint/2010/main" val="3579071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8B0E4E-DC6C-694B-A6DB-3493AB7C468E}"/>
              </a:ext>
            </a:extLst>
          </p:cNvPr>
          <p:cNvSpPr>
            <a:spLocks noGrp="1"/>
          </p:cNvSpPr>
          <p:nvPr>
            <p:ph type="sldNum" sz="quarter" idx="10"/>
          </p:nvPr>
        </p:nvSpPr>
        <p:spPr/>
        <p:txBody>
          <a:bodyPr/>
          <a:lstStyle/>
          <a:p>
            <a:fld id="{1DEFE11F-158B-594E-8BEE-CC26B87FEB38}" type="slidenum">
              <a:rPr lang="en-US" smtClean="0"/>
              <a:pPr/>
              <a:t>‹#›</a:t>
            </a:fld>
            <a:endParaRPr lang="en-US" dirty="0"/>
          </a:p>
        </p:txBody>
      </p:sp>
    </p:spTree>
    <p:extLst>
      <p:ext uri="{BB962C8B-B14F-4D97-AF65-F5344CB8AC3E}">
        <p14:creationId xmlns:p14="http://schemas.microsoft.com/office/powerpoint/2010/main" val="2070868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75A163-FE39-EB9B-32C7-0DBAF7F397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48E1EDFC-65EA-01BD-5EF7-65477108A3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05C19517-F057-4E2A-FA3B-74D2226D91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F0B792-1231-2348-A8AE-0E2F2F035B61}" type="datetimeFigureOut">
              <a:rPr lang="en-CN" smtClean="0"/>
              <a:t>2025/1/9</a:t>
            </a:fld>
            <a:endParaRPr lang="en-CN"/>
          </a:p>
        </p:txBody>
      </p:sp>
      <p:sp>
        <p:nvSpPr>
          <p:cNvPr id="5" name="Footer Placeholder 4">
            <a:extLst>
              <a:ext uri="{FF2B5EF4-FFF2-40B4-BE49-F238E27FC236}">
                <a16:creationId xmlns:a16="http://schemas.microsoft.com/office/drawing/2014/main" id="{29818CF1-23CB-797A-9AEF-2714465CE5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N"/>
          </a:p>
        </p:txBody>
      </p:sp>
      <p:sp>
        <p:nvSpPr>
          <p:cNvPr id="6" name="Slide Number Placeholder 5">
            <a:extLst>
              <a:ext uri="{FF2B5EF4-FFF2-40B4-BE49-F238E27FC236}">
                <a16:creationId xmlns:a16="http://schemas.microsoft.com/office/drawing/2014/main" id="{C9183572-9769-B196-BDB5-DE92D15C8A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6D4FA9-BB1E-A14A-8E53-75EFEE93780D}" type="slidenum">
              <a:rPr lang="en-CN" smtClean="0"/>
              <a:t>‹#›</a:t>
            </a:fld>
            <a:endParaRPr lang="en-CN"/>
          </a:p>
        </p:txBody>
      </p:sp>
    </p:spTree>
    <p:extLst>
      <p:ext uri="{BB962C8B-B14F-4D97-AF65-F5344CB8AC3E}">
        <p14:creationId xmlns:p14="http://schemas.microsoft.com/office/powerpoint/2010/main" val="1471020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12.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cloudlab.us/signup.php" TargetMode="External"/><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emf"/><Relationship Id="rId5" Type="http://schemas.openxmlformats.org/officeDocument/2006/relationships/hyperlink" Target="https://www.youtube.com/watch?v=SZSYe8arwvs" TargetMode="External"/><Relationship Id="rId4" Type="http://schemas.openxmlformats.org/officeDocument/2006/relationships/hyperlink" Target="https://www.youtube.com/watch?v=hHeLz5clsPc"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allcloud.io/go/2020-cloud-infrastructure-repor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B408A3-9D25-A44D-A267-54D79345764A}"/>
              </a:ext>
            </a:extLst>
          </p:cNvPr>
          <p:cNvPicPr>
            <a:picLocks noChangeAspect="1"/>
          </p:cNvPicPr>
          <p:nvPr/>
        </p:nvPicPr>
        <p:blipFill>
          <a:blip r:embed="rId2"/>
          <a:stretch>
            <a:fillRect/>
          </a:stretch>
        </p:blipFill>
        <p:spPr>
          <a:xfrm>
            <a:off x="9441310" y="5533982"/>
            <a:ext cx="933450" cy="284539"/>
          </a:xfrm>
          <a:prstGeom prst="rect">
            <a:avLst/>
          </a:prstGeom>
        </p:spPr>
      </p:pic>
      <p:sp>
        <p:nvSpPr>
          <p:cNvPr id="11" name="TextBox 10">
            <a:extLst>
              <a:ext uri="{FF2B5EF4-FFF2-40B4-BE49-F238E27FC236}">
                <a16:creationId xmlns:a16="http://schemas.microsoft.com/office/drawing/2014/main" id="{1B92A8F9-FF41-8F44-BF9E-797DE5FBF7A6}"/>
              </a:ext>
            </a:extLst>
          </p:cNvPr>
          <p:cNvSpPr txBox="1"/>
          <p:nvPr/>
        </p:nvSpPr>
        <p:spPr>
          <a:xfrm>
            <a:off x="2663025" y="2501127"/>
            <a:ext cx="6863963" cy="1375056"/>
          </a:xfrm>
          <a:prstGeom prst="rect">
            <a:avLst/>
          </a:prstGeom>
          <a:noFill/>
        </p:spPr>
        <p:txBody>
          <a:bodyPr wrap="square" rtlCol="0">
            <a:spAutoFit/>
          </a:bodyPr>
          <a:lstStyle/>
          <a:p>
            <a:pPr algn="ctr">
              <a:lnSpc>
                <a:spcPts val="5115"/>
              </a:lnSpc>
            </a:pPr>
            <a:r>
              <a:rPr lang="en-US" sz="4050" b="1" dirty="0">
                <a:solidFill>
                  <a:srgbClr val="003DA5"/>
                </a:solidFill>
                <a:latin typeface="Arial" panose="020B0604020202020204" pitchFamily="34" charset="0"/>
                <a:ea typeface="Fira Sans Medium" panose="020B0503050000020004" pitchFamily="34" charset="0"/>
                <a:cs typeface="Arial" panose="020B0604020202020204" pitchFamily="34" charset="0"/>
              </a:rPr>
              <a:t>CS208 Cloud Computing and </a:t>
            </a:r>
            <a:r>
              <a:rPr lang="en-US" sz="4050" b="1" dirty="0">
                <a:solidFill>
                  <a:srgbClr val="003DA5"/>
                </a:solidFill>
                <a:ea typeface="Fira Sans Medium" panose="020B0503050000020004" pitchFamily="34" charset="0"/>
                <a:cs typeface="Arial" panose="020B0604020202020204" pitchFamily="34" charset="0"/>
              </a:rPr>
              <a:t>Cloud</a:t>
            </a:r>
            <a:r>
              <a:rPr lang="en-US" sz="4050" b="1" dirty="0">
                <a:solidFill>
                  <a:srgbClr val="003DA5"/>
                </a:solidFill>
                <a:latin typeface="Arial" panose="020B0604020202020204" pitchFamily="34" charset="0"/>
                <a:ea typeface="Fira Sans Medium" panose="020B0503050000020004" pitchFamily="34" charset="0"/>
                <a:cs typeface="Arial" panose="020B0604020202020204" pitchFamily="34" charset="0"/>
              </a:rPr>
              <a:t> Networking</a:t>
            </a:r>
          </a:p>
        </p:txBody>
      </p:sp>
      <p:pic>
        <p:nvPicPr>
          <p:cNvPr id="8" name="Graphic 7">
            <a:extLst>
              <a:ext uri="{FF2B5EF4-FFF2-40B4-BE49-F238E27FC236}">
                <a16:creationId xmlns:a16="http://schemas.microsoft.com/office/drawing/2014/main" id="{D8432B74-759A-274E-BF69-139B2D231B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8166" y="2243177"/>
            <a:ext cx="333678" cy="152648"/>
          </a:xfrm>
          <a:prstGeom prst="rect">
            <a:avLst/>
          </a:prstGeom>
        </p:spPr>
      </p:pic>
      <p:sp>
        <p:nvSpPr>
          <p:cNvPr id="5" name="TextBox 4">
            <a:extLst>
              <a:ext uri="{FF2B5EF4-FFF2-40B4-BE49-F238E27FC236}">
                <a16:creationId xmlns:a16="http://schemas.microsoft.com/office/drawing/2014/main" id="{193273C6-19AC-4BE0-A31B-776E76DD510B}"/>
              </a:ext>
            </a:extLst>
          </p:cNvPr>
          <p:cNvSpPr txBox="1"/>
          <p:nvPr/>
        </p:nvSpPr>
        <p:spPr>
          <a:xfrm>
            <a:off x="3899910" y="3936960"/>
            <a:ext cx="4390190" cy="646331"/>
          </a:xfrm>
          <a:prstGeom prst="rect">
            <a:avLst/>
          </a:prstGeom>
          <a:noFill/>
        </p:spPr>
        <p:txBody>
          <a:bodyPr wrap="square" rtlCol="0">
            <a:spAutoFit/>
          </a:bodyPr>
          <a:lstStyle/>
          <a:p>
            <a:pPr algn="ctr"/>
            <a:r>
              <a:rPr lang="en-US" dirty="0">
                <a:solidFill>
                  <a:srgbClr val="003DA5"/>
                </a:solidFill>
                <a:latin typeface="Arial" panose="020B0604020202020204" pitchFamily="34" charset="0"/>
                <a:cs typeface="Arial" panose="020B0604020202020204" pitchFamily="34" charset="0"/>
              </a:rPr>
              <a:t>Instructor: Prof K. K. Ramakrishnan</a:t>
            </a:r>
          </a:p>
          <a:p>
            <a:pPr algn="ctr"/>
            <a:r>
              <a:rPr lang="en-US" dirty="0">
                <a:solidFill>
                  <a:srgbClr val="003DA5"/>
                </a:solidFill>
                <a:latin typeface="Arial" panose="020B0604020202020204" pitchFamily="34" charset="0"/>
                <a:cs typeface="Arial" panose="020B0604020202020204" pitchFamily="34" charset="0"/>
              </a:rPr>
              <a:t>TA: </a:t>
            </a:r>
            <a:r>
              <a:rPr lang="en-US" dirty="0" err="1">
                <a:solidFill>
                  <a:srgbClr val="003DA5"/>
                </a:solidFill>
                <a:latin typeface="Arial" panose="020B0604020202020204" pitchFamily="34" charset="0"/>
                <a:cs typeface="Arial" panose="020B0604020202020204" pitchFamily="34" charset="0"/>
              </a:rPr>
              <a:t>Hongmiao</a:t>
            </a:r>
            <a:r>
              <a:rPr lang="en-US" dirty="0">
                <a:solidFill>
                  <a:srgbClr val="003DA5"/>
                </a:solidFill>
                <a:latin typeface="Arial" panose="020B0604020202020204" pitchFamily="34" charset="0"/>
                <a:cs typeface="Arial" panose="020B0604020202020204" pitchFamily="34" charset="0"/>
              </a:rPr>
              <a:t> Yu</a:t>
            </a:r>
          </a:p>
        </p:txBody>
      </p:sp>
    </p:spTree>
    <p:extLst>
      <p:ext uri="{BB962C8B-B14F-4D97-AF65-F5344CB8AC3E}">
        <p14:creationId xmlns:p14="http://schemas.microsoft.com/office/powerpoint/2010/main" val="2259581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8FC41-F5CF-DF4B-923D-9D3615DA3C2B}"/>
              </a:ext>
            </a:extLst>
          </p:cNvPr>
          <p:cNvSpPr>
            <a:spLocks noGrp="1"/>
          </p:cNvSpPr>
          <p:nvPr>
            <p:ph type="title"/>
          </p:nvPr>
        </p:nvSpPr>
        <p:spPr>
          <a:xfrm>
            <a:off x="2684008" y="575683"/>
            <a:ext cx="7582266" cy="580838"/>
          </a:xfrm>
        </p:spPr>
        <p:txBody>
          <a:bodyPr>
            <a:normAutofit fontScale="90000"/>
          </a:bodyPr>
          <a:lstStyle/>
          <a:p>
            <a:r>
              <a:rPr lang="en-US" dirty="0"/>
              <a:t>CS 208 Cloud Computing and Cloud Networking</a:t>
            </a:r>
          </a:p>
        </p:txBody>
      </p:sp>
      <p:sp>
        <p:nvSpPr>
          <p:cNvPr id="3" name="Content Placeholder 2">
            <a:extLst>
              <a:ext uri="{FF2B5EF4-FFF2-40B4-BE49-F238E27FC236}">
                <a16:creationId xmlns:a16="http://schemas.microsoft.com/office/drawing/2014/main" id="{BD06CB26-2338-1E4F-B788-DE915FC1EB9C}"/>
              </a:ext>
            </a:extLst>
          </p:cNvPr>
          <p:cNvSpPr>
            <a:spLocks noGrp="1"/>
          </p:cNvSpPr>
          <p:nvPr>
            <p:ph idx="1"/>
          </p:nvPr>
        </p:nvSpPr>
        <p:spPr>
          <a:xfrm>
            <a:off x="1769327" y="1360450"/>
            <a:ext cx="8138708" cy="4861931"/>
          </a:xfrm>
        </p:spPr>
        <p:txBody>
          <a:bodyPr>
            <a:normAutofit/>
          </a:bodyPr>
          <a:lstStyle/>
          <a:p>
            <a:r>
              <a:rPr lang="en-US" dirty="0"/>
              <a:t>TA: </a:t>
            </a:r>
            <a:r>
              <a:rPr lang="en-US" dirty="0" err="1"/>
              <a:t>Hongmiao</a:t>
            </a:r>
            <a:r>
              <a:rPr lang="en-US" dirty="0"/>
              <a:t> Yu</a:t>
            </a:r>
          </a:p>
          <a:p>
            <a:r>
              <a:rPr lang="en-US" dirty="0"/>
              <a:t>Office Hours: 1 pm – 2 pm on Friday @ WCH465</a:t>
            </a:r>
          </a:p>
          <a:p>
            <a:r>
              <a:rPr lang="en-US" dirty="0"/>
              <a:t>Email: hyu125@ucr.edu</a:t>
            </a:r>
          </a:p>
          <a:p>
            <a:endParaRPr lang="en-US" dirty="0"/>
          </a:p>
          <a:p>
            <a:r>
              <a:rPr lang="en-US" dirty="0"/>
              <a:t>Using SLACK for answering question </a:t>
            </a:r>
          </a:p>
          <a:p>
            <a:pPr lvl="1"/>
            <a:r>
              <a:rPr lang="en-US" dirty="0"/>
              <a:t>Invitation already sent</a:t>
            </a:r>
          </a:p>
          <a:p>
            <a:pPr lvl="1"/>
            <a:r>
              <a:rPr lang="en-US" dirty="0"/>
              <a:t>Can also join via “Slack” tab on </a:t>
            </a:r>
            <a:r>
              <a:rPr lang="en-US" dirty="0" err="1"/>
              <a:t>elearn</a:t>
            </a:r>
            <a:endParaRPr lang="en-US" dirty="0"/>
          </a:p>
          <a:p>
            <a:r>
              <a:rPr lang="en-US" dirty="0"/>
              <a:t>Homework and Projects to be done using </a:t>
            </a:r>
            <a:r>
              <a:rPr lang="en-US" dirty="0" err="1"/>
              <a:t>CloudLab</a:t>
            </a:r>
            <a:endParaRPr lang="en-US" dirty="0"/>
          </a:p>
          <a:p>
            <a:endParaRPr lang="en-US" dirty="0"/>
          </a:p>
          <a:p>
            <a:endParaRPr lang="en-US" dirty="0"/>
          </a:p>
        </p:txBody>
      </p:sp>
      <p:pic>
        <p:nvPicPr>
          <p:cNvPr id="4" name="Picture 3">
            <a:extLst>
              <a:ext uri="{FF2B5EF4-FFF2-40B4-BE49-F238E27FC236}">
                <a16:creationId xmlns:a16="http://schemas.microsoft.com/office/drawing/2014/main" id="{E3A22001-23D7-4357-ACB4-FA7F4B5E91C1}"/>
              </a:ext>
            </a:extLst>
          </p:cNvPr>
          <p:cNvPicPr>
            <a:picLocks noChangeAspect="1"/>
          </p:cNvPicPr>
          <p:nvPr/>
        </p:nvPicPr>
        <p:blipFill>
          <a:blip r:embed="rId2"/>
          <a:stretch>
            <a:fillRect/>
          </a:stretch>
        </p:blipFill>
        <p:spPr>
          <a:xfrm>
            <a:off x="9597427" y="6501467"/>
            <a:ext cx="933450" cy="284539"/>
          </a:xfrm>
          <a:prstGeom prst="rect">
            <a:avLst/>
          </a:prstGeom>
        </p:spPr>
      </p:pic>
      <p:pic>
        <p:nvPicPr>
          <p:cNvPr id="6" name="Graphic 5">
            <a:extLst>
              <a:ext uri="{FF2B5EF4-FFF2-40B4-BE49-F238E27FC236}">
                <a16:creationId xmlns:a16="http://schemas.microsoft.com/office/drawing/2014/main" id="{D29911AE-6318-4733-8FC9-1DD1F3DE2C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48820" y="731803"/>
            <a:ext cx="333678" cy="152648"/>
          </a:xfrm>
          <a:prstGeom prst="rect">
            <a:avLst/>
          </a:prstGeom>
        </p:spPr>
      </p:pic>
    </p:spTree>
    <p:extLst>
      <p:ext uri="{BB962C8B-B14F-4D97-AF65-F5344CB8AC3E}">
        <p14:creationId xmlns:p14="http://schemas.microsoft.com/office/powerpoint/2010/main" val="2484234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60379-CC9B-F640-96BE-88B9BA90211B}"/>
              </a:ext>
            </a:extLst>
          </p:cNvPr>
          <p:cNvSpPr>
            <a:spLocks noGrp="1"/>
          </p:cNvSpPr>
          <p:nvPr>
            <p:ph type="title"/>
          </p:nvPr>
        </p:nvSpPr>
        <p:spPr>
          <a:xfrm>
            <a:off x="3316759" y="427247"/>
            <a:ext cx="6196693" cy="431432"/>
          </a:xfrm>
        </p:spPr>
        <p:txBody>
          <a:bodyPr>
            <a:normAutofit fontScale="90000"/>
          </a:bodyPr>
          <a:lstStyle/>
          <a:p>
            <a:r>
              <a:rPr lang="en-US" dirty="0"/>
              <a:t>Platform Access</a:t>
            </a:r>
          </a:p>
        </p:txBody>
      </p:sp>
      <p:sp>
        <p:nvSpPr>
          <p:cNvPr id="3" name="Content Placeholder 2">
            <a:extLst>
              <a:ext uri="{FF2B5EF4-FFF2-40B4-BE49-F238E27FC236}">
                <a16:creationId xmlns:a16="http://schemas.microsoft.com/office/drawing/2014/main" id="{B7B259E1-5981-E442-866B-02440AE3C670}"/>
              </a:ext>
            </a:extLst>
          </p:cNvPr>
          <p:cNvSpPr>
            <a:spLocks noGrp="1"/>
          </p:cNvSpPr>
          <p:nvPr>
            <p:ph idx="1"/>
          </p:nvPr>
        </p:nvSpPr>
        <p:spPr>
          <a:xfrm>
            <a:off x="1769328" y="858679"/>
            <a:ext cx="8142980" cy="5731692"/>
          </a:xfrm>
        </p:spPr>
        <p:txBody>
          <a:bodyPr>
            <a:normAutofit/>
          </a:bodyPr>
          <a:lstStyle/>
          <a:p>
            <a:r>
              <a:rPr lang="en-US" dirty="0" err="1"/>
              <a:t>CloudLab</a:t>
            </a:r>
            <a:r>
              <a:rPr lang="en-US" dirty="0"/>
              <a:t> (mandatory) </a:t>
            </a:r>
          </a:p>
          <a:p>
            <a:pPr lvl="1"/>
            <a:r>
              <a:rPr lang="en-US" dirty="0"/>
              <a:t>Sign up for account with school email at </a:t>
            </a:r>
            <a:r>
              <a:rPr lang="en-US" dirty="0">
                <a:hlinkClick r:id="rId3"/>
              </a:rPr>
              <a:t>https://cloudlab.us/signup.php</a:t>
            </a:r>
            <a:r>
              <a:rPr lang="en-US" dirty="0"/>
              <a:t> </a:t>
            </a:r>
          </a:p>
          <a:p>
            <a:pPr lvl="1"/>
            <a:r>
              <a:rPr lang="en-US" dirty="0"/>
              <a:t>Join </a:t>
            </a:r>
            <a:r>
              <a:rPr lang="en-US" dirty="0" err="1"/>
              <a:t>KKProjects</a:t>
            </a:r>
            <a:r>
              <a:rPr lang="en-US" dirty="0"/>
              <a:t> (then wait for approval)</a:t>
            </a:r>
          </a:p>
          <a:p>
            <a:r>
              <a:rPr lang="en-US" dirty="0"/>
              <a:t>These two videos provide a good introduction to </a:t>
            </a:r>
            <a:r>
              <a:rPr lang="en-US" dirty="0" err="1"/>
              <a:t>Cloudlab</a:t>
            </a:r>
            <a:r>
              <a:rPr lang="en-US" dirty="0"/>
              <a:t>:</a:t>
            </a:r>
          </a:p>
          <a:p>
            <a:pPr lvl="1"/>
            <a:r>
              <a:rPr lang="en-US" dirty="0"/>
              <a:t>Part 1: Creating a New Experiment in </a:t>
            </a:r>
            <a:r>
              <a:rPr lang="en-US" dirty="0" err="1"/>
              <a:t>CloudLab</a:t>
            </a:r>
            <a:r>
              <a:rPr lang="en-US" dirty="0"/>
              <a:t> and How to Extend an Experiment</a:t>
            </a:r>
          </a:p>
          <a:p>
            <a:pPr marL="257175" lvl="1" indent="0">
              <a:buNone/>
            </a:pPr>
            <a:r>
              <a:rPr lang="en-US" dirty="0">
                <a:hlinkClick r:id="rId4"/>
              </a:rPr>
              <a:t>https://www.youtube.com/watch?v=hHeLz5clsPc</a:t>
            </a:r>
            <a:endParaRPr lang="en-US" dirty="0"/>
          </a:p>
          <a:p>
            <a:pPr lvl="1"/>
            <a:r>
              <a:rPr lang="en-US" dirty="0"/>
              <a:t>Part 2: Managing your </a:t>
            </a:r>
            <a:r>
              <a:rPr lang="en-US" dirty="0" err="1"/>
              <a:t>CloudLab</a:t>
            </a:r>
            <a:r>
              <a:rPr lang="en-US" dirty="0"/>
              <a:t> Experiment Through the OpenStack Dashboard</a:t>
            </a:r>
          </a:p>
          <a:p>
            <a:pPr marL="257175" lvl="1" indent="0">
              <a:buNone/>
            </a:pPr>
            <a:r>
              <a:rPr lang="en-US" dirty="0">
                <a:hlinkClick r:id="rId5"/>
              </a:rPr>
              <a:t>https://www.youtube.com/watch?v=SZSYe8arwvs</a:t>
            </a:r>
            <a:endParaRPr lang="en-US" dirty="0"/>
          </a:p>
        </p:txBody>
      </p:sp>
      <p:pic>
        <p:nvPicPr>
          <p:cNvPr id="4" name="Picture 3">
            <a:extLst>
              <a:ext uri="{FF2B5EF4-FFF2-40B4-BE49-F238E27FC236}">
                <a16:creationId xmlns:a16="http://schemas.microsoft.com/office/drawing/2014/main" id="{F06B9081-4354-4B00-A442-EBE19BB0AA27}"/>
              </a:ext>
            </a:extLst>
          </p:cNvPr>
          <p:cNvPicPr>
            <a:picLocks noChangeAspect="1"/>
          </p:cNvPicPr>
          <p:nvPr/>
        </p:nvPicPr>
        <p:blipFill>
          <a:blip r:embed="rId6"/>
          <a:stretch>
            <a:fillRect/>
          </a:stretch>
        </p:blipFill>
        <p:spPr>
          <a:xfrm>
            <a:off x="9608578" y="6473600"/>
            <a:ext cx="933450" cy="284539"/>
          </a:xfrm>
          <a:prstGeom prst="rect">
            <a:avLst/>
          </a:prstGeom>
        </p:spPr>
      </p:pic>
      <p:pic>
        <p:nvPicPr>
          <p:cNvPr id="5" name="Graphic 4">
            <a:extLst>
              <a:ext uri="{FF2B5EF4-FFF2-40B4-BE49-F238E27FC236}">
                <a16:creationId xmlns:a16="http://schemas.microsoft.com/office/drawing/2014/main" id="{17257671-56A3-46D2-9F5C-D278B193020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38028" y="597986"/>
            <a:ext cx="333678" cy="152648"/>
          </a:xfrm>
          <a:prstGeom prst="rect">
            <a:avLst/>
          </a:prstGeom>
        </p:spPr>
      </p:pic>
    </p:spTree>
    <p:extLst>
      <p:ext uri="{BB962C8B-B14F-4D97-AF65-F5344CB8AC3E}">
        <p14:creationId xmlns:p14="http://schemas.microsoft.com/office/powerpoint/2010/main" val="1542602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d192b00b9e_0_5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Project Goals</a:t>
            </a:r>
            <a:endParaRPr/>
          </a:p>
        </p:txBody>
      </p:sp>
      <p:sp>
        <p:nvSpPr>
          <p:cNvPr id="115" name="Google Shape;115;gd192b00b9e_0_53"/>
          <p:cNvSpPr txBox="1">
            <a:spLocks noGrp="1"/>
          </p:cNvSpPr>
          <p:nvPr>
            <p:ph type="body" idx="1"/>
          </p:nvPr>
        </p:nvSpPr>
        <p:spPr>
          <a:xfrm>
            <a:off x="422075" y="1825625"/>
            <a:ext cx="11950800" cy="4351200"/>
          </a:xfrm>
          <a:prstGeom prst="rect">
            <a:avLst/>
          </a:prstGeom>
        </p:spPr>
        <p:txBody>
          <a:bodyPr spcFirstLastPara="1" wrap="square" lIns="91425" tIns="45700" rIns="91425" bIns="45700" anchor="t" anchorCtr="0">
            <a:normAutofit fontScale="92500"/>
          </a:bodyPr>
          <a:lstStyle/>
          <a:p>
            <a:pPr marL="0" lvl="0" indent="0" algn="l" rtl="0">
              <a:lnSpc>
                <a:spcPct val="150000"/>
              </a:lnSpc>
              <a:spcBef>
                <a:spcPts val="1000"/>
              </a:spcBef>
              <a:spcAft>
                <a:spcPts val="0"/>
              </a:spcAft>
              <a:buNone/>
            </a:pPr>
            <a:r>
              <a:rPr lang="en-US"/>
              <a:t>Motivation:</a:t>
            </a:r>
            <a:endParaRPr/>
          </a:p>
          <a:p>
            <a:pPr marL="457200" lvl="0" indent="-342900" algn="l" rtl="0">
              <a:lnSpc>
                <a:spcPct val="150000"/>
              </a:lnSpc>
              <a:spcBef>
                <a:spcPts val="1000"/>
              </a:spcBef>
              <a:spcAft>
                <a:spcPts val="0"/>
              </a:spcAft>
              <a:buSzPts val="1800"/>
              <a:buChar char="-"/>
            </a:pPr>
            <a:r>
              <a:rPr lang="en-US"/>
              <a:t>Est. 85% of organizations have a majority of their workloads in the cloud [1]</a:t>
            </a:r>
            <a:endParaRPr/>
          </a:p>
          <a:p>
            <a:pPr marL="457200" lvl="0" indent="-342900" algn="l" rtl="0">
              <a:lnSpc>
                <a:spcPct val="150000"/>
              </a:lnSpc>
              <a:spcBef>
                <a:spcPts val="0"/>
              </a:spcBef>
              <a:spcAft>
                <a:spcPts val="0"/>
              </a:spcAft>
              <a:buSzPts val="1800"/>
              <a:buChar char="-"/>
            </a:pPr>
            <a:r>
              <a:rPr lang="en-US"/>
              <a:t>Enterprises require agility/adaptability to meet business and customer needs.</a:t>
            </a:r>
            <a:endParaRPr/>
          </a:p>
          <a:p>
            <a:pPr marL="0" lvl="0" indent="0" algn="l" rtl="0">
              <a:lnSpc>
                <a:spcPct val="150000"/>
              </a:lnSpc>
              <a:spcBef>
                <a:spcPts val="1000"/>
              </a:spcBef>
              <a:spcAft>
                <a:spcPts val="0"/>
              </a:spcAft>
              <a:buNone/>
            </a:pPr>
            <a:r>
              <a:rPr lang="en-US"/>
              <a:t>This project:</a:t>
            </a:r>
            <a:endParaRPr/>
          </a:p>
          <a:p>
            <a:pPr marL="457200" lvl="0" indent="-342900" algn="l" rtl="0">
              <a:lnSpc>
                <a:spcPct val="150000"/>
              </a:lnSpc>
              <a:spcBef>
                <a:spcPts val="1000"/>
              </a:spcBef>
              <a:spcAft>
                <a:spcPts val="0"/>
              </a:spcAft>
              <a:buSzPts val="1800"/>
              <a:buChar char="-"/>
            </a:pPr>
            <a:r>
              <a:rPr lang="en-US"/>
              <a:t>Hands on experience with cloud computing concepts.</a:t>
            </a:r>
            <a:endParaRPr/>
          </a:p>
          <a:p>
            <a:pPr marL="457200" lvl="0" indent="-342900" algn="l" rtl="0">
              <a:lnSpc>
                <a:spcPct val="150000"/>
              </a:lnSpc>
              <a:spcBef>
                <a:spcPts val="0"/>
              </a:spcBef>
              <a:spcAft>
                <a:spcPts val="0"/>
              </a:spcAft>
              <a:buSzPts val="1800"/>
              <a:buChar char="-"/>
            </a:pPr>
            <a:r>
              <a:rPr lang="en-US"/>
              <a:t>Gather insights and understand tradeoffs through experimentation.</a:t>
            </a:r>
            <a:endParaRPr/>
          </a:p>
        </p:txBody>
      </p:sp>
      <p:sp>
        <p:nvSpPr>
          <p:cNvPr id="116" name="Google Shape;116;gd192b00b9e_0_53"/>
          <p:cNvSpPr txBox="1"/>
          <p:nvPr/>
        </p:nvSpPr>
        <p:spPr>
          <a:xfrm>
            <a:off x="6570750" y="6172900"/>
            <a:ext cx="5372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[1] </a:t>
            </a:r>
            <a:r>
              <a:rPr lang="en-US" u="sng">
                <a:solidFill>
                  <a:schemeClr val="hlink"/>
                </a:solidFill>
                <a:latin typeface="Calibri"/>
                <a:ea typeface="Calibri"/>
                <a:cs typeface="Calibri"/>
                <a:sym typeface="Calibri"/>
                <a:hlinkClick r:id="rId3"/>
              </a:rPr>
              <a:t>2020 Cloud Infrastructure Report | AllCloud</a:t>
            </a:r>
            <a:endParaRPr>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d192b00b9e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Project Direction</a:t>
            </a:r>
            <a:endParaRPr/>
          </a:p>
        </p:txBody>
      </p:sp>
      <p:sp>
        <p:nvSpPr>
          <p:cNvPr id="123" name="Google Shape;123;gd192b00b9e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150000"/>
              </a:lnSpc>
              <a:spcBef>
                <a:spcPts val="1000"/>
              </a:spcBef>
              <a:spcAft>
                <a:spcPts val="0"/>
              </a:spcAft>
              <a:buNone/>
            </a:pPr>
            <a:endParaRPr dirty="0"/>
          </a:p>
          <a:p>
            <a:pPr marL="457200" indent="-342900">
              <a:lnSpc>
                <a:spcPct val="150000"/>
              </a:lnSpc>
              <a:spcBef>
                <a:spcPts val="0"/>
              </a:spcBef>
              <a:buSzPts val="1800"/>
              <a:buFont typeface="Arial" panose="020B0604020202020204" pitchFamily="34" charset="0"/>
              <a:buChar char="-"/>
            </a:pPr>
            <a:r>
              <a:rPr lang="en-US" dirty="0"/>
              <a:t>Research-like project</a:t>
            </a:r>
          </a:p>
          <a:p>
            <a:pPr marL="457200" lvl="0" indent="-342900" algn="l" rtl="0">
              <a:lnSpc>
                <a:spcPct val="150000"/>
              </a:lnSpc>
              <a:spcBef>
                <a:spcPts val="0"/>
              </a:spcBef>
              <a:spcAft>
                <a:spcPts val="0"/>
              </a:spcAft>
              <a:buSzPts val="1800"/>
              <a:buChar char="-"/>
            </a:pPr>
            <a:r>
              <a:rPr lang="en-US" dirty="0"/>
              <a:t>Select a topic based on curiosity / interest</a:t>
            </a:r>
          </a:p>
          <a:p>
            <a:pPr marL="457200" lvl="0" indent="-342900" algn="l" rtl="0">
              <a:lnSpc>
                <a:spcPct val="150000"/>
              </a:lnSpc>
              <a:spcBef>
                <a:spcPts val="0"/>
              </a:spcBef>
              <a:spcAft>
                <a:spcPts val="0"/>
              </a:spcAft>
              <a:buSzPts val="1800"/>
              <a:buChar char="-"/>
            </a:pPr>
            <a:r>
              <a:rPr lang="en-US" dirty="0"/>
              <a:t>Guidance from Professor KK and TA</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1cb2fba5f52_0_0"/>
          <p:cNvSpPr txBox="1">
            <a:spLocks noGrp="1"/>
          </p:cNvSpPr>
          <p:nvPr>
            <p:ph type="title"/>
          </p:nvPr>
        </p:nvSpPr>
        <p:spPr>
          <a:xfrm>
            <a:off x="1117600" y="365125"/>
            <a:ext cx="140208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Some Project Ideas</a:t>
            </a:r>
            <a:endParaRPr dirty="0"/>
          </a:p>
        </p:txBody>
      </p:sp>
      <p:sp>
        <p:nvSpPr>
          <p:cNvPr id="130" name="Google Shape;130;g1cb2fba5f52_0_0"/>
          <p:cNvSpPr txBox="1">
            <a:spLocks noGrp="1"/>
          </p:cNvSpPr>
          <p:nvPr>
            <p:ph type="body" idx="1"/>
          </p:nvPr>
        </p:nvSpPr>
        <p:spPr>
          <a:xfrm>
            <a:off x="1117600" y="1529600"/>
            <a:ext cx="14020800" cy="5076300"/>
          </a:xfrm>
          <a:prstGeom prst="rect">
            <a:avLst/>
          </a:prstGeom>
        </p:spPr>
        <p:txBody>
          <a:bodyPr spcFirstLastPara="1" wrap="square" lIns="91425" tIns="45700" rIns="91425" bIns="45700" anchor="t" anchorCtr="0">
            <a:normAutofit fontScale="85000" lnSpcReduction="20000"/>
          </a:bodyPr>
          <a:lstStyle/>
          <a:p>
            <a:pPr marL="457200" lvl="0" indent="-323850" algn="l" rtl="0">
              <a:lnSpc>
                <a:spcPct val="120000"/>
              </a:lnSpc>
              <a:spcBef>
                <a:spcPts val="1000"/>
              </a:spcBef>
              <a:spcAft>
                <a:spcPts val="0"/>
              </a:spcAft>
              <a:buSzPts val="1500"/>
              <a:buAutoNum type="arabicPeriod"/>
            </a:pPr>
            <a:r>
              <a:rPr lang="en-US" sz="2500" dirty="0"/>
              <a:t>Comparing </a:t>
            </a:r>
            <a:r>
              <a:rPr lang="en-US" sz="2500" dirty="0" err="1"/>
              <a:t>dataplane</a:t>
            </a:r>
            <a:r>
              <a:rPr lang="en-US" sz="2500" dirty="0"/>
              <a:t> and control plane performance of different VMs (KVM, QEMU, Xen) </a:t>
            </a:r>
            <a:br>
              <a:rPr lang="en-US" sz="2500" dirty="0"/>
            </a:br>
            <a:r>
              <a:rPr lang="en-US" sz="2500" dirty="0"/>
              <a:t>vs. containers </a:t>
            </a:r>
            <a:r>
              <a:rPr lang="en-US" sz="2500"/>
              <a:t>(Docker)</a:t>
            </a:r>
            <a:endParaRPr lang="en-US" sz="2500" dirty="0"/>
          </a:p>
          <a:p>
            <a:pPr marL="457200" lvl="0" indent="-323850" algn="l" rtl="0">
              <a:lnSpc>
                <a:spcPct val="150000"/>
              </a:lnSpc>
              <a:spcBef>
                <a:spcPts val="0"/>
              </a:spcBef>
              <a:spcAft>
                <a:spcPts val="0"/>
              </a:spcAft>
              <a:buSzPts val="1500"/>
              <a:buAutoNum type="arabicPeriod"/>
            </a:pPr>
            <a:r>
              <a:rPr lang="en-US" sz="2500" dirty="0"/>
              <a:t>Proactively warming up containers in </a:t>
            </a:r>
            <a:r>
              <a:rPr lang="en-US" sz="2500" dirty="0" err="1"/>
              <a:t>OpenFaaS</a:t>
            </a:r>
            <a:r>
              <a:rPr lang="en-US" sz="2500" dirty="0"/>
              <a:t>, </a:t>
            </a:r>
            <a:r>
              <a:rPr lang="en-US" sz="2500" dirty="0" err="1"/>
              <a:t>KNative</a:t>
            </a:r>
            <a:r>
              <a:rPr lang="en-US" sz="2500" dirty="0"/>
              <a:t>.</a:t>
            </a:r>
            <a:endParaRPr sz="2500" dirty="0"/>
          </a:p>
          <a:p>
            <a:pPr marL="457200" lvl="0" indent="-323850" algn="l" rtl="0">
              <a:lnSpc>
                <a:spcPct val="150000"/>
              </a:lnSpc>
              <a:spcBef>
                <a:spcPts val="0"/>
              </a:spcBef>
              <a:spcAft>
                <a:spcPts val="0"/>
              </a:spcAft>
              <a:buSzPts val="1500"/>
              <a:buAutoNum type="arabicPeriod"/>
            </a:pPr>
            <a:r>
              <a:rPr lang="en-US" sz="2500" dirty="0"/>
              <a:t>Comparison of autoscaling policies in </a:t>
            </a:r>
            <a:r>
              <a:rPr lang="en-US" sz="2500" dirty="0" err="1"/>
              <a:t>KNative</a:t>
            </a:r>
            <a:r>
              <a:rPr lang="en-US" sz="2500" dirty="0"/>
              <a:t>.</a:t>
            </a:r>
            <a:endParaRPr sz="2500" dirty="0"/>
          </a:p>
          <a:p>
            <a:pPr marL="457200" lvl="0" indent="-323850" algn="l" rtl="0">
              <a:lnSpc>
                <a:spcPct val="150000"/>
              </a:lnSpc>
              <a:spcBef>
                <a:spcPts val="0"/>
              </a:spcBef>
              <a:spcAft>
                <a:spcPts val="0"/>
              </a:spcAft>
              <a:buSzPts val="1500"/>
              <a:buAutoNum type="arabicPeriod"/>
            </a:pPr>
            <a:r>
              <a:rPr lang="en-US" sz="2500" dirty="0"/>
              <a:t>CFS parameter tuning (</a:t>
            </a:r>
            <a:r>
              <a:rPr lang="en-US" sz="2500" dirty="0" err="1"/>
              <a:t>NFVNice</a:t>
            </a:r>
            <a:r>
              <a:rPr lang="en-US" sz="2500" dirty="0"/>
              <a:t>)</a:t>
            </a:r>
          </a:p>
          <a:p>
            <a:pPr marL="457200" lvl="0" indent="-323850" algn="l" rtl="0">
              <a:lnSpc>
                <a:spcPct val="150000"/>
              </a:lnSpc>
              <a:spcBef>
                <a:spcPts val="0"/>
              </a:spcBef>
              <a:spcAft>
                <a:spcPts val="0"/>
              </a:spcAft>
              <a:buSzPts val="1500"/>
              <a:buAutoNum type="arabicPeriod"/>
            </a:pPr>
            <a:r>
              <a:rPr lang="en-US" sz="2500" dirty="0"/>
              <a:t>Understanding zero-scaling penalties.</a:t>
            </a:r>
          </a:p>
          <a:p>
            <a:pPr marL="457200" lvl="0" indent="-323850" algn="l" rtl="0">
              <a:lnSpc>
                <a:spcPct val="150000"/>
              </a:lnSpc>
              <a:spcBef>
                <a:spcPts val="0"/>
              </a:spcBef>
              <a:spcAft>
                <a:spcPts val="0"/>
              </a:spcAft>
              <a:buSzPts val="1500"/>
              <a:buAutoNum type="arabicPeriod"/>
            </a:pPr>
            <a:r>
              <a:rPr lang="en-US" sz="2500" dirty="0"/>
              <a:t>Optimizing read latency in the datacenter.</a:t>
            </a:r>
            <a:endParaRPr sz="2500" dirty="0"/>
          </a:p>
          <a:p>
            <a:pPr marL="457200" lvl="0" indent="-323850" algn="l" rtl="0">
              <a:lnSpc>
                <a:spcPct val="150000"/>
              </a:lnSpc>
              <a:spcBef>
                <a:spcPts val="0"/>
              </a:spcBef>
              <a:spcAft>
                <a:spcPts val="0"/>
              </a:spcAft>
              <a:buSzPts val="1500"/>
              <a:buAutoNum type="arabicPeriod"/>
            </a:pPr>
            <a:r>
              <a:rPr lang="en-US" sz="2500" dirty="0"/>
              <a:t>Understanding </a:t>
            </a:r>
            <a:r>
              <a:rPr lang="en-US" sz="2500" dirty="0" err="1"/>
              <a:t>Unikernel</a:t>
            </a:r>
            <a:r>
              <a:rPr lang="en-US" sz="2500" dirty="0"/>
              <a:t> migration for various Workloads.</a:t>
            </a:r>
            <a:endParaRPr sz="2500" dirty="0"/>
          </a:p>
          <a:p>
            <a:pPr marL="457200" lvl="0" indent="-323850" algn="l" rtl="0">
              <a:lnSpc>
                <a:spcPct val="150000"/>
              </a:lnSpc>
              <a:spcBef>
                <a:spcPts val="0"/>
              </a:spcBef>
              <a:spcAft>
                <a:spcPts val="0"/>
              </a:spcAft>
              <a:buSzPts val="1500"/>
              <a:buAutoNum type="arabicPeriod"/>
            </a:pPr>
            <a:r>
              <a:rPr lang="en-US" sz="2500" dirty="0"/>
              <a:t>MQTT to HTTP Protocol Converter.</a:t>
            </a:r>
            <a:endParaRPr sz="2500" dirty="0"/>
          </a:p>
          <a:p>
            <a:pPr marL="457200" lvl="0" indent="-323850" algn="l" rtl="0">
              <a:lnSpc>
                <a:spcPct val="150000"/>
              </a:lnSpc>
              <a:spcBef>
                <a:spcPts val="0"/>
              </a:spcBef>
              <a:spcAft>
                <a:spcPts val="0"/>
              </a:spcAft>
              <a:buSzPts val="1500"/>
              <a:buAutoNum type="arabicPeriod"/>
            </a:pPr>
            <a:r>
              <a:rPr lang="en-US" sz="2500" dirty="0"/>
              <a:t>Graph partitioning to drive container placement.</a:t>
            </a:r>
            <a:endParaRPr sz="2500" dirty="0"/>
          </a:p>
          <a:p>
            <a:pPr marL="457200" lvl="0" indent="-323850" algn="l" rtl="0">
              <a:lnSpc>
                <a:spcPct val="150000"/>
              </a:lnSpc>
              <a:spcBef>
                <a:spcPts val="0"/>
              </a:spcBef>
              <a:spcAft>
                <a:spcPts val="0"/>
              </a:spcAft>
              <a:buSzPts val="1500"/>
              <a:buAutoNum type="arabicPeriod"/>
            </a:pPr>
            <a:r>
              <a:rPr lang="en-US" sz="2500" dirty="0"/>
              <a:t>Evaluating </a:t>
            </a:r>
            <a:r>
              <a:rPr lang="en-US" sz="2500" dirty="0" err="1"/>
              <a:t>Zeek</a:t>
            </a:r>
            <a:r>
              <a:rPr lang="en-US" sz="2500" dirty="0"/>
              <a:t> (IDS) accuracy-throughput trade-off </a:t>
            </a:r>
            <a:r>
              <a:rPr lang="en-US" sz="2500" dirty="0" err="1"/>
              <a:t>wrt</a:t>
            </a:r>
            <a:r>
              <a:rPr lang="en-US" sz="2500" dirty="0"/>
              <a:t> autoscaling.</a:t>
            </a:r>
          </a:p>
          <a:p>
            <a:pPr marL="457200" lvl="0" indent="-323850" algn="l" rtl="0">
              <a:lnSpc>
                <a:spcPct val="150000"/>
              </a:lnSpc>
              <a:spcBef>
                <a:spcPts val="0"/>
              </a:spcBef>
              <a:spcAft>
                <a:spcPts val="0"/>
              </a:spcAft>
              <a:buSzPts val="1500"/>
              <a:buAutoNum type="arabicPeriod"/>
            </a:pPr>
            <a:r>
              <a:rPr lang="en-US" sz="2500" dirty="0"/>
              <a:t>Evaluating Sketches (telemetry) accuracy-throughput trade-off </a:t>
            </a:r>
            <a:r>
              <a:rPr lang="en-US" sz="2500" dirty="0" err="1"/>
              <a:t>wrt</a:t>
            </a:r>
            <a:r>
              <a:rPr lang="en-US" sz="2500" dirty="0"/>
              <a:t> autoscaling.</a:t>
            </a:r>
          </a:p>
        </p:txBody>
      </p:sp>
      <p:sp>
        <p:nvSpPr>
          <p:cNvPr id="131" name="Google Shape;131;g1cb2fba5f52_0_0"/>
          <p:cNvSpPr txBox="1">
            <a:spLocks noGrp="1"/>
          </p:cNvSpPr>
          <p:nvPr>
            <p:ph type="sldNum" idx="12"/>
          </p:nvPr>
        </p:nvSpPr>
        <p:spPr>
          <a:xfrm>
            <a:off x="11480800" y="6356350"/>
            <a:ext cx="3657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F0C6A5AE-EDB9-BA83-B61D-B7CD2C2BD774}"/>
            </a:ext>
          </a:extLst>
        </p:cNvPr>
        <p:cNvGrpSpPr/>
        <p:nvPr/>
      </p:nvGrpSpPr>
      <p:grpSpPr>
        <a:xfrm>
          <a:off x="0" y="0"/>
          <a:ext cx="0" cy="0"/>
          <a:chOff x="0" y="0"/>
          <a:chExt cx="0" cy="0"/>
        </a:xfrm>
      </p:grpSpPr>
      <p:sp>
        <p:nvSpPr>
          <p:cNvPr id="129" name="Google Shape;129;g1cb2fba5f52_0_0">
            <a:extLst>
              <a:ext uri="{FF2B5EF4-FFF2-40B4-BE49-F238E27FC236}">
                <a16:creationId xmlns:a16="http://schemas.microsoft.com/office/drawing/2014/main" id="{5D85B45E-79E0-95F9-9FD7-081E37F5C41F}"/>
              </a:ext>
            </a:extLst>
          </p:cNvPr>
          <p:cNvSpPr txBox="1">
            <a:spLocks noGrp="1"/>
          </p:cNvSpPr>
          <p:nvPr>
            <p:ph type="title"/>
          </p:nvPr>
        </p:nvSpPr>
        <p:spPr>
          <a:xfrm>
            <a:off x="1117600" y="365125"/>
            <a:ext cx="140208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Some Project Ideas</a:t>
            </a:r>
            <a:endParaRPr dirty="0"/>
          </a:p>
        </p:txBody>
      </p:sp>
      <p:sp>
        <p:nvSpPr>
          <p:cNvPr id="130" name="Google Shape;130;g1cb2fba5f52_0_0">
            <a:extLst>
              <a:ext uri="{FF2B5EF4-FFF2-40B4-BE49-F238E27FC236}">
                <a16:creationId xmlns:a16="http://schemas.microsoft.com/office/drawing/2014/main" id="{B2E30F6E-B76A-AF71-2240-9F337B6C95E6}"/>
              </a:ext>
            </a:extLst>
          </p:cNvPr>
          <p:cNvSpPr txBox="1">
            <a:spLocks noGrp="1"/>
          </p:cNvSpPr>
          <p:nvPr>
            <p:ph type="body" idx="1"/>
          </p:nvPr>
        </p:nvSpPr>
        <p:spPr>
          <a:xfrm>
            <a:off x="1117600" y="1529600"/>
            <a:ext cx="10932332" cy="5076300"/>
          </a:xfrm>
          <a:prstGeom prst="rect">
            <a:avLst/>
          </a:prstGeom>
        </p:spPr>
        <p:txBody>
          <a:bodyPr spcFirstLastPara="1" wrap="square" lIns="91425" tIns="45700" rIns="91425" bIns="45700" anchor="t" anchorCtr="0">
            <a:normAutofit fontScale="92500" lnSpcReduction="20000"/>
          </a:bodyPr>
          <a:lstStyle/>
          <a:p>
            <a:pPr marL="590550" indent="-457200">
              <a:lnSpc>
                <a:spcPct val="150000"/>
              </a:lnSpc>
              <a:buSzPts val="1500"/>
              <a:buFont typeface="+mj-lt"/>
              <a:buAutoNum type="arabicPeriod" startAt="11"/>
            </a:pPr>
            <a:r>
              <a:rPr lang="en-US" sz="2500" dirty="0"/>
              <a:t>Comparison of scheduling mechanisms on different platforms  (scalability, warm/cold start latency)</a:t>
            </a:r>
            <a:endParaRPr sz="2500" dirty="0"/>
          </a:p>
          <a:p>
            <a:pPr marL="457200" indent="-323850">
              <a:lnSpc>
                <a:spcPct val="150000"/>
              </a:lnSpc>
              <a:spcBef>
                <a:spcPts val="0"/>
              </a:spcBef>
              <a:buSzPts val="1500"/>
              <a:buFont typeface="Arial" panose="020B0604020202020204" pitchFamily="34" charset="0"/>
              <a:buAutoNum type="arabicPeriod" startAt="11"/>
            </a:pPr>
            <a:r>
              <a:rPr lang="en-US" sz="2500" dirty="0"/>
              <a:t>Understanding KVM via a cloud-based application (e.g., LLM serving)</a:t>
            </a:r>
            <a:endParaRPr sz="2500" dirty="0"/>
          </a:p>
          <a:p>
            <a:pPr marL="457200" indent="-323850">
              <a:lnSpc>
                <a:spcPct val="150000"/>
              </a:lnSpc>
              <a:spcBef>
                <a:spcPts val="0"/>
              </a:spcBef>
              <a:buSzPts val="1500"/>
              <a:buFont typeface="Arial" panose="020B0604020202020204" pitchFamily="34" charset="0"/>
              <a:buAutoNum type="arabicPeriod" startAt="11"/>
            </a:pPr>
            <a:r>
              <a:rPr lang="en-US" sz="2500" dirty="0"/>
              <a:t>Understanding Firecracker via a cloud-based application (e.g., LLM serving).</a:t>
            </a:r>
          </a:p>
          <a:p>
            <a:pPr marL="457200" indent="-323850">
              <a:lnSpc>
                <a:spcPct val="150000"/>
              </a:lnSpc>
              <a:spcBef>
                <a:spcPts val="0"/>
              </a:spcBef>
              <a:buSzPts val="1500"/>
              <a:buFont typeface="Arial" panose="020B0604020202020204" pitchFamily="34" charset="0"/>
              <a:buAutoNum type="arabicPeriod" startAt="11"/>
            </a:pPr>
            <a:r>
              <a:rPr lang="en-US" sz="2500" dirty="0"/>
              <a:t>Apache Spark Streaming Analytics of Twitter data</a:t>
            </a:r>
            <a:endParaRPr sz="2500" dirty="0"/>
          </a:p>
          <a:p>
            <a:pPr marL="457200" indent="-323850">
              <a:lnSpc>
                <a:spcPct val="150000"/>
              </a:lnSpc>
              <a:spcBef>
                <a:spcPts val="0"/>
              </a:spcBef>
              <a:buSzPts val="1500"/>
              <a:buFont typeface="Arial" panose="020B0604020202020204" pitchFamily="34" charset="0"/>
              <a:buAutoNum type="arabicPeriod" startAt="11"/>
            </a:pPr>
            <a:r>
              <a:rPr lang="en-US" sz="2500" dirty="0"/>
              <a:t>On Device AI Offloading: Offloading ML Training from mobile to cloud &amp; vice-versa</a:t>
            </a:r>
            <a:endParaRPr sz="2500" dirty="0"/>
          </a:p>
          <a:p>
            <a:pPr marL="457200" indent="-323850">
              <a:lnSpc>
                <a:spcPct val="150000"/>
              </a:lnSpc>
              <a:spcBef>
                <a:spcPts val="0"/>
              </a:spcBef>
              <a:buSzPts val="1500"/>
              <a:buFont typeface="Arial" panose="020B0604020202020204" pitchFamily="34" charset="0"/>
              <a:buAutoNum type="arabicPeriod" startAt="11"/>
            </a:pPr>
            <a:r>
              <a:rPr lang="en-US" sz="2500" dirty="0"/>
              <a:t>Distributed Deep Learning for Image Recognition in the cloud</a:t>
            </a:r>
            <a:endParaRPr sz="2500" dirty="0"/>
          </a:p>
          <a:p>
            <a:pPr marL="457200" indent="-323850">
              <a:lnSpc>
                <a:spcPct val="150000"/>
              </a:lnSpc>
              <a:spcBef>
                <a:spcPts val="0"/>
              </a:spcBef>
              <a:buSzPts val="1500"/>
              <a:buFont typeface="Arial" panose="020B0604020202020204" pitchFamily="34" charset="0"/>
              <a:buAutoNum type="arabicPeriod" startAt="11"/>
            </a:pPr>
            <a:r>
              <a:rPr lang="en-US" sz="2500" dirty="0"/>
              <a:t>Understanding </a:t>
            </a:r>
            <a:r>
              <a:rPr lang="en-US" sz="2500" dirty="0" err="1"/>
              <a:t>Openwhisk</a:t>
            </a:r>
            <a:r>
              <a:rPr lang="en-US" sz="2500" dirty="0"/>
              <a:t> via a machine learning application</a:t>
            </a:r>
            <a:endParaRPr sz="2500" dirty="0"/>
          </a:p>
          <a:p>
            <a:pPr marL="457200" indent="-323850">
              <a:lnSpc>
                <a:spcPct val="150000"/>
              </a:lnSpc>
              <a:spcBef>
                <a:spcPts val="0"/>
              </a:spcBef>
              <a:buSzPts val="1500"/>
              <a:buFont typeface="Arial" panose="020B0604020202020204" pitchFamily="34" charset="0"/>
              <a:buAutoNum type="arabicPeriod" startAt="11"/>
            </a:pPr>
            <a:r>
              <a:rPr lang="en-US" sz="2500" dirty="0"/>
              <a:t>CFS parameter tuning (</a:t>
            </a:r>
            <a:r>
              <a:rPr lang="en-US" sz="2500" dirty="0" err="1"/>
              <a:t>NFVNice</a:t>
            </a:r>
            <a:r>
              <a:rPr lang="en-US" sz="2500" dirty="0"/>
              <a:t>)</a:t>
            </a:r>
            <a:r>
              <a:rPr lang="en-US" sz="2800" dirty="0"/>
              <a:t> </a:t>
            </a:r>
            <a:r>
              <a:rPr lang="en-US" sz="2500" dirty="0"/>
              <a:t>Expose and manage GPU containers for scientific computing functions</a:t>
            </a:r>
            <a:endParaRPr sz="2500" dirty="0"/>
          </a:p>
        </p:txBody>
      </p:sp>
      <p:sp>
        <p:nvSpPr>
          <p:cNvPr id="131" name="Google Shape;131;g1cb2fba5f52_0_0">
            <a:extLst>
              <a:ext uri="{FF2B5EF4-FFF2-40B4-BE49-F238E27FC236}">
                <a16:creationId xmlns:a16="http://schemas.microsoft.com/office/drawing/2014/main" id="{F23EA531-5927-4DCB-742E-FAECC2C7623F}"/>
              </a:ext>
            </a:extLst>
          </p:cNvPr>
          <p:cNvSpPr txBox="1">
            <a:spLocks noGrp="1"/>
          </p:cNvSpPr>
          <p:nvPr>
            <p:ph type="sldNum" idx="12"/>
          </p:nvPr>
        </p:nvSpPr>
        <p:spPr>
          <a:xfrm>
            <a:off x="11480800" y="6356350"/>
            <a:ext cx="3657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extLst>
      <p:ext uri="{BB962C8B-B14F-4D97-AF65-F5344CB8AC3E}">
        <p14:creationId xmlns:p14="http://schemas.microsoft.com/office/powerpoint/2010/main" val="1273419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48171E92-B270-2C60-384D-79C1840C9462}"/>
            </a:ext>
          </a:extLst>
        </p:cNvPr>
        <p:cNvGrpSpPr/>
        <p:nvPr/>
      </p:nvGrpSpPr>
      <p:grpSpPr>
        <a:xfrm>
          <a:off x="0" y="0"/>
          <a:ext cx="0" cy="0"/>
          <a:chOff x="0" y="0"/>
          <a:chExt cx="0" cy="0"/>
        </a:xfrm>
      </p:grpSpPr>
      <p:sp>
        <p:nvSpPr>
          <p:cNvPr id="129" name="Google Shape;129;g1cb2fba5f52_0_0">
            <a:extLst>
              <a:ext uri="{FF2B5EF4-FFF2-40B4-BE49-F238E27FC236}">
                <a16:creationId xmlns:a16="http://schemas.microsoft.com/office/drawing/2014/main" id="{9DCE2771-E6D6-0183-E0CE-28B7C0CDADB0}"/>
              </a:ext>
            </a:extLst>
          </p:cNvPr>
          <p:cNvSpPr txBox="1">
            <a:spLocks noGrp="1"/>
          </p:cNvSpPr>
          <p:nvPr>
            <p:ph type="title"/>
          </p:nvPr>
        </p:nvSpPr>
        <p:spPr>
          <a:xfrm>
            <a:off x="1117600" y="365125"/>
            <a:ext cx="140208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Some Project Ideas</a:t>
            </a:r>
            <a:endParaRPr dirty="0"/>
          </a:p>
        </p:txBody>
      </p:sp>
      <p:sp>
        <p:nvSpPr>
          <p:cNvPr id="130" name="Google Shape;130;g1cb2fba5f52_0_0">
            <a:extLst>
              <a:ext uri="{FF2B5EF4-FFF2-40B4-BE49-F238E27FC236}">
                <a16:creationId xmlns:a16="http://schemas.microsoft.com/office/drawing/2014/main" id="{B9E5DFD0-6373-179F-A267-B01D62A5A834}"/>
              </a:ext>
            </a:extLst>
          </p:cNvPr>
          <p:cNvSpPr txBox="1">
            <a:spLocks noGrp="1"/>
          </p:cNvSpPr>
          <p:nvPr>
            <p:ph type="body" idx="1"/>
          </p:nvPr>
        </p:nvSpPr>
        <p:spPr>
          <a:xfrm>
            <a:off x="1117600" y="1529600"/>
            <a:ext cx="10831593" cy="5076300"/>
          </a:xfrm>
          <a:prstGeom prst="rect">
            <a:avLst/>
          </a:prstGeom>
        </p:spPr>
        <p:txBody>
          <a:bodyPr spcFirstLastPara="1" wrap="square" lIns="91425" tIns="45700" rIns="91425" bIns="45700" anchor="t" anchorCtr="0">
            <a:normAutofit fontScale="85000" lnSpcReduction="20000"/>
          </a:bodyPr>
          <a:lstStyle/>
          <a:p>
            <a:pPr marL="647700" indent="-514350">
              <a:lnSpc>
                <a:spcPct val="150000"/>
              </a:lnSpc>
              <a:spcBef>
                <a:spcPts val="0"/>
              </a:spcBef>
              <a:buSzPts val="1500"/>
              <a:buFont typeface="+mj-lt"/>
              <a:buAutoNum type="arabicPeriod" startAt="20"/>
            </a:pPr>
            <a:r>
              <a:rPr lang="en-US" sz="2800" dirty="0"/>
              <a:t>Evaluate migration performance of VMs with different latency with IoT</a:t>
            </a:r>
          </a:p>
          <a:p>
            <a:pPr marL="457200" lvl="0" indent="-323850" algn="l" rtl="0">
              <a:lnSpc>
                <a:spcPct val="150000"/>
              </a:lnSpc>
              <a:spcBef>
                <a:spcPts val="0"/>
              </a:spcBef>
              <a:spcAft>
                <a:spcPts val="0"/>
              </a:spcAft>
              <a:buSzPts val="1500"/>
              <a:buAutoNum type="arabicPeriod" startAt="20"/>
            </a:pPr>
            <a:r>
              <a:rPr lang="en-US" sz="2800" dirty="0"/>
              <a:t>Distributed Decision Tree Implementation and Comparison.</a:t>
            </a:r>
          </a:p>
          <a:p>
            <a:pPr marL="457200" indent="-323850">
              <a:lnSpc>
                <a:spcPct val="150000"/>
              </a:lnSpc>
              <a:spcBef>
                <a:spcPts val="0"/>
              </a:spcBef>
              <a:buSzPts val="1500"/>
              <a:buFont typeface="Arial" panose="020B0604020202020204" pitchFamily="34" charset="0"/>
              <a:buAutoNum type="arabicPeriod" startAt="20"/>
            </a:pPr>
            <a:r>
              <a:rPr lang="en-US" sz="2800" dirty="0"/>
              <a:t>Comparing the </a:t>
            </a:r>
            <a:r>
              <a:rPr lang="en-US" sz="2800" dirty="0" err="1"/>
              <a:t>userspace</a:t>
            </a:r>
            <a:r>
              <a:rPr lang="en-US" sz="2800" dirty="0"/>
              <a:t> Container Network Interface (CNI) with the kernel space CNI </a:t>
            </a:r>
          </a:p>
          <a:p>
            <a:pPr marL="457200" indent="-323850">
              <a:lnSpc>
                <a:spcPct val="150000"/>
              </a:lnSpc>
              <a:spcBef>
                <a:spcPts val="0"/>
              </a:spcBef>
              <a:buSzPts val="1500"/>
              <a:buFont typeface="Arial" panose="020B0604020202020204" pitchFamily="34" charset="0"/>
              <a:buAutoNum type="arabicPeriod" startAt="20"/>
            </a:pPr>
            <a:r>
              <a:rPr lang="en-US" sz="2800" dirty="0"/>
              <a:t>Using </a:t>
            </a:r>
            <a:r>
              <a:rPr lang="en-US" sz="2800" dirty="0" err="1"/>
              <a:t>eBPF</a:t>
            </a:r>
            <a:r>
              <a:rPr lang="en-US" sz="2800" dirty="0"/>
              <a:t> to bootstrap Kubernetes Network Policy </a:t>
            </a:r>
          </a:p>
          <a:p>
            <a:pPr marL="457200" indent="-323850">
              <a:lnSpc>
                <a:spcPct val="150000"/>
              </a:lnSpc>
              <a:spcBef>
                <a:spcPts val="0"/>
              </a:spcBef>
              <a:buSzPts val="1500"/>
              <a:buFont typeface="Arial" panose="020B0604020202020204" pitchFamily="34" charset="0"/>
              <a:buAutoNum type="arabicPeriod" startAt="20"/>
            </a:pPr>
            <a:r>
              <a:rPr lang="en-US" sz="2800" dirty="0"/>
              <a:t>Fair Algorithm for Serverless Function (“Pod”) Placement </a:t>
            </a:r>
          </a:p>
          <a:p>
            <a:pPr marL="457200" indent="-323850">
              <a:lnSpc>
                <a:spcPct val="150000"/>
              </a:lnSpc>
              <a:spcBef>
                <a:spcPts val="0"/>
              </a:spcBef>
              <a:buSzPts val="1500"/>
              <a:buFont typeface="Arial" panose="020B0604020202020204" pitchFamily="34" charset="0"/>
              <a:buAutoNum type="arabicPeriod" startAt="20"/>
            </a:pPr>
            <a:r>
              <a:rPr lang="en-US" sz="2800" dirty="0"/>
              <a:t>Comparison of </a:t>
            </a:r>
            <a:r>
              <a:rPr lang="en-US" sz="2800" dirty="0" err="1"/>
              <a:t>Knative</a:t>
            </a:r>
            <a:r>
              <a:rPr lang="en-US" sz="2800" dirty="0"/>
              <a:t> autoscaling policies for serverless function chain </a:t>
            </a:r>
          </a:p>
          <a:p>
            <a:pPr marL="457200" indent="-323850">
              <a:lnSpc>
                <a:spcPct val="150000"/>
              </a:lnSpc>
              <a:spcBef>
                <a:spcPts val="0"/>
              </a:spcBef>
              <a:buSzPts val="1500"/>
              <a:buFont typeface="Arial" panose="020B0604020202020204" pitchFamily="34" charset="0"/>
              <a:buAutoNum type="arabicPeriod" startAt="20"/>
            </a:pPr>
            <a:r>
              <a:rPr lang="en-US" sz="2800" dirty="0"/>
              <a:t>Distributed Shared Memory for Efficient Aggregation in Federated Learning </a:t>
            </a:r>
          </a:p>
          <a:p>
            <a:pPr marL="457200" indent="-323850">
              <a:lnSpc>
                <a:spcPct val="150000"/>
              </a:lnSpc>
              <a:spcBef>
                <a:spcPts val="0"/>
              </a:spcBef>
              <a:buSzPts val="1500"/>
              <a:buFont typeface="Arial" panose="020B0604020202020204" pitchFamily="34" charset="0"/>
              <a:buAutoNum type="arabicPeriod" startAt="20"/>
            </a:pPr>
            <a:r>
              <a:rPr lang="en-US" sz="2800" dirty="0"/>
              <a:t>Containerization of Serverless Workloads and Understand Its Cost </a:t>
            </a:r>
          </a:p>
          <a:p>
            <a:pPr marL="457200" indent="-323850">
              <a:lnSpc>
                <a:spcPct val="150000"/>
              </a:lnSpc>
              <a:spcBef>
                <a:spcPts val="0"/>
              </a:spcBef>
              <a:buSzPts val="1500"/>
              <a:buFont typeface="Arial" panose="020B0604020202020204" pitchFamily="34" charset="0"/>
              <a:buAutoNum type="arabicPeriod" startAt="20"/>
            </a:pPr>
            <a:r>
              <a:rPr lang="en-US" sz="2800" dirty="0"/>
              <a:t>Understanding Zero-scaling Penalties </a:t>
            </a:r>
          </a:p>
          <a:p>
            <a:pPr marL="457200" lvl="0" indent="-323850" algn="l" rtl="0">
              <a:lnSpc>
                <a:spcPct val="150000"/>
              </a:lnSpc>
              <a:spcBef>
                <a:spcPts val="0"/>
              </a:spcBef>
              <a:spcAft>
                <a:spcPts val="0"/>
              </a:spcAft>
              <a:buSzPts val="1500"/>
              <a:buAutoNum type="arabicPeriod" startAt="20"/>
            </a:pPr>
            <a:endParaRPr sz="2500" dirty="0"/>
          </a:p>
        </p:txBody>
      </p:sp>
      <p:sp>
        <p:nvSpPr>
          <p:cNvPr id="131" name="Google Shape;131;g1cb2fba5f52_0_0">
            <a:extLst>
              <a:ext uri="{FF2B5EF4-FFF2-40B4-BE49-F238E27FC236}">
                <a16:creationId xmlns:a16="http://schemas.microsoft.com/office/drawing/2014/main" id="{4B3A27FA-BAAA-F0B5-C0D5-1FCF206DBDED}"/>
              </a:ext>
            </a:extLst>
          </p:cNvPr>
          <p:cNvSpPr txBox="1">
            <a:spLocks noGrp="1"/>
          </p:cNvSpPr>
          <p:nvPr>
            <p:ph type="sldNum" idx="12"/>
          </p:nvPr>
        </p:nvSpPr>
        <p:spPr>
          <a:xfrm>
            <a:off x="11480800" y="6356350"/>
            <a:ext cx="3657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extLst>
      <p:ext uri="{BB962C8B-B14F-4D97-AF65-F5344CB8AC3E}">
        <p14:creationId xmlns:p14="http://schemas.microsoft.com/office/powerpoint/2010/main" val="3396061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10b8efb4ca5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Milestones</a:t>
            </a:r>
            <a:endParaRPr/>
          </a:p>
        </p:txBody>
      </p:sp>
      <p:sp>
        <p:nvSpPr>
          <p:cNvPr id="145" name="Google Shape;145;g10b8efb4ca5_0_0"/>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fontScale="77500" lnSpcReduction="20000"/>
          </a:bodyPr>
          <a:lstStyle/>
          <a:p>
            <a:pPr marL="457200" lvl="0" indent="-342900" algn="l" rtl="0">
              <a:lnSpc>
                <a:spcPct val="150000"/>
              </a:lnSpc>
              <a:spcBef>
                <a:spcPts val="1000"/>
              </a:spcBef>
              <a:spcAft>
                <a:spcPts val="0"/>
              </a:spcAft>
              <a:buSzPts val="1800"/>
              <a:buAutoNum type="arabicPeriod"/>
            </a:pPr>
            <a:r>
              <a:rPr lang="en-US" dirty="0"/>
              <a:t>Form a team ( 2 people max )</a:t>
            </a:r>
          </a:p>
          <a:p>
            <a:pPr marL="914400" lvl="1" indent="-342900">
              <a:lnSpc>
                <a:spcPct val="150000"/>
              </a:lnSpc>
              <a:spcBef>
                <a:spcPts val="1000"/>
              </a:spcBef>
              <a:buSzPts val="1800"/>
            </a:pPr>
            <a:r>
              <a:rPr lang="en-US" dirty="0"/>
              <a:t>Sign up your team: https://</a:t>
            </a:r>
            <a:r>
              <a:rPr lang="en-US" dirty="0" err="1"/>
              <a:t>docs.google.com</a:t>
            </a:r>
            <a:r>
              <a:rPr lang="en-US" dirty="0"/>
              <a:t>/spreadsheets/d/1Fj0qigsHSjtqcBO0HtbEdyhDstWrXR7mB8HmIl7yGDI/</a:t>
            </a:r>
            <a:r>
              <a:rPr lang="en-US" dirty="0" err="1"/>
              <a:t>edit?usp</a:t>
            </a:r>
            <a:r>
              <a:rPr lang="en-US" dirty="0"/>
              <a:t>=sharing</a:t>
            </a:r>
          </a:p>
          <a:p>
            <a:pPr marL="457200" lvl="0" indent="-342900" algn="l" rtl="0">
              <a:lnSpc>
                <a:spcPct val="150000"/>
              </a:lnSpc>
              <a:spcBef>
                <a:spcPts val="1000"/>
              </a:spcBef>
              <a:spcAft>
                <a:spcPts val="0"/>
              </a:spcAft>
              <a:buSzPts val="1800"/>
              <a:buAutoNum type="arabicPeriod"/>
            </a:pPr>
            <a:r>
              <a:rPr lang="en-US" dirty="0"/>
              <a:t>Project Proposal</a:t>
            </a:r>
            <a:endParaRPr dirty="0"/>
          </a:p>
          <a:p>
            <a:pPr marL="457200" lvl="0" indent="-342900" algn="l" rtl="0">
              <a:lnSpc>
                <a:spcPct val="150000"/>
              </a:lnSpc>
              <a:spcBef>
                <a:spcPts val="0"/>
              </a:spcBef>
              <a:spcAft>
                <a:spcPts val="0"/>
              </a:spcAft>
              <a:buSzPts val="1800"/>
              <a:buAutoNum type="arabicPeriod"/>
            </a:pPr>
            <a:r>
              <a:rPr lang="en-US" dirty="0"/>
              <a:t>Presentation of Proposal (5 min)</a:t>
            </a:r>
            <a:endParaRPr dirty="0"/>
          </a:p>
          <a:p>
            <a:pPr marL="457200" lvl="0" indent="-342900" algn="l" rtl="0">
              <a:lnSpc>
                <a:spcPct val="150000"/>
              </a:lnSpc>
              <a:spcBef>
                <a:spcPts val="0"/>
              </a:spcBef>
              <a:spcAft>
                <a:spcPts val="0"/>
              </a:spcAft>
              <a:buSzPts val="1800"/>
              <a:buAutoNum type="arabicPeriod"/>
            </a:pPr>
            <a:r>
              <a:rPr lang="en-US" dirty="0"/>
              <a:t>Final Presentation (20 min)</a:t>
            </a:r>
          </a:p>
          <a:p>
            <a:pPr marL="457200" lvl="0" indent="-342900" algn="l" rtl="0">
              <a:lnSpc>
                <a:spcPct val="150000"/>
              </a:lnSpc>
              <a:spcBef>
                <a:spcPts val="0"/>
              </a:spcBef>
              <a:spcAft>
                <a:spcPts val="0"/>
              </a:spcAft>
              <a:buSzPts val="1800"/>
              <a:buAutoNum type="arabicPeriod"/>
            </a:pPr>
            <a:r>
              <a:rPr lang="en-US" dirty="0"/>
              <a:t>Final Report</a:t>
            </a:r>
            <a:endParaRPr dirty="0"/>
          </a:p>
          <a:p>
            <a:pPr marL="0" lvl="0" indent="0" algn="l" rtl="0">
              <a:lnSpc>
                <a:spcPct val="150000"/>
              </a:lnSpc>
              <a:spcBef>
                <a:spcPts val="1000"/>
              </a:spcBef>
              <a:spcAft>
                <a:spcPts val="0"/>
              </a:spcAft>
              <a:buNone/>
            </a:pPr>
            <a:r>
              <a:rPr lang="en-US" dirty="0"/>
              <a:t>Periodic updates / consultation during office hours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d192b00b9e_0_3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Project Expectations</a:t>
            </a:r>
            <a:endParaRPr/>
          </a:p>
        </p:txBody>
      </p:sp>
      <p:sp>
        <p:nvSpPr>
          <p:cNvPr id="152" name="Google Shape;152;gd192b00b9e_0_32"/>
          <p:cNvSpPr txBox="1">
            <a:spLocks noGrp="1"/>
          </p:cNvSpPr>
          <p:nvPr>
            <p:ph type="body" idx="1"/>
          </p:nvPr>
        </p:nvSpPr>
        <p:spPr>
          <a:xfrm>
            <a:off x="838200" y="1825625"/>
            <a:ext cx="11123700" cy="4351200"/>
          </a:xfrm>
          <a:prstGeom prst="rect">
            <a:avLst/>
          </a:prstGeom>
        </p:spPr>
        <p:txBody>
          <a:bodyPr spcFirstLastPara="1" wrap="square" lIns="91425" tIns="45700" rIns="91425" bIns="45700" anchor="t" anchorCtr="0">
            <a:normAutofit fontScale="85000" lnSpcReduction="20000"/>
          </a:bodyPr>
          <a:lstStyle/>
          <a:p>
            <a:pPr marL="457200" lvl="0" indent="-325755" algn="l" rtl="0">
              <a:lnSpc>
                <a:spcPct val="150000"/>
              </a:lnSpc>
              <a:spcBef>
                <a:spcPts val="1000"/>
              </a:spcBef>
              <a:spcAft>
                <a:spcPts val="0"/>
              </a:spcAft>
              <a:buSzPct val="64285"/>
              <a:buAutoNum type="arabicPeriod"/>
            </a:pPr>
            <a:r>
              <a:rPr lang="en-US" dirty="0"/>
              <a:t>Do not copy paste an AWS tutorials (We have seen plenty in the past), will not receive a good grade.</a:t>
            </a:r>
            <a:endParaRPr dirty="0"/>
          </a:p>
          <a:p>
            <a:pPr marL="457200" lvl="0" indent="-325755" algn="l" rtl="0">
              <a:lnSpc>
                <a:spcPct val="150000"/>
              </a:lnSpc>
              <a:spcBef>
                <a:spcPts val="0"/>
              </a:spcBef>
              <a:spcAft>
                <a:spcPts val="0"/>
              </a:spcAft>
              <a:buSzPct val="64285"/>
              <a:buAutoNum type="arabicPeriod"/>
            </a:pPr>
            <a:r>
              <a:rPr lang="en-US" dirty="0"/>
              <a:t>System Component (OS, Arch - Memory, CPU, Network etc. Not simply config change)</a:t>
            </a:r>
            <a:endParaRPr dirty="0"/>
          </a:p>
          <a:p>
            <a:pPr marL="457200" lvl="0" indent="-325755" algn="l" rtl="0">
              <a:lnSpc>
                <a:spcPct val="150000"/>
              </a:lnSpc>
              <a:spcBef>
                <a:spcPts val="0"/>
              </a:spcBef>
              <a:spcAft>
                <a:spcPts val="0"/>
              </a:spcAft>
              <a:buSzPct val="64285"/>
              <a:buAutoNum type="arabicPeriod"/>
            </a:pPr>
            <a:r>
              <a:rPr lang="en-US" dirty="0"/>
              <a:t>No plagiarism </a:t>
            </a:r>
            <a:endParaRPr dirty="0"/>
          </a:p>
          <a:p>
            <a:pPr marL="914400" lvl="1" indent="-325755" algn="l" rtl="0">
              <a:lnSpc>
                <a:spcPct val="150000"/>
              </a:lnSpc>
              <a:spcBef>
                <a:spcPts val="0"/>
              </a:spcBef>
              <a:spcAft>
                <a:spcPts val="0"/>
              </a:spcAft>
              <a:buSzPct val="75000"/>
              <a:buAutoNum type="alphaLcPeriod"/>
            </a:pPr>
            <a:r>
              <a:rPr lang="en-US" dirty="0"/>
              <a:t>Do not copy paste a previous year’s project.</a:t>
            </a:r>
            <a:endParaRPr dirty="0"/>
          </a:p>
          <a:p>
            <a:pPr marL="457200" lvl="0" indent="-325755" algn="l" rtl="0">
              <a:lnSpc>
                <a:spcPct val="150000"/>
              </a:lnSpc>
              <a:spcBef>
                <a:spcPts val="0"/>
              </a:spcBef>
              <a:spcAft>
                <a:spcPts val="0"/>
              </a:spcAft>
              <a:buSzPct val="64285"/>
              <a:buAutoNum type="arabicPeriod"/>
            </a:pPr>
            <a:r>
              <a:rPr lang="en-US" dirty="0"/>
              <a:t>Projects must be have considerable amount of experimentation.</a:t>
            </a:r>
            <a:endParaRPr dirty="0"/>
          </a:p>
          <a:p>
            <a:pPr marL="914400" lvl="1" indent="-325755" algn="l" rtl="0">
              <a:lnSpc>
                <a:spcPct val="150000"/>
              </a:lnSpc>
              <a:spcBef>
                <a:spcPts val="0"/>
              </a:spcBef>
              <a:spcAft>
                <a:spcPts val="0"/>
              </a:spcAft>
              <a:buSzPct val="75000"/>
              <a:buAutoNum type="alphaLcPeriod"/>
            </a:pPr>
            <a:r>
              <a:rPr lang="en-US" dirty="0"/>
              <a:t>Do not just run stuff and call it day, provide explanation / root cause analysis</a:t>
            </a:r>
            <a:endParaRPr dirty="0"/>
          </a:p>
          <a:p>
            <a:pPr marL="457200" lvl="0" indent="-325755" algn="l" rtl="0">
              <a:lnSpc>
                <a:spcPct val="150000"/>
              </a:lnSpc>
              <a:spcBef>
                <a:spcPts val="0"/>
              </a:spcBef>
              <a:spcAft>
                <a:spcPts val="0"/>
              </a:spcAft>
              <a:buSzPct val="64285"/>
              <a:buAutoNum type="arabicPeriod"/>
            </a:pPr>
            <a:r>
              <a:rPr lang="en-US" dirty="0"/>
              <a:t>Meet with me (TA) regularly and I will ensure the above are not violated</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3358</TotalTime>
  <Words>724</Words>
  <Application>Microsoft Macintosh PowerPoint</Application>
  <PresentationFormat>Widescreen</PresentationFormat>
  <Paragraphs>93</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Calibri</vt:lpstr>
      <vt:lpstr>Fira Sans Medium</vt:lpstr>
      <vt:lpstr>Office Theme</vt:lpstr>
      <vt:lpstr>PowerPoint Presentation</vt:lpstr>
      <vt:lpstr>CS 208 Cloud Computing and Cloud Networking</vt:lpstr>
      <vt:lpstr>Platform Access</vt:lpstr>
      <vt:lpstr>Project Goals</vt:lpstr>
      <vt:lpstr>Project Direction</vt:lpstr>
      <vt:lpstr>Some Project Ideas</vt:lpstr>
      <vt:lpstr>Some Project Ideas</vt:lpstr>
      <vt:lpstr>Some Project Ideas</vt:lpstr>
      <vt:lpstr>Milestones</vt:lpstr>
      <vt:lpstr>Project Expectations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Hongmiao Yu</dc:creator>
  <cp:lastModifiedBy>Hongmiao Yu</cp:lastModifiedBy>
  <cp:revision>3</cp:revision>
  <dcterms:created xsi:type="dcterms:W3CDTF">2025-01-07T09:12:50Z</dcterms:created>
  <dcterms:modified xsi:type="dcterms:W3CDTF">2025-01-09T23:46:35Z</dcterms:modified>
</cp:coreProperties>
</file>