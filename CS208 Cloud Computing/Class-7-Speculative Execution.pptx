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17" r:id="rId3"/>
    <p:sldId id="322" r:id="rId4"/>
    <p:sldId id="326" r:id="rId5"/>
    <p:sldId id="319" r:id="rId6"/>
    <p:sldId id="324" r:id="rId7"/>
    <p:sldId id="400" r:id="rId8"/>
    <p:sldId id="318" r:id="rId9"/>
    <p:sldId id="321" r:id="rId10"/>
    <p:sldId id="342" r:id="rId11"/>
    <p:sldId id="330" r:id="rId12"/>
    <p:sldId id="331" r:id="rId13"/>
    <p:sldId id="332" r:id="rId14"/>
    <p:sldId id="333" r:id="rId15"/>
    <p:sldId id="334" r:id="rId16"/>
    <p:sldId id="335" r:id="rId17"/>
    <p:sldId id="336" r:id="rId18"/>
    <p:sldId id="337" r:id="rId19"/>
    <p:sldId id="338" r:id="rId20"/>
    <p:sldId id="349" r:id="rId21"/>
    <p:sldId id="350" r:id="rId22"/>
    <p:sldId id="352" r:id="rId23"/>
    <p:sldId id="353" r:id="rId24"/>
    <p:sldId id="351"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02"/>
    <p:restoredTop sz="95878" autoAdjust="0"/>
  </p:normalViewPr>
  <p:slideViewPr>
    <p:cSldViewPr>
      <p:cViewPr varScale="1">
        <p:scale>
          <a:sx n="119" d="100"/>
          <a:sy n="119" d="100"/>
        </p:scale>
        <p:origin x="1272"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DD3FAB-1217-4DB5-AC5E-95312F4616BA}" type="datetimeFigureOut">
              <a:rPr lang="en-US" smtClean="0"/>
              <a:t>2/3/25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7323FD-B572-402A-9E11-3C7AED8401BC}" type="slidenum">
              <a:rPr lang="en-US" smtClean="0"/>
              <a:t>‹#›</a:t>
            </a:fld>
            <a:endParaRPr lang="en-US"/>
          </a:p>
        </p:txBody>
      </p:sp>
    </p:spTree>
    <p:extLst>
      <p:ext uri="{BB962C8B-B14F-4D97-AF65-F5344CB8AC3E}">
        <p14:creationId xmlns:p14="http://schemas.microsoft.com/office/powerpoint/2010/main" val="3705199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cacm.acm.org/blogs/blog-cacm/83396-errors-in-database-systems-eventual-consistency-and-the-cap-theorem/fulltext"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7323FD-B572-402A-9E11-3C7AED8401BC}" type="slidenum">
              <a:rPr lang="en-US" smtClean="0"/>
              <a:t>1</a:t>
            </a:fld>
            <a:endParaRPr lang="en-US"/>
          </a:p>
        </p:txBody>
      </p:sp>
    </p:spTree>
    <p:extLst>
      <p:ext uri="{BB962C8B-B14F-4D97-AF65-F5344CB8AC3E}">
        <p14:creationId xmlns:p14="http://schemas.microsoft.com/office/powerpoint/2010/main" val="1829763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their abstract, Gilbert and Lynch describe their contribution:</a:t>
            </a:r>
            <a:br>
              <a:rPr lang="en-US" dirty="0"/>
            </a:br>
            <a:r>
              <a:rPr lang="en-US" dirty="0"/>
              <a:t>When designing distributed web services, there are three properties that are commonly desired: consistency, availability, and partition tolerance. It is impossible to achieve all three. In this note, we prove this conjecture in the asynchronous network model, and then discuss solutions to this dilemma in the partially synchronous model.</a:t>
            </a:r>
          </a:p>
          <a:p>
            <a:endParaRPr lang="en-US" dirty="0"/>
          </a:p>
          <a:p>
            <a:r>
              <a:rPr lang="en-US" dirty="0"/>
              <a:t>there is no practical difference between CA systems and CP systems. As noted above, CP systems give up availability only when there is a network partition. CA systems are “</a:t>
            </a:r>
            <a:r>
              <a:rPr lang="en-US" dirty="0">
                <a:hlinkClick r:id="rId3"/>
              </a:rPr>
              <a:t>not tolerant of network partitions</a:t>
            </a:r>
            <a:r>
              <a:rPr lang="en-US" dirty="0"/>
              <a:t>”. But what if there is a network partition? What does “not tolerant” mean? In practice, it means that they lose availability if there is a partition. Hence CP and CA are essentially identical. So in reality, there are only two types of systems: CP/CA and AP. I.e., if there is a partition, does the system give up availability or consistency? Having three letters in CAP and saying you can pick any two does nothing but confuse this point.</a:t>
            </a:r>
          </a:p>
        </p:txBody>
      </p:sp>
      <p:sp>
        <p:nvSpPr>
          <p:cNvPr id="4" name="Slide Number Placeholder 3"/>
          <p:cNvSpPr>
            <a:spLocks noGrp="1"/>
          </p:cNvSpPr>
          <p:nvPr>
            <p:ph type="sldNum" sz="quarter" idx="10"/>
          </p:nvPr>
        </p:nvSpPr>
        <p:spPr/>
        <p:txBody>
          <a:bodyPr/>
          <a:lstStyle/>
          <a:p>
            <a:fld id="{2E7323FD-B572-402A-9E11-3C7AED8401BC}" type="slidenum">
              <a:rPr lang="en-US" smtClean="0"/>
              <a:t>3</a:t>
            </a:fld>
            <a:endParaRPr lang="en-US"/>
          </a:p>
        </p:txBody>
      </p:sp>
    </p:spTree>
    <p:extLst>
      <p:ext uri="{BB962C8B-B14F-4D97-AF65-F5344CB8AC3E}">
        <p14:creationId xmlns:p14="http://schemas.microsoft.com/office/powerpoint/2010/main" val="3717944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7323FD-B572-402A-9E11-3C7AED8401BC}" type="slidenum">
              <a:rPr lang="en-US" smtClean="0"/>
              <a:t>4</a:t>
            </a:fld>
            <a:endParaRPr lang="en-US"/>
          </a:p>
        </p:txBody>
      </p:sp>
    </p:spTree>
    <p:extLst>
      <p:ext uri="{BB962C8B-B14F-4D97-AF65-F5344CB8AC3E}">
        <p14:creationId xmlns:p14="http://schemas.microsoft.com/office/powerpoint/2010/main" val="397451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don’t really live together.</a:t>
            </a:r>
          </a:p>
        </p:txBody>
      </p:sp>
      <p:sp>
        <p:nvSpPr>
          <p:cNvPr id="4" name="Slide Number Placeholder 3"/>
          <p:cNvSpPr>
            <a:spLocks noGrp="1"/>
          </p:cNvSpPr>
          <p:nvPr>
            <p:ph type="sldNum" sz="quarter" idx="10"/>
          </p:nvPr>
        </p:nvSpPr>
        <p:spPr/>
        <p:txBody>
          <a:bodyPr/>
          <a:lstStyle/>
          <a:p>
            <a:fld id="{2E7323FD-B572-402A-9E11-3C7AED8401BC}" type="slidenum">
              <a:rPr lang="en-US" smtClean="0"/>
              <a:t>5</a:t>
            </a:fld>
            <a:endParaRPr lang="en-US"/>
          </a:p>
        </p:txBody>
      </p:sp>
    </p:spTree>
    <p:extLst>
      <p:ext uri="{BB962C8B-B14F-4D97-AF65-F5344CB8AC3E}">
        <p14:creationId xmlns:p14="http://schemas.microsoft.com/office/powerpoint/2010/main" val="3998270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978DF4-3E9A-46E5-A3B7-EEB2BE0BE3DD}" type="slidenum">
              <a:rPr lang="en-US"/>
              <a:pPr/>
              <a:t>13</a:t>
            </a:fld>
            <a:endParaRPr lang="en-US"/>
          </a:p>
        </p:txBody>
      </p:sp>
      <p:sp>
        <p:nvSpPr>
          <p:cNvPr id="497666" name="Rectangle 2"/>
          <p:cNvSpPr>
            <a:spLocks noGrp="1" noRot="1" noChangeAspect="1" noChangeArrowheads="1" noTextEdit="1"/>
          </p:cNvSpPr>
          <p:nvPr>
            <p:ph type="sldImg"/>
          </p:nvPr>
        </p:nvSpPr>
        <p:spPr>
          <a:ln/>
        </p:spPr>
      </p:sp>
      <p:sp>
        <p:nvSpPr>
          <p:cNvPr id="4976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7323FD-B572-402A-9E11-3C7AED8401BC}" type="slidenum">
              <a:rPr lang="en-US" smtClean="0"/>
              <a:t>18</a:t>
            </a:fld>
            <a:endParaRPr lang="en-US"/>
          </a:p>
        </p:txBody>
      </p:sp>
    </p:spTree>
    <p:extLst>
      <p:ext uri="{BB962C8B-B14F-4D97-AF65-F5344CB8AC3E}">
        <p14:creationId xmlns:p14="http://schemas.microsoft.com/office/powerpoint/2010/main" val="3130551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7323FD-B572-402A-9E11-3C7AED8401BC}" type="slidenum">
              <a:rPr lang="en-US" smtClean="0"/>
              <a:t>19</a:t>
            </a:fld>
            <a:endParaRPr lang="en-US"/>
          </a:p>
        </p:txBody>
      </p:sp>
    </p:spTree>
    <p:extLst>
      <p:ext uri="{BB962C8B-B14F-4D97-AF65-F5344CB8AC3E}">
        <p14:creationId xmlns:p14="http://schemas.microsoft.com/office/powerpoint/2010/main" val="278707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89CB61-CB73-41CF-9AC9-9380A5B8E8F5}" type="slidenum">
              <a:rPr lang="en-US"/>
              <a:pPr/>
              <a:t>24</a:t>
            </a:fld>
            <a:endParaRPr lang="en-US"/>
          </a:p>
        </p:txBody>
      </p:sp>
      <p:sp>
        <p:nvSpPr>
          <p:cNvPr id="498690" name="Rectangle 2"/>
          <p:cNvSpPr>
            <a:spLocks noGrp="1" noRot="1" noChangeAspect="1" noChangeArrowheads="1" noTextEdit="1"/>
          </p:cNvSpPr>
          <p:nvPr>
            <p:ph type="sldImg"/>
          </p:nvPr>
        </p:nvSpPr>
        <p:spPr>
          <a:ln/>
        </p:spPr>
      </p:sp>
      <p:sp>
        <p:nvSpPr>
          <p:cNvPr id="49869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2BB363F-03B6-405B-812D-C906E2C8D97C}" type="datetimeFigureOut">
              <a:rPr lang="en-US" smtClean="0"/>
              <a:t>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2045838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BB363F-03B6-405B-812D-C906E2C8D97C}" type="datetimeFigureOut">
              <a:rPr lang="en-US" smtClean="0"/>
              <a:t>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728910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BB363F-03B6-405B-812D-C906E2C8D97C}" type="datetimeFigureOut">
              <a:rPr lang="en-US" smtClean="0"/>
              <a:t>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3824190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2BB363F-03B6-405B-812D-C906E2C8D97C}" type="datetimeFigureOut">
              <a:rPr lang="en-US" smtClean="0"/>
              <a:t>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3589146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2BB363F-03B6-405B-812D-C906E2C8D97C}" type="datetimeFigureOut">
              <a:rPr lang="en-US" smtClean="0"/>
              <a:t>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380444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2BB363F-03B6-405B-812D-C906E2C8D97C}" type="datetimeFigureOut">
              <a:rPr lang="en-US" smtClean="0"/>
              <a:t>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2453612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BB363F-03B6-405B-812D-C906E2C8D97C}" type="datetimeFigureOut">
              <a:rPr lang="en-US" smtClean="0"/>
              <a:t>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376281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BB363F-03B6-405B-812D-C906E2C8D97C}" type="datetimeFigureOut">
              <a:rPr lang="en-US" smtClean="0"/>
              <a:t>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1785430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BB363F-03B6-405B-812D-C906E2C8D97C}" type="datetimeFigureOut">
              <a:rPr lang="en-US" smtClean="0"/>
              <a:t>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1910743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BB363F-03B6-405B-812D-C906E2C8D97C}" type="datetimeFigureOut">
              <a:rPr lang="en-US" smtClean="0"/>
              <a:t>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2332763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BB363F-03B6-405B-812D-C906E2C8D97C}" type="datetimeFigureOut">
              <a:rPr lang="en-US" smtClean="0"/>
              <a:t>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0566EC-A52A-4B3C-8A39-7408334CA55B}" type="slidenum">
              <a:rPr lang="en-US" smtClean="0"/>
              <a:t>‹#›</a:t>
            </a:fld>
            <a:endParaRPr lang="en-US"/>
          </a:p>
        </p:txBody>
      </p:sp>
    </p:spTree>
    <p:extLst>
      <p:ext uri="{BB962C8B-B14F-4D97-AF65-F5344CB8AC3E}">
        <p14:creationId xmlns:p14="http://schemas.microsoft.com/office/powerpoint/2010/main" val="2032317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endParaRPr lang="en-US"/>
          </a:p>
        </p:txBody>
      </p:sp>
      <p:sp>
        <p:nvSpPr>
          <p:cNvPr id="4" name="Date Placeholder 3"/>
          <p:cNvSpPr>
            <a:spLocks noGrp="1"/>
          </p:cNvSpPr>
          <p:nvPr>
            <p:ph type="dt" sz="half" idx="10"/>
          </p:nvPr>
        </p:nvSpPr>
        <p:spPr>
          <a:xfrm>
            <a:off x="457200" y="6243638"/>
            <a:ext cx="2133600" cy="457200"/>
          </a:xfrm>
        </p:spPr>
        <p:txBody>
          <a:bodyPr/>
          <a:lstStyle>
            <a:lvl1pPr>
              <a:defRPr/>
            </a:lvl1pPr>
          </a:lstStyle>
          <a:p>
            <a:r>
              <a:rPr lang="en-US"/>
              <a:t>Rethink the Sync</a:t>
            </a:r>
            <a:endParaRPr lang="en-US" altLang="en-US"/>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r>
              <a:rPr lang="en-US" altLang="en-US"/>
              <a:t>University of Michigan</a:t>
            </a:r>
          </a:p>
        </p:txBody>
      </p:sp>
      <p:sp>
        <p:nvSpPr>
          <p:cNvPr id="6" name="Slide Number Placeholder 5"/>
          <p:cNvSpPr>
            <a:spLocks noGrp="1"/>
          </p:cNvSpPr>
          <p:nvPr>
            <p:ph type="sldNum" sz="quarter" idx="12"/>
          </p:nvPr>
        </p:nvSpPr>
        <p:spPr>
          <a:xfrm>
            <a:off x="6553200" y="6243638"/>
            <a:ext cx="2133600" cy="457200"/>
          </a:xfrm>
        </p:spPr>
        <p:txBody>
          <a:bodyPr/>
          <a:lstStyle>
            <a:lvl1pPr>
              <a:defRPr/>
            </a:lvl1pPr>
          </a:lstStyle>
          <a:p>
            <a:fld id="{B9BEF307-411E-4FFF-8ACC-E475664B4165}" type="slidenum">
              <a:rPr lang="en-US" altLang="en-US"/>
              <a:pPr/>
              <a:t>‹#›</a:t>
            </a:fld>
            <a:endParaRPr lang="en-US" altLang="en-US"/>
          </a:p>
        </p:txBody>
      </p:sp>
    </p:spTree>
    <p:extLst>
      <p:ext uri="{BB962C8B-B14F-4D97-AF65-F5344CB8AC3E}">
        <p14:creationId xmlns:p14="http://schemas.microsoft.com/office/powerpoint/2010/main" val="67796009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BB363F-03B6-405B-812D-C906E2C8D97C}" type="datetimeFigureOut">
              <a:rPr lang="en-US" smtClean="0"/>
              <a:t>2/3/25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0566EC-A52A-4B3C-8A39-7408334CA55B}" type="slidenum">
              <a:rPr lang="en-US" smtClean="0"/>
              <a:t>‹#›</a:t>
            </a:fld>
            <a:endParaRPr lang="en-US"/>
          </a:p>
        </p:txBody>
      </p:sp>
    </p:spTree>
    <p:extLst>
      <p:ext uri="{BB962C8B-B14F-4D97-AF65-F5344CB8AC3E}">
        <p14:creationId xmlns:p14="http://schemas.microsoft.com/office/powerpoint/2010/main" val="4041423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en.wikipedia.org/wiki/Journaling_file_syste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51857"/>
            <a:ext cx="7772400" cy="1470025"/>
          </a:xfrm>
        </p:spPr>
        <p:txBody>
          <a:bodyPr>
            <a:normAutofit fontScale="90000"/>
          </a:bodyPr>
          <a:lstStyle/>
          <a:p>
            <a:r>
              <a:rPr lang="en-US" sz="3100" b="1" dirty="0"/>
              <a:t>Issues in Replication and Resiliency</a:t>
            </a:r>
            <a:br>
              <a:rPr lang="en-US" sz="3100" dirty="0"/>
            </a:br>
            <a:br>
              <a:rPr lang="en-US" sz="3100" dirty="0"/>
            </a:br>
            <a:br>
              <a:rPr lang="en-US" sz="3100" dirty="0"/>
            </a:br>
            <a:br>
              <a:rPr lang="en-US" sz="3100" dirty="0"/>
            </a:br>
            <a:r>
              <a:rPr lang="en-US" sz="3100" dirty="0"/>
              <a:t>Speculative Execution In Distributed File Systems</a:t>
            </a:r>
            <a:br>
              <a:rPr lang="en-US" dirty="0"/>
            </a:br>
            <a:r>
              <a:rPr lang="en-US" sz="3100" dirty="0"/>
              <a:t>and </a:t>
            </a:r>
            <a:br>
              <a:rPr lang="en-US" sz="3100" dirty="0"/>
            </a:br>
            <a:r>
              <a:rPr lang="en-US" sz="3100" dirty="0"/>
              <a:t>External Synchrony</a:t>
            </a:r>
          </a:p>
        </p:txBody>
      </p:sp>
      <p:sp>
        <p:nvSpPr>
          <p:cNvPr id="3" name="Subtitle 2"/>
          <p:cNvSpPr>
            <a:spLocks noGrp="1"/>
          </p:cNvSpPr>
          <p:nvPr>
            <p:ph type="subTitle" idx="1"/>
          </p:nvPr>
        </p:nvSpPr>
        <p:spPr/>
        <p:txBody>
          <a:bodyPr>
            <a:normAutofit lnSpcReduction="10000"/>
          </a:bodyPr>
          <a:lstStyle/>
          <a:p>
            <a:r>
              <a:rPr lang="en-US" sz="2400" dirty="0"/>
              <a:t>Edmund </a:t>
            </a:r>
            <a:r>
              <a:rPr lang="en-US" sz="2400" dirty="0" err="1"/>
              <a:t>B.Nightingale</a:t>
            </a:r>
            <a:r>
              <a:rPr lang="en-US" sz="2400" dirty="0"/>
              <a:t>, </a:t>
            </a:r>
            <a:r>
              <a:rPr lang="en-US" sz="2400" dirty="0" err="1"/>
              <a:t>Kaushik</a:t>
            </a:r>
            <a:r>
              <a:rPr lang="en-US" sz="2400" dirty="0"/>
              <a:t> </a:t>
            </a:r>
            <a:r>
              <a:rPr lang="en-US" sz="2400" dirty="0" err="1"/>
              <a:t>Veeraraghavan</a:t>
            </a:r>
            <a:endParaRPr lang="en-US" sz="2400" dirty="0"/>
          </a:p>
          <a:p>
            <a:r>
              <a:rPr lang="en-US" sz="2400" dirty="0"/>
              <a:t>Peter Chen, Jason </a:t>
            </a:r>
            <a:r>
              <a:rPr lang="en-US" sz="2400" dirty="0" err="1"/>
              <a:t>Flinn</a:t>
            </a:r>
            <a:endParaRPr lang="en-US" sz="2400" dirty="0"/>
          </a:p>
          <a:p>
            <a:endParaRPr lang="en-US" sz="2400" dirty="0"/>
          </a:p>
          <a:p>
            <a:r>
              <a:rPr lang="en-US" sz="2400" dirty="0"/>
              <a:t>Slides based on the SOSP and OSDI presentations</a:t>
            </a:r>
          </a:p>
        </p:txBody>
      </p:sp>
    </p:spTree>
    <p:extLst>
      <p:ext uri="{BB962C8B-B14F-4D97-AF65-F5344CB8AC3E}">
        <p14:creationId xmlns:p14="http://schemas.microsoft.com/office/powerpoint/2010/main" val="493351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r>
              <a:rPr lang="en-US" dirty="0">
                <a:solidFill>
                  <a:srgbClr val="FF0000"/>
                </a:solidFill>
              </a:rPr>
              <a:t>Aspects to be Kept in Mind:</a:t>
            </a:r>
          </a:p>
          <a:p>
            <a:pPr marL="0" indent="0" algn="ctr">
              <a:buNone/>
            </a:pPr>
            <a:r>
              <a:rPr lang="en-US" dirty="0">
                <a:solidFill>
                  <a:srgbClr val="FF0000"/>
                </a:solidFill>
              </a:rPr>
              <a:t>C</a:t>
            </a:r>
            <a:r>
              <a:rPr lang="en-US" dirty="0"/>
              <a:t>onsistency</a:t>
            </a:r>
          </a:p>
          <a:p>
            <a:pPr marL="0" indent="0" algn="ctr">
              <a:buNone/>
            </a:pPr>
            <a:r>
              <a:rPr lang="en-US" dirty="0">
                <a:solidFill>
                  <a:srgbClr val="FF0000"/>
                </a:solidFill>
              </a:rPr>
              <a:t>A</a:t>
            </a:r>
            <a:r>
              <a:rPr lang="en-US" dirty="0"/>
              <a:t>vailability</a:t>
            </a:r>
          </a:p>
          <a:p>
            <a:pPr marL="0" indent="0" algn="ctr">
              <a:buNone/>
            </a:pPr>
            <a:r>
              <a:rPr lang="en-US" dirty="0">
                <a:solidFill>
                  <a:srgbClr val="FF0000"/>
                </a:solidFill>
              </a:rPr>
              <a:t>P</a:t>
            </a:r>
            <a:r>
              <a:rPr lang="en-US" dirty="0"/>
              <a:t>artition Tolerance</a:t>
            </a:r>
          </a:p>
          <a:p>
            <a:endParaRPr lang="en-US" dirty="0"/>
          </a:p>
        </p:txBody>
      </p:sp>
      <p:sp>
        <p:nvSpPr>
          <p:cNvPr id="2" name="TextBox 1">
            <a:extLst>
              <a:ext uri="{FF2B5EF4-FFF2-40B4-BE49-F238E27FC236}">
                <a16:creationId xmlns:a16="http://schemas.microsoft.com/office/drawing/2014/main" id="{B7D6AA5B-7DB5-1145-B461-5E1AB365BCE8}"/>
              </a:ext>
            </a:extLst>
          </p:cNvPr>
          <p:cNvSpPr txBox="1"/>
          <p:nvPr/>
        </p:nvSpPr>
        <p:spPr>
          <a:xfrm>
            <a:off x="459954" y="1415534"/>
            <a:ext cx="8271047" cy="369332"/>
          </a:xfrm>
          <a:prstGeom prst="rect">
            <a:avLst/>
          </a:prstGeom>
          <a:noFill/>
        </p:spPr>
        <p:txBody>
          <a:bodyPr wrap="none" rtlCol="0">
            <a:spAutoFit/>
          </a:bodyPr>
          <a:lstStyle/>
          <a:p>
            <a:r>
              <a:rPr lang="en-US" dirty="0"/>
              <a:t>Issues in Maintaining Consistency across Replicas in Distributed File Systems for Writes</a:t>
            </a:r>
          </a:p>
        </p:txBody>
      </p:sp>
    </p:spTree>
    <p:extLst>
      <p:ext uri="{BB962C8B-B14F-4D97-AF65-F5344CB8AC3E}">
        <p14:creationId xmlns:p14="http://schemas.microsoft.com/office/powerpoint/2010/main" val="659261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1603815" y="1152659"/>
            <a:ext cx="6317370" cy="1015663"/>
          </a:xfrm>
          <a:prstGeom prst="rect">
            <a:avLst/>
          </a:prstGeom>
          <a:noFill/>
        </p:spPr>
        <p:txBody>
          <a:bodyPr wrap="none" rtlCol="0">
            <a:spAutoFit/>
          </a:bodyPr>
          <a:lstStyle/>
          <a:p>
            <a:r>
              <a:rPr lang="en-US" sz="2000" i="1" dirty="0"/>
              <a:t>“ … consistency, availability, and partition tolerance. </a:t>
            </a:r>
          </a:p>
          <a:p>
            <a:r>
              <a:rPr lang="en-US" sz="2000" i="1" dirty="0"/>
              <a:t>It is impossible to achieve all three. “</a:t>
            </a:r>
          </a:p>
          <a:p>
            <a:r>
              <a:rPr lang="en-US" sz="2000" i="1" dirty="0"/>
              <a:t>				-- Gilbert and Lynn, MIT</a:t>
            </a:r>
          </a:p>
        </p:txBody>
      </p:sp>
      <p:sp>
        <p:nvSpPr>
          <p:cNvPr id="5" name="Rectangle 4"/>
          <p:cNvSpPr/>
          <p:nvPr/>
        </p:nvSpPr>
        <p:spPr>
          <a:xfrm>
            <a:off x="1219200" y="3105835"/>
            <a:ext cx="7086600" cy="707886"/>
          </a:xfrm>
          <a:prstGeom prst="rect">
            <a:avLst/>
          </a:prstGeom>
        </p:spPr>
        <p:txBody>
          <a:bodyPr wrap="square">
            <a:spAutoFit/>
          </a:bodyPr>
          <a:lstStyle/>
          <a:p>
            <a:r>
              <a:rPr lang="en-US" sz="2000" i="1" dirty="0"/>
              <a:t>“So in reality, there are only two types of systems: CP/CA and AP”</a:t>
            </a:r>
          </a:p>
          <a:p>
            <a:r>
              <a:rPr lang="en-US" sz="2000" i="1" dirty="0"/>
              <a:t>				      -- Daniel </a:t>
            </a:r>
            <a:r>
              <a:rPr lang="en-US" sz="2000" i="1" dirty="0" err="1"/>
              <a:t>Abadi</a:t>
            </a:r>
            <a:r>
              <a:rPr lang="en-US" sz="2000" i="1" dirty="0"/>
              <a:t>, Yale</a:t>
            </a:r>
          </a:p>
        </p:txBody>
      </p:sp>
      <p:sp>
        <p:nvSpPr>
          <p:cNvPr id="6" name="TextBox 5"/>
          <p:cNvSpPr txBox="1"/>
          <p:nvPr/>
        </p:nvSpPr>
        <p:spPr>
          <a:xfrm>
            <a:off x="2133600" y="4807994"/>
            <a:ext cx="5150962" cy="707886"/>
          </a:xfrm>
          <a:prstGeom prst="rect">
            <a:avLst/>
          </a:prstGeom>
          <a:noFill/>
        </p:spPr>
        <p:txBody>
          <a:bodyPr wrap="none" rtlCol="0">
            <a:spAutoFit/>
          </a:bodyPr>
          <a:lstStyle/>
          <a:p>
            <a:r>
              <a:rPr lang="en-US" sz="2000" i="1" dirty="0"/>
              <a:t>“There is no ‘free lunch’ with distributed data.”</a:t>
            </a:r>
          </a:p>
          <a:p>
            <a:r>
              <a:rPr lang="en-US" sz="2000" i="1" dirty="0"/>
              <a:t>			      -- Anonymous, HP</a:t>
            </a:r>
          </a:p>
        </p:txBody>
      </p:sp>
    </p:spTree>
    <p:extLst>
      <p:ext uri="{BB962C8B-B14F-4D97-AF65-F5344CB8AC3E}">
        <p14:creationId xmlns:p14="http://schemas.microsoft.com/office/powerpoint/2010/main" val="2136556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3575046" y="2133600"/>
            <a:ext cx="1907895" cy="584775"/>
          </a:xfrm>
          <a:prstGeom prst="rect">
            <a:avLst/>
          </a:prstGeom>
          <a:noFill/>
        </p:spPr>
        <p:txBody>
          <a:bodyPr wrap="none" rtlCol="0">
            <a:spAutoFit/>
          </a:bodyPr>
          <a:lstStyle/>
          <a:p>
            <a:r>
              <a:rPr lang="en-US" sz="3200" dirty="0">
                <a:solidFill>
                  <a:srgbClr val="FF0000"/>
                </a:solidFill>
              </a:rPr>
              <a:t>Sync</a:t>
            </a:r>
            <a:r>
              <a:rPr lang="en-US" sz="3200" dirty="0"/>
              <a:t>hrony</a:t>
            </a:r>
          </a:p>
        </p:txBody>
      </p:sp>
      <p:sp>
        <p:nvSpPr>
          <p:cNvPr id="5" name="TextBox 4"/>
          <p:cNvSpPr txBox="1"/>
          <p:nvPr/>
        </p:nvSpPr>
        <p:spPr>
          <a:xfrm>
            <a:off x="3472070" y="3517612"/>
            <a:ext cx="2113848" cy="584775"/>
          </a:xfrm>
          <a:prstGeom prst="rect">
            <a:avLst/>
          </a:prstGeom>
          <a:noFill/>
        </p:spPr>
        <p:txBody>
          <a:bodyPr wrap="none" rtlCol="0">
            <a:spAutoFit/>
          </a:bodyPr>
          <a:lstStyle/>
          <a:p>
            <a:r>
              <a:rPr lang="en-US" sz="3200" dirty="0">
                <a:solidFill>
                  <a:srgbClr val="FF0000"/>
                </a:solidFill>
              </a:rPr>
              <a:t>Async</a:t>
            </a:r>
            <a:r>
              <a:rPr lang="en-US" sz="3200" dirty="0"/>
              <a:t>hrony</a:t>
            </a:r>
          </a:p>
        </p:txBody>
      </p:sp>
    </p:spTree>
    <p:extLst>
      <p:ext uri="{BB962C8B-B14F-4D97-AF65-F5344CB8AC3E}">
        <p14:creationId xmlns:p14="http://schemas.microsoft.com/office/powerpoint/2010/main" val="108135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752600"/>
            <a:ext cx="2562225" cy="2353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0" y="1776586"/>
            <a:ext cx="2525222" cy="2329200"/>
          </a:xfrm>
          <a:prstGeom prst="rect">
            <a:avLst/>
          </a:prstGeom>
        </p:spPr>
      </p:pic>
      <p:sp>
        <p:nvSpPr>
          <p:cNvPr id="6" name="TextBox 5"/>
          <p:cNvSpPr txBox="1"/>
          <p:nvPr/>
        </p:nvSpPr>
        <p:spPr>
          <a:xfrm>
            <a:off x="1502552" y="4261021"/>
            <a:ext cx="1690719" cy="523220"/>
          </a:xfrm>
          <a:prstGeom prst="rect">
            <a:avLst/>
          </a:prstGeom>
          <a:noFill/>
        </p:spPr>
        <p:txBody>
          <a:bodyPr wrap="none" rtlCol="0">
            <a:spAutoFit/>
          </a:bodyPr>
          <a:lstStyle/>
          <a:p>
            <a:r>
              <a:rPr lang="en-US" sz="2800" dirty="0"/>
              <a:t>Synchrony</a:t>
            </a:r>
          </a:p>
        </p:txBody>
      </p:sp>
      <p:sp>
        <p:nvSpPr>
          <p:cNvPr id="7" name="TextBox 6"/>
          <p:cNvSpPr txBox="1"/>
          <p:nvPr/>
        </p:nvSpPr>
        <p:spPr>
          <a:xfrm>
            <a:off x="5660136" y="4261021"/>
            <a:ext cx="1872949" cy="523220"/>
          </a:xfrm>
          <a:prstGeom prst="rect">
            <a:avLst/>
          </a:prstGeom>
          <a:noFill/>
        </p:spPr>
        <p:txBody>
          <a:bodyPr wrap="none" rtlCol="0">
            <a:spAutoFit/>
          </a:bodyPr>
          <a:lstStyle/>
          <a:p>
            <a:r>
              <a:rPr lang="en-US" sz="2800" dirty="0"/>
              <a:t>Asynchrony</a:t>
            </a:r>
            <a:endParaRPr lang="en-US" dirty="0"/>
          </a:p>
        </p:txBody>
      </p:sp>
      <p:sp>
        <p:nvSpPr>
          <p:cNvPr id="8" name="Explosion 1 7"/>
          <p:cNvSpPr/>
          <p:nvPr/>
        </p:nvSpPr>
        <p:spPr>
          <a:xfrm>
            <a:off x="3962400" y="1616299"/>
            <a:ext cx="990600" cy="1524000"/>
          </a:xfrm>
          <a:prstGeom prst="irregularSeal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Tree>
    <p:extLst>
      <p:ext uri="{BB962C8B-B14F-4D97-AF65-F5344CB8AC3E}">
        <p14:creationId xmlns:p14="http://schemas.microsoft.com/office/powerpoint/2010/main" val="435744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0129" y="3724480"/>
            <a:ext cx="5323742" cy="2895600"/>
          </a:xfrm>
        </p:spPr>
        <p:txBody>
          <a:bodyPr>
            <a:normAutofit fontScale="85000" lnSpcReduction="10000"/>
          </a:bodyPr>
          <a:lstStyle/>
          <a:p>
            <a:pPr marL="0" indent="0" algn="just">
              <a:buNone/>
            </a:pPr>
            <a:r>
              <a:rPr lang="en-US" sz="2800" dirty="0"/>
              <a:t>synchronous abstractions:</a:t>
            </a:r>
          </a:p>
          <a:p>
            <a:pPr marL="0" indent="0" algn="just">
              <a:buNone/>
            </a:pPr>
            <a:r>
              <a:rPr lang="en-US" sz="2800" dirty="0"/>
              <a:t>	</a:t>
            </a:r>
            <a:r>
              <a:rPr lang="en-US" sz="2800" dirty="0">
                <a:solidFill>
                  <a:srgbClr val="FF0000"/>
                </a:solidFill>
              </a:rPr>
              <a:t>strong</a:t>
            </a:r>
            <a:r>
              <a:rPr lang="en-US" sz="2800" dirty="0"/>
              <a:t> reliability guarantees </a:t>
            </a:r>
          </a:p>
          <a:p>
            <a:pPr marL="0" indent="0" algn="just">
              <a:buNone/>
            </a:pPr>
            <a:r>
              <a:rPr lang="en-US" sz="2800" dirty="0"/>
              <a:t>	but are </a:t>
            </a:r>
            <a:r>
              <a:rPr lang="en-US" sz="2800" dirty="0">
                <a:solidFill>
                  <a:srgbClr val="FF0000"/>
                </a:solidFill>
              </a:rPr>
              <a:t>slow</a:t>
            </a:r>
            <a:endParaRPr lang="en-US" sz="2800" dirty="0"/>
          </a:p>
          <a:p>
            <a:pPr marL="0" indent="0" algn="just">
              <a:buNone/>
            </a:pPr>
            <a:endParaRPr lang="en-US" dirty="0"/>
          </a:p>
          <a:p>
            <a:pPr marL="0" indent="0" algn="just">
              <a:buNone/>
            </a:pPr>
            <a:r>
              <a:rPr lang="en-US" sz="2800" dirty="0"/>
              <a:t>asynchronous counterparts:</a:t>
            </a:r>
          </a:p>
          <a:p>
            <a:pPr marL="0" indent="0" algn="just">
              <a:buNone/>
            </a:pPr>
            <a:r>
              <a:rPr lang="en-US" sz="2800" dirty="0">
                <a:solidFill>
                  <a:srgbClr val="FF0000"/>
                </a:solidFill>
              </a:rPr>
              <a:t>	relax </a:t>
            </a:r>
            <a:r>
              <a:rPr lang="en-US" sz="2800" dirty="0"/>
              <a:t>reliability</a:t>
            </a:r>
            <a:r>
              <a:rPr lang="en-US" sz="2800" dirty="0">
                <a:solidFill>
                  <a:srgbClr val="FF0000"/>
                </a:solidFill>
              </a:rPr>
              <a:t> </a:t>
            </a:r>
            <a:r>
              <a:rPr lang="en-US" sz="2800" dirty="0"/>
              <a:t>guarantees </a:t>
            </a:r>
          </a:p>
          <a:p>
            <a:pPr marL="0" indent="0" algn="just">
              <a:buNone/>
            </a:pPr>
            <a:r>
              <a:rPr lang="en-US" sz="2800" dirty="0"/>
              <a:t>	</a:t>
            </a:r>
            <a:r>
              <a:rPr lang="en-US" sz="2800" dirty="0">
                <a:solidFill>
                  <a:srgbClr val="FF0000"/>
                </a:solidFill>
              </a:rPr>
              <a:t>reasonable</a:t>
            </a:r>
            <a:r>
              <a:rPr lang="en-US" sz="2800" dirty="0"/>
              <a:t> (better) performance</a:t>
            </a:r>
          </a:p>
          <a:p>
            <a:pPr marL="0" indent="0" algn="just">
              <a:buNone/>
            </a:pPr>
            <a:endParaRPr lang="en-US" dirty="0"/>
          </a:p>
          <a:p>
            <a:pPr algn="just"/>
            <a:endParaRPr lang="en-US" dirty="0"/>
          </a:p>
        </p:txBody>
      </p:sp>
      <p:sp>
        <p:nvSpPr>
          <p:cNvPr id="2" name="TextBox 1">
            <a:extLst>
              <a:ext uri="{FF2B5EF4-FFF2-40B4-BE49-F238E27FC236}">
                <a16:creationId xmlns:a16="http://schemas.microsoft.com/office/drawing/2014/main" id="{FCEC3A07-29E3-FF45-AD09-B9AC33640D43}"/>
              </a:ext>
            </a:extLst>
          </p:cNvPr>
          <p:cNvSpPr txBox="1"/>
          <p:nvPr/>
        </p:nvSpPr>
        <p:spPr>
          <a:xfrm>
            <a:off x="293914" y="990600"/>
            <a:ext cx="8697686" cy="2677656"/>
          </a:xfrm>
          <a:prstGeom prst="rect">
            <a:avLst/>
          </a:prstGeom>
          <a:noFill/>
        </p:spPr>
        <p:txBody>
          <a:bodyPr wrap="square" rtlCol="0">
            <a:spAutoFit/>
          </a:bodyPr>
          <a:lstStyle/>
          <a:p>
            <a:r>
              <a:rPr lang="en-US" dirty="0"/>
              <a:t>Think of a multi-tier application that needs to protect the data it writes.</a:t>
            </a:r>
            <a:br>
              <a:rPr lang="en-US" dirty="0"/>
            </a:br>
            <a:br>
              <a:rPr lang="en-US" dirty="0"/>
            </a:br>
            <a:r>
              <a:rPr lang="en-US" dirty="0"/>
              <a:t>Writes are performed by Applications on the Local (Primary) node</a:t>
            </a:r>
          </a:p>
          <a:p>
            <a:endParaRPr lang="en-US" dirty="0"/>
          </a:p>
          <a:p>
            <a:r>
              <a:rPr lang="en-US" dirty="0"/>
              <a:t>Writes are to be replicated to a Remote Replica (secondary)</a:t>
            </a:r>
          </a:p>
          <a:p>
            <a:endParaRPr lang="en-US" dirty="0"/>
          </a:p>
          <a:p>
            <a:r>
              <a:rPr lang="en-US" dirty="0"/>
              <a:t>Need to ensure remote replica is consistent with the primary, so that switchover from primary to secondary on failure is correct.</a:t>
            </a:r>
          </a:p>
          <a:p>
            <a:r>
              <a:rPr lang="en-US" dirty="0"/>
              <a:t>	Impact on write performance is of concern in addition to </a:t>
            </a:r>
            <a:r>
              <a:rPr lang="en-US" sz="2400" dirty="0">
                <a:solidFill>
                  <a:srgbClr val="FF0000"/>
                </a:solidFill>
              </a:rPr>
              <a:t>C, A, P</a:t>
            </a:r>
            <a:endParaRPr lang="en-US" dirty="0">
              <a:solidFill>
                <a:srgbClr val="FF0000"/>
              </a:solidFill>
            </a:endParaRPr>
          </a:p>
        </p:txBody>
      </p:sp>
      <p:sp>
        <p:nvSpPr>
          <p:cNvPr id="4" name="TextBox 3">
            <a:extLst>
              <a:ext uri="{FF2B5EF4-FFF2-40B4-BE49-F238E27FC236}">
                <a16:creationId xmlns:a16="http://schemas.microsoft.com/office/drawing/2014/main" id="{073DEA2F-F510-434F-A2AD-5CE013D5EEA1}"/>
              </a:ext>
            </a:extLst>
          </p:cNvPr>
          <p:cNvSpPr txBox="1"/>
          <p:nvPr/>
        </p:nvSpPr>
        <p:spPr>
          <a:xfrm>
            <a:off x="1736743" y="237920"/>
            <a:ext cx="5820568" cy="461665"/>
          </a:xfrm>
          <a:prstGeom prst="rect">
            <a:avLst/>
          </a:prstGeom>
          <a:noFill/>
        </p:spPr>
        <p:txBody>
          <a:bodyPr wrap="none" rtlCol="0">
            <a:spAutoFit/>
          </a:bodyPr>
          <a:lstStyle/>
          <a:p>
            <a:r>
              <a:rPr lang="en-US" sz="2400" b="1" dirty="0"/>
              <a:t>Failure Resiliency in Distributed File Systems</a:t>
            </a:r>
          </a:p>
        </p:txBody>
      </p:sp>
    </p:spTree>
    <p:extLst>
      <p:ext uri="{BB962C8B-B14F-4D97-AF65-F5344CB8AC3E}">
        <p14:creationId xmlns:p14="http://schemas.microsoft.com/office/powerpoint/2010/main" val="1079327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bwMode="auto">
          <a:xfrm>
            <a:off x="217714" y="5932714"/>
            <a:ext cx="8926286" cy="925286"/>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ea typeface="Arial" pitchFamily="-111" charset="-52"/>
              <a:cs typeface="Arial" pitchFamily="-111" charset="-52"/>
            </a:endParaRPr>
          </a:p>
        </p:txBody>
      </p:sp>
      <p:sp>
        <p:nvSpPr>
          <p:cNvPr id="90115" name="Rectangle 1"/>
          <p:cNvSpPr>
            <a:spLocks noGrp="1" noChangeArrowheads="1"/>
          </p:cNvSpPr>
          <p:nvPr>
            <p:ph type="title"/>
          </p:nvPr>
        </p:nvSpPr>
        <p:spPr/>
        <p:txBody>
          <a:bodyPr/>
          <a:lstStyle/>
          <a:p>
            <a:r>
              <a:rPr lang="en-US" sz="2800" b="0" dirty="0">
                <a:solidFill>
                  <a:schemeClr val="tx1"/>
                </a:solidFill>
              </a:rPr>
              <a:t>(A)Synchronous Replication</a:t>
            </a:r>
          </a:p>
        </p:txBody>
      </p:sp>
      <p:sp>
        <p:nvSpPr>
          <p:cNvPr id="7170" name="Rectangle 2"/>
          <p:cNvSpPr>
            <a:spLocks noGrp="1" noChangeArrowheads="1"/>
          </p:cNvSpPr>
          <p:nvPr>
            <p:ph type="body" idx="1"/>
          </p:nvPr>
        </p:nvSpPr>
        <p:spPr>
          <a:xfrm>
            <a:off x="0" y="4876800"/>
            <a:ext cx="4712042" cy="1670050"/>
          </a:xfrm>
        </p:spPr>
        <p:txBody>
          <a:bodyPr>
            <a:noAutofit/>
          </a:bodyPr>
          <a:lstStyle/>
          <a:p>
            <a:pPr marL="228600">
              <a:buClrTx/>
              <a:defRPr/>
            </a:pPr>
            <a:r>
              <a:rPr lang="en-US" sz="2000" b="1" dirty="0">
                <a:solidFill>
                  <a:srgbClr val="067AB4"/>
                </a:solidFill>
              </a:rPr>
              <a:t>Synchronous replication </a:t>
            </a:r>
          </a:p>
          <a:p>
            <a:pPr marL="256032">
              <a:buClrTx/>
              <a:defRPr/>
            </a:pPr>
            <a:r>
              <a:rPr lang="en-US" sz="2000" dirty="0"/>
              <a:t>No data loss</a:t>
            </a:r>
          </a:p>
          <a:p>
            <a:pPr marL="256032">
              <a:buClrTx/>
              <a:defRPr/>
            </a:pPr>
            <a:r>
              <a:rPr lang="en-US" sz="2000" dirty="0"/>
              <a:t>No unsafe replies</a:t>
            </a:r>
          </a:p>
          <a:p>
            <a:pPr marL="256032">
              <a:buClrTx/>
              <a:defRPr/>
            </a:pPr>
            <a:r>
              <a:rPr lang="en-US" sz="2000" dirty="0"/>
              <a:t>But performance very </a:t>
            </a:r>
            <a:br>
              <a:rPr lang="en-US" sz="2000" dirty="0"/>
            </a:br>
            <a:r>
              <a:rPr lang="en-US" sz="2000" dirty="0"/>
              <a:t>sensitive to latency!</a:t>
            </a:r>
          </a:p>
        </p:txBody>
      </p:sp>
      <p:sp>
        <p:nvSpPr>
          <p:cNvPr id="46" name="Rectangle 2"/>
          <p:cNvSpPr txBox="1">
            <a:spLocks noChangeArrowheads="1"/>
          </p:cNvSpPr>
          <p:nvPr/>
        </p:nvSpPr>
        <p:spPr bwMode="auto">
          <a:xfrm>
            <a:off x="4001820" y="4983010"/>
            <a:ext cx="4876800" cy="1670050"/>
          </a:xfrm>
          <a:prstGeom prst="rect">
            <a:avLst/>
          </a:prstGeom>
          <a:noFill/>
          <a:ln w="12700">
            <a:noFill/>
            <a:miter lim="800000"/>
            <a:headEnd/>
            <a:tailEnd/>
          </a:ln>
        </p:spPr>
        <p:txBody>
          <a:bodyPr lIns="0" tIns="0" rIns="0" bIns="0"/>
          <a:lstStyle/>
          <a:p>
            <a:pPr marL="473075" marR="0" lvl="0" indent="-125413" algn="l" defTabSz="947738" rtl="0" eaLnBrk="0" fontAlgn="base" latinLnBrk="0" hangingPunct="0">
              <a:lnSpc>
                <a:spcPct val="100000"/>
              </a:lnSpc>
              <a:spcBef>
                <a:spcPct val="20000"/>
              </a:spcBef>
              <a:spcAft>
                <a:spcPct val="20000"/>
              </a:spcAft>
              <a:buClrTx/>
              <a:buSzPct val="100000"/>
              <a:buFontTx/>
              <a:buNone/>
              <a:tabLst/>
              <a:defRPr/>
            </a:pPr>
            <a:r>
              <a:rPr kumimoji="0" lang="en-US" sz="1600" b="1" i="0" u="none" strike="noStrike" kern="0" cap="none" spc="0" normalizeH="0" baseline="0" noProof="0" dirty="0">
                <a:ln>
                  <a:noFill/>
                </a:ln>
                <a:solidFill>
                  <a:srgbClr val="067AB4"/>
                </a:solidFill>
                <a:effectLst/>
                <a:uLnTx/>
                <a:uFillTx/>
                <a:latin typeface="Verdana"/>
                <a:cs typeface="Arial" pitchFamily="-111" charset="-52"/>
              </a:rPr>
              <a:t>Asynchronous replication </a:t>
            </a:r>
          </a:p>
          <a:p>
            <a:pPr marL="328585" marR="0" lvl="0" indent="-233363" algn="l" defTabSz="947738" rtl="0" eaLnBrk="0" fontAlgn="base" latinLnBrk="0" hangingPunct="0">
              <a:lnSpc>
                <a:spcPct val="100000"/>
              </a:lnSpc>
              <a:spcBef>
                <a:spcPct val="10000"/>
              </a:spcBef>
              <a:spcAft>
                <a:spcPct val="30000"/>
              </a:spcAft>
              <a:buClrTx/>
              <a:buSzPct val="80000"/>
              <a:buFontTx/>
              <a:buNone/>
              <a:tabLst/>
              <a:defRPr/>
            </a:pPr>
            <a:r>
              <a:rPr kumimoji="0" lang="en-US" sz="1600" b="0" i="0" u="none" strike="noStrike" kern="0" cap="none" spc="0" normalizeH="0" baseline="0" noProof="0" dirty="0">
                <a:ln>
                  <a:noFill/>
                </a:ln>
                <a:solidFill>
                  <a:srgbClr val="000000"/>
                </a:solidFill>
                <a:effectLst/>
                <a:uLnTx/>
                <a:uFillTx/>
                <a:latin typeface="Verdana"/>
                <a:cs typeface="Arial" pitchFamily="-111" charset="-52"/>
              </a:rPr>
              <a:t>	Typically some data loss</a:t>
            </a:r>
          </a:p>
          <a:p>
            <a:pPr marL="328585" marR="0" lvl="0" indent="-233363" algn="l" defTabSz="947738" rtl="0" eaLnBrk="0" fontAlgn="base" latinLnBrk="0" hangingPunct="0">
              <a:lnSpc>
                <a:spcPct val="100000"/>
              </a:lnSpc>
              <a:spcBef>
                <a:spcPct val="10000"/>
              </a:spcBef>
              <a:spcAft>
                <a:spcPct val="30000"/>
              </a:spcAft>
              <a:buClrTx/>
              <a:buSzPct val="80000"/>
              <a:buFontTx/>
              <a:buNone/>
              <a:tabLst/>
              <a:defRPr/>
            </a:pPr>
            <a:r>
              <a:rPr kumimoji="0" lang="en-US" sz="1600" b="0" i="0" u="none" strike="noStrike" kern="0" cap="none" spc="0" normalizeH="0" baseline="0" noProof="0" dirty="0">
                <a:ln>
                  <a:noFill/>
                </a:ln>
                <a:solidFill>
                  <a:srgbClr val="000000"/>
                </a:solidFill>
                <a:effectLst/>
                <a:uLnTx/>
                <a:uFillTx/>
                <a:latin typeface="Verdana"/>
                <a:cs typeface="Arial" pitchFamily="-111" charset="-52"/>
              </a:rPr>
              <a:t>	Client view not consistent with replica</a:t>
            </a:r>
          </a:p>
          <a:p>
            <a:pPr marL="328585" marR="0" lvl="0" indent="-233363" algn="l" defTabSz="947738" rtl="0" eaLnBrk="0" fontAlgn="base" latinLnBrk="0" hangingPunct="0">
              <a:lnSpc>
                <a:spcPct val="100000"/>
              </a:lnSpc>
              <a:spcBef>
                <a:spcPct val="10000"/>
              </a:spcBef>
              <a:spcAft>
                <a:spcPct val="30000"/>
              </a:spcAft>
              <a:buClrTx/>
              <a:buSzPct val="80000"/>
              <a:buFontTx/>
              <a:buNone/>
              <a:tabLst/>
              <a:defRPr/>
            </a:pPr>
            <a:r>
              <a:rPr kumimoji="0" lang="en-US" sz="1600" b="0" i="0" u="none" strike="noStrike" kern="0" cap="none" spc="0" normalizeH="0" baseline="0" noProof="0" dirty="0">
                <a:ln>
                  <a:noFill/>
                </a:ln>
                <a:solidFill>
                  <a:srgbClr val="000000"/>
                </a:solidFill>
                <a:effectLst/>
                <a:uLnTx/>
                <a:uFillTx/>
                <a:latin typeface="Verdana"/>
                <a:ea typeface="ヒラギノ角ゴ ProN W3" charset="-128"/>
                <a:cs typeface="ヒラギノ角ゴ ProN W3" charset="-128"/>
                <a:sym typeface="Verdana" charset="0"/>
              </a:rPr>
              <a:t>	Remote writes can be batched and pipelined</a:t>
            </a:r>
            <a:endParaRPr kumimoji="0" lang="en-US" sz="1600" b="0" i="0" u="none" strike="noStrike" kern="0" cap="none" spc="0" normalizeH="0" baseline="0" noProof="0" dirty="0">
              <a:ln>
                <a:noFill/>
              </a:ln>
              <a:solidFill>
                <a:srgbClr val="000000"/>
              </a:solidFill>
              <a:effectLst/>
              <a:uLnTx/>
              <a:uFillTx/>
              <a:latin typeface="Verdana"/>
              <a:cs typeface="Arial" pitchFamily="-111" charset="-52"/>
            </a:endParaRPr>
          </a:p>
        </p:txBody>
      </p:sp>
      <p:grpSp>
        <p:nvGrpSpPr>
          <p:cNvPr id="2" name="Group 58"/>
          <p:cNvGrpSpPr/>
          <p:nvPr/>
        </p:nvGrpSpPr>
        <p:grpSpPr>
          <a:xfrm>
            <a:off x="0" y="1227438"/>
            <a:ext cx="9144000" cy="1488697"/>
            <a:chOff x="0" y="1227438"/>
            <a:chExt cx="9144000" cy="1488697"/>
          </a:xfrm>
        </p:grpSpPr>
        <p:grpSp>
          <p:nvGrpSpPr>
            <p:cNvPr id="3" name="Group 47"/>
            <p:cNvGrpSpPr>
              <a:grpSpLocks/>
            </p:cNvGrpSpPr>
            <p:nvPr/>
          </p:nvGrpSpPr>
          <p:grpSpPr bwMode="auto">
            <a:xfrm>
              <a:off x="0" y="1276350"/>
              <a:ext cx="9144000" cy="1439785"/>
              <a:chOff x="0" y="1276945"/>
              <a:chExt cx="8911829" cy="1438926"/>
            </a:xfrm>
          </p:grpSpPr>
          <p:sp>
            <p:nvSpPr>
              <p:cNvPr id="90120" name="Rectangle 5"/>
              <p:cNvSpPr>
                <a:spLocks/>
              </p:cNvSpPr>
              <p:nvPr/>
            </p:nvSpPr>
            <p:spPr bwMode="auto">
              <a:xfrm>
                <a:off x="0" y="1276945"/>
                <a:ext cx="2723555" cy="508992"/>
              </a:xfrm>
              <a:prstGeom prst="rect">
                <a:avLst/>
              </a:prstGeom>
              <a:noFill/>
              <a:ln w="9525">
                <a:no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1" i="0" u="none" strike="noStrike" kern="1200" cap="none" spc="0" normalizeH="0" baseline="0" noProof="0" dirty="0">
                    <a:ln>
                      <a:noFill/>
                    </a:ln>
                    <a:solidFill>
                      <a:srgbClr val="0070C0"/>
                    </a:solidFill>
                    <a:effectLst/>
                    <a:uLnTx/>
                    <a:uFillTx/>
                    <a:latin typeface="Verdana" pitchFamily="-111" charset="0"/>
                    <a:ea typeface="ＭＳ Ｐゴシック" pitchFamily="34" charset="-128"/>
                    <a:cs typeface="Gill Sans"/>
                  </a:rPr>
                  <a:t>Synchronous</a:t>
                </a:r>
              </a:p>
            </p:txBody>
          </p:sp>
          <p:grpSp>
            <p:nvGrpSpPr>
              <p:cNvPr id="4" name="Group 46"/>
              <p:cNvGrpSpPr>
                <a:grpSpLocks/>
              </p:cNvGrpSpPr>
              <p:nvPr/>
            </p:nvGrpSpPr>
            <p:grpSpPr bwMode="auto">
              <a:xfrm>
                <a:off x="63624" y="1348383"/>
                <a:ext cx="8848205" cy="1367488"/>
                <a:chOff x="63624" y="1348383"/>
                <a:chExt cx="8848205" cy="1367488"/>
              </a:xfrm>
            </p:grpSpPr>
            <p:sp>
              <p:nvSpPr>
                <p:cNvPr id="90122" name="Line 3"/>
                <p:cNvSpPr>
                  <a:spLocks noChangeShapeType="1"/>
                </p:cNvSpPr>
                <p:nvPr/>
              </p:nvSpPr>
              <p:spPr bwMode="auto">
                <a:xfrm flipH="1">
                  <a:off x="132830" y="2404318"/>
                  <a:ext cx="8778999" cy="0"/>
                </a:xfrm>
                <a:prstGeom prst="line">
                  <a:avLst/>
                </a:prstGeom>
                <a:noFill/>
                <a:ln w="38100">
                  <a:solidFill>
                    <a:schemeClr val="tx1"/>
                  </a:solidFill>
                  <a:miter lim="800000"/>
                  <a:headEnd type="stealth" w="med" len="me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23" name="Rectangle 4"/>
                <p:cNvSpPr>
                  <a:spLocks/>
                </p:cNvSpPr>
                <p:nvPr/>
              </p:nvSpPr>
              <p:spPr bwMode="auto">
                <a:xfrm>
                  <a:off x="4237688" y="2454417"/>
                  <a:ext cx="521810" cy="261454"/>
                </a:xfrm>
                <a:prstGeom prst="rect">
                  <a:avLst/>
                </a:prstGeom>
                <a:noFill/>
                <a:ln w="9525">
                  <a:noFill/>
                  <a:miter lim="800000"/>
                  <a:headEnd/>
                  <a:tailEnd/>
                </a:ln>
              </p:spPr>
              <p:txBody>
                <a:bodyPr wrap="none" lIns="0" tIns="0" rIns="0" bIns="0" anchor="ct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Time</a:t>
                  </a:r>
                </a:p>
              </p:txBody>
            </p:sp>
            <p:grpSp>
              <p:nvGrpSpPr>
                <p:cNvPr id="5" name="Group 6"/>
                <p:cNvGrpSpPr>
                  <a:grpSpLocks/>
                </p:cNvGrpSpPr>
                <p:nvPr/>
              </p:nvGrpSpPr>
              <p:grpSpPr bwMode="auto">
                <a:xfrm>
                  <a:off x="63624" y="1348383"/>
                  <a:ext cx="3750469" cy="928688"/>
                  <a:chOff x="0" y="0"/>
                  <a:chExt cx="3359" cy="832"/>
                </a:xfrm>
              </p:grpSpPr>
              <p:sp>
                <p:nvSpPr>
                  <p:cNvPr id="90130" name="Rectangle 7"/>
                  <p:cNvSpPr>
                    <a:spLocks/>
                  </p:cNvSpPr>
                  <p:nvPr/>
                </p:nvSpPr>
                <p:spPr bwMode="auto">
                  <a:xfrm>
                    <a:off x="1862" y="400"/>
                    <a:ext cx="985" cy="432"/>
                  </a:xfrm>
                  <a:prstGeom prst="rect">
                    <a:avLst/>
                  </a:prstGeom>
                  <a:solidFill>
                    <a:schemeClr val="accent1"/>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Processing</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sp>
                <p:nvSpPr>
                  <p:cNvPr id="90131" name="Rectangle 8"/>
                  <p:cNvSpPr>
                    <a:spLocks/>
                  </p:cNvSpPr>
                  <p:nvPr/>
                </p:nvSpPr>
                <p:spPr bwMode="auto">
                  <a:xfrm>
                    <a:off x="0" y="400"/>
                    <a:ext cx="1864" cy="432"/>
                  </a:xfrm>
                  <a:prstGeom prst="rect">
                    <a:avLst/>
                  </a:prstGeom>
                  <a:solidFill>
                    <a:srgbClr val="A40800"/>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Verdana" pitchFamily="-111" charset="0"/>
                        <a:ea typeface="ＭＳ Ｐゴシック" pitchFamily="34" charset="-128"/>
                        <a:cs typeface="Gill Sans"/>
                      </a:rPr>
                      <a:t>Replicate Write</a:t>
                    </a:r>
                  </a:p>
                </p:txBody>
              </p:sp>
              <p:sp>
                <p:nvSpPr>
                  <p:cNvPr id="90132" name="Line 9"/>
                  <p:cNvSpPr>
                    <a:spLocks noChangeShapeType="1"/>
                  </p:cNvSpPr>
                  <p:nvPr/>
                </p:nvSpPr>
                <p:spPr bwMode="auto">
                  <a:xfrm>
                    <a:off x="3293" y="0"/>
                    <a:ext cx="0" cy="392"/>
                  </a:xfrm>
                  <a:prstGeom prst="line">
                    <a:avLst/>
                  </a:prstGeom>
                  <a:noFill/>
                  <a:ln w="63500">
                    <a:solidFill>
                      <a:srgbClr val="0091CE"/>
                    </a:solidFill>
                    <a:miter lim="800000"/>
                    <a:headEnd type="triangle" w="med" len="me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33" name="Rectangle 10"/>
                  <p:cNvSpPr>
                    <a:spLocks/>
                  </p:cNvSpPr>
                  <p:nvPr/>
                </p:nvSpPr>
                <p:spPr bwMode="auto">
                  <a:xfrm>
                    <a:off x="2851" y="400"/>
                    <a:ext cx="508" cy="432"/>
                  </a:xfrm>
                  <a:prstGeom prst="rect">
                    <a:avLst/>
                  </a:prstGeom>
                  <a:solidFill>
                    <a:schemeClr val="accent2"/>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Reply</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grpSp>
            <p:grpSp>
              <p:nvGrpSpPr>
                <p:cNvPr id="6" name="Group 39"/>
                <p:cNvGrpSpPr>
                  <a:grpSpLocks/>
                </p:cNvGrpSpPr>
                <p:nvPr/>
              </p:nvGrpSpPr>
              <p:grpSpPr bwMode="auto">
                <a:xfrm>
                  <a:off x="3902274" y="1348383"/>
                  <a:ext cx="3749353" cy="928688"/>
                  <a:chOff x="0" y="0"/>
                  <a:chExt cx="3359" cy="832"/>
                </a:xfrm>
              </p:grpSpPr>
              <p:sp>
                <p:nvSpPr>
                  <p:cNvPr id="90126" name="Rectangle 40"/>
                  <p:cNvSpPr>
                    <a:spLocks/>
                  </p:cNvSpPr>
                  <p:nvPr/>
                </p:nvSpPr>
                <p:spPr bwMode="auto">
                  <a:xfrm>
                    <a:off x="1862" y="400"/>
                    <a:ext cx="985" cy="432"/>
                  </a:xfrm>
                  <a:prstGeom prst="rect">
                    <a:avLst/>
                  </a:prstGeom>
                  <a:solidFill>
                    <a:schemeClr val="accent1"/>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Processing</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sp>
                <p:nvSpPr>
                  <p:cNvPr id="90127" name="Rectangle 41"/>
                  <p:cNvSpPr>
                    <a:spLocks/>
                  </p:cNvSpPr>
                  <p:nvPr/>
                </p:nvSpPr>
                <p:spPr bwMode="auto">
                  <a:xfrm>
                    <a:off x="0" y="400"/>
                    <a:ext cx="1864" cy="432"/>
                  </a:xfrm>
                  <a:prstGeom prst="rect">
                    <a:avLst/>
                  </a:prstGeom>
                  <a:solidFill>
                    <a:srgbClr val="A40800"/>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700" b="0" i="0" u="none" strike="noStrike" kern="1200" cap="none" spc="0" normalizeH="0" baseline="0" noProof="0">
                        <a:ln>
                          <a:noFill/>
                        </a:ln>
                        <a:solidFill>
                          <a:srgbClr val="FFFFFF"/>
                        </a:solidFill>
                        <a:effectLst/>
                        <a:uLnTx/>
                        <a:uFillTx/>
                        <a:latin typeface="Verdana" pitchFamily="-111" charset="0"/>
                        <a:ea typeface="ＭＳ Ｐゴシック" pitchFamily="34" charset="-128"/>
                        <a:cs typeface="Gill Sans"/>
                      </a:rPr>
                      <a:t>Replicate Write</a:t>
                    </a:r>
                  </a:p>
                </p:txBody>
              </p:sp>
              <p:sp>
                <p:nvSpPr>
                  <p:cNvPr id="90128" name="Line 42"/>
                  <p:cNvSpPr>
                    <a:spLocks noChangeShapeType="1"/>
                  </p:cNvSpPr>
                  <p:nvPr/>
                </p:nvSpPr>
                <p:spPr bwMode="auto">
                  <a:xfrm>
                    <a:off x="3293" y="0"/>
                    <a:ext cx="0" cy="392"/>
                  </a:xfrm>
                  <a:prstGeom prst="line">
                    <a:avLst/>
                  </a:prstGeom>
                  <a:noFill/>
                  <a:ln w="63500">
                    <a:solidFill>
                      <a:srgbClr val="0091CE"/>
                    </a:solidFill>
                    <a:miter lim="800000"/>
                    <a:headEnd type="triangle" w="med" len="me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29" name="Rectangle 43"/>
                  <p:cNvSpPr>
                    <a:spLocks/>
                  </p:cNvSpPr>
                  <p:nvPr/>
                </p:nvSpPr>
                <p:spPr bwMode="auto">
                  <a:xfrm>
                    <a:off x="2851" y="400"/>
                    <a:ext cx="508" cy="432"/>
                  </a:xfrm>
                  <a:prstGeom prst="rect">
                    <a:avLst/>
                  </a:prstGeom>
                  <a:solidFill>
                    <a:schemeClr val="accent2"/>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Reply</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grpSp>
          </p:grpSp>
        </p:grpSp>
        <p:cxnSp>
          <p:nvCxnSpPr>
            <p:cNvPr id="50" name="Straight Arrow Connector 49"/>
            <p:cNvCxnSpPr/>
            <p:nvPr/>
          </p:nvCxnSpPr>
          <p:spPr bwMode="auto">
            <a:xfrm>
              <a:off x="98854" y="1227438"/>
              <a:ext cx="0" cy="551935"/>
            </a:xfrm>
            <a:prstGeom prst="straightConnector1">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cxnSp>
          <p:nvCxnSpPr>
            <p:cNvPr id="55" name="Straight Arrow Connector 54"/>
            <p:cNvCxnSpPr/>
            <p:nvPr/>
          </p:nvCxnSpPr>
          <p:spPr bwMode="auto">
            <a:xfrm>
              <a:off x="4036540" y="1260390"/>
              <a:ext cx="0" cy="551935"/>
            </a:xfrm>
            <a:prstGeom prst="straightConnector1">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grpSp>
      <p:grpSp>
        <p:nvGrpSpPr>
          <p:cNvPr id="7" name="Group 59"/>
          <p:cNvGrpSpPr/>
          <p:nvPr/>
        </p:nvGrpSpPr>
        <p:grpSpPr>
          <a:xfrm>
            <a:off x="88804" y="2611438"/>
            <a:ext cx="8978996" cy="2068512"/>
            <a:chOff x="88804" y="2611438"/>
            <a:chExt cx="8978996" cy="2068512"/>
          </a:xfrm>
        </p:grpSpPr>
        <p:grpSp>
          <p:nvGrpSpPr>
            <p:cNvPr id="8" name="Group 11"/>
            <p:cNvGrpSpPr>
              <a:grpSpLocks/>
            </p:cNvGrpSpPr>
            <p:nvPr/>
          </p:nvGrpSpPr>
          <p:grpSpPr bwMode="auto">
            <a:xfrm>
              <a:off x="88804" y="2611438"/>
              <a:ext cx="8978996" cy="2068512"/>
              <a:chOff x="44" y="-116"/>
              <a:chExt cx="8044" cy="1853"/>
            </a:xfrm>
          </p:grpSpPr>
          <p:grpSp>
            <p:nvGrpSpPr>
              <p:cNvPr id="9" name="Group 12"/>
              <p:cNvGrpSpPr>
                <a:grpSpLocks/>
              </p:cNvGrpSpPr>
              <p:nvPr/>
            </p:nvGrpSpPr>
            <p:grpSpPr bwMode="auto">
              <a:xfrm>
                <a:off x="224" y="1456"/>
                <a:ext cx="7864" cy="281"/>
                <a:chOff x="0" y="0"/>
                <a:chExt cx="7864" cy="281"/>
              </a:xfrm>
            </p:grpSpPr>
            <p:sp>
              <p:nvSpPr>
                <p:cNvPr id="90159" name="Line 13"/>
                <p:cNvSpPr>
                  <a:spLocks noChangeShapeType="1"/>
                </p:cNvSpPr>
                <p:nvPr/>
              </p:nvSpPr>
              <p:spPr bwMode="auto">
                <a:xfrm flipH="1">
                  <a:off x="0" y="0"/>
                  <a:ext cx="7864" cy="0"/>
                </a:xfrm>
                <a:prstGeom prst="line">
                  <a:avLst/>
                </a:prstGeom>
                <a:noFill/>
                <a:ln w="38100">
                  <a:solidFill>
                    <a:schemeClr val="tx1"/>
                  </a:solidFill>
                  <a:miter lim="800000"/>
                  <a:headEnd type="stealth" w="med" len="me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60" name="Rectangle 14"/>
                <p:cNvSpPr>
                  <a:spLocks/>
                </p:cNvSpPr>
                <p:nvPr/>
              </p:nvSpPr>
              <p:spPr bwMode="auto">
                <a:xfrm>
                  <a:off x="3670" y="47"/>
                  <a:ext cx="480" cy="234"/>
                </a:xfrm>
                <a:prstGeom prst="rect">
                  <a:avLst/>
                </a:prstGeom>
                <a:noFill/>
                <a:ln w="9525">
                  <a:noFill/>
                  <a:miter lim="800000"/>
                  <a:headEnd/>
                  <a:tailEnd/>
                </a:ln>
              </p:spPr>
              <p:txBody>
                <a:bodyPr wrap="none" lIns="0" tIns="0" rIns="0" bIns="0" anchor="ct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Time</a:t>
                  </a:r>
                </a:p>
              </p:txBody>
            </p:sp>
          </p:grpSp>
          <p:sp>
            <p:nvSpPr>
              <p:cNvPr id="90135" name="Rectangle 15"/>
              <p:cNvSpPr>
                <a:spLocks/>
              </p:cNvSpPr>
              <p:nvPr/>
            </p:nvSpPr>
            <p:spPr bwMode="auto">
              <a:xfrm>
                <a:off x="44" y="72"/>
                <a:ext cx="1536" cy="456"/>
              </a:xfrm>
              <a:prstGeom prst="rect">
                <a:avLst/>
              </a:prstGeom>
              <a:noFill/>
              <a:ln w="9525">
                <a:no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Verdana" pitchFamily="-111" charset="0"/>
                    <a:ea typeface="ＭＳ Ｐゴシック" pitchFamily="34" charset="-128"/>
                    <a:cs typeface="Gill Sans"/>
                  </a:rPr>
                  <a:t>Async</a:t>
                </a:r>
                <a:endParaRPr kumimoji="0" lang="en-US" sz="2000" b="1" i="0" u="none" strike="noStrike" kern="1200" cap="none" spc="0" normalizeH="0" baseline="0" noProof="0" dirty="0">
                  <a:ln>
                    <a:noFill/>
                  </a:ln>
                  <a:solidFill>
                    <a:srgbClr val="0070C0"/>
                  </a:solidFill>
                  <a:effectLst/>
                  <a:uLnTx/>
                  <a:uFillTx/>
                  <a:latin typeface="Verdana" pitchFamily="-111" charset="0"/>
                  <a:ea typeface="ＭＳ Ｐゴシック" pitchFamily="34" charset="-128"/>
                  <a:cs typeface="Gill Sans"/>
                </a:endParaRPr>
              </a:p>
            </p:txBody>
          </p:sp>
          <p:sp>
            <p:nvSpPr>
              <p:cNvPr id="90136" name="Rectangle 16"/>
              <p:cNvSpPr>
                <a:spLocks/>
              </p:cNvSpPr>
              <p:nvPr/>
            </p:nvSpPr>
            <p:spPr bwMode="auto">
              <a:xfrm>
                <a:off x="5464" y="887"/>
                <a:ext cx="2064" cy="424"/>
              </a:xfrm>
              <a:prstGeom prst="rect">
                <a:avLst/>
              </a:prstGeom>
              <a:solidFill>
                <a:srgbClr val="A40800"/>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700" b="0" i="0" u="none" strike="noStrike" kern="1200" cap="none" spc="0" normalizeH="0" baseline="0" noProof="0">
                    <a:ln>
                      <a:noFill/>
                    </a:ln>
                    <a:solidFill>
                      <a:srgbClr val="FFFFFF"/>
                    </a:solidFill>
                    <a:effectLst/>
                    <a:uLnTx/>
                    <a:uFillTx/>
                    <a:latin typeface="Verdana" pitchFamily="-111" charset="0"/>
                    <a:ea typeface="ＭＳ Ｐゴシック" pitchFamily="34" charset="-128"/>
                    <a:cs typeface="Gill Sans"/>
                  </a:rPr>
                  <a:t>Replicate Writes</a:t>
                </a:r>
              </a:p>
            </p:txBody>
          </p:sp>
          <p:sp>
            <p:nvSpPr>
              <p:cNvPr id="90137" name="Line 17"/>
              <p:cNvSpPr>
                <a:spLocks noChangeShapeType="1"/>
              </p:cNvSpPr>
              <p:nvPr/>
            </p:nvSpPr>
            <p:spPr bwMode="auto">
              <a:xfrm flipH="1">
                <a:off x="476" y="1218"/>
                <a:ext cx="4940" cy="0"/>
              </a:xfrm>
              <a:prstGeom prst="line">
                <a:avLst/>
              </a:prstGeom>
              <a:noFill/>
              <a:ln w="76200">
                <a:solidFill>
                  <a:schemeClr val="tx1"/>
                </a:solidFill>
                <a:prstDash val="sysDot"/>
                <a:miter lim="800000"/>
                <a:headEnd type="stealth" w="med" len="me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38" name="Line 18"/>
              <p:cNvSpPr>
                <a:spLocks noChangeShapeType="1"/>
              </p:cNvSpPr>
              <p:nvPr/>
            </p:nvSpPr>
            <p:spPr bwMode="auto">
              <a:xfrm>
                <a:off x="3832" y="1024"/>
                <a:ext cx="0" cy="208"/>
              </a:xfrm>
              <a:prstGeom prst="line">
                <a:avLst/>
              </a:prstGeom>
              <a:noFill/>
              <a:ln w="76200">
                <a:solidFill>
                  <a:schemeClr val="tx1"/>
                </a:solidFill>
                <a:miter lim="800000"/>
                <a:headEn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39" name="Line 19"/>
              <p:cNvSpPr>
                <a:spLocks noChangeShapeType="1"/>
              </p:cNvSpPr>
              <p:nvPr/>
            </p:nvSpPr>
            <p:spPr bwMode="auto">
              <a:xfrm>
                <a:off x="2176" y="1024"/>
                <a:ext cx="0" cy="208"/>
              </a:xfrm>
              <a:prstGeom prst="line">
                <a:avLst/>
              </a:prstGeom>
              <a:noFill/>
              <a:ln w="76200">
                <a:solidFill>
                  <a:schemeClr val="tx1"/>
                </a:solidFill>
                <a:miter lim="800000"/>
                <a:headEn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40" name="Line 20"/>
              <p:cNvSpPr>
                <a:spLocks noChangeShapeType="1"/>
              </p:cNvSpPr>
              <p:nvPr/>
            </p:nvSpPr>
            <p:spPr bwMode="auto">
              <a:xfrm>
                <a:off x="472" y="1024"/>
                <a:ext cx="0" cy="208"/>
              </a:xfrm>
              <a:prstGeom prst="line">
                <a:avLst/>
              </a:prstGeom>
              <a:noFill/>
              <a:ln w="76200">
                <a:solidFill>
                  <a:schemeClr val="tx1"/>
                </a:solidFill>
                <a:miter lim="800000"/>
                <a:headEn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grpSp>
            <p:nvGrpSpPr>
              <p:cNvPr id="10" name="Group 21"/>
              <p:cNvGrpSpPr>
                <a:grpSpLocks/>
              </p:cNvGrpSpPr>
              <p:nvPr/>
            </p:nvGrpSpPr>
            <p:grpSpPr bwMode="auto">
              <a:xfrm>
                <a:off x="408" y="-116"/>
                <a:ext cx="1856" cy="1212"/>
                <a:chOff x="0" y="-116"/>
                <a:chExt cx="1856" cy="1212"/>
              </a:xfrm>
            </p:grpSpPr>
            <p:sp>
              <p:nvSpPr>
                <p:cNvPr id="90154" name="Rectangle 22"/>
                <p:cNvSpPr>
                  <a:spLocks/>
                </p:cNvSpPr>
                <p:nvPr/>
              </p:nvSpPr>
              <p:spPr bwMode="auto">
                <a:xfrm>
                  <a:off x="112" y="664"/>
                  <a:ext cx="985" cy="432"/>
                </a:xfrm>
                <a:prstGeom prst="rect">
                  <a:avLst/>
                </a:prstGeom>
                <a:solidFill>
                  <a:schemeClr val="accent1"/>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Processing</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sp>
              <p:nvSpPr>
                <p:cNvPr id="90155" name="Line 23"/>
                <p:cNvSpPr>
                  <a:spLocks noChangeShapeType="1"/>
                </p:cNvSpPr>
                <p:nvPr/>
              </p:nvSpPr>
              <p:spPr bwMode="auto">
                <a:xfrm>
                  <a:off x="1534" y="252"/>
                  <a:ext cx="0" cy="392"/>
                </a:xfrm>
                <a:prstGeom prst="line">
                  <a:avLst/>
                </a:prstGeom>
                <a:noFill/>
                <a:ln w="63500">
                  <a:solidFill>
                    <a:srgbClr val="FF2712"/>
                  </a:solidFill>
                  <a:miter lim="800000"/>
                  <a:headEnd type="triangle" w="med" len="me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56" name="Rectangle 24"/>
                <p:cNvSpPr>
                  <a:spLocks/>
                </p:cNvSpPr>
                <p:nvPr/>
              </p:nvSpPr>
              <p:spPr bwMode="auto">
                <a:xfrm>
                  <a:off x="1101" y="664"/>
                  <a:ext cx="508" cy="432"/>
                </a:xfrm>
                <a:prstGeom prst="rect">
                  <a:avLst/>
                </a:prstGeom>
                <a:solidFill>
                  <a:schemeClr val="accent2"/>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Reply</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sp>
              <p:nvSpPr>
                <p:cNvPr id="90157" name="Rectangle 25"/>
                <p:cNvSpPr>
                  <a:spLocks/>
                </p:cNvSpPr>
                <p:nvPr/>
              </p:nvSpPr>
              <p:spPr bwMode="auto">
                <a:xfrm>
                  <a:off x="1069" y="-116"/>
                  <a:ext cx="787" cy="551"/>
                </a:xfrm>
                <a:prstGeom prst="rect">
                  <a:avLst/>
                </a:prstGeom>
                <a:noFill/>
                <a:ln w="9525">
                  <a:noFill/>
                  <a:miter lim="800000"/>
                  <a:headEnd/>
                  <a:tailEnd/>
                </a:ln>
              </p:spPr>
              <p:txBody>
                <a:bodyPr wrap="none" lIns="0" tIns="0" rIns="0" bIns="0" anchor="ct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4D4D4D">
                          <a:lumMod val="75000"/>
                        </a:srgbClr>
                      </a:solidFill>
                      <a:effectLst/>
                      <a:uLnTx/>
                      <a:uFillTx/>
                      <a:latin typeface="Verdana" pitchFamily="-111" charset="0"/>
                      <a:ea typeface="ＭＳ Ｐゴシック" pitchFamily="34" charset="-128"/>
                      <a:cs typeface="Gill Sans"/>
                    </a:rPr>
                    <a:t>Unsafe</a:t>
                  </a:r>
                  <a:br>
                    <a:rPr kumimoji="0" lang="en-US" sz="2000" b="0" i="0" u="none" strike="noStrike" kern="1200" cap="none" spc="0" normalizeH="0" baseline="0" noProof="0" dirty="0">
                      <a:ln>
                        <a:noFill/>
                      </a:ln>
                      <a:solidFill>
                        <a:srgbClr val="CCCCCC"/>
                      </a:solidFill>
                      <a:effectLst/>
                      <a:uLnTx/>
                      <a:uFillTx/>
                      <a:latin typeface="Verdana" pitchFamily="-111" charset="0"/>
                      <a:ea typeface="ＭＳ Ｐゴシック" pitchFamily="34" charset="-128"/>
                      <a:cs typeface="Gill Sans"/>
                    </a:rPr>
                  </a:br>
                  <a:endParaRPr kumimoji="0" lang="en-US" sz="2000" b="0" i="0" u="none" strike="noStrike" kern="1200" cap="none" spc="0" normalizeH="0" baseline="0" noProof="0" dirty="0">
                    <a:ln>
                      <a:noFill/>
                    </a:ln>
                    <a:solidFill>
                      <a:srgbClr val="CCCCCC"/>
                    </a:solidFill>
                    <a:effectLst/>
                    <a:uLnTx/>
                    <a:uFillTx/>
                    <a:latin typeface="Verdana" pitchFamily="-111" charset="0"/>
                    <a:ea typeface="ＭＳ Ｐゴシック" pitchFamily="34" charset="-128"/>
                    <a:cs typeface="Gill Sans"/>
                  </a:endParaRPr>
                </a:p>
              </p:txBody>
            </p:sp>
            <p:sp>
              <p:nvSpPr>
                <p:cNvPr id="90158" name="Rectangle 26"/>
                <p:cNvSpPr>
                  <a:spLocks/>
                </p:cNvSpPr>
                <p:nvPr/>
              </p:nvSpPr>
              <p:spPr bwMode="auto">
                <a:xfrm>
                  <a:off x="0" y="664"/>
                  <a:ext cx="144" cy="432"/>
                </a:xfrm>
                <a:prstGeom prst="rect">
                  <a:avLst/>
                </a:prstGeom>
                <a:solidFill>
                  <a:srgbClr val="A40800"/>
                </a:solidFill>
                <a:ln w="25400">
                  <a:solidFill>
                    <a:schemeClr val="tx1"/>
                  </a:solidFill>
                  <a:miter lim="800000"/>
                  <a:headEn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grpSp>
          <p:grpSp>
            <p:nvGrpSpPr>
              <p:cNvPr id="11" name="Group 27"/>
              <p:cNvGrpSpPr>
                <a:grpSpLocks/>
              </p:cNvGrpSpPr>
              <p:nvPr/>
            </p:nvGrpSpPr>
            <p:grpSpPr bwMode="auto">
              <a:xfrm>
                <a:off x="2088" y="-116"/>
                <a:ext cx="1856" cy="1212"/>
                <a:chOff x="0" y="-116"/>
                <a:chExt cx="1856" cy="1212"/>
              </a:xfrm>
            </p:grpSpPr>
            <p:sp>
              <p:nvSpPr>
                <p:cNvPr id="90149" name="Rectangle 28"/>
                <p:cNvSpPr>
                  <a:spLocks/>
                </p:cNvSpPr>
                <p:nvPr/>
              </p:nvSpPr>
              <p:spPr bwMode="auto">
                <a:xfrm>
                  <a:off x="112" y="664"/>
                  <a:ext cx="985" cy="432"/>
                </a:xfrm>
                <a:prstGeom prst="rect">
                  <a:avLst/>
                </a:prstGeom>
                <a:solidFill>
                  <a:schemeClr val="accent1"/>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Processing</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sp>
              <p:nvSpPr>
                <p:cNvPr id="90150" name="Line 29"/>
                <p:cNvSpPr>
                  <a:spLocks noChangeShapeType="1"/>
                </p:cNvSpPr>
                <p:nvPr/>
              </p:nvSpPr>
              <p:spPr bwMode="auto">
                <a:xfrm>
                  <a:off x="1534" y="252"/>
                  <a:ext cx="0" cy="392"/>
                </a:xfrm>
                <a:prstGeom prst="line">
                  <a:avLst/>
                </a:prstGeom>
                <a:noFill/>
                <a:ln w="63500">
                  <a:solidFill>
                    <a:srgbClr val="FF2712"/>
                  </a:solidFill>
                  <a:miter lim="800000"/>
                  <a:headEnd type="triangle" w="med" len="me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51" name="Rectangle 30"/>
                <p:cNvSpPr>
                  <a:spLocks/>
                </p:cNvSpPr>
                <p:nvPr/>
              </p:nvSpPr>
              <p:spPr bwMode="auto">
                <a:xfrm>
                  <a:off x="1101" y="664"/>
                  <a:ext cx="508" cy="432"/>
                </a:xfrm>
                <a:prstGeom prst="rect">
                  <a:avLst/>
                </a:prstGeom>
                <a:solidFill>
                  <a:schemeClr val="accent2"/>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Reply</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sp>
              <p:nvSpPr>
                <p:cNvPr id="90152" name="Rectangle 31"/>
                <p:cNvSpPr>
                  <a:spLocks/>
                </p:cNvSpPr>
                <p:nvPr/>
              </p:nvSpPr>
              <p:spPr bwMode="auto">
                <a:xfrm>
                  <a:off x="1069" y="-116"/>
                  <a:ext cx="787" cy="551"/>
                </a:xfrm>
                <a:prstGeom prst="rect">
                  <a:avLst/>
                </a:prstGeom>
                <a:noFill/>
                <a:ln w="9525">
                  <a:noFill/>
                  <a:miter lim="800000"/>
                  <a:headEnd/>
                  <a:tailEnd/>
                </a:ln>
              </p:spPr>
              <p:txBody>
                <a:bodyPr wrap="none" lIns="0" tIns="0" rIns="0" bIns="0" anchor="ct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4D4D4D">
                          <a:lumMod val="75000"/>
                        </a:srgbClr>
                      </a:solidFill>
                      <a:effectLst/>
                      <a:uLnTx/>
                      <a:uFillTx/>
                      <a:latin typeface="Verdana" pitchFamily="-111" charset="0"/>
                      <a:ea typeface="ＭＳ Ｐゴシック" pitchFamily="34" charset="-128"/>
                      <a:cs typeface="Gill Sans"/>
                    </a:rPr>
                    <a:t>Unsafe</a:t>
                  </a:r>
                  <a:br>
                    <a:rPr kumimoji="0" lang="en-US" sz="2000" b="0" i="0" u="none" strike="noStrike" kern="1200" cap="none" spc="0" normalizeH="0" baseline="0" noProof="0" dirty="0">
                      <a:ln>
                        <a:noFill/>
                      </a:ln>
                      <a:solidFill>
                        <a:srgbClr val="CCCCCC"/>
                      </a:solidFill>
                      <a:effectLst/>
                      <a:uLnTx/>
                      <a:uFillTx/>
                      <a:latin typeface="Verdana" pitchFamily="-111" charset="0"/>
                      <a:ea typeface="ＭＳ Ｐゴシック" pitchFamily="34" charset="-128"/>
                      <a:cs typeface="Gill Sans"/>
                    </a:rPr>
                  </a:br>
                  <a:endParaRPr kumimoji="0" lang="en-US" sz="2000" b="0" i="0" u="none" strike="noStrike" kern="1200" cap="none" spc="0" normalizeH="0" baseline="0" noProof="0" dirty="0">
                    <a:ln>
                      <a:noFill/>
                    </a:ln>
                    <a:solidFill>
                      <a:srgbClr val="CCCCCC"/>
                    </a:solidFill>
                    <a:effectLst/>
                    <a:uLnTx/>
                    <a:uFillTx/>
                    <a:latin typeface="Verdana" pitchFamily="-111" charset="0"/>
                    <a:ea typeface="ＭＳ Ｐゴシック" pitchFamily="34" charset="-128"/>
                    <a:cs typeface="Gill Sans"/>
                  </a:endParaRPr>
                </a:p>
              </p:txBody>
            </p:sp>
            <p:sp>
              <p:nvSpPr>
                <p:cNvPr id="90153" name="Rectangle 32"/>
                <p:cNvSpPr>
                  <a:spLocks/>
                </p:cNvSpPr>
                <p:nvPr/>
              </p:nvSpPr>
              <p:spPr bwMode="auto">
                <a:xfrm>
                  <a:off x="0" y="664"/>
                  <a:ext cx="144" cy="432"/>
                </a:xfrm>
                <a:prstGeom prst="rect">
                  <a:avLst/>
                </a:prstGeom>
                <a:solidFill>
                  <a:srgbClr val="A40800"/>
                </a:solidFill>
                <a:ln w="25400">
                  <a:solidFill>
                    <a:schemeClr val="tx1"/>
                  </a:solidFill>
                  <a:miter lim="800000"/>
                  <a:headEn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grpSp>
          <p:grpSp>
            <p:nvGrpSpPr>
              <p:cNvPr id="12" name="Group 33"/>
              <p:cNvGrpSpPr>
                <a:grpSpLocks/>
              </p:cNvGrpSpPr>
              <p:nvPr/>
            </p:nvGrpSpPr>
            <p:grpSpPr bwMode="auto">
              <a:xfrm>
                <a:off x="3768" y="-116"/>
                <a:ext cx="1856" cy="1212"/>
                <a:chOff x="0" y="-116"/>
                <a:chExt cx="1856" cy="1212"/>
              </a:xfrm>
            </p:grpSpPr>
            <p:sp>
              <p:nvSpPr>
                <p:cNvPr id="90144" name="Rectangle 34"/>
                <p:cNvSpPr>
                  <a:spLocks/>
                </p:cNvSpPr>
                <p:nvPr/>
              </p:nvSpPr>
              <p:spPr bwMode="auto">
                <a:xfrm>
                  <a:off x="112" y="664"/>
                  <a:ext cx="985" cy="432"/>
                </a:xfrm>
                <a:prstGeom prst="rect">
                  <a:avLst/>
                </a:prstGeom>
                <a:solidFill>
                  <a:schemeClr val="accent1"/>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Processing</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sp>
              <p:nvSpPr>
                <p:cNvPr id="90145" name="Line 35"/>
                <p:cNvSpPr>
                  <a:spLocks noChangeShapeType="1"/>
                </p:cNvSpPr>
                <p:nvPr/>
              </p:nvSpPr>
              <p:spPr bwMode="auto">
                <a:xfrm>
                  <a:off x="1534" y="252"/>
                  <a:ext cx="0" cy="392"/>
                </a:xfrm>
                <a:prstGeom prst="line">
                  <a:avLst/>
                </a:prstGeom>
                <a:noFill/>
                <a:ln w="63500">
                  <a:solidFill>
                    <a:srgbClr val="FF2712"/>
                  </a:solidFill>
                  <a:miter lim="800000"/>
                  <a:headEnd type="triangle" w="med" len="me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sp>
              <p:nvSpPr>
                <p:cNvPr id="90146" name="Rectangle 36"/>
                <p:cNvSpPr>
                  <a:spLocks/>
                </p:cNvSpPr>
                <p:nvPr/>
              </p:nvSpPr>
              <p:spPr bwMode="auto">
                <a:xfrm>
                  <a:off x="1101" y="664"/>
                  <a:ext cx="508" cy="432"/>
                </a:xfrm>
                <a:prstGeom prst="rect">
                  <a:avLst/>
                </a:prstGeom>
                <a:solidFill>
                  <a:schemeClr val="accent2"/>
                </a:solidFill>
                <a:ln w="25400">
                  <a:solidFill>
                    <a:schemeClr val="tx1"/>
                  </a:solidFill>
                  <a:miter lim="800000"/>
                  <a:headEnd/>
                  <a:tailEnd/>
                </a:ln>
              </p:spPr>
              <p:txBody>
                <a:bodyPr lIns="0" tIns="0" rIns="0" bIns="0"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rPr>
                    <a:t>Reply</a:t>
                  </a:r>
                  <a:endParaRPr kumimoji="0" lang="en-US" sz="1700" b="0" i="0" u="none" strike="noStrike" kern="1200" cap="none" spc="0" normalizeH="0" baseline="0" noProof="0" dirty="0">
                    <a:ln>
                      <a:noFill/>
                    </a:ln>
                    <a:solidFill>
                      <a:srgbClr val="000000"/>
                    </a:solidFill>
                    <a:effectLst/>
                    <a:uLnTx/>
                    <a:uFillTx/>
                    <a:latin typeface="Verdana" pitchFamily="-111" charset="0"/>
                    <a:ea typeface="ＭＳ Ｐゴシック" pitchFamily="34" charset="-128"/>
                    <a:cs typeface="Gill Sans"/>
                  </a:endParaRPr>
                </a:p>
              </p:txBody>
            </p:sp>
            <p:sp>
              <p:nvSpPr>
                <p:cNvPr id="90147" name="Rectangle 37"/>
                <p:cNvSpPr>
                  <a:spLocks/>
                </p:cNvSpPr>
                <p:nvPr/>
              </p:nvSpPr>
              <p:spPr bwMode="auto">
                <a:xfrm>
                  <a:off x="1069" y="-116"/>
                  <a:ext cx="787" cy="551"/>
                </a:xfrm>
                <a:prstGeom prst="rect">
                  <a:avLst/>
                </a:prstGeom>
                <a:noFill/>
                <a:ln w="9525">
                  <a:noFill/>
                  <a:miter lim="800000"/>
                  <a:headEnd/>
                  <a:tailEnd/>
                </a:ln>
              </p:spPr>
              <p:txBody>
                <a:bodyPr wrap="none" lIns="0" tIns="0" rIns="0" bIns="0" anchor="ct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4D4D4D">
                          <a:lumMod val="75000"/>
                        </a:srgbClr>
                      </a:solidFill>
                      <a:effectLst/>
                      <a:uLnTx/>
                      <a:uFillTx/>
                      <a:latin typeface="Verdana" pitchFamily="-111" charset="0"/>
                      <a:ea typeface="ＭＳ Ｐゴシック" pitchFamily="34" charset="-128"/>
                      <a:cs typeface="Gill Sans"/>
                    </a:rPr>
                    <a:t>Unsafe</a:t>
                  </a:r>
                  <a:br>
                    <a:rPr kumimoji="0" lang="en-US" sz="2000" b="0" i="0" u="none" strike="noStrike" kern="1200" cap="none" spc="0" normalizeH="0" baseline="0" noProof="0" dirty="0">
                      <a:ln>
                        <a:noFill/>
                      </a:ln>
                      <a:solidFill>
                        <a:srgbClr val="CCCCCC"/>
                      </a:solidFill>
                      <a:effectLst/>
                      <a:uLnTx/>
                      <a:uFillTx/>
                      <a:latin typeface="Verdana" pitchFamily="-111" charset="0"/>
                      <a:ea typeface="ＭＳ Ｐゴシック" pitchFamily="34" charset="-128"/>
                      <a:cs typeface="Gill Sans"/>
                    </a:rPr>
                  </a:br>
                  <a:endParaRPr kumimoji="0" lang="en-US" sz="2000" b="0" i="0" u="none" strike="noStrike" kern="1200" cap="none" spc="0" normalizeH="0" baseline="0" noProof="0" dirty="0">
                    <a:ln>
                      <a:noFill/>
                    </a:ln>
                    <a:solidFill>
                      <a:srgbClr val="CCCCCC"/>
                    </a:solidFill>
                    <a:effectLst/>
                    <a:uLnTx/>
                    <a:uFillTx/>
                    <a:latin typeface="Verdana" pitchFamily="-111" charset="0"/>
                    <a:ea typeface="ＭＳ Ｐゴシック" pitchFamily="34" charset="-128"/>
                    <a:cs typeface="Gill Sans"/>
                  </a:endParaRPr>
                </a:p>
              </p:txBody>
            </p:sp>
            <p:sp>
              <p:nvSpPr>
                <p:cNvPr id="90148" name="Rectangle 38"/>
                <p:cNvSpPr>
                  <a:spLocks/>
                </p:cNvSpPr>
                <p:nvPr/>
              </p:nvSpPr>
              <p:spPr bwMode="auto">
                <a:xfrm>
                  <a:off x="0" y="664"/>
                  <a:ext cx="144" cy="432"/>
                </a:xfrm>
                <a:prstGeom prst="rect">
                  <a:avLst/>
                </a:prstGeom>
                <a:solidFill>
                  <a:srgbClr val="A40800"/>
                </a:solidFill>
                <a:ln w="25400">
                  <a:solidFill>
                    <a:schemeClr val="tx1"/>
                  </a:solidFill>
                  <a:miter lim="800000"/>
                  <a:headEnd/>
                  <a:tailEnd/>
                </a:ln>
              </p:spPr>
              <p:txBody>
                <a:bodyPr lIns="0" tIns="0" rIns="0" bIns="0"/>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CCCCCC"/>
                    </a:solidFill>
                    <a:effectLst/>
                    <a:uLnTx/>
                    <a:uFillTx/>
                    <a:latin typeface="Verdana" pitchFamily="-111" charset="0"/>
                    <a:cs typeface="Arial" pitchFamily="-111" charset="-52"/>
                  </a:endParaRPr>
                </a:p>
              </p:txBody>
            </p:sp>
          </p:grpSp>
        </p:grpSp>
        <p:cxnSp>
          <p:nvCxnSpPr>
            <p:cNvPr id="56" name="Straight Arrow Connector 55"/>
            <p:cNvCxnSpPr/>
            <p:nvPr/>
          </p:nvCxnSpPr>
          <p:spPr bwMode="auto">
            <a:xfrm>
              <a:off x="477794" y="2940909"/>
              <a:ext cx="0" cy="551935"/>
            </a:xfrm>
            <a:prstGeom prst="straightConnector1">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cxnSp>
          <p:nvCxnSpPr>
            <p:cNvPr id="57" name="Straight Arrow Connector 56"/>
            <p:cNvCxnSpPr/>
            <p:nvPr/>
          </p:nvCxnSpPr>
          <p:spPr bwMode="auto">
            <a:xfrm>
              <a:off x="2380734" y="2965622"/>
              <a:ext cx="0" cy="551935"/>
            </a:xfrm>
            <a:prstGeom prst="straightConnector1">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cxnSp>
          <p:nvCxnSpPr>
            <p:cNvPr id="58" name="Straight Arrow Connector 57"/>
            <p:cNvCxnSpPr/>
            <p:nvPr/>
          </p:nvCxnSpPr>
          <p:spPr bwMode="auto">
            <a:xfrm>
              <a:off x="4250724" y="2957385"/>
              <a:ext cx="0" cy="551935"/>
            </a:xfrm>
            <a:prstGeom prst="straightConnector1">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grpSp>
      <p:sp>
        <p:nvSpPr>
          <p:cNvPr id="13" name="TextBox 12">
            <a:extLst>
              <a:ext uri="{FF2B5EF4-FFF2-40B4-BE49-F238E27FC236}">
                <a16:creationId xmlns:a16="http://schemas.microsoft.com/office/drawing/2014/main" id="{7EC1B239-1729-EC4E-8950-A87A999DB8F3}"/>
              </a:ext>
            </a:extLst>
          </p:cNvPr>
          <p:cNvSpPr txBox="1"/>
          <p:nvPr/>
        </p:nvSpPr>
        <p:spPr>
          <a:xfrm>
            <a:off x="35746" y="783028"/>
            <a:ext cx="620106" cy="584775"/>
          </a:xfrm>
          <a:prstGeom prst="rect">
            <a:avLst/>
          </a:prstGeom>
          <a:noFill/>
        </p:spPr>
        <p:txBody>
          <a:bodyPr wrap="none" rtlCol="0">
            <a:spAutoFit/>
          </a:bodyPr>
          <a:lstStyle/>
          <a:p>
            <a:r>
              <a:rPr lang="en-US" sz="1600" dirty="0"/>
              <a:t>Local</a:t>
            </a:r>
          </a:p>
          <a:p>
            <a:r>
              <a:rPr lang="en-US" sz="1600" dirty="0"/>
              <a:t>write</a:t>
            </a:r>
          </a:p>
        </p:txBody>
      </p:sp>
      <p:sp>
        <p:nvSpPr>
          <p:cNvPr id="59" name="TextBox 58">
            <a:extLst>
              <a:ext uri="{FF2B5EF4-FFF2-40B4-BE49-F238E27FC236}">
                <a16:creationId xmlns:a16="http://schemas.microsoft.com/office/drawing/2014/main" id="{CAE5B4D3-6788-5048-BB39-828DD896CA08}"/>
              </a:ext>
            </a:extLst>
          </p:cNvPr>
          <p:cNvSpPr txBox="1"/>
          <p:nvPr/>
        </p:nvSpPr>
        <p:spPr>
          <a:xfrm>
            <a:off x="4028094" y="1066800"/>
            <a:ext cx="620106" cy="584775"/>
          </a:xfrm>
          <a:prstGeom prst="rect">
            <a:avLst/>
          </a:prstGeom>
          <a:noFill/>
        </p:spPr>
        <p:txBody>
          <a:bodyPr wrap="none" rtlCol="0">
            <a:spAutoFit/>
          </a:bodyPr>
          <a:lstStyle/>
          <a:p>
            <a:r>
              <a:rPr lang="en-US" sz="1600" dirty="0"/>
              <a:t>Local</a:t>
            </a:r>
          </a:p>
          <a:p>
            <a:r>
              <a:rPr lang="en-US" sz="1600" dirty="0"/>
              <a:t>write</a:t>
            </a:r>
          </a:p>
        </p:txBody>
      </p:sp>
      <p:sp>
        <p:nvSpPr>
          <p:cNvPr id="60" name="TextBox 59">
            <a:extLst>
              <a:ext uri="{FF2B5EF4-FFF2-40B4-BE49-F238E27FC236}">
                <a16:creationId xmlns:a16="http://schemas.microsoft.com/office/drawing/2014/main" id="{CB7FF5AC-CA94-3940-B8B5-E923F1279771}"/>
              </a:ext>
            </a:extLst>
          </p:cNvPr>
          <p:cNvSpPr txBox="1"/>
          <p:nvPr/>
        </p:nvSpPr>
        <p:spPr>
          <a:xfrm>
            <a:off x="76200" y="2633246"/>
            <a:ext cx="620106" cy="338554"/>
          </a:xfrm>
          <a:prstGeom prst="rect">
            <a:avLst/>
          </a:prstGeom>
          <a:noFill/>
        </p:spPr>
        <p:txBody>
          <a:bodyPr wrap="none" rtlCol="0">
            <a:spAutoFit/>
          </a:bodyPr>
          <a:lstStyle/>
          <a:p>
            <a:r>
              <a:rPr lang="en-US" sz="1600" dirty="0"/>
              <a:t>write</a:t>
            </a:r>
          </a:p>
        </p:txBody>
      </p:sp>
      <p:sp>
        <p:nvSpPr>
          <p:cNvPr id="62" name="TextBox 61">
            <a:extLst>
              <a:ext uri="{FF2B5EF4-FFF2-40B4-BE49-F238E27FC236}">
                <a16:creationId xmlns:a16="http://schemas.microsoft.com/office/drawing/2014/main" id="{25FE6CF6-553A-C043-A65A-8B31BF1B753E}"/>
              </a:ext>
            </a:extLst>
          </p:cNvPr>
          <p:cNvSpPr txBox="1"/>
          <p:nvPr/>
        </p:nvSpPr>
        <p:spPr>
          <a:xfrm>
            <a:off x="2351694" y="2861846"/>
            <a:ext cx="620106" cy="338554"/>
          </a:xfrm>
          <a:prstGeom prst="rect">
            <a:avLst/>
          </a:prstGeom>
          <a:noFill/>
        </p:spPr>
        <p:txBody>
          <a:bodyPr wrap="none" rtlCol="0">
            <a:spAutoFit/>
          </a:bodyPr>
          <a:lstStyle/>
          <a:p>
            <a:r>
              <a:rPr lang="en-US" sz="1600" dirty="0"/>
              <a:t>write</a:t>
            </a:r>
          </a:p>
        </p:txBody>
      </p:sp>
      <p:sp>
        <p:nvSpPr>
          <p:cNvPr id="63" name="TextBox 62">
            <a:extLst>
              <a:ext uri="{FF2B5EF4-FFF2-40B4-BE49-F238E27FC236}">
                <a16:creationId xmlns:a16="http://schemas.microsoft.com/office/drawing/2014/main" id="{3A2B3F4B-A6A0-D545-9B1D-0BB03D7990CA}"/>
              </a:ext>
            </a:extLst>
          </p:cNvPr>
          <p:cNvSpPr txBox="1"/>
          <p:nvPr/>
        </p:nvSpPr>
        <p:spPr>
          <a:xfrm>
            <a:off x="4256694" y="2895600"/>
            <a:ext cx="620106" cy="338554"/>
          </a:xfrm>
          <a:prstGeom prst="rect">
            <a:avLst/>
          </a:prstGeom>
          <a:noFill/>
        </p:spPr>
        <p:txBody>
          <a:bodyPr wrap="none" rtlCol="0">
            <a:spAutoFit/>
          </a:bodyPr>
          <a:lstStyle/>
          <a:p>
            <a:r>
              <a:rPr lang="en-US" sz="1600" dirty="0"/>
              <a:t>write</a:t>
            </a:r>
          </a:p>
        </p:txBody>
      </p:sp>
    </p:spTree>
    <p:extLst>
      <p:ext uri="{BB962C8B-B14F-4D97-AF65-F5344CB8AC3E}">
        <p14:creationId xmlns:p14="http://schemas.microsoft.com/office/powerpoint/2010/main" val="31627703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170">
                                            <p:txEl>
                                              <p:pRg st="0" end="0"/>
                                            </p:txEl>
                                          </p:spTgt>
                                        </p:tgtEl>
                                        <p:attrNameLst>
                                          <p:attrName>style.visibility</p:attrName>
                                        </p:attrNameLst>
                                      </p:cBhvr>
                                      <p:to>
                                        <p:strVal val="visible"/>
                                      </p:to>
                                    </p:set>
                                    <p:animEffect transition="in" filter="box(in)">
                                      <p:cBhvr>
                                        <p:cTn id="12" dur="500"/>
                                        <p:tgtEl>
                                          <p:spTgt spid="71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170">
                                            <p:txEl>
                                              <p:pRg st="1" end="1"/>
                                            </p:txEl>
                                          </p:spTgt>
                                        </p:tgtEl>
                                        <p:attrNameLst>
                                          <p:attrName>style.visibility</p:attrName>
                                        </p:attrNameLst>
                                      </p:cBhvr>
                                      <p:to>
                                        <p:strVal val="visible"/>
                                      </p:to>
                                    </p:set>
                                    <p:animEffect transition="in" filter="box(in)">
                                      <p:cBhvr>
                                        <p:cTn id="17" dur="500"/>
                                        <p:tgtEl>
                                          <p:spTgt spid="717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170">
                                            <p:txEl>
                                              <p:pRg st="2" end="2"/>
                                            </p:txEl>
                                          </p:spTgt>
                                        </p:tgtEl>
                                        <p:attrNameLst>
                                          <p:attrName>style.visibility</p:attrName>
                                        </p:attrNameLst>
                                      </p:cBhvr>
                                      <p:to>
                                        <p:strVal val="visible"/>
                                      </p:to>
                                    </p:set>
                                    <p:animEffect transition="in" filter="box(in)">
                                      <p:cBhvr>
                                        <p:cTn id="22" dur="500"/>
                                        <p:tgtEl>
                                          <p:spTgt spid="717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170">
                                            <p:txEl>
                                              <p:pRg st="3" end="3"/>
                                            </p:txEl>
                                          </p:spTgt>
                                        </p:tgtEl>
                                        <p:attrNameLst>
                                          <p:attrName>style.visibility</p:attrName>
                                        </p:attrNameLst>
                                      </p:cBhvr>
                                      <p:to>
                                        <p:strVal val="visible"/>
                                      </p:to>
                                    </p:set>
                                    <p:animEffect transition="in" filter="box(in)">
                                      <p:cBhvr>
                                        <p:cTn id="27" dur="500"/>
                                        <p:tgtEl>
                                          <p:spTgt spid="717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checkerboard(across)">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blinds(horizontal)">
                                      <p:cBhvr>
                                        <p:cTn id="3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build="p"/>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51922" y="2743200"/>
            <a:ext cx="3368230" cy="584775"/>
          </a:xfrm>
          <a:prstGeom prst="rect">
            <a:avLst/>
          </a:prstGeom>
          <a:noFill/>
        </p:spPr>
        <p:txBody>
          <a:bodyPr wrap="none" rtlCol="0">
            <a:spAutoFit/>
          </a:bodyPr>
          <a:lstStyle/>
          <a:p>
            <a:r>
              <a:rPr lang="en-US" sz="3200" dirty="0"/>
              <a:t>External Synchrony</a:t>
            </a:r>
          </a:p>
        </p:txBody>
      </p:sp>
      <p:sp>
        <p:nvSpPr>
          <p:cNvPr id="3" name="Content Placeholder 2">
            <a:extLst>
              <a:ext uri="{FF2B5EF4-FFF2-40B4-BE49-F238E27FC236}">
                <a16:creationId xmlns:a16="http://schemas.microsoft.com/office/drawing/2014/main" id="{0A212D52-D5A5-F64B-84F6-6974C29727AB}"/>
              </a:ext>
            </a:extLst>
          </p:cNvPr>
          <p:cNvSpPr>
            <a:spLocks noGrp="1"/>
          </p:cNvSpPr>
          <p:nvPr>
            <p:ph idx="1"/>
          </p:nvPr>
        </p:nvSpPr>
        <p:spPr>
          <a:xfrm>
            <a:off x="178337" y="4038600"/>
            <a:ext cx="8915400" cy="1143000"/>
          </a:xfrm>
        </p:spPr>
        <p:txBody>
          <a:bodyPr>
            <a:normAutofit/>
          </a:bodyPr>
          <a:lstStyle/>
          <a:p>
            <a:r>
              <a:rPr lang="en-US" sz="2400" dirty="0"/>
              <a:t>provide the </a:t>
            </a:r>
            <a:r>
              <a:rPr lang="en-US" sz="2400" dirty="0">
                <a:solidFill>
                  <a:srgbClr val="FF0000"/>
                </a:solidFill>
              </a:rPr>
              <a:t>reliability</a:t>
            </a:r>
            <a:r>
              <a:rPr lang="en-US" sz="2400" dirty="0"/>
              <a:t> and </a:t>
            </a:r>
            <a:r>
              <a:rPr lang="en-US" sz="2400" dirty="0">
                <a:solidFill>
                  <a:srgbClr val="FF0000"/>
                </a:solidFill>
              </a:rPr>
              <a:t>simplicity</a:t>
            </a:r>
            <a:r>
              <a:rPr lang="en-US" sz="2400" dirty="0"/>
              <a:t> of a synchronous abstraction</a:t>
            </a:r>
          </a:p>
          <a:p>
            <a:r>
              <a:rPr lang="en-US" sz="2400" dirty="0"/>
              <a:t>approximate the </a:t>
            </a:r>
            <a:r>
              <a:rPr lang="en-US" sz="2400" dirty="0">
                <a:solidFill>
                  <a:srgbClr val="FF0000"/>
                </a:solidFill>
              </a:rPr>
              <a:t>performance</a:t>
            </a:r>
            <a:r>
              <a:rPr lang="en-US" sz="2400" dirty="0"/>
              <a:t> of an asynchronous abstraction.</a:t>
            </a:r>
          </a:p>
        </p:txBody>
      </p:sp>
    </p:spTree>
    <p:extLst>
      <p:ext uri="{BB962C8B-B14F-4D97-AF65-F5344CB8AC3E}">
        <p14:creationId xmlns:p14="http://schemas.microsoft.com/office/powerpoint/2010/main" val="1302065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572" y="3581400"/>
            <a:ext cx="8229600" cy="1143000"/>
          </a:xfrm>
        </p:spPr>
        <p:txBody>
          <a:bodyPr>
            <a:noAutofit/>
          </a:bodyPr>
          <a:lstStyle/>
          <a:p>
            <a:r>
              <a:rPr lang="en-US" sz="2800" dirty="0"/>
              <a:t>Speculative Execution in a Distributed File System</a:t>
            </a:r>
            <a:br>
              <a:rPr lang="en-US" sz="2800" dirty="0"/>
            </a:br>
            <a:r>
              <a:rPr lang="en-US" sz="1800" dirty="0"/>
              <a:t>Edmund B. Nightingale, Peter M. Chen, and Jason Flinn</a:t>
            </a:r>
            <a:br>
              <a:rPr lang="en-US" sz="1800" dirty="0"/>
            </a:br>
            <a:r>
              <a:rPr lang="en-US" sz="1800" dirty="0"/>
              <a:t>ACM Transactions on Computer Systems 2006</a:t>
            </a:r>
            <a:endParaRPr lang="en-US" sz="2800" dirty="0"/>
          </a:p>
        </p:txBody>
      </p:sp>
      <p:sp>
        <p:nvSpPr>
          <p:cNvPr id="3" name="Title 1"/>
          <p:cNvSpPr txBox="1">
            <a:spLocks/>
          </p:cNvSpPr>
          <p:nvPr/>
        </p:nvSpPr>
        <p:spPr>
          <a:xfrm>
            <a:off x="550572" y="1524000"/>
            <a:ext cx="82296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a:t>Rethink the Sync</a:t>
            </a:r>
          </a:p>
          <a:p>
            <a:r>
              <a:rPr lang="en-US" sz="1800" dirty="0"/>
              <a:t>Edmund B. Nightingale, </a:t>
            </a:r>
            <a:r>
              <a:rPr lang="en-US" sz="1800" dirty="0" err="1"/>
              <a:t>Kaushik</a:t>
            </a:r>
            <a:r>
              <a:rPr lang="en-US" sz="1800" dirty="0"/>
              <a:t> </a:t>
            </a:r>
            <a:r>
              <a:rPr lang="en-US" sz="1800" dirty="0" err="1"/>
              <a:t>Veeraraghavan</a:t>
            </a:r>
            <a:r>
              <a:rPr lang="en-US" sz="1800" dirty="0"/>
              <a:t>, Peter M. Chen and Jason Flinn</a:t>
            </a:r>
          </a:p>
          <a:p>
            <a:r>
              <a:rPr lang="en-US" sz="1800" dirty="0"/>
              <a:t>OSDI 2006</a:t>
            </a:r>
          </a:p>
        </p:txBody>
      </p:sp>
    </p:spTree>
    <p:extLst>
      <p:ext uri="{BB962C8B-B14F-4D97-AF65-F5344CB8AC3E}">
        <p14:creationId xmlns:p14="http://schemas.microsoft.com/office/powerpoint/2010/main" val="737069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572" y="3581400"/>
            <a:ext cx="8229600" cy="1143000"/>
          </a:xfrm>
        </p:spPr>
        <p:txBody>
          <a:bodyPr>
            <a:noAutofit/>
          </a:bodyPr>
          <a:lstStyle/>
          <a:p>
            <a:r>
              <a:rPr lang="en-US" sz="2800" dirty="0">
                <a:solidFill>
                  <a:schemeClr val="bg2"/>
                </a:solidFill>
              </a:rPr>
              <a:t>Speculative Execution in a Distributed File System</a:t>
            </a:r>
            <a:br>
              <a:rPr lang="en-US" sz="2800" dirty="0">
                <a:solidFill>
                  <a:schemeClr val="bg2"/>
                </a:solidFill>
              </a:rPr>
            </a:br>
            <a:r>
              <a:rPr lang="en-US" sz="1800" dirty="0">
                <a:solidFill>
                  <a:schemeClr val="bg2"/>
                </a:solidFill>
              </a:rPr>
              <a:t>Edmund B. Nightingale, Peter M. Chen, and Jason </a:t>
            </a:r>
            <a:r>
              <a:rPr lang="en-US" sz="1800" dirty="0" err="1">
                <a:solidFill>
                  <a:schemeClr val="bg2"/>
                </a:solidFill>
              </a:rPr>
              <a:t>Flinn</a:t>
            </a:r>
            <a:endParaRPr lang="en-US" sz="2800" dirty="0">
              <a:solidFill>
                <a:schemeClr val="bg2"/>
              </a:solidFill>
            </a:endParaRPr>
          </a:p>
        </p:txBody>
      </p:sp>
      <p:sp>
        <p:nvSpPr>
          <p:cNvPr id="3" name="Title 1"/>
          <p:cNvSpPr txBox="1">
            <a:spLocks/>
          </p:cNvSpPr>
          <p:nvPr/>
        </p:nvSpPr>
        <p:spPr>
          <a:xfrm>
            <a:off x="550572" y="1524000"/>
            <a:ext cx="82296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a:t>Rethink the Sync</a:t>
            </a:r>
          </a:p>
          <a:p>
            <a:r>
              <a:rPr lang="en-US" sz="1800" dirty="0"/>
              <a:t>Edmund B. Nightingale, </a:t>
            </a:r>
            <a:r>
              <a:rPr lang="en-US" sz="1800" dirty="0" err="1"/>
              <a:t>Kaushik</a:t>
            </a:r>
            <a:r>
              <a:rPr lang="en-US" sz="1800" dirty="0"/>
              <a:t> </a:t>
            </a:r>
            <a:r>
              <a:rPr lang="en-US" sz="1800" dirty="0" err="1"/>
              <a:t>Veeraraghavan</a:t>
            </a:r>
            <a:r>
              <a:rPr lang="en-US" sz="1800" dirty="0"/>
              <a:t>, Peter M. Chen and Jason </a:t>
            </a:r>
            <a:r>
              <a:rPr lang="en-US" sz="1800" dirty="0" err="1"/>
              <a:t>Flinn</a:t>
            </a:r>
            <a:endParaRPr lang="en-US" sz="1800" dirty="0"/>
          </a:p>
        </p:txBody>
      </p:sp>
    </p:spTree>
    <p:extLst>
      <p:ext uri="{BB962C8B-B14F-4D97-AF65-F5344CB8AC3E}">
        <p14:creationId xmlns:p14="http://schemas.microsoft.com/office/powerpoint/2010/main" val="1624597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Synchrony</a:t>
            </a:r>
          </a:p>
        </p:txBody>
      </p:sp>
      <p:sp>
        <p:nvSpPr>
          <p:cNvPr id="3" name="Content Placeholder 2"/>
          <p:cNvSpPr>
            <a:spLocks noGrp="1"/>
          </p:cNvSpPr>
          <p:nvPr>
            <p:ph idx="1"/>
          </p:nvPr>
        </p:nvSpPr>
        <p:spPr/>
        <p:txBody>
          <a:bodyPr/>
          <a:lstStyle/>
          <a:p>
            <a:r>
              <a:rPr lang="en-US" dirty="0"/>
              <a:t>Question</a:t>
            </a:r>
          </a:p>
          <a:p>
            <a:pPr lvl="1"/>
            <a:r>
              <a:rPr lang="en-US" dirty="0"/>
              <a:t>How to improve both durability and performance for local file system?</a:t>
            </a:r>
          </a:p>
          <a:p>
            <a:r>
              <a:rPr lang="en-US" dirty="0"/>
              <a:t>Two extremes</a:t>
            </a:r>
          </a:p>
          <a:p>
            <a:pPr lvl="1"/>
            <a:r>
              <a:rPr lang="en-US" dirty="0"/>
              <a:t>Synchronous IO</a:t>
            </a:r>
          </a:p>
          <a:p>
            <a:pPr lvl="2"/>
            <a:r>
              <a:rPr lang="en-US" dirty="0"/>
              <a:t>Easy to use</a:t>
            </a:r>
          </a:p>
          <a:p>
            <a:pPr lvl="2"/>
            <a:r>
              <a:rPr lang="en-US" dirty="0"/>
              <a:t>Guarantee ordering</a:t>
            </a:r>
          </a:p>
          <a:p>
            <a:pPr lvl="1"/>
            <a:r>
              <a:rPr lang="en-US" dirty="0"/>
              <a:t>Asynchronous IO</a:t>
            </a:r>
          </a:p>
          <a:p>
            <a:pPr lvl="2"/>
            <a:r>
              <a:rPr lang="en-US" dirty="0"/>
              <a:t>Fast</a:t>
            </a:r>
          </a:p>
          <a:p>
            <a:endParaRPr lang="en-US" dirty="0"/>
          </a:p>
        </p:txBody>
      </p:sp>
    </p:spTree>
    <p:extLst>
      <p:ext uri="{BB962C8B-B14F-4D97-AF65-F5344CB8AC3E}">
        <p14:creationId xmlns:p14="http://schemas.microsoft.com/office/powerpoint/2010/main" val="1829222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21"/>
          <p:cNvSpPr>
            <a:spLocks noGrp="1"/>
          </p:cNvSpPr>
          <p:nvPr>
            <p:ph type="sldNum" sz="quarter" idx="12"/>
          </p:nvPr>
        </p:nvSpPr>
        <p:spPr/>
        <p:txBody>
          <a:bodyPr/>
          <a:lstStyle/>
          <a:p>
            <a:fld id="{3C25E885-56CE-419A-B0FC-EB379E3DE624}" type="slidenum">
              <a:rPr lang="en-US" altLang="en-US"/>
              <a:pPr/>
              <a:t>12</a:t>
            </a:fld>
            <a:endParaRPr lang="en-US" altLang="en-US"/>
          </a:p>
        </p:txBody>
      </p:sp>
      <p:sp>
        <p:nvSpPr>
          <p:cNvPr id="451586" name="Rectangle 2"/>
          <p:cNvSpPr>
            <a:spLocks noGrp="1" noChangeArrowheads="1"/>
          </p:cNvSpPr>
          <p:nvPr>
            <p:ph type="title"/>
          </p:nvPr>
        </p:nvSpPr>
        <p:spPr/>
        <p:txBody>
          <a:bodyPr/>
          <a:lstStyle/>
          <a:p>
            <a:r>
              <a:rPr lang="en-US"/>
              <a:t>When a sync() is really async</a:t>
            </a:r>
          </a:p>
        </p:txBody>
      </p:sp>
      <p:sp>
        <p:nvSpPr>
          <p:cNvPr id="451587" name="Rectangle 3"/>
          <p:cNvSpPr>
            <a:spLocks noGrp="1" noChangeArrowheads="1"/>
          </p:cNvSpPr>
          <p:nvPr>
            <p:ph type="body" idx="1"/>
          </p:nvPr>
        </p:nvSpPr>
        <p:spPr>
          <a:xfrm>
            <a:off x="457200" y="1143000"/>
            <a:ext cx="8534400" cy="1981200"/>
          </a:xfrm>
        </p:spPr>
        <p:txBody>
          <a:bodyPr/>
          <a:lstStyle/>
          <a:p>
            <a:r>
              <a:rPr lang="en-US"/>
              <a:t>On sync() data written only to volatile cache</a:t>
            </a:r>
          </a:p>
          <a:p>
            <a:pPr lvl="1"/>
            <a:r>
              <a:rPr lang="en-US"/>
              <a:t>10x performance penalty and data NOT safe</a:t>
            </a:r>
          </a:p>
          <a:p>
            <a:endParaRPr lang="en-US"/>
          </a:p>
          <a:p>
            <a:endParaRPr lang="en-US"/>
          </a:p>
        </p:txBody>
      </p:sp>
      <p:sp>
        <p:nvSpPr>
          <p:cNvPr id="451590" name="AutoShape 6"/>
          <p:cNvSpPr>
            <a:spLocks noChangeArrowheads="1"/>
          </p:cNvSpPr>
          <p:nvPr/>
        </p:nvSpPr>
        <p:spPr bwMode="auto">
          <a:xfrm>
            <a:off x="4267200" y="3581400"/>
            <a:ext cx="914400" cy="838200"/>
          </a:xfrm>
          <a:prstGeom prst="plaque">
            <a:avLst>
              <a:gd name="adj" fmla="val 16667"/>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sz="1800"/>
              <a:t>Volatile</a:t>
            </a:r>
            <a:br>
              <a:rPr lang="en-US" sz="1800"/>
            </a:br>
            <a:r>
              <a:rPr lang="en-US" sz="1800"/>
              <a:t>Cache</a:t>
            </a:r>
          </a:p>
        </p:txBody>
      </p:sp>
      <p:sp>
        <p:nvSpPr>
          <p:cNvPr id="451592" name="AutoShape 8"/>
          <p:cNvSpPr>
            <a:spLocks noChangeArrowheads="1"/>
          </p:cNvSpPr>
          <p:nvPr/>
        </p:nvSpPr>
        <p:spPr bwMode="auto">
          <a:xfrm>
            <a:off x="5221288" y="3657600"/>
            <a:ext cx="990600" cy="762000"/>
          </a:xfrm>
          <a:prstGeom prst="leftRightArrow">
            <a:avLst>
              <a:gd name="adj1" fmla="val 50000"/>
              <a:gd name="adj2" fmla="val 26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1593" name="AutoShape 9"/>
          <p:cNvSpPr>
            <a:spLocks noChangeArrowheads="1"/>
          </p:cNvSpPr>
          <p:nvPr/>
        </p:nvSpPr>
        <p:spPr bwMode="auto">
          <a:xfrm>
            <a:off x="1447800" y="3352800"/>
            <a:ext cx="1600200" cy="1371600"/>
          </a:xfrm>
          <a:prstGeom prst="cube">
            <a:avLst>
              <a:gd name="adj" fmla="val 2500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sz="2000"/>
              <a:t>Operating</a:t>
            </a:r>
            <a:br>
              <a:rPr lang="en-US" sz="2000"/>
            </a:br>
            <a:r>
              <a:rPr lang="en-US" sz="2000"/>
              <a:t>System</a:t>
            </a:r>
          </a:p>
        </p:txBody>
      </p:sp>
      <p:sp>
        <p:nvSpPr>
          <p:cNvPr id="451596" name="AutoShape 12"/>
          <p:cNvSpPr>
            <a:spLocks noChangeArrowheads="1"/>
          </p:cNvSpPr>
          <p:nvPr/>
        </p:nvSpPr>
        <p:spPr bwMode="auto">
          <a:xfrm>
            <a:off x="3048000" y="3733800"/>
            <a:ext cx="1143000" cy="609600"/>
          </a:xfrm>
          <a:prstGeom prst="leftRightArrow">
            <a:avLst>
              <a:gd name="adj1" fmla="val 50000"/>
              <a:gd name="adj2" fmla="val 37500"/>
            </a:avLst>
          </a:prstGeom>
          <a:noFill/>
          <a:ln w="9525" algn="ctr">
            <a:solidFill>
              <a:schemeClr val="tx1"/>
            </a:solidFill>
            <a:miter lim="800000"/>
            <a:headEnd/>
            <a:tailEnd/>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1597" name="AutoShape 13"/>
          <p:cNvSpPr>
            <a:spLocks noChangeArrowheads="1"/>
          </p:cNvSpPr>
          <p:nvPr/>
        </p:nvSpPr>
        <p:spPr bwMode="auto">
          <a:xfrm>
            <a:off x="1752600" y="3733800"/>
            <a:ext cx="685800" cy="838200"/>
          </a:xfrm>
          <a:prstGeom prst="verticalScroll">
            <a:avLst>
              <a:gd name="adj" fmla="val 12500"/>
            </a:avLst>
          </a:prstGeom>
          <a:solidFill>
            <a:srgbClr val="0000FF">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1598" name="AutoShape 14"/>
          <p:cNvSpPr>
            <a:spLocks noChangeArrowheads="1"/>
          </p:cNvSpPr>
          <p:nvPr/>
        </p:nvSpPr>
        <p:spPr bwMode="auto">
          <a:xfrm>
            <a:off x="457200" y="2514600"/>
            <a:ext cx="914400" cy="1295400"/>
          </a:xfrm>
          <a:prstGeom prst="lightningBolt">
            <a:avLst/>
          </a:prstGeom>
          <a:solidFill>
            <a:srgbClr val="FFFF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1599" name="AutoShape 15"/>
          <p:cNvSpPr>
            <a:spLocks noChangeArrowheads="1"/>
          </p:cNvSpPr>
          <p:nvPr/>
        </p:nvSpPr>
        <p:spPr bwMode="auto">
          <a:xfrm>
            <a:off x="1295400" y="3124200"/>
            <a:ext cx="1752600" cy="182880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close/>
                <a:moveTo>
                  <a:pt x="4198" y="6106"/>
                </a:moveTo>
                <a:cubicBezTo>
                  <a:pt x="3223" y="7477"/>
                  <a:pt x="2700" y="9117"/>
                  <a:pt x="2700" y="10799"/>
                </a:cubicBezTo>
                <a:cubicBezTo>
                  <a:pt x="2700" y="15273"/>
                  <a:pt x="6326" y="18900"/>
                  <a:pt x="10800" y="18900"/>
                </a:cubicBezTo>
                <a:cubicBezTo>
                  <a:pt x="12482" y="18899"/>
                  <a:pt x="14122" y="18376"/>
                  <a:pt x="15493" y="17401"/>
                </a:cubicBezTo>
                <a:close/>
              </a:path>
            </a:pathLst>
          </a:custGeom>
          <a:solidFill>
            <a:srgbClr val="FF0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1601" name="AutoShape 17"/>
          <p:cNvSpPr>
            <a:spLocks noChangeArrowheads="1"/>
          </p:cNvSpPr>
          <p:nvPr/>
        </p:nvSpPr>
        <p:spPr bwMode="auto">
          <a:xfrm>
            <a:off x="4038600" y="3314700"/>
            <a:ext cx="1447800" cy="137160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700"/>
                  <a:pt x="7477" y="3223"/>
                  <a:pt x="6106" y="4198"/>
                </a:cubicBezTo>
                <a:close/>
                <a:moveTo>
                  <a:pt x="4198" y="6106"/>
                </a:moveTo>
                <a:cubicBezTo>
                  <a:pt x="3223" y="7477"/>
                  <a:pt x="2700" y="9117"/>
                  <a:pt x="2700" y="10799"/>
                </a:cubicBezTo>
                <a:cubicBezTo>
                  <a:pt x="2700" y="15273"/>
                  <a:pt x="6326" y="18900"/>
                  <a:pt x="10800" y="18900"/>
                </a:cubicBezTo>
                <a:cubicBezTo>
                  <a:pt x="12482" y="18899"/>
                  <a:pt x="14122" y="18376"/>
                  <a:pt x="15493" y="17401"/>
                </a:cubicBezTo>
                <a:close/>
              </a:path>
            </a:pathLst>
          </a:cu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nvGrpSpPr>
          <p:cNvPr id="451605" name="Group 21"/>
          <p:cNvGrpSpPr>
            <a:grpSpLocks/>
          </p:cNvGrpSpPr>
          <p:nvPr/>
        </p:nvGrpSpPr>
        <p:grpSpPr bwMode="auto">
          <a:xfrm>
            <a:off x="6248400" y="3733800"/>
            <a:ext cx="609600" cy="609600"/>
            <a:chOff x="4608" y="3312"/>
            <a:chExt cx="384" cy="384"/>
          </a:xfrm>
        </p:grpSpPr>
        <p:sp>
          <p:nvSpPr>
            <p:cNvPr id="451602" name="AutoShape 18"/>
            <p:cNvSpPr>
              <a:spLocks noChangeArrowheads="1"/>
            </p:cNvSpPr>
            <p:nvPr/>
          </p:nvSpPr>
          <p:spPr bwMode="auto">
            <a:xfrm>
              <a:off x="4608" y="3600"/>
              <a:ext cx="384" cy="96"/>
            </a:xfrm>
            <a:prstGeom prst="can">
              <a:avLst>
                <a:gd name="adj" fmla="val 25000"/>
              </a:avLst>
            </a:pr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51603" name="AutoShape 19"/>
            <p:cNvSpPr>
              <a:spLocks noChangeArrowheads="1"/>
            </p:cNvSpPr>
            <p:nvPr/>
          </p:nvSpPr>
          <p:spPr bwMode="auto">
            <a:xfrm>
              <a:off x="4608" y="3456"/>
              <a:ext cx="384" cy="96"/>
            </a:xfrm>
            <a:prstGeom prst="can">
              <a:avLst>
                <a:gd name="adj" fmla="val 25000"/>
              </a:avLst>
            </a:pr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51604" name="AutoShape 20"/>
            <p:cNvSpPr>
              <a:spLocks noChangeArrowheads="1"/>
            </p:cNvSpPr>
            <p:nvPr/>
          </p:nvSpPr>
          <p:spPr bwMode="auto">
            <a:xfrm>
              <a:off x="4608" y="3312"/>
              <a:ext cx="384" cy="96"/>
            </a:xfrm>
            <a:prstGeom prst="can">
              <a:avLst>
                <a:gd name="adj" fmla="val 25000"/>
              </a:avLst>
            </a:pr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451606" name="Text Box 22"/>
          <p:cNvSpPr txBox="1">
            <a:spLocks noChangeArrowheads="1"/>
          </p:cNvSpPr>
          <p:nvPr/>
        </p:nvSpPr>
        <p:spPr bwMode="auto">
          <a:xfrm>
            <a:off x="5867400" y="4343400"/>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800"/>
              <a:t>Cylinders</a:t>
            </a:r>
          </a:p>
        </p:txBody>
      </p:sp>
      <p:sp>
        <p:nvSpPr>
          <p:cNvPr id="451607" name="Rectangle 23"/>
          <p:cNvSpPr>
            <a:spLocks noChangeArrowheads="1"/>
          </p:cNvSpPr>
          <p:nvPr/>
        </p:nvSpPr>
        <p:spPr bwMode="auto">
          <a:xfrm>
            <a:off x="4219575" y="3276600"/>
            <a:ext cx="2895600" cy="1600200"/>
          </a:xfrm>
          <a:prstGeom prst="rect">
            <a:avLst/>
          </a:prstGeom>
          <a:noFill/>
          <a:ln w="254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51608" name="Text Box 24"/>
          <p:cNvSpPr txBox="1">
            <a:spLocks noChangeArrowheads="1"/>
          </p:cNvSpPr>
          <p:nvPr/>
        </p:nvSpPr>
        <p:spPr bwMode="auto">
          <a:xfrm>
            <a:off x="6553200" y="32766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sz="1800"/>
              <a:t>Disk</a:t>
            </a:r>
          </a:p>
        </p:txBody>
      </p:sp>
      <p:sp>
        <p:nvSpPr>
          <p:cNvPr id="451609" name="Rectangle 25"/>
          <p:cNvSpPr>
            <a:spLocks noChangeArrowheads="1"/>
          </p:cNvSpPr>
          <p:nvPr/>
        </p:nvSpPr>
        <p:spPr bwMode="auto">
          <a:xfrm>
            <a:off x="152400" y="5486400"/>
            <a:ext cx="87630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spcBef>
                <a:spcPct val="20000"/>
              </a:spcBef>
              <a:buClr>
                <a:schemeClr val="accent1"/>
              </a:buClr>
              <a:buSzPct val="65000"/>
              <a:buFont typeface="Wingdings" pitchFamily="2" charset="2"/>
              <a:buChar char="n"/>
            </a:pPr>
            <a:r>
              <a:rPr lang="en-US" dirty="0"/>
              <a:t>100x slower than asynchronous I/O if we disable cache</a:t>
            </a:r>
          </a:p>
        </p:txBody>
      </p:sp>
      <p:sp>
        <p:nvSpPr>
          <p:cNvPr id="24" name="TextBox 23"/>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custDataLst>
      <p:tags r:id="rId1"/>
    </p:custDataLst>
    <p:extLst>
      <p:ext uri="{BB962C8B-B14F-4D97-AF65-F5344CB8AC3E}">
        <p14:creationId xmlns:p14="http://schemas.microsoft.com/office/powerpoint/2010/main" val="41825284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1597"/>
                                        </p:tgtEl>
                                        <p:attrNameLst>
                                          <p:attrName>style.visibility</p:attrName>
                                        </p:attrNameLst>
                                      </p:cBhvr>
                                      <p:to>
                                        <p:strVal val="visible"/>
                                      </p:to>
                                    </p:set>
                                  </p:childTnLst>
                                </p:cTn>
                              </p:par>
                              <p:par>
                                <p:cTn id="7" presetID="63" presetClass="path" presetSubtype="0" accel="50000" decel="50000" fill="hold" grpId="1" nodeType="withEffect">
                                  <p:stCondLst>
                                    <p:cond delay="0"/>
                                  </p:stCondLst>
                                  <p:childTnLst>
                                    <p:animMotion origin="layout" path="M 3.33333E-6 -3.33333E-6 L 0.2875 -0.00555 " pathEditMode="relative" rAng="0" ptsTypes="AA">
                                      <p:cBhvr>
                                        <p:cTn id="8" dur="2000" fill="hold"/>
                                        <p:tgtEl>
                                          <p:spTgt spid="451597"/>
                                        </p:tgtEl>
                                        <p:attrNameLst>
                                          <p:attrName>ppt_x</p:attrName>
                                          <p:attrName>ppt_y</p:attrName>
                                        </p:attrNameLst>
                                      </p:cBhvr>
                                      <p:rCtr x="14375" y="-278"/>
                                    </p:animMotion>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5159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159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51601"/>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4515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97" grpId="0" animBg="1"/>
      <p:bldP spid="451597" grpId="1" animBg="1"/>
      <p:bldP spid="451598" grpId="0" animBg="1"/>
      <p:bldP spid="451598" grpId="1" animBg="1"/>
      <p:bldP spid="451599" grpId="0" animBg="1"/>
      <p:bldP spid="45160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23"/>
          <p:cNvSpPr>
            <a:spLocks noGrp="1"/>
          </p:cNvSpPr>
          <p:nvPr>
            <p:ph type="sldNum" sz="quarter" idx="12"/>
          </p:nvPr>
        </p:nvSpPr>
        <p:spPr/>
        <p:txBody>
          <a:bodyPr/>
          <a:lstStyle/>
          <a:p>
            <a:fld id="{2F72FCAB-DB5C-40C0-8828-F47A8CDE8AA0}" type="slidenum">
              <a:rPr lang="en-US" altLang="en-US"/>
              <a:pPr/>
              <a:t>13</a:t>
            </a:fld>
            <a:endParaRPr lang="en-US" altLang="en-US"/>
          </a:p>
        </p:txBody>
      </p:sp>
      <p:sp>
        <p:nvSpPr>
          <p:cNvPr id="484354" name="Rectangle 2"/>
          <p:cNvSpPr>
            <a:spLocks noGrp="1" noChangeArrowheads="1"/>
          </p:cNvSpPr>
          <p:nvPr>
            <p:ph type="title"/>
          </p:nvPr>
        </p:nvSpPr>
        <p:spPr>
          <a:xfrm>
            <a:off x="381000" y="277813"/>
            <a:ext cx="8686800" cy="1139825"/>
          </a:xfrm>
        </p:spPr>
        <p:txBody>
          <a:bodyPr/>
          <a:lstStyle/>
          <a:p>
            <a:r>
              <a:rPr lang="en-US"/>
              <a:t>To whom are guarantees provided?</a:t>
            </a:r>
          </a:p>
        </p:txBody>
      </p:sp>
      <p:sp>
        <p:nvSpPr>
          <p:cNvPr id="484355" name="Rectangle 3"/>
          <p:cNvSpPr>
            <a:spLocks noGrp="1" noChangeArrowheads="1"/>
          </p:cNvSpPr>
          <p:nvPr>
            <p:ph type="body" idx="1"/>
          </p:nvPr>
        </p:nvSpPr>
        <p:spPr>
          <a:xfrm>
            <a:off x="457200" y="1219200"/>
            <a:ext cx="8229600" cy="1219200"/>
          </a:xfrm>
        </p:spPr>
        <p:txBody>
          <a:bodyPr/>
          <a:lstStyle/>
          <a:p>
            <a:r>
              <a:rPr lang="en-US"/>
              <a:t>Synchronous I/O definition:</a:t>
            </a:r>
          </a:p>
          <a:p>
            <a:pPr lvl="1"/>
            <a:r>
              <a:rPr lang="en-US"/>
              <a:t>Caller blocked until operation completes</a:t>
            </a:r>
          </a:p>
        </p:txBody>
      </p:sp>
      <p:sp>
        <p:nvSpPr>
          <p:cNvPr id="484362" name="Rectangle 10"/>
          <p:cNvSpPr>
            <a:spLocks noChangeArrowheads="1"/>
          </p:cNvSpPr>
          <p:nvPr/>
        </p:nvSpPr>
        <p:spPr bwMode="auto">
          <a:xfrm>
            <a:off x="1981200" y="4562475"/>
            <a:ext cx="1371600" cy="457200"/>
          </a:xfrm>
          <a:prstGeom prst="rect">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4363" name="Text Box 11"/>
          <p:cNvSpPr txBox="1">
            <a:spLocks noChangeArrowheads="1"/>
          </p:cNvSpPr>
          <p:nvPr/>
        </p:nvSpPr>
        <p:spPr bwMode="auto">
          <a:xfrm>
            <a:off x="2028825" y="451008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t>Disk</a:t>
            </a:r>
          </a:p>
        </p:txBody>
      </p:sp>
      <p:sp>
        <p:nvSpPr>
          <p:cNvPr id="484364" name="Rectangle 12"/>
          <p:cNvSpPr>
            <a:spLocks noChangeArrowheads="1"/>
          </p:cNvSpPr>
          <p:nvPr/>
        </p:nvSpPr>
        <p:spPr bwMode="auto">
          <a:xfrm>
            <a:off x="3581400" y="4562475"/>
            <a:ext cx="1371600" cy="457200"/>
          </a:xfrm>
          <a:prstGeom prst="rect">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4365" name="Text Box 13"/>
          <p:cNvSpPr txBox="1">
            <a:spLocks noChangeArrowheads="1"/>
          </p:cNvSpPr>
          <p:nvPr/>
        </p:nvSpPr>
        <p:spPr bwMode="auto">
          <a:xfrm>
            <a:off x="3629025" y="451008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t>Screen</a:t>
            </a:r>
          </a:p>
        </p:txBody>
      </p:sp>
      <p:sp>
        <p:nvSpPr>
          <p:cNvPr id="484374" name="Rectangle 22"/>
          <p:cNvSpPr>
            <a:spLocks noChangeArrowheads="1"/>
          </p:cNvSpPr>
          <p:nvPr/>
        </p:nvSpPr>
        <p:spPr bwMode="auto">
          <a:xfrm>
            <a:off x="1981200" y="3360738"/>
            <a:ext cx="1063625" cy="441325"/>
          </a:xfrm>
          <a:prstGeom prst="rect">
            <a:avLst/>
          </a:prstGeom>
          <a:solidFill>
            <a:srgbClr val="99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4375" name="Text Box 23"/>
          <p:cNvSpPr txBox="1">
            <a:spLocks noChangeArrowheads="1"/>
          </p:cNvSpPr>
          <p:nvPr/>
        </p:nvSpPr>
        <p:spPr bwMode="auto">
          <a:xfrm>
            <a:off x="1981200" y="3290888"/>
            <a:ext cx="990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App</a:t>
            </a:r>
          </a:p>
        </p:txBody>
      </p:sp>
      <p:sp>
        <p:nvSpPr>
          <p:cNvPr id="484376" name="Rectangle 24"/>
          <p:cNvSpPr>
            <a:spLocks noChangeArrowheads="1"/>
          </p:cNvSpPr>
          <p:nvPr/>
        </p:nvSpPr>
        <p:spPr bwMode="auto">
          <a:xfrm>
            <a:off x="3584575" y="3368675"/>
            <a:ext cx="1063625" cy="441325"/>
          </a:xfrm>
          <a:prstGeom prst="rect">
            <a:avLst/>
          </a:prstGeom>
          <a:solidFill>
            <a:srgbClr val="99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4377" name="Text Box 25"/>
          <p:cNvSpPr txBox="1">
            <a:spLocks noChangeArrowheads="1"/>
          </p:cNvSpPr>
          <p:nvPr/>
        </p:nvSpPr>
        <p:spPr bwMode="auto">
          <a:xfrm>
            <a:off x="3584575" y="3276600"/>
            <a:ext cx="99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App</a:t>
            </a:r>
          </a:p>
        </p:txBody>
      </p:sp>
      <p:sp>
        <p:nvSpPr>
          <p:cNvPr id="484379" name="AutoShape 27"/>
          <p:cNvSpPr>
            <a:spLocks noChangeArrowheads="1"/>
          </p:cNvSpPr>
          <p:nvPr/>
        </p:nvSpPr>
        <p:spPr bwMode="auto">
          <a:xfrm rot="2113818">
            <a:off x="914400" y="2667000"/>
            <a:ext cx="1143000" cy="685800"/>
          </a:xfrm>
          <a:prstGeom prst="rightArrow">
            <a:avLst>
              <a:gd name="adj1" fmla="val 50000"/>
              <a:gd name="adj2" fmla="val 41667"/>
            </a:avLst>
          </a:prstGeom>
          <a:solidFill>
            <a:srgbClr val="3399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4380" name="Rectangle 28"/>
          <p:cNvSpPr>
            <a:spLocks noChangeArrowheads="1"/>
          </p:cNvSpPr>
          <p:nvPr/>
        </p:nvSpPr>
        <p:spPr bwMode="auto">
          <a:xfrm>
            <a:off x="457200" y="5410200"/>
            <a:ext cx="8229600"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spcBef>
                <a:spcPct val="20000"/>
              </a:spcBef>
              <a:buClr>
                <a:schemeClr val="accent1"/>
              </a:buClr>
              <a:buSzPct val="65000"/>
              <a:buFont typeface="Wingdings" pitchFamily="2" charset="2"/>
              <a:buChar char="n"/>
            </a:pPr>
            <a:r>
              <a:rPr lang="en-US" sz="3000"/>
              <a:t>Guarantee provided to application</a:t>
            </a:r>
          </a:p>
        </p:txBody>
      </p:sp>
      <p:sp>
        <p:nvSpPr>
          <p:cNvPr id="484382" name="Rectangle 30"/>
          <p:cNvSpPr>
            <a:spLocks noChangeArrowheads="1"/>
          </p:cNvSpPr>
          <p:nvPr/>
        </p:nvSpPr>
        <p:spPr bwMode="auto">
          <a:xfrm>
            <a:off x="5260975" y="3368675"/>
            <a:ext cx="1063625" cy="441325"/>
          </a:xfrm>
          <a:prstGeom prst="rect">
            <a:avLst/>
          </a:prstGeom>
          <a:solidFill>
            <a:srgbClr val="99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4381" name="Text Box 29"/>
          <p:cNvSpPr txBox="1">
            <a:spLocks noChangeArrowheads="1"/>
          </p:cNvSpPr>
          <p:nvPr/>
        </p:nvSpPr>
        <p:spPr bwMode="auto">
          <a:xfrm>
            <a:off x="5334000" y="3276600"/>
            <a:ext cx="99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App</a:t>
            </a:r>
          </a:p>
        </p:txBody>
      </p:sp>
      <p:sp>
        <p:nvSpPr>
          <p:cNvPr id="484383" name="Rectangle 31"/>
          <p:cNvSpPr>
            <a:spLocks noChangeArrowheads="1"/>
          </p:cNvSpPr>
          <p:nvPr/>
        </p:nvSpPr>
        <p:spPr bwMode="auto">
          <a:xfrm>
            <a:off x="5286375" y="4552950"/>
            <a:ext cx="1371600" cy="457200"/>
          </a:xfrm>
          <a:prstGeom prst="rect">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4384" name="Text Box 32"/>
          <p:cNvSpPr txBox="1">
            <a:spLocks noChangeArrowheads="1"/>
          </p:cNvSpPr>
          <p:nvPr/>
        </p:nvSpPr>
        <p:spPr bwMode="auto">
          <a:xfrm>
            <a:off x="5219700" y="4495800"/>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t>Network</a:t>
            </a:r>
          </a:p>
        </p:txBody>
      </p:sp>
      <p:grpSp>
        <p:nvGrpSpPr>
          <p:cNvPr id="484385" name="Group 33"/>
          <p:cNvGrpSpPr>
            <a:grpSpLocks/>
          </p:cNvGrpSpPr>
          <p:nvPr/>
        </p:nvGrpSpPr>
        <p:grpSpPr bwMode="auto">
          <a:xfrm>
            <a:off x="1981200" y="3800475"/>
            <a:ext cx="5105400" cy="762000"/>
            <a:chOff x="1248" y="2394"/>
            <a:chExt cx="3216" cy="480"/>
          </a:xfrm>
        </p:grpSpPr>
        <p:sp>
          <p:nvSpPr>
            <p:cNvPr id="484360" name="Rectangle 8"/>
            <p:cNvSpPr>
              <a:spLocks noChangeArrowheads="1"/>
            </p:cNvSpPr>
            <p:nvPr/>
          </p:nvSpPr>
          <p:spPr bwMode="auto">
            <a:xfrm>
              <a:off x="1248" y="2394"/>
              <a:ext cx="3216" cy="480"/>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4361" name="Text Box 9"/>
            <p:cNvSpPr txBox="1">
              <a:spLocks noChangeArrowheads="1"/>
            </p:cNvSpPr>
            <p:nvPr/>
          </p:nvSpPr>
          <p:spPr bwMode="auto">
            <a:xfrm>
              <a:off x="2208" y="2451"/>
              <a:ext cx="11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t>OS Kernel</a:t>
              </a:r>
            </a:p>
          </p:txBody>
        </p:sp>
      </p:grpSp>
      <p:sp>
        <p:nvSpPr>
          <p:cNvPr id="484378" name="Oval 26"/>
          <p:cNvSpPr>
            <a:spLocks noChangeArrowheads="1"/>
          </p:cNvSpPr>
          <p:nvPr/>
        </p:nvSpPr>
        <p:spPr bwMode="auto">
          <a:xfrm>
            <a:off x="1905000" y="3048000"/>
            <a:ext cx="1295400" cy="1066800"/>
          </a:xfrm>
          <a:prstGeom prst="ellipse">
            <a:avLst/>
          </a:prstGeom>
          <a:noFill/>
          <a:ln w="25400" algn="ctr">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 name="TextBox 25"/>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custDataLst>
      <p:tags r:id="rId1"/>
    </p:custDataLst>
    <p:extLst>
      <p:ext uri="{BB962C8B-B14F-4D97-AF65-F5344CB8AC3E}">
        <p14:creationId xmlns:p14="http://schemas.microsoft.com/office/powerpoint/2010/main" val="35444465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43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437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43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79" grpId="0" animBg="1"/>
      <p:bldP spid="484380" grpId="0"/>
      <p:bldP spid="48437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28"/>
          <p:cNvSpPr>
            <a:spLocks noGrp="1"/>
          </p:cNvSpPr>
          <p:nvPr>
            <p:ph type="sldNum" sz="quarter" idx="12"/>
          </p:nvPr>
        </p:nvSpPr>
        <p:spPr/>
        <p:txBody>
          <a:bodyPr/>
          <a:lstStyle/>
          <a:p>
            <a:fld id="{7BA05435-89D3-48CD-8599-9693C6CD1EEC}" type="slidenum">
              <a:rPr lang="en-US" altLang="en-US"/>
              <a:pPr/>
              <a:t>14</a:t>
            </a:fld>
            <a:endParaRPr lang="en-US" altLang="en-US"/>
          </a:p>
        </p:txBody>
      </p:sp>
      <p:sp>
        <p:nvSpPr>
          <p:cNvPr id="485378" name="Rectangle 2"/>
          <p:cNvSpPr>
            <a:spLocks noGrp="1" noChangeArrowheads="1"/>
          </p:cNvSpPr>
          <p:nvPr>
            <p:ph type="title"/>
          </p:nvPr>
        </p:nvSpPr>
        <p:spPr>
          <a:xfrm>
            <a:off x="381000" y="277813"/>
            <a:ext cx="8686800" cy="1139825"/>
          </a:xfrm>
        </p:spPr>
        <p:txBody>
          <a:bodyPr/>
          <a:lstStyle/>
          <a:p>
            <a:r>
              <a:rPr lang="en-US"/>
              <a:t>To whom are guarantees provided?</a:t>
            </a:r>
          </a:p>
        </p:txBody>
      </p:sp>
      <p:sp>
        <p:nvSpPr>
          <p:cNvPr id="485379" name="Rectangle 3"/>
          <p:cNvSpPr>
            <a:spLocks noGrp="1" noChangeArrowheads="1"/>
          </p:cNvSpPr>
          <p:nvPr>
            <p:ph type="body" idx="1"/>
          </p:nvPr>
        </p:nvSpPr>
        <p:spPr>
          <a:xfrm>
            <a:off x="304800" y="5562600"/>
            <a:ext cx="8229600" cy="762000"/>
          </a:xfrm>
        </p:spPr>
        <p:txBody>
          <a:bodyPr>
            <a:normAutofit fontScale="92500"/>
          </a:bodyPr>
          <a:lstStyle/>
          <a:p>
            <a:r>
              <a:rPr lang="en-US" dirty="0"/>
              <a:t>Guarantee really needs to be provided to the </a:t>
            </a:r>
            <a:r>
              <a:rPr lang="en-US" dirty="0">
                <a:solidFill>
                  <a:srgbClr val="FF0000"/>
                </a:solidFill>
              </a:rPr>
              <a:t>user</a:t>
            </a:r>
          </a:p>
        </p:txBody>
      </p:sp>
      <p:sp>
        <p:nvSpPr>
          <p:cNvPr id="485380" name="Rectangle 4"/>
          <p:cNvSpPr>
            <a:spLocks noChangeArrowheads="1"/>
          </p:cNvSpPr>
          <p:nvPr/>
        </p:nvSpPr>
        <p:spPr bwMode="auto">
          <a:xfrm>
            <a:off x="1981200" y="3800475"/>
            <a:ext cx="5105400" cy="762000"/>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5381" name="Text Box 5"/>
          <p:cNvSpPr txBox="1">
            <a:spLocks noChangeArrowheads="1"/>
          </p:cNvSpPr>
          <p:nvPr/>
        </p:nvSpPr>
        <p:spPr bwMode="auto">
          <a:xfrm>
            <a:off x="3505200" y="3890963"/>
            <a:ext cx="1752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t>OS Kernel</a:t>
            </a:r>
          </a:p>
        </p:txBody>
      </p:sp>
      <p:sp>
        <p:nvSpPr>
          <p:cNvPr id="485382" name="Rectangle 6"/>
          <p:cNvSpPr>
            <a:spLocks noChangeArrowheads="1"/>
          </p:cNvSpPr>
          <p:nvPr/>
        </p:nvSpPr>
        <p:spPr bwMode="auto">
          <a:xfrm>
            <a:off x="1981200" y="4562475"/>
            <a:ext cx="1371600" cy="457200"/>
          </a:xfrm>
          <a:prstGeom prst="rect">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5383" name="Text Box 7"/>
          <p:cNvSpPr txBox="1">
            <a:spLocks noChangeArrowheads="1"/>
          </p:cNvSpPr>
          <p:nvPr/>
        </p:nvSpPr>
        <p:spPr bwMode="auto">
          <a:xfrm>
            <a:off x="2028825" y="451008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t>Disk</a:t>
            </a:r>
          </a:p>
        </p:txBody>
      </p:sp>
      <p:sp>
        <p:nvSpPr>
          <p:cNvPr id="485384" name="Rectangle 8"/>
          <p:cNvSpPr>
            <a:spLocks noChangeArrowheads="1"/>
          </p:cNvSpPr>
          <p:nvPr/>
        </p:nvSpPr>
        <p:spPr bwMode="auto">
          <a:xfrm>
            <a:off x="3581400" y="4562475"/>
            <a:ext cx="1371600" cy="457200"/>
          </a:xfrm>
          <a:prstGeom prst="rect">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5385" name="Text Box 9"/>
          <p:cNvSpPr txBox="1">
            <a:spLocks noChangeArrowheads="1"/>
          </p:cNvSpPr>
          <p:nvPr/>
        </p:nvSpPr>
        <p:spPr bwMode="auto">
          <a:xfrm>
            <a:off x="3629025" y="451008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t>Screen</a:t>
            </a:r>
          </a:p>
        </p:txBody>
      </p:sp>
      <p:grpSp>
        <p:nvGrpSpPr>
          <p:cNvPr id="485398" name="Group 22"/>
          <p:cNvGrpSpPr>
            <a:grpSpLocks/>
          </p:cNvGrpSpPr>
          <p:nvPr/>
        </p:nvGrpSpPr>
        <p:grpSpPr bwMode="auto">
          <a:xfrm>
            <a:off x="4038600" y="1371600"/>
            <a:ext cx="609600" cy="1447800"/>
            <a:chOff x="2544" y="864"/>
            <a:chExt cx="384" cy="912"/>
          </a:xfrm>
        </p:grpSpPr>
        <p:sp>
          <p:nvSpPr>
            <p:cNvPr id="485386" name="AutoShape 10"/>
            <p:cNvSpPr>
              <a:spLocks noChangeArrowheads="1"/>
            </p:cNvSpPr>
            <p:nvPr/>
          </p:nvSpPr>
          <p:spPr bwMode="auto">
            <a:xfrm>
              <a:off x="2544" y="864"/>
              <a:ext cx="384" cy="336"/>
            </a:xfrm>
            <a:prstGeom prst="smileyFace">
              <a:avLst>
                <a:gd name="adj" fmla="val 4653"/>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5387" name="Line 11"/>
            <p:cNvSpPr>
              <a:spLocks noChangeShapeType="1"/>
            </p:cNvSpPr>
            <p:nvPr/>
          </p:nvSpPr>
          <p:spPr bwMode="auto">
            <a:xfrm>
              <a:off x="2736" y="1200"/>
              <a:ext cx="0" cy="432"/>
            </a:xfrm>
            <a:prstGeom prst="line">
              <a:avLst/>
            </a:prstGeom>
            <a:noFill/>
            <a:ln w="50800">
              <a:solidFill>
                <a:srgbClr val="66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5388" name="Line 12"/>
            <p:cNvSpPr>
              <a:spLocks noChangeShapeType="1"/>
            </p:cNvSpPr>
            <p:nvPr/>
          </p:nvSpPr>
          <p:spPr bwMode="auto">
            <a:xfrm>
              <a:off x="2736" y="1344"/>
              <a:ext cx="192" cy="48"/>
            </a:xfrm>
            <a:prstGeom prst="line">
              <a:avLst/>
            </a:prstGeom>
            <a:noFill/>
            <a:ln w="50800">
              <a:solidFill>
                <a:srgbClr val="66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5389" name="Line 13"/>
            <p:cNvSpPr>
              <a:spLocks noChangeShapeType="1"/>
            </p:cNvSpPr>
            <p:nvPr/>
          </p:nvSpPr>
          <p:spPr bwMode="auto">
            <a:xfrm flipH="1">
              <a:off x="2544" y="1344"/>
              <a:ext cx="192" cy="48"/>
            </a:xfrm>
            <a:prstGeom prst="line">
              <a:avLst/>
            </a:prstGeom>
            <a:noFill/>
            <a:ln w="50800">
              <a:solidFill>
                <a:srgbClr val="66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5390" name="Line 14"/>
            <p:cNvSpPr>
              <a:spLocks noChangeShapeType="1"/>
            </p:cNvSpPr>
            <p:nvPr/>
          </p:nvSpPr>
          <p:spPr bwMode="auto">
            <a:xfrm flipH="1">
              <a:off x="2592" y="1632"/>
              <a:ext cx="144" cy="144"/>
            </a:xfrm>
            <a:prstGeom prst="line">
              <a:avLst/>
            </a:prstGeom>
            <a:noFill/>
            <a:ln w="50800">
              <a:solidFill>
                <a:srgbClr val="66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5391" name="Line 15"/>
            <p:cNvSpPr>
              <a:spLocks noChangeShapeType="1"/>
            </p:cNvSpPr>
            <p:nvPr/>
          </p:nvSpPr>
          <p:spPr bwMode="auto">
            <a:xfrm>
              <a:off x="2736" y="1632"/>
              <a:ext cx="96" cy="144"/>
            </a:xfrm>
            <a:prstGeom prst="line">
              <a:avLst/>
            </a:prstGeom>
            <a:noFill/>
            <a:ln w="50800">
              <a:solidFill>
                <a:srgbClr val="66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485392" name="Rectangle 16"/>
          <p:cNvSpPr>
            <a:spLocks noChangeArrowheads="1"/>
          </p:cNvSpPr>
          <p:nvPr/>
        </p:nvSpPr>
        <p:spPr bwMode="auto">
          <a:xfrm>
            <a:off x="1981200" y="3360738"/>
            <a:ext cx="1063625" cy="441325"/>
          </a:xfrm>
          <a:prstGeom prst="rect">
            <a:avLst/>
          </a:prstGeom>
          <a:solidFill>
            <a:srgbClr val="99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5393" name="Text Box 17"/>
          <p:cNvSpPr txBox="1">
            <a:spLocks noChangeArrowheads="1"/>
          </p:cNvSpPr>
          <p:nvPr/>
        </p:nvSpPr>
        <p:spPr bwMode="auto">
          <a:xfrm>
            <a:off x="1981200" y="3290888"/>
            <a:ext cx="990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App</a:t>
            </a:r>
          </a:p>
        </p:txBody>
      </p:sp>
      <p:sp>
        <p:nvSpPr>
          <p:cNvPr id="485394" name="Rectangle 18"/>
          <p:cNvSpPr>
            <a:spLocks noChangeArrowheads="1"/>
          </p:cNvSpPr>
          <p:nvPr/>
        </p:nvSpPr>
        <p:spPr bwMode="auto">
          <a:xfrm>
            <a:off x="3584575" y="3354388"/>
            <a:ext cx="1063625" cy="441325"/>
          </a:xfrm>
          <a:prstGeom prst="rect">
            <a:avLst/>
          </a:prstGeom>
          <a:solidFill>
            <a:srgbClr val="99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5395" name="Text Box 19"/>
          <p:cNvSpPr txBox="1">
            <a:spLocks noChangeArrowheads="1"/>
          </p:cNvSpPr>
          <p:nvPr/>
        </p:nvSpPr>
        <p:spPr bwMode="auto">
          <a:xfrm>
            <a:off x="3581400" y="3276600"/>
            <a:ext cx="99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App</a:t>
            </a:r>
          </a:p>
        </p:txBody>
      </p:sp>
      <p:sp>
        <p:nvSpPr>
          <p:cNvPr id="485396" name="Oval 20"/>
          <p:cNvSpPr>
            <a:spLocks noChangeArrowheads="1"/>
          </p:cNvSpPr>
          <p:nvPr/>
        </p:nvSpPr>
        <p:spPr bwMode="auto">
          <a:xfrm>
            <a:off x="3505200" y="1219200"/>
            <a:ext cx="1676400" cy="1676400"/>
          </a:xfrm>
          <a:prstGeom prst="ellipse">
            <a:avLst/>
          </a:prstGeom>
          <a:noFill/>
          <a:ln w="25400" algn="ctr">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5397" name="AutoShape 21"/>
          <p:cNvSpPr>
            <a:spLocks noChangeArrowheads="1"/>
          </p:cNvSpPr>
          <p:nvPr/>
        </p:nvSpPr>
        <p:spPr bwMode="auto">
          <a:xfrm>
            <a:off x="2286000" y="1676400"/>
            <a:ext cx="1143000" cy="685800"/>
          </a:xfrm>
          <a:prstGeom prst="rightArrow">
            <a:avLst>
              <a:gd name="adj1" fmla="val 50000"/>
              <a:gd name="adj2" fmla="val 41667"/>
            </a:avLst>
          </a:prstGeom>
          <a:solidFill>
            <a:srgbClr val="3399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5399" name="Rectangle 23"/>
          <p:cNvSpPr>
            <a:spLocks noChangeArrowheads="1"/>
          </p:cNvSpPr>
          <p:nvPr/>
        </p:nvSpPr>
        <p:spPr bwMode="auto">
          <a:xfrm>
            <a:off x="5260975" y="3368675"/>
            <a:ext cx="1063625" cy="441325"/>
          </a:xfrm>
          <a:prstGeom prst="rect">
            <a:avLst/>
          </a:prstGeom>
          <a:solidFill>
            <a:srgbClr val="99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85400" name="Text Box 24"/>
          <p:cNvSpPr txBox="1">
            <a:spLocks noChangeArrowheads="1"/>
          </p:cNvSpPr>
          <p:nvPr/>
        </p:nvSpPr>
        <p:spPr bwMode="auto">
          <a:xfrm>
            <a:off x="5334000" y="3276600"/>
            <a:ext cx="99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App</a:t>
            </a:r>
          </a:p>
        </p:txBody>
      </p:sp>
      <p:sp>
        <p:nvSpPr>
          <p:cNvPr id="485401" name="Rectangle 25"/>
          <p:cNvSpPr>
            <a:spLocks noChangeArrowheads="1"/>
          </p:cNvSpPr>
          <p:nvPr/>
        </p:nvSpPr>
        <p:spPr bwMode="auto">
          <a:xfrm>
            <a:off x="5286375" y="4552950"/>
            <a:ext cx="1371600" cy="457200"/>
          </a:xfrm>
          <a:prstGeom prst="rect">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85402" name="Text Box 26"/>
          <p:cNvSpPr txBox="1">
            <a:spLocks noChangeArrowheads="1"/>
          </p:cNvSpPr>
          <p:nvPr/>
        </p:nvSpPr>
        <p:spPr bwMode="auto">
          <a:xfrm>
            <a:off x="5219700" y="4495800"/>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t>Network</a:t>
            </a:r>
          </a:p>
        </p:txBody>
      </p:sp>
      <p:sp>
        <p:nvSpPr>
          <p:cNvPr id="31" name="TextBox 30"/>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custDataLst>
      <p:tags r:id="rId1"/>
    </p:custDataLst>
    <p:extLst>
      <p:ext uri="{BB962C8B-B14F-4D97-AF65-F5344CB8AC3E}">
        <p14:creationId xmlns:p14="http://schemas.microsoft.com/office/powerpoint/2010/main" val="110376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53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539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5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96" grpId="0" animBg="1"/>
      <p:bldP spid="48539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21"/>
          <p:cNvSpPr>
            <a:spLocks noGrp="1"/>
          </p:cNvSpPr>
          <p:nvPr>
            <p:ph type="sldNum" sz="quarter" idx="12"/>
          </p:nvPr>
        </p:nvSpPr>
        <p:spPr/>
        <p:txBody>
          <a:bodyPr/>
          <a:lstStyle/>
          <a:p>
            <a:fld id="{94FD0DC6-ACDC-4FD0-95EC-7D33AB1B86FE}" type="slidenum">
              <a:rPr lang="en-US" altLang="en-US"/>
              <a:pPr/>
              <a:t>15</a:t>
            </a:fld>
            <a:endParaRPr lang="en-US" altLang="en-US"/>
          </a:p>
        </p:txBody>
      </p:sp>
      <p:sp>
        <p:nvSpPr>
          <p:cNvPr id="463888" name="Rectangle 16"/>
          <p:cNvSpPr>
            <a:spLocks noChangeArrowheads="1"/>
          </p:cNvSpPr>
          <p:nvPr/>
        </p:nvSpPr>
        <p:spPr bwMode="auto">
          <a:xfrm>
            <a:off x="685800" y="1295400"/>
            <a:ext cx="3962400" cy="2057400"/>
          </a:xfrm>
          <a:prstGeom prst="rect">
            <a:avLst/>
          </a:prstGeom>
          <a:solidFill>
            <a:srgbClr val="FFCC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63874" name="Rectangle 2"/>
          <p:cNvSpPr>
            <a:spLocks noGrp="1" noChangeArrowheads="1"/>
          </p:cNvSpPr>
          <p:nvPr>
            <p:ph type="title"/>
          </p:nvPr>
        </p:nvSpPr>
        <p:spPr/>
        <p:txBody>
          <a:bodyPr/>
          <a:lstStyle/>
          <a:p>
            <a:r>
              <a:rPr lang="en-US"/>
              <a:t>Example: Synchronous I/O</a:t>
            </a:r>
          </a:p>
        </p:txBody>
      </p:sp>
      <p:sp>
        <p:nvSpPr>
          <p:cNvPr id="463875" name="AutoShape 3"/>
          <p:cNvSpPr>
            <a:spLocks noChangeArrowheads="1"/>
          </p:cNvSpPr>
          <p:nvPr/>
        </p:nvSpPr>
        <p:spPr bwMode="auto">
          <a:xfrm>
            <a:off x="4114800" y="4724400"/>
            <a:ext cx="1600200" cy="1371600"/>
          </a:xfrm>
          <a:prstGeom prst="cube">
            <a:avLst>
              <a:gd name="adj" fmla="val 2500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sz="2000"/>
              <a:t>OS Kernel</a:t>
            </a:r>
          </a:p>
        </p:txBody>
      </p:sp>
      <p:sp>
        <p:nvSpPr>
          <p:cNvPr id="463876" name="AutoShape 4"/>
          <p:cNvSpPr>
            <a:spLocks noChangeArrowheads="1"/>
          </p:cNvSpPr>
          <p:nvPr/>
        </p:nvSpPr>
        <p:spPr bwMode="auto">
          <a:xfrm>
            <a:off x="6858000" y="4648200"/>
            <a:ext cx="1066800" cy="1447800"/>
          </a:xfrm>
          <a:prstGeom prst="can">
            <a:avLst>
              <a:gd name="adj" fmla="val 33929"/>
            </a:avLst>
          </a:pr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sz="2000"/>
              <a:t>Disk</a:t>
            </a:r>
          </a:p>
        </p:txBody>
      </p:sp>
      <p:sp>
        <p:nvSpPr>
          <p:cNvPr id="463877" name="AutoShape 5"/>
          <p:cNvSpPr>
            <a:spLocks noChangeArrowheads="1"/>
          </p:cNvSpPr>
          <p:nvPr/>
        </p:nvSpPr>
        <p:spPr bwMode="auto">
          <a:xfrm>
            <a:off x="5715000" y="5029200"/>
            <a:ext cx="1143000" cy="609600"/>
          </a:xfrm>
          <a:prstGeom prst="leftRightArrow">
            <a:avLst>
              <a:gd name="adj1" fmla="val 50000"/>
              <a:gd name="adj2" fmla="val 37500"/>
            </a:avLst>
          </a:prstGeom>
          <a:noFill/>
          <a:ln w="9525" algn="ctr">
            <a:solidFill>
              <a:schemeClr val="tx1"/>
            </a:solidFill>
            <a:miter lim="800000"/>
            <a:headEnd/>
            <a:tailEnd/>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3878" name="Rectangle 6"/>
          <p:cNvSpPr>
            <a:spLocks noChangeArrowheads="1"/>
          </p:cNvSpPr>
          <p:nvPr/>
        </p:nvSpPr>
        <p:spPr bwMode="auto">
          <a:xfrm>
            <a:off x="1295400" y="5105400"/>
            <a:ext cx="1638300" cy="495300"/>
          </a:xfrm>
          <a:prstGeom prst="rect">
            <a:avLst/>
          </a:prstGeom>
          <a:solidFill>
            <a:srgbClr val="99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sz="2000"/>
              <a:t>Process</a:t>
            </a:r>
          </a:p>
        </p:txBody>
      </p:sp>
      <p:sp>
        <p:nvSpPr>
          <p:cNvPr id="463879" name="AutoShape 7"/>
          <p:cNvSpPr>
            <a:spLocks noChangeArrowheads="1"/>
          </p:cNvSpPr>
          <p:nvPr/>
        </p:nvSpPr>
        <p:spPr bwMode="auto">
          <a:xfrm>
            <a:off x="2514600" y="4953000"/>
            <a:ext cx="685800" cy="838200"/>
          </a:xfrm>
          <a:prstGeom prst="verticalScroll">
            <a:avLst>
              <a:gd name="adj" fmla="val 12500"/>
            </a:avLst>
          </a:prstGeom>
          <a:solidFill>
            <a:srgbClr val="0000FF">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3885" name="AutoShape 13"/>
          <p:cNvSpPr>
            <a:spLocks noChangeArrowheads="1"/>
          </p:cNvSpPr>
          <p:nvPr/>
        </p:nvSpPr>
        <p:spPr bwMode="auto">
          <a:xfrm>
            <a:off x="2971800" y="5029200"/>
            <a:ext cx="1143000" cy="609600"/>
          </a:xfrm>
          <a:prstGeom prst="leftRightArrow">
            <a:avLst>
              <a:gd name="adj1" fmla="val 50000"/>
              <a:gd name="adj2" fmla="val 37500"/>
            </a:avLst>
          </a:prstGeom>
          <a:noFill/>
          <a:ln w="9525" algn="ctr">
            <a:solidFill>
              <a:schemeClr val="tx1"/>
            </a:solidFill>
            <a:miter lim="800000"/>
            <a:headEnd/>
            <a:tailEnd/>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3889" name="Rectangle 17"/>
          <p:cNvSpPr>
            <a:spLocks noChangeArrowheads="1"/>
          </p:cNvSpPr>
          <p:nvPr/>
        </p:nvSpPr>
        <p:spPr bwMode="auto">
          <a:xfrm>
            <a:off x="762000" y="1371600"/>
            <a:ext cx="3810000" cy="533400"/>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63886" name="Text Box 14"/>
          <p:cNvSpPr txBox="1">
            <a:spLocks noChangeArrowheads="1"/>
          </p:cNvSpPr>
          <p:nvPr/>
        </p:nvSpPr>
        <p:spPr bwMode="auto">
          <a:xfrm>
            <a:off x="685800" y="1447800"/>
            <a:ext cx="4038600" cy="17684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charset="0"/>
              </a:defRPr>
            </a:lvl1pPr>
            <a:lvl2pPr marL="800100" indent="-342900" algn="l">
              <a:spcBef>
                <a:spcPct val="0"/>
              </a:spcBef>
              <a:defRPr>
                <a:solidFill>
                  <a:schemeClr val="tx1"/>
                </a:solidFill>
                <a:latin typeface="Arial" charset="0"/>
              </a:defRPr>
            </a:lvl2pPr>
            <a:lvl3pPr marL="1257300" indent="-342900" algn="l">
              <a:spcBef>
                <a:spcPct val="0"/>
              </a:spcBef>
              <a:defRPr>
                <a:solidFill>
                  <a:schemeClr val="tx1"/>
                </a:solidFill>
                <a:latin typeface="Arial" charset="0"/>
              </a:defRPr>
            </a:lvl3pPr>
            <a:lvl4pPr marL="1714500" indent="-342900" algn="l">
              <a:spcBef>
                <a:spcPct val="0"/>
              </a:spcBef>
              <a:defRPr>
                <a:solidFill>
                  <a:schemeClr val="tx1"/>
                </a:solidFill>
                <a:latin typeface="Arial" charset="0"/>
              </a:defRPr>
            </a:lvl4pPr>
            <a:lvl5pPr marL="2171700" indent="-342900" algn="l">
              <a:spcBef>
                <a:spcPct val="0"/>
              </a:spcBef>
              <a:defRPr>
                <a:solidFill>
                  <a:schemeClr val="tx1"/>
                </a:solidFill>
                <a:latin typeface="Arial" charset="0"/>
              </a:defRPr>
            </a:lvl5pPr>
            <a:lvl6pPr marL="2628900" indent="-342900" fontAlgn="base">
              <a:spcBef>
                <a:spcPct val="0"/>
              </a:spcBef>
              <a:spcAft>
                <a:spcPct val="0"/>
              </a:spcAft>
              <a:defRPr>
                <a:solidFill>
                  <a:schemeClr val="tx1"/>
                </a:solidFill>
                <a:latin typeface="Arial" charset="0"/>
              </a:defRPr>
            </a:lvl6pPr>
            <a:lvl7pPr marL="3086100" indent="-342900" fontAlgn="base">
              <a:spcBef>
                <a:spcPct val="0"/>
              </a:spcBef>
              <a:spcAft>
                <a:spcPct val="0"/>
              </a:spcAft>
              <a:defRPr>
                <a:solidFill>
                  <a:schemeClr val="tx1"/>
                </a:solidFill>
                <a:latin typeface="Arial" charset="0"/>
              </a:defRPr>
            </a:lvl7pPr>
            <a:lvl8pPr marL="3543300" indent="-342900" fontAlgn="base">
              <a:spcBef>
                <a:spcPct val="0"/>
              </a:spcBef>
              <a:spcAft>
                <a:spcPct val="0"/>
              </a:spcAft>
              <a:defRPr>
                <a:solidFill>
                  <a:schemeClr val="tx1"/>
                </a:solidFill>
                <a:latin typeface="Arial" charset="0"/>
              </a:defRPr>
            </a:lvl8pPr>
            <a:lvl9pPr marL="4000500" indent="-342900" fontAlgn="base">
              <a:spcBef>
                <a:spcPct val="0"/>
              </a:spcBef>
              <a:spcAft>
                <a:spcPct val="0"/>
              </a:spcAft>
              <a:defRPr>
                <a:solidFill>
                  <a:schemeClr val="tx1"/>
                </a:solidFill>
                <a:latin typeface="Arial" charset="0"/>
              </a:defRPr>
            </a:lvl9pPr>
          </a:lstStyle>
          <a:p>
            <a:pPr>
              <a:spcBef>
                <a:spcPct val="50000"/>
              </a:spcBef>
            </a:pPr>
            <a:r>
              <a:rPr lang="en-US" sz="2000">
                <a:latin typeface="MS Reference Sans Serif" pitchFamily="34" charset="0"/>
              </a:rPr>
              <a:t>101   write(buf_1);</a:t>
            </a:r>
          </a:p>
          <a:p>
            <a:pPr>
              <a:spcBef>
                <a:spcPct val="50000"/>
              </a:spcBef>
            </a:pPr>
            <a:r>
              <a:rPr lang="en-US" sz="2000">
                <a:latin typeface="MS Reference Sans Serif" pitchFamily="34" charset="0"/>
              </a:rPr>
              <a:t>102   write(buf_2);</a:t>
            </a:r>
          </a:p>
          <a:p>
            <a:pPr>
              <a:spcBef>
                <a:spcPct val="50000"/>
              </a:spcBef>
            </a:pPr>
            <a:r>
              <a:rPr lang="en-US" sz="2000">
                <a:latin typeface="MS Reference Sans Serif" pitchFamily="34" charset="0"/>
              </a:rPr>
              <a:t>103   print(“work done”);</a:t>
            </a:r>
          </a:p>
          <a:p>
            <a:pPr>
              <a:spcBef>
                <a:spcPct val="50000"/>
              </a:spcBef>
            </a:pPr>
            <a:r>
              <a:rPr lang="en-US" sz="2000">
                <a:latin typeface="MS Reference Sans Serif" pitchFamily="34" charset="0"/>
              </a:rPr>
              <a:t>104   foo();</a:t>
            </a:r>
          </a:p>
        </p:txBody>
      </p:sp>
      <p:sp>
        <p:nvSpPr>
          <p:cNvPr id="463891" name="AutoShape 19"/>
          <p:cNvSpPr>
            <a:spLocks noChangeArrowheads="1"/>
          </p:cNvSpPr>
          <p:nvPr/>
        </p:nvSpPr>
        <p:spPr bwMode="auto">
          <a:xfrm>
            <a:off x="4724400" y="1447800"/>
            <a:ext cx="1066800" cy="457200"/>
          </a:xfrm>
          <a:prstGeom prst="leftArrow">
            <a:avLst>
              <a:gd name="adj1" fmla="val 50000"/>
              <a:gd name="adj2" fmla="val 58333"/>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3892" name="Text Box 20"/>
          <p:cNvSpPr txBox="1">
            <a:spLocks noChangeArrowheads="1"/>
          </p:cNvSpPr>
          <p:nvPr/>
        </p:nvSpPr>
        <p:spPr bwMode="auto">
          <a:xfrm>
            <a:off x="5715000" y="1371600"/>
            <a:ext cx="3124200" cy="51911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Application blocks</a:t>
            </a:r>
          </a:p>
        </p:txBody>
      </p:sp>
      <p:sp>
        <p:nvSpPr>
          <p:cNvPr id="463893" name="Text Box 21"/>
          <p:cNvSpPr txBox="1">
            <a:spLocks noChangeArrowheads="1"/>
          </p:cNvSpPr>
          <p:nvPr/>
        </p:nvSpPr>
        <p:spPr bwMode="auto">
          <a:xfrm>
            <a:off x="5791200" y="1843088"/>
            <a:ext cx="3048000" cy="51911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Application blocks</a:t>
            </a:r>
          </a:p>
        </p:txBody>
      </p:sp>
      <p:sp>
        <p:nvSpPr>
          <p:cNvPr id="463894" name="AutoShape 22"/>
          <p:cNvSpPr>
            <a:spLocks noChangeArrowheads="1"/>
          </p:cNvSpPr>
          <p:nvPr/>
        </p:nvSpPr>
        <p:spPr bwMode="auto">
          <a:xfrm>
            <a:off x="2514600" y="4953000"/>
            <a:ext cx="685800" cy="838200"/>
          </a:xfrm>
          <a:prstGeom prst="verticalScroll">
            <a:avLst>
              <a:gd name="adj" fmla="val 12500"/>
            </a:avLst>
          </a:prstGeom>
          <a:solidFill>
            <a:srgbClr val="0000FF">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3899" name="Rectangle 27"/>
          <p:cNvSpPr>
            <a:spLocks noChangeArrowheads="1"/>
          </p:cNvSpPr>
          <p:nvPr/>
        </p:nvSpPr>
        <p:spPr bwMode="auto">
          <a:xfrm>
            <a:off x="6248400" y="3276600"/>
            <a:ext cx="2286000" cy="1295400"/>
          </a:xfrm>
          <a:prstGeom prst="rect">
            <a:avLst/>
          </a:prstGeom>
          <a:solidFill>
            <a:srgbClr val="00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3900" name="Text Box 28"/>
          <p:cNvSpPr txBox="1">
            <a:spLocks noChangeArrowheads="1"/>
          </p:cNvSpPr>
          <p:nvPr/>
        </p:nvSpPr>
        <p:spPr bwMode="auto">
          <a:xfrm>
            <a:off x="6248400" y="3429000"/>
            <a:ext cx="2286000" cy="94615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solidFill>
                  <a:srgbClr val="33CC33"/>
                </a:solidFill>
              </a:rPr>
              <a:t>%work done</a:t>
            </a:r>
            <a:br>
              <a:rPr lang="en-US">
                <a:solidFill>
                  <a:srgbClr val="33CC33"/>
                </a:solidFill>
              </a:rPr>
            </a:br>
            <a:r>
              <a:rPr lang="en-US">
                <a:solidFill>
                  <a:srgbClr val="33CC33"/>
                </a:solidFill>
              </a:rPr>
              <a:t>%</a:t>
            </a:r>
          </a:p>
        </p:txBody>
      </p:sp>
      <p:sp>
        <p:nvSpPr>
          <p:cNvPr id="463901" name="AutoShape 29"/>
          <p:cNvSpPr>
            <a:spLocks noChangeArrowheads="1"/>
          </p:cNvSpPr>
          <p:nvPr/>
        </p:nvSpPr>
        <p:spPr bwMode="auto">
          <a:xfrm>
            <a:off x="2514600" y="4953000"/>
            <a:ext cx="685800" cy="838200"/>
          </a:xfrm>
          <a:prstGeom prst="verticalScroll">
            <a:avLst>
              <a:gd name="adj" fmla="val 12500"/>
            </a:avLst>
          </a:prstGeom>
          <a:solidFill>
            <a:srgbClr val="00FF00">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800"/>
              <a:t>TEXT</a:t>
            </a:r>
          </a:p>
        </p:txBody>
      </p:sp>
      <p:sp>
        <p:nvSpPr>
          <p:cNvPr id="463903" name="Text Box 31"/>
          <p:cNvSpPr txBox="1">
            <a:spLocks noChangeArrowheads="1"/>
          </p:cNvSpPr>
          <p:nvPr/>
        </p:nvSpPr>
        <p:spPr bwMode="auto">
          <a:xfrm>
            <a:off x="6248400" y="3429000"/>
            <a:ext cx="2057400" cy="51911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solidFill>
                  <a:srgbClr val="33CC33"/>
                </a:solidFill>
              </a:rPr>
              <a:t>%</a:t>
            </a:r>
          </a:p>
        </p:txBody>
      </p:sp>
      <p:sp>
        <p:nvSpPr>
          <p:cNvPr id="24" name="TextBox 23"/>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custDataLst>
      <p:tags r:id="rId1"/>
    </p:custDataLst>
    <p:extLst>
      <p:ext uri="{BB962C8B-B14F-4D97-AF65-F5344CB8AC3E}">
        <p14:creationId xmlns:p14="http://schemas.microsoft.com/office/powerpoint/2010/main" val="30739869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388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389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387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63" presetClass="path" presetSubtype="0" accel="50000" decel="50000" fill="hold" grpId="1" nodeType="clickEffect">
                                  <p:stCondLst>
                                    <p:cond delay="0"/>
                                  </p:stCondLst>
                                  <p:childTnLst>
                                    <p:animMotion origin="layout" path="M 0 0  L 0.25 0  E" pathEditMode="relative" ptsTypes="">
                                      <p:cBhvr>
                                        <p:cTn id="14" dur="2000" fill="hold"/>
                                        <p:tgtEl>
                                          <p:spTgt spid="463879"/>
                                        </p:tgtEl>
                                        <p:attrNameLst>
                                          <p:attrName>ppt_x</p:attrName>
                                          <p:attrName>ppt_y</p:attrName>
                                        </p:attrNameLst>
                                      </p:cBhvr>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389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grpId="2" nodeType="clickEffect">
                                  <p:stCondLst>
                                    <p:cond delay="0"/>
                                  </p:stCondLst>
                                  <p:childTnLst>
                                    <p:animMotion origin="layout" path="M 0.25 5.55556E-6 L 0.50834 5.55556E-6 " pathEditMode="relative" ptsTypes="AA">
                                      <p:cBhvr>
                                        <p:cTn id="22" dur="2000" fill="hold"/>
                                        <p:tgtEl>
                                          <p:spTgt spid="463879"/>
                                        </p:tgtEl>
                                        <p:attrNameLst>
                                          <p:attrName>ppt_x</p:attrName>
                                          <p:attrName>ppt_y</p:attrName>
                                        </p:attrNameLst>
                                      </p:cBhvr>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grpId="1" nodeType="clickEffect">
                                  <p:stCondLst>
                                    <p:cond delay="0"/>
                                  </p:stCondLst>
                                  <p:childTnLst>
                                    <p:animMotion origin="layout" path="M 1.11022E-16 5.55112E-17 L 1.11022E-16 0.06667 " pathEditMode="relative" ptsTypes="AA">
                                      <p:cBhvr>
                                        <p:cTn id="26" dur="1000" fill="hold"/>
                                        <p:tgtEl>
                                          <p:spTgt spid="463891"/>
                                        </p:tgtEl>
                                        <p:attrNameLst>
                                          <p:attrName>ppt_x</p:attrName>
                                          <p:attrName>ppt_y</p:attrName>
                                        </p:attrNameLst>
                                      </p:cBhvr>
                                    </p:animMotion>
                                  </p:childTnLst>
                                </p:cTn>
                              </p:par>
                              <p:par>
                                <p:cTn id="27" presetID="1" presetClass="exit" presetSubtype="0" fill="hold" grpId="3" nodeType="withEffect">
                                  <p:stCondLst>
                                    <p:cond delay="0"/>
                                  </p:stCondLst>
                                  <p:childTnLst>
                                    <p:set>
                                      <p:cBhvr>
                                        <p:cTn id="28" dur="1" fill="hold">
                                          <p:stCondLst>
                                            <p:cond delay="0"/>
                                          </p:stCondLst>
                                        </p:cTn>
                                        <p:tgtEl>
                                          <p:spTgt spid="463879"/>
                                        </p:tgtEl>
                                        <p:attrNameLst>
                                          <p:attrName>style.visibility</p:attrName>
                                        </p:attrNameLst>
                                      </p:cBhvr>
                                      <p:to>
                                        <p:strVal val="hidden"/>
                                      </p:to>
                                    </p:set>
                                  </p:childTnLst>
                                </p:cTn>
                              </p:par>
                              <p:par>
                                <p:cTn id="29" presetID="0" presetClass="path" presetSubtype="0" accel="50000" decel="50000" fill="hold" grpId="1" nodeType="withEffect">
                                  <p:stCondLst>
                                    <p:cond delay="0"/>
                                  </p:stCondLst>
                                  <p:childTnLst>
                                    <p:animMotion origin="layout" path="M 3.33333E-6 4.44444E-6 L 3.33333E-6 0.06667 " pathEditMode="relative" ptsTypes="AA">
                                      <p:cBhvr>
                                        <p:cTn id="30" dur="1000" fill="hold"/>
                                        <p:tgtEl>
                                          <p:spTgt spid="463889"/>
                                        </p:tgtEl>
                                        <p:attrNameLst>
                                          <p:attrName>ppt_x</p:attrName>
                                          <p:attrName>ppt_y</p:attrName>
                                        </p:attrNameLst>
                                      </p:cBhvr>
                                    </p:animMotion>
                                  </p:childTnLst>
                                </p:cTn>
                              </p:par>
                              <p:par>
                                <p:cTn id="31" presetID="1" presetClass="exit" presetSubtype="0" fill="hold" grpId="1" nodeType="withEffect">
                                  <p:stCondLst>
                                    <p:cond delay="0"/>
                                  </p:stCondLst>
                                  <p:childTnLst>
                                    <p:set>
                                      <p:cBhvr>
                                        <p:cTn id="32" dur="1" fill="hold">
                                          <p:stCondLst>
                                            <p:cond delay="0"/>
                                          </p:stCondLst>
                                        </p:cTn>
                                        <p:tgtEl>
                                          <p:spTgt spid="463892"/>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6389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63" presetClass="path" presetSubtype="0" accel="50000" decel="50000" fill="hold" grpId="1" nodeType="clickEffect">
                                  <p:stCondLst>
                                    <p:cond delay="0"/>
                                  </p:stCondLst>
                                  <p:childTnLst>
                                    <p:animMotion origin="layout" path="M 0 0  L 0.25 0  E" pathEditMode="relative" ptsTypes="">
                                      <p:cBhvr>
                                        <p:cTn id="40" dur="2000" fill="hold"/>
                                        <p:tgtEl>
                                          <p:spTgt spid="463894"/>
                                        </p:tgtEl>
                                        <p:attrNameLst>
                                          <p:attrName>ppt_x</p:attrName>
                                          <p:attrName>ppt_y</p:attrName>
                                        </p:attrNameLst>
                                      </p:cBhvr>
                                    </p:animMotion>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6389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0" presetClass="path" presetSubtype="0" accel="50000" decel="50000" fill="hold" grpId="2" nodeType="clickEffect">
                                  <p:stCondLst>
                                    <p:cond delay="0"/>
                                  </p:stCondLst>
                                  <p:childTnLst>
                                    <p:animMotion origin="layout" path="M 0.25 5.55556E-6 L 0.50834 5.55556E-6 " pathEditMode="relative" ptsTypes="AA">
                                      <p:cBhvr>
                                        <p:cTn id="48" dur="2000" fill="hold"/>
                                        <p:tgtEl>
                                          <p:spTgt spid="463894"/>
                                        </p:tgtEl>
                                        <p:attrNameLst>
                                          <p:attrName>ppt_x</p:attrName>
                                          <p:attrName>ppt_y</p:attrName>
                                        </p:attrNameLst>
                                      </p:cBhvr>
                                    </p:animMotion>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xit" presetSubtype="0" fill="hold" grpId="3" nodeType="clickEffect">
                                  <p:stCondLst>
                                    <p:cond delay="0"/>
                                  </p:stCondLst>
                                  <p:childTnLst>
                                    <p:set>
                                      <p:cBhvr>
                                        <p:cTn id="52" dur="1" fill="hold">
                                          <p:stCondLst>
                                            <p:cond delay="0"/>
                                          </p:stCondLst>
                                        </p:cTn>
                                        <p:tgtEl>
                                          <p:spTgt spid="463894"/>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0" presetClass="path" presetSubtype="0" accel="50000" decel="50000" fill="hold" grpId="2" nodeType="clickEffect">
                                  <p:stCondLst>
                                    <p:cond delay="0"/>
                                  </p:stCondLst>
                                  <p:childTnLst>
                                    <p:animMotion origin="layout" path="M 1.11022E-16 0.06667 L 1.11022E-16 0.13333 " pathEditMode="relative" ptsTypes="AA">
                                      <p:cBhvr>
                                        <p:cTn id="56" dur="1000" fill="hold"/>
                                        <p:tgtEl>
                                          <p:spTgt spid="463891"/>
                                        </p:tgtEl>
                                        <p:attrNameLst>
                                          <p:attrName>ppt_x</p:attrName>
                                          <p:attrName>ppt_y</p:attrName>
                                        </p:attrNameLst>
                                      </p:cBhvr>
                                    </p:animMotion>
                                  </p:childTnLst>
                                </p:cTn>
                              </p:par>
                              <p:par>
                                <p:cTn id="57" presetID="0" presetClass="path" presetSubtype="0" accel="50000" decel="50000" fill="hold" grpId="2" nodeType="withEffect">
                                  <p:stCondLst>
                                    <p:cond delay="0"/>
                                  </p:stCondLst>
                                  <p:childTnLst>
                                    <p:animMotion origin="layout" path="M 3.33333E-6 0.06668 L 3.33333E-6 0.14445 " pathEditMode="relative" ptsTypes="AA">
                                      <p:cBhvr>
                                        <p:cTn id="58" dur="1000" fill="hold"/>
                                        <p:tgtEl>
                                          <p:spTgt spid="463889"/>
                                        </p:tgtEl>
                                        <p:attrNameLst>
                                          <p:attrName>ppt_x</p:attrName>
                                          <p:attrName>ppt_y</p:attrName>
                                        </p:attrNameLst>
                                      </p:cBhvr>
                                    </p:animMotion>
                                  </p:childTnLst>
                                </p:cTn>
                              </p:par>
                              <p:par>
                                <p:cTn id="59" presetID="1" presetClass="exit" presetSubtype="0" fill="hold" grpId="1" nodeType="withEffect">
                                  <p:stCondLst>
                                    <p:cond delay="0"/>
                                  </p:stCondLst>
                                  <p:childTnLst>
                                    <p:set>
                                      <p:cBhvr>
                                        <p:cTn id="60" dur="1" fill="hold">
                                          <p:stCondLst>
                                            <p:cond delay="0"/>
                                          </p:stCondLst>
                                        </p:cTn>
                                        <p:tgtEl>
                                          <p:spTgt spid="463893"/>
                                        </p:tgtEl>
                                        <p:attrNameLst>
                                          <p:attrName>style.visibility</p:attrName>
                                        </p:attrNameLst>
                                      </p:cBhvr>
                                      <p:to>
                                        <p:strVal val="hidden"/>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46390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6389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3903"/>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63" presetClass="path" presetSubtype="0" accel="50000" decel="50000" fill="hold" nodeType="clickEffect">
                                  <p:stCondLst>
                                    <p:cond delay="0"/>
                                  </p:stCondLst>
                                  <p:childTnLst>
                                    <p:animMotion origin="layout" path="M 0 0  L 0.25 0  E" pathEditMode="relative" rAng="0" ptsTypes="">
                                      <p:cBhvr>
                                        <p:cTn id="72" dur="2000" fill="hold"/>
                                        <p:tgtEl>
                                          <p:spTgt spid="463901"/>
                                        </p:tgtEl>
                                        <p:attrNameLst>
                                          <p:attrName>ppt_x</p:attrName>
                                          <p:attrName>ppt_y</p:attrName>
                                        </p:attrNameLst>
                                      </p:cBhvr>
                                      <p:rCtr x="0" y="0"/>
                                    </p:animMotion>
                                  </p:childTnLst>
                                </p:cTn>
                              </p:par>
                            </p:childTnLst>
                          </p:cTn>
                        </p:par>
                      </p:childTnLst>
                    </p:cTn>
                  </p:par>
                  <p:par>
                    <p:cTn id="73" fill="hold" nodeType="clickPar">
                      <p:stCondLst>
                        <p:cond delay="indefinite"/>
                      </p:stCondLst>
                      <p:childTnLst>
                        <p:par>
                          <p:cTn id="74" fill="hold" nodeType="withGroup">
                            <p:stCondLst>
                              <p:cond delay="0"/>
                            </p:stCondLst>
                            <p:childTnLst>
                              <p:par>
                                <p:cTn id="75" presetID="0" presetClass="path" presetSubtype="0" accel="50000" decel="50000" fill="hold" grpId="0" nodeType="clickEffect">
                                  <p:stCondLst>
                                    <p:cond delay="0"/>
                                  </p:stCondLst>
                                  <p:childTnLst>
                                    <p:animMotion origin="layout" path="M 0.25 5.55556E-6 L 0.49167 -0.19999 " pathEditMode="relative" ptsTypes="AA">
                                      <p:cBhvr>
                                        <p:cTn id="76" dur="2000" fill="hold"/>
                                        <p:tgtEl>
                                          <p:spTgt spid="463901"/>
                                        </p:tgtEl>
                                        <p:attrNameLst>
                                          <p:attrName>ppt_x</p:attrName>
                                          <p:attrName>ppt_y</p:attrName>
                                        </p:attrNameLst>
                                      </p:cBhvr>
                                    </p:animMotion>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463901"/>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463900"/>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0" presetClass="path" presetSubtype="0" accel="50000" decel="50000" fill="hold" grpId="3" nodeType="clickEffect">
                                  <p:stCondLst>
                                    <p:cond delay="0"/>
                                  </p:stCondLst>
                                  <p:childTnLst>
                                    <p:animMotion origin="layout" path="M 1.11022E-16 0.13333 L 1.11022E-16 0.2 " pathEditMode="relative" ptsTypes="AA">
                                      <p:cBhvr>
                                        <p:cTn id="86" dur="1000" fill="hold"/>
                                        <p:tgtEl>
                                          <p:spTgt spid="463891"/>
                                        </p:tgtEl>
                                        <p:attrNameLst>
                                          <p:attrName>ppt_x</p:attrName>
                                          <p:attrName>ppt_y</p:attrName>
                                        </p:attrNameLst>
                                      </p:cBhvr>
                                    </p:animMotion>
                                  </p:childTnLst>
                                </p:cTn>
                              </p:par>
                              <p:par>
                                <p:cTn id="87" presetID="0" presetClass="path" presetSubtype="0" accel="50000" decel="50000" fill="hold" grpId="3" nodeType="withEffect">
                                  <p:stCondLst>
                                    <p:cond delay="0"/>
                                  </p:stCondLst>
                                  <p:childTnLst>
                                    <p:animMotion origin="layout" path="M 3.33333E-6 0.14445 L 3.33333E-6 0.20001 " pathEditMode="relative" ptsTypes="AA">
                                      <p:cBhvr>
                                        <p:cTn id="88" dur="1000" fill="hold"/>
                                        <p:tgtEl>
                                          <p:spTgt spid="46388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9" grpId="0" animBg="1"/>
      <p:bldP spid="463879" grpId="1" animBg="1"/>
      <p:bldP spid="463879" grpId="2" animBg="1"/>
      <p:bldP spid="463879" grpId="3" animBg="1"/>
      <p:bldP spid="463889" grpId="0" animBg="1"/>
      <p:bldP spid="463889" grpId="1" animBg="1"/>
      <p:bldP spid="463889" grpId="2" animBg="1"/>
      <p:bldP spid="463889" grpId="3" animBg="1"/>
      <p:bldP spid="463891" grpId="0" animBg="1"/>
      <p:bldP spid="463891" grpId="1" animBg="1"/>
      <p:bldP spid="463891" grpId="2" animBg="1"/>
      <p:bldP spid="463891" grpId="3" animBg="1"/>
      <p:bldP spid="463892" grpId="0"/>
      <p:bldP spid="463892" grpId="1"/>
      <p:bldP spid="463893" grpId="0"/>
      <p:bldP spid="463893" grpId="1"/>
      <p:bldP spid="463894" grpId="0" animBg="1"/>
      <p:bldP spid="463894" grpId="1" animBg="1"/>
      <p:bldP spid="463894" grpId="2" animBg="1"/>
      <p:bldP spid="463894" grpId="3" animBg="1"/>
      <p:bldP spid="463899" grpId="0" animBg="1"/>
      <p:bldP spid="463900" grpId="0"/>
      <p:bldP spid="463901" grpId="0" animBg="1"/>
      <p:bldP spid="463901" grpId="1" animBg="1"/>
      <p:bldP spid="46390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fld id="{67885F3E-4864-415D-8DE9-794AF7FC94AD}" type="slidenum">
              <a:rPr lang="en-US" altLang="en-US"/>
              <a:pPr/>
              <a:t>16</a:t>
            </a:fld>
            <a:endParaRPr lang="en-US" altLang="en-US"/>
          </a:p>
        </p:txBody>
      </p:sp>
      <p:sp>
        <p:nvSpPr>
          <p:cNvPr id="471042" name="Rectangle 2"/>
          <p:cNvSpPr>
            <a:spLocks noChangeArrowheads="1"/>
          </p:cNvSpPr>
          <p:nvPr/>
        </p:nvSpPr>
        <p:spPr bwMode="auto">
          <a:xfrm>
            <a:off x="685800" y="1295400"/>
            <a:ext cx="3962400" cy="2057400"/>
          </a:xfrm>
          <a:prstGeom prst="rect">
            <a:avLst/>
          </a:prstGeom>
          <a:solidFill>
            <a:srgbClr val="FFCC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71043" name="Rectangle 3"/>
          <p:cNvSpPr>
            <a:spLocks noGrp="1" noChangeArrowheads="1"/>
          </p:cNvSpPr>
          <p:nvPr>
            <p:ph type="title"/>
          </p:nvPr>
        </p:nvSpPr>
        <p:spPr/>
        <p:txBody>
          <a:bodyPr/>
          <a:lstStyle/>
          <a:p>
            <a:r>
              <a:rPr lang="en-US"/>
              <a:t>Observing synchronous I/O</a:t>
            </a:r>
          </a:p>
        </p:txBody>
      </p:sp>
      <p:sp>
        <p:nvSpPr>
          <p:cNvPr id="471050" name="Rectangle 10"/>
          <p:cNvSpPr>
            <a:spLocks noChangeArrowheads="1"/>
          </p:cNvSpPr>
          <p:nvPr/>
        </p:nvSpPr>
        <p:spPr bwMode="auto">
          <a:xfrm>
            <a:off x="762000" y="1371600"/>
            <a:ext cx="3810000" cy="533400"/>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71051" name="Text Box 11"/>
          <p:cNvSpPr txBox="1">
            <a:spLocks noChangeArrowheads="1"/>
          </p:cNvSpPr>
          <p:nvPr/>
        </p:nvSpPr>
        <p:spPr bwMode="auto">
          <a:xfrm>
            <a:off x="685800" y="1447800"/>
            <a:ext cx="4038600" cy="17684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charset="0"/>
              </a:defRPr>
            </a:lvl1pPr>
            <a:lvl2pPr marL="800100" indent="-342900" algn="l">
              <a:spcBef>
                <a:spcPct val="0"/>
              </a:spcBef>
              <a:defRPr>
                <a:solidFill>
                  <a:schemeClr val="tx1"/>
                </a:solidFill>
                <a:latin typeface="Arial" charset="0"/>
              </a:defRPr>
            </a:lvl2pPr>
            <a:lvl3pPr marL="1257300" indent="-342900" algn="l">
              <a:spcBef>
                <a:spcPct val="0"/>
              </a:spcBef>
              <a:defRPr>
                <a:solidFill>
                  <a:schemeClr val="tx1"/>
                </a:solidFill>
                <a:latin typeface="Arial" charset="0"/>
              </a:defRPr>
            </a:lvl3pPr>
            <a:lvl4pPr marL="1714500" indent="-342900" algn="l">
              <a:spcBef>
                <a:spcPct val="0"/>
              </a:spcBef>
              <a:defRPr>
                <a:solidFill>
                  <a:schemeClr val="tx1"/>
                </a:solidFill>
                <a:latin typeface="Arial" charset="0"/>
              </a:defRPr>
            </a:lvl4pPr>
            <a:lvl5pPr marL="2171700" indent="-342900" algn="l">
              <a:spcBef>
                <a:spcPct val="0"/>
              </a:spcBef>
              <a:defRPr>
                <a:solidFill>
                  <a:schemeClr val="tx1"/>
                </a:solidFill>
                <a:latin typeface="Arial" charset="0"/>
              </a:defRPr>
            </a:lvl5pPr>
            <a:lvl6pPr marL="2628900" indent="-342900" fontAlgn="base">
              <a:spcBef>
                <a:spcPct val="0"/>
              </a:spcBef>
              <a:spcAft>
                <a:spcPct val="0"/>
              </a:spcAft>
              <a:defRPr>
                <a:solidFill>
                  <a:schemeClr val="tx1"/>
                </a:solidFill>
                <a:latin typeface="Arial" charset="0"/>
              </a:defRPr>
            </a:lvl6pPr>
            <a:lvl7pPr marL="3086100" indent="-342900" fontAlgn="base">
              <a:spcBef>
                <a:spcPct val="0"/>
              </a:spcBef>
              <a:spcAft>
                <a:spcPct val="0"/>
              </a:spcAft>
              <a:defRPr>
                <a:solidFill>
                  <a:schemeClr val="tx1"/>
                </a:solidFill>
                <a:latin typeface="Arial" charset="0"/>
              </a:defRPr>
            </a:lvl7pPr>
            <a:lvl8pPr marL="3543300" indent="-342900" fontAlgn="base">
              <a:spcBef>
                <a:spcPct val="0"/>
              </a:spcBef>
              <a:spcAft>
                <a:spcPct val="0"/>
              </a:spcAft>
              <a:defRPr>
                <a:solidFill>
                  <a:schemeClr val="tx1"/>
                </a:solidFill>
                <a:latin typeface="Arial" charset="0"/>
              </a:defRPr>
            </a:lvl8pPr>
            <a:lvl9pPr marL="4000500" indent="-342900" fontAlgn="base">
              <a:spcBef>
                <a:spcPct val="0"/>
              </a:spcBef>
              <a:spcAft>
                <a:spcPct val="0"/>
              </a:spcAft>
              <a:defRPr>
                <a:solidFill>
                  <a:schemeClr val="tx1"/>
                </a:solidFill>
                <a:latin typeface="Arial" charset="0"/>
              </a:defRPr>
            </a:lvl9pPr>
          </a:lstStyle>
          <a:p>
            <a:pPr>
              <a:spcBef>
                <a:spcPct val="50000"/>
              </a:spcBef>
            </a:pPr>
            <a:r>
              <a:rPr lang="en-US" sz="2000">
                <a:latin typeface="MS Reference Sans Serif" pitchFamily="34" charset="0"/>
              </a:rPr>
              <a:t>101   write(buf_1);</a:t>
            </a:r>
          </a:p>
          <a:p>
            <a:pPr>
              <a:spcBef>
                <a:spcPct val="50000"/>
              </a:spcBef>
            </a:pPr>
            <a:r>
              <a:rPr lang="en-US" sz="2000">
                <a:latin typeface="MS Reference Sans Serif" pitchFamily="34" charset="0"/>
              </a:rPr>
              <a:t>102   write(buf_2);</a:t>
            </a:r>
          </a:p>
          <a:p>
            <a:pPr>
              <a:spcBef>
                <a:spcPct val="50000"/>
              </a:spcBef>
            </a:pPr>
            <a:r>
              <a:rPr lang="en-US" sz="2000">
                <a:latin typeface="MS Reference Sans Serif" pitchFamily="34" charset="0"/>
              </a:rPr>
              <a:t>103   print(“work done”);</a:t>
            </a:r>
          </a:p>
          <a:p>
            <a:pPr>
              <a:spcBef>
                <a:spcPct val="50000"/>
              </a:spcBef>
            </a:pPr>
            <a:r>
              <a:rPr lang="en-US" sz="2000">
                <a:latin typeface="MS Reference Sans Serif" pitchFamily="34" charset="0"/>
              </a:rPr>
              <a:t>104   foo();</a:t>
            </a:r>
          </a:p>
        </p:txBody>
      </p:sp>
      <p:sp>
        <p:nvSpPr>
          <p:cNvPr id="471052" name="AutoShape 12"/>
          <p:cNvSpPr>
            <a:spLocks noChangeArrowheads="1"/>
          </p:cNvSpPr>
          <p:nvPr/>
        </p:nvSpPr>
        <p:spPr bwMode="auto">
          <a:xfrm>
            <a:off x="4724400" y="1447800"/>
            <a:ext cx="1066800" cy="457200"/>
          </a:xfrm>
          <a:prstGeom prst="leftArrow">
            <a:avLst>
              <a:gd name="adj1" fmla="val 50000"/>
              <a:gd name="adj2" fmla="val 58333"/>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71062" name="Rectangle 22"/>
          <p:cNvSpPr>
            <a:spLocks noGrp="1" noChangeArrowheads="1"/>
          </p:cNvSpPr>
          <p:nvPr>
            <p:ph type="body" idx="1"/>
          </p:nvPr>
        </p:nvSpPr>
        <p:spPr>
          <a:xfrm>
            <a:off x="152400" y="4038600"/>
            <a:ext cx="8991600" cy="2092325"/>
          </a:xfrm>
          <a:noFill/>
          <a:ln/>
        </p:spPr>
        <p:txBody>
          <a:bodyPr/>
          <a:lstStyle/>
          <a:p>
            <a:r>
              <a:rPr lang="en-US" sz="2400" dirty="0"/>
              <a:t>Sync I/O externalizes output based on causal ordering</a:t>
            </a:r>
          </a:p>
          <a:p>
            <a:pPr lvl="1"/>
            <a:r>
              <a:rPr lang="en-US" sz="2000" dirty="0"/>
              <a:t>Enforces causal ordering by blocking an application</a:t>
            </a:r>
          </a:p>
          <a:p>
            <a:pPr lvl="1"/>
            <a:endParaRPr lang="en-US" sz="2000" dirty="0"/>
          </a:p>
          <a:p>
            <a:r>
              <a:rPr lang="en-US" sz="2400" dirty="0"/>
              <a:t>External sync: Same causal ordering </a:t>
            </a:r>
            <a:r>
              <a:rPr lang="en-US" sz="2400" dirty="0">
                <a:solidFill>
                  <a:srgbClr val="FF0000"/>
                </a:solidFill>
              </a:rPr>
              <a:t>without</a:t>
            </a:r>
            <a:r>
              <a:rPr lang="en-US" sz="2400" dirty="0"/>
              <a:t> blocking applications</a:t>
            </a:r>
          </a:p>
        </p:txBody>
      </p:sp>
      <p:sp>
        <p:nvSpPr>
          <p:cNvPr id="471063" name="Text Box 23"/>
          <p:cNvSpPr txBox="1">
            <a:spLocks noChangeArrowheads="1"/>
          </p:cNvSpPr>
          <p:nvPr/>
        </p:nvSpPr>
        <p:spPr bwMode="auto">
          <a:xfrm>
            <a:off x="6019800" y="1905000"/>
            <a:ext cx="281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endParaRPr lang="en-US"/>
          </a:p>
        </p:txBody>
      </p:sp>
      <p:sp>
        <p:nvSpPr>
          <p:cNvPr id="471064" name="Text Box 24"/>
          <p:cNvSpPr txBox="1">
            <a:spLocks noChangeArrowheads="1"/>
          </p:cNvSpPr>
          <p:nvPr/>
        </p:nvSpPr>
        <p:spPr bwMode="auto">
          <a:xfrm>
            <a:off x="5943600" y="1905000"/>
            <a:ext cx="297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sz="2000"/>
              <a:t>Depends on 1</a:t>
            </a:r>
            <a:r>
              <a:rPr lang="en-US" sz="2000" baseline="30000"/>
              <a:t>st</a:t>
            </a:r>
            <a:r>
              <a:rPr lang="en-US" sz="2000"/>
              <a:t> write</a:t>
            </a:r>
          </a:p>
        </p:txBody>
      </p:sp>
      <p:sp>
        <p:nvSpPr>
          <p:cNvPr id="471065" name="Text Box 25"/>
          <p:cNvSpPr txBox="1">
            <a:spLocks noChangeArrowheads="1"/>
          </p:cNvSpPr>
          <p:nvPr/>
        </p:nvSpPr>
        <p:spPr bwMode="auto">
          <a:xfrm>
            <a:off x="5943600" y="2362200"/>
            <a:ext cx="3200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sz="2000"/>
              <a:t>Depends on 1</a:t>
            </a:r>
            <a:r>
              <a:rPr lang="en-US" sz="2000" baseline="30000"/>
              <a:t>st</a:t>
            </a:r>
            <a:r>
              <a:rPr lang="en-US" sz="2000"/>
              <a:t> &amp; 2</a:t>
            </a:r>
            <a:r>
              <a:rPr lang="en-US" sz="2000" baseline="30000"/>
              <a:t>nd</a:t>
            </a:r>
            <a:r>
              <a:rPr lang="en-US" sz="2000"/>
              <a:t> write</a:t>
            </a:r>
          </a:p>
        </p:txBody>
      </p:sp>
      <p:sp>
        <p:nvSpPr>
          <p:cNvPr id="15" name="TextBox 14"/>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custDataLst>
      <p:tags r:id="rId1"/>
    </p:custDataLst>
    <p:extLst>
      <p:ext uri="{BB962C8B-B14F-4D97-AF65-F5344CB8AC3E}">
        <p14:creationId xmlns:p14="http://schemas.microsoft.com/office/powerpoint/2010/main" val="12973232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5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0" presetClass="path" presetSubtype="0" accel="50000" decel="50000" fill="hold" grpId="1" nodeType="clickEffect">
                                  <p:stCondLst>
                                    <p:cond delay="0"/>
                                  </p:stCondLst>
                                  <p:childTnLst>
                                    <p:animMotion origin="layout" path="M 1.11022E-16 5.55112E-17 L 1.11022E-16 0.06667 " pathEditMode="relative" ptsTypes="AA">
                                      <p:cBhvr>
                                        <p:cTn id="12" dur="1000" fill="hold"/>
                                        <p:tgtEl>
                                          <p:spTgt spid="471052"/>
                                        </p:tgtEl>
                                        <p:attrNameLst>
                                          <p:attrName>ppt_x</p:attrName>
                                          <p:attrName>ppt_y</p:attrName>
                                        </p:attrNameLst>
                                      </p:cBhvr>
                                    </p:animMotion>
                                  </p:childTnLst>
                                </p:cTn>
                              </p:par>
                              <p:par>
                                <p:cTn id="13" presetID="0" presetClass="path" presetSubtype="0" accel="50000" decel="50000" fill="hold" grpId="1" nodeType="withEffect">
                                  <p:stCondLst>
                                    <p:cond delay="0"/>
                                  </p:stCondLst>
                                  <p:childTnLst>
                                    <p:animMotion origin="layout" path="M 3.33333E-6 4.44444E-6 L 3.33333E-6 0.06667 " pathEditMode="relative" ptsTypes="AA">
                                      <p:cBhvr>
                                        <p:cTn id="14" dur="1000" fill="hold"/>
                                        <p:tgtEl>
                                          <p:spTgt spid="471050"/>
                                        </p:tgtEl>
                                        <p:attrNameLst>
                                          <p:attrName>ppt_x</p:attrName>
                                          <p:attrName>ppt_y</p:attrName>
                                        </p:attrNameLst>
                                      </p:cBhvr>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6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grpId="2" nodeType="clickEffect">
                                  <p:stCondLst>
                                    <p:cond delay="0"/>
                                  </p:stCondLst>
                                  <p:childTnLst>
                                    <p:animMotion origin="layout" path="M 1.11022E-16 0.06667 L 1.11022E-16 0.13333 " pathEditMode="relative" ptsTypes="AA">
                                      <p:cBhvr>
                                        <p:cTn id="22" dur="1000" fill="hold"/>
                                        <p:tgtEl>
                                          <p:spTgt spid="471052"/>
                                        </p:tgtEl>
                                        <p:attrNameLst>
                                          <p:attrName>ppt_x</p:attrName>
                                          <p:attrName>ppt_y</p:attrName>
                                        </p:attrNameLst>
                                      </p:cBhvr>
                                    </p:animMotion>
                                  </p:childTnLst>
                                </p:cTn>
                              </p:par>
                              <p:par>
                                <p:cTn id="23" presetID="0" presetClass="path" presetSubtype="0" accel="50000" decel="50000" fill="hold" grpId="2" nodeType="withEffect">
                                  <p:stCondLst>
                                    <p:cond delay="0"/>
                                  </p:stCondLst>
                                  <p:childTnLst>
                                    <p:animMotion origin="layout" path="M 3.33333E-6 0.06668 L 3.33333E-6 0.14445 " pathEditMode="relative" ptsTypes="AA">
                                      <p:cBhvr>
                                        <p:cTn id="24" dur="1000" fill="hold"/>
                                        <p:tgtEl>
                                          <p:spTgt spid="471050"/>
                                        </p:tgtEl>
                                        <p:attrNameLst>
                                          <p:attrName>ppt_x</p:attrName>
                                          <p:attrName>ppt_y</p:attrName>
                                        </p:attrNameLst>
                                      </p:cBhvr>
                                    </p:animMotion>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10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50" grpId="0" animBg="1"/>
      <p:bldP spid="471050" grpId="1" animBg="1"/>
      <p:bldP spid="471050" grpId="2" animBg="1"/>
      <p:bldP spid="471052" grpId="0" animBg="1"/>
      <p:bldP spid="471052" grpId="1" animBg="1"/>
      <p:bldP spid="471052" grpId="2" animBg="1"/>
      <p:bldP spid="471064" grpId="0"/>
      <p:bldP spid="47106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p:cNvSpPr>
            <a:spLocks noGrp="1"/>
          </p:cNvSpPr>
          <p:nvPr>
            <p:ph type="sldNum" sz="quarter" idx="12"/>
          </p:nvPr>
        </p:nvSpPr>
        <p:spPr/>
        <p:txBody>
          <a:bodyPr/>
          <a:lstStyle/>
          <a:p>
            <a:fld id="{CFB295D3-053B-4B52-8A96-A21B11D5E94B}" type="slidenum">
              <a:rPr lang="en-US" altLang="en-US"/>
              <a:pPr/>
              <a:t>17</a:t>
            </a:fld>
            <a:endParaRPr lang="en-US" altLang="en-US"/>
          </a:p>
        </p:txBody>
      </p:sp>
      <p:sp>
        <p:nvSpPr>
          <p:cNvPr id="464898" name="Rectangle 2"/>
          <p:cNvSpPr>
            <a:spLocks noChangeArrowheads="1"/>
          </p:cNvSpPr>
          <p:nvPr/>
        </p:nvSpPr>
        <p:spPr bwMode="auto">
          <a:xfrm>
            <a:off x="685800" y="1295400"/>
            <a:ext cx="3962400" cy="2057400"/>
          </a:xfrm>
          <a:prstGeom prst="rect">
            <a:avLst/>
          </a:prstGeom>
          <a:solidFill>
            <a:srgbClr val="FFCC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64899" name="Rectangle 3"/>
          <p:cNvSpPr>
            <a:spLocks noGrp="1" noChangeArrowheads="1"/>
          </p:cNvSpPr>
          <p:nvPr>
            <p:ph type="title"/>
          </p:nvPr>
        </p:nvSpPr>
        <p:spPr/>
        <p:txBody>
          <a:bodyPr/>
          <a:lstStyle/>
          <a:p>
            <a:r>
              <a:rPr lang="en-US"/>
              <a:t>Example: External synchrony</a:t>
            </a:r>
          </a:p>
        </p:txBody>
      </p:sp>
      <p:sp>
        <p:nvSpPr>
          <p:cNvPr id="464900" name="AutoShape 4"/>
          <p:cNvSpPr>
            <a:spLocks noChangeArrowheads="1"/>
          </p:cNvSpPr>
          <p:nvPr/>
        </p:nvSpPr>
        <p:spPr bwMode="auto">
          <a:xfrm>
            <a:off x="4114800" y="4724400"/>
            <a:ext cx="1600200" cy="1371600"/>
          </a:xfrm>
          <a:prstGeom prst="cube">
            <a:avLst>
              <a:gd name="adj" fmla="val 25000"/>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sz="2000"/>
              <a:t>OS Kernel</a:t>
            </a:r>
          </a:p>
        </p:txBody>
      </p:sp>
      <p:sp>
        <p:nvSpPr>
          <p:cNvPr id="464901" name="AutoShape 5"/>
          <p:cNvSpPr>
            <a:spLocks noChangeArrowheads="1"/>
          </p:cNvSpPr>
          <p:nvPr/>
        </p:nvSpPr>
        <p:spPr bwMode="auto">
          <a:xfrm>
            <a:off x="6858000" y="4648200"/>
            <a:ext cx="1066800" cy="1447800"/>
          </a:xfrm>
          <a:prstGeom prst="can">
            <a:avLst>
              <a:gd name="adj" fmla="val 33929"/>
            </a:avLst>
          </a:pr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sz="2000"/>
              <a:t>Disk</a:t>
            </a:r>
          </a:p>
        </p:txBody>
      </p:sp>
      <p:sp>
        <p:nvSpPr>
          <p:cNvPr id="464902" name="AutoShape 6"/>
          <p:cNvSpPr>
            <a:spLocks noChangeArrowheads="1"/>
          </p:cNvSpPr>
          <p:nvPr/>
        </p:nvSpPr>
        <p:spPr bwMode="auto">
          <a:xfrm>
            <a:off x="5715000" y="5029200"/>
            <a:ext cx="1143000" cy="609600"/>
          </a:xfrm>
          <a:prstGeom prst="leftRightArrow">
            <a:avLst>
              <a:gd name="adj1" fmla="val 50000"/>
              <a:gd name="adj2" fmla="val 37500"/>
            </a:avLst>
          </a:prstGeom>
          <a:noFill/>
          <a:ln w="9525" algn="ctr">
            <a:solidFill>
              <a:schemeClr val="tx1"/>
            </a:solidFill>
            <a:miter lim="800000"/>
            <a:headEnd/>
            <a:tailEnd/>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4903" name="Rectangle 7"/>
          <p:cNvSpPr>
            <a:spLocks noChangeArrowheads="1"/>
          </p:cNvSpPr>
          <p:nvPr/>
        </p:nvSpPr>
        <p:spPr bwMode="auto">
          <a:xfrm>
            <a:off x="1295400" y="5105400"/>
            <a:ext cx="1638300" cy="495300"/>
          </a:xfrm>
          <a:prstGeom prst="rect">
            <a:avLst/>
          </a:prstGeom>
          <a:solidFill>
            <a:srgbClr val="99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sz="2000"/>
              <a:t>Process</a:t>
            </a:r>
          </a:p>
        </p:txBody>
      </p:sp>
      <p:sp>
        <p:nvSpPr>
          <p:cNvPr id="464904" name="AutoShape 8"/>
          <p:cNvSpPr>
            <a:spLocks noChangeArrowheads="1"/>
          </p:cNvSpPr>
          <p:nvPr/>
        </p:nvSpPr>
        <p:spPr bwMode="auto">
          <a:xfrm>
            <a:off x="2590800" y="4953000"/>
            <a:ext cx="685800" cy="838200"/>
          </a:xfrm>
          <a:prstGeom prst="verticalScroll">
            <a:avLst>
              <a:gd name="adj" fmla="val 12500"/>
            </a:avLst>
          </a:prstGeom>
          <a:solidFill>
            <a:srgbClr val="0000FF">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4905" name="AutoShape 9"/>
          <p:cNvSpPr>
            <a:spLocks noChangeArrowheads="1"/>
          </p:cNvSpPr>
          <p:nvPr/>
        </p:nvSpPr>
        <p:spPr bwMode="auto">
          <a:xfrm>
            <a:off x="2971800" y="5029200"/>
            <a:ext cx="1143000" cy="609600"/>
          </a:xfrm>
          <a:prstGeom prst="leftRightArrow">
            <a:avLst>
              <a:gd name="adj1" fmla="val 50000"/>
              <a:gd name="adj2" fmla="val 37500"/>
            </a:avLst>
          </a:prstGeom>
          <a:noFill/>
          <a:ln w="9525" algn="ctr">
            <a:solidFill>
              <a:schemeClr val="tx1"/>
            </a:solidFill>
            <a:miter lim="800000"/>
            <a:headEnd/>
            <a:tailEnd/>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4906" name="Rectangle 10"/>
          <p:cNvSpPr>
            <a:spLocks noChangeArrowheads="1"/>
          </p:cNvSpPr>
          <p:nvPr/>
        </p:nvSpPr>
        <p:spPr bwMode="auto">
          <a:xfrm>
            <a:off x="762000" y="1371600"/>
            <a:ext cx="3810000" cy="533400"/>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464907" name="Text Box 11"/>
          <p:cNvSpPr txBox="1">
            <a:spLocks noChangeArrowheads="1"/>
          </p:cNvSpPr>
          <p:nvPr/>
        </p:nvSpPr>
        <p:spPr bwMode="auto">
          <a:xfrm>
            <a:off x="685800" y="1447800"/>
            <a:ext cx="4038600" cy="17684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charset="0"/>
              </a:defRPr>
            </a:lvl1pPr>
            <a:lvl2pPr marL="800100" indent="-342900" algn="l">
              <a:spcBef>
                <a:spcPct val="0"/>
              </a:spcBef>
              <a:defRPr>
                <a:solidFill>
                  <a:schemeClr val="tx1"/>
                </a:solidFill>
                <a:latin typeface="Arial" charset="0"/>
              </a:defRPr>
            </a:lvl2pPr>
            <a:lvl3pPr marL="1257300" indent="-342900" algn="l">
              <a:spcBef>
                <a:spcPct val="0"/>
              </a:spcBef>
              <a:defRPr>
                <a:solidFill>
                  <a:schemeClr val="tx1"/>
                </a:solidFill>
                <a:latin typeface="Arial" charset="0"/>
              </a:defRPr>
            </a:lvl3pPr>
            <a:lvl4pPr marL="1714500" indent="-342900" algn="l">
              <a:spcBef>
                <a:spcPct val="0"/>
              </a:spcBef>
              <a:defRPr>
                <a:solidFill>
                  <a:schemeClr val="tx1"/>
                </a:solidFill>
                <a:latin typeface="Arial" charset="0"/>
              </a:defRPr>
            </a:lvl4pPr>
            <a:lvl5pPr marL="2171700" indent="-342900" algn="l">
              <a:spcBef>
                <a:spcPct val="0"/>
              </a:spcBef>
              <a:defRPr>
                <a:solidFill>
                  <a:schemeClr val="tx1"/>
                </a:solidFill>
                <a:latin typeface="Arial" charset="0"/>
              </a:defRPr>
            </a:lvl5pPr>
            <a:lvl6pPr marL="2628900" indent="-342900" fontAlgn="base">
              <a:spcBef>
                <a:spcPct val="0"/>
              </a:spcBef>
              <a:spcAft>
                <a:spcPct val="0"/>
              </a:spcAft>
              <a:defRPr>
                <a:solidFill>
                  <a:schemeClr val="tx1"/>
                </a:solidFill>
                <a:latin typeface="Arial" charset="0"/>
              </a:defRPr>
            </a:lvl6pPr>
            <a:lvl7pPr marL="3086100" indent="-342900" fontAlgn="base">
              <a:spcBef>
                <a:spcPct val="0"/>
              </a:spcBef>
              <a:spcAft>
                <a:spcPct val="0"/>
              </a:spcAft>
              <a:defRPr>
                <a:solidFill>
                  <a:schemeClr val="tx1"/>
                </a:solidFill>
                <a:latin typeface="Arial" charset="0"/>
              </a:defRPr>
            </a:lvl7pPr>
            <a:lvl8pPr marL="3543300" indent="-342900" fontAlgn="base">
              <a:spcBef>
                <a:spcPct val="0"/>
              </a:spcBef>
              <a:spcAft>
                <a:spcPct val="0"/>
              </a:spcAft>
              <a:defRPr>
                <a:solidFill>
                  <a:schemeClr val="tx1"/>
                </a:solidFill>
                <a:latin typeface="Arial" charset="0"/>
              </a:defRPr>
            </a:lvl8pPr>
            <a:lvl9pPr marL="4000500" indent="-342900" fontAlgn="base">
              <a:spcBef>
                <a:spcPct val="0"/>
              </a:spcBef>
              <a:spcAft>
                <a:spcPct val="0"/>
              </a:spcAft>
              <a:defRPr>
                <a:solidFill>
                  <a:schemeClr val="tx1"/>
                </a:solidFill>
                <a:latin typeface="Arial" charset="0"/>
              </a:defRPr>
            </a:lvl9pPr>
          </a:lstStyle>
          <a:p>
            <a:pPr>
              <a:spcBef>
                <a:spcPct val="50000"/>
              </a:spcBef>
            </a:pPr>
            <a:r>
              <a:rPr lang="en-US" sz="2000">
                <a:latin typeface="MS Reference Sans Serif" pitchFamily="34" charset="0"/>
              </a:rPr>
              <a:t>101   write(buf_1);</a:t>
            </a:r>
          </a:p>
          <a:p>
            <a:pPr>
              <a:spcBef>
                <a:spcPct val="50000"/>
              </a:spcBef>
            </a:pPr>
            <a:r>
              <a:rPr lang="en-US" sz="2000">
                <a:latin typeface="MS Reference Sans Serif" pitchFamily="34" charset="0"/>
              </a:rPr>
              <a:t>102   write(buf_2);</a:t>
            </a:r>
          </a:p>
          <a:p>
            <a:pPr>
              <a:spcBef>
                <a:spcPct val="50000"/>
              </a:spcBef>
            </a:pPr>
            <a:r>
              <a:rPr lang="en-US" sz="2000">
                <a:latin typeface="MS Reference Sans Serif" pitchFamily="34" charset="0"/>
              </a:rPr>
              <a:t>103   print(“work done”);</a:t>
            </a:r>
          </a:p>
          <a:p>
            <a:pPr>
              <a:spcBef>
                <a:spcPct val="50000"/>
              </a:spcBef>
            </a:pPr>
            <a:r>
              <a:rPr lang="en-US" sz="2000">
                <a:latin typeface="MS Reference Sans Serif" pitchFamily="34" charset="0"/>
              </a:rPr>
              <a:t>104   foo();</a:t>
            </a:r>
          </a:p>
        </p:txBody>
      </p:sp>
      <p:sp>
        <p:nvSpPr>
          <p:cNvPr id="464908" name="AutoShape 12"/>
          <p:cNvSpPr>
            <a:spLocks noChangeArrowheads="1"/>
          </p:cNvSpPr>
          <p:nvPr/>
        </p:nvSpPr>
        <p:spPr bwMode="auto">
          <a:xfrm>
            <a:off x="4724400" y="1447800"/>
            <a:ext cx="1066800" cy="457200"/>
          </a:xfrm>
          <a:prstGeom prst="leftArrow">
            <a:avLst>
              <a:gd name="adj1" fmla="val 50000"/>
              <a:gd name="adj2" fmla="val 58333"/>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4911" name="AutoShape 15"/>
          <p:cNvSpPr>
            <a:spLocks noChangeArrowheads="1"/>
          </p:cNvSpPr>
          <p:nvPr/>
        </p:nvSpPr>
        <p:spPr bwMode="auto">
          <a:xfrm>
            <a:off x="2514600" y="4876800"/>
            <a:ext cx="685800" cy="838200"/>
          </a:xfrm>
          <a:prstGeom prst="verticalScroll">
            <a:avLst>
              <a:gd name="adj" fmla="val 12500"/>
            </a:avLst>
          </a:prstGeom>
          <a:solidFill>
            <a:srgbClr val="0000FF">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4913" name="Rectangle 17"/>
          <p:cNvSpPr>
            <a:spLocks noChangeArrowheads="1"/>
          </p:cNvSpPr>
          <p:nvPr/>
        </p:nvSpPr>
        <p:spPr bwMode="auto">
          <a:xfrm>
            <a:off x="6248400" y="3276600"/>
            <a:ext cx="2286000" cy="1295400"/>
          </a:xfrm>
          <a:prstGeom prst="rect">
            <a:avLst/>
          </a:prstGeom>
          <a:solidFill>
            <a:srgbClr val="00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64915" name="AutoShape 19"/>
          <p:cNvSpPr>
            <a:spLocks noChangeArrowheads="1"/>
          </p:cNvSpPr>
          <p:nvPr/>
        </p:nvSpPr>
        <p:spPr bwMode="auto">
          <a:xfrm>
            <a:off x="2514600" y="4800600"/>
            <a:ext cx="685800" cy="838200"/>
          </a:xfrm>
          <a:prstGeom prst="verticalScroll">
            <a:avLst>
              <a:gd name="adj" fmla="val 12500"/>
            </a:avLst>
          </a:prstGeom>
          <a:solidFill>
            <a:srgbClr val="00FF00">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800"/>
              <a:t>TEXT</a:t>
            </a:r>
          </a:p>
        </p:txBody>
      </p:sp>
      <p:sp>
        <p:nvSpPr>
          <p:cNvPr id="464914" name="Text Box 18"/>
          <p:cNvSpPr txBox="1">
            <a:spLocks noChangeArrowheads="1"/>
          </p:cNvSpPr>
          <p:nvPr/>
        </p:nvSpPr>
        <p:spPr bwMode="auto">
          <a:xfrm>
            <a:off x="6248400" y="3429000"/>
            <a:ext cx="2286000" cy="94615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solidFill>
                  <a:srgbClr val="33CC33"/>
                </a:solidFill>
              </a:rPr>
              <a:t>%work done</a:t>
            </a:r>
            <a:br>
              <a:rPr lang="en-US">
                <a:solidFill>
                  <a:srgbClr val="33CC33"/>
                </a:solidFill>
              </a:rPr>
            </a:br>
            <a:r>
              <a:rPr lang="en-US">
                <a:solidFill>
                  <a:srgbClr val="33CC33"/>
                </a:solidFill>
              </a:rPr>
              <a:t>%</a:t>
            </a:r>
          </a:p>
        </p:txBody>
      </p:sp>
      <p:sp>
        <p:nvSpPr>
          <p:cNvPr id="464916" name="Text Box 20"/>
          <p:cNvSpPr txBox="1">
            <a:spLocks noChangeArrowheads="1"/>
          </p:cNvSpPr>
          <p:nvPr/>
        </p:nvSpPr>
        <p:spPr bwMode="auto">
          <a:xfrm>
            <a:off x="6248400" y="3429000"/>
            <a:ext cx="2057400" cy="51911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solidFill>
                  <a:srgbClr val="33CC33"/>
                </a:solidFill>
              </a:rPr>
              <a:t>%</a:t>
            </a:r>
          </a:p>
        </p:txBody>
      </p:sp>
      <p:sp>
        <p:nvSpPr>
          <p:cNvPr id="22" name="TextBox 21"/>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custDataLst>
      <p:tags r:id="rId1"/>
    </p:custDataLst>
    <p:extLst>
      <p:ext uri="{BB962C8B-B14F-4D97-AF65-F5344CB8AC3E}">
        <p14:creationId xmlns:p14="http://schemas.microsoft.com/office/powerpoint/2010/main" val="3795477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49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490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490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63" presetClass="path" presetSubtype="0" accel="50000" decel="50000" fill="hold" grpId="1" nodeType="clickEffect">
                                  <p:stCondLst>
                                    <p:cond delay="0"/>
                                  </p:stCondLst>
                                  <p:childTnLst>
                                    <p:animMotion origin="layout" path="M 0 0  L 0.25 0  E" pathEditMode="relative" ptsTypes="">
                                      <p:cBhvr>
                                        <p:cTn id="14" dur="2000" fill="hold"/>
                                        <p:tgtEl>
                                          <p:spTgt spid="464904"/>
                                        </p:tgtEl>
                                        <p:attrNameLst>
                                          <p:attrName>ppt_x</p:attrName>
                                          <p:attrName>ppt_y</p:attrName>
                                        </p:attrNameLst>
                                      </p:cBhvr>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1" nodeType="clickEffect">
                                  <p:stCondLst>
                                    <p:cond delay="0"/>
                                  </p:stCondLst>
                                  <p:childTnLst>
                                    <p:animMotion origin="layout" path="M 1.11022E-16 5.55112E-17 L 1.11022E-16 0.06667 " pathEditMode="relative" ptsTypes="AA">
                                      <p:cBhvr>
                                        <p:cTn id="18" dur="1000" fill="hold"/>
                                        <p:tgtEl>
                                          <p:spTgt spid="464908"/>
                                        </p:tgtEl>
                                        <p:attrNameLst>
                                          <p:attrName>ppt_x</p:attrName>
                                          <p:attrName>ppt_y</p:attrName>
                                        </p:attrNameLst>
                                      </p:cBhvr>
                                    </p:animMotion>
                                  </p:childTnLst>
                                </p:cTn>
                              </p:par>
                              <p:par>
                                <p:cTn id="19" presetID="0" presetClass="path" presetSubtype="0" accel="50000" decel="50000" fill="hold" grpId="1" nodeType="withEffect">
                                  <p:stCondLst>
                                    <p:cond delay="0"/>
                                  </p:stCondLst>
                                  <p:childTnLst>
                                    <p:animMotion origin="layout" path="M 3.33333E-6 4.44444E-6 L 3.33333E-6 0.06667 " pathEditMode="relative" ptsTypes="AA">
                                      <p:cBhvr>
                                        <p:cTn id="20" dur="1000" fill="hold"/>
                                        <p:tgtEl>
                                          <p:spTgt spid="464906"/>
                                        </p:tgtEl>
                                        <p:attrNameLst>
                                          <p:attrName>ppt_x</p:attrName>
                                          <p:attrName>ppt_y</p:attrName>
                                        </p:attrNameLst>
                                      </p:cBhvr>
                                    </p:animMotion>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6491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63" presetClass="path" presetSubtype="0" accel="50000" decel="50000" fill="hold" grpId="1" nodeType="clickEffect">
                                  <p:stCondLst>
                                    <p:cond delay="0"/>
                                  </p:stCondLst>
                                  <p:childTnLst>
                                    <p:animMotion origin="layout" path="M 0 0  L 0.25 0  E" pathEditMode="relative" ptsTypes="">
                                      <p:cBhvr>
                                        <p:cTn id="28" dur="2000" fill="hold"/>
                                        <p:tgtEl>
                                          <p:spTgt spid="464911"/>
                                        </p:tgtEl>
                                        <p:attrNameLst>
                                          <p:attrName>ppt_x</p:attrName>
                                          <p:attrName>ppt_y</p:attrName>
                                        </p:attrNameLst>
                                      </p:cBhvr>
                                    </p:animMotion>
                                  </p:childTnLst>
                                </p:cTn>
                              </p:par>
                            </p:childTnLst>
                          </p:cTn>
                        </p:par>
                      </p:childTnLst>
                    </p:cTn>
                  </p:par>
                  <p:par>
                    <p:cTn id="29" fill="hold" nodeType="clickPar">
                      <p:stCondLst>
                        <p:cond delay="indefinite"/>
                      </p:stCondLst>
                      <p:childTnLst>
                        <p:par>
                          <p:cTn id="30" fill="hold" nodeType="withGroup">
                            <p:stCondLst>
                              <p:cond delay="0"/>
                            </p:stCondLst>
                            <p:childTnLst>
                              <p:par>
                                <p:cTn id="31" presetID="0" presetClass="path" presetSubtype="0" accel="50000" decel="50000" fill="hold" grpId="2" nodeType="clickEffect">
                                  <p:stCondLst>
                                    <p:cond delay="0"/>
                                  </p:stCondLst>
                                  <p:childTnLst>
                                    <p:animMotion origin="layout" path="M 1.11022E-16 0.06667 L 1.11022E-16 0.13333 " pathEditMode="relative" ptsTypes="AA">
                                      <p:cBhvr>
                                        <p:cTn id="32" dur="1000" fill="hold"/>
                                        <p:tgtEl>
                                          <p:spTgt spid="464908"/>
                                        </p:tgtEl>
                                        <p:attrNameLst>
                                          <p:attrName>ppt_x</p:attrName>
                                          <p:attrName>ppt_y</p:attrName>
                                        </p:attrNameLst>
                                      </p:cBhvr>
                                    </p:animMotion>
                                  </p:childTnLst>
                                </p:cTn>
                              </p:par>
                              <p:par>
                                <p:cTn id="33" presetID="0" presetClass="path" presetSubtype="0" accel="50000" decel="50000" fill="hold" grpId="2" nodeType="withEffect">
                                  <p:stCondLst>
                                    <p:cond delay="0"/>
                                  </p:stCondLst>
                                  <p:childTnLst>
                                    <p:animMotion origin="layout" path="M 3.33333E-6 0.06668 L 3.33333E-6 0.14445 " pathEditMode="relative" ptsTypes="AA">
                                      <p:cBhvr>
                                        <p:cTn id="34" dur="1000" fill="hold"/>
                                        <p:tgtEl>
                                          <p:spTgt spid="464906"/>
                                        </p:tgtEl>
                                        <p:attrNameLst>
                                          <p:attrName>ppt_x</p:attrName>
                                          <p:attrName>ppt_y</p:attrName>
                                        </p:attrNameLst>
                                      </p:cBhvr>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649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49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491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63" presetClass="path" presetSubtype="0" accel="50000" decel="50000" fill="hold" nodeType="clickEffect">
                                  <p:stCondLst>
                                    <p:cond delay="0"/>
                                  </p:stCondLst>
                                  <p:childTnLst>
                                    <p:animMotion origin="layout" path="M 0 0  L 0.25 0  E" pathEditMode="relative" rAng="0" ptsTypes="">
                                      <p:cBhvr>
                                        <p:cTn id="46" dur="2000" fill="hold"/>
                                        <p:tgtEl>
                                          <p:spTgt spid="464915"/>
                                        </p:tgtEl>
                                        <p:attrNameLst>
                                          <p:attrName>ppt_x</p:attrName>
                                          <p:attrName>ppt_y</p:attrName>
                                        </p:attrNameLst>
                                      </p:cBhvr>
                                      <p:rCtr x="0" y="0"/>
                                    </p:animMotion>
                                  </p:childTnLst>
                                </p:cTn>
                              </p:par>
                            </p:childTnLst>
                          </p:cTn>
                        </p:par>
                      </p:childTnLst>
                    </p:cTn>
                  </p:par>
                  <p:par>
                    <p:cTn id="47" fill="hold" nodeType="clickPar">
                      <p:stCondLst>
                        <p:cond delay="indefinite"/>
                      </p:stCondLst>
                      <p:childTnLst>
                        <p:par>
                          <p:cTn id="48" fill="hold" nodeType="withGroup">
                            <p:stCondLst>
                              <p:cond delay="0"/>
                            </p:stCondLst>
                            <p:childTnLst>
                              <p:par>
                                <p:cTn id="49" presetID="0" presetClass="path" presetSubtype="0" accel="50000" decel="50000" fill="hold" grpId="3" nodeType="clickEffect">
                                  <p:stCondLst>
                                    <p:cond delay="0"/>
                                  </p:stCondLst>
                                  <p:childTnLst>
                                    <p:animMotion origin="layout" path="M 1.11022E-16 0.13333 L 1.11022E-16 0.2 " pathEditMode="relative" ptsTypes="AA">
                                      <p:cBhvr>
                                        <p:cTn id="50" dur="1000" fill="hold"/>
                                        <p:tgtEl>
                                          <p:spTgt spid="464908"/>
                                        </p:tgtEl>
                                        <p:attrNameLst>
                                          <p:attrName>ppt_x</p:attrName>
                                          <p:attrName>ppt_y</p:attrName>
                                        </p:attrNameLst>
                                      </p:cBhvr>
                                    </p:animMotion>
                                  </p:childTnLst>
                                </p:cTn>
                              </p:par>
                              <p:par>
                                <p:cTn id="51" presetID="0" presetClass="path" presetSubtype="0" accel="50000" decel="50000" fill="hold" grpId="3" nodeType="withEffect">
                                  <p:stCondLst>
                                    <p:cond delay="0"/>
                                  </p:stCondLst>
                                  <p:childTnLst>
                                    <p:animMotion origin="layout" path="M 3.33333E-6 0.14445 L 3.33333E-6 0.20001 " pathEditMode="relative" ptsTypes="AA">
                                      <p:cBhvr>
                                        <p:cTn id="52" dur="1000" fill="hold"/>
                                        <p:tgtEl>
                                          <p:spTgt spid="464906"/>
                                        </p:tgtEl>
                                        <p:attrNameLst>
                                          <p:attrName>ppt_x</p:attrName>
                                          <p:attrName>ppt_y</p:attrName>
                                        </p:attrNameLst>
                                      </p:cBhvr>
                                    </p:animMotion>
                                  </p:childTnLst>
                                </p:cTn>
                              </p:par>
                            </p:childTnLst>
                          </p:cTn>
                        </p:par>
                      </p:childTnLst>
                    </p:cTn>
                  </p:par>
                  <p:par>
                    <p:cTn id="53" fill="hold" nodeType="clickPar">
                      <p:stCondLst>
                        <p:cond delay="indefinite"/>
                      </p:stCondLst>
                      <p:childTnLst>
                        <p:par>
                          <p:cTn id="54" fill="hold" nodeType="withGroup">
                            <p:stCondLst>
                              <p:cond delay="0"/>
                            </p:stCondLst>
                            <p:childTnLst>
                              <p:par>
                                <p:cTn id="55" presetID="0" presetClass="path" presetSubtype="0" accel="50000" decel="50000" fill="hold" grpId="2" nodeType="clickEffect">
                                  <p:stCondLst>
                                    <p:cond delay="0"/>
                                  </p:stCondLst>
                                  <p:childTnLst>
                                    <p:animMotion origin="layout" path="M 0.25 5.55556E-6 L 0.50834 5.55556E-6 " pathEditMode="relative" ptsTypes="AA">
                                      <p:cBhvr>
                                        <p:cTn id="56" dur="2000" fill="hold"/>
                                        <p:tgtEl>
                                          <p:spTgt spid="464904"/>
                                        </p:tgtEl>
                                        <p:attrNameLst>
                                          <p:attrName>ppt_x</p:attrName>
                                          <p:attrName>ppt_y</p:attrName>
                                        </p:attrNameLst>
                                      </p:cBhvr>
                                    </p:animMotion>
                                  </p:childTnLst>
                                </p:cTn>
                              </p:par>
                              <p:par>
                                <p:cTn id="57" presetID="0" presetClass="path" presetSubtype="0" accel="50000" decel="50000" fill="hold" grpId="2" nodeType="withEffect">
                                  <p:stCondLst>
                                    <p:cond delay="0"/>
                                  </p:stCondLst>
                                  <p:childTnLst>
                                    <p:animMotion origin="layout" path="M 0.25 5.55556E-6 L 0.50834 5.55556E-6 " pathEditMode="relative" ptsTypes="AA">
                                      <p:cBhvr>
                                        <p:cTn id="58" dur="2000" fill="hold"/>
                                        <p:tgtEl>
                                          <p:spTgt spid="464911"/>
                                        </p:tgtEl>
                                        <p:attrNameLst>
                                          <p:attrName>ppt_x</p:attrName>
                                          <p:attrName>ppt_y</p:attrName>
                                        </p:attrNameLst>
                                      </p:cBhvr>
                                    </p:animMotion>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xit" presetSubtype="0" fill="hold" grpId="3" nodeType="clickEffect">
                                  <p:stCondLst>
                                    <p:cond delay="0"/>
                                  </p:stCondLst>
                                  <p:childTnLst>
                                    <p:set>
                                      <p:cBhvr>
                                        <p:cTn id="62" dur="1" fill="hold">
                                          <p:stCondLst>
                                            <p:cond delay="0"/>
                                          </p:stCondLst>
                                        </p:cTn>
                                        <p:tgtEl>
                                          <p:spTgt spid="464911"/>
                                        </p:tgtEl>
                                        <p:attrNameLst>
                                          <p:attrName>style.visibility</p:attrName>
                                        </p:attrNameLst>
                                      </p:cBhvr>
                                      <p:to>
                                        <p:strVal val="hidden"/>
                                      </p:to>
                                    </p:set>
                                  </p:childTnLst>
                                </p:cTn>
                              </p:par>
                              <p:par>
                                <p:cTn id="63" presetID="1" presetClass="exit" presetSubtype="0" fill="hold" grpId="3" nodeType="withEffect">
                                  <p:stCondLst>
                                    <p:cond delay="0"/>
                                  </p:stCondLst>
                                  <p:childTnLst>
                                    <p:set>
                                      <p:cBhvr>
                                        <p:cTn id="64" dur="1" fill="hold">
                                          <p:stCondLst>
                                            <p:cond delay="0"/>
                                          </p:stCondLst>
                                        </p:cTn>
                                        <p:tgtEl>
                                          <p:spTgt spid="464904"/>
                                        </p:tgtEl>
                                        <p:attrNameLst>
                                          <p:attrName>style.visibility</p:attrName>
                                        </p:attrNameLst>
                                      </p:cBhvr>
                                      <p:to>
                                        <p:strVal val="hidden"/>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0" presetClass="path" presetSubtype="0" accel="50000" decel="50000" fill="hold" grpId="0" nodeType="clickEffect">
                                  <p:stCondLst>
                                    <p:cond delay="0"/>
                                  </p:stCondLst>
                                  <p:childTnLst>
                                    <p:animMotion origin="layout" path="M 0.25 5.55556E-6 L 0.49167 -0.19999 " pathEditMode="relative" ptsTypes="AA">
                                      <p:cBhvr>
                                        <p:cTn id="68" dur="2000" fill="hold"/>
                                        <p:tgtEl>
                                          <p:spTgt spid="464915"/>
                                        </p:tgtEl>
                                        <p:attrNameLst>
                                          <p:attrName>ppt_x</p:attrName>
                                          <p:attrName>ppt_y</p:attrName>
                                        </p:attrNameLst>
                                      </p:cBhvr>
                                    </p:animMotion>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464915"/>
                                        </p:tgtEl>
                                        <p:attrNameLst>
                                          <p:attrName>style.visibility</p:attrName>
                                        </p:attrNameLst>
                                      </p:cBhvr>
                                      <p:to>
                                        <p:strVal val="hidden"/>
                                      </p:to>
                                    </p:set>
                                  </p:childTnLst>
                                </p:cTn>
                              </p:par>
                              <p:par>
                                <p:cTn id="73" presetID="1" presetClass="entr" presetSubtype="0" fill="hold" grpId="0" nodeType="withEffect">
                                  <p:stCondLst>
                                    <p:cond delay="0"/>
                                  </p:stCondLst>
                                  <p:childTnLst>
                                    <p:set>
                                      <p:cBhvr>
                                        <p:cTn id="74" dur="1" fill="hold">
                                          <p:stCondLst>
                                            <p:cond delay="0"/>
                                          </p:stCondLst>
                                        </p:cTn>
                                        <p:tgtEl>
                                          <p:spTgt spid="4649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4" grpId="0" animBg="1"/>
      <p:bldP spid="464904" grpId="1" animBg="1"/>
      <p:bldP spid="464904" grpId="2" animBg="1"/>
      <p:bldP spid="464904" grpId="3" animBg="1"/>
      <p:bldP spid="464906" grpId="0" animBg="1"/>
      <p:bldP spid="464906" grpId="1" animBg="1"/>
      <p:bldP spid="464906" grpId="2" animBg="1"/>
      <p:bldP spid="464906" grpId="3" animBg="1"/>
      <p:bldP spid="464908" grpId="0" animBg="1"/>
      <p:bldP spid="464908" grpId="1" animBg="1"/>
      <p:bldP spid="464908" grpId="2" animBg="1"/>
      <p:bldP spid="464908" grpId="3" animBg="1"/>
      <p:bldP spid="464911" grpId="0" animBg="1"/>
      <p:bldP spid="464911" grpId="1" animBg="1"/>
      <p:bldP spid="464911" grpId="2" animBg="1"/>
      <p:bldP spid="464911" grpId="3" animBg="1"/>
      <p:bldP spid="464913" grpId="0" animBg="1"/>
      <p:bldP spid="464915" grpId="0" animBg="1"/>
      <p:bldP spid="464915" grpId="1" animBg="1"/>
      <p:bldP spid="464914" grpId="0"/>
      <p:bldP spid="4649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External Synchrony Design Overview</a:t>
            </a:r>
          </a:p>
        </p:txBody>
      </p:sp>
      <p:sp>
        <p:nvSpPr>
          <p:cNvPr id="3" name="Content Placeholder 2"/>
          <p:cNvSpPr>
            <a:spLocks noGrp="1"/>
          </p:cNvSpPr>
          <p:nvPr>
            <p:ph idx="1"/>
          </p:nvPr>
        </p:nvSpPr>
        <p:spPr/>
        <p:txBody>
          <a:bodyPr>
            <a:normAutofit fontScale="85000" lnSpcReduction="10000"/>
          </a:bodyPr>
          <a:lstStyle/>
          <a:p>
            <a:r>
              <a:rPr lang="en-US" dirty="0"/>
              <a:t>Synchrony defined by externally observable behavior.</a:t>
            </a:r>
          </a:p>
          <a:p>
            <a:pPr lvl="1"/>
            <a:r>
              <a:rPr lang="en-US" dirty="0"/>
              <a:t>I/O is externally synchronous if output </a:t>
            </a:r>
            <a:r>
              <a:rPr lang="en-US" b="1" u="sng" dirty="0"/>
              <a:t>cannot</a:t>
            </a:r>
            <a:r>
              <a:rPr lang="en-US" dirty="0"/>
              <a:t> be distinguished from output that could be produced from synchronous I/O.</a:t>
            </a:r>
          </a:p>
          <a:p>
            <a:pPr lvl="1"/>
            <a:r>
              <a:rPr lang="en-US" dirty="0"/>
              <a:t>File system does all the same processing as for synchronous I/O.</a:t>
            </a:r>
          </a:p>
          <a:p>
            <a:r>
              <a:rPr lang="en-US" dirty="0"/>
              <a:t>Two optimizations made to improve performance.</a:t>
            </a:r>
          </a:p>
          <a:p>
            <a:pPr lvl="1"/>
            <a:r>
              <a:rPr lang="en-US" dirty="0"/>
              <a:t>Group committing is used (commits are atomic).</a:t>
            </a:r>
          </a:p>
          <a:p>
            <a:pPr lvl="1"/>
            <a:r>
              <a:rPr lang="en-US" dirty="0"/>
              <a:t>External output is buffered and processes continue execution.</a:t>
            </a:r>
          </a:p>
          <a:p>
            <a:r>
              <a:rPr lang="en-US" dirty="0"/>
              <a:t>Output guaranteed to be committed every </a:t>
            </a:r>
            <a:r>
              <a:rPr lang="en-US" i="1" dirty="0"/>
              <a:t>5</a:t>
            </a:r>
            <a:r>
              <a:rPr lang="en-US" dirty="0"/>
              <a:t> seconds.</a:t>
            </a:r>
          </a:p>
          <a:p>
            <a:endParaRPr lang="en-US" dirty="0"/>
          </a:p>
        </p:txBody>
      </p:sp>
    </p:spTree>
    <p:extLst>
      <p:ext uri="{BB962C8B-B14F-4D97-AF65-F5344CB8AC3E}">
        <p14:creationId xmlns:p14="http://schemas.microsoft.com/office/powerpoint/2010/main" val="3686500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External Synchrony Implementation</a:t>
            </a:r>
          </a:p>
        </p:txBody>
      </p:sp>
      <p:sp>
        <p:nvSpPr>
          <p:cNvPr id="3" name="Content Placeholder 2"/>
          <p:cNvSpPr>
            <a:spLocks noGrp="1"/>
          </p:cNvSpPr>
          <p:nvPr>
            <p:ph idx="1"/>
          </p:nvPr>
        </p:nvSpPr>
        <p:spPr>
          <a:xfrm>
            <a:off x="457200" y="1600200"/>
            <a:ext cx="8229600" cy="5105400"/>
          </a:xfrm>
        </p:spPr>
        <p:txBody>
          <a:bodyPr>
            <a:normAutofit/>
          </a:bodyPr>
          <a:lstStyle/>
          <a:p>
            <a:r>
              <a:rPr lang="en-US" dirty="0" err="1"/>
              <a:t>Xsyncfs</a:t>
            </a:r>
            <a:r>
              <a:rPr lang="en-US" dirty="0"/>
              <a:t> leverages</a:t>
            </a:r>
            <a:r>
              <a:rPr lang="en-US" i="1" dirty="0"/>
              <a:t> Speculator</a:t>
            </a:r>
            <a:r>
              <a:rPr lang="en-US" dirty="0"/>
              <a:t> infrastructure for output buffering and dependency tracking for uncommitted state.</a:t>
            </a:r>
          </a:p>
          <a:p>
            <a:r>
              <a:rPr lang="en-US" i="1" dirty="0"/>
              <a:t>Speculator</a:t>
            </a:r>
            <a:r>
              <a:rPr lang="en-US" dirty="0"/>
              <a:t> tracks commit dependencies between processes and uncommitted file system transactions.</a:t>
            </a:r>
          </a:p>
          <a:p>
            <a:r>
              <a:rPr lang="en-US" dirty="0"/>
              <a:t>ext3 operates in journaled mode.</a:t>
            </a:r>
          </a:p>
          <a:p>
            <a:pPr marL="0" indent="0">
              <a:buNone/>
            </a:pPr>
            <a:r>
              <a:rPr lang="en-US" sz="2000" dirty="0"/>
              <a:t>(</a:t>
            </a:r>
            <a:r>
              <a:rPr lang="en-US" sz="2000" b="1" dirty="0"/>
              <a:t>ext3</a:t>
            </a:r>
            <a:r>
              <a:rPr lang="en-US" sz="2000" dirty="0"/>
              <a:t>, was in mainline Linux from 2001: </a:t>
            </a:r>
            <a:r>
              <a:rPr lang="en-US" sz="2000" dirty="0">
                <a:hlinkClick r:id="rId3" tooltip="Journaling file system"/>
              </a:rPr>
              <a:t>journaled file system</a:t>
            </a:r>
            <a:r>
              <a:rPr lang="en-US" sz="2000" dirty="0"/>
              <a:t> - keeps track of changes not yet committed to the file system - record changes in a journal (circular log) On a system crash or power failure, such file systems brought back online more quickly, less data corruption).</a:t>
            </a:r>
          </a:p>
          <a:p>
            <a:endParaRPr lang="en-US" dirty="0"/>
          </a:p>
        </p:txBody>
      </p:sp>
    </p:spTree>
    <p:extLst>
      <p:ext uri="{BB962C8B-B14F-4D97-AF65-F5344CB8AC3E}">
        <p14:creationId xmlns:p14="http://schemas.microsoft.com/office/powerpoint/2010/main" val="973152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a:t>
            </a:r>
          </a:p>
        </p:txBody>
      </p:sp>
      <p:sp>
        <p:nvSpPr>
          <p:cNvPr id="3" name="Content Placeholder 2"/>
          <p:cNvSpPr>
            <a:spLocks noGrp="1"/>
          </p:cNvSpPr>
          <p:nvPr>
            <p:ph idx="1"/>
          </p:nvPr>
        </p:nvSpPr>
        <p:spPr>
          <a:xfrm>
            <a:off x="457200" y="1524000"/>
            <a:ext cx="8229600" cy="4602163"/>
          </a:xfrm>
        </p:spPr>
        <p:txBody>
          <a:bodyPr/>
          <a:lstStyle/>
          <a:p>
            <a:r>
              <a:rPr lang="en-US" dirty="0"/>
              <a:t>Durability</a:t>
            </a:r>
          </a:p>
          <a:p>
            <a:r>
              <a:rPr lang="en-US" dirty="0"/>
              <a:t>Performance</a:t>
            </a:r>
          </a:p>
          <a:p>
            <a:pPr lvl="1"/>
            <a:r>
              <a:rPr lang="en-US" dirty="0"/>
              <a:t>IO intensive application (Postmark)</a:t>
            </a:r>
          </a:p>
          <a:p>
            <a:pPr lvl="1"/>
            <a:r>
              <a:rPr lang="en-US" dirty="0"/>
              <a:t>Application that synchronizes explicitly (MySQL)</a:t>
            </a:r>
          </a:p>
          <a:p>
            <a:pPr lvl="1"/>
            <a:r>
              <a:rPr lang="en-US" dirty="0"/>
              <a:t>Network intensive, Read-heavy application (</a:t>
            </a:r>
            <a:r>
              <a:rPr lang="en-US" dirty="0" err="1"/>
              <a:t>SPECweb</a:t>
            </a:r>
            <a:r>
              <a:rPr lang="en-US" dirty="0"/>
              <a:t>)</a:t>
            </a:r>
          </a:p>
          <a:p>
            <a:pPr lvl="1"/>
            <a:r>
              <a:rPr lang="en-US" dirty="0"/>
              <a:t>Output-trigger commit on delay</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3826942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r>
              <a:rPr lang="en-US"/>
              <a:t>Postmark benchmark</a:t>
            </a:r>
          </a:p>
        </p:txBody>
      </p:sp>
      <p:sp>
        <p:nvSpPr>
          <p:cNvPr id="439302" name="Rectangle 6"/>
          <p:cNvSpPr>
            <a:spLocks noChangeArrowheads="1"/>
          </p:cNvSpPr>
          <p:nvPr/>
        </p:nvSpPr>
        <p:spPr bwMode="auto">
          <a:xfrm>
            <a:off x="0" y="5486400"/>
            <a:ext cx="9296400"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spcBef>
                <a:spcPct val="20000"/>
              </a:spcBef>
              <a:buClr>
                <a:schemeClr val="accent1"/>
              </a:buClr>
              <a:buSzPct val="65000"/>
              <a:buFont typeface="Wingdings" pitchFamily="2" charset="2"/>
              <a:buChar char="n"/>
            </a:pPr>
            <a:r>
              <a:rPr lang="en-US" sz="3000"/>
              <a:t>Xsyncfs within 7% of ext3 mounted asynchronously</a:t>
            </a:r>
          </a:p>
        </p:txBody>
      </p:sp>
      <p:graphicFrame>
        <p:nvGraphicFramePr>
          <p:cNvPr id="439313" name="Object 17"/>
          <p:cNvGraphicFramePr>
            <a:graphicFrameLocks noGrp="1" noChangeAspect="1"/>
          </p:cNvGraphicFramePr>
          <p:nvPr>
            <p:ph idx="1"/>
          </p:nvPr>
        </p:nvGraphicFramePr>
        <p:xfrm>
          <a:off x="457200" y="1066800"/>
          <a:ext cx="8229600" cy="4470400"/>
        </p:xfrm>
        <a:graphic>
          <a:graphicData uri="http://schemas.openxmlformats.org/presentationml/2006/ole">
            <mc:AlternateContent xmlns:mc="http://schemas.openxmlformats.org/markup-compatibility/2006">
              <mc:Choice xmlns:v="urn:schemas-microsoft-com:vml" Requires="v">
                <p:oleObj name="Chart" r:id="rId2" imgW="8610600" imgH="4676948" progId="Excel.Chart.8">
                  <p:embed/>
                </p:oleObj>
              </mc:Choice>
              <mc:Fallback>
                <p:oleObj name="Chart" r:id="rId2" imgW="8610600" imgH="4676948" progId="Excel.Char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66800"/>
                        <a:ext cx="8229600" cy="447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extLst>
      <p:ext uri="{BB962C8B-B14F-4D97-AF65-F5344CB8AC3E}">
        <p14:creationId xmlns:p14="http://schemas.microsoft.com/office/powerpoint/2010/main" val="3907049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r>
              <a:rPr lang="en-US"/>
              <a:t>Specweb99 throughput</a:t>
            </a:r>
          </a:p>
        </p:txBody>
      </p:sp>
      <p:sp>
        <p:nvSpPr>
          <p:cNvPr id="441350" name="Rectangle 6"/>
          <p:cNvSpPr>
            <a:spLocks noChangeArrowheads="1"/>
          </p:cNvSpPr>
          <p:nvPr/>
        </p:nvSpPr>
        <p:spPr bwMode="auto">
          <a:xfrm>
            <a:off x="152400" y="5714998"/>
            <a:ext cx="9525000"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spcBef>
                <a:spcPct val="20000"/>
              </a:spcBef>
              <a:buClr>
                <a:schemeClr val="accent1"/>
              </a:buClr>
              <a:buSzPct val="65000"/>
              <a:buFont typeface="Wingdings" pitchFamily="2" charset="2"/>
              <a:buChar char="n"/>
            </a:pPr>
            <a:r>
              <a:rPr lang="en-US" sz="3000"/>
              <a:t>Xsyncfs within 8% of ext3 mounted asynchronously</a:t>
            </a:r>
          </a:p>
        </p:txBody>
      </p:sp>
      <p:graphicFrame>
        <p:nvGraphicFramePr>
          <p:cNvPr id="441358" name="Object 14"/>
          <p:cNvGraphicFramePr>
            <a:graphicFrameLocks noGrp="1" noChangeAspect="1"/>
          </p:cNvGraphicFramePr>
          <p:nvPr>
            <p:ph idx="1"/>
            <p:extLst>
              <p:ext uri="{D42A27DB-BD31-4B8C-83A1-F6EECF244321}">
                <p14:modId xmlns:p14="http://schemas.microsoft.com/office/powerpoint/2010/main" val="1513458424"/>
              </p:ext>
            </p:extLst>
          </p:nvPr>
        </p:nvGraphicFramePr>
        <p:xfrm>
          <a:off x="685800" y="1143000"/>
          <a:ext cx="7634288" cy="4530725"/>
        </p:xfrm>
        <a:graphic>
          <a:graphicData uri="http://schemas.openxmlformats.org/presentationml/2006/ole">
            <mc:AlternateContent xmlns:mc="http://schemas.openxmlformats.org/markup-compatibility/2006">
              <mc:Choice xmlns:v="urn:schemas-microsoft-com:vml" Requires="v">
                <p:oleObj name="Chart" r:id="rId2" imgW="8435388" imgH="5006292" progId="Excel.Chart.8">
                  <p:embed/>
                </p:oleObj>
              </mc:Choice>
              <mc:Fallback>
                <p:oleObj name="Chart" r:id="rId2" imgW="8435388" imgH="5006292" progId="Excel.Char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143000"/>
                        <a:ext cx="7634288"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extLst>
      <p:ext uri="{BB962C8B-B14F-4D97-AF65-F5344CB8AC3E}">
        <p14:creationId xmlns:p14="http://schemas.microsoft.com/office/powerpoint/2010/main" val="668743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99" name="Rectangle 31"/>
          <p:cNvSpPr>
            <a:spLocks noGrp="1" noChangeArrowheads="1"/>
          </p:cNvSpPr>
          <p:nvPr>
            <p:ph type="title"/>
          </p:nvPr>
        </p:nvSpPr>
        <p:spPr/>
        <p:txBody>
          <a:bodyPr/>
          <a:lstStyle/>
          <a:p>
            <a:r>
              <a:rPr lang="en-US"/>
              <a:t>Specweb99 latency</a:t>
            </a:r>
          </a:p>
        </p:txBody>
      </p:sp>
      <p:graphicFrame>
        <p:nvGraphicFramePr>
          <p:cNvPr id="493603" name="Group 35"/>
          <p:cNvGraphicFramePr>
            <a:graphicFrameLocks noGrp="1"/>
          </p:cNvGraphicFramePr>
          <p:nvPr>
            <p:ph idx="1"/>
          </p:nvPr>
        </p:nvGraphicFramePr>
        <p:xfrm>
          <a:off x="609600" y="1184275"/>
          <a:ext cx="8001000" cy="4302125"/>
        </p:xfrm>
        <a:graphic>
          <a:graphicData uri="http://schemas.openxmlformats.org/drawingml/2006/table">
            <a:tbl>
              <a:tblPr/>
              <a:tblGrid>
                <a:gridCol w="2482850">
                  <a:extLst>
                    <a:ext uri="{9D8B030D-6E8A-4147-A177-3AD203B41FA5}">
                      <a16:colId xmlns:a16="http://schemas.microsoft.com/office/drawing/2014/main" val="20000"/>
                    </a:ext>
                  </a:extLst>
                </a:gridCol>
                <a:gridCol w="285115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8604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1" i="0" u="none" strike="noStrike" cap="none" normalizeH="0" baseline="0">
                          <a:ln>
                            <a:noFill/>
                          </a:ln>
                          <a:solidFill>
                            <a:schemeClr val="tx1"/>
                          </a:solidFill>
                          <a:effectLst/>
                          <a:latin typeface="Tahoma" charset="0"/>
                        </a:rPr>
                        <a:t>Request size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1" i="0" u="none" strike="noStrike" cap="none" normalizeH="0" baseline="0">
                          <a:ln>
                            <a:noFill/>
                          </a:ln>
                          <a:solidFill>
                            <a:schemeClr val="tx1"/>
                          </a:solidFill>
                          <a:effectLst/>
                          <a:latin typeface="Tahoma" charset="0"/>
                        </a:rPr>
                        <a:t>ext3-async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1" i="0" u="none" strike="noStrike" cap="none" normalizeH="0" baseline="0">
                          <a:ln>
                            <a:noFill/>
                          </a:ln>
                          <a:solidFill>
                            <a:schemeClr val="tx1"/>
                          </a:solidFill>
                          <a:effectLst/>
                          <a:latin typeface="Tahoma" charset="0"/>
                        </a:rPr>
                        <a:t>xsyncfs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604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0-1 KB</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0.064 seconds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0.097 seconds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604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1-10 KB</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0.150 second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0.180 seconds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604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10-100 KB</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1.084 seconds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1.094 seconds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604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100-1000 KB</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10.253 seconds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Tahoma" charset="0"/>
                        </a:rPr>
                        <a:t>10.072 seconds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93602" name="Rectangle 34"/>
          <p:cNvSpPr>
            <a:spLocks noChangeArrowheads="1"/>
          </p:cNvSpPr>
          <p:nvPr/>
        </p:nvSpPr>
        <p:spPr bwMode="auto">
          <a:xfrm>
            <a:off x="457200" y="5680075"/>
            <a:ext cx="8229600"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spcBef>
                <a:spcPct val="20000"/>
              </a:spcBef>
              <a:buClr>
                <a:schemeClr val="accent1"/>
              </a:buClr>
              <a:buSzPct val="65000"/>
              <a:buFont typeface="Wingdings" pitchFamily="2" charset="2"/>
              <a:buChar char="n"/>
            </a:pPr>
            <a:r>
              <a:rPr lang="en-US" sz="3000" dirty="0" err="1"/>
              <a:t>Xsyncfs</a:t>
            </a:r>
            <a:r>
              <a:rPr lang="en-US" sz="3000" dirty="0"/>
              <a:t> adds no more than 33 </a:t>
            </a:r>
            <a:r>
              <a:rPr lang="en-US" sz="3000" dirty="0" err="1"/>
              <a:t>ms</a:t>
            </a:r>
            <a:r>
              <a:rPr lang="en-US" sz="3000" dirty="0"/>
              <a:t> of delay</a:t>
            </a:r>
          </a:p>
        </p:txBody>
      </p:sp>
      <p:sp>
        <p:nvSpPr>
          <p:cNvPr id="5" name="TextBox 4"/>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extLst>
      <p:ext uri="{BB962C8B-B14F-4D97-AF65-F5344CB8AC3E}">
        <p14:creationId xmlns:p14="http://schemas.microsoft.com/office/powerpoint/2010/main" val="93332625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r>
              <a:rPr lang="en-US"/>
              <a:t>The MySQL benchmark</a:t>
            </a:r>
          </a:p>
        </p:txBody>
      </p:sp>
      <p:sp>
        <p:nvSpPr>
          <p:cNvPr id="440329" name="Rectangle 9"/>
          <p:cNvSpPr>
            <a:spLocks noChangeArrowheads="1"/>
          </p:cNvSpPr>
          <p:nvPr/>
        </p:nvSpPr>
        <p:spPr bwMode="auto">
          <a:xfrm>
            <a:off x="457200" y="5638800"/>
            <a:ext cx="8382000"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spcBef>
                <a:spcPct val="20000"/>
              </a:spcBef>
              <a:buClr>
                <a:schemeClr val="accent1"/>
              </a:buClr>
              <a:buSzPct val="65000"/>
              <a:buFont typeface="Wingdings" pitchFamily="2" charset="2"/>
              <a:buChar char="n"/>
            </a:pPr>
            <a:r>
              <a:rPr lang="en-US" sz="3000" dirty="0" err="1"/>
              <a:t>Xsyncfs</a:t>
            </a:r>
            <a:r>
              <a:rPr lang="en-US" sz="3000" dirty="0"/>
              <a:t> can group the commits from a single client</a:t>
            </a:r>
          </a:p>
        </p:txBody>
      </p:sp>
      <p:graphicFrame>
        <p:nvGraphicFramePr>
          <p:cNvPr id="440335" name="Object 15"/>
          <p:cNvGraphicFramePr>
            <a:graphicFrameLocks noGrp="1" noChangeAspect="1"/>
          </p:cNvGraphicFramePr>
          <p:nvPr>
            <p:ph idx="1"/>
            <p:extLst>
              <p:ext uri="{D42A27DB-BD31-4B8C-83A1-F6EECF244321}">
                <p14:modId xmlns:p14="http://schemas.microsoft.com/office/powerpoint/2010/main" val="1982338992"/>
              </p:ext>
            </p:extLst>
          </p:nvPr>
        </p:nvGraphicFramePr>
        <p:xfrm>
          <a:off x="457200" y="1219200"/>
          <a:ext cx="8229600" cy="4500563"/>
        </p:xfrm>
        <a:graphic>
          <a:graphicData uri="http://schemas.openxmlformats.org/presentationml/2006/ole">
            <mc:AlternateContent xmlns:mc="http://schemas.openxmlformats.org/markup-compatibility/2006">
              <mc:Choice xmlns:v="urn:schemas-microsoft-com:vml" Requires="v">
                <p:oleObj name="Chart" r:id="rId3" imgW="8862108" imgH="4846272" progId="Excel.Chart.8">
                  <p:embed/>
                </p:oleObj>
              </mc:Choice>
              <mc:Fallback>
                <p:oleObj name="Chart" r:id="rId3" imgW="8862108" imgH="4846272"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219200"/>
                        <a:ext cx="8229600" cy="450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5331652" y="6356591"/>
            <a:ext cx="3173626" cy="369332"/>
          </a:xfrm>
          <a:prstGeom prst="rect">
            <a:avLst/>
          </a:prstGeom>
          <a:noFill/>
        </p:spPr>
        <p:txBody>
          <a:bodyPr wrap="none" rtlCol="0">
            <a:spAutoFit/>
          </a:bodyPr>
          <a:lstStyle/>
          <a:p>
            <a:r>
              <a:rPr lang="en-US" dirty="0"/>
              <a:t>From Nightingale’s presentation</a:t>
            </a:r>
          </a:p>
        </p:txBody>
      </p:sp>
    </p:spTree>
    <p:extLst>
      <p:ext uri="{BB962C8B-B14F-4D97-AF65-F5344CB8AC3E}">
        <p14:creationId xmlns:p14="http://schemas.microsoft.com/office/powerpoint/2010/main" val="12863362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8.7|0|1"/>
</p:tagLst>
</file>

<file path=ppt/tags/tag2.xml><?xml version="1.0" encoding="utf-8"?>
<p:tagLst xmlns:a="http://schemas.openxmlformats.org/drawingml/2006/main" xmlns:r="http://schemas.openxmlformats.org/officeDocument/2006/relationships" xmlns:p="http://schemas.openxmlformats.org/presentationml/2006/main">
  <p:tag name="TIMING" val="|6.3"/>
</p:tagLst>
</file>

<file path=ppt/tags/tag3.xml><?xml version="1.0" encoding="utf-8"?>
<p:tagLst xmlns:a="http://schemas.openxmlformats.org/drawingml/2006/main" xmlns:r="http://schemas.openxmlformats.org/officeDocument/2006/relationships" xmlns:p="http://schemas.openxmlformats.org/presentationml/2006/main">
  <p:tag name="TIMING" val="|1|1.5|0.7"/>
</p:tagLst>
</file>

<file path=ppt/tags/tag4.xml><?xml version="1.0" encoding="utf-8"?>
<p:tagLst xmlns:a="http://schemas.openxmlformats.org/drawingml/2006/main" xmlns:r="http://schemas.openxmlformats.org/officeDocument/2006/relationships" xmlns:p="http://schemas.openxmlformats.org/presentationml/2006/main">
  <p:tag name="TIMING" val="|10.4|2.6|3.3|0.9|5.1|4.3|0.5|2.5|1|2.3|0.8|3.3|0.7|2.6|2.2|0.8"/>
</p:tagLst>
</file>

<file path=ppt/tags/tag5.xml><?xml version="1.0" encoding="utf-8"?>
<p:tagLst xmlns:a="http://schemas.openxmlformats.org/drawingml/2006/main" xmlns:r="http://schemas.openxmlformats.org/officeDocument/2006/relationships" xmlns:p="http://schemas.openxmlformats.org/presentationml/2006/main">
  <p:tag name="TIMING" val="|11.7|0.4|1.4|1.2|12.6|2.6"/>
</p:tagLst>
</file>

<file path=ppt/tags/tag6.xml><?xml version="1.0" encoding="utf-8"?>
<p:tagLst xmlns:a="http://schemas.openxmlformats.org/drawingml/2006/main" xmlns:r="http://schemas.openxmlformats.org/officeDocument/2006/relationships" xmlns:p="http://schemas.openxmlformats.org/presentationml/2006/main">
  <p:tag name="TIMING" val="|6.4|1.1|4.5|6.2|1.1|2.9|2.4|0|15.2|4.2|0.8|11.1|1.7|16.6|4.7|1.8|1|2.7|0.6|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19162</TotalTime>
  <Words>1230</Words>
  <Application>Microsoft Macintosh PowerPoint</Application>
  <PresentationFormat>On-screen Show (4:3)</PresentationFormat>
  <Paragraphs>226</Paragraphs>
  <Slides>24</Slides>
  <Notes>8</Notes>
  <HiddenSlides>3</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2" baseType="lpstr">
      <vt:lpstr>Arial</vt:lpstr>
      <vt:lpstr>Calibri</vt:lpstr>
      <vt:lpstr>MS Reference Sans Serif</vt:lpstr>
      <vt:lpstr>Tahoma</vt:lpstr>
      <vt:lpstr>Verdana</vt:lpstr>
      <vt:lpstr>Wingdings</vt:lpstr>
      <vt:lpstr>Office Theme</vt:lpstr>
      <vt:lpstr>Chart</vt:lpstr>
      <vt:lpstr>Issues in Replication and Resiliency    Speculative Execution In Distributed File Systems and  External Synchrony</vt:lpstr>
      <vt:lpstr>PowerPoint Presentation</vt:lpstr>
      <vt:lpstr>PowerPoint Presentation</vt:lpstr>
      <vt:lpstr>PowerPoint Presentation</vt:lpstr>
      <vt:lpstr>PowerPoint Presentation</vt:lpstr>
      <vt:lpstr>PowerPoint Presentation</vt:lpstr>
      <vt:lpstr>(A)Synchronous Replication</vt:lpstr>
      <vt:lpstr>PowerPoint Presentation</vt:lpstr>
      <vt:lpstr>Speculative Execution in a Distributed File System Edmund B. Nightingale, Peter M. Chen, and Jason Flinn ACM Transactions on Computer Systems 2006</vt:lpstr>
      <vt:lpstr>Speculative Execution in a Distributed File System Edmund B. Nightingale, Peter M. Chen, and Jason Flinn</vt:lpstr>
      <vt:lpstr>External Synchrony</vt:lpstr>
      <vt:lpstr>When a sync() is really async</vt:lpstr>
      <vt:lpstr>To whom are guarantees provided?</vt:lpstr>
      <vt:lpstr>To whom are guarantees provided?</vt:lpstr>
      <vt:lpstr>Example: Synchronous I/O</vt:lpstr>
      <vt:lpstr>Observing synchronous I/O</vt:lpstr>
      <vt:lpstr>Example: External synchrony</vt:lpstr>
      <vt:lpstr>External Synchrony Design Overview</vt:lpstr>
      <vt:lpstr>External Synchrony Implementation</vt:lpstr>
      <vt:lpstr>Evaluation</vt:lpstr>
      <vt:lpstr>Postmark benchmark</vt:lpstr>
      <vt:lpstr>Specweb99 throughput</vt:lpstr>
      <vt:lpstr>Specweb99 latency</vt:lpstr>
      <vt:lpstr>The MySQL benchmark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External Synchrony</dc:title>
  <dc:creator>Windows User</dc:creator>
  <cp:lastModifiedBy>Microsoft Office User</cp:lastModifiedBy>
  <cp:revision>803</cp:revision>
  <dcterms:created xsi:type="dcterms:W3CDTF">2011-10-15T16:53:27Z</dcterms:created>
  <dcterms:modified xsi:type="dcterms:W3CDTF">2025-02-04T19:11:46Z</dcterms:modified>
</cp:coreProperties>
</file>